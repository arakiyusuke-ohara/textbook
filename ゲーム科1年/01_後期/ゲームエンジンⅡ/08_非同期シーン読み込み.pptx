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4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0630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Unity</a:t>
            </a:r>
            <a:r>
              <a:rPr kumimoji="1" lang="ja-JP" altLang="en-US" sz="2400" dirty="0"/>
              <a:t>のシーン切り替えには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LoadScene</a:t>
            </a:r>
            <a:r>
              <a:rPr kumimoji="1" lang="ja-JP" altLang="en-US" sz="2400" dirty="0"/>
              <a:t>関数を使用することを学びました。</a:t>
            </a:r>
            <a:endParaRPr kumimoji="1" lang="en-US" altLang="ja-JP" sz="2400" dirty="0"/>
          </a:p>
          <a:p>
            <a:r>
              <a:rPr kumimoji="1" lang="ja-JP" altLang="en-US" sz="2400" dirty="0"/>
              <a:t>この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LoadScene</a:t>
            </a:r>
            <a:r>
              <a:rPr kumimoji="1" lang="ja-JP" altLang="en-US" sz="2400" dirty="0"/>
              <a:t>関数ですが、名前の通り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シーンに必要なデータをロード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これまでは多くのデータを使用していなかったですが、</a:t>
            </a:r>
            <a:endParaRPr kumimoji="1" lang="en-US" altLang="ja-JP" sz="2400" dirty="0"/>
          </a:p>
          <a:p>
            <a:r>
              <a:rPr lang="ja-JP" altLang="en-US" sz="2400" dirty="0"/>
              <a:t>実際のゲーム製品規模のものだと、</a:t>
            </a:r>
            <a:r>
              <a:rPr lang="ja-JP" altLang="en-US" sz="2400" b="1" dirty="0">
                <a:solidFill>
                  <a:srgbClr val="FF0000"/>
                </a:solidFill>
              </a:rPr>
              <a:t>膨大なデータをロード</a:t>
            </a:r>
            <a:r>
              <a:rPr lang="ja-JP" altLang="en-US" sz="2400" dirty="0"/>
              <a:t>することになります。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ロード処理を普通に実行すると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ロードが完了するまでゲームが停止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lang="ja-JP" altLang="en-US" sz="2400" dirty="0"/>
              <a:t>この</a:t>
            </a:r>
            <a:r>
              <a:rPr lang="en-US" altLang="ja-JP" sz="2400" b="1" dirty="0" err="1">
                <a:solidFill>
                  <a:srgbClr val="0070C0"/>
                </a:solidFill>
              </a:rPr>
              <a:t>LoadScene</a:t>
            </a:r>
            <a:r>
              <a:rPr lang="ja-JP" altLang="en-US" sz="2400" dirty="0"/>
              <a:t>関数も、</a:t>
            </a:r>
            <a:r>
              <a:rPr lang="ja-JP" altLang="en-US" sz="2400" b="1" dirty="0">
                <a:solidFill>
                  <a:srgbClr val="FF0000"/>
                </a:solidFill>
              </a:rPr>
              <a:t>データが膨大になるとゲームが停止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基本的に</a:t>
            </a:r>
            <a:r>
              <a:rPr lang="ja-JP" altLang="en-US" sz="2400" b="1" dirty="0">
                <a:solidFill>
                  <a:srgbClr val="FF0000"/>
                </a:solidFill>
              </a:rPr>
              <a:t>ゲームは停止させてはいけません。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そのようなときに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非同期処理</a:t>
            </a:r>
            <a:r>
              <a:rPr kumimoji="1" lang="ja-JP" altLang="en-US" sz="2400" dirty="0"/>
              <a:t>を使って対策します。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64730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同期処理</a:t>
            </a:r>
            <a:r>
              <a:rPr kumimoji="1" lang="en-US" altLang="ja-JP" sz="2400" dirty="0"/>
              <a:t>/</a:t>
            </a:r>
            <a:r>
              <a:rPr kumimoji="1" lang="ja-JP" altLang="en-US" sz="2400" dirty="0"/>
              <a:t>非同期処理とは、ある複数の処理が、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・順番通りに処理させるか（同期）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・順番に関係なく並列に処理させるか（非同期）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これらのことを意味します。</a:t>
            </a:r>
            <a:endParaRPr kumimoji="1" lang="en-US" altLang="ja-JP" sz="2400" dirty="0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1082E94A-07E7-4553-AFEA-08369883E67F}"/>
              </a:ext>
            </a:extLst>
          </p:cNvPr>
          <p:cNvGrpSpPr/>
          <p:nvPr/>
        </p:nvGrpSpPr>
        <p:grpSpPr>
          <a:xfrm>
            <a:off x="567542" y="3648635"/>
            <a:ext cx="7481046" cy="539818"/>
            <a:chOff x="567542" y="3532094"/>
            <a:chExt cx="7481046" cy="539818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2947B230-71B9-4A75-9B50-8130B9C93ADC}"/>
                </a:ext>
              </a:extLst>
            </p:cNvPr>
            <p:cNvSpPr/>
            <p:nvPr/>
          </p:nvSpPr>
          <p:spPr>
            <a:xfrm>
              <a:off x="567542" y="3532094"/>
              <a:ext cx="1703295" cy="5398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ゲームの処理</a:t>
              </a: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1EBB7EB-E395-4C91-9C4D-7E10B91C3579}"/>
                </a:ext>
              </a:extLst>
            </p:cNvPr>
            <p:cNvSpPr/>
            <p:nvPr/>
          </p:nvSpPr>
          <p:spPr>
            <a:xfrm>
              <a:off x="3581923" y="3532094"/>
              <a:ext cx="1703295" cy="5398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ロード処理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6402CBD9-03B0-4A5C-9F3A-E4AE46C7DB9A}"/>
                </a:ext>
              </a:extLst>
            </p:cNvPr>
            <p:cNvSpPr/>
            <p:nvPr/>
          </p:nvSpPr>
          <p:spPr>
            <a:xfrm>
              <a:off x="6345293" y="3532094"/>
              <a:ext cx="1703295" cy="5398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ゲームの処理</a:t>
              </a:r>
            </a:p>
          </p:txBody>
        </p: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4D563A4B-53B3-4420-B5F6-70A25F6DABB7}"/>
                </a:ext>
              </a:extLst>
            </p:cNvPr>
            <p:cNvCxnSpPr>
              <a:stCxn id="2" idx="3"/>
              <a:endCxn id="5" idx="1"/>
            </p:cNvCxnSpPr>
            <p:nvPr/>
          </p:nvCxnSpPr>
          <p:spPr>
            <a:xfrm>
              <a:off x="2270837" y="3802003"/>
              <a:ext cx="13110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8863B1C5-64C7-45EE-85A6-74C647D180E7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5285218" y="3802003"/>
              <a:ext cx="10600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D8E8CF59-3366-47DC-9D81-2599752222FF}"/>
              </a:ext>
            </a:extLst>
          </p:cNvPr>
          <p:cNvGrpSpPr/>
          <p:nvPr/>
        </p:nvGrpSpPr>
        <p:grpSpPr>
          <a:xfrm>
            <a:off x="567542" y="5342539"/>
            <a:ext cx="7481046" cy="1373984"/>
            <a:chOff x="567542" y="4817917"/>
            <a:chExt cx="7481046" cy="1373984"/>
          </a:xfrm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60C111A1-5FCC-490E-B0F9-1D66418C2C3D}"/>
                </a:ext>
              </a:extLst>
            </p:cNvPr>
            <p:cNvSpPr/>
            <p:nvPr/>
          </p:nvSpPr>
          <p:spPr>
            <a:xfrm>
              <a:off x="567542" y="4817917"/>
              <a:ext cx="7481046" cy="5398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ゲームの処理</a:t>
              </a: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40CEE401-C049-45D4-856C-EF00E91F331A}"/>
                </a:ext>
              </a:extLst>
            </p:cNvPr>
            <p:cNvSpPr/>
            <p:nvPr/>
          </p:nvSpPr>
          <p:spPr>
            <a:xfrm>
              <a:off x="3581923" y="5652083"/>
              <a:ext cx="1703295" cy="5398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ロード処理</a:t>
              </a:r>
            </a:p>
          </p:txBody>
        </p:sp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A7DEC23-3346-4DD0-8126-554F48DF05D4}"/>
              </a:ext>
            </a:extLst>
          </p:cNvPr>
          <p:cNvSpPr txBox="1"/>
          <p:nvPr/>
        </p:nvSpPr>
        <p:spPr>
          <a:xfrm>
            <a:off x="442037" y="3188736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■ゲームの処理がロード処理と同期している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DC6B651-ADCA-4A09-AB4A-02AE67582A6D}"/>
              </a:ext>
            </a:extLst>
          </p:cNvPr>
          <p:cNvSpPr txBox="1"/>
          <p:nvPr/>
        </p:nvSpPr>
        <p:spPr>
          <a:xfrm>
            <a:off x="442037" y="4804487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■ゲームの処理とロード処理は非同期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43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同期処理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同時に１つの処理</a:t>
            </a:r>
            <a:r>
              <a:rPr kumimoji="1" lang="ja-JP" altLang="en-US" sz="2400" dirty="0"/>
              <a:t>しかできないですが、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処理の順番が保証される</a:t>
            </a:r>
            <a:r>
              <a:rPr kumimoji="1" lang="ja-JP" altLang="en-US" sz="2400" dirty="0"/>
              <a:t>というメリットもあります。</a:t>
            </a:r>
            <a:endParaRPr kumimoji="1" lang="en-US" altLang="ja-JP" sz="24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B70BE864-86E7-42D6-8993-F3CEC0A8A25D}"/>
              </a:ext>
            </a:extLst>
          </p:cNvPr>
          <p:cNvGrpSpPr/>
          <p:nvPr/>
        </p:nvGrpSpPr>
        <p:grpSpPr>
          <a:xfrm>
            <a:off x="567542" y="2556458"/>
            <a:ext cx="10369921" cy="999717"/>
            <a:chOff x="567542" y="2556458"/>
            <a:chExt cx="10369921" cy="999717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BEE8B20B-6068-4ED3-9B40-856FC63AB533}"/>
                </a:ext>
              </a:extLst>
            </p:cNvPr>
            <p:cNvGrpSpPr/>
            <p:nvPr/>
          </p:nvGrpSpPr>
          <p:grpSpPr>
            <a:xfrm>
              <a:off x="693047" y="3016357"/>
              <a:ext cx="7481046" cy="539818"/>
              <a:chOff x="567542" y="3532094"/>
              <a:chExt cx="7481046" cy="539818"/>
            </a:xfrm>
          </p:grpSpPr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002ED5E2-1060-48F2-9627-B1E7D02EE0F2}"/>
                  </a:ext>
                </a:extLst>
              </p:cNvPr>
              <p:cNvSpPr/>
              <p:nvPr/>
            </p:nvSpPr>
            <p:spPr>
              <a:xfrm>
                <a:off x="567542" y="3532094"/>
                <a:ext cx="1703295" cy="53981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処理</a:t>
                </a:r>
                <a:r>
                  <a:rPr kumimoji="1" lang="en-US" altLang="ja-JP" dirty="0"/>
                  <a:t>A</a:t>
                </a:r>
                <a:endParaRPr kumimoji="1" lang="ja-JP" altLang="en-US" dirty="0"/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51CEA84E-8309-4AB6-B268-4E58D6A2DE1B}"/>
                  </a:ext>
                </a:extLst>
              </p:cNvPr>
              <p:cNvSpPr/>
              <p:nvPr/>
            </p:nvSpPr>
            <p:spPr>
              <a:xfrm>
                <a:off x="3581923" y="3532094"/>
                <a:ext cx="1703295" cy="53981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処理</a:t>
                </a:r>
                <a:r>
                  <a:rPr kumimoji="1" lang="en-US" altLang="ja-JP" dirty="0"/>
                  <a:t>B</a:t>
                </a:r>
                <a:endParaRPr kumimoji="1" lang="ja-JP" altLang="en-US" dirty="0"/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58DD3C59-47FF-44BD-BEAB-0F03521A398F}"/>
                  </a:ext>
                </a:extLst>
              </p:cNvPr>
              <p:cNvSpPr/>
              <p:nvPr/>
            </p:nvSpPr>
            <p:spPr>
              <a:xfrm>
                <a:off x="6345293" y="3532094"/>
                <a:ext cx="1703295" cy="53981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処理</a:t>
                </a:r>
                <a:r>
                  <a:rPr kumimoji="1" lang="en-US" altLang="ja-JP" dirty="0"/>
                  <a:t>C</a:t>
                </a:r>
                <a:endParaRPr kumimoji="1" lang="ja-JP" altLang="en-US" dirty="0"/>
              </a:p>
            </p:txBody>
          </p:sp>
          <p:cxnSp>
            <p:nvCxnSpPr>
              <p:cNvPr id="20" name="直線矢印コネクタ 19">
                <a:extLst>
                  <a:ext uri="{FF2B5EF4-FFF2-40B4-BE49-F238E27FC236}">
                    <a16:creationId xmlns:a16="http://schemas.microsoft.com/office/drawing/2014/main" id="{38AF2F5B-AE2F-4F54-BBAD-F2C01098F293}"/>
                  </a:ext>
                </a:extLst>
              </p:cNvPr>
              <p:cNvCxnSpPr>
                <a:stCxn id="17" idx="3"/>
                <a:endCxn id="18" idx="1"/>
              </p:cNvCxnSpPr>
              <p:nvPr/>
            </p:nvCxnSpPr>
            <p:spPr>
              <a:xfrm>
                <a:off x="2270837" y="3802003"/>
                <a:ext cx="131108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矢印コネクタ 25">
                <a:extLst>
                  <a:ext uri="{FF2B5EF4-FFF2-40B4-BE49-F238E27FC236}">
                    <a16:creationId xmlns:a16="http://schemas.microsoft.com/office/drawing/2014/main" id="{9B1CA014-2F4E-4365-B44D-4274D75D36AA}"/>
                  </a:ext>
                </a:extLst>
              </p:cNvPr>
              <p:cNvCxnSpPr>
                <a:cxnSpLocks/>
                <a:stCxn id="18" idx="3"/>
                <a:endCxn id="19" idx="1"/>
              </p:cNvCxnSpPr>
              <p:nvPr/>
            </p:nvCxnSpPr>
            <p:spPr>
              <a:xfrm>
                <a:off x="5285218" y="3802003"/>
                <a:ext cx="10600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B95988A-6355-4FF5-B6A8-B6D72DE25C7E}"/>
                </a:ext>
              </a:extLst>
            </p:cNvPr>
            <p:cNvSpPr txBox="1"/>
            <p:nvPr/>
          </p:nvSpPr>
          <p:spPr>
            <a:xfrm>
              <a:off x="567542" y="2556458"/>
              <a:ext cx="48013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■同期処理（シングルスレッド）</a:t>
              </a:r>
              <a:endParaRPr kumimoji="1" lang="en-US" altLang="ja-JP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CCCDDEDA-54EB-45D9-94CC-F0B3296A70B7}"/>
                </a:ext>
              </a:extLst>
            </p:cNvPr>
            <p:cNvSpPr/>
            <p:nvPr/>
          </p:nvSpPr>
          <p:spPr>
            <a:xfrm>
              <a:off x="9234168" y="3016357"/>
              <a:ext cx="1703295" cy="5398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処理</a:t>
              </a:r>
              <a:r>
                <a:rPr kumimoji="1" lang="en-US" altLang="ja-JP" dirty="0"/>
                <a:t>D</a:t>
              </a:r>
              <a:endParaRPr kumimoji="1" lang="ja-JP" altLang="en-US" dirty="0"/>
            </a:p>
          </p:txBody>
        </p: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E95F26FD-1282-4435-8C69-626E05231130}"/>
                </a:ext>
              </a:extLst>
            </p:cNvPr>
            <p:cNvCxnSpPr>
              <a:cxnSpLocks/>
              <a:stCxn id="19" idx="3"/>
              <a:endCxn id="34" idx="1"/>
            </p:cNvCxnSpPr>
            <p:nvPr/>
          </p:nvCxnSpPr>
          <p:spPr>
            <a:xfrm>
              <a:off x="8174093" y="3286266"/>
              <a:ext cx="10600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8B14C73B-6147-4D9E-8261-DD3F170FB939}"/>
              </a:ext>
            </a:extLst>
          </p:cNvPr>
          <p:cNvSpPr txBox="1"/>
          <p:nvPr/>
        </p:nvSpPr>
        <p:spPr>
          <a:xfrm>
            <a:off x="567542" y="3839878"/>
            <a:ext cx="4634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A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～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D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が必ず順番に処理される。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100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非同期処理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同時に複数の処理</a:t>
            </a:r>
            <a:r>
              <a:rPr kumimoji="1" lang="ja-JP" altLang="en-US" sz="2400" dirty="0"/>
              <a:t>を実行します。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前の処理を待たなくて良いので非常に効率は良い</a:t>
            </a:r>
            <a:r>
              <a:rPr lang="ja-JP" altLang="en-US" sz="2400" dirty="0"/>
              <a:t>ですが、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処理が完了する順番が状況によって変わったりする</a:t>
            </a:r>
            <a:r>
              <a:rPr lang="ja-JP" altLang="en-US" sz="2400" dirty="0"/>
              <a:t>デメリットもあります。</a:t>
            </a:r>
            <a:endParaRPr kumimoji="1" lang="en-US" altLang="ja-JP" sz="24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B70BE864-86E7-42D6-8993-F3CEC0A8A25D}"/>
              </a:ext>
            </a:extLst>
          </p:cNvPr>
          <p:cNvGrpSpPr/>
          <p:nvPr/>
        </p:nvGrpSpPr>
        <p:grpSpPr>
          <a:xfrm>
            <a:off x="567542" y="2556458"/>
            <a:ext cx="4801314" cy="3245646"/>
            <a:chOff x="567542" y="2556458"/>
            <a:chExt cx="4801314" cy="3245646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BEE8B20B-6068-4ED3-9B40-856FC63AB533}"/>
                </a:ext>
              </a:extLst>
            </p:cNvPr>
            <p:cNvGrpSpPr/>
            <p:nvPr/>
          </p:nvGrpSpPr>
          <p:grpSpPr>
            <a:xfrm>
              <a:off x="693046" y="3016357"/>
              <a:ext cx="1703296" cy="2057705"/>
              <a:chOff x="567541" y="3532094"/>
              <a:chExt cx="1703296" cy="2057705"/>
            </a:xfrm>
          </p:grpSpPr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002ED5E2-1060-48F2-9627-B1E7D02EE0F2}"/>
                  </a:ext>
                </a:extLst>
              </p:cNvPr>
              <p:cNvSpPr/>
              <p:nvPr/>
            </p:nvSpPr>
            <p:spPr>
              <a:xfrm>
                <a:off x="567542" y="3532094"/>
                <a:ext cx="1703295" cy="53981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処理</a:t>
                </a:r>
                <a:r>
                  <a:rPr kumimoji="1" lang="en-US" altLang="ja-JP" dirty="0"/>
                  <a:t>A</a:t>
                </a:r>
                <a:endParaRPr kumimoji="1" lang="ja-JP" altLang="en-US" dirty="0"/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51CEA84E-8309-4AB6-B268-4E58D6A2DE1B}"/>
                  </a:ext>
                </a:extLst>
              </p:cNvPr>
              <p:cNvSpPr/>
              <p:nvPr/>
            </p:nvSpPr>
            <p:spPr>
              <a:xfrm>
                <a:off x="567542" y="4261902"/>
                <a:ext cx="1703295" cy="53981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処理</a:t>
                </a:r>
                <a:r>
                  <a:rPr kumimoji="1" lang="en-US" altLang="ja-JP" dirty="0"/>
                  <a:t>B</a:t>
                </a:r>
                <a:endParaRPr kumimoji="1" lang="ja-JP" altLang="en-US" dirty="0"/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58DD3C59-47FF-44BD-BEAB-0F03521A398F}"/>
                  </a:ext>
                </a:extLst>
              </p:cNvPr>
              <p:cNvSpPr/>
              <p:nvPr/>
            </p:nvSpPr>
            <p:spPr>
              <a:xfrm>
                <a:off x="567541" y="5049981"/>
                <a:ext cx="1703295" cy="53981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処理</a:t>
                </a:r>
                <a:r>
                  <a:rPr kumimoji="1" lang="en-US" altLang="ja-JP" dirty="0"/>
                  <a:t>C</a:t>
                </a:r>
                <a:endParaRPr kumimoji="1" lang="ja-JP" altLang="en-US" dirty="0"/>
              </a:p>
            </p:txBody>
          </p:sp>
        </p:grp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B95988A-6355-4FF5-B6A8-B6D72DE25C7E}"/>
                </a:ext>
              </a:extLst>
            </p:cNvPr>
            <p:cNvSpPr txBox="1"/>
            <p:nvPr/>
          </p:nvSpPr>
          <p:spPr>
            <a:xfrm>
              <a:off x="567542" y="2556458"/>
              <a:ext cx="48013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</a:rPr>
                <a:t>■非同期処理（マルチスレッド）</a:t>
              </a:r>
              <a:endParaRPr kumimoji="1" lang="en-US" altLang="ja-JP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CCCDDEDA-54EB-45D9-94CC-F0B3296A70B7}"/>
                </a:ext>
              </a:extLst>
            </p:cNvPr>
            <p:cNvSpPr/>
            <p:nvPr/>
          </p:nvSpPr>
          <p:spPr>
            <a:xfrm>
              <a:off x="693046" y="5262286"/>
              <a:ext cx="1703295" cy="5398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/>
                <a:t>処理</a:t>
              </a:r>
              <a:r>
                <a:rPr kumimoji="1" lang="en-US" altLang="ja-JP" dirty="0"/>
                <a:t>D</a:t>
              </a:r>
              <a:endParaRPr kumimoji="1" lang="ja-JP" altLang="en-US" dirty="0"/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1D4F35F-F74E-4884-81BC-43678F97423B}"/>
              </a:ext>
            </a:extLst>
          </p:cNvPr>
          <p:cNvSpPr txBox="1"/>
          <p:nvPr/>
        </p:nvSpPr>
        <p:spPr>
          <a:xfrm>
            <a:off x="620433" y="6052131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どれが先に終わるかわからない。。。（順番が保証されない）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900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8590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また非同期処理は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２つ以上のことを同時に行いたい</a:t>
            </a:r>
            <a:r>
              <a:rPr kumimoji="1" lang="ja-JP" altLang="en-US" sz="2400" dirty="0"/>
              <a:t>時にも使います。</a:t>
            </a:r>
            <a:endParaRPr kumimoji="1" lang="en-US" altLang="ja-JP" sz="2400" dirty="0"/>
          </a:p>
          <a:p>
            <a:r>
              <a:rPr lang="ja-JP" altLang="en-US" sz="2400" dirty="0"/>
              <a:t>今回は</a:t>
            </a:r>
            <a:r>
              <a:rPr lang="ja-JP" altLang="en-US" sz="2400" b="1" dirty="0">
                <a:solidFill>
                  <a:srgbClr val="FF0000"/>
                </a:solidFill>
              </a:rPr>
              <a:t>ロード処理</a:t>
            </a:r>
            <a:r>
              <a:rPr lang="ja-JP" altLang="en-US" sz="2400" dirty="0"/>
              <a:t>と「</a:t>
            </a:r>
            <a:r>
              <a:rPr lang="en-US" altLang="ja-JP" sz="2400" b="1" dirty="0" err="1">
                <a:solidFill>
                  <a:srgbClr val="FF0000"/>
                </a:solidFill>
              </a:rPr>
              <a:t>NowLoading</a:t>
            </a:r>
            <a:r>
              <a:rPr lang="en-US" altLang="ja-JP" sz="2400" b="1" dirty="0">
                <a:solidFill>
                  <a:srgbClr val="FF0000"/>
                </a:solidFill>
              </a:rPr>
              <a:t>..</a:t>
            </a:r>
            <a:r>
              <a:rPr lang="ja-JP" altLang="en-US" sz="2400" dirty="0"/>
              <a:t>」の表示を同時に行う処理を作ります。</a:t>
            </a:r>
            <a:endParaRPr kumimoji="1" lang="en-US" altLang="ja-JP" sz="24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B70BE864-86E7-42D6-8993-F3CEC0A8A25D}"/>
              </a:ext>
            </a:extLst>
          </p:cNvPr>
          <p:cNvGrpSpPr/>
          <p:nvPr/>
        </p:nvGrpSpPr>
        <p:grpSpPr>
          <a:xfrm>
            <a:off x="693047" y="3016357"/>
            <a:ext cx="7580339" cy="1269626"/>
            <a:chOff x="693047" y="3016357"/>
            <a:chExt cx="7580339" cy="1269626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BEE8B20B-6068-4ED3-9B40-856FC63AB533}"/>
                </a:ext>
              </a:extLst>
            </p:cNvPr>
            <p:cNvGrpSpPr/>
            <p:nvPr/>
          </p:nvGrpSpPr>
          <p:grpSpPr>
            <a:xfrm>
              <a:off x="693047" y="3016357"/>
              <a:ext cx="1703295" cy="1269626"/>
              <a:chOff x="567542" y="3532094"/>
              <a:chExt cx="1703295" cy="1269626"/>
            </a:xfrm>
          </p:grpSpPr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002ED5E2-1060-48F2-9627-B1E7D02EE0F2}"/>
                  </a:ext>
                </a:extLst>
              </p:cNvPr>
              <p:cNvSpPr/>
              <p:nvPr/>
            </p:nvSpPr>
            <p:spPr>
              <a:xfrm>
                <a:off x="567542" y="3532094"/>
                <a:ext cx="1703295" cy="53981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ロード処理</a:t>
                </a:r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51CEA84E-8309-4AB6-B268-4E58D6A2DE1B}"/>
                  </a:ext>
                </a:extLst>
              </p:cNvPr>
              <p:cNvSpPr/>
              <p:nvPr/>
            </p:nvSpPr>
            <p:spPr>
              <a:xfrm>
                <a:off x="567542" y="4261902"/>
                <a:ext cx="1703295" cy="53981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dirty="0" err="1"/>
                  <a:t>NowLoading</a:t>
                </a:r>
                <a:endParaRPr kumimoji="1" lang="ja-JP" altLang="en-US" dirty="0"/>
              </a:p>
            </p:txBody>
          </p:sp>
        </p:grp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B95988A-6355-4FF5-B6A8-B6D72DE25C7E}"/>
                </a:ext>
              </a:extLst>
            </p:cNvPr>
            <p:cNvSpPr txBox="1"/>
            <p:nvPr/>
          </p:nvSpPr>
          <p:spPr>
            <a:xfrm>
              <a:off x="2548742" y="3094510"/>
              <a:ext cx="572464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シーンに必要なデータをロードしながら</a:t>
              </a:r>
              <a:endParaRPr kumimoji="1" lang="en-US" altLang="ja-JP" sz="2400" dirty="0"/>
            </a:p>
          </p:txBody>
        </p:sp>
      </p:grp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2BEC06D-A17A-4C78-BCC3-70A61E0155A2}"/>
              </a:ext>
            </a:extLst>
          </p:cNvPr>
          <p:cNvSpPr txBox="1"/>
          <p:nvPr/>
        </p:nvSpPr>
        <p:spPr>
          <a:xfrm>
            <a:off x="2548742" y="3832201"/>
            <a:ext cx="3607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NowLoading</a:t>
            </a:r>
            <a:r>
              <a:rPr kumimoji="1" lang="ja-JP" altLang="en-US" sz="2400" dirty="0"/>
              <a:t>を表示する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83429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964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前回のマルチシーンで、</a:t>
            </a:r>
            <a:endParaRPr kumimoji="1" lang="en-US" altLang="ja-JP" sz="2400" dirty="0"/>
          </a:p>
          <a:p>
            <a:r>
              <a:rPr lang="ja-JP" altLang="en-US" sz="2400" dirty="0"/>
              <a:t>ゲームプレイ中のシーンは</a:t>
            </a:r>
            <a:r>
              <a:rPr lang="ja-JP" altLang="en-US" sz="2400" b="1" dirty="0">
                <a:solidFill>
                  <a:srgbClr val="FF0000"/>
                </a:solidFill>
              </a:rPr>
              <a:t>ステージと</a:t>
            </a:r>
            <a:r>
              <a:rPr lang="en-US" altLang="ja-JP" sz="2400" b="1" dirty="0">
                <a:solidFill>
                  <a:srgbClr val="FF0000"/>
                </a:solidFill>
              </a:rPr>
              <a:t>UI</a:t>
            </a:r>
            <a:r>
              <a:rPr lang="ja-JP" altLang="en-US" sz="2400" b="1" dirty="0">
                <a:solidFill>
                  <a:srgbClr val="FF0000"/>
                </a:solidFill>
              </a:rPr>
              <a:t>に分割</a:t>
            </a:r>
            <a:r>
              <a:rPr lang="ja-JP" altLang="en-US" sz="2400" dirty="0"/>
              <a:t>しました。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54BE1EA-FFC1-435C-B41F-0B2290C90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7334376" cy="358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39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これをさらに分割して３つのシーンで構成します。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Play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シーン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ゲームプレイ中の大元となるシーン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 err="1">
                <a:solidFill>
                  <a:srgbClr val="FF0000"/>
                </a:solidFill>
              </a:rPr>
              <a:t>PlayUI</a:t>
            </a:r>
            <a:r>
              <a:rPr lang="ja-JP" altLang="en-US" sz="2400" b="1" dirty="0">
                <a:solidFill>
                  <a:srgbClr val="FF0000"/>
                </a:solidFill>
              </a:rPr>
              <a:t>シーン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ゲームプレイ中の</a:t>
            </a:r>
            <a:r>
              <a:rPr lang="en-US" altLang="ja-JP" sz="2400" dirty="0"/>
              <a:t>UI</a:t>
            </a:r>
            <a:r>
              <a:rPr lang="ja-JP" altLang="en-US" sz="2400" dirty="0"/>
              <a:t>をまとめたシーン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</a:t>
            </a:r>
            <a:r>
              <a:rPr lang="en-US" altLang="ja-JP" sz="2400" b="1" dirty="0">
                <a:solidFill>
                  <a:srgbClr val="FF0000"/>
                </a:solidFill>
              </a:rPr>
              <a:t>Stage</a:t>
            </a:r>
            <a:r>
              <a:rPr lang="ja-JP" altLang="en-US" sz="2400" b="1" dirty="0">
                <a:solidFill>
                  <a:srgbClr val="FF0000"/>
                </a:solidFill>
              </a:rPr>
              <a:t>シーン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ステージに関するオブジェクトをまとめたシーン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699639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332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ステージが選択されたらフェードアウト後に</a:t>
            </a:r>
            <a:r>
              <a:rPr kumimoji="1" lang="en-US" altLang="ja-JP" sz="2400" dirty="0"/>
              <a:t>Play</a:t>
            </a:r>
            <a:r>
              <a:rPr kumimoji="1" lang="ja-JP" altLang="en-US" sz="2400" dirty="0"/>
              <a:t>シーンをロードします。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77485E9-247F-4F2D-AB0D-B8EEDB317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247400" cy="266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23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48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Play</a:t>
            </a:r>
            <a:r>
              <a:rPr kumimoji="1" lang="ja-JP" altLang="en-US" sz="2400" dirty="0"/>
              <a:t>シーンにはシーン用のスクリプトがついたオブジェクトのみ付与します。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3FD4E95-CF00-4B37-890A-7770A5783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4608418" cy="263879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B1FEAE1-83ED-4BB0-9E75-CEE49D164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948" y="1817792"/>
            <a:ext cx="4334480" cy="2638793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BFAF92D-830F-4BC7-8EBA-3FB460AB6D02}"/>
              </a:ext>
            </a:extLst>
          </p:cNvPr>
          <p:cNvSpPr txBox="1"/>
          <p:nvPr/>
        </p:nvSpPr>
        <p:spPr>
          <a:xfrm>
            <a:off x="567541" y="4596283"/>
            <a:ext cx="6817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Play.cs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で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UI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とステージを非同期ロードします。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926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89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Play.cs</a:t>
            </a:r>
            <a:r>
              <a:rPr kumimoji="1" lang="ja-JP" altLang="en-US" sz="2400" dirty="0"/>
              <a:t>を作り直します。（その１）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0737709-E684-45F3-A0A1-C7E860940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9178773" cy="408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291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89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Play.cs</a:t>
            </a:r>
            <a:r>
              <a:rPr kumimoji="1" lang="ja-JP" altLang="en-US" sz="2400" dirty="0"/>
              <a:t>を作り直します。（その２）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DC2DFA5-04AB-46D0-8E48-B42CACE1C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5528458" cy="467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458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89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Play.cs</a:t>
            </a:r>
            <a:r>
              <a:rPr kumimoji="1" lang="ja-JP" altLang="en-US" sz="2400" dirty="0"/>
              <a:t>を作り直します。（その３）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9F241387-A48E-497B-9E15-53A5D22D4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10934176" cy="345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54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89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Play.cs</a:t>
            </a:r>
            <a:r>
              <a:rPr kumimoji="1" lang="ja-JP" altLang="en-US" sz="2400" dirty="0"/>
              <a:t>を作り直します。（その４）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EB85CFC-8F83-40A0-B12C-59D1921E9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278909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87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270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実行するとプレイシーンの前に</a:t>
            </a:r>
            <a:r>
              <a:rPr kumimoji="1" lang="en-US" altLang="ja-JP" sz="2400" dirty="0"/>
              <a:t>Now Loading</a:t>
            </a:r>
            <a:r>
              <a:rPr kumimoji="1" lang="ja-JP" altLang="en-US" sz="2400" dirty="0"/>
              <a:t>表示を挟むことができます。</a:t>
            </a:r>
            <a:endParaRPr kumimoji="1" lang="en-US" altLang="ja-JP" sz="2400" dirty="0"/>
          </a:p>
          <a:p>
            <a:r>
              <a:rPr lang="ja-JP" altLang="en-US" sz="2400" dirty="0"/>
              <a:t>（データ自体が小さいので一瞬で終わりますが。。。）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E26936E-6D47-45C3-8BD3-19BDB68A4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898745" cy="345444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6C3F5FD-F88A-4B34-BBF7-A26175A059F7}"/>
              </a:ext>
            </a:extLst>
          </p:cNvPr>
          <p:cNvSpPr txBox="1"/>
          <p:nvPr/>
        </p:nvSpPr>
        <p:spPr>
          <a:xfrm>
            <a:off x="567542" y="5781271"/>
            <a:ext cx="95654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No cameras rendering </a:t>
            </a:r>
            <a:r>
              <a:rPr kumimoji="1" lang="ja-JP" altLang="en-US" sz="2400" dirty="0"/>
              <a:t>はカメラがありませんという警告表示です。</a:t>
            </a:r>
            <a:endParaRPr kumimoji="1" lang="en-US" altLang="ja-JP" sz="2400" dirty="0"/>
          </a:p>
          <a:p>
            <a:r>
              <a:rPr kumimoji="1" lang="en-US" altLang="ja-JP" sz="2400" dirty="0"/>
              <a:t>Now Loading</a:t>
            </a:r>
            <a:r>
              <a:rPr kumimoji="1" lang="ja-JP" altLang="en-US" sz="2400" dirty="0"/>
              <a:t>は</a:t>
            </a:r>
            <a:r>
              <a:rPr kumimoji="1" lang="en-US" altLang="ja-JP" sz="2400" dirty="0"/>
              <a:t>UI</a:t>
            </a:r>
            <a:r>
              <a:rPr kumimoji="1" lang="ja-JP" altLang="en-US" sz="2400" dirty="0"/>
              <a:t>しか表示していないので問題ありません。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91733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17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Play</a:t>
            </a:r>
            <a:r>
              <a:rPr kumimoji="1" lang="ja-JP" altLang="en-US" sz="2400" dirty="0"/>
              <a:t>シーンの</a:t>
            </a:r>
            <a:r>
              <a:rPr lang="ja-JP" altLang="en-US" sz="2400" dirty="0"/>
              <a:t>スタート関数でロード処理のコルーチンを実行します。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B5C1E3E-6A03-4C86-9D50-5C5517830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178773" cy="408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9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120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ロードコルーチンの中で</a:t>
            </a:r>
            <a:r>
              <a:rPr lang="en-US" altLang="ja-JP" sz="2400" dirty="0"/>
              <a:t>UI</a:t>
            </a:r>
            <a:r>
              <a:rPr lang="ja-JP" altLang="en-US" sz="2400" dirty="0"/>
              <a:t>のロードコルーチンを実行します。</a:t>
            </a:r>
            <a:endParaRPr lang="en-US" altLang="ja-JP" sz="2400" dirty="0"/>
          </a:p>
          <a:p>
            <a:r>
              <a:rPr lang="en-US" altLang="ja-JP" sz="2400" dirty="0">
                <a:solidFill>
                  <a:srgbClr val="7030A0"/>
                </a:solidFill>
              </a:rPr>
              <a:t>y</a:t>
            </a:r>
            <a:r>
              <a:rPr kumimoji="1" lang="en-US" altLang="ja-JP" sz="2400" dirty="0">
                <a:solidFill>
                  <a:srgbClr val="7030A0"/>
                </a:solidFill>
              </a:rPr>
              <a:t>ield return</a:t>
            </a:r>
            <a:r>
              <a:rPr kumimoji="1" lang="en-US" altLang="ja-JP" sz="2400" dirty="0"/>
              <a:t> </a:t>
            </a:r>
            <a:r>
              <a:rPr kumimoji="1" lang="ja-JP" altLang="en-US" sz="2400" dirty="0"/>
              <a:t>の後にコルーチンクラスを書くと、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そのコルーチンが終了するまで中断</a:t>
            </a:r>
            <a:r>
              <a:rPr lang="ja-JP" altLang="en-US" sz="2400" dirty="0"/>
              <a:t>することができます。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206AFC8-4451-4C9B-BA8F-F4D4BF05E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8173303" cy="223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096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35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これにより、</a:t>
            </a:r>
            <a:r>
              <a:rPr kumimoji="1" lang="en-US" altLang="ja-JP" sz="2400" dirty="0"/>
              <a:t>UI</a:t>
            </a:r>
            <a:r>
              <a:rPr kumimoji="1" lang="ja-JP" altLang="en-US" sz="2400" dirty="0"/>
              <a:t>ロード後にステージロードと処理が流れていきます。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A2F9D14-1636-4509-9EB8-F88CE4CF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074340" cy="360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13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それぞれのシーンのロードには</a:t>
            </a:r>
            <a:r>
              <a:rPr kumimoji="1" lang="en-US" altLang="ja-JP" sz="2400" b="1" dirty="0" err="1">
                <a:solidFill>
                  <a:srgbClr val="FF0000"/>
                </a:solidFill>
              </a:rPr>
              <a:t>LoadSceneAsync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関数</a:t>
            </a:r>
            <a:r>
              <a:rPr kumimoji="1" lang="ja-JP" altLang="en-US" sz="2400" dirty="0"/>
              <a:t>を使用します。</a:t>
            </a:r>
            <a:endParaRPr kumimoji="1" lang="en-US" altLang="ja-JP" sz="2400" dirty="0"/>
          </a:p>
          <a:p>
            <a:r>
              <a:rPr lang="ja-JP" altLang="en-US" sz="2400" dirty="0"/>
              <a:t>この関数でロードすると、処理を止めずにロードすることができます。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14EC444-D577-483A-9D24-8B05DDF36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575587" cy="3776995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FB58C59-E88A-41CF-8DCC-AF776DF4115E}"/>
              </a:ext>
            </a:extLst>
          </p:cNvPr>
          <p:cNvSpPr/>
          <p:nvPr/>
        </p:nvSpPr>
        <p:spPr>
          <a:xfrm>
            <a:off x="1981200" y="3747247"/>
            <a:ext cx="9161929" cy="6006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8262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処理が止まらないだけでロード自体は時間がかかります。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そのため</a:t>
            </a:r>
            <a:r>
              <a:rPr lang="ja-JP" altLang="en-US" sz="2400" b="1" dirty="0">
                <a:solidFill>
                  <a:srgbClr val="FF0000"/>
                </a:solidFill>
              </a:rPr>
              <a:t>ロードが終わるまではコルーチンを中断する</a:t>
            </a:r>
            <a:r>
              <a:rPr lang="ja-JP" altLang="en-US" sz="2400" dirty="0"/>
              <a:t>必要があります。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14EC444-D577-483A-9D24-8B05DDF36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575587" cy="3776995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478D9BD-77D9-458B-B615-8BD2A14641CA}"/>
              </a:ext>
            </a:extLst>
          </p:cNvPr>
          <p:cNvSpPr/>
          <p:nvPr/>
        </p:nvSpPr>
        <p:spPr>
          <a:xfrm>
            <a:off x="1981201" y="4356847"/>
            <a:ext cx="4572000" cy="14522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0167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226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非同期シーン読み込み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53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ロードのコルーチンと並行して、</a:t>
            </a:r>
            <a:endParaRPr kumimoji="1" lang="en-US" altLang="ja-JP" sz="2400" dirty="0"/>
          </a:p>
          <a:p>
            <a:r>
              <a:rPr lang="en-US" altLang="ja-JP" sz="2400" dirty="0"/>
              <a:t>Now Loading</a:t>
            </a:r>
            <a:r>
              <a:rPr lang="ja-JP" altLang="en-US" sz="2400" dirty="0"/>
              <a:t> の点滅処理が実行されています。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6342726-B97A-45D2-8649-DC82C68F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544646" cy="373032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729B6CC-5BAF-48E2-BAC1-8807DAAFB8ED}"/>
              </a:ext>
            </a:extLst>
          </p:cNvPr>
          <p:cNvSpPr/>
          <p:nvPr/>
        </p:nvSpPr>
        <p:spPr>
          <a:xfrm>
            <a:off x="7826188" y="5181600"/>
            <a:ext cx="2330824" cy="6006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736E6AE-9B9B-4CB1-8166-0E09BCCB4581}"/>
              </a:ext>
            </a:extLst>
          </p:cNvPr>
          <p:cNvSpPr txBox="1"/>
          <p:nvPr/>
        </p:nvSpPr>
        <p:spPr>
          <a:xfrm>
            <a:off x="567542" y="5950547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これでロード中画面を実現しています。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99299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770</Words>
  <Application>Microsoft Office PowerPoint</Application>
  <PresentationFormat>ワイド画面</PresentationFormat>
  <Paragraphs>100</Paragraphs>
  <Slides>21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56</cp:revision>
  <dcterms:created xsi:type="dcterms:W3CDTF">2024-08-27T02:15:54Z</dcterms:created>
  <dcterms:modified xsi:type="dcterms:W3CDTF">2024-11-05T02:10:51Z</dcterms:modified>
</cp:coreProperties>
</file>