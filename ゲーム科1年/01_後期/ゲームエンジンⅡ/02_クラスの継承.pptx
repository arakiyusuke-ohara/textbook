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8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2304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これまで何気なく作成してきた</a:t>
            </a:r>
            <a:r>
              <a:rPr kumimoji="1" lang="en-US" altLang="ja-JP" sz="2400" dirty="0"/>
              <a:t>C#</a:t>
            </a:r>
            <a:r>
              <a:rPr kumimoji="1" lang="ja-JP" altLang="en-US" sz="2400" dirty="0"/>
              <a:t>スクリプトですが、</a:t>
            </a:r>
            <a:endParaRPr kumimoji="1" lang="en-US" altLang="ja-JP" sz="2400" dirty="0"/>
          </a:p>
          <a:p>
            <a:r>
              <a:rPr lang="en-US" altLang="ja-JP" sz="2400" dirty="0"/>
              <a:t>C#</a:t>
            </a:r>
            <a:r>
              <a:rPr lang="ja-JP" altLang="en-US" sz="2400" dirty="0"/>
              <a:t>には設計の上でとても重要となる</a:t>
            </a:r>
            <a:r>
              <a:rPr lang="ja-JP" altLang="en-US" sz="2400" b="1" dirty="0">
                <a:solidFill>
                  <a:srgbClr val="FF0000"/>
                </a:solidFill>
              </a:rPr>
              <a:t>クラスの継承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r>
              <a:rPr lang="ja-JP" altLang="en-US" sz="2400" dirty="0"/>
              <a:t>まずは以下の２つのクラスについて覚えておきましょう。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■基底クラス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様々な機能の基底、基盤となる機能を持ったクラス。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■派生クラス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基底クラスから派生して作るクラス。</a:t>
            </a:r>
            <a:endParaRPr lang="en-US" altLang="ja-JP" sz="2400" dirty="0"/>
          </a:p>
          <a:p>
            <a:r>
              <a:rPr kumimoji="1" lang="ja-JP" altLang="en-US" sz="2400" dirty="0"/>
              <a:t>基底クラスの機能を持ちつつ、派生クラス専用の機能を実装する。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例えば</a:t>
            </a:r>
            <a:r>
              <a:rPr kumimoji="1" lang="ja-JP" altLang="en-US" sz="2400" dirty="0"/>
              <a:t>シューティングゲームを作る際に、</a:t>
            </a:r>
            <a:r>
              <a:rPr lang="ja-JP" altLang="en-US" sz="2400" dirty="0"/>
              <a:t>２種類のバレットを作るとします。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■通常弾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まっすぐ前に進む。</a:t>
            </a:r>
            <a:endParaRPr lang="en-US" altLang="ja-JP" sz="2400" dirty="0"/>
          </a:p>
          <a:p>
            <a:r>
              <a:rPr lang="ja-JP" altLang="en-US" sz="2400" dirty="0"/>
              <a:t>ヒットした敵にダメージを与える。</a:t>
            </a:r>
            <a:endParaRPr lang="en-US" altLang="ja-JP" sz="2400" dirty="0"/>
          </a:p>
          <a:p>
            <a:r>
              <a:rPr lang="ja-JP" altLang="en-US" sz="2400" dirty="0"/>
              <a:t>一定時間後に消滅する。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■ボム弾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前方に落ちていきながら進む。</a:t>
            </a:r>
            <a:endParaRPr kumimoji="1" lang="en-US" altLang="ja-JP" sz="2400" dirty="0"/>
          </a:p>
          <a:p>
            <a:r>
              <a:rPr lang="ja-JP" altLang="en-US" sz="2400" dirty="0"/>
              <a:t>着弾すると爆発する。</a:t>
            </a:r>
            <a:endParaRPr lang="en-US" altLang="ja-JP" sz="2400" dirty="0"/>
          </a:p>
          <a:p>
            <a:r>
              <a:rPr kumimoji="1" lang="ja-JP" altLang="en-US" sz="2400" dirty="0"/>
              <a:t>一定時間後に消滅する。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3265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緑文字</a:t>
            </a:r>
            <a:r>
              <a:rPr lang="ja-JP" altLang="en-US" sz="2400" dirty="0"/>
              <a:t>の機能はそれぞれ専用の機能となります。</a:t>
            </a:r>
            <a:endParaRPr kumimoji="1"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■通常弾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まっすぐ前に進む。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ヒットした敵にダメージを与える。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一定時間後に消滅する。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■ボム弾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前方に落ちていきながら進む。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b="1" dirty="0">
                <a:solidFill>
                  <a:srgbClr val="00B050"/>
                </a:solidFill>
              </a:rPr>
              <a:t>ヒットすると爆発する。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kumimoji="1" lang="ja-JP" altLang="en-US" sz="2400" dirty="0"/>
              <a:t>一定時間後に消滅する。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177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青文字</a:t>
            </a:r>
            <a:r>
              <a:rPr lang="ja-JP" altLang="en-US" sz="2400" dirty="0"/>
              <a:t>の機能はそれぞれ共通するの機能となります。</a:t>
            </a:r>
            <a:endParaRPr kumimoji="1"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■通常弾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まっすぐ前に進む。</a:t>
            </a:r>
            <a:endParaRPr lang="en-US" altLang="ja-JP" sz="2400" dirty="0"/>
          </a:p>
          <a:p>
            <a:r>
              <a:rPr lang="ja-JP" altLang="en-US" sz="2400" dirty="0"/>
              <a:t>ヒットした敵にダメージを与える。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一定時間後に消滅する。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■ボム弾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前方に落ちていきながら進む。</a:t>
            </a:r>
            <a:endParaRPr kumimoji="1" lang="en-US" altLang="ja-JP" sz="2400" dirty="0"/>
          </a:p>
          <a:p>
            <a:r>
              <a:rPr lang="ja-JP" altLang="en-US" sz="2400" dirty="0"/>
              <a:t>ヒットすると爆発する。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0070C0"/>
                </a:solidFill>
              </a:rPr>
              <a:t>一定時間後に消滅する。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19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これらのことから、バレットを以下のように設計できます。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■バレットの設計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一定時間後に消滅することは共通なので、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寿命に関する処理を基底</a:t>
            </a:r>
            <a:r>
              <a:rPr lang="ja-JP" altLang="en-US" sz="2400" dirty="0"/>
              <a:t>とすることができる。</a:t>
            </a:r>
            <a:endParaRPr lang="en-US" altLang="ja-JP" sz="2400" dirty="0"/>
          </a:p>
          <a:p>
            <a:r>
              <a:rPr lang="ja-JP" altLang="en-US" sz="2400" dirty="0"/>
              <a:t>これを派生させ種類ごとのバレット専用クラスを作る。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あくまで一例になります。</a:t>
            </a:r>
            <a:endParaRPr lang="en-US" altLang="ja-JP" sz="2400" dirty="0"/>
          </a:p>
          <a:p>
            <a:r>
              <a:rPr lang="ja-JP" altLang="en-US" sz="2400" dirty="0"/>
              <a:t>実際は、</a:t>
            </a:r>
            <a:r>
              <a:rPr lang="ja-JP" altLang="en-US" sz="2400" b="1" dirty="0">
                <a:solidFill>
                  <a:srgbClr val="FF0000"/>
                </a:solidFill>
              </a:rPr>
              <a:t>制作するゲームの仕様に合わせて設計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では実際にプログラムを書いていきましょう。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3228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34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基底クラスとなる</a:t>
            </a:r>
            <a:r>
              <a:rPr lang="en-US" altLang="ja-JP" sz="2400" dirty="0" err="1"/>
              <a:t>BulletBase.cs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AA53E6-00D9-4B17-970F-4D631CA47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76967" cy="408994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891227A9-B538-4DE7-AB89-F5CB9F92758D}"/>
              </a:ext>
            </a:extLst>
          </p:cNvPr>
          <p:cNvSpPr/>
          <p:nvPr/>
        </p:nvSpPr>
        <p:spPr>
          <a:xfrm rot="14081646">
            <a:off x="6171698" y="4401671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57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寿命処理を基底とするので、必要な変数を宣言します。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047C3C2-BDEE-423E-BDD2-D250F9D4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02593" cy="37629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1F75A39-D320-4649-B935-64E05D079DE4}"/>
              </a:ext>
            </a:extLst>
          </p:cNvPr>
          <p:cNvSpPr/>
          <p:nvPr/>
        </p:nvSpPr>
        <p:spPr>
          <a:xfrm>
            <a:off x="2061882" y="2886635"/>
            <a:ext cx="6777318" cy="106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0757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発射関数を用意します。寿命の設定もここで行います。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3D3197-ABDC-4C32-BC0C-F164E2A28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2276"/>
            <a:ext cx="9437070" cy="444928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822F199-C15F-4AF5-8AD1-F6B3E8A1A06E}"/>
              </a:ext>
            </a:extLst>
          </p:cNvPr>
          <p:cNvSpPr/>
          <p:nvPr/>
        </p:nvSpPr>
        <p:spPr>
          <a:xfrm>
            <a:off x="567541" y="3711387"/>
            <a:ext cx="9347423" cy="25601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5969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派生先で専用処理を行う準備をします。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21C01DB-5587-4D09-94BE-8026FD7A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21699" cy="148610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5C9098-6109-49F1-BACB-34FA234682E0}"/>
              </a:ext>
            </a:extLst>
          </p:cNvPr>
          <p:cNvSpPr txBox="1"/>
          <p:nvPr/>
        </p:nvSpPr>
        <p:spPr>
          <a:xfrm>
            <a:off x="567542" y="3554100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コンパイルエラーが出ますが後ほど解決します。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3502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151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純粋仮想関数</a:t>
            </a:r>
            <a:r>
              <a:rPr lang="en-US" altLang="ja-JP" sz="2400" b="1" dirty="0">
                <a:solidFill>
                  <a:srgbClr val="FF0000"/>
                </a:solidFill>
              </a:rPr>
              <a:t>(abstract)</a:t>
            </a:r>
            <a:r>
              <a:rPr lang="ja-JP" altLang="en-US" sz="2400" dirty="0"/>
              <a:t>を使用するクラスは、</a:t>
            </a:r>
            <a:endParaRPr lang="en-US" altLang="ja-JP" sz="2400" dirty="0"/>
          </a:p>
          <a:p>
            <a:r>
              <a:rPr lang="ja-JP" altLang="en-US" sz="2400" dirty="0"/>
              <a:t>クラス宣言時に</a:t>
            </a:r>
            <a:r>
              <a:rPr lang="en-US" altLang="ja-JP" sz="2400" dirty="0">
                <a:solidFill>
                  <a:schemeClr val="accent1"/>
                </a:solidFill>
              </a:rPr>
              <a:t>abstract</a:t>
            </a:r>
            <a:r>
              <a:rPr lang="ja-JP" altLang="en-US" sz="2400" dirty="0"/>
              <a:t>を追記する必要があります。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204D1AB-1874-493C-980B-2FB1A1DE3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573961" cy="117173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63718C-CB91-4CD5-ADFE-7AABD0957E5A}"/>
              </a:ext>
            </a:extLst>
          </p:cNvPr>
          <p:cNvSpPr/>
          <p:nvPr/>
        </p:nvSpPr>
        <p:spPr>
          <a:xfrm>
            <a:off x="2465294" y="2781696"/>
            <a:ext cx="1192306" cy="382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42539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基底クラスで作成する関数についてまとめます。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■仮想関数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solidFill>
                  <a:srgbClr val="0070C0"/>
                </a:solidFill>
              </a:rPr>
              <a:t>virtual</a:t>
            </a:r>
            <a:r>
              <a:rPr lang="ja-JP" altLang="en-US" sz="2400" dirty="0"/>
              <a:t>を付けた関数は</a:t>
            </a:r>
            <a:r>
              <a:rPr lang="ja-JP" altLang="en-US" sz="2400" b="1" dirty="0">
                <a:solidFill>
                  <a:srgbClr val="FF0000"/>
                </a:solidFill>
              </a:rPr>
              <a:t>仮想関数</a:t>
            </a:r>
            <a:r>
              <a:rPr lang="ja-JP" altLang="en-US" sz="2400" dirty="0"/>
              <a:t>として宣言されます。</a:t>
            </a:r>
            <a:endParaRPr lang="en-US" altLang="ja-JP" sz="2400" dirty="0"/>
          </a:p>
          <a:p>
            <a:r>
              <a:rPr lang="ja-JP" altLang="en-US" sz="2400" dirty="0"/>
              <a:t>仮想関数は</a:t>
            </a:r>
            <a:r>
              <a:rPr lang="ja-JP" altLang="en-US" sz="2400" b="1" dirty="0">
                <a:solidFill>
                  <a:srgbClr val="FF0000"/>
                </a:solidFill>
              </a:rPr>
              <a:t>派生先のクラスで、専用の機能を実装することができます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■純粋仮想関数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solidFill>
                  <a:srgbClr val="0070C0"/>
                </a:solidFill>
              </a:rPr>
              <a:t>abstract</a:t>
            </a:r>
            <a:r>
              <a:rPr lang="ja-JP" altLang="en-US" sz="2400" dirty="0"/>
              <a:t>を付けた関数は</a:t>
            </a:r>
            <a:r>
              <a:rPr lang="ja-JP" altLang="en-US" sz="2400" b="1" dirty="0">
                <a:solidFill>
                  <a:srgbClr val="FF0000"/>
                </a:solidFill>
              </a:rPr>
              <a:t>純粋仮想関数</a:t>
            </a:r>
            <a:r>
              <a:rPr lang="ja-JP" altLang="en-US" sz="2400" dirty="0"/>
              <a:t>として宣言されます。</a:t>
            </a:r>
            <a:endParaRPr lang="en-US" altLang="ja-JP" sz="2400" dirty="0"/>
          </a:p>
          <a:p>
            <a:r>
              <a:rPr lang="ja-JP" altLang="en-US" sz="2400" dirty="0"/>
              <a:t>純粋仮想関数は</a:t>
            </a:r>
            <a:r>
              <a:rPr lang="ja-JP" altLang="en-US" sz="2400" b="1" dirty="0">
                <a:solidFill>
                  <a:srgbClr val="FF0000"/>
                </a:solidFill>
              </a:rPr>
              <a:t>派生先で必ず実装しなければいけない関数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実際に派生クラスを作って、どのように関連しているか確認しましょう。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59631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01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StraightBullet.cs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1A2BBCA-426E-4988-8059-149F3394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642397" cy="2691453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824E86A-E492-4BFE-8BF7-D90D57F6EA26}"/>
              </a:ext>
            </a:extLst>
          </p:cNvPr>
          <p:cNvSpPr/>
          <p:nvPr/>
        </p:nvSpPr>
        <p:spPr>
          <a:xfrm rot="14081646">
            <a:off x="7570192" y="3505200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61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BulletBase</a:t>
            </a:r>
            <a:r>
              <a:rPr lang="ja-JP" altLang="en-US" sz="2400" dirty="0"/>
              <a:t>を継承させます。クラス宣言箇所を書き換えましょう。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BA9995B-6F29-4DC2-9958-09F382B7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925906" cy="19719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2EDC039-D79E-413E-8152-63FD1EA39AA9}"/>
              </a:ext>
            </a:extLst>
          </p:cNvPr>
          <p:cNvSpPr/>
          <p:nvPr/>
        </p:nvSpPr>
        <p:spPr>
          <a:xfrm>
            <a:off x="5647765" y="3200400"/>
            <a:ext cx="1532964" cy="340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E88AEC-C8DE-4CEF-8C90-3208CFEC8E09}"/>
              </a:ext>
            </a:extLst>
          </p:cNvPr>
          <p:cNvSpPr txBox="1"/>
          <p:nvPr/>
        </p:nvSpPr>
        <p:spPr>
          <a:xfrm>
            <a:off x="567542" y="3929444"/>
            <a:ext cx="887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実はこれまでも</a:t>
            </a:r>
            <a:r>
              <a:rPr lang="en-US" altLang="ja-JP" sz="2400" dirty="0" err="1">
                <a:solidFill>
                  <a:srgbClr val="00B050"/>
                </a:solidFill>
              </a:rPr>
              <a:t>MonoBehaviour</a:t>
            </a:r>
            <a:r>
              <a:rPr lang="ja-JP" altLang="en-US" sz="2400" dirty="0"/>
              <a:t>クラスを継承していました。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2689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72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StraightBullet</a:t>
            </a:r>
            <a:r>
              <a:rPr lang="ja-JP" altLang="en-US" sz="2400" b="1" dirty="0">
                <a:solidFill>
                  <a:srgbClr val="FF0000"/>
                </a:solidFill>
              </a:rPr>
              <a:t>にのみ必要</a:t>
            </a:r>
            <a:r>
              <a:rPr lang="ja-JP" altLang="en-US" sz="2400" dirty="0"/>
              <a:t>な変数を書きます。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BE9B24-ECAF-49CC-A9D8-DEE0D6B6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35485" cy="317226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3A1FC83-E71E-4C18-848D-B0984EDB15D5}"/>
              </a:ext>
            </a:extLst>
          </p:cNvPr>
          <p:cNvSpPr/>
          <p:nvPr/>
        </p:nvSpPr>
        <p:spPr>
          <a:xfrm>
            <a:off x="2052918" y="2572871"/>
            <a:ext cx="3469341" cy="7709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3291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1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>
                <a:solidFill>
                  <a:srgbClr val="0070C0"/>
                </a:solidFill>
              </a:rPr>
              <a:t>UpdateBullet</a:t>
            </a:r>
            <a:r>
              <a:rPr lang="ja-JP" altLang="en-US" sz="2400" dirty="0"/>
              <a:t>関数を</a:t>
            </a:r>
            <a:r>
              <a:rPr lang="ja-JP" altLang="en-US" sz="2400" b="1" dirty="0">
                <a:solidFill>
                  <a:srgbClr val="FF0000"/>
                </a:solidFill>
              </a:rPr>
              <a:t>オーバーライド</a:t>
            </a:r>
            <a:r>
              <a:rPr lang="ja-JP" altLang="en-US" sz="2400" dirty="0"/>
              <a:t>して実装します。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12F86C-520D-4B65-85A3-601569080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6321894" cy="45482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280EA39-9525-4A22-9E40-F15631D5D666}"/>
              </a:ext>
            </a:extLst>
          </p:cNvPr>
          <p:cNvSpPr/>
          <p:nvPr/>
        </p:nvSpPr>
        <p:spPr>
          <a:xfrm>
            <a:off x="2043953" y="3836894"/>
            <a:ext cx="4845484" cy="2034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9FD069-FA79-4126-A140-4C0FA8D4574E}"/>
              </a:ext>
            </a:extLst>
          </p:cNvPr>
          <p:cNvSpPr txBox="1"/>
          <p:nvPr/>
        </p:nvSpPr>
        <p:spPr>
          <a:xfrm>
            <a:off x="4466695" y="2836440"/>
            <a:ext cx="420660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err="1"/>
              <a:t>UpdateBullet</a:t>
            </a:r>
            <a:r>
              <a:rPr lang="ja-JP" altLang="en-US" dirty="0"/>
              <a:t>は</a:t>
            </a:r>
            <a:r>
              <a:rPr lang="en-US" altLang="ja-JP" dirty="0"/>
              <a:t>Update</a:t>
            </a:r>
            <a:r>
              <a:rPr lang="ja-JP" altLang="en-US" dirty="0"/>
              <a:t>で呼びましょう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0673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26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dirty="0" err="1"/>
              <a:t>BombBullet.cs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43EA9F-F9DF-409C-AA03-789BF294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87430" cy="230537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6011F2C9-172B-4430-8257-760B9747AADA}"/>
              </a:ext>
            </a:extLst>
          </p:cNvPr>
          <p:cNvSpPr/>
          <p:nvPr/>
        </p:nvSpPr>
        <p:spPr>
          <a:xfrm rot="14081646">
            <a:off x="3054240" y="3334871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52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3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BulletBase</a:t>
            </a:r>
            <a:r>
              <a:rPr lang="ja-JP" altLang="en-US" sz="2400" dirty="0"/>
              <a:t>を継承して、必要な変数を書いていきましょう。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4F87E1-30AB-412B-BD85-15CDE4A84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9264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7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63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70C0"/>
                </a:solidFill>
              </a:rPr>
              <a:t>Fire</a:t>
            </a:r>
            <a:r>
              <a:rPr lang="ja-JP" altLang="en-US" sz="2400" dirty="0"/>
              <a:t>関数と</a:t>
            </a:r>
            <a:r>
              <a:rPr lang="en-US" altLang="ja-JP" sz="2400" dirty="0" err="1">
                <a:solidFill>
                  <a:srgbClr val="0070C0"/>
                </a:solidFill>
              </a:rPr>
              <a:t>UpdateBullet</a:t>
            </a:r>
            <a:r>
              <a:rPr lang="ja-JP" altLang="en-US" sz="2400" dirty="0"/>
              <a:t>関数をオーバーライドして実装します。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7C953A6-B939-4997-86BE-E4EFEE4D6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693870" cy="439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59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54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Update</a:t>
            </a:r>
            <a:r>
              <a:rPr lang="ja-JP" altLang="en-US" sz="2400" dirty="0"/>
              <a:t>で</a:t>
            </a:r>
            <a:r>
              <a:rPr lang="en-US" altLang="ja-JP" sz="2400" dirty="0" err="1"/>
              <a:t>UpdateBullet</a:t>
            </a:r>
            <a:r>
              <a:rPr lang="ja-JP" altLang="en-US" sz="2400" dirty="0"/>
              <a:t>を呼びましょう。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AF6B5D-A076-4449-A6FA-FC15A6E0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8264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6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派生クラス側でのテクニックをまとめます。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■オーバーライド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基底クラスにある仮想関数、純粋仮想関数と同名の関数を定義</a:t>
            </a:r>
            <a:r>
              <a:rPr lang="ja-JP" altLang="en-US" sz="2400" dirty="0"/>
              <a:t>すること。</a:t>
            </a:r>
            <a:endParaRPr lang="en-US" altLang="ja-JP" sz="2400" dirty="0"/>
          </a:p>
          <a:p>
            <a:r>
              <a:rPr lang="ja-JP" altLang="en-US" sz="2400" dirty="0"/>
              <a:t>基底クラスの機能からさらに</a:t>
            </a:r>
            <a:r>
              <a:rPr lang="ja-JP" altLang="en-US" sz="2400" b="1" dirty="0">
                <a:solidFill>
                  <a:srgbClr val="FF0000"/>
                </a:solidFill>
              </a:rPr>
              <a:t>機能を上乗せ</a:t>
            </a:r>
            <a:r>
              <a:rPr lang="ja-JP" altLang="en-US" sz="2400" dirty="0"/>
              <a:t>できる。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■ポリモフィズム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オーバーライドされた関数を呼び出すと、</a:t>
            </a:r>
            <a:endParaRPr lang="en-US" altLang="ja-JP" sz="2400" dirty="0"/>
          </a:p>
          <a:p>
            <a:r>
              <a:rPr lang="ja-JP" altLang="en-US" sz="2400" dirty="0"/>
              <a:t>呼び出し元の</a:t>
            </a:r>
            <a:r>
              <a:rPr lang="ja-JP" altLang="en-US" sz="2400" b="1" dirty="0">
                <a:solidFill>
                  <a:srgbClr val="FF0000"/>
                </a:solidFill>
              </a:rPr>
              <a:t>参照が基底クラスでも、生成されたときの派生クラスの関数が、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自動で呼ばれる。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仕上げを実装しながら確認しましょう。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1260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64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Player.cs</a:t>
            </a:r>
            <a:r>
              <a:rPr lang="ja-JP" altLang="en-US" sz="2400" dirty="0"/>
              <a:t>のバレット用の変数型を</a:t>
            </a:r>
            <a:r>
              <a:rPr lang="en-US" altLang="ja-JP" sz="2400" dirty="0" err="1">
                <a:solidFill>
                  <a:srgbClr val="00B050"/>
                </a:solidFill>
              </a:rPr>
              <a:t>BulletBase</a:t>
            </a:r>
            <a:r>
              <a:rPr lang="ja-JP" altLang="en-US" sz="2400" dirty="0"/>
              <a:t>に変更しましょう。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7178796-FA94-44DF-9046-4F6BD224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643266" cy="230597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6477AA8-4AF0-411E-BADB-7E261AE632D7}"/>
              </a:ext>
            </a:extLst>
          </p:cNvPr>
          <p:cNvSpPr/>
          <p:nvPr/>
        </p:nvSpPr>
        <p:spPr>
          <a:xfrm>
            <a:off x="3639671" y="2438401"/>
            <a:ext cx="1667435" cy="3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EEBE34E-518A-4551-B0E4-A4406A1B1C01}"/>
              </a:ext>
            </a:extLst>
          </p:cNvPr>
          <p:cNvSpPr/>
          <p:nvPr/>
        </p:nvSpPr>
        <p:spPr>
          <a:xfrm>
            <a:off x="3639671" y="3747246"/>
            <a:ext cx="1667435" cy="3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24536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67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BulletManager.cs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FireBullet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の引数型を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BulletBase</a:t>
            </a:r>
            <a:r>
              <a:rPr lang="ja-JP" altLang="en-US" sz="2400" dirty="0"/>
              <a:t>に変更して、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Fire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を呼びましょう。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413B445-F5F2-42EF-8937-3CE511B8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602482" cy="246157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992329-7D03-4EC0-9D08-C83874ED3F94}"/>
              </a:ext>
            </a:extLst>
          </p:cNvPr>
          <p:cNvSpPr/>
          <p:nvPr/>
        </p:nvSpPr>
        <p:spPr>
          <a:xfrm>
            <a:off x="4527176" y="2608731"/>
            <a:ext cx="1281953" cy="3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CACE8E-1214-4562-B0DB-4B806F5B80C8}"/>
              </a:ext>
            </a:extLst>
          </p:cNvPr>
          <p:cNvSpPr/>
          <p:nvPr/>
        </p:nvSpPr>
        <p:spPr>
          <a:xfrm>
            <a:off x="2339788" y="3612778"/>
            <a:ext cx="2187388" cy="600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3786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0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PlayerNormalShot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に</a:t>
            </a:r>
            <a:r>
              <a:rPr lang="en-US" altLang="ja-JP" sz="2400" b="1" dirty="0" err="1">
                <a:solidFill>
                  <a:srgbClr val="00B050"/>
                </a:solidFill>
              </a:rPr>
              <a:t>StraightBullet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D5A555-AC4B-421F-9485-082E81E6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24954" cy="228631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9AF1A26-964F-4A16-90A1-E4D87DFC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565" y="1817794"/>
            <a:ext cx="4296375" cy="325800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AE163E-8670-4BC7-8172-A911B088895F}"/>
              </a:ext>
            </a:extLst>
          </p:cNvPr>
          <p:cNvSpPr/>
          <p:nvPr/>
        </p:nvSpPr>
        <p:spPr>
          <a:xfrm>
            <a:off x="5468471" y="3086620"/>
            <a:ext cx="4473388" cy="1017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9F189494-2C35-4C67-AA8C-B1844FB235ED}"/>
              </a:ext>
            </a:extLst>
          </p:cNvPr>
          <p:cNvSpPr/>
          <p:nvPr/>
        </p:nvSpPr>
        <p:spPr>
          <a:xfrm rot="14081646">
            <a:off x="4390420" y="3251115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769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5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PlayerBombShot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に</a:t>
            </a:r>
            <a:r>
              <a:rPr lang="en-US" altLang="ja-JP" sz="2400" b="1" dirty="0" err="1">
                <a:solidFill>
                  <a:srgbClr val="00B050"/>
                </a:solidFill>
              </a:rPr>
              <a:t>BombBullet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FA6274-BFA2-4D88-A650-A847C142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48796" cy="2229161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ABBC4F03-5BF8-4002-B71B-5633D99F235C}"/>
              </a:ext>
            </a:extLst>
          </p:cNvPr>
          <p:cNvSpPr/>
          <p:nvPr/>
        </p:nvSpPr>
        <p:spPr>
          <a:xfrm rot="14081646">
            <a:off x="3700137" y="3287716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FE53460-873F-4108-B2DD-0FC04845C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336" y="1832391"/>
            <a:ext cx="4315427" cy="344853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56CDF85-80A7-4033-B1E2-5149D0204356}"/>
              </a:ext>
            </a:extLst>
          </p:cNvPr>
          <p:cNvSpPr/>
          <p:nvPr/>
        </p:nvSpPr>
        <p:spPr>
          <a:xfrm>
            <a:off x="5271248" y="3123220"/>
            <a:ext cx="4448796" cy="12156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16319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6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の</a:t>
            </a:r>
            <a:r>
              <a:rPr lang="en-US" altLang="ja-JP" sz="2400" dirty="0"/>
              <a:t>Inspector</a:t>
            </a:r>
            <a:r>
              <a:rPr lang="ja-JP" altLang="en-US" sz="2400" dirty="0"/>
              <a:t>で２種類のバレットを設定します。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DFC4E0D-CB94-4BBC-8B52-6AEBF54F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05901" cy="2324424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0A41B2A9-D2E9-4993-8D1E-6D8DC1A8045A}"/>
              </a:ext>
            </a:extLst>
          </p:cNvPr>
          <p:cNvSpPr/>
          <p:nvPr/>
        </p:nvSpPr>
        <p:spPr>
          <a:xfrm rot="14081646">
            <a:off x="2973996" y="3305644"/>
            <a:ext cx="681318" cy="53788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2AB1534-4BEE-4C2B-AF7A-7BBAB0273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251" y="1817794"/>
            <a:ext cx="4315427" cy="264832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110F1CC-7AF4-4C7F-90AC-45A55F5902AC}"/>
              </a:ext>
            </a:extLst>
          </p:cNvPr>
          <p:cNvSpPr/>
          <p:nvPr/>
        </p:nvSpPr>
        <p:spPr>
          <a:xfrm>
            <a:off x="5471252" y="3944470"/>
            <a:ext cx="4315426" cy="457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C9F9B1-166C-4373-A863-E8C0B7F9C77D}"/>
              </a:ext>
            </a:extLst>
          </p:cNvPr>
          <p:cNvSpPr txBox="1"/>
          <p:nvPr/>
        </p:nvSpPr>
        <p:spPr>
          <a:xfrm>
            <a:off x="567901" y="5003907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設定は以上です。</a:t>
            </a:r>
            <a:endParaRPr lang="en-US" altLang="ja-JP" sz="2400" dirty="0"/>
          </a:p>
          <a:p>
            <a:r>
              <a:rPr lang="ja-JP" altLang="en-US" sz="2400" dirty="0"/>
              <a:t>では実際に発射処理を見ていきましょう。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70068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09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で設定した２つのバレットは以下の変数に格納されます。</a:t>
            </a:r>
            <a:endParaRPr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B828FDF-1CCB-44F5-AFED-BCB8C9A0CD08}"/>
              </a:ext>
            </a:extLst>
          </p:cNvPr>
          <p:cNvGrpSpPr/>
          <p:nvPr/>
        </p:nvGrpSpPr>
        <p:grpSpPr>
          <a:xfrm>
            <a:off x="567542" y="1952265"/>
            <a:ext cx="6559148" cy="2456599"/>
            <a:chOff x="495824" y="1880547"/>
            <a:chExt cx="6559148" cy="245659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4223DA9D-62B3-42EB-9E64-5F8BE86ED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42" y="2279459"/>
              <a:ext cx="6487430" cy="2057687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D7B1E9E-0516-4170-9667-D564A02907E7}"/>
                </a:ext>
              </a:extLst>
            </p:cNvPr>
            <p:cNvSpPr txBox="1"/>
            <p:nvPr/>
          </p:nvSpPr>
          <p:spPr>
            <a:xfrm>
              <a:off x="495824" y="1880547"/>
              <a:ext cx="14718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 err="1"/>
                <a:t>Player.cs</a:t>
              </a:r>
              <a:endParaRPr lang="en-US" altLang="ja-JP" sz="2400" dirty="0"/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1DE636-C3E3-44CD-95C5-24BC34F9811F}"/>
              </a:ext>
            </a:extLst>
          </p:cNvPr>
          <p:cNvSpPr txBox="1"/>
          <p:nvPr/>
        </p:nvSpPr>
        <p:spPr>
          <a:xfrm>
            <a:off x="504789" y="4807776"/>
            <a:ext cx="7350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重要なのは変数の型が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BulletBase</a:t>
            </a:r>
            <a:r>
              <a:rPr lang="ja-JP" altLang="en-US" sz="2400" b="1" dirty="0">
                <a:solidFill>
                  <a:srgbClr val="FF0000"/>
                </a:solidFill>
              </a:rPr>
              <a:t>ということです。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906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847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Z, X</a:t>
            </a:r>
            <a:r>
              <a:rPr lang="ja-JP" altLang="en-US" sz="2400" dirty="0"/>
              <a:t>キーで対応したバレットを発射します。</a:t>
            </a:r>
            <a:endParaRPr lang="en-US" altLang="ja-JP" sz="2400" dirty="0"/>
          </a:p>
          <a:p>
            <a:r>
              <a:rPr lang="ja-JP" altLang="en-US" sz="2400" dirty="0"/>
              <a:t>これまで通り、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FireBullet</a:t>
            </a:r>
            <a:r>
              <a:rPr lang="ja-JP" altLang="en-US" sz="2400" dirty="0"/>
              <a:t>関数を使います。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011668A-6216-4FF7-8639-E5AEB395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186058" cy="463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0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92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そして</a:t>
            </a:r>
            <a:r>
              <a:rPr lang="en-US" altLang="ja-JP" sz="2400" b="1" dirty="0" err="1">
                <a:solidFill>
                  <a:srgbClr val="0070C0"/>
                </a:solidFill>
              </a:rPr>
              <a:t>FireBullet</a:t>
            </a:r>
            <a:r>
              <a:rPr lang="ja-JP" altLang="en-US" sz="2400" dirty="0"/>
              <a:t>関数で発射処理を呼び出します。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EBB5D7-6410-4A13-9E92-F68CCD2B5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643258" cy="241262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B00A80-8808-44A9-BDD2-0AA87D65DC5F}"/>
              </a:ext>
            </a:extLst>
          </p:cNvPr>
          <p:cNvSpPr txBox="1"/>
          <p:nvPr/>
        </p:nvSpPr>
        <p:spPr>
          <a:xfrm>
            <a:off x="567542" y="4370120"/>
            <a:ext cx="119378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</a:t>
            </a:r>
            <a:r>
              <a:rPr lang="en-US" altLang="ja-JP" sz="2400" b="1" dirty="0">
                <a:solidFill>
                  <a:srgbClr val="0070C0"/>
                </a:solidFill>
              </a:rPr>
              <a:t>Fire</a:t>
            </a:r>
            <a:r>
              <a:rPr lang="ja-JP" altLang="en-US" sz="2400" dirty="0"/>
              <a:t>関数が</a:t>
            </a:r>
            <a:r>
              <a:rPr lang="ja-JP" altLang="en-US" sz="2400" b="1" dirty="0">
                <a:solidFill>
                  <a:srgbClr val="FF0000"/>
                </a:solidFill>
              </a:rPr>
              <a:t>ポリモフィズム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fireBullet</a:t>
            </a:r>
            <a:r>
              <a:rPr lang="ja-JP" altLang="en-US" sz="2400" dirty="0"/>
              <a:t>変数は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BulletBase</a:t>
            </a:r>
            <a:r>
              <a:rPr lang="ja-JP" altLang="en-US" sz="2400" dirty="0"/>
              <a:t>ですが、</a:t>
            </a:r>
            <a:endParaRPr lang="en-US" altLang="ja-JP" sz="2400" dirty="0"/>
          </a:p>
          <a:p>
            <a:r>
              <a:rPr lang="ja-JP" altLang="en-US" sz="2400" dirty="0"/>
              <a:t>生成されたバレットが</a:t>
            </a:r>
            <a:r>
              <a:rPr lang="en-US" altLang="ja-JP" sz="2400" b="1" dirty="0" err="1">
                <a:solidFill>
                  <a:srgbClr val="00B050"/>
                </a:solidFill>
              </a:rPr>
              <a:t>BombBullet</a:t>
            </a:r>
            <a:r>
              <a:rPr lang="ja-JP" altLang="en-US" sz="2400" dirty="0"/>
              <a:t>であれば、</a:t>
            </a:r>
            <a:r>
              <a:rPr lang="en-US" altLang="ja-JP" sz="2400" b="1" dirty="0" err="1">
                <a:solidFill>
                  <a:srgbClr val="00B050"/>
                </a:solidFill>
              </a:rPr>
              <a:t>BombBullet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Fire</a:t>
            </a:r>
            <a:r>
              <a:rPr lang="ja-JP" altLang="en-US" sz="2400" dirty="0"/>
              <a:t>関数が呼ばれます。</a:t>
            </a:r>
            <a:endParaRPr lang="en-US" altLang="ja-JP" sz="2400" dirty="0"/>
          </a:p>
          <a:p>
            <a:r>
              <a:rPr lang="ja-JP" altLang="en-US" sz="2400" dirty="0"/>
              <a:t>生成さればバレットが</a:t>
            </a:r>
            <a:r>
              <a:rPr lang="en-US" altLang="ja-JP" sz="2400" b="1" dirty="0" err="1">
                <a:solidFill>
                  <a:srgbClr val="00B050"/>
                </a:solidFill>
              </a:rPr>
              <a:t>StraightBullet</a:t>
            </a:r>
            <a:r>
              <a:rPr lang="ja-JP" altLang="en-US" sz="2400" dirty="0"/>
              <a:t>であれば、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Fire</a:t>
            </a:r>
            <a:r>
              <a:rPr lang="ja-JP" altLang="en-US" sz="2400" dirty="0"/>
              <a:t>関数はオーバーライドされていないので、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BulletBase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Fire</a:t>
            </a:r>
            <a:r>
              <a:rPr lang="ja-JP" altLang="en-US" sz="2400" dirty="0"/>
              <a:t>関数が呼ばれます。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57028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ゲームを実行して２種類のバレットが発射できているか確認しましょう。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FB9AA3C-71A0-4FB4-A125-A49AE6E0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268325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07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クラスの継承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2103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継承は様々なゲームオブジェクトに適用します。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■主な例</a:t>
            </a:r>
            <a:endParaRPr lang="en-US" altLang="ja-JP" sz="2400" dirty="0"/>
          </a:p>
          <a:p>
            <a:r>
              <a:rPr lang="ja-JP" altLang="en-US" sz="2400" dirty="0"/>
              <a:t>・エネミーであれば</a:t>
            </a:r>
            <a:r>
              <a:rPr lang="en-US" altLang="ja-JP" sz="2400" b="1" dirty="0" err="1">
                <a:solidFill>
                  <a:srgbClr val="00B050"/>
                </a:solidFill>
              </a:rPr>
              <a:t>EnemyBase</a:t>
            </a:r>
            <a:r>
              <a:rPr lang="ja-JP" altLang="en-US" sz="2400" dirty="0"/>
              <a:t>から</a:t>
            </a:r>
            <a:r>
              <a:rPr lang="en-US" altLang="ja-JP" sz="2400" b="1" dirty="0">
                <a:solidFill>
                  <a:srgbClr val="00B050"/>
                </a:solidFill>
              </a:rPr>
              <a:t>Slime</a:t>
            </a:r>
            <a:r>
              <a:rPr lang="ja-JP" altLang="en-US" sz="2400" dirty="0"/>
              <a:t>や</a:t>
            </a:r>
            <a:r>
              <a:rPr lang="en-US" altLang="ja-JP" sz="2400" b="1" dirty="0" err="1">
                <a:solidFill>
                  <a:srgbClr val="00B050"/>
                </a:solidFill>
              </a:rPr>
              <a:t>Gobrin</a:t>
            </a:r>
            <a:r>
              <a:rPr lang="ja-JP" altLang="en-US" sz="2400" dirty="0"/>
              <a:t>に派生</a:t>
            </a:r>
            <a:endParaRPr lang="en-US" altLang="ja-JP" sz="2400" dirty="0"/>
          </a:p>
          <a:p>
            <a:r>
              <a:rPr lang="ja-JP" altLang="en-US" sz="2400" dirty="0"/>
              <a:t>・アイテムであれば</a:t>
            </a:r>
            <a:r>
              <a:rPr lang="en-US" altLang="ja-JP" sz="2400" b="1" dirty="0" err="1">
                <a:solidFill>
                  <a:srgbClr val="00B050"/>
                </a:solidFill>
              </a:rPr>
              <a:t>ItemBase</a:t>
            </a:r>
            <a:r>
              <a:rPr lang="ja-JP" altLang="en-US" sz="2400" dirty="0"/>
              <a:t>から</a:t>
            </a:r>
            <a:r>
              <a:rPr lang="en-US" altLang="ja-JP" sz="2400" b="1" dirty="0" err="1">
                <a:solidFill>
                  <a:srgbClr val="00B050"/>
                </a:solidFill>
              </a:rPr>
              <a:t>HealDrink</a:t>
            </a:r>
            <a:r>
              <a:rPr lang="ja-JP" altLang="en-US" sz="2400" dirty="0"/>
              <a:t>や</a:t>
            </a:r>
            <a:r>
              <a:rPr lang="en-US" altLang="ja-JP" sz="2400" b="1" dirty="0">
                <a:solidFill>
                  <a:srgbClr val="00B050"/>
                </a:solidFill>
              </a:rPr>
              <a:t>Grenade</a:t>
            </a:r>
            <a:r>
              <a:rPr lang="ja-JP" altLang="en-US" sz="2400" dirty="0"/>
              <a:t>に派生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さらに細かく分けて設計することもありますが、</a:t>
            </a:r>
            <a:endParaRPr lang="en-US" altLang="ja-JP" sz="2400" dirty="0"/>
          </a:p>
          <a:p>
            <a:r>
              <a:rPr lang="ja-JP" altLang="en-US" sz="2400" dirty="0"/>
              <a:t>まずは今回のバレットを基準に考えていきましょう。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クラスの継承は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でも学習します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7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1041</Words>
  <Application>Microsoft Office PowerPoint</Application>
  <PresentationFormat>ワイド画面</PresentationFormat>
  <Paragraphs>154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30</cp:revision>
  <dcterms:created xsi:type="dcterms:W3CDTF">2024-08-27T02:15:54Z</dcterms:created>
  <dcterms:modified xsi:type="dcterms:W3CDTF">2025-03-05T01:34:52Z</dcterms:modified>
</cp:coreProperties>
</file>