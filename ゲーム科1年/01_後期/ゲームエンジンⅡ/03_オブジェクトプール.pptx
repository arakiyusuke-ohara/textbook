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0" r:id="rId17"/>
    <p:sldId id="271" r:id="rId18"/>
    <p:sldId id="272" r:id="rId19"/>
    <p:sldId id="279" r:id="rId20"/>
    <p:sldId id="273" r:id="rId21"/>
    <p:sldId id="275" r:id="rId22"/>
    <p:sldId id="276" r:id="rId23"/>
    <p:sldId id="277" r:id="rId24"/>
    <p:sldId id="278"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2024/12/10</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2024/12/10</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s://docs.unity3d.com/ja/2022.1/ScriptReference/Pool.ObjectPool_1.html"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88C17E8C-FEA0-453D-99AC-3D3C3E6D83BB}"/>
              </a:ext>
            </a:extLst>
          </p:cNvPr>
          <p:cNvSpPr/>
          <p:nvPr/>
        </p:nvSpPr>
        <p:spPr>
          <a:xfrm>
            <a:off x="389467" y="2150533"/>
            <a:ext cx="11032066" cy="2192867"/>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264622" cy="4893647"/>
          </a:xfrm>
          <a:prstGeom prst="rect">
            <a:avLst/>
          </a:prstGeom>
          <a:noFill/>
        </p:spPr>
        <p:txBody>
          <a:bodyPr wrap="none" rtlCol="0">
            <a:spAutoFit/>
          </a:bodyPr>
          <a:lstStyle/>
          <a:p>
            <a:r>
              <a:rPr kumimoji="1" lang="ja-JP" altLang="en-US" sz="2400" dirty="0"/>
              <a:t>ゲームの処理には、特に重い処理がいくつかあります。</a:t>
            </a:r>
            <a:endParaRPr kumimoji="1" lang="en-US" altLang="ja-JP" sz="2400" dirty="0"/>
          </a:p>
          <a:p>
            <a:r>
              <a:rPr lang="ja-JP" altLang="en-US" sz="2400" dirty="0"/>
              <a:t>有名なものを以下にまとめます。</a:t>
            </a:r>
            <a:endParaRPr lang="en-US" altLang="ja-JP" sz="2400" dirty="0"/>
          </a:p>
          <a:p>
            <a:endParaRPr kumimoji="1" lang="en-US" altLang="ja-JP" sz="2400" dirty="0"/>
          </a:p>
          <a:p>
            <a:r>
              <a:rPr lang="ja-JP" altLang="en-US" sz="2400" b="1" dirty="0">
                <a:solidFill>
                  <a:srgbClr val="FF0000"/>
                </a:solidFill>
              </a:rPr>
              <a:t>■重い処理</a:t>
            </a:r>
            <a:endParaRPr lang="en-US" altLang="ja-JP" sz="2400" b="1" dirty="0">
              <a:solidFill>
                <a:srgbClr val="FF0000"/>
              </a:solidFill>
            </a:endParaRPr>
          </a:p>
          <a:p>
            <a:r>
              <a:rPr kumimoji="1" lang="ja-JP" altLang="en-US" sz="2400" dirty="0"/>
              <a:t>・文字列操作</a:t>
            </a:r>
            <a:r>
              <a:rPr kumimoji="1" lang="en-US" altLang="ja-JP" sz="2400" dirty="0"/>
              <a:t>	</a:t>
            </a:r>
            <a:r>
              <a:rPr kumimoji="1" lang="ja-JP" altLang="en-US" sz="2400" dirty="0"/>
              <a:t>・・・文字列を使った処理全般</a:t>
            </a:r>
            <a:endParaRPr kumimoji="1" lang="en-US" altLang="ja-JP" sz="2400" dirty="0"/>
          </a:p>
          <a:p>
            <a:r>
              <a:rPr lang="ja-JP" altLang="en-US" sz="2400" dirty="0"/>
              <a:t>・ファイル操作</a:t>
            </a:r>
            <a:r>
              <a:rPr lang="en-US" altLang="ja-JP" sz="2400" dirty="0"/>
              <a:t>	</a:t>
            </a:r>
            <a:r>
              <a:rPr lang="ja-JP" altLang="en-US" sz="2400" dirty="0"/>
              <a:t>・・・セーブやロードなど（画像のロードなども含む）</a:t>
            </a:r>
            <a:endParaRPr lang="en-US" altLang="ja-JP" sz="2400" dirty="0"/>
          </a:p>
          <a:p>
            <a:r>
              <a:rPr kumimoji="1" lang="ja-JP" altLang="en-US" sz="2400" dirty="0"/>
              <a:t>・メモリ操作</a:t>
            </a:r>
            <a:r>
              <a:rPr kumimoji="1" lang="en-US" altLang="ja-JP" sz="2400" dirty="0"/>
              <a:t>	</a:t>
            </a:r>
            <a:r>
              <a:rPr kumimoji="1" lang="ja-JP" altLang="en-US" sz="2400" dirty="0"/>
              <a:t>・・・オブジェクトの生成や削除</a:t>
            </a:r>
            <a:endParaRPr kumimoji="1" lang="en-US" altLang="ja-JP" sz="2400" dirty="0"/>
          </a:p>
          <a:p>
            <a:r>
              <a:rPr lang="ja-JP" altLang="en-US" sz="2400" dirty="0"/>
              <a:t>・割り算</a:t>
            </a:r>
            <a:endParaRPr kumimoji="1" lang="en-US" altLang="ja-JP" sz="2400" dirty="0"/>
          </a:p>
          <a:p>
            <a:endParaRPr lang="en-US" altLang="ja-JP" sz="2400" dirty="0"/>
          </a:p>
          <a:p>
            <a:r>
              <a:rPr kumimoji="1" lang="ja-JP" altLang="en-US" sz="2400" dirty="0"/>
              <a:t>上記の処理は、</a:t>
            </a:r>
            <a:r>
              <a:rPr kumimoji="1" lang="ja-JP" altLang="en-US" sz="2400" b="1" dirty="0">
                <a:solidFill>
                  <a:srgbClr val="FF0000"/>
                </a:solidFill>
              </a:rPr>
              <a:t>できればあまりやりたくない処理</a:t>
            </a:r>
            <a:r>
              <a:rPr kumimoji="1" lang="ja-JP" altLang="en-US" sz="2400" dirty="0"/>
              <a:t>です。</a:t>
            </a:r>
            <a:endParaRPr kumimoji="1" lang="en-US" altLang="ja-JP" sz="2400" dirty="0"/>
          </a:p>
          <a:p>
            <a:endParaRPr lang="en-US" altLang="ja-JP" sz="2400" dirty="0"/>
          </a:p>
          <a:p>
            <a:r>
              <a:rPr kumimoji="1" lang="en-US" altLang="ja-JP" sz="2400" b="1" dirty="0">
                <a:solidFill>
                  <a:srgbClr val="00B050"/>
                </a:solidFill>
              </a:rPr>
              <a:t>※</a:t>
            </a:r>
            <a:r>
              <a:rPr kumimoji="1" lang="ja-JP" altLang="en-US" sz="2400" b="1" dirty="0">
                <a:solidFill>
                  <a:srgbClr val="00B050"/>
                </a:solidFill>
              </a:rPr>
              <a:t>昨今は端末のスペックが非常に良いので、注視されないこともありますが、</a:t>
            </a:r>
            <a:endParaRPr kumimoji="1" lang="en-US" altLang="ja-JP" sz="2400" b="1" dirty="0">
              <a:solidFill>
                <a:srgbClr val="00B050"/>
              </a:solidFill>
            </a:endParaRPr>
          </a:p>
          <a:p>
            <a:r>
              <a:rPr lang="ja-JP" altLang="en-US" sz="2400" b="1" dirty="0">
                <a:solidFill>
                  <a:srgbClr val="00B050"/>
                </a:solidFill>
              </a:rPr>
              <a:t>　クオリティアップで真っ先に挙げられるのが、これらの処理の削減になります</a:t>
            </a:r>
            <a:endParaRPr kumimoji="1" lang="en-US" altLang="ja-JP" sz="2400" b="1" dirty="0">
              <a:solidFill>
                <a:srgbClr val="00B050"/>
              </a:solidFill>
            </a:endParaRPr>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2677656"/>
          </a:xfrm>
          <a:prstGeom prst="rect">
            <a:avLst/>
          </a:prstGeom>
          <a:noFill/>
        </p:spPr>
        <p:txBody>
          <a:bodyPr wrap="none" rtlCol="0">
            <a:spAutoFit/>
          </a:bodyPr>
          <a:lstStyle/>
          <a:p>
            <a:r>
              <a:rPr lang="ja-JP" altLang="en-US" sz="2400" dirty="0"/>
              <a:t>今回は</a:t>
            </a:r>
            <a:r>
              <a:rPr lang="ja-JP" altLang="en-US" sz="2400" b="1" dirty="0">
                <a:solidFill>
                  <a:srgbClr val="FF0000"/>
                </a:solidFill>
              </a:rPr>
              <a:t>メモリ操作</a:t>
            </a:r>
            <a:r>
              <a:rPr lang="ja-JP" altLang="en-US" sz="2400" dirty="0"/>
              <a:t>に注目してみます。</a:t>
            </a:r>
            <a:endParaRPr lang="en-US" altLang="ja-JP" sz="2400" dirty="0"/>
          </a:p>
          <a:p>
            <a:r>
              <a:rPr lang="en-US" altLang="ja-JP" sz="2400" dirty="0"/>
              <a:t>Unity</a:t>
            </a:r>
            <a:r>
              <a:rPr lang="ja-JP" altLang="en-US" sz="2400" dirty="0"/>
              <a:t>における有名なメモリ操作処理は以下の２つです。</a:t>
            </a:r>
            <a:endParaRPr lang="en-US" altLang="ja-JP" sz="2400" dirty="0"/>
          </a:p>
          <a:p>
            <a:endParaRPr lang="en-US" altLang="ja-JP" sz="2400" dirty="0"/>
          </a:p>
          <a:p>
            <a:r>
              <a:rPr lang="ja-JP" altLang="en-US" sz="2400" b="1" dirty="0">
                <a:solidFill>
                  <a:srgbClr val="FF0000"/>
                </a:solidFill>
              </a:rPr>
              <a:t>・</a:t>
            </a:r>
            <a:r>
              <a:rPr lang="en-US" altLang="ja-JP" sz="2400" b="1" dirty="0">
                <a:solidFill>
                  <a:srgbClr val="FF0000"/>
                </a:solidFill>
              </a:rPr>
              <a:t>Instantiate</a:t>
            </a:r>
            <a:r>
              <a:rPr lang="ja-JP" altLang="en-US" sz="2400" b="1" dirty="0">
                <a:solidFill>
                  <a:srgbClr val="FF0000"/>
                </a:solidFill>
              </a:rPr>
              <a:t>関数</a:t>
            </a:r>
            <a:endParaRPr lang="en-US" altLang="ja-JP" sz="2400" b="1" dirty="0">
              <a:solidFill>
                <a:srgbClr val="FF0000"/>
              </a:solidFill>
            </a:endParaRPr>
          </a:p>
          <a:p>
            <a:r>
              <a:rPr lang="ja-JP" altLang="en-US" sz="2400" b="1" dirty="0">
                <a:solidFill>
                  <a:srgbClr val="FF0000"/>
                </a:solidFill>
              </a:rPr>
              <a:t>・</a:t>
            </a:r>
            <a:r>
              <a:rPr lang="en-US" altLang="ja-JP" sz="2400" b="1" dirty="0">
                <a:solidFill>
                  <a:srgbClr val="FF0000"/>
                </a:solidFill>
              </a:rPr>
              <a:t>Destroy</a:t>
            </a:r>
            <a:r>
              <a:rPr lang="ja-JP" altLang="en-US" sz="2400" b="1" dirty="0">
                <a:solidFill>
                  <a:srgbClr val="FF0000"/>
                </a:solidFill>
              </a:rPr>
              <a:t>関数</a:t>
            </a:r>
            <a:endParaRPr lang="en-US" altLang="ja-JP" sz="2400" b="1" dirty="0">
              <a:solidFill>
                <a:srgbClr val="FF0000"/>
              </a:solidFill>
            </a:endParaRPr>
          </a:p>
          <a:p>
            <a:endParaRPr lang="en-US" altLang="ja-JP" sz="2400" dirty="0"/>
          </a:p>
          <a:p>
            <a:r>
              <a:rPr lang="ja-JP" altLang="en-US" sz="2400" dirty="0"/>
              <a:t>この２つの処理は、特に</a:t>
            </a:r>
            <a:r>
              <a:rPr lang="ja-JP" altLang="en-US" sz="2400" b="1" dirty="0">
                <a:solidFill>
                  <a:srgbClr val="FF0000"/>
                </a:solidFill>
              </a:rPr>
              <a:t>ゲームプレイ中はあまりやりたくない</a:t>
            </a:r>
            <a:r>
              <a:rPr lang="ja-JP" altLang="en-US" sz="2400" dirty="0"/>
              <a:t>です。</a:t>
            </a:r>
            <a:endParaRPr lang="en-US" altLang="ja-JP" sz="2400" dirty="0"/>
          </a:p>
        </p:txBody>
      </p:sp>
    </p:spTree>
    <p:extLst>
      <p:ext uri="{BB962C8B-B14F-4D97-AF65-F5344CB8AC3E}">
        <p14:creationId xmlns:p14="http://schemas.microsoft.com/office/powerpoint/2010/main" val="208341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7DA1743D-3209-4FD1-9FC0-A2A9B692EE3C}"/>
              </a:ext>
            </a:extLst>
          </p:cNvPr>
          <p:cNvSpPr/>
          <p:nvPr/>
        </p:nvSpPr>
        <p:spPr>
          <a:xfrm>
            <a:off x="4724400" y="5171797"/>
            <a:ext cx="6299421" cy="146208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264622" cy="1200329"/>
          </a:xfrm>
          <a:prstGeom prst="rect">
            <a:avLst/>
          </a:prstGeom>
          <a:noFill/>
        </p:spPr>
        <p:txBody>
          <a:bodyPr wrap="none" rtlCol="0">
            <a:spAutoFit/>
          </a:bodyPr>
          <a:lstStyle/>
          <a:p>
            <a:r>
              <a:rPr lang="ja-JP" altLang="en-US" sz="2400" b="1" dirty="0">
                <a:solidFill>
                  <a:srgbClr val="FF0000"/>
                </a:solidFill>
              </a:rPr>
              <a:t>ゲームに登場するものすべてはメモリ（補助記憶装置）に格納</a:t>
            </a:r>
            <a:r>
              <a:rPr lang="ja-JP" altLang="en-US" sz="2400" dirty="0"/>
              <a:t>されています。</a:t>
            </a:r>
            <a:endParaRPr lang="en-US" altLang="ja-JP" sz="2400" dirty="0"/>
          </a:p>
          <a:p>
            <a:r>
              <a:rPr lang="ja-JP" altLang="en-US" sz="2400" dirty="0"/>
              <a:t>画像のようなデータもですが、プログラムの変数であったり、</a:t>
            </a:r>
            <a:endParaRPr lang="en-US" altLang="ja-JP" sz="2400" dirty="0"/>
          </a:p>
          <a:p>
            <a:r>
              <a:rPr lang="ja-JP" altLang="en-US" sz="2400" dirty="0"/>
              <a:t>ゲームを動かしているあらゆるものがメモリ領域を使って、管理されています。</a:t>
            </a:r>
            <a:endParaRPr lang="en-US" altLang="ja-JP" sz="2400" dirty="0"/>
          </a:p>
        </p:txBody>
      </p:sp>
      <p:sp>
        <p:nvSpPr>
          <p:cNvPr id="2" name="円柱 1">
            <a:extLst>
              <a:ext uri="{FF2B5EF4-FFF2-40B4-BE49-F238E27FC236}">
                <a16:creationId xmlns:a16="http://schemas.microsoft.com/office/drawing/2014/main" id="{4E260C12-307F-4BFF-BD4A-424ED0DE4061}"/>
              </a:ext>
            </a:extLst>
          </p:cNvPr>
          <p:cNvSpPr/>
          <p:nvPr/>
        </p:nvSpPr>
        <p:spPr>
          <a:xfrm>
            <a:off x="923365" y="2556458"/>
            <a:ext cx="3522162" cy="4077424"/>
          </a:xfrm>
          <a:prstGeom prst="ca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6BB011B-8B39-4D6C-898D-2282977F8AAE}"/>
              </a:ext>
            </a:extLst>
          </p:cNvPr>
          <p:cNvSpPr txBox="1"/>
          <p:nvPr/>
        </p:nvSpPr>
        <p:spPr>
          <a:xfrm>
            <a:off x="1168179" y="3604754"/>
            <a:ext cx="646331" cy="369332"/>
          </a:xfrm>
          <a:prstGeom prst="rect">
            <a:avLst/>
          </a:prstGeom>
          <a:noFill/>
          <a:ln>
            <a:solidFill>
              <a:schemeClr val="tx1"/>
            </a:solidFill>
          </a:ln>
        </p:spPr>
        <p:txBody>
          <a:bodyPr wrap="none" rtlCol="0">
            <a:spAutoFit/>
          </a:bodyPr>
          <a:lstStyle/>
          <a:p>
            <a:r>
              <a:rPr lang="ja-JP" altLang="en-US" dirty="0"/>
              <a:t>画像</a:t>
            </a:r>
            <a:endParaRPr lang="en-US" altLang="ja-JP" dirty="0"/>
          </a:p>
        </p:txBody>
      </p:sp>
      <p:sp>
        <p:nvSpPr>
          <p:cNvPr id="7" name="テキスト ボックス 6">
            <a:extLst>
              <a:ext uri="{FF2B5EF4-FFF2-40B4-BE49-F238E27FC236}">
                <a16:creationId xmlns:a16="http://schemas.microsoft.com/office/drawing/2014/main" id="{D68782E8-8CC3-4F3C-B6FE-C8D507CCFBE9}"/>
              </a:ext>
            </a:extLst>
          </p:cNvPr>
          <p:cNvSpPr txBox="1"/>
          <p:nvPr/>
        </p:nvSpPr>
        <p:spPr>
          <a:xfrm>
            <a:off x="1168179" y="4123501"/>
            <a:ext cx="851515" cy="369332"/>
          </a:xfrm>
          <a:prstGeom prst="rect">
            <a:avLst/>
          </a:prstGeom>
          <a:noFill/>
          <a:ln>
            <a:solidFill>
              <a:schemeClr val="tx1"/>
            </a:solidFill>
          </a:ln>
        </p:spPr>
        <p:txBody>
          <a:bodyPr wrap="none" rtlCol="0">
            <a:spAutoFit/>
          </a:bodyPr>
          <a:lstStyle/>
          <a:p>
            <a:r>
              <a:rPr lang="en-US" altLang="ja-JP" dirty="0"/>
              <a:t>Player</a:t>
            </a:r>
            <a:endParaRPr lang="en-US" altLang="ja-JP" sz="2400" dirty="0"/>
          </a:p>
        </p:txBody>
      </p:sp>
      <p:sp>
        <p:nvSpPr>
          <p:cNvPr id="8" name="テキスト ボックス 7">
            <a:extLst>
              <a:ext uri="{FF2B5EF4-FFF2-40B4-BE49-F238E27FC236}">
                <a16:creationId xmlns:a16="http://schemas.microsoft.com/office/drawing/2014/main" id="{623934FF-DB68-4869-ABF0-03DBBBBD10B4}"/>
              </a:ext>
            </a:extLst>
          </p:cNvPr>
          <p:cNvSpPr txBox="1"/>
          <p:nvPr/>
        </p:nvSpPr>
        <p:spPr>
          <a:xfrm>
            <a:off x="1168179" y="4642249"/>
            <a:ext cx="1008609" cy="369332"/>
          </a:xfrm>
          <a:prstGeom prst="rect">
            <a:avLst/>
          </a:prstGeom>
          <a:noFill/>
          <a:ln>
            <a:solidFill>
              <a:schemeClr val="tx1"/>
            </a:solidFill>
          </a:ln>
        </p:spPr>
        <p:txBody>
          <a:bodyPr wrap="none" rtlCol="0">
            <a:spAutoFit/>
          </a:bodyPr>
          <a:lstStyle/>
          <a:p>
            <a:r>
              <a:rPr lang="en-US" altLang="ja-JP" dirty="0"/>
              <a:t>Camera</a:t>
            </a:r>
            <a:endParaRPr lang="en-US" altLang="ja-JP" sz="2400" dirty="0"/>
          </a:p>
        </p:txBody>
      </p:sp>
      <p:sp>
        <p:nvSpPr>
          <p:cNvPr id="10" name="テキスト ボックス 9">
            <a:extLst>
              <a:ext uri="{FF2B5EF4-FFF2-40B4-BE49-F238E27FC236}">
                <a16:creationId xmlns:a16="http://schemas.microsoft.com/office/drawing/2014/main" id="{6B6FA281-1EBA-428B-BCB1-E8D18A7922FA}"/>
              </a:ext>
            </a:extLst>
          </p:cNvPr>
          <p:cNvSpPr txBox="1"/>
          <p:nvPr/>
        </p:nvSpPr>
        <p:spPr>
          <a:xfrm>
            <a:off x="1168179" y="5171797"/>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
        <p:nvSpPr>
          <p:cNvPr id="11" name="テキスト ボックス 10">
            <a:extLst>
              <a:ext uri="{FF2B5EF4-FFF2-40B4-BE49-F238E27FC236}">
                <a16:creationId xmlns:a16="http://schemas.microsoft.com/office/drawing/2014/main" id="{E0CE25D3-452C-4590-9636-BB3CF00EAA5C}"/>
              </a:ext>
            </a:extLst>
          </p:cNvPr>
          <p:cNvSpPr txBox="1"/>
          <p:nvPr/>
        </p:nvSpPr>
        <p:spPr>
          <a:xfrm>
            <a:off x="1168179" y="5680829"/>
            <a:ext cx="1428596" cy="369332"/>
          </a:xfrm>
          <a:prstGeom prst="rect">
            <a:avLst/>
          </a:prstGeom>
          <a:noFill/>
          <a:ln>
            <a:solidFill>
              <a:schemeClr val="tx1"/>
            </a:solidFill>
          </a:ln>
        </p:spPr>
        <p:txBody>
          <a:bodyPr wrap="none" rtlCol="0">
            <a:spAutoFit/>
          </a:bodyPr>
          <a:lstStyle/>
          <a:p>
            <a:r>
              <a:rPr lang="en-US" altLang="ja-JP" dirty="0" err="1"/>
              <a:t>BombBullet</a:t>
            </a:r>
            <a:endParaRPr lang="en-US" altLang="ja-JP" sz="2400" dirty="0"/>
          </a:p>
        </p:txBody>
      </p:sp>
      <p:sp>
        <p:nvSpPr>
          <p:cNvPr id="12" name="テキスト ボックス 11">
            <a:extLst>
              <a:ext uri="{FF2B5EF4-FFF2-40B4-BE49-F238E27FC236}">
                <a16:creationId xmlns:a16="http://schemas.microsoft.com/office/drawing/2014/main" id="{AB5E2478-12B9-42D4-874D-1B512AE59096}"/>
              </a:ext>
            </a:extLst>
          </p:cNvPr>
          <p:cNvSpPr txBox="1"/>
          <p:nvPr/>
        </p:nvSpPr>
        <p:spPr>
          <a:xfrm>
            <a:off x="4788953" y="5265330"/>
            <a:ext cx="5724644" cy="1200329"/>
          </a:xfrm>
          <a:prstGeom prst="rect">
            <a:avLst/>
          </a:prstGeom>
          <a:noFill/>
        </p:spPr>
        <p:txBody>
          <a:bodyPr wrap="none" rtlCol="0">
            <a:spAutoFit/>
          </a:bodyPr>
          <a:lstStyle/>
          <a:p>
            <a:r>
              <a:rPr lang="en-US" altLang="ja-JP" sz="2400" b="1" dirty="0">
                <a:solidFill>
                  <a:srgbClr val="00B050"/>
                </a:solidFill>
              </a:rPr>
              <a:t>MEMO</a:t>
            </a:r>
          </a:p>
          <a:p>
            <a:r>
              <a:rPr lang="en-US" altLang="ja-JP" sz="2400" dirty="0"/>
              <a:t>Unity</a:t>
            </a:r>
            <a:r>
              <a:rPr lang="ja-JP" altLang="en-US" sz="2400" dirty="0"/>
              <a:t>だけでなく、</a:t>
            </a:r>
            <a:endParaRPr lang="en-US" altLang="ja-JP" sz="2400" dirty="0"/>
          </a:p>
          <a:p>
            <a:r>
              <a:rPr lang="ja-JP" altLang="en-US" sz="2400" dirty="0"/>
              <a:t>あらゆるゲーム全てにおいて同じです。</a:t>
            </a:r>
            <a:endParaRPr lang="en-US" altLang="ja-JP" sz="2400" dirty="0"/>
          </a:p>
        </p:txBody>
      </p:sp>
    </p:spTree>
    <p:extLst>
      <p:ext uri="{BB962C8B-B14F-4D97-AF65-F5344CB8AC3E}">
        <p14:creationId xmlns:p14="http://schemas.microsoft.com/office/powerpoint/2010/main" val="1117263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4F755E3F-EA9C-4D9E-9195-014728038E67}"/>
              </a:ext>
            </a:extLst>
          </p:cNvPr>
          <p:cNvSpPr/>
          <p:nvPr/>
        </p:nvSpPr>
        <p:spPr>
          <a:xfrm>
            <a:off x="4724400" y="5171797"/>
            <a:ext cx="6299421" cy="146208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250196" cy="461665"/>
          </a:xfrm>
          <a:prstGeom prst="rect">
            <a:avLst/>
          </a:prstGeom>
          <a:noFill/>
        </p:spPr>
        <p:txBody>
          <a:bodyPr wrap="none" rtlCol="0">
            <a:spAutoFit/>
          </a:bodyPr>
          <a:lstStyle/>
          <a:p>
            <a:r>
              <a:rPr lang="en-US" altLang="ja-JP" sz="2400" b="1" dirty="0">
                <a:solidFill>
                  <a:srgbClr val="0070C0"/>
                </a:solidFill>
              </a:rPr>
              <a:t>Instantiate</a:t>
            </a:r>
            <a:r>
              <a:rPr lang="ja-JP" altLang="en-US" sz="2400" dirty="0"/>
              <a:t>関数は</a:t>
            </a:r>
            <a:r>
              <a:rPr lang="ja-JP" altLang="en-US" sz="2400" b="1" dirty="0">
                <a:solidFill>
                  <a:srgbClr val="FF0000"/>
                </a:solidFill>
              </a:rPr>
              <a:t>オブジェクトを生成して、メモリ領域を確保</a:t>
            </a:r>
            <a:r>
              <a:rPr lang="ja-JP" altLang="en-US" sz="2400" dirty="0"/>
              <a:t>する関数です。</a:t>
            </a:r>
            <a:endParaRPr lang="en-US" altLang="ja-JP" sz="2400" dirty="0"/>
          </a:p>
        </p:txBody>
      </p:sp>
      <p:sp>
        <p:nvSpPr>
          <p:cNvPr id="2" name="円柱 1">
            <a:extLst>
              <a:ext uri="{FF2B5EF4-FFF2-40B4-BE49-F238E27FC236}">
                <a16:creationId xmlns:a16="http://schemas.microsoft.com/office/drawing/2014/main" id="{4E260C12-307F-4BFF-BD4A-424ED0DE4061}"/>
              </a:ext>
            </a:extLst>
          </p:cNvPr>
          <p:cNvSpPr/>
          <p:nvPr/>
        </p:nvSpPr>
        <p:spPr>
          <a:xfrm>
            <a:off x="923365" y="2556458"/>
            <a:ext cx="3522162" cy="4077424"/>
          </a:xfrm>
          <a:prstGeom prst="ca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B6FA281-1EBA-428B-BCB1-E8D18A7922FA}"/>
              </a:ext>
            </a:extLst>
          </p:cNvPr>
          <p:cNvSpPr txBox="1"/>
          <p:nvPr/>
        </p:nvSpPr>
        <p:spPr>
          <a:xfrm>
            <a:off x="1168179" y="4218744"/>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
        <p:nvSpPr>
          <p:cNvPr id="12" name="テキスト ボックス 11">
            <a:extLst>
              <a:ext uri="{FF2B5EF4-FFF2-40B4-BE49-F238E27FC236}">
                <a16:creationId xmlns:a16="http://schemas.microsoft.com/office/drawing/2014/main" id="{AB5E2478-12B9-42D4-874D-1B512AE59096}"/>
              </a:ext>
            </a:extLst>
          </p:cNvPr>
          <p:cNvSpPr txBox="1"/>
          <p:nvPr/>
        </p:nvSpPr>
        <p:spPr>
          <a:xfrm>
            <a:off x="4941353" y="5336771"/>
            <a:ext cx="5402441" cy="1200329"/>
          </a:xfrm>
          <a:prstGeom prst="rect">
            <a:avLst/>
          </a:prstGeom>
          <a:noFill/>
        </p:spPr>
        <p:txBody>
          <a:bodyPr wrap="none" rtlCol="0">
            <a:spAutoFit/>
          </a:bodyPr>
          <a:lstStyle/>
          <a:p>
            <a:r>
              <a:rPr lang="en-US" altLang="ja-JP" sz="2400" b="1" dirty="0">
                <a:solidFill>
                  <a:srgbClr val="00B050"/>
                </a:solidFill>
              </a:rPr>
              <a:t>MEMO</a:t>
            </a:r>
          </a:p>
          <a:p>
            <a:r>
              <a:rPr lang="ja-JP" altLang="en-US" sz="2400" dirty="0"/>
              <a:t>左は弾を３発発射して、</a:t>
            </a:r>
            <a:endParaRPr lang="en-US" altLang="ja-JP" sz="2400" dirty="0"/>
          </a:p>
          <a:p>
            <a:r>
              <a:rPr lang="en-US" altLang="ja-JP" sz="2400" dirty="0"/>
              <a:t>Instantiate</a:t>
            </a:r>
            <a:r>
              <a:rPr lang="ja-JP" altLang="en-US" sz="2400" dirty="0"/>
              <a:t>を３回呼んだ時のイメージ</a:t>
            </a:r>
            <a:endParaRPr lang="en-US" altLang="ja-JP" sz="2400" dirty="0"/>
          </a:p>
        </p:txBody>
      </p:sp>
      <p:sp>
        <p:nvSpPr>
          <p:cNvPr id="13" name="テキスト ボックス 12">
            <a:extLst>
              <a:ext uri="{FF2B5EF4-FFF2-40B4-BE49-F238E27FC236}">
                <a16:creationId xmlns:a16="http://schemas.microsoft.com/office/drawing/2014/main" id="{FA26F755-7141-4B6E-BCF5-1D8A9FDE8196}"/>
              </a:ext>
            </a:extLst>
          </p:cNvPr>
          <p:cNvSpPr txBox="1"/>
          <p:nvPr/>
        </p:nvSpPr>
        <p:spPr>
          <a:xfrm>
            <a:off x="1168179" y="3709712"/>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
        <p:nvSpPr>
          <p:cNvPr id="14" name="テキスト ボックス 13">
            <a:extLst>
              <a:ext uri="{FF2B5EF4-FFF2-40B4-BE49-F238E27FC236}">
                <a16:creationId xmlns:a16="http://schemas.microsoft.com/office/drawing/2014/main" id="{127DD393-36C5-4379-AB79-6EA35F7F6535}"/>
              </a:ext>
            </a:extLst>
          </p:cNvPr>
          <p:cNvSpPr txBox="1"/>
          <p:nvPr/>
        </p:nvSpPr>
        <p:spPr>
          <a:xfrm>
            <a:off x="1168179" y="4732615"/>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Tree>
    <p:extLst>
      <p:ext uri="{BB962C8B-B14F-4D97-AF65-F5344CB8AC3E}">
        <p14:creationId xmlns:p14="http://schemas.microsoft.com/office/powerpoint/2010/main" val="926730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599103" cy="461665"/>
          </a:xfrm>
          <a:prstGeom prst="rect">
            <a:avLst/>
          </a:prstGeom>
          <a:noFill/>
        </p:spPr>
        <p:txBody>
          <a:bodyPr wrap="none" rtlCol="0">
            <a:spAutoFit/>
          </a:bodyPr>
          <a:lstStyle/>
          <a:p>
            <a:r>
              <a:rPr lang="en-US" altLang="ja-JP" sz="2400" b="1" dirty="0">
                <a:solidFill>
                  <a:srgbClr val="0070C0"/>
                </a:solidFill>
              </a:rPr>
              <a:t>Destroy</a:t>
            </a:r>
            <a:r>
              <a:rPr lang="ja-JP" altLang="en-US" sz="2400" dirty="0"/>
              <a:t>関数は</a:t>
            </a:r>
            <a:r>
              <a:rPr lang="ja-JP" altLang="en-US" sz="2400" b="1" dirty="0">
                <a:solidFill>
                  <a:srgbClr val="FF0000"/>
                </a:solidFill>
              </a:rPr>
              <a:t>メモリ領域にあるオブジェクトを削除</a:t>
            </a:r>
            <a:r>
              <a:rPr lang="ja-JP" altLang="en-US" sz="2400" dirty="0"/>
              <a:t>する関数です。</a:t>
            </a:r>
            <a:endParaRPr lang="en-US" altLang="ja-JP" sz="2400" dirty="0"/>
          </a:p>
        </p:txBody>
      </p:sp>
      <p:sp>
        <p:nvSpPr>
          <p:cNvPr id="2" name="円柱 1">
            <a:extLst>
              <a:ext uri="{FF2B5EF4-FFF2-40B4-BE49-F238E27FC236}">
                <a16:creationId xmlns:a16="http://schemas.microsoft.com/office/drawing/2014/main" id="{4E260C12-307F-4BFF-BD4A-424ED0DE4061}"/>
              </a:ext>
            </a:extLst>
          </p:cNvPr>
          <p:cNvSpPr/>
          <p:nvPr/>
        </p:nvSpPr>
        <p:spPr>
          <a:xfrm>
            <a:off x="923365" y="2556458"/>
            <a:ext cx="3522162" cy="4077424"/>
          </a:xfrm>
          <a:prstGeom prst="ca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B6FA281-1EBA-428B-BCB1-E8D18A7922FA}"/>
              </a:ext>
            </a:extLst>
          </p:cNvPr>
          <p:cNvSpPr txBox="1"/>
          <p:nvPr/>
        </p:nvSpPr>
        <p:spPr>
          <a:xfrm>
            <a:off x="1168179" y="4218744"/>
            <a:ext cx="1582484" cy="369332"/>
          </a:xfrm>
          <a:prstGeom prst="rect">
            <a:avLst/>
          </a:prstGeom>
          <a:noFill/>
          <a:ln>
            <a:solidFill>
              <a:schemeClr val="tx1"/>
            </a:solidFill>
            <a:prstDash val="dash"/>
          </a:ln>
        </p:spPr>
        <p:txBody>
          <a:bodyPr wrap="none" rtlCol="0">
            <a:spAutoFit/>
          </a:bodyPr>
          <a:lstStyle/>
          <a:p>
            <a:r>
              <a:rPr lang="en-US" altLang="ja-JP" dirty="0" err="1">
                <a:solidFill>
                  <a:schemeClr val="bg1">
                    <a:lumMod val="85000"/>
                  </a:schemeClr>
                </a:solidFill>
              </a:rPr>
              <a:t>NormalBullet</a:t>
            </a:r>
            <a:endParaRPr lang="en-US" altLang="ja-JP" sz="2400" dirty="0">
              <a:solidFill>
                <a:schemeClr val="bg1">
                  <a:lumMod val="85000"/>
                </a:schemeClr>
              </a:solidFill>
            </a:endParaRPr>
          </a:p>
        </p:txBody>
      </p:sp>
      <p:sp>
        <p:nvSpPr>
          <p:cNvPr id="13" name="テキスト ボックス 12">
            <a:extLst>
              <a:ext uri="{FF2B5EF4-FFF2-40B4-BE49-F238E27FC236}">
                <a16:creationId xmlns:a16="http://schemas.microsoft.com/office/drawing/2014/main" id="{FA26F755-7141-4B6E-BCF5-1D8A9FDE8196}"/>
              </a:ext>
            </a:extLst>
          </p:cNvPr>
          <p:cNvSpPr txBox="1"/>
          <p:nvPr/>
        </p:nvSpPr>
        <p:spPr>
          <a:xfrm>
            <a:off x="1168179" y="3709712"/>
            <a:ext cx="1582484" cy="369332"/>
          </a:xfrm>
          <a:prstGeom prst="rect">
            <a:avLst/>
          </a:prstGeom>
          <a:noFill/>
          <a:ln>
            <a:solidFill>
              <a:schemeClr val="tx1"/>
            </a:solidFill>
            <a:prstDash val="dash"/>
          </a:ln>
        </p:spPr>
        <p:txBody>
          <a:bodyPr wrap="none" rtlCol="0">
            <a:spAutoFit/>
          </a:bodyPr>
          <a:lstStyle/>
          <a:p>
            <a:r>
              <a:rPr lang="en-US" altLang="ja-JP" dirty="0" err="1">
                <a:solidFill>
                  <a:schemeClr val="bg1">
                    <a:lumMod val="85000"/>
                  </a:schemeClr>
                </a:solidFill>
              </a:rPr>
              <a:t>NormalBullet</a:t>
            </a:r>
            <a:endParaRPr lang="en-US" altLang="ja-JP" sz="2400" dirty="0">
              <a:solidFill>
                <a:schemeClr val="bg1">
                  <a:lumMod val="85000"/>
                </a:schemeClr>
              </a:solidFill>
            </a:endParaRPr>
          </a:p>
        </p:txBody>
      </p:sp>
      <p:sp>
        <p:nvSpPr>
          <p:cNvPr id="14" name="テキスト ボックス 13">
            <a:extLst>
              <a:ext uri="{FF2B5EF4-FFF2-40B4-BE49-F238E27FC236}">
                <a16:creationId xmlns:a16="http://schemas.microsoft.com/office/drawing/2014/main" id="{127DD393-36C5-4379-AB79-6EA35F7F6535}"/>
              </a:ext>
            </a:extLst>
          </p:cNvPr>
          <p:cNvSpPr txBox="1"/>
          <p:nvPr/>
        </p:nvSpPr>
        <p:spPr>
          <a:xfrm>
            <a:off x="1168179" y="4732615"/>
            <a:ext cx="1582484" cy="369332"/>
          </a:xfrm>
          <a:prstGeom prst="rect">
            <a:avLst/>
          </a:prstGeom>
          <a:noFill/>
          <a:ln>
            <a:solidFill>
              <a:schemeClr val="tx1"/>
            </a:solidFill>
            <a:prstDash val="dash"/>
          </a:ln>
        </p:spPr>
        <p:txBody>
          <a:bodyPr wrap="none" rtlCol="0">
            <a:spAutoFit/>
          </a:bodyPr>
          <a:lstStyle/>
          <a:p>
            <a:r>
              <a:rPr lang="en-US" altLang="ja-JP" dirty="0" err="1">
                <a:solidFill>
                  <a:schemeClr val="bg1">
                    <a:lumMod val="85000"/>
                  </a:schemeClr>
                </a:solidFill>
              </a:rPr>
              <a:t>NormalBullet</a:t>
            </a:r>
            <a:endParaRPr lang="en-US" altLang="ja-JP" sz="2400" dirty="0">
              <a:solidFill>
                <a:schemeClr val="bg1">
                  <a:lumMod val="85000"/>
                </a:schemeClr>
              </a:solidFill>
            </a:endParaRPr>
          </a:p>
        </p:txBody>
      </p:sp>
    </p:spTree>
    <p:extLst>
      <p:ext uri="{BB962C8B-B14F-4D97-AF65-F5344CB8AC3E}">
        <p14:creationId xmlns:p14="http://schemas.microsoft.com/office/powerpoint/2010/main" val="1679370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四角形: 角を丸くする 18">
            <a:extLst>
              <a:ext uri="{FF2B5EF4-FFF2-40B4-BE49-F238E27FC236}">
                <a16:creationId xmlns:a16="http://schemas.microsoft.com/office/drawing/2014/main" id="{671768D2-0548-4918-ADC6-1149F374A546}"/>
              </a:ext>
            </a:extLst>
          </p:cNvPr>
          <p:cNvSpPr/>
          <p:nvPr/>
        </p:nvSpPr>
        <p:spPr>
          <a:xfrm>
            <a:off x="4724400" y="5171797"/>
            <a:ext cx="6299421" cy="146208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1200329"/>
          </a:xfrm>
          <a:prstGeom prst="rect">
            <a:avLst/>
          </a:prstGeom>
          <a:noFill/>
        </p:spPr>
        <p:txBody>
          <a:bodyPr wrap="none" rtlCol="0">
            <a:spAutoFit/>
          </a:bodyPr>
          <a:lstStyle/>
          <a:p>
            <a:r>
              <a:rPr lang="ja-JP" altLang="en-US" sz="2400" dirty="0"/>
              <a:t>バレットの生成、削除を繰り返すと、メモリが</a:t>
            </a:r>
            <a:r>
              <a:rPr lang="ja-JP" altLang="en-US" sz="2400" b="1" dirty="0">
                <a:solidFill>
                  <a:srgbClr val="FF0000"/>
                </a:solidFill>
              </a:rPr>
              <a:t>虫食い状態</a:t>
            </a:r>
            <a:r>
              <a:rPr lang="ja-JP" altLang="en-US" sz="2400" dirty="0"/>
              <a:t>になっていきます。</a:t>
            </a:r>
            <a:endParaRPr lang="en-US" altLang="ja-JP" sz="2400" dirty="0"/>
          </a:p>
          <a:p>
            <a:r>
              <a:rPr lang="ja-JP" altLang="en-US" sz="2400" dirty="0"/>
              <a:t>こうなると、</a:t>
            </a:r>
            <a:r>
              <a:rPr lang="ja-JP" altLang="en-US" sz="2400" b="1" dirty="0">
                <a:solidFill>
                  <a:srgbClr val="FF0000"/>
                </a:solidFill>
              </a:rPr>
              <a:t>虫食い部分が無駄な領域となる</a:t>
            </a:r>
            <a:r>
              <a:rPr lang="ja-JP" altLang="en-US" sz="2400" dirty="0"/>
              <a:t>こともあり、</a:t>
            </a:r>
            <a:endParaRPr lang="en-US" altLang="ja-JP" sz="2400" dirty="0"/>
          </a:p>
          <a:p>
            <a:r>
              <a:rPr lang="ja-JP" altLang="en-US" sz="2400" dirty="0"/>
              <a:t>ゲームが重くなる原因にもなってしまいます。</a:t>
            </a:r>
            <a:endParaRPr lang="en-US" altLang="ja-JP" sz="2400" dirty="0"/>
          </a:p>
        </p:txBody>
      </p:sp>
      <p:sp>
        <p:nvSpPr>
          <p:cNvPr id="2" name="円柱 1">
            <a:extLst>
              <a:ext uri="{FF2B5EF4-FFF2-40B4-BE49-F238E27FC236}">
                <a16:creationId xmlns:a16="http://schemas.microsoft.com/office/drawing/2014/main" id="{4E260C12-307F-4BFF-BD4A-424ED0DE4061}"/>
              </a:ext>
            </a:extLst>
          </p:cNvPr>
          <p:cNvSpPr/>
          <p:nvPr/>
        </p:nvSpPr>
        <p:spPr>
          <a:xfrm>
            <a:off x="923365" y="2556458"/>
            <a:ext cx="3522162" cy="4077424"/>
          </a:xfrm>
          <a:prstGeom prst="ca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A26F755-7141-4B6E-BCF5-1D8A9FDE8196}"/>
              </a:ext>
            </a:extLst>
          </p:cNvPr>
          <p:cNvSpPr txBox="1"/>
          <p:nvPr/>
        </p:nvSpPr>
        <p:spPr>
          <a:xfrm>
            <a:off x="1168179" y="3709712"/>
            <a:ext cx="1582484" cy="369332"/>
          </a:xfrm>
          <a:prstGeom prst="rect">
            <a:avLst/>
          </a:prstGeom>
          <a:noFill/>
          <a:ln>
            <a:solidFill>
              <a:schemeClr val="tx1"/>
            </a:solidFill>
            <a:prstDash val="dash"/>
          </a:ln>
        </p:spPr>
        <p:txBody>
          <a:bodyPr wrap="none" rtlCol="0">
            <a:spAutoFit/>
          </a:bodyPr>
          <a:lstStyle/>
          <a:p>
            <a:r>
              <a:rPr lang="en-US" altLang="ja-JP" dirty="0" err="1">
                <a:solidFill>
                  <a:schemeClr val="bg1">
                    <a:lumMod val="85000"/>
                  </a:schemeClr>
                </a:solidFill>
              </a:rPr>
              <a:t>NormalBullet</a:t>
            </a:r>
            <a:endParaRPr lang="en-US" altLang="ja-JP" sz="2400" dirty="0">
              <a:solidFill>
                <a:schemeClr val="bg1">
                  <a:lumMod val="85000"/>
                </a:schemeClr>
              </a:solidFill>
            </a:endParaRPr>
          </a:p>
        </p:txBody>
      </p:sp>
      <p:sp>
        <p:nvSpPr>
          <p:cNvPr id="14" name="テキスト ボックス 13">
            <a:extLst>
              <a:ext uri="{FF2B5EF4-FFF2-40B4-BE49-F238E27FC236}">
                <a16:creationId xmlns:a16="http://schemas.microsoft.com/office/drawing/2014/main" id="{127DD393-36C5-4379-AB79-6EA35F7F6535}"/>
              </a:ext>
            </a:extLst>
          </p:cNvPr>
          <p:cNvSpPr txBox="1"/>
          <p:nvPr/>
        </p:nvSpPr>
        <p:spPr>
          <a:xfrm>
            <a:off x="1168179" y="4732615"/>
            <a:ext cx="1582484" cy="369332"/>
          </a:xfrm>
          <a:prstGeom prst="rect">
            <a:avLst/>
          </a:prstGeom>
          <a:noFill/>
          <a:ln>
            <a:solidFill>
              <a:schemeClr val="tx1"/>
            </a:solidFill>
            <a:prstDash val="dash"/>
          </a:ln>
        </p:spPr>
        <p:txBody>
          <a:bodyPr wrap="none" rtlCol="0">
            <a:spAutoFit/>
          </a:bodyPr>
          <a:lstStyle/>
          <a:p>
            <a:r>
              <a:rPr lang="en-US" altLang="ja-JP" dirty="0" err="1">
                <a:solidFill>
                  <a:schemeClr val="bg1">
                    <a:lumMod val="85000"/>
                  </a:schemeClr>
                </a:solidFill>
              </a:rPr>
              <a:t>NormalBullet</a:t>
            </a:r>
            <a:endParaRPr lang="en-US" altLang="ja-JP" sz="2400" dirty="0">
              <a:solidFill>
                <a:schemeClr val="bg1">
                  <a:lumMod val="85000"/>
                </a:schemeClr>
              </a:solidFill>
            </a:endParaRPr>
          </a:p>
        </p:txBody>
      </p:sp>
      <p:sp>
        <p:nvSpPr>
          <p:cNvPr id="8" name="テキスト ボックス 7">
            <a:extLst>
              <a:ext uri="{FF2B5EF4-FFF2-40B4-BE49-F238E27FC236}">
                <a16:creationId xmlns:a16="http://schemas.microsoft.com/office/drawing/2014/main" id="{86861E57-5226-4DB0-ACF8-D10A8309C7AD}"/>
              </a:ext>
            </a:extLst>
          </p:cNvPr>
          <p:cNvSpPr txBox="1"/>
          <p:nvPr/>
        </p:nvSpPr>
        <p:spPr>
          <a:xfrm>
            <a:off x="1168179" y="4218744"/>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
        <p:nvSpPr>
          <p:cNvPr id="9" name="テキスト ボックス 8">
            <a:extLst>
              <a:ext uri="{FF2B5EF4-FFF2-40B4-BE49-F238E27FC236}">
                <a16:creationId xmlns:a16="http://schemas.microsoft.com/office/drawing/2014/main" id="{1365E680-DECF-4361-BD94-24E59951F0D4}"/>
              </a:ext>
            </a:extLst>
          </p:cNvPr>
          <p:cNvSpPr txBox="1"/>
          <p:nvPr/>
        </p:nvSpPr>
        <p:spPr>
          <a:xfrm>
            <a:off x="2883797" y="3709712"/>
            <a:ext cx="1428596" cy="369332"/>
          </a:xfrm>
          <a:prstGeom prst="rect">
            <a:avLst/>
          </a:prstGeom>
          <a:noFill/>
          <a:ln>
            <a:solidFill>
              <a:schemeClr val="tx1"/>
            </a:solidFill>
            <a:prstDash val="dash"/>
          </a:ln>
        </p:spPr>
        <p:txBody>
          <a:bodyPr wrap="none" rtlCol="0">
            <a:spAutoFit/>
          </a:bodyPr>
          <a:lstStyle/>
          <a:p>
            <a:r>
              <a:rPr lang="en-US" altLang="ja-JP" dirty="0" err="1">
                <a:solidFill>
                  <a:schemeClr val="bg1">
                    <a:lumMod val="85000"/>
                  </a:schemeClr>
                </a:solidFill>
              </a:rPr>
              <a:t>BombBullet</a:t>
            </a:r>
            <a:endParaRPr lang="en-US" altLang="ja-JP" sz="2400" dirty="0">
              <a:solidFill>
                <a:schemeClr val="bg1">
                  <a:lumMod val="85000"/>
                </a:schemeClr>
              </a:solidFill>
            </a:endParaRPr>
          </a:p>
        </p:txBody>
      </p:sp>
      <p:sp>
        <p:nvSpPr>
          <p:cNvPr id="11" name="テキスト ボックス 10">
            <a:extLst>
              <a:ext uri="{FF2B5EF4-FFF2-40B4-BE49-F238E27FC236}">
                <a16:creationId xmlns:a16="http://schemas.microsoft.com/office/drawing/2014/main" id="{ACB39F68-481D-448B-BD6C-36A3AAB3D6F5}"/>
              </a:ext>
            </a:extLst>
          </p:cNvPr>
          <p:cNvSpPr txBox="1"/>
          <p:nvPr/>
        </p:nvSpPr>
        <p:spPr>
          <a:xfrm>
            <a:off x="2891260" y="4218744"/>
            <a:ext cx="1428596" cy="369332"/>
          </a:xfrm>
          <a:prstGeom prst="rect">
            <a:avLst/>
          </a:prstGeom>
          <a:noFill/>
          <a:ln>
            <a:solidFill>
              <a:schemeClr val="tx1"/>
            </a:solidFill>
          </a:ln>
        </p:spPr>
        <p:txBody>
          <a:bodyPr wrap="none" rtlCol="0">
            <a:spAutoFit/>
          </a:bodyPr>
          <a:lstStyle/>
          <a:p>
            <a:r>
              <a:rPr lang="en-US" altLang="ja-JP" dirty="0" err="1"/>
              <a:t>BombBullet</a:t>
            </a:r>
            <a:endParaRPr lang="en-US" altLang="ja-JP" sz="2400" dirty="0"/>
          </a:p>
        </p:txBody>
      </p:sp>
      <p:sp>
        <p:nvSpPr>
          <p:cNvPr id="12" name="テキスト ボックス 11">
            <a:extLst>
              <a:ext uri="{FF2B5EF4-FFF2-40B4-BE49-F238E27FC236}">
                <a16:creationId xmlns:a16="http://schemas.microsoft.com/office/drawing/2014/main" id="{94413ADA-E6F1-4E14-B2F4-0A362CEC1EC0}"/>
              </a:ext>
            </a:extLst>
          </p:cNvPr>
          <p:cNvSpPr txBox="1"/>
          <p:nvPr/>
        </p:nvSpPr>
        <p:spPr>
          <a:xfrm>
            <a:off x="2883797" y="4727776"/>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
        <p:nvSpPr>
          <p:cNvPr id="15" name="テキスト ボックス 14">
            <a:extLst>
              <a:ext uri="{FF2B5EF4-FFF2-40B4-BE49-F238E27FC236}">
                <a16:creationId xmlns:a16="http://schemas.microsoft.com/office/drawing/2014/main" id="{0BC69AEC-9159-4945-992B-A52621462216}"/>
              </a:ext>
            </a:extLst>
          </p:cNvPr>
          <p:cNvSpPr txBox="1"/>
          <p:nvPr/>
        </p:nvSpPr>
        <p:spPr>
          <a:xfrm>
            <a:off x="1168179" y="5232298"/>
            <a:ext cx="1428596" cy="369332"/>
          </a:xfrm>
          <a:prstGeom prst="rect">
            <a:avLst/>
          </a:prstGeom>
          <a:noFill/>
          <a:ln>
            <a:solidFill>
              <a:schemeClr val="tx1"/>
            </a:solidFill>
            <a:prstDash val="dash"/>
          </a:ln>
        </p:spPr>
        <p:txBody>
          <a:bodyPr wrap="none" rtlCol="0">
            <a:spAutoFit/>
          </a:bodyPr>
          <a:lstStyle/>
          <a:p>
            <a:r>
              <a:rPr lang="en-US" altLang="ja-JP" dirty="0" err="1">
                <a:solidFill>
                  <a:schemeClr val="bg1">
                    <a:lumMod val="85000"/>
                  </a:schemeClr>
                </a:solidFill>
              </a:rPr>
              <a:t>BombBullet</a:t>
            </a:r>
            <a:endParaRPr lang="en-US" altLang="ja-JP" sz="2400" dirty="0">
              <a:solidFill>
                <a:schemeClr val="bg1">
                  <a:lumMod val="85000"/>
                </a:schemeClr>
              </a:solidFill>
            </a:endParaRPr>
          </a:p>
        </p:txBody>
      </p:sp>
      <p:sp>
        <p:nvSpPr>
          <p:cNvPr id="16" name="テキスト ボックス 15">
            <a:extLst>
              <a:ext uri="{FF2B5EF4-FFF2-40B4-BE49-F238E27FC236}">
                <a16:creationId xmlns:a16="http://schemas.microsoft.com/office/drawing/2014/main" id="{D3BAD927-9F79-4FE5-B0A8-93D619769E13}"/>
              </a:ext>
            </a:extLst>
          </p:cNvPr>
          <p:cNvSpPr txBox="1"/>
          <p:nvPr/>
        </p:nvSpPr>
        <p:spPr>
          <a:xfrm>
            <a:off x="1163674" y="5683248"/>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
        <p:nvSpPr>
          <p:cNvPr id="17" name="テキスト ボックス 16">
            <a:extLst>
              <a:ext uri="{FF2B5EF4-FFF2-40B4-BE49-F238E27FC236}">
                <a16:creationId xmlns:a16="http://schemas.microsoft.com/office/drawing/2014/main" id="{14C74BD5-7383-4252-BCCE-B1C4C99ED058}"/>
              </a:ext>
            </a:extLst>
          </p:cNvPr>
          <p:cNvSpPr txBox="1"/>
          <p:nvPr/>
        </p:nvSpPr>
        <p:spPr>
          <a:xfrm>
            <a:off x="2891260" y="5261474"/>
            <a:ext cx="1428596" cy="369332"/>
          </a:xfrm>
          <a:prstGeom prst="rect">
            <a:avLst/>
          </a:prstGeom>
          <a:noFill/>
          <a:ln>
            <a:solidFill>
              <a:schemeClr val="tx1"/>
            </a:solidFill>
            <a:prstDash val="dash"/>
          </a:ln>
        </p:spPr>
        <p:txBody>
          <a:bodyPr wrap="none" rtlCol="0">
            <a:spAutoFit/>
          </a:bodyPr>
          <a:lstStyle/>
          <a:p>
            <a:r>
              <a:rPr lang="en-US" altLang="ja-JP" dirty="0" err="1">
                <a:solidFill>
                  <a:schemeClr val="bg1">
                    <a:lumMod val="85000"/>
                  </a:schemeClr>
                </a:solidFill>
              </a:rPr>
              <a:t>BombBullet</a:t>
            </a:r>
            <a:endParaRPr lang="en-US" altLang="ja-JP" sz="2400" dirty="0">
              <a:solidFill>
                <a:schemeClr val="bg1">
                  <a:lumMod val="85000"/>
                </a:schemeClr>
              </a:solidFill>
            </a:endParaRPr>
          </a:p>
        </p:txBody>
      </p:sp>
      <p:sp>
        <p:nvSpPr>
          <p:cNvPr id="18" name="テキスト ボックス 17">
            <a:extLst>
              <a:ext uri="{FF2B5EF4-FFF2-40B4-BE49-F238E27FC236}">
                <a16:creationId xmlns:a16="http://schemas.microsoft.com/office/drawing/2014/main" id="{F9042AF0-6CC9-4F31-8B69-E8BD1884A7C5}"/>
              </a:ext>
            </a:extLst>
          </p:cNvPr>
          <p:cNvSpPr txBox="1"/>
          <p:nvPr/>
        </p:nvSpPr>
        <p:spPr>
          <a:xfrm>
            <a:off x="2891260" y="5718969"/>
            <a:ext cx="1428596" cy="369332"/>
          </a:xfrm>
          <a:prstGeom prst="rect">
            <a:avLst/>
          </a:prstGeom>
          <a:noFill/>
          <a:ln>
            <a:solidFill>
              <a:schemeClr val="tx1"/>
            </a:solidFill>
            <a:prstDash val="dash"/>
          </a:ln>
        </p:spPr>
        <p:txBody>
          <a:bodyPr wrap="none" rtlCol="0">
            <a:spAutoFit/>
          </a:bodyPr>
          <a:lstStyle/>
          <a:p>
            <a:r>
              <a:rPr lang="en-US" altLang="ja-JP" dirty="0" err="1">
                <a:solidFill>
                  <a:schemeClr val="bg1">
                    <a:lumMod val="85000"/>
                  </a:schemeClr>
                </a:solidFill>
              </a:rPr>
              <a:t>BombBullet</a:t>
            </a:r>
            <a:endParaRPr lang="en-US" altLang="ja-JP" sz="2400" dirty="0">
              <a:solidFill>
                <a:schemeClr val="bg1">
                  <a:lumMod val="85000"/>
                </a:schemeClr>
              </a:solidFill>
            </a:endParaRPr>
          </a:p>
        </p:txBody>
      </p:sp>
      <p:sp>
        <p:nvSpPr>
          <p:cNvPr id="20" name="テキスト ボックス 19">
            <a:extLst>
              <a:ext uri="{FF2B5EF4-FFF2-40B4-BE49-F238E27FC236}">
                <a16:creationId xmlns:a16="http://schemas.microsoft.com/office/drawing/2014/main" id="{8C2916F4-85D3-43D3-8DB9-B5BD7BAB8C3C}"/>
              </a:ext>
            </a:extLst>
          </p:cNvPr>
          <p:cNvSpPr txBox="1"/>
          <p:nvPr/>
        </p:nvSpPr>
        <p:spPr>
          <a:xfrm>
            <a:off x="4941353" y="5336771"/>
            <a:ext cx="6032421" cy="1200329"/>
          </a:xfrm>
          <a:prstGeom prst="rect">
            <a:avLst/>
          </a:prstGeom>
          <a:noFill/>
        </p:spPr>
        <p:txBody>
          <a:bodyPr wrap="none" rtlCol="0">
            <a:spAutoFit/>
          </a:bodyPr>
          <a:lstStyle/>
          <a:p>
            <a:r>
              <a:rPr lang="en-US" altLang="ja-JP" sz="2400" b="1" dirty="0">
                <a:solidFill>
                  <a:srgbClr val="00B050"/>
                </a:solidFill>
              </a:rPr>
              <a:t>MEMO</a:t>
            </a:r>
          </a:p>
          <a:p>
            <a:r>
              <a:rPr lang="ja-JP" altLang="en-US" sz="2400" dirty="0"/>
              <a:t>実際にデータはきれいに並んでいた方が、</a:t>
            </a:r>
            <a:endParaRPr lang="en-US" altLang="ja-JP" sz="2400" dirty="0"/>
          </a:p>
          <a:p>
            <a:r>
              <a:rPr lang="ja-JP" altLang="en-US" sz="2400" dirty="0"/>
              <a:t>パフォーマンスは良くなります。</a:t>
            </a:r>
            <a:endParaRPr lang="en-US" altLang="ja-JP" sz="2400" dirty="0"/>
          </a:p>
        </p:txBody>
      </p:sp>
    </p:spTree>
    <p:extLst>
      <p:ext uri="{BB962C8B-B14F-4D97-AF65-F5344CB8AC3E}">
        <p14:creationId xmlns:p14="http://schemas.microsoft.com/office/powerpoint/2010/main" val="3409291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79080" cy="1200329"/>
          </a:xfrm>
          <a:prstGeom prst="rect">
            <a:avLst/>
          </a:prstGeom>
          <a:noFill/>
        </p:spPr>
        <p:txBody>
          <a:bodyPr wrap="none" rtlCol="0">
            <a:spAutoFit/>
          </a:bodyPr>
          <a:lstStyle/>
          <a:p>
            <a:r>
              <a:rPr lang="ja-JP" altLang="en-US" sz="2400" dirty="0"/>
              <a:t>オブジェクトプールとは、</a:t>
            </a:r>
            <a:endParaRPr lang="en-US" altLang="ja-JP" sz="2400" dirty="0"/>
          </a:p>
          <a:p>
            <a:r>
              <a:rPr lang="ja-JP" altLang="en-US" sz="2400" b="1" dirty="0">
                <a:solidFill>
                  <a:srgbClr val="FF0000"/>
                </a:solidFill>
              </a:rPr>
              <a:t>一度生成したものを消さずに使いまわす</a:t>
            </a:r>
            <a:r>
              <a:rPr lang="ja-JP" altLang="en-US" sz="2400" dirty="0"/>
              <a:t>ことによって、</a:t>
            </a:r>
            <a:endParaRPr lang="en-US" altLang="ja-JP" sz="2400" dirty="0"/>
          </a:p>
          <a:p>
            <a:r>
              <a:rPr lang="ja-JP" altLang="en-US" sz="2400" dirty="0"/>
              <a:t>このような状況を回避する仕組みになります。</a:t>
            </a:r>
            <a:endParaRPr lang="en-US" altLang="ja-JP" sz="2400" dirty="0"/>
          </a:p>
        </p:txBody>
      </p:sp>
      <p:sp>
        <p:nvSpPr>
          <p:cNvPr id="2" name="円柱 1">
            <a:extLst>
              <a:ext uri="{FF2B5EF4-FFF2-40B4-BE49-F238E27FC236}">
                <a16:creationId xmlns:a16="http://schemas.microsoft.com/office/drawing/2014/main" id="{4E260C12-307F-4BFF-BD4A-424ED0DE4061}"/>
              </a:ext>
            </a:extLst>
          </p:cNvPr>
          <p:cNvSpPr/>
          <p:nvPr/>
        </p:nvSpPr>
        <p:spPr>
          <a:xfrm>
            <a:off x="923365" y="2556458"/>
            <a:ext cx="3522162" cy="4077424"/>
          </a:xfrm>
          <a:prstGeom prst="ca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6861E57-5226-4DB0-ACF8-D10A8309C7AD}"/>
              </a:ext>
            </a:extLst>
          </p:cNvPr>
          <p:cNvSpPr txBox="1"/>
          <p:nvPr/>
        </p:nvSpPr>
        <p:spPr>
          <a:xfrm>
            <a:off x="1168179" y="4218744"/>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
        <p:nvSpPr>
          <p:cNvPr id="11" name="テキスト ボックス 10">
            <a:extLst>
              <a:ext uri="{FF2B5EF4-FFF2-40B4-BE49-F238E27FC236}">
                <a16:creationId xmlns:a16="http://schemas.microsoft.com/office/drawing/2014/main" id="{ACB39F68-481D-448B-BD6C-36A3AAB3D6F5}"/>
              </a:ext>
            </a:extLst>
          </p:cNvPr>
          <p:cNvSpPr txBox="1"/>
          <p:nvPr/>
        </p:nvSpPr>
        <p:spPr>
          <a:xfrm>
            <a:off x="2887045" y="3709712"/>
            <a:ext cx="1428596" cy="369332"/>
          </a:xfrm>
          <a:prstGeom prst="rect">
            <a:avLst/>
          </a:prstGeom>
          <a:noFill/>
          <a:ln>
            <a:solidFill>
              <a:schemeClr val="tx1"/>
            </a:solidFill>
          </a:ln>
        </p:spPr>
        <p:txBody>
          <a:bodyPr wrap="none" rtlCol="0">
            <a:spAutoFit/>
          </a:bodyPr>
          <a:lstStyle/>
          <a:p>
            <a:r>
              <a:rPr lang="en-US" altLang="ja-JP" dirty="0" err="1"/>
              <a:t>BombBullet</a:t>
            </a:r>
            <a:endParaRPr lang="en-US" altLang="ja-JP" sz="2400" dirty="0"/>
          </a:p>
        </p:txBody>
      </p:sp>
      <p:sp>
        <p:nvSpPr>
          <p:cNvPr id="16" name="テキスト ボックス 15">
            <a:extLst>
              <a:ext uri="{FF2B5EF4-FFF2-40B4-BE49-F238E27FC236}">
                <a16:creationId xmlns:a16="http://schemas.microsoft.com/office/drawing/2014/main" id="{D3BAD927-9F79-4FE5-B0A8-93D619769E13}"/>
              </a:ext>
            </a:extLst>
          </p:cNvPr>
          <p:cNvSpPr txBox="1"/>
          <p:nvPr/>
        </p:nvSpPr>
        <p:spPr>
          <a:xfrm>
            <a:off x="1168179" y="3709712"/>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
        <p:nvSpPr>
          <p:cNvPr id="19" name="テキスト ボックス 18">
            <a:extLst>
              <a:ext uri="{FF2B5EF4-FFF2-40B4-BE49-F238E27FC236}">
                <a16:creationId xmlns:a16="http://schemas.microsoft.com/office/drawing/2014/main" id="{A04719D8-40D5-4345-8799-14418AC080D9}"/>
              </a:ext>
            </a:extLst>
          </p:cNvPr>
          <p:cNvSpPr txBox="1"/>
          <p:nvPr/>
        </p:nvSpPr>
        <p:spPr>
          <a:xfrm>
            <a:off x="1168179" y="4727776"/>
            <a:ext cx="1582484" cy="369332"/>
          </a:xfrm>
          <a:prstGeom prst="rect">
            <a:avLst/>
          </a:prstGeom>
          <a:noFill/>
          <a:ln>
            <a:solidFill>
              <a:schemeClr val="tx1"/>
            </a:solidFill>
          </a:ln>
        </p:spPr>
        <p:txBody>
          <a:bodyPr wrap="none" rtlCol="0">
            <a:spAutoFit/>
          </a:bodyPr>
          <a:lstStyle/>
          <a:p>
            <a:r>
              <a:rPr lang="en-US" altLang="ja-JP" dirty="0" err="1"/>
              <a:t>NormalBullet</a:t>
            </a:r>
            <a:endParaRPr lang="en-US" altLang="ja-JP" sz="2400" dirty="0"/>
          </a:p>
        </p:txBody>
      </p:sp>
      <p:sp>
        <p:nvSpPr>
          <p:cNvPr id="21" name="テキスト ボックス 20">
            <a:extLst>
              <a:ext uri="{FF2B5EF4-FFF2-40B4-BE49-F238E27FC236}">
                <a16:creationId xmlns:a16="http://schemas.microsoft.com/office/drawing/2014/main" id="{F3E045EE-B12F-40EA-B197-1A94B9051C7D}"/>
              </a:ext>
            </a:extLst>
          </p:cNvPr>
          <p:cNvSpPr txBox="1"/>
          <p:nvPr/>
        </p:nvSpPr>
        <p:spPr>
          <a:xfrm>
            <a:off x="2887045" y="4225838"/>
            <a:ext cx="1428596" cy="369332"/>
          </a:xfrm>
          <a:prstGeom prst="rect">
            <a:avLst/>
          </a:prstGeom>
          <a:noFill/>
          <a:ln>
            <a:solidFill>
              <a:schemeClr val="tx1"/>
            </a:solidFill>
          </a:ln>
        </p:spPr>
        <p:txBody>
          <a:bodyPr wrap="none" rtlCol="0">
            <a:spAutoFit/>
          </a:bodyPr>
          <a:lstStyle/>
          <a:p>
            <a:r>
              <a:rPr lang="en-US" altLang="ja-JP" dirty="0" err="1"/>
              <a:t>BombBullet</a:t>
            </a:r>
            <a:endParaRPr lang="en-US" altLang="ja-JP" sz="2400" dirty="0"/>
          </a:p>
        </p:txBody>
      </p:sp>
      <p:sp>
        <p:nvSpPr>
          <p:cNvPr id="22" name="テキスト ボックス 21">
            <a:extLst>
              <a:ext uri="{FF2B5EF4-FFF2-40B4-BE49-F238E27FC236}">
                <a16:creationId xmlns:a16="http://schemas.microsoft.com/office/drawing/2014/main" id="{23953DC9-35D9-4906-BC17-1A472A57748B}"/>
              </a:ext>
            </a:extLst>
          </p:cNvPr>
          <p:cNvSpPr txBox="1"/>
          <p:nvPr/>
        </p:nvSpPr>
        <p:spPr>
          <a:xfrm>
            <a:off x="2887045" y="4727776"/>
            <a:ext cx="1428596" cy="369332"/>
          </a:xfrm>
          <a:prstGeom prst="rect">
            <a:avLst/>
          </a:prstGeom>
          <a:noFill/>
          <a:ln>
            <a:solidFill>
              <a:schemeClr val="tx1"/>
            </a:solidFill>
          </a:ln>
        </p:spPr>
        <p:txBody>
          <a:bodyPr wrap="none" rtlCol="0">
            <a:spAutoFit/>
          </a:bodyPr>
          <a:lstStyle/>
          <a:p>
            <a:r>
              <a:rPr lang="en-US" altLang="ja-JP" dirty="0" err="1"/>
              <a:t>BombBullet</a:t>
            </a:r>
            <a:endParaRPr lang="en-US" altLang="ja-JP" sz="2400" dirty="0"/>
          </a:p>
        </p:txBody>
      </p:sp>
      <p:sp>
        <p:nvSpPr>
          <p:cNvPr id="23" name="テキスト ボックス 22">
            <a:extLst>
              <a:ext uri="{FF2B5EF4-FFF2-40B4-BE49-F238E27FC236}">
                <a16:creationId xmlns:a16="http://schemas.microsoft.com/office/drawing/2014/main" id="{A2AA0652-2CFA-4C28-A7BE-0A2E9EE0F8AA}"/>
              </a:ext>
            </a:extLst>
          </p:cNvPr>
          <p:cNvSpPr txBox="1"/>
          <p:nvPr/>
        </p:nvSpPr>
        <p:spPr>
          <a:xfrm>
            <a:off x="5133413" y="5996954"/>
            <a:ext cx="4185761" cy="461665"/>
          </a:xfrm>
          <a:prstGeom prst="rect">
            <a:avLst/>
          </a:prstGeom>
          <a:noFill/>
        </p:spPr>
        <p:txBody>
          <a:bodyPr wrap="none" rtlCol="0">
            <a:spAutoFit/>
          </a:bodyPr>
          <a:lstStyle/>
          <a:p>
            <a:r>
              <a:rPr lang="ja-JP" altLang="en-US" sz="2400" dirty="0"/>
              <a:t>実際に実装してみましょう。</a:t>
            </a:r>
            <a:endParaRPr lang="en-US" altLang="ja-JP" sz="2400" dirty="0"/>
          </a:p>
        </p:txBody>
      </p:sp>
    </p:spTree>
    <p:extLst>
      <p:ext uri="{BB962C8B-B14F-4D97-AF65-F5344CB8AC3E}">
        <p14:creationId xmlns:p14="http://schemas.microsoft.com/office/powerpoint/2010/main" val="2471306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503430" cy="461665"/>
          </a:xfrm>
          <a:prstGeom prst="rect">
            <a:avLst/>
          </a:prstGeom>
          <a:noFill/>
        </p:spPr>
        <p:txBody>
          <a:bodyPr wrap="none" rtlCol="0">
            <a:spAutoFit/>
          </a:bodyPr>
          <a:lstStyle/>
          <a:p>
            <a:r>
              <a:rPr lang="en-US" altLang="ja-JP" sz="2400" b="1" dirty="0" err="1">
                <a:solidFill>
                  <a:srgbClr val="00B050"/>
                </a:solidFill>
              </a:rPr>
              <a:t>BulletBase</a:t>
            </a:r>
            <a:r>
              <a:rPr lang="ja-JP" altLang="en-US" sz="2400" dirty="0"/>
              <a:t>を修正します。（その１）</a:t>
            </a:r>
            <a:endParaRPr lang="en-US" altLang="ja-JP" sz="2400" dirty="0"/>
          </a:p>
        </p:txBody>
      </p:sp>
      <p:pic>
        <p:nvPicPr>
          <p:cNvPr id="5" name="図 4">
            <a:extLst>
              <a:ext uri="{FF2B5EF4-FFF2-40B4-BE49-F238E27FC236}">
                <a16:creationId xmlns:a16="http://schemas.microsoft.com/office/drawing/2014/main" id="{5044FB31-7E9C-4A12-A1C9-CA96FEFA1B3E}"/>
              </a:ext>
            </a:extLst>
          </p:cNvPr>
          <p:cNvPicPr>
            <a:picLocks noChangeAspect="1"/>
          </p:cNvPicPr>
          <p:nvPr/>
        </p:nvPicPr>
        <p:blipFill>
          <a:blip r:embed="rId2"/>
          <a:stretch>
            <a:fillRect/>
          </a:stretch>
        </p:blipFill>
        <p:spPr>
          <a:xfrm>
            <a:off x="567542" y="1817794"/>
            <a:ext cx="10241793" cy="1346747"/>
          </a:xfrm>
          <a:prstGeom prst="rect">
            <a:avLst/>
          </a:prstGeom>
        </p:spPr>
      </p:pic>
      <p:sp>
        <p:nvSpPr>
          <p:cNvPr id="7" name="正方形/長方形 6">
            <a:extLst>
              <a:ext uri="{FF2B5EF4-FFF2-40B4-BE49-F238E27FC236}">
                <a16:creationId xmlns:a16="http://schemas.microsoft.com/office/drawing/2014/main" id="{979A4FEB-9F60-403D-A31C-EB3495C820DD}"/>
              </a:ext>
            </a:extLst>
          </p:cNvPr>
          <p:cNvSpPr/>
          <p:nvPr/>
        </p:nvSpPr>
        <p:spPr>
          <a:xfrm>
            <a:off x="2241176" y="2635624"/>
            <a:ext cx="8462683" cy="52891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21715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503430" cy="461665"/>
          </a:xfrm>
          <a:prstGeom prst="rect">
            <a:avLst/>
          </a:prstGeom>
          <a:noFill/>
        </p:spPr>
        <p:txBody>
          <a:bodyPr wrap="none" rtlCol="0">
            <a:spAutoFit/>
          </a:bodyPr>
          <a:lstStyle/>
          <a:p>
            <a:r>
              <a:rPr lang="en-US" altLang="ja-JP" sz="2400" b="1" dirty="0" err="1">
                <a:solidFill>
                  <a:srgbClr val="00B050"/>
                </a:solidFill>
              </a:rPr>
              <a:t>BulletBase</a:t>
            </a:r>
            <a:r>
              <a:rPr lang="ja-JP" altLang="en-US" sz="2400" dirty="0"/>
              <a:t>を修正します。（その２）</a:t>
            </a:r>
            <a:endParaRPr lang="en-US" altLang="ja-JP" sz="2400" dirty="0"/>
          </a:p>
        </p:txBody>
      </p:sp>
      <p:pic>
        <p:nvPicPr>
          <p:cNvPr id="3" name="図 2">
            <a:extLst>
              <a:ext uri="{FF2B5EF4-FFF2-40B4-BE49-F238E27FC236}">
                <a16:creationId xmlns:a16="http://schemas.microsoft.com/office/drawing/2014/main" id="{CD58B21B-2918-4C55-8890-D87DD6ADF4C7}"/>
              </a:ext>
            </a:extLst>
          </p:cNvPr>
          <p:cNvPicPr>
            <a:picLocks noChangeAspect="1"/>
          </p:cNvPicPr>
          <p:nvPr/>
        </p:nvPicPr>
        <p:blipFill>
          <a:blip r:embed="rId2"/>
          <a:stretch>
            <a:fillRect/>
          </a:stretch>
        </p:blipFill>
        <p:spPr>
          <a:xfrm>
            <a:off x="567542" y="1828577"/>
            <a:ext cx="10584552" cy="2886696"/>
          </a:xfrm>
          <a:prstGeom prst="rect">
            <a:avLst/>
          </a:prstGeom>
        </p:spPr>
      </p:pic>
    </p:spTree>
    <p:extLst>
      <p:ext uri="{BB962C8B-B14F-4D97-AF65-F5344CB8AC3E}">
        <p14:creationId xmlns:p14="http://schemas.microsoft.com/office/powerpoint/2010/main" val="2084208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503430" cy="461665"/>
          </a:xfrm>
          <a:prstGeom prst="rect">
            <a:avLst/>
          </a:prstGeom>
          <a:noFill/>
        </p:spPr>
        <p:txBody>
          <a:bodyPr wrap="none" rtlCol="0">
            <a:spAutoFit/>
          </a:bodyPr>
          <a:lstStyle/>
          <a:p>
            <a:r>
              <a:rPr lang="en-US" altLang="ja-JP" sz="2400" b="1" dirty="0" err="1">
                <a:solidFill>
                  <a:srgbClr val="00B050"/>
                </a:solidFill>
              </a:rPr>
              <a:t>BulletBase</a:t>
            </a:r>
            <a:r>
              <a:rPr lang="ja-JP" altLang="en-US" sz="2400" dirty="0"/>
              <a:t>を修正します。（その３）</a:t>
            </a:r>
            <a:endParaRPr lang="en-US" altLang="ja-JP" sz="2400" dirty="0"/>
          </a:p>
        </p:txBody>
      </p:sp>
      <p:pic>
        <p:nvPicPr>
          <p:cNvPr id="5" name="図 4">
            <a:extLst>
              <a:ext uri="{FF2B5EF4-FFF2-40B4-BE49-F238E27FC236}">
                <a16:creationId xmlns:a16="http://schemas.microsoft.com/office/drawing/2014/main" id="{947F4C41-1970-4245-A4D8-573D67BCE876}"/>
              </a:ext>
            </a:extLst>
          </p:cNvPr>
          <p:cNvPicPr>
            <a:picLocks noChangeAspect="1"/>
          </p:cNvPicPr>
          <p:nvPr/>
        </p:nvPicPr>
        <p:blipFill>
          <a:blip r:embed="rId2"/>
          <a:stretch>
            <a:fillRect/>
          </a:stretch>
        </p:blipFill>
        <p:spPr>
          <a:xfrm>
            <a:off x="567542" y="1817795"/>
            <a:ext cx="8513705" cy="4439116"/>
          </a:xfrm>
          <a:prstGeom prst="rect">
            <a:avLst/>
          </a:prstGeom>
        </p:spPr>
      </p:pic>
    </p:spTree>
    <p:extLst>
      <p:ext uri="{BB962C8B-B14F-4D97-AF65-F5344CB8AC3E}">
        <p14:creationId xmlns:p14="http://schemas.microsoft.com/office/powerpoint/2010/main" val="4146721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085320" cy="461665"/>
          </a:xfrm>
          <a:prstGeom prst="rect">
            <a:avLst/>
          </a:prstGeom>
          <a:noFill/>
        </p:spPr>
        <p:txBody>
          <a:bodyPr wrap="none" rtlCol="0">
            <a:spAutoFit/>
          </a:bodyPr>
          <a:lstStyle/>
          <a:p>
            <a:r>
              <a:rPr lang="en-US" altLang="ja-JP" sz="2400" b="1" dirty="0" err="1">
                <a:solidFill>
                  <a:srgbClr val="00B050"/>
                </a:solidFill>
              </a:rPr>
              <a:t>BulletManager</a:t>
            </a:r>
            <a:r>
              <a:rPr lang="ja-JP" altLang="en-US" sz="2400" dirty="0"/>
              <a:t>を修正します。（その１）</a:t>
            </a:r>
            <a:endParaRPr lang="en-US" altLang="ja-JP" sz="2400" dirty="0"/>
          </a:p>
        </p:txBody>
      </p:sp>
      <p:pic>
        <p:nvPicPr>
          <p:cNvPr id="3" name="図 2">
            <a:extLst>
              <a:ext uri="{FF2B5EF4-FFF2-40B4-BE49-F238E27FC236}">
                <a16:creationId xmlns:a16="http://schemas.microsoft.com/office/drawing/2014/main" id="{2F2B5347-2097-49FE-A6C6-ABBAB47BADE4}"/>
              </a:ext>
            </a:extLst>
          </p:cNvPr>
          <p:cNvPicPr>
            <a:picLocks noChangeAspect="1"/>
          </p:cNvPicPr>
          <p:nvPr/>
        </p:nvPicPr>
        <p:blipFill>
          <a:blip r:embed="rId2"/>
          <a:stretch>
            <a:fillRect/>
          </a:stretch>
        </p:blipFill>
        <p:spPr>
          <a:xfrm>
            <a:off x="567541" y="1817794"/>
            <a:ext cx="6598133" cy="3614818"/>
          </a:xfrm>
          <a:prstGeom prst="rect">
            <a:avLst/>
          </a:prstGeom>
        </p:spPr>
      </p:pic>
      <p:sp>
        <p:nvSpPr>
          <p:cNvPr id="7" name="正方形/長方形 6">
            <a:extLst>
              <a:ext uri="{FF2B5EF4-FFF2-40B4-BE49-F238E27FC236}">
                <a16:creationId xmlns:a16="http://schemas.microsoft.com/office/drawing/2014/main" id="{71B36114-DA56-4A1D-8BAB-E53EE150459E}"/>
              </a:ext>
            </a:extLst>
          </p:cNvPr>
          <p:cNvSpPr/>
          <p:nvPr/>
        </p:nvSpPr>
        <p:spPr>
          <a:xfrm>
            <a:off x="1703295" y="3429000"/>
            <a:ext cx="4392706" cy="20036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74761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085320" cy="461665"/>
          </a:xfrm>
          <a:prstGeom prst="rect">
            <a:avLst/>
          </a:prstGeom>
          <a:noFill/>
        </p:spPr>
        <p:txBody>
          <a:bodyPr wrap="none" rtlCol="0">
            <a:spAutoFit/>
          </a:bodyPr>
          <a:lstStyle/>
          <a:p>
            <a:r>
              <a:rPr lang="en-US" altLang="ja-JP" sz="2400" b="1" dirty="0" err="1">
                <a:solidFill>
                  <a:srgbClr val="00B050"/>
                </a:solidFill>
              </a:rPr>
              <a:t>BulletManager</a:t>
            </a:r>
            <a:r>
              <a:rPr lang="ja-JP" altLang="en-US" sz="2400" dirty="0"/>
              <a:t>を修正します。（その２）</a:t>
            </a:r>
            <a:endParaRPr lang="en-US" altLang="ja-JP" sz="2400" dirty="0"/>
          </a:p>
        </p:txBody>
      </p:sp>
      <p:pic>
        <p:nvPicPr>
          <p:cNvPr id="9" name="図 8">
            <a:extLst>
              <a:ext uri="{FF2B5EF4-FFF2-40B4-BE49-F238E27FC236}">
                <a16:creationId xmlns:a16="http://schemas.microsoft.com/office/drawing/2014/main" id="{61C15797-8D11-4936-886E-48604ED77794}"/>
              </a:ext>
            </a:extLst>
          </p:cNvPr>
          <p:cNvPicPr>
            <a:picLocks noChangeAspect="1"/>
          </p:cNvPicPr>
          <p:nvPr/>
        </p:nvPicPr>
        <p:blipFill>
          <a:blip r:embed="rId2"/>
          <a:stretch>
            <a:fillRect/>
          </a:stretch>
        </p:blipFill>
        <p:spPr>
          <a:xfrm>
            <a:off x="567542" y="1817794"/>
            <a:ext cx="10736173" cy="2029108"/>
          </a:xfrm>
          <a:prstGeom prst="rect">
            <a:avLst/>
          </a:prstGeom>
        </p:spPr>
      </p:pic>
      <p:sp>
        <p:nvSpPr>
          <p:cNvPr id="10" name="正方形/長方形 9">
            <a:extLst>
              <a:ext uri="{FF2B5EF4-FFF2-40B4-BE49-F238E27FC236}">
                <a16:creationId xmlns:a16="http://schemas.microsoft.com/office/drawing/2014/main" id="{D4CC3181-C29C-4A90-8440-51BF70A9B364}"/>
              </a:ext>
            </a:extLst>
          </p:cNvPr>
          <p:cNvSpPr/>
          <p:nvPr/>
        </p:nvSpPr>
        <p:spPr>
          <a:xfrm>
            <a:off x="2169458" y="2931460"/>
            <a:ext cx="8830235" cy="8157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03314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085320" cy="461665"/>
          </a:xfrm>
          <a:prstGeom prst="rect">
            <a:avLst/>
          </a:prstGeom>
          <a:noFill/>
        </p:spPr>
        <p:txBody>
          <a:bodyPr wrap="none" rtlCol="0">
            <a:spAutoFit/>
          </a:bodyPr>
          <a:lstStyle/>
          <a:p>
            <a:r>
              <a:rPr lang="en-US" altLang="ja-JP" sz="2400" b="1" dirty="0" err="1">
                <a:solidFill>
                  <a:srgbClr val="00B050"/>
                </a:solidFill>
              </a:rPr>
              <a:t>BulletManager</a:t>
            </a:r>
            <a:r>
              <a:rPr lang="ja-JP" altLang="en-US" sz="2400" dirty="0"/>
              <a:t>を修正します。（その３）</a:t>
            </a:r>
            <a:endParaRPr lang="en-US" altLang="ja-JP" sz="2400" dirty="0"/>
          </a:p>
        </p:txBody>
      </p:sp>
      <p:pic>
        <p:nvPicPr>
          <p:cNvPr id="3" name="図 2">
            <a:extLst>
              <a:ext uri="{FF2B5EF4-FFF2-40B4-BE49-F238E27FC236}">
                <a16:creationId xmlns:a16="http://schemas.microsoft.com/office/drawing/2014/main" id="{C4FB2564-13EF-4B87-8311-E0CE1C8A8478}"/>
              </a:ext>
            </a:extLst>
          </p:cNvPr>
          <p:cNvPicPr>
            <a:picLocks noChangeAspect="1"/>
          </p:cNvPicPr>
          <p:nvPr/>
        </p:nvPicPr>
        <p:blipFill>
          <a:blip r:embed="rId2"/>
          <a:stretch>
            <a:fillRect/>
          </a:stretch>
        </p:blipFill>
        <p:spPr>
          <a:xfrm>
            <a:off x="567542" y="1817795"/>
            <a:ext cx="6147935" cy="4548252"/>
          </a:xfrm>
          <a:prstGeom prst="rect">
            <a:avLst/>
          </a:prstGeom>
        </p:spPr>
      </p:pic>
      <p:sp>
        <p:nvSpPr>
          <p:cNvPr id="8" name="テキスト ボックス 7">
            <a:extLst>
              <a:ext uri="{FF2B5EF4-FFF2-40B4-BE49-F238E27FC236}">
                <a16:creationId xmlns:a16="http://schemas.microsoft.com/office/drawing/2014/main" id="{71A2AD45-BC6D-4706-8E36-36979E287F50}"/>
              </a:ext>
            </a:extLst>
          </p:cNvPr>
          <p:cNvSpPr txBox="1"/>
          <p:nvPr/>
        </p:nvSpPr>
        <p:spPr>
          <a:xfrm>
            <a:off x="6861124" y="5904382"/>
            <a:ext cx="3877985" cy="461665"/>
          </a:xfrm>
          <a:prstGeom prst="rect">
            <a:avLst/>
          </a:prstGeom>
          <a:noFill/>
        </p:spPr>
        <p:txBody>
          <a:bodyPr wrap="none" rtlCol="0">
            <a:spAutoFit/>
          </a:bodyPr>
          <a:lstStyle/>
          <a:p>
            <a:r>
              <a:rPr lang="ja-JP" altLang="en-US" sz="2400" dirty="0"/>
              <a:t>エラーは後ほど修正します</a:t>
            </a:r>
            <a:endParaRPr lang="en-US" altLang="ja-JP" sz="2400" dirty="0"/>
          </a:p>
        </p:txBody>
      </p:sp>
    </p:spTree>
    <p:extLst>
      <p:ext uri="{BB962C8B-B14F-4D97-AF65-F5344CB8AC3E}">
        <p14:creationId xmlns:p14="http://schemas.microsoft.com/office/powerpoint/2010/main" val="3643283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91356" cy="461665"/>
          </a:xfrm>
          <a:prstGeom prst="rect">
            <a:avLst/>
          </a:prstGeom>
          <a:noFill/>
        </p:spPr>
        <p:txBody>
          <a:bodyPr wrap="none" rtlCol="0">
            <a:spAutoFit/>
          </a:bodyPr>
          <a:lstStyle/>
          <a:p>
            <a:r>
              <a:rPr lang="en-US" altLang="ja-JP" sz="2400" b="1" dirty="0" err="1">
                <a:solidFill>
                  <a:srgbClr val="00B050"/>
                </a:solidFill>
              </a:rPr>
              <a:t>BulletBase</a:t>
            </a:r>
            <a:r>
              <a:rPr lang="ja-JP" altLang="en-US" sz="2400" dirty="0"/>
              <a:t>に</a:t>
            </a:r>
            <a:r>
              <a:rPr lang="en-US" altLang="ja-JP" sz="2400" b="1" dirty="0" err="1">
                <a:solidFill>
                  <a:srgbClr val="00B050"/>
                </a:solidFill>
              </a:rPr>
              <a:t>BulletType</a:t>
            </a:r>
            <a:r>
              <a:rPr lang="ja-JP" altLang="en-US" sz="2400" dirty="0"/>
              <a:t>を追加します。</a:t>
            </a:r>
            <a:endParaRPr lang="en-US" altLang="ja-JP" sz="2400" dirty="0"/>
          </a:p>
        </p:txBody>
      </p:sp>
      <p:pic>
        <p:nvPicPr>
          <p:cNvPr id="5" name="図 4">
            <a:extLst>
              <a:ext uri="{FF2B5EF4-FFF2-40B4-BE49-F238E27FC236}">
                <a16:creationId xmlns:a16="http://schemas.microsoft.com/office/drawing/2014/main" id="{112C698E-053C-4514-914C-799EC3C91DBD}"/>
              </a:ext>
            </a:extLst>
          </p:cNvPr>
          <p:cNvPicPr>
            <a:picLocks noChangeAspect="1"/>
          </p:cNvPicPr>
          <p:nvPr/>
        </p:nvPicPr>
        <p:blipFill>
          <a:blip r:embed="rId2"/>
          <a:stretch>
            <a:fillRect/>
          </a:stretch>
        </p:blipFill>
        <p:spPr>
          <a:xfrm>
            <a:off x="567542" y="1817794"/>
            <a:ext cx="10675574" cy="4000300"/>
          </a:xfrm>
          <a:prstGeom prst="rect">
            <a:avLst/>
          </a:prstGeom>
        </p:spPr>
      </p:pic>
      <p:sp>
        <p:nvSpPr>
          <p:cNvPr id="9" name="正方形/長方形 8">
            <a:extLst>
              <a:ext uri="{FF2B5EF4-FFF2-40B4-BE49-F238E27FC236}">
                <a16:creationId xmlns:a16="http://schemas.microsoft.com/office/drawing/2014/main" id="{030DC299-1DF0-4844-9EAD-FF023BF30D72}"/>
              </a:ext>
            </a:extLst>
          </p:cNvPr>
          <p:cNvSpPr/>
          <p:nvPr/>
        </p:nvSpPr>
        <p:spPr>
          <a:xfrm>
            <a:off x="2043952" y="2294965"/>
            <a:ext cx="9081247" cy="69924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8F43D0ED-0192-4545-8554-7736B3608CA7}"/>
              </a:ext>
            </a:extLst>
          </p:cNvPr>
          <p:cNvSpPr/>
          <p:nvPr/>
        </p:nvSpPr>
        <p:spPr>
          <a:xfrm>
            <a:off x="2043953" y="4751295"/>
            <a:ext cx="8247530" cy="106679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68159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394466" cy="461665"/>
          </a:xfrm>
          <a:prstGeom prst="rect">
            <a:avLst/>
          </a:prstGeom>
          <a:noFill/>
        </p:spPr>
        <p:txBody>
          <a:bodyPr wrap="none" rtlCol="0">
            <a:spAutoFit/>
          </a:bodyPr>
          <a:lstStyle/>
          <a:p>
            <a:r>
              <a:rPr lang="en-US" altLang="ja-JP" sz="2400" b="1" dirty="0" err="1">
                <a:solidFill>
                  <a:srgbClr val="0070C0"/>
                </a:solidFill>
              </a:rPr>
              <a:t>UpdateBullet</a:t>
            </a:r>
            <a:r>
              <a:rPr lang="ja-JP" altLang="en-US" sz="2400" dirty="0"/>
              <a:t>が仮想関数になったので、オーバーライド関数を修正しましょう。</a:t>
            </a:r>
            <a:endParaRPr lang="en-US" altLang="ja-JP" sz="2400" dirty="0"/>
          </a:p>
        </p:txBody>
      </p:sp>
      <p:pic>
        <p:nvPicPr>
          <p:cNvPr id="3" name="図 2">
            <a:extLst>
              <a:ext uri="{FF2B5EF4-FFF2-40B4-BE49-F238E27FC236}">
                <a16:creationId xmlns:a16="http://schemas.microsoft.com/office/drawing/2014/main" id="{D38FDBF6-314B-4256-8DE5-BF49B804E083}"/>
              </a:ext>
            </a:extLst>
          </p:cNvPr>
          <p:cNvPicPr>
            <a:picLocks noChangeAspect="1"/>
          </p:cNvPicPr>
          <p:nvPr/>
        </p:nvPicPr>
        <p:blipFill>
          <a:blip r:embed="rId2"/>
          <a:stretch>
            <a:fillRect/>
          </a:stretch>
        </p:blipFill>
        <p:spPr>
          <a:xfrm>
            <a:off x="567542" y="1817794"/>
            <a:ext cx="5220429" cy="2638793"/>
          </a:xfrm>
          <a:prstGeom prst="rect">
            <a:avLst/>
          </a:prstGeom>
        </p:spPr>
      </p:pic>
      <p:sp>
        <p:nvSpPr>
          <p:cNvPr id="12" name="正方形/長方形 11">
            <a:extLst>
              <a:ext uri="{FF2B5EF4-FFF2-40B4-BE49-F238E27FC236}">
                <a16:creationId xmlns:a16="http://schemas.microsoft.com/office/drawing/2014/main" id="{3C0B9691-FAD2-4761-BBC5-444F30148D9F}"/>
              </a:ext>
            </a:extLst>
          </p:cNvPr>
          <p:cNvSpPr/>
          <p:nvPr/>
        </p:nvSpPr>
        <p:spPr>
          <a:xfrm>
            <a:off x="2043953" y="2366682"/>
            <a:ext cx="2832848" cy="6275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DC26BA17-618B-4802-B081-7A656F716DAE}"/>
              </a:ext>
            </a:extLst>
          </p:cNvPr>
          <p:cNvSpPr txBox="1"/>
          <p:nvPr/>
        </p:nvSpPr>
        <p:spPr>
          <a:xfrm>
            <a:off x="567542" y="4726109"/>
            <a:ext cx="11481028" cy="461665"/>
          </a:xfrm>
          <a:prstGeom prst="rect">
            <a:avLst/>
          </a:prstGeom>
          <a:noFill/>
        </p:spPr>
        <p:txBody>
          <a:bodyPr wrap="none" rtlCol="0">
            <a:spAutoFit/>
          </a:bodyPr>
          <a:lstStyle/>
          <a:p>
            <a:r>
              <a:rPr lang="en-US" altLang="ja-JP" sz="2400" b="1" dirty="0" err="1">
                <a:solidFill>
                  <a:srgbClr val="00B050"/>
                </a:solidFill>
              </a:rPr>
              <a:t>StraightBullet</a:t>
            </a:r>
            <a:r>
              <a:rPr lang="en-US" altLang="ja-JP" sz="2400" dirty="0"/>
              <a:t>, </a:t>
            </a:r>
            <a:r>
              <a:rPr lang="en-US" altLang="ja-JP" sz="2400" b="1" dirty="0" err="1">
                <a:solidFill>
                  <a:srgbClr val="00B050"/>
                </a:solidFill>
              </a:rPr>
              <a:t>BombBullet</a:t>
            </a:r>
            <a:r>
              <a:rPr lang="ja-JP" altLang="en-US" sz="2400" dirty="0"/>
              <a:t>ともに</a:t>
            </a:r>
            <a:r>
              <a:rPr lang="en-US" altLang="ja-JP" sz="2400" b="1" dirty="0" err="1">
                <a:solidFill>
                  <a:srgbClr val="00B050"/>
                </a:solidFill>
              </a:rPr>
              <a:t>BulletBase</a:t>
            </a:r>
            <a:r>
              <a:rPr lang="ja-JP" altLang="en-US" sz="2400" dirty="0"/>
              <a:t>の</a:t>
            </a:r>
            <a:r>
              <a:rPr lang="en-US" altLang="ja-JP" sz="2400" b="1" dirty="0" err="1">
                <a:solidFill>
                  <a:srgbClr val="0070C0"/>
                </a:solidFill>
              </a:rPr>
              <a:t>UpdateBullet</a:t>
            </a:r>
            <a:r>
              <a:rPr lang="ja-JP" altLang="en-US" sz="2400" dirty="0"/>
              <a:t>を呼びましょう。</a:t>
            </a:r>
            <a:endParaRPr lang="en-US" altLang="ja-JP" sz="2400" dirty="0"/>
          </a:p>
        </p:txBody>
      </p:sp>
    </p:spTree>
    <p:extLst>
      <p:ext uri="{BB962C8B-B14F-4D97-AF65-F5344CB8AC3E}">
        <p14:creationId xmlns:p14="http://schemas.microsoft.com/office/powerpoint/2010/main" val="3181909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オブジェクトプール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594019" cy="461665"/>
          </a:xfrm>
          <a:prstGeom prst="rect">
            <a:avLst/>
          </a:prstGeom>
          <a:noFill/>
        </p:spPr>
        <p:txBody>
          <a:bodyPr wrap="none" rtlCol="0">
            <a:spAutoFit/>
          </a:bodyPr>
          <a:lstStyle/>
          <a:p>
            <a:r>
              <a:rPr lang="en-US" altLang="ja-JP" sz="2400" b="1" dirty="0" err="1">
                <a:solidFill>
                  <a:srgbClr val="00B050"/>
                </a:solidFill>
              </a:rPr>
              <a:t>BulletType</a:t>
            </a:r>
            <a:r>
              <a:rPr lang="ja-JP" altLang="en-US" sz="2400" dirty="0"/>
              <a:t>は各</a:t>
            </a:r>
            <a:r>
              <a:rPr lang="en-US" altLang="ja-JP" sz="2400" dirty="0"/>
              <a:t>Prefab</a:t>
            </a:r>
            <a:r>
              <a:rPr lang="ja-JP" altLang="en-US" sz="2400" dirty="0"/>
              <a:t>のインスペクターで設定しましょう。</a:t>
            </a:r>
            <a:endParaRPr lang="en-US" altLang="ja-JP" sz="2400" dirty="0"/>
          </a:p>
        </p:txBody>
      </p:sp>
      <p:pic>
        <p:nvPicPr>
          <p:cNvPr id="3" name="図 2">
            <a:extLst>
              <a:ext uri="{FF2B5EF4-FFF2-40B4-BE49-F238E27FC236}">
                <a16:creationId xmlns:a16="http://schemas.microsoft.com/office/drawing/2014/main" id="{7A111FD2-D152-4415-819B-B4AE0391560D}"/>
              </a:ext>
            </a:extLst>
          </p:cNvPr>
          <p:cNvPicPr>
            <a:picLocks noChangeAspect="1"/>
          </p:cNvPicPr>
          <p:nvPr/>
        </p:nvPicPr>
        <p:blipFill>
          <a:blip r:embed="rId2"/>
          <a:stretch>
            <a:fillRect/>
          </a:stretch>
        </p:blipFill>
        <p:spPr>
          <a:xfrm>
            <a:off x="836498" y="2323946"/>
            <a:ext cx="4315427" cy="1105054"/>
          </a:xfrm>
          <a:prstGeom prst="rect">
            <a:avLst/>
          </a:prstGeom>
        </p:spPr>
      </p:pic>
      <p:pic>
        <p:nvPicPr>
          <p:cNvPr id="8" name="図 7">
            <a:extLst>
              <a:ext uri="{FF2B5EF4-FFF2-40B4-BE49-F238E27FC236}">
                <a16:creationId xmlns:a16="http://schemas.microsoft.com/office/drawing/2014/main" id="{7B5B7864-AA33-44C3-A6C2-2C67C3F7980D}"/>
              </a:ext>
            </a:extLst>
          </p:cNvPr>
          <p:cNvPicPr>
            <a:picLocks noChangeAspect="1"/>
          </p:cNvPicPr>
          <p:nvPr/>
        </p:nvPicPr>
        <p:blipFill>
          <a:blip r:embed="rId3"/>
          <a:stretch>
            <a:fillRect/>
          </a:stretch>
        </p:blipFill>
        <p:spPr>
          <a:xfrm>
            <a:off x="836498" y="4229851"/>
            <a:ext cx="4315427" cy="1267002"/>
          </a:xfrm>
          <a:prstGeom prst="rect">
            <a:avLst/>
          </a:prstGeom>
        </p:spPr>
      </p:pic>
      <p:sp>
        <p:nvSpPr>
          <p:cNvPr id="11" name="テキスト ボックス 10">
            <a:extLst>
              <a:ext uri="{FF2B5EF4-FFF2-40B4-BE49-F238E27FC236}">
                <a16:creationId xmlns:a16="http://schemas.microsoft.com/office/drawing/2014/main" id="{F6924041-E3B0-4FE7-9388-D15A567D3881}"/>
              </a:ext>
            </a:extLst>
          </p:cNvPr>
          <p:cNvSpPr txBox="1"/>
          <p:nvPr/>
        </p:nvSpPr>
        <p:spPr>
          <a:xfrm>
            <a:off x="737872" y="1891420"/>
            <a:ext cx="2916183" cy="461665"/>
          </a:xfrm>
          <a:prstGeom prst="rect">
            <a:avLst/>
          </a:prstGeom>
          <a:noFill/>
        </p:spPr>
        <p:txBody>
          <a:bodyPr wrap="none" rtlCol="0">
            <a:spAutoFit/>
          </a:bodyPr>
          <a:lstStyle/>
          <a:p>
            <a:r>
              <a:rPr lang="en-US" altLang="ja-JP" sz="2400" b="1" dirty="0" err="1">
                <a:solidFill>
                  <a:srgbClr val="0070C0"/>
                </a:solidFill>
              </a:rPr>
              <a:t>PlayerNormalShot</a:t>
            </a:r>
            <a:endParaRPr lang="en-US" altLang="ja-JP" sz="2400" b="1" dirty="0">
              <a:solidFill>
                <a:srgbClr val="0070C0"/>
              </a:solidFill>
            </a:endParaRPr>
          </a:p>
        </p:txBody>
      </p:sp>
      <p:sp>
        <p:nvSpPr>
          <p:cNvPr id="12" name="テキスト ボックス 11">
            <a:extLst>
              <a:ext uri="{FF2B5EF4-FFF2-40B4-BE49-F238E27FC236}">
                <a16:creationId xmlns:a16="http://schemas.microsoft.com/office/drawing/2014/main" id="{FBBA8C66-08B4-4839-BEDE-816D9E33F0EE}"/>
              </a:ext>
            </a:extLst>
          </p:cNvPr>
          <p:cNvSpPr txBox="1"/>
          <p:nvPr/>
        </p:nvSpPr>
        <p:spPr>
          <a:xfrm>
            <a:off x="737872" y="3844019"/>
            <a:ext cx="2694969" cy="461665"/>
          </a:xfrm>
          <a:prstGeom prst="rect">
            <a:avLst/>
          </a:prstGeom>
          <a:noFill/>
        </p:spPr>
        <p:txBody>
          <a:bodyPr wrap="none" rtlCol="0">
            <a:spAutoFit/>
          </a:bodyPr>
          <a:lstStyle/>
          <a:p>
            <a:r>
              <a:rPr lang="en-US" altLang="ja-JP" sz="2400" b="1" dirty="0" err="1">
                <a:solidFill>
                  <a:srgbClr val="0070C0"/>
                </a:solidFill>
              </a:rPr>
              <a:t>PlayerBombShot</a:t>
            </a:r>
            <a:endParaRPr lang="en-US" altLang="ja-JP" sz="2400" b="1" dirty="0">
              <a:solidFill>
                <a:srgbClr val="0070C0"/>
              </a:solidFill>
            </a:endParaRPr>
          </a:p>
        </p:txBody>
      </p:sp>
      <p:sp>
        <p:nvSpPr>
          <p:cNvPr id="9" name="テキスト ボックス 8">
            <a:extLst>
              <a:ext uri="{FF2B5EF4-FFF2-40B4-BE49-F238E27FC236}">
                <a16:creationId xmlns:a16="http://schemas.microsoft.com/office/drawing/2014/main" id="{95C77B40-3FF4-4578-BB5A-36A1B280C93E}"/>
              </a:ext>
            </a:extLst>
          </p:cNvPr>
          <p:cNvSpPr txBox="1"/>
          <p:nvPr/>
        </p:nvSpPr>
        <p:spPr>
          <a:xfrm>
            <a:off x="567541" y="5796618"/>
            <a:ext cx="4493538" cy="461665"/>
          </a:xfrm>
          <a:prstGeom prst="rect">
            <a:avLst/>
          </a:prstGeom>
          <a:noFill/>
        </p:spPr>
        <p:txBody>
          <a:bodyPr wrap="none" rtlCol="0">
            <a:spAutoFit/>
          </a:bodyPr>
          <a:lstStyle/>
          <a:p>
            <a:r>
              <a:rPr lang="ja-JP" altLang="en-US" sz="2400" b="1" dirty="0">
                <a:solidFill>
                  <a:srgbClr val="FF0000"/>
                </a:solidFill>
              </a:rPr>
              <a:t>実行して動作確認しましょう。</a:t>
            </a:r>
            <a:endParaRPr lang="en-US" altLang="ja-JP" sz="2400" b="1" dirty="0">
              <a:solidFill>
                <a:srgbClr val="FF0000"/>
              </a:solidFill>
            </a:endParaRPr>
          </a:p>
        </p:txBody>
      </p:sp>
    </p:spTree>
    <p:extLst>
      <p:ext uri="{BB962C8B-B14F-4D97-AF65-F5344CB8AC3E}">
        <p14:creationId xmlns:p14="http://schemas.microsoft.com/office/powerpoint/2010/main" val="83090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オブジェクトプール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22432" cy="830997"/>
          </a:xfrm>
          <a:prstGeom prst="rect">
            <a:avLst/>
          </a:prstGeom>
          <a:noFill/>
        </p:spPr>
        <p:txBody>
          <a:bodyPr wrap="none" rtlCol="0">
            <a:spAutoFit/>
          </a:bodyPr>
          <a:lstStyle/>
          <a:p>
            <a:r>
              <a:rPr lang="en-US" altLang="ja-JP" sz="2400" b="1" dirty="0">
                <a:solidFill>
                  <a:srgbClr val="0070C0"/>
                </a:solidFill>
              </a:rPr>
              <a:t>Destroy</a:t>
            </a:r>
            <a:r>
              <a:rPr lang="ja-JP" altLang="en-US" sz="2400" dirty="0"/>
              <a:t>による削除は行わないので、</a:t>
            </a:r>
            <a:r>
              <a:rPr lang="ja-JP" altLang="en-US" sz="2400" b="1" dirty="0">
                <a:solidFill>
                  <a:srgbClr val="FF0000"/>
                </a:solidFill>
              </a:rPr>
              <a:t>寿命処理は自作する</a:t>
            </a:r>
            <a:r>
              <a:rPr lang="ja-JP" altLang="en-US" sz="2400" dirty="0"/>
              <a:t>必要があります。</a:t>
            </a:r>
            <a:endParaRPr lang="en-US" altLang="ja-JP" sz="2400" dirty="0"/>
          </a:p>
          <a:p>
            <a:r>
              <a:rPr lang="ja-JP" altLang="en-US" sz="2400" dirty="0"/>
              <a:t>また寿命が尽きたらオブジェクトを</a:t>
            </a:r>
            <a:r>
              <a:rPr lang="ja-JP" altLang="en-US" sz="2400" b="1" dirty="0">
                <a:solidFill>
                  <a:srgbClr val="FF0000"/>
                </a:solidFill>
              </a:rPr>
              <a:t>非アクティブ</a:t>
            </a:r>
            <a:r>
              <a:rPr lang="ja-JP" altLang="en-US" sz="2400" dirty="0"/>
              <a:t>にしています。</a:t>
            </a:r>
            <a:endParaRPr lang="en-US" altLang="ja-JP" sz="2400" dirty="0"/>
          </a:p>
        </p:txBody>
      </p:sp>
      <p:pic>
        <p:nvPicPr>
          <p:cNvPr id="9" name="図 8">
            <a:extLst>
              <a:ext uri="{FF2B5EF4-FFF2-40B4-BE49-F238E27FC236}">
                <a16:creationId xmlns:a16="http://schemas.microsoft.com/office/drawing/2014/main" id="{3D4D6A21-7457-4C0B-8710-FEF68D40813A}"/>
              </a:ext>
            </a:extLst>
          </p:cNvPr>
          <p:cNvPicPr>
            <a:picLocks noChangeAspect="1"/>
          </p:cNvPicPr>
          <p:nvPr/>
        </p:nvPicPr>
        <p:blipFill>
          <a:blip r:embed="rId2"/>
          <a:stretch>
            <a:fillRect/>
          </a:stretch>
        </p:blipFill>
        <p:spPr>
          <a:xfrm>
            <a:off x="567542" y="2187126"/>
            <a:ext cx="6415964" cy="3345337"/>
          </a:xfrm>
          <a:prstGeom prst="rect">
            <a:avLst/>
          </a:prstGeom>
        </p:spPr>
      </p:pic>
      <p:sp>
        <p:nvSpPr>
          <p:cNvPr id="10" name="テキスト ボックス 9">
            <a:extLst>
              <a:ext uri="{FF2B5EF4-FFF2-40B4-BE49-F238E27FC236}">
                <a16:creationId xmlns:a16="http://schemas.microsoft.com/office/drawing/2014/main" id="{5D5D1B16-B84F-467D-822D-AB9C6E5DB37D}"/>
              </a:ext>
            </a:extLst>
          </p:cNvPr>
          <p:cNvSpPr txBox="1"/>
          <p:nvPr/>
        </p:nvSpPr>
        <p:spPr>
          <a:xfrm>
            <a:off x="567542" y="5672163"/>
            <a:ext cx="8186857" cy="830997"/>
          </a:xfrm>
          <a:prstGeom prst="rect">
            <a:avLst/>
          </a:prstGeom>
          <a:noFill/>
        </p:spPr>
        <p:txBody>
          <a:bodyPr wrap="none" rtlCol="0">
            <a:spAutoFit/>
          </a:bodyPr>
          <a:lstStyle/>
          <a:p>
            <a:r>
              <a:rPr lang="ja-JP" altLang="en-US" sz="2400" b="1" dirty="0">
                <a:solidFill>
                  <a:srgbClr val="FF0000"/>
                </a:solidFill>
              </a:rPr>
              <a:t>非アクティブ</a:t>
            </a:r>
            <a:r>
              <a:rPr lang="ja-JP" altLang="en-US" sz="2400" dirty="0"/>
              <a:t>のオブジェクトは</a:t>
            </a:r>
            <a:r>
              <a:rPr lang="ja-JP" altLang="en-US" sz="2400" b="1" dirty="0">
                <a:solidFill>
                  <a:srgbClr val="FF0000"/>
                </a:solidFill>
              </a:rPr>
              <a:t>画面に表示されなくなり、</a:t>
            </a:r>
            <a:endParaRPr lang="en-US" altLang="ja-JP" sz="2400" b="1" dirty="0">
              <a:solidFill>
                <a:srgbClr val="FF0000"/>
              </a:solidFill>
            </a:endParaRPr>
          </a:p>
          <a:p>
            <a:r>
              <a:rPr lang="en-US" altLang="ja-JP" sz="2400" b="1" dirty="0">
                <a:solidFill>
                  <a:srgbClr val="FF0000"/>
                </a:solidFill>
              </a:rPr>
              <a:t>Update</a:t>
            </a:r>
            <a:r>
              <a:rPr lang="ja-JP" altLang="en-US" sz="2400" b="1" dirty="0">
                <a:solidFill>
                  <a:srgbClr val="FF0000"/>
                </a:solidFill>
              </a:rPr>
              <a:t>なども呼ばれなくなります。</a:t>
            </a:r>
            <a:endParaRPr lang="en-US" altLang="ja-JP" sz="2400" b="1" dirty="0">
              <a:solidFill>
                <a:srgbClr val="FF0000"/>
              </a:solidFill>
            </a:endParaRPr>
          </a:p>
        </p:txBody>
      </p:sp>
    </p:spTree>
    <p:extLst>
      <p:ext uri="{BB962C8B-B14F-4D97-AF65-F5344CB8AC3E}">
        <p14:creationId xmlns:p14="http://schemas.microsoft.com/office/powerpoint/2010/main" val="2728413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オブジェクトプール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268610" cy="461665"/>
          </a:xfrm>
          <a:prstGeom prst="rect">
            <a:avLst/>
          </a:prstGeom>
          <a:noFill/>
        </p:spPr>
        <p:txBody>
          <a:bodyPr wrap="none" rtlCol="0">
            <a:spAutoFit/>
          </a:bodyPr>
          <a:lstStyle/>
          <a:p>
            <a:r>
              <a:rPr lang="en-US" altLang="ja-JP" sz="2400" dirty="0"/>
              <a:t>C#</a:t>
            </a:r>
            <a:r>
              <a:rPr lang="ja-JP" altLang="en-US" sz="2400" dirty="0"/>
              <a:t>のリストを使って、発射されたバレットを管理します。</a:t>
            </a:r>
            <a:endParaRPr lang="en-US" altLang="ja-JP" sz="2400" dirty="0"/>
          </a:p>
        </p:txBody>
      </p:sp>
      <p:grpSp>
        <p:nvGrpSpPr>
          <p:cNvPr id="40" name="グループ化 39">
            <a:extLst>
              <a:ext uri="{FF2B5EF4-FFF2-40B4-BE49-F238E27FC236}">
                <a16:creationId xmlns:a16="http://schemas.microsoft.com/office/drawing/2014/main" id="{7F9B7CA2-E34F-4AF9-BE49-9560655E041E}"/>
              </a:ext>
            </a:extLst>
          </p:cNvPr>
          <p:cNvGrpSpPr/>
          <p:nvPr/>
        </p:nvGrpSpPr>
        <p:grpSpPr>
          <a:xfrm>
            <a:off x="567542" y="4566243"/>
            <a:ext cx="8504181" cy="1799803"/>
            <a:chOff x="439830" y="2037090"/>
            <a:chExt cx="8504181" cy="1799803"/>
          </a:xfrm>
        </p:grpSpPr>
        <p:sp>
          <p:nvSpPr>
            <p:cNvPr id="2" name="正方形/長方形 1">
              <a:extLst>
                <a:ext uri="{FF2B5EF4-FFF2-40B4-BE49-F238E27FC236}">
                  <a16:creationId xmlns:a16="http://schemas.microsoft.com/office/drawing/2014/main" id="{620AF1CD-DF1C-4AC9-9D14-B555486B1B40}"/>
                </a:ext>
              </a:extLst>
            </p:cNvPr>
            <p:cNvSpPr/>
            <p:nvPr/>
          </p:nvSpPr>
          <p:spPr>
            <a:xfrm>
              <a:off x="567543"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0318EDF-2B8B-44AF-B9F8-BEFCC893ED99}"/>
                </a:ext>
              </a:extLst>
            </p:cNvPr>
            <p:cNvSpPr/>
            <p:nvPr/>
          </p:nvSpPr>
          <p:spPr>
            <a:xfrm>
              <a:off x="842683"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1" name="正方形/長方形 10">
              <a:extLst>
                <a:ext uri="{FF2B5EF4-FFF2-40B4-BE49-F238E27FC236}">
                  <a16:creationId xmlns:a16="http://schemas.microsoft.com/office/drawing/2014/main" id="{F5514D1D-647D-4BC3-8C92-BDD761E078C0}"/>
                </a:ext>
              </a:extLst>
            </p:cNvPr>
            <p:cNvSpPr/>
            <p:nvPr/>
          </p:nvSpPr>
          <p:spPr>
            <a:xfrm>
              <a:off x="1694329"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6921238-FA20-42CE-9D50-C0C005AD7D60}"/>
                </a:ext>
              </a:extLst>
            </p:cNvPr>
            <p:cNvSpPr txBox="1"/>
            <p:nvPr/>
          </p:nvSpPr>
          <p:spPr>
            <a:xfrm>
              <a:off x="765805"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13" name="正方形/長方形 12">
              <a:extLst>
                <a:ext uri="{FF2B5EF4-FFF2-40B4-BE49-F238E27FC236}">
                  <a16:creationId xmlns:a16="http://schemas.microsoft.com/office/drawing/2014/main" id="{C49B3CFA-BB47-4ADC-BB6D-B4B2197F8126}"/>
                </a:ext>
              </a:extLst>
            </p:cNvPr>
            <p:cNvSpPr/>
            <p:nvPr/>
          </p:nvSpPr>
          <p:spPr>
            <a:xfrm>
              <a:off x="2396343"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C1BED38-1819-4A2B-8484-7C425C250880}"/>
                </a:ext>
              </a:extLst>
            </p:cNvPr>
            <p:cNvSpPr/>
            <p:nvPr/>
          </p:nvSpPr>
          <p:spPr>
            <a:xfrm>
              <a:off x="2671483"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5" name="正方形/長方形 14">
              <a:extLst>
                <a:ext uri="{FF2B5EF4-FFF2-40B4-BE49-F238E27FC236}">
                  <a16:creationId xmlns:a16="http://schemas.microsoft.com/office/drawing/2014/main" id="{1F21447F-11D4-4D2B-A235-293BDA64B3BD}"/>
                </a:ext>
              </a:extLst>
            </p:cNvPr>
            <p:cNvSpPr/>
            <p:nvPr/>
          </p:nvSpPr>
          <p:spPr>
            <a:xfrm>
              <a:off x="3523129"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FDC2232C-EF49-4DFD-912A-E473FB5FF83B}"/>
                </a:ext>
              </a:extLst>
            </p:cNvPr>
            <p:cNvSpPr txBox="1"/>
            <p:nvPr/>
          </p:nvSpPr>
          <p:spPr>
            <a:xfrm>
              <a:off x="2594605"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17" name="正方形/長方形 16">
              <a:extLst>
                <a:ext uri="{FF2B5EF4-FFF2-40B4-BE49-F238E27FC236}">
                  <a16:creationId xmlns:a16="http://schemas.microsoft.com/office/drawing/2014/main" id="{40B711E4-9C0D-4585-B20C-E708EA59CD6D}"/>
                </a:ext>
              </a:extLst>
            </p:cNvPr>
            <p:cNvSpPr/>
            <p:nvPr/>
          </p:nvSpPr>
          <p:spPr>
            <a:xfrm>
              <a:off x="4203781"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A1144D5B-9DC4-4808-8F15-4CE303A43805}"/>
                </a:ext>
              </a:extLst>
            </p:cNvPr>
            <p:cNvSpPr/>
            <p:nvPr/>
          </p:nvSpPr>
          <p:spPr>
            <a:xfrm>
              <a:off x="4478921"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9" name="正方形/長方形 18">
              <a:extLst>
                <a:ext uri="{FF2B5EF4-FFF2-40B4-BE49-F238E27FC236}">
                  <a16:creationId xmlns:a16="http://schemas.microsoft.com/office/drawing/2014/main" id="{66E5488C-7D0F-482B-BE14-0D7629552BF5}"/>
                </a:ext>
              </a:extLst>
            </p:cNvPr>
            <p:cNvSpPr/>
            <p:nvPr/>
          </p:nvSpPr>
          <p:spPr>
            <a:xfrm>
              <a:off x="5330567"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D91D26B3-4A41-4827-A286-78871B06E54A}"/>
                </a:ext>
              </a:extLst>
            </p:cNvPr>
            <p:cNvSpPr txBox="1"/>
            <p:nvPr/>
          </p:nvSpPr>
          <p:spPr>
            <a:xfrm>
              <a:off x="4402043"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21" name="正方形/長方形 20">
              <a:extLst>
                <a:ext uri="{FF2B5EF4-FFF2-40B4-BE49-F238E27FC236}">
                  <a16:creationId xmlns:a16="http://schemas.microsoft.com/office/drawing/2014/main" id="{B029E18D-FB6D-45C3-BD0B-4D62E6AA5965}"/>
                </a:ext>
              </a:extLst>
            </p:cNvPr>
            <p:cNvSpPr/>
            <p:nvPr/>
          </p:nvSpPr>
          <p:spPr>
            <a:xfrm>
              <a:off x="5874649"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E48EBA1A-A292-434C-83D0-767E8E068E4C}"/>
                </a:ext>
              </a:extLst>
            </p:cNvPr>
            <p:cNvSpPr/>
            <p:nvPr/>
          </p:nvSpPr>
          <p:spPr>
            <a:xfrm>
              <a:off x="6149789"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23" name="正方形/長方形 22">
              <a:extLst>
                <a:ext uri="{FF2B5EF4-FFF2-40B4-BE49-F238E27FC236}">
                  <a16:creationId xmlns:a16="http://schemas.microsoft.com/office/drawing/2014/main" id="{D9AB7187-1398-46FF-A7C2-C330615C73EA}"/>
                </a:ext>
              </a:extLst>
            </p:cNvPr>
            <p:cNvSpPr/>
            <p:nvPr/>
          </p:nvSpPr>
          <p:spPr>
            <a:xfrm>
              <a:off x="7001435"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1190C8A0-9DD0-445F-9CB0-544D5302F130}"/>
                </a:ext>
              </a:extLst>
            </p:cNvPr>
            <p:cNvSpPr txBox="1"/>
            <p:nvPr/>
          </p:nvSpPr>
          <p:spPr>
            <a:xfrm>
              <a:off x="6072911"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25" name="正方形/長方形 24">
              <a:extLst>
                <a:ext uri="{FF2B5EF4-FFF2-40B4-BE49-F238E27FC236}">
                  <a16:creationId xmlns:a16="http://schemas.microsoft.com/office/drawing/2014/main" id="{9A617321-1A06-42EE-A600-6729A3E60DCB}"/>
                </a:ext>
              </a:extLst>
            </p:cNvPr>
            <p:cNvSpPr/>
            <p:nvPr/>
          </p:nvSpPr>
          <p:spPr>
            <a:xfrm>
              <a:off x="7542085"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73774D3E-E4C9-4C33-902B-4659C28E3DA0}"/>
                </a:ext>
              </a:extLst>
            </p:cNvPr>
            <p:cNvSpPr/>
            <p:nvPr/>
          </p:nvSpPr>
          <p:spPr>
            <a:xfrm>
              <a:off x="7817225"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27" name="正方形/長方形 26">
              <a:extLst>
                <a:ext uri="{FF2B5EF4-FFF2-40B4-BE49-F238E27FC236}">
                  <a16:creationId xmlns:a16="http://schemas.microsoft.com/office/drawing/2014/main" id="{FF78D9A4-AC45-44DB-8378-F6F85C1334F6}"/>
                </a:ext>
              </a:extLst>
            </p:cNvPr>
            <p:cNvSpPr/>
            <p:nvPr/>
          </p:nvSpPr>
          <p:spPr>
            <a:xfrm>
              <a:off x="8668871"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E0E1B492-97F7-4644-A221-C5D56E6BBEA1}"/>
                </a:ext>
              </a:extLst>
            </p:cNvPr>
            <p:cNvSpPr txBox="1"/>
            <p:nvPr/>
          </p:nvSpPr>
          <p:spPr>
            <a:xfrm>
              <a:off x="7740347"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cxnSp>
          <p:nvCxnSpPr>
            <p:cNvPr id="5" name="直線矢印コネクタ 4">
              <a:extLst>
                <a:ext uri="{FF2B5EF4-FFF2-40B4-BE49-F238E27FC236}">
                  <a16:creationId xmlns:a16="http://schemas.microsoft.com/office/drawing/2014/main" id="{D0B0CA38-67AE-4D96-AE76-3FFD8B6D7143}"/>
                </a:ext>
              </a:extLst>
            </p:cNvPr>
            <p:cNvCxnSpPr>
              <a:cxnSpLocks/>
              <a:stCxn id="12" idx="3"/>
              <a:endCxn id="16" idx="1"/>
            </p:cNvCxnSpPr>
            <p:nvPr/>
          </p:nvCxnSpPr>
          <p:spPr>
            <a:xfrm>
              <a:off x="1771208" y="3106268"/>
              <a:ext cx="823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621A2F69-F02E-4A71-B289-C12E24CCBE50}"/>
                </a:ext>
              </a:extLst>
            </p:cNvPr>
            <p:cNvCxnSpPr>
              <a:cxnSpLocks/>
              <a:stCxn id="16" idx="3"/>
              <a:endCxn id="20" idx="1"/>
            </p:cNvCxnSpPr>
            <p:nvPr/>
          </p:nvCxnSpPr>
          <p:spPr>
            <a:xfrm>
              <a:off x="3600008" y="3106268"/>
              <a:ext cx="8020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9FF6FCA8-B9E5-41BE-B561-F21B282C4196}"/>
                </a:ext>
              </a:extLst>
            </p:cNvPr>
            <p:cNvCxnSpPr>
              <a:cxnSpLocks/>
              <a:stCxn id="20" idx="3"/>
              <a:endCxn id="24" idx="1"/>
            </p:cNvCxnSpPr>
            <p:nvPr/>
          </p:nvCxnSpPr>
          <p:spPr>
            <a:xfrm>
              <a:off x="5407446" y="3106268"/>
              <a:ext cx="6654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AAD9D19A-6A84-435F-A25D-F2BB6D42659E}"/>
                </a:ext>
              </a:extLst>
            </p:cNvPr>
            <p:cNvCxnSpPr>
              <a:cxnSpLocks/>
              <a:stCxn id="24" idx="3"/>
              <a:endCxn id="28" idx="1"/>
            </p:cNvCxnSpPr>
            <p:nvPr/>
          </p:nvCxnSpPr>
          <p:spPr>
            <a:xfrm>
              <a:off x="7078314" y="3106268"/>
              <a:ext cx="6620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643ADFB4-AB17-498C-BD7E-6F566208E1F4}"/>
                </a:ext>
              </a:extLst>
            </p:cNvPr>
            <p:cNvSpPr txBox="1"/>
            <p:nvPr/>
          </p:nvSpPr>
          <p:spPr>
            <a:xfrm>
              <a:off x="439830" y="2037090"/>
              <a:ext cx="1826141" cy="338554"/>
            </a:xfrm>
            <a:prstGeom prst="rect">
              <a:avLst/>
            </a:prstGeom>
            <a:noFill/>
          </p:spPr>
          <p:txBody>
            <a:bodyPr wrap="none" rtlCol="0">
              <a:spAutoFit/>
            </a:bodyPr>
            <a:lstStyle/>
            <a:p>
              <a:r>
                <a:rPr lang="ja-JP" altLang="en-US" sz="1600" dirty="0"/>
                <a:t>リストのイメージ</a:t>
              </a:r>
              <a:endParaRPr lang="en-US" altLang="ja-JP" sz="1600" dirty="0"/>
            </a:p>
          </p:txBody>
        </p:sp>
      </p:grpSp>
      <p:pic>
        <p:nvPicPr>
          <p:cNvPr id="42" name="図 41">
            <a:extLst>
              <a:ext uri="{FF2B5EF4-FFF2-40B4-BE49-F238E27FC236}">
                <a16:creationId xmlns:a16="http://schemas.microsoft.com/office/drawing/2014/main" id="{593FD159-EC53-44C0-B6EE-0F1782185BA7}"/>
              </a:ext>
            </a:extLst>
          </p:cNvPr>
          <p:cNvPicPr>
            <a:picLocks noChangeAspect="1"/>
          </p:cNvPicPr>
          <p:nvPr/>
        </p:nvPicPr>
        <p:blipFill>
          <a:blip r:embed="rId2"/>
          <a:stretch>
            <a:fillRect/>
          </a:stretch>
        </p:blipFill>
        <p:spPr>
          <a:xfrm>
            <a:off x="657946" y="1776418"/>
            <a:ext cx="6601746" cy="609685"/>
          </a:xfrm>
          <a:prstGeom prst="rect">
            <a:avLst/>
          </a:prstGeom>
        </p:spPr>
      </p:pic>
    </p:spTree>
    <p:extLst>
      <p:ext uri="{BB962C8B-B14F-4D97-AF65-F5344CB8AC3E}">
        <p14:creationId xmlns:p14="http://schemas.microsoft.com/office/powerpoint/2010/main" val="676619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オブジェクトプール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461665"/>
          </a:xfrm>
          <a:prstGeom prst="rect">
            <a:avLst/>
          </a:prstGeom>
          <a:noFill/>
        </p:spPr>
        <p:txBody>
          <a:bodyPr wrap="none" rtlCol="0">
            <a:spAutoFit/>
          </a:bodyPr>
          <a:lstStyle/>
          <a:p>
            <a:r>
              <a:rPr lang="ja-JP" altLang="en-US" sz="2400" dirty="0"/>
              <a:t>発射されて寿命が尽きたバレットは</a:t>
            </a:r>
            <a:r>
              <a:rPr lang="ja-JP" altLang="en-US" sz="2400" b="1" dirty="0">
                <a:solidFill>
                  <a:srgbClr val="FF0000"/>
                </a:solidFill>
              </a:rPr>
              <a:t>非アクティブ</a:t>
            </a:r>
            <a:r>
              <a:rPr lang="ja-JP" altLang="en-US" sz="2400" dirty="0"/>
              <a:t>となります。</a:t>
            </a:r>
            <a:endParaRPr lang="en-US" altLang="ja-JP" sz="2400" dirty="0"/>
          </a:p>
        </p:txBody>
      </p:sp>
      <p:grpSp>
        <p:nvGrpSpPr>
          <p:cNvPr id="40" name="グループ化 39">
            <a:extLst>
              <a:ext uri="{FF2B5EF4-FFF2-40B4-BE49-F238E27FC236}">
                <a16:creationId xmlns:a16="http://schemas.microsoft.com/office/drawing/2014/main" id="{7F9B7CA2-E34F-4AF9-BE49-9560655E041E}"/>
              </a:ext>
            </a:extLst>
          </p:cNvPr>
          <p:cNvGrpSpPr/>
          <p:nvPr/>
        </p:nvGrpSpPr>
        <p:grpSpPr>
          <a:xfrm>
            <a:off x="567542" y="4566243"/>
            <a:ext cx="8504181" cy="1799803"/>
            <a:chOff x="439830" y="2037090"/>
            <a:chExt cx="8504181" cy="1799803"/>
          </a:xfrm>
        </p:grpSpPr>
        <p:sp>
          <p:nvSpPr>
            <p:cNvPr id="2" name="正方形/長方形 1">
              <a:extLst>
                <a:ext uri="{FF2B5EF4-FFF2-40B4-BE49-F238E27FC236}">
                  <a16:creationId xmlns:a16="http://schemas.microsoft.com/office/drawing/2014/main" id="{620AF1CD-DF1C-4AC9-9D14-B555486B1B40}"/>
                </a:ext>
              </a:extLst>
            </p:cNvPr>
            <p:cNvSpPr/>
            <p:nvPr/>
          </p:nvSpPr>
          <p:spPr>
            <a:xfrm>
              <a:off x="567543"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0318EDF-2B8B-44AF-B9F8-BEFCC893ED99}"/>
                </a:ext>
              </a:extLst>
            </p:cNvPr>
            <p:cNvSpPr/>
            <p:nvPr/>
          </p:nvSpPr>
          <p:spPr>
            <a:xfrm>
              <a:off x="842683"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1" name="正方形/長方形 10">
              <a:extLst>
                <a:ext uri="{FF2B5EF4-FFF2-40B4-BE49-F238E27FC236}">
                  <a16:creationId xmlns:a16="http://schemas.microsoft.com/office/drawing/2014/main" id="{F5514D1D-647D-4BC3-8C92-BDD761E078C0}"/>
                </a:ext>
              </a:extLst>
            </p:cNvPr>
            <p:cNvSpPr/>
            <p:nvPr/>
          </p:nvSpPr>
          <p:spPr>
            <a:xfrm>
              <a:off x="1694329"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6921238-FA20-42CE-9D50-C0C005AD7D60}"/>
                </a:ext>
              </a:extLst>
            </p:cNvPr>
            <p:cNvSpPr txBox="1"/>
            <p:nvPr/>
          </p:nvSpPr>
          <p:spPr>
            <a:xfrm>
              <a:off x="765805"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13" name="正方形/長方形 12">
              <a:extLst>
                <a:ext uri="{FF2B5EF4-FFF2-40B4-BE49-F238E27FC236}">
                  <a16:creationId xmlns:a16="http://schemas.microsoft.com/office/drawing/2014/main" id="{C49B3CFA-BB47-4ADC-BB6D-B4B2197F8126}"/>
                </a:ext>
              </a:extLst>
            </p:cNvPr>
            <p:cNvSpPr/>
            <p:nvPr/>
          </p:nvSpPr>
          <p:spPr>
            <a:xfrm>
              <a:off x="2396343"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C1BED38-1819-4A2B-8484-7C425C250880}"/>
                </a:ext>
              </a:extLst>
            </p:cNvPr>
            <p:cNvSpPr/>
            <p:nvPr/>
          </p:nvSpPr>
          <p:spPr>
            <a:xfrm>
              <a:off x="2671483"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5" name="正方形/長方形 14">
              <a:extLst>
                <a:ext uri="{FF2B5EF4-FFF2-40B4-BE49-F238E27FC236}">
                  <a16:creationId xmlns:a16="http://schemas.microsoft.com/office/drawing/2014/main" id="{1F21447F-11D4-4D2B-A235-293BDA64B3BD}"/>
                </a:ext>
              </a:extLst>
            </p:cNvPr>
            <p:cNvSpPr/>
            <p:nvPr/>
          </p:nvSpPr>
          <p:spPr>
            <a:xfrm>
              <a:off x="3523129"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FDC2232C-EF49-4DFD-912A-E473FB5FF83B}"/>
                </a:ext>
              </a:extLst>
            </p:cNvPr>
            <p:cNvSpPr txBox="1"/>
            <p:nvPr/>
          </p:nvSpPr>
          <p:spPr>
            <a:xfrm>
              <a:off x="2594605"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17" name="正方形/長方形 16">
              <a:extLst>
                <a:ext uri="{FF2B5EF4-FFF2-40B4-BE49-F238E27FC236}">
                  <a16:creationId xmlns:a16="http://schemas.microsoft.com/office/drawing/2014/main" id="{40B711E4-9C0D-4585-B20C-E708EA59CD6D}"/>
                </a:ext>
              </a:extLst>
            </p:cNvPr>
            <p:cNvSpPr/>
            <p:nvPr/>
          </p:nvSpPr>
          <p:spPr>
            <a:xfrm>
              <a:off x="4203781"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A1144D5B-9DC4-4808-8F15-4CE303A43805}"/>
                </a:ext>
              </a:extLst>
            </p:cNvPr>
            <p:cNvSpPr/>
            <p:nvPr/>
          </p:nvSpPr>
          <p:spPr>
            <a:xfrm>
              <a:off x="4478921"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9" name="正方形/長方形 18">
              <a:extLst>
                <a:ext uri="{FF2B5EF4-FFF2-40B4-BE49-F238E27FC236}">
                  <a16:creationId xmlns:a16="http://schemas.microsoft.com/office/drawing/2014/main" id="{66E5488C-7D0F-482B-BE14-0D7629552BF5}"/>
                </a:ext>
              </a:extLst>
            </p:cNvPr>
            <p:cNvSpPr/>
            <p:nvPr/>
          </p:nvSpPr>
          <p:spPr>
            <a:xfrm>
              <a:off x="5330567"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D91D26B3-4A41-4827-A286-78871B06E54A}"/>
                </a:ext>
              </a:extLst>
            </p:cNvPr>
            <p:cNvSpPr txBox="1"/>
            <p:nvPr/>
          </p:nvSpPr>
          <p:spPr>
            <a:xfrm>
              <a:off x="4402043"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21" name="正方形/長方形 20">
              <a:extLst>
                <a:ext uri="{FF2B5EF4-FFF2-40B4-BE49-F238E27FC236}">
                  <a16:creationId xmlns:a16="http://schemas.microsoft.com/office/drawing/2014/main" id="{B029E18D-FB6D-45C3-BD0B-4D62E6AA5965}"/>
                </a:ext>
              </a:extLst>
            </p:cNvPr>
            <p:cNvSpPr/>
            <p:nvPr/>
          </p:nvSpPr>
          <p:spPr>
            <a:xfrm>
              <a:off x="5874649"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E48EBA1A-A292-434C-83D0-767E8E068E4C}"/>
                </a:ext>
              </a:extLst>
            </p:cNvPr>
            <p:cNvSpPr/>
            <p:nvPr/>
          </p:nvSpPr>
          <p:spPr>
            <a:xfrm>
              <a:off x="6149789"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23" name="正方形/長方形 22">
              <a:extLst>
                <a:ext uri="{FF2B5EF4-FFF2-40B4-BE49-F238E27FC236}">
                  <a16:creationId xmlns:a16="http://schemas.microsoft.com/office/drawing/2014/main" id="{D9AB7187-1398-46FF-A7C2-C330615C73EA}"/>
                </a:ext>
              </a:extLst>
            </p:cNvPr>
            <p:cNvSpPr/>
            <p:nvPr/>
          </p:nvSpPr>
          <p:spPr>
            <a:xfrm>
              <a:off x="7001435"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1190C8A0-9DD0-445F-9CB0-544D5302F130}"/>
                </a:ext>
              </a:extLst>
            </p:cNvPr>
            <p:cNvSpPr txBox="1"/>
            <p:nvPr/>
          </p:nvSpPr>
          <p:spPr>
            <a:xfrm>
              <a:off x="6072911"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25" name="正方形/長方形 24">
              <a:extLst>
                <a:ext uri="{FF2B5EF4-FFF2-40B4-BE49-F238E27FC236}">
                  <a16:creationId xmlns:a16="http://schemas.microsoft.com/office/drawing/2014/main" id="{9A617321-1A06-42EE-A600-6729A3E60DCB}"/>
                </a:ext>
              </a:extLst>
            </p:cNvPr>
            <p:cNvSpPr/>
            <p:nvPr/>
          </p:nvSpPr>
          <p:spPr>
            <a:xfrm>
              <a:off x="7542085"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73774D3E-E4C9-4C33-902B-4659C28E3DA0}"/>
                </a:ext>
              </a:extLst>
            </p:cNvPr>
            <p:cNvSpPr/>
            <p:nvPr/>
          </p:nvSpPr>
          <p:spPr>
            <a:xfrm>
              <a:off x="7817225"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27" name="正方形/長方形 26">
              <a:extLst>
                <a:ext uri="{FF2B5EF4-FFF2-40B4-BE49-F238E27FC236}">
                  <a16:creationId xmlns:a16="http://schemas.microsoft.com/office/drawing/2014/main" id="{FF78D9A4-AC45-44DB-8378-F6F85C1334F6}"/>
                </a:ext>
              </a:extLst>
            </p:cNvPr>
            <p:cNvSpPr/>
            <p:nvPr/>
          </p:nvSpPr>
          <p:spPr>
            <a:xfrm>
              <a:off x="8668871"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E0E1B492-97F7-4644-A221-C5D56E6BBEA1}"/>
                </a:ext>
              </a:extLst>
            </p:cNvPr>
            <p:cNvSpPr txBox="1"/>
            <p:nvPr/>
          </p:nvSpPr>
          <p:spPr>
            <a:xfrm>
              <a:off x="7740347"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cxnSp>
          <p:nvCxnSpPr>
            <p:cNvPr id="5" name="直線矢印コネクタ 4">
              <a:extLst>
                <a:ext uri="{FF2B5EF4-FFF2-40B4-BE49-F238E27FC236}">
                  <a16:creationId xmlns:a16="http://schemas.microsoft.com/office/drawing/2014/main" id="{D0B0CA38-67AE-4D96-AE76-3FFD8B6D7143}"/>
                </a:ext>
              </a:extLst>
            </p:cNvPr>
            <p:cNvCxnSpPr>
              <a:cxnSpLocks/>
              <a:stCxn id="12" idx="3"/>
              <a:endCxn id="16" idx="1"/>
            </p:cNvCxnSpPr>
            <p:nvPr/>
          </p:nvCxnSpPr>
          <p:spPr>
            <a:xfrm>
              <a:off x="1771208" y="3106268"/>
              <a:ext cx="823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621A2F69-F02E-4A71-B289-C12E24CCBE50}"/>
                </a:ext>
              </a:extLst>
            </p:cNvPr>
            <p:cNvCxnSpPr>
              <a:cxnSpLocks/>
              <a:stCxn id="16" idx="3"/>
              <a:endCxn id="20" idx="1"/>
            </p:cNvCxnSpPr>
            <p:nvPr/>
          </p:nvCxnSpPr>
          <p:spPr>
            <a:xfrm>
              <a:off x="3600008" y="3106268"/>
              <a:ext cx="8020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9FF6FCA8-B9E5-41BE-B561-F21B282C4196}"/>
                </a:ext>
              </a:extLst>
            </p:cNvPr>
            <p:cNvCxnSpPr>
              <a:cxnSpLocks/>
              <a:stCxn id="20" idx="3"/>
              <a:endCxn id="24" idx="1"/>
            </p:cNvCxnSpPr>
            <p:nvPr/>
          </p:nvCxnSpPr>
          <p:spPr>
            <a:xfrm>
              <a:off x="5407446" y="3106268"/>
              <a:ext cx="6654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AAD9D19A-6A84-435F-A25D-F2BB6D42659E}"/>
                </a:ext>
              </a:extLst>
            </p:cNvPr>
            <p:cNvCxnSpPr>
              <a:cxnSpLocks/>
              <a:stCxn id="24" idx="3"/>
              <a:endCxn id="28" idx="1"/>
            </p:cNvCxnSpPr>
            <p:nvPr/>
          </p:nvCxnSpPr>
          <p:spPr>
            <a:xfrm>
              <a:off x="7078314" y="3106268"/>
              <a:ext cx="6620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643ADFB4-AB17-498C-BD7E-6F566208E1F4}"/>
                </a:ext>
              </a:extLst>
            </p:cNvPr>
            <p:cNvSpPr txBox="1"/>
            <p:nvPr/>
          </p:nvSpPr>
          <p:spPr>
            <a:xfrm>
              <a:off x="439830" y="2037090"/>
              <a:ext cx="1826141" cy="338554"/>
            </a:xfrm>
            <a:prstGeom prst="rect">
              <a:avLst/>
            </a:prstGeom>
            <a:noFill/>
          </p:spPr>
          <p:txBody>
            <a:bodyPr wrap="none" rtlCol="0">
              <a:spAutoFit/>
            </a:bodyPr>
            <a:lstStyle/>
            <a:p>
              <a:r>
                <a:rPr lang="ja-JP" altLang="en-US" sz="1600" dirty="0"/>
                <a:t>リストのイメージ</a:t>
              </a:r>
              <a:endParaRPr lang="en-US" altLang="ja-JP" sz="1600" dirty="0"/>
            </a:p>
          </p:txBody>
        </p:sp>
      </p:grpSp>
      <p:pic>
        <p:nvPicPr>
          <p:cNvPr id="31" name="図 30">
            <a:extLst>
              <a:ext uri="{FF2B5EF4-FFF2-40B4-BE49-F238E27FC236}">
                <a16:creationId xmlns:a16="http://schemas.microsoft.com/office/drawing/2014/main" id="{EF52078C-B16F-4987-90F5-9EF0CF2C1528}"/>
              </a:ext>
            </a:extLst>
          </p:cNvPr>
          <p:cNvPicPr>
            <a:picLocks noChangeAspect="1"/>
          </p:cNvPicPr>
          <p:nvPr/>
        </p:nvPicPr>
        <p:blipFill>
          <a:blip r:embed="rId2"/>
          <a:stretch>
            <a:fillRect/>
          </a:stretch>
        </p:blipFill>
        <p:spPr>
          <a:xfrm>
            <a:off x="636304" y="1814812"/>
            <a:ext cx="4977096" cy="2595099"/>
          </a:xfrm>
          <a:prstGeom prst="rect">
            <a:avLst/>
          </a:prstGeom>
        </p:spPr>
      </p:pic>
      <p:sp>
        <p:nvSpPr>
          <p:cNvPr id="32" name="テキスト ボックス 31">
            <a:extLst>
              <a:ext uri="{FF2B5EF4-FFF2-40B4-BE49-F238E27FC236}">
                <a16:creationId xmlns:a16="http://schemas.microsoft.com/office/drawing/2014/main" id="{03475B52-2124-4363-8F59-D31E4FCE3258}"/>
              </a:ext>
            </a:extLst>
          </p:cNvPr>
          <p:cNvSpPr txBox="1"/>
          <p:nvPr/>
        </p:nvSpPr>
        <p:spPr>
          <a:xfrm>
            <a:off x="2978796" y="4954639"/>
            <a:ext cx="492443" cy="461665"/>
          </a:xfrm>
          <a:prstGeom prst="rect">
            <a:avLst/>
          </a:prstGeom>
          <a:noFill/>
        </p:spPr>
        <p:txBody>
          <a:bodyPr wrap="none" rtlCol="0">
            <a:spAutoFit/>
          </a:bodyPr>
          <a:lstStyle/>
          <a:p>
            <a:r>
              <a:rPr lang="ja-JP" altLang="en-US" sz="2400" b="1" dirty="0">
                <a:solidFill>
                  <a:srgbClr val="FF0000"/>
                </a:solidFill>
              </a:rPr>
              <a:t>非</a:t>
            </a:r>
            <a:endParaRPr lang="en-US" altLang="ja-JP" sz="2400" b="1" dirty="0">
              <a:solidFill>
                <a:srgbClr val="FF0000"/>
              </a:solidFill>
            </a:endParaRPr>
          </a:p>
        </p:txBody>
      </p:sp>
    </p:spTree>
    <p:extLst>
      <p:ext uri="{BB962C8B-B14F-4D97-AF65-F5344CB8AC3E}">
        <p14:creationId xmlns:p14="http://schemas.microsoft.com/office/powerpoint/2010/main" val="3634161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オブジェクトプール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830997"/>
          </a:xfrm>
          <a:prstGeom prst="rect">
            <a:avLst/>
          </a:prstGeom>
          <a:noFill/>
        </p:spPr>
        <p:txBody>
          <a:bodyPr wrap="none" rtlCol="0">
            <a:spAutoFit/>
          </a:bodyPr>
          <a:lstStyle/>
          <a:p>
            <a:r>
              <a:rPr lang="ja-JP" altLang="en-US" sz="2400" dirty="0"/>
              <a:t>バレットを発射するときに、</a:t>
            </a:r>
            <a:r>
              <a:rPr lang="ja-JP" altLang="en-US" sz="2400" b="1" dirty="0">
                <a:solidFill>
                  <a:srgbClr val="FF0000"/>
                </a:solidFill>
              </a:rPr>
              <a:t>非アクティブのバレットがあれば、</a:t>
            </a:r>
            <a:endParaRPr lang="en-US" altLang="ja-JP" sz="2400" b="1" dirty="0">
              <a:solidFill>
                <a:srgbClr val="FF0000"/>
              </a:solidFill>
            </a:endParaRPr>
          </a:p>
          <a:p>
            <a:r>
              <a:rPr lang="ja-JP" altLang="en-US" sz="2400" b="1" dirty="0">
                <a:solidFill>
                  <a:srgbClr val="FF0000"/>
                </a:solidFill>
              </a:rPr>
              <a:t>そのバレットを使いまわします。</a:t>
            </a:r>
            <a:endParaRPr lang="en-US" altLang="ja-JP" sz="2400" b="1" dirty="0">
              <a:solidFill>
                <a:srgbClr val="FF0000"/>
              </a:solidFill>
            </a:endParaRPr>
          </a:p>
        </p:txBody>
      </p:sp>
      <p:grpSp>
        <p:nvGrpSpPr>
          <p:cNvPr id="40" name="グループ化 39">
            <a:extLst>
              <a:ext uri="{FF2B5EF4-FFF2-40B4-BE49-F238E27FC236}">
                <a16:creationId xmlns:a16="http://schemas.microsoft.com/office/drawing/2014/main" id="{7F9B7CA2-E34F-4AF9-BE49-9560655E041E}"/>
              </a:ext>
            </a:extLst>
          </p:cNvPr>
          <p:cNvGrpSpPr/>
          <p:nvPr/>
        </p:nvGrpSpPr>
        <p:grpSpPr>
          <a:xfrm>
            <a:off x="567542" y="4566243"/>
            <a:ext cx="8504181" cy="1799803"/>
            <a:chOff x="439830" y="2037090"/>
            <a:chExt cx="8504181" cy="1799803"/>
          </a:xfrm>
        </p:grpSpPr>
        <p:sp>
          <p:nvSpPr>
            <p:cNvPr id="2" name="正方形/長方形 1">
              <a:extLst>
                <a:ext uri="{FF2B5EF4-FFF2-40B4-BE49-F238E27FC236}">
                  <a16:creationId xmlns:a16="http://schemas.microsoft.com/office/drawing/2014/main" id="{620AF1CD-DF1C-4AC9-9D14-B555486B1B40}"/>
                </a:ext>
              </a:extLst>
            </p:cNvPr>
            <p:cNvSpPr/>
            <p:nvPr/>
          </p:nvSpPr>
          <p:spPr>
            <a:xfrm>
              <a:off x="567543"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0318EDF-2B8B-44AF-B9F8-BEFCC893ED99}"/>
                </a:ext>
              </a:extLst>
            </p:cNvPr>
            <p:cNvSpPr/>
            <p:nvPr/>
          </p:nvSpPr>
          <p:spPr>
            <a:xfrm>
              <a:off x="842683"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1" name="正方形/長方形 10">
              <a:extLst>
                <a:ext uri="{FF2B5EF4-FFF2-40B4-BE49-F238E27FC236}">
                  <a16:creationId xmlns:a16="http://schemas.microsoft.com/office/drawing/2014/main" id="{F5514D1D-647D-4BC3-8C92-BDD761E078C0}"/>
                </a:ext>
              </a:extLst>
            </p:cNvPr>
            <p:cNvSpPr/>
            <p:nvPr/>
          </p:nvSpPr>
          <p:spPr>
            <a:xfrm>
              <a:off x="1694329"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6921238-FA20-42CE-9D50-C0C005AD7D60}"/>
                </a:ext>
              </a:extLst>
            </p:cNvPr>
            <p:cNvSpPr txBox="1"/>
            <p:nvPr/>
          </p:nvSpPr>
          <p:spPr>
            <a:xfrm>
              <a:off x="765805"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13" name="正方形/長方形 12">
              <a:extLst>
                <a:ext uri="{FF2B5EF4-FFF2-40B4-BE49-F238E27FC236}">
                  <a16:creationId xmlns:a16="http://schemas.microsoft.com/office/drawing/2014/main" id="{C49B3CFA-BB47-4ADC-BB6D-B4B2197F8126}"/>
                </a:ext>
              </a:extLst>
            </p:cNvPr>
            <p:cNvSpPr/>
            <p:nvPr/>
          </p:nvSpPr>
          <p:spPr>
            <a:xfrm>
              <a:off x="2396343"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C1BED38-1819-4A2B-8484-7C425C250880}"/>
                </a:ext>
              </a:extLst>
            </p:cNvPr>
            <p:cNvSpPr/>
            <p:nvPr/>
          </p:nvSpPr>
          <p:spPr>
            <a:xfrm>
              <a:off x="2671483"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5" name="正方形/長方形 14">
              <a:extLst>
                <a:ext uri="{FF2B5EF4-FFF2-40B4-BE49-F238E27FC236}">
                  <a16:creationId xmlns:a16="http://schemas.microsoft.com/office/drawing/2014/main" id="{1F21447F-11D4-4D2B-A235-293BDA64B3BD}"/>
                </a:ext>
              </a:extLst>
            </p:cNvPr>
            <p:cNvSpPr/>
            <p:nvPr/>
          </p:nvSpPr>
          <p:spPr>
            <a:xfrm>
              <a:off x="3523129"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FDC2232C-EF49-4DFD-912A-E473FB5FF83B}"/>
                </a:ext>
              </a:extLst>
            </p:cNvPr>
            <p:cNvSpPr txBox="1"/>
            <p:nvPr/>
          </p:nvSpPr>
          <p:spPr>
            <a:xfrm>
              <a:off x="2594605"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17" name="正方形/長方形 16">
              <a:extLst>
                <a:ext uri="{FF2B5EF4-FFF2-40B4-BE49-F238E27FC236}">
                  <a16:creationId xmlns:a16="http://schemas.microsoft.com/office/drawing/2014/main" id="{40B711E4-9C0D-4585-B20C-E708EA59CD6D}"/>
                </a:ext>
              </a:extLst>
            </p:cNvPr>
            <p:cNvSpPr/>
            <p:nvPr/>
          </p:nvSpPr>
          <p:spPr>
            <a:xfrm>
              <a:off x="4203781"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A1144D5B-9DC4-4808-8F15-4CE303A43805}"/>
                </a:ext>
              </a:extLst>
            </p:cNvPr>
            <p:cNvSpPr/>
            <p:nvPr/>
          </p:nvSpPr>
          <p:spPr>
            <a:xfrm>
              <a:off x="4478921"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9" name="正方形/長方形 18">
              <a:extLst>
                <a:ext uri="{FF2B5EF4-FFF2-40B4-BE49-F238E27FC236}">
                  <a16:creationId xmlns:a16="http://schemas.microsoft.com/office/drawing/2014/main" id="{66E5488C-7D0F-482B-BE14-0D7629552BF5}"/>
                </a:ext>
              </a:extLst>
            </p:cNvPr>
            <p:cNvSpPr/>
            <p:nvPr/>
          </p:nvSpPr>
          <p:spPr>
            <a:xfrm>
              <a:off x="5330567"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D91D26B3-4A41-4827-A286-78871B06E54A}"/>
                </a:ext>
              </a:extLst>
            </p:cNvPr>
            <p:cNvSpPr txBox="1"/>
            <p:nvPr/>
          </p:nvSpPr>
          <p:spPr>
            <a:xfrm>
              <a:off x="4402043"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21" name="正方形/長方形 20">
              <a:extLst>
                <a:ext uri="{FF2B5EF4-FFF2-40B4-BE49-F238E27FC236}">
                  <a16:creationId xmlns:a16="http://schemas.microsoft.com/office/drawing/2014/main" id="{B029E18D-FB6D-45C3-BD0B-4D62E6AA5965}"/>
                </a:ext>
              </a:extLst>
            </p:cNvPr>
            <p:cNvSpPr/>
            <p:nvPr/>
          </p:nvSpPr>
          <p:spPr>
            <a:xfrm>
              <a:off x="5874649"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E48EBA1A-A292-434C-83D0-767E8E068E4C}"/>
                </a:ext>
              </a:extLst>
            </p:cNvPr>
            <p:cNvSpPr/>
            <p:nvPr/>
          </p:nvSpPr>
          <p:spPr>
            <a:xfrm>
              <a:off x="6149789"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23" name="正方形/長方形 22">
              <a:extLst>
                <a:ext uri="{FF2B5EF4-FFF2-40B4-BE49-F238E27FC236}">
                  <a16:creationId xmlns:a16="http://schemas.microsoft.com/office/drawing/2014/main" id="{D9AB7187-1398-46FF-A7C2-C330615C73EA}"/>
                </a:ext>
              </a:extLst>
            </p:cNvPr>
            <p:cNvSpPr/>
            <p:nvPr/>
          </p:nvSpPr>
          <p:spPr>
            <a:xfrm>
              <a:off x="7001435"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1190C8A0-9DD0-445F-9CB0-544D5302F130}"/>
                </a:ext>
              </a:extLst>
            </p:cNvPr>
            <p:cNvSpPr txBox="1"/>
            <p:nvPr/>
          </p:nvSpPr>
          <p:spPr>
            <a:xfrm>
              <a:off x="6072911"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25" name="正方形/長方形 24">
              <a:extLst>
                <a:ext uri="{FF2B5EF4-FFF2-40B4-BE49-F238E27FC236}">
                  <a16:creationId xmlns:a16="http://schemas.microsoft.com/office/drawing/2014/main" id="{9A617321-1A06-42EE-A600-6729A3E60DCB}"/>
                </a:ext>
              </a:extLst>
            </p:cNvPr>
            <p:cNvSpPr/>
            <p:nvPr/>
          </p:nvSpPr>
          <p:spPr>
            <a:xfrm>
              <a:off x="7542085"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73774D3E-E4C9-4C33-902B-4659C28E3DA0}"/>
                </a:ext>
              </a:extLst>
            </p:cNvPr>
            <p:cNvSpPr/>
            <p:nvPr/>
          </p:nvSpPr>
          <p:spPr>
            <a:xfrm>
              <a:off x="7817225"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27" name="正方形/長方形 26">
              <a:extLst>
                <a:ext uri="{FF2B5EF4-FFF2-40B4-BE49-F238E27FC236}">
                  <a16:creationId xmlns:a16="http://schemas.microsoft.com/office/drawing/2014/main" id="{FF78D9A4-AC45-44DB-8378-F6F85C1334F6}"/>
                </a:ext>
              </a:extLst>
            </p:cNvPr>
            <p:cNvSpPr/>
            <p:nvPr/>
          </p:nvSpPr>
          <p:spPr>
            <a:xfrm>
              <a:off x="8668871"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E0E1B492-97F7-4644-A221-C5D56E6BBEA1}"/>
                </a:ext>
              </a:extLst>
            </p:cNvPr>
            <p:cNvSpPr txBox="1"/>
            <p:nvPr/>
          </p:nvSpPr>
          <p:spPr>
            <a:xfrm>
              <a:off x="7740347"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cxnSp>
          <p:nvCxnSpPr>
            <p:cNvPr id="5" name="直線矢印コネクタ 4">
              <a:extLst>
                <a:ext uri="{FF2B5EF4-FFF2-40B4-BE49-F238E27FC236}">
                  <a16:creationId xmlns:a16="http://schemas.microsoft.com/office/drawing/2014/main" id="{D0B0CA38-67AE-4D96-AE76-3FFD8B6D7143}"/>
                </a:ext>
              </a:extLst>
            </p:cNvPr>
            <p:cNvCxnSpPr>
              <a:cxnSpLocks/>
              <a:stCxn id="12" idx="3"/>
              <a:endCxn id="16" idx="1"/>
            </p:cNvCxnSpPr>
            <p:nvPr/>
          </p:nvCxnSpPr>
          <p:spPr>
            <a:xfrm>
              <a:off x="1771208" y="3106268"/>
              <a:ext cx="823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621A2F69-F02E-4A71-B289-C12E24CCBE50}"/>
                </a:ext>
              </a:extLst>
            </p:cNvPr>
            <p:cNvCxnSpPr>
              <a:cxnSpLocks/>
              <a:stCxn id="16" idx="3"/>
              <a:endCxn id="20" idx="1"/>
            </p:cNvCxnSpPr>
            <p:nvPr/>
          </p:nvCxnSpPr>
          <p:spPr>
            <a:xfrm>
              <a:off x="3600008" y="3106268"/>
              <a:ext cx="8020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9FF6FCA8-B9E5-41BE-B561-F21B282C4196}"/>
                </a:ext>
              </a:extLst>
            </p:cNvPr>
            <p:cNvCxnSpPr>
              <a:cxnSpLocks/>
              <a:stCxn id="20" idx="3"/>
              <a:endCxn id="24" idx="1"/>
            </p:cNvCxnSpPr>
            <p:nvPr/>
          </p:nvCxnSpPr>
          <p:spPr>
            <a:xfrm>
              <a:off x="5407446" y="3106268"/>
              <a:ext cx="6654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AAD9D19A-6A84-435F-A25D-F2BB6D42659E}"/>
                </a:ext>
              </a:extLst>
            </p:cNvPr>
            <p:cNvCxnSpPr>
              <a:cxnSpLocks/>
              <a:stCxn id="24" idx="3"/>
              <a:endCxn id="28" idx="1"/>
            </p:cNvCxnSpPr>
            <p:nvPr/>
          </p:nvCxnSpPr>
          <p:spPr>
            <a:xfrm>
              <a:off x="7078314" y="3106268"/>
              <a:ext cx="6620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643ADFB4-AB17-498C-BD7E-6F566208E1F4}"/>
                </a:ext>
              </a:extLst>
            </p:cNvPr>
            <p:cNvSpPr txBox="1"/>
            <p:nvPr/>
          </p:nvSpPr>
          <p:spPr>
            <a:xfrm>
              <a:off x="439830" y="2037090"/>
              <a:ext cx="1826141" cy="338554"/>
            </a:xfrm>
            <a:prstGeom prst="rect">
              <a:avLst/>
            </a:prstGeom>
            <a:noFill/>
          </p:spPr>
          <p:txBody>
            <a:bodyPr wrap="none" rtlCol="0">
              <a:spAutoFit/>
            </a:bodyPr>
            <a:lstStyle/>
            <a:p>
              <a:r>
                <a:rPr lang="ja-JP" altLang="en-US" sz="1600" dirty="0"/>
                <a:t>リストのイメージ</a:t>
              </a:r>
              <a:endParaRPr lang="en-US" altLang="ja-JP" sz="1600" dirty="0"/>
            </a:p>
          </p:txBody>
        </p:sp>
      </p:grpSp>
      <p:sp>
        <p:nvSpPr>
          <p:cNvPr id="31" name="テキスト ボックス 30">
            <a:extLst>
              <a:ext uri="{FF2B5EF4-FFF2-40B4-BE49-F238E27FC236}">
                <a16:creationId xmlns:a16="http://schemas.microsoft.com/office/drawing/2014/main" id="{D817E9F6-C41E-48CC-8D1C-B4899A6F8BF7}"/>
              </a:ext>
            </a:extLst>
          </p:cNvPr>
          <p:cNvSpPr txBox="1"/>
          <p:nvPr/>
        </p:nvSpPr>
        <p:spPr>
          <a:xfrm>
            <a:off x="2756184" y="4939061"/>
            <a:ext cx="954107" cy="400110"/>
          </a:xfrm>
          <a:prstGeom prst="rect">
            <a:avLst/>
          </a:prstGeom>
          <a:noFill/>
        </p:spPr>
        <p:txBody>
          <a:bodyPr wrap="none" rtlCol="0">
            <a:spAutoFit/>
          </a:bodyPr>
          <a:lstStyle/>
          <a:p>
            <a:r>
              <a:rPr lang="ja-JP" altLang="en-US" sz="2000" b="1" dirty="0">
                <a:solidFill>
                  <a:srgbClr val="00B050"/>
                </a:solidFill>
              </a:rPr>
              <a:t>再利用</a:t>
            </a:r>
            <a:endParaRPr lang="en-US" altLang="ja-JP" sz="2000" b="1" dirty="0">
              <a:solidFill>
                <a:srgbClr val="00B050"/>
              </a:solidFill>
            </a:endParaRPr>
          </a:p>
        </p:txBody>
      </p:sp>
      <p:pic>
        <p:nvPicPr>
          <p:cNvPr id="8" name="図 7">
            <a:extLst>
              <a:ext uri="{FF2B5EF4-FFF2-40B4-BE49-F238E27FC236}">
                <a16:creationId xmlns:a16="http://schemas.microsoft.com/office/drawing/2014/main" id="{EA028E1F-12B9-4E09-9473-9A87302D7D74}"/>
              </a:ext>
            </a:extLst>
          </p:cNvPr>
          <p:cNvPicPr>
            <a:picLocks noChangeAspect="1"/>
          </p:cNvPicPr>
          <p:nvPr/>
        </p:nvPicPr>
        <p:blipFill>
          <a:blip r:embed="rId2"/>
          <a:stretch>
            <a:fillRect/>
          </a:stretch>
        </p:blipFill>
        <p:spPr>
          <a:xfrm>
            <a:off x="695256" y="2128618"/>
            <a:ext cx="5582246" cy="2340942"/>
          </a:xfrm>
          <a:prstGeom prst="rect">
            <a:avLst/>
          </a:prstGeom>
        </p:spPr>
      </p:pic>
    </p:spTree>
    <p:extLst>
      <p:ext uri="{BB962C8B-B14F-4D97-AF65-F5344CB8AC3E}">
        <p14:creationId xmlns:p14="http://schemas.microsoft.com/office/powerpoint/2010/main" val="2875537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オブジェクトプール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lang="ja-JP" altLang="en-US" sz="2400" dirty="0"/>
              <a:t>リストにあるバレットが</a:t>
            </a:r>
            <a:r>
              <a:rPr lang="ja-JP" altLang="en-US" sz="2400" b="1" dirty="0">
                <a:solidFill>
                  <a:srgbClr val="FF0000"/>
                </a:solidFill>
              </a:rPr>
              <a:t>すべてアクティブの場合</a:t>
            </a:r>
            <a:r>
              <a:rPr lang="ja-JP" altLang="en-US" sz="2400" dirty="0"/>
              <a:t>は、</a:t>
            </a:r>
            <a:endParaRPr lang="en-US" altLang="ja-JP" sz="2400" dirty="0"/>
          </a:p>
          <a:p>
            <a:r>
              <a:rPr lang="ja-JP" altLang="en-US" sz="2400" b="1" dirty="0">
                <a:solidFill>
                  <a:srgbClr val="FF0000"/>
                </a:solidFill>
              </a:rPr>
              <a:t>新しく生成してリストに追加</a:t>
            </a:r>
            <a:r>
              <a:rPr lang="ja-JP" altLang="en-US" sz="2400" dirty="0"/>
              <a:t>します。</a:t>
            </a:r>
            <a:endParaRPr lang="en-US" altLang="ja-JP" sz="2400" dirty="0"/>
          </a:p>
        </p:txBody>
      </p:sp>
      <p:grpSp>
        <p:nvGrpSpPr>
          <p:cNvPr id="40" name="グループ化 39">
            <a:extLst>
              <a:ext uri="{FF2B5EF4-FFF2-40B4-BE49-F238E27FC236}">
                <a16:creationId xmlns:a16="http://schemas.microsoft.com/office/drawing/2014/main" id="{7F9B7CA2-E34F-4AF9-BE49-9560655E041E}"/>
              </a:ext>
            </a:extLst>
          </p:cNvPr>
          <p:cNvGrpSpPr/>
          <p:nvPr/>
        </p:nvGrpSpPr>
        <p:grpSpPr>
          <a:xfrm>
            <a:off x="567542" y="4566243"/>
            <a:ext cx="8504181" cy="1799803"/>
            <a:chOff x="439830" y="2037090"/>
            <a:chExt cx="8504181" cy="1799803"/>
          </a:xfrm>
        </p:grpSpPr>
        <p:sp>
          <p:nvSpPr>
            <p:cNvPr id="2" name="正方形/長方形 1">
              <a:extLst>
                <a:ext uri="{FF2B5EF4-FFF2-40B4-BE49-F238E27FC236}">
                  <a16:creationId xmlns:a16="http://schemas.microsoft.com/office/drawing/2014/main" id="{620AF1CD-DF1C-4AC9-9D14-B555486B1B40}"/>
                </a:ext>
              </a:extLst>
            </p:cNvPr>
            <p:cNvSpPr/>
            <p:nvPr/>
          </p:nvSpPr>
          <p:spPr>
            <a:xfrm>
              <a:off x="567543"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0318EDF-2B8B-44AF-B9F8-BEFCC893ED99}"/>
                </a:ext>
              </a:extLst>
            </p:cNvPr>
            <p:cNvSpPr/>
            <p:nvPr/>
          </p:nvSpPr>
          <p:spPr>
            <a:xfrm>
              <a:off x="842683"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1" name="正方形/長方形 10">
              <a:extLst>
                <a:ext uri="{FF2B5EF4-FFF2-40B4-BE49-F238E27FC236}">
                  <a16:creationId xmlns:a16="http://schemas.microsoft.com/office/drawing/2014/main" id="{F5514D1D-647D-4BC3-8C92-BDD761E078C0}"/>
                </a:ext>
              </a:extLst>
            </p:cNvPr>
            <p:cNvSpPr/>
            <p:nvPr/>
          </p:nvSpPr>
          <p:spPr>
            <a:xfrm>
              <a:off x="1694329"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6921238-FA20-42CE-9D50-C0C005AD7D60}"/>
                </a:ext>
              </a:extLst>
            </p:cNvPr>
            <p:cNvSpPr txBox="1"/>
            <p:nvPr/>
          </p:nvSpPr>
          <p:spPr>
            <a:xfrm>
              <a:off x="765805"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13" name="正方形/長方形 12">
              <a:extLst>
                <a:ext uri="{FF2B5EF4-FFF2-40B4-BE49-F238E27FC236}">
                  <a16:creationId xmlns:a16="http://schemas.microsoft.com/office/drawing/2014/main" id="{C49B3CFA-BB47-4ADC-BB6D-B4B2197F8126}"/>
                </a:ext>
              </a:extLst>
            </p:cNvPr>
            <p:cNvSpPr/>
            <p:nvPr/>
          </p:nvSpPr>
          <p:spPr>
            <a:xfrm>
              <a:off x="2396343"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C1BED38-1819-4A2B-8484-7C425C250880}"/>
                </a:ext>
              </a:extLst>
            </p:cNvPr>
            <p:cNvSpPr/>
            <p:nvPr/>
          </p:nvSpPr>
          <p:spPr>
            <a:xfrm>
              <a:off x="2671483"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5" name="正方形/長方形 14">
              <a:extLst>
                <a:ext uri="{FF2B5EF4-FFF2-40B4-BE49-F238E27FC236}">
                  <a16:creationId xmlns:a16="http://schemas.microsoft.com/office/drawing/2014/main" id="{1F21447F-11D4-4D2B-A235-293BDA64B3BD}"/>
                </a:ext>
              </a:extLst>
            </p:cNvPr>
            <p:cNvSpPr/>
            <p:nvPr/>
          </p:nvSpPr>
          <p:spPr>
            <a:xfrm>
              <a:off x="3523129"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FDC2232C-EF49-4DFD-912A-E473FB5FF83B}"/>
                </a:ext>
              </a:extLst>
            </p:cNvPr>
            <p:cNvSpPr txBox="1"/>
            <p:nvPr/>
          </p:nvSpPr>
          <p:spPr>
            <a:xfrm>
              <a:off x="2594605"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17" name="正方形/長方形 16">
              <a:extLst>
                <a:ext uri="{FF2B5EF4-FFF2-40B4-BE49-F238E27FC236}">
                  <a16:creationId xmlns:a16="http://schemas.microsoft.com/office/drawing/2014/main" id="{40B711E4-9C0D-4585-B20C-E708EA59CD6D}"/>
                </a:ext>
              </a:extLst>
            </p:cNvPr>
            <p:cNvSpPr/>
            <p:nvPr/>
          </p:nvSpPr>
          <p:spPr>
            <a:xfrm>
              <a:off x="4203781"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A1144D5B-9DC4-4808-8F15-4CE303A43805}"/>
                </a:ext>
              </a:extLst>
            </p:cNvPr>
            <p:cNvSpPr/>
            <p:nvPr/>
          </p:nvSpPr>
          <p:spPr>
            <a:xfrm>
              <a:off x="4478921"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19" name="正方形/長方形 18">
              <a:extLst>
                <a:ext uri="{FF2B5EF4-FFF2-40B4-BE49-F238E27FC236}">
                  <a16:creationId xmlns:a16="http://schemas.microsoft.com/office/drawing/2014/main" id="{66E5488C-7D0F-482B-BE14-0D7629552BF5}"/>
                </a:ext>
              </a:extLst>
            </p:cNvPr>
            <p:cNvSpPr/>
            <p:nvPr/>
          </p:nvSpPr>
          <p:spPr>
            <a:xfrm>
              <a:off x="5330567"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D91D26B3-4A41-4827-A286-78871B06E54A}"/>
                </a:ext>
              </a:extLst>
            </p:cNvPr>
            <p:cNvSpPr txBox="1"/>
            <p:nvPr/>
          </p:nvSpPr>
          <p:spPr>
            <a:xfrm>
              <a:off x="4402043"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21" name="正方形/長方形 20">
              <a:extLst>
                <a:ext uri="{FF2B5EF4-FFF2-40B4-BE49-F238E27FC236}">
                  <a16:creationId xmlns:a16="http://schemas.microsoft.com/office/drawing/2014/main" id="{B029E18D-FB6D-45C3-BD0B-4D62E6AA5965}"/>
                </a:ext>
              </a:extLst>
            </p:cNvPr>
            <p:cNvSpPr/>
            <p:nvPr/>
          </p:nvSpPr>
          <p:spPr>
            <a:xfrm>
              <a:off x="5874649"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E48EBA1A-A292-434C-83D0-767E8E068E4C}"/>
                </a:ext>
              </a:extLst>
            </p:cNvPr>
            <p:cNvSpPr/>
            <p:nvPr/>
          </p:nvSpPr>
          <p:spPr>
            <a:xfrm>
              <a:off x="6149789"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23" name="正方形/長方形 22">
              <a:extLst>
                <a:ext uri="{FF2B5EF4-FFF2-40B4-BE49-F238E27FC236}">
                  <a16:creationId xmlns:a16="http://schemas.microsoft.com/office/drawing/2014/main" id="{D9AB7187-1398-46FF-A7C2-C330615C73EA}"/>
                </a:ext>
              </a:extLst>
            </p:cNvPr>
            <p:cNvSpPr/>
            <p:nvPr/>
          </p:nvSpPr>
          <p:spPr>
            <a:xfrm>
              <a:off x="7001435"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1190C8A0-9DD0-445F-9CB0-544D5302F130}"/>
                </a:ext>
              </a:extLst>
            </p:cNvPr>
            <p:cNvSpPr txBox="1"/>
            <p:nvPr/>
          </p:nvSpPr>
          <p:spPr>
            <a:xfrm>
              <a:off x="6072911"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sp>
          <p:nvSpPr>
            <p:cNvPr id="25" name="正方形/長方形 24">
              <a:extLst>
                <a:ext uri="{FF2B5EF4-FFF2-40B4-BE49-F238E27FC236}">
                  <a16:creationId xmlns:a16="http://schemas.microsoft.com/office/drawing/2014/main" id="{9A617321-1A06-42EE-A600-6729A3E60DCB}"/>
                </a:ext>
              </a:extLst>
            </p:cNvPr>
            <p:cNvSpPr/>
            <p:nvPr/>
          </p:nvSpPr>
          <p:spPr>
            <a:xfrm>
              <a:off x="7542085" y="2375646"/>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正方形/長方形 25">
              <a:extLst>
                <a:ext uri="{FF2B5EF4-FFF2-40B4-BE49-F238E27FC236}">
                  <a16:creationId xmlns:a16="http://schemas.microsoft.com/office/drawing/2014/main" id="{73774D3E-E4C9-4C33-902B-4659C28E3DA0}"/>
                </a:ext>
              </a:extLst>
            </p:cNvPr>
            <p:cNvSpPr/>
            <p:nvPr/>
          </p:nvSpPr>
          <p:spPr>
            <a:xfrm>
              <a:off x="7817225" y="2375645"/>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27" name="正方形/長方形 26">
              <a:extLst>
                <a:ext uri="{FF2B5EF4-FFF2-40B4-BE49-F238E27FC236}">
                  <a16:creationId xmlns:a16="http://schemas.microsoft.com/office/drawing/2014/main" id="{FF78D9A4-AC45-44DB-8378-F6F85C1334F6}"/>
                </a:ext>
              </a:extLst>
            </p:cNvPr>
            <p:cNvSpPr/>
            <p:nvPr/>
          </p:nvSpPr>
          <p:spPr>
            <a:xfrm>
              <a:off x="8668871" y="2375645"/>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E0E1B492-97F7-4644-A221-C5D56E6BBEA1}"/>
                </a:ext>
              </a:extLst>
            </p:cNvPr>
            <p:cNvSpPr txBox="1"/>
            <p:nvPr/>
          </p:nvSpPr>
          <p:spPr>
            <a:xfrm>
              <a:off x="7740347" y="2936991"/>
              <a:ext cx="1005403" cy="338554"/>
            </a:xfrm>
            <a:prstGeom prst="rect">
              <a:avLst/>
            </a:prstGeom>
            <a:noFill/>
          </p:spPr>
          <p:txBody>
            <a:bodyPr wrap="none" rtlCol="0">
              <a:spAutoFit/>
            </a:bodyPr>
            <a:lstStyle/>
            <a:p>
              <a:r>
                <a:rPr lang="ja-JP" altLang="en-US" sz="1600" dirty="0"/>
                <a:t>バレット</a:t>
              </a:r>
              <a:endParaRPr lang="en-US" altLang="ja-JP" sz="1600" dirty="0"/>
            </a:p>
          </p:txBody>
        </p:sp>
        <p:cxnSp>
          <p:nvCxnSpPr>
            <p:cNvPr id="5" name="直線矢印コネクタ 4">
              <a:extLst>
                <a:ext uri="{FF2B5EF4-FFF2-40B4-BE49-F238E27FC236}">
                  <a16:creationId xmlns:a16="http://schemas.microsoft.com/office/drawing/2014/main" id="{D0B0CA38-67AE-4D96-AE76-3FFD8B6D7143}"/>
                </a:ext>
              </a:extLst>
            </p:cNvPr>
            <p:cNvCxnSpPr>
              <a:cxnSpLocks/>
              <a:stCxn id="12" idx="3"/>
              <a:endCxn id="16" idx="1"/>
            </p:cNvCxnSpPr>
            <p:nvPr/>
          </p:nvCxnSpPr>
          <p:spPr>
            <a:xfrm>
              <a:off x="1771208" y="3106268"/>
              <a:ext cx="823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621A2F69-F02E-4A71-B289-C12E24CCBE50}"/>
                </a:ext>
              </a:extLst>
            </p:cNvPr>
            <p:cNvCxnSpPr>
              <a:cxnSpLocks/>
              <a:stCxn id="16" idx="3"/>
              <a:endCxn id="20" idx="1"/>
            </p:cNvCxnSpPr>
            <p:nvPr/>
          </p:nvCxnSpPr>
          <p:spPr>
            <a:xfrm>
              <a:off x="3600008" y="3106268"/>
              <a:ext cx="8020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9FF6FCA8-B9E5-41BE-B561-F21B282C4196}"/>
                </a:ext>
              </a:extLst>
            </p:cNvPr>
            <p:cNvCxnSpPr>
              <a:cxnSpLocks/>
              <a:stCxn id="20" idx="3"/>
              <a:endCxn id="24" idx="1"/>
            </p:cNvCxnSpPr>
            <p:nvPr/>
          </p:nvCxnSpPr>
          <p:spPr>
            <a:xfrm>
              <a:off x="5407446" y="3106268"/>
              <a:ext cx="6654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AAD9D19A-6A84-435F-A25D-F2BB6D42659E}"/>
                </a:ext>
              </a:extLst>
            </p:cNvPr>
            <p:cNvCxnSpPr>
              <a:cxnSpLocks/>
              <a:stCxn id="24" idx="3"/>
              <a:endCxn id="28" idx="1"/>
            </p:cNvCxnSpPr>
            <p:nvPr/>
          </p:nvCxnSpPr>
          <p:spPr>
            <a:xfrm>
              <a:off x="7078314" y="3106268"/>
              <a:ext cx="6620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643ADFB4-AB17-498C-BD7E-6F566208E1F4}"/>
                </a:ext>
              </a:extLst>
            </p:cNvPr>
            <p:cNvSpPr txBox="1"/>
            <p:nvPr/>
          </p:nvSpPr>
          <p:spPr>
            <a:xfrm>
              <a:off x="439830" y="2037090"/>
              <a:ext cx="1826141" cy="338554"/>
            </a:xfrm>
            <a:prstGeom prst="rect">
              <a:avLst/>
            </a:prstGeom>
            <a:noFill/>
          </p:spPr>
          <p:txBody>
            <a:bodyPr wrap="none" rtlCol="0">
              <a:spAutoFit/>
            </a:bodyPr>
            <a:lstStyle/>
            <a:p>
              <a:r>
                <a:rPr lang="ja-JP" altLang="en-US" sz="1600" dirty="0"/>
                <a:t>リストのイメージ</a:t>
              </a:r>
              <a:endParaRPr lang="en-US" altLang="ja-JP" sz="1600" dirty="0"/>
            </a:p>
          </p:txBody>
        </p:sp>
      </p:grpSp>
      <p:pic>
        <p:nvPicPr>
          <p:cNvPr id="9" name="図 8">
            <a:extLst>
              <a:ext uri="{FF2B5EF4-FFF2-40B4-BE49-F238E27FC236}">
                <a16:creationId xmlns:a16="http://schemas.microsoft.com/office/drawing/2014/main" id="{A5D87100-C565-443F-972F-B726B66A7C0B}"/>
              </a:ext>
            </a:extLst>
          </p:cNvPr>
          <p:cNvPicPr>
            <a:picLocks noChangeAspect="1"/>
          </p:cNvPicPr>
          <p:nvPr/>
        </p:nvPicPr>
        <p:blipFill>
          <a:blip r:embed="rId2"/>
          <a:stretch>
            <a:fillRect/>
          </a:stretch>
        </p:blipFill>
        <p:spPr>
          <a:xfrm>
            <a:off x="567541" y="2095518"/>
            <a:ext cx="7349439" cy="2247927"/>
          </a:xfrm>
          <a:prstGeom prst="rect">
            <a:avLst/>
          </a:prstGeom>
        </p:spPr>
      </p:pic>
      <p:sp>
        <p:nvSpPr>
          <p:cNvPr id="35" name="正方形/長方形 34">
            <a:extLst>
              <a:ext uri="{FF2B5EF4-FFF2-40B4-BE49-F238E27FC236}">
                <a16:creationId xmlns:a16="http://schemas.microsoft.com/office/drawing/2014/main" id="{24049F4F-438D-4F52-BC92-25FF87C85179}"/>
              </a:ext>
            </a:extLst>
          </p:cNvPr>
          <p:cNvSpPr/>
          <p:nvPr/>
        </p:nvSpPr>
        <p:spPr>
          <a:xfrm>
            <a:off x="9354976" y="4904799"/>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正方形/長方形 36">
            <a:extLst>
              <a:ext uri="{FF2B5EF4-FFF2-40B4-BE49-F238E27FC236}">
                <a16:creationId xmlns:a16="http://schemas.microsoft.com/office/drawing/2014/main" id="{934F9449-F34D-4DDE-B85F-D6A0C0B55330}"/>
              </a:ext>
            </a:extLst>
          </p:cNvPr>
          <p:cNvSpPr/>
          <p:nvPr/>
        </p:nvSpPr>
        <p:spPr>
          <a:xfrm>
            <a:off x="9630116" y="4904798"/>
            <a:ext cx="851646"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38" name="正方形/長方形 37">
            <a:extLst>
              <a:ext uri="{FF2B5EF4-FFF2-40B4-BE49-F238E27FC236}">
                <a16:creationId xmlns:a16="http://schemas.microsoft.com/office/drawing/2014/main" id="{6C12B992-2A1B-4139-AEF2-61891DD324CF}"/>
              </a:ext>
            </a:extLst>
          </p:cNvPr>
          <p:cNvSpPr/>
          <p:nvPr/>
        </p:nvSpPr>
        <p:spPr>
          <a:xfrm>
            <a:off x="10481762" y="4904798"/>
            <a:ext cx="275140" cy="1461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0EB9319A-E26B-4826-B0EA-409EB9586301}"/>
              </a:ext>
            </a:extLst>
          </p:cNvPr>
          <p:cNvSpPr txBox="1"/>
          <p:nvPr/>
        </p:nvSpPr>
        <p:spPr>
          <a:xfrm>
            <a:off x="9553238" y="5466144"/>
            <a:ext cx="1005403" cy="338554"/>
          </a:xfrm>
          <a:prstGeom prst="rect">
            <a:avLst/>
          </a:prstGeom>
          <a:noFill/>
        </p:spPr>
        <p:txBody>
          <a:bodyPr wrap="none" rtlCol="0">
            <a:spAutoFit/>
          </a:bodyPr>
          <a:lstStyle/>
          <a:p>
            <a:r>
              <a:rPr lang="ja-JP" altLang="en-US" sz="1600" dirty="0"/>
              <a:t>バレット</a:t>
            </a:r>
            <a:endParaRPr lang="en-US" altLang="ja-JP" sz="1600" dirty="0"/>
          </a:p>
        </p:txBody>
      </p:sp>
      <p:cxnSp>
        <p:nvCxnSpPr>
          <p:cNvPr id="42" name="直線矢印コネクタ 41">
            <a:extLst>
              <a:ext uri="{FF2B5EF4-FFF2-40B4-BE49-F238E27FC236}">
                <a16:creationId xmlns:a16="http://schemas.microsoft.com/office/drawing/2014/main" id="{81C36FED-27DD-4B6A-B8CB-6A34E8A19B61}"/>
              </a:ext>
            </a:extLst>
          </p:cNvPr>
          <p:cNvCxnSpPr>
            <a:cxnSpLocks/>
            <a:stCxn id="28" idx="3"/>
            <a:endCxn id="41" idx="1"/>
          </p:cNvCxnSpPr>
          <p:nvPr/>
        </p:nvCxnSpPr>
        <p:spPr>
          <a:xfrm>
            <a:off x="8873462" y="5635421"/>
            <a:ext cx="679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6E00EA9F-E0D7-41F7-9D5A-5C06354EB89D}"/>
              </a:ext>
            </a:extLst>
          </p:cNvPr>
          <p:cNvSpPr txBox="1"/>
          <p:nvPr/>
        </p:nvSpPr>
        <p:spPr>
          <a:xfrm>
            <a:off x="9613929" y="6366043"/>
            <a:ext cx="1005403" cy="338554"/>
          </a:xfrm>
          <a:prstGeom prst="rect">
            <a:avLst/>
          </a:prstGeom>
          <a:noFill/>
        </p:spPr>
        <p:txBody>
          <a:bodyPr wrap="none" rtlCol="0">
            <a:spAutoFit/>
          </a:bodyPr>
          <a:lstStyle/>
          <a:p>
            <a:r>
              <a:rPr lang="ja-JP" altLang="en-US" sz="1600" b="1" dirty="0">
                <a:solidFill>
                  <a:srgbClr val="FF0000"/>
                </a:solidFill>
              </a:rPr>
              <a:t>追加！！</a:t>
            </a:r>
            <a:endParaRPr lang="en-US" altLang="ja-JP" sz="1600" b="1" dirty="0">
              <a:solidFill>
                <a:srgbClr val="FF0000"/>
              </a:solidFill>
            </a:endParaRPr>
          </a:p>
        </p:txBody>
      </p:sp>
    </p:spTree>
    <p:extLst>
      <p:ext uri="{BB962C8B-B14F-4D97-AF65-F5344CB8AC3E}">
        <p14:creationId xmlns:p14="http://schemas.microsoft.com/office/powerpoint/2010/main" val="2209610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オブジェクトプール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461665"/>
          </a:xfrm>
          <a:prstGeom prst="rect">
            <a:avLst/>
          </a:prstGeom>
          <a:noFill/>
        </p:spPr>
        <p:txBody>
          <a:bodyPr wrap="none" rtlCol="0">
            <a:spAutoFit/>
          </a:bodyPr>
          <a:lstStyle/>
          <a:p>
            <a:r>
              <a:rPr lang="ja-JP" altLang="en-US" sz="2400" dirty="0"/>
              <a:t>実行して、ヒエラルキーを確認してみましょう。</a:t>
            </a:r>
            <a:endParaRPr lang="en-US" altLang="ja-JP" sz="2400" dirty="0"/>
          </a:p>
        </p:txBody>
      </p:sp>
      <p:pic>
        <p:nvPicPr>
          <p:cNvPr id="8" name="図 7">
            <a:extLst>
              <a:ext uri="{FF2B5EF4-FFF2-40B4-BE49-F238E27FC236}">
                <a16:creationId xmlns:a16="http://schemas.microsoft.com/office/drawing/2014/main" id="{38B67280-4591-42F8-8648-2CBD3B714642}"/>
              </a:ext>
            </a:extLst>
          </p:cNvPr>
          <p:cNvPicPr>
            <a:picLocks noChangeAspect="1"/>
          </p:cNvPicPr>
          <p:nvPr/>
        </p:nvPicPr>
        <p:blipFill>
          <a:blip r:embed="rId2"/>
          <a:stretch>
            <a:fillRect/>
          </a:stretch>
        </p:blipFill>
        <p:spPr>
          <a:xfrm>
            <a:off x="567542" y="1817794"/>
            <a:ext cx="6738693" cy="3950549"/>
          </a:xfrm>
          <a:prstGeom prst="rect">
            <a:avLst/>
          </a:prstGeom>
        </p:spPr>
      </p:pic>
    </p:spTree>
    <p:extLst>
      <p:ext uri="{BB962C8B-B14F-4D97-AF65-F5344CB8AC3E}">
        <p14:creationId xmlns:p14="http://schemas.microsoft.com/office/powerpoint/2010/main" val="2764134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オブジェクトプール 補足</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3785652"/>
          </a:xfrm>
          <a:prstGeom prst="rect">
            <a:avLst/>
          </a:prstGeom>
          <a:noFill/>
        </p:spPr>
        <p:txBody>
          <a:bodyPr wrap="none" rtlCol="0">
            <a:spAutoFit/>
          </a:bodyPr>
          <a:lstStyle/>
          <a:p>
            <a:r>
              <a:rPr lang="en-US" altLang="ja-JP" sz="2400" dirty="0"/>
              <a:t>Unity</a:t>
            </a:r>
            <a:r>
              <a:rPr lang="ja-JP" altLang="en-US" sz="2400" dirty="0"/>
              <a:t>には自動で</a:t>
            </a:r>
            <a:r>
              <a:rPr lang="ja-JP" altLang="en-US" sz="2400" b="1" dirty="0">
                <a:solidFill>
                  <a:srgbClr val="FF0000"/>
                </a:solidFill>
              </a:rPr>
              <a:t>ガベージコレクション</a:t>
            </a:r>
            <a:r>
              <a:rPr lang="ja-JP" altLang="en-US" sz="2400" dirty="0"/>
              <a:t>を実行するシステムがあります。</a:t>
            </a:r>
            <a:endParaRPr lang="en-US" altLang="ja-JP" sz="2400" dirty="0"/>
          </a:p>
          <a:p>
            <a:endParaRPr lang="en-US" altLang="ja-JP" sz="2400" dirty="0"/>
          </a:p>
          <a:p>
            <a:r>
              <a:rPr lang="ja-JP" altLang="en-US" sz="2400" dirty="0"/>
              <a:t>ガベージコレクションとは</a:t>
            </a:r>
            <a:r>
              <a:rPr lang="ja-JP" altLang="en-US" sz="2400" b="1" dirty="0">
                <a:solidFill>
                  <a:srgbClr val="FF0000"/>
                </a:solidFill>
              </a:rPr>
              <a:t>メモリの無駄な部分を削除し、</a:t>
            </a:r>
            <a:endParaRPr lang="en-US" altLang="ja-JP" sz="2400" b="1" dirty="0">
              <a:solidFill>
                <a:srgbClr val="FF0000"/>
              </a:solidFill>
            </a:endParaRPr>
          </a:p>
          <a:p>
            <a:r>
              <a:rPr lang="ja-JP" altLang="en-US" sz="2400" b="1" dirty="0">
                <a:solidFill>
                  <a:srgbClr val="FF0000"/>
                </a:solidFill>
              </a:rPr>
              <a:t>メモリの中を整頓する機能</a:t>
            </a:r>
            <a:r>
              <a:rPr lang="ja-JP" altLang="en-US" sz="2400" dirty="0"/>
              <a:t>です。</a:t>
            </a:r>
            <a:endParaRPr lang="en-US" altLang="ja-JP" sz="2400" dirty="0"/>
          </a:p>
          <a:p>
            <a:r>
              <a:rPr lang="ja-JP" altLang="en-US" sz="2400" dirty="0"/>
              <a:t>非常に便利な機能なのですが、この機能が</a:t>
            </a:r>
            <a:r>
              <a:rPr lang="ja-JP" altLang="en-US" sz="2400" b="1" dirty="0">
                <a:solidFill>
                  <a:srgbClr val="FF0000"/>
                </a:solidFill>
              </a:rPr>
              <a:t>非常に重い</a:t>
            </a:r>
            <a:r>
              <a:rPr lang="ja-JP" altLang="en-US" sz="2400" dirty="0"/>
              <a:t>です。</a:t>
            </a:r>
            <a:endParaRPr lang="en-US" altLang="ja-JP" sz="2400" dirty="0"/>
          </a:p>
          <a:p>
            <a:endParaRPr lang="en-US" altLang="ja-JP" sz="2400" dirty="0"/>
          </a:p>
          <a:p>
            <a:r>
              <a:rPr lang="ja-JP" altLang="en-US" sz="2400" dirty="0"/>
              <a:t>ガベージコレクションは</a:t>
            </a:r>
            <a:r>
              <a:rPr lang="ja-JP" altLang="en-US" sz="2400" b="1" dirty="0">
                <a:solidFill>
                  <a:srgbClr val="FF0000"/>
                </a:solidFill>
              </a:rPr>
              <a:t>メモリ操作を頻繁に行うほど発生しやすい</a:t>
            </a:r>
            <a:r>
              <a:rPr lang="ja-JP" altLang="en-US" sz="2400" dirty="0"/>
              <a:t>ので、</a:t>
            </a:r>
            <a:endParaRPr lang="en-US" altLang="ja-JP" sz="2400" dirty="0"/>
          </a:p>
          <a:p>
            <a:r>
              <a:rPr lang="ja-JP" altLang="en-US" sz="2400" dirty="0"/>
              <a:t>今回のようなメモリ操作を削減する処理はとても重要だったりします。</a:t>
            </a:r>
            <a:endParaRPr lang="en-US" altLang="ja-JP" sz="2400" dirty="0"/>
          </a:p>
          <a:p>
            <a:endParaRPr lang="en-US" altLang="ja-JP" sz="2400" dirty="0"/>
          </a:p>
          <a:p>
            <a:r>
              <a:rPr lang="en-US" altLang="ja-JP" sz="2400" dirty="0"/>
              <a:t>※</a:t>
            </a:r>
            <a:r>
              <a:rPr lang="ja-JP" altLang="en-US" sz="2400" dirty="0"/>
              <a:t>ゲーム制作に慣れてきたら、これらのことも気にしてみましょう。</a:t>
            </a:r>
            <a:endParaRPr lang="en-US" altLang="ja-JP" sz="2400" dirty="0"/>
          </a:p>
        </p:txBody>
      </p:sp>
    </p:spTree>
    <p:extLst>
      <p:ext uri="{BB962C8B-B14F-4D97-AF65-F5344CB8AC3E}">
        <p14:creationId xmlns:p14="http://schemas.microsoft.com/office/powerpoint/2010/main" val="631550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オブジェクトプール 補足</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157221" cy="2677656"/>
          </a:xfrm>
          <a:prstGeom prst="rect">
            <a:avLst/>
          </a:prstGeom>
          <a:noFill/>
        </p:spPr>
        <p:txBody>
          <a:bodyPr wrap="none" rtlCol="0">
            <a:spAutoFit/>
          </a:bodyPr>
          <a:lstStyle/>
          <a:p>
            <a:r>
              <a:rPr lang="en-US" altLang="ja-JP" sz="2400" dirty="0"/>
              <a:t>Unity</a:t>
            </a:r>
            <a:r>
              <a:rPr lang="ja-JP" altLang="en-US" sz="2400" dirty="0"/>
              <a:t>にはオブジェクトプールをサポートするクラスがあります。</a:t>
            </a:r>
            <a:endParaRPr lang="en-US" altLang="ja-JP" sz="2400" dirty="0"/>
          </a:p>
          <a:p>
            <a:r>
              <a:rPr lang="ja-JP" altLang="en-US" sz="2400" dirty="0"/>
              <a:t>興味があれば調べてみましょう。</a:t>
            </a:r>
            <a:endParaRPr lang="en-US" altLang="ja-JP" sz="2400" dirty="0"/>
          </a:p>
          <a:p>
            <a:endParaRPr lang="en-US" altLang="ja-JP" sz="2400" dirty="0"/>
          </a:p>
          <a:p>
            <a:r>
              <a:rPr lang="ja-JP" altLang="en-US" sz="2400" dirty="0"/>
              <a:t>■</a:t>
            </a:r>
            <a:r>
              <a:rPr lang="en-US" altLang="ja-JP" sz="2400" dirty="0"/>
              <a:t>Unity</a:t>
            </a:r>
            <a:r>
              <a:rPr lang="ja-JP" altLang="en-US" sz="2400" dirty="0"/>
              <a:t>ドキュメント</a:t>
            </a:r>
            <a:endParaRPr lang="en-US" altLang="ja-JP" sz="2400" dirty="0"/>
          </a:p>
          <a:p>
            <a:r>
              <a:rPr lang="en-US" altLang="ja-JP" sz="2400" dirty="0">
                <a:hlinkClick r:id="rId2"/>
              </a:rPr>
              <a:t>https://docs.unity3d.com/ja/2022.1/ScriptReference/Pool.ObjectPool_1.html</a:t>
            </a:r>
            <a:endParaRPr lang="en-US" altLang="ja-JP" sz="2400" dirty="0"/>
          </a:p>
          <a:p>
            <a:endParaRPr lang="en-US" altLang="ja-JP" sz="2400" dirty="0"/>
          </a:p>
          <a:p>
            <a:r>
              <a:rPr lang="en-US" altLang="ja-JP" sz="2400" b="1" dirty="0">
                <a:solidFill>
                  <a:srgbClr val="FF0000"/>
                </a:solidFill>
              </a:rPr>
              <a:t>※Unity2022</a:t>
            </a:r>
            <a:r>
              <a:rPr lang="ja-JP" altLang="en-US" sz="2400" b="1" dirty="0">
                <a:solidFill>
                  <a:srgbClr val="FF0000"/>
                </a:solidFill>
              </a:rPr>
              <a:t>以降から追加された機能です</a:t>
            </a:r>
            <a:endParaRPr lang="en-US" altLang="ja-JP" sz="2400" b="1" dirty="0">
              <a:solidFill>
                <a:srgbClr val="FF0000"/>
              </a:solidFill>
            </a:endParaRPr>
          </a:p>
        </p:txBody>
      </p:sp>
    </p:spTree>
    <p:extLst>
      <p:ext uri="{BB962C8B-B14F-4D97-AF65-F5344CB8AC3E}">
        <p14:creationId xmlns:p14="http://schemas.microsoft.com/office/powerpoint/2010/main" val="108721167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832</Words>
  <Application>Microsoft Office PowerPoint</Application>
  <PresentationFormat>ワイド画面</PresentationFormat>
  <Paragraphs>162</Paragraphs>
  <Slides>24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24</vt:i4>
      </vt:variant>
    </vt:vector>
  </HeadingPairs>
  <TitlesOfParts>
    <vt:vector size="28"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30</cp:revision>
  <dcterms:created xsi:type="dcterms:W3CDTF">2024-08-27T02:15:54Z</dcterms:created>
  <dcterms:modified xsi:type="dcterms:W3CDTF">2024-12-10T00:34:51Z</dcterms:modified>
</cp:coreProperties>
</file>