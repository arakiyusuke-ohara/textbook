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3" d="100"/>
          <a:sy n="113" d="100"/>
        </p:scale>
        <p:origin x="45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A950417-98BD-4172-A454-C76A49B977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9F83E9AE-84BC-4452-8901-A17B27CC41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B320892-0B52-41F1-BED3-1F36AE1E3B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2025/7/31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4114070-C582-4B06-9805-0DFEFB583F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E8014BC-198B-4E5B-89B4-FDBFD423B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455607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42C298B-DDF7-4BBD-B08C-16E40ED109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284FECC-C823-4D42-8CAA-49FC9A8C5B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8B26879-4594-4C3F-BFFA-F4CB8674F4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2025/7/31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5FC6BE6-BB12-4008-B4BA-62D249C499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6B8CAC6-4A91-4F74-9267-5C30714BF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024735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078AD04-3137-4B16-97B1-DC1252F678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BF8FC57-7A4A-4196-89B9-B1A6197D42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CB80319-F15F-4C62-95BA-15B326F988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2025/7/31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89F0141-2F76-4B73-AAE0-1EDFEEA42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1F3A285-8438-4738-B4CE-18FC566351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814076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539AAF0-C896-4BE5-8FCC-3432085248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96C332E-2DEA-4D46-8FEF-31D60DD975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9D3FC79-3A15-47E8-8DC1-B5A928FF7F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6AC8BB6-CC26-4AE8-B477-9A47780715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2025/7/31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D813CBF-5D01-4CF4-BD63-C8FC321B24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123F9A7-54F5-421C-9A71-CC8C4BC923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20282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E9A2E9A-2DDB-4057-9711-D792B04FFD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2E5496D-7437-4ADF-BF05-1B99ACC091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8A11600-06C5-424A-B2EA-FFEF7E75EA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43408E51-ED83-4218-8378-F0B44E296E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3D26C0C0-145F-4A52-BA72-D19A2971D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F649033F-9C86-42B4-AB90-0FE47F39E3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2025/7/31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F73F9DE8-EAB7-4A80-BF64-725C6DF46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71D0069B-43F7-430A-8C9D-C2BA7B92E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546531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CD48D3C-20F1-4E20-8FBC-734E9D946A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B2E416B3-4C21-4278-9B88-62D41335DC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2025/7/31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3EBA727E-E9E7-4EA2-B6ED-8CF036F2B5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8DC1C47C-5B0A-471B-BB77-77BE62B99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53085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E55C2DD0-D598-4A5F-B542-7C6806B2F7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2025/7/31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2260FD2A-DF3F-46FE-B2F8-14D9A20697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2EF1C2C-6093-4ADD-9BFE-41DB125AD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204145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A35797B-0171-40BC-BCA2-0C1BA0D4C3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79CB0DB-618C-450C-BE67-5FD277B25D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42CC888D-BF8F-439D-9FC7-2DD4A8D750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4C2FA2E-4305-4946-8BDE-7AE113CDE6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2025/7/31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BA070CF-301C-4595-8007-2A2C19DFE0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3E21C8C-DA9E-4E6B-B45C-C2C4D3897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69295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00F7326-6BA4-4DC0-9519-87D04747ED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3A1C2397-9613-4B24-A7D0-9EEE44E01C8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5462283-8239-49BE-9D96-00B24831B7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F53455D-91B5-4938-AC24-CAFF77A6CD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2025/7/31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7F23C7B-CEBC-48FC-81DC-98AFE68C2D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7E65B5D-4A4C-4A6E-8AEB-3D88DC5827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1402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2AE957E-488D-43B9-8182-2A1DEEF0F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E67B1EC-AFC1-41D0-BBB1-9A2E85E139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1B76048-AF91-4C32-A054-6305C2928E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2025/7/31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8C66A49-F960-4196-B16B-31B98B3401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D7A86F7-B140-4439-A33B-63EA8498DC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856319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B4FA5DEF-DC74-4F38-9DA0-1EE9752F5F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23C9EE93-ED20-4B3B-93FB-5A088C436B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370666-1A4C-42B1-8748-A0D1453943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2025/7/31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26EC7E2-E7E6-45F2-BF6D-CDF318CEC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CDE4F59-4276-46E3-AE2A-D255BC7BB3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428509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F527E70E-5441-439A-8EA3-0826A036FC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A7C9CE9-5A22-43DB-862A-3B24B2BF15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45D76C-CB70-434A-A116-22531EEB417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CC885B-4903-4D54-9A93-00025F12DED9}" type="datetimeFigureOut">
              <a:rPr kumimoji="1" lang="ja-JP" altLang="en-US" smtClean="0"/>
              <a:t>2025/7/31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505E6D4-441B-4864-8545-0FDE04F664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FFD1810-F6DD-4BB4-8465-A3A3F3BF33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517845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87798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配列とリストの違い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034129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配列とリストは、プログラムを組む時にはそれほど違いはありませんが、</a:t>
            </a:r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中身の仕様はかなり違います。</a:t>
            </a:r>
            <a:endParaRPr lang="en-US" altLang="ja-JP" sz="2400" b="1" dirty="0">
              <a:solidFill>
                <a:srgbClr val="FF0000"/>
              </a:solidFill>
            </a:endParaRPr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40BF68EA-91D9-4A98-B5BE-CD23C1EB779A}"/>
              </a:ext>
            </a:extLst>
          </p:cNvPr>
          <p:cNvSpPr/>
          <p:nvPr/>
        </p:nvSpPr>
        <p:spPr>
          <a:xfrm>
            <a:off x="1623577" y="2969127"/>
            <a:ext cx="720000" cy="72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6BA7D757-B39F-497A-B37F-4A88AE08231B}"/>
              </a:ext>
            </a:extLst>
          </p:cNvPr>
          <p:cNvSpPr/>
          <p:nvPr/>
        </p:nvSpPr>
        <p:spPr>
          <a:xfrm>
            <a:off x="2340752" y="2969126"/>
            <a:ext cx="720000" cy="72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73BB2D32-35E4-4231-BEE9-782B75034201}"/>
              </a:ext>
            </a:extLst>
          </p:cNvPr>
          <p:cNvSpPr/>
          <p:nvPr/>
        </p:nvSpPr>
        <p:spPr>
          <a:xfrm>
            <a:off x="3057933" y="2969122"/>
            <a:ext cx="720000" cy="72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9DBFEDA1-1757-498A-88D4-8D4869358725}"/>
              </a:ext>
            </a:extLst>
          </p:cNvPr>
          <p:cNvSpPr/>
          <p:nvPr/>
        </p:nvSpPr>
        <p:spPr>
          <a:xfrm>
            <a:off x="3775108" y="2969121"/>
            <a:ext cx="720000" cy="72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BAFDFADF-14B5-4FB8-A980-938CCE1FBCB4}"/>
              </a:ext>
            </a:extLst>
          </p:cNvPr>
          <p:cNvSpPr/>
          <p:nvPr/>
        </p:nvSpPr>
        <p:spPr>
          <a:xfrm>
            <a:off x="4492285" y="2969119"/>
            <a:ext cx="720000" cy="72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E0260DEC-419F-4547-BB9C-E97AA2FC6A46}"/>
              </a:ext>
            </a:extLst>
          </p:cNvPr>
          <p:cNvSpPr/>
          <p:nvPr/>
        </p:nvSpPr>
        <p:spPr>
          <a:xfrm>
            <a:off x="1623577" y="4536104"/>
            <a:ext cx="173153" cy="72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721DD798-9FD9-4D45-B440-2652CCD4C55A}"/>
              </a:ext>
            </a:extLst>
          </p:cNvPr>
          <p:cNvSpPr/>
          <p:nvPr/>
        </p:nvSpPr>
        <p:spPr>
          <a:xfrm>
            <a:off x="1793906" y="4536103"/>
            <a:ext cx="720000" cy="72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" name="正方形/長方形 14">
            <a:extLst>
              <a:ext uri="{FF2B5EF4-FFF2-40B4-BE49-F238E27FC236}">
                <a16:creationId xmlns:a16="http://schemas.microsoft.com/office/drawing/2014/main" id="{4EEA38A5-9A83-4C16-9103-BDC9FC6D0303}"/>
              </a:ext>
            </a:extLst>
          </p:cNvPr>
          <p:cNvSpPr/>
          <p:nvPr/>
        </p:nvSpPr>
        <p:spPr>
          <a:xfrm>
            <a:off x="2511087" y="4536103"/>
            <a:ext cx="173153" cy="72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0CFC9940-1865-4BED-9A3A-A64FEB16F7DC}"/>
              </a:ext>
            </a:extLst>
          </p:cNvPr>
          <p:cNvSpPr/>
          <p:nvPr/>
        </p:nvSpPr>
        <p:spPr>
          <a:xfrm>
            <a:off x="3075864" y="4536104"/>
            <a:ext cx="173153" cy="72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05C76C4B-3F52-47FD-B5F3-19E94CA46088}"/>
              </a:ext>
            </a:extLst>
          </p:cNvPr>
          <p:cNvSpPr/>
          <p:nvPr/>
        </p:nvSpPr>
        <p:spPr>
          <a:xfrm>
            <a:off x="3246193" y="4536103"/>
            <a:ext cx="720000" cy="72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8" name="正方形/長方形 17">
            <a:extLst>
              <a:ext uri="{FF2B5EF4-FFF2-40B4-BE49-F238E27FC236}">
                <a16:creationId xmlns:a16="http://schemas.microsoft.com/office/drawing/2014/main" id="{DF99B4F5-272B-4265-B84B-211754011752}"/>
              </a:ext>
            </a:extLst>
          </p:cNvPr>
          <p:cNvSpPr/>
          <p:nvPr/>
        </p:nvSpPr>
        <p:spPr>
          <a:xfrm>
            <a:off x="3963374" y="4536103"/>
            <a:ext cx="173153" cy="72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9" name="正方形/長方形 18">
            <a:extLst>
              <a:ext uri="{FF2B5EF4-FFF2-40B4-BE49-F238E27FC236}">
                <a16:creationId xmlns:a16="http://schemas.microsoft.com/office/drawing/2014/main" id="{71F227DE-8887-4788-9C50-5ECBCAD252DE}"/>
              </a:ext>
            </a:extLst>
          </p:cNvPr>
          <p:cNvSpPr/>
          <p:nvPr/>
        </p:nvSpPr>
        <p:spPr>
          <a:xfrm>
            <a:off x="4528146" y="4536090"/>
            <a:ext cx="173153" cy="72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0" name="正方形/長方形 19">
            <a:extLst>
              <a:ext uri="{FF2B5EF4-FFF2-40B4-BE49-F238E27FC236}">
                <a16:creationId xmlns:a16="http://schemas.microsoft.com/office/drawing/2014/main" id="{1B7BB1F3-B6D6-4839-9D00-B526FDA467B7}"/>
              </a:ext>
            </a:extLst>
          </p:cNvPr>
          <p:cNvSpPr/>
          <p:nvPr/>
        </p:nvSpPr>
        <p:spPr>
          <a:xfrm>
            <a:off x="4698475" y="4536089"/>
            <a:ext cx="720000" cy="72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1" name="正方形/長方形 20">
            <a:extLst>
              <a:ext uri="{FF2B5EF4-FFF2-40B4-BE49-F238E27FC236}">
                <a16:creationId xmlns:a16="http://schemas.microsoft.com/office/drawing/2014/main" id="{F11B2D72-6D4D-47AE-B9FE-9E2A350BF84E}"/>
              </a:ext>
            </a:extLst>
          </p:cNvPr>
          <p:cNvSpPr/>
          <p:nvPr/>
        </p:nvSpPr>
        <p:spPr>
          <a:xfrm>
            <a:off x="5415656" y="4536089"/>
            <a:ext cx="173153" cy="72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2" name="正方形/長方形 21">
            <a:extLst>
              <a:ext uri="{FF2B5EF4-FFF2-40B4-BE49-F238E27FC236}">
                <a16:creationId xmlns:a16="http://schemas.microsoft.com/office/drawing/2014/main" id="{EED321B2-7F49-4F3E-B1BB-EF85CE522AB8}"/>
              </a:ext>
            </a:extLst>
          </p:cNvPr>
          <p:cNvSpPr/>
          <p:nvPr/>
        </p:nvSpPr>
        <p:spPr>
          <a:xfrm>
            <a:off x="5980433" y="4536090"/>
            <a:ext cx="173153" cy="72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3" name="正方形/長方形 22">
            <a:extLst>
              <a:ext uri="{FF2B5EF4-FFF2-40B4-BE49-F238E27FC236}">
                <a16:creationId xmlns:a16="http://schemas.microsoft.com/office/drawing/2014/main" id="{9130461E-D476-4A4C-A590-AAA986A93676}"/>
              </a:ext>
            </a:extLst>
          </p:cNvPr>
          <p:cNvSpPr/>
          <p:nvPr/>
        </p:nvSpPr>
        <p:spPr>
          <a:xfrm>
            <a:off x="6150762" y="4536089"/>
            <a:ext cx="720000" cy="72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4" name="正方形/長方形 23">
            <a:extLst>
              <a:ext uri="{FF2B5EF4-FFF2-40B4-BE49-F238E27FC236}">
                <a16:creationId xmlns:a16="http://schemas.microsoft.com/office/drawing/2014/main" id="{D3CCCBA6-7DCE-496F-B0DF-30F28879AD90}"/>
              </a:ext>
            </a:extLst>
          </p:cNvPr>
          <p:cNvSpPr/>
          <p:nvPr/>
        </p:nvSpPr>
        <p:spPr>
          <a:xfrm>
            <a:off x="6867943" y="4536089"/>
            <a:ext cx="173153" cy="72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6" name="正方形/長方形 25">
            <a:extLst>
              <a:ext uri="{FF2B5EF4-FFF2-40B4-BE49-F238E27FC236}">
                <a16:creationId xmlns:a16="http://schemas.microsoft.com/office/drawing/2014/main" id="{7175A37C-7306-4A0E-8605-2967FF2205D9}"/>
              </a:ext>
            </a:extLst>
          </p:cNvPr>
          <p:cNvSpPr/>
          <p:nvPr/>
        </p:nvSpPr>
        <p:spPr>
          <a:xfrm>
            <a:off x="7432710" y="4536090"/>
            <a:ext cx="173153" cy="72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7" name="正方形/長方形 26">
            <a:extLst>
              <a:ext uri="{FF2B5EF4-FFF2-40B4-BE49-F238E27FC236}">
                <a16:creationId xmlns:a16="http://schemas.microsoft.com/office/drawing/2014/main" id="{21E33503-9D59-4AE2-9FEC-A8999AB0D12E}"/>
              </a:ext>
            </a:extLst>
          </p:cNvPr>
          <p:cNvSpPr/>
          <p:nvPr/>
        </p:nvSpPr>
        <p:spPr>
          <a:xfrm>
            <a:off x="7603039" y="4536089"/>
            <a:ext cx="720000" cy="72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8" name="正方形/長方形 27">
            <a:extLst>
              <a:ext uri="{FF2B5EF4-FFF2-40B4-BE49-F238E27FC236}">
                <a16:creationId xmlns:a16="http://schemas.microsoft.com/office/drawing/2014/main" id="{F2DB2076-D51F-4D8E-9373-7E963364B2DD}"/>
              </a:ext>
            </a:extLst>
          </p:cNvPr>
          <p:cNvSpPr/>
          <p:nvPr/>
        </p:nvSpPr>
        <p:spPr>
          <a:xfrm>
            <a:off x="8320220" y="4536089"/>
            <a:ext cx="173153" cy="72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9" name="テキスト ボックス 28">
            <a:extLst>
              <a:ext uri="{FF2B5EF4-FFF2-40B4-BE49-F238E27FC236}">
                <a16:creationId xmlns:a16="http://schemas.microsoft.com/office/drawing/2014/main" id="{262E7193-5533-4DAB-B69E-64CEC7405463}"/>
              </a:ext>
            </a:extLst>
          </p:cNvPr>
          <p:cNvSpPr txBox="1"/>
          <p:nvPr/>
        </p:nvSpPr>
        <p:spPr>
          <a:xfrm>
            <a:off x="567542" y="3110696"/>
            <a:ext cx="80021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配列</a:t>
            </a:r>
            <a:endParaRPr lang="en-US" altLang="ja-JP" sz="2400" dirty="0"/>
          </a:p>
        </p:txBody>
      </p:sp>
      <p:sp>
        <p:nvSpPr>
          <p:cNvPr id="30" name="テキスト ボックス 29">
            <a:extLst>
              <a:ext uri="{FF2B5EF4-FFF2-40B4-BE49-F238E27FC236}">
                <a16:creationId xmlns:a16="http://schemas.microsoft.com/office/drawing/2014/main" id="{2CC7AF99-82CB-4C08-8516-5F3E6C5DFE3E}"/>
              </a:ext>
            </a:extLst>
          </p:cNvPr>
          <p:cNvSpPr txBox="1"/>
          <p:nvPr/>
        </p:nvSpPr>
        <p:spPr>
          <a:xfrm>
            <a:off x="567542" y="4665256"/>
            <a:ext cx="110799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リスト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41002898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87798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配列とリストの違い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335936" cy="415498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b="1" dirty="0">
                <a:solidFill>
                  <a:srgbClr val="FF0000"/>
                </a:solidFill>
              </a:rPr>
              <a:t>配列はデータを横に並べただけのもの</a:t>
            </a:r>
            <a:r>
              <a:rPr lang="ja-JP" altLang="en-US" sz="2400" dirty="0"/>
              <a:t>になります。</a:t>
            </a:r>
            <a:endParaRPr lang="en-US" altLang="ja-JP" sz="2400" dirty="0"/>
          </a:p>
          <a:p>
            <a:r>
              <a:rPr lang="ja-JP" altLang="en-US" sz="2400" dirty="0"/>
              <a:t>それによる良いところと悪いところがあります。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b="1" dirty="0">
                <a:solidFill>
                  <a:srgbClr val="0070C0"/>
                </a:solidFill>
              </a:rPr>
              <a:t>■良いところ</a:t>
            </a:r>
            <a:endParaRPr lang="en-US" altLang="ja-JP" sz="2400" b="1" dirty="0">
              <a:solidFill>
                <a:srgbClr val="0070C0"/>
              </a:solidFill>
            </a:endParaRPr>
          </a:p>
          <a:p>
            <a:r>
              <a:rPr lang="ja-JP" altLang="en-US" sz="2400" dirty="0"/>
              <a:t>・シンプルなので処理が速い</a:t>
            </a:r>
            <a:endParaRPr lang="en-US" altLang="ja-JP" sz="2400" dirty="0"/>
          </a:p>
          <a:p>
            <a:r>
              <a:rPr lang="ja-JP" altLang="en-US" sz="2400" dirty="0"/>
              <a:t>・シンプルなので余分なデータが発生しない</a:t>
            </a:r>
            <a:endParaRPr lang="en-US" altLang="ja-JP" sz="2400" dirty="0"/>
          </a:p>
          <a:p>
            <a:r>
              <a:rPr lang="ja-JP" altLang="en-US" sz="2400" dirty="0"/>
              <a:t>・添え字で簡単にアクセスできる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■悪いところ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dirty="0"/>
              <a:t>・使用</a:t>
            </a:r>
            <a:r>
              <a:rPr lang="en-US" altLang="ja-JP" sz="2400" dirty="0"/>
              <a:t>/</a:t>
            </a:r>
            <a:r>
              <a:rPr lang="ja-JP" altLang="en-US" sz="2400" dirty="0"/>
              <a:t>未使用があるものを管理すると虫食い状態となる</a:t>
            </a:r>
            <a:endParaRPr lang="en-US" altLang="ja-JP" sz="2400" dirty="0"/>
          </a:p>
          <a:p>
            <a:r>
              <a:rPr lang="ja-JP" altLang="en-US" sz="2400" dirty="0"/>
              <a:t>・使用</a:t>
            </a:r>
            <a:r>
              <a:rPr lang="en-US" altLang="ja-JP" sz="2400" dirty="0"/>
              <a:t>/</a:t>
            </a:r>
            <a:r>
              <a:rPr lang="ja-JP" altLang="en-US" sz="2400" dirty="0"/>
              <a:t>未使用そのものを１つずつチェックする必要がある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316721991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87798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配列とリストの違い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186857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配列の良いところは、作りがシンプルだということです。</a:t>
            </a:r>
            <a:endParaRPr lang="en-US" altLang="ja-JP" sz="2400" dirty="0"/>
          </a:p>
          <a:p>
            <a:r>
              <a:rPr lang="ja-JP" altLang="en-US" sz="2400" dirty="0"/>
              <a:t>そのため</a:t>
            </a:r>
            <a:r>
              <a:rPr lang="ja-JP" altLang="en-US" sz="2400" b="1" dirty="0">
                <a:solidFill>
                  <a:srgbClr val="FF0000"/>
                </a:solidFill>
              </a:rPr>
              <a:t>処理も速く、メモリも最小限に抑えられます。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dirty="0"/>
              <a:t>アクセスも</a:t>
            </a:r>
            <a:r>
              <a:rPr lang="ja-JP" altLang="en-US" sz="2400" b="1" dirty="0">
                <a:solidFill>
                  <a:srgbClr val="FF0000"/>
                </a:solidFill>
              </a:rPr>
              <a:t>添え字で簡単に参照</a:t>
            </a:r>
            <a:r>
              <a:rPr lang="ja-JP" altLang="en-US" sz="2400" dirty="0"/>
              <a:t>できます。</a:t>
            </a:r>
            <a:endParaRPr lang="en-US" altLang="ja-JP" sz="2400" dirty="0"/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C3BDF13C-11F9-4A10-B2E3-51C56169077A}"/>
              </a:ext>
            </a:extLst>
          </p:cNvPr>
          <p:cNvSpPr/>
          <p:nvPr/>
        </p:nvSpPr>
        <p:spPr>
          <a:xfrm>
            <a:off x="1623577" y="3069008"/>
            <a:ext cx="720000" cy="720000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敵</a:t>
            </a:r>
            <a:r>
              <a:rPr kumimoji="1" lang="en-US" altLang="ja-JP" dirty="0"/>
              <a:t>A</a:t>
            </a:r>
            <a:endParaRPr kumimoji="1" lang="ja-JP" altLang="en-US" dirty="0"/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CD5EA5F2-43B2-4837-A114-F436AC5F5B77}"/>
              </a:ext>
            </a:extLst>
          </p:cNvPr>
          <p:cNvSpPr/>
          <p:nvPr/>
        </p:nvSpPr>
        <p:spPr>
          <a:xfrm>
            <a:off x="2340752" y="3069007"/>
            <a:ext cx="720000" cy="720000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敵</a:t>
            </a:r>
            <a:r>
              <a:rPr lang="en-US" altLang="ja-JP" dirty="0"/>
              <a:t>B</a:t>
            </a:r>
            <a:endParaRPr kumimoji="1" lang="ja-JP" altLang="en-US" dirty="0"/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8A54B166-919C-42C8-A095-15B98DBBBE0E}"/>
              </a:ext>
            </a:extLst>
          </p:cNvPr>
          <p:cNvSpPr/>
          <p:nvPr/>
        </p:nvSpPr>
        <p:spPr>
          <a:xfrm>
            <a:off x="3057933" y="3069003"/>
            <a:ext cx="720000" cy="720000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敵</a:t>
            </a:r>
            <a:r>
              <a:rPr lang="en-US" altLang="ja-JP" dirty="0"/>
              <a:t>C</a:t>
            </a:r>
            <a:endParaRPr kumimoji="1" lang="ja-JP" altLang="en-US" dirty="0"/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A4ACA768-A1AD-4962-96F0-DD85231B741A}"/>
              </a:ext>
            </a:extLst>
          </p:cNvPr>
          <p:cNvSpPr/>
          <p:nvPr/>
        </p:nvSpPr>
        <p:spPr>
          <a:xfrm>
            <a:off x="3775108" y="3069002"/>
            <a:ext cx="720000" cy="720000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敵</a:t>
            </a:r>
            <a:r>
              <a:rPr lang="en-US" altLang="ja-JP" dirty="0"/>
              <a:t>D</a:t>
            </a:r>
            <a:endParaRPr kumimoji="1" lang="ja-JP" altLang="en-US" dirty="0"/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8EA5426A-0FAA-4EA4-87A6-701C7A7E0E2D}"/>
              </a:ext>
            </a:extLst>
          </p:cNvPr>
          <p:cNvSpPr/>
          <p:nvPr/>
        </p:nvSpPr>
        <p:spPr>
          <a:xfrm>
            <a:off x="4492285" y="3069000"/>
            <a:ext cx="720000" cy="720000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敵</a:t>
            </a:r>
            <a:r>
              <a:rPr lang="en-US" altLang="ja-JP" dirty="0"/>
              <a:t>E</a:t>
            </a:r>
            <a:endParaRPr kumimoji="1" lang="ja-JP" altLang="en-US" dirty="0"/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FC256E3E-3D8F-4261-945C-76B81156801B}"/>
              </a:ext>
            </a:extLst>
          </p:cNvPr>
          <p:cNvSpPr txBox="1"/>
          <p:nvPr/>
        </p:nvSpPr>
        <p:spPr>
          <a:xfrm>
            <a:off x="567542" y="3210577"/>
            <a:ext cx="80021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配列</a:t>
            </a:r>
            <a:endParaRPr lang="en-US" altLang="ja-JP" sz="2400" dirty="0"/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F6648D93-482A-4650-8377-02240CE6CDD5}"/>
              </a:ext>
            </a:extLst>
          </p:cNvPr>
          <p:cNvSpPr txBox="1"/>
          <p:nvPr/>
        </p:nvSpPr>
        <p:spPr>
          <a:xfrm>
            <a:off x="1686861" y="3808792"/>
            <a:ext cx="59343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/>
              <a:t>[0]</a:t>
            </a:r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05CA1C7B-2272-46E8-AAF6-7A4457C46394}"/>
              </a:ext>
            </a:extLst>
          </p:cNvPr>
          <p:cNvSpPr txBox="1"/>
          <p:nvPr/>
        </p:nvSpPr>
        <p:spPr>
          <a:xfrm>
            <a:off x="2404036" y="3812519"/>
            <a:ext cx="59343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/>
              <a:t>[1]</a:t>
            </a:r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57127B77-0A1C-4107-9DAC-00F8794566D4}"/>
              </a:ext>
            </a:extLst>
          </p:cNvPr>
          <p:cNvSpPr txBox="1"/>
          <p:nvPr/>
        </p:nvSpPr>
        <p:spPr>
          <a:xfrm>
            <a:off x="3118388" y="3808792"/>
            <a:ext cx="59343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/>
              <a:t>[2]</a:t>
            </a:r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0A9F0E35-8C0E-4217-8B73-3D71ED810CB9}"/>
              </a:ext>
            </a:extLst>
          </p:cNvPr>
          <p:cNvSpPr txBox="1"/>
          <p:nvPr/>
        </p:nvSpPr>
        <p:spPr>
          <a:xfrm>
            <a:off x="3832740" y="3808792"/>
            <a:ext cx="59343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/>
              <a:t>[3]</a:t>
            </a:r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1047227C-6305-4B52-BC13-E537952D3D8F}"/>
              </a:ext>
            </a:extLst>
          </p:cNvPr>
          <p:cNvSpPr txBox="1"/>
          <p:nvPr/>
        </p:nvSpPr>
        <p:spPr>
          <a:xfrm>
            <a:off x="4559314" y="3808791"/>
            <a:ext cx="59343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/>
              <a:t>[4]</a:t>
            </a:r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342026B6-8B16-42BE-83B3-2F3BA56640F9}"/>
              </a:ext>
            </a:extLst>
          </p:cNvPr>
          <p:cNvSpPr txBox="1"/>
          <p:nvPr/>
        </p:nvSpPr>
        <p:spPr>
          <a:xfrm>
            <a:off x="567542" y="4549733"/>
            <a:ext cx="3491661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b="1" dirty="0">
                <a:solidFill>
                  <a:srgbClr val="FF0000"/>
                </a:solidFill>
              </a:rPr>
              <a:t>■アクセスの方法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dirty="0"/>
              <a:t>敵</a:t>
            </a:r>
            <a:r>
              <a:rPr lang="en-US" altLang="ja-JP" sz="2400" dirty="0"/>
              <a:t>D</a:t>
            </a:r>
            <a:r>
              <a:rPr lang="ja-JP" altLang="en-US" sz="2400" dirty="0"/>
              <a:t>は３番目にいる！！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295431181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87798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配列とリストの違い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157239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配列の悪いところは、使わなくなった要素があるとその分だけ無駄になります。</a:t>
            </a:r>
            <a:endParaRPr lang="en-US" altLang="ja-JP" sz="2400" dirty="0"/>
          </a:p>
          <a:p>
            <a:r>
              <a:rPr lang="ja-JP" altLang="en-US" sz="2400" dirty="0"/>
              <a:t>配列は、</a:t>
            </a:r>
            <a:r>
              <a:rPr lang="ja-JP" altLang="en-US" sz="2400" b="1" dirty="0">
                <a:solidFill>
                  <a:srgbClr val="FF0000"/>
                </a:solidFill>
              </a:rPr>
              <a:t>状況に合わせた柔軟な対応は苦手</a:t>
            </a:r>
            <a:r>
              <a:rPr lang="ja-JP" altLang="en-US" sz="2400" dirty="0"/>
              <a:t>です。</a:t>
            </a:r>
            <a:endParaRPr lang="en-US" altLang="ja-JP" sz="2400" dirty="0"/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C3BDF13C-11F9-4A10-B2E3-51C56169077A}"/>
              </a:ext>
            </a:extLst>
          </p:cNvPr>
          <p:cNvSpPr/>
          <p:nvPr/>
        </p:nvSpPr>
        <p:spPr>
          <a:xfrm>
            <a:off x="1623577" y="3069008"/>
            <a:ext cx="720000" cy="720000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敵</a:t>
            </a:r>
            <a:r>
              <a:rPr kumimoji="1" lang="en-US" altLang="ja-JP" dirty="0"/>
              <a:t>A</a:t>
            </a:r>
            <a:endParaRPr kumimoji="1" lang="ja-JP" altLang="en-US" dirty="0"/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CD5EA5F2-43B2-4837-A114-F436AC5F5B77}"/>
              </a:ext>
            </a:extLst>
          </p:cNvPr>
          <p:cNvSpPr/>
          <p:nvPr/>
        </p:nvSpPr>
        <p:spPr>
          <a:xfrm>
            <a:off x="2340752" y="3069007"/>
            <a:ext cx="720000" cy="720000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敵</a:t>
            </a:r>
            <a:r>
              <a:rPr lang="en-US" altLang="ja-JP" dirty="0"/>
              <a:t>B</a:t>
            </a:r>
            <a:endParaRPr kumimoji="1" lang="ja-JP" altLang="en-US" dirty="0"/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8A54B166-919C-42C8-A095-15B98DBBBE0E}"/>
              </a:ext>
            </a:extLst>
          </p:cNvPr>
          <p:cNvSpPr/>
          <p:nvPr/>
        </p:nvSpPr>
        <p:spPr>
          <a:xfrm>
            <a:off x="3057933" y="3069003"/>
            <a:ext cx="720000" cy="720000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rgbClr val="FF0000"/>
                </a:solidFill>
              </a:rPr>
              <a:t>死亡</a:t>
            </a: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A4ACA768-A1AD-4962-96F0-DD85231B741A}"/>
              </a:ext>
            </a:extLst>
          </p:cNvPr>
          <p:cNvSpPr/>
          <p:nvPr/>
        </p:nvSpPr>
        <p:spPr>
          <a:xfrm>
            <a:off x="3775108" y="3069002"/>
            <a:ext cx="720000" cy="720000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rgbClr val="FF0000"/>
                </a:solidFill>
              </a:rPr>
              <a:t>死亡</a:t>
            </a:r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8EA5426A-0FAA-4EA4-87A6-701C7A7E0E2D}"/>
              </a:ext>
            </a:extLst>
          </p:cNvPr>
          <p:cNvSpPr/>
          <p:nvPr/>
        </p:nvSpPr>
        <p:spPr>
          <a:xfrm>
            <a:off x="4492285" y="3069000"/>
            <a:ext cx="720000" cy="720000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敵</a:t>
            </a:r>
            <a:r>
              <a:rPr lang="en-US" altLang="ja-JP" dirty="0"/>
              <a:t>E</a:t>
            </a:r>
            <a:endParaRPr kumimoji="1" lang="ja-JP" altLang="en-US" dirty="0"/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FC256E3E-3D8F-4261-945C-76B81156801B}"/>
              </a:ext>
            </a:extLst>
          </p:cNvPr>
          <p:cNvSpPr txBox="1"/>
          <p:nvPr/>
        </p:nvSpPr>
        <p:spPr>
          <a:xfrm>
            <a:off x="567542" y="3210577"/>
            <a:ext cx="80021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配列</a:t>
            </a:r>
            <a:endParaRPr lang="en-US" altLang="ja-JP" sz="2400" dirty="0"/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F6648D93-482A-4650-8377-02240CE6CDD5}"/>
              </a:ext>
            </a:extLst>
          </p:cNvPr>
          <p:cNvSpPr txBox="1"/>
          <p:nvPr/>
        </p:nvSpPr>
        <p:spPr>
          <a:xfrm>
            <a:off x="1686861" y="3808792"/>
            <a:ext cx="59343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/>
              <a:t>[0]</a:t>
            </a:r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05CA1C7B-2272-46E8-AAF6-7A4457C46394}"/>
              </a:ext>
            </a:extLst>
          </p:cNvPr>
          <p:cNvSpPr txBox="1"/>
          <p:nvPr/>
        </p:nvSpPr>
        <p:spPr>
          <a:xfrm>
            <a:off x="2404036" y="3812519"/>
            <a:ext cx="59343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/>
              <a:t>[1]</a:t>
            </a:r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57127B77-0A1C-4107-9DAC-00F8794566D4}"/>
              </a:ext>
            </a:extLst>
          </p:cNvPr>
          <p:cNvSpPr txBox="1"/>
          <p:nvPr/>
        </p:nvSpPr>
        <p:spPr>
          <a:xfrm>
            <a:off x="3118388" y="3808792"/>
            <a:ext cx="59343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/>
              <a:t>[2]</a:t>
            </a:r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0A9F0E35-8C0E-4217-8B73-3D71ED810CB9}"/>
              </a:ext>
            </a:extLst>
          </p:cNvPr>
          <p:cNvSpPr txBox="1"/>
          <p:nvPr/>
        </p:nvSpPr>
        <p:spPr>
          <a:xfrm>
            <a:off x="3832740" y="3808792"/>
            <a:ext cx="59343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/>
              <a:t>[3]</a:t>
            </a:r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1047227C-6305-4B52-BC13-E537952D3D8F}"/>
              </a:ext>
            </a:extLst>
          </p:cNvPr>
          <p:cNvSpPr txBox="1"/>
          <p:nvPr/>
        </p:nvSpPr>
        <p:spPr>
          <a:xfrm>
            <a:off x="4559314" y="3808791"/>
            <a:ext cx="59343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/>
              <a:t>[4]</a:t>
            </a:r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F005BAD8-ED42-4F6E-A818-D357FF65C1D4}"/>
              </a:ext>
            </a:extLst>
          </p:cNvPr>
          <p:cNvSpPr txBox="1"/>
          <p:nvPr/>
        </p:nvSpPr>
        <p:spPr>
          <a:xfrm>
            <a:off x="567542" y="4536652"/>
            <a:ext cx="8231741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この場合だと</a:t>
            </a:r>
            <a:r>
              <a:rPr lang="en-US" altLang="ja-JP" sz="2400" b="1" dirty="0">
                <a:solidFill>
                  <a:srgbClr val="FF0000"/>
                </a:solidFill>
              </a:rPr>
              <a:t>2</a:t>
            </a:r>
            <a:r>
              <a:rPr lang="ja-JP" altLang="en-US" sz="2400" b="1" dirty="0">
                <a:solidFill>
                  <a:srgbClr val="FF0000"/>
                </a:solidFill>
              </a:rPr>
              <a:t>番目と</a:t>
            </a:r>
            <a:r>
              <a:rPr lang="en-US" altLang="ja-JP" sz="2400" b="1" dirty="0">
                <a:solidFill>
                  <a:srgbClr val="FF0000"/>
                </a:solidFill>
              </a:rPr>
              <a:t>3</a:t>
            </a:r>
            <a:r>
              <a:rPr lang="ja-JP" altLang="en-US" sz="2400" b="1" dirty="0">
                <a:solidFill>
                  <a:srgbClr val="FF0000"/>
                </a:solidFill>
              </a:rPr>
              <a:t>番目の領域が無駄</a:t>
            </a:r>
            <a:r>
              <a:rPr lang="ja-JP" altLang="en-US" sz="2400" dirty="0"/>
              <a:t>となってします。</a:t>
            </a:r>
            <a:endParaRPr lang="en-US" altLang="ja-JP" sz="2400" dirty="0"/>
          </a:p>
          <a:p>
            <a:r>
              <a:rPr lang="ja-JP" altLang="en-US" sz="2400" dirty="0"/>
              <a:t>使いまわしたりするなど、工夫が必要になってきます。</a:t>
            </a:r>
            <a:endParaRPr lang="en-US" altLang="ja-JP" sz="2400" dirty="0"/>
          </a:p>
          <a:p>
            <a:r>
              <a:rPr lang="ja-JP" altLang="en-US" sz="2400" dirty="0"/>
              <a:t>（結局その工夫の処理が重かったりすることも。。。）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312542626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87798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配列とリストの違い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7571303" cy="452431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リストは</a:t>
            </a:r>
            <a:r>
              <a:rPr lang="ja-JP" altLang="en-US" sz="2400" b="1" dirty="0">
                <a:solidFill>
                  <a:srgbClr val="FF0000"/>
                </a:solidFill>
              </a:rPr>
              <a:t>要素を紐づけで繋ぐ</a:t>
            </a:r>
            <a:r>
              <a:rPr lang="ja-JP" altLang="en-US" sz="2400" dirty="0"/>
              <a:t>仕組みになります。</a:t>
            </a:r>
            <a:endParaRPr lang="en-US" altLang="ja-JP" sz="2400" dirty="0"/>
          </a:p>
          <a:p>
            <a:r>
              <a:rPr lang="ja-JP" altLang="en-US" sz="2400" dirty="0"/>
              <a:t>これによる良いところと悪いところがあります。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b="1" dirty="0">
                <a:solidFill>
                  <a:srgbClr val="0070C0"/>
                </a:solidFill>
              </a:rPr>
              <a:t>■良いところ</a:t>
            </a:r>
            <a:endParaRPr lang="en-US" altLang="ja-JP" sz="2400" b="1" dirty="0">
              <a:solidFill>
                <a:srgbClr val="0070C0"/>
              </a:solidFill>
            </a:endParaRPr>
          </a:p>
          <a:p>
            <a:r>
              <a:rPr lang="ja-JP" altLang="en-US" sz="2400" dirty="0"/>
              <a:t>・部分的な削除が可能</a:t>
            </a:r>
            <a:endParaRPr lang="en-US" altLang="ja-JP" sz="2400" dirty="0"/>
          </a:p>
          <a:p>
            <a:r>
              <a:rPr lang="ja-JP" altLang="en-US" sz="2400" dirty="0"/>
              <a:t>・部分的な削除が速い</a:t>
            </a:r>
            <a:endParaRPr lang="en-US" altLang="ja-JP" sz="2400" dirty="0"/>
          </a:p>
          <a:p>
            <a:r>
              <a:rPr lang="ja-JP" altLang="en-US" sz="2400" dirty="0"/>
              <a:t>・部分的な挿入が速い</a:t>
            </a:r>
            <a:endParaRPr lang="en-US" altLang="ja-JP" sz="2400" dirty="0"/>
          </a:p>
          <a:p>
            <a:r>
              <a:rPr lang="ja-JP" altLang="en-US" sz="2400" dirty="0"/>
              <a:t>・最小限の件数で管理することができる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■悪いところ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dirty="0"/>
              <a:t>・１件分の容量は配列よりも多い</a:t>
            </a:r>
            <a:endParaRPr lang="en-US" altLang="ja-JP" sz="2400" dirty="0"/>
          </a:p>
          <a:p>
            <a:r>
              <a:rPr lang="ja-JP" altLang="en-US" sz="2400" dirty="0"/>
              <a:t>・添え字アクセスができず配列よりもアクセスが遅い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54730203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87798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配列とリストの違い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49463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リストは</a:t>
            </a:r>
            <a:r>
              <a:rPr lang="ja-JP" altLang="en-US" sz="2400" b="1" dirty="0">
                <a:solidFill>
                  <a:srgbClr val="FF0000"/>
                </a:solidFill>
              </a:rPr>
              <a:t>複数の要素が紐づけでつながったもの</a:t>
            </a:r>
            <a:r>
              <a:rPr lang="ja-JP" altLang="en-US" sz="2400" dirty="0"/>
              <a:t>になります。</a:t>
            </a:r>
            <a:endParaRPr lang="en-US" altLang="ja-JP" sz="2400" dirty="0"/>
          </a:p>
          <a:p>
            <a:r>
              <a:rPr lang="ja-JP" altLang="en-US" sz="2400" dirty="0"/>
              <a:t>配列とはそもそも仕組みが違います。</a:t>
            </a:r>
            <a:endParaRPr lang="en-US" altLang="ja-JP" sz="2400" dirty="0"/>
          </a:p>
        </p:txBody>
      </p:sp>
      <p:sp>
        <p:nvSpPr>
          <p:cNvPr id="18" name="正方形/長方形 17">
            <a:extLst>
              <a:ext uri="{FF2B5EF4-FFF2-40B4-BE49-F238E27FC236}">
                <a16:creationId xmlns:a16="http://schemas.microsoft.com/office/drawing/2014/main" id="{DA95B827-8F81-4E82-B30D-D34C9330BD1F}"/>
              </a:ext>
            </a:extLst>
          </p:cNvPr>
          <p:cNvSpPr/>
          <p:nvPr/>
        </p:nvSpPr>
        <p:spPr>
          <a:xfrm>
            <a:off x="1681684" y="3285580"/>
            <a:ext cx="173153" cy="72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9" name="正方形/長方形 18">
            <a:extLst>
              <a:ext uri="{FF2B5EF4-FFF2-40B4-BE49-F238E27FC236}">
                <a16:creationId xmlns:a16="http://schemas.microsoft.com/office/drawing/2014/main" id="{F3E0F3DD-AC3B-4D01-826C-81B13FEB0528}"/>
              </a:ext>
            </a:extLst>
          </p:cNvPr>
          <p:cNvSpPr/>
          <p:nvPr/>
        </p:nvSpPr>
        <p:spPr>
          <a:xfrm>
            <a:off x="1852013" y="3285579"/>
            <a:ext cx="720000" cy="720000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敵</a:t>
            </a:r>
            <a:r>
              <a:rPr kumimoji="1" lang="en-US" altLang="ja-JP" dirty="0"/>
              <a:t>A</a:t>
            </a:r>
            <a:endParaRPr kumimoji="1" lang="ja-JP" altLang="en-US" dirty="0"/>
          </a:p>
        </p:txBody>
      </p:sp>
      <p:sp>
        <p:nvSpPr>
          <p:cNvPr id="20" name="正方形/長方形 19">
            <a:extLst>
              <a:ext uri="{FF2B5EF4-FFF2-40B4-BE49-F238E27FC236}">
                <a16:creationId xmlns:a16="http://schemas.microsoft.com/office/drawing/2014/main" id="{6BB7CA5E-B29C-45B6-8206-443FC17256AA}"/>
              </a:ext>
            </a:extLst>
          </p:cNvPr>
          <p:cNvSpPr/>
          <p:nvPr/>
        </p:nvSpPr>
        <p:spPr>
          <a:xfrm>
            <a:off x="2569194" y="3285579"/>
            <a:ext cx="173153" cy="72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1" name="正方形/長方形 20">
            <a:extLst>
              <a:ext uri="{FF2B5EF4-FFF2-40B4-BE49-F238E27FC236}">
                <a16:creationId xmlns:a16="http://schemas.microsoft.com/office/drawing/2014/main" id="{9D0FE129-714C-48B4-B974-E47F1EE8395F}"/>
              </a:ext>
            </a:extLst>
          </p:cNvPr>
          <p:cNvSpPr/>
          <p:nvPr/>
        </p:nvSpPr>
        <p:spPr>
          <a:xfrm>
            <a:off x="3133971" y="3285580"/>
            <a:ext cx="173153" cy="72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2" name="正方形/長方形 21">
            <a:extLst>
              <a:ext uri="{FF2B5EF4-FFF2-40B4-BE49-F238E27FC236}">
                <a16:creationId xmlns:a16="http://schemas.microsoft.com/office/drawing/2014/main" id="{3DEAF720-47C9-4132-8276-749D91D82A8C}"/>
              </a:ext>
            </a:extLst>
          </p:cNvPr>
          <p:cNvSpPr/>
          <p:nvPr/>
        </p:nvSpPr>
        <p:spPr>
          <a:xfrm>
            <a:off x="3304300" y="3285579"/>
            <a:ext cx="720000" cy="720000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敵</a:t>
            </a:r>
            <a:r>
              <a:rPr kumimoji="1" lang="en-US" altLang="ja-JP" dirty="0"/>
              <a:t>B</a:t>
            </a:r>
            <a:endParaRPr kumimoji="1" lang="ja-JP" altLang="en-US" dirty="0"/>
          </a:p>
        </p:txBody>
      </p:sp>
      <p:sp>
        <p:nvSpPr>
          <p:cNvPr id="23" name="正方形/長方形 22">
            <a:extLst>
              <a:ext uri="{FF2B5EF4-FFF2-40B4-BE49-F238E27FC236}">
                <a16:creationId xmlns:a16="http://schemas.microsoft.com/office/drawing/2014/main" id="{5CE36AFA-9B6C-4187-8C4F-13B9B2E84E04}"/>
              </a:ext>
            </a:extLst>
          </p:cNvPr>
          <p:cNvSpPr/>
          <p:nvPr/>
        </p:nvSpPr>
        <p:spPr>
          <a:xfrm>
            <a:off x="4021481" y="3285579"/>
            <a:ext cx="173153" cy="72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4" name="正方形/長方形 23">
            <a:extLst>
              <a:ext uri="{FF2B5EF4-FFF2-40B4-BE49-F238E27FC236}">
                <a16:creationId xmlns:a16="http://schemas.microsoft.com/office/drawing/2014/main" id="{C81CF62B-C7B1-4B73-A877-B5B0A6CBEAD0}"/>
              </a:ext>
            </a:extLst>
          </p:cNvPr>
          <p:cNvSpPr/>
          <p:nvPr/>
        </p:nvSpPr>
        <p:spPr>
          <a:xfrm>
            <a:off x="4586253" y="3285566"/>
            <a:ext cx="173153" cy="72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5" name="正方形/長方形 24">
            <a:extLst>
              <a:ext uri="{FF2B5EF4-FFF2-40B4-BE49-F238E27FC236}">
                <a16:creationId xmlns:a16="http://schemas.microsoft.com/office/drawing/2014/main" id="{C56FF7EE-62D3-4061-B21E-50125C142845}"/>
              </a:ext>
            </a:extLst>
          </p:cNvPr>
          <p:cNvSpPr/>
          <p:nvPr/>
        </p:nvSpPr>
        <p:spPr>
          <a:xfrm>
            <a:off x="4756582" y="3285565"/>
            <a:ext cx="720000" cy="720000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敵</a:t>
            </a:r>
            <a:r>
              <a:rPr kumimoji="1" lang="en-US" altLang="ja-JP" dirty="0"/>
              <a:t>C</a:t>
            </a:r>
            <a:endParaRPr kumimoji="1" lang="ja-JP" altLang="en-US" dirty="0"/>
          </a:p>
        </p:txBody>
      </p:sp>
      <p:sp>
        <p:nvSpPr>
          <p:cNvPr id="26" name="正方形/長方形 25">
            <a:extLst>
              <a:ext uri="{FF2B5EF4-FFF2-40B4-BE49-F238E27FC236}">
                <a16:creationId xmlns:a16="http://schemas.microsoft.com/office/drawing/2014/main" id="{93B29094-8F67-4206-899E-68BB79D60C5B}"/>
              </a:ext>
            </a:extLst>
          </p:cNvPr>
          <p:cNvSpPr/>
          <p:nvPr/>
        </p:nvSpPr>
        <p:spPr>
          <a:xfrm>
            <a:off x="5473763" y="3285565"/>
            <a:ext cx="173153" cy="72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7" name="正方形/長方形 26">
            <a:extLst>
              <a:ext uri="{FF2B5EF4-FFF2-40B4-BE49-F238E27FC236}">
                <a16:creationId xmlns:a16="http://schemas.microsoft.com/office/drawing/2014/main" id="{9910C834-9E61-49B5-B09E-81F005D88A1D}"/>
              </a:ext>
            </a:extLst>
          </p:cNvPr>
          <p:cNvSpPr/>
          <p:nvPr/>
        </p:nvSpPr>
        <p:spPr>
          <a:xfrm>
            <a:off x="6038540" y="3285566"/>
            <a:ext cx="173153" cy="72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8" name="正方形/長方形 27">
            <a:extLst>
              <a:ext uri="{FF2B5EF4-FFF2-40B4-BE49-F238E27FC236}">
                <a16:creationId xmlns:a16="http://schemas.microsoft.com/office/drawing/2014/main" id="{ACADC8DD-2A94-44FA-95F0-57B59802ABF9}"/>
              </a:ext>
            </a:extLst>
          </p:cNvPr>
          <p:cNvSpPr/>
          <p:nvPr/>
        </p:nvSpPr>
        <p:spPr>
          <a:xfrm>
            <a:off x="6208869" y="3285565"/>
            <a:ext cx="720000" cy="720000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敵</a:t>
            </a:r>
            <a:r>
              <a:rPr kumimoji="1" lang="en-US" altLang="ja-JP" dirty="0"/>
              <a:t>D</a:t>
            </a:r>
            <a:endParaRPr kumimoji="1" lang="ja-JP" altLang="en-US" dirty="0"/>
          </a:p>
        </p:txBody>
      </p:sp>
      <p:sp>
        <p:nvSpPr>
          <p:cNvPr id="29" name="正方形/長方形 28">
            <a:extLst>
              <a:ext uri="{FF2B5EF4-FFF2-40B4-BE49-F238E27FC236}">
                <a16:creationId xmlns:a16="http://schemas.microsoft.com/office/drawing/2014/main" id="{D451EBDD-4059-4582-ABF6-5836BD6EDE07}"/>
              </a:ext>
            </a:extLst>
          </p:cNvPr>
          <p:cNvSpPr/>
          <p:nvPr/>
        </p:nvSpPr>
        <p:spPr>
          <a:xfrm>
            <a:off x="6926050" y="3285565"/>
            <a:ext cx="173153" cy="72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0" name="正方形/長方形 29">
            <a:extLst>
              <a:ext uri="{FF2B5EF4-FFF2-40B4-BE49-F238E27FC236}">
                <a16:creationId xmlns:a16="http://schemas.microsoft.com/office/drawing/2014/main" id="{09E82CD0-70DF-4CF7-BCD6-88F8021AFEEF}"/>
              </a:ext>
            </a:extLst>
          </p:cNvPr>
          <p:cNvSpPr/>
          <p:nvPr/>
        </p:nvSpPr>
        <p:spPr>
          <a:xfrm>
            <a:off x="7490817" y="3285566"/>
            <a:ext cx="173153" cy="72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1" name="正方形/長方形 30">
            <a:extLst>
              <a:ext uri="{FF2B5EF4-FFF2-40B4-BE49-F238E27FC236}">
                <a16:creationId xmlns:a16="http://schemas.microsoft.com/office/drawing/2014/main" id="{AF36138C-BA01-4114-9FB0-4E8BD549E5D2}"/>
              </a:ext>
            </a:extLst>
          </p:cNvPr>
          <p:cNvSpPr/>
          <p:nvPr/>
        </p:nvSpPr>
        <p:spPr>
          <a:xfrm>
            <a:off x="7661146" y="3285565"/>
            <a:ext cx="720000" cy="720000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敵</a:t>
            </a:r>
            <a:r>
              <a:rPr kumimoji="1" lang="en-US" altLang="ja-JP" dirty="0"/>
              <a:t>E</a:t>
            </a:r>
            <a:endParaRPr kumimoji="1" lang="ja-JP" altLang="en-US" dirty="0"/>
          </a:p>
        </p:txBody>
      </p:sp>
      <p:sp>
        <p:nvSpPr>
          <p:cNvPr id="32" name="正方形/長方形 31">
            <a:extLst>
              <a:ext uri="{FF2B5EF4-FFF2-40B4-BE49-F238E27FC236}">
                <a16:creationId xmlns:a16="http://schemas.microsoft.com/office/drawing/2014/main" id="{DF8CB253-72C3-4B23-AEEE-2E6BC1D7D4E9}"/>
              </a:ext>
            </a:extLst>
          </p:cNvPr>
          <p:cNvSpPr/>
          <p:nvPr/>
        </p:nvSpPr>
        <p:spPr>
          <a:xfrm>
            <a:off x="8378327" y="3285565"/>
            <a:ext cx="173153" cy="72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3" name="テキスト ボックス 32">
            <a:extLst>
              <a:ext uri="{FF2B5EF4-FFF2-40B4-BE49-F238E27FC236}">
                <a16:creationId xmlns:a16="http://schemas.microsoft.com/office/drawing/2014/main" id="{8AFCA43B-438E-4314-AEBE-FB3CBFC15B8D}"/>
              </a:ext>
            </a:extLst>
          </p:cNvPr>
          <p:cNvSpPr txBox="1"/>
          <p:nvPr/>
        </p:nvSpPr>
        <p:spPr>
          <a:xfrm>
            <a:off x="567542" y="3414732"/>
            <a:ext cx="110799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リスト</a:t>
            </a:r>
            <a:endParaRPr lang="en-US" altLang="ja-JP" sz="2400" dirty="0"/>
          </a:p>
        </p:txBody>
      </p:sp>
      <p:cxnSp>
        <p:nvCxnSpPr>
          <p:cNvPr id="3" name="直線矢印コネクタ 2">
            <a:extLst>
              <a:ext uri="{FF2B5EF4-FFF2-40B4-BE49-F238E27FC236}">
                <a16:creationId xmlns:a16="http://schemas.microsoft.com/office/drawing/2014/main" id="{630D1D97-4BAA-48CD-B644-9C625BC48F1C}"/>
              </a:ext>
            </a:extLst>
          </p:cNvPr>
          <p:cNvCxnSpPr>
            <a:stCxn id="20" idx="3"/>
            <a:endCxn id="21" idx="1"/>
          </p:cNvCxnSpPr>
          <p:nvPr/>
        </p:nvCxnSpPr>
        <p:spPr>
          <a:xfrm>
            <a:off x="2742347" y="3645579"/>
            <a:ext cx="391624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直線矢印コネクタ 33">
            <a:extLst>
              <a:ext uri="{FF2B5EF4-FFF2-40B4-BE49-F238E27FC236}">
                <a16:creationId xmlns:a16="http://schemas.microsoft.com/office/drawing/2014/main" id="{ED274442-17EA-4509-AE7C-DFADE4EC6C39}"/>
              </a:ext>
            </a:extLst>
          </p:cNvPr>
          <p:cNvCxnSpPr>
            <a:cxnSpLocks/>
            <a:stCxn id="23" idx="3"/>
            <a:endCxn id="24" idx="1"/>
          </p:cNvCxnSpPr>
          <p:nvPr/>
        </p:nvCxnSpPr>
        <p:spPr>
          <a:xfrm flipV="1">
            <a:off x="4194634" y="3645566"/>
            <a:ext cx="391619" cy="1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直線矢印コネクタ 36">
            <a:extLst>
              <a:ext uri="{FF2B5EF4-FFF2-40B4-BE49-F238E27FC236}">
                <a16:creationId xmlns:a16="http://schemas.microsoft.com/office/drawing/2014/main" id="{26716924-AED9-4C7A-B3B2-D2B0234666BA}"/>
              </a:ext>
            </a:extLst>
          </p:cNvPr>
          <p:cNvCxnSpPr>
            <a:cxnSpLocks/>
            <a:stCxn id="26" idx="3"/>
            <a:endCxn id="27" idx="1"/>
          </p:cNvCxnSpPr>
          <p:nvPr/>
        </p:nvCxnSpPr>
        <p:spPr>
          <a:xfrm>
            <a:off x="5646916" y="3645565"/>
            <a:ext cx="391624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直線矢印コネクタ 39">
            <a:extLst>
              <a:ext uri="{FF2B5EF4-FFF2-40B4-BE49-F238E27FC236}">
                <a16:creationId xmlns:a16="http://schemas.microsoft.com/office/drawing/2014/main" id="{3EA9BC09-5DC5-425C-8FFF-C2E09A443DE5}"/>
              </a:ext>
            </a:extLst>
          </p:cNvPr>
          <p:cNvCxnSpPr>
            <a:cxnSpLocks/>
            <a:stCxn id="29" idx="3"/>
            <a:endCxn id="30" idx="1"/>
          </p:cNvCxnSpPr>
          <p:nvPr/>
        </p:nvCxnSpPr>
        <p:spPr>
          <a:xfrm>
            <a:off x="7099203" y="3645565"/>
            <a:ext cx="391614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119274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87798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配列とリストの違い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787908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リストは</a:t>
            </a:r>
            <a:r>
              <a:rPr lang="ja-JP" altLang="en-US" sz="2400" b="1" dirty="0">
                <a:solidFill>
                  <a:srgbClr val="FF0000"/>
                </a:solidFill>
              </a:rPr>
              <a:t>部分削除を非常に効率よく行えます。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b="1" dirty="0">
                <a:solidFill>
                  <a:srgbClr val="FF0000"/>
                </a:solidFill>
              </a:rPr>
              <a:t>削除したところの紐を結びなおすだけ</a:t>
            </a:r>
            <a:r>
              <a:rPr lang="ja-JP" altLang="en-US" sz="2400" dirty="0"/>
              <a:t>で良いからです。</a:t>
            </a:r>
            <a:endParaRPr lang="en-US" altLang="ja-JP" sz="2400" dirty="0"/>
          </a:p>
        </p:txBody>
      </p:sp>
      <p:sp>
        <p:nvSpPr>
          <p:cNvPr id="18" name="正方形/長方形 17">
            <a:extLst>
              <a:ext uri="{FF2B5EF4-FFF2-40B4-BE49-F238E27FC236}">
                <a16:creationId xmlns:a16="http://schemas.microsoft.com/office/drawing/2014/main" id="{DA95B827-8F81-4E82-B30D-D34C9330BD1F}"/>
              </a:ext>
            </a:extLst>
          </p:cNvPr>
          <p:cNvSpPr/>
          <p:nvPr/>
        </p:nvSpPr>
        <p:spPr>
          <a:xfrm>
            <a:off x="1681684" y="3285580"/>
            <a:ext cx="173153" cy="72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9" name="正方形/長方形 18">
            <a:extLst>
              <a:ext uri="{FF2B5EF4-FFF2-40B4-BE49-F238E27FC236}">
                <a16:creationId xmlns:a16="http://schemas.microsoft.com/office/drawing/2014/main" id="{F3E0F3DD-AC3B-4D01-826C-81B13FEB0528}"/>
              </a:ext>
            </a:extLst>
          </p:cNvPr>
          <p:cNvSpPr/>
          <p:nvPr/>
        </p:nvSpPr>
        <p:spPr>
          <a:xfrm>
            <a:off x="1852013" y="3285579"/>
            <a:ext cx="720000" cy="720000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敵</a:t>
            </a:r>
            <a:r>
              <a:rPr kumimoji="1" lang="en-US" altLang="ja-JP" dirty="0"/>
              <a:t>A</a:t>
            </a:r>
            <a:endParaRPr kumimoji="1" lang="ja-JP" altLang="en-US" dirty="0"/>
          </a:p>
        </p:txBody>
      </p:sp>
      <p:sp>
        <p:nvSpPr>
          <p:cNvPr id="20" name="正方形/長方形 19">
            <a:extLst>
              <a:ext uri="{FF2B5EF4-FFF2-40B4-BE49-F238E27FC236}">
                <a16:creationId xmlns:a16="http://schemas.microsoft.com/office/drawing/2014/main" id="{6BB7CA5E-B29C-45B6-8206-443FC17256AA}"/>
              </a:ext>
            </a:extLst>
          </p:cNvPr>
          <p:cNvSpPr/>
          <p:nvPr/>
        </p:nvSpPr>
        <p:spPr>
          <a:xfrm>
            <a:off x="2569194" y="3285579"/>
            <a:ext cx="173153" cy="72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1" name="正方形/長方形 20">
            <a:extLst>
              <a:ext uri="{FF2B5EF4-FFF2-40B4-BE49-F238E27FC236}">
                <a16:creationId xmlns:a16="http://schemas.microsoft.com/office/drawing/2014/main" id="{9D0FE129-714C-48B4-B974-E47F1EE8395F}"/>
              </a:ext>
            </a:extLst>
          </p:cNvPr>
          <p:cNvSpPr/>
          <p:nvPr/>
        </p:nvSpPr>
        <p:spPr>
          <a:xfrm>
            <a:off x="3133971" y="3285580"/>
            <a:ext cx="173153" cy="72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2" name="正方形/長方形 21">
            <a:extLst>
              <a:ext uri="{FF2B5EF4-FFF2-40B4-BE49-F238E27FC236}">
                <a16:creationId xmlns:a16="http://schemas.microsoft.com/office/drawing/2014/main" id="{3DEAF720-47C9-4132-8276-749D91D82A8C}"/>
              </a:ext>
            </a:extLst>
          </p:cNvPr>
          <p:cNvSpPr/>
          <p:nvPr/>
        </p:nvSpPr>
        <p:spPr>
          <a:xfrm>
            <a:off x="3304300" y="3285579"/>
            <a:ext cx="720000" cy="720000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敵</a:t>
            </a:r>
            <a:r>
              <a:rPr kumimoji="1" lang="en-US" altLang="ja-JP" dirty="0"/>
              <a:t>B</a:t>
            </a:r>
            <a:endParaRPr kumimoji="1" lang="ja-JP" altLang="en-US" dirty="0"/>
          </a:p>
        </p:txBody>
      </p:sp>
      <p:sp>
        <p:nvSpPr>
          <p:cNvPr id="23" name="正方形/長方形 22">
            <a:extLst>
              <a:ext uri="{FF2B5EF4-FFF2-40B4-BE49-F238E27FC236}">
                <a16:creationId xmlns:a16="http://schemas.microsoft.com/office/drawing/2014/main" id="{5CE36AFA-9B6C-4187-8C4F-13B9B2E84E04}"/>
              </a:ext>
            </a:extLst>
          </p:cNvPr>
          <p:cNvSpPr/>
          <p:nvPr/>
        </p:nvSpPr>
        <p:spPr>
          <a:xfrm>
            <a:off x="4021481" y="3285579"/>
            <a:ext cx="173153" cy="72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4" name="正方形/長方形 23">
            <a:extLst>
              <a:ext uri="{FF2B5EF4-FFF2-40B4-BE49-F238E27FC236}">
                <a16:creationId xmlns:a16="http://schemas.microsoft.com/office/drawing/2014/main" id="{C81CF62B-C7B1-4B73-A877-B5B0A6CBEAD0}"/>
              </a:ext>
            </a:extLst>
          </p:cNvPr>
          <p:cNvSpPr/>
          <p:nvPr/>
        </p:nvSpPr>
        <p:spPr>
          <a:xfrm>
            <a:off x="4541430" y="2319943"/>
            <a:ext cx="173153" cy="720000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5" name="正方形/長方形 24">
            <a:extLst>
              <a:ext uri="{FF2B5EF4-FFF2-40B4-BE49-F238E27FC236}">
                <a16:creationId xmlns:a16="http://schemas.microsoft.com/office/drawing/2014/main" id="{C56FF7EE-62D3-4061-B21E-50125C142845}"/>
              </a:ext>
            </a:extLst>
          </p:cNvPr>
          <p:cNvSpPr/>
          <p:nvPr/>
        </p:nvSpPr>
        <p:spPr>
          <a:xfrm>
            <a:off x="4711759" y="2319942"/>
            <a:ext cx="720000" cy="720000"/>
          </a:xfrm>
          <a:prstGeom prst="rect">
            <a:avLst/>
          </a:prstGeom>
          <a:ln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rgbClr val="FF0000"/>
                </a:solidFill>
              </a:rPr>
              <a:t>死亡</a:t>
            </a:r>
          </a:p>
        </p:txBody>
      </p:sp>
      <p:sp>
        <p:nvSpPr>
          <p:cNvPr id="26" name="正方形/長方形 25">
            <a:extLst>
              <a:ext uri="{FF2B5EF4-FFF2-40B4-BE49-F238E27FC236}">
                <a16:creationId xmlns:a16="http://schemas.microsoft.com/office/drawing/2014/main" id="{93B29094-8F67-4206-899E-68BB79D60C5B}"/>
              </a:ext>
            </a:extLst>
          </p:cNvPr>
          <p:cNvSpPr/>
          <p:nvPr/>
        </p:nvSpPr>
        <p:spPr>
          <a:xfrm>
            <a:off x="5428940" y="2319942"/>
            <a:ext cx="173153" cy="720000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7" name="正方形/長方形 26">
            <a:extLst>
              <a:ext uri="{FF2B5EF4-FFF2-40B4-BE49-F238E27FC236}">
                <a16:creationId xmlns:a16="http://schemas.microsoft.com/office/drawing/2014/main" id="{9910C834-9E61-49B5-B09E-81F005D88A1D}"/>
              </a:ext>
            </a:extLst>
          </p:cNvPr>
          <p:cNvSpPr/>
          <p:nvPr/>
        </p:nvSpPr>
        <p:spPr>
          <a:xfrm>
            <a:off x="6038540" y="3285566"/>
            <a:ext cx="173153" cy="72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8" name="正方形/長方形 27">
            <a:extLst>
              <a:ext uri="{FF2B5EF4-FFF2-40B4-BE49-F238E27FC236}">
                <a16:creationId xmlns:a16="http://schemas.microsoft.com/office/drawing/2014/main" id="{ACADC8DD-2A94-44FA-95F0-57B59802ABF9}"/>
              </a:ext>
            </a:extLst>
          </p:cNvPr>
          <p:cNvSpPr/>
          <p:nvPr/>
        </p:nvSpPr>
        <p:spPr>
          <a:xfrm>
            <a:off x="6208869" y="3285565"/>
            <a:ext cx="720000" cy="720000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敵</a:t>
            </a:r>
            <a:r>
              <a:rPr kumimoji="1" lang="en-US" altLang="ja-JP" dirty="0"/>
              <a:t>D</a:t>
            </a:r>
            <a:endParaRPr kumimoji="1" lang="ja-JP" altLang="en-US" dirty="0"/>
          </a:p>
        </p:txBody>
      </p:sp>
      <p:sp>
        <p:nvSpPr>
          <p:cNvPr id="29" name="正方形/長方形 28">
            <a:extLst>
              <a:ext uri="{FF2B5EF4-FFF2-40B4-BE49-F238E27FC236}">
                <a16:creationId xmlns:a16="http://schemas.microsoft.com/office/drawing/2014/main" id="{D451EBDD-4059-4582-ABF6-5836BD6EDE07}"/>
              </a:ext>
            </a:extLst>
          </p:cNvPr>
          <p:cNvSpPr/>
          <p:nvPr/>
        </p:nvSpPr>
        <p:spPr>
          <a:xfrm>
            <a:off x="6926050" y="3285565"/>
            <a:ext cx="173153" cy="72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0" name="正方形/長方形 29">
            <a:extLst>
              <a:ext uri="{FF2B5EF4-FFF2-40B4-BE49-F238E27FC236}">
                <a16:creationId xmlns:a16="http://schemas.microsoft.com/office/drawing/2014/main" id="{09E82CD0-70DF-4CF7-BCD6-88F8021AFEEF}"/>
              </a:ext>
            </a:extLst>
          </p:cNvPr>
          <p:cNvSpPr/>
          <p:nvPr/>
        </p:nvSpPr>
        <p:spPr>
          <a:xfrm>
            <a:off x="7490817" y="3285566"/>
            <a:ext cx="173153" cy="72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1" name="正方形/長方形 30">
            <a:extLst>
              <a:ext uri="{FF2B5EF4-FFF2-40B4-BE49-F238E27FC236}">
                <a16:creationId xmlns:a16="http://schemas.microsoft.com/office/drawing/2014/main" id="{AF36138C-BA01-4114-9FB0-4E8BD549E5D2}"/>
              </a:ext>
            </a:extLst>
          </p:cNvPr>
          <p:cNvSpPr/>
          <p:nvPr/>
        </p:nvSpPr>
        <p:spPr>
          <a:xfrm>
            <a:off x="7661146" y="3285565"/>
            <a:ext cx="720000" cy="720000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敵</a:t>
            </a:r>
            <a:r>
              <a:rPr kumimoji="1" lang="en-US" altLang="ja-JP" dirty="0"/>
              <a:t>E</a:t>
            </a:r>
            <a:endParaRPr kumimoji="1" lang="ja-JP" altLang="en-US" dirty="0"/>
          </a:p>
        </p:txBody>
      </p:sp>
      <p:sp>
        <p:nvSpPr>
          <p:cNvPr id="32" name="正方形/長方形 31">
            <a:extLst>
              <a:ext uri="{FF2B5EF4-FFF2-40B4-BE49-F238E27FC236}">
                <a16:creationId xmlns:a16="http://schemas.microsoft.com/office/drawing/2014/main" id="{DF8CB253-72C3-4B23-AEEE-2E6BC1D7D4E9}"/>
              </a:ext>
            </a:extLst>
          </p:cNvPr>
          <p:cNvSpPr/>
          <p:nvPr/>
        </p:nvSpPr>
        <p:spPr>
          <a:xfrm>
            <a:off x="8378327" y="3285565"/>
            <a:ext cx="173153" cy="72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3" name="テキスト ボックス 32">
            <a:extLst>
              <a:ext uri="{FF2B5EF4-FFF2-40B4-BE49-F238E27FC236}">
                <a16:creationId xmlns:a16="http://schemas.microsoft.com/office/drawing/2014/main" id="{8AFCA43B-438E-4314-AEBE-FB3CBFC15B8D}"/>
              </a:ext>
            </a:extLst>
          </p:cNvPr>
          <p:cNvSpPr txBox="1"/>
          <p:nvPr/>
        </p:nvSpPr>
        <p:spPr>
          <a:xfrm>
            <a:off x="567542" y="3414732"/>
            <a:ext cx="110799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リスト</a:t>
            </a:r>
            <a:endParaRPr lang="en-US" altLang="ja-JP" sz="2400" dirty="0"/>
          </a:p>
        </p:txBody>
      </p:sp>
      <p:cxnSp>
        <p:nvCxnSpPr>
          <p:cNvPr id="3" name="直線矢印コネクタ 2">
            <a:extLst>
              <a:ext uri="{FF2B5EF4-FFF2-40B4-BE49-F238E27FC236}">
                <a16:creationId xmlns:a16="http://schemas.microsoft.com/office/drawing/2014/main" id="{630D1D97-4BAA-48CD-B644-9C625BC48F1C}"/>
              </a:ext>
            </a:extLst>
          </p:cNvPr>
          <p:cNvCxnSpPr>
            <a:stCxn id="20" idx="3"/>
            <a:endCxn id="21" idx="1"/>
          </p:cNvCxnSpPr>
          <p:nvPr/>
        </p:nvCxnSpPr>
        <p:spPr>
          <a:xfrm>
            <a:off x="2742347" y="3645579"/>
            <a:ext cx="391624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直線矢印コネクタ 33">
            <a:extLst>
              <a:ext uri="{FF2B5EF4-FFF2-40B4-BE49-F238E27FC236}">
                <a16:creationId xmlns:a16="http://schemas.microsoft.com/office/drawing/2014/main" id="{ED274442-17EA-4509-AE7C-DFADE4EC6C39}"/>
              </a:ext>
            </a:extLst>
          </p:cNvPr>
          <p:cNvCxnSpPr>
            <a:cxnSpLocks/>
            <a:stCxn id="23" idx="3"/>
            <a:endCxn id="27" idx="1"/>
          </p:cNvCxnSpPr>
          <p:nvPr/>
        </p:nvCxnSpPr>
        <p:spPr>
          <a:xfrm flipV="1">
            <a:off x="4194634" y="3645566"/>
            <a:ext cx="1843906" cy="1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直線矢印コネクタ 39">
            <a:extLst>
              <a:ext uri="{FF2B5EF4-FFF2-40B4-BE49-F238E27FC236}">
                <a16:creationId xmlns:a16="http://schemas.microsoft.com/office/drawing/2014/main" id="{3EA9BC09-5DC5-425C-8FFF-C2E09A443DE5}"/>
              </a:ext>
            </a:extLst>
          </p:cNvPr>
          <p:cNvCxnSpPr>
            <a:cxnSpLocks/>
            <a:stCxn id="29" idx="3"/>
            <a:endCxn id="30" idx="1"/>
          </p:cNvCxnSpPr>
          <p:nvPr/>
        </p:nvCxnSpPr>
        <p:spPr>
          <a:xfrm>
            <a:off x="7099203" y="3645565"/>
            <a:ext cx="391614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テキスト ボックス 34">
            <a:extLst>
              <a:ext uri="{FF2B5EF4-FFF2-40B4-BE49-F238E27FC236}">
                <a16:creationId xmlns:a16="http://schemas.microsoft.com/office/drawing/2014/main" id="{320B3E9E-31CD-46A9-9285-A0F7584B5BF7}"/>
              </a:ext>
            </a:extLst>
          </p:cNvPr>
          <p:cNvSpPr txBox="1"/>
          <p:nvPr/>
        </p:nvSpPr>
        <p:spPr>
          <a:xfrm>
            <a:off x="3485371" y="4047248"/>
            <a:ext cx="326243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ここを繋ぎなおすだけ</a:t>
            </a:r>
            <a:endParaRPr lang="en-US" altLang="ja-JP" sz="2400" dirty="0"/>
          </a:p>
        </p:txBody>
      </p:sp>
      <p:sp>
        <p:nvSpPr>
          <p:cNvPr id="38" name="テキスト ボックス 37">
            <a:extLst>
              <a:ext uri="{FF2B5EF4-FFF2-40B4-BE49-F238E27FC236}">
                <a16:creationId xmlns:a16="http://schemas.microsoft.com/office/drawing/2014/main" id="{E01F972C-0097-4049-BC38-C3B35B743345}"/>
              </a:ext>
            </a:extLst>
          </p:cNvPr>
          <p:cNvSpPr txBox="1"/>
          <p:nvPr/>
        </p:nvSpPr>
        <p:spPr>
          <a:xfrm>
            <a:off x="567542" y="4810575"/>
            <a:ext cx="757130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b="1" dirty="0">
                <a:solidFill>
                  <a:srgbClr val="FF0000"/>
                </a:solidFill>
              </a:rPr>
              <a:t>同様に紐をつなぎなおせば中間への挿入も簡単です。</a:t>
            </a:r>
            <a:endParaRPr lang="en-US" altLang="ja-JP" sz="24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2795127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87798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配列とリストの違い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695575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また部分削除がいつでもできるため、</a:t>
            </a:r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常に最小限の要素数で管理することができます。</a:t>
            </a:r>
            <a:endParaRPr lang="en-US" altLang="ja-JP" sz="2400" b="1" dirty="0">
              <a:solidFill>
                <a:srgbClr val="FF0000"/>
              </a:solidFill>
            </a:endParaRPr>
          </a:p>
        </p:txBody>
      </p:sp>
      <p:sp>
        <p:nvSpPr>
          <p:cNvPr id="18" name="正方形/長方形 17">
            <a:extLst>
              <a:ext uri="{FF2B5EF4-FFF2-40B4-BE49-F238E27FC236}">
                <a16:creationId xmlns:a16="http://schemas.microsoft.com/office/drawing/2014/main" id="{DA95B827-8F81-4E82-B30D-D34C9330BD1F}"/>
              </a:ext>
            </a:extLst>
          </p:cNvPr>
          <p:cNvSpPr/>
          <p:nvPr/>
        </p:nvSpPr>
        <p:spPr>
          <a:xfrm>
            <a:off x="1681684" y="3285580"/>
            <a:ext cx="173153" cy="72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9" name="正方形/長方形 18">
            <a:extLst>
              <a:ext uri="{FF2B5EF4-FFF2-40B4-BE49-F238E27FC236}">
                <a16:creationId xmlns:a16="http://schemas.microsoft.com/office/drawing/2014/main" id="{F3E0F3DD-AC3B-4D01-826C-81B13FEB0528}"/>
              </a:ext>
            </a:extLst>
          </p:cNvPr>
          <p:cNvSpPr/>
          <p:nvPr/>
        </p:nvSpPr>
        <p:spPr>
          <a:xfrm>
            <a:off x="1852013" y="3285579"/>
            <a:ext cx="720000" cy="720000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敵</a:t>
            </a:r>
            <a:r>
              <a:rPr kumimoji="1" lang="en-US" altLang="ja-JP" dirty="0"/>
              <a:t>A</a:t>
            </a:r>
            <a:endParaRPr kumimoji="1" lang="ja-JP" altLang="en-US" dirty="0"/>
          </a:p>
        </p:txBody>
      </p:sp>
      <p:sp>
        <p:nvSpPr>
          <p:cNvPr id="20" name="正方形/長方形 19">
            <a:extLst>
              <a:ext uri="{FF2B5EF4-FFF2-40B4-BE49-F238E27FC236}">
                <a16:creationId xmlns:a16="http://schemas.microsoft.com/office/drawing/2014/main" id="{6BB7CA5E-B29C-45B6-8206-443FC17256AA}"/>
              </a:ext>
            </a:extLst>
          </p:cNvPr>
          <p:cNvSpPr/>
          <p:nvPr/>
        </p:nvSpPr>
        <p:spPr>
          <a:xfrm>
            <a:off x="2569194" y="3285579"/>
            <a:ext cx="173153" cy="72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1" name="正方形/長方形 20">
            <a:extLst>
              <a:ext uri="{FF2B5EF4-FFF2-40B4-BE49-F238E27FC236}">
                <a16:creationId xmlns:a16="http://schemas.microsoft.com/office/drawing/2014/main" id="{9D0FE129-714C-48B4-B974-E47F1EE8395F}"/>
              </a:ext>
            </a:extLst>
          </p:cNvPr>
          <p:cNvSpPr/>
          <p:nvPr/>
        </p:nvSpPr>
        <p:spPr>
          <a:xfrm>
            <a:off x="3133971" y="3285580"/>
            <a:ext cx="173153" cy="72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2" name="正方形/長方形 21">
            <a:extLst>
              <a:ext uri="{FF2B5EF4-FFF2-40B4-BE49-F238E27FC236}">
                <a16:creationId xmlns:a16="http://schemas.microsoft.com/office/drawing/2014/main" id="{3DEAF720-47C9-4132-8276-749D91D82A8C}"/>
              </a:ext>
            </a:extLst>
          </p:cNvPr>
          <p:cNvSpPr/>
          <p:nvPr/>
        </p:nvSpPr>
        <p:spPr>
          <a:xfrm>
            <a:off x="3304300" y="3285579"/>
            <a:ext cx="720000" cy="720000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敵</a:t>
            </a:r>
            <a:r>
              <a:rPr kumimoji="1" lang="en-US" altLang="ja-JP" dirty="0"/>
              <a:t>B</a:t>
            </a:r>
            <a:endParaRPr kumimoji="1" lang="ja-JP" altLang="en-US" dirty="0"/>
          </a:p>
        </p:txBody>
      </p:sp>
      <p:sp>
        <p:nvSpPr>
          <p:cNvPr id="23" name="正方形/長方形 22">
            <a:extLst>
              <a:ext uri="{FF2B5EF4-FFF2-40B4-BE49-F238E27FC236}">
                <a16:creationId xmlns:a16="http://schemas.microsoft.com/office/drawing/2014/main" id="{5CE36AFA-9B6C-4187-8C4F-13B9B2E84E04}"/>
              </a:ext>
            </a:extLst>
          </p:cNvPr>
          <p:cNvSpPr/>
          <p:nvPr/>
        </p:nvSpPr>
        <p:spPr>
          <a:xfrm>
            <a:off x="4021481" y="3285579"/>
            <a:ext cx="173153" cy="72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7" name="正方形/長方形 26">
            <a:extLst>
              <a:ext uri="{FF2B5EF4-FFF2-40B4-BE49-F238E27FC236}">
                <a16:creationId xmlns:a16="http://schemas.microsoft.com/office/drawing/2014/main" id="{9910C834-9E61-49B5-B09E-81F005D88A1D}"/>
              </a:ext>
            </a:extLst>
          </p:cNvPr>
          <p:cNvSpPr/>
          <p:nvPr/>
        </p:nvSpPr>
        <p:spPr>
          <a:xfrm>
            <a:off x="6038540" y="3285566"/>
            <a:ext cx="173153" cy="72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8" name="正方形/長方形 27">
            <a:extLst>
              <a:ext uri="{FF2B5EF4-FFF2-40B4-BE49-F238E27FC236}">
                <a16:creationId xmlns:a16="http://schemas.microsoft.com/office/drawing/2014/main" id="{ACADC8DD-2A94-44FA-95F0-57B59802ABF9}"/>
              </a:ext>
            </a:extLst>
          </p:cNvPr>
          <p:cNvSpPr/>
          <p:nvPr/>
        </p:nvSpPr>
        <p:spPr>
          <a:xfrm>
            <a:off x="6208869" y="3285565"/>
            <a:ext cx="720000" cy="720000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敵</a:t>
            </a:r>
            <a:r>
              <a:rPr kumimoji="1" lang="en-US" altLang="ja-JP" dirty="0"/>
              <a:t>D</a:t>
            </a:r>
            <a:endParaRPr kumimoji="1" lang="ja-JP" altLang="en-US" dirty="0"/>
          </a:p>
        </p:txBody>
      </p:sp>
      <p:sp>
        <p:nvSpPr>
          <p:cNvPr id="29" name="正方形/長方形 28">
            <a:extLst>
              <a:ext uri="{FF2B5EF4-FFF2-40B4-BE49-F238E27FC236}">
                <a16:creationId xmlns:a16="http://schemas.microsoft.com/office/drawing/2014/main" id="{D451EBDD-4059-4582-ABF6-5836BD6EDE07}"/>
              </a:ext>
            </a:extLst>
          </p:cNvPr>
          <p:cNvSpPr/>
          <p:nvPr/>
        </p:nvSpPr>
        <p:spPr>
          <a:xfrm>
            <a:off x="6926050" y="3285565"/>
            <a:ext cx="173153" cy="72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0" name="正方形/長方形 29">
            <a:extLst>
              <a:ext uri="{FF2B5EF4-FFF2-40B4-BE49-F238E27FC236}">
                <a16:creationId xmlns:a16="http://schemas.microsoft.com/office/drawing/2014/main" id="{09E82CD0-70DF-4CF7-BCD6-88F8021AFEEF}"/>
              </a:ext>
            </a:extLst>
          </p:cNvPr>
          <p:cNvSpPr/>
          <p:nvPr/>
        </p:nvSpPr>
        <p:spPr>
          <a:xfrm>
            <a:off x="7490817" y="3285566"/>
            <a:ext cx="173153" cy="72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1" name="正方形/長方形 30">
            <a:extLst>
              <a:ext uri="{FF2B5EF4-FFF2-40B4-BE49-F238E27FC236}">
                <a16:creationId xmlns:a16="http://schemas.microsoft.com/office/drawing/2014/main" id="{AF36138C-BA01-4114-9FB0-4E8BD549E5D2}"/>
              </a:ext>
            </a:extLst>
          </p:cNvPr>
          <p:cNvSpPr/>
          <p:nvPr/>
        </p:nvSpPr>
        <p:spPr>
          <a:xfrm>
            <a:off x="7661146" y="3285565"/>
            <a:ext cx="720000" cy="720000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敵</a:t>
            </a:r>
            <a:r>
              <a:rPr kumimoji="1" lang="en-US" altLang="ja-JP" dirty="0"/>
              <a:t>E</a:t>
            </a:r>
            <a:endParaRPr kumimoji="1" lang="ja-JP" altLang="en-US" dirty="0"/>
          </a:p>
        </p:txBody>
      </p:sp>
      <p:sp>
        <p:nvSpPr>
          <p:cNvPr id="32" name="正方形/長方形 31">
            <a:extLst>
              <a:ext uri="{FF2B5EF4-FFF2-40B4-BE49-F238E27FC236}">
                <a16:creationId xmlns:a16="http://schemas.microsoft.com/office/drawing/2014/main" id="{DF8CB253-72C3-4B23-AEEE-2E6BC1D7D4E9}"/>
              </a:ext>
            </a:extLst>
          </p:cNvPr>
          <p:cNvSpPr/>
          <p:nvPr/>
        </p:nvSpPr>
        <p:spPr>
          <a:xfrm>
            <a:off x="8378327" y="3285565"/>
            <a:ext cx="173153" cy="72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3" name="テキスト ボックス 32">
            <a:extLst>
              <a:ext uri="{FF2B5EF4-FFF2-40B4-BE49-F238E27FC236}">
                <a16:creationId xmlns:a16="http://schemas.microsoft.com/office/drawing/2014/main" id="{8AFCA43B-438E-4314-AEBE-FB3CBFC15B8D}"/>
              </a:ext>
            </a:extLst>
          </p:cNvPr>
          <p:cNvSpPr txBox="1"/>
          <p:nvPr/>
        </p:nvSpPr>
        <p:spPr>
          <a:xfrm>
            <a:off x="567542" y="3414732"/>
            <a:ext cx="110799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リスト</a:t>
            </a:r>
            <a:endParaRPr lang="en-US" altLang="ja-JP" sz="2400" dirty="0"/>
          </a:p>
        </p:txBody>
      </p:sp>
      <p:cxnSp>
        <p:nvCxnSpPr>
          <p:cNvPr id="3" name="直線矢印コネクタ 2">
            <a:extLst>
              <a:ext uri="{FF2B5EF4-FFF2-40B4-BE49-F238E27FC236}">
                <a16:creationId xmlns:a16="http://schemas.microsoft.com/office/drawing/2014/main" id="{630D1D97-4BAA-48CD-B644-9C625BC48F1C}"/>
              </a:ext>
            </a:extLst>
          </p:cNvPr>
          <p:cNvCxnSpPr>
            <a:stCxn id="20" idx="3"/>
            <a:endCxn id="21" idx="1"/>
          </p:cNvCxnSpPr>
          <p:nvPr/>
        </p:nvCxnSpPr>
        <p:spPr>
          <a:xfrm>
            <a:off x="2742347" y="3645579"/>
            <a:ext cx="391624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直線矢印コネクタ 33">
            <a:extLst>
              <a:ext uri="{FF2B5EF4-FFF2-40B4-BE49-F238E27FC236}">
                <a16:creationId xmlns:a16="http://schemas.microsoft.com/office/drawing/2014/main" id="{ED274442-17EA-4509-AE7C-DFADE4EC6C39}"/>
              </a:ext>
            </a:extLst>
          </p:cNvPr>
          <p:cNvCxnSpPr>
            <a:cxnSpLocks/>
            <a:stCxn id="23" idx="3"/>
            <a:endCxn id="27" idx="1"/>
          </p:cNvCxnSpPr>
          <p:nvPr/>
        </p:nvCxnSpPr>
        <p:spPr>
          <a:xfrm flipV="1">
            <a:off x="4194634" y="3645566"/>
            <a:ext cx="1843906" cy="1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直線矢印コネクタ 39">
            <a:extLst>
              <a:ext uri="{FF2B5EF4-FFF2-40B4-BE49-F238E27FC236}">
                <a16:creationId xmlns:a16="http://schemas.microsoft.com/office/drawing/2014/main" id="{3EA9BC09-5DC5-425C-8FFF-C2E09A443DE5}"/>
              </a:ext>
            </a:extLst>
          </p:cNvPr>
          <p:cNvCxnSpPr>
            <a:cxnSpLocks/>
            <a:stCxn id="29" idx="3"/>
            <a:endCxn id="30" idx="1"/>
          </p:cNvCxnSpPr>
          <p:nvPr/>
        </p:nvCxnSpPr>
        <p:spPr>
          <a:xfrm>
            <a:off x="7099203" y="3645565"/>
            <a:ext cx="391614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0926249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87798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配列とリストの違い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726352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ただし、</a:t>
            </a:r>
            <a:r>
              <a:rPr lang="ja-JP" altLang="en-US" sz="2400" b="1" dirty="0">
                <a:solidFill>
                  <a:srgbClr val="FF0000"/>
                </a:solidFill>
              </a:rPr>
              <a:t>紐づけに必要なデータが必要</a:t>
            </a:r>
            <a:r>
              <a:rPr lang="ja-JP" altLang="en-US" sz="2400" dirty="0"/>
              <a:t>なので、</a:t>
            </a:r>
            <a:endParaRPr lang="en-US" altLang="ja-JP" sz="2400" dirty="0"/>
          </a:p>
          <a:p>
            <a:r>
              <a:rPr lang="ja-JP" altLang="en-US" sz="2400" dirty="0"/>
              <a:t>１件分のデータサイズは配列よりも多くなります。</a:t>
            </a:r>
            <a:endParaRPr lang="en-US" altLang="ja-JP" sz="2400" dirty="0"/>
          </a:p>
        </p:txBody>
      </p:sp>
      <p:sp>
        <p:nvSpPr>
          <p:cNvPr id="18" name="正方形/長方形 17">
            <a:extLst>
              <a:ext uri="{FF2B5EF4-FFF2-40B4-BE49-F238E27FC236}">
                <a16:creationId xmlns:a16="http://schemas.microsoft.com/office/drawing/2014/main" id="{DA95B827-8F81-4E82-B30D-D34C9330BD1F}"/>
              </a:ext>
            </a:extLst>
          </p:cNvPr>
          <p:cNvSpPr/>
          <p:nvPr/>
        </p:nvSpPr>
        <p:spPr>
          <a:xfrm>
            <a:off x="1681684" y="3285580"/>
            <a:ext cx="173153" cy="720000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9" name="正方形/長方形 18">
            <a:extLst>
              <a:ext uri="{FF2B5EF4-FFF2-40B4-BE49-F238E27FC236}">
                <a16:creationId xmlns:a16="http://schemas.microsoft.com/office/drawing/2014/main" id="{F3E0F3DD-AC3B-4D01-826C-81B13FEB0528}"/>
              </a:ext>
            </a:extLst>
          </p:cNvPr>
          <p:cNvSpPr/>
          <p:nvPr/>
        </p:nvSpPr>
        <p:spPr>
          <a:xfrm>
            <a:off x="1852013" y="3285579"/>
            <a:ext cx="720000" cy="720000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敵</a:t>
            </a:r>
            <a:r>
              <a:rPr kumimoji="1" lang="en-US" altLang="ja-JP" dirty="0"/>
              <a:t>A</a:t>
            </a:r>
            <a:endParaRPr kumimoji="1" lang="ja-JP" altLang="en-US" dirty="0"/>
          </a:p>
        </p:txBody>
      </p:sp>
      <p:sp>
        <p:nvSpPr>
          <p:cNvPr id="20" name="正方形/長方形 19">
            <a:extLst>
              <a:ext uri="{FF2B5EF4-FFF2-40B4-BE49-F238E27FC236}">
                <a16:creationId xmlns:a16="http://schemas.microsoft.com/office/drawing/2014/main" id="{6BB7CA5E-B29C-45B6-8206-443FC17256AA}"/>
              </a:ext>
            </a:extLst>
          </p:cNvPr>
          <p:cNvSpPr/>
          <p:nvPr/>
        </p:nvSpPr>
        <p:spPr>
          <a:xfrm>
            <a:off x="2569194" y="3285579"/>
            <a:ext cx="173153" cy="720000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1" name="正方形/長方形 20">
            <a:extLst>
              <a:ext uri="{FF2B5EF4-FFF2-40B4-BE49-F238E27FC236}">
                <a16:creationId xmlns:a16="http://schemas.microsoft.com/office/drawing/2014/main" id="{9D0FE129-714C-48B4-B974-E47F1EE8395F}"/>
              </a:ext>
            </a:extLst>
          </p:cNvPr>
          <p:cNvSpPr/>
          <p:nvPr/>
        </p:nvSpPr>
        <p:spPr>
          <a:xfrm>
            <a:off x="3133971" y="3285580"/>
            <a:ext cx="173153" cy="720000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2" name="正方形/長方形 21">
            <a:extLst>
              <a:ext uri="{FF2B5EF4-FFF2-40B4-BE49-F238E27FC236}">
                <a16:creationId xmlns:a16="http://schemas.microsoft.com/office/drawing/2014/main" id="{3DEAF720-47C9-4132-8276-749D91D82A8C}"/>
              </a:ext>
            </a:extLst>
          </p:cNvPr>
          <p:cNvSpPr/>
          <p:nvPr/>
        </p:nvSpPr>
        <p:spPr>
          <a:xfrm>
            <a:off x="3304300" y="3285579"/>
            <a:ext cx="720000" cy="720000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敵</a:t>
            </a:r>
            <a:r>
              <a:rPr kumimoji="1" lang="en-US" altLang="ja-JP" dirty="0"/>
              <a:t>B</a:t>
            </a:r>
            <a:endParaRPr kumimoji="1" lang="ja-JP" altLang="en-US" dirty="0"/>
          </a:p>
        </p:txBody>
      </p:sp>
      <p:sp>
        <p:nvSpPr>
          <p:cNvPr id="23" name="正方形/長方形 22">
            <a:extLst>
              <a:ext uri="{FF2B5EF4-FFF2-40B4-BE49-F238E27FC236}">
                <a16:creationId xmlns:a16="http://schemas.microsoft.com/office/drawing/2014/main" id="{5CE36AFA-9B6C-4187-8C4F-13B9B2E84E04}"/>
              </a:ext>
            </a:extLst>
          </p:cNvPr>
          <p:cNvSpPr/>
          <p:nvPr/>
        </p:nvSpPr>
        <p:spPr>
          <a:xfrm>
            <a:off x="4021481" y="3285579"/>
            <a:ext cx="173153" cy="720000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7" name="正方形/長方形 26">
            <a:extLst>
              <a:ext uri="{FF2B5EF4-FFF2-40B4-BE49-F238E27FC236}">
                <a16:creationId xmlns:a16="http://schemas.microsoft.com/office/drawing/2014/main" id="{9910C834-9E61-49B5-B09E-81F005D88A1D}"/>
              </a:ext>
            </a:extLst>
          </p:cNvPr>
          <p:cNvSpPr/>
          <p:nvPr/>
        </p:nvSpPr>
        <p:spPr>
          <a:xfrm>
            <a:off x="6038540" y="3285566"/>
            <a:ext cx="173153" cy="720000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8" name="正方形/長方形 27">
            <a:extLst>
              <a:ext uri="{FF2B5EF4-FFF2-40B4-BE49-F238E27FC236}">
                <a16:creationId xmlns:a16="http://schemas.microsoft.com/office/drawing/2014/main" id="{ACADC8DD-2A94-44FA-95F0-57B59802ABF9}"/>
              </a:ext>
            </a:extLst>
          </p:cNvPr>
          <p:cNvSpPr/>
          <p:nvPr/>
        </p:nvSpPr>
        <p:spPr>
          <a:xfrm>
            <a:off x="6208869" y="3285565"/>
            <a:ext cx="720000" cy="720000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敵</a:t>
            </a:r>
            <a:r>
              <a:rPr kumimoji="1" lang="en-US" altLang="ja-JP" dirty="0"/>
              <a:t>D</a:t>
            </a:r>
            <a:endParaRPr kumimoji="1" lang="ja-JP" altLang="en-US" dirty="0"/>
          </a:p>
        </p:txBody>
      </p:sp>
      <p:sp>
        <p:nvSpPr>
          <p:cNvPr id="29" name="正方形/長方形 28">
            <a:extLst>
              <a:ext uri="{FF2B5EF4-FFF2-40B4-BE49-F238E27FC236}">
                <a16:creationId xmlns:a16="http://schemas.microsoft.com/office/drawing/2014/main" id="{D451EBDD-4059-4582-ABF6-5836BD6EDE07}"/>
              </a:ext>
            </a:extLst>
          </p:cNvPr>
          <p:cNvSpPr/>
          <p:nvPr/>
        </p:nvSpPr>
        <p:spPr>
          <a:xfrm>
            <a:off x="6926050" y="3285565"/>
            <a:ext cx="173153" cy="720000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0" name="正方形/長方形 29">
            <a:extLst>
              <a:ext uri="{FF2B5EF4-FFF2-40B4-BE49-F238E27FC236}">
                <a16:creationId xmlns:a16="http://schemas.microsoft.com/office/drawing/2014/main" id="{09E82CD0-70DF-4CF7-BCD6-88F8021AFEEF}"/>
              </a:ext>
            </a:extLst>
          </p:cNvPr>
          <p:cNvSpPr/>
          <p:nvPr/>
        </p:nvSpPr>
        <p:spPr>
          <a:xfrm>
            <a:off x="7490817" y="3285566"/>
            <a:ext cx="173153" cy="720000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1" name="正方形/長方形 30">
            <a:extLst>
              <a:ext uri="{FF2B5EF4-FFF2-40B4-BE49-F238E27FC236}">
                <a16:creationId xmlns:a16="http://schemas.microsoft.com/office/drawing/2014/main" id="{AF36138C-BA01-4114-9FB0-4E8BD549E5D2}"/>
              </a:ext>
            </a:extLst>
          </p:cNvPr>
          <p:cNvSpPr/>
          <p:nvPr/>
        </p:nvSpPr>
        <p:spPr>
          <a:xfrm>
            <a:off x="7661146" y="3285565"/>
            <a:ext cx="720000" cy="720000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敵</a:t>
            </a:r>
            <a:r>
              <a:rPr kumimoji="1" lang="en-US" altLang="ja-JP" dirty="0"/>
              <a:t>E</a:t>
            </a:r>
            <a:endParaRPr kumimoji="1" lang="ja-JP" altLang="en-US" dirty="0"/>
          </a:p>
        </p:txBody>
      </p:sp>
      <p:sp>
        <p:nvSpPr>
          <p:cNvPr id="32" name="正方形/長方形 31">
            <a:extLst>
              <a:ext uri="{FF2B5EF4-FFF2-40B4-BE49-F238E27FC236}">
                <a16:creationId xmlns:a16="http://schemas.microsoft.com/office/drawing/2014/main" id="{DF8CB253-72C3-4B23-AEEE-2E6BC1D7D4E9}"/>
              </a:ext>
            </a:extLst>
          </p:cNvPr>
          <p:cNvSpPr/>
          <p:nvPr/>
        </p:nvSpPr>
        <p:spPr>
          <a:xfrm>
            <a:off x="8378327" y="3285565"/>
            <a:ext cx="173153" cy="720000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3" name="テキスト ボックス 32">
            <a:extLst>
              <a:ext uri="{FF2B5EF4-FFF2-40B4-BE49-F238E27FC236}">
                <a16:creationId xmlns:a16="http://schemas.microsoft.com/office/drawing/2014/main" id="{8AFCA43B-438E-4314-AEBE-FB3CBFC15B8D}"/>
              </a:ext>
            </a:extLst>
          </p:cNvPr>
          <p:cNvSpPr txBox="1"/>
          <p:nvPr/>
        </p:nvSpPr>
        <p:spPr>
          <a:xfrm>
            <a:off x="567542" y="3414732"/>
            <a:ext cx="110799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リスト</a:t>
            </a:r>
            <a:endParaRPr lang="en-US" altLang="ja-JP" sz="2400" dirty="0"/>
          </a:p>
        </p:txBody>
      </p:sp>
      <p:cxnSp>
        <p:nvCxnSpPr>
          <p:cNvPr id="3" name="直線矢印コネクタ 2">
            <a:extLst>
              <a:ext uri="{FF2B5EF4-FFF2-40B4-BE49-F238E27FC236}">
                <a16:creationId xmlns:a16="http://schemas.microsoft.com/office/drawing/2014/main" id="{630D1D97-4BAA-48CD-B644-9C625BC48F1C}"/>
              </a:ext>
            </a:extLst>
          </p:cNvPr>
          <p:cNvCxnSpPr>
            <a:stCxn id="20" idx="3"/>
            <a:endCxn id="21" idx="1"/>
          </p:cNvCxnSpPr>
          <p:nvPr/>
        </p:nvCxnSpPr>
        <p:spPr>
          <a:xfrm>
            <a:off x="2742347" y="3645579"/>
            <a:ext cx="391624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直線矢印コネクタ 33">
            <a:extLst>
              <a:ext uri="{FF2B5EF4-FFF2-40B4-BE49-F238E27FC236}">
                <a16:creationId xmlns:a16="http://schemas.microsoft.com/office/drawing/2014/main" id="{ED274442-17EA-4509-AE7C-DFADE4EC6C39}"/>
              </a:ext>
            </a:extLst>
          </p:cNvPr>
          <p:cNvCxnSpPr>
            <a:cxnSpLocks/>
            <a:stCxn id="23" idx="3"/>
            <a:endCxn id="27" idx="1"/>
          </p:cNvCxnSpPr>
          <p:nvPr/>
        </p:nvCxnSpPr>
        <p:spPr>
          <a:xfrm flipV="1">
            <a:off x="4194634" y="3645566"/>
            <a:ext cx="1843906" cy="1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直線矢印コネクタ 39">
            <a:extLst>
              <a:ext uri="{FF2B5EF4-FFF2-40B4-BE49-F238E27FC236}">
                <a16:creationId xmlns:a16="http://schemas.microsoft.com/office/drawing/2014/main" id="{3EA9BC09-5DC5-425C-8FFF-C2E09A443DE5}"/>
              </a:ext>
            </a:extLst>
          </p:cNvPr>
          <p:cNvCxnSpPr>
            <a:cxnSpLocks/>
            <a:stCxn id="29" idx="3"/>
            <a:endCxn id="30" idx="1"/>
          </p:cNvCxnSpPr>
          <p:nvPr/>
        </p:nvCxnSpPr>
        <p:spPr>
          <a:xfrm>
            <a:off x="7099203" y="3645565"/>
            <a:ext cx="391614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71823311-C177-4F51-808D-96B564FF1ACB}"/>
              </a:ext>
            </a:extLst>
          </p:cNvPr>
          <p:cNvSpPr txBox="1"/>
          <p:nvPr/>
        </p:nvSpPr>
        <p:spPr>
          <a:xfrm>
            <a:off x="567542" y="4360391"/>
            <a:ext cx="5724644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赤い部分だけデータは大きくなります。</a:t>
            </a:r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件数が多い場合は注意が必要です。</a:t>
            </a:r>
            <a:endParaRPr lang="en-US" altLang="ja-JP" sz="24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1974032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87798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配列とリストの違い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80241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また、</a:t>
            </a:r>
            <a:r>
              <a:rPr lang="ja-JP" altLang="en-US" sz="2400" b="1" dirty="0">
                <a:solidFill>
                  <a:srgbClr val="FF0000"/>
                </a:solidFill>
              </a:rPr>
              <a:t>リストには添え字がありません。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dirty="0"/>
              <a:t>そのため、</a:t>
            </a:r>
            <a:r>
              <a:rPr lang="ja-JP" altLang="en-US" sz="2400" b="1" dirty="0">
                <a:solidFill>
                  <a:srgbClr val="FF0000"/>
                </a:solidFill>
              </a:rPr>
              <a:t>中間の要素にアクセスするのに時間がかかります。</a:t>
            </a:r>
            <a:endParaRPr lang="en-US" altLang="ja-JP" sz="2400" b="1" dirty="0">
              <a:solidFill>
                <a:srgbClr val="FF0000"/>
              </a:solidFill>
            </a:endParaRPr>
          </a:p>
        </p:txBody>
      </p:sp>
      <p:sp>
        <p:nvSpPr>
          <p:cNvPr id="25" name="正方形/長方形 24">
            <a:extLst>
              <a:ext uri="{FF2B5EF4-FFF2-40B4-BE49-F238E27FC236}">
                <a16:creationId xmlns:a16="http://schemas.microsoft.com/office/drawing/2014/main" id="{69839AD6-EFFD-41CE-83E5-9B8A5523FDB5}"/>
              </a:ext>
            </a:extLst>
          </p:cNvPr>
          <p:cNvSpPr/>
          <p:nvPr/>
        </p:nvSpPr>
        <p:spPr>
          <a:xfrm>
            <a:off x="1681684" y="3285580"/>
            <a:ext cx="173153" cy="72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6" name="正方形/長方形 25">
            <a:extLst>
              <a:ext uri="{FF2B5EF4-FFF2-40B4-BE49-F238E27FC236}">
                <a16:creationId xmlns:a16="http://schemas.microsoft.com/office/drawing/2014/main" id="{A8EFB797-8589-4016-9F56-1D11CBA66F6C}"/>
              </a:ext>
            </a:extLst>
          </p:cNvPr>
          <p:cNvSpPr/>
          <p:nvPr/>
        </p:nvSpPr>
        <p:spPr>
          <a:xfrm>
            <a:off x="1852013" y="3285579"/>
            <a:ext cx="720000" cy="720000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敵</a:t>
            </a:r>
            <a:r>
              <a:rPr kumimoji="1" lang="en-US" altLang="ja-JP" dirty="0"/>
              <a:t>A</a:t>
            </a:r>
            <a:endParaRPr kumimoji="1" lang="ja-JP" altLang="en-US" dirty="0"/>
          </a:p>
        </p:txBody>
      </p:sp>
      <p:sp>
        <p:nvSpPr>
          <p:cNvPr id="35" name="正方形/長方形 34">
            <a:extLst>
              <a:ext uri="{FF2B5EF4-FFF2-40B4-BE49-F238E27FC236}">
                <a16:creationId xmlns:a16="http://schemas.microsoft.com/office/drawing/2014/main" id="{D7A0DAF2-A695-4788-82E0-01BD2F9C95DD}"/>
              </a:ext>
            </a:extLst>
          </p:cNvPr>
          <p:cNvSpPr/>
          <p:nvPr/>
        </p:nvSpPr>
        <p:spPr>
          <a:xfrm>
            <a:off x="2569194" y="3285579"/>
            <a:ext cx="173153" cy="72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6" name="正方形/長方形 35">
            <a:extLst>
              <a:ext uri="{FF2B5EF4-FFF2-40B4-BE49-F238E27FC236}">
                <a16:creationId xmlns:a16="http://schemas.microsoft.com/office/drawing/2014/main" id="{3CD56436-3C5F-4224-B179-ABCED738082E}"/>
              </a:ext>
            </a:extLst>
          </p:cNvPr>
          <p:cNvSpPr/>
          <p:nvPr/>
        </p:nvSpPr>
        <p:spPr>
          <a:xfrm>
            <a:off x="3133971" y="3285580"/>
            <a:ext cx="173153" cy="72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7" name="正方形/長方形 36">
            <a:extLst>
              <a:ext uri="{FF2B5EF4-FFF2-40B4-BE49-F238E27FC236}">
                <a16:creationId xmlns:a16="http://schemas.microsoft.com/office/drawing/2014/main" id="{F83751BD-C517-4BF0-AF5B-EBB3AF9ECC79}"/>
              </a:ext>
            </a:extLst>
          </p:cNvPr>
          <p:cNvSpPr/>
          <p:nvPr/>
        </p:nvSpPr>
        <p:spPr>
          <a:xfrm>
            <a:off x="3304300" y="3285579"/>
            <a:ext cx="720000" cy="720000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敵</a:t>
            </a:r>
            <a:r>
              <a:rPr kumimoji="1" lang="en-US" altLang="ja-JP" dirty="0"/>
              <a:t>B</a:t>
            </a:r>
            <a:endParaRPr kumimoji="1" lang="ja-JP" altLang="en-US" dirty="0"/>
          </a:p>
        </p:txBody>
      </p:sp>
      <p:sp>
        <p:nvSpPr>
          <p:cNvPr id="38" name="正方形/長方形 37">
            <a:extLst>
              <a:ext uri="{FF2B5EF4-FFF2-40B4-BE49-F238E27FC236}">
                <a16:creationId xmlns:a16="http://schemas.microsoft.com/office/drawing/2014/main" id="{E07A4406-AC48-4879-B174-7CB99A9A04AB}"/>
              </a:ext>
            </a:extLst>
          </p:cNvPr>
          <p:cNvSpPr/>
          <p:nvPr/>
        </p:nvSpPr>
        <p:spPr>
          <a:xfrm>
            <a:off x="4021481" y="3285579"/>
            <a:ext cx="173153" cy="72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9" name="正方形/長方形 38">
            <a:extLst>
              <a:ext uri="{FF2B5EF4-FFF2-40B4-BE49-F238E27FC236}">
                <a16:creationId xmlns:a16="http://schemas.microsoft.com/office/drawing/2014/main" id="{EDB9E40D-9099-4EFD-A9E6-896E8345A58F}"/>
              </a:ext>
            </a:extLst>
          </p:cNvPr>
          <p:cNvSpPr/>
          <p:nvPr/>
        </p:nvSpPr>
        <p:spPr>
          <a:xfrm>
            <a:off x="4586253" y="3285566"/>
            <a:ext cx="173153" cy="72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1" name="正方形/長方形 40">
            <a:extLst>
              <a:ext uri="{FF2B5EF4-FFF2-40B4-BE49-F238E27FC236}">
                <a16:creationId xmlns:a16="http://schemas.microsoft.com/office/drawing/2014/main" id="{4FA6B19E-864F-4015-8A40-A7F8E43429D6}"/>
              </a:ext>
            </a:extLst>
          </p:cNvPr>
          <p:cNvSpPr/>
          <p:nvPr/>
        </p:nvSpPr>
        <p:spPr>
          <a:xfrm>
            <a:off x="4756582" y="3285565"/>
            <a:ext cx="720000" cy="720000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敵</a:t>
            </a:r>
            <a:r>
              <a:rPr kumimoji="1" lang="en-US" altLang="ja-JP" dirty="0"/>
              <a:t>C</a:t>
            </a:r>
            <a:endParaRPr kumimoji="1" lang="ja-JP" altLang="en-US" dirty="0"/>
          </a:p>
        </p:txBody>
      </p:sp>
      <p:sp>
        <p:nvSpPr>
          <p:cNvPr id="42" name="正方形/長方形 41">
            <a:extLst>
              <a:ext uri="{FF2B5EF4-FFF2-40B4-BE49-F238E27FC236}">
                <a16:creationId xmlns:a16="http://schemas.microsoft.com/office/drawing/2014/main" id="{79CC4977-4A3E-4B76-A80E-DCF171FB7072}"/>
              </a:ext>
            </a:extLst>
          </p:cNvPr>
          <p:cNvSpPr/>
          <p:nvPr/>
        </p:nvSpPr>
        <p:spPr>
          <a:xfrm>
            <a:off x="5473763" y="3285565"/>
            <a:ext cx="173153" cy="72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3" name="正方形/長方形 42">
            <a:extLst>
              <a:ext uri="{FF2B5EF4-FFF2-40B4-BE49-F238E27FC236}">
                <a16:creationId xmlns:a16="http://schemas.microsoft.com/office/drawing/2014/main" id="{8176AA85-9544-431A-B569-50EADEC4BA53}"/>
              </a:ext>
            </a:extLst>
          </p:cNvPr>
          <p:cNvSpPr/>
          <p:nvPr/>
        </p:nvSpPr>
        <p:spPr>
          <a:xfrm>
            <a:off x="6038540" y="3285566"/>
            <a:ext cx="173153" cy="72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4" name="正方形/長方形 43">
            <a:extLst>
              <a:ext uri="{FF2B5EF4-FFF2-40B4-BE49-F238E27FC236}">
                <a16:creationId xmlns:a16="http://schemas.microsoft.com/office/drawing/2014/main" id="{1563D57C-307B-47A3-B1B9-52789E5841EB}"/>
              </a:ext>
            </a:extLst>
          </p:cNvPr>
          <p:cNvSpPr/>
          <p:nvPr/>
        </p:nvSpPr>
        <p:spPr>
          <a:xfrm>
            <a:off x="6208869" y="3285565"/>
            <a:ext cx="720000" cy="720000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敵</a:t>
            </a:r>
            <a:r>
              <a:rPr kumimoji="1" lang="en-US" altLang="ja-JP" dirty="0"/>
              <a:t>D</a:t>
            </a:r>
            <a:endParaRPr kumimoji="1" lang="ja-JP" altLang="en-US" dirty="0"/>
          </a:p>
        </p:txBody>
      </p:sp>
      <p:sp>
        <p:nvSpPr>
          <p:cNvPr id="45" name="正方形/長方形 44">
            <a:extLst>
              <a:ext uri="{FF2B5EF4-FFF2-40B4-BE49-F238E27FC236}">
                <a16:creationId xmlns:a16="http://schemas.microsoft.com/office/drawing/2014/main" id="{5D77166D-EDFE-498B-8997-3B5553967708}"/>
              </a:ext>
            </a:extLst>
          </p:cNvPr>
          <p:cNvSpPr/>
          <p:nvPr/>
        </p:nvSpPr>
        <p:spPr>
          <a:xfrm>
            <a:off x="6926050" y="3285565"/>
            <a:ext cx="173153" cy="72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6" name="正方形/長方形 45">
            <a:extLst>
              <a:ext uri="{FF2B5EF4-FFF2-40B4-BE49-F238E27FC236}">
                <a16:creationId xmlns:a16="http://schemas.microsoft.com/office/drawing/2014/main" id="{35DDCC6F-2F73-4734-BCC1-78D2A89DCAC2}"/>
              </a:ext>
            </a:extLst>
          </p:cNvPr>
          <p:cNvSpPr/>
          <p:nvPr/>
        </p:nvSpPr>
        <p:spPr>
          <a:xfrm>
            <a:off x="7490817" y="3285566"/>
            <a:ext cx="173153" cy="72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7" name="正方形/長方形 46">
            <a:extLst>
              <a:ext uri="{FF2B5EF4-FFF2-40B4-BE49-F238E27FC236}">
                <a16:creationId xmlns:a16="http://schemas.microsoft.com/office/drawing/2014/main" id="{71E31184-C4FE-4648-8A94-64652A2CB6CE}"/>
              </a:ext>
            </a:extLst>
          </p:cNvPr>
          <p:cNvSpPr/>
          <p:nvPr/>
        </p:nvSpPr>
        <p:spPr>
          <a:xfrm>
            <a:off x="7661146" y="3285565"/>
            <a:ext cx="720000" cy="720000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敵</a:t>
            </a:r>
            <a:r>
              <a:rPr kumimoji="1" lang="en-US" altLang="ja-JP" dirty="0"/>
              <a:t>E</a:t>
            </a:r>
            <a:endParaRPr kumimoji="1" lang="ja-JP" altLang="en-US" dirty="0"/>
          </a:p>
        </p:txBody>
      </p:sp>
      <p:sp>
        <p:nvSpPr>
          <p:cNvPr id="48" name="正方形/長方形 47">
            <a:extLst>
              <a:ext uri="{FF2B5EF4-FFF2-40B4-BE49-F238E27FC236}">
                <a16:creationId xmlns:a16="http://schemas.microsoft.com/office/drawing/2014/main" id="{B29A7F48-4127-4445-92F5-D9D4DD8DB5FB}"/>
              </a:ext>
            </a:extLst>
          </p:cNvPr>
          <p:cNvSpPr/>
          <p:nvPr/>
        </p:nvSpPr>
        <p:spPr>
          <a:xfrm>
            <a:off x="8378327" y="3285565"/>
            <a:ext cx="173153" cy="72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9" name="テキスト ボックス 48">
            <a:extLst>
              <a:ext uri="{FF2B5EF4-FFF2-40B4-BE49-F238E27FC236}">
                <a16:creationId xmlns:a16="http://schemas.microsoft.com/office/drawing/2014/main" id="{17D1A90A-7CAC-45F8-A728-C30F2B9B5A25}"/>
              </a:ext>
            </a:extLst>
          </p:cNvPr>
          <p:cNvSpPr txBox="1"/>
          <p:nvPr/>
        </p:nvSpPr>
        <p:spPr>
          <a:xfrm>
            <a:off x="567542" y="3414732"/>
            <a:ext cx="110799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リスト</a:t>
            </a:r>
            <a:endParaRPr lang="en-US" altLang="ja-JP" sz="2400" dirty="0"/>
          </a:p>
        </p:txBody>
      </p:sp>
      <p:cxnSp>
        <p:nvCxnSpPr>
          <p:cNvPr id="50" name="直線矢印コネクタ 49">
            <a:extLst>
              <a:ext uri="{FF2B5EF4-FFF2-40B4-BE49-F238E27FC236}">
                <a16:creationId xmlns:a16="http://schemas.microsoft.com/office/drawing/2014/main" id="{90120023-FEDB-46F0-AFAA-7641B68C63FB}"/>
              </a:ext>
            </a:extLst>
          </p:cNvPr>
          <p:cNvCxnSpPr>
            <a:stCxn id="35" idx="3"/>
            <a:endCxn id="36" idx="1"/>
          </p:cNvCxnSpPr>
          <p:nvPr/>
        </p:nvCxnSpPr>
        <p:spPr>
          <a:xfrm>
            <a:off x="2742347" y="3645579"/>
            <a:ext cx="391624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直線矢印コネクタ 50">
            <a:extLst>
              <a:ext uri="{FF2B5EF4-FFF2-40B4-BE49-F238E27FC236}">
                <a16:creationId xmlns:a16="http://schemas.microsoft.com/office/drawing/2014/main" id="{999BE570-B4FE-4A8E-BECE-00E130734B48}"/>
              </a:ext>
            </a:extLst>
          </p:cNvPr>
          <p:cNvCxnSpPr>
            <a:cxnSpLocks/>
            <a:stCxn id="38" idx="3"/>
            <a:endCxn id="39" idx="1"/>
          </p:cNvCxnSpPr>
          <p:nvPr/>
        </p:nvCxnSpPr>
        <p:spPr>
          <a:xfrm flipV="1">
            <a:off x="4194634" y="3645566"/>
            <a:ext cx="391619" cy="1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直線矢印コネクタ 51">
            <a:extLst>
              <a:ext uri="{FF2B5EF4-FFF2-40B4-BE49-F238E27FC236}">
                <a16:creationId xmlns:a16="http://schemas.microsoft.com/office/drawing/2014/main" id="{CEF4C202-46DA-4022-9DAA-2137F0E52987}"/>
              </a:ext>
            </a:extLst>
          </p:cNvPr>
          <p:cNvCxnSpPr>
            <a:cxnSpLocks/>
            <a:stCxn id="42" idx="3"/>
            <a:endCxn id="43" idx="1"/>
          </p:cNvCxnSpPr>
          <p:nvPr/>
        </p:nvCxnSpPr>
        <p:spPr>
          <a:xfrm>
            <a:off x="5646916" y="3645565"/>
            <a:ext cx="391624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直線矢印コネクタ 52">
            <a:extLst>
              <a:ext uri="{FF2B5EF4-FFF2-40B4-BE49-F238E27FC236}">
                <a16:creationId xmlns:a16="http://schemas.microsoft.com/office/drawing/2014/main" id="{3D51F9DF-6925-498D-A0E9-CF4B04AC1C07}"/>
              </a:ext>
            </a:extLst>
          </p:cNvPr>
          <p:cNvCxnSpPr>
            <a:cxnSpLocks/>
            <a:stCxn id="45" idx="3"/>
            <a:endCxn id="46" idx="1"/>
          </p:cNvCxnSpPr>
          <p:nvPr/>
        </p:nvCxnSpPr>
        <p:spPr>
          <a:xfrm>
            <a:off x="7099203" y="3645565"/>
            <a:ext cx="391614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テキスト ボックス 53">
            <a:extLst>
              <a:ext uri="{FF2B5EF4-FFF2-40B4-BE49-F238E27FC236}">
                <a16:creationId xmlns:a16="http://schemas.microsoft.com/office/drawing/2014/main" id="{E566278A-9964-447F-93AF-BC8E2E7B38AC}"/>
              </a:ext>
            </a:extLst>
          </p:cNvPr>
          <p:cNvSpPr txBox="1"/>
          <p:nvPr/>
        </p:nvSpPr>
        <p:spPr>
          <a:xfrm>
            <a:off x="567542" y="4549733"/>
            <a:ext cx="6264857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b="1" dirty="0">
                <a:solidFill>
                  <a:srgbClr val="FF0000"/>
                </a:solidFill>
              </a:rPr>
              <a:t>■アクセスの方法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dirty="0"/>
              <a:t>敵</a:t>
            </a:r>
            <a:r>
              <a:rPr lang="en-US" altLang="ja-JP" sz="2400" dirty="0"/>
              <a:t>D</a:t>
            </a:r>
            <a:r>
              <a:rPr lang="ja-JP" altLang="en-US" sz="2400" dirty="0"/>
              <a:t>は敵</a:t>
            </a:r>
            <a:r>
              <a:rPr lang="en-US" altLang="ja-JP" sz="2400" dirty="0"/>
              <a:t>A</a:t>
            </a:r>
            <a:r>
              <a:rPr lang="ja-JP" altLang="en-US" sz="2400" dirty="0"/>
              <a:t>の次の敵</a:t>
            </a:r>
            <a:r>
              <a:rPr lang="en-US" altLang="ja-JP" sz="2400" dirty="0"/>
              <a:t>B</a:t>
            </a:r>
            <a:r>
              <a:rPr lang="ja-JP" altLang="en-US" sz="2400" dirty="0"/>
              <a:t>の次の敵</a:t>
            </a:r>
            <a:r>
              <a:rPr lang="en-US" altLang="ja-JP" sz="2400" dirty="0"/>
              <a:t>C</a:t>
            </a:r>
            <a:r>
              <a:rPr lang="ja-JP" altLang="en-US" sz="2400" dirty="0"/>
              <a:t>の次にある。</a:t>
            </a:r>
            <a:endParaRPr lang="en-US" altLang="ja-JP" sz="2400" dirty="0"/>
          </a:p>
          <a:p>
            <a:r>
              <a:rPr lang="ja-JP" altLang="en-US" sz="2400" dirty="0"/>
              <a:t>（効率悪い。。。）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309454499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87798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配列とリストの違い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1264622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配列とリストは用途によって使い分けられることが理想です。</a:t>
            </a:r>
            <a:endParaRPr lang="en-US" altLang="ja-JP" sz="2400" dirty="0"/>
          </a:p>
          <a:p>
            <a:r>
              <a:rPr lang="ja-JP" altLang="en-US" sz="2400" dirty="0"/>
              <a:t>初めは難しいですが、ゲーム制作を通じて使い分けられるようになりましょう。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en-US" altLang="ja-JP" sz="2400" b="1" dirty="0">
                <a:solidFill>
                  <a:srgbClr val="00B050"/>
                </a:solidFill>
              </a:rPr>
              <a:t>MEMO</a:t>
            </a:r>
          </a:p>
          <a:p>
            <a:r>
              <a:rPr lang="ja-JP" altLang="en-US" sz="2400" dirty="0"/>
              <a:t>ゲーム会社の筆記試験や面接などで、よく問題にされるところでもあります。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263876783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606</TotalTime>
  <Words>683</Words>
  <Application>Microsoft Office PowerPoint</Application>
  <PresentationFormat>ワイド画面</PresentationFormat>
  <Paragraphs>120</Paragraphs>
  <Slides>11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11</vt:i4>
      </vt:variant>
    </vt:vector>
  </HeadingPairs>
  <TitlesOfParts>
    <vt:vector size="15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北九州校　ゲーム</dc:creator>
  <cp:lastModifiedBy>荒木 優介</cp:lastModifiedBy>
  <cp:revision>67</cp:revision>
  <dcterms:created xsi:type="dcterms:W3CDTF">2024-08-27T02:15:54Z</dcterms:created>
  <dcterms:modified xsi:type="dcterms:W3CDTF">2025-07-31T07:08:09Z</dcterms:modified>
</cp:coreProperties>
</file>