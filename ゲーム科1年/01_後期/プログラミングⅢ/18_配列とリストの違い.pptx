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配列とリストの違い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配列とリストは、プログラムを組む時にはそれほど違いはありませんが、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中身の仕様はかなり違います。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0BF68EA-91D9-4A98-B5BE-CD23C1EB779A}"/>
              </a:ext>
            </a:extLst>
          </p:cNvPr>
          <p:cNvSpPr/>
          <p:nvPr/>
        </p:nvSpPr>
        <p:spPr>
          <a:xfrm>
            <a:off x="1623577" y="2969127"/>
            <a:ext cx="720000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BA7D757-B39F-497A-B37F-4A88AE08231B}"/>
              </a:ext>
            </a:extLst>
          </p:cNvPr>
          <p:cNvSpPr/>
          <p:nvPr/>
        </p:nvSpPr>
        <p:spPr>
          <a:xfrm>
            <a:off x="2340752" y="2969126"/>
            <a:ext cx="720000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3BB2D32-35E4-4231-BEE9-782B75034201}"/>
              </a:ext>
            </a:extLst>
          </p:cNvPr>
          <p:cNvSpPr/>
          <p:nvPr/>
        </p:nvSpPr>
        <p:spPr>
          <a:xfrm>
            <a:off x="3057933" y="2969122"/>
            <a:ext cx="720000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DBFEDA1-1757-498A-88D4-8D4869358725}"/>
              </a:ext>
            </a:extLst>
          </p:cNvPr>
          <p:cNvSpPr/>
          <p:nvPr/>
        </p:nvSpPr>
        <p:spPr>
          <a:xfrm>
            <a:off x="3775108" y="2969121"/>
            <a:ext cx="720000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AFDFADF-14B5-4FB8-A980-938CCE1FBCB4}"/>
              </a:ext>
            </a:extLst>
          </p:cNvPr>
          <p:cNvSpPr/>
          <p:nvPr/>
        </p:nvSpPr>
        <p:spPr>
          <a:xfrm>
            <a:off x="4492285" y="2969119"/>
            <a:ext cx="720000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0260DEC-419F-4547-BB9C-E97AA2FC6A46}"/>
              </a:ext>
            </a:extLst>
          </p:cNvPr>
          <p:cNvSpPr/>
          <p:nvPr/>
        </p:nvSpPr>
        <p:spPr>
          <a:xfrm>
            <a:off x="1623577" y="4536104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21DD798-9FD9-4D45-B440-2652CCD4C55A}"/>
              </a:ext>
            </a:extLst>
          </p:cNvPr>
          <p:cNvSpPr/>
          <p:nvPr/>
        </p:nvSpPr>
        <p:spPr>
          <a:xfrm>
            <a:off x="1793906" y="4536103"/>
            <a:ext cx="720000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EEA38A5-9A83-4C16-9103-BDC9FC6D0303}"/>
              </a:ext>
            </a:extLst>
          </p:cNvPr>
          <p:cNvSpPr/>
          <p:nvPr/>
        </p:nvSpPr>
        <p:spPr>
          <a:xfrm>
            <a:off x="2511087" y="4536103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CFC9940-1865-4BED-9A3A-A64FEB16F7DC}"/>
              </a:ext>
            </a:extLst>
          </p:cNvPr>
          <p:cNvSpPr/>
          <p:nvPr/>
        </p:nvSpPr>
        <p:spPr>
          <a:xfrm>
            <a:off x="3075864" y="4536104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05C76C4B-3F52-47FD-B5F3-19E94CA46088}"/>
              </a:ext>
            </a:extLst>
          </p:cNvPr>
          <p:cNvSpPr/>
          <p:nvPr/>
        </p:nvSpPr>
        <p:spPr>
          <a:xfrm>
            <a:off x="3246193" y="4536103"/>
            <a:ext cx="720000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F99B4F5-272B-4265-B84B-211754011752}"/>
              </a:ext>
            </a:extLst>
          </p:cNvPr>
          <p:cNvSpPr/>
          <p:nvPr/>
        </p:nvSpPr>
        <p:spPr>
          <a:xfrm>
            <a:off x="3963374" y="4536103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71F227DE-8887-4788-9C50-5ECBCAD252DE}"/>
              </a:ext>
            </a:extLst>
          </p:cNvPr>
          <p:cNvSpPr/>
          <p:nvPr/>
        </p:nvSpPr>
        <p:spPr>
          <a:xfrm>
            <a:off x="4528146" y="4536090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1B7BB1F3-B6D6-4839-9D00-B526FDA467B7}"/>
              </a:ext>
            </a:extLst>
          </p:cNvPr>
          <p:cNvSpPr/>
          <p:nvPr/>
        </p:nvSpPr>
        <p:spPr>
          <a:xfrm>
            <a:off x="4698475" y="4536089"/>
            <a:ext cx="720000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F11B2D72-6D4D-47AE-B9FE-9E2A350BF84E}"/>
              </a:ext>
            </a:extLst>
          </p:cNvPr>
          <p:cNvSpPr/>
          <p:nvPr/>
        </p:nvSpPr>
        <p:spPr>
          <a:xfrm>
            <a:off x="5415656" y="4536089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EED321B2-7F49-4F3E-B1BB-EF85CE522AB8}"/>
              </a:ext>
            </a:extLst>
          </p:cNvPr>
          <p:cNvSpPr/>
          <p:nvPr/>
        </p:nvSpPr>
        <p:spPr>
          <a:xfrm>
            <a:off x="5980433" y="4536090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9130461E-D476-4A4C-A590-AAA986A93676}"/>
              </a:ext>
            </a:extLst>
          </p:cNvPr>
          <p:cNvSpPr/>
          <p:nvPr/>
        </p:nvSpPr>
        <p:spPr>
          <a:xfrm>
            <a:off x="6150762" y="4536089"/>
            <a:ext cx="720000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D3CCCBA6-7DCE-496F-B0DF-30F28879AD90}"/>
              </a:ext>
            </a:extLst>
          </p:cNvPr>
          <p:cNvSpPr/>
          <p:nvPr/>
        </p:nvSpPr>
        <p:spPr>
          <a:xfrm>
            <a:off x="6867943" y="4536089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7175A37C-7306-4A0E-8605-2967FF2205D9}"/>
              </a:ext>
            </a:extLst>
          </p:cNvPr>
          <p:cNvSpPr/>
          <p:nvPr/>
        </p:nvSpPr>
        <p:spPr>
          <a:xfrm>
            <a:off x="7432710" y="4536090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21E33503-9D59-4AE2-9FEC-A8999AB0D12E}"/>
              </a:ext>
            </a:extLst>
          </p:cNvPr>
          <p:cNvSpPr/>
          <p:nvPr/>
        </p:nvSpPr>
        <p:spPr>
          <a:xfrm>
            <a:off x="7603039" y="4536089"/>
            <a:ext cx="720000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F2DB2076-D51F-4D8E-9373-7E963364B2DD}"/>
              </a:ext>
            </a:extLst>
          </p:cNvPr>
          <p:cNvSpPr/>
          <p:nvPr/>
        </p:nvSpPr>
        <p:spPr>
          <a:xfrm>
            <a:off x="8320220" y="4536089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262E7193-5533-4DAB-B69E-64CEC7405463}"/>
              </a:ext>
            </a:extLst>
          </p:cNvPr>
          <p:cNvSpPr txBox="1"/>
          <p:nvPr/>
        </p:nvSpPr>
        <p:spPr>
          <a:xfrm>
            <a:off x="567542" y="311069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配列</a:t>
            </a:r>
            <a:endParaRPr lang="en-US" altLang="ja-JP" sz="2400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2CC7AF99-82CB-4C08-8516-5F3E6C5DFE3E}"/>
              </a:ext>
            </a:extLst>
          </p:cNvPr>
          <p:cNvSpPr txBox="1"/>
          <p:nvPr/>
        </p:nvSpPr>
        <p:spPr>
          <a:xfrm>
            <a:off x="567542" y="4665256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リスト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配列とリストの違い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335936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配列はデータを横に並べただけのもの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r>
              <a:rPr lang="ja-JP" altLang="en-US" sz="2400" dirty="0"/>
              <a:t>それによる良いところと悪いところがあります。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0070C0"/>
                </a:solidFill>
              </a:rPr>
              <a:t>■良いところ</a:t>
            </a:r>
            <a:endParaRPr lang="en-US" altLang="ja-JP" sz="2400" b="1" dirty="0">
              <a:solidFill>
                <a:srgbClr val="0070C0"/>
              </a:solidFill>
            </a:endParaRPr>
          </a:p>
          <a:p>
            <a:r>
              <a:rPr lang="ja-JP" altLang="en-US" sz="2400" dirty="0"/>
              <a:t>・シンプルなので処理が速い</a:t>
            </a:r>
            <a:endParaRPr lang="en-US" altLang="ja-JP" sz="2400" dirty="0"/>
          </a:p>
          <a:p>
            <a:r>
              <a:rPr lang="ja-JP" altLang="en-US" sz="2400" dirty="0"/>
              <a:t>・シンプルなので余分なデータが発生しない</a:t>
            </a:r>
            <a:endParaRPr lang="en-US" altLang="ja-JP" sz="2400" dirty="0"/>
          </a:p>
          <a:p>
            <a:r>
              <a:rPr lang="ja-JP" altLang="en-US" sz="2400" dirty="0"/>
              <a:t>・添え字で簡単にアクセスできる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■悪いところ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・使用</a:t>
            </a:r>
            <a:r>
              <a:rPr lang="en-US" altLang="ja-JP" sz="2400" dirty="0"/>
              <a:t>/</a:t>
            </a:r>
            <a:r>
              <a:rPr lang="ja-JP" altLang="en-US" sz="2400" dirty="0"/>
              <a:t>未使用があるものを管理すると虫食い状態となる</a:t>
            </a:r>
            <a:endParaRPr lang="en-US" altLang="ja-JP" sz="2400" dirty="0"/>
          </a:p>
          <a:p>
            <a:r>
              <a:rPr lang="ja-JP" altLang="en-US" sz="2400" dirty="0"/>
              <a:t>・使用</a:t>
            </a:r>
            <a:r>
              <a:rPr lang="en-US" altLang="ja-JP" sz="2400" dirty="0"/>
              <a:t>/</a:t>
            </a:r>
            <a:r>
              <a:rPr lang="ja-JP" altLang="en-US" sz="2400" dirty="0"/>
              <a:t>未使用そのものを１つずつチェックする必要がある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167219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配列とリストの違い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配列の良いところは、作りがシンプルだということです。</a:t>
            </a:r>
            <a:endParaRPr lang="en-US" altLang="ja-JP" sz="2400" dirty="0"/>
          </a:p>
          <a:p>
            <a:r>
              <a:rPr lang="ja-JP" altLang="en-US" sz="2400" dirty="0"/>
              <a:t>そのため処理も早く、メモリも最小限に抑えられます。</a:t>
            </a:r>
            <a:endParaRPr lang="en-US" altLang="ja-JP" sz="2400" dirty="0"/>
          </a:p>
          <a:p>
            <a:r>
              <a:rPr lang="ja-JP" altLang="en-US" sz="2400" dirty="0"/>
              <a:t>アクセスも添え字で簡単に参照できます。</a:t>
            </a:r>
            <a:endParaRPr lang="en-US" altLang="ja-JP" sz="2400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3BDF13C-11F9-4A10-B2E3-51C56169077A}"/>
              </a:ext>
            </a:extLst>
          </p:cNvPr>
          <p:cNvSpPr/>
          <p:nvPr/>
        </p:nvSpPr>
        <p:spPr>
          <a:xfrm>
            <a:off x="1623577" y="3069008"/>
            <a:ext cx="720000" cy="72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敵</a:t>
            </a:r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D5EA5F2-43B2-4837-A114-F436AC5F5B77}"/>
              </a:ext>
            </a:extLst>
          </p:cNvPr>
          <p:cNvSpPr/>
          <p:nvPr/>
        </p:nvSpPr>
        <p:spPr>
          <a:xfrm>
            <a:off x="2340752" y="3069007"/>
            <a:ext cx="720000" cy="72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敵</a:t>
            </a:r>
            <a:r>
              <a:rPr lang="en-US" altLang="ja-JP" dirty="0"/>
              <a:t>B</a:t>
            </a:r>
            <a:endParaRPr kumimoji="1" lang="ja-JP" altLang="en-US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A54B166-919C-42C8-A095-15B98DBBBE0E}"/>
              </a:ext>
            </a:extLst>
          </p:cNvPr>
          <p:cNvSpPr/>
          <p:nvPr/>
        </p:nvSpPr>
        <p:spPr>
          <a:xfrm>
            <a:off x="3057933" y="3069003"/>
            <a:ext cx="720000" cy="72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敵</a:t>
            </a:r>
            <a:r>
              <a:rPr lang="en-US" altLang="ja-JP" dirty="0"/>
              <a:t>C</a:t>
            </a:r>
            <a:endParaRPr kumimoji="1" lang="ja-JP" altLang="en-US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4ACA768-A1AD-4962-96F0-DD85231B741A}"/>
              </a:ext>
            </a:extLst>
          </p:cNvPr>
          <p:cNvSpPr/>
          <p:nvPr/>
        </p:nvSpPr>
        <p:spPr>
          <a:xfrm>
            <a:off x="3775108" y="3069002"/>
            <a:ext cx="720000" cy="72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敵</a:t>
            </a:r>
            <a:r>
              <a:rPr lang="en-US" altLang="ja-JP" dirty="0"/>
              <a:t>D</a:t>
            </a:r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EA5426A-0FAA-4EA4-87A6-701C7A7E0E2D}"/>
              </a:ext>
            </a:extLst>
          </p:cNvPr>
          <p:cNvSpPr/>
          <p:nvPr/>
        </p:nvSpPr>
        <p:spPr>
          <a:xfrm>
            <a:off x="4492285" y="3069000"/>
            <a:ext cx="720000" cy="72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敵</a:t>
            </a:r>
            <a:r>
              <a:rPr lang="en-US" altLang="ja-JP" dirty="0"/>
              <a:t>E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C256E3E-3D8F-4261-945C-76B81156801B}"/>
              </a:ext>
            </a:extLst>
          </p:cNvPr>
          <p:cNvSpPr txBox="1"/>
          <p:nvPr/>
        </p:nvSpPr>
        <p:spPr>
          <a:xfrm>
            <a:off x="567542" y="321057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配列</a:t>
            </a:r>
            <a:endParaRPr lang="en-US" altLang="ja-JP" sz="24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6648D93-482A-4650-8377-02240CE6CDD5}"/>
              </a:ext>
            </a:extLst>
          </p:cNvPr>
          <p:cNvSpPr txBox="1"/>
          <p:nvPr/>
        </p:nvSpPr>
        <p:spPr>
          <a:xfrm>
            <a:off x="1686861" y="3808792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[0]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5CA1C7B-2272-46E8-AAF6-7A4457C46394}"/>
              </a:ext>
            </a:extLst>
          </p:cNvPr>
          <p:cNvSpPr txBox="1"/>
          <p:nvPr/>
        </p:nvSpPr>
        <p:spPr>
          <a:xfrm>
            <a:off x="2404036" y="3812519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[1]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7127B77-0A1C-4107-9DAC-00F8794566D4}"/>
              </a:ext>
            </a:extLst>
          </p:cNvPr>
          <p:cNvSpPr txBox="1"/>
          <p:nvPr/>
        </p:nvSpPr>
        <p:spPr>
          <a:xfrm>
            <a:off x="3118388" y="3808792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[2]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A9F0E35-8C0E-4217-8B73-3D71ED810CB9}"/>
              </a:ext>
            </a:extLst>
          </p:cNvPr>
          <p:cNvSpPr txBox="1"/>
          <p:nvPr/>
        </p:nvSpPr>
        <p:spPr>
          <a:xfrm>
            <a:off x="3832740" y="3808792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[3]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047227C-6305-4B52-BC13-E537952D3D8F}"/>
              </a:ext>
            </a:extLst>
          </p:cNvPr>
          <p:cNvSpPr txBox="1"/>
          <p:nvPr/>
        </p:nvSpPr>
        <p:spPr>
          <a:xfrm>
            <a:off x="4559314" y="3808791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[4]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42026B6-8B16-42BE-83B3-2F3BA56640F9}"/>
              </a:ext>
            </a:extLst>
          </p:cNvPr>
          <p:cNvSpPr txBox="1"/>
          <p:nvPr/>
        </p:nvSpPr>
        <p:spPr>
          <a:xfrm>
            <a:off x="567542" y="4549733"/>
            <a:ext cx="34916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■アクセスの方法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敵</a:t>
            </a:r>
            <a:r>
              <a:rPr lang="en-US" altLang="ja-JP" sz="2400" dirty="0"/>
              <a:t>D</a:t>
            </a:r>
            <a:r>
              <a:rPr lang="ja-JP" altLang="en-US" sz="2400" dirty="0"/>
              <a:t>は３番目にいる！！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954311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配列とリストの違い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5723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配列の悪いところは、使わなくなった要素があるとその分だけ無駄になります。</a:t>
            </a:r>
            <a:endParaRPr lang="en-US" altLang="ja-JP" sz="2400" dirty="0"/>
          </a:p>
          <a:p>
            <a:r>
              <a:rPr lang="ja-JP" altLang="en-US" sz="2400" dirty="0"/>
              <a:t>配列は、</a:t>
            </a:r>
            <a:r>
              <a:rPr lang="ja-JP" altLang="en-US" sz="2400" b="1" dirty="0">
                <a:solidFill>
                  <a:srgbClr val="FF0000"/>
                </a:solidFill>
              </a:rPr>
              <a:t>状況に合わせた柔軟な対応は苦手</a:t>
            </a:r>
            <a:r>
              <a:rPr lang="ja-JP" altLang="en-US" sz="2400" dirty="0"/>
              <a:t>です。</a:t>
            </a:r>
            <a:endParaRPr lang="en-US" altLang="ja-JP" sz="2400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3BDF13C-11F9-4A10-B2E3-51C56169077A}"/>
              </a:ext>
            </a:extLst>
          </p:cNvPr>
          <p:cNvSpPr/>
          <p:nvPr/>
        </p:nvSpPr>
        <p:spPr>
          <a:xfrm>
            <a:off x="1623577" y="3069008"/>
            <a:ext cx="720000" cy="72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敵</a:t>
            </a:r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D5EA5F2-43B2-4837-A114-F436AC5F5B77}"/>
              </a:ext>
            </a:extLst>
          </p:cNvPr>
          <p:cNvSpPr/>
          <p:nvPr/>
        </p:nvSpPr>
        <p:spPr>
          <a:xfrm>
            <a:off x="2340752" y="3069007"/>
            <a:ext cx="720000" cy="72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敵</a:t>
            </a:r>
            <a:r>
              <a:rPr lang="en-US" altLang="ja-JP" dirty="0"/>
              <a:t>B</a:t>
            </a:r>
            <a:endParaRPr kumimoji="1" lang="ja-JP" altLang="en-US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A54B166-919C-42C8-A095-15B98DBBBE0E}"/>
              </a:ext>
            </a:extLst>
          </p:cNvPr>
          <p:cNvSpPr/>
          <p:nvPr/>
        </p:nvSpPr>
        <p:spPr>
          <a:xfrm>
            <a:off x="3057933" y="3069003"/>
            <a:ext cx="720000" cy="72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rgbClr val="FF0000"/>
                </a:solidFill>
              </a:rPr>
              <a:t>死亡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4ACA768-A1AD-4962-96F0-DD85231B741A}"/>
              </a:ext>
            </a:extLst>
          </p:cNvPr>
          <p:cNvSpPr/>
          <p:nvPr/>
        </p:nvSpPr>
        <p:spPr>
          <a:xfrm>
            <a:off x="3775108" y="3069002"/>
            <a:ext cx="720000" cy="72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rgbClr val="FF0000"/>
                </a:solidFill>
              </a:rPr>
              <a:t>死亡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EA5426A-0FAA-4EA4-87A6-701C7A7E0E2D}"/>
              </a:ext>
            </a:extLst>
          </p:cNvPr>
          <p:cNvSpPr/>
          <p:nvPr/>
        </p:nvSpPr>
        <p:spPr>
          <a:xfrm>
            <a:off x="4492285" y="3069000"/>
            <a:ext cx="720000" cy="72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敵</a:t>
            </a:r>
            <a:r>
              <a:rPr lang="en-US" altLang="ja-JP" dirty="0"/>
              <a:t>E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C256E3E-3D8F-4261-945C-76B81156801B}"/>
              </a:ext>
            </a:extLst>
          </p:cNvPr>
          <p:cNvSpPr txBox="1"/>
          <p:nvPr/>
        </p:nvSpPr>
        <p:spPr>
          <a:xfrm>
            <a:off x="567542" y="321057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配列</a:t>
            </a:r>
            <a:endParaRPr lang="en-US" altLang="ja-JP" sz="24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6648D93-482A-4650-8377-02240CE6CDD5}"/>
              </a:ext>
            </a:extLst>
          </p:cNvPr>
          <p:cNvSpPr txBox="1"/>
          <p:nvPr/>
        </p:nvSpPr>
        <p:spPr>
          <a:xfrm>
            <a:off x="1686861" y="3808792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[0]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5CA1C7B-2272-46E8-AAF6-7A4457C46394}"/>
              </a:ext>
            </a:extLst>
          </p:cNvPr>
          <p:cNvSpPr txBox="1"/>
          <p:nvPr/>
        </p:nvSpPr>
        <p:spPr>
          <a:xfrm>
            <a:off x="2404036" y="3812519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[1]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7127B77-0A1C-4107-9DAC-00F8794566D4}"/>
              </a:ext>
            </a:extLst>
          </p:cNvPr>
          <p:cNvSpPr txBox="1"/>
          <p:nvPr/>
        </p:nvSpPr>
        <p:spPr>
          <a:xfrm>
            <a:off x="3118388" y="3808792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[2]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A9F0E35-8C0E-4217-8B73-3D71ED810CB9}"/>
              </a:ext>
            </a:extLst>
          </p:cNvPr>
          <p:cNvSpPr txBox="1"/>
          <p:nvPr/>
        </p:nvSpPr>
        <p:spPr>
          <a:xfrm>
            <a:off x="3832740" y="3808792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[3]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047227C-6305-4B52-BC13-E537952D3D8F}"/>
              </a:ext>
            </a:extLst>
          </p:cNvPr>
          <p:cNvSpPr txBox="1"/>
          <p:nvPr/>
        </p:nvSpPr>
        <p:spPr>
          <a:xfrm>
            <a:off x="4559314" y="3808791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[4]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005BAD8-ED42-4F6E-A818-D357FF65C1D4}"/>
              </a:ext>
            </a:extLst>
          </p:cNvPr>
          <p:cNvSpPr txBox="1"/>
          <p:nvPr/>
        </p:nvSpPr>
        <p:spPr>
          <a:xfrm>
            <a:off x="567542" y="4536652"/>
            <a:ext cx="82317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この場合だと</a:t>
            </a:r>
            <a:r>
              <a:rPr lang="en-US" altLang="ja-JP" sz="2400" b="1" dirty="0">
                <a:solidFill>
                  <a:srgbClr val="FF0000"/>
                </a:solidFill>
              </a:rPr>
              <a:t>2</a:t>
            </a:r>
            <a:r>
              <a:rPr lang="ja-JP" altLang="en-US" sz="2400" b="1" dirty="0">
                <a:solidFill>
                  <a:srgbClr val="FF0000"/>
                </a:solidFill>
              </a:rPr>
              <a:t>番目と</a:t>
            </a:r>
            <a:r>
              <a:rPr lang="en-US" altLang="ja-JP" sz="2400" b="1" dirty="0">
                <a:solidFill>
                  <a:srgbClr val="FF0000"/>
                </a:solidFill>
              </a:rPr>
              <a:t>3</a:t>
            </a:r>
            <a:r>
              <a:rPr lang="ja-JP" altLang="en-US" sz="2400" b="1" dirty="0">
                <a:solidFill>
                  <a:srgbClr val="FF0000"/>
                </a:solidFill>
              </a:rPr>
              <a:t>番目の領域が無駄</a:t>
            </a:r>
            <a:r>
              <a:rPr lang="ja-JP" altLang="en-US" sz="2400" dirty="0"/>
              <a:t>となってします。</a:t>
            </a:r>
            <a:endParaRPr lang="en-US" altLang="ja-JP" sz="2400" dirty="0"/>
          </a:p>
          <a:p>
            <a:r>
              <a:rPr lang="ja-JP" altLang="en-US" sz="2400" dirty="0"/>
              <a:t>使いまわしたりするなど、工夫が必要になってきます。</a:t>
            </a:r>
            <a:endParaRPr lang="en-US" altLang="ja-JP" sz="2400" dirty="0"/>
          </a:p>
          <a:p>
            <a:r>
              <a:rPr lang="ja-JP" altLang="en-US" sz="2400" dirty="0"/>
              <a:t>（結局その工夫の処理が重かったりすることも。。。）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125426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配列とリストの違い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リストは要素を紐づけで繋ぐ仕組みになります。</a:t>
            </a:r>
            <a:endParaRPr lang="en-US" altLang="ja-JP" sz="2400" dirty="0"/>
          </a:p>
          <a:p>
            <a:r>
              <a:rPr lang="ja-JP" altLang="en-US" sz="2400" dirty="0"/>
              <a:t>これによる良いところと悪いところがあります。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0070C0"/>
                </a:solidFill>
              </a:rPr>
              <a:t>■良いところ</a:t>
            </a:r>
            <a:endParaRPr lang="en-US" altLang="ja-JP" sz="2400" b="1" dirty="0">
              <a:solidFill>
                <a:srgbClr val="0070C0"/>
              </a:solidFill>
            </a:endParaRPr>
          </a:p>
          <a:p>
            <a:r>
              <a:rPr lang="ja-JP" altLang="en-US" sz="2400" dirty="0"/>
              <a:t>・部分的な削除が可能</a:t>
            </a:r>
            <a:endParaRPr lang="en-US" altLang="ja-JP" sz="2400" dirty="0"/>
          </a:p>
          <a:p>
            <a:r>
              <a:rPr lang="ja-JP" altLang="en-US" sz="2400" dirty="0"/>
              <a:t>・部分的な削除が速い</a:t>
            </a:r>
            <a:endParaRPr lang="en-US" altLang="ja-JP" sz="2400" dirty="0"/>
          </a:p>
          <a:p>
            <a:r>
              <a:rPr lang="ja-JP" altLang="en-US" sz="2400" dirty="0"/>
              <a:t>・部分的な挿入も同様に速い</a:t>
            </a:r>
            <a:endParaRPr lang="en-US" altLang="ja-JP" sz="2400" dirty="0"/>
          </a:p>
          <a:p>
            <a:r>
              <a:rPr lang="ja-JP" altLang="en-US" sz="2400" dirty="0"/>
              <a:t>・最小限の件数で管理することができる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■悪いところ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・配列よりもメモリ領域を多く使う</a:t>
            </a:r>
            <a:endParaRPr lang="en-US" altLang="ja-JP" sz="2400" dirty="0"/>
          </a:p>
          <a:p>
            <a:r>
              <a:rPr lang="ja-JP" altLang="en-US" sz="2400" dirty="0"/>
              <a:t>・添え字アクセスができず配列よりもアクセスが遅い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547302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配列とリストの違い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リストは</a:t>
            </a:r>
            <a:r>
              <a:rPr lang="ja-JP" altLang="en-US" sz="2400" b="1" dirty="0">
                <a:solidFill>
                  <a:srgbClr val="FF0000"/>
                </a:solidFill>
              </a:rPr>
              <a:t>複数の要素が紐づけでつながったもの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r>
              <a:rPr lang="ja-JP" altLang="en-US" sz="2400" dirty="0"/>
              <a:t>配列とはそもそも仕組みが違います。</a:t>
            </a:r>
            <a:endParaRPr lang="en-US" altLang="ja-JP" sz="2400" dirty="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A95B827-8F81-4E82-B30D-D34C9330BD1F}"/>
              </a:ext>
            </a:extLst>
          </p:cNvPr>
          <p:cNvSpPr/>
          <p:nvPr/>
        </p:nvSpPr>
        <p:spPr>
          <a:xfrm>
            <a:off x="1681684" y="3285580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F3E0F3DD-AC3B-4D01-826C-81B13FEB0528}"/>
              </a:ext>
            </a:extLst>
          </p:cNvPr>
          <p:cNvSpPr/>
          <p:nvPr/>
        </p:nvSpPr>
        <p:spPr>
          <a:xfrm>
            <a:off x="1852013" y="3285579"/>
            <a:ext cx="720000" cy="72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敵</a:t>
            </a:r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6BB7CA5E-B29C-45B6-8206-443FC17256AA}"/>
              </a:ext>
            </a:extLst>
          </p:cNvPr>
          <p:cNvSpPr/>
          <p:nvPr/>
        </p:nvSpPr>
        <p:spPr>
          <a:xfrm>
            <a:off x="2569194" y="3285579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9D0FE129-714C-48B4-B974-E47F1EE8395F}"/>
              </a:ext>
            </a:extLst>
          </p:cNvPr>
          <p:cNvSpPr/>
          <p:nvPr/>
        </p:nvSpPr>
        <p:spPr>
          <a:xfrm>
            <a:off x="3133971" y="3285580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3DEAF720-47C9-4132-8276-749D91D82A8C}"/>
              </a:ext>
            </a:extLst>
          </p:cNvPr>
          <p:cNvSpPr/>
          <p:nvPr/>
        </p:nvSpPr>
        <p:spPr>
          <a:xfrm>
            <a:off x="3304300" y="3285579"/>
            <a:ext cx="720000" cy="72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敵</a:t>
            </a:r>
            <a:r>
              <a:rPr kumimoji="1" lang="en-US" altLang="ja-JP" dirty="0"/>
              <a:t>B</a:t>
            </a:r>
            <a:endParaRPr kumimoji="1" lang="ja-JP" altLang="en-US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5CE36AFA-9B6C-4187-8C4F-13B9B2E84E04}"/>
              </a:ext>
            </a:extLst>
          </p:cNvPr>
          <p:cNvSpPr/>
          <p:nvPr/>
        </p:nvSpPr>
        <p:spPr>
          <a:xfrm>
            <a:off x="4021481" y="3285579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C81CF62B-C7B1-4B73-A877-B5B0A6CBEAD0}"/>
              </a:ext>
            </a:extLst>
          </p:cNvPr>
          <p:cNvSpPr/>
          <p:nvPr/>
        </p:nvSpPr>
        <p:spPr>
          <a:xfrm>
            <a:off x="4586253" y="3285566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C56FF7EE-62D3-4061-B21E-50125C142845}"/>
              </a:ext>
            </a:extLst>
          </p:cNvPr>
          <p:cNvSpPr/>
          <p:nvPr/>
        </p:nvSpPr>
        <p:spPr>
          <a:xfrm>
            <a:off x="4756582" y="3285565"/>
            <a:ext cx="720000" cy="72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敵</a:t>
            </a:r>
            <a:r>
              <a:rPr kumimoji="1" lang="en-US" altLang="ja-JP" dirty="0"/>
              <a:t>C</a:t>
            </a:r>
            <a:endParaRPr kumimoji="1" lang="ja-JP" altLang="en-US" dirty="0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93B29094-8F67-4206-899E-68BB79D60C5B}"/>
              </a:ext>
            </a:extLst>
          </p:cNvPr>
          <p:cNvSpPr/>
          <p:nvPr/>
        </p:nvSpPr>
        <p:spPr>
          <a:xfrm>
            <a:off x="5473763" y="3285565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9910C834-9E61-49B5-B09E-81F005D88A1D}"/>
              </a:ext>
            </a:extLst>
          </p:cNvPr>
          <p:cNvSpPr/>
          <p:nvPr/>
        </p:nvSpPr>
        <p:spPr>
          <a:xfrm>
            <a:off x="6038540" y="3285566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ACADC8DD-2A94-44FA-95F0-57B59802ABF9}"/>
              </a:ext>
            </a:extLst>
          </p:cNvPr>
          <p:cNvSpPr/>
          <p:nvPr/>
        </p:nvSpPr>
        <p:spPr>
          <a:xfrm>
            <a:off x="6208869" y="3285565"/>
            <a:ext cx="720000" cy="72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敵</a:t>
            </a:r>
            <a:r>
              <a:rPr kumimoji="1" lang="en-US" altLang="ja-JP" dirty="0"/>
              <a:t>D</a:t>
            </a:r>
            <a:endParaRPr kumimoji="1" lang="ja-JP" altLang="en-US" dirty="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D451EBDD-4059-4582-ABF6-5836BD6EDE07}"/>
              </a:ext>
            </a:extLst>
          </p:cNvPr>
          <p:cNvSpPr/>
          <p:nvPr/>
        </p:nvSpPr>
        <p:spPr>
          <a:xfrm>
            <a:off x="6926050" y="3285565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09E82CD0-70DF-4CF7-BCD6-88F8021AFEEF}"/>
              </a:ext>
            </a:extLst>
          </p:cNvPr>
          <p:cNvSpPr/>
          <p:nvPr/>
        </p:nvSpPr>
        <p:spPr>
          <a:xfrm>
            <a:off x="7490817" y="3285566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AF36138C-BA01-4114-9FB0-4E8BD549E5D2}"/>
              </a:ext>
            </a:extLst>
          </p:cNvPr>
          <p:cNvSpPr/>
          <p:nvPr/>
        </p:nvSpPr>
        <p:spPr>
          <a:xfrm>
            <a:off x="7661146" y="3285565"/>
            <a:ext cx="720000" cy="72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敵</a:t>
            </a:r>
            <a:r>
              <a:rPr kumimoji="1" lang="en-US" altLang="ja-JP" dirty="0"/>
              <a:t>E</a:t>
            </a:r>
            <a:endParaRPr kumimoji="1" lang="ja-JP" altLang="en-US" dirty="0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DF8CB253-72C3-4B23-AEEE-2E6BC1D7D4E9}"/>
              </a:ext>
            </a:extLst>
          </p:cNvPr>
          <p:cNvSpPr/>
          <p:nvPr/>
        </p:nvSpPr>
        <p:spPr>
          <a:xfrm>
            <a:off x="8378327" y="3285565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AFCA43B-438E-4314-AEBE-FB3CBFC15B8D}"/>
              </a:ext>
            </a:extLst>
          </p:cNvPr>
          <p:cNvSpPr txBox="1"/>
          <p:nvPr/>
        </p:nvSpPr>
        <p:spPr>
          <a:xfrm>
            <a:off x="567542" y="341473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リスト</a:t>
            </a:r>
            <a:endParaRPr lang="en-US" altLang="ja-JP" sz="2400" dirty="0"/>
          </a:p>
        </p:txBody>
      </p: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630D1D97-4BAA-48CD-B644-9C625BC48F1C}"/>
              </a:ext>
            </a:extLst>
          </p:cNvPr>
          <p:cNvCxnSpPr>
            <a:stCxn id="20" idx="3"/>
            <a:endCxn id="21" idx="1"/>
          </p:cNvCxnSpPr>
          <p:nvPr/>
        </p:nvCxnSpPr>
        <p:spPr>
          <a:xfrm>
            <a:off x="2742347" y="3645579"/>
            <a:ext cx="39162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ED274442-17EA-4509-AE7C-DFADE4EC6C39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 flipV="1">
            <a:off x="4194634" y="3645566"/>
            <a:ext cx="391619" cy="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26716924-AED9-4C7A-B3B2-D2B0234666BA}"/>
              </a:ext>
            </a:extLst>
          </p:cNvPr>
          <p:cNvCxnSpPr>
            <a:cxnSpLocks/>
            <a:stCxn id="26" idx="3"/>
            <a:endCxn id="27" idx="1"/>
          </p:cNvCxnSpPr>
          <p:nvPr/>
        </p:nvCxnSpPr>
        <p:spPr>
          <a:xfrm>
            <a:off x="5646916" y="3645565"/>
            <a:ext cx="39162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3EA9BC09-5DC5-425C-8FFF-C2E09A443DE5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>
            <a:off x="7099203" y="3645565"/>
            <a:ext cx="39161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92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配列とリストの違い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リストは</a:t>
            </a:r>
            <a:r>
              <a:rPr lang="ja-JP" altLang="en-US" sz="2400" b="1" dirty="0">
                <a:solidFill>
                  <a:srgbClr val="FF0000"/>
                </a:solidFill>
              </a:rPr>
              <a:t>部分削除を非常に効率よく行えます。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削除したところの紐を結びなおすだけ</a:t>
            </a:r>
            <a:r>
              <a:rPr lang="ja-JP" altLang="en-US" sz="2400" dirty="0"/>
              <a:t>で良いからです。</a:t>
            </a:r>
            <a:endParaRPr lang="en-US" altLang="ja-JP" sz="2400" dirty="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A95B827-8F81-4E82-B30D-D34C9330BD1F}"/>
              </a:ext>
            </a:extLst>
          </p:cNvPr>
          <p:cNvSpPr/>
          <p:nvPr/>
        </p:nvSpPr>
        <p:spPr>
          <a:xfrm>
            <a:off x="1681684" y="3285580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F3E0F3DD-AC3B-4D01-826C-81B13FEB0528}"/>
              </a:ext>
            </a:extLst>
          </p:cNvPr>
          <p:cNvSpPr/>
          <p:nvPr/>
        </p:nvSpPr>
        <p:spPr>
          <a:xfrm>
            <a:off x="1852013" y="3285579"/>
            <a:ext cx="720000" cy="72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敵</a:t>
            </a:r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6BB7CA5E-B29C-45B6-8206-443FC17256AA}"/>
              </a:ext>
            </a:extLst>
          </p:cNvPr>
          <p:cNvSpPr/>
          <p:nvPr/>
        </p:nvSpPr>
        <p:spPr>
          <a:xfrm>
            <a:off x="2569194" y="3285579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9D0FE129-714C-48B4-B974-E47F1EE8395F}"/>
              </a:ext>
            </a:extLst>
          </p:cNvPr>
          <p:cNvSpPr/>
          <p:nvPr/>
        </p:nvSpPr>
        <p:spPr>
          <a:xfrm>
            <a:off x="3133971" y="3285580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3DEAF720-47C9-4132-8276-749D91D82A8C}"/>
              </a:ext>
            </a:extLst>
          </p:cNvPr>
          <p:cNvSpPr/>
          <p:nvPr/>
        </p:nvSpPr>
        <p:spPr>
          <a:xfrm>
            <a:off x="3304300" y="3285579"/>
            <a:ext cx="720000" cy="72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敵</a:t>
            </a:r>
            <a:r>
              <a:rPr kumimoji="1" lang="en-US" altLang="ja-JP" dirty="0"/>
              <a:t>B</a:t>
            </a:r>
            <a:endParaRPr kumimoji="1" lang="ja-JP" altLang="en-US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5CE36AFA-9B6C-4187-8C4F-13B9B2E84E04}"/>
              </a:ext>
            </a:extLst>
          </p:cNvPr>
          <p:cNvSpPr/>
          <p:nvPr/>
        </p:nvSpPr>
        <p:spPr>
          <a:xfrm>
            <a:off x="4021481" y="3285579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C81CF62B-C7B1-4B73-A877-B5B0A6CBEAD0}"/>
              </a:ext>
            </a:extLst>
          </p:cNvPr>
          <p:cNvSpPr/>
          <p:nvPr/>
        </p:nvSpPr>
        <p:spPr>
          <a:xfrm>
            <a:off x="4541430" y="2319943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C56FF7EE-62D3-4061-B21E-50125C142845}"/>
              </a:ext>
            </a:extLst>
          </p:cNvPr>
          <p:cNvSpPr/>
          <p:nvPr/>
        </p:nvSpPr>
        <p:spPr>
          <a:xfrm>
            <a:off x="4711759" y="2319942"/>
            <a:ext cx="720000" cy="720000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rgbClr val="FF0000"/>
                </a:solidFill>
              </a:rPr>
              <a:t>死亡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93B29094-8F67-4206-899E-68BB79D60C5B}"/>
              </a:ext>
            </a:extLst>
          </p:cNvPr>
          <p:cNvSpPr/>
          <p:nvPr/>
        </p:nvSpPr>
        <p:spPr>
          <a:xfrm>
            <a:off x="5428940" y="2319942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9910C834-9E61-49B5-B09E-81F005D88A1D}"/>
              </a:ext>
            </a:extLst>
          </p:cNvPr>
          <p:cNvSpPr/>
          <p:nvPr/>
        </p:nvSpPr>
        <p:spPr>
          <a:xfrm>
            <a:off x="6038540" y="3285566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ACADC8DD-2A94-44FA-95F0-57B59802ABF9}"/>
              </a:ext>
            </a:extLst>
          </p:cNvPr>
          <p:cNvSpPr/>
          <p:nvPr/>
        </p:nvSpPr>
        <p:spPr>
          <a:xfrm>
            <a:off x="6208869" y="3285565"/>
            <a:ext cx="720000" cy="72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敵</a:t>
            </a:r>
            <a:r>
              <a:rPr kumimoji="1" lang="en-US" altLang="ja-JP" dirty="0"/>
              <a:t>D</a:t>
            </a:r>
            <a:endParaRPr kumimoji="1" lang="ja-JP" altLang="en-US" dirty="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D451EBDD-4059-4582-ABF6-5836BD6EDE07}"/>
              </a:ext>
            </a:extLst>
          </p:cNvPr>
          <p:cNvSpPr/>
          <p:nvPr/>
        </p:nvSpPr>
        <p:spPr>
          <a:xfrm>
            <a:off x="6926050" y="3285565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09E82CD0-70DF-4CF7-BCD6-88F8021AFEEF}"/>
              </a:ext>
            </a:extLst>
          </p:cNvPr>
          <p:cNvSpPr/>
          <p:nvPr/>
        </p:nvSpPr>
        <p:spPr>
          <a:xfrm>
            <a:off x="7490817" y="3285566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AF36138C-BA01-4114-9FB0-4E8BD549E5D2}"/>
              </a:ext>
            </a:extLst>
          </p:cNvPr>
          <p:cNvSpPr/>
          <p:nvPr/>
        </p:nvSpPr>
        <p:spPr>
          <a:xfrm>
            <a:off x="7661146" y="3285565"/>
            <a:ext cx="720000" cy="72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敵</a:t>
            </a:r>
            <a:r>
              <a:rPr kumimoji="1" lang="en-US" altLang="ja-JP" dirty="0"/>
              <a:t>E</a:t>
            </a:r>
            <a:endParaRPr kumimoji="1" lang="ja-JP" altLang="en-US" dirty="0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DF8CB253-72C3-4B23-AEEE-2E6BC1D7D4E9}"/>
              </a:ext>
            </a:extLst>
          </p:cNvPr>
          <p:cNvSpPr/>
          <p:nvPr/>
        </p:nvSpPr>
        <p:spPr>
          <a:xfrm>
            <a:off x="8378327" y="3285565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AFCA43B-438E-4314-AEBE-FB3CBFC15B8D}"/>
              </a:ext>
            </a:extLst>
          </p:cNvPr>
          <p:cNvSpPr txBox="1"/>
          <p:nvPr/>
        </p:nvSpPr>
        <p:spPr>
          <a:xfrm>
            <a:off x="567542" y="341473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リスト</a:t>
            </a:r>
            <a:endParaRPr lang="en-US" altLang="ja-JP" sz="2400" dirty="0"/>
          </a:p>
        </p:txBody>
      </p: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630D1D97-4BAA-48CD-B644-9C625BC48F1C}"/>
              </a:ext>
            </a:extLst>
          </p:cNvPr>
          <p:cNvCxnSpPr>
            <a:stCxn id="20" idx="3"/>
            <a:endCxn id="21" idx="1"/>
          </p:cNvCxnSpPr>
          <p:nvPr/>
        </p:nvCxnSpPr>
        <p:spPr>
          <a:xfrm>
            <a:off x="2742347" y="3645579"/>
            <a:ext cx="39162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ED274442-17EA-4509-AE7C-DFADE4EC6C39}"/>
              </a:ext>
            </a:extLst>
          </p:cNvPr>
          <p:cNvCxnSpPr>
            <a:cxnSpLocks/>
            <a:stCxn id="23" idx="3"/>
            <a:endCxn id="27" idx="1"/>
          </p:cNvCxnSpPr>
          <p:nvPr/>
        </p:nvCxnSpPr>
        <p:spPr>
          <a:xfrm flipV="1">
            <a:off x="4194634" y="3645566"/>
            <a:ext cx="1843906" cy="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3EA9BC09-5DC5-425C-8FFF-C2E09A443DE5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>
            <a:off x="7099203" y="3645565"/>
            <a:ext cx="39161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320B3E9E-31CD-46A9-9285-A0F7584B5BF7}"/>
              </a:ext>
            </a:extLst>
          </p:cNvPr>
          <p:cNvSpPr txBox="1"/>
          <p:nvPr/>
        </p:nvSpPr>
        <p:spPr>
          <a:xfrm>
            <a:off x="3485371" y="4047248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ここを繋ぎなおすだけ</a:t>
            </a:r>
            <a:endParaRPr lang="en-US" altLang="ja-JP" sz="2400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E01F972C-0097-4049-BC38-C3B35B743345}"/>
              </a:ext>
            </a:extLst>
          </p:cNvPr>
          <p:cNvSpPr txBox="1"/>
          <p:nvPr/>
        </p:nvSpPr>
        <p:spPr>
          <a:xfrm>
            <a:off x="567542" y="4810575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同様に紐をつなぎなおせば中間への挿入も簡単です。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7951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配列とリストの違い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また部分削除がいつでもできるため、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常に最小限の要素数で管理することができます。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A95B827-8F81-4E82-B30D-D34C9330BD1F}"/>
              </a:ext>
            </a:extLst>
          </p:cNvPr>
          <p:cNvSpPr/>
          <p:nvPr/>
        </p:nvSpPr>
        <p:spPr>
          <a:xfrm>
            <a:off x="1681684" y="3285580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F3E0F3DD-AC3B-4D01-826C-81B13FEB0528}"/>
              </a:ext>
            </a:extLst>
          </p:cNvPr>
          <p:cNvSpPr/>
          <p:nvPr/>
        </p:nvSpPr>
        <p:spPr>
          <a:xfrm>
            <a:off x="1852013" y="3285579"/>
            <a:ext cx="720000" cy="72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敵</a:t>
            </a:r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6BB7CA5E-B29C-45B6-8206-443FC17256AA}"/>
              </a:ext>
            </a:extLst>
          </p:cNvPr>
          <p:cNvSpPr/>
          <p:nvPr/>
        </p:nvSpPr>
        <p:spPr>
          <a:xfrm>
            <a:off x="2569194" y="3285579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9D0FE129-714C-48B4-B974-E47F1EE8395F}"/>
              </a:ext>
            </a:extLst>
          </p:cNvPr>
          <p:cNvSpPr/>
          <p:nvPr/>
        </p:nvSpPr>
        <p:spPr>
          <a:xfrm>
            <a:off x="3133971" y="3285580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3DEAF720-47C9-4132-8276-749D91D82A8C}"/>
              </a:ext>
            </a:extLst>
          </p:cNvPr>
          <p:cNvSpPr/>
          <p:nvPr/>
        </p:nvSpPr>
        <p:spPr>
          <a:xfrm>
            <a:off x="3304300" y="3285579"/>
            <a:ext cx="720000" cy="72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敵</a:t>
            </a:r>
            <a:r>
              <a:rPr kumimoji="1" lang="en-US" altLang="ja-JP" dirty="0"/>
              <a:t>B</a:t>
            </a:r>
            <a:endParaRPr kumimoji="1" lang="ja-JP" altLang="en-US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5CE36AFA-9B6C-4187-8C4F-13B9B2E84E04}"/>
              </a:ext>
            </a:extLst>
          </p:cNvPr>
          <p:cNvSpPr/>
          <p:nvPr/>
        </p:nvSpPr>
        <p:spPr>
          <a:xfrm>
            <a:off x="4021481" y="3285579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9910C834-9E61-49B5-B09E-81F005D88A1D}"/>
              </a:ext>
            </a:extLst>
          </p:cNvPr>
          <p:cNvSpPr/>
          <p:nvPr/>
        </p:nvSpPr>
        <p:spPr>
          <a:xfrm>
            <a:off x="6038540" y="3285566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ACADC8DD-2A94-44FA-95F0-57B59802ABF9}"/>
              </a:ext>
            </a:extLst>
          </p:cNvPr>
          <p:cNvSpPr/>
          <p:nvPr/>
        </p:nvSpPr>
        <p:spPr>
          <a:xfrm>
            <a:off x="6208869" y="3285565"/>
            <a:ext cx="720000" cy="72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敵</a:t>
            </a:r>
            <a:r>
              <a:rPr kumimoji="1" lang="en-US" altLang="ja-JP" dirty="0"/>
              <a:t>D</a:t>
            </a:r>
            <a:endParaRPr kumimoji="1" lang="ja-JP" altLang="en-US" dirty="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D451EBDD-4059-4582-ABF6-5836BD6EDE07}"/>
              </a:ext>
            </a:extLst>
          </p:cNvPr>
          <p:cNvSpPr/>
          <p:nvPr/>
        </p:nvSpPr>
        <p:spPr>
          <a:xfrm>
            <a:off x="6926050" y="3285565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09E82CD0-70DF-4CF7-BCD6-88F8021AFEEF}"/>
              </a:ext>
            </a:extLst>
          </p:cNvPr>
          <p:cNvSpPr/>
          <p:nvPr/>
        </p:nvSpPr>
        <p:spPr>
          <a:xfrm>
            <a:off x="7490817" y="3285566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AF36138C-BA01-4114-9FB0-4E8BD549E5D2}"/>
              </a:ext>
            </a:extLst>
          </p:cNvPr>
          <p:cNvSpPr/>
          <p:nvPr/>
        </p:nvSpPr>
        <p:spPr>
          <a:xfrm>
            <a:off x="7661146" y="3285565"/>
            <a:ext cx="720000" cy="72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敵</a:t>
            </a:r>
            <a:r>
              <a:rPr kumimoji="1" lang="en-US" altLang="ja-JP" dirty="0"/>
              <a:t>E</a:t>
            </a:r>
            <a:endParaRPr kumimoji="1" lang="ja-JP" altLang="en-US" dirty="0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DF8CB253-72C3-4B23-AEEE-2E6BC1D7D4E9}"/>
              </a:ext>
            </a:extLst>
          </p:cNvPr>
          <p:cNvSpPr/>
          <p:nvPr/>
        </p:nvSpPr>
        <p:spPr>
          <a:xfrm>
            <a:off x="8378327" y="3285565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AFCA43B-438E-4314-AEBE-FB3CBFC15B8D}"/>
              </a:ext>
            </a:extLst>
          </p:cNvPr>
          <p:cNvSpPr txBox="1"/>
          <p:nvPr/>
        </p:nvSpPr>
        <p:spPr>
          <a:xfrm>
            <a:off x="567542" y="341473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リスト</a:t>
            </a:r>
            <a:endParaRPr lang="en-US" altLang="ja-JP" sz="2400" dirty="0"/>
          </a:p>
        </p:txBody>
      </p: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630D1D97-4BAA-48CD-B644-9C625BC48F1C}"/>
              </a:ext>
            </a:extLst>
          </p:cNvPr>
          <p:cNvCxnSpPr>
            <a:stCxn id="20" idx="3"/>
            <a:endCxn id="21" idx="1"/>
          </p:cNvCxnSpPr>
          <p:nvPr/>
        </p:nvCxnSpPr>
        <p:spPr>
          <a:xfrm>
            <a:off x="2742347" y="3645579"/>
            <a:ext cx="39162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ED274442-17EA-4509-AE7C-DFADE4EC6C39}"/>
              </a:ext>
            </a:extLst>
          </p:cNvPr>
          <p:cNvCxnSpPr>
            <a:cxnSpLocks/>
            <a:stCxn id="23" idx="3"/>
            <a:endCxn id="27" idx="1"/>
          </p:cNvCxnSpPr>
          <p:nvPr/>
        </p:nvCxnSpPr>
        <p:spPr>
          <a:xfrm flipV="1">
            <a:off x="4194634" y="3645566"/>
            <a:ext cx="1843906" cy="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3EA9BC09-5DC5-425C-8FFF-C2E09A443DE5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>
            <a:off x="7099203" y="3645565"/>
            <a:ext cx="39161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9262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配列とリストの違い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1272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ただし、</a:t>
            </a:r>
            <a:r>
              <a:rPr lang="ja-JP" altLang="en-US" sz="2400" b="1" dirty="0">
                <a:solidFill>
                  <a:srgbClr val="FF0000"/>
                </a:solidFill>
              </a:rPr>
              <a:t>紐づけに必要なデータが必要</a:t>
            </a:r>
            <a:r>
              <a:rPr lang="ja-JP" altLang="en-US" sz="2400" dirty="0"/>
              <a:t>なので、</a:t>
            </a:r>
            <a:endParaRPr lang="en-US" altLang="ja-JP" sz="2400" dirty="0"/>
          </a:p>
          <a:p>
            <a:r>
              <a:rPr lang="en-US" altLang="ja-JP" sz="2400" dirty="0"/>
              <a:t>1</a:t>
            </a:r>
            <a:r>
              <a:rPr lang="ja-JP" altLang="en-US" sz="2400" dirty="0"/>
              <a:t>件分のデータサイズは配列よりも多くなります。</a:t>
            </a:r>
            <a:endParaRPr lang="en-US" altLang="ja-JP" sz="2400" dirty="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A95B827-8F81-4E82-B30D-D34C9330BD1F}"/>
              </a:ext>
            </a:extLst>
          </p:cNvPr>
          <p:cNvSpPr/>
          <p:nvPr/>
        </p:nvSpPr>
        <p:spPr>
          <a:xfrm>
            <a:off x="1681684" y="3285580"/>
            <a:ext cx="173153" cy="720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F3E0F3DD-AC3B-4D01-826C-81B13FEB0528}"/>
              </a:ext>
            </a:extLst>
          </p:cNvPr>
          <p:cNvSpPr/>
          <p:nvPr/>
        </p:nvSpPr>
        <p:spPr>
          <a:xfrm>
            <a:off x="1852013" y="3285579"/>
            <a:ext cx="720000" cy="72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敵</a:t>
            </a:r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6BB7CA5E-B29C-45B6-8206-443FC17256AA}"/>
              </a:ext>
            </a:extLst>
          </p:cNvPr>
          <p:cNvSpPr/>
          <p:nvPr/>
        </p:nvSpPr>
        <p:spPr>
          <a:xfrm>
            <a:off x="2569194" y="3285579"/>
            <a:ext cx="173153" cy="720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9D0FE129-714C-48B4-B974-E47F1EE8395F}"/>
              </a:ext>
            </a:extLst>
          </p:cNvPr>
          <p:cNvSpPr/>
          <p:nvPr/>
        </p:nvSpPr>
        <p:spPr>
          <a:xfrm>
            <a:off x="3133971" y="3285580"/>
            <a:ext cx="173153" cy="720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3DEAF720-47C9-4132-8276-749D91D82A8C}"/>
              </a:ext>
            </a:extLst>
          </p:cNvPr>
          <p:cNvSpPr/>
          <p:nvPr/>
        </p:nvSpPr>
        <p:spPr>
          <a:xfrm>
            <a:off x="3304300" y="3285579"/>
            <a:ext cx="720000" cy="72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敵</a:t>
            </a:r>
            <a:r>
              <a:rPr kumimoji="1" lang="en-US" altLang="ja-JP" dirty="0"/>
              <a:t>B</a:t>
            </a:r>
            <a:endParaRPr kumimoji="1" lang="ja-JP" altLang="en-US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5CE36AFA-9B6C-4187-8C4F-13B9B2E84E04}"/>
              </a:ext>
            </a:extLst>
          </p:cNvPr>
          <p:cNvSpPr/>
          <p:nvPr/>
        </p:nvSpPr>
        <p:spPr>
          <a:xfrm>
            <a:off x="4021481" y="3285579"/>
            <a:ext cx="173153" cy="720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9910C834-9E61-49B5-B09E-81F005D88A1D}"/>
              </a:ext>
            </a:extLst>
          </p:cNvPr>
          <p:cNvSpPr/>
          <p:nvPr/>
        </p:nvSpPr>
        <p:spPr>
          <a:xfrm>
            <a:off x="6038540" y="3285566"/>
            <a:ext cx="173153" cy="720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ACADC8DD-2A94-44FA-95F0-57B59802ABF9}"/>
              </a:ext>
            </a:extLst>
          </p:cNvPr>
          <p:cNvSpPr/>
          <p:nvPr/>
        </p:nvSpPr>
        <p:spPr>
          <a:xfrm>
            <a:off x="6208869" y="3285565"/>
            <a:ext cx="720000" cy="72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敵</a:t>
            </a:r>
            <a:r>
              <a:rPr kumimoji="1" lang="en-US" altLang="ja-JP" dirty="0"/>
              <a:t>D</a:t>
            </a:r>
            <a:endParaRPr kumimoji="1" lang="ja-JP" altLang="en-US" dirty="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D451EBDD-4059-4582-ABF6-5836BD6EDE07}"/>
              </a:ext>
            </a:extLst>
          </p:cNvPr>
          <p:cNvSpPr/>
          <p:nvPr/>
        </p:nvSpPr>
        <p:spPr>
          <a:xfrm>
            <a:off x="6926050" y="3285565"/>
            <a:ext cx="173153" cy="720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09E82CD0-70DF-4CF7-BCD6-88F8021AFEEF}"/>
              </a:ext>
            </a:extLst>
          </p:cNvPr>
          <p:cNvSpPr/>
          <p:nvPr/>
        </p:nvSpPr>
        <p:spPr>
          <a:xfrm>
            <a:off x="7490817" y="3285566"/>
            <a:ext cx="173153" cy="720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AF36138C-BA01-4114-9FB0-4E8BD549E5D2}"/>
              </a:ext>
            </a:extLst>
          </p:cNvPr>
          <p:cNvSpPr/>
          <p:nvPr/>
        </p:nvSpPr>
        <p:spPr>
          <a:xfrm>
            <a:off x="7661146" y="3285565"/>
            <a:ext cx="720000" cy="72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敵</a:t>
            </a:r>
            <a:r>
              <a:rPr kumimoji="1" lang="en-US" altLang="ja-JP" dirty="0"/>
              <a:t>E</a:t>
            </a:r>
            <a:endParaRPr kumimoji="1" lang="ja-JP" altLang="en-US" dirty="0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DF8CB253-72C3-4B23-AEEE-2E6BC1D7D4E9}"/>
              </a:ext>
            </a:extLst>
          </p:cNvPr>
          <p:cNvSpPr/>
          <p:nvPr/>
        </p:nvSpPr>
        <p:spPr>
          <a:xfrm>
            <a:off x="8378327" y="3285565"/>
            <a:ext cx="173153" cy="720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AFCA43B-438E-4314-AEBE-FB3CBFC15B8D}"/>
              </a:ext>
            </a:extLst>
          </p:cNvPr>
          <p:cNvSpPr txBox="1"/>
          <p:nvPr/>
        </p:nvSpPr>
        <p:spPr>
          <a:xfrm>
            <a:off x="567542" y="341473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リスト</a:t>
            </a:r>
            <a:endParaRPr lang="en-US" altLang="ja-JP" sz="2400" dirty="0"/>
          </a:p>
        </p:txBody>
      </p: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630D1D97-4BAA-48CD-B644-9C625BC48F1C}"/>
              </a:ext>
            </a:extLst>
          </p:cNvPr>
          <p:cNvCxnSpPr>
            <a:stCxn id="20" idx="3"/>
            <a:endCxn id="21" idx="1"/>
          </p:cNvCxnSpPr>
          <p:nvPr/>
        </p:nvCxnSpPr>
        <p:spPr>
          <a:xfrm>
            <a:off x="2742347" y="3645579"/>
            <a:ext cx="39162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ED274442-17EA-4509-AE7C-DFADE4EC6C39}"/>
              </a:ext>
            </a:extLst>
          </p:cNvPr>
          <p:cNvCxnSpPr>
            <a:cxnSpLocks/>
            <a:stCxn id="23" idx="3"/>
            <a:endCxn id="27" idx="1"/>
          </p:cNvCxnSpPr>
          <p:nvPr/>
        </p:nvCxnSpPr>
        <p:spPr>
          <a:xfrm flipV="1">
            <a:off x="4194634" y="3645566"/>
            <a:ext cx="1843906" cy="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3EA9BC09-5DC5-425C-8FFF-C2E09A443DE5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>
            <a:off x="7099203" y="3645565"/>
            <a:ext cx="39161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71823311-C177-4F51-808D-96B564FF1ACB}"/>
              </a:ext>
            </a:extLst>
          </p:cNvPr>
          <p:cNvSpPr txBox="1"/>
          <p:nvPr/>
        </p:nvSpPr>
        <p:spPr>
          <a:xfrm>
            <a:off x="567542" y="4360391"/>
            <a:ext cx="57246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赤い部分だけデータは大きくなります。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件数が多い場合は注意が必要です。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740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配列とリストの違い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また、</a:t>
            </a:r>
            <a:r>
              <a:rPr lang="ja-JP" altLang="en-US" sz="2400" b="1" dirty="0">
                <a:solidFill>
                  <a:srgbClr val="FF0000"/>
                </a:solidFill>
              </a:rPr>
              <a:t>リストには添え字がありません。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そのため、</a:t>
            </a:r>
            <a:r>
              <a:rPr lang="ja-JP" altLang="en-US" sz="2400" b="1" dirty="0">
                <a:solidFill>
                  <a:srgbClr val="FF0000"/>
                </a:solidFill>
              </a:rPr>
              <a:t>中間の要素にアクセスするのに時間がかかります。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69839AD6-EFFD-41CE-83E5-9B8A5523FDB5}"/>
              </a:ext>
            </a:extLst>
          </p:cNvPr>
          <p:cNvSpPr/>
          <p:nvPr/>
        </p:nvSpPr>
        <p:spPr>
          <a:xfrm>
            <a:off x="1681684" y="3285580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A8EFB797-8589-4016-9F56-1D11CBA66F6C}"/>
              </a:ext>
            </a:extLst>
          </p:cNvPr>
          <p:cNvSpPr/>
          <p:nvPr/>
        </p:nvSpPr>
        <p:spPr>
          <a:xfrm>
            <a:off x="1852013" y="3285579"/>
            <a:ext cx="720000" cy="72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敵</a:t>
            </a:r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D7A0DAF2-A695-4788-82E0-01BD2F9C95DD}"/>
              </a:ext>
            </a:extLst>
          </p:cNvPr>
          <p:cNvSpPr/>
          <p:nvPr/>
        </p:nvSpPr>
        <p:spPr>
          <a:xfrm>
            <a:off x="2569194" y="3285579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3CD56436-3C5F-4224-B179-ABCED738082E}"/>
              </a:ext>
            </a:extLst>
          </p:cNvPr>
          <p:cNvSpPr/>
          <p:nvPr/>
        </p:nvSpPr>
        <p:spPr>
          <a:xfrm>
            <a:off x="3133971" y="3285580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F83751BD-C517-4BF0-AF5B-EBB3AF9ECC79}"/>
              </a:ext>
            </a:extLst>
          </p:cNvPr>
          <p:cNvSpPr/>
          <p:nvPr/>
        </p:nvSpPr>
        <p:spPr>
          <a:xfrm>
            <a:off x="3304300" y="3285579"/>
            <a:ext cx="720000" cy="72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敵</a:t>
            </a:r>
            <a:r>
              <a:rPr kumimoji="1" lang="en-US" altLang="ja-JP" dirty="0"/>
              <a:t>B</a:t>
            </a:r>
            <a:endParaRPr kumimoji="1" lang="ja-JP" altLang="en-US" dirty="0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E07A4406-AC48-4879-B174-7CB99A9A04AB}"/>
              </a:ext>
            </a:extLst>
          </p:cNvPr>
          <p:cNvSpPr/>
          <p:nvPr/>
        </p:nvSpPr>
        <p:spPr>
          <a:xfrm>
            <a:off x="4021481" y="3285579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EDB9E40D-9099-4EFD-A9E6-896E8345A58F}"/>
              </a:ext>
            </a:extLst>
          </p:cNvPr>
          <p:cNvSpPr/>
          <p:nvPr/>
        </p:nvSpPr>
        <p:spPr>
          <a:xfrm>
            <a:off x="4586253" y="3285566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4FA6B19E-864F-4015-8A40-A7F8E43429D6}"/>
              </a:ext>
            </a:extLst>
          </p:cNvPr>
          <p:cNvSpPr/>
          <p:nvPr/>
        </p:nvSpPr>
        <p:spPr>
          <a:xfrm>
            <a:off x="4756582" y="3285565"/>
            <a:ext cx="720000" cy="72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敵</a:t>
            </a:r>
            <a:r>
              <a:rPr kumimoji="1" lang="en-US" altLang="ja-JP" dirty="0"/>
              <a:t>C</a:t>
            </a:r>
            <a:endParaRPr kumimoji="1" lang="ja-JP" altLang="en-US" dirty="0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79CC4977-4A3E-4B76-A80E-DCF171FB7072}"/>
              </a:ext>
            </a:extLst>
          </p:cNvPr>
          <p:cNvSpPr/>
          <p:nvPr/>
        </p:nvSpPr>
        <p:spPr>
          <a:xfrm>
            <a:off x="5473763" y="3285565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8176AA85-9544-431A-B569-50EADEC4BA53}"/>
              </a:ext>
            </a:extLst>
          </p:cNvPr>
          <p:cNvSpPr/>
          <p:nvPr/>
        </p:nvSpPr>
        <p:spPr>
          <a:xfrm>
            <a:off x="6038540" y="3285566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1563D57C-307B-47A3-B1B9-52789E5841EB}"/>
              </a:ext>
            </a:extLst>
          </p:cNvPr>
          <p:cNvSpPr/>
          <p:nvPr/>
        </p:nvSpPr>
        <p:spPr>
          <a:xfrm>
            <a:off x="6208869" y="3285565"/>
            <a:ext cx="720000" cy="72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敵</a:t>
            </a:r>
            <a:r>
              <a:rPr kumimoji="1" lang="en-US" altLang="ja-JP" dirty="0"/>
              <a:t>D</a:t>
            </a:r>
            <a:endParaRPr kumimoji="1" lang="ja-JP" altLang="en-US" dirty="0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5D77166D-EDFE-498B-8997-3B5553967708}"/>
              </a:ext>
            </a:extLst>
          </p:cNvPr>
          <p:cNvSpPr/>
          <p:nvPr/>
        </p:nvSpPr>
        <p:spPr>
          <a:xfrm>
            <a:off x="6926050" y="3285565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35DDCC6F-2F73-4734-BCC1-78D2A89DCAC2}"/>
              </a:ext>
            </a:extLst>
          </p:cNvPr>
          <p:cNvSpPr/>
          <p:nvPr/>
        </p:nvSpPr>
        <p:spPr>
          <a:xfrm>
            <a:off x="7490817" y="3285566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71E31184-C4FE-4648-8A94-64652A2CB6CE}"/>
              </a:ext>
            </a:extLst>
          </p:cNvPr>
          <p:cNvSpPr/>
          <p:nvPr/>
        </p:nvSpPr>
        <p:spPr>
          <a:xfrm>
            <a:off x="7661146" y="3285565"/>
            <a:ext cx="720000" cy="720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敵</a:t>
            </a:r>
            <a:r>
              <a:rPr kumimoji="1" lang="en-US" altLang="ja-JP" dirty="0"/>
              <a:t>E</a:t>
            </a:r>
            <a:endParaRPr kumimoji="1" lang="ja-JP" altLang="en-US" dirty="0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B29A7F48-4127-4445-92F5-D9D4DD8DB5FB}"/>
              </a:ext>
            </a:extLst>
          </p:cNvPr>
          <p:cNvSpPr/>
          <p:nvPr/>
        </p:nvSpPr>
        <p:spPr>
          <a:xfrm>
            <a:off x="8378327" y="3285565"/>
            <a:ext cx="173153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17D1A90A-7CAC-45F8-A728-C30F2B9B5A25}"/>
              </a:ext>
            </a:extLst>
          </p:cNvPr>
          <p:cNvSpPr txBox="1"/>
          <p:nvPr/>
        </p:nvSpPr>
        <p:spPr>
          <a:xfrm>
            <a:off x="567542" y="341473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リスト</a:t>
            </a:r>
            <a:endParaRPr lang="en-US" altLang="ja-JP" sz="2400" dirty="0"/>
          </a:p>
        </p:txBody>
      </p: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90120023-FEDB-46F0-AFAA-7641B68C63FB}"/>
              </a:ext>
            </a:extLst>
          </p:cNvPr>
          <p:cNvCxnSpPr>
            <a:stCxn id="35" idx="3"/>
            <a:endCxn id="36" idx="1"/>
          </p:cNvCxnSpPr>
          <p:nvPr/>
        </p:nvCxnSpPr>
        <p:spPr>
          <a:xfrm>
            <a:off x="2742347" y="3645579"/>
            <a:ext cx="39162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999BE570-B4FE-4A8E-BECE-00E130734B48}"/>
              </a:ext>
            </a:extLst>
          </p:cNvPr>
          <p:cNvCxnSpPr>
            <a:cxnSpLocks/>
            <a:stCxn id="38" idx="3"/>
            <a:endCxn id="39" idx="1"/>
          </p:cNvCxnSpPr>
          <p:nvPr/>
        </p:nvCxnSpPr>
        <p:spPr>
          <a:xfrm flipV="1">
            <a:off x="4194634" y="3645566"/>
            <a:ext cx="391619" cy="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矢印コネクタ 51">
            <a:extLst>
              <a:ext uri="{FF2B5EF4-FFF2-40B4-BE49-F238E27FC236}">
                <a16:creationId xmlns:a16="http://schemas.microsoft.com/office/drawing/2014/main" id="{CEF4C202-46DA-4022-9DAA-2137F0E52987}"/>
              </a:ext>
            </a:extLst>
          </p:cNvPr>
          <p:cNvCxnSpPr>
            <a:cxnSpLocks/>
            <a:stCxn id="42" idx="3"/>
            <a:endCxn id="43" idx="1"/>
          </p:cNvCxnSpPr>
          <p:nvPr/>
        </p:nvCxnSpPr>
        <p:spPr>
          <a:xfrm>
            <a:off x="5646916" y="3645565"/>
            <a:ext cx="39162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3D51F9DF-6925-498D-A0E9-CF4B04AC1C07}"/>
              </a:ext>
            </a:extLst>
          </p:cNvPr>
          <p:cNvCxnSpPr>
            <a:cxnSpLocks/>
            <a:stCxn id="45" idx="3"/>
            <a:endCxn id="46" idx="1"/>
          </p:cNvCxnSpPr>
          <p:nvPr/>
        </p:nvCxnSpPr>
        <p:spPr>
          <a:xfrm>
            <a:off x="7099203" y="3645565"/>
            <a:ext cx="39161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E566278A-9964-447F-93AF-BC8E2E7B38AC}"/>
              </a:ext>
            </a:extLst>
          </p:cNvPr>
          <p:cNvSpPr txBox="1"/>
          <p:nvPr/>
        </p:nvSpPr>
        <p:spPr>
          <a:xfrm>
            <a:off x="567542" y="4549733"/>
            <a:ext cx="62648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■アクセスの方法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敵</a:t>
            </a:r>
            <a:r>
              <a:rPr lang="en-US" altLang="ja-JP" sz="2400" dirty="0"/>
              <a:t>D</a:t>
            </a:r>
            <a:r>
              <a:rPr lang="ja-JP" altLang="en-US" sz="2400" dirty="0"/>
              <a:t>は敵</a:t>
            </a:r>
            <a:r>
              <a:rPr lang="en-US" altLang="ja-JP" sz="2400" dirty="0"/>
              <a:t>A</a:t>
            </a:r>
            <a:r>
              <a:rPr lang="ja-JP" altLang="en-US" sz="2400" dirty="0"/>
              <a:t>の次の敵</a:t>
            </a:r>
            <a:r>
              <a:rPr lang="en-US" altLang="ja-JP" sz="2400" dirty="0"/>
              <a:t>B</a:t>
            </a:r>
            <a:r>
              <a:rPr lang="ja-JP" altLang="en-US" sz="2400" dirty="0"/>
              <a:t>の次の敵</a:t>
            </a:r>
            <a:r>
              <a:rPr lang="en-US" altLang="ja-JP" sz="2400" dirty="0"/>
              <a:t>C</a:t>
            </a:r>
            <a:r>
              <a:rPr lang="ja-JP" altLang="en-US" sz="2400" dirty="0"/>
              <a:t>の次にある。</a:t>
            </a:r>
            <a:endParaRPr lang="en-US" altLang="ja-JP" sz="2400" dirty="0"/>
          </a:p>
          <a:p>
            <a:r>
              <a:rPr lang="ja-JP" altLang="en-US" sz="2400" dirty="0"/>
              <a:t>（効率悪い。。。）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094544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配列とリストの違い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6462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配列とリストは用途によって使い分けられることが理想です。</a:t>
            </a:r>
            <a:endParaRPr lang="en-US" altLang="ja-JP" sz="2400" dirty="0"/>
          </a:p>
          <a:p>
            <a:r>
              <a:rPr lang="ja-JP" altLang="en-US" sz="2400" dirty="0"/>
              <a:t>初めは難しいですが、ゲーム制作を通じて使い分けられるようになりましょう。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lang="ja-JP" altLang="en-US" sz="2400" dirty="0"/>
              <a:t>ゲーム会社の筆記試験や面接などで、よく問題にされるところでもあります。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638767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</TotalTime>
  <Words>686</Words>
  <Application>Microsoft Office PowerPoint</Application>
  <PresentationFormat>ワイド画面</PresentationFormat>
  <Paragraphs>120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66</cp:revision>
  <dcterms:created xsi:type="dcterms:W3CDTF">2024-08-27T02:15:54Z</dcterms:created>
  <dcterms:modified xsi:type="dcterms:W3CDTF">2024-11-12T05:19:34Z</dcterms:modified>
</cp:coreProperties>
</file>