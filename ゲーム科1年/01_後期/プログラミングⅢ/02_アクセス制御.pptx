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アクセス制御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57239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クラスのメンバには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アクセス制御</a:t>
            </a:r>
            <a:r>
              <a:rPr kumimoji="1" lang="ja-JP" altLang="en-US" sz="2400" dirty="0"/>
              <a:t>をつけることができます。</a:t>
            </a:r>
            <a:endParaRPr kumimoji="1" lang="en-US" altLang="ja-JP" sz="2400" dirty="0"/>
          </a:p>
          <a:p>
            <a:r>
              <a:rPr kumimoji="1" lang="ja-JP" altLang="en-US" sz="2400" dirty="0"/>
              <a:t>アクセス制御は、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自身のクラスの外でも使用できるかどうかを制御するもの</a:t>
            </a:r>
            <a:r>
              <a:rPr kumimoji="1" lang="ja-JP" altLang="en-US" sz="2400" dirty="0"/>
              <a:t>です。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dirty="0"/>
              <a:t>前回のプログラムを見てみましょう。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アクセス制御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58014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00B050"/>
                </a:solidFill>
              </a:rPr>
              <a:t>OrangeBox</a:t>
            </a:r>
            <a:r>
              <a:rPr kumimoji="1" lang="ja-JP" altLang="en-US" sz="2400" dirty="0"/>
              <a:t>クラスの冒頭に</a:t>
            </a:r>
            <a:r>
              <a:rPr kumimoji="1" lang="en-US" altLang="ja-JP" sz="2400" b="1" dirty="0">
                <a:solidFill>
                  <a:srgbClr val="0070C0"/>
                </a:solidFill>
              </a:rPr>
              <a:t>public</a:t>
            </a:r>
            <a:r>
              <a:rPr kumimoji="1" lang="ja-JP" altLang="en-US" sz="2400" dirty="0"/>
              <a:t>という記述があります。</a:t>
            </a:r>
            <a:endParaRPr kumimoji="1" lang="en-US" altLang="ja-JP" sz="2400" dirty="0"/>
          </a:p>
          <a:p>
            <a:r>
              <a:rPr lang="ja-JP" altLang="en-US" sz="2400" dirty="0"/>
              <a:t>これは</a:t>
            </a:r>
            <a:r>
              <a:rPr lang="en-US" altLang="ja-JP" sz="2400" b="1" dirty="0">
                <a:solidFill>
                  <a:srgbClr val="FF0000"/>
                </a:solidFill>
              </a:rPr>
              <a:t>public</a:t>
            </a:r>
            <a:r>
              <a:rPr lang="ja-JP" altLang="en-US" sz="2400" b="1" dirty="0">
                <a:solidFill>
                  <a:srgbClr val="FF0000"/>
                </a:solidFill>
              </a:rPr>
              <a:t>よりも下に書いてあるものは外でも使用可能</a:t>
            </a:r>
            <a:r>
              <a:rPr lang="ja-JP" altLang="en-US" sz="2400" dirty="0"/>
              <a:t>としています。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956F83F8-CBDB-4631-BC55-C2DD258799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8052712" cy="417892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B18857F0-1D41-454B-9B30-E13CC96A7719}"/>
              </a:ext>
            </a:extLst>
          </p:cNvPr>
          <p:cNvSpPr/>
          <p:nvPr/>
        </p:nvSpPr>
        <p:spPr>
          <a:xfrm>
            <a:off x="1524001" y="2751667"/>
            <a:ext cx="7096254" cy="2556933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231394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アクセス制御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6664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つまり</a:t>
            </a:r>
            <a:r>
              <a:rPr kumimoji="1" lang="en-US" altLang="ja-JP" sz="2400" b="1" dirty="0" err="1">
                <a:solidFill>
                  <a:srgbClr val="00B050"/>
                </a:solidFill>
              </a:rPr>
              <a:t>OrangeBox</a:t>
            </a:r>
            <a:r>
              <a:rPr kumimoji="1" lang="ja-JP" altLang="en-US" sz="2400" dirty="0"/>
              <a:t>の外である</a:t>
            </a:r>
            <a:r>
              <a:rPr kumimoji="1" lang="en-US" altLang="ja-JP" sz="2400" b="1" dirty="0">
                <a:solidFill>
                  <a:srgbClr val="0070C0"/>
                </a:solidFill>
              </a:rPr>
              <a:t>Main</a:t>
            </a:r>
            <a:r>
              <a:rPr kumimoji="1" lang="ja-JP" altLang="en-US" sz="2400" dirty="0"/>
              <a:t>関数で使用することができます。</a:t>
            </a:r>
            <a:endParaRPr kumimoji="1"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69A00D32-D447-4979-9F22-873B7F029E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4738257" cy="4548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38876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アクセス制御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39098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00B050"/>
                </a:solidFill>
              </a:rPr>
              <a:t>OrangeBox</a:t>
            </a:r>
            <a:r>
              <a:rPr kumimoji="1" lang="ja-JP" altLang="en-US" sz="2400" dirty="0"/>
              <a:t>のメンバ変数の上に</a:t>
            </a:r>
            <a:r>
              <a:rPr kumimoji="1" lang="en-US" altLang="ja-JP" sz="2400" b="1" dirty="0">
                <a:solidFill>
                  <a:srgbClr val="0070C0"/>
                </a:solidFill>
              </a:rPr>
              <a:t>private</a:t>
            </a:r>
            <a:r>
              <a:rPr kumimoji="1" lang="ja-JP" altLang="en-US" sz="2400" dirty="0"/>
              <a:t>という記述があります。</a:t>
            </a:r>
            <a:endParaRPr kumimoji="1" lang="en-US" altLang="ja-JP" sz="2400" dirty="0"/>
          </a:p>
          <a:p>
            <a:r>
              <a:rPr lang="ja-JP" altLang="en-US" sz="2400" dirty="0"/>
              <a:t>これは</a:t>
            </a:r>
            <a:r>
              <a:rPr lang="en-US" altLang="ja-JP" sz="2400" b="1" dirty="0">
                <a:solidFill>
                  <a:srgbClr val="FF0000"/>
                </a:solidFill>
              </a:rPr>
              <a:t>private</a:t>
            </a:r>
            <a:r>
              <a:rPr lang="ja-JP" altLang="en-US" sz="2400" b="1" dirty="0">
                <a:solidFill>
                  <a:srgbClr val="FF0000"/>
                </a:solidFill>
              </a:rPr>
              <a:t>よりも下に書いてあるものは外では使用不可</a:t>
            </a:r>
            <a:r>
              <a:rPr lang="ja-JP" altLang="en-US" sz="2400" dirty="0"/>
              <a:t>としています。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55362081-35F0-46FE-BBD1-40450937BF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8052712" cy="4178920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B8CE21E0-FA99-419D-B25F-9375A7A5EE90}"/>
              </a:ext>
            </a:extLst>
          </p:cNvPr>
          <p:cNvSpPr/>
          <p:nvPr/>
        </p:nvSpPr>
        <p:spPr>
          <a:xfrm>
            <a:off x="1524001" y="5376333"/>
            <a:ext cx="7096254" cy="6858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724459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アクセス制御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97420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つまり</a:t>
            </a:r>
            <a:r>
              <a:rPr lang="en-US" altLang="ja-JP" sz="2400" b="1" dirty="0" err="1">
                <a:solidFill>
                  <a:srgbClr val="00B050"/>
                </a:solidFill>
              </a:rPr>
              <a:t>OrangeBox</a:t>
            </a:r>
            <a:r>
              <a:rPr lang="ja-JP" altLang="en-US" sz="2400" dirty="0"/>
              <a:t>の外である</a:t>
            </a:r>
            <a:r>
              <a:rPr lang="en-US" altLang="ja-JP" sz="2400" b="1" dirty="0">
                <a:solidFill>
                  <a:srgbClr val="0070C0"/>
                </a:solidFill>
              </a:rPr>
              <a:t>Main</a:t>
            </a:r>
            <a:r>
              <a:rPr lang="ja-JP" altLang="en-US" sz="2400" b="1" dirty="0">
                <a:solidFill>
                  <a:srgbClr val="0070C0"/>
                </a:solidFill>
              </a:rPr>
              <a:t>関数</a:t>
            </a:r>
            <a:r>
              <a:rPr lang="ja-JP" altLang="en-US" sz="2400" dirty="0"/>
              <a:t>で使用することができません。</a:t>
            </a:r>
            <a:endParaRPr lang="en-US" altLang="ja-JP" sz="2400" dirty="0"/>
          </a:p>
          <a:p>
            <a:r>
              <a:rPr kumimoji="1" lang="ja-JP" altLang="en-US" sz="2400" dirty="0"/>
              <a:t>使おうとすると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コンパイルエラー</a:t>
            </a:r>
            <a:r>
              <a:rPr kumimoji="1" lang="ja-JP" altLang="en-US" sz="2400" dirty="0"/>
              <a:t>が発生します。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CCF248C2-4905-49EA-8099-042722775E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5"/>
            <a:ext cx="10095817" cy="1834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22218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アクセス制御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341293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アクセス制御はコンパイルエラーの原因にもなるので</a:t>
            </a:r>
            <a:r>
              <a:rPr lang="ja-JP" altLang="en-US" sz="2400" dirty="0"/>
              <a:t>不便に思えますが、</a:t>
            </a:r>
            <a:endParaRPr lang="en-US" altLang="ja-JP" sz="2400" dirty="0"/>
          </a:p>
          <a:p>
            <a:r>
              <a:rPr kumimoji="1" lang="en-US" altLang="ja-JP" sz="2400" b="1" dirty="0">
                <a:solidFill>
                  <a:srgbClr val="FF0000"/>
                </a:solidFill>
              </a:rPr>
              <a:t>public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のところだけ使ってください</a:t>
            </a:r>
            <a:r>
              <a:rPr kumimoji="1" lang="ja-JP" altLang="en-US" sz="2400" dirty="0"/>
              <a:t>と表現することができます。</a:t>
            </a:r>
            <a:endParaRPr lang="en-US" altLang="ja-JP" sz="2400" dirty="0"/>
          </a:p>
          <a:p>
            <a:r>
              <a:rPr lang="ja-JP" altLang="en-US" sz="2400" dirty="0"/>
              <a:t>つまり、</a:t>
            </a:r>
            <a:r>
              <a:rPr lang="ja-JP" altLang="en-US" sz="2400" b="1" dirty="0">
                <a:solidFill>
                  <a:srgbClr val="FF0000"/>
                </a:solidFill>
              </a:rPr>
              <a:t>使って良いものと悪いものを区別して整理する</a:t>
            </a:r>
            <a:r>
              <a:rPr lang="ja-JP" altLang="en-US" sz="2400" dirty="0"/>
              <a:t>ために使います。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kumimoji="1" lang="ja-JP" altLang="en-US" sz="2400" dirty="0"/>
              <a:t>きちんとアクセス制御をすることによって、</a:t>
            </a:r>
            <a:endParaRPr kumimoji="1" lang="en-US" altLang="ja-JP" sz="2400" dirty="0"/>
          </a:p>
          <a:p>
            <a:r>
              <a:rPr lang="ja-JP" altLang="en-US" sz="2400" dirty="0"/>
              <a:t>その</a:t>
            </a:r>
            <a:r>
              <a:rPr lang="ja-JP" altLang="en-US" sz="2400" b="1" dirty="0">
                <a:solidFill>
                  <a:srgbClr val="FF0000"/>
                </a:solidFill>
              </a:rPr>
              <a:t>クラスが正しく使われる</a:t>
            </a:r>
            <a:r>
              <a:rPr lang="ja-JP" altLang="en-US" sz="2400" dirty="0"/>
              <a:t>ことになりますので、</a:t>
            </a:r>
            <a:endParaRPr lang="en-US" altLang="ja-JP" sz="2400" dirty="0"/>
          </a:p>
          <a:p>
            <a:r>
              <a:rPr kumimoji="1" lang="ja-JP" altLang="en-US" sz="2400" dirty="0"/>
              <a:t>よく考えながら設定していきましょう。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9810856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アクセス制御 補足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6699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00B050"/>
                </a:solidFill>
              </a:rPr>
              <a:t>OrangeBox</a:t>
            </a:r>
            <a:r>
              <a:rPr kumimoji="1" lang="ja-JP" altLang="en-US" sz="2400" dirty="0"/>
              <a:t>の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内か外かの区別</a:t>
            </a:r>
            <a:r>
              <a:rPr kumimoji="1" lang="ja-JP" altLang="en-US" sz="2400" dirty="0"/>
              <a:t>は、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メンバ関数かどうか</a:t>
            </a:r>
            <a:r>
              <a:rPr kumimoji="1" lang="ja-JP" altLang="en-US" sz="2400" dirty="0"/>
              <a:t>で判断してください。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8D3B75A0-5C71-4D46-9534-74734F6871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5321812" cy="1323339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011D9AC6-34D5-448C-B1E2-81573A601A8A}"/>
              </a:ext>
            </a:extLst>
          </p:cNvPr>
          <p:cNvSpPr txBox="1"/>
          <p:nvPr/>
        </p:nvSpPr>
        <p:spPr>
          <a:xfrm>
            <a:off x="567542" y="3429000"/>
            <a:ext cx="95141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つまり、</a:t>
            </a:r>
            <a:r>
              <a:rPr kumimoji="1" lang="en-US" altLang="ja-JP" sz="2400" b="1" dirty="0" err="1">
                <a:solidFill>
                  <a:srgbClr val="00B050"/>
                </a:solidFill>
              </a:rPr>
              <a:t>OrangeBox</a:t>
            </a:r>
            <a:r>
              <a:rPr kumimoji="1" lang="en-US" altLang="ja-JP" sz="2400" dirty="0"/>
              <a:t>::</a:t>
            </a:r>
            <a:r>
              <a:rPr kumimoji="1" lang="ja-JP" altLang="en-US" sz="2400" dirty="0"/>
              <a:t>がついている関数では</a:t>
            </a:r>
            <a:r>
              <a:rPr kumimoji="1" lang="en-US" altLang="ja-JP" sz="2400" b="1" dirty="0">
                <a:solidFill>
                  <a:srgbClr val="0070C0"/>
                </a:solidFill>
              </a:rPr>
              <a:t>private</a:t>
            </a:r>
            <a:r>
              <a:rPr kumimoji="1" lang="ja-JP" altLang="en-US" sz="2400" dirty="0"/>
              <a:t>でも使えます。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5364507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アクセス制御 補足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3132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アクセス制御がない場合は</a:t>
            </a:r>
            <a:r>
              <a:rPr kumimoji="1" lang="en-US" altLang="ja-JP" sz="2400" b="1" dirty="0">
                <a:solidFill>
                  <a:srgbClr val="0070C0"/>
                </a:solidFill>
              </a:rPr>
              <a:t>private</a:t>
            </a:r>
            <a:r>
              <a:rPr kumimoji="1" lang="ja-JP" altLang="en-US" sz="2400" dirty="0"/>
              <a:t>扱いになります。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08126AAC-441C-4988-B2F0-134DE14201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6011114" cy="3410426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B2460266-6C29-46BA-AA3C-5A8F06747C30}"/>
              </a:ext>
            </a:extLst>
          </p:cNvPr>
          <p:cNvSpPr txBox="1"/>
          <p:nvPr/>
        </p:nvSpPr>
        <p:spPr>
          <a:xfrm>
            <a:off x="567542" y="5410738"/>
            <a:ext cx="522450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この場合は全て</a:t>
            </a:r>
            <a:r>
              <a:rPr kumimoji="1" lang="en-US" altLang="ja-JP" sz="2400" b="1" dirty="0">
                <a:solidFill>
                  <a:srgbClr val="0070C0"/>
                </a:solidFill>
              </a:rPr>
              <a:t>private</a:t>
            </a:r>
            <a:r>
              <a:rPr kumimoji="1" lang="ja-JP" altLang="en-US" sz="2400" dirty="0"/>
              <a:t>となります。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821129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135</TotalTime>
  <Words>284</Words>
  <Application>Microsoft Office PowerPoint</Application>
  <PresentationFormat>ワイド画面</PresentationFormat>
  <Paragraphs>30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2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20</cp:revision>
  <dcterms:created xsi:type="dcterms:W3CDTF">2024-08-27T02:15:54Z</dcterms:created>
  <dcterms:modified xsi:type="dcterms:W3CDTF">2025-02-07T07:51:06Z</dcterms:modified>
</cp:coreProperties>
</file>