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既にあるクラスを元に新たなクラスを作ることを継承</a:t>
            </a:r>
            <a:r>
              <a:rPr kumimoji="1" lang="ja-JP" altLang="en-US" sz="2400" dirty="0"/>
              <a:t>と言います。</a:t>
            </a:r>
            <a:endParaRPr kumimoji="1" lang="en-US" altLang="ja-JP" sz="2400" dirty="0"/>
          </a:p>
          <a:p>
            <a:r>
              <a:rPr lang="en-US" altLang="ja-JP" sz="2400" dirty="0"/>
              <a:t>C++</a:t>
            </a:r>
            <a:r>
              <a:rPr lang="ja-JP" altLang="en-US" sz="2400" dirty="0"/>
              <a:t>のクラスにも継承の機能は存在します。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簡単な例で学習してみます。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新規プロジェクトを作成して、以下のようにファイルを追加します。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AAF0EC1-30BE-40A8-89D4-57C0970FA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3538293" cy="437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19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058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Food.h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30B9162-00A8-4BBE-B79B-C23F0ADA4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031323" cy="3552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61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020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Fruit.h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FB4028E-D022-4F7C-BE48-2D7248534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7081250" cy="413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28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C3ECECC-60F2-4762-B9E7-637BAEB6B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21987"/>
            <a:ext cx="6973273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9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実行すると生産地と値段が表示されます。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0722827-97DA-4889-9157-55CB0C934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3457906" cy="108677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BFEEB0D-38DE-4602-8EB1-F3F9CBE53A3C}"/>
              </a:ext>
            </a:extLst>
          </p:cNvPr>
          <p:cNvSpPr txBox="1"/>
          <p:nvPr/>
        </p:nvSpPr>
        <p:spPr>
          <a:xfrm>
            <a:off x="567542" y="3198167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では、今回の各クラスについて詳しく見ていきましょう。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9768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8262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クラスのデータと機能は以下の通りです。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■データ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・値段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■機能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・値段を設定する</a:t>
            </a:r>
            <a:endParaRPr lang="en-US" altLang="ja-JP" sz="2400" dirty="0"/>
          </a:p>
          <a:p>
            <a:r>
              <a:rPr lang="ja-JP" altLang="en-US" sz="2400" dirty="0"/>
              <a:t>・値段を取得する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※</a:t>
            </a:r>
            <a:r>
              <a:rPr lang="en-US" altLang="ja-JP" sz="2400" b="1" dirty="0" err="1">
                <a:solidFill>
                  <a:srgbClr val="FF0000"/>
                </a:solidFill>
              </a:rPr>
              <a:t>Food.h</a:t>
            </a:r>
            <a:r>
              <a:rPr lang="ja-JP" altLang="en-US" sz="2400" dirty="0"/>
              <a:t>を見ながら確認しましょう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0532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44154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クラスのデータと機能は以下の通りです。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■データ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・農場名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■機能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・農場名を設定する</a:t>
            </a:r>
            <a:endParaRPr lang="en-US" altLang="ja-JP" sz="2400" dirty="0"/>
          </a:p>
          <a:p>
            <a:r>
              <a:rPr lang="ja-JP" altLang="en-US" sz="2400" dirty="0"/>
              <a:t>・農場名を取得する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5293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7452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ただし、</a:t>
            </a:r>
            <a:r>
              <a:rPr lang="en-US" altLang="ja-JP" sz="2400" b="1" dirty="0">
                <a:solidFill>
                  <a:srgbClr val="FF0000"/>
                </a:solidFill>
              </a:rPr>
              <a:t>Fruit</a:t>
            </a:r>
            <a:r>
              <a:rPr lang="ja-JP" altLang="en-US" sz="2400" b="1" dirty="0">
                <a:solidFill>
                  <a:srgbClr val="FF0000"/>
                </a:solidFill>
              </a:rPr>
              <a:t>クラスは宣言時に</a:t>
            </a:r>
            <a:r>
              <a:rPr lang="en-US" altLang="ja-JP" sz="2400" b="1" dirty="0">
                <a:solidFill>
                  <a:srgbClr val="FF0000"/>
                </a:solidFill>
              </a:rPr>
              <a:t>Food</a:t>
            </a:r>
            <a:r>
              <a:rPr lang="ja-JP" altLang="en-US" sz="2400" b="1" dirty="0">
                <a:solidFill>
                  <a:srgbClr val="FF0000"/>
                </a:solidFill>
              </a:rPr>
              <a:t>クラスを継承</a:t>
            </a:r>
            <a:r>
              <a:rPr lang="ja-JP" altLang="en-US" sz="2400" dirty="0"/>
              <a:t>しています。</a:t>
            </a:r>
            <a:endParaRPr lang="en-US" altLang="ja-JP" sz="2400" dirty="0"/>
          </a:p>
          <a:p>
            <a:r>
              <a:rPr lang="ja-JP" altLang="en-US" sz="2400" dirty="0"/>
              <a:t>これは</a:t>
            </a:r>
            <a:r>
              <a:rPr lang="en-US" altLang="ja-JP" sz="2400" b="1" dirty="0">
                <a:solidFill>
                  <a:srgbClr val="FF0000"/>
                </a:solidFill>
              </a:rPr>
              <a:t>Food</a:t>
            </a:r>
            <a:r>
              <a:rPr lang="ja-JP" altLang="en-US" sz="2400" b="1" dirty="0">
                <a:solidFill>
                  <a:srgbClr val="FF0000"/>
                </a:solidFill>
              </a:rPr>
              <a:t>クラスのデータと機能をすべて引き継ぐ</a:t>
            </a:r>
            <a:r>
              <a:rPr lang="ja-JP" altLang="en-US" sz="2400" dirty="0"/>
              <a:t>という設定になります。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21F31F4-8953-4CFE-B3CC-AE988AB8F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7637337" cy="4178920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A94D52C-A921-4AC2-BDB7-62E751D392E3}"/>
              </a:ext>
            </a:extLst>
          </p:cNvPr>
          <p:cNvSpPr/>
          <p:nvPr/>
        </p:nvSpPr>
        <p:spPr>
          <a:xfrm>
            <a:off x="3304007" y="3558988"/>
            <a:ext cx="2182333" cy="51098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660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490372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つまり</a:t>
            </a:r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クラスのデータと機能に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クラスのものが引き継がれます。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■データ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70C0"/>
                </a:solidFill>
              </a:rPr>
              <a:t>・値段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dirty="0"/>
              <a:t>・農場名</a:t>
            </a:r>
            <a:endParaRPr lang="en-US" altLang="ja-JP" sz="2400" dirty="0"/>
          </a:p>
          <a:p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■機能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70C0"/>
                </a:solidFill>
              </a:rPr>
              <a:t>・値段を設定する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b="1" dirty="0">
                <a:solidFill>
                  <a:srgbClr val="0070C0"/>
                </a:solidFill>
              </a:rPr>
              <a:t>・値段を取得する</a:t>
            </a:r>
            <a:endParaRPr lang="en-US" altLang="ja-JP" sz="2400" b="1" dirty="0">
              <a:solidFill>
                <a:srgbClr val="0070C0"/>
              </a:solidFill>
            </a:endParaRPr>
          </a:p>
          <a:p>
            <a:r>
              <a:rPr lang="ja-JP" altLang="en-US" sz="2400" dirty="0"/>
              <a:t>・農場名を設定する</a:t>
            </a:r>
            <a:endParaRPr lang="en-US" altLang="ja-JP" sz="2400" dirty="0"/>
          </a:p>
          <a:p>
            <a:r>
              <a:rPr lang="ja-JP" altLang="en-US" sz="2400" dirty="0"/>
              <a:t>・農場名を取得する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68272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176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これにより</a:t>
            </a:r>
            <a:r>
              <a:rPr lang="en-US" altLang="ja-JP" sz="2400" b="1" dirty="0">
                <a:solidFill>
                  <a:srgbClr val="FF0000"/>
                </a:solidFill>
              </a:rPr>
              <a:t>Fruit</a:t>
            </a:r>
            <a:r>
              <a:rPr lang="ja-JP" altLang="en-US" sz="2400" b="1" dirty="0">
                <a:solidFill>
                  <a:srgbClr val="FF0000"/>
                </a:solidFill>
              </a:rPr>
              <a:t>クラスでも</a:t>
            </a:r>
            <a:r>
              <a:rPr lang="en-US" altLang="ja-JP" sz="2400" b="1" dirty="0">
                <a:solidFill>
                  <a:srgbClr val="FF0000"/>
                </a:solidFill>
              </a:rPr>
              <a:t>Food</a:t>
            </a:r>
            <a:r>
              <a:rPr lang="ja-JP" altLang="en-US" sz="2400" b="1" dirty="0">
                <a:solidFill>
                  <a:srgbClr val="FF0000"/>
                </a:solidFill>
              </a:rPr>
              <a:t>クラスの機能が使えます。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AC44B9E-5D54-413B-B076-8D963036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73273" cy="475363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ACC4412-AB7E-4AD0-A0E1-5A3A7E23ED4A}"/>
              </a:ext>
            </a:extLst>
          </p:cNvPr>
          <p:cNvSpPr/>
          <p:nvPr/>
        </p:nvSpPr>
        <p:spPr>
          <a:xfrm>
            <a:off x="1744148" y="3648635"/>
            <a:ext cx="5122817" cy="6544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5C5AC69-27D5-431C-B27F-07F8308570E1}"/>
              </a:ext>
            </a:extLst>
          </p:cNvPr>
          <p:cNvSpPr/>
          <p:nvPr/>
        </p:nvSpPr>
        <p:spPr>
          <a:xfrm>
            <a:off x="4007224" y="5414682"/>
            <a:ext cx="1873623" cy="34066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8405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このようにクラスはメンバを引き継いで新たなクラスを作れます。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このとき、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クラスのように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引き継がれる側</a:t>
            </a:r>
            <a:r>
              <a:rPr lang="ja-JP" altLang="en-US" sz="2400" dirty="0"/>
              <a:t>を、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基底クラス（スーパークラス）</a:t>
            </a:r>
            <a:r>
              <a:rPr lang="ja-JP" altLang="en-US" sz="2400" dirty="0"/>
              <a:t>と呼びます。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また、</a:t>
            </a:r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クラスのように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引き継ぐ側</a:t>
            </a:r>
            <a:r>
              <a:rPr lang="ja-JP" altLang="en-US" sz="2400" dirty="0"/>
              <a:t>を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派生クラス（サブクラス）</a:t>
            </a:r>
            <a:r>
              <a:rPr lang="ja-JP" altLang="en-US" sz="2400" dirty="0"/>
              <a:t>と呼びます。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80779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クラスの継承は</a:t>
            </a:r>
            <a:r>
              <a:rPr lang="ja-JP" altLang="en-US" sz="2400" b="1" dirty="0">
                <a:solidFill>
                  <a:srgbClr val="FF0000"/>
                </a:solidFill>
              </a:rPr>
              <a:t>継承されるほど具体的なものになる</a:t>
            </a:r>
            <a:r>
              <a:rPr lang="ja-JP" altLang="en-US" sz="2400" dirty="0"/>
              <a:t>という考え方が</a:t>
            </a:r>
            <a:endParaRPr lang="en-US" altLang="ja-JP" sz="2400" dirty="0"/>
          </a:p>
          <a:p>
            <a:r>
              <a:rPr lang="ja-JP" altLang="en-US" sz="2400" dirty="0"/>
              <a:t>一般的です。</a:t>
            </a:r>
            <a:endParaRPr lang="en-US" altLang="ja-JP" sz="2400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8EAFBC6-E8F6-48E5-9A0D-F415F335B3FB}"/>
              </a:ext>
            </a:extLst>
          </p:cNvPr>
          <p:cNvSpPr/>
          <p:nvPr/>
        </p:nvSpPr>
        <p:spPr>
          <a:xfrm>
            <a:off x="4411428" y="2357717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Food</a:t>
            </a:r>
            <a:endParaRPr kumimoji="1" lang="ja-JP" altLang="en-US" b="1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FD038704-4B27-4F15-8C66-83F2DB12DFE6}"/>
              </a:ext>
            </a:extLst>
          </p:cNvPr>
          <p:cNvSpPr/>
          <p:nvPr/>
        </p:nvSpPr>
        <p:spPr>
          <a:xfrm>
            <a:off x="4411427" y="4009994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Fruit</a:t>
            </a:r>
            <a:endParaRPr kumimoji="1" lang="ja-JP" altLang="en-US" b="1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EAA0902-49D5-4CF2-8475-62E2AFFA1658}"/>
              </a:ext>
            </a:extLst>
          </p:cNvPr>
          <p:cNvSpPr/>
          <p:nvPr/>
        </p:nvSpPr>
        <p:spPr>
          <a:xfrm>
            <a:off x="4411427" y="5520614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Orange</a:t>
            </a:r>
            <a:endParaRPr kumimoji="1" lang="ja-JP" altLang="en-US" b="1" dirty="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6448065-87E2-44BA-9809-83185BDBFCC2}"/>
              </a:ext>
            </a:extLst>
          </p:cNvPr>
          <p:cNvCxnSpPr>
            <a:stCxn id="21" idx="2"/>
            <a:endCxn id="22" idx="0"/>
          </p:cNvCxnSpPr>
          <p:nvPr/>
        </p:nvCxnSpPr>
        <p:spPr>
          <a:xfrm flipH="1">
            <a:off x="5276522" y="3188714"/>
            <a:ext cx="1" cy="8212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54F23A6E-6128-46F1-92D9-D261F4049991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5276522" y="4840991"/>
            <a:ext cx="0" cy="6796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266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クラスの継承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これは</a:t>
            </a:r>
            <a:r>
              <a:rPr lang="ja-JP" altLang="en-US" sz="2400" b="1" dirty="0">
                <a:solidFill>
                  <a:srgbClr val="FF0000"/>
                </a:solidFill>
              </a:rPr>
              <a:t>新たにクラスを作る際に、必要な機能を引き継ぎやすくする</a:t>
            </a:r>
            <a:r>
              <a:rPr lang="ja-JP" altLang="en-US" sz="2400" dirty="0"/>
              <a:t>ためです。</a:t>
            </a:r>
            <a:endParaRPr lang="en-US" altLang="ja-JP" sz="2400" dirty="0"/>
          </a:p>
          <a:p>
            <a:r>
              <a:rPr lang="ja-JP" altLang="en-US" sz="2400"/>
              <a:t>イメージだけでも覚えておきましょう。</a:t>
            </a:r>
            <a:endParaRPr lang="en-US" altLang="ja-JP" sz="2400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93B5B2B8-0773-4AAB-8B1D-4A0B15652D19}"/>
              </a:ext>
            </a:extLst>
          </p:cNvPr>
          <p:cNvSpPr/>
          <p:nvPr/>
        </p:nvSpPr>
        <p:spPr>
          <a:xfrm>
            <a:off x="4411428" y="2357717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Food</a:t>
            </a:r>
            <a:endParaRPr kumimoji="1" lang="ja-JP" altLang="en-US" b="1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C01D0BF-89EB-4A51-A0A3-04C0625C7CD1}"/>
              </a:ext>
            </a:extLst>
          </p:cNvPr>
          <p:cNvSpPr/>
          <p:nvPr/>
        </p:nvSpPr>
        <p:spPr>
          <a:xfrm>
            <a:off x="4411427" y="4009994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Fruit</a:t>
            </a:r>
            <a:endParaRPr kumimoji="1" lang="ja-JP" altLang="en-US" b="1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8AD58BB-DA07-4AAA-9BA3-F246BF2C65C7}"/>
              </a:ext>
            </a:extLst>
          </p:cNvPr>
          <p:cNvSpPr/>
          <p:nvPr/>
        </p:nvSpPr>
        <p:spPr>
          <a:xfrm>
            <a:off x="4411427" y="5520614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Orange</a:t>
            </a:r>
            <a:endParaRPr kumimoji="1" lang="ja-JP" altLang="en-US" b="1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B731D86-890E-49CB-9483-7917B4410DF4}"/>
              </a:ext>
            </a:extLst>
          </p:cNvPr>
          <p:cNvCxnSpPr>
            <a:stCxn id="2" idx="2"/>
            <a:endCxn id="5" idx="0"/>
          </p:cNvCxnSpPr>
          <p:nvPr/>
        </p:nvCxnSpPr>
        <p:spPr>
          <a:xfrm flipH="1">
            <a:off x="5276522" y="3188714"/>
            <a:ext cx="1" cy="8212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2E27CA6-FFA4-4F98-B7C6-ADF5F6D2FF90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5276522" y="4840991"/>
            <a:ext cx="0" cy="6796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F865853-9DF9-458F-BDDF-BE4BCDAC4DF1}"/>
              </a:ext>
            </a:extLst>
          </p:cNvPr>
          <p:cNvSpPr/>
          <p:nvPr/>
        </p:nvSpPr>
        <p:spPr>
          <a:xfrm>
            <a:off x="2062674" y="4009994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Meet</a:t>
            </a:r>
            <a:endParaRPr kumimoji="1" lang="ja-JP" altLang="en-US" b="1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3769382F-EFC8-438D-9B48-CCE668F87C33}"/>
              </a:ext>
            </a:extLst>
          </p:cNvPr>
          <p:cNvSpPr/>
          <p:nvPr/>
        </p:nvSpPr>
        <p:spPr>
          <a:xfrm>
            <a:off x="6760180" y="4009994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Vegetable</a:t>
            </a:r>
            <a:endParaRPr kumimoji="1" lang="ja-JP" altLang="en-US" b="1" dirty="0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A6675092-5D87-496F-9EB1-CD2D5DF29EFD}"/>
              </a:ext>
            </a:extLst>
          </p:cNvPr>
          <p:cNvCxnSpPr>
            <a:stCxn id="2" idx="2"/>
            <a:endCxn id="9" idx="0"/>
          </p:cNvCxnSpPr>
          <p:nvPr/>
        </p:nvCxnSpPr>
        <p:spPr>
          <a:xfrm flipH="1">
            <a:off x="2927769" y="3188714"/>
            <a:ext cx="2348754" cy="8212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915C666-73D6-418D-9CA6-17F71BDB4DAE}"/>
              </a:ext>
            </a:extLst>
          </p:cNvPr>
          <p:cNvCxnSpPr>
            <a:stCxn id="2" idx="2"/>
            <a:endCxn id="11" idx="0"/>
          </p:cNvCxnSpPr>
          <p:nvPr/>
        </p:nvCxnSpPr>
        <p:spPr>
          <a:xfrm>
            <a:off x="5276523" y="3188714"/>
            <a:ext cx="2348752" cy="8212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92DB72A-360B-4FDE-956C-74117E88661E}"/>
              </a:ext>
            </a:extLst>
          </p:cNvPr>
          <p:cNvSpPr/>
          <p:nvPr/>
        </p:nvSpPr>
        <p:spPr>
          <a:xfrm>
            <a:off x="2062674" y="5510897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Beef</a:t>
            </a:r>
            <a:endParaRPr kumimoji="1" lang="ja-JP" altLang="en-US" b="1" dirty="0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2FD6E653-E96A-4BFB-A0EA-FDDC872F873A}"/>
              </a:ext>
            </a:extLst>
          </p:cNvPr>
          <p:cNvCxnSpPr>
            <a:stCxn id="9" idx="2"/>
            <a:endCxn id="19" idx="0"/>
          </p:cNvCxnSpPr>
          <p:nvPr/>
        </p:nvCxnSpPr>
        <p:spPr>
          <a:xfrm>
            <a:off x="2927769" y="4840991"/>
            <a:ext cx="0" cy="6699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62C84432-684C-4F70-ABD5-DDB7A4CFAF96}"/>
              </a:ext>
            </a:extLst>
          </p:cNvPr>
          <p:cNvSpPr/>
          <p:nvPr/>
        </p:nvSpPr>
        <p:spPr>
          <a:xfrm>
            <a:off x="6760180" y="5510896"/>
            <a:ext cx="1730189" cy="8309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Tomato</a:t>
            </a:r>
            <a:endParaRPr kumimoji="1" lang="ja-JP" altLang="en-US" b="1" dirty="0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4CA9237-6FF5-423E-86BF-99233A00A819}"/>
              </a:ext>
            </a:extLst>
          </p:cNvPr>
          <p:cNvCxnSpPr>
            <a:stCxn id="11" idx="2"/>
            <a:endCxn id="22" idx="0"/>
          </p:cNvCxnSpPr>
          <p:nvPr/>
        </p:nvCxnSpPr>
        <p:spPr>
          <a:xfrm>
            <a:off x="7625275" y="4840991"/>
            <a:ext cx="0" cy="6699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59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394</Words>
  <Application>Microsoft Office PowerPoint</Application>
  <PresentationFormat>ワイド画面</PresentationFormat>
  <Paragraphs>78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40</cp:revision>
  <dcterms:created xsi:type="dcterms:W3CDTF">2024-08-27T02:15:54Z</dcterms:created>
  <dcterms:modified xsi:type="dcterms:W3CDTF">2025-02-07T07:58:48Z</dcterms:modified>
</cp:coreProperties>
</file>