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2024/11/12</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2024/11/12</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2024/11/12</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2024/11/12</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2024/11/12</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2024/11/12</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2024/11/12</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2024/11/12</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2024/11/12</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2024/11/12</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2024/11/12</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2024/11/12</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3046988"/>
          </a:xfrm>
          <a:prstGeom prst="rect">
            <a:avLst/>
          </a:prstGeom>
          <a:noFill/>
        </p:spPr>
        <p:txBody>
          <a:bodyPr wrap="none" rtlCol="0">
            <a:spAutoFit/>
          </a:bodyPr>
          <a:lstStyle/>
          <a:p>
            <a:r>
              <a:rPr lang="en-US" altLang="ja-JP" sz="2400" dirty="0"/>
              <a:t>C++</a:t>
            </a:r>
            <a:r>
              <a:rPr lang="ja-JP" altLang="en-US" sz="2400" dirty="0"/>
              <a:t>の標準ライブラリには</a:t>
            </a:r>
            <a:r>
              <a:rPr lang="ja-JP" altLang="en-US" sz="2400" b="1" dirty="0">
                <a:solidFill>
                  <a:srgbClr val="FF0000"/>
                </a:solidFill>
              </a:rPr>
              <a:t>動的配列クラス</a:t>
            </a:r>
            <a:r>
              <a:rPr lang="ja-JP" altLang="en-US" sz="2400" dirty="0"/>
              <a:t>があります。</a:t>
            </a:r>
            <a:endParaRPr lang="en-US" altLang="ja-JP" sz="2400" dirty="0"/>
          </a:p>
          <a:p>
            <a:r>
              <a:rPr lang="ja-JP" altLang="en-US" sz="2400" dirty="0"/>
              <a:t>ただの配列との違いは、</a:t>
            </a:r>
            <a:r>
              <a:rPr lang="ja-JP" altLang="en-US" sz="2400" b="1" dirty="0">
                <a:solidFill>
                  <a:srgbClr val="FF0000"/>
                </a:solidFill>
              </a:rPr>
              <a:t>配列の長さが動的に変わること</a:t>
            </a:r>
            <a:r>
              <a:rPr lang="ja-JP" altLang="en-US" sz="2400" dirty="0"/>
              <a:t>です。</a:t>
            </a:r>
            <a:endParaRPr lang="en-US" altLang="ja-JP" sz="2400" dirty="0"/>
          </a:p>
          <a:p>
            <a:endParaRPr lang="en-US" altLang="ja-JP" sz="2400" dirty="0"/>
          </a:p>
          <a:p>
            <a:r>
              <a:rPr lang="en-US" altLang="ja-JP" sz="2400" b="1" dirty="0">
                <a:solidFill>
                  <a:srgbClr val="00B050"/>
                </a:solidFill>
              </a:rPr>
              <a:t>MEMO</a:t>
            </a:r>
          </a:p>
          <a:p>
            <a:r>
              <a:rPr lang="ja-JP" altLang="en-US" sz="2400" dirty="0"/>
              <a:t>動的（ダイナミック）とは、状況に合わせて変わるということ。</a:t>
            </a:r>
            <a:endParaRPr lang="en-US" altLang="ja-JP" sz="2400" dirty="0"/>
          </a:p>
          <a:p>
            <a:r>
              <a:rPr lang="ja-JP" altLang="en-US" sz="2400" dirty="0"/>
              <a:t>つまり動的配列とは状況に合わせて配列の長さが変わる配列のこと。</a:t>
            </a:r>
            <a:endParaRPr lang="en-US" altLang="ja-JP" sz="2400" dirty="0"/>
          </a:p>
          <a:p>
            <a:endParaRPr lang="en-US" altLang="ja-JP" sz="2400" dirty="0"/>
          </a:p>
          <a:p>
            <a:r>
              <a:rPr lang="ja-JP" altLang="en-US" sz="2400" dirty="0"/>
              <a:t>簡単な例で練習します。</a:t>
            </a:r>
            <a:endParaRPr lang="en-US" altLang="ja-JP" sz="2400" dirty="0"/>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033476" cy="461665"/>
          </a:xfrm>
          <a:prstGeom prst="rect">
            <a:avLst/>
          </a:prstGeom>
          <a:noFill/>
        </p:spPr>
        <p:txBody>
          <a:bodyPr wrap="none" rtlCol="0">
            <a:spAutoFit/>
          </a:bodyPr>
          <a:lstStyle/>
          <a:p>
            <a:r>
              <a:rPr lang="en-US" altLang="ja-JP" sz="2400" b="1" dirty="0">
                <a:solidFill>
                  <a:srgbClr val="FF0000"/>
                </a:solidFill>
              </a:rPr>
              <a:t>Main.cpp</a:t>
            </a:r>
            <a:r>
              <a:rPr lang="ja-JP" altLang="en-US" sz="2400" dirty="0"/>
              <a:t>を書きましょう。</a:t>
            </a:r>
            <a:endParaRPr lang="en-US" altLang="ja-JP" sz="2400" dirty="0"/>
          </a:p>
        </p:txBody>
      </p:sp>
      <p:pic>
        <p:nvPicPr>
          <p:cNvPr id="3" name="図 2">
            <a:extLst>
              <a:ext uri="{FF2B5EF4-FFF2-40B4-BE49-F238E27FC236}">
                <a16:creationId xmlns:a16="http://schemas.microsoft.com/office/drawing/2014/main" id="{1F2CA825-18D2-40C9-BEF2-FE7AFCE6F026}"/>
              </a:ext>
            </a:extLst>
          </p:cNvPr>
          <p:cNvPicPr>
            <a:picLocks noChangeAspect="1"/>
          </p:cNvPicPr>
          <p:nvPr/>
        </p:nvPicPr>
        <p:blipFill>
          <a:blip r:embed="rId2"/>
          <a:stretch>
            <a:fillRect/>
          </a:stretch>
        </p:blipFill>
        <p:spPr>
          <a:xfrm>
            <a:off x="567543" y="1817794"/>
            <a:ext cx="5528458" cy="4514530"/>
          </a:xfrm>
          <a:prstGeom prst="rect">
            <a:avLst/>
          </a:prstGeom>
        </p:spPr>
      </p:pic>
    </p:spTree>
    <p:extLst>
      <p:ext uri="{BB962C8B-B14F-4D97-AF65-F5344CB8AC3E}">
        <p14:creationId xmlns:p14="http://schemas.microsoft.com/office/powerpoint/2010/main" val="301840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461665"/>
          </a:xfrm>
          <a:prstGeom prst="rect">
            <a:avLst/>
          </a:prstGeom>
          <a:noFill/>
        </p:spPr>
        <p:txBody>
          <a:bodyPr wrap="none" rtlCol="0">
            <a:spAutoFit/>
          </a:bodyPr>
          <a:lstStyle/>
          <a:p>
            <a:r>
              <a:rPr lang="ja-JP" altLang="en-US" sz="2400" dirty="0"/>
              <a:t>実行すると配列の件数と中身が表示されます。</a:t>
            </a:r>
            <a:endParaRPr lang="en-US" altLang="ja-JP" sz="2400" dirty="0"/>
          </a:p>
        </p:txBody>
      </p:sp>
      <p:pic>
        <p:nvPicPr>
          <p:cNvPr id="5" name="図 4">
            <a:extLst>
              <a:ext uri="{FF2B5EF4-FFF2-40B4-BE49-F238E27FC236}">
                <a16:creationId xmlns:a16="http://schemas.microsoft.com/office/drawing/2014/main" id="{39CBE212-0394-4AAC-A3DF-19A0B4CF6F62}"/>
              </a:ext>
            </a:extLst>
          </p:cNvPr>
          <p:cNvPicPr>
            <a:picLocks noChangeAspect="1"/>
          </p:cNvPicPr>
          <p:nvPr/>
        </p:nvPicPr>
        <p:blipFill>
          <a:blip r:embed="rId2"/>
          <a:stretch>
            <a:fillRect/>
          </a:stretch>
        </p:blipFill>
        <p:spPr>
          <a:xfrm>
            <a:off x="567542" y="1817794"/>
            <a:ext cx="6261674" cy="2790065"/>
          </a:xfrm>
          <a:prstGeom prst="rect">
            <a:avLst/>
          </a:prstGeom>
        </p:spPr>
      </p:pic>
    </p:spTree>
    <p:extLst>
      <p:ext uri="{BB962C8B-B14F-4D97-AF65-F5344CB8AC3E}">
        <p14:creationId xmlns:p14="http://schemas.microsoft.com/office/powerpoint/2010/main" val="1178982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340197" cy="2308324"/>
          </a:xfrm>
          <a:prstGeom prst="rect">
            <a:avLst/>
          </a:prstGeom>
          <a:noFill/>
        </p:spPr>
        <p:txBody>
          <a:bodyPr wrap="none" rtlCol="0">
            <a:spAutoFit/>
          </a:bodyPr>
          <a:lstStyle/>
          <a:p>
            <a:r>
              <a:rPr lang="ja-JP" altLang="en-US" sz="2400" dirty="0"/>
              <a:t>動的配列クラスは宣言方法が少し特殊です。</a:t>
            </a:r>
            <a:endParaRPr lang="en-US" altLang="ja-JP" sz="2400" dirty="0"/>
          </a:p>
          <a:p>
            <a:endParaRPr lang="en-US" altLang="ja-JP" sz="2400" dirty="0"/>
          </a:p>
          <a:p>
            <a:r>
              <a:rPr lang="ja-JP" altLang="en-US" sz="2400" b="1" dirty="0">
                <a:solidFill>
                  <a:srgbClr val="FF0000"/>
                </a:solidFill>
              </a:rPr>
              <a:t>■動的配列クラスの宣言</a:t>
            </a:r>
            <a:endParaRPr lang="en-US" altLang="ja-JP" sz="2400" b="1" dirty="0">
              <a:solidFill>
                <a:srgbClr val="FF0000"/>
              </a:solidFill>
            </a:endParaRPr>
          </a:p>
          <a:p>
            <a:r>
              <a:rPr lang="en-US" altLang="ja-JP" sz="2400" dirty="0"/>
              <a:t>std::</a:t>
            </a:r>
            <a:r>
              <a:rPr lang="en-US" altLang="ja-JP" sz="2400" b="1" dirty="0">
                <a:solidFill>
                  <a:srgbClr val="00B050"/>
                </a:solidFill>
              </a:rPr>
              <a:t>vector</a:t>
            </a:r>
            <a:r>
              <a:rPr lang="en-US" altLang="ja-JP" sz="2400" dirty="0"/>
              <a:t>&lt;</a:t>
            </a:r>
            <a:r>
              <a:rPr lang="ja-JP" altLang="en-US" sz="2400" b="1" dirty="0">
                <a:solidFill>
                  <a:srgbClr val="0070C0"/>
                </a:solidFill>
              </a:rPr>
              <a:t>型名</a:t>
            </a:r>
            <a:r>
              <a:rPr lang="en-US" altLang="ja-JP" sz="2400" dirty="0"/>
              <a:t>&gt; </a:t>
            </a:r>
            <a:r>
              <a:rPr lang="ja-JP" altLang="en-US" sz="2400" dirty="0"/>
              <a:t>変数名</a:t>
            </a:r>
            <a:r>
              <a:rPr lang="en-US" altLang="ja-JP" sz="2400" dirty="0"/>
              <a:t>;</a:t>
            </a:r>
          </a:p>
          <a:p>
            <a:endParaRPr lang="en-US" altLang="ja-JP" sz="2400" dirty="0"/>
          </a:p>
          <a:p>
            <a:r>
              <a:rPr lang="ja-JP" altLang="en-US" sz="2400" b="1" dirty="0">
                <a:solidFill>
                  <a:srgbClr val="FF0000"/>
                </a:solidFill>
              </a:rPr>
              <a:t>型名は構造体やクラスなどでも</a:t>
            </a:r>
            <a:r>
              <a:rPr lang="en-US" altLang="ja-JP" sz="2400" b="1" dirty="0">
                <a:solidFill>
                  <a:srgbClr val="FF0000"/>
                </a:solidFill>
              </a:rPr>
              <a:t>OK</a:t>
            </a:r>
            <a:r>
              <a:rPr lang="ja-JP" altLang="en-US" sz="2400" b="1" dirty="0">
                <a:solidFill>
                  <a:srgbClr val="FF0000"/>
                </a:solidFill>
              </a:rPr>
              <a:t>です。</a:t>
            </a:r>
            <a:endParaRPr lang="en-US" altLang="ja-JP" sz="2400" b="1" dirty="0">
              <a:solidFill>
                <a:srgbClr val="FF0000"/>
              </a:solidFill>
            </a:endParaRPr>
          </a:p>
        </p:txBody>
      </p:sp>
      <p:pic>
        <p:nvPicPr>
          <p:cNvPr id="3" name="図 2">
            <a:extLst>
              <a:ext uri="{FF2B5EF4-FFF2-40B4-BE49-F238E27FC236}">
                <a16:creationId xmlns:a16="http://schemas.microsoft.com/office/drawing/2014/main" id="{65C5B325-D1C3-4A34-86F2-7D3883878824}"/>
              </a:ext>
            </a:extLst>
          </p:cNvPr>
          <p:cNvPicPr>
            <a:picLocks noChangeAspect="1"/>
          </p:cNvPicPr>
          <p:nvPr/>
        </p:nvPicPr>
        <p:blipFill>
          <a:blip r:embed="rId2"/>
          <a:stretch>
            <a:fillRect/>
          </a:stretch>
        </p:blipFill>
        <p:spPr>
          <a:xfrm>
            <a:off x="567541" y="3664452"/>
            <a:ext cx="5478473" cy="1140629"/>
          </a:xfrm>
          <a:prstGeom prst="rect">
            <a:avLst/>
          </a:prstGeom>
        </p:spPr>
      </p:pic>
    </p:spTree>
    <p:extLst>
      <p:ext uri="{BB962C8B-B14F-4D97-AF65-F5344CB8AC3E}">
        <p14:creationId xmlns:p14="http://schemas.microsoft.com/office/powerpoint/2010/main" val="917867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710491" cy="461665"/>
          </a:xfrm>
          <a:prstGeom prst="rect">
            <a:avLst/>
          </a:prstGeom>
          <a:noFill/>
        </p:spPr>
        <p:txBody>
          <a:bodyPr wrap="none" rtlCol="0">
            <a:spAutoFit/>
          </a:bodyPr>
          <a:lstStyle/>
          <a:p>
            <a:r>
              <a:rPr lang="en-US" altLang="ja-JP" sz="2400" b="1" dirty="0" err="1">
                <a:solidFill>
                  <a:srgbClr val="0070C0"/>
                </a:solidFill>
              </a:rPr>
              <a:t>push_back</a:t>
            </a:r>
            <a:r>
              <a:rPr lang="ja-JP" altLang="en-US" sz="2400" dirty="0"/>
              <a:t>関数で末尾に要素を追加できます。</a:t>
            </a:r>
            <a:endParaRPr lang="en-US" altLang="ja-JP" sz="2400" dirty="0"/>
          </a:p>
        </p:txBody>
      </p:sp>
      <p:pic>
        <p:nvPicPr>
          <p:cNvPr id="5" name="図 4">
            <a:extLst>
              <a:ext uri="{FF2B5EF4-FFF2-40B4-BE49-F238E27FC236}">
                <a16:creationId xmlns:a16="http://schemas.microsoft.com/office/drawing/2014/main" id="{B4FD4A72-4F17-4D92-9A61-90DDD69E010F}"/>
              </a:ext>
            </a:extLst>
          </p:cNvPr>
          <p:cNvPicPr>
            <a:picLocks noChangeAspect="1"/>
          </p:cNvPicPr>
          <p:nvPr/>
        </p:nvPicPr>
        <p:blipFill>
          <a:blip r:embed="rId2"/>
          <a:stretch>
            <a:fillRect/>
          </a:stretch>
        </p:blipFill>
        <p:spPr>
          <a:xfrm>
            <a:off x="567542" y="1817794"/>
            <a:ext cx="5832813" cy="1328818"/>
          </a:xfrm>
          <a:prstGeom prst="rect">
            <a:avLst/>
          </a:prstGeom>
        </p:spPr>
      </p:pic>
      <p:sp>
        <p:nvSpPr>
          <p:cNvPr id="7" name="テキスト ボックス 6">
            <a:extLst>
              <a:ext uri="{FF2B5EF4-FFF2-40B4-BE49-F238E27FC236}">
                <a16:creationId xmlns:a16="http://schemas.microsoft.com/office/drawing/2014/main" id="{D83F095F-6F5F-45D7-A565-7FB39040CF88}"/>
              </a:ext>
            </a:extLst>
          </p:cNvPr>
          <p:cNvSpPr txBox="1"/>
          <p:nvPr/>
        </p:nvSpPr>
        <p:spPr>
          <a:xfrm>
            <a:off x="567541" y="3426959"/>
            <a:ext cx="1415772" cy="461665"/>
          </a:xfrm>
          <a:prstGeom prst="rect">
            <a:avLst/>
          </a:prstGeom>
          <a:noFill/>
        </p:spPr>
        <p:txBody>
          <a:bodyPr wrap="none" rtlCol="0">
            <a:spAutoFit/>
          </a:bodyPr>
          <a:lstStyle/>
          <a:p>
            <a:r>
              <a:rPr lang="ja-JP" altLang="en-US" sz="2400" b="1" dirty="0">
                <a:solidFill>
                  <a:srgbClr val="00B050"/>
                </a:solidFill>
              </a:rPr>
              <a:t>イメージ</a:t>
            </a:r>
            <a:endParaRPr lang="en-US" altLang="ja-JP" sz="2400" b="1" dirty="0">
              <a:solidFill>
                <a:srgbClr val="00B050"/>
              </a:solidFill>
            </a:endParaRPr>
          </a:p>
        </p:txBody>
      </p:sp>
      <p:sp>
        <p:nvSpPr>
          <p:cNvPr id="8" name="正方形/長方形 7">
            <a:extLst>
              <a:ext uri="{FF2B5EF4-FFF2-40B4-BE49-F238E27FC236}">
                <a16:creationId xmlns:a16="http://schemas.microsoft.com/office/drawing/2014/main" id="{7BB54295-F60B-412F-ABA2-0CA6F0ABACFC}"/>
              </a:ext>
            </a:extLst>
          </p:cNvPr>
          <p:cNvSpPr/>
          <p:nvPr/>
        </p:nvSpPr>
        <p:spPr>
          <a:xfrm>
            <a:off x="567541" y="3888624"/>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1</a:t>
            </a:r>
            <a:endParaRPr kumimoji="1" lang="ja-JP" altLang="en-US" dirty="0"/>
          </a:p>
        </p:txBody>
      </p:sp>
      <p:sp>
        <p:nvSpPr>
          <p:cNvPr id="9" name="正方形/長方形 8">
            <a:extLst>
              <a:ext uri="{FF2B5EF4-FFF2-40B4-BE49-F238E27FC236}">
                <a16:creationId xmlns:a16="http://schemas.microsoft.com/office/drawing/2014/main" id="{63848FC3-CAF2-42DE-916F-BE83073CC098}"/>
              </a:ext>
            </a:extLst>
          </p:cNvPr>
          <p:cNvSpPr/>
          <p:nvPr/>
        </p:nvSpPr>
        <p:spPr>
          <a:xfrm>
            <a:off x="1293683"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2</a:t>
            </a:r>
            <a:endParaRPr kumimoji="1" lang="ja-JP" altLang="en-US" dirty="0"/>
          </a:p>
        </p:txBody>
      </p:sp>
      <p:sp>
        <p:nvSpPr>
          <p:cNvPr id="10" name="正方形/長方形 9">
            <a:extLst>
              <a:ext uri="{FF2B5EF4-FFF2-40B4-BE49-F238E27FC236}">
                <a16:creationId xmlns:a16="http://schemas.microsoft.com/office/drawing/2014/main" id="{0660ED7A-5201-4F60-A085-2284946815AD}"/>
              </a:ext>
            </a:extLst>
          </p:cNvPr>
          <p:cNvSpPr/>
          <p:nvPr/>
        </p:nvSpPr>
        <p:spPr>
          <a:xfrm>
            <a:off x="2019826" y="3888624"/>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3</a:t>
            </a:r>
          </a:p>
        </p:txBody>
      </p:sp>
    </p:spTree>
    <p:extLst>
      <p:ext uri="{BB962C8B-B14F-4D97-AF65-F5344CB8AC3E}">
        <p14:creationId xmlns:p14="http://schemas.microsoft.com/office/powerpoint/2010/main" val="3477703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229590" cy="461665"/>
          </a:xfrm>
          <a:prstGeom prst="rect">
            <a:avLst/>
          </a:prstGeom>
          <a:noFill/>
        </p:spPr>
        <p:txBody>
          <a:bodyPr wrap="none" rtlCol="0">
            <a:spAutoFit/>
          </a:bodyPr>
          <a:lstStyle/>
          <a:p>
            <a:r>
              <a:rPr lang="en-US" altLang="ja-JP" sz="2400" b="1" dirty="0" err="1">
                <a:solidFill>
                  <a:srgbClr val="0070C0"/>
                </a:solidFill>
              </a:rPr>
              <a:t>pop_back</a:t>
            </a:r>
            <a:r>
              <a:rPr lang="ja-JP" altLang="en-US" sz="2400" dirty="0"/>
              <a:t>関数で末尾に要素を削除します。</a:t>
            </a:r>
            <a:endParaRPr lang="en-US" altLang="ja-JP" sz="2400" dirty="0"/>
          </a:p>
        </p:txBody>
      </p:sp>
      <p:sp>
        <p:nvSpPr>
          <p:cNvPr id="7" name="テキスト ボックス 6">
            <a:extLst>
              <a:ext uri="{FF2B5EF4-FFF2-40B4-BE49-F238E27FC236}">
                <a16:creationId xmlns:a16="http://schemas.microsoft.com/office/drawing/2014/main" id="{D83F095F-6F5F-45D7-A565-7FB39040CF88}"/>
              </a:ext>
            </a:extLst>
          </p:cNvPr>
          <p:cNvSpPr txBox="1"/>
          <p:nvPr/>
        </p:nvSpPr>
        <p:spPr>
          <a:xfrm>
            <a:off x="567541" y="3426959"/>
            <a:ext cx="1415772" cy="461665"/>
          </a:xfrm>
          <a:prstGeom prst="rect">
            <a:avLst/>
          </a:prstGeom>
          <a:noFill/>
        </p:spPr>
        <p:txBody>
          <a:bodyPr wrap="none" rtlCol="0">
            <a:spAutoFit/>
          </a:bodyPr>
          <a:lstStyle/>
          <a:p>
            <a:r>
              <a:rPr lang="ja-JP" altLang="en-US" sz="2400" b="1" dirty="0">
                <a:solidFill>
                  <a:srgbClr val="00B050"/>
                </a:solidFill>
              </a:rPr>
              <a:t>イメージ</a:t>
            </a:r>
            <a:endParaRPr lang="en-US" altLang="ja-JP" sz="2400" b="1" dirty="0">
              <a:solidFill>
                <a:srgbClr val="00B050"/>
              </a:solidFill>
            </a:endParaRPr>
          </a:p>
        </p:txBody>
      </p:sp>
      <p:sp>
        <p:nvSpPr>
          <p:cNvPr id="8" name="正方形/長方形 7">
            <a:extLst>
              <a:ext uri="{FF2B5EF4-FFF2-40B4-BE49-F238E27FC236}">
                <a16:creationId xmlns:a16="http://schemas.microsoft.com/office/drawing/2014/main" id="{7BB54295-F60B-412F-ABA2-0CA6F0ABACFC}"/>
              </a:ext>
            </a:extLst>
          </p:cNvPr>
          <p:cNvSpPr/>
          <p:nvPr/>
        </p:nvSpPr>
        <p:spPr>
          <a:xfrm>
            <a:off x="567541" y="3888624"/>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1</a:t>
            </a:r>
            <a:endParaRPr kumimoji="1" lang="ja-JP" altLang="en-US" dirty="0"/>
          </a:p>
        </p:txBody>
      </p:sp>
      <p:sp>
        <p:nvSpPr>
          <p:cNvPr id="9" name="正方形/長方形 8">
            <a:extLst>
              <a:ext uri="{FF2B5EF4-FFF2-40B4-BE49-F238E27FC236}">
                <a16:creationId xmlns:a16="http://schemas.microsoft.com/office/drawing/2014/main" id="{63848FC3-CAF2-42DE-916F-BE83073CC098}"/>
              </a:ext>
            </a:extLst>
          </p:cNvPr>
          <p:cNvSpPr/>
          <p:nvPr/>
        </p:nvSpPr>
        <p:spPr>
          <a:xfrm>
            <a:off x="1293683"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2</a:t>
            </a:r>
            <a:endParaRPr kumimoji="1" lang="ja-JP" altLang="en-US" dirty="0"/>
          </a:p>
        </p:txBody>
      </p:sp>
      <p:sp>
        <p:nvSpPr>
          <p:cNvPr id="10" name="正方形/長方形 9">
            <a:extLst>
              <a:ext uri="{FF2B5EF4-FFF2-40B4-BE49-F238E27FC236}">
                <a16:creationId xmlns:a16="http://schemas.microsoft.com/office/drawing/2014/main" id="{0660ED7A-5201-4F60-A085-2284946815AD}"/>
              </a:ext>
            </a:extLst>
          </p:cNvPr>
          <p:cNvSpPr/>
          <p:nvPr/>
        </p:nvSpPr>
        <p:spPr>
          <a:xfrm>
            <a:off x="2019826" y="3888624"/>
            <a:ext cx="726142" cy="681317"/>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kumimoji="1" lang="en-US" altLang="ja-JP" dirty="0"/>
          </a:p>
        </p:txBody>
      </p:sp>
      <p:pic>
        <p:nvPicPr>
          <p:cNvPr id="3" name="図 2">
            <a:extLst>
              <a:ext uri="{FF2B5EF4-FFF2-40B4-BE49-F238E27FC236}">
                <a16:creationId xmlns:a16="http://schemas.microsoft.com/office/drawing/2014/main" id="{3792F683-E27A-4E56-A602-87361A9EB0EC}"/>
              </a:ext>
            </a:extLst>
          </p:cNvPr>
          <p:cNvPicPr>
            <a:picLocks noChangeAspect="1"/>
          </p:cNvPicPr>
          <p:nvPr/>
        </p:nvPicPr>
        <p:blipFill>
          <a:blip r:embed="rId2"/>
          <a:stretch>
            <a:fillRect/>
          </a:stretch>
        </p:blipFill>
        <p:spPr>
          <a:xfrm>
            <a:off x="567541" y="2135674"/>
            <a:ext cx="7799743" cy="833702"/>
          </a:xfrm>
          <a:prstGeom prst="rect">
            <a:avLst/>
          </a:prstGeom>
        </p:spPr>
      </p:pic>
    </p:spTree>
    <p:extLst>
      <p:ext uri="{BB962C8B-B14F-4D97-AF65-F5344CB8AC3E}">
        <p14:creationId xmlns:p14="http://schemas.microsoft.com/office/powerpoint/2010/main" val="3962803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690982" cy="461665"/>
          </a:xfrm>
          <a:prstGeom prst="rect">
            <a:avLst/>
          </a:prstGeom>
          <a:noFill/>
        </p:spPr>
        <p:txBody>
          <a:bodyPr wrap="none" rtlCol="0">
            <a:spAutoFit/>
          </a:bodyPr>
          <a:lstStyle/>
          <a:p>
            <a:r>
              <a:rPr lang="en-US" altLang="ja-JP" sz="2400" b="1" dirty="0">
                <a:solidFill>
                  <a:srgbClr val="0070C0"/>
                </a:solidFill>
              </a:rPr>
              <a:t>size</a:t>
            </a:r>
            <a:r>
              <a:rPr lang="ja-JP" altLang="en-US" sz="2400" dirty="0"/>
              <a:t>関数で配列の件数を取得できます。</a:t>
            </a:r>
            <a:endParaRPr lang="en-US" altLang="ja-JP" sz="2400" dirty="0"/>
          </a:p>
        </p:txBody>
      </p:sp>
      <p:sp>
        <p:nvSpPr>
          <p:cNvPr id="7" name="テキスト ボックス 6">
            <a:extLst>
              <a:ext uri="{FF2B5EF4-FFF2-40B4-BE49-F238E27FC236}">
                <a16:creationId xmlns:a16="http://schemas.microsoft.com/office/drawing/2014/main" id="{D83F095F-6F5F-45D7-A565-7FB39040CF88}"/>
              </a:ext>
            </a:extLst>
          </p:cNvPr>
          <p:cNvSpPr txBox="1"/>
          <p:nvPr/>
        </p:nvSpPr>
        <p:spPr>
          <a:xfrm>
            <a:off x="567541" y="3426959"/>
            <a:ext cx="1415772" cy="461665"/>
          </a:xfrm>
          <a:prstGeom prst="rect">
            <a:avLst/>
          </a:prstGeom>
          <a:noFill/>
        </p:spPr>
        <p:txBody>
          <a:bodyPr wrap="none" rtlCol="0">
            <a:spAutoFit/>
          </a:bodyPr>
          <a:lstStyle/>
          <a:p>
            <a:r>
              <a:rPr lang="ja-JP" altLang="en-US" sz="2400" b="1" dirty="0">
                <a:solidFill>
                  <a:srgbClr val="00B050"/>
                </a:solidFill>
              </a:rPr>
              <a:t>イメージ</a:t>
            </a:r>
            <a:endParaRPr lang="en-US" altLang="ja-JP" sz="2400" b="1" dirty="0">
              <a:solidFill>
                <a:srgbClr val="00B050"/>
              </a:solidFill>
            </a:endParaRPr>
          </a:p>
        </p:txBody>
      </p:sp>
      <p:sp>
        <p:nvSpPr>
          <p:cNvPr id="8" name="正方形/長方形 7">
            <a:extLst>
              <a:ext uri="{FF2B5EF4-FFF2-40B4-BE49-F238E27FC236}">
                <a16:creationId xmlns:a16="http://schemas.microsoft.com/office/drawing/2014/main" id="{7BB54295-F60B-412F-ABA2-0CA6F0ABACFC}"/>
              </a:ext>
            </a:extLst>
          </p:cNvPr>
          <p:cNvSpPr/>
          <p:nvPr/>
        </p:nvSpPr>
        <p:spPr>
          <a:xfrm>
            <a:off x="567541" y="3888624"/>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1</a:t>
            </a:r>
            <a:endParaRPr kumimoji="1" lang="ja-JP" altLang="en-US" dirty="0"/>
          </a:p>
        </p:txBody>
      </p:sp>
      <p:sp>
        <p:nvSpPr>
          <p:cNvPr id="9" name="正方形/長方形 8">
            <a:extLst>
              <a:ext uri="{FF2B5EF4-FFF2-40B4-BE49-F238E27FC236}">
                <a16:creationId xmlns:a16="http://schemas.microsoft.com/office/drawing/2014/main" id="{63848FC3-CAF2-42DE-916F-BE83073CC098}"/>
              </a:ext>
            </a:extLst>
          </p:cNvPr>
          <p:cNvSpPr/>
          <p:nvPr/>
        </p:nvSpPr>
        <p:spPr>
          <a:xfrm>
            <a:off x="1293683"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2</a:t>
            </a:r>
            <a:endParaRPr kumimoji="1" lang="ja-JP" altLang="en-US" dirty="0"/>
          </a:p>
        </p:txBody>
      </p:sp>
      <p:sp>
        <p:nvSpPr>
          <p:cNvPr id="11" name="正方形/長方形 10">
            <a:extLst>
              <a:ext uri="{FF2B5EF4-FFF2-40B4-BE49-F238E27FC236}">
                <a16:creationId xmlns:a16="http://schemas.microsoft.com/office/drawing/2014/main" id="{39ADE7E1-F457-479C-9EBA-7C003CE9EDD0}"/>
              </a:ext>
            </a:extLst>
          </p:cNvPr>
          <p:cNvSpPr/>
          <p:nvPr/>
        </p:nvSpPr>
        <p:spPr>
          <a:xfrm>
            <a:off x="2019824"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4</a:t>
            </a:r>
            <a:endParaRPr kumimoji="1" lang="ja-JP" altLang="en-US" dirty="0"/>
          </a:p>
        </p:txBody>
      </p:sp>
      <p:sp>
        <p:nvSpPr>
          <p:cNvPr id="12" name="正方形/長方形 11">
            <a:extLst>
              <a:ext uri="{FF2B5EF4-FFF2-40B4-BE49-F238E27FC236}">
                <a16:creationId xmlns:a16="http://schemas.microsoft.com/office/drawing/2014/main" id="{8105DE65-FCA1-4174-A160-E2230C5FD7CB}"/>
              </a:ext>
            </a:extLst>
          </p:cNvPr>
          <p:cNvSpPr/>
          <p:nvPr/>
        </p:nvSpPr>
        <p:spPr>
          <a:xfrm>
            <a:off x="2745966" y="3888620"/>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5</a:t>
            </a:r>
            <a:endParaRPr kumimoji="1" lang="ja-JP" altLang="en-US" dirty="0"/>
          </a:p>
        </p:txBody>
      </p:sp>
      <p:sp>
        <p:nvSpPr>
          <p:cNvPr id="13" name="テキスト ボックス 12">
            <a:extLst>
              <a:ext uri="{FF2B5EF4-FFF2-40B4-BE49-F238E27FC236}">
                <a16:creationId xmlns:a16="http://schemas.microsoft.com/office/drawing/2014/main" id="{B8259C00-5C33-4A65-A048-8EEB3D96F7F6}"/>
              </a:ext>
            </a:extLst>
          </p:cNvPr>
          <p:cNvSpPr txBox="1"/>
          <p:nvPr/>
        </p:nvSpPr>
        <p:spPr>
          <a:xfrm>
            <a:off x="3508619" y="3998445"/>
            <a:ext cx="1649811" cy="461665"/>
          </a:xfrm>
          <a:prstGeom prst="rect">
            <a:avLst/>
          </a:prstGeom>
          <a:noFill/>
        </p:spPr>
        <p:txBody>
          <a:bodyPr wrap="none" rtlCol="0">
            <a:spAutoFit/>
          </a:bodyPr>
          <a:lstStyle/>
          <a:p>
            <a:r>
              <a:rPr lang="en-US" altLang="ja-JP" sz="2400" dirty="0"/>
              <a:t>size = 4</a:t>
            </a:r>
            <a:r>
              <a:rPr lang="ja-JP" altLang="en-US" sz="2400" dirty="0"/>
              <a:t>件</a:t>
            </a:r>
            <a:endParaRPr lang="en-US" altLang="ja-JP" sz="2400" dirty="0"/>
          </a:p>
        </p:txBody>
      </p:sp>
      <p:pic>
        <p:nvPicPr>
          <p:cNvPr id="5" name="図 4">
            <a:extLst>
              <a:ext uri="{FF2B5EF4-FFF2-40B4-BE49-F238E27FC236}">
                <a16:creationId xmlns:a16="http://schemas.microsoft.com/office/drawing/2014/main" id="{0EC99BBC-D1AC-4019-AAD0-4730C5B6BB21}"/>
              </a:ext>
            </a:extLst>
          </p:cNvPr>
          <p:cNvPicPr>
            <a:picLocks noChangeAspect="1"/>
          </p:cNvPicPr>
          <p:nvPr/>
        </p:nvPicPr>
        <p:blipFill>
          <a:blip r:embed="rId2"/>
          <a:stretch>
            <a:fillRect/>
          </a:stretch>
        </p:blipFill>
        <p:spPr>
          <a:xfrm>
            <a:off x="567541" y="2144277"/>
            <a:ext cx="6479766" cy="681317"/>
          </a:xfrm>
          <a:prstGeom prst="rect">
            <a:avLst/>
          </a:prstGeom>
        </p:spPr>
      </p:pic>
    </p:spTree>
    <p:extLst>
      <p:ext uri="{BB962C8B-B14F-4D97-AF65-F5344CB8AC3E}">
        <p14:creationId xmlns:p14="http://schemas.microsoft.com/office/powerpoint/2010/main" val="1995939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724644" cy="461665"/>
          </a:xfrm>
          <a:prstGeom prst="rect">
            <a:avLst/>
          </a:prstGeom>
          <a:noFill/>
        </p:spPr>
        <p:txBody>
          <a:bodyPr wrap="none" rtlCol="0">
            <a:spAutoFit/>
          </a:bodyPr>
          <a:lstStyle/>
          <a:p>
            <a:r>
              <a:rPr lang="ja-JP" altLang="en-US" sz="2400" dirty="0"/>
              <a:t>配列なので</a:t>
            </a:r>
            <a:r>
              <a:rPr lang="ja-JP" altLang="en-US" sz="2400" b="1" dirty="0">
                <a:solidFill>
                  <a:srgbClr val="FF0000"/>
                </a:solidFill>
              </a:rPr>
              <a:t>添え字でアクセス</a:t>
            </a:r>
            <a:r>
              <a:rPr lang="ja-JP" altLang="en-US" sz="2400" dirty="0"/>
              <a:t>できます。</a:t>
            </a:r>
            <a:endParaRPr lang="en-US" altLang="ja-JP" sz="2400" dirty="0"/>
          </a:p>
        </p:txBody>
      </p:sp>
      <p:sp>
        <p:nvSpPr>
          <p:cNvPr id="7" name="テキスト ボックス 6">
            <a:extLst>
              <a:ext uri="{FF2B5EF4-FFF2-40B4-BE49-F238E27FC236}">
                <a16:creationId xmlns:a16="http://schemas.microsoft.com/office/drawing/2014/main" id="{D83F095F-6F5F-45D7-A565-7FB39040CF88}"/>
              </a:ext>
            </a:extLst>
          </p:cNvPr>
          <p:cNvSpPr txBox="1"/>
          <p:nvPr/>
        </p:nvSpPr>
        <p:spPr>
          <a:xfrm>
            <a:off x="567541" y="3426959"/>
            <a:ext cx="1415772" cy="461665"/>
          </a:xfrm>
          <a:prstGeom prst="rect">
            <a:avLst/>
          </a:prstGeom>
          <a:noFill/>
        </p:spPr>
        <p:txBody>
          <a:bodyPr wrap="none" rtlCol="0">
            <a:spAutoFit/>
          </a:bodyPr>
          <a:lstStyle/>
          <a:p>
            <a:r>
              <a:rPr lang="ja-JP" altLang="en-US" sz="2400" b="1" dirty="0">
                <a:solidFill>
                  <a:srgbClr val="00B050"/>
                </a:solidFill>
              </a:rPr>
              <a:t>イメージ</a:t>
            </a:r>
            <a:endParaRPr lang="en-US" altLang="ja-JP" sz="2400" b="1" dirty="0">
              <a:solidFill>
                <a:srgbClr val="00B050"/>
              </a:solidFill>
            </a:endParaRPr>
          </a:p>
        </p:txBody>
      </p:sp>
      <p:sp>
        <p:nvSpPr>
          <p:cNvPr id="8" name="正方形/長方形 7">
            <a:extLst>
              <a:ext uri="{FF2B5EF4-FFF2-40B4-BE49-F238E27FC236}">
                <a16:creationId xmlns:a16="http://schemas.microsoft.com/office/drawing/2014/main" id="{7BB54295-F60B-412F-ABA2-0CA6F0ABACFC}"/>
              </a:ext>
            </a:extLst>
          </p:cNvPr>
          <p:cNvSpPr/>
          <p:nvPr/>
        </p:nvSpPr>
        <p:spPr>
          <a:xfrm>
            <a:off x="567541" y="3888624"/>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1</a:t>
            </a:r>
            <a:endParaRPr kumimoji="1" lang="ja-JP" altLang="en-US" dirty="0"/>
          </a:p>
        </p:txBody>
      </p:sp>
      <p:sp>
        <p:nvSpPr>
          <p:cNvPr id="9" name="正方形/長方形 8">
            <a:extLst>
              <a:ext uri="{FF2B5EF4-FFF2-40B4-BE49-F238E27FC236}">
                <a16:creationId xmlns:a16="http://schemas.microsoft.com/office/drawing/2014/main" id="{63848FC3-CAF2-42DE-916F-BE83073CC098}"/>
              </a:ext>
            </a:extLst>
          </p:cNvPr>
          <p:cNvSpPr/>
          <p:nvPr/>
        </p:nvSpPr>
        <p:spPr>
          <a:xfrm>
            <a:off x="1293683"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2</a:t>
            </a:r>
            <a:endParaRPr kumimoji="1" lang="ja-JP" altLang="en-US" dirty="0"/>
          </a:p>
        </p:txBody>
      </p:sp>
      <p:sp>
        <p:nvSpPr>
          <p:cNvPr id="11" name="正方形/長方形 10">
            <a:extLst>
              <a:ext uri="{FF2B5EF4-FFF2-40B4-BE49-F238E27FC236}">
                <a16:creationId xmlns:a16="http://schemas.microsoft.com/office/drawing/2014/main" id="{39ADE7E1-F457-479C-9EBA-7C003CE9EDD0}"/>
              </a:ext>
            </a:extLst>
          </p:cNvPr>
          <p:cNvSpPr/>
          <p:nvPr/>
        </p:nvSpPr>
        <p:spPr>
          <a:xfrm>
            <a:off x="2019824"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4</a:t>
            </a:r>
            <a:endParaRPr kumimoji="1" lang="ja-JP" altLang="en-US" dirty="0"/>
          </a:p>
        </p:txBody>
      </p:sp>
      <p:sp>
        <p:nvSpPr>
          <p:cNvPr id="12" name="正方形/長方形 11">
            <a:extLst>
              <a:ext uri="{FF2B5EF4-FFF2-40B4-BE49-F238E27FC236}">
                <a16:creationId xmlns:a16="http://schemas.microsoft.com/office/drawing/2014/main" id="{8105DE65-FCA1-4174-A160-E2230C5FD7CB}"/>
              </a:ext>
            </a:extLst>
          </p:cNvPr>
          <p:cNvSpPr/>
          <p:nvPr/>
        </p:nvSpPr>
        <p:spPr>
          <a:xfrm>
            <a:off x="2745966" y="3888620"/>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5</a:t>
            </a:r>
            <a:endParaRPr kumimoji="1" lang="ja-JP" altLang="en-US" dirty="0"/>
          </a:p>
        </p:txBody>
      </p:sp>
      <p:sp>
        <p:nvSpPr>
          <p:cNvPr id="13" name="テキスト ボックス 12">
            <a:extLst>
              <a:ext uri="{FF2B5EF4-FFF2-40B4-BE49-F238E27FC236}">
                <a16:creationId xmlns:a16="http://schemas.microsoft.com/office/drawing/2014/main" id="{B8259C00-5C33-4A65-A048-8EEB3D96F7F6}"/>
              </a:ext>
            </a:extLst>
          </p:cNvPr>
          <p:cNvSpPr txBox="1"/>
          <p:nvPr/>
        </p:nvSpPr>
        <p:spPr>
          <a:xfrm>
            <a:off x="3508619" y="3998445"/>
            <a:ext cx="1649811" cy="461665"/>
          </a:xfrm>
          <a:prstGeom prst="rect">
            <a:avLst/>
          </a:prstGeom>
          <a:noFill/>
        </p:spPr>
        <p:txBody>
          <a:bodyPr wrap="none" rtlCol="0">
            <a:spAutoFit/>
          </a:bodyPr>
          <a:lstStyle/>
          <a:p>
            <a:r>
              <a:rPr lang="en-US" altLang="ja-JP" sz="2400" dirty="0"/>
              <a:t>size = 4</a:t>
            </a:r>
            <a:r>
              <a:rPr lang="ja-JP" altLang="en-US" sz="2400" dirty="0"/>
              <a:t>件</a:t>
            </a:r>
            <a:endParaRPr lang="en-US" altLang="ja-JP" sz="2400" dirty="0"/>
          </a:p>
        </p:txBody>
      </p:sp>
      <p:sp>
        <p:nvSpPr>
          <p:cNvPr id="14" name="テキスト ボックス 13">
            <a:extLst>
              <a:ext uri="{FF2B5EF4-FFF2-40B4-BE49-F238E27FC236}">
                <a16:creationId xmlns:a16="http://schemas.microsoft.com/office/drawing/2014/main" id="{2CB2EB5E-F166-454B-8A54-A89F38B54B1E}"/>
              </a:ext>
            </a:extLst>
          </p:cNvPr>
          <p:cNvSpPr txBox="1"/>
          <p:nvPr/>
        </p:nvSpPr>
        <p:spPr>
          <a:xfrm>
            <a:off x="633896" y="4634940"/>
            <a:ext cx="593432" cy="461665"/>
          </a:xfrm>
          <a:prstGeom prst="rect">
            <a:avLst/>
          </a:prstGeom>
          <a:noFill/>
        </p:spPr>
        <p:txBody>
          <a:bodyPr wrap="none" rtlCol="0">
            <a:spAutoFit/>
          </a:bodyPr>
          <a:lstStyle/>
          <a:p>
            <a:r>
              <a:rPr lang="en-US" altLang="ja-JP" sz="2400" dirty="0"/>
              <a:t>[0]</a:t>
            </a:r>
          </a:p>
        </p:txBody>
      </p:sp>
      <p:sp>
        <p:nvSpPr>
          <p:cNvPr id="15" name="テキスト ボックス 14">
            <a:extLst>
              <a:ext uri="{FF2B5EF4-FFF2-40B4-BE49-F238E27FC236}">
                <a16:creationId xmlns:a16="http://schemas.microsoft.com/office/drawing/2014/main" id="{A8CAF5E2-95E7-4926-B5B7-359AA8551959}"/>
              </a:ext>
            </a:extLst>
          </p:cNvPr>
          <p:cNvSpPr txBox="1"/>
          <p:nvPr/>
        </p:nvSpPr>
        <p:spPr>
          <a:xfrm>
            <a:off x="1360038" y="4634940"/>
            <a:ext cx="593432" cy="461665"/>
          </a:xfrm>
          <a:prstGeom prst="rect">
            <a:avLst/>
          </a:prstGeom>
          <a:noFill/>
        </p:spPr>
        <p:txBody>
          <a:bodyPr wrap="none" rtlCol="0">
            <a:spAutoFit/>
          </a:bodyPr>
          <a:lstStyle/>
          <a:p>
            <a:r>
              <a:rPr lang="en-US" altLang="ja-JP" sz="2400" dirty="0"/>
              <a:t>[1]</a:t>
            </a:r>
          </a:p>
        </p:txBody>
      </p:sp>
      <p:sp>
        <p:nvSpPr>
          <p:cNvPr id="16" name="テキスト ボックス 15">
            <a:extLst>
              <a:ext uri="{FF2B5EF4-FFF2-40B4-BE49-F238E27FC236}">
                <a16:creationId xmlns:a16="http://schemas.microsoft.com/office/drawing/2014/main" id="{4640AE95-7DFA-4250-89BF-C188552AC062}"/>
              </a:ext>
            </a:extLst>
          </p:cNvPr>
          <p:cNvSpPr txBox="1"/>
          <p:nvPr/>
        </p:nvSpPr>
        <p:spPr>
          <a:xfrm>
            <a:off x="2086179" y="4634937"/>
            <a:ext cx="593432" cy="461665"/>
          </a:xfrm>
          <a:prstGeom prst="rect">
            <a:avLst/>
          </a:prstGeom>
          <a:noFill/>
        </p:spPr>
        <p:txBody>
          <a:bodyPr wrap="none" rtlCol="0">
            <a:spAutoFit/>
          </a:bodyPr>
          <a:lstStyle/>
          <a:p>
            <a:r>
              <a:rPr lang="en-US" altLang="ja-JP" sz="2400" dirty="0"/>
              <a:t>[2]</a:t>
            </a:r>
          </a:p>
        </p:txBody>
      </p:sp>
      <p:sp>
        <p:nvSpPr>
          <p:cNvPr id="17" name="テキスト ボックス 16">
            <a:extLst>
              <a:ext uri="{FF2B5EF4-FFF2-40B4-BE49-F238E27FC236}">
                <a16:creationId xmlns:a16="http://schemas.microsoft.com/office/drawing/2014/main" id="{952C436B-8EEC-4557-BE6B-93449AD919A9}"/>
              </a:ext>
            </a:extLst>
          </p:cNvPr>
          <p:cNvSpPr txBox="1"/>
          <p:nvPr/>
        </p:nvSpPr>
        <p:spPr>
          <a:xfrm>
            <a:off x="2812320" y="4634938"/>
            <a:ext cx="593432" cy="461665"/>
          </a:xfrm>
          <a:prstGeom prst="rect">
            <a:avLst/>
          </a:prstGeom>
          <a:noFill/>
        </p:spPr>
        <p:txBody>
          <a:bodyPr wrap="none" rtlCol="0">
            <a:spAutoFit/>
          </a:bodyPr>
          <a:lstStyle/>
          <a:p>
            <a:r>
              <a:rPr lang="en-US" altLang="ja-JP" sz="2400" dirty="0"/>
              <a:t>[3]</a:t>
            </a:r>
          </a:p>
        </p:txBody>
      </p:sp>
      <p:pic>
        <p:nvPicPr>
          <p:cNvPr id="3" name="図 2">
            <a:extLst>
              <a:ext uri="{FF2B5EF4-FFF2-40B4-BE49-F238E27FC236}">
                <a16:creationId xmlns:a16="http://schemas.microsoft.com/office/drawing/2014/main" id="{1717772E-BC77-4DCC-9C62-C9192813BA2F}"/>
              </a:ext>
            </a:extLst>
          </p:cNvPr>
          <p:cNvPicPr>
            <a:picLocks noChangeAspect="1"/>
          </p:cNvPicPr>
          <p:nvPr/>
        </p:nvPicPr>
        <p:blipFill>
          <a:blip r:embed="rId2"/>
          <a:stretch>
            <a:fillRect/>
          </a:stretch>
        </p:blipFill>
        <p:spPr>
          <a:xfrm>
            <a:off x="567540" y="1817793"/>
            <a:ext cx="10412295" cy="1266065"/>
          </a:xfrm>
          <a:prstGeom prst="rect">
            <a:avLst/>
          </a:prstGeom>
        </p:spPr>
      </p:pic>
      <p:sp>
        <p:nvSpPr>
          <p:cNvPr id="10" name="正方形/長方形 9">
            <a:extLst>
              <a:ext uri="{FF2B5EF4-FFF2-40B4-BE49-F238E27FC236}">
                <a16:creationId xmlns:a16="http://schemas.microsoft.com/office/drawing/2014/main" id="{8CF9C96C-F2D7-4359-88E3-85DE7E4647DF}"/>
              </a:ext>
            </a:extLst>
          </p:cNvPr>
          <p:cNvSpPr/>
          <p:nvPr/>
        </p:nvSpPr>
        <p:spPr>
          <a:xfrm>
            <a:off x="7422776" y="2375647"/>
            <a:ext cx="2034989" cy="6275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Tree>
    <p:extLst>
      <p:ext uri="{BB962C8B-B14F-4D97-AF65-F5344CB8AC3E}">
        <p14:creationId xmlns:p14="http://schemas.microsoft.com/office/powerpoint/2010/main" val="3307425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3046988"/>
          </a:xfrm>
          <a:prstGeom prst="rect">
            <a:avLst/>
          </a:prstGeom>
          <a:noFill/>
        </p:spPr>
        <p:txBody>
          <a:bodyPr wrap="none" rtlCol="0">
            <a:spAutoFit/>
          </a:bodyPr>
          <a:lstStyle/>
          <a:p>
            <a:r>
              <a:rPr lang="ja-JP" altLang="en-US" sz="2400" dirty="0"/>
              <a:t>動的配列は必要な分の長さだけで使うことができるので、</a:t>
            </a:r>
            <a:endParaRPr lang="en-US" altLang="ja-JP" sz="2400" dirty="0"/>
          </a:p>
          <a:p>
            <a:r>
              <a:rPr lang="ja-JP" altLang="en-US" sz="2400" dirty="0"/>
              <a:t>あらかじめ適当な数を固定配列で用意するときより、</a:t>
            </a:r>
            <a:endParaRPr lang="en-US" altLang="ja-JP" sz="2400" dirty="0"/>
          </a:p>
          <a:p>
            <a:r>
              <a:rPr lang="ja-JP" altLang="en-US" sz="2400" b="1" dirty="0">
                <a:solidFill>
                  <a:srgbClr val="FF0000"/>
                </a:solidFill>
              </a:rPr>
              <a:t>メモリの使用量を抑える</a:t>
            </a:r>
            <a:r>
              <a:rPr lang="ja-JP" altLang="en-US" sz="2400" dirty="0"/>
              <a:t>ことができます。</a:t>
            </a:r>
            <a:endParaRPr lang="en-US" altLang="ja-JP" sz="2400" dirty="0"/>
          </a:p>
          <a:p>
            <a:endParaRPr lang="en-US" altLang="ja-JP" sz="2400" dirty="0"/>
          </a:p>
          <a:p>
            <a:r>
              <a:rPr lang="ja-JP" altLang="en-US" sz="2400" dirty="0"/>
              <a:t>ただし</a:t>
            </a:r>
            <a:r>
              <a:rPr lang="ja-JP" altLang="en-US" sz="2400" b="1" dirty="0">
                <a:solidFill>
                  <a:srgbClr val="FF0000"/>
                </a:solidFill>
              </a:rPr>
              <a:t>動的配列はクラス</a:t>
            </a:r>
            <a:r>
              <a:rPr lang="ja-JP" altLang="en-US" sz="2400" dirty="0"/>
              <a:t>なので、</a:t>
            </a:r>
            <a:endParaRPr lang="en-US" altLang="ja-JP" sz="2400" dirty="0"/>
          </a:p>
          <a:p>
            <a:r>
              <a:rPr lang="ja-JP" altLang="en-US" sz="2400" dirty="0"/>
              <a:t>ただの</a:t>
            </a:r>
            <a:r>
              <a:rPr lang="ja-JP" altLang="en-US" sz="2400" b="1" dirty="0">
                <a:solidFill>
                  <a:srgbClr val="FF0000"/>
                </a:solidFill>
              </a:rPr>
              <a:t>固定配列よりも処理は重かったり、</a:t>
            </a:r>
            <a:endParaRPr lang="en-US" altLang="ja-JP" sz="2400" b="1" dirty="0">
              <a:solidFill>
                <a:srgbClr val="FF0000"/>
              </a:solidFill>
            </a:endParaRPr>
          </a:p>
          <a:p>
            <a:r>
              <a:rPr lang="ja-JP" altLang="en-US" sz="2400" b="1" dirty="0">
                <a:solidFill>
                  <a:srgbClr val="FF0000"/>
                </a:solidFill>
              </a:rPr>
              <a:t>同じ件数で比べるとメモリは多く使ってしまいます。</a:t>
            </a:r>
            <a:endParaRPr lang="en-US" altLang="ja-JP" sz="2400" b="1" dirty="0">
              <a:solidFill>
                <a:srgbClr val="FF0000"/>
              </a:solidFill>
            </a:endParaRPr>
          </a:p>
          <a:p>
            <a:r>
              <a:rPr lang="ja-JP" altLang="en-US" sz="2400" dirty="0"/>
              <a:t>（微々たるものだとは思います）</a:t>
            </a:r>
            <a:endParaRPr lang="en-US" altLang="ja-JP" sz="2400" dirty="0"/>
          </a:p>
        </p:txBody>
      </p:sp>
    </p:spTree>
    <p:extLst>
      <p:ext uri="{BB962C8B-B14F-4D97-AF65-F5344CB8AC3E}">
        <p14:creationId xmlns:p14="http://schemas.microsoft.com/office/powerpoint/2010/main" val="143116949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TotalTime>
  <Words>306</Words>
  <Application>Microsoft Office PowerPoint</Application>
  <PresentationFormat>ワイド画面</PresentationFormat>
  <Paragraphs>60</Paragraphs>
  <Slides>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60</cp:revision>
  <dcterms:created xsi:type="dcterms:W3CDTF">2024-08-27T02:15:54Z</dcterms:created>
  <dcterms:modified xsi:type="dcterms:W3CDTF">2024-11-12T02:54:09Z</dcterms:modified>
</cp:coreProperties>
</file>