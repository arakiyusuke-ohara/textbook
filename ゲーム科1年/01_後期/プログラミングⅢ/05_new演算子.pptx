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21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new</a:t>
            </a:r>
            <a:r>
              <a:rPr kumimoji="1" lang="ja-JP" altLang="en-US" sz="3200" b="1" u="sng" dirty="0"/>
              <a:t>演算子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クラスを生成する方法は変数の宣言のみではありません。</a:t>
            </a:r>
            <a:endParaRPr kumimoji="1" lang="en-US" altLang="ja-JP" sz="2400" dirty="0"/>
          </a:p>
          <a:p>
            <a:r>
              <a:rPr lang="en-US" altLang="ja-JP" sz="2400" dirty="0"/>
              <a:t>C++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FF0000"/>
                </a:solidFill>
              </a:rPr>
              <a:t>new</a:t>
            </a:r>
            <a:r>
              <a:rPr lang="ja-JP" altLang="en-US" sz="2400" b="1" dirty="0">
                <a:solidFill>
                  <a:srgbClr val="FF0000"/>
                </a:solidFill>
              </a:rPr>
              <a:t>演算子</a:t>
            </a:r>
            <a:r>
              <a:rPr lang="ja-JP" altLang="en-US" sz="2400" dirty="0"/>
              <a:t>と呼ばれるものがあり、</a:t>
            </a:r>
          </a:p>
          <a:p>
            <a:r>
              <a:rPr kumimoji="1" lang="en-US" altLang="ja-JP" sz="2400" dirty="0"/>
              <a:t>new</a:t>
            </a:r>
            <a:r>
              <a:rPr kumimoji="1" lang="ja-JP" altLang="en-US" sz="2400" dirty="0"/>
              <a:t>演算子でも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クラスを生成</a:t>
            </a:r>
            <a:r>
              <a:rPr kumimoji="1" lang="ja-JP" altLang="en-US" sz="2400" dirty="0"/>
              <a:t>することができます。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21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new</a:t>
            </a:r>
            <a:r>
              <a:rPr kumimoji="1" lang="ja-JP" altLang="en-US" sz="3200" b="1" u="sng" dirty="0"/>
              <a:t>演算子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そもそもクラスの生成についてですが、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生成とは主にメモリに領域を確保すること</a:t>
            </a:r>
            <a:r>
              <a:rPr lang="ja-JP" altLang="en-US" sz="2400" dirty="0"/>
              <a:t>を指しています。</a:t>
            </a:r>
            <a:endParaRPr kumimoji="1" lang="en-US" altLang="ja-JP" sz="2400" dirty="0"/>
          </a:p>
        </p:txBody>
      </p:sp>
      <p:sp>
        <p:nvSpPr>
          <p:cNvPr id="2" name="フローチャート: 磁気ディスク 1">
            <a:extLst>
              <a:ext uri="{FF2B5EF4-FFF2-40B4-BE49-F238E27FC236}">
                <a16:creationId xmlns:a16="http://schemas.microsoft.com/office/drawing/2014/main" id="{4413DB1B-D5E7-449B-B884-7D1315C55FC8}"/>
              </a:ext>
            </a:extLst>
          </p:cNvPr>
          <p:cNvSpPr/>
          <p:nvPr/>
        </p:nvSpPr>
        <p:spPr>
          <a:xfrm>
            <a:off x="567542" y="2988732"/>
            <a:ext cx="2396066" cy="3253039"/>
          </a:xfrm>
          <a:prstGeom prst="flowChartMagneticDisk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101267-ADAF-4F0E-9D52-BB9C2FCD9AE5}"/>
              </a:ext>
            </a:extLst>
          </p:cNvPr>
          <p:cNvSpPr txBox="1"/>
          <p:nvPr/>
        </p:nvSpPr>
        <p:spPr>
          <a:xfrm>
            <a:off x="660676" y="4260784"/>
            <a:ext cx="194476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OrangeBoxA</a:t>
            </a:r>
            <a:endParaRPr kumimoji="1"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225031-D584-4AFD-A1D4-79C09FA97BC1}"/>
              </a:ext>
            </a:extLst>
          </p:cNvPr>
          <p:cNvSpPr txBox="1"/>
          <p:nvPr/>
        </p:nvSpPr>
        <p:spPr>
          <a:xfrm>
            <a:off x="660676" y="4789612"/>
            <a:ext cx="19527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OrangeBoxB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1901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21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new</a:t>
            </a:r>
            <a:r>
              <a:rPr kumimoji="1" lang="ja-JP" altLang="en-US" sz="3200" b="1" u="sng" dirty="0"/>
              <a:t>演算子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関数の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ローカル変数で生成</a:t>
            </a:r>
            <a:r>
              <a:rPr kumimoji="1" lang="ja-JP" altLang="en-US" sz="2400" dirty="0"/>
              <a:t>した場合は、</a:t>
            </a:r>
            <a:endParaRPr kumimoji="1" lang="en-US" altLang="ja-JP" sz="2400" dirty="0"/>
          </a:p>
          <a:p>
            <a:r>
              <a:rPr lang="ja-JP" altLang="en-US" sz="2400" dirty="0"/>
              <a:t>その</a:t>
            </a:r>
            <a:r>
              <a:rPr lang="ja-JP" altLang="en-US" sz="2400" b="1" dirty="0">
                <a:solidFill>
                  <a:srgbClr val="FF0000"/>
                </a:solidFill>
              </a:rPr>
              <a:t>関数の処理が終了すると自動でメモリ領域を開放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kumimoji="1" lang="ja-JP" altLang="en-US" sz="2400" dirty="0"/>
              <a:t>このようにタイミングが固定されているものを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静的</a:t>
            </a:r>
            <a:r>
              <a:rPr kumimoji="1" lang="ja-JP" altLang="en-US" sz="2400" dirty="0"/>
              <a:t>と言います。</a:t>
            </a:r>
            <a:endParaRPr kumimoji="1" lang="en-US" altLang="ja-JP" sz="2400" dirty="0"/>
          </a:p>
        </p:txBody>
      </p:sp>
      <p:sp>
        <p:nvSpPr>
          <p:cNvPr id="2" name="フローチャート: 磁気ディスク 1">
            <a:extLst>
              <a:ext uri="{FF2B5EF4-FFF2-40B4-BE49-F238E27FC236}">
                <a16:creationId xmlns:a16="http://schemas.microsoft.com/office/drawing/2014/main" id="{4413DB1B-D5E7-449B-B884-7D1315C55FC8}"/>
              </a:ext>
            </a:extLst>
          </p:cNvPr>
          <p:cNvSpPr/>
          <p:nvPr/>
        </p:nvSpPr>
        <p:spPr>
          <a:xfrm>
            <a:off x="567542" y="2988732"/>
            <a:ext cx="2396066" cy="3253039"/>
          </a:xfrm>
          <a:prstGeom prst="flowChartMagneticDisk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101267-ADAF-4F0E-9D52-BB9C2FCD9AE5}"/>
              </a:ext>
            </a:extLst>
          </p:cNvPr>
          <p:cNvSpPr txBox="1"/>
          <p:nvPr/>
        </p:nvSpPr>
        <p:spPr>
          <a:xfrm>
            <a:off x="660676" y="4260784"/>
            <a:ext cx="194476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OrangeBoxA</a:t>
            </a:r>
            <a:endParaRPr kumimoji="1"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225031-D584-4AFD-A1D4-79C09FA97BC1}"/>
              </a:ext>
            </a:extLst>
          </p:cNvPr>
          <p:cNvSpPr txBox="1"/>
          <p:nvPr/>
        </p:nvSpPr>
        <p:spPr>
          <a:xfrm>
            <a:off x="660676" y="4789612"/>
            <a:ext cx="19527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OrangeBoxB</a:t>
            </a:r>
            <a:endParaRPr kumimoji="1"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8E6B58-792B-4CBF-9EE9-88865A46D81F}"/>
              </a:ext>
            </a:extLst>
          </p:cNvPr>
          <p:cNvSpPr txBox="1"/>
          <p:nvPr/>
        </p:nvSpPr>
        <p:spPr>
          <a:xfrm>
            <a:off x="673339" y="2452006"/>
            <a:ext cx="2109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</a:t>
            </a:r>
            <a:r>
              <a:rPr kumimoji="1" lang="en-US" altLang="ja-JP" sz="2400" dirty="0"/>
              <a:t>ain</a:t>
            </a:r>
            <a:r>
              <a:rPr kumimoji="1" lang="ja-JP" altLang="en-US" sz="2400" dirty="0"/>
              <a:t>関数開始</a:t>
            </a:r>
            <a:endParaRPr kumimoji="1" lang="en-US" altLang="ja-JP" sz="2400" dirty="0"/>
          </a:p>
        </p:txBody>
      </p:sp>
      <p:sp>
        <p:nvSpPr>
          <p:cNvPr id="10" name="フローチャート: 磁気ディスク 9">
            <a:extLst>
              <a:ext uri="{FF2B5EF4-FFF2-40B4-BE49-F238E27FC236}">
                <a16:creationId xmlns:a16="http://schemas.microsoft.com/office/drawing/2014/main" id="{379E85B8-2B7B-4BD5-97D6-946BD24421D6}"/>
              </a:ext>
            </a:extLst>
          </p:cNvPr>
          <p:cNvSpPr/>
          <p:nvPr/>
        </p:nvSpPr>
        <p:spPr>
          <a:xfrm>
            <a:off x="3954209" y="2988732"/>
            <a:ext cx="2396066" cy="3253039"/>
          </a:xfrm>
          <a:prstGeom prst="flowChartMagneticDisk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C7C1EDC-15F3-458B-9DA5-6C912497A340}"/>
              </a:ext>
            </a:extLst>
          </p:cNvPr>
          <p:cNvSpPr txBox="1"/>
          <p:nvPr/>
        </p:nvSpPr>
        <p:spPr>
          <a:xfrm>
            <a:off x="4060006" y="2452006"/>
            <a:ext cx="2109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</a:t>
            </a:r>
            <a:r>
              <a:rPr kumimoji="1" lang="en-US" altLang="ja-JP" sz="2400" dirty="0"/>
              <a:t>ain</a:t>
            </a:r>
            <a:r>
              <a:rPr kumimoji="1" lang="ja-JP" altLang="en-US" sz="2400" dirty="0"/>
              <a:t>関数終了</a:t>
            </a:r>
            <a:endParaRPr kumimoji="1" lang="en-US" altLang="ja-JP" sz="2400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3BC81E8-0732-43B2-BB98-D754160D6BCA}"/>
              </a:ext>
            </a:extLst>
          </p:cNvPr>
          <p:cNvSpPr/>
          <p:nvPr/>
        </p:nvSpPr>
        <p:spPr>
          <a:xfrm>
            <a:off x="4068483" y="4260784"/>
            <a:ext cx="1932100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E3BFC0F-47A1-4162-A992-C3007754A474}"/>
              </a:ext>
            </a:extLst>
          </p:cNvPr>
          <p:cNvSpPr/>
          <p:nvPr/>
        </p:nvSpPr>
        <p:spPr>
          <a:xfrm>
            <a:off x="4068479" y="4802649"/>
            <a:ext cx="1932100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93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7A3255F-D117-49FF-99E7-C41884559D3E}"/>
              </a:ext>
            </a:extLst>
          </p:cNvPr>
          <p:cNvSpPr/>
          <p:nvPr/>
        </p:nvSpPr>
        <p:spPr>
          <a:xfrm>
            <a:off x="6803242" y="4467429"/>
            <a:ext cx="4185761" cy="10020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9E7E466-F87D-4B0B-974B-3F792D97F4F4}"/>
              </a:ext>
            </a:extLst>
          </p:cNvPr>
          <p:cNvSpPr/>
          <p:nvPr/>
        </p:nvSpPr>
        <p:spPr>
          <a:xfrm>
            <a:off x="6803242" y="2913671"/>
            <a:ext cx="4059491" cy="13471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21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new</a:t>
            </a:r>
            <a:r>
              <a:rPr kumimoji="1" lang="ja-JP" altLang="en-US" sz="3200" b="1" u="sng" dirty="0"/>
              <a:t>演算子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907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new</a:t>
            </a:r>
            <a:r>
              <a:rPr kumimoji="1" lang="ja-JP" altLang="en-US" sz="2400" dirty="0"/>
              <a:t>で生成したオブジェクトは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指定したタイミングで開放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このように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好きなタイミングでメモリを確保、開放</a:t>
            </a:r>
            <a:r>
              <a:rPr kumimoji="1" lang="ja-JP" altLang="en-US" sz="2400" dirty="0"/>
              <a:t>することを、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動的メモリ操作</a:t>
            </a:r>
            <a:r>
              <a:rPr lang="ja-JP" altLang="en-US" sz="2400" dirty="0"/>
              <a:t>と言います。</a:t>
            </a:r>
            <a:endParaRPr kumimoji="1" lang="en-US" altLang="ja-JP" sz="2400" dirty="0"/>
          </a:p>
        </p:txBody>
      </p:sp>
      <p:sp>
        <p:nvSpPr>
          <p:cNvPr id="2" name="フローチャート: 磁気ディスク 1">
            <a:extLst>
              <a:ext uri="{FF2B5EF4-FFF2-40B4-BE49-F238E27FC236}">
                <a16:creationId xmlns:a16="http://schemas.microsoft.com/office/drawing/2014/main" id="{4413DB1B-D5E7-449B-B884-7D1315C55FC8}"/>
              </a:ext>
            </a:extLst>
          </p:cNvPr>
          <p:cNvSpPr/>
          <p:nvPr/>
        </p:nvSpPr>
        <p:spPr>
          <a:xfrm>
            <a:off x="567542" y="2988732"/>
            <a:ext cx="2396066" cy="3253039"/>
          </a:xfrm>
          <a:prstGeom prst="flowChartMagneticDisk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101267-ADAF-4F0E-9D52-BB9C2FCD9AE5}"/>
              </a:ext>
            </a:extLst>
          </p:cNvPr>
          <p:cNvSpPr txBox="1"/>
          <p:nvPr/>
        </p:nvSpPr>
        <p:spPr>
          <a:xfrm>
            <a:off x="660676" y="4260784"/>
            <a:ext cx="194476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OrangeBoxA</a:t>
            </a:r>
            <a:endParaRPr kumimoji="1"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225031-D584-4AFD-A1D4-79C09FA97BC1}"/>
              </a:ext>
            </a:extLst>
          </p:cNvPr>
          <p:cNvSpPr txBox="1"/>
          <p:nvPr/>
        </p:nvSpPr>
        <p:spPr>
          <a:xfrm>
            <a:off x="660676" y="4789612"/>
            <a:ext cx="19527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OrangeBoxB</a:t>
            </a:r>
            <a:endParaRPr kumimoji="1"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8E6B58-792B-4CBF-9EE9-88865A46D81F}"/>
              </a:ext>
            </a:extLst>
          </p:cNvPr>
          <p:cNvSpPr txBox="1"/>
          <p:nvPr/>
        </p:nvSpPr>
        <p:spPr>
          <a:xfrm>
            <a:off x="673339" y="2452006"/>
            <a:ext cx="2109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</a:t>
            </a:r>
            <a:r>
              <a:rPr kumimoji="1" lang="en-US" altLang="ja-JP" sz="2400" dirty="0"/>
              <a:t>ain</a:t>
            </a:r>
            <a:r>
              <a:rPr kumimoji="1" lang="ja-JP" altLang="en-US" sz="2400" dirty="0"/>
              <a:t>関数開始</a:t>
            </a:r>
            <a:endParaRPr kumimoji="1" lang="en-US" altLang="ja-JP" sz="2400" dirty="0"/>
          </a:p>
        </p:txBody>
      </p:sp>
      <p:sp>
        <p:nvSpPr>
          <p:cNvPr id="10" name="フローチャート: 磁気ディスク 9">
            <a:extLst>
              <a:ext uri="{FF2B5EF4-FFF2-40B4-BE49-F238E27FC236}">
                <a16:creationId xmlns:a16="http://schemas.microsoft.com/office/drawing/2014/main" id="{379E85B8-2B7B-4BD5-97D6-946BD24421D6}"/>
              </a:ext>
            </a:extLst>
          </p:cNvPr>
          <p:cNvSpPr/>
          <p:nvPr/>
        </p:nvSpPr>
        <p:spPr>
          <a:xfrm>
            <a:off x="3954209" y="2988732"/>
            <a:ext cx="2396066" cy="3253039"/>
          </a:xfrm>
          <a:prstGeom prst="flowChartMagneticDisk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C7C1EDC-15F3-458B-9DA5-6C912497A340}"/>
              </a:ext>
            </a:extLst>
          </p:cNvPr>
          <p:cNvSpPr txBox="1"/>
          <p:nvPr/>
        </p:nvSpPr>
        <p:spPr>
          <a:xfrm>
            <a:off x="4060006" y="2452006"/>
            <a:ext cx="2109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</a:t>
            </a:r>
            <a:r>
              <a:rPr kumimoji="1" lang="en-US" altLang="ja-JP" sz="2400" dirty="0"/>
              <a:t>ain</a:t>
            </a:r>
            <a:r>
              <a:rPr kumimoji="1" lang="ja-JP" altLang="en-US" sz="2400" dirty="0"/>
              <a:t>関数終了</a:t>
            </a:r>
            <a:endParaRPr kumimoji="1" lang="en-US" altLang="ja-JP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E1F537D-474C-4B6D-8285-CE885E4807E6}"/>
              </a:ext>
            </a:extLst>
          </p:cNvPr>
          <p:cNvSpPr txBox="1"/>
          <p:nvPr/>
        </p:nvSpPr>
        <p:spPr>
          <a:xfrm>
            <a:off x="4060006" y="4260783"/>
            <a:ext cx="194476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OrangeBoxA</a:t>
            </a:r>
            <a:endParaRPr kumimoji="1" lang="en-US" altLang="ja-JP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84F5C74-2075-4600-8F59-FF29D9C30D6F}"/>
              </a:ext>
            </a:extLst>
          </p:cNvPr>
          <p:cNvSpPr txBox="1"/>
          <p:nvPr/>
        </p:nvSpPr>
        <p:spPr>
          <a:xfrm>
            <a:off x="4060006" y="4832757"/>
            <a:ext cx="19527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OrangeBoxB</a:t>
            </a:r>
            <a:endParaRPr kumimoji="1" lang="en-US" altLang="ja-JP" sz="2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5F3311F-9AF5-4993-B0FD-CBCF4AD41A54}"/>
              </a:ext>
            </a:extLst>
          </p:cNvPr>
          <p:cNvSpPr txBox="1"/>
          <p:nvPr/>
        </p:nvSpPr>
        <p:spPr>
          <a:xfrm>
            <a:off x="6803242" y="3013501"/>
            <a:ext cx="42001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ja-JP" altLang="en-US" sz="2400" dirty="0"/>
              <a:t>した関数が終了しても、</a:t>
            </a:r>
            <a:endParaRPr lang="en-US" altLang="ja-JP" sz="2400" dirty="0"/>
          </a:p>
          <a:p>
            <a:r>
              <a:rPr kumimoji="1" lang="ja-JP" altLang="en-US" sz="2400" dirty="0"/>
              <a:t>メモリに残り続けます。</a:t>
            </a:r>
            <a:endParaRPr kumimoji="1" lang="en-US" altLang="ja-JP" sz="24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57FF7CF-7BC1-43F4-AC6B-EE4D546A3206}"/>
              </a:ext>
            </a:extLst>
          </p:cNvPr>
          <p:cNvSpPr txBox="1"/>
          <p:nvPr/>
        </p:nvSpPr>
        <p:spPr>
          <a:xfrm>
            <a:off x="6803242" y="4491615"/>
            <a:ext cx="4185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開放の仕方は後程学習します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4961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21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new</a:t>
            </a:r>
            <a:r>
              <a:rPr kumimoji="1" lang="ja-JP" altLang="en-US" sz="3200" b="1" u="sng" dirty="0"/>
              <a:t>演算子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new</a:t>
            </a:r>
            <a:r>
              <a:rPr kumimoji="1" lang="ja-JP" altLang="en-US" sz="2400" dirty="0"/>
              <a:t>の使い方は以下の通りです。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new</a:t>
            </a:r>
            <a:r>
              <a:rPr lang="ja-JP" altLang="en-US" sz="2400" b="1" dirty="0">
                <a:solidFill>
                  <a:srgbClr val="FF0000"/>
                </a:solidFill>
              </a:rPr>
              <a:t>の使い方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00B050"/>
                </a:solidFill>
              </a:rPr>
              <a:t>クラス名</a:t>
            </a:r>
            <a:r>
              <a:rPr kumimoji="1" lang="en-US" altLang="ja-JP" sz="2400" b="1" dirty="0"/>
              <a:t>*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 </a:t>
            </a:r>
            <a:r>
              <a:rPr lang="ja-JP" altLang="en-US" sz="2400" b="1" dirty="0"/>
              <a:t>変数名</a:t>
            </a:r>
            <a:r>
              <a:rPr lang="ja-JP" altLang="en-US" sz="2400" b="1" dirty="0">
                <a:solidFill>
                  <a:srgbClr val="00B050"/>
                </a:solidFill>
              </a:rPr>
              <a:t> </a:t>
            </a:r>
            <a:r>
              <a:rPr lang="en-US" altLang="ja-JP" sz="2400" b="1" dirty="0">
                <a:solidFill>
                  <a:srgbClr val="00B050"/>
                </a:solidFill>
              </a:rPr>
              <a:t>= 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new</a:t>
            </a:r>
            <a:r>
              <a:rPr kumimoji="1" lang="en-US" altLang="ja-JP" sz="2400" dirty="0"/>
              <a:t> 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クラス名</a:t>
            </a:r>
            <a:r>
              <a:rPr kumimoji="1" lang="en-US" altLang="ja-JP" sz="2400" dirty="0"/>
              <a:t>;</a:t>
            </a:r>
          </a:p>
          <a:p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0070C0"/>
                </a:solidFill>
              </a:rPr>
              <a:t>new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指定したクラスを生成</a:t>
            </a:r>
            <a:r>
              <a:rPr kumimoji="1" lang="ja-JP" altLang="en-US" sz="2400" dirty="0"/>
              <a:t>し、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確保したメモリを示すポインタを返却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FF0000"/>
                </a:solidFill>
              </a:rPr>
              <a:t>受け取ったポインタ変数でメンバにアクセス</a:t>
            </a:r>
            <a:r>
              <a:rPr lang="ja-JP" altLang="en-US" sz="2400" dirty="0"/>
              <a:t>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4887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21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new</a:t>
            </a:r>
            <a:r>
              <a:rPr kumimoji="1" lang="ja-JP" altLang="en-US" sz="3200" b="1" u="sng" dirty="0"/>
              <a:t>演算子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033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を書き換えます。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4E714DC-2500-4E7D-8AE0-EDC500A08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07852" cy="3643206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0795B50-2482-407F-B085-6D1C220B196E}"/>
              </a:ext>
            </a:extLst>
          </p:cNvPr>
          <p:cNvSpPr/>
          <p:nvPr/>
        </p:nvSpPr>
        <p:spPr>
          <a:xfrm>
            <a:off x="2353733" y="3183467"/>
            <a:ext cx="5486400" cy="1193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616151-FDE4-46D9-A82F-703EEAB9CBD9}"/>
              </a:ext>
            </a:extLst>
          </p:cNvPr>
          <p:cNvSpPr txBox="1"/>
          <p:nvPr/>
        </p:nvSpPr>
        <p:spPr>
          <a:xfrm>
            <a:off x="567542" y="5600700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参照がすべてアロー演算子になるので置き換えましょう。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48303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21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new</a:t>
            </a:r>
            <a:r>
              <a:rPr kumimoji="1" lang="ja-JP" altLang="en-US" sz="3200" b="1" u="sng" dirty="0"/>
              <a:t>演算子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実行すると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デストラクタが呼ばれなくなった</a:t>
            </a:r>
            <a:r>
              <a:rPr kumimoji="1" lang="ja-JP" altLang="en-US" sz="2400" dirty="0"/>
              <a:t>ことがわかります。</a:t>
            </a:r>
            <a:endParaRPr kumimoji="1"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ja-JP" altLang="en-US" sz="2400" dirty="0"/>
              <a:t>で生成したオブジェクトは、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開放処理をしない限り残り続けます。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225925E-0A6E-4534-83E2-3A9BD51B4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789588" cy="145674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E750954-D1DE-4742-A2DD-77F58A800039}"/>
              </a:ext>
            </a:extLst>
          </p:cNvPr>
          <p:cNvSpPr txBox="1"/>
          <p:nvPr/>
        </p:nvSpPr>
        <p:spPr>
          <a:xfrm>
            <a:off x="567542" y="4152900"/>
            <a:ext cx="115723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開放処理をしないとアプリ（ゲーム）が終了するまでメモリに残り続けます。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本来開放すべきメモリの開放が漏れて残り続ける</a:t>
            </a:r>
            <a:r>
              <a:rPr lang="ja-JP" altLang="en-US" sz="2400" dirty="0"/>
              <a:t>ことを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メモリリークは</a:t>
            </a:r>
            <a:r>
              <a:rPr lang="ja-JP" altLang="en-US" sz="2400" b="1" dirty="0">
                <a:solidFill>
                  <a:srgbClr val="FF0000"/>
                </a:solidFill>
              </a:rPr>
              <a:t>様々なバグの原因</a:t>
            </a:r>
            <a:r>
              <a:rPr lang="ja-JP" altLang="en-US" sz="2400" dirty="0"/>
              <a:t>となるので、絶対に防ぎたいものになります。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66249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336</Words>
  <Application>Microsoft Office PowerPoint</Application>
  <PresentationFormat>ワイド画面</PresentationFormat>
  <Paragraphs>53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29</cp:revision>
  <dcterms:created xsi:type="dcterms:W3CDTF">2024-08-27T02:15:54Z</dcterms:created>
  <dcterms:modified xsi:type="dcterms:W3CDTF">2025-02-07T07:55:20Z</dcterms:modified>
</cp:coreProperties>
</file>