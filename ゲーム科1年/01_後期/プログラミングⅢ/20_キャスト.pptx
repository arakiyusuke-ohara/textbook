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2308324"/>
          </a:xfrm>
          <a:prstGeom prst="rect">
            <a:avLst/>
          </a:prstGeom>
          <a:noFill/>
        </p:spPr>
        <p:txBody>
          <a:bodyPr wrap="none" rtlCol="0">
            <a:spAutoFit/>
          </a:bodyPr>
          <a:lstStyle/>
          <a:p>
            <a:r>
              <a:rPr lang="en-US" altLang="ja-JP" sz="2400" dirty="0"/>
              <a:t>C++</a:t>
            </a:r>
            <a:r>
              <a:rPr lang="ja-JP" altLang="en-US" sz="2400" dirty="0"/>
              <a:t>の型のキャストにはいくつか種類があります。</a:t>
            </a:r>
            <a:endParaRPr lang="en-US" altLang="ja-JP" sz="2400" dirty="0"/>
          </a:p>
          <a:p>
            <a:r>
              <a:rPr lang="ja-JP" altLang="en-US" sz="2400" dirty="0"/>
              <a:t>簡単な例で練習します。</a:t>
            </a:r>
            <a:endParaRPr lang="en-US" altLang="ja-JP" sz="2400" dirty="0"/>
          </a:p>
          <a:p>
            <a:endParaRPr lang="en-US" altLang="ja-JP" sz="2400" dirty="0"/>
          </a:p>
          <a:p>
            <a:r>
              <a:rPr lang="ja-JP" altLang="en-US" sz="2400" b="1" dirty="0">
                <a:solidFill>
                  <a:srgbClr val="FF0000"/>
                </a:solidFill>
              </a:rPr>
              <a:t>■これまでのキャスト</a:t>
            </a:r>
            <a:endParaRPr lang="en-US" altLang="ja-JP" sz="2400" b="1" dirty="0">
              <a:solidFill>
                <a:srgbClr val="FF0000"/>
              </a:solidFill>
            </a:endParaRPr>
          </a:p>
          <a:p>
            <a:r>
              <a:rPr lang="en-US" altLang="ja-JP" sz="2400" dirty="0" err="1"/>
              <a:t>DrawGraph</a:t>
            </a:r>
            <a:r>
              <a:rPr lang="en-US" altLang="ja-JP" sz="2400" dirty="0"/>
              <a:t>(</a:t>
            </a:r>
            <a:r>
              <a:rPr lang="en-US" altLang="ja-JP" sz="2400" b="1" dirty="0">
                <a:solidFill>
                  <a:srgbClr val="FF0000"/>
                </a:solidFill>
              </a:rPr>
              <a:t>(int)</a:t>
            </a:r>
            <a:r>
              <a:rPr lang="en-US" altLang="ja-JP" sz="2400" b="1" dirty="0" err="1">
                <a:solidFill>
                  <a:srgbClr val="FF0000"/>
                </a:solidFill>
              </a:rPr>
              <a:t>posX</a:t>
            </a:r>
            <a:r>
              <a:rPr lang="en-US" altLang="ja-JP" sz="2400" b="1" dirty="0"/>
              <a:t>, </a:t>
            </a:r>
            <a:r>
              <a:rPr lang="ja-JP" altLang="en-US" sz="2400" b="1" dirty="0"/>
              <a:t>・・・</a:t>
            </a:r>
            <a:r>
              <a:rPr lang="en-US" altLang="ja-JP" sz="2400" dirty="0"/>
              <a:t>)</a:t>
            </a:r>
          </a:p>
          <a:p>
            <a:r>
              <a:rPr lang="ja-JP" altLang="en-US" sz="2400" dirty="0"/>
              <a:t>これまでは変数名の前にかっこ書きで型キャストしてました。</a:t>
            </a:r>
            <a:endParaRPr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56806"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を書きます。（その１）</a:t>
            </a:r>
            <a:endParaRPr lang="en-US" altLang="ja-JP" sz="2400" dirty="0"/>
          </a:p>
        </p:txBody>
      </p:sp>
      <p:pic>
        <p:nvPicPr>
          <p:cNvPr id="9" name="図 8">
            <a:extLst>
              <a:ext uri="{FF2B5EF4-FFF2-40B4-BE49-F238E27FC236}">
                <a16:creationId xmlns:a16="http://schemas.microsoft.com/office/drawing/2014/main" id="{295F1FE8-A79D-4D04-B5B1-6EC1965E525F}"/>
              </a:ext>
            </a:extLst>
          </p:cNvPr>
          <p:cNvPicPr>
            <a:picLocks noChangeAspect="1"/>
          </p:cNvPicPr>
          <p:nvPr/>
        </p:nvPicPr>
        <p:blipFill>
          <a:blip r:embed="rId2"/>
          <a:stretch>
            <a:fillRect/>
          </a:stretch>
        </p:blipFill>
        <p:spPr>
          <a:xfrm>
            <a:off x="567541" y="1817794"/>
            <a:ext cx="4581203" cy="3823777"/>
          </a:xfrm>
          <a:prstGeom prst="rect">
            <a:avLst/>
          </a:prstGeom>
        </p:spPr>
      </p:pic>
    </p:spTree>
    <p:extLst>
      <p:ext uri="{BB962C8B-B14F-4D97-AF65-F5344CB8AC3E}">
        <p14:creationId xmlns:p14="http://schemas.microsoft.com/office/powerpoint/2010/main" val="177426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56806"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を書きます。（その２）</a:t>
            </a:r>
            <a:endParaRPr lang="en-US" altLang="ja-JP" sz="2400" dirty="0"/>
          </a:p>
        </p:txBody>
      </p:sp>
      <p:pic>
        <p:nvPicPr>
          <p:cNvPr id="3" name="図 2">
            <a:extLst>
              <a:ext uri="{FF2B5EF4-FFF2-40B4-BE49-F238E27FC236}">
                <a16:creationId xmlns:a16="http://schemas.microsoft.com/office/drawing/2014/main" id="{312E7D28-1DF9-47D6-A119-C3A5307B92B1}"/>
              </a:ext>
            </a:extLst>
          </p:cNvPr>
          <p:cNvPicPr>
            <a:picLocks noChangeAspect="1"/>
          </p:cNvPicPr>
          <p:nvPr/>
        </p:nvPicPr>
        <p:blipFill>
          <a:blip r:embed="rId2"/>
          <a:stretch>
            <a:fillRect/>
          </a:stretch>
        </p:blipFill>
        <p:spPr>
          <a:xfrm>
            <a:off x="567542" y="1817793"/>
            <a:ext cx="9177077" cy="4362873"/>
          </a:xfrm>
          <a:prstGeom prst="rect">
            <a:avLst/>
          </a:prstGeom>
        </p:spPr>
      </p:pic>
    </p:spTree>
    <p:extLst>
      <p:ext uri="{BB962C8B-B14F-4D97-AF65-F5344CB8AC3E}">
        <p14:creationId xmlns:p14="http://schemas.microsoft.com/office/powerpoint/2010/main" val="395175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56806"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を書きます。（その３）</a:t>
            </a:r>
            <a:endParaRPr lang="en-US" altLang="ja-JP" sz="2400" dirty="0"/>
          </a:p>
        </p:txBody>
      </p:sp>
      <p:pic>
        <p:nvPicPr>
          <p:cNvPr id="5" name="図 4">
            <a:extLst>
              <a:ext uri="{FF2B5EF4-FFF2-40B4-BE49-F238E27FC236}">
                <a16:creationId xmlns:a16="http://schemas.microsoft.com/office/drawing/2014/main" id="{60930457-B7EE-4855-BFE0-A5C569EE1FD8}"/>
              </a:ext>
            </a:extLst>
          </p:cNvPr>
          <p:cNvPicPr>
            <a:picLocks noChangeAspect="1"/>
          </p:cNvPicPr>
          <p:nvPr/>
        </p:nvPicPr>
        <p:blipFill>
          <a:blip r:embed="rId2"/>
          <a:stretch>
            <a:fillRect/>
          </a:stretch>
        </p:blipFill>
        <p:spPr>
          <a:xfrm>
            <a:off x="567542" y="1817793"/>
            <a:ext cx="6483770" cy="4185073"/>
          </a:xfrm>
          <a:prstGeom prst="rect">
            <a:avLst/>
          </a:prstGeom>
        </p:spPr>
      </p:pic>
    </p:spTree>
    <p:extLst>
      <p:ext uri="{BB962C8B-B14F-4D97-AF65-F5344CB8AC3E}">
        <p14:creationId xmlns:p14="http://schemas.microsoft.com/office/powerpoint/2010/main" val="1177840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036996" cy="830997"/>
          </a:xfrm>
          <a:prstGeom prst="rect">
            <a:avLst/>
          </a:prstGeom>
          <a:noFill/>
        </p:spPr>
        <p:txBody>
          <a:bodyPr wrap="none" rtlCol="0">
            <a:spAutoFit/>
          </a:bodyPr>
          <a:lstStyle/>
          <a:p>
            <a:r>
              <a:rPr lang="en-US" altLang="ja-JP" sz="2400" b="1" dirty="0" err="1">
                <a:solidFill>
                  <a:srgbClr val="0070C0"/>
                </a:solidFill>
              </a:rPr>
              <a:t>static_cast</a:t>
            </a:r>
            <a:r>
              <a:rPr lang="ja-JP" altLang="en-US" sz="2400" dirty="0"/>
              <a:t>は</a:t>
            </a:r>
            <a:r>
              <a:rPr lang="ja-JP" altLang="en-US" sz="2400" b="1" dirty="0">
                <a:solidFill>
                  <a:srgbClr val="FF0000"/>
                </a:solidFill>
              </a:rPr>
              <a:t>キャストしますよ！！</a:t>
            </a:r>
            <a:r>
              <a:rPr lang="ja-JP" altLang="en-US" sz="2400" dirty="0"/>
              <a:t>と</a:t>
            </a:r>
            <a:r>
              <a:rPr lang="ja-JP" altLang="en-US" sz="2400" b="1" dirty="0">
                <a:solidFill>
                  <a:srgbClr val="FF0000"/>
                </a:solidFill>
              </a:rPr>
              <a:t>明示的にキャスト</a:t>
            </a:r>
            <a:r>
              <a:rPr lang="ja-JP" altLang="en-US" sz="2400" dirty="0"/>
              <a:t>するときに使います。</a:t>
            </a:r>
            <a:endParaRPr lang="en-US" altLang="ja-JP" sz="2400" dirty="0"/>
          </a:p>
          <a:p>
            <a:r>
              <a:rPr lang="ja-JP" altLang="en-US" sz="2400" dirty="0"/>
              <a:t>機能としてはこれまでのキャストと同じです。</a:t>
            </a:r>
            <a:endParaRPr lang="en-US" altLang="ja-JP" sz="2400" dirty="0"/>
          </a:p>
        </p:txBody>
      </p:sp>
      <p:pic>
        <p:nvPicPr>
          <p:cNvPr id="3" name="図 2">
            <a:extLst>
              <a:ext uri="{FF2B5EF4-FFF2-40B4-BE49-F238E27FC236}">
                <a16:creationId xmlns:a16="http://schemas.microsoft.com/office/drawing/2014/main" id="{00DA716D-CE2C-449A-B16E-F2652682559E}"/>
              </a:ext>
            </a:extLst>
          </p:cNvPr>
          <p:cNvPicPr>
            <a:picLocks noChangeAspect="1"/>
          </p:cNvPicPr>
          <p:nvPr/>
        </p:nvPicPr>
        <p:blipFill>
          <a:blip r:embed="rId2"/>
          <a:stretch>
            <a:fillRect/>
          </a:stretch>
        </p:blipFill>
        <p:spPr>
          <a:xfrm>
            <a:off x="567542" y="2187125"/>
            <a:ext cx="7274601" cy="1656741"/>
          </a:xfrm>
          <a:prstGeom prst="rect">
            <a:avLst/>
          </a:prstGeom>
        </p:spPr>
      </p:pic>
      <p:sp>
        <p:nvSpPr>
          <p:cNvPr id="7" name="テキスト ボックス 6">
            <a:extLst>
              <a:ext uri="{FF2B5EF4-FFF2-40B4-BE49-F238E27FC236}">
                <a16:creationId xmlns:a16="http://schemas.microsoft.com/office/drawing/2014/main" id="{9EBF085D-B792-41DC-AF86-683BA1194969}"/>
              </a:ext>
            </a:extLst>
          </p:cNvPr>
          <p:cNvSpPr txBox="1"/>
          <p:nvPr/>
        </p:nvSpPr>
        <p:spPr>
          <a:xfrm>
            <a:off x="567542" y="3983565"/>
            <a:ext cx="7571303" cy="830997"/>
          </a:xfrm>
          <a:prstGeom prst="rect">
            <a:avLst/>
          </a:prstGeom>
          <a:noFill/>
        </p:spPr>
        <p:txBody>
          <a:bodyPr wrap="none" rtlCol="0">
            <a:spAutoFit/>
          </a:bodyPr>
          <a:lstStyle/>
          <a:p>
            <a:r>
              <a:rPr lang="ja-JP" altLang="en-US" sz="2400" dirty="0"/>
              <a:t>今回のように派生クラスの関数が呼びたくなった時に</a:t>
            </a:r>
            <a:endParaRPr lang="en-US" altLang="ja-JP" sz="2400" dirty="0"/>
          </a:p>
          <a:p>
            <a:r>
              <a:rPr lang="ja-JP" altLang="en-US" sz="2400" dirty="0"/>
              <a:t>使うこともあります。</a:t>
            </a:r>
            <a:endParaRPr lang="en-US" altLang="ja-JP" sz="2400" dirty="0"/>
          </a:p>
        </p:txBody>
      </p:sp>
    </p:spTree>
    <p:extLst>
      <p:ext uri="{BB962C8B-B14F-4D97-AF65-F5344CB8AC3E}">
        <p14:creationId xmlns:p14="http://schemas.microsoft.com/office/powerpoint/2010/main" val="4146261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95415" cy="461665"/>
          </a:xfrm>
          <a:prstGeom prst="rect">
            <a:avLst/>
          </a:prstGeom>
          <a:noFill/>
        </p:spPr>
        <p:txBody>
          <a:bodyPr wrap="none" rtlCol="0">
            <a:spAutoFit/>
          </a:bodyPr>
          <a:lstStyle/>
          <a:p>
            <a:r>
              <a:rPr lang="ja-JP" altLang="en-US" sz="2400" dirty="0"/>
              <a:t>続いて、新しく</a:t>
            </a:r>
            <a:r>
              <a:rPr lang="en-US" altLang="ja-JP" sz="2400" b="1" dirty="0">
                <a:solidFill>
                  <a:srgbClr val="0070C0"/>
                </a:solidFill>
              </a:rPr>
              <a:t>main</a:t>
            </a:r>
            <a:r>
              <a:rPr lang="ja-JP" altLang="en-US" sz="2400" b="1" dirty="0">
                <a:solidFill>
                  <a:srgbClr val="0070C0"/>
                </a:solidFill>
              </a:rPr>
              <a:t>関数</a:t>
            </a:r>
            <a:r>
              <a:rPr lang="ja-JP" altLang="en-US" sz="2400" dirty="0"/>
              <a:t>を書きます。</a:t>
            </a:r>
            <a:endParaRPr lang="en-US" altLang="ja-JP" sz="2400" dirty="0"/>
          </a:p>
        </p:txBody>
      </p:sp>
      <p:pic>
        <p:nvPicPr>
          <p:cNvPr id="5" name="図 4">
            <a:extLst>
              <a:ext uri="{FF2B5EF4-FFF2-40B4-BE49-F238E27FC236}">
                <a16:creationId xmlns:a16="http://schemas.microsoft.com/office/drawing/2014/main" id="{4D995C14-2272-4B32-8C24-A37F170E3683}"/>
              </a:ext>
            </a:extLst>
          </p:cNvPr>
          <p:cNvPicPr>
            <a:picLocks noChangeAspect="1"/>
          </p:cNvPicPr>
          <p:nvPr/>
        </p:nvPicPr>
        <p:blipFill>
          <a:blip r:embed="rId2"/>
          <a:stretch>
            <a:fillRect/>
          </a:stretch>
        </p:blipFill>
        <p:spPr>
          <a:xfrm>
            <a:off x="567542" y="1817794"/>
            <a:ext cx="7755191" cy="4477135"/>
          </a:xfrm>
          <a:prstGeom prst="rect">
            <a:avLst/>
          </a:prstGeom>
        </p:spPr>
      </p:pic>
    </p:spTree>
    <p:extLst>
      <p:ext uri="{BB962C8B-B14F-4D97-AF65-F5344CB8AC3E}">
        <p14:creationId xmlns:p14="http://schemas.microsoft.com/office/powerpoint/2010/main" val="3683732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030584" cy="3046988"/>
          </a:xfrm>
          <a:prstGeom prst="rect">
            <a:avLst/>
          </a:prstGeom>
          <a:noFill/>
        </p:spPr>
        <p:txBody>
          <a:bodyPr wrap="none" rtlCol="0">
            <a:spAutoFit/>
          </a:bodyPr>
          <a:lstStyle/>
          <a:p>
            <a:r>
              <a:rPr lang="en-US" altLang="ja-JP" sz="2400" b="1" dirty="0" err="1">
                <a:solidFill>
                  <a:srgbClr val="0070C0"/>
                </a:solidFill>
              </a:rPr>
              <a:t>dynamic_cast</a:t>
            </a:r>
            <a:r>
              <a:rPr lang="ja-JP" altLang="en-US" sz="2400" dirty="0"/>
              <a:t>は</a:t>
            </a:r>
            <a:r>
              <a:rPr lang="ja-JP" altLang="en-US" sz="2400" b="1" dirty="0">
                <a:solidFill>
                  <a:srgbClr val="FF0000"/>
                </a:solidFill>
              </a:rPr>
              <a:t>ダウンキャストに対してチェックする機能</a:t>
            </a:r>
            <a:r>
              <a:rPr lang="ja-JP" altLang="en-US" sz="2400" dirty="0"/>
              <a:t>があります。</a:t>
            </a:r>
            <a:endParaRPr lang="en-US" altLang="ja-JP" sz="2400" dirty="0"/>
          </a:p>
          <a:p>
            <a:r>
              <a:rPr lang="ja-JP" altLang="en-US" sz="2400" dirty="0"/>
              <a:t>今回のように、</a:t>
            </a:r>
            <a:r>
              <a:rPr lang="ja-JP" altLang="en-US" sz="2400" b="1" dirty="0">
                <a:solidFill>
                  <a:srgbClr val="FF0000"/>
                </a:solidFill>
              </a:rPr>
              <a:t>参照しているものとは別のクラスにキャスト</a:t>
            </a:r>
            <a:r>
              <a:rPr lang="ja-JP" altLang="en-US" sz="2400" dirty="0"/>
              <a:t>しようとすると、</a:t>
            </a:r>
            <a:endParaRPr lang="en-US" altLang="ja-JP" sz="2400" dirty="0"/>
          </a:p>
          <a:p>
            <a:r>
              <a:rPr lang="ja-JP" altLang="en-US" sz="2400" b="1" dirty="0">
                <a:solidFill>
                  <a:srgbClr val="FF0000"/>
                </a:solidFill>
              </a:rPr>
              <a:t>不正なキャスト</a:t>
            </a:r>
            <a:r>
              <a:rPr lang="ja-JP" altLang="en-US" sz="2400" dirty="0"/>
              <a:t>として</a:t>
            </a:r>
            <a:r>
              <a:rPr lang="en-US" altLang="ja-JP" sz="2400" b="1" dirty="0" err="1">
                <a:solidFill>
                  <a:srgbClr val="0070C0"/>
                </a:solidFill>
              </a:rPr>
              <a:t>nullptr</a:t>
            </a:r>
            <a:r>
              <a:rPr lang="ja-JP" altLang="en-US" sz="2400" b="1" dirty="0">
                <a:solidFill>
                  <a:srgbClr val="FF0000"/>
                </a:solidFill>
              </a:rPr>
              <a:t>を返却</a:t>
            </a:r>
            <a:r>
              <a:rPr lang="ja-JP" altLang="en-US" sz="2400" dirty="0"/>
              <a:t>します。</a:t>
            </a:r>
            <a:endParaRPr lang="en-US" altLang="ja-JP" sz="2400" dirty="0"/>
          </a:p>
          <a:p>
            <a:endParaRPr lang="en-US" altLang="ja-JP" sz="2400" dirty="0"/>
          </a:p>
          <a:p>
            <a:r>
              <a:rPr lang="ja-JP" altLang="en-US" sz="2400" b="1" dirty="0">
                <a:solidFill>
                  <a:srgbClr val="00B050"/>
                </a:solidFill>
              </a:rPr>
              <a:t>■用語集</a:t>
            </a:r>
            <a:endParaRPr lang="en-US" altLang="ja-JP" sz="2400" b="1" dirty="0">
              <a:solidFill>
                <a:srgbClr val="00B050"/>
              </a:solidFill>
            </a:endParaRPr>
          </a:p>
          <a:p>
            <a:r>
              <a:rPr lang="ja-JP" altLang="en-US" sz="2400" b="1" dirty="0">
                <a:solidFill>
                  <a:srgbClr val="FF0000"/>
                </a:solidFill>
              </a:rPr>
              <a:t>ダウンキャスト</a:t>
            </a:r>
            <a:r>
              <a:rPr lang="en-US" altLang="ja-JP" sz="2400" dirty="0"/>
              <a:t>	</a:t>
            </a:r>
            <a:r>
              <a:rPr lang="ja-JP" altLang="en-US" sz="2400" dirty="0"/>
              <a:t>：基底クラスから派生クラスにキャストすること</a:t>
            </a:r>
            <a:endParaRPr lang="en-US" altLang="ja-JP" sz="2400" dirty="0"/>
          </a:p>
          <a:p>
            <a:r>
              <a:rPr lang="ja-JP" altLang="en-US" sz="2400" b="1" dirty="0">
                <a:solidFill>
                  <a:srgbClr val="FF0000"/>
                </a:solidFill>
              </a:rPr>
              <a:t>アップキャスト</a:t>
            </a:r>
            <a:r>
              <a:rPr lang="en-US" altLang="ja-JP" sz="2400" dirty="0"/>
              <a:t>	</a:t>
            </a:r>
            <a:r>
              <a:rPr lang="ja-JP" altLang="en-US" sz="2400" dirty="0"/>
              <a:t>：派生クラスから基底クラスにキャストすること</a:t>
            </a:r>
            <a:endParaRPr lang="en-US" altLang="ja-JP" sz="2400" dirty="0"/>
          </a:p>
          <a:p>
            <a:r>
              <a:rPr lang="en-US" altLang="ja-JP" sz="2400" b="1" dirty="0" err="1">
                <a:solidFill>
                  <a:srgbClr val="FF0000"/>
                </a:solidFill>
              </a:rPr>
              <a:t>nullptr</a:t>
            </a:r>
            <a:r>
              <a:rPr lang="en-US" altLang="ja-JP" sz="2400" b="1" dirty="0"/>
              <a:t>	</a:t>
            </a:r>
            <a:r>
              <a:rPr lang="en-US" altLang="ja-JP" sz="2400" dirty="0"/>
              <a:t>	</a:t>
            </a:r>
            <a:r>
              <a:rPr lang="ja-JP" altLang="en-US" sz="2400" dirty="0"/>
              <a:t>：</a:t>
            </a:r>
            <a:r>
              <a:rPr lang="en-US" altLang="ja-JP" sz="2400" dirty="0"/>
              <a:t>null</a:t>
            </a:r>
            <a:r>
              <a:rPr lang="ja-JP" altLang="en-US" sz="2400" dirty="0"/>
              <a:t>ポインタとして使うことができる。</a:t>
            </a:r>
            <a:r>
              <a:rPr lang="en-US" altLang="ja-JP" sz="2400" dirty="0"/>
              <a:t>0</a:t>
            </a:r>
            <a:r>
              <a:rPr lang="ja-JP" altLang="en-US" sz="2400" dirty="0"/>
              <a:t>のようなもの。</a:t>
            </a:r>
            <a:endParaRPr lang="en-US" altLang="ja-JP" sz="2400" dirty="0"/>
          </a:p>
        </p:txBody>
      </p:sp>
    </p:spTree>
    <p:extLst>
      <p:ext uri="{BB962C8B-B14F-4D97-AF65-F5344CB8AC3E}">
        <p14:creationId xmlns:p14="http://schemas.microsoft.com/office/powerpoint/2010/main" val="3254520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2308324"/>
          </a:xfrm>
          <a:prstGeom prst="rect">
            <a:avLst/>
          </a:prstGeom>
          <a:noFill/>
        </p:spPr>
        <p:txBody>
          <a:bodyPr wrap="none" rtlCol="0">
            <a:spAutoFit/>
          </a:bodyPr>
          <a:lstStyle/>
          <a:p>
            <a:r>
              <a:rPr lang="en-US" altLang="ja-JP" sz="2400" b="1" dirty="0" err="1">
                <a:solidFill>
                  <a:srgbClr val="0070C0"/>
                </a:solidFill>
              </a:rPr>
              <a:t>dynamic_cast</a:t>
            </a:r>
            <a:r>
              <a:rPr lang="ja-JP" altLang="en-US" sz="2400" dirty="0"/>
              <a:t>はチェック機能もあるので便利に見えますが、</a:t>
            </a:r>
            <a:endParaRPr lang="en-US" altLang="ja-JP" sz="2400" dirty="0"/>
          </a:p>
          <a:p>
            <a:r>
              <a:rPr lang="ja-JP" altLang="en-US" sz="2400" dirty="0"/>
              <a:t>そもそも、生成した時とは別のクラスにキャストすること自体が、</a:t>
            </a:r>
            <a:endParaRPr lang="en-US" altLang="ja-JP" sz="2400" dirty="0"/>
          </a:p>
          <a:p>
            <a:r>
              <a:rPr lang="ja-JP" altLang="en-US" sz="2400" b="1" dirty="0">
                <a:solidFill>
                  <a:srgbClr val="FF0000"/>
                </a:solidFill>
              </a:rPr>
              <a:t>プログラムの書き間違えや設計ミスの可能性が高い</a:t>
            </a:r>
            <a:r>
              <a:rPr lang="ja-JP" altLang="en-US" sz="2400" dirty="0"/>
              <a:t>です。</a:t>
            </a:r>
            <a:endParaRPr lang="en-US" altLang="ja-JP" sz="2400" dirty="0"/>
          </a:p>
          <a:p>
            <a:endParaRPr lang="en-US" altLang="ja-JP" sz="2400" dirty="0"/>
          </a:p>
          <a:p>
            <a:r>
              <a:rPr lang="ja-JP" altLang="en-US" sz="2400" dirty="0"/>
              <a:t>意図的に使うことはあまりないと思いますので、</a:t>
            </a:r>
            <a:endParaRPr lang="en-US" altLang="ja-JP" sz="2400" dirty="0"/>
          </a:p>
          <a:p>
            <a:r>
              <a:rPr lang="ja-JP" altLang="en-US" sz="2400" dirty="0"/>
              <a:t>使う前に、これまでの実装を見直しましょう。</a:t>
            </a:r>
            <a:endParaRPr lang="en-US" altLang="ja-JP" sz="2400" dirty="0"/>
          </a:p>
        </p:txBody>
      </p:sp>
    </p:spTree>
    <p:extLst>
      <p:ext uri="{BB962C8B-B14F-4D97-AF65-F5344CB8AC3E}">
        <p14:creationId xmlns:p14="http://schemas.microsoft.com/office/powerpoint/2010/main" val="4040598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205271" cy="461665"/>
          </a:xfrm>
          <a:prstGeom prst="rect">
            <a:avLst/>
          </a:prstGeom>
          <a:noFill/>
        </p:spPr>
        <p:txBody>
          <a:bodyPr wrap="none" rtlCol="0">
            <a:spAutoFit/>
          </a:bodyPr>
          <a:lstStyle/>
          <a:p>
            <a:r>
              <a:rPr lang="ja-JP" altLang="en-US" sz="2400" dirty="0"/>
              <a:t>続いて</a:t>
            </a:r>
            <a:r>
              <a:rPr lang="en-US" altLang="ja-JP" sz="2400" b="1" dirty="0">
                <a:solidFill>
                  <a:srgbClr val="0070C0"/>
                </a:solidFill>
              </a:rPr>
              <a:t>main</a:t>
            </a:r>
            <a:r>
              <a:rPr lang="ja-JP" altLang="en-US" sz="2400" b="1" dirty="0">
                <a:solidFill>
                  <a:srgbClr val="0070C0"/>
                </a:solidFill>
              </a:rPr>
              <a:t>関数</a:t>
            </a:r>
            <a:r>
              <a:rPr lang="ja-JP" altLang="en-US" sz="2400" dirty="0"/>
              <a:t>を新しく書きます。</a:t>
            </a:r>
            <a:endParaRPr lang="en-US" altLang="ja-JP" sz="2400" dirty="0"/>
          </a:p>
        </p:txBody>
      </p:sp>
      <p:pic>
        <p:nvPicPr>
          <p:cNvPr id="3" name="図 2">
            <a:extLst>
              <a:ext uri="{FF2B5EF4-FFF2-40B4-BE49-F238E27FC236}">
                <a16:creationId xmlns:a16="http://schemas.microsoft.com/office/drawing/2014/main" id="{45094816-E538-49BC-B188-01941A4C5650}"/>
              </a:ext>
            </a:extLst>
          </p:cNvPr>
          <p:cNvPicPr>
            <a:picLocks noChangeAspect="1"/>
          </p:cNvPicPr>
          <p:nvPr/>
        </p:nvPicPr>
        <p:blipFill>
          <a:blip r:embed="rId2"/>
          <a:stretch>
            <a:fillRect/>
          </a:stretch>
        </p:blipFill>
        <p:spPr>
          <a:xfrm>
            <a:off x="567542" y="1817794"/>
            <a:ext cx="6697010" cy="3467584"/>
          </a:xfrm>
          <a:prstGeom prst="rect">
            <a:avLst/>
          </a:prstGeom>
        </p:spPr>
      </p:pic>
    </p:spTree>
    <p:extLst>
      <p:ext uri="{BB962C8B-B14F-4D97-AF65-F5344CB8AC3E}">
        <p14:creationId xmlns:p14="http://schemas.microsoft.com/office/powerpoint/2010/main" val="259512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1569660"/>
          </a:xfrm>
          <a:prstGeom prst="rect">
            <a:avLst/>
          </a:prstGeom>
          <a:noFill/>
        </p:spPr>
        <p:txBody>
          <a:bodyPr wrap="none" rtlCol="0">
            <a:spAutoFit/>
          </a:bodyPr>
          <a:lstStyle/>
          <a:p>
            <a:r>
              <a:rPr lang="en-US" altLang="ja-JP" sz="2400" b="1" dirty="0" err="1">
                <a:solidFill>
                  <a:srgbClr val="0070C0"/>
                </a:solidFill>
              </a:rPr>
              <a:t>const_cast</a:t>
            </a:r>
            <a:r>
              <a:rPr lang="ja-JP" altLang="en-US" sz="2400" dirty="0"/>
              <a:t>は</a:t>
            </a:r>
            <a:r>
              <a:rPr lang="en-US" altLang="ja-JP" sz="2400" b="1" dirty="0">
                <a:solidFill>
                  <a:srgbClr val="0070C0"/>
                </a:solidFill>
              </a:rPr>
              <a:t>const</a:t>
            </a:r>
            <a:r>
              <a:rPr lang="ja-JP" altLang="en-US" sz="2400" dirty="0"/>
              <a:t>がついた</a:t>
            </a:r>
            <a:r>
              <a:rPr lang="ja-JP" altLang="en-US" sz="2400" b="1" dirty="0">
                <a:solidFill>
                  <a:srgbClr val="FF0000"/>
                </a:solidFill>
              </a:rPr>
              <a:t>定数</a:t>
            </a:r>
            <a:r>
              <a:rPr lang="ja-JP" altLang="en-US" sz="2400" dirty="0"/>
              <a:t>のアドレスを</a:t>
            </a:r>
            <a:endParaRPr lang="en-US" altLang="ja-JP" sz="2400" dirty="0"/>
          </a:p>
          <a:p>
            <a:r>
              <a:rPr lang="ja-JP" altLang="en-US" sz="2400" b="1" dirty="0">
                <a:solidFill>
                  <a:srgbClr val="FF0000"/>
                </a:solidFill>
              </a:rPr>
              <a:t>変数ポインタにキャスト</a:t>
            </a:r>
            <a:r>
              <a:rPr lang="ja-JP" altLang="en-US" sz="2400" dirty="0"/>
              <a:t>することができます。</a:t>
            </a:r>
            <a:endParaRPr lang="en-US" altLang="ja-JP" sz="2400" dirty="0"/>
          </a:p>
          <a:p>
            <a:endParaRPr lang="en-US" altLang="ja-JP" sz="2400" dirty="0"/>
          </a:p>
          <a:p>
            <a:r>
              <a:rPr lang="ja-JP" altLang="en-US" sz="2400" dirty="0"/>
              <a:t>これにより、</a:t>
            </a:r>
            <a:r>
              <a:rPr lang="ja-JP" altLang="en-US" sz="2400" b="1" dirty="0">
                <a:solidFill>
                  <a:srgbClr val="FF0000"/>
                </a:solidFill>
              </a:rPr>
              <a:t>定数の値を書き換えることができてしまいます。</a:t>
            </a:r>
            <a:endParaRPr lang="en-US" altLang="ja-JP" sz="2400" b="1" dirty="0">
              <a:solidFill>
                <a:srgbClr val="FF0000"/>
              </a:solidFill>
            </a:endParaRPr>
          </a:p>
        </p:txBody>
      </p:sp>
      <p:pic>
        <p:nvPicPr>
          <p:cNvPr id="5" name="図 4">
            <a:extLst>
              <a:ext uri="{FF2B5EF4-FFF2-40B4-BE49-F238E27FC236}">
                <a16:creationId xmlns:a16="http://schemas.microsoft.com/office/drawing/2014/main" id="{4E633160-D938-4FD8-968D-6AE6458360E5}"/>
              </a:ext>
            </a:extLst>
          </p:cNvPr>
          <p:cNvPicPr>
            <a:picLocks noChangeAspect="1"/>
          </p:cNvPicPr>
          <p:nvPr/>
        </p:nvPicPr>
        <p:blipFill>
          <a:blip r:embed="rId2"/>
          <a:stretch>
            <a:fillRect/>
          </a:stretch>
        </p:blipFill>
        <p:spPr>
          <a:xfrm>
            <a:off x="567542" y="2925788"/>
            <a:ext cx="6171431" cy="1146123"/>
          </a:xfrm>
          <a:prstGeom prst="rect">
            <a:avLst/>
          </a:prstGeom>
        </p:spPr>
      </p:pic>
      <p:sp>
        <p:nvSpPr>
          <p:cNvPr id="7" name="テキスト ボックス 6">
            <a:extLst>
              <a:ext uri="{FF2B5EF4-FFF2-40B4-BE49-F238E27FC236}">
                <a16:creationId xmlns:a16="http://schemas.microsoft.com/office/drawing/2014/main" id="{241DDF1E-681D-41B0-B943-9010FF68D875}"/>
              </a:ext>
            </a:extLst>
          </p:cNvPr>
          <p:cNvSpPr txBox="1"/>
          <p:nvPr/>
        </p:nvSpPr>
        <p:spPr>
          <a:xfrm>
            <a:off x="567542" y="4211610"/>
            <a:ext cx="6032421" cy="830997"/>
          </a:xfrm>
          <a:prstGeom prst="rect">
            <a:avLst/>
          </a:prstGeom>
          <a:noFill/>
        </p:spPr>
        <p:txBody>
          <a:bodyPr wrap="none" rtlCol="0">
            <a:spAutoFit/>
          </a:bodyPr>
          <a:lstStyle/>
          <a:p>
            <a:r>
              <a:rPr lang="ja-JP" altLang="en-US" sz="2400" b="1" dirty="0">
                <a:solidFill>
                  <a:srgbClr val="FF0000"/>
                </a:solidFill>
              </a:rPr>
              <a:t>定数は書き換わらない前提の数値</a:t>
            </a:r>
            <a:r>
              <a:rPr lang="ja-JP" altLang="en-US" sz="2400" dirty="0"/>
              <a:t>なので、</a:t>
            </a:r>
            <a:endParaRPr lang="en-US" altLang="ja-JP" sz="2400" dirty="0"/>
          </a:p>
          <a:p>
            <a:r>
              <a:rPr lang="ja-JP" altLang="en-US" sz="2400" dirty="0"/>
              <a:t>基本的に使うことはありません。</a:t>
            </a:r>
            <a:endParaRPr lang="en-US" altLang="ja-JP" sz="2400" dirty="0"/>
          </a:p>
        </p:txBody>
      </p:sp>
    </p:spTree>
    <p:extLst>
      <p:ext uri="{BB962C8B-B14F-4D97-AF65-F5344CB8AC3E}">
        <p14:creationId xmlns:p14="http://schemas.microsoft.com/office/powerpoint/2010/main" val="1761287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205271" cy="461665"/>
          </a:xfrm>
          <a:prstGeom prst="rect">
            <a:avLst/>
          </a:prstGeom>
          <a:noFill/>
        </p:spPr>
        <p:txBody>
          <a:bodyPr wrap="none" rtlCol="0">
            <a:spAutoFit/>
          </a:bodyPr>
          <a:lstStyle/>
          <a:p>
            <a:r>
              <a:rPr lang="ja-JP" altLang="en-US" sz="2400" dirty="0"/>
              <a:t>続いて</a:t>
            </a:r>
            <a:r>
              <a:rPr lang="en-US" altLang="ja-JP" sz="2400" b="1" dirty="0">
                <a:solidFill>
                  <a:srgbClr val="0070C0"/>
                </a:solidFill>
              </a:rPr>
              <a:t>main</a:t>
            </a:r>
            <a:r>
              <a:rPr lang="ja-JP" altLang="en-US" sz="2400" b="1" dirty="0">
                <a:solidFill>
                  <a:srgbClr val="0070C0"/>
                </a:solidFill>
              </a:rPr>
              <a:t>関数</a:t>
            </a:r>
            <a:r>
              <a:rPr lang="ja-JP" altLang="en-US" sz="2400" dirty="0"/>
              <a:t>を新しく書きます。</a:t>
            </a:r>
            <a:endParaRPr lang="en-US" altLang="ja-JP" sz="2400" dirty="0"/>
          </a:p>
        </p:txBody>
      </p:sp>
      <p:pic>
        <p:nvPicPr>
          <p:cNvPr id="5" name="図 4">
            <a:extLst>
              <a:ext uri="{FF2B5EF4-FFF2-40B4-BE49-F238E27FC236}">
                <a16:creationId xmlns:a16="http://schemas.microsoft.com/office/drawing/2014/main" id="{79ED4F40-7880-45C8-B781-38B4D3715B6B}"/>
              </a:ext>
            </a:extLst>
          </p:cNvPr>
          <p:cNvPicPr>
            <a:picLocks noChangeAspect="1"/>
          </p:cNvPicPr>
          <p:nvPr/>
        </p:nvPicPr>
        <p:blipFill>
          <a:blip r:embed="rId2"/>
          <a:stretch>
            <a:fillRect/>
          </a:stretch>
        </p:blipFill>
        <p:spPr>
          <a:xfrm>
            <a:off x="567542" y="1817793"/>
            <a:ext cx="8736224" cy="3372273"/>
          </a:xfrm>
          <a:prstGeom prst="rect">
            <a:avLst/>
          </a:prstGeom>
        </p:spPr>
      </p:pic>
    </p:spTree>
    <p:extLst>
      <p:ext uri="{BB962C8B-B14F-4D97-AF65-F5344CB8AC3E}">
        <p14:creationId xmlns:p14="http://schemas.microsoft.com/office/powerpoint/2010/main" val="4044424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269158" cy="2308324"/>
          </a:xfrm>
          <a:prstGeom prst="rect">
            <a:avLst/>
          </a:prstGeom>
          <a:noFill/>
        </p:spPr>
        <p:txBody>
          <a:bodyPr wrap="none" rtlCol="0">
            <a:spAutoFit/>
          </a:bodyPr>
          <a:lstStyle/>
          <a:p>
            <a:r>
              <a:rPr lang="en-US" altLang="ja-JP" sz="2400" b="1" dirty="0" err="1">
                <a:solidFill>
                  <a:srgbClr val="0070C0"/>
                </a:solidFill>
              </a:rPr>
              <a:t>reinterpret_cast</a:t>
            </a:r>
            <a:r>
              <a:rPr lang="ja-JP" altLang="en-US" sz="2400" dirty="0"/>
              <a:t>は数値の値をそのままアドレスとしてキャストします。</a:t>
            </a:r>
            <a:endParaRPr lang="en-US" altLang="ja-JP" sz="2400" dirty="0"/>
          </a:p>
          <a:p>
            <a:r>
              <a:rPr lang="ja-JP" altLang="en-US" sz="2400" dirty="0"/>
              <a:t>使いどころは少ないです。</a:t>
            </a:r>
            <a:endParaRPr lang="en-US" altLang="ja-JP" sz="2400" dirty="0"/>
          </a:p>
          <a:p>
            <a:endParaRPr lang="en-US" altLang="ja-JP" sz="2400" dirty="0"/>
          </a:p>
          <a:p>
            <a:r>
              <a:rPr lang="ja-JP" altLang="en-US" sz="2400" b="1" dirty="0">
                <a:solidFill>
                  <a:srgbClr val="FF0000"/>
                </a:solidFill>
              </a:rPr>
              <a:t>■使いどころ</a:t>
            </a:r>
            <a:endParaRPr lang="en-US" altLang="ja-JP" sz="2400" b="1" dirty="0">
              <a:solidFill>
                <a:srgbClr val="FF0000"/>
              </a:solidFill>
            </a:endParaRPr>
          </a:p>
          <a:p>
            <a:r>
              <a:rPr lang="en-US" altLang="ja-JP" sz="2400" b="1" dirty="0">
                <a:solidFill>
                  <a:srgbClr val="0070C0"/>
                </a:solidFill>
              </a:rPr>
              <a:t>int</a:t>
            </a:r>
            <a:r>
              <a:rPr lang="ja-JP" altLang="en-US" sz="2400" dirty="0"/>
              <a:t>型のデータを</a:t>
            </a:r>
            <a:r>
              <a:rPr lang="en-US" altLang="ja-JP" sz="2400" b="1" dirty="0" err="1">
                <a:solidFill>
                  <a:srgbClr val="0070C0"/>
                </a:solidFill>
              </a:rPr>
              <a:t>fstream</a:t>
            </a:r>
            <a:r>
              <a:rPr lang="ja-JP" altLang="en-US" sz="2400" dirty="0"/>
              <a:t>の</a:t>
            </a:r>
            <a:r>
              <a:rPr lang="en-US" altLang="ja-JP" sz="2400" b="1" dirty="0">
                <a:solidFill>
                  <a:srgbClr val="0070C0"/>
                </a:solidFill>
              </a:rPr>
              <a:t>write</a:t>
            </a:r>
            <a:r>
              <a:rPr lang="ja-JP" altLang="en-US" sz="2400" dirty="0"/>
              <a:t>関数で出力するとき</a:t>
            </a:r>
            <a:endParaRPr lang="en-US" altLang="ja-JP" sz="2400" dirty="0"/>
          </a:p>
          <a:p>
            <a:r>
              <a:rPr lang="ja-JP" altLang="en-US" sz="2400" dirty="0"/>
              <a:t>（のちほど授業で学習します）</a:t>
            </a:r>
            <a:endParaRPr lang="en-US" altLang="ja-JP" sz="2400" dirty="0"/>
          </a:p>
        </p:txBody>
      </p:sp>
      <p:pic>
        <p:nvPicPr>
          <p:cNvPr id="3" name="図 2">
            <a:extLst>
              <a:ext uri="{FF2B5EF4-FFF2-40B4-BE49-F238E27FC236}">
                <a16:creationId xmlns:a16="http://schemas.microsoft.com/office/drawing/2014/main" id="{A621734A-1811-47F5-9070-53CAEE443E54}"/>
              </a:ext>
            </a:extLst>
          </p:cNvPr>
          <p:cNvPicPr>
            <a:picLocks noChangeAspect="1"/>
          </p:cNvPicPr>
          <p:nvPr/>
        </p:nvPicPr>
        <p:blipFill>
          <a:blip r:embed="rId2"/>
          <a:stretch>
            <a:fillRect/>
          </a:stretch>
        </p:blipFill>
        <p:spPr>
          <a:xfrm>
            <a:off x="567542" y="3664453"/>
            <a:ext cx="8686526" cy="1402370"/>
          </a:xfrm>
          <a:prstGeom prst="rect">
            <a:avLst/>
          </a:prstGeom>
        </p:spPr>
      </p:pic>
    </p:spTree>
    <p:extLst>
      <p:ext uri="{BB962C8B-B14F-4D97-AF65-F5344CB8AC3E}">
        <p14:creationId xmlns:p14="http://schemas.microsoft.com/office/powerpoint/2010/main" val="402422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キャスト</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5262979"/>
          </a:xfrm>
          <a:prstGeom prst="rect">
            <a:avLst/>
          </a:prstGeom>
          <a:noFill/>
        </p:spPr>
        <p:txBody>
          <a:bodyPr wrap="none" rtlCol="0">
            <a:spAutoFit/>
          </a:bodyPr>
          <a:lstStyle/>
          <a:p>
            <a:r>
              <a:rPr lang="ja-JP" altLang="en-US" sz="2400" dirty="0"/>
              <a:t>以下にまとめます。</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static_cast</a:t>
            </a:r>
            <a:endParaRPr lang="en-US" altLang="ja-JP" sz="2400" b="1" dirty="0">
              <a:solidFill>
                <a:srgbClr val="FF0000"/>
              </a:solidFill>
            </a:endParaRPr>
          </a:p>
          <a:p>
            <a:r>
              <a:rPr lang="ja-JP" altLang="en-US" sz="2400" dirty="0"/>
              <a:t>これまでと同じように使えるキャスト。</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dynamic_cast</a:t>
            </a:r>
            <a:endParaRPr lang="en-US" altLang="ja-JP" sz="2400" b="1" dirty="0">
              <a:solidFill>
                <a:srgbClr val="FF0000"/>
              </a:solidFill>
            </a:endParaRPr>
          </a:p>
          <a:p>
            <a:r>
              <a:rPr lang="ja-JP" altLang="en-US" sz="2400" dirty="0"/>
              <a:t>ダウンキャストのチェック機能はあるが、</a:t>
            </a:r>
            <a:endParaRPr lang="en-US" altLang="ja-JP" sz="2400" dirty="0"/>
          </a:p>
          <a:p>
            <a:r>
              <a:rPr lang="ja-JP" altLang="en-US" sz="2400" dirty="0"/>
              <a:t>キャストできなかった時の処理を意図的に作ることは実装がまずい可能性大</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const_cast</a:t>
            </a:r>
            <a:endParaRPr lang="en-US" altLang="ja-JP" sz="2400" b="1" dirty="0">
              <a:solidFill>
                <a:srgbClr val="FF0000"/>
              </a:solidFill>
            </a:endParaRPr>
          </a:p>
          <a:p>
            <a:r>
              <a:rPr lang="ja-JP" altLang="en-US" sz="2400" dirty="0"/>
              <a:t>定数を無理やり書き換えるものなので使わない</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reinterpret_cast</a:t>
            </a:r>
            <a:endParaRPr lang="en-US" altLang="ja-JP" sz="2400" b="1" dirty="0">
              <a:solidFill>
                <a:srgbClr val="FF0000"/>
              </a:solidFill>
            </a:endParaRPr>
          </a:p>
          <a:p>
            <a:r>
              <a:rPr lang="ja-JP" altLang="en-US" sz="2400" dirty="0"/>
              <a:t>ファイル操作以外ではほぼ使わない</a:t>
            </a:r>
            <a:endParaRPr lang="en-US" altLang="ja-JP" sz="2400" dirty="0"/>
          </a:p>
        </p:txBody>
      </p:sp>
    </p:spTree>
    <p:extLst>
      <p:ext uri="{BB962C8B-B14F-4D97-AF65-F5344CB8AC3E}">
        <p14:creationId xmlns:p14="http://schemas.microsoft.com/office/powerpoint/2010/main" val="236064908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TotalTime>
  <Words>477</Words>
  <Application>Microsoft Office PowerPoint</Application>
  <PresentationFormat>ワイド画面</PresentationFormat>
  <Paragraphs>69</Paragraphs>
  <Slides>13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78</cp:revision>
  <dcterms:created xsi:type="dcterms:W3CDTF">2024-08-27T02:15:54Z</dcterms:created>
  <dcterms:modified xsi:type="dcterms:W3CDTF">2025-03-03T00:54:38Z</dcterms:modified>
</cp:coreProperties>
</file>