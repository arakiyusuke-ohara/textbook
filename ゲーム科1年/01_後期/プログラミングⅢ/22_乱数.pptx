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347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にはより高度な乱数をサポートするクラスがあります。</a:t>
            </a:r>
            <a:endParaRPr lang="en-US" altLang="ja-JP" sz="2400" dirty="0"/>
          </a:p>
          <a:p>
            <a:r>
              <a:rPr lang="ja-JP" altLang="en-US" sz="2400" dirty="0"/>
              <a:t>また、乱数には以下の２種類が存在します。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■乱数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規則性がなく、予測のできない数値の並び。</a:t>
            </a:r>
            <a:endParaRPr lang="en-US" altLang="ja-JP" sz="2400" dirty="0"/>
          </a:p>
          <a:p>
            <a:r>
              <a:rPr lang="ja-JP" altLang="en-US" sz="2400" dirty="0"/>
              <a:t>完全なランダム。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■疑似乱数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ある一定のアルゴリズムで生成される数値の並び。</a:t>
            </a:r>
            <a:endParaRPr lang="en-US" altLang="ja-JP" sz="2400" dirty="0"/>
          </a:p>
          <a:p>
            <a:r>
              <a:rPr lang="ja-JP" altLang="en-US" sz="2400" dirty="0"/>
              <a:t>規則性があり、解析することにより予測することができる。</a:t>
            </a:r>
            <a:endParaRPr lang="en-US" altLang="ja-JP" sz="2400" dirty="0"/>
          </a:p>
          <a:p>
            <a:r>
              <a:rPr lang="ja-JP" altLang="en-US" sz="2400" dirty="0"/>
              <a:t>また、すべての数値が等確率で抽選されるわけでもない。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C</a:t>
            </a:r>
            <a:r>
              <a:rPr lang="ja-JP" altLang="en-US" sz="2400" dirty="0"/>
              <a:t>言語の</a:t>
            </a:r>
            <a:r>
              <a:rPr lang="en-US" altLang="ja-JP" sz="2400" b="1" dirty="0">
                <a:solidFill>
                  <a:srgbClr val="0070C0"/>
                </a:solidFill>
              </a:rPr>
              <a:t>rand</a:t>
            </a:r>
            <a:r>
              <a:rPr lang="ja-JP" altLang="en-US" sz="2400" dirty="0"/>
              <a:t>関数は疑似乱数だったりします。</a:t>
            </a:r>
            <a:endParaRPr lang="en-US" altLang="ja-JP" sz="2400" dirty="0"/>
          </a:p>
          <a:p>
            <a:r>
              <a:rPr lang="ja-JP" altLang="en-US" sz="2400" dirty="0"/>
              <a:t>これらを踏まえたうえでプログラムを練習します。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599A0A-3BAB-4309-87F0-46787F47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80363" cy="42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971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クラスは</a:t>
            </a:r>
            <a:r>
              <a:rPr lang="ja-JP" altLang="en-US" sz="2400" b="1" dirty="0">
                <a:solidFill>
                  <a:srgbClr val="FF0000"/>
                </a:solidFill>
              </a:rPr>
              <a:t>メルセンヌ・ツイスター</a:t>
            </a:r>
            <a:r>
              <a:rPr lang="ja-JP" altLang="en-US" sz="2400" dirty="0"/>
              <a:t>というアルゴリズムを使用した、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疑似乱数</a:t>
            </a:r>
            <a:r>
              <a:rPr lang="ja-JP" altLang="en-US" sz="2400" dirty="0"/>
              <a:t>をサポートするクラスです。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疑似乱数ではありますが、</a:t>
            </a:r>
            <a:r>
              <a:rPr lang="ja-JP" altLang="en-US" sz="2400" b="1" dirty="0">
                <a:solidFill>
                  <a:srgbClr val="FF0000"/>
                </a:solidFill>
              </a:rPr>
              <a:t>高速に計算</a:t>
            </a:r>
            <a:r>
              <a:rPr lang="ja-JP" altLang="en-US" sz="2400" dirty="0"/>
              <a:t>され、</a:t>
            </a:r>
            <a:r>
              <a:rPr lang="ja-JP" altLang="en-US" sz="2400" b="1" dirty="0">
                <a:solidFill>
                  <a:srgbClr val="FF0000"/>
                </a:solidFill>
              </a:rPr>
              <a:t>精度も高い</a:t>
            </a:r>
            <a:r>
              <a:rPr lang="ja-JP" altLang="en-US" sz="2400" dirty="0"/>
              <a:t>ため、</a:t>
            </a:r>
            <a:endParaRPr lang="en-US" altLang="ja-JP" sz="2400" dirty="0"/>
          </a:p>
          <a:p>
            <a:r>
              <a:rPr lang="ja-JP" altLang="en-US" sz="2400" dirty="0"/>
              <a:t>ゲームに使用するにはちょうど良いものになります。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8549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662F75-E331-49E4-B04A-F774DA64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22844" cy="42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7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クラスは使い方も簡単で、</a:t>
            </a:r>
            <a:endParaRPr lang="en-US" altLang="ja-JP" sz="2400" dirty="0"/>
          </a:p>
          <a:p>
            <a:r>
              <a:rPr lang="ja-JP" altLang="en-US" sz="2400" dirty="0"/>
              <a:t>クラスを生成すれば、「</a:t>
            </a:r>
            <a:r>
              <a:rPr lang="ja-JP" altLang="en-US" sz="2400" b="1" dirty="0">
                <a:solidFill>
                  <a:srgbClr val="FF0000"/>
                </a:solidFill>
              </a:rPr>
              <a:t>変数名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  <a:r>
              <a:rPr lang="ja-JP" altLang="en-US" sz="2400" dirty="0"/>
              <a:t>」で乱数を取得できます。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乱数シード</a:t>
            </a:r>
            <a:r>
              <a:rPr lang="ja-JP" altLang="en-US" sz="2400" dirty="0"/>
              <a:t>を設定しないと、</a:t>
            </a:r>
            <a:r>
              <a:rPr lang="ja-JP" altLang="en-US" sz="2400" b="1" dirty="0">
                <a:solidFill>
                  <a:srgbClr val="FF0000"/>
                </a:solidFill>
              </a:rPr>
              <a:t>毎回同じ結果</a:t>
            </a:r>
            <a:r>
              <a:rPr lang="ja-JP" altLang="en-US" sz="2400" dirty="0"/>
              <a:t>が返却されます。</a:t>
            </a:r>
            <a:endParaRPr lang="en-US" altLang="ja-JP" sz="2400" dirty="0"/>
          </a:p>
          <a:p>
            <a:r>
              <a:rPr lang="ja-JP" altLang="en-US" sz="2400" dirty="0"/>
              <a:t>（後程対応いたします）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5079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302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続いて、</a:t>
            </a:r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クラスを練習します。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完全な乱数</a:t>
            </a:r>
            <a:r>
              <a:rPr lang="ja-JP" altLang="en-US" sz="2400" dirty="0"/>
              <a:t>を取得することができます。</a:t>
            </a:r>
            <a:endParaRPr lang="en-US" altLang="ja-JP" sz="2400" dirty="0"/>
          </a:p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処理が重い</a:t>
            </a:r>
            <a:r>
              <a:rPr lang="ja-JP" altLang="en-US" sz="2400" dirty="0"/>
              <a:t>という欠点もあります。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353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B75A4F-8F88-4C2B-BD72-73FC0132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661869" cy="352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8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使い方は</a:t>
            </a:r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クラスとほぼ同じです。</a:t>
            </a:r>
            <a:endParaRPr lang="en-US" altLang="ja-JP" sz="2400" dirty="0"/>
          </a:p>
          <a:p>
            <a:r>
              <a:rPr lang="ja-JP" altLang="en-US" sz="2400" dirty="0"/>
              <a:t>ただし今回は完全な乱数なので、</a:t>
            </a:r>
            <a:r>
              <a:rPr lang="ja-JP" altLang="en-US" sz="2400" b="1" dirty="0">
                <a:solidFill>
                  <a:srgbClr val="FF0000"/>
                </a:solidFill>
              </a:rPr>
              <a:t>乱数シードも不要</a:t>
            </a:r>
            <a:r>
              <a:rPr lang="ja-JP" altLang="en-US" sz="2400" dirty="0"/>
              <a:t>になり、</a:t>
            </a:r>
            <a:endParaRPr lang="en-US" altLang="ja-JP" sz="2400" dirty="0"/>
          </a:p>
          <a:p>
            <a:r>
              <a:rPr lang="ja-JP" altLang="en-US" sz="2400" dirty="0"/>
              <a:t>起動するたびに別々の結果が得られます。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何度か実行して確認してみましょう。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214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と</a:t>
            </a:r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を組み合わせれば、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解析困難かつ高速な乱数</a:t>
            </a:r>
            <a:r>
              <a:rPr lang="ja-JP" altLang="en-US" sz="2400" dirty="0"/>
              <a:t>を作ることができます。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DCF09B-3A6F-4561-8BF1-CF3B9B117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01" y="2047425"/>
            <a:ext cx="7917849" cy="359414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9E47A3-FD43-45CB-A8D1-63646D6A58E9}"/>
              </a:ext>
            </a:extLst>
          </p:cNvPr>
          <p:cNvSpPr txBox="1"/>
          <p:nvPr/>
        </p:nvSpPr>
        <p:spPr>
          <a:xfrm>
            <a:off x="567542" y="578126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書いて何度か実行して、結果を確認してみましょう。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4583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続いては</a:t>
            </a:r>
            <a:r>
              <a:rPr lang="en-US" altLang="ja-JP" sz="2400" b="1" dirty="0" err="1">
                <a:solidFill>
                  <a:srgbClr val="00B050"/>
                </a:solidFill>
              </a:rPr>
              <a:t>uniform_int_distribution</a:t>
            </a:r>
            <a:r>
              <a:rPr lang="ja-JP" altLang="en-US" sz="2400" dirty="0"/>
              <a:t>クラスを紹介します。</a:t>
            </a:r>
            <a:endParaRPr lang="en-US" altLang="ja-JP" sz="2400" dirty="0"/>
          </a:p>
          <a:p>
            <a:r>
              <a:rPr lang="ja-JP" altLang="en-US" sz="2400" dirty="0"/>
              <a:t>このクラスは</a:t>
            </a:r>
            <a:r>
              <a:rPr lang="ja-JP" altLang="en-US" sz="2400" b="1" dirty="0">
                <a:solidFill>
                  <a:srgbClr val="FF0000"/>
                </a:solidFill>
              </a:rPr>
              <a:t>離散一様分布</a:t>
            </a:r>
            <a:r>
              <a:rPr lang="ja-JP" altLang="en-US" sz="2400" dirty="0"/>
              <a:t>を取得する関数です。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範囲を指定して、その範囲内の乱数を取得する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7905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9D711D-3C69-4917-941B-D027D36E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136541" cy="4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1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コンストラクタで渡した数値の範囲</a:t>
            </a:r>
            <a:r>
              <a:rPr lang="ja-JP" altLang="en-US" sz="2400" dirty="0"/>
              <a:t>で乱数が取得できます。</a:t>
            </a:r>
            <a:endParaRPr lang="en-US" altLang="ja-JP" sz="2400" dirty="0"/>
          </a:p>
          <a:p>
            <a:r>
              <a:rPr lang="ja-JP" altLang="en-US" sz="2400" dirty="0"/>
              <a:t>試行回数が少ないとわかりにくいですが、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限りなく同じに近い確率</a:t>
            </a:r>
            <a:r>
              <a:rPr lang="ja-JP" altLang="en-US" sz="2400" dirty="0"/>
              <a:t>で抽選されます。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965EF7-AB9C-46C2-BD10-11FC5CF27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767332" cy="87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3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68178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小数</a:t>
            </a:r>
            <a:r>
              <a:rPr lang="ja-JP" altLang="en-US" sz="2400" dirty="0"/>
              <a:t>で離散一様分布を取得したい場合は、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uniform_real_distribution</a:t>
            </a:r>
            <a:r>
              <a:rPr lang="ja-JP" altLang="en-US" sz="2400" dirty="0"/>
              <a:t>クラスを使います。</a:t>
            </a:r>
            <a:endParaRPr lang="en-US" altLang="ja-JP" sz="2400" dirty="0"/>
          </a:p>
          <a:p>
            <a:r>
              <a:rPr lang="ja-JP" altLang="en-US" sz="2400" dirty="0"/>
              <a:t>一度練習しておきましょう。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BAC703E-712F-4E5D-A188-AECC965B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655932" cy="392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7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446</Words>
  <Application>Microsoft Office PowerPoint</Application>
  <PresentationFormat>ワイド画面</PresentationFormat>
  <Paragraphs>61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76</cp:revision>
  <dcterms:created xsi:type="dcterms:W3CDTF">2024-08-27T02:15:54Z</dcterms:created>
  <dcterms:modified xsi:type="dcterms:W3CDTF">2024-12-06T08:01:12Z</dcterms:modified>
</cp:coreProperties>
</file>