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107" d="100"/>
          <a:sy n="107" d="100"/>
        </p:scale>
        <p:origin x="696"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A950417-98BD-4172-A454-C76A49B97717}"/>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9F83E9AE-84BC-4452-8901-A17B27CC419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B320892-0B52-41F1-BED3-1F36AE1E3B03}"/>
              </a:ext>
            </a:extLst>
          </p:cNvPr>
          <p:cNvSpPr>
            <a:spLocks noGrp="1"/>
          </p:cNvSpPr>
          <p:nvPr>
            <p:ph type="dt" sz="half" idx="10"/>
          </p:nvPr>
        </p:nvSpPr>
        <p:spPr/>
        <p:txBody>
          <a:bodyPr/>
          <a:lstStyle/>
          <a:p>
            <a:fld id="{E9CC885B-4903-4D54-9A93-00025F12DED9}" type="datetimeFigureOut">
              <a:rPr kumimoji="1" lang="ja-JP" altLang="en-US" smtClean="0"/>
              <a:t>2025/9/17</a:t>
            </a:fld>
            <a:endParaRPr kumimoji="1" lang="ja-JP" altLang="en-US"/>
          </a:p>
        </p:txBody>
      </p:sp>
      <p:sp>
        <p:nvSpPr>
          <p:cNvPr id="5" name="フッター プレースホルダー 4">
            <a:extLst>
              <a:ext uri="{FF2B5EF4-FFF2-40B4-BE49-F238E27FC236}">
                <a16:creationId xmlns:a16="http://schemas.microsoft.com/office/drawing/2014/main" id="{B4114070-C582-4B06-9805-0DFEFB583FE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E8014BC-198B-4E5B-89B4-FDBFD423BF5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7455607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42C298B-DDF7-4BBD-B08C-16E40ED109E3}"/>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284FECC-C823-4D42-8CAA-49FC9A8C5B3E}"/>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8B26879-4594-4C3F-BFFA-F4CB8674F4A9}"/>
              </a:ext>
            </a:extLst>
          </p:cNvPr>
          <p:cNvSpPr>
            <a:spLocks noGrp="1"/>
          </p:cNvSpPr>
          <p:nvPr>
            <p:ph type="dt" sz="half" idx="10"/>
          </p:nvPr>
        </p:nvSpPr>
        <p:spPr/>
        <p:txBody>
          <a:bodyPr/>
          <a:lstStyle/>
          <a:p>
            <a:fld id="{E9CC885B-4903-4D54-9A93-00025F12DED9}" type="datetimeFigureOut">
              <a:rPr kumimoji="1" lang="ja-JP" altLang="en-US" smtClean="0"/>
              <a:t>2025/9/17</a:t>
            </a:fld>
            <a:endParaRPr kumimoji="1" lang="ja-JP" altLang="en-US"/>
          </a:p>
        </p:txBody>
      </p:sp>
      <p:sp>
        <p:nvSpPr>
          <p:cNvPr id="5" name="フッター プレースホルダー 4">
            <a:extLst>
              <a:ext uri="{FF2B5EF4-FFF2-40B4-BE49-F238E27FC236}">
                <a16:creationId xmlns:a16="http://schemas.microsoft.com/office/drawing/2014/main" id="{F5FC6BE6-BB12-4008-B4BA-62D249C4990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6B8CAC6-4A91-4F74-9267-5C30714BF978}"/>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8024735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078AD04-3137-4B16-97B1-DC1252F678A1}"/>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BF8FC57-7A4A-4196-89B9-B1A6197D422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CB80319-F15F-4C62-95BA-15B326F988A2}"/>
              </a:ext>
            </a:extLst>
          </p:cNvPr>
          <p:cNvSpPr>
            <a:spLocks noGrp="1"/>
          </p:cNvSpPr>
          <p:nvPr>
            <p:ph type="dt" sz="half" idx="10"/>
          </p:nvPr>
        </p:nvSpPr>
        <p:spPr/>
        <p:txBody>
          <a:bodyPr/>
          <a:lstStyle/>
          <a:p>
            <a:fld id="{E9CC885B-4903-4D54-9A93-00025F12DED9}" type="datetimeFigureOut">
              <a:rPr kumimoji="1" lang="ja-JP" altLang="en-US" smtClean="0"/>
              <a:t>2025/9/17</a:t>
            </a:fld>
            <a:endParaRPr kumimoji="1" lang="ja-JP" altLang="en-US"/>
          </a:p>
        </p:txBody>
      </p:sp>
      <p:sp>
        <p:nvSpPr>
          <p:cNvPr id="5" name="フッター プレースホルダー 4">
            <a:extLst>
              <a:ext uri="{FF2B5EF4-FFF2-40B4-BE49-F238E27FC236}">
                <a16:creationId xmlns:a16="http://schemas.microsoft.com/office/drawing/2014/main" id="{C89F0141-2F76-4B73-AAE0-1EDFEEA42E3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1F3A285-8438-4738-B4CE-18FC566351C3}"/>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0814076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539AAF0-C896-4BE5-8FCC-34320852482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96C332E-2DEA-4D46-8FEF-31D60DD975BC}"/>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F9D3FC79-3A15-47E8-8DC1-B5A928FF7FF2}"/>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E6AC8BB6-CC26-4AE8-B477-9A47780715C5}"/>
              </a:ext>
            </a:extLst>
          </p:cNvPr>
          <p:cNvSpPr>
            <a:spLocks noGrp="1"/>
          </p:cNvSpPr>
          <p:nvPr>
            <p:ph type="dt" sz="half" idx="10"/>
          </p:nvPr>
        </p:nvSpPr>
        <p:spPr/>
        <p:txBody>
          <a:bodyPr/>
          <a:lstStyle/>
          <a:p>
            <a:fld id="{E9CC885B-4903-4D54-9A93-00025F12DED9}" type="datetimeFigureOut">
              <a:rPr kumimoji="1" lang="ja-JP" altLang="en-US" smtClean="0"/>
              <a:t>2025/9/17</a:t>
            </a:fld>
            <a:endParaRPr kumimoji="1" lang="ja-JP" altLang="en-US"/>
          </a:p>
        </p:txBody>
      </p:sp>
      <p:sp>
        <p:nvSpPr>
          <p:cNvPr id="6" name="フッター プレースホルダー 5">
            <a:extLst>
              <a:ext uri="{FF2B5EF4-FFF2-40B4-BE49-F238E27FC236}">
                <a16:creationId xmlns:a16="http://schemas.microsoft.com/office/drawing/2014/main" id="{0D813CBF-5D01-4CF4-BD63-C8FC321B2429}"/>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123F9A7-54F5-421C-9A71-CC8C4BC92376}"/>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20282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9A2E9A-2DDB-4057-9711-D792B04FFD0C}"/>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2E5496D-7437-4ADF-BF05-1B99ACC0910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48A11600-06C5-424A-B2EA-FFEF7E75EAA5}"/>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43408E51-ED83-4218-8378-F0B44E296EC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D26C0C0-145F-4A52-BA72-D19A2971D5E1}"/>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F649033F-9C86-42B4-AB90-0FE47F39E39A}"/>
              </a:ext>
            </a:extLst>
          </p:cNvPr>
          <p:cNvSpPr>
            <a:spLocks noGrp="1"/>
          </p:cNvSpPr>
          <p:nvPr>
            <p:ph type="dt" sz="half" idx="10"/>
          </p:nvPr>
        </p:nvSpPr>
        <p:spPr/>
        <p:txBody>
          <a:bodyPr/>
          <a:lstStyle/>
          <a:p>
            <a:fld id="{E9CC885B-4903-4D54-9A93-00025F12DED9}" type="datetimeFigureOut">
              <a:rPr kumimoji="1" lang="ja-JP" altLang="en-US" smtClean="0"/>
              <a:t>2025/9/17</a:t>
            </a:fld>
            <a:endParaRPr kumimoji="1" lang="ja-JP" altLang="en-US"/>
          </a:p>
        </p:txBody>
      </p:sp>
      <p:sp>
        <p:nvSpPr>
          <p:cNvPr id="8" name="フッター プレースホルダー 7">
            <a:extLst>
              <a:ext uri="{FF2B5EF4-FFF2-40B4-BE49-F238E27FC236}">
                <a16:creationId xmlns:a16="http://schemas.microsoft.com/office/drawing/2014/main" id="{F73F9DE8-EAB7-4A80-BF64-725C6DF460D7}"/>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71D0069B-43F7-430A-8C9D-C2BA7B92ECD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2546531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CD48D3C-20F1-4E20-8FBC-734E9D946A78}"/>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B2E416B3-4C21-4278-9B88-62D41335DC9D}"/>
              </a:ext>
            </a:extLst>
          </p:cNvPr>
          <p:cNvSpPr>
            <a:spLocks noGrp="1"/>
          </p:cNvSpPr>
          <p:nvPr>
            <p:ph type="dt" sz="half" idx="10"/>
          </p:nvPr>
        </p:nvSpPr>
        <p:spPr/>
        <p:txBody>
          <a:bodyPr/>
          <a:lstStyle/>
          <a:p>
            <a:fld id="{E9CC885B-4903-4D54-9A93-00025F12DED9}" type="datetimeFigureOut">
              <a:rPr kumimoji="1" lang="ja-JP" altLang="en-US" smtClean="0"/>
              <a:t>2025/9/17</a:t>
            </a:fld>
            <a:endParaRPr kumimoji="1" lang="ja-JP" altLang="en-US"/>
          </a:p>
        </p:txBody>
      </p:sp>
      <p:sp>
        <p:nvSpPr>
          <p:cNvPr id="4" name="フッター プレースホルダー 3">
            <a:extLst>
              <a:ext uri="{FF2B5EF4-FFF2-40B4-BE49-F238E27FC236}">
                <a16:creationId xmlns:a16="http://schemas.microsoft.com/office/drawing/2014/main" id="{3EBA727E-E9E7-4EA2-B6ED-8CF036F2B5DA}"/>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8DC1C47C-5B0A-471B-BB77-77BE62B99175}"/>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53085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E55C2DD0-D598-4A5F-B542-7C6806B2F749}"/>
              </a:ext>
            </a:extLst>
          </p:cNvPr>
          <p:cNvSpPr>
            <a:spLocks noGrp="1"/>
          </p:cNvSpPr>
          <p:nvPr>
            <p:ph type="dt" sz="half" idx="10"/>
          </p:nvPr>
        </p:nvSpPr>
        <p:spPr/>
        <p:txBody>
          <a:bodyPr/>
          <a:lstStyle/>
          <a:p>
            <a:fld id="{E9CC885B-4903-4D54-9A93-00025F12DED9}" type="datetimeFigureOut">
              <a:rPr kumimoji="1" lang="ja-JP" altLang="en-US" smtClean="0"/>
              <a:t>2025/9/17</a:t>
            </a:fld>
            <a:endParaRPr kumimoji="1" lang="ja-JP" altLang="en-US"/>
          </a:p>
        </p:txBody>
      </p:sp>
      <p:sp>
        <p:nvSpPr>
          <p:cNvPr id="3" name="フッター プレースホルダー 2">
            <a:extLst>
              <a:ext uri="{FF2B5EF4-FFF2-40B4-BE49-F238E27FC236}">
                <a16:creationId xmlns:a16="http://schemas.microsoft.com/office/drawing/2014/main" id="{2260FD2A-DF3F-46FE-B2F8-14D9A2069736}"/>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52EF1C2C-6093-4ADD-9BFE-41DB125AD37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4204145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A35797B-0171-40BC-BCA2-0C1BA0D4C304}"/>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579CB0DB-618C-450C-BE67-5FD277B25D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42CC888D-BF8F-439D-9FC7-2DD4A8D750E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A4C2FA2E-4305-4946-8BDE-7AE113CDE687}"/>
              </a:ext>
            </a:extLst>
          </p:cNvPr>
          <p:cNvSpPr>
            <a:spLocks noGrp="1"/>
          </p:cNvSpPr>
          <p:nvPr>
            <p:ph type="dt" sz="half" idx="10"/>
          </p:nvPr>
        </p:nvSpPr>
        <p:spPr/>
        <p:txBody>
          <a:bodyPr/>
          <a:lstStyle/>
          <a:p>
            <a:fld id="{E9CC885B-4903-4D54-9A93-00025F12DED9}" type="datetimeFigureOut">
              <a:rPr kumimoji="1" lang="ja-JP" altLang="en-US" smtClean="0"/>
              <a:t>2025/9/17</a:t>
            </a:fld>
            <a:endParaRPr kumimoji="1" lang="ja-JP" altLang="en-US"/>
          </a:p>
        </p:txBody>
      </p:sp>
      <p:sp>
        <p:nvSpPr>
          <p:cNvPr id="6" name="フッター プレースホルダー 5">
            <a:extLst>
              <a:ext uri="{FF2B5EF4-FFF2-40B4-BE49-F238E27FC236}">
                <a16:creationId xmlns:a16="http://schemas.microsoft.com/office/drawing/2014/main" id="{BBA070CF-301C-4595-8007-2A2C19DFE06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E3E21C8C-DA9E-4E6B-B45C-C2C4D38971B1}"/>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0669295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00F7326-6BA4-4DC0-9519-87D04747ED89}"/>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3A1C2397-9613-4B24-A7D0-9EEE44E01C8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05462283-8239-49BE-9D96-00B24831B7C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0F53455D-91B5-4938-AC24-CAFF77A6CD44}"/>
              </a:ext>
            </a:extLst>
          </p:cNvPr>
          <p:cNvSpPr>
            <a:spLocks noGrp="1"/>
          </p:cNvSpPr>
          <p:nvPr>
            <p:ph type="dt" sz="half" idx="10"/>
          </p:nvPr>
        </p:nvSpPr>
        <p:spPr/>
        <p:txBody>
          <a:bodyPr/>
          <a:lstStyle/>
          <a:p>
            <a:fld id="{E9CC885B-4903-4D54-9A93-00025F12DED9}" type="datetimeFigureOut">
              <a:rPr kumimoji="1" lang="ja-JP" altLang="en-US" smtClean="0"/>
              <a:t>2025/9/17</a:t>
            </a:fld>
            <a:endParaRPr kumimoji="1" lang="ja-JP" altLang="en-US"/>
          </a:p>
        </p:txBody>
      </p:sp>
      <p:sp>
        <p:nvSpPr>
          <p:cNvPr id="6" name="フッター プレースホルダー 5">
            <a:extLst>
              <a:ext uri="{FF2B5EF4-FFF2-40B4-BE49-F238E27FC236}">
                <a16:creationId xmlns:a16="http://schemas.microsoft.com/office/drawing/2014/main" id="{A7F23C7B-CEBC-48FC-81DC-98AFE68C2DE2}"/>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7E65B5D-4A4C-4A6E-8AEB-3D88DC58273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1402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2AE957E-488D-43B9-8182-2A1DEEF0F7DD}"/>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0E67B1EC-AFC1-41D0-BBB1-9A2E85E1399D}"/>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31B76048-AF91-4C32-A054-6305C2928E9F}"/>
              </a:ext>
            </a:extLst>
          </p:cNvPr>
          <p:cNvSpPr>
            <a:spLocks noGrp="1"/>
          </p:cNvSpPr>
          <p:nvPr>
            <p:ph type="dt" sz="half" idx="10"/>
          </p:nvPr>
        </p:nvSpPr>
        <p:spPr/>
        <p:txBody>
          <a:bodyPr/>
          <a:lstStyle/>
          <a:p>
            <a:fld id="{E9CC885B-4903-4D54-9A93-00025F12DED9}" type="datetimeFigureOut">
              <a:rPr kumimoji="1" lang="ja-JP" altLang="en-US" smtClean="0"/>
              <a:t>2025/9/17</a:t>
            </a:fld>
            <a:endParaRPr kumimoji="1" lang="ja-JP" altLang="en-US"/>
          </a:p>
        </p:txBody>
      </p:sp>
      <p:sp>
        <p:nvSpPr>
          <p:cNvPr id="5" name="フッター プレースホルダー 4">
            <a:extLst>
              <a:ext uri="{FF2B5EF4-FFF2-40B4-BE49-F238E27FC236}">
                <a16:creationId xmlns:a16="http://schemas.microsoft.com/office/drawing/2014/main" id="{98C66A49-F960-4196-B16B-31B98B34013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D7A86F7-B140-4439-A33B-63EA8498DCAB}"/>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4856319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B4FA5DEF-DC74-4F38-9DA0-1EE9752F5F36}"/>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23C9EE93-ED20-4B3B-93FB-5A088C436B26}"/>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370666-1A4C-42B1-8748-A0D1453943A4}"/>
              </a:ext>
            </a:extLst>
          </p:cNvPr>
          <p:cNvSpPr>
            <a:spLocks noGrp="1"/>
          </p:cNvSpPr>
          <p:nvPr>
            <p:ph type="dt" sz="half" idx="10"/>
          </p:nvPr>
        </p:nvSpPr>
        <p:spPr/>
        <p:txBody>
          <a:bodyPr/>
          <a:lstStyle/>
          <a:p>
            <a:fld id="{E9CC885B-4903-4D54-9A93-00025F12DED9}" type="datetimeFigureOut">
              <a:rPr kumimoji="1" lang="ja-JP" altLang="en-US" smtClean="0"/>
              <a:t>2025/9/17</a:t>
            </a:fld>
            <a:endParaRPr kumimoji="1" lang="ja-JP" altLang="en-US"/>
          </a:p>
        </p:txBody>
      </p:sp>
      <p:sp>
        <p:nvSpPr>
          <p:cNvPr id="5" name="フッター プレースホルダー 4">
            <a:extLst>
              <a:ext uri="{FF2B5EF4-FFF2-40B4-BE49-F238E27FC236}">
                <a16:creationId xmlns:a16="http://schemas.microsoft.com/office/drawing/2014/main" id="{E26EC7E2-E7E6-45F2-BF6D-CDF318CECC0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CDE4F59-4276-46E3-AE2A-D255BC7BB35C}"/>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428509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F527E70E-5441-439A-8EA3-0826A036FC7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2A7C9CE9-5A22-43DB-862A-3B24B2BF151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45D76C-CB70-434A-A116-22531EEB417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9CC885B-4903-4D54-9A93-00025F12DED9}" type="datetimeFigureOut">
              <a:rPr kumimoji="1" lang="ja-JP" altLang="en-US" smtClean="0"/>
              <a:t>2025/9/17</a:t>
            </a:fld>
            <a:endParaRPr kumimoji="1" lang="ja-JP" altLang="en-US"/>
          </a:p>
        </p:txBody>
      </p:sp>
      <p:sp>
        <p:nvSpPr>
          <p:cNvPr id="5" name="フッター プレースホルダー 4">
            <a:extLst>
              <a:ext uri="{FF2B5EF4-FFF2-40B4-BE49-F238E27FC236}">
                <a16:creationId xmlns:a16="http://schemas.microsoft.com/office/drawing/2014/main" id="{2505E6D4-441B-4864-8545-0FDE04F664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8FFD1810-F6DD-4BB4-8465-A3A3F3BF335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65178455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877985" cy="584775"/>
          </a:xfrm>
          <a:prstGeom prst="rect">
            <a:avLst/>
          </a:prstGeom>
          <a:noFill/>
        </p:spPr>
        <p:txBody>
          <a:bodyPr wrap="none" rtlCol="0">
            <a:spAutoFit/>
          </a:bodyPr>
          <a:lstStyle/>
          <a:p>
            <a:r>
              <a:rPr lang="ja-JP" altLang="en-US" sz="3200" b="1" u="sng" dirty="0"/>
              <a:t>スマートポインター</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033516" cy="2677656"/>
          </a:xfrm>
          <a:prstGeom prst="rect">
            <a:avLst/>
          </a:prstGeom>
          <a:noFill/>
        </p:spPr>
        <p:txBody>
          <a:bodyPr wrap="none" rtlCol="0">
            <a:spAutoFit/>
          </a:bodyPr>
          <a:lstStyle/>
          <a:p>
            <a:r>
              <a:rPr lang="ja-JP" altLang="en-US" sz="2400" b="1" dirty="0">
                <a:solidFill>
                  <a:srgbClr val="FF0000"/>
                </a:solidFill>
              </a:rPr>
              <a:t>オブジェクトの生成、削除</a:t>
            </a:r>
            <a:r>
              <a:rPr lang="ja-JP" altLang="en-US" sz="2400" dirty="0"/>
              <a:t>には</a:t>
            </a:r>
            <a:r>
              <a:rPr lang="en-US" altLang="ja-JP" sz="2400" b="1" dirty="0">
                <a:solidFill>
                  <a:srgbClr val="0070C0"/>
                </a:solidFill>
              </a:rPr>
              <a:t>new</a:t>
            </a:r>
            <a:r>
              <a:rPr lang="en-US" altLang="ja-JP" sz="2400" dirty="0"/>
              <a:t>, </a:t>
            </a:r>
            <a:r>
              <a:rPr lang="en-US" altLang="ja-JP" sz="2400" b="1" dirty="0">
                <a:solidFill>
                  <a:srgbClr val="0070C0"/>
                </a:solidFill>
              </a:rPr>
              <a:t>delete</a:t>
            </a:r>
            <a:r>
              <a:rPr lang="ja-JP" altLang="en-US" sz="2400" dirty="0"/>
              <a:t>を使用してきましたが、</a:t>
            </a:r>
            <a:endParaRPr lang="en-US" altLang="ja-JP" sz="2400" dirty="0"/>
          </a:p>
          <a:p>
            <a:r>
              <a:rPr lang="ja-JP" altLang="en-US" sz="2400" dirty="0"/>
              <a:t>これらには明確な</a:t>
            </a:r>
            <a:r>
              <a:rPr lang="ja-JP" altLang="en-US" sz="2400" b="1" dirty="0">
                <a:solidFill>
                  <a:srgbClr val="FF0000"/>
                </a:solidFill>
              </a:rPr>
              <a:t>欠点</a:t>
            </a:r>
            <a:r>
              <a:rPr lang="ja-JP" altLang="en-US" sz="2400" dirty="0"/>
              <a:t>があります。</a:t>
            </a:r>
            <a:endParaRPr lang="en-US" altLang="ja-JP" sz="2400" dirty="0"/>
          </a:p>
          <a:p>
            <a:endParaRPr lang="en-US" altLang="ja-JP" sz="2400" dirty="0"/>
          </a:p>
          <a:p>
            <a:r>
              <a:rPr lang="ja-JP" altLang="en-US" sz="2400" dirty="0"/>
              <a:t>それは、</a:t>
            </a:r>
            <a:r>
              <a:rPr lang="en-US" altLang="ja-JP" sz="2400" b="1" dirty="0">
                <a:solidFill>
                  <a:srgbClr val="0070C0"/>
                </a:solidFill>
              </a:rPr>
              <a:t>delete</a:t>
            </a:r>
            <a:r>
              <a:rPr lang="ja-JP" altLang="en-US" sz="2400" dirty="0"/>
              <a:t>を書き忘れたときの</a:t>
            </a:r>
            <a:r>
              <a:rPr lang="ja-JP" altLang="en-US" sz="2400" b="1" dirty="0">
                <a:solidFill>
                  <a:srgbClr val="FF0000"/>
                </a:solidFill>
              </a:rPr>
              <a:t>メモリリーク</a:t>
            </a:r>
            <a:r>
              <a:rPr lang="ja-JP" altLang="en-US" sz="2400" dirty="0"/>
              <a:t>です。</a:t>
            </a:r>
            <a:endParaRPr lang="en-US" altLang="ja-JP" sz="2400" dirty="0"/>
          </a:p>
          <a:p>
            <a:r>
              <a:rPr lang="ja-JP" altLang="en-US" sz="2400" dirty="0"/>
              <a:t>多くのゲームプログラマーが、このメモリリークと格闘していました。</a:t>
            </a:r>
            <a:endParaRPr lang="en-US" altLang="ja-JP" sz="2400" dirty="0"/>
          </a:p>
          <a:p>
            <a:endParaRPr lang="en-US" altLang="ja-JP" sz="2400" dirty="0"/>
          </a:p>
          <a:p>
            <a:r>
              <a:rPr lang="en-US" altLang="ja-JP" sz="2400" b="1" dirty="0">
                <a:solidFill>
                  <a:srgbClr val="FF0000"/>
                </a:solidFill>
              </a:rPr>
              <a:t>※</a:t>
            </a:r>
            <a:r>
              <a:rPr lang="ja-JP" altLang="en-US" sz="2400" b="1" dirty="0">
                <a:solidFill>
                  <a:srgbClr val="FF0000"/>
                </a:solidFill>
              </a:rPr>
              <a:t>メモリリークはフリーズの原因ともなる致命的な不具合です</a:t>
            </a:r>
            <a:endParaRPr lang="en-US" altLang="ja-JP" sz="2400" b="1" dirty="0">
              <a:solidFill>
                <a:srgbClr val="FF0000"/>
              </a:solidFill>
            </a:endParaRPr>
          </a:p>
        </p:txBody>
      </p:sp>
    </p:spTree>
    <p:extLst>
      <p:ext uri="{BB962C8B-B14F-4D97-AF65-F5344CB8AC3E}">
        <p14:creationId xmlns:p14="http://schemas.microsoft.com/office/powerpoint/2010/main" val="41002898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877985" cy="584775"/>
          </a:xfrm>
          <a:prstGeom prst="rect">
            <a:avLst/>
          </a:prstGeom>
          <a:noFill/>
        </p:spPr>
        <p:txBody>
          <a:bodyPr wrap="none" rtlCol="0">
            <a:spAutoFit/>
          </a:bodyPr>
          <a:lstStyle/>
          <a:p>
            <a:r>
              <a:rPr lang="ja-JP" altLang="en-US" sz="3200" b="1" u="sng" dirty="0"/>
              <a:t>スマートポインター</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725739" cy="4524315"/>
          </a:xfrm>
          <a:prstGeom prst="rect">
            <a:avLst/>
          </a:prstGeom>
          <a:noFill/>
        </p:spPr>
        <p:txBody>
          <a:bodyPr wrap="none" rtlCol="0">
            <a:spAutoFit/>
          </a:bodyPr>
          <a:lstStyle/>
          <a:p>
            <a:r>
              <a:rPr lang="en-US" altLang="ja-JP" sz="2400" dirty="0"/>
              <a:t>2011</a:t>
            </a:r>
            <a:r>
              <a:rPr lang="ja-JP" altLang="en-US" sz="2400" dirty="0"/>
              <a:t>年に</a:t>
            </a:r>
            <a:r>
              <a:rPr lang="en-US" altLang="ja-JP" sz="2400" dirty="0"/>
              <a:t>C++</a:t>
            </a:r>
            <a:r>
              <a:rPr lang="ja-JP" altLang="en-US" sz="2400" dirty="0"/>
              <a:t>のバージョンアップが行われました。（</a:t>
            </a:r>
            <a:r>
              <a:rPr lang="en-US" altLang="ja-JP" sz="2400" dirty="0"/>
              <a:t>C++11</a:t>
            </a:r>
            <a:r>
              <a:rPr lang="ja-JP" altLang="en-US" sz="2400" dirty="0"/>
              <a:t>）</a:t>
            </a:r>
            <a:endParaRPr lang="en-US" altLang="ja-JP" sz="2400" dirty="0"/>
          </a:p>
          <a:p>
            <a:r>
              <a:rPr lang="ja-JP" altLang="en-US" sz="2400" dirty="0"/>
              <a:t>そこで新たに</a:t>
            </a:r>
            <a:r>
              <a:rPr lang="ja-JP" altLang="en-US" sz="2400" b="1" dirty="0">
                <a:solidFill>
                  <a:srgbClr val="FF0000"/>
                </a:solidFill>
              </a:rPr>
              <a:t>スマートポインター</a:t>
            </a:r>
            <a:r>
              <a:rPr lang="ja-JP" altLang="en-US" sz="2400" dirty="0"/>
              <a:t>というものが実装されています。</a:t>
            </a:r>
            <a:endParaRPr lang="en-US" altLang="ja-JP" sz="2400" dirty="0"/>
          </a:p>
          <a:p>
            <a:endParaRPr lang="en-US" altLang="ja-JP" sz="2400" dirty="0"/>
          </a:p>
          <a:p>
            <a:r>
              <a:rPr lang="ja-JP" altLang="en-US" sz="2400" dirty="0"/>
              <a:t>スマートポインターは</a:t>
            </a:r>
            <a:r>
              <a:rPr lang="en-US" altLang="ja-JP" sz="2400" b="1" dirty="0">
                <a:solidFill>
                  <a:srgbClr val="FF0000"/>
                </a:solidFill>
              </a:rPr>
              <a:t>delete</a:t>
            </a:r>
            <a:r>
              <a:rPr lang="ja-JP" altLang="en-US" sz="2400" b="1" dirty="0">
                <a:solidFill>
                  <a:srgbClr val="FF0000"/>
                </a:solidFill>
              </a:rPr>
              <a:t>を自動で呼び出す機能</a:t>
            </a:r>
            <a:r>
              <a:rPr lang="ja-JP" altLang="en-US" sz="2400" dirty="0"/>
              <a:t>があり、</a:t>
            </a:r>
            <a:endParaRPr lang="en-US" altLang="ja-JP" sz="2400" dirty="0"/>
          </a:p>
          <a:p>
            <a:r>
              <a:rPr lang="ja-JP" altLang="en-US" sz="2400" dirty="0"/>
              <a:t>正しく使うと</a:t>
            </a:r>
            <a:r>
              <a:rPr lang="ja-JP" altLang="en-US" sz="2400" b="1" dirty="0">
                <a:solidFill>
                  <a:srgbClr val="FF0000"/>
                </a:solidFill>
              </a:rPr>
              <a:t>メモリリークのリスクを大幅に減らす</a:t>
            </a:r>
            <a:r>
              <a:rPr lang="ja-JP" altLang="en-US" sz="2400" dirty="0"/>
              <a:t>ことができます。</a:t>
            </a:r>
            <a:endParaRPr lang="en-US" altLang="ja-JP" sz="2400" dirty="0"/>
          </a:p>
          <a:p>
            <a:endParaRPr lang="en-US" altLang="ja-JP" sz="2400" dirty="0"/>
          </a:p>
          <a:p>
            <a:r>
              <a:rPr lang="ja-JP" altLang="en-US" sz="2400" dirty="0"/>
              <a:t>最近の技術ですが、ゲーム業界ではかなり普及していますので、</a:t>
            </a:r>
            <a:endParaRPr lang="en-US" altLang="ja-JP" sz="2400" dirty="0"/>
          </a:p>
          <a:p>
            <a:r>
              <a:rPr lang="ja-JP" altLang="en-US" sz="2400" dirty="0"/>
              <a:t>しっかりと学習しましょう。</a:t>
            </a:r>
            <a:endParaRPr lang="en-US" altLang="ja-JP" sz="2400" dirty="0"/>
          </a:p>
          <a:p>
            <a:endParaRPr lang="en-US" altLang="ja-JP" sz="2400" dirty="0"/>
          </a:p>
          <a:p>
            <a:r>
              <a:rPr lang="en-US" altLang="ja-JP" sz="2400" b="1" dirty="0">
                <a:solidFill>
                  <a:srgbClr val="00B050"/>
                </a:solidFill>
              </a:rPr>
              <a:t>MEMO</a:t>
            </a:r>
          </a:p>
          <a:p>
            <a:r>
              <a:rPr lang="ja-JP" altLang="en-US" sz="2400" dirty="0"/>
              <a:t>他にも無駄なメモリ確保を抑えることもできる、</a:t>
            </a:r>
            <a:endParaRPr lang="en-US" altLang="ja-JP" sz="2400" dirty="0"/>
          </a:p>
          <a:p>
            <a:r>
              <a:rPr lang="ja-JP" altLang="en-US" sz="2400" dirty="0"/>
              <a:t>至れり尽くせりな機能です。</a:t>
            </a:r>
            <a:endParaRPr lang="en-US" altLang="ja-JP" sz="2400" dirty="0"/>
          </a:p>
        </p:txBody>
      </p:sp>
    </p:spTree>
    <p:extLst>
      <p:ext uri="{BB962C8B-B14F-4D97-AF65-F5344CB8AC3E}">
        <p14:creationId xmlns:p14="http://schemas.microsoft.com/office/powerpoint/2010/main" val="369082807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877985" cy="584775"/>
          </a:xfrm>
          <a:prstGeom prst="rect">
            <a:avLst/>
          </a:prstGeom>
          <a:noFill/>
        </p:spPr>
        <p:txBody>
          <a:bodyPr wrap="none" rtlCol="0">
            <a:spAutoFit/>
          </a:bodyPr>
          <a:lstStyle/>
          <a:p>
            <a:r>
              <a:rPr lang="ja-JP" altLang="en-US" sz="3200" b="1" u="sng" dirty="0"/>
              <a:t>スマートポインター</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1572399" cy="5262979"/>
          </a:xfrm>
          <a:prstGeom prst="rect">
            <a:avLst/>
          </a:prstGeom>
          <a:noFill/>
        </p:spPr>
        <p:txBody>
          <a:bodyPr wrap="none" rtlCol="0">
            <a:spAutoFit/>
          </a:bodyPr>
          <a:lstStyle/>
          <a:p>
            <a:r>
              <a:rPr lang="ja-JP" altLang="en-US" sz="2400" dirty="0"/>
              <a:t>スマートポインターを学習するためには</a:t>
            </a:r>
            <a:r>
              <a:rPr lang="ja-JP" altLang="en-US" sz="2400" b="1" dirty="0">
                <a:solidFill>
                  <a:srgbClr val="FF0000"/>
                </a:solidFill>
              </a:rPr>
              <a:t>所有権</a:t>
            </a:r>
            <a:r>
              <a:rPr lang="ja-JP" altLang="en-US" sz="2400" dirty="0"/>
              <a:t>について知らなければいけません。</a:t>
            </a:r>
            <a:endParaRPr lang="en-US" altLang="ja-JP" sz="2400" dirty="0"/>
          </a:p>
          <a:p>
            <a:r>
              <a:rPr lang="ja-JP" altLang="en-US" sz="2400" dirty="0"/>
              <a:t>つまり、生成したオブジェクトを所有するという概念があります。</a:t>
            </a:r>
            <a:endParaRPr lang="en-US" altLang="ja-JP" sz="2400" dirty="0"/>
          </a:p>
          <a:p>
            <a:endParaRPr lang="en-US" altLang="ja-JP" sz="2400" dirty="0"/>
          </a:p>
          <a:p>
            <a:endParaRPr lang="en-US" altLang="ja-JP" sz="2400" dirty="0"/>
          </a:p>
          <a:p>
            <a:endParaRPr lang="en-US" altLang="ja-JP" sz="2400" dirty="0"/>
          </a:p>
          <a:p>
            <a:endParaRPr lang="en-US" altLang="ja-JP" sz="2400" dirty="0"/>
          </a:p>
          <a:p>
            <a:endParaRPr lang="en-US" altLang="ja-JP" sz="2400" dirty="0"/>
          </a:p>
          <a:p>
            <a:endParaRPr lang="en-US" altLang="ja-JP" sz="2400" dirty="0"/>
          </a:p>
          <a:p>
            <a:endParaRPr lang="en-US" altLang="ja-JP" sz="2400" dirty="0"/>
          </a:p>
          <a:p>
            <a:endParaRPr lang="en-US" altLang="ja-JP" sz="2400" dirty="0"/>
          </a:p>
          <a:p>
            <a:endParaRPr lang="en-US" altLang="ja-JP" sz="2400" dirty="0"/>
          </a:p>
          <a:p>
            <a:endParaRPr lang="en-US" altLang="ja-JP" sz="2400" dirty="0"/>
          </a:p>
          <a:p>
            <a:endParaRPr lang="en-US" altLang="ja-JP" sz="2400" dirty="0"/>
          </a:p>
          <a:p>
            <a:r>
              <a:rPr lang="ja-JP" altLang="en-US" sz="2400" dirty="0"/>
              <a:t>この所有権の扱い方によって</a:t>
            </a:r>
            <a:r>
              <a:rPr lang="ja-JP" altLang="en-US" sz="2400" b="1" dirty="0">
                <a:solidFill>
                  <a:srgbClr val="FF0000"/>
                </a:solidFill>
              </a:rPr>
              <a:t>３種類</a:t>
            </a:r>
            <a:r>
              <a:rPr lang="ja-JP" altLang="en-US" sz="2400" dirty="0"/>
              <a:t>のスマートポインターがあります。</a:t>
            </a:r>
            <a:endParaRPr lang="en-US" altLang="ja-JP" sz="2400" dirty="0"/>
          </a:p>
        </p:txBody>
      </p:sp>
      <p:sp>
        <p:nvSpPr>
          <p:cNvPr id="2" name="正方形/長方形 1">
            <a:extLst>
              <a:ext uri="{FF2B5EF4-FFF2-40B4-BE49-F238E27FC236}">
                <a16:creationId xmlns:a16="http://schemas.microsoft.com/office/drawing/2014/main" id="{3D14A422-E20E-4BE3-B1E1-B8E4B48F2683}"/>
              </a:ext>
            </a:extLst>
          </p:cNvPr>
          <p:cNvSpPr/>
          <p:nvPr/>
        </p:nvSpPr>
        <p:spPr>
          <a:xfrm>
            <a:off x="1058333" y="2353732"/>
            <a:ext cx="2133600" cy="341206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b="1" dirty="0"/>
              <a:t>Player</a:t>
            </a:r>
            <a:r>
              <a:rPr kumimoji="1" lang="ja-JP" altLang="en-US" b="1" dirty="0"/>
              <a:t>クラス</a:t>
            </a:r>
          </a:p>
        </p:txBody>
      </p:sp>
      <p:sp>
        <p:nvSpPr>
          <p:cNvPr id="3" name="楕円 2">
            <a:extLst>
              <a:ext uri="{FF2B5EF4-FFF2-40B4-BE49-F238E27FC236}">
                <a16:creationId xmlns:a16="http://schemas.microsoft.com/office/drawing/2014/main" id="{DB3DDA2C-7B07-4477-9484-4BBF98B612E1}"/>
              </a:ext>
            </a:extLst>
          </p:cNvPr>
          <p:cNvSpPr/>
          <p:nvPr/>
        </p:nvSpPr>
        <p:spPr>
          <a:xfrm>
            <a:off x="2048933" y="2717800"/>
            <a:ext cx="1143000" cy="711200"/>
          </a:xfrm>
          <a:prstGeom prst="ellipse">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kumimoji="1" lang="ja-JP" altLang="en-US" b="1" dirty="0"/>
              <a:t>生成</a:t>
            </a:r>
          </a:p>
        </p:txBody>
      </p:sp>
      <p:sp>
        <p:nvSpPr>
          <p:cNvPr id="5" name="スクロール: 縦 4">
            <a:extLst>
              <a:ext uri="{FF2B5EF4-FFF2-40B4-BE49-F238E27FC236}">
                <a16:creationId xmlns:a16="http://schemas.microsoft.com/office/drawing/2014/main" id="{88F0AB25-1324-4541-8C4D-9D5003CCB65A}"/>
              </a:ext>
            </a:extLst>
          </p:cNvPr>
          <p:cNvSpPr/>
          <p:nvPr/>
        </p:nvSpPr>
        <p:spPr>
          <a:xfrm>
            <a:off x="4885267" y="2408767"/>
            <a:ext cx="1210733" cy="1329266"/>
          </a:xfrm>
          <a:prstGeom prst="verticalScroll">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kumimoji="1" lang="en-US" altLang="ja-JP" b="1" dirty="0"/>
              <a:t>Player</a:t>
            </a:r>
            <a:r>
              <a:rPr kumimoji="1" lang="ja-JP" altLang="en-US" b="1" dirty="0"/>
              <a:t>所有権</a:t>
            </a:r>
          </a:p>
        </p:txBody>
      </p:sp>
      <p:sp>
        <p:nvSpPr>
          <p:cNvPr id="7" name="矢印: 右 6">
            <a:extLst>
              <a:ext uri="{FF2B5EF4-FFF2-40B4-BE49-F238E27FC236}">
                <a16:creationId xmlns:a16="http://schemas.microsoft.com/office/drawing/2014/main" id="{4732FD01-0FBF-4A94-8888-955AD1926563}"/>
              </a:ext>
            </a:extLst>
          </p:cNvPr>
          <p:cNvSpPr/>
          <p:nvPr/>
        </p:nvSpPr>
        <p:spPr>
          <a:xfrm>
            <a:off x="3378200" y="2819400"/>
            <a:ext cx="1380067" cy="609600"/>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フローチャート: 代替処理 7">
            <a:extLst>
              <a:ext uri="{FF2B5EF4-FFF2-40B4-BE49-F238E27FC236}">
                <a16:creationId xmlns:a16="http://schemas.microsoft.com/office/drawing/2014/main" id="{069D3D52-747B-4139-90D8-49A7C984CEE8}"/>
              </a:ext>
            </a:extLst>
          </p:cNvPr>
          <p:cNvSpPr/>
          <p:nvPr/>
        </p:nvSpPr>
        <p:spPr>
          <a:xfrm>
            <a:off x="5715000" y="3429000"/>
            <a:ext cx="2489200" cy="537634"/>
          </a:xfrm>
          <a:prstGeom prst="flowChartAlternateProcess">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kumimoji="1" lang="ja-JP" altLang="en-US" b="1" dirty="0"/>
              <a:t>スマートポインター</a:t>
            </a:r>
          </a:p>
        </p:txBody>
      </p:sp>
    </p:spTree>
    <p:extLst>
      <p:ext uri="{BB962C8B-B14F-4D97-AF65-F5344CB8AC3E}">
        <p14:creationId xmlns:p14="http://schemas.microsoft.com/office/powerpoint/2010/main" val="9659734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877985" cy="584775"/>
          </a:xfrm>
          <a:prstGeom prst="rect">
            <a:avLst/>
          </a:prstGeom>
          <a:noFill/>
        </p:spPr>
        <p:txBody>
          <a:bodyPr wrap="none" rtlCol="0">
            <a:spAutoFit/>
          </a:bodyPr>
          <a:lstStyle/>
          <a:p>
            <a:r>
              <a:rPr lang="ja-JP" altLang="en-US" sz="3200" b="1" u="sng" dirty="0"/>
              <a:t>スマートポインター</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730823" cy="5262979"/>
          </a:xfrm>
          <a:prstGeom prst="rect">
            <a:avLst/>
          </a:prstGeom>
          <a:noFill/>
        </p:spPr>
        <p:txBody>
          <a:bodyPr wrap="none" rtlCol="0">
            <a:spAutoFit/>
          </a:bodyPr>
          <a:lstStyle/>
          <a:p>
            <a:r>
              <a:rPr lang="ja-JP" altLang="en-US" sz="2400" dirty="0"/>
              <a:t>スマートポインターの種類です。</a:t>
            </a:r>
            <a:endParaRPr lang="en-US" altLang="ja-JP" sz="2400" dirty="0"/>
          </a:p>
          <a:p>
            <a:endParaRPr lang="en-US" altLang="ja-JP" sz="2400" dirty="0"/>
          </a:p>
          <a:p>
            <a:r>
              <a:rPr lang="ja-JP" altLang="en-US" sz="2400" b="1" dirty="0">
                <a:solidFill>
                  <a:srgbClr val="00B050"/>
                </a:solidFill>
              </a:rPr>
              <a:t>■</a:t>
            </a:r>
            <a:r>
              <a:rPr lang="en-US" altLang="ja-JP" sz="2400" b="1" dirty="0">
                <a:solidFill>
                  <a:srgbClr val="00B050"/>
                </a:solidFill>
              </a:rPr>
              <a:t>Unique</a:t>
            </a:r>
            <a:r>
              <a:rPr lang="ja-JP" altLang="en-US" sz="2400" b="1" dirty="0">
                <a:solidFill>
                  <a:srgbClr val="00B050"/>
                </a:solidFill>
              </a:rPr>
              <a:t>（ユニーク）</a:t>
            </a:r>
            <a:endParaRPr lang="en-US" altLang="ja-JP" sz="2400" b="1" dirty="0">
              <a:solidFill>
                <a:srgbClr val="00B050"/>
              </a:solidFill>
            </a:endParaRPr>
          </a:p>
          <a:p>
            <a:r>
              <a:rPr lang="ja-JP" altLang="en-US" sz="2400" b="1" dirty="0">
                <a:solidFill>
                  <a:srgbClr val="FF0000"/>
                </a:solidFill>
              </a:rPr>
              <a:t>所有権が１つ</a:t>
            </a:r>
            <a:r>
              <a:rPr lang="ja-JP" altLang="en-US" sz="2400" dirty="0"/>
              <a:t>しかない。</a:t>
            </a:r>
            <a:endParaRPr lang="en-US" altLang="ja-JP" sz="2400" dirty="0"/>
          </a:p>
          <a:p>
            <a:r>
              <a:rPr lang="ja-JP" altLang="en-US" sz="2400" dirty="0"/>
              <a:t>最も安全なため、よく使われる。</a:t>
            </a:r>
            <a:endParaRPr lang="en-US" altLang="ja-JP" sz="2400" dirty="0"/>
          </a:p>
          <a:p>
            <a:endParaRPr lang="en-US" altLang="ja-JP" sz="2400" dirty="0"/>
          </a:p>
          <a:p>
            <a:r>
              <a:rPr lang="ja-JP" altLang="en-US" sz="2400" b="1" dirty="0">
                <a:solidFill>
                  <a:srgbClr val="00B050"/>
                </a:solidFill>
              </a:rPr>
              <a:t>■</a:t>
            </a:r>
            <a:r>
              <a:rPr lang="en-US" altLang="ja-JP" sz="2400" b="1" dirty="0">
                <a:solidFill>
                  <a:srgbClr val="00B050"/>
                </a:solidFill>
              </a:rPr>
              <a:t>Shared</a:t>
            </a:r>
            <a:r>
              <a:rPr lang="ja-JP" altLang="en-US" sz="2400" b="1" dirty="0">
                <a:solidFill>
                  <a:srgbClr val="00B050"/>
                </a:solidFill>
              </a:rPr>
              <a:t>（シェアード）</a:t>
            </a:r>
            <a:endParaRPr lang="en-US" altLang="ja-JP" sz="2400" b="1" dirty="0">
              <a:solidFill>
                <a:srgbClr val="00B050"/>
              </a:solidFill>
            </a:endParaRPr>
          </a:p>
          <a:p>
            <a:r>
              <a:rPr lang="ja-JP" altLang="en-US" sz="2400" b="1" dirty="0">
                <a:solidFill>
                  <a:srgbClr val="FF0000"/>
                </a:solidFill>
              </a:rPr>
              <a:t>所有権を複数設けられる。</a:t>
            </a:r>
            <a:endParaRPr lang="en-US" altLang="ja-JP" sz="2400" b="1" dirty="0">
              <a:solidFill>
                <a:srgbClr val="FF0000"/>
              </a:solidFill>
            </a:endParaRPr>
          </a:p>
          <a:p>
            <a:r>
              <a:rPr lang="ja-JP" altLang="en-US" sz="2400" dirty="0"/>
              <a:t>１つのオブジェクトを様々な場所から参照したい時に使う。</a:t>
            </a:r>
            <a:endParaRPr lang="en-US" altLang="ja-JP" sz="2400" dirty="0"/>
          </a:p>
          <a:p>
            <a:r>
              <a:rPr lang="ja-JP" altLang="en-US" sz="2400" b="1" dirty="0">
                <a:solidFill>
                  <a:srgbClr val="FF0000"/>
                </a:solidFill>
              </a:rPr>
              <a:t>せっかくの自動</a:t>
            </a:r>
            <a:r>
              <a:rPr lang="en-US" altLang="ja-JP" sz="2400" b="1" dirty="0">
                <a:solidFill>
                  <a:srgbClr val="FF0000"/>
                </a:solidFill>
              </a:rPr>
              <a:t>delete</a:t>
            </a:r>
            <a:r>
              <a:rPr lang="ja-JP" altLang="en-US" sz="2400" b="1" dirty="0">
                <a:solidFill>
                  <a:srgbClr val="FF0000"/>
                </a:solidFill>
              </a:rPr>
              <a:t>が機能しなくなるリスクがある（循環参照）</a:t>
            </a:r>
            <a:endParaRPr lang="en-US" altLang="ja-JP" sz="2400" b="1" dirty="0">
              <a:solidFill>
                <a:srgbClr val="FF0000"/>
              </a:solidFill>
            </a:endParaRPr>
          </a:p>
          <a:p>
            <a:endParaRPr lang="en-US" altLang="ja-JP" sz="2400" dirty="0"/>
          </a:p>
          <a:p>
            <a:r>
              <a:rPr lang="ja-JP" altLang="en-US" sz="2400" b="1" dirty="0">
                <a:solidFill>
                  <a:srgbClr val="00B050"/>
                </a:solidFill>
              </a:rPr>
              <a:t>■</a:t>
            </a:r>
            <a:r>
              <a:rPr lang="en-US" altLang="ja-JP" sz="2400" b="1" dirty="0">
                <a:solidFill>
                  <a:srgbClr val="00B050"/>
                </a:solidFill>
              </a:rPr>
              <a:t>Weak</a:t>
            </a:r>
            <a:r>
              <a:rPr lang="ja-JP" altLang="en-US" sz="2400" b="1" dirty="0">
                <a:solidFill>
                  <a:srgbClr val="00B050"/>
                </a:solidFill>
              </a:rPr>
              <a:t>（ウィーク）</a:t>
            </a:r>
            <a:endParaRPr lang="en-US" altLang="ja-JP" sz="2400" b="1" dirty="0">
              <a:solidFill>
                <a:srgbClr val="00B050"/>
              </a:solidFill>
            </a:endParaRPr>
          </a:p>
          <a:p>
            <a:r>
              <a:rPr lang="en-US" altLang="ja-JP" sz="2400" dirty="0"/>
              <a:t>Shared</a:t>
            </a:r>
            <a:r>
              <a:rPr lang="ja-JP" altLang="en-US" sz="2400" dirty="0"/>
              <a:t>ポインターと同じオブジェクトを参照できるが、</a:t>
            </a:r>
            <a:r>
              <a:rPr lang="ja-JP" altLang="en-US" sz="2400" b="1" dirty="0">
                <a:solidFill>
                  <a:srgbClr val="FF0000"/>
                </a:solidFill>
              </a:rPr>
              <a:t>所有権は持たない。</a:t>
            </a:r>
            <a:endParaRPr lang="en-US" altLang="ja-JP" sz="2400" b="1" dirty="0">
              <a:solidFill>
                <a:srgbClr val="FF0000"/>
              </a:solidFill>
            </a:endParaRPr>
          </a:p>
          <a:p>
            <a:r>
              <a:rPr lang="ja-JP" altLang="en-US" sz="2400" dirty="0"/>
              <a:t>循環参照に対する対策として効果的。</a:t>
            </a:r>
            <a:endParaRPr lang="en-US" altLang="ja-JP" sz="2400" dirty="0"/>
          </a:p>
        </p:txBody>
      </p:sp>
    </p:spTree>
    <p:extLst>
      <p:ext uri="{BB962C8B-B14F-4D97-AF65-F5344CB8AC3E}">
        <p14:creationId xmlns:p14="http://schemas.microsoft.com/office/powerpoint/2010/main" val="36781866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877985" cy="584775"/>
          </a:xfrm>
          <a:prstGeom prst="rect">
            <a:avLst/>
          </a:prstGeom>
          <a:noFill/>
        </p:spPr>
        <p:txBody>
          <a:bodyPr wrap="none" rtlCol="0">
            <a:spAutoFit/>
          </a:bodyPr>
          <a:lstStyle/>
          <a:p>
            <a:r>
              <a:rPr lang="ja-JP" altLang="en-US" sz="3200" b="1" u="sng" dirty="0"/>
              <a:t>スマートポインター</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4277133" cy="461665"/>
          </a:xfrm>
          <a:prstGeom prst="rect">
            <a:avLst/>
          </a:prstGeom>
          <a:noFill/>
        </p:spPr>
        <p:txBody>
          <a:bodyPr wrap="none" rtlCol="0">
            <a:spAutoFit/>
          </a:bodyPr>
          <a:lstStyle/>
          <a:p>
            <a:r>
              <a:rPr lang="en-US" altLang="ja-JP" sz="2400" dirty="0"/>
              <a:t>Unique</a:t>
            </a:r>
            <a:r>
              <a:rPr lang="ja-JP" altLang="en-US" sz="2400" dirty="0"/>
              <a:t>から練習しましょう。</a:t>
            </a:r>
            <a:endParaRPr lang="en-US" altLang="ja-JP" sz="2400" dirty="0"/>
          </a:p>
        </p:txBody>
      </p:sp>
      <p:pic>
        <p:nvPicPr>
          <p:cNvPr id="3" name="図 2">
            <a:extLst>
              <a:ext uri="{FF2B5EF4-FFF2-40B4-BE49-F238E27FC236}">
                <a16:creationId xmlns:a16="http://schemas.microsoft.com/office/drawing/2014/main" id="{2E783280-FF52-4229-85C9-17434EB167EF}"/>
              </a:ext>
            </a:extLst>
          </p:cNvPr>
          <p:cNvPicPr>
            <a:picLocks noChangeAspect="1"/>
          </p:cNvPicPr>
          <p:nvPr/>
        </p:nvPicPr>
        <p:blipFill>
          <a:blip r:embed="rId2"/>
          <a:stretch>
            <a:fillRect/>
          </a:stretch>
        </p:blipFill>
        <p:spPr>
          <a:xfrm>
            <a:off x="567542" y="1817794"/>
            <a:ext cx="5528458" cy="4732360"/>
          </a:xfrm>
          <a:prstGeom prst="rect">
            <a:avLst/>
          </a:prstGeom>
        </p:spPr>
      </p:pic>
    </p:spTree>
    <p:extLst>
      <p:ext uri="{BB962C8B-B14F-4D97-AF65-F5344CB8AC3E}">
        <p14:creationId xmlns:p14="http://schemas.microsoft.com/office/powerpoint/2010/main" val="32217191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877985" cy="584775"/>
          </a:xfrm>
          <a:prstGeom prst="rect">
            <a:avLst/>
          </a:prstGeom>
          <a:noFill/>
        </p:spPr>
        <p:txBody>
          <a:bodyPr wrap="none" rtlCol="0">
            <a:spAutoFit/>
          </a:bodyPr>
          <a:lstStyle/>
          <a:p>
            <a:r>
              <a:rPr lang="ja-JP" altLang="en-US" sz="3200" b="1" u="sng" dirty="0"/>
              <a:t>スマートポインター</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168168" cy="461665"/>
          </a:xfrm>
          <a:prstGeom prst="rect">
            <a:avLst/>
          </a:prstGeom>
          <a:noFill/>
        </p:spPr>
        <p:txBody>
          <a:bodyPr wrap="none" rtlCol="0">
            <a:spAutoFit/>
          </a:bodyPr>
          <a:lstStyle/>
          <a:p>
            <a:r>
              <a:rPr lang="en-US" altLang="ja-JP" sz="2400" b="1" dirty="0" err="1">
                <a:solidFill>
                  <a:srgbClr val="0070C0"/>
                </a:solidFill>
              </a:rPr>
              <a:t>make_unique</a:t>
            </a:r>
            <a:r>
              <a:rPr lang="ja-JP" altLang="en-US" sz="2400" b="1" dirty="0">
                <a:solidFill>
                  <a:srgbClr val="0070C0"/>
                </a:solidFill>
              </a:rPr>
              <a:t>関数</a:t>
            </a:r>
            <a:r>
              <a:rPr lang="ja-JP" altLang="en-US" sz="2400" dirty="0"/>
              <a:t>はオブジェクトを生成して</a:t>
            </a:r>
            <a:r>
              <a:rPr lang="en-US" altLang="ja-JP" sz="2400" b="1" dirty="0" err="1">
                <a:solidFill>
                  <a:srgbClr val="00B050"/>
                </a:solidFill>
              </a:rPr>
              <a:t>unique_ptr</a:t>
            </a:r>
            <a:r>
              <a:rPr lang="ja-JP" altLang="en-US" sz="2400" dirty="0"/>
              <a:t>を返却します。</a:t>
            </a:r>
            <a:endParaRPr lang="en-US" altLang="ja-JP" sz="2400" dirty="0"/>
          </a:p>
        </p:txBody>
      </p:sp>
      <p:pic>
        <p:nvPicPr>
          <p:cNvPr id="5" name="図 4">
            <a:extLst>
              <a:ext uri="{FF2B5EF4-FFF2-40B4-BE49-F238E27FC236}">
                <a16:creationId xmlns:a16="http://schemas.microsoft.com/office/drawing/2014/main" id="{4F07041D-FCF8-482E-A08B-5548A3BEFEA9}"/>
              </a:ext>
            </a:extLst>
          </p:cNvPr>
          <p:cNvPicPr>
            <a:picLocks noChangeAspect="1"/>
          </p:cNvPicPr>
          <p:nvPr/>
        </p:nvPicPr>
        <p:blipFill>
          <a:blip r:embed="rId2"/>
          <a:stretch>
            <a:fillRect/>
          </a:stretch>
        </p:blipFill>
        <p:spPr>
          <a:xfrm>
            <a:off x="567542" y="1817794"/>
            <a:ext cx="8820254" cy="871618"/>
          </a:xfrm>
          <a:prstGeom prst="rect">
            <a:avLst/>
          </a:prstGeom>
        </p:spPr>
      </p:pic>
    </p:spTree>
    <p:extLst>
      <p:ext uri="{BB962C8B-B14F-4D97-AF65-F5344CB8AC3E}">
        <p14:creationId xmlns:p14="http://schemas.microsoft.com/office/powerpoint/2010/main" val="288063836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877985" cy="584775"/>
          </a:xfrm>
          <a:prstGeom prst="rect">
            <a:avLst/>
          </a:prstGeom>
          <a:noFill/>
        </p:spPr>
        <p:txBody>
          <a:bodyPr wrap="none" rtlCol="0">
            <a:spAutoFit/>
          </a:bodyPr>
          <a:lstStyle/>
          <a:p>
            <a:r>
              <a:rPr lang="ja-JP" altLang="en-US" sz="3200" b="1" u="sng" dirty="0"/>
              <a:t>スマートポインター</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893781" cy="461665"/>
          </a:xfrm>
          <a:prstGeom prst="rect">
            <a:avLst/>
          </a:prstGeom>
          <a:noFill/>
        </p:spPr>
        <p:txBody>
          <a:bodyPr wrap="none" rtlCol="0">
            <a:spAutoFit/>
          </a:bodyPr>
          <a:lstStyle/>
          <a:p>
            <a:r>
              <a:rPr lang="en-US" altLang="ja-JP" sz="2400" dirty="0"/>
              <a:t>Unique</a:t>
            </a:r>
            <a:r>
              <a:rPr lang="ja-JP" altLang="en-US" sz="2400" dirty="0"/>
              <a:t>は１つのみなので、「＝」によるコピーができません。</a:t>
            </a:r>
            <a:endParaRPr lang="en-US" altLang="ja-JP" sz="2400" dirty="0"/>
          </a:p>
        </p:txBody>
      </p:sp>
      <p:pic>
        <p:nvPicPr>
          <p:cNvPr id="3" name="図 2">
            <a:extLst>
              <a:ext uri="{FF2B5EF4-FFF2-40B4-BE49-F238E27FC236}">
                <a16:creationId xmlns:a16="http://schemas.microsoft.com/office/drawing/2014/main" id="{51FDF334-07D7-434A-9E05-E5E11CFD7C6A}"/>
              </a:ext>
            </a:extLst>
          </p:cNvPr>
          <p:cNvPicPr>
            <a:picLocks noChangeAspect="1"/>
          </p:cNvPicPr>
          <p:nvPr/>
        </p:nvPicPr>
        <p:blipFill>
          <a:blip r:embed="rId2"/>
          <a:stretch>
            <a:fillRect/>
          </a:stretch>
        </p:blipFill>
        <p:spPr>
          <a:xfrm>
            <a:off x="567541" y="1817794"/>
            <a:ext cx="8380595" cy="934371"/>
          </a:xfrm>
          <a:prstGeom prst="rect">
            <a:avLst/>
          </a:prstGeom>
        </p:spPr>
      </p:pic>
    </p:spTree>
    <p:extLst>
      <p:ext uri="{BB962C8B-B14F-4D97-AF65-F5344CB8AC3E}">
        <p14:creationId xmlns:p14="http://schemas.microsoft.com/office/powerpoint/2010/main" val="145946411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877985" cy="584775"/>
          </a:xfrm>
          <a:prstGeom prst="rect">
            <a:avLst/>
          </a:prstGeom>
          <a:noFill/>
        </p:spPr>
        <p:txBody>
          <a:bodyPr wrap="none" rtlCol="0">
            <a:spAutoFit/>
          </a:bodyPr>
          <a:lstStyle/>
          <a:p>
            <a:r>
              <a:rPr lang="ja-JP" altLang="en-US" sz="3200" b="1" u="sng" dirty="0"/>
              <a:t>スマートポインター</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7404591" cy="1200329"/>
          </a:xfrm>
          <a:prstGeom prst="rect">
            <a:avLst/>
          </a:prstGeom>
          <a:noFill/>
        </p:spPr>
        <p:txBody>
          <a:bodyPr wrap="none" rtlCol="0">
            <a:spAutoFit/>
          </a:bodyPr>
          <a:lstStyle/>
          <a:p>
            <a:r>
              <a:rPr lang="en-US" altLang="ja-JP" sz="2400" b="1" dirty="0">
                <a:solidFill>
                  <a:srgbClr val="0070C0"/>
                </a:solidFill>
              </a:rPr>
              <a:t>get</a:t>
            </a:r>
            <a:r>
              <a:rPr lang="ja-JP" altLang="en-US" sz="2400" b="1" dirty="0">
                <a:solidFill>
                  <a:srgbClr val="0070C0"/>
                </a:solidFill>
              </a:rPr>
              <a:t>関数</a:t>
            </a:r>
            <a:r>
              <a:rPr lang="ja-JP" altLang="en-US" sz="2400" dirty="0"/>
              <a:t>から</a:t>
            </a:r>
            <a:r>
              <a:rPr lang="ja-JP" altLang="en-US" sz="2400" b="1" dirty="0">
                <a:solidFill>
                  <a:srgbClr val="FF0000"/>
                </a:solidFill>
              </a:rPr>
              <a:t>アクセス用のポインタ</a:t>
            </a:r>
            <a:r>
              <a:rPr lang="ja-JP" altLang="en-US" sz="2400" dirty="0"/>
              <a:t>を取得できます。</a:t>
            </a:r>
            <a:endParaRPr lang="en-US" altLang="ja-JP" sz="2400" dirty="0"/>
          </a:p>
          <a:p>
            <a:r>
              <a:rPr lang="ja-JP" altLang="en-US" sz="2400" dirty="0"/>
              <a:t>ポインタを取得するだけで</a:t>
            </a:r>
            <a:r>
              <a:rPr lang="ja-JP" altLang="en-US" sz="2400" b="1" dirty="0">
                <a:solidFill>
                  <a:srgbClr val="FF0000"/>
                </a:solidFill>
              </a:rPr>
              <a:t>所有権は変わりません。</a:t>
            </a:r>
            <a:endParaRPr lang="en-US" altLang="ja-JP" sz="2400" b="1" dirty="0">
              <a:solidFill>
                <a:srgbClr val="FF0000"/>
              </a:solidFill>
            </a:endParaRPr>
          </a:p>
          <a:p>
            <a:r>
              <a:rPr lang="en-US" altLang="ja-JP" sz="2400" b="1" dirty="0">
                <a:solidFill>
                  <a:srgbClr val="0070C0"/>
                </a:solidFill>
              </a:rPr>
              <a:t>Get</a:t>
            </a:r>
            <a:r>
              <a:rPr lang="ja-JP" altLang="en-US" sz="2400" b="1" dirty="0">
                <a:solidFill>
                  <a:srgbClr val="0070C0"/>
                </a:solidFill>
              </a:rPr>
              <a:t>〇〇関数</a:t>
            </a:r>
            <a:r>
              <a:rPr lang="ja-JP" altLang="en-US" sz="2400" dirty="0"/>
              <a:t>などでよく使われます。</a:t>
            </a:r>
            <a:endParaRPr lang="en-US" altLang="ja-JP" sz="2400" dirty="0"/>
          </a:p>
        </p:txBody>
      </p:sp>
      <p:pic>
        <p:nvPicPr>
          <p:cNvPr id="5" name="図 4">
            <a:extLst>
              <a:ext uri="{FF2B5EF4-FFF2-40B4-BE49-F238E27FC236}">
                <a16:creationId xmlns:a16="http://schemas.microsoft.com/office/drawing/2014/main" id="{5E85E635-8FC4-4613-8DAB-F4C9FE39DDF2}"/>
              </a:ext>
            </a:extLst>
          </p:cNvPr>
          <p:cNvPicPr>
            <a:picLocks noChangeAspect="1"/>
          </p:cNvPicPr>
          <p:nvPr/>
        </p:nvPicPr>
        <p:blipFill>
          <a:blip r:embed="rId2"/>
          <a:stretch>
            <a:fillRect/>
          </a:stretch>
        </p:blipFill>
        <p:spPr>
          <a:xfrm>
            <a:off x="567541" y="2556458"/>
            <a:ext cx="7952179" cy="1200329"/>
          </a:xfrm>
          <a:prstGeom prst="rect">
            <a:avLst/>
          </a:prstGeom>
        </p:spPr>
      </p:pic>
    </p:spTree>
    <p:extLst>
      <p:ext uri="{BB962C8B-B14F-4D97-AF65-F5344CB8AC3E}">
        <p14:creationId xmlns:p14="http://schemas.microsoft.com/office/powerpoint/2010/main" val="316740515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877985" cy="584775"/>
          </a:xfrm>
          <a:prstGeom prst="rect">
            <a:avLst/>
          </a:prstGeom>
          <a:noFill/>
        </p:spPr>
        <p:txBody>
          <a:bodyPr wrap="none" rtlCol="0">
            <a:spAutoFit/>
          </a:bodyPr>
          <a:lstStyle/>
          <a:p>
            <a:r>
              <a:rPr lang="ja-JP" altLang="en-US" sz="3200" b="1" u="sng" dirty="0"/>
              <a:t>スマートポインター</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725739" cy="830997"/>
          </a:xfrm>
          <a:prstGeom prst="rect">
            <a:avLst/>
          </a:prstGeom>
          <a:noFill/>
        </p:spPr>
        <p:txBody>
          <a:bodyPr wrap="none" rtlCol="0">
            <a:spAutoFit/>
          </a:bodyPr>
          <a:lstStyle/>
          <a:p>
            <a:r>
              <a:rPr lang="ja-JP" altLang="en-US" sz="2400" dirty="0"/>
              <a:t>１つしかないので、他の変数に与えるには</a:t>
            </a:r>
            <a:r>
              <a:rPr lang="ja-JP" altLang="en-US" sz="2400" b="1" dirty="0">
                <a:solidFill>
                  <a:srgbClr val="FF0000"/>
                </a:solidFill>
              </a:rPr>
              <a:t>移動</a:t>
            </a:r>
            <a:r>
              <a:rPr lang="ja-JP" altLang="en-US" sz="2400" dirty="0"/>
              <a:t>するしかありません。</a:t>
            </a:r>
            <a:endParaRPr lang="en-US" altLang="ja-JP" sz="2400" dirty="0"/>
          </a:p>
          <a:p>
            <a:r>
              <a:rPr lang="ja-JP" altLang="en-US" sz="2400" dirty="0"/>
              <a:t>移動には</a:t>
            </a:r>
            <a:r>
              <a:rPr lang="en-US" altLang="ja-JP" sz="2400" b="1" dirty="0">
                <a:solidFill>
                  <a:srgbClr val="0070C0"/>
                </a:solidFill>
              </a:rPr>
              <a:t>move</a:t>
            </a:r>
            <a:r>
              <a:rPr lang="ja-JP" altLang="en-US" sz="2400" b="1" dirty="0">
                <a:solidFill>
                  <a:srgbClr val="0070C0"/>
                </a:solidFill>
              </a:rPr>
              <a:t>関数</a:t>
            </a:r>
            <a:r>
              <a:rPr lang="ja-JP" altLang="en-US" sz="2400" dirty="0"/>
              <a:t>を使います。</a:t>
            </a:r>
            <a:endParaRPr lang="en-US" altLang="ja-JP" sz="2400" dirty="0"/>
          </a:p>
        </p:txBody>
      </p:sp>
      <p:pic>
        <p:nvPicPr>
          <p:cNvPr id="3" name="図 2">
            <a:extLst>
              <a:ext uri="{FF2B5EF4-FFF2-40B4-BE49-F238E27FC236}">
                <a16:creationId xmlns:a16="http://schemas.microsoft.com/office/drawing/2014/main" id="{A132A32B-9918-4358-8218-8E1AD1B5274D}"/>
              </a:ext>
            </a:extLst>
          </p:cNvPr>
          <p:cNvPicPr>
            <a:picLocks noChangeAspect="1"/>
          </p:cNvPicPr>
          <p:nvPr/>
        </p:nvPicPr>
        <p:blipFill>
          <a:blip r:embed="rId2"/>
          <a:stretch>
            <a:fillRect/>
          </a:stretch>
        </p:blipFill>
        <p:spPr>
          <a:xfrm>
            <a:off x="567542" y="2187126"/>
            <a:ext cx="7627648" cy="2623449"/>
          </a:xfrm>
          <a:prstGeom prst="rect">
            <a:avLst/>
          </a:prstGeom>
        </p:spPr>
      </p:pic>
      <p:sp>
        <p:nvSpPr>
          <p:cNvPr id="9" name="テキスト ボックス 8">
            <a:extLst>
              <a:ext uri="{FF2B5EF4-FFF2-40B4-BE49-F238E27FC236}">
                <a16:creationId xmlns:a16="http://schemas.microsoft.com/office/drawing/2014/main" id="{0E60D74F-8CE1-48B1-8E5C-C856F3941590}"/>
              </a:ext>
            </a:extLst>
          </p:cNvPr>
          <p:cNvSpPr txBox="1"/>
          <p:nvPr/>
        </p:nvSpPr>
        <p:spPr>
          <a:xfrm>
            <a:off x="567541" y="4950275"/>
            <a:ext cx="5806398" cy="830997"/>
          </a:xfrm>
          <a:prstGeom prst="rect">
            <a:avLst/>
          </a:prstGeom>
          <a:noFill/>
        </p:spPr>
        <p:txBody>
          <a:bodyPr wrap="none" rtlCol="0">
            <a:spAutoFit/>
          </a:bodyPr>
          <a:lstStyle/>
          <a:p>
            <a:r>
              <a:rPr lang="en-US" altLang="ja-JP" sz="2400" dirty="0"/>
              <a:t>player</a:t>
            </a:r>
            <a:r>
              <a:rPr lang="ja-JP" altLang="en-US" sz="2400" dirty="0"/>
              <a:t>→</a:t>
            </a:r>
            <a:r>
              <a:rPr lang="en-US" altLang="ja-JP" sz="2400" dirty="0"/>
              <a:t>player2</a:t>
            </a:r>
            <a:r>
              <a:rPr lang="ja-JP" altLang="en-US" sz="2400" dirty="0"/>
              <a:t>へと移動しているので、</a:t>
            </a:r>
            <a:endParaRPr lang="en-US" altLang="ja-JP" sz="2400" dirty="0"/>
          </a:p>
          <a:p>
            <a:r>
              <a:rPr lang="en-US" altLang="ja-JP" sz="2400" dirty="0"/>
              <a:t>player</a:t>
            </a:r>
            <a:r>
              <a:rPr lang="ja-JP" altLang="en-US" sz="2400" dirty="0"/>
              <a:t>は</a:t>
            </a:r>
            <a:r>
              <a:rPr lang="en-US" altLang="ja-JP" sz="2400" b="1" dirty="0">
                <a:solidFill>
                  <a:srgbClr val="FF0000"/>
                </a:solidFill>
              </a:rPr>
              <a:t>empty</a:t>
            </a:r>
            <a:r>
              <a:rPr lang="ja-JP" altLang="en-US" sz="2400" b="1" dirty="0">
                <a:solidFill>
                  <a:srgbClr val="FF0000"/>
                </a:solidFill>
              </a:rPr>
              <a:t>（空）</a:t>
            </a:r>
            <a:r>
              <a:rPr lang="ja-JP" altLang="en-US" sz="2400" dirty="0"/>
              <a:t>となります。</a:t>
            </a:r>
            <a:endParaRPr lang="en-US" altLang="ja-JP" sz="2400" dirty="0"/>
          </a:p>
        </p:txBody>
      </p:sp>
    </p:spTree>
    <p:extLst>
      <p:ext uri="{BB962C8B-B14F-4D97-AF65-F5344CB8AC3E}">
        <p14:creationId xmlns:p14="http://schemas.microsoft.com/office/powerpoint/2010/main" val="312868951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877985" cy="584775"/>
          </a:xfrm>
          <a:prstGeom prst="rect">
            <a:avLst/>
          </a:prstGeom>
          <a:noFill/>
        </p:spPr>
        <p:txBody>
          <a:bodyPr wrap="none" rtlCol="0">
            <a:spAutoFit/>
          </a:bodyPr>
          <a:lstStyle/>
          <a:p>
            <a:r>
              <a:rPr lang="ja-JP" altLang="en-US" sz="3200" b="1" u="sng" dirty="0"/>
              <a:t>スマートポインター</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078126" cy="1938992"/>
          </a:xfrm>
          <a:prstGeom prst="rect">
            <a:avLst/>
          </a:prstGeom>
          <a:noFill/>
        </p:spPr>
        <p:txBody>
          <a:bodyPr wrap="none" rtlCol="0">
            <a:spAutoFit/>
          </a:bodyPr>
          <a:lstStyle/>
          <a:p>
            <a:r>
              <a:rPr lang="ja-JP" altLang="en-US" sz="2400" dirty="0"/>
              <a:t>関数を抜けると、ローカル変数である</a:t>
            </a:r>
            <a:r>
              <a:rPr lang="en-US" altLang="ja-JP" sz="2400" dirty="0"/>
              <a:t>player</a:t>
            </a:r>
            <a:r>
              <a:rPr lang="ja-JP" altLang="en-US" sz="2400" dirty="0"/>
              <a:t>は無くなります。</a:t>
            </a:r>
            <a:endParaRPr lang="en-US" altLang="ja-JP" sz="2400" dirty="0"/>
          </a:p>
          <a:p>
            <a:r>
              <a:rPr lang="ja-JP" altLang="en-US" sz="2400" dirty="0"/>
              <a:t>これで</a:t>
            </a:r>
            <a:r>
              <a:rPr lang="en-US" altLang="ja-JP" sz="2400" dirty="0"/>
              <a:t>Player</a:t>
            </a:r>
            <a:r>
              <a:rPr lang="ja-JP" altLang="en-US" sz="2400" dirty="0"/>
              <a:t>の所有権を持つ変数がすべてなくなりました。</a:t>
            </a:r>
            <a:endParaRPr lang="en-US" altLang="ja-JP" sz="2400" dirty="0"/>
          </a:p>
          <a:p>
            <a:endParaRPr lang="en-US" altLang="ja-JP" sz="2400" dirty="0"/>
          </a:p>
          <a:p>
            <a:r>
              <a:rPr lang="ja-JP" altLang="en-US" sz="2400" dirty="0"/>
              <a:t>スマートポインターで生成したオブジェクトは、</a:t>
            </a:r>
            <a:endParaRPr lang="en-US" altLang="ja-JP" sz="2400" dirty="0"/>
          </a:p>
          <a:p>
            <a:r>
              <a:rPr lang="ja-JP" altLang="en-US" sz="2400" b="1" dirty="0">
                <a:solidFill>
                  <a:srgbClr val="FF0000"/>
                </a:solidFill>
              </a:rPr>
              <a:t>所有権がなくなれば自動で</a:t>
            </a:r>
            <a:r>
              <a:rPr lang="en-US" altLang="ja-JP" sz="2400" b="1" dirty="0">
                <a:solidFill>
                  <a:srgbClr val="FF0000"/>
                </a:solidFill>
              </a:rPr>
              <a:t>delete</a:t>
            </a:r>
            <a:r>
              <a:rPr lang="ja-JP" altLang="en-US" sz="2400" dirty="0"/>
              <a:t>されます。</a:t>
            </a:r>
            <a:endParaRPr lang="en-US" altLang="ja-JP" sz="2400" dirty="0"/>
          </a:p>
        </p:txBody>
      </p:sp>
      <p:pic>
        <p:nvPicPr>
          <p:cNvPr id="5" name="図 4">
            <a:extLst>
              <a:ext uri="{FF2B5EF4-FFF2-40B4-BE49-F238E27FC236}">
                <a16:creationId xmlns:a16="http://schemas.microsoft.com/office/drawing/2014/main" id="{B3814176-4905-4AC9-BD15-7AE4EA39E5FB}"/>
              </a:ext>
            </a:extLst>
          </p:cNvPr>
          <p:cNvPicPr>
            <a:picLocks noChangeAspect="1"/>
          </p:cNvPicPr>
          <p:nvPr/>
        </p:nvPicPr>
        <p:blipFill>
          <a:blip r:embed="rId2"/>
          <a:stretch>
            <a:fillRect/>
          </a:stretch>
        </p:blipFill>
        <p:spPr>
          <a:xfrm>
            <a:off x="567542" y="3295121"/>
            <a:ext cx="9362131" cy="1088620"/>
          </a:xfrm>
          <a:prstGeom prst="rect">
            <a:avLst/>
          </a:prstGeom>
        </p:spPr>
      </p:pic>
      <p:sp>
        <p:nvSpPr>
          <p:cNvPr id="8" name="テキスト ボックス 7">
            <a:extLst>
              <a:ext uri="{FF2B5EF4-FFF2-40B4-BE49-F238E27FC236}">
                <a16:creationId xmlns:a16="http://schemas.microsoft.com/office/drawing/2014/main" id="{93C76CBA-B858-4AC5-9825-4ED7ADD359AC}"/>
              </a:ext>
            </a:extLst>
          </p:cNvPr>
          <p:cNvSpPr txBox="1"/>
          <p:nvPr/>
        </p:nvSpPr>
        <p:spPr>
          <a:xfrm>
            <a:off x="567542" y="4523441"/>
            <a:ext cx="10299614" cy="461665"/>
          </a:xfrm>
          <a:prstGeom prst="rect">
            <a:avLst/>
          </a:prstGeom>
          <a:noFill/>
        </p:spPr>
        <p:txBody>
          <a:bodyPr wrap="none" rtlCol="0">
            <a:spAutoFit/>
          </a:bodyPr>
          <a:lstStyle/>
          <a:p>
            <a:r>
              <a:rPr lang="ja-JP" altLang="en-US" sz="2400" dirty="0"/>
              <a:t>実際に</a:t>
            </a:r>
            <a:r>
              <a:rPr lang="en-US" altLang="ja-JP" sz="2400" b="1" dirty="0">
                <a:solidFill>
                  <a:srgbClr val="0070C0"/>
                </a:solidFill>
              </a:rPr>
              <a:t>delete</a:t>
            </a:r>
            <a:r>
              <a:rPr lang="ja-JP" altLang="en-US" sz="2400" dirty="0"/>
              <a:t>は使ってないですが、</a:t>
            </a:r>
            <a:r>
              <a:rPr lang="ja-JP" altLang="en-US" sz="2400" b="1" dirty="0">
                <a:solidFill>
                  <a:srgbClr val="FF0000"/>
                </a:solidFill>
              </a:rPr>
              <a:t>デストラクタが呼ばれている</a:t>
            </a:r>
            <a:r>
              <a:rPr lang="ja-JP" altLang="en-US" sz="2400" dirty="0"/>
              <a:t>はずです</a:t>
            </a:r>
            <a:endParaRPr lang="en-US" altLang="ja-JP" sz="2400" dirty="0"/>
          </a:p>
        </p:txBody>
      </p:sp>
    </p:spTree>
    <p:extLst>
      <p:ext uri="{BB962C8B-B14F-4D97-AF65-F5344CB8AC3E}">
        <p14:creationId xmlns:p14="http://schemas.microsoft.com/office/powerpoint/2010/main" val="415874968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877985" cy="584775"/>
          </a:xfrm>
          <a:prstGeom prst="rect">
            <a:avLst/>
          </a:prstGeom>
          <a:noFill/>
        </p:spPr>
        <p:txBody>
          <a:bodyPr wrap="none" rtlCol="0">
            <a:spAutoFit/>
          </a:bodyPr>
          <a:lstStyle/>
          <a:p>
            <a:r>
              <a:rPr lang="ja-JP" altLang="en-US" sz="3200" b="1" u="sng" dirty="0"/>
              <a:t>スマートポインター</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4267515" cy="461665"/>
          </a:xfrm>
          <a:prstGeom prst="rect">
            <a:avLst/>
          </a:prstGeom>
          <a:noFill/>
        </p:spPr>
        <p:txBody>
          <a:bodyPr wrap="none" rtlCol="0">
            <a:spAutoFit/>
          </a:bodyPr>
          <a:lstStyle/>
          <a:p>
            <a:r>
              <a:rPr lang="ja-JP" altLang="en-US" sz="2400" dirty="0"/>
              <a:t>続いて</a:t>
            </a:r>
            <a:r>
              <a:rPr lang="en-US" altLang="ja-JP" sz="2400" dirty="0"/>
              <a:t>Shared</a:t>
            </a:r>
            <a:r>
              <a:rPr lang="ja-JP" altLang="en-US" sz="2400" dirty="0"/>
              <a:t>を練習します。</a:t>
            </a:r>
            <a:endParaRPr lang="en-US" altLang="ja-JP" sz="2400" dirty="0"/>
          </a:p>
        </p:txBody>
      </p:sp>
      <p:pic>
        <p:nvPicPr>
          <p:cNvPr id="3" name="図 2">
            <a:extLst>
              <a:ext uri="{FF2B5EF4-FFF2-40B4-BE49-F238E27FC236}">
                <a16:creationId xmlns:a16="http://schemas.microsoft.com/office/drawing/2014/main" id="{327D281B-E888-48FE-AA5B-61D92E77C303}"/>
              </a:ext>
            </a:extLst>
          </p:cNvPr>
          <p:cNvPicPr>
            <a:picLocks noChangeAspect="1"/>
          </p:cNvPicPr>
          <p:nvPr/>
        </p:nvPicPr>
        <p:blipFill>
          <a:blip r:embed="rId2"/>
          <a:stretch>
            <a:fillRect/>
          </a:stretch>
        </p:blipFill>
        <p:spPr>
          <a:xfrm>
            <a:off x="567542" y="1817794"/>
            <a:ext cx="7716327" cy="4048690"/>
          </a:xfrm>
          <a:prstGeom prst="rect">
            <a:avLst/>
          </a:prstGeom>
        </p:spPr>
      </p:pic>
    </p:spTree>
    <p:extLst>
      <p:ext uri="{BB962C8B-B14F-4D97-AF65-F5344CB8AC3E}">
        <p14:creationId xmlns:p14="http://schemas.microsoft.com/office/powerpoint/2010/main" val="29621869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877985" cy="584775"/>
          </a:xfrm>
          <a:prstGeom prst="rect">
            <a:avLst/>
          </a:prstGeom>
          <a:noFill/>
        </p:spPr>
        <p:txBody>
          <a:bodyPr wrap="none" rtlCol="0">
            <a:spAutoFit/>
          </a:bodyPr>
          <a:lstStyle/>
          <a:p>
            <a:r>
              <a:rPr lang="ja-JP" altLang="en-US" sz="3200" b="1" u="sng" dirty="0"/>
              <a:t>スマートポインター</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241632" cy="830997"/>
          </a:xfrm>
          <a:prstGeom prst="rect">
            <a:avLst/>
          </a:prstGeom>
          <a:noFill/>
        </p:spPr>
        <p:txBody>
          <a:bodyPr wrap="none" rtlCol="0">
            <a:spAutoFit/>
          </a:bodyPr>
          <a:lstStyle/>
          <a:p>
            <a:r>
              <a:rPr lang="en-US" altLang="ja-JP" sz="2400" dirty="0"/>
              <a:t>Shared</a:t>
            </a:r>
            <a:r>
              <a:rPr lang="ja-JP" altLang="en-US" sz="2400" dirty="0"/>
              <a:t>は所有権を複数の変数に持たせることができます。</a:t>
            </a:r>
            <a:endParaRPr lang="en-US" altLang="ja-JP" sz="2400" dirty="0"/>
          </a:p>
          <a:p>
            <a:r>
              <a:rPr lang="ja-JP" altLang="en-US" sz="2400" dirty="0"/>
              <a:t>サンプルでは</a:t>
            </a:r>
            <a:r>
              <a:rPr lang="en-US" altLang="ja-JP" sz="2400" b="1" dirty="0" err="1"/>
              <a:t>g_SharedPlayer</a:t>
            </a:r>
            <a:r>
              <a:rPr lang="ja-JP" altLang="en-US" sz="2400" dirty="0"/>
              <a:t>と</a:t>
            </a:r>
            <a:r>
              <a:rPr lang="en-US" altLang="ja-JP" sz="2400" b="1" dirty="0"/>
              <a:t>player</a:t>
            </a:r>
            <a:r>
              <a:rPr lang="ja-JP" altLang="en-US" sz="2400" dirty="0"/>
              <a:t>が所有権を持っています。</a:t>
            </a:r>
            <a:endParaRPr lang="en-US" altLang="ja-JP" sz="2400" dirty="0"/>
          </a:p>
        </p:txBody>
      </p:sp>
      <p:pic>
        <p:nvPicPr>
          <p:cNvPr id="3" name="図 2">
            <a:extLst>
              <a:ext uri="{FF2B5EF4-FFF2-40B4-BE49-F238E27FC236}">
                <a16:creationId xmlns:a16="http://schemas.microsoft.com/office/drawing/2014/main" id="{FAF5F6E7-704C-48F5-84C1-FB212484CCBE}"/>
              </a:ext>
            </a:extLst>
          </p:cNvPr>
          <p:cNvPicPr>
            <a:picLocks noChangeAspect="1"/>
          </p:cNvPicPr>
          <p:nvPr/>
        </p:nvPicPr>
        <p:blipFill>
          <a:blip r:embed="rId2"/>
          <a:stretch>
            <a:fillRect/>
          </a:stretch>
        </p:blipFill>
        <p:spPr>
          <a:xfrm>
            <a:off x="567542" y="2142946"/>
            <a:ext cx="6363588" cy="1286054"/>
          </a:xfrm>
          <a:prstGeom prst="rect">
            <a:avLst/>
          </a:prstGeom>
        </p:spPr>
      </p:pic>
      <p:sp>
        <p:nvSpPr>
          <p:cNvPr id="5" name="正方形/長方形 4">
            <a:extLst>
              <a:ext uri="{FF2B5EF4-FFF2-40B4-BE49-F238E27FC236}">
                <a16:creationId xmlns:a16="http://schemas.microsoft.com/office/drawing/2014/main" id="{B0EA7371-58E6-49A4-9583-2A15D87651DE}"/>
              </a:ext>
            </a:extLst>
          </p:cNvPr>
          <p:cNvSpPr/>
          <p:nvPr/>
        </p:nvSpPr>
        <p:spPr>
          <a:xfrm>
            <a:off x="567542" y="3730422"/>
            <a:ext cx="2026024" cy="263562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t>Player</a:t>
            </a:r>
            <a:endParaRPr kumimoji="1" lang="ja-JP" altLang="en-US" dirty="0"/>
          </a:p>
        </p:txBody>
      </p:sp>
      <p:sp>
        <p:nvSpPr>
          <p:cNvPr id="9" name="スクロール: 縦 8">
            <a:extLst>
              <a:ext uri="{FF2B5EF4-FFF2-40B4-BE49-F238E27FC236}">
                <a16:creationId xmlns:a16="http://schemas.microsoft.com/office/drawing/2014/main" id="{092CDC6E-92CB-41F0-A98C-E89F7C1E99A8}"/>
              </a:ext>
            </a:extLst>
          </p:cNvPr>
          <p:cNvSpPr/>
          <p:nvPr/>
        </p:nvSpPr>
        <p:spPr>
          <a:xfrm>
            <a:off x="3953934" y="3330182"/>
            <a:ext cx="1210733" cy="1329266"/>
          </a:xfrm>
          <a:prstGeom prst="verticalScroll">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kumimoji="1" lang="en-US" altLang="ja-JP" b="1" dirty="0"/>
              <a:t>Player</a:t>
            </a:r>
            <a:r>
              <a:rPr kumimoji="1" lang="ja-JP" altLang="en-US" b="1" dirty="0"/>
              <a:t>所有権</a:t>
            </a:r>
          </a:p>
        </p:txBody>
      </p:sp>
      <p:sp>
        <p:nvSpPr>
          <p:cNvPr id="10" name="フローチャート: 代替処理 9">
            <a:extLst>
              <a:ext uri="{FF2B5EF4-FFF2-40B4-BE49-F238E27FC236}">
                <a16:creationId xmlns:a16="http://schemas.microsoft.com/office/drawing/2014/main" id="{74555550-CF5D-435A-8B72-0A59DF1011AC}"/>
              </a:ext>
            </a:extLst>
          </p:cNvPr>
          <p:cNvSpPr/>
          <p:nvPr/>
        </p:nvSpPr>
        <p:spPr>
          <a:xfrm>
            <a:off x="4783667" y="4350415"/>
            <a:ext cx="2489200" cy="537634"/>
          </a:xfrm>
          <a:prstGeom prst="flowChartAlternateProcess">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kumimoji="1" lang="en-US" altLang="ja-JP" b="1" dirty="0"/>
              <a:t>player</a:t>
            </a:r>
            <a:endParaRPr kumimoji="1" lang="ja-JP" altLang="en-US" b="1" dirty="0"/>
          </a:p>
        </p:txBody>
      </p:sp>
      <p:sp>
        <p:nvSpPr>
          <p:cNvPr id="11" name="スクロール: 縦 10">
            <a:extLst>
              <a:ext uri="{FF2B5EF4-FFF2-40B4-BE49-F238E27FC236}">
                <a16:creationId xmlns:a16="http://schemas.microsoft.com/office/drawing/2014/main" id="{02BE6EC9-EB6E-4BED-852A-A79F7242BE1D}"/>
              </a:ext>
            </a:extLst>
          </p:cNvPr>
          <p:cNvSpPr/>
          <p:nvPr/>
        </p:nvSpPr>
        <p:spPr>
          <a:xfrm>
            <a:off x="3953934" y="5076996"/>
            <a:ext cx="1210733" cy="1329266"/>
          </a:xfrm>
          <a:prstGeom prst="verticalScroll">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kumimoji="1" lang="en-US" altLang="ja-JP" b="1" dirty="0"/>
              <a:t>Player</a:t>
            </a:r>
            <a:r>
              <a:rPr kumimoji="1" lang="ja-JP" altLang="en-US" b="1" dirty="0"/>
              <a:t>所有権</a:t>
            </a:r>
          </a:p>
        </p:txBody>
      </p:sp>
      <p:sp>
        <p:nvSpPr>
          <p:cNvPr id="12" name="フローチャート: 代替処理 11">
            <a:extLst>
              <a:ext uri="{FF2B5EF4-FFF2-40B4-BE49-F238E27FC236}">
                <a16:creationId xmlns:a16="http://schemas.microsoft.com/office/drawing/2014/main" id="{5C8A2E50-40B4-4038-A26F-747A18E49E44}"/>
              </a:ext>
            </a:extLst>
          </p:cNvPr>
          <p:cNvSpPr/>
          <p:nvPr/>
        </p:nvSpPr>
        <p:spPr>
          <a:xfrm>
            <a:off x="4783667" y="6097229"/>
            <a:ext cx="2489200" cy="537634"/>
          </a:xfrm>
          <a:prstGeom prst="flowChartAlternateProcess">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kumimoji="1" lang="en-US" altLang="ja-JP" b="1" dirty="0" err="1"/>
              <a:t>g_SharedPlayer</a:t>
            </a:r>
            <a:endParaRPr kumimoji="1" lang="ja-JP" altLang="en-US" b="1" dirty="0"/>
          </a:p>
        </p:txBody>
      </p:sp>
    </p:spTree>
    <p:extLst>
      <p:ext uri="{BB962C8B-B14F-4D97-AF65-F5344CB8AC3E}">
        <p14:creationId xmlns:p14="http://schemas.microsoft.com/office/powerpoint/2010/main" val="168422916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877985" cy="584775"/>
          </a:xfrm>
          <a:prstGeom prst="rect">
            <a:avLst/>
          </a:prstGeom>
          <a:noFill/>
        </p:spPr>
        <p:txBody>
          <a:bodyPr wrap="none" rtlCol="0">
            <a:spAutoFit/>
          </a:bodyPr>
          <a:lstStyle/>
          <a:p>
            <a:r>
              <a:rPr lang="ja-JP" altLang="en-US" sz="3200" b="1" u="sng" dirty="0"/>
              <a:t>スマートポインター</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530447" cy="830997"/>
          </a:xfrm>
          <a:prstGeom prst="rect">
            <a:avLst/>
          </a:prstGeom>
          <a:noFill/>
        </p:spPr>
        <p:txBody>
          <a:bodyPr wrap="none" rtlCol="0">
            <a:spAutoFit/>
          </a:bodyPr>
          <a:lstStyle/>
          <a:p>
            <a:r>
              <a:rPr lang="ja-JP" altLang="en-US" sz="2400" dirty="0"/>
              <a:t>関数を抜けると</a:t>
            </a:r>
            <a:r>
              <a:rPr lang="en-US" altLang="ja-JP" sz="2400" dirty="0"/>
              <a:t>player</a:t>
            </a:r>
            <a:r>
              <a:rPr lang="ja-JP" altLang="en-US" sz="2400" dirty="0"/>
              <a:t>変数は無くなります。</a:t>
            </a:r>
            <a:endParaRPr lang="en-US" altLang="ja-JP" sz="2400" dirty="0"/>
          </a:p>
          <a:p>
            <a:r>
              <a:rPr lang="ja-JP" altLang="en-US" sz="2400" dirty="0"/>
              <a:t>ただし、</a:t>
            </a:r>
            <a:r>
              <a:rPr lang="en-US" altLang="ja-JP" sz="2400" b="1" dirty="0" err="1">
                <a:solidFill>
                  <a:srgbClr val="FF0000"/>
                </a:solidFill>
              </a:rPr>
              <a:t>g_SharedPlayer</a:t>
            </a:r>
            <a:r>
              <a:rPr lang="ja-JP" altLang="en-US" sz="2400" b="1" dirty="0">
                <a:solidFill>
                  <a:srgbClr val="FF0000"/>
                </a:solidFill>
              </a:rPr>
              <a:t>に所有権が残っているので自動削除されません。</a:t>
            </a:r>
            <a:endParaRPr lang="en-US" altLang="ja-JP" sz="2400" b="1" dirty="0">
              <a:solidFill>
                <a:srgbClr val="FF0000"/>
              </a:solidFill>
            </a:endParaRPr>
          </a:p>
        </p:txBody>
      </p:sp>
      <p:sp>
        <p:nvSpPr>
          <p:cNvPr id="5" name="正方形/長方形 4">
            <a:extLst>
              <a:ext uri="{FF2B5EF4-FFF2-40B4-BE49-F238E27FC236}">
                <a16:creationId xmlns:a16="http://schemas.microsoft.com/office/drawing/2014/main" id="{B0EA7371-58E6-49A4-9583-2A15D87651DE}"/>
              </a:ext>
            </a:extLst>
          </p:cNvPr>
          <p:cNvSpPr/>
          <p:nvPr/>
        </p:nvSpPr>
        <p:spPr>
          <a:xfrm>
            <a:off x="567542" y="3730422"/>
            <a:ext cx="2026024" cy="263562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t>Player</a:t>
            </a:r>
            <a:endParaRPr kumimoji="1" lang="ja-JP" altLang="en-US" dirty="0"/>
          </a:p>
        </p:txBody>
      </p:sp>
      <p:pic>
        <p:nvPicPr>
          <p:cNvPr id="9" name="図 8">
            <a:extLst>
              <a:ext uri="{FF2B5EF4-FFF2-40B4-BE49-F238E27FC236}">
                <a16:creationId xmlns:a16="http://schemas.microsoft.com/office/drawing/2014/main" id="{ACA86A39-9EC5-476B-A25F-731EF3074A15}"/>
              </a:ext>
            </a:extLst>
          </p:cNvPr>
          <p:cNvPicPr>
            <a:picLocks noChangeAspect="1"/>
          </p:cNvPicPr>
          <p:nvPr/>
        </p:nvPicPr>
        <p:blipFill>
          <a:blip r:embed="rId2"/>
          <a:stretch>
            <a:fillRect/>
          </a:stretch>
        </p:blipFill>
        <p:spPr>
          <a:xfrm>
            <a:off x="567542" y="2187126"/>
            <a:ext cx="7260287" cy="940452"/>
          </a:xfrm>
          <a:prstGeom prst="rect">
            <a:avLst/>
          </a:prstGeom>
        </p:spPr>
      </p:pic>
      <p:sp>
        <p:nvSpPr>
          <p:cNvPr id="12" name="テキスト ボックス 11">
            <a:extLst>
              <a:ext uri="{FF2B5EF4-FFF2-40B4-BE49-F238E27FC236}">
                <a16:creationId xmlns:a16="http://schemas.microsoft.com/office/drawing/2014/main" id="{DE8E4A33-B14B-4B1F-8488-988A4B9CE017}"/>
              </a:ext>
            </a:extLst>
          </p:cNvPr>
          <p:cNvSpPr txBox="1"/>
          <p:nvPr/>
        </p:nvSpPr>
        <p:spPr>
          <a:xfrm>
            <a:off x="6968239" y="4915838"/>
            <a:ext cx="4493538" cy="1569660"/>
          </a:xfrm>
          <a:prstGeom prst="rect">
            <a:avLst/>
          </a:prstGeom>
          <a:noFill/>
        </p:spPr>
        <p:txBody>
          <a:bodyPr wrap="none" rtlCol="0">
            <a:spAutoFit/>
          </a:bodyPr>
          <a:lstStyle/>
          <a:p>
            <a:r>
              <a:rPr lang="en-US" altLang="ja-JP" sz="2400" b="1" dirty="0">
                <a:solidFill>
                  <a:srgbClr val="00B050"/>
                </a:solidFill>
              </a:rPr>
              <a:t>MEMO</a:t>
            </a:r>
          </a:p>
          <a:p>
            <a:r>
              <a:rPr lang="ja-JP" altLang="en-US" sz="2400" dirty="0"/>
              <a:t>スマートポインターは、</a:t>
            </a:r>
            <a:endParaRPr lang="en-US" altLang="ja-JP" sz="2400" dirty="0"/>
          </a:p>
          <a:p>
            <a:r>
              <a:rPr lang="ja-JP" altLang="en-US" sz="2400" dirty="0"/>
              <a:t>全ての所有権がなくならないと</a:t>
            </a:r>
            <a:endParaRPr lang="en-US" altLang="ja-JP" sz="2400" dirty="0"/>
          </a:p>
          <a:p>
            <a:r>
              <a:rPr lang="ja-JP" altLang="en-US" sz="2400" dirty="0"/>
              <a:t>自動削除されません</a:t>
            </a:r>
            <a:endParaRPr lang="en-US" altLang="ja-JP" sz="2400" dirty="0"/>
          </a:p>
        </p:txBody>
      </p:sp>
      <p:sp>
        <p:nvSpPr>
          <p:cNvPr id="10" name="スクロール: 縦 9">
            <a:extLst>
              <a:ext uri="{FF2B5EF4-FFF2-40B4-BE49-F238E27FC236}">
                <a16:creationId xmlns:a16="http://schemas.microsoft.com/office/drawing/2014/main" id="{4B09212F-3E79-40B6-B48D-29012E7FF829}"/>
              </a:ext>
            </a:extLst>
          </p:cNvPr>
          <p:cNvSpPr/>
          <p:nvPr/>
        </p:nvSpPr>
        <p:spPr>
          <a:xfrm>
            <a:off x="3151292" y="3127578"/>
            <a:ext cx="1210733" cy="1329266"/>
          </a:xfrm>
          <a:prstGeom prst="verticalScroll">
            <a:avLst/>
          </a:prstGeom>
          <a:noFill/>
          <a:ln>
            <a:prstDash val="dash"/>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kumimoji="1" lang="ja-JP" altLang="en-US" b="1" dirty="0"/>
          </a:p>
        </p:txBody>
      </p:sp>
      <p:sp>
        <p:nvSpPr>
          <p:cNvPr id="13" name="フローチャート: 代替処理 12">
            <a:extLst>
              <a:ext uri="{FF2B5EF4-FFF2-40B4-BE49-F238E27FC236}">
                <a16:creationId xmlns:a16="http://schemas.microsoft.com/office/drawing/2014/main" id="{4DFBEA3F-54D2-4095-A724-FBBEE0179FDF}"/>
              </a:ext>
            </a:extLst>
          </p:cNvPr>
          <p:cNvSpPr/>
          <p:nvPr/>
        </p:nvSpPr>
        <p:spPr>
          <a:xfrm>
            <a:off x="3981025" y="4147811"/>
            <a:ext cx="2489200" cy="537634"/>
          </a:xfrm>
          <a:prstGeom prst="flowChartAlternateProcess">
            <a:avLst/>
          </a:prstGeom>
          <a:noFill/>
          <a:ln>
            <a:prstDash val="dash"/>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kumimoji="1" lang="ja-JP" altLang="en-US" b="1" dirty="0"/>
          </a:p>
        </p:txBody>
      </p:sp>
      <p:sp>
        <p:nvSpPr>
          <p:cNvPr id="14" name="スクロール: 縦 13">
            <a:extLst>
              <a:ext uri="{FF2B5EF4-FFF2-40B4-BE49-F238E27FC236}">
                <a16:creationId xmlns:a16="http://schemas.microsoft.com/office/drawing/2014/main" id="{057BFEA7-7787-4425-B351-009B7976175C}"/>
              </a:ext>
            </a:extLst>
          </p:cNvPr>
          <p:cNvSpPr/>
          <p:nvPr/>
        </p:nvSpPr>
        <p:spPr>
          <a:xfrm>
            <a:off x="3151292" y="4874392"/>
            <a:ext cx="1210733" cy="1329266"/>
          </a:xfrm>
          <a:prstGeom prst="verticalScroll">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kumimoji="1" lang="en-US" altLang="ja-JP" b="1" dirty="0"/>
              <a:t>Player</a:t>
            </a:r>
            <a:r>
              <a:rPr kumimoji="1" lang="ja-JP" altLang="en-US" b="1" dirty="0"/>
              <a:t>所有権</a:t>
            </a:r>
          </a:p>
        </p:txBody>
      </p:sp>
      <p:sp>
        <p:nvSpPr>
          <p:cNvPr id="15" name="フローチャート: 代替処理 14">
            <a:extLst>
              <a:ext uri="{FF2B5EF4-FFF2-40B4-BE49-F238E27FC236}">
                <a16:creationId xmlns:a16="http://schemas.microsoft.com/office/drawing/2014/main" id="{9F8914E6-1640-4225-9E23-E6DD7B91AC21}"/>
              </a:ext>
            </a:extLst>
          </p:cNvPr>
          <p:cNvSpPr/>
          <p:nvPr/>
        </p:nvSpPr>
        <p:spPr>
          <a:xfrm>
            <a:off x="3981025" y="5894625"/>
            <a:ext cx="2489200" cy="537634"/>
          </a:xfrm>
          <a:prstGeom prst="flowChartAlternateProcess">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kumimoji="1" lang="en-US" altLang="ja-JP" b="1" dirty="0" err="1"/>
              <a:t>g_SharedPlayer</a:t>
            </a:r>
            <a:endParaRPr kumimoji="1" lang="ja-JP" altLang="en-US" b="1" dirty="0"/>
          </a:p>
        </p:txBody>
      </p:sp>
    </p:spTree>
    <p:extLst>
      <p:ext uri="{BB962C8B-B14F-4D97-AF65-F5344CB8AC3E}">
        <p14:creationId xmlns:p14="http://schemas.microsoft.com/office/powerpoint/2010/main" val="386016928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877985" cy="584775"/>
          </a:xfrm>
          <a:prstGeom prst="rect">
            <a:avLst/>
          </a:prstGeom>
          <a:noFill/>
        </p:spPr>
        <p:txBody>
          <a:bodyPr wrap="none" rtlCol="0">
            <a:spAutoFit/>
          </a:bodyPr>
          <a:lstStyle/>
          <a:p>
            <a:r>
              <a:rPr lang="ja-JP" altLang="en-US" sz="3200" b="1" u="sng" dirty="0"/>
              <a:t>スマートポインター</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4055919" cy="461665"/>
          </a:xfrm>
          <a:prstGeom prst="rect">
            <a:avLst/>
          </a:prstGeom>
          <a:noFill/>
        </p:spPr>
        <p:txBody>
          <a:bodyPr wrap="none" rtlCol="0">
            <a:spAutoFit/>
          </a:bodyPr>
          <a:lstStyle/>
          <a:p>
            <a:r>
              <a:rPr lang="ja-JP" altLang="en-US" sz="2400" dirty="0"/>
              <a:t>最後に</a:t>
            </a:r>
            <a:r>
              <a:rPr lang="en-US" altLang="ja-JP" sz="2400" dirty="0"/>
              <a:t>Weak</a:t>
            </a:r>
            <a:r>
              <a:rPr lang="ja-JP" altLang="en-US" sz="2400" dirty="0"/>
              <a:t>を練習します。</a:t>
            </a:r>
            <a:endParaRPr lang="en-US" altLang="ja-JP" sz="2400" b="1" dirty="0">
              <a:solidFill>
                <a:srgbClr val="FF0000"/>
              </a:solidFill>
            </a:endParaRPr>
          </a:p>
        </p:txBody>
      </p:sp>
      <p:pic>
        <p:nvPicPr>
          <p:cNvPr id="16" name="図 15">
            <a:extLst>
              <a:ext uri="{FF2B5EF4-FFF2-40B4-BE49-F238E27FC236}">
                <a16:creationId xmlns:a16="http://schemas.microsoft.com/office/drawing/2014/main" id="{694347CA-F58A-46B2-8B86-15CA6C8E9A6D}"/>
              </a:ext>
            </a:extLst>
          </p:cNvPr>
          <p:cNvPicPr>
            <a:picLocks noChangeAspect="1"/>
          </p:cNvPicPr>
          <p:nvPr/>
        </p:nvPicPr>
        <p:blipFill>
          <a:blip r:embed="rId2"/>
          <a:stretch>
            <a:fillRect/>
          </a:stretch>
        </p:blipFill>
        <p:spPr>
          <a:xfrm>
            <a:off x="567542" y="1817794"/>
            <a:ext cx="4969908" cy="4726441"/>
          </a:xfrm>
          <a:prstGeom prst="rect">
            <a:avLst/>
          </a:prstGeom>
        </p:spPr>
      </p:pic>
    </p:spTree>
    <p:extLst>
      <p:ext uri="{BB962C8B-B14F-4D97-AF65-F5344CB8AC3E}">
        <p14:creationId xmlns:p14="http://schemas.microsoft.com/office/powerpoint/2010/main" val="3177060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877985" cy="584775"/>
          </a:xfrm>
          <a:prstGeom prst="rect">
            <a:avLst/>
          </a:prstGeom>
          <a:noFill/>
        </p:spPr>
        <p:txBody>
          <a:bodyPr wrap="none" rtlCol="0">
            <a:spAutoFit/>
          </a:bodyPr>
          <a:lstStyle/>
          <a:p>
            <a:r>
              <a:rPr lang="ja-JP" altLang="en-US" sz="3200" b="1" u="sng" dirty="0"/>
              <a:t>スマートポインター</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642383" cy="830997"/>
          </a:xfrm>
          <a:prstGeom prst="rect">
            <a:avLst/>
          </a:prstGeom>
          <a:noFill/>
        </p:spPr>
        <p:txBody>
          <a:bodyPr wrap="none" rtlCol="0">
            <a:spAutoFit/>
          </a:bodyPr>
          <a:lstStyle/>
          <a:p>
            <a:r>
              <a:rPr lang="en-US" altLang="ja-JP" sz="2400" b="1" dirty="0">
                <a:solidFill>
                  <a:srgbClr val="00B050"/>
                </a:solidFill>
              </a:rPr>
              <a:t>Weak</a:t>
            </a:r>
            <a:r>
              <a:rPr lang="ja-JP" altLang="en-US" sz="2400" dirty="0"/>
              <a:t>は</a:t>
            </a:r>
            <a:r>
              <a:rPr lang="en-US" altLang="ja-JP" sz="2400" b="1" dirty="0">
                <a:solidFill>
                  <a:srgbClr val="FF0000"/>
                </a:solidFill>
              </a:rPr>
              <a:t>Shared</a:t>
            </a:r>
            <a:r>
              <a:rPr lang="ja-JP" altLang="en-US" sz="2400" b="1" dirty="0">
                <a:solidFill>
                  <a:srgbClr val="FF0000"/>
                </a:solidFill>
              </a:rPr>
              <a:t>一時参照用のポインター</a:t>
            </a:r>
            <a:r>
              <a:rPr lang="ja-JP" altLang="en-US" sz="2400" dirty="0"/>
              <a:t>です。</a:t>
            </a:r>
            <a:endParaRPr lang="en-US" altLang="ja-JP" sz="2400" dirty="0"/>
          </a:p>
          <a:p>
            <a:r>
              <a:rPr lang="ja-JP" altLang="en-US" sz="2400" b="1" dirty="0">
                <a:solidFill>
                  <a:srgbClr val="FF0000"/>
                </a:solidFill>
              </a:rPr>
              <a:t>参照機能のみで所有権は持ちません。</a:t>
            </a:r>
            <a:r>
              <a:rPr lang="en-US" altLang="ja-JP" sz="2400" b="1" dirty="0" err="1">
                <a:solidFill>
                  <a:srgbClr val="FF0000"/>
                </a:solidFill>
              </a:rPr>
              <a:t>make_weak</a:t>
            </a:r>
            <a:r>
              <a:rPr lang="ja-JP" altLang="en-US" sz="2400" b="1" dirty="0">
                <a:solidFill>
                  <a:srgbClr val="FF0000"/>
                </a:solidFill>
              </a:rPr>
              <a:t>関数もありません</a:t>
            </a:r>
            <a:endParaRPr lang="en-US" altLang="ja-JP" sz="2400" b="1" dirty="0">
              <a:solidFill>
                <a:srgbClr val="FF0000"/>
              </a:solidFill>
            </a:endParaRPr>
          </a:p>
        </p:txBody>
      </p:sp>
      <p:pic>
        <p:nvPicPr>
          <p:cNvPr id="5" name="図 4">
            <a:extLst>
              <a:ext uri="{FF2B5EF4-FFF2-40B4-BE49-F238E27FC236}">
                <a16:creationId xmlns:a16="http://schemas.microsoft.com/office/drawing/2014/main" id="{A41D3E00-AC55-4B31-A03D-472D9CA46D58}"/>
              </a:ext>
            </a:extLst>
          </p:cNvPr>
          <p:cNvPicPr>
            <a:picLocks noChangeAspect="1"/>
          </p:cNvPicPr>
          <p:nvPr/>
        </p:nvPicPr>
        <p:blipFill>
          <a:blip r:embed="rId2"/>
          <a:stretch>
            <a:fillRect/>
          </a:stretch>
        </p:blipFill>
        <p:spPr>
          <a:xfrm>
            <a:off x="567542" y="2187126"/>
            <a:ext cx="9835496" cy="3236521"/>
          </a:xfrm>
          <a:prstGeom prst="rect">
            <a:avLst/>
          </a:prstGeom>
        </p:spPr>
      </p:pic>
    </p:spTree>
    <p:extLst>
      <p:ext uri="{BB962C8B-B14F-4D97-AF65-F5344CB8AC3E}">
        <p14:creationId xmlns:p14="http://schemas.microsoft.com/office/powerpoint/2010/main" val="11402173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877985" cy="584775"/>
          </a:xfrm>
          <a:prstGeom prst="rect">
            <a:avLst/>
          </a:prstGeom>
          <a:noFill/>
        </p:spPr>
        <p:txBody>
          <a:bodyPr wrap="none" rtlCol="0">
            <a:spAutoFit/>
          </a:bodyPr>
          <a:lstStyle/>
          <a:p>
            <a:r>
              <a:rPr lang="ja-JP" altLang="en-US" sz="3200" b="1" u="sng" dirty="0"/>
              <a:t>スマートポインター</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352514" cy="1569660"/>
          </a:xfrm>
          <a:prstGeom prst="rect">
            <a:avLst/>
          </a:prstGeom>
          <a:noFill/>
        </p:spPr>
        <p:txBody>
          <a:bodyPr wrap="none" rtlCol="0">
            <a:spAutoFit/>
          </a:bodyPr>
          <a:lstStyle/>
          <a:p>
            <a:r>
              <a:rPr lang="en-US" altLang="ja-JP" sz="2400" dirty="0"/>
              <a:t>Weak</a:t>
            </a:r>
            <a:r>
              <a:rPr lang="ja-JP" altLang="en-US" sz="2400" dirty="0"/>
              <a:t>ポインターの</a:t>
            </a:r>
            <a:r>
              <a:rPr lang="en-US" altLang="ja-JP" sz="2400" b="1" dirty="0">
                <a:solidFill>
                  <a:srgbClr val="0070C0"/>
                </a:solidFill>
              </a:rPr>
              <a:t>lock</a:t>
            </a:r>
            <a:r>
              <a:rPr lang="ja-JP" altLang="en-US" sz="2400" b="1" dirty="0">
                <a:solidFill>
                  <a:srgbClr val="0070C0"/>
                </a:solidFill>
              </a:rPr>
              <a:t>関数</a:t>
            </a:r>
            <a:r>
              <a:rPr lang="ja-JP" altLang="en-US" sz="2400" dirty="0"/>
              <a:t>は</a:t>
            </a:r>
            <a:r>
              <a:rPr lang="ja-JP" altLang="en-US" sz="2400" b="1" dirty="0">
                <a:solidFill>
                  <a:srgbClr val="FF0000"/>
                </a:solidFill>
              </a:rPr>
              <a:t>参照している</a:t>
            </a:r>
            <a:r>
              <a:rPr lang="en-US" altLang="ja-JP" sz="2400" b="1" dirty="0">
                <a:solidFill>
                  <a:srgbClr val="FF0000"/>
                </a:solidFill>
              </a:rPr>
              <a:t>Shared</a:t>
            </a:r>
            <a:r>
              <a:rPr lang="ja-JP" altLang="en-US" sz="2400" b="1" dirty="0">
                <a:solidFill>
                  <a:srgbClr val="FF0000"/>
                </a:solidFill>
              </a:rPr>
              <a:t>を返却する関数</a:t>
            </a:r>
            <a:r>
              <a:rPr lang="ja-JP" altLang="en-US" sz="2400" dirty="0"/>
              <a:t>です。</a:t>
            </a:r>
            <a:endParaRPr lang="en-US" altLang="ja-JP" sz="2400" dirty="0"/>
          </a:p>
          <a:p>
            <a:r>
              <a:rPr lang="en-US" altLang="ja-JP" sz="2400" b="1" dirty="0">
                <a:solidFill>
                  <a:srgbClr val="FF0000"/>
                </a:solidFill>
              </a:rPr>
              <a:t>Shared</a:t>
            </a:r>
            <a:r>
              <a:rPr lang="ja-JP" altLang="en-US" sz="2400" b="1" dirty="0">
                <a:solidFill>
                  <a:srgbClr val="FF0000"/>
                </a:solidFill>
              </a:rPr>
              <a:t>の所有権も１つ増えます。</a:t>
            </a:r>
            <a:endParaRPr lang="en-US" altLang="ja-JP" sz="2400" b="1" dirty="0">
              <a:solidFill>
                <a:srgbClr val="FF0000"/>
              </a:solidFill>
            </a:endParaRPr>
          </a:p>
          <a:p>
            <a:r>
              <a:rPr lang="en-US" altLang="ja-JP" sz="2400" dirty="0"/>
              <a:t>Weak</a:t>
            </a:r>
            <a:r>
              <a:rPr lang="ja-JP" altLang="en-US" sz="2400" dirty="0"/>
              <a:t>ポインターからはメンバーにアクセスできないため、</a:t>
            </a:r>
            <a:endParaRPr lang="en-US" altLang="ja-JP" sz="2400" dirty="0"/>
          </a:p>
          <a:p>
            <a:r>
              <a:rPr lang="en-US" altLang="ja-JP" sz="2400" dirty="0"/>
              <a:t>lock</a:t>
            </a:r>
            <a:r>
              <a:rPr lang="ja-JP" altLang="en-US" sz="2400" dirty="0"/>
              <a:t>関数から</a:t>
            </a:r>
            <a:r>
              <a:rPr lang="en-US" altLang="ja-JP" sz="2400" dirty="0"/>
              <a:t>Shared</a:t>
            </a:r>
            <a:r>
              <a:rPr lang="ja-JP" altLang="en-US" sz="2400" dirty="0"/>
              <a:t>を取得してアクセスします。</a:t>
            </a:r>
            <a:endParaRPr lang="en-US" altLang="ja-JP" sz="2400" dirty="0"/>
          </a:p>
        </p:txBody>
      </p:sp>
      <p:pic>
        <p:nvPicPr>
          <p:cNvPr id="3" name="図 2">
            <a:extLst>
              <a:ext uri="{FF2B5EF4-FFF2-40B4-BE49-F238E27FC236}">
                <a16:creationId xmlns:a16="http://schemas.microsoft.com/office/drawing/2014/main" id="{35C678E0-0131-4A47-8B3A-FDFBEFF30EB6}"/>
              </a:ext>
            </a:extLst>
          </p:cNvPr>
          <p:cNvPicPr>
            <a:picLocks noChangeAspect="1"/>
          </p:cNvPicPr>
          <p:nvPr/>
        </p:nvPicPr>
        <p:blipFill>
          <a:blip r:embed="rId2"/>
          <a:stretch>
            <a:fillRect/>
          </a:stretch>
        </p:blipFill>
        <p:spPr>
          <a:xfrm>
            <a:off x="567542" y="2921307"/>
            <a:ext cx="7464834" cy="2484547"/>
          </a:xfrm>
          <a:prstGeom prst="rect">
            <a:avLst/>
          </a:prstGeom>
        </p:spPr>
      </p:pic>
    </p:spTree>
    <p:extLst>
      <p:ext uri="{BB962C8B-B14F-4D97-AF65-F5344CB8AC3E}">
        <p14:creationId xmlns:p14="http://schemas.microsoft.com/office/powerpoint/2010/main" val="181562914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877985" cy="584775"/>
          </a:xfrm>
          <a:prstGeom prst="rect">
            <a:avLst/>
          </a:prstGeom>
          <a:noFill/>
        </p:spPr>
        <p:txBody>
          <a:bodyPr wrap="none" rtlCol="0">
            <a:spAutoFit/>
          </a:bodyPr>
          <a:lstStyle/>
          <a:p>
            <a:r>
              <a:rPr lang="ja-JP" altLang="en-US" sz="3200" b="1" u="sng" dirty="0"/>
              <a:t>スマートポインター</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874819" cy="461665"/>
          </a:xfrm>
          <a:prstGeom prst="rect">
            <a:avLst/>
          </a:prstGeom>
          <a:noFill/>
        </p:spPr>
        <p:txBody>
          <a:bodyPr wrap="none" rtlCol="0">
            <a:spAutoFit/>
          </a:bodyPr>
          <a:lstStyle/>
          <a:p>
            <a:r>
              <a:rPr lang="ja-JP" altLang="en-US" sz="2400" b="1" dirty="0">
                <a:solidFill>
                  <a:srgbClr val="FF0000"/>
                </a:solidFill>
              </a:rPr>
              <a:t>参照先の</a:t>
            </a:r>
            <a:r>
              <a:rPr lang="en-US" altLang="ja-JP" sz="2400" b="1" dirty="0">
                <a:solidFill>
                  <a:srgbClr val="FF0000"/>
                </a:solidFill>
              </a:rPr>
              <a:t>Shared</a:t>
            </a:r>
            <a:r>
              <a:rPr lang="ja-JP" altLang="en-US" sz="2400" b="1" dirty="0">
                <a:solidFill>
                  <a:srgbClr val="FF0000"/>
                </a:solidFill>
              </a:rPr>
              <a:t>が消えていた場合、</a:t>
            </a:r>
            <a:r>
              <a:rPr lang="en-US" altLang="ja-JP" sz="2400" b="1" dirty="0">
                <a:solidFill>
                  <a:srgbClr val="FF0000"/>
                </a:solidFill>
              </a:rPr>
              <a:t>lock</a:t>
            </a:r>
            <a:r>
              <a:rPr lang="ja-JP" altLang="en-US" sz="2400" b="1" dirty="0">
                <a:solidFill>
                  <a:srgbClr val="FF0000"/>
                </a:solidFill>
              </a:rPr>
              <a:t>関数は</a:t>
            </a:r>
            <a:r>
              <a:rPr lang="en-US" altLang="ja-JP" sz="2400" b="1" dirty="0">
                <a:solidFill>
                  <a:srgbClr val="FF0000"/>
                </a:solidFill>
              </a:rPr>
              <a:t>empty</a:t>
            </a:r>
            <a:r>
              <a:rPr lang="ja-JP" altLang="en-US" sz="2400" b="1" dirty="0">
                <a:solidFill>
                  <a:srgbClr val="FF0000"/>
                </a:solidFill>
              </a:rPr>
              <a:t>を返却します。</a:t>
            </a:r>
            <a:endParaRPr lang="en-US" altLang="ja-JP" sz="2400" b="1" dirty="0">
              <a:solidFill>
                <a:srgbClr val="FF0000"/>
              </a:solidFill>
            </a:endParaRPr>
          </a:p>
        </p:txBody>
      </p:sp>
      <p:pic>
        <p:nvPicPr>
          <p:cNvPr id="10" name="図 9">
            <a:extLst>
              <a:ext uri="{FF2B5EF4-FFF2-40B4-BE49-F238E27FC236}">
                <a16:creationId xmlns:a16="http://schemas.microsoft.com/office/drawing/2014/main" id="{9FA8E109-1019-4692-AA73-AE771215D3A5}"/>
              </a:ext>
            </a:extLst>
          </p:cNvPr>
          <p:cNvPicPr>
            <a:picLocks noChangeAspect="1"/>
          </p:cNvPicPr>
          <p:nvPr/>
        </p:nvPicPr>
        <p:blipFill>
          <a:blip r:embed="rId2"/>
          <a:stretch>
            <a:fillRect/>
          </a:stretch>
        </p:blipFill>
        <p:spPr>
          <a:xfrm>
            <a:off x="567541" y="1817794"/>
            <a:ext cx="9447665" cy="3749288"/>
          </a:xfrm>
          <a:prstGeom prst="rect">
            <a:avLst/>
          </a:prstGeom>
        </p:spPr>
      </p:pic>
    </p:spTree>
    <p:extLst>
      <p:ext uri="{BB962C8B-B14F-4D97-AF65-F5344CB8AC3E}">
        <p14:creationId xmlns:p14="http://schemas.microsoft.com/office/powerpoint/2010/main" val="7133050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877985" cy="584775"/>
          </a:xfrm>
          <a:prstGeom prst="rect">
            <a:avLst/>
          </a:prstGeom>
          <a:noFill/>
        </p:spPr>
        <p:txBody>
          <a:bodyPr wrap="none" rtlCol="0">
            <a:spAutoFit/>
          </a:bodyPr>
          <a:lstStyle/>
          <a:p>
            <a:r>
              <a:rPr lang="ja-JP" altLang="en-US" sz="3200" b="1" u="sng" dirty="0"/>
              <a:t>スマートポインター</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062096" cy="3785652"/>
          </a:xfrm>
          <a:prstGeom prst="rect">
            <a:avLst/>
          </a:prstGeom>
          <a:noFill/>
        </p:spPr>
        <p:txBody>
          <a:bodyPr wrap="none" rtlCol="0">
            <a:spAutoFit/>
          </a:bodyPr>
          <a:lstStyle/>
          <a:p>
            <a:r>
              <a:rPr lang="en-US" altLang="ja-JP" sz="2400" b="1" dirty="0">
                <a:solidFill>
                  <a:srgbClr val="00B050"/>
                </a:solidFill>
              </a:rPr>
              <a:t>Weak</a:t>
            </a:r>
            <a:r>
              <a:rPr lang="ja-JP" altLang="en-US" sz="2400" dirty="0"/>
              <a:t>は</a:t>
            </a:r>
            <a:r>
              <a:rPr lang="en-US" altLang="ja-JP" sz="2400" b="1" dirty="0">
                <a:solidFill>
                  <a:srgbClr val="FF0000"/>
                </a:solidFill>
              </a:rPr>
              <a:t>Shared</a:t>
            </a:r>
            <a:r>
              <a:rPr lang="ja-JP" altLang="en-US" sz="2400" b="1" dirty="0">
                <a:solidFill>
                  <a:srgbClr val="FF0000"/>
                </a:solidFill>
              </a:rPr>
              <a:t>を安全に使用するためにあるポインター</a:t>
            </a:r>
            <a:r>
              <a:rPr lang="ja-JP" altLang="en-US" sz="2400" dirty="0"/>
              <a:t>です。</a:t>
            </a:r>
            <a:endParaRPr lang="en-US" altLang="ja-JP" sz="2400" dirty="0"/>
          </a:p>
          <a:p>
            <a:r>
              <a:rPr lang="en-US" altLang="ja-JP" sz="2400" b="1" dirty="0">
                <a:solidFill>
                  <a:srgbClr val="0070C0"/>
                </a:solidFill>
              </a:rPr>
              <a:t>lock</a:t>
            </a:r>
            <a:r>
              <a:rPr lang="ja-JP" altLang="en-US" sz="2400" b="1" dirty="0">
                <a:solidFill>
                  <a:srgbClr val="0070C0"/>
                </a:solidFill>
              </a:rPr>
              <a:t>関数</a:t>
            </a:r>
            <a:r>
              <a:rPr lang="ja-JP" altLang="en-US" sz="2400" dirty="0"/>
              <a:t>をローカルに使うことにより、</a:t>
            </a:r>
            <a:endParaRPr lang="en-US" altLang="ja-JP" sz="2400" dirty="0"/>
          </a:p>
          <a:p>
            <a:r>
              <a:rPr lang="ja-JP" altLang="en-US" sz="2400" dirty="0"/>
              <a:t>危険な</a:t>
            </a:r>
            <a:r>
              <a:rPr lang="en-US" altLang="ja-JP" sz="2400" dirty="0"/>
              <a:t>Shared</a:t>
            </a:r>
            <a:r>
              <a:rPr lang="ja-JP" altLang="en-US" sz="2400" dirty="0"/>
              <a:t>のコピーを回避することができます。</a:t>
            </a:r>
            <a:endParaRPr lang="en-US" altLang="ja-JP" sz="2400" dirty="0"/>
          </a:p>
          <a:p>
            <a:endParaRPr lang="en-US" altLang="ja-JP" sz="2400" dirty="0"/>
          </a:p>
          <a:p>
            <a:r>
              <a:rPr lang="ja-JP" altLang="en-US" sz="2400" dirty="0"/>
              <a:t>安全なプログラムを組むためにも、</a:t>
            </a:r>
            <a:endParaRPr lang="en-US" altLang="ja-JP" sz="2400" dirty="0"/>
          </a:p>
          <a:p>
            <a:r>
              <a:rPr lang="en-US" altLang="ja-JP" sz="2400" b="1" dirty="0">
                <a:solidFill>
                  <a:srgbClr val="FF0000"/>
                </a:solidFill>
              </a:rPr>
              <a:t>Shared</a:t>
            </a:r>
            <a:r>
              <a:rPr lang="ja-JP" altLang="en-US" sz="2400" b="1" dirty="0">
                <a:solidFill>
                  <a:srgbClr val="FF0000"/>
                </a:solidFill>
              </a:rPr>
              <a:t>のコピーを使用する際は、一度</a:t>
            </a:r>
            <a:r>
              <a:rPr lang="en-US" altLang="ja-JP" sz="2400" b="1" dirty="0">
                <a:solidFill>
                  <a:srgbClr val="FF0000"/>
                </a:solidFill>
              </a:rPr>
              <a:t>Weak</a:t>
            </a:r>
            <a:r>
              <a:rPr lang="ja-JP" altLang="en-US" sz="2400" b="1" dirty="0">
                <a:solidFill>
                  <a:srgbClr val="FF0000"/>
                </a:solidFill>
              </a:rPr>
              <a:t>を検討しましょう。</a:t>
            </a:r>
            <a:endParaRPr lang="en-US" altLang="ja-JP" sz="2400" b="1" dirty="0">
              <a:solidFill>
                <a:srgbClr val="FF0000"/>
              </a:solidFill>
            </a:endParaRPr>
          </a:p>
          <a:p>
            <a:endParaRPr lang="en-US" altLang="ja-JP" sz="2400" dirty="0"/>
          </a:p>
          <a:p>
            <a:r>
              <a:rPr lang="ja-JP" altLang="en-US" sz="2400" b="1" dirty="0">
                <a:solidFill>
                  <a:srgbClr val="FF0000"/>
                </a:solidFill>
              </a:rPr>
              <a:t>■注意</a:t>
            </a:r>
            <a:endParaRPr lang="en-US" altLang="ja-JP" sz="2400" b="1" dirty="0">
              <a:solidFill>
                <a:srgbClr val="FF0000"/>
              </a:solidFill>
            </a:endParaRPr>
          </a:p>
          <a:p>
            <a:r>
              <a:rPr lang="en-US" altLang="ja-JP" sz="2400" b="1" dirty="0">
                <a:solidFill>
                  <a:srgbClr val="0070C0"/>
                </a:solidFill>
              </a:rPr>
              <a:t>lock</a:t>
            </a:r>
            <a:r>
              <a:rPr lang="ja-JP" altLang="en-US" sz="2400" b="1" dirty="0">
                <a:solidFill>
                  <a:srgbClr val="0070C0"/>
                </a:solidFill>
              </a:rPr>
              <a:t>関数</a:t>
            </a:r>
            <a:r>
              <a:rPr lang="ja-JP" altLang="en-US" sz="2400" dirty="0"/>
              <a:t>の受取先が</a:t>
            </a:r>
            <a:r>
              <a:rPr lang="ja-JP" altLang="en-US" sz="2400" b="1" dirty="0">
                <a:solidFill>
                  <a:srgbClr val="FF0000"/>
                </a:solidFill>
              </a:rPr>
              <a:t>グローバル変数</a:t>
            </a:r>
            <a:r>
              <a:rPr lang="ja-JP" altLang="en-US" sz="2400" dirty="0"/>
              <a:t>だと、</a:t>
            </a:r>
            <a:endParaRPr lang="en-US" altLang="ja-JP" sz="2400" dirty="0"/>
          </a:p>
          <a:p>
            <a:r>
              <a:rPr lang="ja-JP" altLang="en-US" sz="2400" dirty="0"/>
              <a:t>所有権が残りっぱなしで自動削除されないことが起きます。</a:t>
            </a:r>
            <a:endParaRPr lang="en-US" altLang="ja-JP" sz="2400" dirty="0"/>
          </a:p>
        </p:txBody>
      </p:sp>
    </p:spTree>
    <p:extLst>
      <p:ext uri="{BB962C8B-B14F-4D97-AF65-F5344CB8AC3E}">
        <p14:creationId xmlns:p14="http://schemas.microsoft.com/office/powerpoint/2010/main" val="71439084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877985" cy="584775"/>
          </a:xfrm>
          <a:prstGeom prst="rect">
            <a:avLst/>
          </a:prstGeom>
          <a:noFill/>
        </p:spPr>
        <p:txBody>
          <a:bodyPr wrap="none" rtlCol="0">
            <a:spAutoFit/>
          </a:bodyPr>
          <a:lstStyle/>
          <a:p>
            <a:r>
              <a:rPr lang="ja-JP" altLang="en-US" sz="3200" b="1" u="sng" dirty="0"/>
              <a:t>スマートポインター</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1572399" cy="4524315"/>
          </a:xfrm>
          <a:prstGeom prst="rect">
            <a:avLst/>
          </a:prstGeom>
          <a:noFill/>
        </p:spPr>
        <p:txBody>
          <a:bodyPr wrap="none" rtlCol="0">
            <a:spAutoFit/>
          </a:bodyPr>
          <a:lstStyle/>
          <a:p>
            <a:r>
              <a:rPr lang="ja-JP" altLang="en-US" sz="2400" dirty="0"/>
              <a:t>ゲーム制作では基本的に</a:t>
            </a:r>
            <a:r>
              <a:rPr lang="en-US" altLang="ja-JP" sz="2400" b="1" dirty="0">
                <a:solidFill>
                  <a:srgbClr val="00B050"/>
                </a:solidFill>
              </a:rPr>
              <a:t>Unique</a:t>
            </a:r>
            <a:r>
              <a:rPr lang="ja-JP" altLang="en-US" sz="2400" dirty="0"/>
              <a:t>を使います。</a:t>
            </a:r>
            <a:endParaRPr lang="en-US" altLang="ja-JP" sz="2400" dirty="0"/>
          </a:p>
          <a:p>
            <a:r>
              <a:rPr lang="en-US" altLang="ja-JP" sz="2400" b="1" dirty="0">
                <a:solidFill>
                  <a:srgbClr val="00B050"/>
                </a:solidFill>
              </a:rPr>
              <a:t>Unique</a:t>
            </a:r>
            <a:r>
              <a:rPr lang="ja-JP" altLang="en-US" sz="2400" dirty="0"/>
              <a:t>で実装できない場合は</a:t>
            </a:r>
            <a:r>
              <a:rPr lang="en-US" altLang="ja-JP" sz="2400" b="1" dirty="0">
                <a:solidFill>
                  <a:srgbClr val="00B050"/>
                </a:solidFill>
              </a:rPr>
              <a:t>Shared</a:t>
            </a:r>
            <a:r>
              <a:rPr lang="ja-JP" altLang="en-US" sz="2400" dirty="0"/>
              <a:t>や</a:t>
            </a:r>
            <a:r>
              <a:rPr lang="en-US" altLang="ja-JP" sz="2400" b="1" dirty="0">
                <a:solidFill>
                  <a:srgbClr val="00B050"/>
                </a:solidFill>
              </a:rPr>
              <a:t>Weak</a:t>
            </a:r>
            <a:r>
              <a:rPr lang="ja-JP" altLang="en-US" sz="2400" dirty="0"/>
              <a:t>を使っていきます。</a:t>
            </a:r>
            <a:endParaRPr lang="en-US" altLang="ja-JP" sz="2400" dirty="0"/>
          </a:p>
          <a:p>
            <a:endParaRPr lang="en-US" altLang="ja-JP" sz="2400" dirty="0"/>
          </a:p>
          <a:p>
            <a:r>
              <a:rPr lang="ja-JP" altLang="en-US" sz="2400" dirty="0"/>
              <a:t>自動</a:t>
            </a:r>
            <a:r>
              <a:rPr lang="en-US" altLang="ja-JP" sz="2400" dirty="0"/>
              <a:t>delete</a:t>
            </a:r>
            <a:r>
              <a:rPr lang="ja-JP" altLang="en-US" sz="2400" dirty="0"/>
              <a:t>のおかげでメモリリークのリスクを大幅に下げられます。</a:t>
            </a:r>
            <a:endParaRPr lang="en-US" altLang="ja-JP" sz="2400" dirty="0"/>
          </a:p>
          <a:p>
            <a:r>
              <a:rPr lang="ja-JP" altLang="en-US" sz="2400" dirty="0"/>
              <a:t>積極的に使っていきましょう。</a:t>
            </a:r>
            <a:endParaRPr lang="en-US" altLang="ja-JP" sz="2400" dirty="0"/>
          </a:p>
          <a:p>
            <a:endParaRPr lang="en-US" altLang="ja-JP" sz="2400" dirty="0"/>
          </a:p>
          <a:p>
            <a:r>
              <a:rPr lang="ja-JP" altLang="en-US" sz="2400" b="1" dirty="0">
                <a:solidFill>
                  <a:srgbClr val="7030A0"/>
                </a:solidFill>
              </a:rPr>
              <a:t>おまけ</a:t>
            </a:r>
            <a:endParaRPr lang="en-US" altLang="ja-JP" sz="2400" b="1" dirty="0">
              <a:solidFill>
                <a:srgbClr val="7030A0"/>
              </a:solidFill>
            </a:endParaRPr>
          </a:p>
          <a:p>
            <a:r>
              <a:rPr lang="en-US" altLang="ja-JP" sz="2400" dirty="0"/>
              <a:t>Unity</a:t>
            </a:r>
            <a:r>
              <a:rPr lang="ja-JP" altLang="en-US" sz="2400" dirty="0"/>
              <a:t>で使う</a:t>
            </a:r>
            <a:r>
              <a:rPr lang="en-US" altLang="ja-JP" sz="2400" dirty="0"/>
              <a:t>C#</a:t>
            </a:r>
            <a:r>
              <a:rPr lang="ja-JP" altLang="en-US" sz="2400" dirty="0"/>
              <a:t>は、安全にメモリを使用するという方針から、</a:t>
            </a:r>
            <a:endParaRPr lang="en-US" altLang="ja-JP" sz="2400" dirty="0"/>
          </a:p>
          <a:p>
            <a:r>
              <a:rPr lang="ja-JP" altLang="en-US" sz="2400"/>
              <a:t>全てのオブジェクトが</a:t>
            </a:r>
            <a:r>
              <a:rPr lang="en-US" altLang="ja-JP" sz="2400" dirty="0"/>
              <a:t>Shared</a:t>
            </a:r>
            <a:r>
              <a:rPr lang="ja-JP" altLang="en-US" sz="2400" dirty="0"/>
              <a:t>で管理されます。</a:t>
            </a:r>
            <a:endParaRPr lang="en-US" altLang="ja-JP" sz="2400" dirty="0"/>
          </a:p>
          <a:p>
            <a:r>
              <a:rPr lang="ja-JP" altLang="en-US" sz="2400" dirty="0"/>
              <a:t>どこからも参照されなくなったオブジェクトは削除リストに追加され、</a:t>
            </a:r>
            <a:endParaRPr lang="en-US" altLang="ja-JP" sz="2400" dirty="0"/>
          </a:p>
          <a:p>
            <a:r>
              <a:rPr lang="ja-JP" altLang="en-US" sz="2400" dirty="0"/>
              <a:t>削除リストにあるオブジェクトは、メモリの空きがなくなりかけたときに作動する</a:t>
            </a:r>
            <a:endParaRPr lang="en-US" altLang="ja-JP" sz="2400" dirty="0"/>
          </a:p>
          <a:p>
            <a:r>
              <a:rPr lang="ja-JP" altLang="en-US" sz="2400" dirty="0"/>
              <a:t>ガベージコレクションで削除されます。</a:t>
            </a:r>
            <a:endParaRPr lang="en-US" altLang="ja-JP" sz="2400" dirty="0"/>
          </a:p>
        </p:txBody>
      </p:sp>
    </p:spTree>
    <p:extLst>
      <p:ext uri="{BB962C8B-B14F-4D97-AF65-F5344CB8AC3E}">
        <p14:creationId xmlns:p14="http://schemas.microsoft.com/office/powerpoint/2010/main" val="3261218914"/>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1407</TotalTime>
  <Words>838</Words>
  <Application>Microsoft Office PowerPoint</Application>
  <PresentationFormat>ワイド画面</PresentationFormat>
  <Paragraphs>133</Paragraphs>
  <Slides>19</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19</vt:i4>
      </vt:variant>
    </vt:vector>
  </HeadingPairs>
  <TitlesOfParts>
    <vt:vector size="23" baseType="lpstr">
      <vt:lpstr>游ゴシック</vt:lpstr>
      <vt:lpstr>游ゴシック Light</vt:lpstr>
      <vt:lpstr>Arial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北九州校　ゲーム</dc:creator>
  <cp:lastModifiedBy>北九州校　ゲーム</cp:lastModifiedBy>
  <cp:revision>101</cp:revision>
  <dcterms:created xsi:type="dcterms:W3CDTF">2024-08-27T02:15:54Z</dcterms:created>
  <dcterms:modified xsi:type="dcterms:W3CDTF">2025-09-17T06:06:48Z</dcterms:modified>
</cp:coreProperties>
</file>