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1513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オブジェクトの生成、削除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en-US" altLang="ja-JP" sz="2400" dirty="0"/>
              <a:t>, 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を使用してきましたが、</a:t>
            </a:r>
            <a:endParaRPr lang="en-US" altLang="ja-JP" sz="2400" dirty="0"/>
          </a:p>
          <a:p>
            <a:r>
              <a:rPr lang="ja-JP" altLang="en-US" sz="2400" dirty="0"/>
              <a:t>これらには明確な</a:t>
            </a:r>
            <a:r>
              <a:rPr lang="ja-JP" altLang="en-US" sz="2400" b="1" dirty="0">
                <a:solidFill>
                  <a:srgbClr val="FF0000"/>
                </a:solidFill>
              </a:rPr>
              <a:t>欠点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それは、</a:t>
            </a:r>
            <a:r>
              <a:rPr lang="en-US" altLang="ja-JP" sz="2400" dirty="0"/>
              <a:t>delete</a:t>
            </a:r>
            <a:r>
              <a:rPr lang="ja-JP" altLang="en-US" sz="2400" dirty="0"/>
              <a:t>を書き忘れたときの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ゲーム開発では</a:t>
            </a:r>
            <a:r>
              <a:rPr lang="en-US" altLang="ja-JP" sz="2400" dirty="0"/>
              <a:t>C++</a:t>
            </a:r>
            <a:r>
              <a:rPr lang="ja-JP" altLang="en-US" sz="2400" dirty="0"/>
              <a:t>が使われていましたので、</a:t>
            </a:r>
            <a:endParaRPr lang="en-US" altLang="ja-JP" sz="2400" dirty="0"/>
          </a:p>
          <a:p>
            <a:r>
              <a:rPr lang="ja-JP" altLang="en-US" sz="2400" dirty="0"/>
              <a:t>多くのゲームプログラマーが、メモリリークと格闘していました。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メモリリークはフリーズの原因ともなる致命的な不具合です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2011</a:t>
            </a:r>
            <a:r>
              <a:rPr lang="ja-JP" altLang="en-US" sz="2400" dirty="0"/>
              <a:t>年に</a:t>
            </a:r>
            <a:r>
              <a:rPr lang="en-US" altLang="ja-JP" sz="2400" dirty="0"/>
              <a:t>C++</a:t>
            </a:r>
            <a:r>
              <a:rPr lang="ja-JP" altLang="en-US" sz="2400" dirty="0"/>
              <a:t>のバージョンアップが行われました。（</a:t>
            </a:r>
            <a:r>
              <a:rPr lang="en-US" altLang="ja-JP" sz="2400" dirty="0"/>
              <a:t>C++11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そこで新たに</a:t>
            </a:r>
            <a:r>
              <a:rPr lang="ja-JP" altLang="en-US" sz="2400" b="1" dirty="0">
                <a:solidFill>
                  <a:srgbClr val="FF0000"/>
                </a:solidFill>
              </a:rPr>
              <a:t>スマートポインター</a:t>
            </a:r>
            <a:r>
              <a:rPr lang="ja-JP" altLang="en-US" sz="2400" dirty="0"/>
              <a:t>というものが実装されています。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スマートポインターは</a:t>
            </a:r>
            <a:r>
              <a:rPr lang="en-US" altLang="ja-JP" sz="2400" b="1" dirty="0">
                <a:solidFill>
                  <a:srgbClr val="FF0000"/>
                </a:solidFill>
              </a:rPr>
              <a:t>delete</a:t>
            </a:r>
            <a:r>
              <a:rPr lang="ja-JP" altLang="en-US" sz="2400" b="1" dirty="0">
                <a:solidFill>
                  <a:srgbClr val="FF0000"/>
                </a:solidFill>
              </a:rPr>
              <a:t>を自動的に呼び出す機能</a:t>
            </a:r>
            <a:r>
              <a:rPr lang="ja-JP" altLang="en-US" sz="2400" dirty="0"/>
              <a:t>があり、</a:t>
            </a:r>
            <a:endParaRPr lang="en-US" altLang="ja-JP" sz="2400" dirty="0"/>
          </a:p>
          <a:p>
            <a:r>
              <a:rPr lang="ja-JP" altLang="en-US" sz="2400" dirty="0"/>
              <a:t>正しく使うと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メモリリークのリスクを大幅に減らす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最近の技術ですが、ゲーム業界ではかなり普及していますので、</a:t>
            </a:r>
            <a:endParaRPr lang="en-US" altLang="ja-JP" sz="2400" dirty="0"/>
          </a:p>
          <a:p>
            <a:r>
              <a:rPr lang="ja-JP" altLang="en-US" sz="2400" dirty="0"/>
              <a:t>しっかりと学習しましょう。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他にも無駄なメモリ確保を抑えることもできる、</a:t>
            </a:r>
            <a:endParaRPr lang="en-US" altLang="ja-JP" sz="2400" dirty="0"/>
          </a:p>
          <a:p>
            <a:r>
              <a:rPr lang="ja-JP" altLang="en-US" sz="2400" dirty="0"/>
              <a:t>至れり尽くせりな機能です。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90828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スマートポインターを学習するためには</a:t>
            </a:r>
            <a:r>
              <a:rPr lang="ja-JP" altLang="en-US" sz="2400" b="1" dirty="0">
                <a:solidFill>
                  <a:srgbClr val="FF0000"/>
                </a:solidFill>
              </a:rPr>
              <a:t>所有権</a:t>
            </a:r>
            <a:r>
              <a:rPr lang="ja-JP" altLang="en-US" sz="2400" dirty="0"/>
              <a:t>について知らなければいけません。</a:t>
            </a:r>
            <a:endParaRPr lang="en-US" altLang="ja-JP" sz="2400" dirty="0"/>
          </a:p>
          <a:p>
            <a:r>
              <a:rPr lang="ja-JP" altLang="en-US" sz="2400" dirty="0"/>
              <a:t>所有権とは、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生成されたオブジェクトを参照できる権利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■例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Player</a:t>
            </a:r>
            <a:r>
              <a:rPr lang="en-US" altLang="ja-JP" sz="2400" dirty="0"/>
              <a:t>* player = </a:t>
            </a:r>
            <a:r>
              <a:rPr lang="en-US" altLang="ja-JP" sz="2400" b="1" dirty="0">
                <a:solidFill>
                  <a:srgbClr val="0070C0"/>
                </a:solidFill>
              </a:rPr>
              <a:t>new</a:t>
            </a:r>
            <a:r>
              <a:rPr lang="en-US" altLang="ja-JP" sz="2400" dirty="0"/>
              <a:t> </a:t>
            </a:r>
            <a:r>
              <a:rPr lang="en-US" altLang="ja-JP" sz="2400" b="1" dirty="0">
                <a:solidFill>
                  <a:srgbClr val="00B050"/>
                </a:solidFill>
              </a:rPr>
              <a:t>Player</a:t>
            </a:r>
            <a:r>
              <a:rPr lang="en-US" altLang="ja-JP" sz="2400" dirty="0"/>
              <a:t>;</a:t>
            </a:r>
          </a:p>
          <a:p>
            <a:endParaRPr lang="en-US" altLang="ja-JP" sz="2400" dirty="0"/>
          </a:p>
          <a:p>
            <a:r>
              <a:rPr lang="ja-JP" altLang="en-US" sz="2400" dirty="0"/>
              <a:t>この場合、生成された</a:t>
            </a:r>
            <a:r>
              <a:rPr lang="en-US" altLang="ja-JP" sz="2400" dirty="0"/>
              <a:t>Player</a:t>
            </a:r>
            <a:r>
              <a:rPr lang="ja-JP" altLang="en-US" sz="2400" dirty="0"/>
              <a:t>を参照する権利を持つのは</a:t>
            </a:r>
            <a:r>
              <a:rPr lang="en-US" altLang="ja-JP" sz="2400" dirty="0"/>
              <a:t>player</a:t>
            </a:r>
            <a:r>
              <a:rPr lang="ja-JP" altLang="en-US" sz="2400" dirty="0"/>
              <a:t>変数。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スマートポインターは、</a:t>
            </a:r>
            <a:r>
              <a:rPr lang="ja-JP" altLang="en-US" sz="2400" b="1" dirty="0">
                <a:solidFill>
                  <a:srgbClr val="FF0000"/>
                </a:solidFill>
              </a:rPr>
              <a:t>所有権の扱い方に制限を設けたポインター変数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制限によって</a:t>
            </a:r>
            <a:r>
              <a:rPr lang="ja-JP" altLang="en-US" sz="2400" b="1" dirty="0">
                <a:solidFill>
                  <a:srgbClr val="FF0000"/>
                </a:solidFill>
              </a:rPr>
              <a:t>３種類</a:t>
            </a:r>
            <a:r>
              <a:rPr lang="ja-JP" altLang="en-US" sz="2400" dirty="0"/>
              <a:t>のポインターがあります。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65973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3082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スマートポインターの種類です。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B050"/>
                </a:solidFill>
              </a:rPr>
              <a:t>■</a:t>
            </a:r>
            <a:r>
              <a:rPr lang="en-US" altLang="ja-JP" sz="2400" b="1" dirty="0">
                <a:solidFill>
                  <a:srgbClr val="00B050"/>
                </a:solidFill>
              </a:rPr>
              <a:t>Unique</a:t>
            </a:r>
            <a:r>
              <a:rPr lang="ja-JP" altLang="en-US" sz="2400" b="1" dirty="0">
                <a:solidFill>
                  <a:srgbClr val="00B050"/>
                </a:solidFill>
              </a:rPr>
              <a:t>（ユニーク）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所有権が１つ</a:t>
            </a:r>
            <a:r>
              <a:rPr lang="ja-JP" altLang="en-US" sz="2400" dirty="0"/>
              <a:t>しかない。</a:t>
            </a:r>
            <a:endParaRPr lang="en-US" altLang="ja-JP" sz="2400" dirty="0"/>
          </a:p>
          <a:p>
            <a:r>
              <a:rPr lang="ja-JP" altLang="en-US" sz="2400" dirty="0"/>
              <a:t>最も安全なため、よく使われる。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B050"/>
                </a:solidFill>
              </a:rPr>
              <a:t>■</a:t>
            </a:r>
            <a:r>
              <a:rPr lang="en-US" altLang="ja-JP" sz="2400" b="1" dirty="0">
                <a:solidFill>
                  <a:srgbClr val="00B050"/>
                </a:solidFill>
              </a:rPr>
              <a:t>Shared</a:t>
            </a:r>
            <a:r>
              <a:rPr lang="ja-JP" altLang="en-US" sz="2400" b="1" dirty="0">
                <a:solidFill>
                  <a:srgbClr val="00B050"/>
                </a:solidFill>
              </a:rPr>
              <a:t>（シェアード）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所有権を複数設けられる。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１つのオブジェクトを様々な場所から参照したい時に使う。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せっかくの自動</a:t>
            </a:r>
            <a:r>
              <a:rPr lang="en-US" altLang="ja-JP" sz="2400" b="1" dirty="0">
                <a:solidFill>
                  <a:srgbClr val="FF0000"/>
                </a:solidFill>
              </a:rPr>
              <a:t>delete</a:t>
            </a:r>
            <a:r>
              <a:rPr lang="ja-JP" altLang="en-US" sz="2400" b="1" dirty="0">
                <a:solidFill>
                  <a:srgbClr val="FF0000"/>
                </a:solidFill>
              </a:rPr>
              <a:t>が機能しなくなるリスクがある（循環参照）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B050"/>
                </a:solidFill>
              </a:rPr>
              <a:t>■</a:t>
            </a:r>
            <a:r>
              <a:rPr lang="en-US" altLang="ja-JP" sz="2400" b="1" dirty="0">
                <a:solidFill>
                  <a:srgbClr val="00B050"/>
                </a:solidFill>
              </a:rPr>
              <a:t>Weak</a:t>
            </a:r>
            <a:r>
              <a:rPr lang="ja-JP" altLang="en-US" sz="2400" b="1" dirty="0">
                <a:solidFill>
                  <a:srgbClr val="00B050"/>
                </a:solidFill>
              </a:rPr>
              <a:t>（ウィーク）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en-US" altLang="ja-JP" sz="2400" dirty="0"/>
              <a:t>Shared</a:t>
            </a:r>
            <a:r>
              <a:rPr lang="ja-JP" altLang="en-US" sz="2400" dirty="0"/>
              <a:t>ポインターと同じオブジェクトを参照できるが、</a:t>
            </a:r>
            <a:r>
              <a:rPr lang="ja-JP" altLang="en-US" sz="2400" b="1" dirty="0">
                <a:solidFill>
                  <a:srgbClr val="FF0000"/>
                </a:solidFill>
              </a:rPr>
              <a:t>所有権は持たない。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循環参照に対する対策として効果的。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7818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277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Unique</a:t>
            </a:r>
            <a:r>
              <a:rPr lang="ja-JP" altLang="en-US" sz="2400" dirty="0"/>
              <a:t>から練習しましょう。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E783280-FF52-4229-85C9-17434EB1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528458" cy="473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19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68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make_unique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はオブジェクトを生成して</a:t>
            </a:r>
            <a:r>
              <a:rPr lang="en-US" altLang="ja-JP" sz="2400" b="1" dirty="0" err="1">
                <a:solidFill>
                  <a:srgbClr val="00B050"/>
                </a:solidFill>
              </a:rPr>
              <a:t>unique_ptr</a:t>
            </a:r>
            <a:r>
              <a:rPr lang="ja-JP" altLang="en-US" sz="2400" dirty="0"/>
              <a:t>を返却します。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F07041D-FCF8-482E-A08B-5548A3BEF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820254" cy="87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38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93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Unique</a:t>
            </a:r>
            <a:r>
              <a:rPr lang="ja-JP" altLang="en-US" sz="2400" dirty="0"/>
              <a:t>は１つのみなので、「＝」によるコピーができません。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1FDF334-07D7-434A-9E05-E5E11CFD7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8380595" cy="93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64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045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get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から</a:t>
            </a:r>
            <a:r>
              <a:rPr lang="ja-JP" altLang="en-US" sz="2400" b="1" dirty="0">
                <a:solidFill>
                  <a:srgbClr val="FF0000"/>
                </a:solidFill>
              </a:rPr>
              <a:t>アクセス用のポインタ</a:t>
            </a:r>
            <a:r>
              <a:rPr lang="ja-JP" altLang="en-US" sz="2400" dirty="0"/>
              <a:t>を取得できます。</a:t>
            </a:r>
            <a:endParaRPr lang="en-US" altLang="ja-JP" sz="2400" dirty="0"/>
          </a:p>
          <a:p>
            <a:r>
              <a:rPr lang="ja-JP" altLang="en-US" sz="2400" dirty="0"/>
              <a:t>ポインタを取得するだけで</a:t>
            </a:r>
            <a:r>
              <a:rPr lang="ja-JP" altLang="en-US" sz="2400" b="1" dirty="0">
                <a:solidFill>
                  <a:srgbClr val="FF0000"/>
                </a:solidFill>
              </a:rPr>
              <a:t>所有権は変わりません。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0070C0"/>
                </a:solidFill>
              </a:rPr>
              <a:t>Get</a:t>
            </a:r>
            <a:r>
              <a:rPr lang="ja-JP" altLang="en-US" sz="2400" b="1" dirty="0">
                <a:solidFill>
                  <a:srgbClr val="0070C0"/>
                </a:solidFill>
              </a:rPr>
              <a:t>〇〇関数</a:t>
            </a:r>
            <a:r>
              <a:rPr lang="ja-JP" altLang="en-US" sz="2400" dirty="0"/>
              <a:t>などでよく使われます。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85E635-8FC4-4613-8DAB-F4C9FE39D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556458"/>
            <a:ext cx="7952179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40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１つしかないので、他の変数に与えるには</a:t>
            </a:r>
            <a:r>
              <a:rPr lang="ja-JP" altLang="en-US" sz="2400" b="1" dirty="0">
                <a:solidFill>
                  <a:srgbClr val="FF0000"/>
                </a:solidFill>
              </a:rPr>
              <a:t>移動</a:t>
            </a:r>
            <a:r>
              <a:rPr lang="ja-JP" altLang="en-US" sz="2400" dirty="0"/>
              <a:t>するしかありません。</a:t>
            </a:r>
            <a:endParaRPr lang="en-US" altLang="ja-JP" sz="2400" dirty="0"/>
          </a:p>
          <a:p>
            <a:r>
              <a:rPr lang="ja-JP" altLang="en-US" sz="2400" dirty="0"/>
              <a:t>移動には</a:t>
            </a:r>
            <a:r>
              <a:rPr lang="en-US" altLang="ja-JP" sz="2400" b="1" dirty="0">
                <a:solidFill>
                  <a:srgbClr val="0070C0"/>
                </a:solidFill>
              </a:rPr>
              <a:t>move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132A32B-9918-4358-8218-8E1AD1B52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627648" cy="262344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E60D74F-8CE1-48B1-8E5C-C856F3941590}"/>
              </a:ext>
            </a:extLst>
          </p:cNvPr>
          <p:cNvSpPr txBox="1"/>
          <p:nvPr/>
        </p:nvSpPr>
        <p:spPr>
          <a:xfrm>
            <a:off x="567541" y="4950275"/>
            <a:ext cx="5806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player</a:t>
            </a:r>
            <a:r>
              <a:rPr lang="ja-JP" altLang="en-US" sz="2400" dirty="0"/>
              <a:t>→</a:t>
            </a:r>
            <a:r>
              <a:rPr lang="en-US" altLang="ja-JP" sz="2400" dirty="0"/>
              <a:t>player2</a:t>
            </a:r>
            <a:r>
              <a:rPr lang="ja-JP" altLang="en-US" sz="2400" dirty="0"/>
              <a:t>へと移動しているので、</a:t>
            </a:r>
            <a:endParaRPr lang="en-US" altLang="ja-JP" sz="2400" dirty="0"/>
          </a:p>
          <a:p>
            <a:r>
              <a:rPr lang="en-US" altLang="ja-JP" sz="2400" dirty="0"/>
              <a:t>player</a:t>
            </a:r>
            <a:r>
              <a:rPr lang="ja-JP" altLang="en-US" sz="2400" dirty="0"/>
              <a:t>は</a:t>
            </a:r>
            <a:r>
              <a:rPr lang="en-US" altLang="ja-JP" sz="2400" b="1" dirty="0">
                <a:solidFill>
                  <a:srgbClr val="FF0000"/>
                </a:solidFill>
              </a:rPr>
              <a:t>empty</a:t>
            </a:r>
            <a:r>
              <a:rPr lang="ja-JP" altLang="en-US" sz="2400" b="1" dirty="0">
                <a:solidFill>
                  <a:srgbClr val="FF0000"/>
                </a:solidFill>
              </a:rPr>
              <a:t>（空）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28689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7812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関数を抜けると、ローカル変数である</a:t>
            </a:r>
            <a:r>
              <a:rPr lang="en-US" altLang="ja-JP" sz="2400" dirty="0"/>
              <a:t>player</a:t>
            </a:r>
            <a:r>
              <a:rPr lang="ja-JP" altLang="en-US" sz="2400" dirty="0"/>
              <a:t>は無くなります。</a:t>
            </a:r>
            <a:endParaRPr lang="en-US" altLang="ja-JP" sz="2400" dirty="0"/>
          </a:p>
          <a:p>
            <a:r>
              <a:rPr lang="ja-JP" altLang="en-US" sz="2400" dirty="0"/>
              <a:t>これで</a:t>
            </a:r>
            <a:r>
              <a:rPr lang="en-US" altLang="ja-JP" sz="2400" dirty="0"/>
              <a:t>Player</a:t>
            </a:r>
            <a:r>
              <a:rPr lang="ja-JP" altLang="en-US" sz="2400" dirty="0"/>
              <a:t>の所有権を持つ変数がすべてなくなりました。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スマートポインターで生成したオブジェクトは、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所有権がなくなれば自動で</a:t>
            </a:r>
            <a:r>
              <a:rPr lang="en-US" altLang="ja-JP" sz="2400" b="1" dirty="0">
                <a:solidFill>
                  <a:srgbClr val="FF0000"/>
                </a:solidFill>
              </a:rPr>
              <a:t>delete</a:t>
            </a:r>
            <a:r>
              <a:rPr lang="ja-JP" altLang="en-US" sz="2400" dirty="0"/>
              <a:t>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3814176-4905-4AC9-BD15-7AE4EA39E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1"/>
            <a:ext cx="9362131" cy="108862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3C76CBA-B858-4AC5-9825-4ED7ADD359AC}"/>
              </a:ext>
            </a:extLst>
          </p:cNvPr>
          <p:cNvSpPr txBox="1"/>
          <p:nvPr/>
        </p:nvSpPr>
        <p:spPr>
          <a:xfrm>
            <a:off x="567542" y="4523441"/>
            <a:ext cx="10299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実際に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は使ってないですが、</a:t>
            </a:r>
            <a:r>
              <a:rPr lang="ja-JP" altLang="en-US" sz="2400" b="1" dirty="0">
                <a:solidFill>
                  <a:srgbClr val="FF0000"/>
                </a:solidFill>
              </a:rPr>
              <a:t>デストラクタが呼ばれている</a:t>
            </a:r>
            <a:r>
              <a:rPr lang="ja-JP" altLang="en-US" sz="2400" dirty="0"/>
              <a:t>はずです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58749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267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dirty="0"/>
              <a:t>Shared</a:t>
            </a:r>
            <a:r>
              <a:rPr lang="ja-JP" altLang="en-US" sz="2400" dirty="0"/>
              <a:t>を練習します。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27D281B-E888-48FE-AA5B-61D92E77C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716327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86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スマートポインター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68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Shared</a:t>
            </a:r>
            <a:r>
              <a:rPr lang="ja-JP" altLang="en-US" sz="2400"/>
              <a:t>は所有権を複数の変数に持たせることができます。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8422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527</Words>
  <Application>Microsoft Office PowerPoint</Application>
  <PresentationFormat>ワイド画面</PresentationFormat>
  <Paragraphs>76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86</cp:revision>
  <dcterms:created xsi:type="dcterms:W3CDTF">2024-08-27T02:15:54Z</dcterms:created>
  <dcterms:modified xsi:type="dcterms:W3CDTF">2025-09-11T06:14:35Z</dcterms:modified>
</cp:coreProperties>
</file>