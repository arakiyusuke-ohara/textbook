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38" y="2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2025/9/16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2025/9/16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2025/9/16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2025/9/16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2025/9/16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2025/9/16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2025/9/16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スマートポインター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615133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オブジェクトの生成、削除</a:t>
            </a:r>
            <a:r>
              <a:rPr lang="ja-JP" altLang="en-US" sz="2400" dirty="0"/>
              <a:t>には</a:t>
            </a:r>
            <a:r>
              <a:rPr lang="en-US" altLang="ja-JP" sz="2400" b="1" dirty="0">
                <a:solidFill>
                  <a:srgbClr val="0070C0"/>
                </a:solidFill>
              </a:rPr>
              <a:t>new</a:t>
            </a:r>
            <a:r>
              <a:rPr lang="en-US" altLang="ja-JP" sz="2400" dirty="0"/>
              <a:t>, </a:t>
            </a:r>
            <a:r>
              <a:rPr lang="en-US" altLang="ja-JP" sz="2400" b="1" dirty="0">
                <a:solidFill>
                  <a:srgbClr val="0070C0"/>
                </a:solidFill>
              </a:rPr>
              <a:t>delete</a:t>
            </a:r>
            <a:r>
              <a:rPr lang="ja-JP" altLang="en-US" sz="2400" dirty="0"/>
              <a:t>を使用してきましたが、</a:t>
            </a:r>
            <a:endParaRPr lang="en-US" altLang="ja-JP" sz="2400" dirty="0"/>
          </a:p>
          <a:p>
            <a:r>
              <a:rPr lang="ja-JP" altLang="en-US" sz="2400" dirty="0"/>
              <a:t>これらには明確な</a:t>
            </a:r>
            <a:r>
              <a:rPr lang="ja-JP" altLang="en-US" sz="2400" b="1" dirty="0">
                <a:solidFill>
                  <a:srgbClr val="FF0000"/>
                </a:solidFill>
              </a:rPr>
              <a:t>欠点</a:t>
            </a:r>
            <a:r>
              <a:rPr lang="ja-JP" altLang="en-US" sz="2400" dirty="0"/>
              <a:t>があります。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それは、</a:t>
            </a:r>
            <a:r>
              <a:rPr lang="en-US" altLang="ja-JP" sz="2400" dirty="0"/>
              <a:t>delete</a:t>
            </a:r>
            <a:r>
              <a:rPr lang="ja-JP" altLang="en-US" sz="2400" dirty="0"/>
              <a:t>を書き忘れたときの</a:t>
            </a:r>
            <a:r>
              <a:rPr lang="ja-JP" altLang="en-US" sz="2400" b="1" dirty="0">
                <a:solidFill>
                  <a:srgbClr val="FF0000"/>
                </a:solidFill>
              </a:rPr>
              <a:t>メモリリーク</a:t>
            </a:r>
            <a:r>
              <a:rPr lang="ja-JP" altLang="en-US" sz="2400" dirty="0"/>
              <a:t>です。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ゲーム開発では</a:t>
            </a:r>
            <a:r>
              <a:rPr lang="en-US" altLang="ja-JP" sz="2400" dirty="0"/>
              <a:t>C++</a:t>
            </a:r>
            <a:r>
              <a:rPr lang="ja-JP" altLang="en-US" sz="2400" dirty="0"/>
              <a:t>が使われていましたので、</a:t>
            </a:r>
            <a:endParaRPr lang="en-US" altLang="ja-JP" sz="2400" dirty="0"/>
          </a:p>
          <a:p>
            <a:r>
              <a:rPr lang="ja-JP" altLang="en-US" sz="2400" dirty="0"/>
              <a:t>多くのゲームプログラマーが、メモリリークと格闘していました。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en-US" altLang="ja-JP" sz="2400" b="1" dirty="0">
                <a:solidFill>
                  <a:srgbClr val="FF0000"/>
                </a:solidFill>
              </a:rPr>
              <a:t>※</a:t>
            </a:r>
            <a:r>
              <a:rPr lang="ja-JP" altLang="en-US" sz="2400" b="1" dirty="0">
                <a:solidFill>
                  <a:srgbClr val="FF0000"/>
                </a:solidFill>
              </a:rPr>
              <a:t>メモリリークはフリーズの原因ともなる致命的な不具合です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スマートポインター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25739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2011</a:t>
            </a:r>
            <a:r>
              <a:rPr lang="ja-JP" altLang="en-US" sz="2400" dirty="0"/>
              <a:t>年に</a:t>
            </a:r>
            <a:r>
              <a:rPr lang="en-US" altLang="ja-JP" sz="2400" dirty="0"/>
              <a:t>C++</a:t>
            </a:r>
            <a:r>
              <a:rPr lang="ja-JP" altLang="en-US" sz="2400" dirty="0"/>
              <a:t>のバージョンアップが行われました。（</a:t>
            </a:r>
            <a:r>
              <a:rPr lang="en-US" altLang="ja-JP" sz="2400" dirty="0"/>
              <a:t>C++11</a:t>
            </a:r>
            <a:r>
              <a:rPr lang="ja-JP" altLang="en-US" sz="2400" dirty="0"/>
              <a:t>）</a:t>
            </a:r>
            <a:endParaRPr lang="en-US" altLang="ja-JP" sz="2400" dirty="0"/>
          </a:p>
          <a:p>
            <a:r>
              <a:rPr lang="ja-JP" altLang="en-US" sz="2400" dirty="0"/>
              <a:t>そこで新たに</a:t>
            </a:r>
            <a:r>
              <a:rPr lang="ja-JP" altLang="en-US" sz="2400" b="1" dirty="0">
                <a:solidFill>
                  <a:srgbClr val="FF0000"/>
                </a:solidFill>
              </a:rPr>
              <a:t>スマートポインター</a:t>
            </a:r>
            <a:r>
              <a:rPr lang="ja-JP" altLang="en-US" sz="2400" dirty="0"/>
              <a:t>というものが実装されています。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スマートポインターは</a:t>
            </a:r>
            <a:r>
              <a:rPr lang="en-US" altLang="ja-JP" sz="2400" b="1" dirty="0">
                <a:solidFill>
                  <a:srgbClr val="FF0000"/>
                </a:solidFill>
              </a:rPr>
              <a:t>delete</a:t>
            </a:r>
            <a:r>
              <a:rPr lang="ja-JP" altLang="en-US" sz="2400" b="1" dirty="0">
                <a:solidFill>
                  <a:srgbClr val="FF0000"/>
                </a:solidFill>
              </a:rPr>
              <a:t>を自動的に呼び出す機能</a:t>
            </a:r>
            <a:r>
              <a:rPr lang="ja-JP" altLang="en-US" sz="2400" dirty="0"/>
              <a:t>があり、</a:t>
            </a:r>
            <a:endParaRPr lang="en-US" altLang="ja-JP" sz="2400" dirty="0"/>
          </a:p>
          <a:p>
            <a:r>
              <a:rPr lang="ja-JP" altLang="en-US" sz="2400" dirty="0"/>
              <a:t>正しく使うと</a:t>
            </a:r>
            <a:r>
              <a:rPr lang="ja-JP" altLang="en-US" sz="2400" b="1" dirty="0">
                <a:solidFill>
                  <a:srgbClr val="FF0000"/>
                </a:solidFill>
              </a:rPr>
              <a:t>メモリリークのリスクを大幅に減らす</a:t>
            </a:r>
            <a:r>
              <a:rPr lang="ja-JP" altLang="en-US" sz="2400" dirty="0"/>
              <a:t>ことができます。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最近の技術ですが、ゲーム業界ではかなり普及していますので、</a:t>
            </a:r>
            <a:endParaRPr lang="en-US" altLang="ja-JP" sz="2400" dirty="0"/>
          </a:p>
          <a:p>
            <a:r>
              <a:rPr lang="ja-JP" altLang="en-US" sz="2400" dirty="0"/>
              <a:t>しっかりと学習しましょう。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en-US" altLang="ja-JP" sz="2400" b="1" dirty="0">
                <a:solidFill>
                  <a:srgbClr val="00B050"/>
                </a:solidFill>
              </a:rPr>
              <a:t>MEMO</a:t>
            </a:r>
          </a:p>
          <a:p>
            <a:r>
              <a:rPr lang="ja-JP" altLang="en-US" sz="2400" dirty="0"/>
              <a:t>他にも無駄なメモリ確保を抑えることもできる、</a:t>
            </a:r>
            <a:endParaRPr lang="en-US" altLang="ja-JP" sz="2400" dirty="0"/>
          </a:p>
          <a:p>
            <a:r>
              <a:rPr lang="ja-JP" altLang="en-US" sz="2400" dirty="0"/>
              <a:t>至れり尽くせりな機能です。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6908280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スマートポインター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572399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スマートポインターを学習するためには</a:t>
            </a:r>
            <a:r>
              <a:rPr lang="ja-JP" altLang="en-US" sz="2400" b="1" dirty="0">
                <a:solidFill>
                  <a:srgbClr val="FF0000"/>
                </a:solidFill>
              </a:rPr>
              <a:t>所有権</a:t>
            </a:r>
            <a:r>
              <a:rPr lang="ja-JP" altLang="en-US" sz="2400" dirty="0"/>
              <a:t>について知らなければいけません。</a:t>
            </a:r>
            <a:endParaRPr lang="en-US" altLang="ja-JP" sz="2400" dirty="0"/>
          </a:p>
          <a:p>
            <a:r>
              <a:rPr lang="ja-JP" altLang="en-US" sz="2400" dirty="0"/>
              <a:t>所有権とは、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生成されたオブジェクトを参照できる権利</a:t>
            </a:r>
            <a:r>
              <a:rPr lang="ja-JP" altLang="en-US" sz="2400" dirty="0"/>
              <a:t>になります。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■例</a:t>
            </a:r>
            <a:endParaRPr lang="en-US" altLang="ja-JP" sz="2400" dirty="0"/>
          </a:p>
          <a:p>
            <a:r>
              <a:rPr lang="en-US" altLang="ja-JP" sz="2400" b="1" dirty="0">
                <a:solidFill>
                  <a:srgbClr val="00B050"/>
                </a:solidFill>
              </a:rPr>
              <a:t>Player</a:t>
            </a:r>
            <a:r>
              <a:rPr lang="en-US" altLang="ja-JP" sz="2400" dirty="0"/>
              <a:t>* player = </a:t>
            </a:r>
            <a:r>
              <a:rPr lang="en-US" altLang="ja-JP" sz="2400" b="1" dirty="0">
                <a:solidFill>
                  <a:srgbClr val="0070C0"/>
                </a:solidFill>
              </a:rPr>
              <a:t>new</a:t>
            </a:r>
            <a:r>
              <a:rPr lang="en-US" altLang="ja-JP" sz="2400" dirty="0"/>
              <a:t> </a:t>
            </a:r>
            <a:r>
              <a:rPr lang="en-US" altLang="ja-JP" sz="2400" b="1" dirty="0">
                <a:solidFill>
                  <a:srgbClr val="00B050"/>
                </a:solidFill>
              </a:rPr>
              <a:t>Player</a:t>
            </a:r>
            <a:r>
              <a:rPr lang="en-US" altLang="ja-JP" sz="2400" dirty="0"/>
              <a:t>;</a:t>
            </a:r>
          </a:p>
          <a:p>
            <a:endParaRPr lang="en-US" altLang="ja-JP" sz="2400" dirty="0"/>
          </a:p>
          <a:p>
            <a:r>
              <a:rPr lang="ja-JP" altLang="en-US" sz="2400" dirty="0"/>
              <a:t>この場合、生成された</a:t>
            </a:r>
            <a:r>
              <a:rPr lang="en-US" altLang="ja-JP" sz="2400" dirty="0"/>
              <a:t>Player</a:t>
            </a:r>
            <a:r>
              <a:rPr lang="ja-JP" altLang="en-US" sz="2400" dirty="0"/>
              <a:t>を参照する権利を持つのは</a:t>
            </a:r>
            <a:r>
              <a:rPr lang="en-US" altLang="ja-JP" sz="2400" dirty="0"/>
              <a:t>player</a:t>
            </a:r>
            <a:r>
              <a:rPr lang="ja-JP" altLang="en-US" sz="2400" dirty="0"/>
              <a:t>変数。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スマートポインターは、</a:t>
            </a:r>
            <a:r>
              <a:rPr lang="ja-JP" altLang="en-US" sz="2400" b="1" dirty="0">
                <a:solidFill>
                  <a:srgbClr val="FF0000"/>
                </a:solidFill>
              </a:rPr>
              <a:t>所有権の扱い方に制限を設けたポインター変数</a:t>
            </a:r>
            <a:r>
              <a:rPr lang="ja-JP" altLang="en-US" sz="2400" dirty="0"/>
              <a:t>です。</a:t>
            </a:r>
            <a:endParaRPr lang="en-US" altLang="ja-JP" sz="2400" dirty="0"/>
          </a:p>
          <a:p>
            <a:r>
              <a:rPr lang="ja-JP" altLang="en-US" sz="2400" dirty="0"/>
              <a:t>制限によって</a:t>
            </a:r>
            <a:r>
              <a:rPr lang="ja-JP" altLang="en-US" sz="2400" b="1" dirty="0">
                <a:solidFill>
                  <a:srgbClr val="FF0000"/>
                </a:solidFill>
              </a:rPr>
              <a:t>３種類</a:t>
            </a:r>
            <a:r>
              <a:rPr lang="ja-JP" altLang="en-US" sz="2400" dirty="0"/>
              <a:t>のポインターがあります。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9659734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スマートポインター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730823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スマートポインターの種類です。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00B050"/>
                </a:solidFill>
              </a:rPr>
              <a:t>■</a:t>
            </a:r>
            <a:r>
              <a:rPr lang="en-US" altLang="ja-JP" sz="2400" b="1" dirty="0">
                <a:solidFill>
                  <a:srgbClr val="00B050"/>
                </a:solidFill>
              </a:rPr>
              <a:t>Unique</a:t>
            </a:r>
            <a:r>
              <a:rPr lang="ja-JP" altLang="en-US" sz="2400" b="1" dirty="0">
                <a:solidFill>
                  <a:srgbClr val="00B050"/>
                </a:solidFill>
              </a:rPr>
              <a:t>（ユニーク）</a:t>
            </a:r>
            <a:endParaRPr lang="en-US" altLang="ja-JP" sz="2400" b="1" dirty="0">
              <a:solidFill>
                <a:srgbClr val="00B050"/>
              </a:solidFill>
            </a:endParaRPr>
          </a:p>
          <a:p>
            <a:r>
              <a:rPr lang="ja-JP" altLang="en-US" sz="2400" b="1" dirty="0">
                <a:solidFill>
                  <a:srgbClr val="FF0000"/>
                </a:solidFill>
              </a:rPr>
              <a:t>所有権が１つ</a:t>
            </a:r>
            <a:r>
              <a:rPr lang="ja-JP" altLang="en-US" sz="2400" dirty="0"/>
              <a:t>しかない。</a:t>
            </a:r>
            <a:endParaRPr lang="en-US" altLang="ja-JP" sz="2400" dirty="0"/>
          </a:p>
          <a:p>
            <a:r>
              <a:rPr lang="ja-JP" altLang="en-US" sz="2400" dirty="0"/>
              <a:t>最も安全なため、よく使われる。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00B050"/>
                </a:solidFill>
              </a:rPr>
              <a:t>■</a:t>
            </a:r>
            <a:r>
              <a:rPr lang="en-US" altLang="ja-JP" sz="2400" b="1" dirty="0">
                <a:solidFill>
                  <a:srgbClr val="00B050"/>
                </a:solidFill>
              </a:rPr>
              <a:t>Shared</a:t>
            </a:r>
            <a:r>
              <a:rPr lang="ja-JP" altLang="en-US" sz="2400" b="1" dirty="0">
                <a:solidFill>
                  <a:srgbClr val="00B050"/>
                </a:solidFill>
              </a:rPr>
              <a:t>（シェアード）</a:t>
            </a:r>
            <a:endParaRPr lang="en-US" altLang="ja-JP" sz="2400" b="1" dirty="0">
              <a:solidFill>
                <a:srgbClr val="00B050"/>
              </a:solidFill>
            </a:endParaRPr>
          </a:p>
          <a:p>
            <a:r>
              <a:rPr lang="ja-JP" altLang="en-US" sz="2400" b="1" dirty="0">
                <a:solidFill>
                  <a:srgbClr val="FF0000"/>
                </a:solidFill>
              </a:rPr>
              <a:t>所有権を複数設けられる。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１つのオブジェクトを様々な場所から参照したい時に使う。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せっかくの自動</a:t>
            </a:r>
            <a:r>
              <a:rPr lang="en-US" altLang="ja-JP" sz="2400" b="1" dirty="0">
                <a:solidFill>
                  <a:srgbClr val="FF0000"/>
                </a:solidFill>
              </a:rPr>
              <a:t>delete</a:t>
            </a:r>
            <a:r>
              <a:rPr lang="ja-JP" altLang="en-US" sz="2400" b="1" dirty="0">
                <a:solidFill>
                  <a:srgbClr val="FF0000"/>
                </a:solidFill>
              </a:rPr>
              <a:t>が機能しなくなるリスクがある（循環参照）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00B050"/>
                </a:solidFill>
              </a:rPr>
              <a:t>■</a:t>
            </a:r>
            <a:r>
              <a:rPr lang="en-US" altLang="ja-JP" sz="2400" b="1" dirty="0">
                <a:solidFill>
                  <a:srgbClr val="00B050"/>
                </a:solidFill>
              </a:rPr>
              <a:t>Weak</a:t>
            </a:r>
            <a:r>
              <a:rPr lang="ja-JP" altLang="en-US" sz="2400" b="1" dirty="0">
                <a:solidFill>
                  <a:srgbClr val="00B050"/>
                </a:solidFill>
              </a:rPr>
              <a:t>（ウィーク）</a:t>
            </a:r>
            <a:endParaRPr lang="en-US" altLang="ja-JP" sz="2400" b="1" dirty="0">
              <a:solidFill>
                <a:srgbClr val="00B050"/>
              </a:solidFill>
            </a:endParaRPr>
          </a:p>
          <a:p>
            <a:r>
              <a:rPr lang="en-US" altLang="ja-JP" sz="2400" dirty="0"/>
              <a:t>Shared</a:t>
            </a:r>
            <a:r>
              <a:rPr lang="ja-JP" altLang="en-US" sz="2400" dirty="0"/>
              <a:t>ポインターと同じオブジェクトを参照できるが、</a:t>
            </a:r>
            <a:r>
              <a:rPr lang="ja-JP" altLang="en-US" sz="2400" b="1" dirty="0">
                <a:solidFill>
                  <a:srgbClr val="FF0000"/>
                </a:solidFill>
              </a:rPr>
              <a:t>所有権は持たない。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循環参照に対する対策として効果的。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6781866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スマートポインター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2771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Unique</a:t>
            </a:r>
            <a:r>
              <a:rPr lang="ja-JP" altLang="en-US" sz="2400" dirty="0"/>
              <a:t>から練習しましょう。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2E783280-FF52-4229-85C9-17434EB167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5528458" cy="4732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17191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スマートポインター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1681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0070C0"/>
                </a:solidFill>
              </a:rPr>
              <a:t>make_unique</a:t>
            </a:r>
            <a:r>
              <a:rPr lang="ja-JP" altLang="en-US" sz="2400" b="1" dirty="0">
                <a:solidFill>
                  <a:srgbClr val="0070C0"/>
                </a:solidFill>
              </a:rPr>
              <a:t>関数</a:t>
            </a:r>
            <a:r>
              <a:rPr lang="ja-JP" altLang="en-US" sz="2400" dirty="0"/>
              <a:t>はオブジェクトを生成して</a:t>
            </a:r>
            <a:r>
              <a:rPr lang="en-US" altLang="ja-JP" sz="2400" b="1" dirty="0" err="1">
                <a:solidFill>
                  <a:srgbClr val="00B050"/>
                </a:solidFill>
              </a:rPr>
              <a:t>unique_ptr</a:t>
            </a:r>
            <a:r>
              <a:rPr lang="ja-JP" altLang="en-US" sz="2400" dirty="0"/>
              <a:t>を返却します。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4F07041D-FCF8-482E-A08B-5548A3BEFE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8820254" cy="871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06383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スマートポインター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937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Unique</a:t>
            </a:r>
            <a:r>
              <a:rPr lang="ja-JP" altLang="en-US" sz="2400" dirty="0"/>
              <a:t>は１つのみなので、「＝」によるコピーができません。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51FDF334-07D7-434A-9E05-E5E11CFD7C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1817794"/>
            <a:ext cx="8380595" cy="934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94641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スマートポインター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40459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0070C0"/>
                </a:solidFill>
              </a:rPr>
              <a:t>get</a:t>
            </a:r>
            <a:r>
              <a:rPr lang="ja-JP" altLang="en-US" sz="2400" b="1" dirty="0">
                <a:solidFill>
                  <a:srgbClr val="0070C0"/>
                </a:solidFill>
              </a:rPr>
              <a:t>関数</a:t>
            </a:r>
            <a:r>
              <a:rPr lang="ja-JP" altLang="en-US" sz="2400" dirty="0"/>
              <a:t>から</a:t>
            </a:r>
            <a:r>
              <a:rPr lang="ja-JP" altLang="en-US" sz="2400" b="1" dirty="0">
                <a:solidFill>
                  <a:srgbClr val="FF0000"/>
                </a:solidFill>
              </a:rPr>
              <a:t>アクセス用のポインタ</a:t>
            </a:r>
            <a:r>
              <a:rPr lang="ja-JP" altLang="en-US" sz="2400" dirty="0"/>
              <a:t>を取得できます。</a:t>
            </a:r>
            <a:endParaRPr lang="en-US" altLang="ja-JP" sz="2400" dirty="0"/>
          </a:p>
          <a:p>
            <a:r>
              <a:rPr lang="ja-JP" altLang="en-US" sz="2400" dirty="0"/>
              <a:t>ポインタを取得するだけで</a:t>
            </a:r>
            <a:r>
              <a:rPr lang="ja-JP" altLang="en-US" sz="2400" b="1" dirty="0">
                <a:solidFill>
                  <a:srgbClr val="FF0000"/>
                </a:solidFill>
              </a:rPr>
              <a:t>所有権は変わりません。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en-US" altLang="ja-JP" sz="2400" b="1" dirty="0">
                <a:solidFill>
                  <a:srgbClr val="0070C0"/>
                </a:solidFill>
              </a:rPr>
              <a:t>Get</a:t>
            </a:r>
            <a:r>
              <a:rPr lang="ja-JP" altLang="en-US" sz="2400" b="1" dirty="0">
                <a:solidFill>
                  <a:srgbClr val="0070C0"/>
                </a:solidFill>
              </a:rPr>
              <a:t>〇〇関数</a:t>
            </a:r>
            <a:r>
              <a:rPr lang="ja-JP" altLang="en-US" sz="2400" dirty="0"/>
              <a:t>などでよく使われます。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5E85E635-8FC4-4613-8DAB-F4C9FE39DD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2556458"/>
            <a:ext cx="7952179" cy="1200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74051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スマートポインター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2573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１つしかないので、他の変数に与えるには</a:t>
            </a:r>
            <a:r>
              <a:rPr lang="ja-JP" altLang="en-US" sz="2400" b="1" dirty="0">
                <a:solidFill>
                  <a:srgbClr val="FF0000"/>
                </a:solidFill>
              </a:rPr>
              <a:t>移動</a:t>
            </a:r>
            <a:r>
              <a:rPr lang="ja-JP" altLang="en-US" sz="2400" dirty="0"/>
              <a:t>するしかありません。</a:t>
            </a:r>
            <a:endParaRPr lang="en-US" altLang="ja-JP" sz="2400" dirty="0"/>
          </a:p>
          <a:p>
            <a:r>
              <a:rPr lang="ja-JP" altLang="en-US" sz="2400" dirty="0"/>
              <a:t>移動には</a:t>
            </a:r>
            <a:r>
              <a:rPr lang="en-US" altLang="ja-JP" sz="2400" b="1" dirty="0">
                <a:solidFill>
                  <a:srgbClr val="0070C0"/>
                </a:solidFill>
              </a:rPr>
              <a:t>move</a:t>
            </a:r>
            <a:r>
              <a:rPr lang="ja-JP" altLang="en-US" sz="2400" b="1" dirty="0">
                <a:solidFill>
                  <a:srgbClr val="0070C0"/>
                </a:solidFill>
              </a:rPr>
              <a:t>関数</a:t>
            </a:r>
            <a:r>
              <a:rPr lang="ja-JP" altLang="en-US" sz="2400" dirty="0"/>
              <a:t>を使います。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A132A32B-9918-4358-8218-8E1AD1B527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7627648" cy="2623449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0E60D74F-8CE1-48B1-8E5C-C856F3941590}"/>
              </a:ext>
            </a:extLst>
          </p:cNvPr>
          <p:cNvSpPr txBox="1"/>
          <p:nvPr/>
        </p:nvSpPr>
        <p:spPr>
          <a:xfrm>
            <a:off x="567541" y="4950275"/>
            <a:ext cx="580639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player</a:t>
            </a:r>
            <a:r>
              <a:rPr lang="ja-JP" altLang="en-US" sz="2400" dirty="0"/>
              <a:t>→</a:t>
            </a:r>
            <a:r>
              <a:rPr lang="en-US" altLang="ja-JP" sz="2400" dirty="0"/>
              <a:t>player2</a:t>
            </a:r>
            <a:r>
              <a:rPr lang="ja-JP" altLang="en-US" sz="2400" dirty="0"/>
              <a:t>へと移動しているので、</a:t>
            </a:r>
            <a:endParaRPr lang="en-US" altLang="ja-JP" sz="2400" dirty="0"/>
          </a:p>
          <a:p>
            <a:r>
              <a:rPr lang="en-US" altLang="ja-JP" sz="2400" dirty="0"/>
              <a:t>player</a:t>
            </a:r>
            <a:r>
              <a:rPr lang="ja-JP" altLang="en-US" sz="2400" dirty="0"/>
              <a:t>は</a:t>
            </a:r>
            <a:r>
              <a:rPr lang="en-US" altLang="ja-JP" sz="2400" b="1" dirty="0">
                <a:solidFill>
                  <a:srgbClr val="FF0000"/>
                </a:solidFill>
              </a:rPr>
              <a:t>empty</a:t>
            </a:r>
            <a:r>
              <a:rPr lang="ja-JP" altLang="en-US" sz="2400" b="1" dirty="0">
                <a:solidFill>
                  <a:srgbClr val="FF0000"/>
                </a:solidFill>
              </a:rPr>
              <a:t>（空）</a:t>
            </a:r>
            <a:r>
              <a:rPr lang="ja-JP" altLang="en-US" sz="2400" dirty="0"/>
              <a:t>となります。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1286895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スマートポインター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078126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関数を抜けると、ローカル変数である</a:t>
            </a:r>
            <a:r>
              <a:rPr lang="en-US" altLang="ja-JP" sz="2400" dirty="0"/>
              <a:t>player</a:t>
            </a:r>
            <a:r>
              <a:rPr lang="ja-JP" altLang="en-US" sz="2400" dirty="0"/>
              <a:t>は無くなります。</a:t>
            </a:r>
            <a:endParaRPr lang="en-US" altLang="ja-JP" sz="2400" dirty="0"/>
          </a:p>
          <a:p>
            <a:r>
              <a:rPr lang="ja-JP" altLang="en-US" sz="2400" dirty="0"/>
              <a:t>これで</a:t>
            </a:r>
            <a:r>
              <a:rPr lang="en-US" altLang="ja-JP" sz="2400" dirty="0"/>
              <a:t>Player</a:t>
            </a:r>
            <a:r>
              <a:rPr lang="ja-JP" altLang="en-US" sz="2400" dirty="0"/>
              <a:t>の所有権を持つ変数がすべてなくなりました。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スマートポインターで生成したオブジェクトは、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所有権がなくなれば自動で</a:t>
            </a:r>
            <a:r>
              <a:rPr lang="en-US" altLang="ja-JP" sz="2400" b="1" dirty="0">
                <a:solidFill>
                  <a:srgbClr val="FF0000"/>
                </a:solidFill>
              </a:rPr>
              <a:t>delete</a:t>
            </a:r>
            <a:r>
              <a:rPr lang="ja-JP" altLang="en-US" sz="2400" dirty="0"/>
              <a:t>されます。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B3814176-4905-4AC9-BD15-7AE4EA39E5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3295121"/>
            <a:ext cx="9362131" cy="1088620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93C76CBA-B858-4AC5-9825-4ED7ADD359AC}"/>
              </a:ext>
            </a:extLst>
          </p:cNvPr>
          <p:cNvSpPr txBox="1"/>
          <p:nvPr/>
        </p:nvSpPr>
        <p:spPr>
          <a:xfrm>
            <a:off x="567542" y="4523441"/>
            <a:ext cx="102996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実際に</a:t>
            </a:r>
            <a:r>
              <a:rPr lang="en-US" altLang="ja-JP" sz="2400" b="1" dirty="0">
                <a:solidFill>
                  <a:srgbClr val="0070C0"/>
                </a:solidFill>
              </a:rPr>
              <a:t>delete</a:t>
            </a:r>
            <a:r>
              <a:rPr lang="ja-JP" altLang="en-US" sz="2400" dirty="0"/>
              <a:t>は使ってないですが、</a:t>
            </a:r>
            <a:r>
              <a:rPr lang="ja-JP" altLang="en-US" sz="2400" b="1" dirty="0">
                <a:solidFill>
                  <a:srgbClr val="FF0000"/>
                </a:solidFill>
              </a:rPr>
              <a:t>デストラクタが呼ばれている</a:t>
            </a:r>
            <a:r>
              <a:rPr lang="ja-JP" altLang="en-US" sz="2400" dirty="0"/>
              <a:t>はずです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1587496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スマートポインター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2675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続いて</a:t>
            </a:r>
            <a:r>
              <a:rPr lang="en-US" altLang="ja-JP" sz="2400" dirty="0"/>
              <a:t>Shared</a:t>
            </a:r>
            <a:r>
              <a:rPr lang="ja-JP" altLang="en-US" sz="2400" dirty="0"/>
              <a:t>を練習します。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27D281B-E888-48FE-AA5B-61D92E77C3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7716327" cy="4048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21869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スマートポインター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24163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Shared</a:t>
            </a:r>
            <a:r>
              <a:rPr lang="ja-JP" altLang="en-US" sz="2400" dirty="0"/>
              <a:t>は所有権を複数の変数に持たせることができます。</a:t>
            </a:r>
            <a:endParaRPr lang="en-US" altLang="ja-JP" sz="2400" dirty="0"/>
          </a:p>
          <a:p>
            <a:r>
              <a:rPr lang="ja-JP" altLang="en-US" sz="2400" dirty="0"/>
              <a:t>サンプルでは</a:t>
            </a:r>
            <a:r>
              <a:rPr lang="en-US" altLang="ja-JP" sz="2400" b="1" dirty="0" err="1"/>
              <a:t>g_SharedPlayer</a:t>
            </a:r>
            <a:r>
              <a:rPr lang="ja-JP" altLang="en-US" sz="2400" dirty="0"/>
              <a:t>と</a:t>
            </a:r>
            <a:r>
              <a:rPr lang="en-US" altLang="ja-JP" sz="2400" b="1" dirty="0"/>
              <a:t>player</a:t>
            </a:r>
            <a:r>
              <a:rPr lang="ja-JP" altLang="en-US" sz="2400" dirty="0"/>
              <a:t>が所有権を持っています。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FAF5F6E7-704C-48F5-84C1-FB212484CC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42946"/>
            <a:ext cx="6363588" cy="1286054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B0EA7371-58E6-49A4-9583-2A15D87651DE}"/>
              </a:ext>
            </a:extLst>
          </p:cNvPr>
          <p:cNvSpPr/>
          <p:nvPr/>
        </p:nvSpPr>
        <p:spPr>
          <a:xfrm>
            <a:off x="567542" y="3730422"/>
            <a:ext cx="2026024" cy="26356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Player</a:t>
            </a:r>
            <a:endParaRPr kumimoji="1" lang="ja-JP" altLang="en-US" dirty="0"/>
          </a:p>
        </p:txBody>
      </p:sp>
      <p:sp>
        <p:nvSpPr>
          <p:cNvPr id="7" name="矢印: 左 6">
            <a:extLst>
              <a:ext uri="{FF2B5EF4-FFF2-40B4-BE49-F238E27FC236}">
                <a16:creationId xmlns:a16="http://schemas.microsoft.com/office/drawing/2014/main" id="{5EE47E97-24C8-4466-8FCC-D4004E0E9BEB}"/>
              </a:ext>
            </a:extLst>
          </p:cNvPr>
          <p:cNvSpPr/>
          <p:nvPr/>
        </p:nvSpPr>
        <p:spPr>
          <a:xfrm>
            <a:off x="2758922" y="4168589"/>
            <a:ext cx="2429436" cy="636494"/>
          </a:xfrm>
          <a:prstGeom prst="lef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/>
              <a:t>g</a:t>
            </a:r>
            <a:r>
              <a:rPr kumimoji="1" lang="en-US" altLang="ja-JP" dirty="0" err="1"/>
              <a:t>_SharedPlayer</a:t>
            </a:r>
            <a:endParaRPr kumimoji="1" lang="ja-JP" altLang="en-US" dirty="0"/>
          </a:p>
        </p:txBody>
      </p:sp>
      <p:sp>
        <p:nvSpPr>
          <p:cNvPr id="8" name="矢印: 左 7">
            <a:extLst>
              <a:ext uri="{FF2B5EF4-FFF2-40B4-BE49-F238E27FC236}">
                <a16:creationId xmlns:a16="http://schemas.microsoft.com/office/drawing/2014/main" id="{827EA80F-D9D9-4BBF-BE83-7031248288B2}"/>
              </a:ext>
            </a:extLst>
          </p:cNvPr>
          <p:cNvSpPr/>
          <p:nvPr/>
        </p:nvSpPr>
        <p:spPr>
          <a:xfrm>
            <a:off x="2758922" y="5163671"/>
            <a:ext cx="2429436" cy="636494"/>
          </a:xfrm>
          <a:prstGeom prst="lef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player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6842291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スマートポインター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53044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関数を抜けると</a:t>
            </a:r>
            <a:r>
              <a:rPr lang="en-US" altLang="ja-JP" sz="2400" dirty="0"/>
              <a:t>player</a:t>
            </a:r>
            <a:r>
              <a:rPr lang="ja-JP" altLang="en-US" sz="2400" dirty="0"/>
              <a:t>変数は無くなります。</a:t>
            </a:r>
            <a:endParaRPr lang="en-US" altLang="ja-JP" sz="2400" dirty="0"/>
          </a:p>
          <a:p>
            <a:r>
              <a:rPr lang="ja-JP" altLang="en-US" sz="2400" dirty="0"/>
              <a:t>ただし、</a:t>
            </a:r>
            <a:r>
              <a:rPr lang="en-US" altLang="ja-JP" sz="2400" b="1" dirty="0" err="1">
                <a:solidFill>
                  <a:srgbClr val="FF0000"/>
                </a:solidFill>
              </a:rPr>
              <a:t>g_SharedPlayer</a:t>
            </a:r>
            <a:r>
              <a:rPr lang="ja-JP" altLang="en-US" sz="2400" b="1" dirty="0">
                <a:solidFill>
                  <a:srgbClr val="FF0000"/>
                </a:solidFill>
              </a:rPr>
              <a:t>に所有権が残っているので自動削除されません。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B0EA7371-58E6-49A4-9583-2A15D87651DE}"/>
              </a:ext>
            </a:extLst>
          </p:cNvPr>
          <p:cNvSpPr/>
          <p:nvPr/>
        </p:nvSpPr>
        <p:spPr>
          <a:xfrm>
            <a:off x="567542" y="3730422"/>
            <a:ext cx="2026024" cy="26356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Player</a:t>
            </a:r>
            <a:endParaRPr kumimoji="1" lang="ja-JP" altLang="en-US" dirty="0"/>
          </a:p>
        </p:txBody>
      </p:sp>
      <p:sp>
        <p:nvSpPr>
          <p:cNvPr id="7" name="矢印: 左 6">
            <a:extLst>
              <a:ext uri="{FF2B5EF4-FFF2-40B4-BE49-F238E27FC236}">
                <a16:creationId xmlns:a16="http://schemas.microsoft.com/office/drawing/2014/main" id="{5EE47E97-24C8-4466-8FCC-D4004E0E9BEB}"/>
              </a:ext>
            </a:extLst>
          </p:cNvPr>
          <p:cNvSpPr/>
          <p:nvPr/>
        </p:nvSpPr>
        <p:spPr>
          <a:xfrm>
            <a:off x="2758922" y="4168589"/>
            <a:ext cx="2429436" cy="636494"/>
          </a:xfrm>
          <a:prstGeom prst="lef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/>
              <a:t>g</a:t>
            </a:r>
            <a:r>
              <a:rPr kumimoji="1" lang="en-US" altLang="ja-JP" dirty="0" err="1"/>
              <a:t>_SharedPlayer</a:t>
            </a:r>
            <a:endParaRPr kumimoji="1" lang="ja-JP" altLang="en-US" dirty="0"/>
          </a:p>
        </p:txBody>
      </p:sp>
      <p:sp>
        <p:nvSpPr>
          <p:cNvPr id="8" name="矢印: 左 7">
            <a:extLst>
              <a:ext uri="{FF2B5EF4-FFF2-40B4-BE49-F238E27FC236}">
                <a16:creationId xmlns:a16="http://schemas.microsoft.com/office/drawing/2014/main" id="{827EA80F-D9D9-4BBF-BE83-7031248288B2}"/>
              </a:ext>
            </a:extLst>
          </p:cNvPr>
          <p:cNvSpPr/>
          <p:nvPr/>
        </p:nvSpPr>
        <p:spPr>
          <a:xfrm>
            <a:off x="2758922" y="5163671"/>
            <a:ext cx="2429436" cy="636494"/>
          </a:xfrm>
          <a:prstGeom prst="lef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player</a:t>
            </a:r>
            <a:endParaRPr kumimoji="1" lang="ja-JP" altLang="en-US" dirty="0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ACA86A39-9EC5-476B-A25F-731EF3074A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7260287" cy="940452"/>
          </a:xfrm>
          <a:prstGeom prst="rect">
            <a:avLst/>
          </a:prstGeom>
        </p:spPr>
      </p:pic>
      <p:sp>
        <p:nvSpPr>
          <p:cNvPr id="11" name="乗算記号 10">
            <a:extLst>
              <a:ext uri="{FF2B5EF4-FFF2-40B4-BE49-F238E27FC236}">
                <a16:creationId xmlns:a16="http://schemas.microsoft.com/office/drawing/2014/main" id="{D4A45CDC-5EB5-49F5-81DB-3BA2EEAE0C2B}"/>
              </a:ext>
            </a:extLst>
          </p:cNvPr>
          <p:cNvSpPr/>
          <p:nvPr/>
        </p:nvSpPr>
        <p:spPr>
          <a:xfrm>
            <a:off x="2506534" y="4963802"/>
            <a:ext cx="1050713" cy="1054359"/>
          </a:xfrm>
          <a:prstGeom prst="mathMultiply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DE8E4A33-B14B-4B1F-8488-988A4B9CE017}"/>
              </a:ext>
            </a:extLst>
          </p:cNvPr>
          <p:cNvSpPr txBox="1"/>
          <p:nvPr/>
        </p:nvSpPr>
        <p:spPr>
          <a:xfrm>
            <a:off x="6189306" y="4796386"/>
            <a:ext cx="449353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00B050"/>
                </a:solidFill>
              </a:rPr>
              <a:t>MEMO</a:t>
            </a:r>
          </a:p>
          <a:p>
            <a:r>
              <a:rPr lang="ja-JP" altLang="en-US" sz="2400" dirty="0"/>
              <a:t>スマートポインタは、</a:t>
            </a:r>
            <a:endParaRPr lang="en-US" altLang="ja-JP" sz="2400" dirty="0"/>
          </a:p>
          <a:p>
            <a:r>
              <a:rPr lang="ja-JP" altLang="en-US" sz="2400" dirty="0"/>
              <a:t>全ての所有権がなくならないと</a:t>
            </a:r>
            <a:endParaRPr lang="en-US" altLang="ja-JP" sz="2400" dirty="0"/>
          </a:p>
          <a:p>
            <a:r>
              <a:rPr lang="ja-JP" altLang="en-US" sz="2400" dirty="0"/>
              <a:t>自動削除されません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8601692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1224</TotalTime>
  <Words>591</Words>
  <Application>Microsoft Office PowerPoint</Application>
  <PresentationFormat>ワイド画面</PresentationFormat>
  <Paragraphs>90</Paragraphs>
  <Slides>13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13</vt:i4>
      </vt:variant>
    </vt:vector>
  </HeadingPairs>
  <TitlesOfParts>
    <vt:vector size="17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88</cp:revision>
  <dcterms:created xsi:type="dcterms:W3CDTF">2024-08-27T02:15:54Z</dcterms:created>
  <dcterms:modified xsi:type="dcterms:W3CDTF">2025-09-16T05:54:06Z</dcterms:modified>
</cp:coreProperties>
</file>