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オブジェクトの生成、削除</a:t>
            </a:r>
            <a:r>
              <a:rPr lang="ja-JP" altLang="en-US" sz="2400" dirty="0"/>
              <a:t>には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en-US" altLang="ja-JP" sz="2400" dirty="0"/>
              <a:t>, 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を使用してきましたが、</a:t>
            </a:r>
            <a:endParaRPr lang="en-US" altLang="ja-JP" sz="2400" dirty="0"/>
          </a:p>
          <a:p>
            <a:r>
              <a:rPr lang="ja-JP" altLang="en-US" sz="2400" dirty="0"/>
              <a:t>これらには明確な</a:t>
            </a:r>
            <a:r>
              <a:rPr lang="ja-JP" altLang="en-US" sz="2400" b="1" dirty="0">
                <a:solidFill>
                  <a:srgbClr val="FF0000"/>
                </a:solidFill>
              </a:rPr>
              <a:t>欠点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それは、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を書き忘れたときの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多くのゲームプログラマーが、このメモリリークと格闘していました。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メモリリークはフリーズの原因ともなる致命的な不具合です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2011</a:t>
            </a:r>
            <a:r>
              <a:rPr lang="ja-JP" altLang="en-US" sz="2400" dirty="0"/>
              <a:t>年に</a:t>
            </a:r>
            <a:r>
              <a:rPr lang="en-US" altLang="ja-JP" sz="2400" dirty="0"/>
              <a:t>C++</a:t>
            </a:r>
            <a:r>
              <a:rPr lang="ja-JP" altLang="en-US" sz="2400" dirty="0"/>
              <a:t>のバージョンアップが行われました。（</a:t>
            </a:r>
            <a:r>
              <a:rPr lang="en-US" altLang="ja-JP" sz="2400" dirty="0"/>
              <a:t>C++11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そこで新たに</a:t>
            </a:r>
            <a:r>
              <a:rPr lang="ja-JP" altLang="en-US" sz="2400" b="1" dirty="0">
                <a:solidFill>
                  <a:srgbClr val="FF0000"/>
                </a:solidFill>
              </a:rPr>
              <a:t>スマートポインター</a:t>
            </a:r>
            <a:r>
              <a:rPr lang="ja-JP" altLang="en-US" sz="2400" dirty="0"/>
              <a:t>というものが実装されています。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スマートポインターは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b="1" dirty="0">
                <a:solidFill>
                  <a:srgbClr val="FF0000"/>
                </a:solidFill>
              </a:rPr>
              <a:t>を自動で呼び出す機能</a:t>
            </a:r>
            <a:r>
              <a:rPr lang="ja-JP" altLang="en-US" sz="2400" dirty="0"/>
              <a:t>があり、</a:t>
            </a:r>
            <a:endParaRPr lang="en-US" altLang="ja-JP" sz="2400" dirty="0"/>
          </a:p>
          <a:p>
            <a:r>
              <a:rPr lang="ja-JP" altLang="en-US" sz="2400" dirty="0"/>
              <a:t>正しく使うと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メモリリークのリスクを大幅に減らす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最近の技術ですが、ゲーム業界ではかなり普及していますので、</a:t>
            </a:r>
            <a:endParaRPr lang="en-US" altLang="ja-JP" sz="2400" dirty="0"/>
          </a:p>
          <a:p>
            <a:r>
              <a:rPr lang="ja-JP" altLang="en-US" sz="2400" dirty="0"/>
              <a:t>しっかりと学習しましょう。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他にも無駄なメモリ確保を抑えることもできる、</a:t>
            </a:r>
            <a:endParaRPr lang="en-US" altLang="ja-JP" sz="2400" dirty="0"/>
          </a:p>
          <a:p>
            <a:r>
              <a:rPr lang="ja-JP" altLang="en-US" sz="2400" dirty="0"/>
              <a:t>至れり尽くせりな機能です。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90828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スマートポインターを学習するためには</a:t>
            </a:r>
            <a:r>
              <a:rPr lang="ja-JP" altLang="en-US" sz="2400" b="1" dirty="0">
                <a:solidFill>
                  <a:srgbClr val="FF0000"/>
                </a:solidFill>
              </a:rPr>
              <a:t>所有権</a:t>
            </a:r>
            <a:r>
              <a:rPr lang="ja-JP" altLang="en-US" sz="2400" dirty="0"/>
              <a:t>について知らなければいけません。</a:t>
            </a:r>
            <a:endParaRPr lang="en-US" altLang="ja-JP" sz="2400" dirty="0"/>
          </a:p>
          <a:p>
            <a:r>
              <a:rPr lang="ja-JP" altLang="en-US" sz="2400" dirty="0"/>
              <a:t>つまり、生成したオブジェクトを所有するという概念があります。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この所有権の扱い方によって</a:t>
            </a:r>
            <a:r>
              <a:rPr lang="ja-JP" altLang="en-US" sz="2400" b="1" dirty="0">
                <a:solidFill>
                  <a:srgbClr val="FF0000"/>
                </a:solidFill>
              </a:rPr>
              <a:t>３種類</a:t>
            </a:r>
            <a:r>
              <a:rPr lang="ja-JP" altLang="en-US" sz="2400" dirty="0"/>
              <a:t>のスマートポインターがあります。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D14A422-E20E-4BE3-B1E1-B8E4B48F2683}"/>
              </a:ext>
            </a:extLst>
          </p:cNvPr>
          <p:cNvSpPr/>
          <p:nvPr/>
        </p:nvSpPr>
        <p:spPr>
          <a:xfrm>
            <a:off x="1058333" y="2353732"/>
            <a:ext cx="2133600" cy="34120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r>
              <a:rPr kumimoji="1" lang="ja-JP" altLang="en-US" b="1" dirty="0"/>
              <a:t>クラス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B3DDA2C-7B07-4477-9484-4BBF98B612E1}"/>
              </a:ext>
            </a:extLst>
          </p:cNvPr>
          <p:cNvSpPr/>
          <p:nvPr/>
        </p:nvSpPr>
        <p:spPr>
          <a:xfrm>
            <a:off x="2048933" y="2717800"/>
            <a:ext cx="1143000" cy="7112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生成</a:t>
            </a:r>
          </a:p>
        </p:txBody>
      </p:sp>
      <p:sp>
        <p:nvSpPr>
          <p:cNvPr id="5" name="スクロール: 縦 4">
            <a:extLst>
              <a:ext uri="{FF2B5EF4-FFF2-40B4-BE49-F238E27FC236}">
                <a16:creationId xmlns:a16="http://schemas.microsoft.com/office/drawing/2014/main" id="{88F0AB25-1324-4541-8C4D-9D5003CCB65A}"/>
              </a:ext>
            </a:extLst>
          </p:cNvPr>
          <p:cNvSpPr/>
          <p:nvPr/>
        </p:nvSpPr>
        <p:spPr>
          <a:xfrm>
            <a:off x="4885267" y="2408767"/>
            <a:ext cx="1210733" cy="1329266"/>
          </a:xfrm>
          <a:prstGeom prst="verticalScroll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r>
              <a:rPr kumimoji="1" lang="ja-JP" altLang="en-US" b="1" dirty="0"/>
              <a:t>所有権</a:t>
            </a: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4732FD01-0FBF-4A94-8888-955AD1926563}"/>
              </a:ext>
            </a:extLst>
          </p:cNvPr>
          <p:cNvSpPr/>
          <p:nvPr/>
        </p:nvSpPr>
        <p:spPr>
          <a:xfrm>
            <a:off x="3378200" y="2819400"/>
            <a:ext cx="1380067" cy="6096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ローチャート: 代替処理 7">
            <a:extLst>
              <a:ext uri="{FF2B5EF4-FFF2-40B4-BE49-F238E27FC236}">
                <a16:creationId xmlns:a16="http://schemas.microsoft.com/office/drawing/2014/main" id="{069D3D52-747B-4139-90D8-49A7C984CEE8}"/>
              </a:ext>
            </a:extLst>
          </p:cNvPr>
          <p:cNvSpPr/>
          <p:nvPr/>
        </p:nvSpPr>
        <p:spPr>
          <a:xfrm>
            <a:off x="5715000" y="3429000"/>
            <a:ext cx="2489200" cy="537634"/>
          </a:xfrm>
          <a:prstGeom prst="flowChartAlternateProcess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スマートポインター</a:t>
            </a:r>
          </a:p>
        </p:txBody>
      </p:sp>
    </p:spTree>
    <p:extLst>
      <p:ext uri="{BB962C8B-B14F-4D97-AF65-F5344CB8AC3E}">
        <p14:creationId xmlns:p14="http://schemas.microsoft.com/office/powerpoint/2010/main" val="965973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3082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スマートポインターの種類です。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Unique</a:t>
            </a:r>
            <a:r>
              <a:rPr lang="ja-JP" altLang="en-US" sz="2400" b="1" dirty="0">
                <a:solidFill>
                  <a:srgbClr val="00B050"/>
                </a:solidFill>
              </a:rPr>
              <a:t>（ユニーク）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所有権が１つ</a:t>
            </a:r>
            <a:r>
              <a:rPr lang="ja-JP" altLang="en-US" sz="2400" dirty="0"/>
              <a:t>しかない。</a:t>
            </a:r>
            <a:endParaRPr lang="en-US" altLang="ja-JP" sz="2400" dirty="0"/>
          </a:p>
          <a:p>
            <a:r>
              <a:rPr lang="ja-JP" altLang="en-US" sz="2400" dirty="0"/>
              <a:t>最も安全なため、よく使われる。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Shared</a:t>
            </a:r>
            <a:r>
              <a:rPr lang="ja-JP" altLang="en-US" sz="2400" b="1" dirty="0">
                <a:solidFill>
                  <a:srgbClr val="00B050"/>
                </a:solidFill>
              </a:rPr>
              <a:t>（シェアード）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所有権を複数設けられる。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１つのオブジェクトを様々な場所から参照したい時に使う。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せっかくの自動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b="1" dirty="0">
                <a:solidFill>
                  <a:srgbClr val="FF0000"/>
                </a:solidFill>
              </a:rPr>
              <a:t>が機能しなくなるリスクがある（循環参照）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Weak</a:t>
            </a:r>
            <a:r>
              <a:rPr lang="ja-JP" altLang="en-US" sz="2400" b="1" dirty="0">
                <a:solidFill>
                  <a:srgbClr val="00B050"/>
                </a:solidFill>
              </a:rPr>
              <a:t>（ウィーク）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en-US" altLang="ja-JP" sz="2400" dirty="0"/>
              <a:t>Shared</a:t>
            </a:r>
            <a:r>
              <a:rPr lang="ja-JP" altLang="en-US" sz="2400" dirty="0"/>
              <a:t>ポインターと同じオブジェクトを参照できるが、</a:t>
            </a:r>
            <a:r>
              <a:rPr lang="ja-JP" altLang="en-US" sz="2400" b="1" dirty="0">
                <a:solidFill>
                  <a:srgbClr val="FF0000"/>
                </a:solidFill>
              </a:rPr>
              <a:t>所有権は持たない。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循環参照に対する対策として効果的。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78186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2771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Unique</a:t>
            </a:r>
            <a:r>
              <a:rPr lang="ja-JP" altLang="en-US" sz="2400" dirty="0"/>
              <a:t>から練習しましょう。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E783280-FF52-4229-85C9-17434EB1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28458" cy="473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19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68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make_unique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はオブジェクトを生成して</a:t>
            </a:r>
            <a:r>
              <a:rPr lang="en-US" altLang="ja-JP" sz="2400" b="1" dirty="0" err="1">
                <a:solidFill>
                  <a:srgbClr val="00B050"/>
                </a:solidFill>
              </a:rPr>
              <a:t>unique_ptr</a:t>
            </a:r>
            <a:r>
              <a:rPr lang="ja-JP" altLang="en-US" sz="2400" dirty="0"/>
              <a:t>を返却します。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F07041D-FCF8-482E-A08B-5548A3BE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20254" cy="871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93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Unique</a:t>
            </a:r>
            <a:r>
              <a:rPr lang="ja-JP" altLang="en-US" sz="2400" dirty="0"/>
              <a:t>は１つのみなので、「＝」によるコピーができません。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1FDF334-07D7-434A-9E05-E5E11CFD7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8380595" cy="93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464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045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get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から</a:t>
            </a:r>
            <a:r>
              <a:rPr lang="ja-JP" altLang="en-US" sz="2400" b="1" dirty="0">
                <a:solidFill>
                  <a:srgbClr val="FF0000"/>
                </a:solidFill>
              </a:rPr>
              <a:t>アクセス用のポインタ</a:t>
            </a:r>
            <a:r>
              <a:rPr lang="ja-JP" altLang="en-US" sz="2400" dirty="0"/>
              <a:t>を取得できます。</a:t>
            </a:r>
            <a:endParaRPr lang="en-US" altLang="ja-JP" sz="2400" dirty="0"/>
          </a:p>
          <a:p>
            <a:r>
              <a:rPr lang="ja-JP" altLang="en-US" sz="2400" dirty="0"/>
              <a:t>ポインタを取得するだけで</a:t>
            </a:r>
            <a:r>
              <a:rPr lang="ja-JP" altLang="en-US" sz="2400" b="1" dirty="0">
                <a:solidFill>
                  <a:srgbClr val="FF0000"/>
                </a:solidFill>
              </a:rPr>
              <a:t>所有権は変わりません。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70C0"/>
                </a:solidFill>
              </a:rPr>
              <a:t>Get</a:t>
            </a:r>
            <a:r>
              <a:rPr lang="ja-JP" altLang="en-US" sz="2400" b="1" dirty="0">
                <a:solidFill>
                  <a:srgbClr val="0070C0"/>
                </a:solidFill>
              </a:rPr>
              <a:t>〇〇関数</a:t>
            </a:r>
            <a:r>
              <a:rPr lang="ja-JP" altLang="en-US" sz="2400" dirty="0"/>
              <a:t>などでよく使われます。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E85E635-8FC4-4613-8DAB-F4C9FE39D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7952179" cy="12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405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１つしかないので、他の変数に与えるには</a:t>
            </a:r>
            <a:r>
              <a:rPr lang="ja-JP" altLang="en-US" sz="2400" b="1" dirty="0">
                <a:solidFill>
                  <a:srgbClr val="FF0000"/>
                </a:solidFill>
              </a:rPr>
              <a:t>移動</a:t>
            </a:r>
            <a:r>
              <a:rPr lang="ja-JP" altLang="en-US" sz="2400" dirty="0"/>
              <a:t>するしかありません。</a:t>
            </a:r>
            <a:endParaRPr lang="en-US" altLang="ja-JP" sz="2400" dirty="0"/>
          </a:p>
          <a:p>
            <a:r>
              <a:rPr lang="ja-JP" altLang="en-US" sz="2400" dirty="0"/>
              <a:t>移動には</a:t>
            </a:r>
            <a:r>
              <a:rPr lang="en-US" altLang="ja-JP" sz="2400" b="1" dirty="0">
                <a:solidFill>
                  <a:srgbClr val="0070C0"/>
                </a:solidFill>
              </a:rPr>
              <a:t>move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32A32B-9918-4358-8218-8E1AD1B52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627648" cy="262344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E60D74F-8CE1-48B1-8E5C-C856F3941590}"/>
              </a:ext>
            </a:extLst>
          </p:cNvPr>
          <p:cNvSpPr txBox="1"/>
          <p:nvPr/>
        </p:nvSpPr>
        <p:spPr>
          <a:xfrm>
            <a:off x="567541" y="4950275"/>
            <a:ext cx="58063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→</a:t>
            </a:r>
            <a:r>
              <a:rPr lang="en-US" altLang="ja-JP" sz="2400" dirty="0"/>
              <a:t>player2</a:t>
            </a:r>
            <a:r>
              <a:rPr lang="ja-JP" altLang="en-US" sz="2400" dirty="0"/>
              <a:t>へと移動しているので、</a:t>
            </a:r>
            <a:endParaRPr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empty</a:t>
            </a:r>
            <a:r>
              <a:rPr lang="ja-JP" altLang="en-US" sz="2400" b="1" dirty="0">
                <a:solidFill>
                  <a:srgbClr val="FF0000"/>
                </a:solidFill>
              </a:rPr>
              <a:t>（空）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868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81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関数を抜けると、ローカル変数である</a:t>
            </a:r>
            <a:r>
              <a:rPr lang="en-US" altLang="ja-JP" sz="2400" dirty="0"/>
              <a:t>player</a:t>
            </a:r>
            <a:r>
              <a:rPr lang="ja-JP" altLang="en-US" sz="2400" dirty="0"/>
              <a:t>は無くなります。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en-US" altLang="ja-JP" sz="2400" dirty="0"/>
              <a:t>Player</a:t>
            </a:r>
            <a:r>
              <a:rPr lang="ja-JP" altLang="en-US" sz="2400" dirty="0"/>
              <a:t>の所有権を持つ変数がすべてなくなりました。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スマートポインターで生成したオブジェクトは、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所有権がなくなれば自動で</a:t>
            </a:r>
            <a:r>
              <a:rPr lang="en-US" altLang="ja-JP" sz="2400" b="1" dirty="0">
                <a:solidFill>
                  <a:srgbClr val="FF0000"/>
                </a:solidFill>
              </a:rPr>
              <a:t>delete</a:t>
            </a:r>
            <a:r>
              <a:rPr lang="ja-JP" altLang="en-US" sz="2400" dirty="0"/>
              <a:t>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814176-4905-4AC9-BD15-7AE4EA39E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9362131" cy="108862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3C76CBA-B858-4AC5-9825-4ED7ADD359AC}"/>
              </a:ext>
            </a:extLst>
          </p:cNvPr>
          <p:cNvSpPr txBox="1"/>
          <p:nvPr/>
        </p:nvSpPr>
        <p:spPr>
          <a:xfrm>
            <a:off x="567542" y="4523441"/>
            <a:ext cx="10299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</a:t>
            </a:r>
            <a:r>
              <a:rPr lang="en-US" altLang="ja-JP" sz="2400" b="1" dirty="0">
                <a:solidFill>
                  <a:srgbClr val="0070C0"/>
                </a:solidFill>
              </a:rPr>
              <a:t>delete</a:t>
            </a:r>
            <a:r>
              <a:rPr lang="ja-JP" altLang="en-US" sz="2400" dirty="0"/>
              <a:t>は使ってないですが、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デストラクタが呼ばれている</a:t>
            </a:r>
            <a:r>
              <a:rPr lang="ja-JP" altLang="en-US" sz="2400" dirty="0"/>
              <a:t>はずです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8749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267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dirty="0"/>
              <a:t>Shared</a:t>
            </a:r>
            <a:r>
              <a:rPr lang="ja-JP" altLang="en-US" sz="2400" dirty="0"/>
              <a:t>を練習します。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7D281B-E888-48FE-AA5B-61D92E77C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716327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86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1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Shared</a:t>
            </a:r>
            <a:r>
              <a:rPr lang="ja-JP" altLang="en-US" sz="2400" dirty="0"/>
              <a:t>は所有権を複数の変数に持たせることができます。</a:t>
            </a:r>
            <a:endParaRPr lang="en-US" altLang="ja-JP" sz="2400" dirty="0"/>
          </a:p>
          <a:p>
            <a:r>
              <a:rPr lang="ja-JP" altLang="en-US" sz="2400" dirty="0"/>
              <a:t>サンプルでは</a:t>
            </a:r>
            <a:r>
              <a:rPr lang="en-US" altLang="ja-JP" sz="2400" b="1" dirty="0" err="1"/>
              <a:t>g_SharedPlayer</a:t>
            </a:r>
            <a:r>
              <a:rPr lang="ja-JP" altLang="en-US" sz="2400" dirty="0"/>
              <a:t>と</a:t>
            </a:r>
            <a:r>
              <a:rPr lang="en-US" altLang="ja-JP" sz="2400" b="1" dirty="0"/>
              <a:t>player</a:t>
            </a:r>
            <a:r>
              <a:rPr lang="ja-JP" altLang="en-US" sz="2400" dirty="0"/>
              <a:t>が所有権を持っています。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F5F6E7-704C-48F5-84C1-FB212484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42946"/>
            <a:ext cx="6363588" cy="12860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A7371-58E6-49A4-9583-2A15D87651DE}"/>
              </a:ext>
            </a:extLst>
          </p:cNvPr>
          <p:cNvSpPr/>
          <p:nvPr/>
        </p:nvSpPr>
        <p:spPr>
          <a:xfrm>
            <a:off x="567542" y="3730422"/>
            <a:ext cx="2026024" cy="2635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Player</a:t>
            </a:r>
            <a:endParaRPr kumimoji="1" lang="ja-JP" altLang="en-US" dirty="0"/>
          </a:p>
        </p:txBody>
      </p:sp>
      <p:sp>
        <p:nvSpPr>
          <p:cNvPr id="9" name="スクロール: 縦 8">
            <a:extLst>
              <a:ext uri="{FF2B5EF4-FFF2-40B4-BE49-F238E27FC236}">
                <a16:creationId xmlns:a16="http://schemas.microsoft.com/office/drawing/2014/main" id="{092CDC6E-92CB-41F0-A98C-E89F7C1E99A8}"/>
              </a:ext>
            </a:extLst>
          </p:cNvPr>
          <p:cNvSpPr/>
          <p:nvPr/>
        </p:nvSpPr>
        <p:spPr>
          <a:xfrm>
            <a:off x="3953934" y="3330182"/>
            <a:ext cx="1210733" cy="1329266"/>
          </a:xfrm>
          <a:prstGeom prst="verticalScroll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r>
              <a:rPr kumimoji="1" lang="ja-JP" altLang="en-US" b="1" dirty="0"/>
              <a:t>所有権</a:t>
            </a:r>
          </a:p>
        </p:txBody>
      </p:sp>
      <p:sp>
        <p:nvSpPr>
          <p:cNvPr id="10" name="フローチャート: 代替処理 9">
            <a:extLst>
              <a:ext uri="{FF2B5EF4-FFF2-40B4-BE49-F238E27FC236}">
                <a16:creationId xmlns:a16="http://schemas.microsoft.com/office/drawing/2014/main" id="{74555550-CF5D-435A-8B72-0A59DF1011AC}"/>
              </a:ext>
            </a:extLst>
          </p:cNvPr>
          <p:cNvSpPr/>
          <p:nvPr/>
        </p:nvSpPr>
        <p:spPr>
          <a:xfrm>
            <a:off x="4783667" y="4350415"/>
            <a:ext cx="2489200" cy="537634"/>
          </a:xfrm>
          <a:prstGeom prst="flowChartAlternateProcess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endParaRPr kumimoji="1" lang="ja-JP" altLang="en-US" b="1" dirty="0"/>
          </a:p>
        </p:txBody>
      </p:sp>
      <p:sp>
        <p:nvSpPr>
          <p:cNvPr id="11" name="スクロール: 縦 10">
            <a:extLst>
              <a:ext uri="{FF2B5EF4-FFF2-40B4-BE49-F238E27FC236}">
                <a16:creationId xmlns:a16="http://schemas.microsoft.com/office/drawing/2014/main" id="{02BE6EC9-EB6E-4BED-852A-A79F7242BE1D}"/>
              </a:ext>
            </a:extLst>
          </p:cNvPr>
          <p:cNvSpPr/>
          <p:nvPr/>
        </p:nvSpPr>
        <p:spPr>
          <a:xfrm>
            <a:off x="3953934" y="5076996"/>
            <a:ext cx="1210733" cy="1329266"/>
          </a:xfrm>
          <a:prstGeom prst="verticalScroll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r>
              <a:rPr kumimoji="1" lang="ja-JP" altLang="en-US" b="1" dirty="0"/>
              <a:t>所有権</a:t>
            </a:r>
          </a:p>
        </p:txBody>
      </p:sp>
      <p:sp>
        <p:nvSpPr>
          <p:cNvPr id="12" name="フローチャート: 代替処理 11">
            <a:extLst>
              <a:ext uri="{FF2B5EF4-FFF2-40B4-BE49-F238E27FC236}">
                <a16:creationId xmlns:a16="http://schemas.microsoft.com/office/drawing/2014/main" id="{5C8A2E50-40B4-4038-A26F-747A18E49E44}"/>
              </a:ext>
            </a:extLst>
          </p:cNvPr>
          <p:cNvSpPr/>
          <p:nvPr/>
        </p:nvSpPr>
        <p:spPr>
          <a:xfrm>
            <a:off x="4783667" y="6097229"/>
            <a:ext cx="2489200" cy="537634"/>
          </a:xfrm>
          <a:prstGeom prst="flowChartAlternateProcess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 err="1"/>
              <a:t>g_SharedPlayer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684229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スマートポインター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304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関数を抜けると</a:t>
            </a:r>
            <a:r>
              <a:rPr lang="en-US" altLang="ja-JP" sz="2400" dirty="0"/>
              <a:t>player</a:t>
            </a:r>
            <a:r>
              <a:rPr lang="ja-JP" altLang="en-US" sz="2400" dirty="0"/>
              <a:t>変数は無くなります。</a:t>
            </a:r>
            <a:endParaRPr lang="en-US" altLang="ja-JP" sz="2400" dirty="0"/>
          </a:p>
          <a:p>
            <a:r>
              <a:rPr lang="ja-JP" altLang="en-US" sz="2400" dirty="0"/>
              <a:t>ただし、</a:t>
            </a:r>
            <a:r>
              <a:rPr lang="en-US" altLang="ja-JP" sz="2400" b="1" dirty="0" err="1">
                <a:solidFill>
                  <a:srgbClr val="FF0000"/>
                </a:solidFill>
              </a:rPr>
              <a:t>g_SharedPlayer</a:t>
            </a:r>
            <a:r>
              <a:rPr lang="ja-JP" altLang="en-US" sz="2400" b="1" dirty="0">
                <a:solidFill>
                  <a:srgbClr val="FF0000"/>
                </a:solidFill>
              </a:rPr>
              <a:t>に所有権が残っているので自動削除されません。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A7371-58E6-49A4-9583-2A15D87651DE}"/>
              </a:ext>
            </a:extLst>
          </p:cNvPr>
          <p:cNvSpPr/>
          <p:nvPr/>
        </p:nvSpPr>
        <p:spPr>
          <a:xfrm>
            <a:off x="567542" y="3730422"/>
            <a:ext cx="2026024" cy="2635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Player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CA86A39-9EC5-476B-A25F-731EF3074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60287" cy="940452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E8E4A33-B14B-4B1F-8488-988A4B9CE017}"/>
              </a:ext>
            </a:extLst>
          </p:cNvPr>
          <p:cNvSpPr txBox="1"/>
          <p:nvPr/>
        </p:nvSpPr>
        <p:spPr>
          <a:xfrm>
            <a:off x="6968239" y="491583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スマートポインターは、</a:t>
            </a:r>
            <a:endParaRPr lang="en-US" altLang="ja-JP" sz="2400" dirty="0"/>
          </a:p>
          <a:p>
            <a:r>
              <a:rPr lang="ja-JP" altLang="en-US" sz="2400" dirty="0"/>
              <a:t>全ての所有権がなくならないと</a:t>
            </a:r>
            <a:endParaRPr lang="en-US" altLang="ja-JP" sz="2400" dirty="0"/>
          </a:p>
          <a:p>
            <a:r>
              <a:rPr lang="ja-JP" altLang="en-US" sz="2400" dirty="0"/>
              <a:t>自動削除されません</a:t>
            </a:r>
            <a:endParaRPr lang="en-US" altLang="ja-JP" sz="2400" dirty="0"/>
          </a:p>
        </p:txBody>
      </p:sp>
      <p:sp>
        <p:nvSpPr>
          <p:cNvPr id="10" name="スクロール: 縦 9">
            <a:extLst>
              <a:ext uri="{FF2B5EF4-FFF2-40B4-BE49-F238E27FC236}">
                <a16:creationId xmlns:a16="http://schemas.microsoft.com/office/drawing/2014/main" id="{4B09212F-3E79-40B6-B48D-29012E7FF829}"/>
              </a:ext>
            </a:extLst>
          </p:cNvPr>
          <p:cNvSpPr/>
          <p:nvPr/>
        </p:nvSpPr>
        <p:spPr>
          <a:xfrm>
            <a:off x="3151292" y="3127578"/>
            <a:ext cx="1210733" cy="1329266"/>
          </a:xfrm>
          <a:prstGeom prst="verticalScroll">
            <a:avLst/>
          </a:prstGeom>
          <a:noFill/>
          <a:ln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13" name="フローチャート: 代替処理 12">
            <a:extLst>
              <a:ext uri="{FF2B5EF4-FFF2-40B4-BE49-F238E27FC236}">
                <a16:creationId xmlns:a16="http://schemas.microsoft.com/office/drawing/2014/main" id="{4DFBEA3F-54D2-4095-A724-FBBEE0179FDF}"/>
              </a:ext>
            </a:extLst>
          </p:cNvPr>
          <p:cNvSpPr/>
          <p:nvPr/>
        </p:nvSpPr>
        <p:spPr>
          <a:xfrm>
            <a:off x="3981025" y="4147811"/>
            <a:ext cx="2489200" cy="537634"/>
          </a:xfrm>
          <a:prstGeom prst="flowChartAlternateProcess">
            <a:avLst/>
          </a:prstGeom>
          <a:noFill/>
          <a:ln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/>
          </a:p>
        </p:txBody>
      </p:sp>
      <p:sp>
        <p:nvSpPr>
          <p:cNvPr id="14" name="スクロール: 縦 13">
            <a:extLst>
              <a:ext uri="{FF2B5EF4-FFF2-40B4-BE49-F238E27FC236}">
                <a16:creationId xmlns:a16="http://schemas.microsoft.com/office/drawing/2014/main" id="{057BFEA7-7787-4425-B351-009B7976175C}"/>
              </a:ext>
            </a:extLst>
          </p:cNvPr>
          <p:cNvSpPr/>
          <p:nvPr/>
        </p:nvSpPr>
        <p:spPr>
          <a:xfrm>
            <a:off x="3151292" y="4874392"/>
            <a:ext cx="1210733" cy="1329266"/>
          </a:xfrm>
          <a:prstGeom prst="verticalScroll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Player</a:t>
            </a:r>
            <a:r>
              <a:rPr kumimoji="1" lang="ja-JP" altLang="en-US" b="1" dirty="0"/>
              <a:t>所有権</a:t>
            </a:r>
          </a:p>
        </p:txBody>
      </p:sp>
      <p:sp>
        <p:nvSpPr>
          <p:cNvPr id="15" name="フローチャート: 代替処理 14">
            <a:extLst>
              <a:ext uri="{FF2B5EF4-FFF2-40B4-BE49-F238E27FC236}">
                <a16:creationId xmlns:a16="http://schemas.microsoft.com/office/drawing/2014/main" id="{9F8914E6-1640-4225-9E23-E6DD7B91AC21}"/>
              </a:ext>
            </a:extLst>
          </p:cNvPr>
          <p:cNvSpPr/>
          <p:nvPr/>
        </p:nvSpPr>
        <p:spPr>
          <a:xfrm>
            <a:off x="3981025" y="5894625"/>
            <a:ext cx="2489200" cy="537634"/>
          </a:xfrm>
          <a:prstGeom prst="flowChartAlternateProcess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 err="1"/>
              <a:t>g_SharedPlayer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60169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555</Words>
  <Application>Microsoft Office PowerPoint</Application>
  <PresentationFormat>ワイド画面</PresentationFormat>
  <Paragraphs>97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92</cp:revision>
  <dcterms:created xsi:type="dcterms:W3CDTF">2024-08-27T02:15:54Z</dcterms:created>
  <dcterms:modified xsi:type="dcterms:W3CDTF">2025-09-16T08:26:36Z</dcterms:modified>
</cp:coreProperties>
</file>