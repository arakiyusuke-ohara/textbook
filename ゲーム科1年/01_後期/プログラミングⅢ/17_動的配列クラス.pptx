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07" d="100"/>
          <a:sy n="107" d="100"/>
        </p:scale>
        <p:origin x="696"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A950417-98BD-4172-A454-C76A49B97717}"/>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9F83E9AE-84BC-4452-8901-A17B27CC419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1B320892-0B52-41F1-BED3-1F36AE1E3B03}"/>
              </a:ext>
            </a:extLst>
          </p:cNvPr>
          <p:cNvSpPr>
            <a:spLocks noGrp="1"/>
          </p:cNvSpPr>
          <p:nvPr>
            <p:ph type="dt" sz="half" idx="10"/>
          </p:nvPr>
        </p:nvSpPr>
        <p:spPr/>
        <p:txBody>
          <a:bodyPr/>
          <a:lstStyle/>
          <a:p>
            <a:fld id="{E9CC885B-4903-4D54-9A93-00025F12DED9}" type="datetimeFigureOut">
              <a:rPr kumimoji="1" lang="ja-JP" altLang="en-US" smtClean="0"/>
              <a:t>2025/3/3</a:t>
            </a:fld>
            <a:endParaRPr kumimoji="1" lang="ja-JP" altLang="en-US"/>
          </a:p>
        </p:txBody>
      </p:sp>
      <p:sp>
        <p:nvSpPr>
          <p:cNvPr id="5" name="フッター プレースホルダー 4">
            <a:extLst>
              <a:ext uri="{FF2B5EF4-FFF2-40B4-BE49-F238E27FC236}">
                <a16:creationId xmlns:a16="http://schemas.microsoft.com/office/drawing/2014/main" id="{B4114070-C582-4B06-9805-0DFEFB583FE4}"/>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EE8014BC-198B-4E5B-89B4-FDBFD423BF52}"/>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37455607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42C298B-DDF7-4BBD-B08C-16E40ED109E3}"/>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F284FECC-C823-4D42-8CAA-49FC9A8C5B3E}"/>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98B26879-4594-4C3F-BFFA-F4CB8674F4A9}"/>
              </a:ext>
            </a:extLst>
          </p:cNvPr>
          <p:cNvSpPr>
            <a:spLocks noGrp="1"/>
          </p:cNvSpPr>
          <p:nvPr>
            <p:ph type="dt" sz="half" idx="10"/>
          </p:nvPr>
        </p:nvSpPr>
        <p:spPr/>
        <p:txBody>
          <a:bodyPr/>
          <a:lstStyle/>
          <a:p>
            <a:fld id="{E9CC885B-4903-4D54-9A93-00025F12DED9}" type="datetimeFigureOut">
              <a:rPr kumimoji="1" lang="ja-JP" altLang="en-US" smtClean="0"/>
              <a:t>2025/3/3</a:t>
            </a:fld>
            <a:endParaRPr kumimoji="1" lang="ja-JP" altLang="en-US"/>
          </a:p>
        </p:txBody>
      </p:sp>
      <p:sp>
        <p:nvSpPr>
          <p:cNvPr id="5" name="フッター プレースホルダー 4">
            <a:extLst>
              <a:ext uri="{FF2B5EF4-FFF2-40B4-BE49-F238E27FC236}">
                <a16:creationId xmlns:a16="http://schemas.microsoft.com/office/drawing/2014/main" id="{F5FC6BE6-BB12-4008-B4BA-62D249C49909}"/>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26B8CAC6-4A91-4F74-9267-5C30714BF978}"/>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38024735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078AD04-3137-4B16-97B1-DC1252F678A1}"/>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9BF8FC57-7A4A-4196-89B9-B1A6197D422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5CB80319-F15F-4C62-95BA-15B326F988A2}"/>
              </a:ext>
            </a:extLst>
          </p:cNvPr>
          <p:cNvSpPr>
            <a:spLocks noGrp="1"/>
          </p:cNvSpPr>
          <p:nvPr>
            <p:ph type="dt" sz="half" idx="10"/>
          </p:nvPr>
        </p:nvSpPr>
        <p:spPr/>
        <p:txBody>
          <a:bodyPr/>
          <a:lstStyle/>
          <a:p>
            <a:fld id="{E9CC885B-4903-4D54-9A93-00025F12DED9}" type="datetimeFigureOut">
              <a:rPr kumimoji="1" lang="ja-JP" altLang="en-US" smtClean="0"/>
              <a:t>2025/3/3</a:t>
            </a:fld>
            <a:endParaRPr kumimoji="1" lang="ja-JP" altLang="en-US"/>
          </a:p>
        </p:txBody>
      </p:sp>
      <p:sp>
        <p:nvSpPr>
          <p:cNvPr id="5" name="フッター プレースホルダー 4">
            <a:extLst>
              <a:ext uri="{FF2B5EF4-FFF2-40B4-BE49-F238E27FC236}">
                <a16:creationId xmlns:a16="http://schemas.microsoft.com/office/drawing/2014/main" id="{C89F0141-2F76-4B73-AAE0-1EDFEEA42E37}"/>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11F3A285-8438-4738-B4CE-18FC566351C3}"/>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20814076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539AAF0-C896-4BE5-8FCC-343208524824}"/>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A96C332E-2DEA-4D46-8FEF-31D60DD975BC}"/>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F9D3FC79-3A15-47E8-8DC1-B5A928FF7FF2}"/>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E6AC8BB6-CC26-4AE8-B477-9A47780715C5}"/>
              </a:ext>
            </a:extLst>
          </p:cNvPr>
          <p:cNvSpPr>
            <a:spLocks noGrp="1"/>
          </p:cNvSpPr>
          <p:nvPr>
            <p:ph type="dt" sz="half" idx="10"/>
          </p:nvPr>
        </p:nvSpPr>
        <p:spPr/>
        <p:txBody>
          <a:bodyPr/>
          <a:lstStyle/>
          <a:p>
            <a:fld id="{E9CC885B-4903-4D54-9A93-00025F12DED9}" type="datetimeFigureOut">
              <a:rPr kumimoji="1" lang="ja-JP" altLang="en-US" smtClean="0"/>
              <a:t>2025/3/3</a:t>
            </a:fld>
            <a:endParaRPr kumimoji="1" lang="ja-JP" altLang="en-US"/>
          </a:p>
        </p:txBody>
      </p:sp>
      <p:sp>
        <p:nvSpPr>
          <p:cNvPr id="6" name="フッター プレースホルダー 5">
            <a:extLst>
              <a:ext uri="{FF2B5EF4-FFF2-40B4-BE49-F238E27FC236}">
                <a16:creationId xmlns:a16="http://schemas.microsoft.com/office/drawing/2014/main" id="{0D813CBF-5D01-4CF4-BD63-C8FC321B2429}"/>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4123F9A7-54F5-421C-9A71-CC8C4BC92376}"/>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31520282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E9A2E9A-2DDB-4057-9711-D792B04FFD0C}"/>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32E5496D-7437-4ADF-BF05-1B99ACC0910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48A11600-06C5-424A-B2EA-FFEF7E75EAA5}"/>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43408E51-ED83-4218-8378-F0B44E296EC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3D26C0C0-145F-4A52-BA72-D19A2971D5E1}"/>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F649033F-9C86-42B4-AB90-0FE47F39E39A}"/>
              </a:ext>
            </a:extLst>
          </p:cNvPr>
          <p:cNvSpPr>
            <a:spLocks noGrp="1"/>
          </p:cNvSpPr>
          <p:nvPr>
            <p:ph type="dt" sz="half" idx="10"/>
          </p:nvPr>
        </p:nvSpPr>
        <p:spPr/>
        <p:txBody>
          <a:bodyPr/>
          <a:lstStyle/>
          <a:p>
            <a:fld id="{E9CC885B-4903-4D54-9A93-00025F12DED9}" type="datetimeFigureOut">
              <a:rPr kumimoji="1" lang="ja-JP" altLang="en-US" smtClean="0"/>
              <a:t>2025/3/3</a:t>
            </a:fld>
            <a:endParaRPr kumimoji="1" lang="ja-JP" altLang="en-US"/>
          </a:p>
        </p:txBody>
      </p:sp>
      <p:sp>
        <p:nvSpPr>
          <p:cNvPr id="8" name="フッター プレースホルダー 7">
            <a:extLst>
              <a:ext uri="{FF2B5EF4-FFF2-40B4-BE49-F238E27FC236}">
                <a16:creationId xmlns:a16="http://schemas.microsoft.com/office/drawing/2014/main" id="{F73F9DE8-EAB7-4A80-BF64-725C6DF460D7}"/>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71D0069B-43F7-430A-8C9D-C2BA7B92ECD2}"/>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12546531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CD48D3C-20F1-4E20-8FBC-734E9D946A78}"/>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B2E416B3-4C21-4278-9B88-62D41335DC9D}"/>
              </a:ext>
            </a:extLst>
          </p:cNvPr>
          <p:cNvSpPr>
            <a:spLocks noGrp="1"/>
          </p:cNvSpPr>
          <p:nvPr>
            <p:ph type="dt" sz="half" idx="10"/>
          </p:nvPr>
        </p:nvSpPr>
        <p:spPr/>
        <p:txBody>
          <a:bodyPr/>
          <a:lstStyle/>
          <a:p>
            <a:fld id="{E9CC885B-4903-4D54-9A93-00025F12DED9}" type="datetimeFigureOut">
              <a:rPr kumimoji="1" lang="ja-JP" altLang="en-US" smtClean="0"/>
              <a:t>2025/3/3</a:t>
            </a:fld>
            <a:endParaRPr kumimoji="1" lang="ja-JP" altLang="en-US"/>
          </a:p>
        </p:txBody>
      </p:sp>
      <p:sp>
        <p:nvSpPr>
          <p:cNvPr id="4" name="フッター プレースホルダー 3">
            <a:extLst>
              <a:ext uri="{FF2B5EF4-FFF2-40B4-BE49-F238E27FC236}">
                <a16:creationId xmlns:a16="http://schemas.microsoft.com/office/drawing/2014/main" id="{3EBA727E-E9E7-4EA2-B6ED-8CF036F2B5DA}"/>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8DC1C47C-5B0A-471B-BB77-77BE62B99175}"/>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1653085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E55C2DD0-D598-4A5F-B542-7C6806B2F749}"/>
              </a:ext>
            </a:extLst>
          </p:cNvPr>
          <p:cNvSpPr>
            <a:spLocks noGrp="1"/>
          </p:cNvSpPr>
          <p:nvPr>
            <p:ph type="dt" sz="half" idx="10"/>
          </p:nvPr>
        </p:nvSpPr>
        <p:spPr/>
        <p:txBody>
          <a:bodyPr/>
          <a:lstStyle/>
          <a:p>
            <a:fld id="{E9CC885B-4903-4D54-9A93-00025F12DED9}" type="datetimeFigureOut">
              <a:rPr kumimoji="1" lang="ja-JP" altLang="en-US" smtClean="0"/>
              <a:t>2025/3/3</a:t>
            </a:fld>
            <a:endParaRPr kumimoji="1" lang="ja-JP" altLang="en-US"/>
          </a:p>
        </p:txBody>
      </p:sp>
      <p:sp>
        <p:nvSpPr>
          <p:cNvPr id="3" name="フッター プレースホルダー 2">
            <a:extLst>
              <a:ext uri="{FF2B5EF4-FFF2-40B4-BE49-F238E27FC236}">
                <a16:creationId xmlns:a16="http://schemas.microsoft.com/office/drawing/2014/main" id="{2260FD2A-DF3F-46FE-B2F8-14D9A2069736}"/>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52EF1C2C-6093-4ADD-9BFE-41DB125AD370}"/>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24204145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A35797B-0171-40BC-BCA2-0C1BA0D4C304}"/>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579CB0DB-618C-450C-BE67-5FD277B25D6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42CC888D-BF8F-439D-9FC7-2DD4A8D750E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A4C2FA2E-4305-4946-8BDE-7AE113CDE687}"/>
              </a:ext>
            </a:extLst>
          </p:cNvPr>
          <p:cNvSpPr>
            <a:spLocks noGrp="1"/>
          </p:cNvSpPr>
          <p:nvPr>
            <p:ph type="dt" sz="half" idx="10"/>
          </p:nvPr>
        </p:nvSpPr>
        <p:spPr/>
        <p:txBody>
          <a:bodyPr/>
          <a:lstStyle/>
          <a:p>
            <a:fld id="{E9CC885B-4903-4D54-9A93-00025F12DED9}" type="datetimeFigureOut">
              <a:rPr kumimoji="1" lang="ja-JP" altLang="en-US" smtClean="0"/>
              <a:t>2025/3/3</a:t>
            </a:fld>
            <a:endParaRPr kumimoji="1" lang="ja-JP" altLang="en-US"/>
          </a:p>
        </p:txBody>
      </p:sp>
      <p:sp>
        <p:nvSpPr>
          <p:cNvPr id="6" name="フッター プレースホルダー 5">
            <a:extLst>
              <a:ext uri="{FF2B5EF4-FFF2-40B4-BE49-F238E27FC236}">
                <a16:creationId xmlns:a16="http://schemas.microsoft.com/office/drawing/2014/main" id="{BBA070CF-301C-4595-8007-2A2C19DFE06A}"/>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E3E21C8C-DA9E-4E6B-B45C-C2C4D38971B1}"/>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30669295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00F7326-6BA4-4DC0-9519-87D04747ED89}"/>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3A1C2397-9613-4B24-A7D0-9EEE44E01C8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05462283-8239-49BE-9D96-00B24831B7C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0F53455D-91B5-4938-AC24-CAFF77A6CD44}"/>
              </a:ext>
            </a:extLst>
          </p:cNvPr>
          <p:cNvSpPr>
            <a:spLocks noGrp="1"/>
          </p:cNvSpPr>
          <p:nvPr>
            <p:ph type="dt" sz="half" idx="10"/>
          </p:nvPr>
        </p:nvSpPr>
        <p:spPr/>
        <p:txBody>
          <a:bodyPr/>
          <a:lstStyle/>
          <a:p>
            <a:fld id="{E9CC885B-4903-4D54-9A93-00025F12DED9}" type="datetimeFigureOut">
              <a:rPr kumimoji="1" lang="ja-JP" altLang="en-US" smtClean="0"/>
              <a:t>2025/3/3</a:t>
            </a:fld>
            <a:endParaRPr kumimoji="1" lang="ja-JP" altLang="en-US"/>
          </a:p>
        </p:txBody>
      </p:sp>
      <p:sp>
        <p:nvSpPr>
          <p:cNvPr id="6" name="フッター プレースホルダー 5">
            <a:extLst>
              <a:ext uri="{FF2B5EF4-FFF2-40B4-BE49-F238E27FC236}">
                <a16:creationId xmlns:a16="http://schemas.microsoft.com/office/drawing/2014/main" id="{A7F23C7B-CEBC-48FC-81DC-98AFE68C2DE2}"/>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A7E65B5D-4A4C-4A6E-8AEB-3D88DC582730}"/>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3151402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2AE957E-488D-43B9-8182-2A1DEEF0F7DD}"/>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0E67B1EC-AFC1-41D0-BBB1-9A2E85E1399D}"/>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31B76048-AF91-4C32-A054-6305C2928E9F}"/>
              </a:ext>
            </a:extLst>
          </p:cNvPr>
          <p:cNvSpPr>
            <a:spLocks noGrp="1"/>
          </p:cNvSpPr>
          <p:nvPr>
            <p:ph type="dt" sz="half" idx="10"/>
          </p:nvPr>
        </p:nvSpPr>
        <p:spPr/>
        <p:txBody>
          <a:bodyPr/>
          <a:lstStyle/>
          <a:p>
            <a:fld id="{E9CC885B-4903-4D54-9A93-00025F12DED9}" type="datetimeFigureOut">
              <a:rPr kumimoji="1" lang="ja-JP" altLang="en-US" smtClean="0"/>
              <a:t>2025/3/3</a:t>
            </a:fld>
            <a:endParaRPr kumimoji="1" lang="ja-JP" altLang="en-US"/>
          </a:p>
        </p:txBody>
      </p:sp>
      <p:sp>
        <p:nvSpPr>
          <p:cNvPr id="5" name="フッター プレースホルダー 4">
            <a:extLst>
              <a:ext uri="{FF2B5EF4-FFF2-40B4-BE49-F238E27FC236}">
                <a16:creationId xmlns:a16="http://schemas.microsoft.com/office/drawing/2014/main" id="{98C66A49-F960-4196-B16B-31B98B34013C}"/>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3D7A86F7-B140-4439-A33B-63EA8498DCAB}"/>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14856319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B4FA5DEF-DC74-4F38-9DA0-1EE9752F5F36}"/>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23C9EE93-ED20-4B3B-93FB-5A088C436B26}"/>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A8370666-1A4C-42B1-8748-A0D1453943A4}"/>
              </a:ext>
            </a:extLst>
          </p:cNvPr>
          <p:cNvSpPr>
            <a:spLocks noGrp="1"/>
          </p:cNvSpPr>
          <p:nvPr>
            <p:ph type="dt" sz="half" idx="10"/>
          </p:nvPr>
        </p:nvSpPr>
        <p:spPr/>
        <p:txBody>
          <a:bodyPr/>
          <a:lstStyle/>
          <a:p>
            <a:fld id="{E9CC885B-4903-4D54-9A93-00025F12DED9}" type="datetimeFigureOut">
              <a:rPr kumimoji="1" lang="ja-JP" altLang="en-US" smtClean="0"/>
              <a:t>2025/3/3</a:t>
            </a:fld>
            <a:endParaRPr kumimoji="1" lang="ja-JP" altLang="en-US"/>
          </a:p>
        </p:txBody>
      </p:sp>
      <p:sp>
        <p:nvSpPr>
          <p:cNvPr id="5" name="フッター プレースホルダー 4">
            <a:extLst>
              <a:ext uri="{FF2B5EF4-FFF2-40B4-BE49-F238E27FC236}">
                <a16:creationId xmlns:a16="http://schemas.microsoft.com/office/drawing/2014/main" id="{E26EC7E2-E7E6-45F2-BF6D-CDF318CECC0E}"/>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CCDE4F59-4276-46E3-AE2A-D255BC7BB35C}"/>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16428509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F527E70E-5441-439A-8EA3-0826A036FC7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2A7C9CE9-5A22-43DB-862A-3B24B2BF151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A845D76C-CB70-434A-A116-22531EEB417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9CC885B-4903-4D54-9A93-00025F12DED9}" type="datetimeFigureOut">
              <a:rPr kumimoji="1" lang="ja-JP" altLang="en-US" smtClean="0"/>
              <a:t>2025/3/3</a:t>
            </a:fld>
            <a:endParaRPr kumimoji="1" lang="ja-JP" altLang="en-US"/>
          </a:p>
        </p:txBody>
      </p:sp>
      <p:sp>
        <p:nvSpPr>
          <p:cNvPr id="5" name="フッター プレースホルダー 4">
            <a:extLst>
              <a:ext uri="{FF2B5EF4-FFF2-40B4-BE49-F238E27FC236}">
                <a16:creationId xmlns:a16="http://schemas.microsoft.com/office/drawing/2014/main" id="{2505E6D4-441B-4864-8545-0FDE04F664F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8FFD1810-F6DD-4BB4-8465-A3A3F3BF335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65178455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3057247" cy="584775"/>
          </a:xfrm>
          <a:prstGeom prst="rect">
            <a:avLst/>
          </a:prstGeom>
          <a:noFill/>
        </p:spPr>
        <p:txBody>
          <a:bodyPr wrap="none" rtlCol="0">
            <a:spAutoFit/>
          </a:bodyPr>
          <a:lstStyle/>
          <a:p>
            <a:r>
              <a:rPr lang="ja-JP" altLang="en-US" sz="3200" b="1" u="sng" dirty="0"/>
              <a:t>動的配列クラス</a:t>
            </a:r>
            <a:endParaRPr kumimoji="1" lang="ja-JP" altLang="en-US"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9725739" cy="3046988"/>
          </a:xfrm>
          <a:prstGeom prst="rect">
            <a:avLst/>
          </a:prstGeom>
          <a:noFill/>
        </p:spPr>
        <p:txBody>
          <a:bodyPr wrap="none" rtlCol="0">
            <a:spAutoFit/>
          </a:bodyPr>
          <a:lstStyle/>
          <a:p>
            <a:r>
              <a:rPr lang="en-US" altLang="ja-JP" sz="2400" dirty="0"/>
              <a:t>C++</a:t>
            </a:r>
            <a:r>
              <a:rPr lang="ja-JP" altLang="en-US" sz="2400" dirty="0"/>
              <a:t>の標準ライブラリには</a:t>
            </a:r>
            <a:r>
              <a:rPr lang="ja-JP" altLang="en-US" sz="2400" b="1" dirty="0">
                <a:solidFill>
                  <a:srgbClr val="FF0000"/>
                </a:solidFill>
              </a:rPr>
              <a:t>動的配列クラス</a:t>
            </a:r>
            <a:r>
              <a:rPr lang="ja-JP" altLang="en-US" sz="2400" dirty="0"/>
              <a:t>があります。</a:t>
            </a:r>
            <a:endParaRPr lang="en-US" altLang="ja-JP" sz="2400" dirty="0"/>
          </a:p>
          <a:p>
            <a:r>
              <a:rPr lang="ja-JP" altLang="en-US" sz="2400" dirty="0"/>
              <a:t>ただの配列との違いは、</a:t>
            </a:r>
            <a:r>
              <a:rPr lang="ja-JP" altLang="en-US" sz="2400" b="1" dirty="0">
                <a:solidFill>
                  <a:srgbClr val="FF0000"/>
                </a:solidFill>
              </a:rPr>
              <a:t>配列の長さが動的に変わること</a:t>
            </a:r>
            <a:r>
              <a:rPr lang="ja-JP" altLang="en-US" sz="2400" dirty="0"/>
              <a:t>です。</a:t>
            </a:r>
            <a:endParaRPr lang="en-US" altLang="ja-JP" sz="2400" dirty="0"/>
          </a:p>
          <a:p>
            <a:endParaRPr lang="en-US" altLang="ja-JP" sz="2400" dirty="0"/>
          </a:p>
          <a:p>
            <a:r>
              <a:rPr lang="en-US" altLang="ja-JP" sz="2400" b="1" dirty="0">
                <a:solidFill>
                  <a:srgbClr val="00B050"/>
                </a:solidFill>
              </a:rPr>
              <a:t>MEMO</a:t>
            </a:r>
          </a:p>
          <a:p>
            <a:r>
              <a:rPr lang="ja-JP" altLang="en-US" sz="2400" dirty="0"/>
              <a:t>動的（ダイナミック）とは、状況に合わせて変わるということ。</a:t>
            </a:r>
            <a:endParaRPr lang="en-US" altLang="ja-JP" sz="2400" dirty="0"/>
          </a:p>
          <a:p>
            <a:r>
              <a:rPr lang="ja-JP" altLang="en-US" sz="2400" dirty="0"/>
              <a:t>つまり動的配列とは状況に合わせて配列の長さが変わる配列のこと。</a:t>
            </a:r>
            <a:endParaRPr lang="en-US" altLang="ja-JP" sz="2400" dirty="0"/>
          </a:p>
          <a:p>
            <a:endParaRPr lang="en-US" altLang="ja-JP" sz="2400" dirty="0"/>
          </a:p>
          <a:p>
            <a:r>
              <a:rPr lang="ja-JP" altLang="en-US" sz="2400" dirty="0"/>
              <a:t>簡単な例で練習します。</a:t>
            </a:r>
            <a:endParaRPr lang="en-US" altLang="ja-JP" sz="2400" dirty="0"/>
          </a:p>
        </p:txBody>
      </p:sp>
    </p:spTree>
    <p:extLst>
      <p:ext uri="{BB962C8B-B14F-4D97-AF65-F5344CB8AC3E}">
        <p14:creationId xmlns:p14="http://schemas.microsoft.com/office/powerpoint/2010/main" val="4100289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3057247" cy="584775"/>
          </a:xfrm>
          <a:prstGeom prst="rect">
            <a:avLst/>
          </a:prstGeom>
          <a:noFill/>
        </p:spPr>
        <p:txBody>
          <a:bodyPr wrap="none" rtlCol="0">
            <a:spAutoFit/>
          </a:bodyPr>
          <a:lstStyle/>
          <a:p>
            <a:r>
              <a:rPr lang="ja-JP" altLang="en-US" sz="3200" b="1" u="sng" dirty="0"/>
              <a:t>動的配列クラス</a:t>
            </a:r>
            <a:endParaRPr kumimoji="1" lang="ja-JP" altLang="en-US"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4033476" cy="461665"/>
          </a:xfrm>
          <a:prstGeom prst="rect">
            <a:avLst/>
          </a:prstGeom>
          <a:noFill/>
        </p:spPr>
        <p:txBody>
          <a:bodyPr wrap="none" rtlCol="0">
            <a:spAutoFit/>
          </a:bodyPr>
          <a:lstStyle/>
          <a:p>
            <a:r>
              <a:rPr lang="en-US" altLang="ja-JP" sz="2400" b="1" dirty="0">
                <a:solidFill>
                  <a:srgbClr val="FF0000"/>
                </a:solidFill>
              </a:rPr>
              <a:t>Main.cpp</a:t>
            </a:r>
            <a:r>
              <a:rPr lang="ja-JP" altLang="en-US" sz="2400" dirty="0"/>
              <a:t>を書きましょう。</a:t>
            </a:r>
            <a:endParaRPr lang="en-US" altLang="ja-JP" sz="2400" dirty="0"/>
          </a:p>
        </p:txBody>
      </p:sp>
      <p:pic>
        <p:nvPicPr>
          <p:cNvPr id="3" name="図 2">
            <a:extLst>
              <a:ext uri="{FF2B5EF4-FFF2-40B4-BE49-F238E27FC236}">
                <a16:creationId xmlns:a16="http://schemas.microsoft.com/office/drawing/2014/main" id="{1F2CA825-18D2-40C9-BEF2-FE7AFCE6F026}"/>
              </a:ext>
            </a:extLst>
          </p:cNvPr>
          <p:cNvPicPr>
            <a:picLocks noChangeAspect="1"/>
          </p:cNvPicPr>
          <p:nvPr/>
        </p:nvPicPr>
        <p:blipFill>
          <a:blip r:embed="rId2"/>
          <a:stretch>
            <a:fillRect/>
          </a:stretch>
        </p:blipFill>
        <p:spPr>
          <a:xfrm>
            <a:off x="567543" y="1817794"/>
            <a:ext cx="5528458" cy="4514530"/>
          </a:xfrm>
          <a:prstGeom prst="rect">
            <a:avLst/>
          </a:prstGeom>
        </p:spPr>
      </p:pic>
    </p:spTree>
    <p:extLst>
      <p:ext uri="{BB962C8B-B14F-4D97-AF65-F5344CB8AC3E}">
        <p14:creationId xmlns:p14="http://schemas.microsoft.com/office/powerpoint/2010/main" val="3018402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3057247" cy="584775"/>
          </a:xfrm>
          <a:prstGeom prst="rect">
            <a:avLst/>
          </a:prstGeom>
          <a:noFill/>
        </p:spPr>
        <p:txBody>
          <a:bodyPr wrap="none" rtlCol="0">
            <a:spAutoFit/>
          </a:bodyPr>
          <a:lstStyle/>
          <a:p>
            <a:r>
              <a:rPr lang="ja-JP" altLang="en-US" sz="3200" b="1" u="sng" dirty="0"/>
              <a:t>動的配列クラス</a:t>
            </a:r>
            <a:endParaRPr kumimoji="1" lang="ja-JP" altLang="en-US"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6647974" cy="461665"/>
          </a:xfrm>
          <a:prstGeom prst="rect">
            <a:avLst/>
          </a:prstGeom>
          <a:noFill/>
        </p:spPr>
        <p:txBody>
          <a:bodyPr wrap="none" rtlCol="0">
            <a:spAutoFit/>
          </a:bodyPr>
          <a:lstStyle/>
          <a:p>
            <a:r>
              <a:rPr lang="ja-JP" altLang="en-US" sz="2400" dirty="0"/>
              <a:t>実行すると配列の件数と中身が表示されます。</a:t>
            </a:r>
            <a:endParaRPr lang="en-US" altLang="ja-JP" sz="2400" dirty="0"/>
          </a:p>
        </p:txBody>
      </p:sp>
      <p:pic>
        <p:nvPicPr>
          <p:cNvPr id="5" name="図 4">
            <a:extLst>
              <a:ext uri="{FF2B5EF4-FFF2-40B4-BE49-F238E27FC236}">
                <a16:creationId xmlns:a16="http://schemas.microsoft.com/office/drawing/2014/main" id="{39CBE212-0394-4AAC-A3DF-19A0B4CF6F62}"/>
              </a:ext>
            </a:extLst>
          </p:cNvPr>
          <p:cNvPicPr>
            <a:picLocks noChangeAspect="1"/>
          </p:cNvPicPr>
          <p:nvPr/>
        </p:nvPicPr>
        <p:blipFill>
          <a:blip r:embed="rId2"/>
          <a:stretch>
            <a:fillRect/>
          </a:stretch>
        </p:blipFill>
        <p:spPr>
          <a:xfrm>
            <a:off x="567542" y="1817794"/>
            <a:ext cx="6261674" cy="2790065"/>
          </a:xfrm>
          <a:prstGeom prst="rect">
            <a:avLst/>
          </a:prstGeom>
        </p:spPr>
      </p:pic>
    </p:spTree>
    <p:extLst>
      <p:ext uri="{BB962C8B-B14F-4D97-AF65-F5344CB8AC3E}">
        <p14:creationId xmlns:p14="http://schemas.microsoft.com/office/powerpoint/2010/main" val="11789828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3057247" cy="584775"/>
          </a:xfrm>
          <a:prstGeom prst="rect">
            <a:avLst/>
          </a:prstGeom>
          <a:noFill/>
        </p:spPr>
        <p:txBody>
          <a:bodyPr wrap="none" rtlCol="0">
            <a:spAutoFit/>
          </a:bodyPr>
          <a:lstStyle/>
          <a:p>
            <a:r>
              <a:rPr lang="ja-JP" altLang="en-US" sz="3200" b="1" u="sng" dirty="0"/>
              <a:t>動的配列クラス</a:t>
            </a:r>
            <a:endParaRPr kumimoji="1" lang="ja-JP" altLang="en-US"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6340197" cy="2308324"/>
          </a:xfrm>
          <a:prstGeom prst="rect">
            <a:avLst/>
          </a:prstGeom>
          <a:noFill/>
        </p:spPr>
        <p:txBody>
          <a:bodyPr wrap="none" rtlCol="0">
            <a:spAutoFit/>
          </a:bodyPr>
          <a:lstStyle/>
          <a:p>
            <a:r>
              <a:rPr lang="ja-JP" altLang="en-US" sz="2400" dirty="0"/>
              <a:t>動的配列クラスは宣言方法が少し特殊です。</a:t>
            </a:r>
            <a:endParaRPr lang="en-US" altLang="ja-JP" sz="2400" dirty="0"/>
          </a:p>
          <a:p>
            <a:endParaRPr lang="en-US" altLang="ja-JP" sz="2400" dirty="0"/>
          </a:p>
          <a:p>
            <a:r>
              <a:rPr lang="ja-JP" altLang="en-US" sz="2400" b="1" dirty="0">
                <a:solidFill>
                  <a:srgbClr val="FF0000"/>
                </a:solidFill>
              </a:rPr>
              <a:t>■動的配列クラスの宣言</a:t>
            </a:r>
            <a:endParaRPr lang="en-US" altLang="ja-JP" sz="2400" b="1" dirty="0">
              <a:solidFill>
                <a:srgbClr val="FF0000"/>
              </a:solidFill>
            </a:endParaRPr>
          </a:p>
          <a:p>
            <a:r>
              <a:rPr lang="en-US" altLang="ja-JP" sz="2400" dirty="0"/>
              <a:t>std::</a:t>
            </a:r>
            <a:r>
              <a:rPr lang="en-US" altLang="ja-JP" sz="2400" b="1" dirty="0">
                <a:solidFill>
                  <a:srgbClr val="00B050"/>
                </a:solidFill>
              </a:rPr>
              <a:t>vector</a:t>
            </a:r>
            <a:r>
              <a:rPr lang="en-US" altLang="ja-JP" sz="2400" dirty="0"/>
              <a:t>&lt;</a:t>
            </a:r>
            <a:r>
              <a:rPr lang="ja-JP" altLang="en-US" sz="2400" b="1" dirty="0">
                <a:solidFill>
                  <a:srgbClr val="0070C0"/>
                </a:solidFill>
              </a:rPr>
              <a:t>型名</a:t>
            </a:r>
            <a:r>
              <a:rPr lang="en-US" altLang="ja-JP" sz="2400" dirty="0"/>
              <a:t>&gt; </a:t>
            </a:r>
            <a:r>
              <a:rPr lang="ja-JP" altLang="en-US" sz="2400" dirty="0"/>
              <a:t>変数名</a:t>
            </a:r>
            <a:r>
              <a:rPr lang="en-US" altLang="ja-JP" sz="2400" dirty="0"/>
              <a:t>;</a:t>
            </a:r>
          </a:p>
          <a:p>
            <a:endParaRPr lang="en-US" altLang="ja-JP" sz="2400" dirty="0"/>
          </a:p>
          <a:p>
            <a:r>
              <a:rPr lang="ja-JP" altLang="en-US" sz="2400" b="1" dirty="0">
                <a:solidFill>
                  <a:srgbClr val="FF0000"/>
                </a:solidFill>
              </a:rPr>
              <a:t>型名は構造体やクラスなどでも</a:t>
            </a:r>
            <a:r>
              <a:rPr lang="en-US" altLang="ja-JP" sz="2400" b="1" dirty="0">
                <a:solidFill>
                  <a:srgbClr val="FF0000"/>
                </a:solidFill>
              </a:rPr>
              <a:t>OK</a:t>
            </a:r>
            <a:r>
              <a:rPr lang="ja-JP" altLang="en-US" sz="2400" b="1" dirty="0">
                <a:solidFill>
                  <a:srgbClr val="FF0000"/>
                </a:solidFill>
              </a:rPr>
              <a:t>です。</a:t>
            </a:r>
            <a:endParaRPr lang="en-US" altLang="ja-JP" sz="2400" b="1" dirty="0">
              <a:solidFill>
                <a:srgbClr val="FF0000"/>
              </a:solidFill>
            </a:endParaRPr>
          </a:p>
        </p:txBody>
      </p:sp>
      <p:pic>
        <p:nvPicPr>
          <p:cNvPr id="3" name="図 2">
            <a:extLst>
              <a:ext uri="{FF2B5EF4-FFF2-40B4-BE49-F238E27FC236}">
                <a16:creationId xmlns:a16="http://schemas.microsoft.com/office/drawing/2014/main" id="{65C5B325-D1C3-4A34-86F2-7D3883878824}"/>
              </a:ext>
            </a:extLst>
          </p:cNvPr>
          <p:cNvPicPr>
            <a:picLocks noChangeAspect="1"/>
          </p:cNvPicPr>
          <p:nvPr/>
        </p:nvPicPr>
        <p:blipFill>
          <a:blip r:embed="rId2"/>
          <a:stretch>
            <a:fillRect/>
          </a:stretch>
        </p:blipFill>
        <p:spPr>
          <a:xfrm>
            <a:off x="567541" y="3664452"/>
            <a:ext cx="5478473" cy="1140629"/>
          </a:xfrm>
          <a:prstGeom prst="rect">
            <a:avLst/>
          </a:prstGeom>
        </p:spPr>
      </p:pic>
    </p:spTree>
    <p:extLst>
      <p:ext uri="{BB962C8B-B14F-4D97-AF65-F5344CB8AC3E}">
        <p14:creationId xmlns:p14="http://schemas.microsoft.com/office/powerpoint/2010/main" val="9178675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3057247" cy="584775"/>
          </a:xfrm>
          <a:prstGeom prst="rect">
            <a:avLst/>
          </a:prstGeom>
          <a:noFill/>
        </p:spPr>
        <p:txBody>
          <a:bodyPr wrap="none" rtlCol="0">
            <a:spAutoFit/>
          </a:bodyPr>
          <a:lstStyle/>
          <a:p>
            <a:r>
              <a:rPr lang="ja-JP" altLang="en-US" sz="3200" b="1" u="sng" dirty="0"/>
              <a:t>動的配列クラス</a:t>
            </a:r>
            <a:endParaRPr kumimoji="1" lang="ja-JP" altLang="en-US"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6710491" cy="461665"/>
          </a:xfrm>
          <a:prstGeom prst="rect">
            <a:avLst/>
          </a:prstGeom>
          <a:noFill/>
        </p:spPr>
        <p:txBody>
          <a:bodyPr wrap="none" rtlCol="0">
            <a:spAutoFit/>
          </a:bodyPr>
          <a:lstStyle/>
          <a:p>
            <a:r>
              <a:rPr lang="en-US" altLang="ja-JP" sz="2400" b="1" dirty="0" err="1">
                <a:solidFill>
                  <a:srgbClr val="0070C0"/>
                </a:solidFill>
              </a:rPr>
              <a:t>push_back</a:t>
            </a:r>
            <a:r>
              <a:rPr lang="ja-JP" altLang="en-US" sz="2400" dirty="0"/>
              <a:t>関数で末尾に要素を追加できます。</a:t>
            </a:r>
            <a:endParaRPr lang="en-US" altLang="ja-JP" sz="2400" dirty="0"/>
          </a:p>
        </p:txBody>
      </p:sp>
      <p:pic>
        <p:nvPicPr>
          <p:cNvPr id="5" name="図 4">
            <a:extLst>
              <a:ext uri="{FF2B5EF4-FFF2-40B4-BE49-F238E27FC236}">
                <a16:creationId xmlns:a16="http://schemas.microsoft.com/office/drawing/2014/main" id="{B4FD4A72-4F17-4D92-9A61-90DDD69E010F}"/>
              </a:ext>
            </a:extLst>
          </p:cNvPr>
          <p:cNvPicPr>
            <a:picLocks noChangeAspect="1"/>
          </p:cNvPicPr>
          <p:nvPr/>
        </p:nvPicPr>
        <p:blipFill>
          <a:blip r:embed="rId2"/>
          <a:stretch>
            <a:fillRect/>
          </a:stretch>
        </p:blipFill>
        <p:spPr>
          <a:xfrm>
            <a:off x="567542" y="1817794"/>
            <a:ext cx="5832813" cy="1328818"/>
          </a:xfrm>
          <a:prstGeom prst="rect">
            <a:avLst/>
          </a:prstGeom>
        </p:spPr>
      </p:pic>
      <p:sp>
        <p:nvSpPr>
          <p:cNvPr id="7" name="テキスト ボックス 6">
            <a:extLst>
              <a:ext uri="{FF2B5EF4-FFF2-40B4-BE49-F238E27FC236}">
                <a16:creationId xmlns:a16="http://schemas.microsoft.com/office/drawing/2014/main" id="{D83F095F-6F5F-45D7-A565-7FB39040CF88}"/>
              </a:ext>
            </a:extLst>
          </p:cNvPr>
          <p:cNvSpPr txBox="1"/>
          <p:nvPr/>
        </p:nvSpPr>
        <p:spPr>
          <a:xfrm>
            <a:off x="567541" y="3426959"/>
            <a:ext cx="1415772" cy="461665"/>
          </a:xfrm>
          <a:prstGeom prst="rect">
            <a:avLst/>
          </a:prstGeom>
          <a:noFill/>
        </p:spPr>
        <p:txBody>
          <a:bodyPr wrap="none" rtlCol="0">
            <a:spAutoFit/>
          </a:bodyPr>
          <a:lstStyle/>
          <a:p>
            <a:r>
              <a:rPr lang="ja-JP" altLang="en-US" sz="2400" b="1" dirty="0">
                <a:solidFill>
                  <a:srgbClr val="00B050"/>
                </a:solidFill>
              </a:rPr>
              <a:t>イメージ</a:t>
            </a:r>
            <a:endParaRPr lang="en-US" altLang="ja-JP" sz="2400" b="1" dirty="0">
              <a:solidFill>
                <a:srgbClr val="00B050"/>
              </a:solidFill>
            </a:endParaRPr>
          </a:p>
        </p:txBody>
      </p:sp>
      <p:sp>
        <p:nvSpPr>
          <p:cNvPr id="8" name="正方形/長方形 7">
            <a:extLst>
              <a:ext uri="{FF2B5EF4-FFF2-40B4-BE49-F238E27FC236}">
                <a16:creationId xmlns:a16="http://schemas.microsoft.com/office/drawing/2014/main" id="{7BB54295-F60B-412F-ABA2-0CA6F0ABACFC}"/>
              </a:ext>
            </a:extLst>
          </p:cNvPr>
          <p:cNvSpPr/>
          <p:nvPr/>
        </p:nvSpPr>
        <p:spPr>
          <a:xfrm>
            <a:off x="567541" y="3888624"/>
            <a:ext cx="726142" cy="681317"/>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kumimoji="1" lang="en-US" altLang="ja-JP" dirty="0"/>
              <a:t>1</a:t>
            </a:r>
            <a:endParaRPr kumimoji="1" lang="ja-JP" altLang="en-US" dirty="0"/>
          </a:p>
        </p:txBody>
      </p:sp>
      <p:sp>
        <p:nvSpPr>
          <p:cNvPr id="9" name="正方形/長方形 8">
            <a:extLst>
              <a:ext uri="{FF2B5EF4-FFF2-40B4-BE49-F238E27FC236}">
                <a16:creationId xmlns:a16="http://schemas.microsoft.com/office/drawing/2014/main" id="{63848FC3-CAF2-42DE-916F-BE83073CC098}"/>
              </a:ext>
            </a:extLst>
          </p:cNvPr>
          <p:cNvSpPr/>
          <p:nvPr/>
        </p:nvSpPr>
        <p:spPr>
          <a:xfrm>
            <a:off x="1293683" y="3888622"/>
            <a:ext cx="726142" cy="681317"/>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kumimoji="1" lang="en-US" altLang="ja-JP" dirty="0"/>
              <a:t>2</a:t>
            </a:r>
            <a:endParaRPr kumimoji="1" lang="ja-JP" altLang="en-US" dirty="0"/>
          </a:p>
        </p:txBody>
      </p:sp>
      <p:sp>
        <p:nvSpPr>
          <p:cNvPr id="10" name="正方形/長方形 9">
            <a:extLst>
              <a:ext uri="{FF2B5EF4-FFF2-40B4-BE49-F238E27FC236}">
                <a16:creationId xmlns:a16="http://schemas.microsoft.com/office/drawing/2014/main" id="{0660ED7A-5201-4F60-A085-2284946815AD}"/>
              </a:ext>
            </a:extLst>
          </p:cNvPr>
          <p:cNvSpPr/>
          <p:nvPr/>
        </p:nvSpPr>
        <p:spPr>
          <a:xfrm>
            <a:off x="2019826" y="3888624"/>
            <a:ext cx="726142" cy="681317"/>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kumimoji="1" lang="en-US" altLang="ja-JP" dirty="0"/>
              <a:t>3</a:t>
            </a:r>
          </a:p>
        </p:txBody>
      </p:sp>
    </p:spTree>
    <p:extLst>
      <p:ext uri="{BB962C8B-B14F-4D97-AF65-F5344CB8AC3E}">
        <p14:creationId xmlns:p14="http://schemas.microsoft.com/office/powerpoint/2010/main" val="34777033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3057247" cy="584775"/>
          </a:xfrm>
          <a:prstGeom prst="rect">
            <a:avLst/>
          </a:prstGeom>
          <a:noFill/>
        </p:spPr>
        <p:txBody>
          <a:bodyPr wrap="none" rtlCol="0">
            <a:spAutoFit/>
          </a:bodyPr>
          <a:lstStyle/>
          <a:p>
            <a:r>
              <a:rPr lang="ja-JP" altLang="en-US" sz="3200" b="1" u="sng" dirty="0"/>
              <a:t>動的配列クラス</a:t>
            </a:r>
            <a:endParaRPr kumimoji="1" lang="ja-JP" altLang="en-US"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6229590" cy="461665"/>
          </a:xfrm>
          <a:prstGeom prst="rect">
            <a:avLst/>
          </a:prstGeom>
          <a:noFill/>
        </p:spPr>
        <p:txBody>
          <a:bodyPr wrap="none" rtlCol="0">
            <a:spAutoFit/>
          </a:bodyPr>
          <a:lstStyle/>
          <a:p>
            <a:r>
              <a:rPr lang="en-US" altLang="ja-JP" sz="2400" b="1" dirty="0" err="1">
                <a:solidFill>
                  <a:srgbClr val="0070C0"/>
                </a:solidFill>
              </a:rPr>
              <a:t>pop_back</a:t>
            </a:r>
            <a:r>
              <a:rPr lang="ja-JP" altLang="en-US" sz="2400" dirty="0"/>
              <a:t>関数で末尾の要素を削除します。</a:t>
            </a:r>
            <a:endParaRPr lang="en-US" altLang="ja-JP" sz="2400" dirty="0"/>
          </a:p>
        </p:txBody>
      </p:sp>
      <p:sp>
        <p:nvSpPr>
          <p:cNvPr id="7" name="テキスト ボックス 6">
            <a:extLst>
              <a:ext uri="{FF2B5EF4-FFF2-40B4-BE49-F238E27FC236}">
                <a16:creationId xmlns:a16="http://schemas.microsoft.com/office/drawing/2014/main" id="{D83F095F-6F5F-45D7-A565-7FB39040CF88}"/>
              </a:ext>
            </a:extLst>
          </p:cNvPr>
          <p:cNvSpPr txBox="1"/>
          <p:nvPr/>
        </p:nvSpPr>
        <p:spPr>
          <a:xfrm>
            <a:off x="567541" y="3426959"/>
            <a:ext cx="1415772" cy="461665"/>
          </a:xfrm>
          <a:prstGeom prst="rect">
            <a:avLst/>
          </a:prstGeom>
          <a:noFill/>
        </p:spPr>
        <p:txBody>
          <a:bodyPr wrap="none" rtlCol="0">
            <a:spAutoFit/>
          </a:bodyPr>
          <a:lstStyle/>
          <a:p>
            <a:r>
              <a:rPr lang="ja-JP" altLang="en-US" sz="2400" b="1" dirty="0">
                <a:solidFill>
                  <a:srgbClr val="00B050"/>
                </a:solidFill>
              </a:rPr>
              <a:t>イメージ</a:t>
            </a:r>
            <a:endParaRPr lang="en-US" altLang="ja-JP" sz="2400" b="1" dirty="0">
              <a:solidFill>
                <a:srgbClr val="00B050"/>
              </a:solidFill>
            </a:endParaRPr>
          </a:p>
        </p:txBody>
      </p:sp>
      <p:sp>
        <p:nvSpPr>
          <p:cNvPr id="8" name="正方形/長方形 7">
            <a:extLst>
              <a:ext uri="{FF2B5EF4-FFF2-40B4-BE49-F238E27FC236}">
                <a16:creationId xmlns:a16="http://schemas.microsoft.com/office/drawing/2014/main" id="{7BB54295-F60B-412F-ABA2-0CA6F0ABACFC}"/>
              </a:ext>
            </a:extLst>
          </p:cNvPr>
          <p:cNvSpPr/>
          <p:nvPr/>
        </p:nvSpPr>
        <p:spPr>
          <a:xfrm>
            <a:off x="567541" y="3888624"/>
            <a:ext cx="726142" cy="681317"/>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kumimoji="1" lang="en-US" altLang="ja-JP" dirty="0"/>
              <a:t>1</a:t>
            </a:r>
            <a:endParaRPr kumimoji="1" lang="ja-JP" altLang="en-US" dirty="0"/>
          </a:p>
        </p:txBody>
      </p:sp>
      <p:sp>
        <p:nvSpPr>
          <p:cNvPr id="9" name="正方形/長方形 8">
            <a:extLst>
              <a:ext uri="{FF2B5EF4-FFF2-40B4-BE49-F238E27FC236}">
                <a16:creationId xmlns:a16="http://schemas.microsoft.com/office/drawing/2014/main" id="{63848FC3-CAF2-42DE-916F-BE83073CC098}"/>
              </a:ext>
            </a:extLst>
          </p:cNvPr>
          <p:cNvSpPr/>
          <p:nvPr/>
        </p:nvSpPr>
        <p:spPr>
          <a:xfrm>
            <a:off x="1293683" y="3888622"/>
            <a:ext cx="726142" cy="681317"/>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kumimoji="1" lang="en-US" altLang="ja-JP" dirty="0"/>
              <a:t>2</a:t>
            </a:r>
            <a:endParaRPr kumimoji="1" lang="ja-JP" altLang="en-US" dirty="0"/>
          </a:p>
        </p:txBody>
      </p:sp>
      <p:sp>
        <p:nvSpPr>
          <p:cNvPr id="10" name="正方形/長方形 9">
            <a:extLst>
              <a:ext uri="{FF2B5EF4-FFF2-40B4-BE49-F238E27FC236}">
                <a16:creationId xmlns:a16="http://schemas.microsoft.com/office/drawing/2014/main" id="{0660ED7A-5201-4F60-A085-2284946815AD}"/>
              </a:ext>
            </a:extLst>
          </p:cNvPr>
          <p:cNvSpPr/>
          <p:nvPr/>
        </p:nvSpPr>
        <p:spPr>
          <a:xfrm>
            <a:off x="2019826" y="3888624"/>
            <a:ext cx="726142" cy="681317"/>
          </a:xfrm>
          <a:prstGeom prst="rect">
            <a:avLst/>
          </a:prstGeom>
          <a:ln>
            <a:prstDash val="dash"/>
          </a:ln>
        </p:spPr>
        <p:style>
          <a:lnRef idx="2">
            <a:schemeClr val="dk1"/>
          </a:lnRef>
          <a:fillRef idx="1">
            <a:schemeClr val="lt1"/>
          </a:fillRef>
          <a:effectRef idx="0">
            <a:schemeClr val="dk1"/>
          </a:effectRef>
          <a:fontRef idx="minor">
            <a:schemeClr val="dk1"/>
          </a:fontRef>
        </p:style>
        <p:txBody>
          <a:bodyPr rtlCol="0" anchor="ctr"/>
          <a:lstStyle/>
          <a:p>
            <a:pPr algn="ctr"/>
            <a:endParaRPr kumimoji="1" lang="en-US" altLang="ja-JP" dirty="0"/>
          </a:p>
        </p:txBody>
      </p:sp>
      <p:pic>
        <p:nvPicPr>
          <p:cNvPr id="3" name="図 2">
            <a:extLst>
              <a:ext uri="{FF2B5EF4-FFF2-40B4-BE49-F238E27FC236}">
                <a16:creationId xmlns:a16="http://schemas.microsoft.com/office/drawing/2014/main" id="{3792F683-E27A-4E56-A602-87361A9EB0EC}"/>
              </a:ext>
            </a:extLst>
          </p:cNvPr>
          <p:cNvPicPr>
            <a:picLocks noChangeAspect="1"/>
          </p:cNvPicPr>
          <p:nvPr/>
        </p:nvPicPr>
        <p:blipFill>
          <a:blip r:embed="rId2"/>
          <a:stretch>
            <a:fillRect/>
          </a:stretch>
        </p:blipFill>
        <p:spPr>
          <a:xfrm>
            <a:off x="567541" y="2135674"/>
            <a:ext cx="7799743" cy="833702"/>
          </a:xfrm>
          <a:prstGeom prst="rect">
            <a:avLst/>
          </a:prstGeom>
        </p:spPr>
      </p:pic>
    </p:spTree>
    <p:extLst>
      <p:ext uri="{BB962C8B-B14F-4D97-AF65-F5344CB8AC3E}">
        <p14:creationId xmlns:p14="http://schemas.microsoft.com/office/powerpoint/2010/main" val="39628039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3057247" cy="584775"/>
          </a:xfrm>
          <a:prstGeom prst="rect">
            <a:avLst/>
          </a:prstGeom>
          <a:noFill/>
        </p:spPr>
        <p:txBody>
          <a:bodyPr wrap="none" rtlCol="0">
            <a:spAutoFit/>
          </a:bodyPr>
          <a:lstStyle/>
          <a:p>
            <a:r>
              <a:rPr lang="ja-JP" altLang="en-US" sz="3200" b="1" u="sng" dirty="0"/>
              <a:t>動的配列クラス</a:t>
            </a:r>
            <a:endParaRPr kumimoji="1" lang="ja-JP" altLang="en-US"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5690982" cy="461665"/>
          </a:xfrm>
          <a:prstGeom prst="rect">
            <a:avLst/>
          </a:prstGeom>
          <a:noFill/>
        </p:spPr>
        <p:txBody>
          <a:bodyPr wrap="none" rtlCol="0">
            <a:spAutoFit/>
          </a:bodyPr>
          <a:lstStyle/>
          <a:p>
            <a:r>
              <a:rPr lang="en-US" altLang="ja-JP" sz="2400" b="1" dirty="0">
                <a:solidFill>
                  <a:srgbClr val="0070C0"/>
                </a:solidFill>
              </a:rPr>
              <a:t>size</a:t>
            </a:r>
            <a:r>
              <a:rPr lang="ja-JP" altLang="en-US" sz="2400" dirty="0"/>
              <a:t>関数で配列の件数を取得できます。</a:t>
            </a:r>
            <a:endParaRPr lang="en-US" altLang="ja-JP" sz="2400" dirty="0"/>
          </a:p>
        </p:txBody>
      </p:sp>
      <p:sp>
        <p:nvSpPr>
          <p:cNvPr id="7" name="テキスト ボックス 6">
            <a:extLst>
              <a:ext uri="{FF2B5EF4-FFF2-40B4-BE49-F238E27FC236}">
                <a16:creationId xmlns:a16="http://schemas.microsoft.com/office/drawing/2014/main" id="{D83F095F-6F5F-45D7-A565-7FB39040CF88}"/>
              </a:ext>
            </a:extLst>
          </p:cNvPr>
          <p:cNvSpPr txBox="1"/>
          <p:nvPr/>
        </p:nvSpPr>
        <p:spPr>
          <a:xfrm>
            <a:off x="567541" y="3426959"/>
            <a:ext cx="1415772" cy="461665"/>
          </a:xfrm>
          <a:prstGeom prst="rect">
            <a:avLst/>
          </a:prstGeom>
          <a:noFill/>
        </p:spPr>
        <p:txBody>
          <a:bodyPr wrap="none" rtlCol="0">
            <a:spAutoFit/>
          </a:bodyPr>
          <a:lstStyle/>
          <a:p>
            <a:r>
              <a:rPr lang="ja-JP" altLang="en-US" sz="2400" b="1" dirty="0">
                <a:solidFill>
                  <a:srgbClr val="00B050"/>
                </a:solidFill>
              </a:rPr>
              <a:t>イメージ</a:t>
            </a:r>
            <a:endParaRPr lang="en-US" altLang="ja-JP" sz="2400" b="1" dirty="0">
              <a:solidFill>
                <a:srgbClr val="00B050"/>
              </a:solidFill>
            </a:endParaRPr>
          </a:p>
        </p:txBody>
      </p:sp>
      <p:sp>
        <p:nvSpPr>
          <p:cNvPr id="8" name="正方形/長方形 7">
            <a:extLst>
              <a:ext uri="{FF2B5EF4-FFF2-40B4-BE49-F238E27FC236}">
                <a16:creationId xmlns:a16="http://schemas.microsoft.com/office/drawing/2014/main" id="{7BB54295-F60B-412F-ABA2-0CA6F0ABACFC}"/>
              </a:ext>
            </a:extLst>
          </p:cNvPr>
          <p:cNvSpPr/>
          <p:nvPr/>
        </p:nvSpPr>
        <p:spPr>
          <a:xfrm>
            <a:off x="567541" y="3888624"/>
            <a:ext cx="726142" cy="681317"/>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kumimoji="1" lang="en-US" altLang="ja-JP" dirty="0"/>
              <a:t>1</a:t>
            </a:r>
            <a:endParaRPr kumimoji="1" lang="ja-JP" altLang="en-US" dirty="0"/>
          </a:p>
        </p:txBody>
      </p:sp>
      <p:sp>
        <p:nvSpPr>
          <p:cNvPr id="9" name="正方形/長方形 8">
            <a:extLst>
              <a:ext uri="{FF2B5EF4-FFF2-40B4-BE49-F238E27FC236}">
                <a16:creationId xmlns:a16="http://schemas.microsoft.com/office/drawing/2014/main" id="{63848FC3-CAF2-42DE-916F-BE83073CC098}"/>
              </a:ext>
            </a:extLst>
          </p:cNvPr>
          <p:cNvSpPr/>
          <p:nvPr/>
        </p:nvSpPr>
        <p:spPr>
          <a:xfrm>
            <a:off x="1293683" y="3888622"/>
            <a:ext cx="726142" cy="681317"/>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kumimoji="1" lang="en-US" altLang="ja-JP" dirty="0"/>
              <a:t>2</a:t>
            </a:r>
            <a:endParaRPr kumimoji="1" lang="ja-JP" altLang="en-US" dirty="0"/>
          </a:p>
        </p:txBody>
      </p:sp>
      <p:sp>
        <p:nvSpPr>
          <p:cNvPr id="11" name="正方形/長方形 10">
            <a:extLst>
              <a:ext uri="{FF2B5EF4-FFF2-40B4-BE49-F238E27FC236}">
                <a16:creationId xmlns:a16="http://schemas.microsoft.com/office/drawing/2014/main" id="{39ADE7E1-F457-479C-9EBA-7C003CE9EDD0}"/>
              </a:ext>
            </a:extLst>
          </p:cNvPr>
          <p:cNvSpPr/>
          <p:nvPr/>
        </p:nvSpPr>
        <p:spPr>
          <a:xfrm>
            <a:off x="2019824" y="3888622"/>
            <a:ext cx="726142" cy="681317"/>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kumimoji="1" lang="en-US" altLang="ja-JP" dirty="0"/>
              <a:t>4</a:t>
            </a:r>
            <a:endParaRPr kumimoji="1" lang="ja-JP" altLang="en-US" dirty="0"/>
          </a:p>
        </p:txBody>
      </p:sp>
      <p:sp>
        <p:nvSpPr>
          <p:cNvPr id="12" name="正方形/長方形 11">
            <a:extLst>
              <a:ext uri="{FF2B5EF4-FFF2-40B4-BE49-F238E27FC236}">
                <a16:creationId xmlns:a16="http://schemas.microsoft.com/office/drawing/2014/main" id="{8105DE65-FCA1-4174-A160-E2230C5FD7CB}"/>
              </a:ext>
            </a:extLst>
          </p:cNvPr>
          <p:cNvSpPr/>
          <p:nvPr/>
        </p:nvSpPr>
        <p:spPr>
          <a:xfrm>
            <a:off x="2745966" y="3888620"/>
            <a:ext cx="726142" cy="681317"/>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kumimoji="1" lang="en-US" altLang="ja-JP" dirty="0"/>
              <a:t>5</a:t>
            </a:r>
            <a:endParaRPr kumimoji="1" lang="ja-JP" altLang="en-US" dirty="0"/>
          </a:p>
        </p:txBody>
      </p:sp>
      <p:sp>
        <p:nvSpPr>
          <p:cNvPr id="13" name="テキスト ボックス 12">
            <a:extLst>
              <a:ext uri="{FF2B5EF4-FFF2-40B4-BE49-F238E27FC236}">
                <a16:creationId xmlns:a16="http://schemas.microsoft.com/office/drawing/2014/main" id="{B8259C00-5C33-4A65-A048-8EEB3D96F7F6}"/>
              </a:ext>
            </a:extLst>
          </p:cNvPr>
          <p:cNvSpPr txBox="1"/>
          <p:nvPr/>
        </p:nvSpPr>
        <p:spPr>
          <a:xfrm>
            <a:off x="3508619" y="3998445"/>
            <a:ext cx="1649811" cy="461665"/>
          </a:xfrm>
          <a:prstGeom prst="rect">
            <a:avLst/>
          </a:prstGeom>
          <a:noFill/>
        </p:spPr>
        <p:txBody>
          <a:bodyPr wrap="none" rtlCol="0">
            <a:spAutoFit/>
          </a:bodyPr>
          <a:lstStyle/>
          <a:p>
            <a:r>
              <a:rPr lang="en-US" altLang="ja-JP" sz="2400" dirty="0"/>
              <a:t>size = 4</a:t>
            </a:r>
            <a:r>
              <a:rPr lang="ja-JP" altLang="en-US" sz="2400" dirty="0"/>
              <a:t>件</a:t>
            </a:r>
            <a:endParaRPr lang="en-US" altLang="ja-JP" sz="2400" dirty="0"/>
          </a:p>
        </p:txBody>
      </p:sp>
      <p:pic>
        <p:nvPicPr>
          <p:cNvPr id="5" name="図 4">
            <a:extLst>
              <a:ext uri="{FF2B5EF4-FFF2-40B4-BE49-F238E27FC236}">
                <a16:creationId xmlns:a16="http://schemas.microsoft.com/office/drawing/2014/main" id="{0EC99BBC-D1AC-4019-AAD0-4730C5B6BB21}"/>
              </a:ext>
            </a:extLst>
          </p:cNvPr>
          <p:cNvPicPr>
            <a:picLocks noChangeAspect="1"/>
          </p:cNvPicPr>
          <p:nvPr/>
        </p:nvPicPr>
        <p:blipFill>
          <a:blip r:embed="rId2"/>
          <a:stretch>
            <a:fillRect/>
          </a:stretch>
        </p:blipFill>
        <p:spPr>
          <a:xfrm>
            <a:off x="567541" y="2144277"/>
            <a:ext cx="6479766" cy="681317"/>
          </a:xfrm>
          <a:prstGeom prst="rect">
            <a:avLst/>
          </a:prstGeom>
        </p:spPr>
      </p:pic>
    </p:spTree>
    <p:extLst>
      <p:ext uri="{BB962C8B-B14F-4D97-AF65-F5344CB8AC3E}">
        <p14:creationId xmlns:p14="http://schemas.microsoft.com/office/powerpoint/2010/main" val="19959393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3057247" cy="584775"/>
          </a:xfrm>
          <a:prstGeom prst="rect">
            <a:avLst/>
          </a:prstGeom>
          <a:noFill/>
        </p:spPr>
        <p:txBody>
          <a:bodyPr wrap="none" rtlCol="0">
            <a:spAutoFit/>
          </a:bodyPr>
          <a:lstStyle/>
          <a:p>
            <a:r>
              <a:rPr lang="ja-JP" altLang="en-US" sz="3200" b="1" u="sng" dirty="0"/>
              <a:t>動的配列クラス</a:t>
            </a:r>
            <a:endParaRPr kumimoji="1" lang="ja-JP" altLang="en-US"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5724644" cy="461665"/>
          </a:xfrm>
          <a:prstGeom prst="rect">
            <a:avLst/>
          </a:prstGeom>
          <a:noFill/>
        </p:spPr>
        <p:txBody>
          <a:bodyPr wrap="none" rtlCol="0">
            <a:spAutoFit/>
          </a:bodyPr>
          <a:lstStyle/>
          <a:p>
            <a:r>
              <a:rPr lang="ja-JP" altLang="en-US" sz="2400" dirty="0"/>
              <a:t>配列なので</a:t>
            </a:r>
            <a:r>
              <a:rPr lang="ja-JP" altLang="en-US" sz="2400" b="1" dirty="0">
                <a:solidFill>
                  <a:srgbClr val="FF0000"/>
                </a:solidFill>
              </a:rPr>
              <a:t>添え字でアクセス</a:t>
            </a:r>
            <a:r>
              <a:rPr lang="ja-JP" altLang="en-US" sz="2400" dirty="0"/>
              <a:t>できます。</a:t>
            </a:r>
            <a:endParaRPr lang="en-US" altLang="ja-JP" sz="2400" dirty="0"/>
          </a:p>
        </p:txBody>
      </p:sp>
      <p:sp>
        <p:nvSpPr>
          <p:cNvPr id="7" name="テキスト ボックス 6">
            <a:extLst>
              <a:ext uri="{FF2B5EF4-FFF2-40B4-BE49-F238E27FC236}">
                <a16:creationId xmlns:a16="http://schemas.microsoft.com/office/drawing/2014/main" id="{D83F095F-6F5F-45D7-A565-7FB39040CF88}"/>
              </a:ext>
            </a:extLst>
          </p:cNvPr>
          <p:cNvSpPr txBox="1"/>
          <p:nvPr/>
        </p:nvSpPr>
        <p:spPr>
          <a:xfrm>
            <a:off x="567541" y="3426959"/>
            <a:ext cx="1415772" cy="461665"/>
          </a:xfrm>
          <a:prstGeom prst="rect">
            <a:avLst/>
          </a:prstGeom>
          <a:noFill/>
        </p:spPr>
        <p:txBody>
          <a:bodyPr wrap="none" rtlCol="0">
            <a:spAutoFit/>
          </a:bodyPr>
          <a:lstStyle/>
          <a:p>
            <a:r>
              <a:rPr lang="ja-JP" altLang="en-US" sz="2400" b="1" dirty="0">
                <a:solidFill>
                  <a:srgbClr val="00B050"/>
                </a:solidFill>
              </a:rPr>
              <a:t>イメージ</a:t>
            </a:r>
            <a:endParaRPr lang="en-US" altLang="ja-JP" sz="2400" b="1" dirty="0">
              <a:solidFill>
                <a:srgbClr val="00B050"/>
              </a:solidFill>
            </a:endParaRPr>
          </a:p>
        </p:txBody>
      </p:sp>
      <p:sp>
        <p:nvSpPr>
          <p:cNvPr id="8" name="正方形/長方形 7">
            <a:extLst>
              <a:ext uri="{FF2B5EF4-FFF2-40B4-BE49-F238E27FC236}">
                <a16:creationId xmlns:a16="http://schemas.microsoft.com/office/drawing/2014/main" id="{7BB54295-F60B-412F-ABA2-0CA6F0ABACFC}"/>
              </a:ext>
            </a:extLst>
          </p:cNvPr>
          <p:cNvSpPr/>
          <p:nvPr/>
        </p:nvSpPr>
        <p:spPr>
          <a:xfrm>
            <a:off x="567541" y="3888624"/>
            <a:ext cx="726142" cy="681317"/>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kumimoji="1" lang="en-US" altLang="ja-JP" dirty="0"/>
              <a:t>1</a:t>
            </a:r>
            <a:endParaRPr kumimoji="1" lang="ja-JP" altLang="en-US" dirty="0"/>
          </a:p>
        </p:txBody>
      </p:sp>
      <p:sp>
        <p:nvSpPr>
          <p:cNvPr id="9" name="正方形/長方形 8">
            <a:extLst>
              <a:ext uri="{FF2B5EF4-FFF2-40B4-BE49-F238E27FC236}">
                <a16:creationId xmlns:a16="http://schemas.microsoft.com/office/drawing/2014/main" id="{63848FC3-CAF2-42DE-916F-BE83073CC098}"/>
              </a:ext>
            </a:extLst>
          </p:cNvPr>
          <p:cNvSpPr/>
          <p:nvPr/>
        </p:nvSpPr>
        <p:spPr>
          <a:xfrm>
            <a:off x="1293683" y="3888622"/>
            <a:ext cx="726142" cy="681317"/>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kumimoji="1" lang="en-US" altLang="ja-JP" dirty="0"/>
              <a:t>2</a:t>
            </a:r>
            <a:endParaRPr kumimoji="1" lang="ja-JP" altLang="en-US" dirty="0"/>
          </a:p>
        </p:txBody>
      </p:sp>
      <p:sp>
        <p:nvSpPr>
          <p:cNvPr id="11" name="正方形/長方形 10">
            <a:extLst>
              <a:ext uri="{FF2B5EF4-FFF2-40B4-BE49-F238E27FC236}">
                <a16:creationId xmlns:a16="http://schemas.microsoft.com/office/drawing/2014/main" id="{39ADE7E1-F457-479C-9EBA-7C003CE9EDD0}"/>
              </a:ext>
            </a:extLst>
          </p:cNvPr>
          <p:cNvSpPr/>
          <p:nvPr/>
        </p:nvSpPr>
        <p:spPr>
          <a:xfrm>
            <a:off x="2019824" y="3888622"/>
            <a:ext cx="726142" cy="681317"/>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kumimoji="1" lang="en-US" altLang="ja-JP" dirty="0"/>
              <a:t>4</a:t>
            </a:r>
            <a:endParaRPr kumimoji="1" lang="ja-JP" altLang="en-US" dirty="0"/>
          </a:p>
        </p:txBody>
      </p:sp>
      <p:sp>
        <p:nvSpPr>
          <p:cNvPr id="12" name="正方形/長方形 11">
            <a:extLst>
              <a:ext uri="{FF2B5EF4-FFF2-40B4-BE49-F238E27FC236}">
                <a16:creationId xmlns:a16="http://schemas.microsoft.com/office/drawing/2014/main" id="{8105DE65-FCA1-4174-A160-E2230C5FD7CB}"/>
              </a:ext>
            </a:extLst>
          </p:cNvPr>
          <p:cNvSpPr/>
          <p:nvPr/>
        </p:nvSpPr>
        <p:spPr>
          <a:xfrm>
            <a:off x="2745966" y="3888620"/>
            <a:ext cx="726142" cy="681317"/>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kumimoji="1" lang="en-US" altLang="ja-JP" dirty="0"/>
              <a:t>5</a:t>
            </a:r>
            <a:endParaRPr kumimoji="1" lang="ja-JP" altLang="en-US" dirty="0"/>
          </a:p>
        </p:txBody>
      </p:sp>
      <p:sp>
        <p:nvSpPr>
          <p:cNvPr id="13" name="テキスト ボックス 12">
            <a:extLst>
              <a:ext uri="{FF2B5EF4-FFF2-40B4-BE49-F238E27FC236}">
                <a16:creationId xmlns:a16="http://schemas.microsoft.com/office/drawing/2014/main" id="{B8259C00-5C33-4A65-A048-8EEB3D96F7F6}"/>
              </a:ext>
            </a:extLst>
          </p:cNvPr>
          <p:cNvSpPr txBox="1"/>
          <p:nvPr/>
        </p:nvSpPr>
        <p:spPr>
          <a:xfrm>
            <a:off x="3508619" y="3998445"/>
            <a:ext cx="1649811" cy="461665"/>
          </a:xfrm>
          <a:prstGeom prst="rect">
            <a:avLst/>
          </a:prstGeom>
          <a:noFill/>
        </p:spPr>
        <p:txBody>
          <a:bodyPr wrap="none" rtlCol="0">
            <a:spAutoFit/>
          </a:bodyPr>
          <a:lstStyle/>
          <a:p>
            <a:r>
              <a:rPr lang="en-US" altLang="ja-JP" sz="2400" dirty="0"/>
              <a:t>size = 4</a:t>
            </a:r>
            <a:r>
              <a:rPr lang="ja-JP" altLang="en-US" sz="2400" dirty="0"/>
              <a:t>件</a:t>
            </a:r>
            <a:endParaRPr lang="en-US" altLang="ja-JP" sz="2400" dirty="0"/>
          </a:p>
        </p:txBody>
      </p:sp>
      <p:sp>
        <p:nvSpPr>
          <p:cNvPr id="14" name="テキスト ボックス 13">
            <a:extLst>
              <a:ext uri="{FF2B5EF4-FFF2-40B4-BE49-F238E27FC236}">
                <a16:creationId xmlns:a16="http://schemas.microsoft.com/office/drawing/2014/main" id="{2CB2EB5E-F166-454B-8A54-A89F38B54B1E}"/>
              </a:ext>
            </a:extLst>
          </p:cNvPr>
          <p:cNvSpPr txBox="1"/>
          <p:nvPr/>
        </p:nvSpPr>
        <p:spPr>
          <a:xfrm>
            <a:off x="633896" y="4634940"/>
            <a:ext cx="593432" cy="461665"/>
          </a:xfrm>
          <a:prstGeom prst="rect">
            <a:avLst/>
          </a:prstGeom>
          <a:noFill/>
        </p:spPr>
        <p:txBody>
          <a:bodyPr wrap="none" rtlCol="0">
            <a:spAutoFit/>
          </a:bodyPr>
          <a:lstStyle/>
          <a:p>
            <a:r>
              <a:rPr lang="en-US" altLang="ja-JP" sz="2400" dirty="0"/>
              <a:t>[0]</a:t>
            </a:r>
          </a:p>
        </p:txBody>
      </p:sp>
      <p:sp>
        <p:nvSpPr>
          <p:cNvPr id="15" name="テキスト ボックス 14">
            <a:extLst>
              <a:ext uri="{FF2B5EF4-FFF2-40B4-BE49-F238E27FC236}">
                <a16:creationId xmlns:a16="http://schemas.microsoft.com/office/drawing/2014/main" id="{A8CAF5E2-95E7-4926-B5B7-359AA8551959}"/>
              </a:ext>
            </a:extLst>
          </p:cNvPr>
          <p:cNvSpPr txBox="1"/>
          <p:nvPr/>
        </p:nvSpPr>
        <p:spPr>
          <a:xfrm>
            <a:off x="1360038" y="4634940"/>
            <a:ext cx="593432" cy="461665"/>
          </a:xfrm>
          <a:prstGeom prst="rect">
            <a:avLst/>
          </a:prstGeom>
          <a:noFill/>
        </p:spPr>
        <p:txBody>
          <a:bodyPr wrap="none" rtlCol="0">
            <a:spAutoFit/>
          </a:bodyPr>
          <a:lstStyle/>
          <a:p>
            <a:r>
              <a:rPr lang="en-US" altLang="ja-JP" sz="2400" dirty="0"/>
              <a:t>[1]</a:t>
            </a:r>
          </a:p>
        </p:txBody>
      </p:sp>
      <p:sp>
        <p:nvSpPr>
          <p:cNvPr id="16" name="テキスト ボックス 15">
            <a:extLst>
              <a:ext uri="{FF2B5EF4-FFF2-40B4-BE49-F238E27FC236}">
                <a16:creationId xmlns:a16="http://schemas.microsoft.com/office/drawing/2014/main" id="{4640AE95-7DFA-4250-89BF-C188552AC062}"/>
              </a:ext>
            </a:extLst>
          </p:cNvPr>
          <p:cNvSpPr txBox="1"/>
          <p:nvPr/>
        </p:nvSpPr>
        <p:spPr>
          <a:xfrm>
            <a:off x="2086179" y="4634937"/>
            <a:ext cx="593432" cy="461665"/>
          </a:xfrm>
          <a:prstGeom prst="rect">
            <a:avLst/>
          </a:prstGeom>
          <a:noFill/>
        </p:spPr>
        <p:txBody>
          <a:bodyPr wrap="none" rtlCol="0">
            <a:spAutoFit/>
          </a:bodyPr>
          <a:lstStyle/>
          <a:p>
            <a:r>
              <a:rPr lang="en-US" altLang="ja-JP" sz="2400" dirty="0"/>
              <a:t>[2]</a:t>
            </a:r>
          </a:p>
        </p:txBody>
      </p:sp>
      <p:sp>
        <p:nvSpPr>
          <p:cNvPr id="17" name="テキスト ボックス 16">
            <a:extLst>
              <a:ext uri="{FF2B5EF4-FFF2-40B4-BE49-F238E27FC236}">
                <a16:creationId xmlns:a16="http://schemas.microsoft.com/office/drawing/2014/main" id="{952C436B-8EEC-4557-BE6B-93449AD919A9}"/>
              </a:ext>
            </a:extLst>
          </p:cNvPr>
          <p:cNvSpPr txBox="1"/>
          <p:nvPr/>
        </p:nvSpPr>
        <p:spPr>
          <a:xfrm>
            <a:off x="2812320" y="4634938"/>
            <a:ext cx="593432" cy="461665"/>
          </a:xfrm>
          <a:prstGeom prst="rect">
            <a:avLst/>
          </a:prstGeom>
          <a:noFill/>
        </p:spPr>
        <p:txBody>
          <a:bodyPr wrap="none" rtlCol="0">
            <a:spAutoFit/>
          </a:bodyPr>
          <a:lstStyle/>
          <a:p>
            <a:r>
              <a:rPr lang="en-US" altLang="ja-JP" sz="2400" dirty="0"/>
              <a:t>[3]</a:t>
            </a:r>
          </a:p>
        </p:txBody>
      </p:sp>
      <p:pic>
        <p:nvPicPr>
          <p:cNvPr id="3" name="図 2">
            <a:extLst>
              <a:ext uri="{FF2B5EF4-FFF2-40B4-BE49-F238E27FC236}">
                <a16:creationId xmlns:a16="http://schemas.microsoft.com/office/drawing/2014/main" id="{1717772E-BC77-4DCC-9C62-C9192813BA2F}"/>
              </a:ext>
            </a:extLst>
          </p:cNvPr>
          <p:cNvPicPr>
            <a:picLocks noChangeAspect="1"/>
          </p:cNvPicPr>
          <p:nvPr/>
        </p:nvPicPr>
        <p:blipFill>
          <a:blip r:embed="rId2"/>
          <a:stretch>
            <a:fillRect/>
          </a:stretch>
        </p:blipFill>
        <p:spPr>
          <a:xfrm>
            <a:off x="567540" y="1817793"/>
            <a:ext cx="10412295" cy="1266065"/>
          </a:xfrm>
          <a:prstGeom prst="rect">
            <a:avLst/>
          </a:prstGeom>
        </p:spPr>
      </p:pic>
      <p:sp>
        <p:nvSpPr>
          <p:cNvPr id="10" name="正方形/長方形 9">
            <a:extLst>
              <a:ext uri="{FF2B5EF4-FFF2-40B4-BE49-F238E27FC236}">
                <a16:creationId xmlns:a16="http://schemas.microsoft.com/office/drawing/2014/main" id="{8CF9C96C-F2D7-4359-88E3-85DE7E4647DF}"/>
              </a:ext>
            </a:extLst>
          </p:cNvPr>
          <p:cNvSpPr/>
          <p:nvPr/>
        </p:nvSpPr>
        <p:spPr>
          <a:xfrm>
            <a:off x="7422776" y="2375647"/>
            <a:ext cx="2034989" cy="62753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noFill/>
            </a:endParaRPr>
          </a:p>
        </p:txBody>
      </p:sp>
    </p:spTree>
    <p:extLst>
      <p:ext uri="{BB962C8B-B14F-4D97-AF65-F5344CB8AC3E}">
        <p14:creationId xmlns:p14="http://schemas.microsoft.com/office/powerpoint/2010/main" val="33074254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3057247" cy="584775"/>
          </a:xfrm>
          <a:prstGeom prst="rect">
            <a:avLst/>
          </a:prstGeom>
          <a:noFill/>
        </p:spPr>
        <p:txBody>
          <a:bodyPr wrap="none" rtlCol="0">
            <a:spAutoFit/>
          </a:bodyPr>
          <a:lstStyle/>
          <a:p>
            <a:r>
              <a:rPr lang="ja-JP" altLang="en-US" sz="3200" b="1" u="sng" dirty="0"/>
              <a:t>動的配列クラス</a:t>
            </a:r>
            <a:endParaRPr kumimoji="1" lang="ja-JP" altLang="en-US"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10649069" cy="2677656"/>
          </a:xfrm>
          <a:prstGeom prst="rect">
            <a:avLst/>
          </a:prstGeom>
          <a:noFill/>
        </p:spPr>
        <p:txBody>
          <a:bodyPr wrap="none" rtlCol="0">
            <a:spAutoFit/>
          </a:bodyPr>
          <a:lstStyle/>
          <a:p>
            <a:r>
              <a:rPr lang="ja-JP" altLang="en-US" sz="2400" dirty="0"/>
              <a:t>動的配列は必要な分の長さだけで使うことができるので、</a:t>
            </a:r>
            <a:endParaRPr lang="en-US" altLang="ja-JP" sz="2400" dirty="0"/>
          </a:p>
          <a:p>
            <a:r>
              <a:rPr lang="ja-JP" altLang="en-US" sz="2400" dirty="0"/>
              <a:t>あらかじめ適当な数を固定配列で用意するときより、</a:t>
            </a:r>
            <a:endParaRPr lang="en-US" altLang="ja-JP" sz="2400" dirty="0"/>
          </a:p>
          <a:p>
            <a:r>
              <a:rPr lang="ja-JP" altLang="en-US" sz="2400" b="1" dirty="0">
                <a:solidFill>
                  <a:srgbClr val="FF0000"/>
                </a:solidFill>
              </a:rPr>
              <a:t>メモリの使用量を抑える</a:t>
            </a:r>
            <a:r>
              <a:rPr lang="ja-JP" altLang="en-US" sz="2400" dirty="0"/>
              <a:t>ことができます。</a:t>
            </a:r>
            <a:endParaRPr lang="en-US" altLang="ja-JP" sz="2400" dirty="0"/>
          </a:p>
          <a:p>
            <a:endParaRPr lang="en-US" altLang="ja-JP" sz="2400" dirty="0"/>
          </a:p>
          <a:p>
            <a:r>
              <a:rPr lang="ja-JP" altLang="en-US" sz="2400" dirty="0"/>
              <a:t>ただし</a:t>
            </a:r>
            <a:r>
              <a:rPr lang="ja-JP" altLang="en-US" sz="2400" b="1" dirty="0">
                <a:solidFill>
                  <a:srgbClr val="FF0000"/>
                </a:solidFill>
              </a:rPr>
              <a:t>動的配列はクラス</a:t>
            </a:r>
            <a:r>
              <a:rPr lang="ja-JP" altLang="en-US" sz="2400" dirty="0"/>
              <a:t>なので、</a:t>
            </a:r>
            <a:endParaRPr lang="en-US" altLang="ja-JP" sz="2400" dirty="0"/>
          </a:p>
          <a:p>
            <a:r>
              <a:rPr lang="ja-JP" altLang="en-US" sz="2400" dirty="0"/>
              <a:t>ただの</a:t>
            </a:r>
            <a:r>
              <a:rPr lang="ja-JP" altLang="en-US" sz="2400" b="1" dirty="0">
                <a:solidFill>
                  <a:srgbClr val="FF0000"/>
                </a:solidFill>
              </a:rPr>
              <a:t>固定配列よりも処理は重かったり、メモリは多く使ってしまいます。</a:t>
            </a:r>
            <a:endParaRPr lang="en-US" altLang="ja-JP" sz="2400" b="1" dirty="0">
              <a:solidFill>
                <a:srgbClr val="FF0000"/>
              </a:solidFill>
            </a:endParaRPr>
          </a:p>
          <a:p>
            <a:r>
              <a:rPr lang="ja-JP" altLang="en-US" sz="2400" dirty="0"/>
              <a:t>（微々たるものだとは思いますが。。）</a:t>
            </a:r>
            <a:endParaRPr lang="en-US" altLang="ja-JP" sz="2400" dirty="0"/>
          </a:p>
        </p:txBody>
      </p:sp>
    </p:spTree>
    <p:extLst>
      <p:ext uri="{BB962C8B-B14F-4D97-AF65-F5344CB8AC3E}">
        <p14:creationId xmlns:p14="http://schemas.microsoft.com/office/powerpoint/2010/main" val="1431169490"/>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485</TotalTime>
  <Words>304</Words>
  <Application>Microsoft Office PowerPoint</Application>
  <PresentationFormat>ワイド画面</PresentationFormat>
  <Paragraphs>59</Paragraphs>
  <Slides>9</Slides>
  <Notes>0</Notes>
  <HiddenSlides>0</HiddenSlides>
  <MMClips>0</MMClips>
  <ScaleCrop>false</ScaleCrop>
  <HeadingPairs>
    <vt:vector size="6" baseType="variant">
      <vt:variant>
        <vt:lpstr>使用されているフォント</vt:lpstr>
      </vt:variant>
      <vt:variant>
        <vt:i4>3</vt:i4>
      </vt:variant>
      <vt:variant>
        <vt:lpstr>テーマ</vt:lpstr>
      </vt:variant>
      <vt:variant>
        <vt:i4>1</vt:i4>
      </vt:variant>
      <vt:variant>
        <vt:lpstr>スライド タイトル</vt:lpstr>
      </vt:variant>
      <vt:variant>
        <vt:i4>9</vt:i4>
      </vt:variant>
    </vt:vector>
  </HeadingPairs>
  <TitlesOfParts>
    <vt:vector size="13" baseType="lpstr">
      <vt:lpstr>游ゴシック</vt:lpstr>
      <vt:lpstr>游ゴシック Light</vt:lpstr>
      <vt:lpstr>Arial</vt:lpstr>
      <vt:lpstr>Office テーマ</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北九州校　ゲーム</dc:creator>
  <cp:lastModifiedBy>北九州校　ゲーム</cp:lastModifiedBy>
  <cp:revision>61</cp:revision>
  <dcterms:created xsi:type="dcterms:W3CDTF">2024-08-27T02:15:54Z</dcterms:created>
  <dcterms:modified xsi:type="dcterms:W3CDTF">2025-03-03T00:41:31Z</dcterms:modified>
</cp:coreProperties>
</file>