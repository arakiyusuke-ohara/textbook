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2" r:id="rId9"/>
    <p:sldId id="263" r:id="rId10"/>
    <p:sldId id="265" r:id="rId11"/>
    <p:sldId id="264"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2025/2/7</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56298" cy="830997"/>
          </a:xfrm>
          <a:prstGeom prst="rect">
            <a:avLst/>
          </a:prstGeom>
          <a:noFill/>
        </p:spPr>
        <p:txBody>
          <a:bodyPr wrap="none" rtlCol="0">
            <a:spAutoFit/>
          </a:bodyPr>
          <a:lstStyle/>
          <a:p>
            <a:r>
              <a:rPr kumimoji="1" lang="ja-JP" altLang="en-US" sz="2400" dirty="0"/>
              <a:t>まずはクラスの基本的な使い方を学習しましょう。</a:t>
            </a:r>
            <a:endParaRPr kumimoji="1" lang="en-US" altLang="ja-JP" sz="2400" dirty="0"/>
          </a:p>
          <a:p>
            <a:r>
              <a:rPr lang="ja-JP" altLang="en-US" sz="2400" dirty="0"/>
              <a:t>プロジェクトに</a:t>
            </a:r>
            <a:r>
              <a:rPr lang="en-US" altLang="ja-JP" sz="2400" b="1" dirty="0">
                <a:solidFill>
                  <a:srgbClr val="FF0000"/>
                </a:solidFill>
              </a:rPr>
              <a:t>Main.cpp</a:t>
            </a:r>
            <a:r>
              <a:rPr lang="ja-JP" altLang="en-US" sz="2400" dirty="0"/>
              <a:t>と</a:t>
            </a:r>
            <a:r>
              <a:rPr lang="en-US" altLang="ja-JP" sz="2400" b="1" dirty="0">
                <a:solidFill>
                  <a:srgbClr val="FF0000"/>
                </a:solidFill>
              </a:rPr>
              <a:t>Orange.cpp/.h</a:t>
            </a:r>
            <a:r>
              <a:rPr lang="ja-JP" altLang="en-US" sz="2400" dirty="0"/>
              <a:t>を追加しましょう。</a:t>
            </a:r>
            <a:endParaRPr kumimoji="1" lang="en-US" altLang="ja-JP" sz="2400" dirty="0"/>
          </a:p>
        </p:txBody>
      </p:sp>
      <p:pic>
        <p:nvPicPr>
          <p:cNvPr id="3" name="図 2">
            <a:extLst>
              <a:ext uri="{FF2B5EF4-FFF2-40B4-BE49-F238E27FC236}">
                <a16:creationId xmlns:a16="http://schemas.microsoft.com/office/drawing/2014/main" id="{5D325048-582A-4499-9AB0-721CA4230C10}"/>
              </a:ext>
            </a:extLst>
          </p:cNvPr>
          <p:cNvPicPr>
            <a:picLocks noChangeAspect="1"/>
          </p:cNvPicPr>
          <p:nvPr/>
        </p:nvPicPr>
        <p:blipFill>
          <a:blip r:embed="rId2"/>
          <a:stretch>
            <a:fillRect/>
          </a:stretch>
        </p:blipFill>
        <p:spPr>
          <a:xfrm>
            <a:off x="567542" y="2187126"/>
            <a:ext cx="4207658" cy="4191158"/>
          </a:xfrm>
          <a:prstGeom prst="rect">
            <a:avLst/>
          </a:prstGeom>
        </p:spPr>
      </p:pic>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395481" cy="461665"/>
          </a:xfrm>
          <a:prstGeom prst="rect">
            <a:avLst/>
          </a:prstGeom>
          <a:noFill/>
        </p:spPr>
        <p:txBody>
          <a:bodyPr wrap="none" rtlCol="0">
            <a:spAutoFit/>
          </a:bodyPr>
          <a:lstStyle/>
          <a:p>
            <a:r>
              <a:rPr kumimoji="1" lang="en-US" altLang="ja-JP" sz="2400" b="1" dirty="0" err="1">
                <a:solidFill>
                  <a:srgbClr val="FF0000"/>
                </a:solidFill>
              </a:rPr>
              <a:t>Orange.h</a:t>
            </a:r>
            <a:r>
              <a:rPr kumimoji="1" lang="ja-JP" altLang="en-US" sz="2400" dirty="0"/>
              <a:t>を書きます。</a:t>
            </a:r>
            <a:endParaRPr kumimoji="1" lang="en-US" altLang="ja-JP" sz="2400" dirty="0"/>
          </a:p>
        </p:txBody>
      </p:sp>
      <p:pic>
        <p:nvPicPr>
          <p:cNvPr id="5" name="図 4">
            <a:extLst>
              <a:ext uri="{FF2B5EF4-FFF2-40B4-BE49-F238E27FC236}">
                <a16:creationId xmlns:a16="http://schemas.microsoft.com/office/drawing/2014/main" id="{DF188504-2F55-4C25-96A9-870DC687FC0D}"/>
              </a:ext>
            </a:extLst>
          </p:cNvPr>
          <p:cNvPicPr>
            <a:picLocks noChangeAspect="1"/>
          </p:cNvPicPr>
          <p:nvPr/>
        </p:nvPicPr>
        <p:blipFill>
          <a:blip r:embed="rId2"/>
          <a:stretch>
            <a:fillRect/>
          </a:stretch>
        </p:blipFill>
        <p:spPr>
          <a:xfrm>
            <a:off x="567542" y="1817794"/>
            <a:ext cx="6829144" cy="4303606"/>
          </a:xfrm>
          <a:prstGeom prst="rect">
            <a:avLst/>
          </a:prstGeom>
        </p:spPr>
      </p:pic>
    </p:spTree>
    <p:extLst>
      <p:ext uri="{BB962C8B-B14F-4D97-AF65-F5344CB8AC3E}">
        <p14:creationId xmlns:p14="http://schemas.microsoft.com/office/powerpoint/2010/main" val="485961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752950" cy="461665"/>
          </a:xfrm>
          <a:prstGeom prst="rect">
            <a:avLst/>
          </a:prstGeom>
          <a:noFill/>
        </p:spPr>
        <p:txBody>
          <a:bodyPr wrap="none" rtlCol="0">
            <a:spAutoFit/>
          </a:bodyPr>
          <a:lstStyle/>
          <a:p>
            <a:r>
              <a:rPr kumimoji="1" lang="en-US" altLang="ja-JP" sz="2400" b="1" dirty="0">
                <a:solidFill>
                  <a:srgbClr val="FF0000"/>
                </a:solidFill>
              </a:rPr>
              <a:t>Orange.cpp</a:t>
            </a:r>
            <a:r>
              <a:rPr kumimoji="1" lang="ja-JP" altLang="en-US" sz="2400" dirty="0"/>
              <a:t>を書きます。</a:t>
            </a:r>
            <a:endParaRPr kumimoji="1" lang="en-US" altLang="ja-JP" sz="2400" dirty="0"/>
          </a:p>
        </p:txBody>
      </p:sp>
      <p:pic>
        <p:nvPicPr>
          <p:cNvPr id="3" name="図 2">
            <a:extLst>
              <a:ext uri="{FF2B5EF4-FFF2-40B4-BE49-F238E27FC236}">
                <a16:creationId xmlns:a16="http://schemas.microsoft.com/office/drawing/2014/main" id="{8E41EB1B-7D9B-4D94-BE35-5BEC2A206FAC}"/>
              </a:ext>
            </a:extLst>
          </p:cNvPr>
          <p:cNvPicPr>
            <a:picLocks noChangeAspect="1"/>
          </p:cNvPicPr>
          <p:nvPr/>
        </p:nvPicPr>
        <p:blipFill>
          <a:blip r:embed="rId2"/>
          <a:stretch>
            <a:fillRect/>
          </a:stretch>
        </p:blipFill>
        <p:spPr>
          <a:xfrm>
            <a:off x="567542" y="1817794"/>
            <a:ext cx="5088191" cy="4398267"/>
          </a:xfrm>
          <a:prstGeom prst="rect">
            <a:avLst/>
          </a:prstGeom>
        </p:spPr>
      </p:pic>
    </p:spTree>
    <p:extLst>
      <p:ext uri="{BB962C8B-B14F-4D97-AF65-F5344CB8AC3E}">
        <p14:creationId xmlns:p14="http://schemas.microsoft.com/office/powerpoint/2010/main" val="593577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417923" cy="461665"/>
          </a:xfrm>
          <a:prstGeom prst="rect">
            <a:avLst/>
          </a:prstGeom>
          <a:noFill/>
        </p:spPr>
        <p:txBody>
          <a:bodyPr wrap="none" rtlCol="0">
            <a:spAutoFit/>
          </a:bodyPr>
          <a:lstStyle/>
          <a:p>
            <a:r>
              <a:rPr kumimoji="1" lang="en-US" altLang="ja-JP" sz="2400" b="1" dirty="0">
                <a:solidFill>
                  <a:srgbClr val="FF0000"/>
                </a:solidFill>
              </a:rPr>
              <a:t>Main.cpp</a:t>
            </a:r>
            <a:r>
              <a:rPr kumimoji="1" lang="ja-JP" altLang="en-US" sz="2400" dirty="0"/>
              <a:t>を書きます。</a:t>
            </a:r>
            <a:endParaRPr kumimoji="1" lang="en-US" altLang="ja-JP" sz="2400" dirty="0"/>
          </a:p>
        </p:txBody>
      </p:sp>
      <p:pic>
        <p:nvPicPr>
          <p:cNvPr id="5" name="図 4">
            <a:extLst>
              <a:ext uri="{FF2B5EF4-FFF2-40B4-BE49-F238E27FC236}">
                <a16:creationId xmlns:a16="http://schemas.microsoft.com/office/drawing/2014/main" id="{DCBABFD7-8A26-445A-B639-E58EB69FB717}"/>
              </a:ext>
            </a:extLst>
          </p:cNvPr>
          <p:cNvPicPr>
            <a:picLocks noChangeAspect="1"/>
          </p:cNvPicPr>
          <p:nvPr/>
        </p:nvPicPr>
        <p:blipFill>
          <a:blip r:embed="rId2"/>
          <a:stretch>
            <a:fillRect/>
          </a:stretch>
        </p:blipFill>
        <p:spPr>
          <a:xfrm>
            <a:off x="567543" y="1817794"/>
            <a:ext cx="6239658" cy="4648504"/>
          </a:xfrm>
          <a:prstGeom prst="rect">
            <a:avLst/>
          </a:prstGeom>
        </p:spPr>
      </p:pic>
    </p:spTree>
    <p:extLst>
      <p:ext uri="{BB962C8B-B14F-4D97-AF65-F5344CB8AC3E}">
        <p14:creationId xmlns:p14="http://schemas.microsoft.com/office/powerpoint/2010/main" val="2416512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461665"/>
          </a:xfrm>
          <a:prstGeom prst="rect">
            <a:avLst/>
          </a:prstGeom>
          <a:noFill/>
        </p:spPr>
        <p:txBody>
          <a:bodyPr wrap="none" rtlCol="0">
            <a:spAutoFit/>
          </a:bodyPr>
          <a:lstStyle/>
          <a:p>
            <a:r>
              <a:rPr kumimoji="1" lang="ja-JP" altLang="en-US" sz="2400" b="1" dirty="0">
                <a:solidFill>
                  <a:srgbClr val="FF0000"/>
                </a:solidFill>
              </a:rPr>
              <a:t>今回のメンバ関数（オブジェクトの機能）です。</a:t>
            </a:r>
            <a:endParaRPr kumimoji="1" lang="en-US" altLang="ja-JP" sz="2400" dirty="0"/>
          </a:p>
        </p:txBody>
      </p:sp>
      <p:pic>
        <p:nvPicPr>
          <p:cNvPr id="7" name="図 6">
            <a:extLst>
              <a:ext uri="{FF2B5EF4-FFF2-40B4-BE49-F238E27FC236}">
                <a16:creationId xmlns:a16="http://schemas.microsoft.com/office/drawing/2014/main" id="{2A0A210F-D2F7-4A97-A562-3EB8632C41E2}"/>
              </a:ext>
            </a:extLst>
          </p:cNvPr>
          <p:cNvPicPr>
            <a:picLocks noChangeAspect="1"/>
          </p:cNvPicPr>
          <p:nvPr/>
        </p:nvPicPr>
        <p:blipFill>
          <a:blip r:embed="rId2"/>
          <a:stretch>
            <a:fillRect/>
          </a:stretch>
        </p:blipFill>
        <p:spPr>
          <a:xfrm>
            <a:off x="567542" y="1817794"/>
            <a:ext cx="5868219" cy="3781953"/>
          </a:xfrm>
          <a:prstGeom prst="rect">
            <a:avLst/>
          </a:prstGeom>
        </p:spPr>
      </p:pic>
      <p:sp>
        <p:nvSpPr>
          <p:cNvPr id="8" name="正方形/長方形 7">
            <a:extLst>
              <a:ext uri="{FF2B5EF4-FFF2-40B4-BE49-F238E27FC236}">
                <a16:creationId xmlns:a16="http://schemas.microsoft.com/office/drawing/2014/main" id="{9EF718C7-9320-4CDD-9D08-61BD18F0B301}"/>
              </a:ext>
            </a:extLst>
          </p:cNvPr>
          <p:cNvSpPr/>
          <p:nvPr/>
        </p:nvSpPr>
        <p:spPr>
          <a:xfrm>
            <a:off x="1619247" y="3031066"/>
            <a:ext cx="5413372" cy="157480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86381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461665"/>
          </a:xfrm>
          <a:prstGeom prst="rect">
            <a:avLst/>
          </a:prstGeom>
          <a:noFill/>
        </p:spPr>
        <p:txBody>
          <a:bodyPr wrap="none" rtlCol="0">
            <a:spAutoFit/>
          </a:bodyPr>
          <a:lstStyle/>
          <a:p>
            <a:r>
              <a:rPr kumimoji="1" lang="ja-JP" altLang="en-US" sz="2400" b="1" dirty="0">
                <a:solidFill>
                  <a:srgbClr val="FF0000"/>
                </a:solidFill>
              </a:rPr>
              <a:t>今回のメンバ変数（オブジェクトのデータ）です。</a:t>
            </a:r>
            <a:endParaRPr kumimoji="1" lang="en-US" altLang="ja-JP" sz="2400" dirty="0"/>
          </a:p>
        </p:txBody>
      </p:sp>
      <p:pic>
        <p:nvPicPr>
          <p:cNvPr id="5" name="図 4">
            <a:extLst>
              <a:ext uri="{FF2B5EF4-FFF2-40B4-BE49-F238E27FC236}">
                <a16:creationId xmlns:a16="http://schemas.microsoft.com/office/drawing/2014/main" id="{DF188504-2F55-4C25-96A9-870DC687FC0D}"/>
              </a:ext>
            </a:extLst>
          </p:cNvPr>
          <p:cNvPicPr>
            <a:picLocks noChangeAspect="1"/>
          </p:cNvPicPr>
          <p:nvPr/>
        </p:nvPicPr>
        <p:blipFill>
          <a:blip r:embed="rId2"/>
          <a:stretch>
            <a:fillRect/>
          </a:stretch>
        </p:blipFill>
        <p:spPr>
          <a:xfrm>
            <a:off x="567542" y="1817794"/>
            <a:ext cx="6829144" cy="4303606"/>
          </a:xfrm>
          <a:prstGeom prst="rect">
            <a:avLst/>
          </a:prstGeom>
        </p:spPr>
      </p:pic>
      <p:sp>
        <p:nvSpPr>
          <p:cNvPr id="2" name="正方形/長方形 1">
            <a:extLst>
              <a:ext uri="{FF2B5EF4-FFF2-40B4-BE49-F238E27FC236}">
                <a16:creationId xmlns:a16="http://schemas.microsoft.com/office/drawing/2014/main" id="{0247B5A7-FD77-46CF-AAB3-210FA98E243E}"/>
              </a:ext>
            </a:extLst>
          </p:cNvPr>
          <p:cNvSpPr/>
          <p:nvPr/>
        </p:nvSpPr>
        <p:spPr>
          <a:xfrm>
            <a:off x="1983314" y="5562600"/>
            <a:ext cx="4976286" cy="36406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6507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209846" cy="461665"/>
          </a:xfrm>
          <a:prstGeom prst="rect">
            <a:avLst/>
          </a:prstGeom>
          <a:noFill/>
        </p:spPr>
        <p:txBody>
          <a:bodyPr wrap="none" rtlCol="0">
            <a:spAutoFit/>
          </a:bodyPr>
          <a:lstStyle/>
          <a:p>
            <a:r>
              <a:rPr kumimoji="1" lang="ja-JP" altLang="en-US" sz="2400" dirty="0"/>
              <a:t>メンバ関数の定義には</a:t>
            </a:r>
            <a:r>
              <a:rPr kumimoji="1" lang="ja-JP" altLang="en-US" sz="2400" b="1" dirty="0">
                <a:solidFill>
                  <a:srgbClr val="FF0000"/>
                </a:solidFill>
              </a:rPr>
              <a:t>クラス名のスコープ解決演算子（</a:t>
            </a:r>
            <a:r>
              <a:rPr kumimoji="1" lang="en-US" altLang="ja-JP" sz="2400" b="1" dirty="0">
                <a:solidFill>
                  <a:srgbClr val="FF0000"/>
                </a:solidFill>
              </a:rPr>
              <a:t>::</a:t>
            </a:r>
            <a:r>
              <a:rPr kumimoji="1" lang="ja-JP" altLang="en-US" sz="2400" b="1" dirty="0">
                <a:solidFill>
                  <a:srgbClr val="FF0000"/>
                </a:solidFill>
              </a:rPr>
              <a:t>）</a:t>
            </a:r>
            <a:r>
              <a:rPr kumimoji="1" lang="ja-JP" altLang="en-US" sz="2400" dirty="0"/>
              <a:t>が必要です。</a:t>
            </a:r>
            <a:endParaRPr kumimoji="1" lang="en-US" altLang="ja-JP" sz="2400" dirty="0"/>
          </a:p>
        </p:txBody>
      </p:sp>
      <p:pic>
        <p:nvPicPr>
          <p:cNvPr id="3" name="図 2">
            <a:extLst>
              <a:ext uri="{FF2B5EF4-FFF2-40B4-BE49-F238E27FC236}">
                <a16:creationId xmlns:a16="http://schemas.microsoft.com/office/drawing/2014/main" id="{8E41EB1B-7D9B-4D94-BE35-5BEC2A206FAC}"/>
              </a:ext>
            </a:extLst>
          </p:cNvPr>
          <p:cNvPicPr>
            <a:picLocks noChangeAspect="1"/>
          </p:cNvPicPr>
          <p:nvPr/>
        </p:nvPicPr>
        <p:blipFill>
          <a:blip r:embed="rId2"/>
          <a:stretch>
            <a:fillRect/>
          </a:stretch>
        </p:blipFill>
        <p:spPr>
          <a:xfrm>
            <a:off x="567542" y="1817794"/>
            <a:ext cx="5088191" cy="4398267"/>
          </a:xfrm>
          <a:prstGeom prst="rect">
            <a:avLst/>
          </a:prstGeom>
        </p:spPr>
      </p:pic>
    </p:spTree>
    <p:extLst>
      <p:ext uri="{BB962C8B-B14F-4D97-AF65-F5344CB8AC3E}">
        <p14:creationId xmlns:p14="http://schemas.microsoft.com/office/powerpoint/2010/main" val="1477307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kumimoji="1" lang="ja-JP" altLang="en-US" sz="2400" b="1" dirty="0">
                <a:solidFill>
                  <a:srgbClr val="FF0000"/>
                </a:solidFill>
              </a:rPr>
              <a:t>クラスの使い方</a:t>
            </a:r>
            <a:r>
              <a:rPr kumimoji="1" lang="ja-JP" altLang="en-US" sz="2400" dirty="0"/>
              <a:t>は</a:t>
            </a:r>
            <a:r>
              <a:rPr kumimoji="1" lang="en-US" altLang="ja-JP" sz="2400" b="1" dirty="0">
                <a:solidFill>
                  <a:srgbClr val="FF0000"/>
                </a:solidFill>
              </a:rPr>
              <a:t>C</a:t>
            </a:r>
            <a:r>
              <a:rPr kumimoji="1" lang="ja-JP" altLang="en-US" sz="2400" b="1" dirty="0">
                <a:solidFill>
                  <a:srgbClr val="FF0000"/>
                </a:solidFill>
              </a:rPr>
              <a:t>言語の構造体と同じ</a:t>
            </a:r>
            <a:r>
              <a:rPr kumimoji="1" lang="ja-JP" altLang="en-US" sz="2400" dirty="0"/>
              <a:t>です。</a:t>
            </a:r>
            <a:endParaRPr kumimoji="1" lang="en-US" altLang="ja-JP" sz="2400" dirty="0"/>
          </a:p>
          <a:p>
            <a:r>
              <a:rPr lang="ja-JP" altLang="en-US" sz="2400" dirty="0"/>
              <a:t>変数として宣言して、ドット記号でメンバにアクセスします。</a:t>
            </a:r>
            <a:endParaRPr kumimoji="1" lang="en-US" altLang="ja-JP" sz="2400" dirty="0"/>
          </a:p>
        </p:txBody>
      </p:sp>
      <p:pic>
        <p:nvPicPr>
          <p:cNvPr id="7" name="図 6">
            <a:extLst>
              <a:ext uri="{FF2B5EF4-FFF2-40B4-BE49-F238E27FC236}">
                <a16:creationId xmlns:a16="http://schemas.microsoft.com/office/drawing/2014/main" id="{3AF69879-AD36-4E16-AA38-529825BE204A}"/>
              </a:ext>
            </a:extLst>
          </p:cNvPr>
          <p:cNvPicPr>
            <a:picLocks noChangeAspect="1"/>
          </p:cNvPicPr>
          <p:nvPr/>
        </p:nvPicPr>
        <p:blipFill>
          <a:blip r:embed="rId2"/>
          <a:stretch>
            <a:fillRect/>
          </a:stretch>
        </p:blipFill>
        <p:spPr>
          <a:xfrm>
            <a:off x="567542" y="2200103"/>
            <a:ext cx="3528189" cy="2050163"/>
          </a:xfrm>
          <a:prstGeom prst="rect">
            <a:avLst/>
          </a:prstGeom>
        </p:spPr>
      </p:pic>
      <p:sp>
        <p:nvSpPr>
          <p:cNvPr id="8" name="テキスト ボックス 7">
            <a:extLst>
              <a:ext uri="{FF2B5EF4-FFF2-40B4-BE49-F238E27FC236}">
                <a16:creationId xmlns:a16="http://schemas.microsoft.com/office/drawing/2014/main" id="{DDE09DBD-4FF6-459B-8FFF-22E3D4B70C2A}"/>
              </a:ext>
            </a:extLst>
          </p:cNvPr>
          <p:cNvSpPr txBox="1"/>
          <p:nvPr/>
        </p:nvSpPr>
        <p:spPr>
          <a:xfrm>
            <a:off x="567542" y="4395076"/>
            <a:ext cx="10320454" cy="461665"/>
          </a:xfrm>
          <a:prstGeom prst="rect">
            <a:avLst/>
          </a:prstGeom>
          <a:noFill/>
        </p:spPr>
        <p:txBody>
          <a:bodyPr wrap="none" rtlCol="0">
            <a:spAutoFit/>
          </a:bodyPr>
          <a:lstStyle/>
          <a:p>
            <a:r>
              <a:rPr kumimoji="1" lang="ja-JP" altLang="en-US" sz="2400" dirty="0"/>
              <a:t>もしクラスの</a:t>
            </a:r>
            <a:r>
              <a:rPr kumimoji="1" lang="ja-JP" altLang="en-US" sz="2400" b="1" dirty="0">
                <a:solidFill>
                  <a:srgbClr val="FF0000"/>
                </a:solidFill>
              </a:rPr>
              <a:t>ポインタ型</a:t>
            </a:r>
            <a:r>
              <a:rPr kumimoji="1" lang="ja-JP" altLang="en-US" sz="2400" dirty="0"/>
              <a:t>であれば</a:t>
            </a:r>
            <a:r>
              <a:rPr kumimoji="1" lang="ja-JP" altLang="en-US" sz="2400" b="1" dirty="0">
                <a:solidFill>
                  <a:srgbClr val="FF0000"/>
                </a:solidFill>
              </a:rPr>
              <a:t>アロー演算子</a:t>
            </a:r>
            <a:r>
              <a:rPr kumimoji="1" lang="en-US" altLang="ja-JP" sz="2400" b="1" dirty="0">
                <a:solidFill>
                  <a:srgbClr val="FF0000"/>
                </a:solidFill>
              </a:rPr>
              <a:t>(-&gt;)</a:t>
            </a:r>
            <a:r>
              <a:rPr kumimoji="1" lang="ja-JP" altLang="en-US" sz="2400" dirty="0"/>
              <a:t>になるのも同じです。</a:t>
            </a:r>
            <a:endParaRPr kumimoji="1" lang="en-US" altLang="ja-JP" sz="2400" dirty="0"/>
          </a:p>
        </p:txBody>
      </p:sp>
    </p:spTree>
    <p:extLst>
      <p:ext uri="{BB962C8B-B14F-4D97-AF65-F5344CB8AC3E}">
        <p14:creationId xmlns:p14="http://schemas.microsoft.com/office/powerpoint/2010/main" val="3642593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40197" cy="461665"/>
          </a:xfrm>
          <a:prstGeom prst="rect">
            <a:avLst/>
          </a:prstGeom>
          <a:noFill/>
        </p:spPr>
        <p:txBody>
          <a:bodyPr wrap="none" rtlCol="0">
            <a:spAutoFit/>
          </a:bodyPr>
          <a:lstStyle/>
          <a:p>
            <a:r>
              <a:rPr kumimoji="1" lang="ja-JP" altLang="en-US" sz="2400" dirty="0"/>
              <a:t>実行すると箱の中身の個数が表示されます。</a:t>
            </a:r>
            <a:endParaRPr kumimoji="1" lang="en-US" altLang="ja-JP" sz="2400" dirty="0"/>
          </a:p>
        </p:txBody>
      </p:sp>
      <p:pic>
        <p:nvPicPr>
          <p:cNvPr id="3" name="図 2">
            <a:extLst>
              <a:ext uri="{FF2B5EF4-FFF2-40B4-BE49-F238E27FC236}">
                <a16:creationId xmlns:a16="http://schemas.microsoft.com/office/drawing/2014/main" id="{BC0B25AA-EF2A-4D3C-888F-91ED396DFC5C}"/>
              </a:ext>
            </a:extLst>
          </p:cNvPr>
          <p:cNvPicPr>
            <a:picLocks noChangeAspect="1"/>
          </p:cNvPicPr>
          <p:nvPr/>
        </p:nvPicPr>
        <p:blipFill>
          <a:blip r:embed="rId2"/>
          <a:stretch>
            <a:fillRect/>
          </a:stretch>
        </p:blipFill>
        <p:spPr>
          <a:xfrm>
            <a:off x="567542" y="1817794"/>
            <a:ext cx="6310718" cy="2440939"/>
          </a:xfrm>
          <a:prstGeom prst="rect">
            <a:avLst/>
          </a:prstGeom>
        </p:spPr>
      </p:pic>
    </p:spTree>
    <p:extLst>
      <p:ext uri="{BB962C8B-B14F-4D97-AF65-F5344CB8AC3E}">
        <p14:creationId xmlns:p14="http://schemas.microsoft.com/office/powerpoint/2010/main" val="2571820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クラス</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61665"/>
          </a:xfrm>
          <a:prstGeom prst="rect">
            <a:avLst/>
          </a:prstGeom>
          <a:noFill/>
        </p:spPr>
        <p:txBody>
          <a:bodyPr wrap="none" rtlCol="0">
            <a:spAutoFit/>
          </a:bodyPr>
          <a:lstStyle/>
          <a:p>
            <a:r>
              <a:rPr kumimoji="1" lang="ja-JP" altLang="en-US" sz="2400" dirty="0"/>
              <a:t>クラスも変数ですので複数宣言した場合はそれぞれで制御されます。</a:t>
            </a:r>
            <a:endParaRPr kumimoji="1" lang="en-US" altLang="ja-JP" sz="2400" dirty="0"/>
          </a:p>
        </p:txBody>
      </p:sp>
      <p:pic>
        <p:nvPicPr>
          <p:cNvPr id="10" name="図 9">
            <a:extLst>
              <a:ext uri="{FF2B5EF4-FFF2-40B4-BE49-F238E27FC236}">
                <a16:creationId xmlns:a16="http://schemas.microsoft.com/office/drawing/2014/main" id="{ECC2CEB3-27DE-45FC-94A4-376D290FD371}"/>
              </a:ext>
            </a:extLst>
          </p:cNvPr>
          <p:cNvPicPr>
            <a:picLocks noChangeAspect="1"/>
          </p:cNvPicPr>
          <p:nvPr/>
        </p:nvPicPr>
        <p:blipFill>
          <a:blip r:embed="rId2"/>
          <a:stretch>
            <a:fillRect/>
          </a:stretch>
        </p:blipFill>
        <p:spPr>
          <a:xfrm>
            <a:off x="567543" y="1817794"/>
            <a:ext cx="6185200" cy="4481406"/>
          </a:xfrm>
          <a:prstGeom prst="rect">
            <a:avLst/>
          </a:prstGeom>
        </p:spPr>
      </p:pic>
      <p:pic>
        <p:nvPicPr>
          <p:cNvPr id="12" name="図 11">
            <a:extLst>
              <a:ext uri="{FF2B5EF4-FFF2-40B4-BE49-F238E27FC236}">
                <a16:creationId xmlns:a16="http://schemas.microsoft.com/office/drawing/2014/main" id="{B509D7EC-7341-4664-B557-6E51CB6C7595}"/>
              </a:ext>
            </a:extLst>
          </p:cNvPr>
          <p:cNvPicPr>
            <a:picLocks noChangeAspect="1"/>
          </p:cNvPicPr>
          <p:nvPr/>
        </p:nvPicPr>
        <p:blipFill>
          <a:blip r:embed="rId3"/>
          <a:stretch>
            <a:fillRect/>
          </a:stretch>
        </p:blipFill>
        <p:spPr>
          <a:xfrm>
            <a:off x="6940911" y="1817793"/>
            <a:ext cx="4443858" cy="2584873"/>
          </a:xfrm>
          <a:prstGeom prst="rect">
            <a:avLst/>
          </a:prstGeom>
        </p:spPr>
      </p:pic>
    </p:spTree>
    <p:extLst>
      <p:ext uri="{BB962C8B-B14F-4D97-AF65-F5344CB8AC3E}">
        <p14:creationId xmlns:p14="http://schemas.microsoft.com/office/powerpoint/2010/main" val="355474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05403" cy="584775"/>
          </a:xfrm>
          <a:prstGeom prst="rect">
            <a:avLst/>
          </a:prstGeom>
          <a:noFill/>
        </p:spPr>
        <p:txBody>
          <a:bodyPr wrap="none" rtlCol="0">
            <a:spAutoFit/>
          </a:bodyPr>
          <a:lstStyle/>
          <a:p>
            <a:r>
              <a:rPr kumimoji="1" lang="ja-JP" altLang="en-US" sz="3200" b="1" u="sng" dirty="0"/>
              <a:t>補足</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305753" cy="1938992"/>
          </a:xfrm>
          <a:prstGeom prst="rect">
            <a:avLst/>
          </a:prstGeom>
          <a:noFill/>
        </p:spPr>
        <p:txBody>
          <a:bodyPr wrap="none" rtlCol="0">
            <a:spAutoFit/>
          </a:bodyPr>
          <a:lstStyle/>
          <a:p>
            <a:r>
              <a:rPr kumimoji="1" lang="en-US" altLang="ja-JP" sz="2400" dirty="0"/>
              <a:t>C++</a:t>
            </a:r>
            <a:r>
              <a:rPr kumimoji="1" lang="ja-JP" altLang="en-US" sz="2400" dirty="0"/>
              <a:t>は</a:t>
            </a:r>
            <a:r>
              <a:rPr kumimoji="1" lang="en-US" altLang="ja-JP" sz="2400" b="1" dirty="0" err="1">
                <a:solidFill>
                  <a:srgbClr val="FF0000"/>
                </a:solidFill>
              </a:rPr>
              <a:t>cout</a:t>
            </a:r>
            <a:r>
              <a:rPr kumimoji="1" lang="ja-JP" altLang="en-US" sz="2400" dirty="0"/>
              <a:t>でコンソールに文字を出力します。</a:t>
            </a:r>
            <a:endParaRPr kumimoji="1" lang="en-US" altLang="ja-JP" sz="2400" dirty="0"/>
          </a:p>
          <a:p>
            <a:r>
              <a:rPr lang="en-US" altLang="ja-JP" sz="2400" b="1" dirty="0" err="1">
                <a:solidFill>
                  <a:srgbClr val="FF0000"/>
                </a:solidFill>
              </a:rPr>
              <a:t>cout</a:t>
            </a:r>
            <a:r>
              <a:rPr lang="ja-JP" altLang="en-US" sz="2400" b="1" dirty="0">
                <a:solidFill>
                  <a:srgbClr val="FF0000"/>
                </a:solidFill>
              </a:rPr>
              <a:t>と「</a:t>
            </a:r>
            <a:r>
              <a:rPr lang="en-US" altLang="ja-JP" sz="2400" b="1" dirty="0">
                <a:solidFill>
                  <a:srgbClr val="FF0000"/>
                </a:solidFill>
              </a:rPr>
              <a:t>&lt;&lt;</a:t>
            </a:r>
            <a:r>
              <a:rPr lang="ja-JP" altLang="en-US" sz="2400" b="1" dirty="0">
                <a:solidFill>
                  <a:srgbClr val="FF0000"/>
                </a:solidFill>
              </a:rPr>
              <a:t>」で簡単に文字を連結</a:t>
            </a:r>
            <a:r>
              <a:rPr lang="ja-JP" altLang="en-US" sz="2400" dirty="0"/>
              <a:t>させることができて便利です。</a:t>
            </a:r>
            <a:endParaRPr lang="en-US" altLang="ja-JP" sz="2400" dirty="0"/>
          </a:p>
          <a:p>
            <a:r>
              <a:rPr lang="ja-JP" altLang="en-US" sz="2400" dirty="0"/>
              <a:t>また末尾には</a:t>
            </a:r>
            <a:r>
              <a:rPr lang="en-US" altLang="ja-JP" sz="2400" b="1" dirty="0" err="1">
                <a:solidFill>
                  <a:srgbClr val="FF0000"/>
                </a:solidFill>
              </a:rPr>
              <a:t>endl</a:t>
            </a:r>
            <a:r>
              <a:rPr lang="ja-JP" altLang="en-US" sz="2400" b="1" dirty="0">
                <a:solidFill>
                  <a:srgbClr val="FF0000"/>
                </a:solidFill>
              </a:rPr>
              <a:t>（</a:t>
            </a:r>
            <a:r>
              <a:rPr lang="en-US" altLang="ja-JP" sz="2400" b="1" dirty="0">
                <a:solidFill>
                  <a:srgbClr val="FF0000"/>
                </a:solidFill>
              </a:rPr>
              <a:t>1</a:t>
            </a:r>
            <a:r>
              <a:rPr lang="ja-JP" altLang="en-US" sz="2400" b="1" dirty="0">
                <a:solidFill>
                  <a:srgbClr val="FF0000"/>
                </a:solidFill>
              </a:rPr>
              <a:t>行終了）</a:t>
            </a:r>
            <a:r>
              <a:rPr lang="ja-JP" altLang="en-US" sz="2400" dirty="0"/>
              <a:t>をつけてあげましょう。</a:t>
            </a:r>
            <a:endParaRPr lang="en-US" altLang="ja-JP" sz="2400" dirty="0"/>
          </a:p>
          <a:p>
            <a:endParaRPr kumimoji="1" lang="en-US" altLang="ja-JP" sz="2400" dirty="0"/>
          </a:p>
          <a:p>
            <a:r>
              <a:rPr kumimoji="1" lang="en-US" altLang="ja-JP" sz="2400" dirty="0"/>
              <a:t>※</a:t>
            </a:r>
            <a:r>
              <a:rPr kumimoji="1" lang="ja-JP" altLang="en-US" sz="2400" dirty="0"/>
              <a:t>使用する場合は</a:t>
            </a:r>
            <a:r>
              <a:rPr kumimoji="1" lang="en-US" altLang="ja-JP" sz="2400" b="1" dirty="0">
                <a:solidFill>
                  <a:srgbClr val="FF0000"/>
                </a:solidFill>
              </a:rPr>
              <a:t>iostream</a:t>
            </a:r>
            <a:r>
              <a:rPr kumimoji="1" lang="ja-JP" altLang="en-US" sz="2400" dirty="0"/>
              <a:t>をインクルードしましょう。</a:t>
            </a:r>
            <a:endParaRPr kumimoji="1" lang="en-US" altLang="ja-JP" sz="2400" dirty="0"/>
          </a:p>
        </p:txBody>
      </p:sp>
      <p:pic>
        <p:nvPicPr>
          <p:cNvPr id="8" name="図 7">
            <a:extLst>
              <a:ext uri="{FF2B5EF4-FFF2-40B4-BE49-F238E27FC236}">
                <a16:creationId xmlns:a16="http://schemas.microsoft.com/office/drawing/2014/main" id="{0F8525BB-3CA1-4916-80E5-F9B2DDE8DC66}"/>
              </a:ext>
            </a:extLst>
          </p:cNvPr>
          <p:cNvPicPr>
            <a:picLocks noChangeAspect="1"/>
          </p:cNvPicPr>
          <p:nvPr/>
        </p:nvPicPr>
        <p:blipFill>
          <a:blip r:embed="rId2"/>
          <a:stretch>
            <a:fillRect/>
          </a:stretch>
        </p:blipFill>
        <p:spPr>
          <a:xfrm>
            <a:off x="567542" y="3295121"/>
            <a:ext cx="10990660" cy="862012"/>
          </a:xfrm>
          <a:prstGeom prst="rect">
            <a:avLst/>
          </a:prstGeom>
        </p:spPr>
      </p:pic>
    </p:spTree>
    <p:extLst>
      <p:ext uri="{BB962C8B-B14F-4D97-AF65-F5344CB8AC3E}">
        <p14:creationId xmlns:p14="http://schemas.microsoft.com/office/powerpoint/2010/main" val="393392560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218</Words>
  <Application>Microsoft Office PowerPoint</Application>
  <PresentationFormat>ワイド画面</PresentationFormat>
  <Paragraphs>29</Paragraphs>
  <Slides>11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17</cp:revision>
  <dcterms:created xsi:type="dcterms:W3CDTF">2024-08-27T02:15:54Z</dcterms:created>
  <dcterms:modified xsi:type="dcterms:W3CDTF">2025-02-07T07:48:54Z</dcterms:modified>
</cp:coreProperties>
</file>