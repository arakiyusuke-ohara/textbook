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2024/11/11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基底クラスと派生クラス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101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基底クラスと派生クラスの関係について詳しく確認してみます。</a:t>
            </a:r>
            <a:endParaRPr lang="en-US" altLang="ja-JP" sz="2400" dirty="0"/>
          </a:p>
          <a:p>
            <a:r>
              <a:rPr lang="ja-JP" altLang="en-US" sz="2400" dirty="0"/>
              <a:t>まずは</a:t>
            </a:r>
            <a:r>
              <a:rPr lang="en-US" altLang="ja-JP" sz="2400" b="1" dirty="0">
                <a:solidFill>
                  <a:srgbClr val="FF0000"/>
                </a:solidFill>
              </a:rPr>
              <a:t>Main.cpp</a:t>
            </a:r>
            <a:r>
              <a:rPr lang="ja-JP" altLang="en-US" sz="2400" dirty="0"/>
              <a:t>を書きましょう。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77CEFC3B-EB11-453B-B612-47D9FC8C7D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7"/>
            <a:ext cx="5402952" cy="4328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基底クラスと派生クラス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713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派生クラスは基底クラスに代入することができます。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b="1" dirty="0">
                <a:solidFill>
                  <a:srgbClr val="FF0000"/>
                </a:solidFill>
              </a:rPr>
              <a:t>対応するメンバ変数がコピー</a:t>
            </a:r>
            <a:r>
              <a:rPr lang="ja-JP" altLang="en-US" sz="2400" dirty="0"/>
              <a:t>されます。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77CEFC3B-EB11-453B-B612-47D9FC8C7D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7"/>
            <a:ext cx="5402952" cy="4328458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D7CB0E6-9BCD-49C8-88E3-53CA56637DB5}"/>
              </a:ext>
            </a:extLst>
          </p:cNvPr>
          <p:cNvSpPr/>
          <p:nvPr/>
        </p:nvSpPr>
        <p:spPr>
          <a:xfrm>
            <a:off x="1577788" y="4697506"/>
            <a:ext cx="3567953" cy="7351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66083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基底クラスと派生クラス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9512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Food</a:t>
            </a:r>
            <a:r>
              <a:rPr lang="ja-JP" altLang="en-US" sz="2400" dirty="0"/>
              <a:t>の値段が表示できることから、</a:t>
            </a:r>
            <a:endParaRPr lang="en-US" altLang="ja-JP" sz="2400" dirty="0"/>
          </a:p>
          <a:p>
            <a:r>
              <a:rPr lang="en-US" altLang="ja-JP" sz="2400" b="1" dirty="0">
                <a:solidFill>
                  <a:srgbClr val="FF0000"/>
                </a:solidFill>
              </a:rPr>
              <a:t>Fruit</a:t>
            </a:r>
            <a:r>
              <a:rPr lang="ja-JP" altLang="en-US" sz="2400" b="1" dirty="0">
                <a:solidFill>
                  <a:srgbClr val="FF0000"/>
                </a:solidFill>
              </a:rPr>
              <a:t>から</a:t>
            </a:r>
            <a:r>
              <a:rPr lang="en-US" altLang="ja-JP" sz="2400" b="1" dirty="0" err="1">
                <a:solidFill>
                  <a:srgbClr val="FF0000"/>
                </a:solidFill>
              </a:rPr>
              <a:t>m_Price</a:t>
            </a:r>
            <a:r>
              <a:rPr lang="ja-JP" altLang="en-US" sz="2400" b="1" dirty="0">
                <a:solidFill>
                  <a:srgbClr val="FF0000"/>
                </a:solidFill>
              </a:rPr>
              <a:t>が代入されている</a:t>
            </a:r>
            <a:r>
              <a:rPr lang="ja-JP" altLang="en-US" sz="2400" dirty="0"/>
              <a:t>ことがわかります。</a:t>
            </a:r>
            <a:endParaRPr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1778F0D6-B5E9-4C76-AB7D-4C73F0DD14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3670788"/>
            <a:ext cx="4794154" cy="1084992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75D1CF16-F006-4A99-BE23-D8A7F44643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42" y="2187126"/>
            <a:ext cx="6620799" cy="1124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247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基底クラスと派生クラス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416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続いて逆の場合も試してみましょう。</a:t>
            </a:r>
            <a:endParaRPr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F8C274EF-5B06-42C2-BAF2-8EBE5C85CA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3"/>
            <a:ext cx="7572761" cy="4439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54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基底クラスと派生クラス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2822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この場合、</a:t>
            </a:r>
            <a:r>
              <a:rPr lang="en-US" altLang="ja-JP" sz="2400" b="1" dirty="0">
                <a:solidFill>
                  <a:srgbClr val="00B050"/>
                </a:solidFill>
              </a:rPr>
              <a:t>Fruit</a:t>
            </a:r>
            <a:r>
              <a:rPr lang="ja-JP" altLang="en-US" sz="2400" dirty="0"/>
              <a:t>の</a:t>
            </a:r>
            <a:r>
              <a:rPr lang="en-US" altLang="ja-JP" sz="2400" dirty="0" err="1"/>
              <a:t>m_</a:t>
            </a:r>
            <a:r>
              <a:rPr lang="en-US" altLang="ja-JP" sz="2400" b="1" dirty="0" err="1"/>
              <a:t>FarmName</a:t>
            </a:r>
            <a:r>
              <a:rPr lang="ja-JP" altLang="en-US" sz="2400" dirty="0"/>
              <a:t>に対応するものがないので</a:t>
            </a:r>
            <a:r>
              <a:rPr lang="ja-JP" altLang="en-US" sz="2400" b="1" dirty="0">
                <a:solidFill>
                  <a:srgbClr val="FF0000"/>
                </a:solidFill>
              </a:rPr>
              <a:t>エラー</a:t>
            </a:r>
            <a:r>
              <a:rPr lang="ja-JP" altLang="en-US" sz="2400" dirty="0"/>
              <a:t>となります。</a:t>
            </a:r>
            <a:endParaRPr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F8C274EF-5B06-42C2-BAF2-8EBE5C85CA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3"/>
            <a:ext cx="7572761" cy="4439571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3D9CD89-7E5E-4079-B65C-8861304834D5}"/>
              </a:ext>
            </a:extLst>
          </p:cNvPr>
          <p:cNvSpPr/>
          <p:nvPr/>
        </p:nvSpPr>
        <p:spPr>
          <a:xfrm>
            <a:off x="1927411" y="3908612"/>
            <a:ext cx="5217460" cy="7351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47491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基底クラスと派生クラス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59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続いて</a:t>
            </a:r>
            <a:r>
              <a:rPr lang="en-US" altLang="ja-JP" sz="2400" b="1" dirty="0">
                <a:solidFill>
                  <a:srgbClr val="0070C0"/>
                </a:solidFill>
              </a:rPr>
              <a:t>new</a:t>
            </a:r>
            <a:r>
              <a:rPr lang="ja-JP" altLang="en-US" sz="2400" dirty="0"/>
              <a:t>で生成してポインタとして使ってみましょう。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5383D0C7-085D-44BB-9BD4-041462A007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1817793"/>
            <a:ext cx="7751706" cy="4525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6969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基底クラスと派生クラス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9469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ポインタ型での代入も可能です。</a:t>
            </a:r>
            <a:endParaRPr lang="en-US" altLang="ja-JP" sz="2400" dirty="0"/>
          </a:p>
          <a:p>
            <a:r>
              <a:rPr lang="ja-JP" altLang="en-US" sz="2400" dirty="0"/>
              <a:t>この場合</a:t>
            </a:r>
            <a:r>
              <a:rPr lang="en-US" altLang="ja-JP" sz="2400" b="1" dirty="0" err="1">
                <a:solidFill>
                  <a:srgbClr val="FF0000"/>
                </a:solidFill>
              </a:rPr>
              <a:t>m_Price</a:t>
            </a:r>
            <a:r>
              <a:rPr lang="ja-JP" altLang="en-US" sz="2400" b="1" dirty="0">
                <a:solidFill>
                  <a:srgbClr val="FF0000"/>
                </a:solidFill>
              </a:rPr>
              <a:t>のコピーではなく参照アドレスのコピー</a:t>
            </a:r>
            <a:r>
              <a:rPr lang="ja-JP" altLang="en-US" sz="2400" dirty="0"/>
              <a:t>となります。</a:t>
            </a:r>
            <a:endParaRPr lang="en-US" altLang="ja-JP" sz="2400" dirty="0"/>
          </a:p>
        </p:txBody>
      </p:sp>
      <p:sp>
        <p:nvSpPr>
          <p:cNvPr id="2" name="フローチャート: 磁気ディスク 1">
            <a:extLst>
              <a:ext uri="{FF2B5EF4-FFF2-40B4-BE49-F238E27FC236}">
                <a16:creationId xmlns:a16="http://schemas.microsoft.com/office/drawing/2014/main" id="{8F472742-D6C9-4780-8905-21553A0DD617}"/>
              </a:ext>
            </a:extLst>
          </p:cNvPr>
          <p:cNvSpPr/>
          <p:nvPr/>
        </p:nvSpPr>
        <p:spPr>
          <a:xfrm>
            <a:off x="5447994" y="2447103"/>
            <a:ext cx="2079812" cy="3612776"/>
          </a:xfrm>
          <a:prstGeom prst="flowChartMagneticDisk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18D2984-4121-4F0C-AEA5-055291B2AE7C}"/>
              </a:ext>
            </a:extLst>
          </p:cNvPr>
          <p:cNvSpPr/>
          <p:nvPr/>
        </p:nvSpPr>
        <p:spPr>
          <a:xfrm>
            <a:off x="5573499" y="3903868"/>
            <a:ext cx="833718" cy="4482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Fruit</a:t>
            </a:r>
            <a:endParaRPr kumimoji="1" lang="ja-JP" altLang="en-US" dirty="0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2491C97-9688-4310-A9FA-9A478BF87AC5}"/>
              </a:ext>
            </a:extLst>
          </p:cNvPr>
          <p:cNvSpPr/>
          <p:nvPr/>
        </p:nvSpPr>
        <p:spPr>
          <a:xfrm>
            <a:off x="3050765" y="3455632"/>
            <a:ext cx="833718" cy="4482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f</a:t>
            </a:r>
            <a:r>
              <a:rPr kumimoji="1" lang="en-US" altLang="ja-JP" dirty="0"/>
              <a:t>ruit*</a:t>
            </a:r>
            <a:endParaRPr kumimoji="1" lang="ja-JP" altLang="en-US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A9586B0A-3D20-4EE2-B829-7DB0FAF85192}"/>
              </a:ext>
            </a:extLst>
          </p:cNvPr>
          <p:cNvSpPr/>
          <p:nvPr/>
        </p:nvSpPr>
        <p:spPr>
          <a:xfrm>
            <a:off x="3050765" y="4127986"/>
            <a:ext cx="833718" cy="4482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food*</a:t>
            </a:r>
            <a:endParaRPr kumimoji="1" lang="ja-JP" altLang="en-US" dirty="0"/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91D011EB-1A69-4109-901D-92DA915CC39F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3884483" y="3679750"/>
            <a:ext cx="1689016" cy="2241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7A92B3A6-EC56-4AC0-81FA-A6BF987E0658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3884483" y="3903867"/>
            <a:ext cx="1689016" cy="44823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01711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基底クラスと派生クラス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7970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Food</a:t>
            </a:r>
            <a:r>
              <a:rPr lang="ja-JP" altLang="en-US" sz="2400" dirty="0"/>
              <a:t>ポインタが</a:t>
            </a:r>
            <a:r>
              <a:rPr lang="en-US" altLang="ja-JP" sz="2400" dirty="0"/>
              <a:t>Fruit</a:t>
            </a:r>
            <a:r>
              <a:rPr lang="ja-JP" altLang="en-US" sz="2400" dirty="0"/>
              <a:t>クラスを参照していても、</a:t>
            </a:r>
            <a:endParaRPr lang="en-US" altLang="ja-JP" sz="2400" dirty="0"/>
          </a:p>
          <a:p>
            <a:r>
              <a:rPr lang="en-US" altLang="ja-JP" sz="2400" dirty="0"/>
              <a:t>Food</a:t>
            </a:r>
            <a:r>
              <a:rPr lang="ja-JP" altLang="en-US" sz="2400" dirty="0"/>
              <a:t>クラスにある関数は呼ぶことができます。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93C5257B-9D2B-4788-8652-1C11477C89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3536348" cy="1855956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009047B-9D04-4440-A698-04F6C482632E}"/>
              </a:ext>
            </a:extLst>
          </p:cNvPr>
          <p:cNvSpPr txBox="1"/>
          <p:nvPr/>
        </p:nvSpPr>
        <p:spPr>
          <a:xfrm>
            <a:off x="4103890" y="3697699"/>
            <a:ext cx="6878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00B050"/>
                </a:solidFill>
              </a:rPr>
              <a:t>Fruit</a:t>
            </a:r>
            <a:r>
              <a:rPr lang="ja-JP" altLang="en-US" sz="2400" dirty="0"/>
              <a:t>を生成して</a:t>
            </a:r>
            <a:r>
              <a:rPr lang="en-US" altLang="ja-JP" sz="2400" b="1" dirty="0">
                <a:solidFill>
                  <a:srgbClr val="00B050"/>
                </a:solidFill>
              </a:rPr>
              <a:t>Food</a:t>
            </a:r>
            <a:r>
              <a:rPr lang="ja-JP" altLang="en-US" sz="2400" dirty="0"/>
              <a:t>ポインタが参照しても。。</a:t>
            </a:r>
            <a:endParaRPr lang="en-US" altLang="ja-JP" sz="2400" dirty="0"/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6BFE3213-9B3E-43FE-A0DD-552750C1C4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42" y="4322620"/>
            <a:ext cx="3056408" cy="966556"/>
          </a:xfrm>
          <a:prstGeom prst="rect">
            <a:avLst/>
          </a:prstGeom>
        </p:spPr>
      </p:pic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F4EBC219-516F-4C6F-8E0D-2B92B8558FC4}"/>
              </a:ext>
            </a:extLst>
          </p:cNvPr>
          <p:cNvSpPr txBox="1"/>
          <p:nvPr/>
        </p:nvSpPr>
        <p:spPr>
          <a:xfrm>
            <a:off x="4103890" y="4899229"/>
            <a:ext cx="52052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00B050"/>
                </a:solidFill>
              </a:rPr>
              <a:t>Food</a:t>
            </a:r>
            <a:r>
              <a:rPr lang="ja-JP" altLang="en-US" sz="2400" dirty="0"/>
              <a:t>が持っている関数は呼び出せる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067304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384</TotalTime>
  <Words>213</Words>
  <Application>Microsoft Office PowerPoint</Application>
  <PresentationFormat>ワイド画面</PresentationFormat>
  <Paragraphs>26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2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47</cp:revision>
  <dcterms:created xsi:type="dcterms:W3CDTF">2024-08-27T02:15:54Z</dcterms:created>
  <dcterms:modified xsi:type="dcterms:W3CDTF">2024-11-11T05:06:39Z</dcterms:modified>
</cp:coreProperties>
</file>