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2025/9/24</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2025/9/24</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2677656"/>
          </a:xfrm>
          <a:prstGeom prst="rect">
            <a:avLst/>
          </a:prstGeom>
          <a:noFill/>
        </p:spPr>
        <p:txBody>
          <a:bodyPr wrap="none" rtlCol="0">
            <a:spAutoFit/>
          </a:bodyPr>
          <a:lstStyle/>
          <a:p>
            <a:r>
              <a:rPr lang="ja-JP" altLang="en-US" sz="2400" b="1" dirty="0">
                <a:solidFill>
                  <a:srgbClr val="FF0000"/>
                </a:solidFill>
              </a:rPr>
              <a:t>オブジェクトの生成、削除</a:t>
            </a:r>
            <a:r>
              <a:rPr lang="ja-JP" altLang="en-US" sz="2400" dirty="0"/>
              <a:t>には</a:t>
            </a:r>
            <a:r>
              <a:rPr lang="en-US" altLang="ja-JP" sz="2400" b="1" dirty="0">
                <a:solidFill>
                  <a:srgbClr val="0070C0"/>
                </a:solidFill>
              </a:rPr>
              <a:t>new</a:t>
            </a:r>
            <a:r>
              <a:rPr lang="en-US" altLang="ja-JP" sz="2400" dirty="0"/>
              <a:t>, </a:t>
            </a:r>
            <a:r>
              <a:rPr lang="en-US" altLang="ja-JP" sz="2400" b="1" dirty="0">
                <a:solidFill>
                  <a:srgbClr val="0070C0"/>
                </a:solidFill>
              </a:rPr>
              <a:t>delete</a:t>
            </a:r>
            <a:r>
              <a:rPr lang="ja-JP" altLang="en-US" sz="2400" dirty="0"/>
              <a:t>を使用してきましたが、</a:t>
            </a:r>
            <a:endParaRPr lang="en-US" altLang="ja-JP" sz="2400" dirty="0"/>
          </a:p>
          <a:p>
            <a:r>
              <a:rPr lang="ja-JP" altLang="en-US" sz="2400" dirty="0"/>
              <a:t>これらには明確な</a:t>
            </a:r>
            <a:r>
              <a:rPr lang="ja-JP" altLang="en-US" sz="2400" b="1" dirty="0">
                <a:solidFill>
                  <a:srgbClr val="FF0000"/>
                </a:solidFill>
              </a:rPr>
              <a:t>欠点</a:t>
            </a:r>
            <a:r>
              <a:rPr lang="ja-JP" altLang="en-US" sz="2400" dirty="0"/>
              <a:t>があります。</a:t>
            </a:r>
            <a:endParaRPr lang="en-US" altLang="ja-JP" sz="2400" dirty="0"/>
          </a:p>
          <a:p>
            <a:endParaRPr lang="en-US" altLang="ja-JP" sz="2400" dirty="0"/>
          </a:p>
          <a:p>
            <a:r>
              <a:rPr lang="ja-JP" altLang="en-US" sz="2400" dirty="0"/>
              <a:t>それは、</a:t>
            </a:r>
            <a:r>
              <a:rPr lang="en-US" altLang="ja-JP" sz="2400" b="1" dirty="0">
                <a:solidFill>
                  <a:srgbClr val="0070C0"/>
                </a:solidFill>
              </a:rPr>
              <a:t>delete</a:t>
            </a:r>
            <a:r>
              <a:rPr lang="ja-JP" altLang="en-US" sz="2400" dirty="0"/>
              <a:t>を書き忘れたときの</a:t>
            </a:r>
            <a:r>
              <a:rPr lang="ja-JP" altLang="en-US" sz="2400" b="1" dirty="0">
                <a:solidFill>
                  <a:srgbClr val="FF0000"/>
                </a:solidFill>
              </a:rPr>
              <a:t>メモリリーク</a:t>
            </a:r>
            <a:r>
              <a:rPr lang="ja-JP" altLang="en-US" sz="2400" dirty="0"/>
              <a:t>です。</a:t>
            </a:r>
            <a:endParaRPr lang="en-US" altLang="ja-JP" sz="2400" dirty="0"/>
          </a:p>
          <a:p>
            <a:r>
              <a:rPr lang="ja-JP" altLang="en-US" sz="2400" dirty="0"/>
              <a:t>多くのゲームプログラマーが、このメモリリークと格闘していました。</a:t>
            </a:r>
            <a:endParaRPr lang="en-US" altLang="ja-JP" sz="2400" dirty="0"/>
          </a:p>
          <a:p>
            <a:endParaRPr lang="en-US" altLang="ja-JP" sz="2400" dirty="0"/>
          </a:p>
          <a:p>
            <a:r>
              <a:rPr lang="en-US" altLang="ja-JP" sz="2400" b="1" dirty="0">
                <a:solidFill>
                  <a:srgbClr val="FF0000"/>
                </a:solidFill>
              </a:rPr>
              <a:t>※</a:t>
            </a:r>
            <a:r>
              <a:rPr lang="ja-JP" altLang="en-US" sz="2400" b="1" dirty="0">
                <a:solidFill>
                  <a:srgbClr val="FF0000"/>
                </a:solidFill>
              </a:rPr>
              <a:t>メモリリークはフリーズの原因ともなる致命的な不具合です</a:t>
            </a:r>
            <a:endParaRPr lang="en-US" altLang="ja-JP" sz="2400" b="1" dirty="0">
              <a:solidFill>
                <a:srgbClr val="FF0000"/>
              </a:solidFill>
            </a:endParaRPr>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524315"/>
          </a:xfrm>
          <a:prstGeom prst="rect">
            <a:avLst/>
          </a:prstGeom>
          <a:noFill/>
        </p:spPr>
        <p:txBody>
          <a:bodyPr wrap="none" rtlCol="0">
            <a:spAutoFit/>
          </a:bodyPr>
          <a:lstStyle/>
          <a:p>
            <a:r>
              <a:rPr lang="en-US" altLang="ja-JP" sz="2400" dirty="0"/>
              <a:t>2011</a:t>
            </a:r>
            <a:r>
              <a:rPr lang="ja-JP" altLang="en-US" sz="2400" dirty="0"/>
              <a:t>年に</a:t>
            </a:r>
            <a:r>
              <a:rPr lang="en-US" altLang="ja-JP" sz="2400" dirty="0"/>
              <a:t>C++</a:t>
            </a:r>
            <a:r>
              <a:rPr lang="ja-JP" altLang="en-US" sz="2400" dirty="0"/>
              <a:t>のバージョンアップが行われました。（</a:t>
            </a:r>
            <a:r>
              <a:rPr lang="en-US" altLang="ja-JP" sz="2400" dirty="0"/>
              <a:t>C++11</a:t>
            </a:r>
            <a:r>
              <a:rPr lang="ja-JP" altLang="en-US" sz="2400" dirty="0"/>
              <a:t>）</a:t>
            </a:r>
            <a:endParaRPr lang="en-US" altLang="ja-JP" sz="2400" dirty="0"/>
          </a:p>
          <a:p>
            <a:r>
              <a:rPr lang="ja-JP" altLang="en-US" sz="2400" dirty="0"/>
              <a:t>そこで新たに</a:t>
            </a:r>
            <a:r>
              <a:rPr lang="ja-JP" altLang="en-US" sz="2400" b="1" dirty="0">
                <a:solidFill>
                  <a:srgbClr val="FF0000"/>
                </a:solidFill>
              </a:rPr>
              <a:t>スマートポインター</a:t>
            </a:r>
            <a:r>
              <a:rPr lang="ja-JP" altLang="en-US" sz="2400" dirty="0"/>
              <a:t>というものが実装されています。</a:t>
            </a:r>
            <a:endParaRPr lang="en-US" altLang="ja-JP" sz="2400" dirty="0"/>
          </a:p>
          <a:p>
            <a:endParaRPr lang="en-US" altLang="ja-JP" sz="2400" dirty="0"/>
          </a:p>
          <a:p>
            <a:r>
              <a:rPr lang="ja-JP" altLang="en-US" sz="2400" dirty="0"/>
              <a:t>スマートポインターは</a:t>
            </a:r>
            <a:r>
              <a:rPr lang="en-US" altLang="ja-JP" sz="2400" b="1" dirty="0">
                <a:solidFill>
                  <a:srgbClr val="FF0000"/>
                </a:solidFill>
              </a:rPr>
              <a:t>delete</a:t>
            </a:r>
            <a:r>
              <a:rPr lang="ja-JP" altLang="en-US" sz="2400" b="1" dirty="0">
                <a:solidFill>
                  <a:srgbClr val="FF0000"/>
                </a:solidFill>
              </a:rPr>
              <a:t>を自動で呼び出す機能</a:t>
            </a:r>
            <a:r>
              <a:rPr lang="ja-JP" altLang="en-US" sz="2400" dirty="0"/>
              <a:t>があり、</a:t>
            </a:r>
            <a:endParaRPr lang="en-US" altLang="ja-JP" sz="2400" dirty="0"/>
          </a:p>
          <a:p>
            <a:r>
              <a:rPr lang="ja-JP" altLang="en-US" sz="2400" dirty="0"/>
              <a:t>正しく使うと</a:t>
            </a:r>
            <a:r>
              <a:rPr lang="ja-JP" altLang="en-US" sz="2400" b="1" dirty="0">
                <a:solidFill>
                  <a:srgbClr val="FF0000"/>
                </a:solidFill>
              </a:rPr>
              <a:t>メモリリークのリスクを大幅に減らす</a:t>
            </a:r>
            <a:r>
              <a:rPr lang="ja-JP" altLang="en-US" sz="2400" dirty="0"/>
              <a:t>ことができます。</a:t>
            </a:r>
            <a:endParaRPr lang="en-US" altLang="ja-JP" sz="2400" dirty="0"/>
          </a:p>
          <a:p>
            <a:endParaRPr lang="en-US" altLang="ja-JP" sz="2400" dirty="0"/>
          </a:p>
          <a:p>
            <a:r>
              <a:rPr lang="ja-JP" altLang="en-US" sz="2400" dirty="0"/>
              <a:t>最近の技術ですが、ゲーム業界ではかなり普及していますので、</a:t>
            </a:r>
            <a:endParaRPr lang="en-US" altLang="ja-JP" sz="2400" dirty="0"/>
          </a:p>
          <a:p>
            <a:r>
              <a:rPr lang="ja-JP" altLang="en-US" sz="2400" dirty="0"/>
              <a:t>しっかりと学習しましょう。</a:t>
            </a:r>
            <a:endParaRPr lang="en-US" altLang="ja-JP" sz="2400" dirty="0"/>
          </a:p>
          <a:p>
            <a:endParaRPr lang="en-US" altLang="ja-JP" sz="2400" dirty="0"/>
          </a:p>
          <a:p>
            <a:r>
              <a:rPr lang="en-US" altLang="ja-JP" sz="2400" b="1" dirty="0">
                <a:solidFill>
                  <a:srgbClr val="00B050"/>
                </a:solidFill>
              </a:rPr>
              <a:t>MEMO</a:t>
            </a:r>
          </a:p>
          <a:p>
            <a:r>
              <a:rPr lang="ja-JP" altLang="en-US" sz="2400" dirty="0"/>
              <a:t>他にも無駄なメモリ確保を抑えることもできる、</a:t>
            </a:r>
            <a:endParaRPr lang="en-US" altLang="ja-JP" sz="2400" dirty="0"/>
          </a:p>
          <a:p>
            <a:r>
              <a:rPr lang="ja-JP" altLang="en-US" sz="2400" dirty="0"/>
              <a:t>至れり尽くせりな機能です。</a:t>
            </a:r>
            <a:endParaRPr lang="en-US" altLang="ja-JP" sz="2400" dirty="0"/>
          </a:p>
        </p:txBody>
      </p:sp>
    </p:spTree>
    <p:extLst>
      <p:ext uri="{BB962C8B-B14F-4D97-AF65-F5344CB8AC3E}">
        <p14:creationId xmlns:p14="http://schemas.microsoft.com/office/powerpoint/2010/main" val="3690828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572399" cy="5262979"/>
          </a:xfrm>
          <a:prstGeom prst="rect">
            <a:avLst/>
          </a:prstGeom>
          <a:noFill/>
        </p:spPr>
        <p:txBody>
          <a:bodyPr wrap="none" rtlCol="0">
            <a:spAutoFit/>
          </a:bodyPr>
          <a:lstStyle/>
          <a:p>
            <a:r>
              <a:rPr lang="ja-JP" altLang="en-US" sz="2400" dirty="0"/>
              <a:t>スマートポインターを学習するためには</a:t>
            </a:r>
            <a:r>
              <a:rPr lang="ja-JP" altLang="en-US" sz="2400" b="1" dirty="0">
                <a:solidFill>
                  <a:srgbClr val="FF0000"/>
                </a:solidFill>
              </a:rPr>
              <a:t>所有権</a:t>
            </a:r>
            <a:r>
              <a:rPr lang="ja-JP" altLang="en-US" sz="2400" dirty="0"/>
              <a:t>について知らなければいけません。</a:t>
            </a:r>
            <a:endParaRPr lang="en-US" altLang="ja-JP" sz="2400" dirty="0"/>
          </a:p>
          <a:p>
            <a:r>
              <a:rPr lang="ja-JP" altLang="en-US" sz="2400" dirty="0"/>
              <a:t>つまり、生成したオブジェクトを所有するという概念があります。</a:t>
            </a:r>
            <a:endParaRPr lang="en-US" altLang="ja-JP" sz="2400" dirty="0"/>
          </a:p>
          <a:p>
            <a:endParaRPr lang="en-US" altLang="ja-JP" sz="2400" dirty="0"/>
          </a:p>
          <a:p>
            <a:endParaRPr lang="en-US" altLang="ja-JP" sz="2400" dirty="0"/>
          </a:p>
          <a:p>
            <a:endParaRPr lang="en-US" altLang="ja-JP" sz="2400" dirty="0"/>
          </a:p>
          <a:p>
            <a:endParaRPr lang="en-US" altLang="ja-JP" sz="2400" dirty="0"/>
          </a:p>
          <a:p>
            <a:endParaRPr lang="en-US" altLang="ja-JP" sz="2400" dirty="0"/>
          </a:p>
          <a:p>
            <a:endParaRPr lang="en-US" altLang="ja-JP" sz="2400" dirty="0"/>
          </a:p>
          <a:p>
            <a:endParaRPr lang="en-US" altLang="ja-JP" sz="2400" dirty="0"/>
          </a:p>
          <a:p>
            <a:endParaRPr lang="en-US" altLang="ja-JP" sz="2400" dirty="0"/>
          </a:p>
          <a:p>
            <a:endParaRPr lang="en-US" altLang="ja-JP" sz="2400" dirty="0"/>
          </a:p>
          <a:p>
            <a:endParaRPr lang="en-US" altLang="ja-JP" sz="2400" dirty="0"/>
          </a:p>
          <a:p>
            <a:endParaRPr lang="en-US" altLang="ja-JP" sz="2400" dirty="0"/>
          </a:p>
          <a:p>
            <a:r>
              <a:rPr lang="ja-JP" altLang="en-US" sz="2400" dirty="0"/>
              <a:t>この所有権の扱い方によって</a:t>
            </a:r>
            <a:r>
              <a:rPr lang="ja-JP" altLang="en-US" sz="2400" b="1" dirty="0">
                <a:solidFill>
                  <a:srgbClr val="FF0000"/>
                </a:solidFill>
              </a:rPr>
              <a:t>３種類</a:t>
            </a:r>
            <a:r>
              <a:rPr lang="ja-JP" altLang="en-US" sz="2400" dirty="0"/>
              <a:t>のスマートポインターがあります。</a:t>
            </a:r>
            <a:endParaRPr lang="en-US" altLang="ja-JP" sz="2400" dirty="0"/>
          </a:p>
        </p:txBody>
      </p:sp>
      <p:sp>
        <p:nvSpPr>
          <p:cNvPr id="2" name="正方形/長方形 1">
            <a:extLst>
              <a:ext uri="{FF2B5EF4-FFF2-40B4-BE49-F238E27FC236}">
                <a16:creationId xmlns:a16="http://schemas.microsoft.com/office/drawing/2014/main" id="{3D14A422-E20E-4BE3-B1E1-B8E4B48F2683}"/>
              </a:ext>
            </a:extLst>
          </p:cNvPr>
          <p:cNvSpPr/>
          <p:nvPr/>
        </p:nvSpPr>
        <p:spPr>
          <a:xfrm>
            <a:off x="1058333" y="2353732"/>
            <a:ext cx="2133600" cy="34120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t>Player</a:t>
            </a:r>
            <a:r>
              <a:rPr kumimoji="1" lang="ja-JP" altLang="en-US" b="1" dirty="0"/>
              <a:t>クラス</a:t>
            </a:r>
          </a:p>
        </p:txBody>
      </p:sp>
      <p:sp>
        <p:nvSpPr>
          <p:cNvPr id="3" name="楕円 2">
            <a:extLst>
              <a:ext uri="{FF2B5EF4-FFF2-40B4-BE49-F238E27FC236}">
                <a16:creationId xmlns:a16="http://schemas.microsoft.com/office/drawing/2014/main" id="{DB3DDA2C-7B07-4477-9484-4BBF98B612E1}"/>
              </a:ext>
            </a:extLst>
          </p:cNvPr>
          <p:cNvSpPr/>
          <p:nvPr/>
        </p:nvSpPr>
        <p:spPr>
          <a:xfrm>
            <a:off x="2048933" y="2717800"/>
            <a:ext cx="1143000" cy="711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ja-JP" altLang="en-US" b="1" dirty="0"/>
              <a:t>生成</a:t>
            </a:r>
          </a:p>
        </p:txBody>
      </p:sp>
      <p:sp>
        <p:nvSpPr>
          <p:cNvPr id="5" name="スクロール: 縦 4">
            <a:extLst>
              <a:ext uri="{FF2B5EF4-FFF2-40B4-BE49-F238E27FC236}">
                <a16:creationId xmlns:a16="http://schemas.microsoft.com/office/drawing/2014/main" id="{88F0AB25-1324-4541-8C4D-9D5003CCB65A}"/>
              </a:ext>
            </a:extLst>
          </p:cNvPr>
          <p:cNvSpPr/>
          <p:nvPr/>
        </p:nvSpPr>
        <p:spPr>
          <a:xfrm>
            <a:off x="4885267" y="2408767"/>
            <a:ext cx="1210733" cy="1329266"/>
          </a:xfrm>
          <a:prstGeom prst="verticalScroll">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ja-JP" b="1" dirty="0"/>
              <a:t>Player</a:t>
            </a:r>
            <a:r>
              <a:rPr kumimoji="1" lang="ja-JP" altLang="en-US" b="1" dirty="0"/>
              <a:t>所有権</a:t>
            </a:r>
          </a:p>
        </p:txBody>
      </p:sp>
      <p:sp>
        <p:nvSpPr>
          <p:cNvPr id="7" name="矢印: 右 6">
            <a:extLst>
              <a:ext uri="{FF2B5EF4-FFF2-40B4-BE49-F238E27FC236}">
                <a16:creationId xmlns:a16="http://schemas.microsoft.com/office/drawing/2014/main" id="{4732FD01-0FBF-4A94-8888-955AD1926563}"/>
              </a:ext>
            </a:extLst>
          </p:cNvPr>
          <p:cNvSpPr/>
          <p:nvPr/>
        </p:nvSpPr>
        <p:spPr>
          <a:xfrm>
            <a:off x="3378200" y="2819400"/>
            <a:ext cx="1380067" cy="609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フローチャート: 代替処理 7">
            <a:extLst>
              <a:ext uri="{FF2B5EF4-FFF2-40B4-BE49-F238E27FC236}">
                <a16:creationId xmlns:a16="http://schemas.microsoft.com/office/drawing/2014/main" id="{069D3D52-747B-4139-90D8-49A7C984CEE8}"/>
              </a:ext>
            </a:extLst>
          </p:cNvPr>
          <p:cNvSpPr/>
          <p:nvPr/>
        </p:nvSpPr>
        <p:spPr>
          <a:xfrm>
            <a:off x="5715000" y="3429000"/>
            <a:ext cx="2489200" cy="537634"/>
          </a:xfrm>
          <a:prstGeom prst="flowChartAlternateProces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ja-JP" altLang="en-US" b="1" dirty="0"/>
              <a:t>スマートポインター</a:t>
            </a:r>
          </a:p>
        </p:txBody>
      </p:sp>
    </p:spTree>
    <p:extLst>
      <p:ext uri="{BB962C8B-B14F-4D97-AF65-F5344CB8AC3E}">
        <p14:creationId xmlns:p14="http://schemas.microsoft.com/office/powerpoint/2010/main" val="965973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730823" cy="5262979"/>
          </a:xfrm>
          <a:prstGeom prst="rect">
            <a:avLst/>
          </a:prstGeom>
          <a:noFill/>
        </p:spPr>
        <p:txBody>
          <a:bodyPr wrap="none" rtlCol="0">
            <a:spAutoFit/>
          </a:bodyPr>
          <a:lstStyle/>
          <a:p>
            <a:r>
              <a:rPr lang="ja-JP" altLang="en-US" sz="2400" dirty="0"/>
              <a:t>スマートポインターの種類です。</a:t>
            </a:r>
            <a:endParaRPr lang="en-US" altLang="ja-JP" sz="2400" dirty="0"/>
          </a:p>
          <a:p>
            <a:endParaRPr lang="en-US" altLang="ja-JP" sz="2400" dirty="0"/>
          </a:p>
          <a:p>
            <a:r>
              <a:rPr lang="ja-JP" altLang="en-US" sz="2400" b="1" dirty="0">
                <a:solidFill>
                  <a:srgbClr val="00B050"/>
                </a:solidFill>
              </a:rPr>
              <a:t>■</a:t>
            </a:r>
            <a:r>
              <a:rPr lang="en-US" altLang="ja-JP" sz="2400" b="1" dirty="0">
                <a:solidFill>
                  <a:srgbClr val="00B050"/>
                </a:solidFill>
              </a:rPr>
              <a:t>Unique</a:t>
            </a:r>
            <a:r>
              <a:rPr lang="ja-JP" altLang="en-US" sz="2400" b="1" dirty="0">
                <a:solidFill>
                  <a:srgbClr val="00B050"/>
                </a:solidFill>
              </a:rPr>
              <a:t>（ユニーク）</a:t>
            </a:r>
            <a:endParaRPr lang="en-US" altLang="ja-JP" sz="2400" b="1" dirty="0">
              <a:solidFill>
                <a:srgbClr val="00B050"/>
              </a:solidFill>
            </a:endParaRPr>
          </a:p>
          <a:p>
            <a:r>
              <a:rPr lang="ja-JP" altLang="en-US" sz="2400" b="1" dirty="0">
                <a:solidFill>
                  <a:srgbClr val="FF0000"/>
                </a:solidFill>
              </a:rPr>
              <a:t>所有権が１つ</a:t>
            </a:r>
            <a:r>
              <a:rPr lang="ja-JP" altLang="en-US" sz="2400" dirty="0"/>
              <a:t>しかない。</a:t>
            </a:r>
            <a:endParaRPr lang="en-US" altLang="ja-JP" sz="2400" dirty="0"/>
          </a:p>
          <a:p>
            <a:r>
              <a:rPr lang="ja-JP" altLang="en-US" sz="2400" dirty="0"/>
              <a:t>最も安全なため、よく使われる。</a:t>
            </a:r>
            <a:endParaRPr lang="en-US" altLang="ja-JP" sz="2400" dirty="0"/>
          </a:p>
          <a:p>
            <a:endParaRPr lang="en-US" altLang="ja-JP" sz="2400" dirty="0"/>
          </a:p>
          <a:p>
            <a:r>
              <a:rPr lang="ja-JP" altLang="en-US" sz="2400" b="1" dirty="0">
                <a:solidFill>
                  <a:srgbClr val="00B050"/>
                </a:solidFill>
              </a:rPr>
              <a:t>■</a:t>
            </a:r>
            <a:r>
              <a:rPr lang="en-US" altLang="ja-JP" sz="2400" b="1" dirty="0">
                <a:solidFill>
                  <a:srgbClr val="00B050"/>
                </a:solidFill>
              </a:rPr>
              <a:t>Shared</a:t>
            </a:r>
            <a:r>
              <a:rPr lang="ja-JP" altLang="en-US" sz="2400" b="1" dirty="0">
                <a:solidFill>
                  <a:srgbClr val="00B050"/>
                </a:solidFill>
              </a:rPr>
              <a:t>（シェアード）</a:t>
            </a:r>
            <a:endParaRPr lang="en-US" altLang="ja-JP" sz="2400" b="1" dirty="0">
              <a:solidFill>
                <a:srgbClr val="00B050"/>
              </a:solidFill>
            </a:endParaRPr>
          </a:p>
          <a:p>
            <a:r>
              <a:rPr lang="ja-JP" altLang="en-US" sz="2400" b="1" dirty="0">
                <a:solidFill>
                  <a:srgbClr val="FF0000"/>
                </a:solidFill>
              </a:rPr>
              <a:t>所有権を複数設けられる。</a:t>
            </a:r>
            <a:endParaRPr lang="en-US" altLang="ja-JP" sz="2400" b="1" dirty="0">
              <a:solidFill>
                <a:srgbClr val="FF0000"/>
              </a:solidFill>
            </a:endParaRPr>
          </a:p>
          <a:p>
            <a:r>
              <a:rPr lang="ja-JP" altLang="en-US" sz="2400" dirty="0"/>
              <a:t>１つのオブジェクトを様々な場所から参照したい時に使う。</a:t>
            </a:r>
            <a:endParaRPr lang="en-US" altLang="ja-JP" sz="2400" dirty="0"/>
          </a:p>
          <a:p>
            <a:r>
              <a:rPr lang="ja-JP" altLang="en-US" sz="2400" b="1" dirty="0">
                <a:solidFill>
                  <a:srgbClr val="FF0000"/>
                </a:solidFill>
              </a:rPr>
              <a:t>せっかくの自動</a:t>
            </a:r>
            <a:r>
              <a:rPr lang="en-US" altLang="ja-JP" sz="2400" b="1" dirty="0">
                <a:solidFill>
                  <a:srgbClr val="FF0000"/>
                </a:solidFill>
              </a:rPr>
              <a:t>delete</a:t>
            </a:r>
            <a:r>
              <a:rPr lang="ja-JP" altLang="en-US" sz="2400" b="1" dirty="0">
                <a:solidFill>
                  <a:srgbClr val="FF0000"/>
                </a:solidFill>
              </a:rPr>
              <a:t>が機能しなくなるリスクがある（循環参照）</a:t>
            </a:r>
            <a:endParaRPr lang="en-US" altLang="ja-JP" sz="2400" b="1" dirty="0">
              <a:solidFill>
                <a:srgbClr val="FF0000"/>
              </a:solidFill>
            </a:endParaRPr>
          </a:p>
          <a:p>
            <a:endParaRPr lang="en-US" altLang="ja-JP" sz="2400" dirty="0"/>
          </a:p>
          <a:p>
            <a:r>
              <a:rPr lang="ja-JP" altLang="en-US" sz="2400" b="1" dirty="0">
                <a:solidFill>
                  <a:srgbClr val="00B050"/>
                </a:solidFill>
              </a:rPr>
              <a:t>■</a:t>
            </a:r>
            <a:r>
              <a:rPr lang="en-US" altLang="ja-JP" sz="2400" b="1" dirty="0">
                <a:solidFill>
                  <a:srgbClr val="00B050"/>
                </a:solidFill>
              </a:rPr>
              <a:t>Weak</a:t>
            </a:r>
            <a:r>
              <a:rPr lang="ja-JP" altLang="en-US" sz="2400" b="1" dirty="0">
                <a:solidFill>
                  <a:srgbClr val="00B050"/>
                </a:solidFill>
              </a:rPr>
              <a:t>（ウィーク）</a:t>
            </a:r>
            <a:endParaRPr lang="en-US" altLang="ja-JP" sz="2400" b="1" dirty="0">
              <a:solidFill>
                <a:srgbClr val="00B050"/>
              </a:solidFill>
            </a:endParaRPr>
          </a:p>
          <a:p>
            <a:r>
              <a:rPr lang="en-US" altLang="ja-JP" sz="2400" dirty="0"/>
              <a:t>Shared</a:t>
            </a:r>
            <a:r>
              <a:rPr lang="ja-JP" altLang="en-US" sz="2400" dirty="0"/>
              <a:t>ポインターと同じオブジェクトを参照できるが、</a:t>
            </a:r>
            <a:r>
              <a:rPr lang="ja-JP" altLang="en-US" sz="2400" b="1" dirty="0">
                <a:solidFill>
                  <a:srgbClr val="FF0000"/>
                </a:solidFill>
              </a:rPr>
              <a:t>所有権は持たない。</a:t>
            </a:r>
            <a:endParaRPr lang="en-US" altLang="ja-JP" sz="2400" b="1" dirty="0">
              <a:solidFill>
                <a:srgbClr val="FF0000"/>
              </a:solidFill>
            </a:endParaRPr>
          </a:p>
          <a:p>
            <a:r>
              <a:rPr lang="ja-JP" altLang="en-US" sz="2400" dirty="0"/>
              <a:t>循環参照に対する対策として効果的。</a:t>
            </a:r>
            <a:endParaRPr lang="en-US" altLang="ja-JP" sz="2400" dirty="0"/>
          </a:p>
        </p:txBody>
      </p:sp>
    </p:spTree>
    <p:extLst>
      <p:ext uri="{BB962C8B-B14F-4D97-AF65-F5344CB8AC3E}">
        <p14:creationId xmlns:p14="http://schemas.microsoft.com/office/powerpoint/2010/main" val="3678186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277133" cy="461665"/>
          </a:xfrm>
          <a:prstGeom prst="rect">
            <a:avLst/>
          </a:prstGeom>
          <a:noFill/>
        </p:spPr>
        <p:txBody>
          <a:bodyPr wrap="none" rtlCol="0">
            <a:spAutoFit/>
          </a:bodyPr>
          <a:lstStyle/>
          <a:p>
            <a:r>
              <a:rPr lang="en-US" altLang="ja-JP" sz="2400" dirty="0"/>
              <a:t>Unique</a:t>
            </a:r>
            <a:r>
              <a:rPr lang="ja-JP" altLang="en-US" sz="2400" dirty="0"/>
              <a:t>から練習しましょう。</a:t>
            </a:r>
            <a:endParaRPr lang="en-US" altLang="ja-JP" sz="2400" dirty="0"/>
          </a:p>
        </p:txBody>
      </p:sp>
      <p:pic>
        <p:nvPicPr>
          <p:cNvPr id="3" name="図 2">
            <a:extLst>
              <a:ext uri="{FF2B5EF4-FFF2-40B4-BE49-F238E27FC236}">
                <a16:creationId xmlns:a16="http://schemas.microsoft.com/office/drawing/2014/main" id="{2E783280-FF52-4229-85C9-17434EB167EF}"/>
              </a:ext>
            </a:extLst>
          </p:cNvPr>
          <p:cNvPicPr>
            <a:picLocks noChangeAspect="1"/>
          </p:cNvPicPr>
          <p:nvPr/>
        </p:nvPicPr>
        <p:blipFill>
          <a:blip r:embed="rId2"/>
          <a:stretch>
            <a:fillRect/>
          </a:stretch>
        </p:blipFill>
        <p:spPr>
          <a:xfrm>
            <a:off x="567542" y="1817794"/>
            <a:ext cx="5528458" cy="4732360"/>
          </a:xfrm>
          <a:prstGeom prst="rect">
            <a:avLst/>
          </a:prstGeom>
        </p:spPr>
      </p:pic>
    </p:spTree>
    <p:extLst>
      <p:ext uri="{BB962C8B-B14F-4D97-AF65-F5344CB8AC3E}">
        <p14:creationId xmlns:p14="http://schemas.microsoft.com/office/powerpoint/2010/main" val="3221719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168168" cy="461665"/>
          </a:xfrm>
          <a:prstGeom prst="rect">
            <a:avLst/>
          </a:prstGeom>
          <a:noFill/>
        </p:spPr>
        <p:txBody>
          <a:bodyPr wrap="none" rtlCol="0">
            <a:spAutoFit/>
          </a:bodyPr>
          <a:lstStyle/>
          <a:p>
            <a:r>
              <a:rPr lang="en-US" altLang="ja-JP" sz="2400" b="1" dirty="0" err="1">
                <a:solidFill>
                  <a:srgbClr val="0070C0"/>
                </a:solidFill>
              </a:rPr>
              <a:t>make_unique</a:t>
            </a:r>
            <a:r>
              <a:rPr lang="ja-JP" altLang="en-US" sz="2400" b="1" dirty="0">
                <a:solidFill>
                  <a:srgbClr val="0070C0"/>
                </a:solidFill>
              </a:rPr>
              <a:t>関数</a:t>
            </a:r>
            <a:r>
              <a:rPr lang="ja-JP" altLang="en-US" sz="2400" dirty="0"/>
              <a:t>はオブジェクトを生成して</a:t>
            </a:r>
            <a:r>
              <a:rPr lang="en-US" altLang="ja-JP" sz="2400" b="1" dirty="0" err="1">
                <a:solidFill>
                  <a:srgbClr val="00B050"/>
                </a:solidFill>
              </a:rPr>
              <a:t>unique_ptr</a:t>
            </a:r>
            <a:r>
              <a:rPr lang="ja-JP" altLang="en-US" sz="2400" dirty="0"/>
              <a:t>を返却します。</a:t>
            </a:r>
            <a:endParaRPr lang="en-US" altLang="ja-JP" sz="2400" dirty="0"/>
          </a:p>
        </p:txBody>
      </p:sp>
      <p:pic>
        <p:nvPicPr>
          <p:cNvPr id="5" name="図 4">
            <a:extLst>
              <a:ext uri="{FF2B5EF4-FFF2-40B4-BE49-F238E27FC236}">
                <a16:creationId xmlns:a16="http://schemas.microsoft.com/office/drawing/2014/main" id="{4F07041D-FCF8-482E-A08B-5548A3BEFEA9}"/>
              </a:ext>
            </a:extLst>
          </p:cNvPr>
          <p:cNvPicPr>
            <a:picLocks noChangeAspect="1"/>
          </p:cNvPicPr>
          <p:nvPr/>
        </p:nvPicPr>
        <p:blipFill>
          <a:blip r:embed="rId2"/>
          <a:stretch>
            <a:fillRect/>
          </a:stretch>
        </p:blipFill>
        <p:spPr>
          <a:xfrm>
            <a:off x="567542" y="1817794"/>
            <a:ext cx="8820254" cy="871618"/>
          </a:xfrm>
          <a:prstGeom prst="rect">
            <a:avLst/>
          </a:prstGeom>
        </p:spPr>
      </p:pic>
    </p:spTree>
    <p:extLst>
      <p:ext uri="{BB962C8B-B14F-4D97-AF65-F5344CB8AC3E}">
        <p14:creationId xmlns:p14="http://schemas.microsoft.com/office/powerpoint/2010/main" val="2880638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93781" cy="461665"/>
          </a:xfrm>
          <a:prstGeom prst="rect">
            <a:avLst/>
          </a:prstGeom>
          <a:noFill/>
        </p:spPr>
        <p:txBody>
          <a:bodyPr wrap="none" rtlCol="0">
            <a:spAutoFit/>
          </a:bodyPr>
          <a:lstStyle/>
          <a:p>
            <a:r>
              <a:rPr lang="en-US" altLang="ja-JP" sz="2400" dirty="0"/>
              <a:t>Unique</a:t>
            </a:r>
            <a:r>
              <a:rPr lang="ja-JP" altLang="en-US" sz="2400" dirty="0"/>
              <a:t>は１つのみなので、「＝」によるコピーができません。</a:t>
            </a:r>
            <a:endParaRPr lang="en-US" altLang="ja-JP" sz="2400" dirty="0"/>
          </a:p>
        </p:txBody>
      </p:sp>
      <p:pic>
        <p:nvPicPr>
          <p:cNvPr id="3" name="図 2">
            <a:extLst>
              <a:ext uri="{FF2B5EF4-FFF2-40B4-BE49-F238E27FC236}">
                <a16:creationId xmlns:a16="http://schemas.microsoft.com/office/drawing/2014/main" id="{51FDF334-07D7-434A-9E05-E5E11CFD7C6A}"/>
              </a:ext>
            </a:extLst>
          </p:cNvPr>
          <p:cNvPicPr>
            <a:picLocks noChangeAspect="1"/>
          </p:cNvPicPr>
          <p:nvPr/>
        </p:nvPicPr>
        <p:blipFill>
          <a:blip r:embed="rId2"/>
          <a:stretch>
            <a:fillRect/>
          </a:stretch>
        </p:blipFill>
        <p:spPr>
          <a:xfrm>
            <a:off x="567541" y="1817794"/>
            <a:ext cx="8380595" cy="934371"/>
          </a:xfrm>
          <a:prstGeom prst="rect">
            <a:avLst/>
          </a:prstGeom>
        </p:spPr>
      </p:pic>
    </p:spTree>
    <p:extLst>
      <p:ext uri="{BB962C8B-B14F-4D97-AF65-F5344CB8AC3E}">
        <p14:creationId xmlns:p14="http://schemas.microsoft.com/office/powerpoint/2010/main" val="1459464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404591" cy="1200329"/>
          </a:xfrm>
          <a:prstGeom prst="rect">
            <a:avLst/>
          </a:prstGeom>
          <a:noFill/>
        </p:spPr>
        <p:txBody>
          <a:bodyPr wrap="none" rtlCol="0">
            <a:spAutoFit/>
          </a:bodyPr>
          <a:lstStyle/>
          <a:p>
            <a:r>
              <a:rPr lang="en-US" altLang="ja-JP" sz="2400" b="1" dirty="0">
                <a:solidFill>
                  <a:srgbClr val="0070C0"/>
                </a:solidFill>
              </a:rPr>
              <a:t>get</a:t>
            </a:r>
            <a:r>
              <a:rPr lang="ja-JP" altLang="en-US" sz="2400" b="1" dirty="0">
                <a:solidFill>
                  <a:srgbClr val="0070C0"/>
                </a:solidFill>
              </a:rPr>
              <a:t>関数</a:t>
            </a:r>
            <a:r>
              <a:rPr lang="ja-JP" altLang="en-US" sz="2400" dirty="0"/>
              <a:t>から</a:t>
            </a:r>
            <a:r>
              <a:rPr lang="ja-JP" altLang="en-US" sz="2400" b="1" dirty="0">
                <a:solidFill>
                  <a:srgbClr val="FF0000"/>
                </a:solidFill>
              </a:rPr>
              <a:t>アクセス用のポインタ</a:t>
            </a:r>
            <a:r>
              <a:rPr lang="ja-JP" altLang="en-US" sz="2400" dirty="0"/>
              <a:t>を取得できます。</a:t>
            </a:r>
            <a:endParaRPr lang="en-US" altLang="ja-JP" sz="2400" dirty="0"/>
          </a:p>
          <a:p>
            <a:r>
              <a:rPr lang="ja-JP" altLang="en-US" sz="2400" dirty="0"/>
              <a:t>ポインタを取得するだけで</a:t>
            </a:r>
            <a:r>
              <a:rPr lang="ja-JP" altLang="en-US" sz="2400" b="1" dirty="0">
                <a:solidFill>
                  <a:srgbClr val="FF0000"/>
                </a:solidFill>
              </a:rPr>
              <a:t>所有権は変わりません。</a:t>
            </a:r>
            <a:endParaRPr lang="en-US" altLang="ja-JP" sz="2400" b="1" dirty="0">
              <a:solidFill>
                <a:srgbClr val="FF0000"/>
              </a:solidFill>
            </a:endParaRPr>
          </a:p>
          <a:p>
            <a:r>
              <a:rPr lang="en-US" altLang="ja-JP" sz="2400" b="1" dirty="0">
                <a:solidFill>
                  <a:srgbClr val="0070C0"/>
                </a:solidFill>
              </a:rPr>
              <a:t>Get</a:t>
            </a:r>
            <a:r>
              <a:rPr lang="ja-JP" altLang="en-US" sz="2400" b="1" dirty="0">
                <a:solidFill>
                  <a:srgbClr val="0070C0"/>
                </a:solidFill>
              </a:rPr>
              <a:t>〇〇関数</a:t>
            </a:r>
            <a:r>
              <a:rPr lang="ja-JP" altLang="en-US" sz="2400" dirty="0"/>
              <a:t>などでよく使われます。</a:t>
            </a:r>
            <a:endParaRPr lang="en-US" altLang="ja-JP" sz="2400" dirty="0"/>
          </a:p>
        </p:txBody>
      </p:sp>
      <p:pic>
        <p:nvPicPr>
          <p:cNvPr id="5" name="図 4">
            <a:extLst>
              <a:ext uri="{FF2B5EF4-FFF2-40B4-BE49-F238E27FC236}">
                <a16:creationId xmlns:a16="http://schemas.microsoft.com/office/drawing/2014/main" id="{5E85E635-8FC4-4613-8DAB-F4C9FE39DDF2}"/>
              </a:ext>
            </a:extLst>
          </p:cNvPr>
          <p:cNvPicPr>
            <a:picLocks noChangeAspect="1"/>
          </p:cNvPicPr>
          <p:nvPr/>
        </p:nvPicPr>
        <p:blipFill>
          <a:blip r:embed="rId2"/>
          <a:stretch>
            <a:fillRect/>
          </a:stretch>
        </p:blipFill>
        <p:spPr>
          <a:xfrm>
            <a:off x="567541" y="2556458"/>
            <a:ext cx="7952179" cy="1200329"/>
          </a:xfrm>
          <a:prstGeom prst="rect">
            <a:avLst/>
          </a:prstGeom>
        </p:spPr>
      </p:pic>
    </p:spTree>
    <p:extLst>
      <p:ext uri="{BB962C8B-B14F-4D97-AF65-F5344CB8AC3E}">
        <p14:creationId xmlns:p14="http://schemas.microsoft.com/office/powerpoint/2010/main" val="3167405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830997"/>
          </a:xfrm>
          <a:prstGeom prst="rect">
            <a:avLst/>
          </a:prstGeom>
          <a:noFill/>
        </p:spPr>
        <p:txBody>
          <a:bodyPr wrap="none" rtlCol="0">
            <a:spAutoFit/>
          </a:bodyPr>
          <a:lstStyle/>
          <a:p>
            <a:r>
              <a:rPr lang="ja-JP" altLang="en-US" sz="2400" dirty="0"/>
              <a:t>１つしかないので、他の変数に与えるには</a:t>
            </a:r>
            <a:r>
              <a:rPr lang="ja-JP" altLang="en-US" sz="2400" b="1" dirty="0">
                <a:solidFill>
                  <a:srgbClr val="FF0000"/>
                </a:solidFill>
              </a:rPr>
              <a:t>移動</a:t>
            </a:r>
            <a:r>
              <a:rPr lang="ja-JP" altLang="en-US" sz="2400" dirty="0"/>
              <a:t>するしかありません。</a:t>
            </a:r>
            <a:endParaRPr lang="en-US" altLang="ja-JP" sz="2400" dirty="0"/>
          </a:p>
          <a:p>
            <a:r>
              <a:rPr lang="ja-JP" altLang="en-US" sz="2400" dirty="0"/>
              <a:t>移動には</a:t>
            </a:r>
            <a:r>
              <a:rPr lang="en-US" altLang="ja-JP" sz="2400" b="1" dirty="0">
                <a:solidFill>
                  <a:srgbClr val="0070C0"/>
                </a:solidFill>
              </a:rPr>
              <a:t>move</a:t>
            </a:r>
            <a:r>
              <a:rPr lang="ja-JP" altLang="en-US" sz="2400" b="1" dirty="0">
                <a:solidFill>
                  <a:srgbClr val="0070C0"/>
                </a:solidFill>
              </a:rPr>
              <a:t>関数</a:t>
            </a:r>
            <a:r>
              <a:rPr lang="ja-JP" altLang="en-US" sz="2400" dirty="0"/>
              <a:t>を使います。</a:t>
            </a:r>
            <a:endParaRPr lang="en-US" altLang="ja-JP" sz="2400" dirty="0"/>
          </a:p>
        </p:txBody>
      </p:sp>
      <p:pic>
        <p:nvPicPr>
          <p:cNvPr id="3" name="図 2">
            <a:extLst>
              <a:ext uri="{FF2B5EF4-FFF2-40B4-BE49-F238E27FC236}">
                <a16:creationId xmlns:a16="http://schemas.microsoft.com/office/drawing/2014/main" id="{A132A32B-9918-4358-8218-8E1AD1B5274D}"/>
              </a:ext>
            </a:extLst>
          </p:cNvPr>
          <p:cNvPicPr>
            <a:picLocks noChangeAspect="1"/>
          </p:cNvPicPr>
          <p:nvPr/>
        </p:nvPicPr>
        <p:blipFill>
          <a:blip r:embed="rId2"/>
          <a:stretch>
            <a:fillRect/>
          </a:stretch>
        </p:blipFill>
        <p:spPr>
          <a:xfrm>
            <a:off x="567542" y="2187126"/>
            <a:ext cx="7627648" cy="2623449"/>
          </a:xfrm>
          <a:prstGeom prst="rect">
            <a:avLst/>
          </a:prstGeom>
        </p:spPr>
      </p:pic>
      <p:sp>
        <p:nvSpPr>
          <p:cNvPr id="9" name="テキスト ボックス 8">
            <a:extLst>
              <a:ext uri="{FF2B5EF4-FFF2-40B4-BE49-F238E27FC236}">
                <a16:creationId xmlns:a16="http://schemas.microsoft.com/office/drawing/2014/main" id="{0E60D74F-8CE1-48B1-8E5C-C856F3941590}"/>
              </a:ext>
            </a:extLst>
          </p:cNvPr>
          <p:cNvSpPr txBox="1"/>
          <p:nvPr/>
        </p:nvSpPr>
        <p:spPr>
          <a:xfrm>
            <a:off x="567541" y="4950275"/>
            <a:ext cx="5806398" cy="830997"/>
          </a:xfrm>
          <a:prstGeom prst="rect">
            <a:avLst/>
          </a:prstGeom>
          <a:noFill/>
        </p:spPr>
        <p:txBody>
          <a:bodyPr wrap="none" rtlCol="0">
            <a:spAutoFit/>
          </a:bodyPr>
          <a:lstStyle/>
          <a:p>
            <a:r>
              <a:rPr lang="en-US" altLang="ja-JP" sz="2400" dirty="0"/>
              <a:t>player</a:t>
            </a:r>
            <a:r>
              <a:rPr lang="ja-JP" altLang="en-US" sz="2400" dirty="0"/>
              <a:t>→</a:t>
            </a:r>
            <a:r>
              <a:rPr lang="en-US" altLang="ja-JP" sz="2400" dirty="0"/>
              <a:t>player2</a:t>
            </a:r>
            <a:r>
              <a:rPr lang="ja-JP" altLang="en-US" sz="2400" dirty="0"/>
              <a:t>へと移動しているので、</a:t>
            </a:r>
            <a:endParaRPr lang="en-US" altLang="ja-JP" sz="2400" dirty="0"/>
          </a:p>
          <a:p>
            <a:r>
              <a:rPr lang="en-US" altLang="ja-JP" sz="2400" dirty="0"/>
              <a:t>player</a:t>
            </a:r>
            <a:r>
              <a:rPr lang="ja-JP" altLang="en-US" sz="2400" dirty="0"/>
              <a:t>は</a:t>
            </a:r>
            <a:r>
              <a:rPr lang="en-US" altLang="ja-JP" sz="2400" b="1" dirty="0">
                <a:solidFill>
                  <a:srgbClr val="FF0000"/>
                </a:solidFill>
              </a:rPr>
              <a:t>empty</a:t>
            </a:r>
            <a:r>
              <a:rPr lang="ja-JP" altLang="en-US" sz="2400" b="1" dirty="0">
                <a:solidFill>
                  <a:srgbClr val="FF0000"/>
                </a:solidFill>
              </a:rPr>
              <a:t>（空）</a:t>
            </a:r>
            <a:r>
              <a:rPr lang="ja-JP" altLang="en-US" sz="2400" dirty="0"/>
              <a:t>となります。</a:t>
            </a:r>
            <a:endParaRPr lang="en-US" altLang="ja-JP" sz="2400" dirty="0"/>
          </a:p>
        </p:txBody>
      </p:sp>
    </p:spTree>
    <p:extLst>
      <p:ext uri="{BB962C8B-B14F-4D97-AF65-F5344CB8AC3E}">
        <p14:creationId xmlns:p14="http://schemas.microsoft.com/office/powerpoint/2010/main" val="3128689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78126" cy="1938992"/>
          </a:xfrm>
          <a:prstGeom prst="rect">
            <a:avLst/>
          </a:prstGeom>
          <a:noFill/>
        </p:spPr>
        <p:txBody>
          <a:bodyPr wrap="none" rtlCol="0">
            <a:spAutoFit/>
          </a:bodyPr>
          <a:lstStyle/>
          <a:p>
            <a:r>
              <a:rPr lang="ja-JP" altLang="en-US" sz="2400" dirty="0"/>
              <a:t>関数を抜けると、ローカル変数である</a:t>
            </a:r>
            <a:r>
              <a:rPr lang="en-US" altLang="ja-JP" sz="2400" dirty="0"/>
              <a:t>player</a:t>
            </a:r>
            <a:r>
              <a:rPr lang="ja-JP" altLang="en-US" sz="2400" dirty="0"/>
              <a:t>は無くなります。</a:t>
            </a:r>
            <a:endParaRPr lang="en-US" altLang="ja-JP" sz="2400" dirty="0"/>
          </a:p>
          <a:p>
            <a:r>
              <a:rPr lang="ja-JP" altLang="en-US" sz="2400" dirty="0"/>
              <a:t>これで</a:t>
            </a:r>
            <a:r>
              <a:rPr lang="en-US" altLang="ja-JP" sz="2400" dirty="0"/>
              <a:t>Player</a:t>
            </a:r>
            <a:r>
              <a:rPr lang="ja-JP" altLang="en-US" sz="2400" dirty="0"/>
              <a:t>の所有権を持つ変数がすべてなくなりました。</a:t>
            </a:r>
            <a:endParaRPr lang="en-US" altLang="ja-JP" sz="2400" dirty="0"/>
          </a:p>
          <a:p>
            <a:endParaRPr lang="en-US" altLang="ja-JP" sz="2400" dirty="0"/>
          </a:p>
          <a:p>
            <a:r>
              <a:rPr lang="ja-JP" altLang="en-US" sz="2400" dirty="0"/>
              <a:t>スマートポインターで生成したオブジェクトは、</a:t>
            </a:r>
            <a:endParaRPr lang="en-US" altLang="ja-JP" sz="2400" dirty="0"/>
          </a:p>
          <a:p>
            <a:r>
              <a:rPr lang="ja-JP" altLang="en-US" sz="2400" b="1" dirty="0">
                <a:solidFill>
                  <a:srgbClr val="FF0000"/>
                </a:solidFill>
              </a:rPr>
              <a:t>所有権がなくなれば自動で</a:t>
            </a:r>
            <a:r>
              <a:rPr lang="en-US" altLang="ja-JP" sz="2400" b="1" dirty="0">
                <a:solidFill>
                  <a:srgbClr val="FF0000"/>
                </a:solidFill>
              </a:rPr>
              <a:t>delete</a:t>
            </a:r>
            <a:r>
              <a:rPr lang="ja-JP" altLang="en-US" sz="2400" dirty="0"/>
              <a:t>されます。</a:t>
            </a:r>
            <a:endParaRPr lang="en-US" altLang="ja-JP" sz="2400" dirty="0"/>
          </a:p>
        </p:txBody>
      </p:sp>
      <p:pic>
        <p:nvPicPr>
          <p:cNvPr id="5" name="図 4">
            <a:extLst>
              <a:ext uri="{FF2B5EF4-FFF2-40B4-BE49-F238E27FC236}">
                <a16:creationId xmlns:a16="http://schemas.microsoft.com/office/drawing/2014/main" id="{B3814176-4905-4AC9-BD15-7AE4EA39E5FB}"/>
              </a:ext>
            </a:extLst>
          </p:cNvPr>
          <p:cNvPicPr>
            <a:picLocks noChangeAspect="1"/>
          </p:cNvPicPr>
          <p:nvPr/>
        </p:nvPicPr>
        <p:blipFill>
          <a:blip r:embed="rId2"/>
          <a:stretch>
            <a:fillRect/>
          </a:stretch>
        </p:blipFill>
        <p:spPr>
          <a:xfrm>
            <a:off x="567542" y="3295121"/>
            <a:ext cx="9362131" cy="1088620"/>
          </a:xfrm>
          <a:prstGeom prst="rect">
            <a:avLst/>
          </a:prstGeom>
        </p:spPr>
      </p:pic>
      <p:sp>
        <p:nvSpPr>
          <p:cNvPr id="8" name="テキスト ボックス 7">
            <a:extLst>
              <a:ext uri="{FF2B5EF4-FFF2-40B4-BE49-F238E27FC236}">
                <a16:creationId xmlns:a16="http://schemas.microsoft.com/office/drawing/2014/main" id="{93C76CBA-B858-4AC5-9825-4ED7ADD359AC}"/>
              </a:ext>
            </a:extLst>
          </p:cNvPr>
          <p:cNvSpPr txBox="1"/>
          <p:nvPr/>
        </p:nvSpPr>
        <p:spPr>
          <a:xfrm>
            <a:off x="567542" y="4523441"/>
            <a:ext cx="10299614" cy="461665"/>
          </a:xfrm>
          <a:prstGeom prst="rect">
            <a:avLst/>
          </a:prstGeom>
          <a:noFill/>
        </p:spPr>
        <p:txBody>
          <a:bodyPr wrap="none" rtlCol="0">
            <a:spAutoFit/>
          </a:bodyPr>
          <a:lstStyle/>
          <a:p>
            <a:r>
              <a:rPr lang="ja-JP" altLang="en-US" sz="2400" dirty="0"/>
              <a:t>実際に</a:t>
            </a:r>
            <a:r>
              <a:rPr lang="en-US" altLang="ja-JP" sz="2400" b="1" dirty="0">
                <a:solidFill>
                  <a:srgbClr val="0070C0"/>
                </a:solidFill>
              </a:rPr>
              <a:t>delete</a:t>
            </a:r>
            <a:r>
              <a:rPr lang="ja-JP" altLang="en-US" sz="2400" dirty="0"/>
              <a:t>は使ってないですが、</a:t>
            </a:r>
            <a:r>
              <a:rPr lang="ja-JP" altLang="en-US" sz="2400" b="1" dirty="0">
                <a:solidFill>
                  <a:srgbClr val="FF0000"/>
                </a:solidFill>
              </a:rPr>
              <a:t>デストラクタが呼ばれている</a:t>
            </a:r>
            <a:r>
              <a:rPr lang="ja-JP" altLang="en-US" sz="2400" dirty="0"/>
              <a:t>はずです</a:t>
            </a:r>
            <a:endParaRPr lang="en-US" altLang="ja-JP" sz="2400" dirty="0"/>
          </a:p>
        </p:txBody>
      </p:sp>
    </p:spTree>
    <p:extLst>
      <p:ext uri="{BB962C8B-B14F-4D97-AF65-F5344CB8AC3E}">
        <p14:creationId xmlns:p14="http://schemas.microsoft.com/office/powerpoint/2010/main" val="4158749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267515" cy="461665"/>
          </a:xfrm>
          <a:prstGeom prst="rect">
            <a:avLst/>
          </a:prstGeom>
          <a:noFill/>
        </p:spPr>
        <p:txBody>
          <a:bodyPr wrap="none" rtlCol="0">
            <a:spAutoFit/>
          </a:bodyPr>
          <a:lstStyle/>
          <a:p>
            <a:r>
              <a:rPr lang="ja-JP" altLang="en-US" sz="2400" dirty="0"/>
              <a:t>続いて</a:t>
            </a:r>
            <a:r>
              <a:rPr lang="en-US" altLang="ja-JP" sz="2400" dirty="0"/>
              <a:t>Shared</a:t>
            </a:r>
            <a:r>
              <a:rPr lang="ja-JP" altLang="en-US" sz="2400" dirty="0"/>
              <a:t>を練習します。</a:t>
            </a:r>
            <a:endParaRPr lang="en-US" altLang="ja-JP" sz="2400" dirty="0"/>
          </a:p>
        </p:txBody>
      </p:sp>
      <p:pic>
        <p:nvPicPr>
          <p:cNvPr id="3" name="図 2">
            <a:extLst>
              <a:ext uri="{FF2B5EF4-FFF2-40B4-BE49-F238E27FC236}">
                <a16:creationId xmlns:a16="http://schemas.microsoft.com/office/drawing/2014/main" id="{327D281B-E888-48FE-AA5B-61D92E77C303}"/>
              </a:ext>
            </a:extLst>
          </p:cNvPr>
          <p:cNvPicPr>
            <a:picLocks noChangeAspect="1"/>
          </p:cNvPicPr>
          <p:nvPr/>
        </p:nvPicPr>
        <p:blipFill>
          <a:blip r:embed="rId2"/>
          <a:stretch>
            <a:fillRect/>
          </a:stretch>
        </p:blipFill>
        <p:spPr>
          <a:xfrm>
            <a:off x="567542" y="1817794"/>
            <a:ext cx="7716327" cy="4048690"/>
          </a:xfrm>
          <a:prstGeom prst="rect">
            <a:avLst/>
          </a:prstGeom>
        </p:spPr>
      </p:pic>
    </p:spTree>
    <p:extLst>
      <p:ext uri="{BB962C8B-B14F-4D97-AF65-F5344CB8AC3E}">
        <p14:creationId xmlns:p14="http://schemas.microsoft.com/office/powerpoint/2010/main" val="2962186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241632" cy="830997"/>
          </a:xfrm>
          <a:prstGeom prst="rect">
            <a:avLst/>
          </a:prstGeom>
          <a:noFill/>
        </p:spPr>
        <p:txBody>
          <a:bodyPr wrap="none" rtlCol="0">
            <a:spAutoFit/>
          </a:bodyPr>
          <a:lstStyle/>
          <a:p>
            <a:r>
              <a:rPr lang="en-US" altLang="ja-JP" sz="2400" dirty="0"/>
              <a:t>Shared</a:t>
            </a:r>
            <a:r>
              <a:rPr lang="ja-JP" altLang="en-US" sz="2400" dirty="0"/>
              <a:t>は所有権を複数の変数に持たせることができます。</a:t>
            </a:r>
            <a:endParaRPr lang="en-US" altLang="ja-JP" sz="2400" dirty="0"/>
          </a:p>
          <a:p>
            <a:r>
              <a:rPr lang="ja-JP" altLang="en-US" sz="2400" dirty="0"/>
              <a:t>サンプルでは</a:t>
            </a:r>
            <a:r>
              <a:rPr lang="en-US" altLang="ja-JP" sz="2400" b="1" dirty="0" err="1"/>
              <a:t>g_SharedPlayer</a:t>
            </a:r>
            <a:r>
              <a:rPr lang="ja-JP" altLang="en-US" sz="2400" dirty="0"/>
              <a:t>と</a:t>
            </a:r>
            <a:r>
              <a:rPr lang="en-US" altLang="ja-JP" sz="2400" b="1" dirty="0"/>
              <a:t>player</a:t>
            </a:r>
            <a:r>
              <a:rPr lang="ja-JP" altLang="en-US" sz="2400" dirty="0"/>
              <a:t>が所有権を持っています。</a:t>
            </a:r>
            <a:endParaRPr lang="en-US" altLang="ja-JP" sz="2400" dirty="0"/>
          </a:p>
        </p:txBody>
      </p:sp>
      <p:pic>
        <p:nvPicPr>
          <p:cNvPr id="3" name="図 2">
            <a:extLst>
              <a:ext uri="{FF2B5EF4-FFF2-40B4-BE49-F238E27FC236}">
                <a16:creationId xmlns:a16="http://schemas.microsoft.com/office/drawing/2014/main" id="{FAF5F6E7-704C-48F5-84C1-FB212484CCBE}"/>
              </a:ext>
            </a:extLst>
          </p:cNvPr>
          <p:cNvPicPr>
            <a:picLocks noChangeAspect="1"/>
          </p:cNvPicPr>
          <p:nvPr/>
        </p:nvPicPr>
        <p:blipFill>
          <a:blip r:embed="rId2"/>
          <a:stretch>
            <a:fillRect/>
          </a:stretch>
        </p:blipFill>
        <p:spPr>
          <a:xfrm>
            <a:off x="567542" y="2142946"/>
            <a:ext cx="6363588" cy="1286054"/>
          </a:xfrm>
          <a:prstGeom prst="rect">
            <a:avLst/>
          </a:prstGeom>
        </p:spPr>
      </p:pic>
      <p:sp>
        <p:nvSpPr>
          <p:cNvPr id="5" name="正方形/長方形 4">
            <a:extLst>
              <a:ext uri="{FF2B5EF4-FFF2-40B4-BE49-F238E27FC236}">
                <a16:creationId xmlns:a16="http://schemas.microsoft.com/office/drawing/2014/main" id="{B0EA7371-58E6-49A4-9583-2A15D87651DE}"/>
              </a:ext>
            </a:extLst>
          </p:cNvPr>
          <p:cNvSpPr/>
          <p:nvPr/>
        </p:nvSpPr>
        <p:spPr>
          <a:xfrm>
            <a:off x="567542" y="3730422"/>
            <a:ext cx="2026024" cy="26356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Player</a:t>
            </a:r>
            <a:endParaRPr kumimoji="1" lang="ja-JP" altLang="en-US" dirty="0"/>
          </a:p>
        </p:txBody>
      </p:sp>
      <p:sp>
        <p:nvSpPr>
          <p:cNvPr id="9" name="スクロール: 縦 8">
            <a:extLst>
              <a:ext uri="{FF2B5EF4-FFF2-40B4-BE49-F238E27FC236}">
                <a16:creationId xmlns:a16="http://schemas.microsoft.com/office/drawing/2014/main" id="{092CDC6E-92CB-41F0-A98C-E89F7C1E99A8}"/>
              </a:ext>
            </a:extLst>
          </p:cNvPr>
          <p:cNvSpPr/>
          <p:nvPr/>
        </p:nvSpPr>
        <p:spPr>
          <a:xfrm>
            <a:off x="3953934" y="3330182"/>
            <a:ext cx="1210733" cy="1329266"/>
          </a:xfrm>
          <a:prstGeom prst="verticalScroll">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ja-JP" b="1" dirty="0"/>
              <a:t>Player</a:t>
            </a:r>
            <a:r>
              <a:rPr kumimoji="1" lang="ja-JP" altLang="en-US" b="1" dirty="0"/>
              <a:t>所有権</a:t>
            </a:r>
          </a:p>
        </p:txBody>
      </p:sp>
      <p:sp>
        <p:nvSpPr>
          <p:cNvPr id="10" name="フローチャート: 代替処理 9">
            <a:extLst>
              <a:ext uri="{FF2B5EF4-FFF2-40B4-BE49-F238E27FC236}">
                <a16:creationId xmlns:a16="http://schemas.microsoft.com/office/drawing/2014/main" id="{74555550-CF5D-435A-8B72-0A59DF1011AC}"/>
              </a:ext>
            </a:extLst>
          </p:cNvPr>
          <p:cNvSpPr/>
          <p:nvPr/>
        </p:nvSpPr>
        <p:spPr>
          <a:xfrm>
            <a:off x="4783667" y="4350415"/>
            <a:ext cx="2489200" cy="537634"/>
          </a:xfrm>
          <a:prstGeom prst="flowChartAlternateProces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en-US" altLang="ja-JP" b="1" dirty="0"/>
              <a:t>player</a:t>
            </a:r>
            <a:endParaRPr kumimoji="1" lang="ja-JP" altLang="en-US" b="1" dirty="0"/>
          </a:p>
        </p:txBody>
      </p:sp>
      <p:sp>
        <p:nvSpPr>
          <p:cNvPr id="11" name="スクロール: 縦 10">
            <a:extLst>
              <a:ext uri="{FF2B5EF4-FFF2-40B4-BE49-F238E27FC236}">
                <a16:creationId xmlns:a16="http://schemas.microsoft.com/office/drawing/2014/main" id="{02BE6EC9-EB6E-4BED-852A-A79F7242BE1D}"/>
              </a:ext>
            </a:extLst>
          </p:cNvPr>
          <p:cNvSpPr/>
          <p:nvPr/>
        </p:nvSpPr>
        <p:spPr>
          <a:xfrm>
            <a:off x="3953934" y="5076996"/>
            <a:ext cx="1210733" cy="1329266"/>
          </a:xfrm>
          <a:prstGeom prst="verticalScroll">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ja-JP" b="1" dirty="0"/>
              <a:t>Player</a:t>
            </a:r>
            <a:r>
              <a:rPr kumimoji="1" lang="ja-JP" altLang="en-US" b="1" dirty="0"/>
              <a:t>所有権</a:t>
            </a:r>
          </a:p>
        </p:txBody>
      </p:sp>
      <p:sp>
        <p:nvSpPr>
          <p:cNvPr id="12" name="フローチャート: 代替処理 11">
            <a:extLst>
              <a:ext uri="{FF2B5EF4-FFF2-40B4-BE49-F238E27FC236}">
                <a16:creationId xmlns:a16="http://schemas.microsoft.com/office/drawing/2014/main" id="{5C8A2E50-40B4-4038-A26F-747A18E49E44}"/>
              </a:ext>
            </a:extLst>
          </p:cNvPr>
          <p:cNvSpPr/>
          <p:nvPr/>
        </p:nvSpPr>
        <p:spPr>
          <a:xfrm>
            <a:off x="4783667" y="6097229"/>
            <a:ext cx="2489200" cy="537634"/>
          </a:xfrm>
          <a:prstGeom prst="flowChartAlternateProces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en-US" altLang="ja-JP" b="1" dirty="0" err="1"/>
              <a:t>g_SharedPlayer</a:t>
            </a:r>
            <a:endParaRPr kumimoji="1" lang="ja-JP" altLang="en-US" b="1" dirty="0"/>
          </a:p>
        </p:txBody>
      </p:sp>
    </p:spTree>
    <p:extLst>
      <p:ext uri="{BB962C8B-B14F-4D97-AF65-F5344CB8AC3E}">
        <p14:creationId xmlns:p14="http://schemas.microsoft.com/office/powerpoint/2010/main" val="1684229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30447" cy="830997"/>
          </a:xfrm>
          <a:prstGeom prst="rect">
            <a:avLst/>
          </a:prstGeom>
          <a:noFill/>
        </p:spPr>
        <p:txBody>
          <a:bodyPr wrap="none" rtlCol="0">
            <a:spAutoFit/>
          </a:bodyPr>
          <a:lstStyle/>
          <a:p>
            <a:r>
              <a:rPr lang="ja-JP" altLang="en-US" sz="2400" dirty="0"/>
              <a:t>関数を抜けると</a:t>
            </a:r>
            <a:r>
              <a:rPr lang="en-US" altLang="ja-JP" sz="2400" dirty="0"/>
              <a:t>player</a:t>
            </a:r>
            <a:r>
              <a:rPr lang="ja-JP" altLang="en-US" sz="2400" dirty="0"/>
              <a:t>変数は無くなります。</a:t>
            </a:r>
            <a:endParaRPr lang="en-US" altLang="ja-JP" sz="2400" dirty="0"/>
          </a:p>
          <a:p>
            <a:r>
              <a:rPr lang="ja-JP" altLang="en-US" sz="2400" dirty="0"/>
              <a:t>ただし、</a:t>
            </a:r>
            <a:r>
              <a:rPr lang="en-US" altLang="ja-JP" sz="2400" b="1" dirty="0" err="1">
                <a:solidFill>
                  <a:srgbClr val="FF0000"/>
                </a:solidFill>
              </a:rPr>
              <a:t>g_SharedPlayer</a:t>
            </a:r>
            <a:r>
              <a:rPr lang="ja-JP" altLang="en-US" sz="2400" b="1" dirty="0">
                <a:solidFill>
                  <a:srgbClr val="FF0000"/>
                </a:solidFill>
              </a:rPr>
              <a:t>に所有権が残っているので自動削除されません。</a:t>
            </a:r>
            <a:endParaRPr lang="en-US" altLang="ja-JP" sz="2400" b="1" dirty="0">
              <a:solidFill>
                <a:srgbClr val="FF0000"/>
              </a:solidFill>
            </a:endParaRPr>
          </a:p>
        </p:txBody>
      </p:sp>
      <p:sp>
        <p:nvSpPr>
          <p:cNvPr id="5" name="正方形/長方形 4">
            <a:extLst>
              <a:ext uri="{FF2B5EF4-FFF2-40B4-BE49-F238E27FC236}">
                <a16:creationId xmlns:a16="http://schemas.microsoft.com/office/drawing/2014/main" id="{B0EA7371-58E6-49A4-9583-2A15D87651DE}"/>
              </a:ext>
            </a:extLst>
          </p:cNvPr>
          <p:cNvSpPr/>
          <p:nvPr/>
        </p:nvSpPr>
        <p:spPr>
          <a:xfrm>
            <a:off x="567542" y="3730422"/>
            <a:ext cx="2026024" cy="26356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Player</a:t>
            </a:r>
            <a:endParaRPr kumimoji="1" lang="ja-JP" altLang="en-US" dirty="0"/>
          </a:p>
        </p:txBody>
      </p:sp>
      <p:pic>
        <p:nvPicPr>
          <p:cNvPr id="9" name="図 8">
            <a:extLst>
              <a:ext uri="{FF2B5EF4-FFF2-40B4-BE49-F238E27FC236}">
                <a16:creationId xmlns:a16="http://schemas.microsoft.com/office/drawing/2014/main" id="{ACA86A39-9EC5-476B-A25F-731EF3074A15}"/>
              </a:ext>
            </a:extLst>
          </p:cNvPr>
          <p:cNvPicPr>
            <a:picLocks noChangeAspect="1"/>
          </p:cNvPicPr>
          <p:nvPr/>
        </p:nvPicPr>
        <p:blipFill>
          <a:blip r:embed="rId2"/>
          <a:stretch>
            <a:fillRect/>
          </a:stretch>
        </p:blipFill>
        <p:spPr>
          <a:xfrm>
            <a:off x="567542" y="2187126"/>
            <a:ext cx="7260287" cy="940452"/>
          </a:xfrm>
          <a:prstGeom prst="rect">
            <a:avLst/>
          </a:prstGeom>
        </p:spPr>
      </p:pic>
      <p:sp>
        <p:nvSpPr>
          <p:cNvPr id="12" name="テキスト ボックス 11">
            <a:extLst>
              <a:ext uri="{FF2B5EF4-FFF2-40B4-BE49-F238E27FC236}">
                <a16:creationId xmlns:a16="http://schemas.microsoft.com/office/drawing/2014/main" id="{DE8E4A33-B14B-4B1F-8488-988A4B9CE017}"/>
              </a:ext>
            </a:extLst>
          </p:cNvPr>
          <p:cNvSpPr txBox="1"/>
          <p:nvPr/>
        </p:nvSpPr>
        <p:spPr>
          <a:xfrm>
            <a:off x="6968239" y="4915838"/>
            <a:ext cx="4493538" cy="1569660"/>
          </a:xfrm>
          <a:prstGeom prst="rect">
            <a:avLst/>
          </a:prstGeom>
          <a:noFill/>
        </p:spPr>
        <p:txBody>
          <a:bodyPr wrap="none" rtlCol="0">
            <a:spAutoFit/>
          </a:bodyPr>
          <a:lstStyle/>
          <a:p>
            <a:r>
              <a:rPr lang="en-US" altLang="ja-JP" sz="2400" b="1" dirty="0">
                <a:solidFill>
                  <a:srgbClr val="00B050"/>
                </a:solidFill>
              </a:rPr>
              <a:t>MEMO</a:t>
            </a:r>
          </a:p>
          <a:p>
            <a:r>
              <a:rPr lang="ja-JP" altLang="en-US" sz="2400" dirty="0"/>
              <a:t>スマートポインターは、</a:t>
            </a:r>
            <a:endParaRPr lang="en-US" altLang="ja-JP" sz="2400" dirty="0"/>
          </a:p>
          <a:p>
            <a:r>
              <a:rPr lang="ja-JP" altLang="en-US" sz="2400" dirty="0"/>
              <a:t>全ての所有権がなくならないと</a:t>
            </a:r>
            <a:endParaRPr lang="en-US" altLang="ja-JP" sz="2400" dirty="0"/>
          </a:p>
          <a:p>
            <a:r>
              <a:rPr lang="ja-JP" altLang="en-US" sz="2400" dirty="0"/>
              <a:t>自動削除されません</a:t>
            </a:r>
            <a:endParaRPr lang="en-US" altLang="ja-JP" sz="2400" dirty="0"/>
          </a:p>
        </p:txBody>
      </p:sp>
      <p:sp>
        <p:nvSpPr>
          <p:cNvPr id="10" name="スクロール: 縦 9">
            <a:extLst>
              <a:ext uri="{FF2B5EF4-FFF2-40B4-BE49-F238E27FC236}">
                <a16:creationId xmlns:a16="http://schemas.microsoft.com/office/drawing/2014/main" id="{4B09212F-3E79-40B6-B48D-29012E7FF829}"/>
              </a:ext>
            </a:extLst>
          </p:cNvPr>
          <p:cNvSpPr/>
          <p:nvPr/>
        </p:nvSpPr>
        <p:spPr>
          <a:xfrm>
            <a:off x="3151292" y="3127578"/>
            <a:ext cx="1210733" cy="1329266"/>
          </a:xfrm>
          <a:prstGeom prst="verticalScroll">
            <a:avLst/>
          </a:prstGeom>
          <a:noFill/>
          <a:ln>
            <a:prstDash val="dash"/>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b="1" dirty="0"/>
          </a:p>
        </p:txBody>
      </p:sp>
      <p:sp>
        <p:nvSpPr>
          <p:cNvPr id="13" name="フローチャート: 代替処理 12">
            <a:extLst>
              <a:ext uri="{FF2B5EF4-FFF2-40B4-BE49-F238E27FC236}">
                <a16:creationId xmlns:a16="http://schemas.microsoft.com/office/drawing/2014/main" id="{4DFBEA3F-54D2-4095-A724-FBBEE0179FDF}"/>
              </a:ext>
            </a:extLst>
          </p:cNvPr>
          <p:cNvSpPr/>
          <p:nvPr/>
        </p:nvSpPr>
        <p:spPr>
          <a:xfrm>
            <a:off x="3981025" y="4147811"/>
            <a:ext cx="2489200" cy="537634"/>
          </a:xfrm>
          <a:prstGeom prst="flowChartAlternateProcess">
            <a:avLst/>
          </a:prstGeom>
          <a:noFill/>
          <a:ln>
            <a:prstDash val="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b="1" dirty="0"/>
          </a:p>
        </p:txBody>
      </p:sp>
      <p:sp>
        <p:nvSpPr>
          <p:cNvPr id="14" name="スクロール: 縦 13">
            <a:extLst>
              <a:ext uri="{FF2B5EF4-FFF2-40B4-BE49-F238E27FC236}">
                <a16:creationId xmlns:a16="http://schemas.microsoft.com/office/drawing/2014/main" id="{057BFEA7-7787-4425-B351-009B7976175C}"/>
              </a:ext>
            </a:extLst>
          </p:cNvPr>
          <p:cNvSpPr/>
          <p:nvPr/>
        </p:nvSpPr>
        <p:spPr>
          <a:xfrm>
            <a:off x="3151292" y="4874392"/>
            <a:ext cx="1210733" cy="1329266"/>
          </a:xfrm>
          <a:prstGeom prst="verticalScroll">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ja-JP" b="1" dirty="0"/>
              <a:t>Player</a:t>
            </a:r>
            <a:r>
              <a:rPr kumimoji="1" lang="ja-JP" altLang="en-US" b="1" dirty="0"/>
              <a:t>所有権</a:t>
            </a:r>
          </a:p>
        </p:txBody>
      </p:sp>
      <p:sp>
        <p:nvSpPr>
          <p:cNvPr id="15" name="フローチャート: 代替処理 14">
            <a:extLst>
              <a:ext uri="{FF2B5EF4-FFF2-40B4-BE49-F238E27FC236}">
                <a16:creationId xmlns:a16="http://schemas.microsoft.com/office/drawing/2014/main" id="{9F8914E6-1640-4225-9E23-E6DD7B91AC21}"/>
              </a:ext>
            </a:extLst>
          </p:cNvPr>
          <p:cNvSpPr/>
          <p:nvPr/>
        </p:nvSpPr>
        <p:spPr>
          <a:xfrm>
            <a:off x="3981025" y="5894625"/>
            <a:ext cx="2489200" cy="537634"/>
          </a:xfrm>
          <a:prstGeom prst="flowChartAlternateProces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en-US" altLang="ja-JP" b="1" dirty="0" err="1"/>
              <a:t>g_SharedPlayer</a:t>
            </a:r>
            <a:endParaRPr kumimoji="1" lang="ja-JP" altLang="en-US" b="1" dirty="0"/>
          </a:p>
        </p:txBody>
      </p:sp>
    </p:spTree>
    <p:extLst>
      <p:ext uri="{BB962C8B-B14F-4D97-AF65-F5344CB8AC3E}">
        <p14:creationId xmlns:p14="http://schemas.microsoft.com/office/powerpoint/2010/main" val="3860169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055919" cy="461665"/>
          </a:xfrm>
          <a:prstGeom prst="rect">
            <a:avLst/>
          </a:prstGeom>
          <a:noFill/>
        </p:spPr>
        <p:txBody>
          <a:bodyPr wrap="none" rtlCol="0">
            <a:spAutoFit/>
          </a:bodyPr>
          <a:lstStyle/>
          <a:p>
            <a:r>
              <a:rPr lang="ja-JP" altLang="en-US" sz="2400" dirty="0"/>
              <a:t>最後に</a:t>
            </a:r>
            <a:r>
              <a:rPr lang="en-US" altLang="ja-JP" sz="2400" dirty="0"/>
              <a:t>Weak</a:t>
            </a:r>
            <a:r>
              <a:rPr lang="ja-JP" altLang="en-US" sz="2400" dirty="0"/>
              <a:t>を練習します。</a:t>
            </a:r>
            <a:endParaRPr lang="en-US" altLang="ja-JP" sz="2400" b="1" dirty="0">
              <a:solidFill>
                <a:srgbClr val="FF0000"/>
              </a:solidFill>
            </a:endParaRPr>
          </a:p>
        </p:txBody>
      </p:sp>
      <p:pic>
        <p:nvPicPr>
          <p:cNvPr id="16" name="図 15">
            <a:extLst>
              <a:ext uri="{FF2B5EF4-FFF2-40B4-BE49-F238E27FC236}">
                <a16:creationId xmlns:a16="http://schemas.microsoft.com/office/drawing/2014/main" id="{694347CA-F58A-46B2-8B86-15CA6C8E9A6D}"/>
              </a:ext>
            </a:extLst>
          </p:cNvPr>
          <p:cNvPicPr>
            <a:picLocks noChangeAspect="1"/>
          </p:cNvPicPr>
          <p:nvPr/>
        </p:nvPicPr>
        <p:blipFill>
          <a:blip r:embed="rId2"/>
          <a:stretch>
            <a:fillRect/>
          </a:stretch>
        </p:blipFill>
        <p:spPr>
          <a:xfrm>
            <a:off x="567542" y="1817794"/>
            <a:ext cx="4969908" cy="4726441"/>
          </a:xfrm>
          <a:prstGeom prst="rect">
            <a:avLst/>
          </a:prstGeom>
        </p:spPr>
      </p:pic>
    </p:spTree>
    <p:extLst>
      <p:ext uri="{BB962C8B-B14F-4D97-AF65-F5344CB8AC3E}">
        <p14:creationId xmlns:p14="http://schemas.microsoft.com/office/powerpoint/2010/main" val="31770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642383" cy="830997"/>
          </a:xfrm>
          <a:prstGeom prst="rect">
            <a:avLst/>
          </a:prstGeom>
          <a:noFill/>
        </p:spPr>
        <p:txBody>
          <a:bodyPr wrap="none" rtlCol="0">
            <a:spAutoFit/>
          </a:bodyPr>
          <a:lstStyle/>
          <a:p>
            <a:r>
              <a:rPr lang="en-US" altLang="ja-JP" sz="2400" b="1" dirty="0">
                <a:solidFill>
                  <a:srgbClr val="00B050"/>
                </a:solidFill>
              </a:rPr>
              <a:t>Weak</a:t>
            </a:r>
            <a:r>
              <a:rPr lang="ja-JP" altLang="en-US" sz="2400" dirty="0"/>
              <a:t>は</a:t>
            </a:r>
            <a:r>
              <a:rPr lang="en-US" altLang="ja-JP" sz="2400" b="1" dirty="0">
                <a:solidFill>
                  <a:srgbClr val="FF0000"/>
                </a:solidFill>
              </a:rPr>
              <a:t>Shared</a:t>
            </a:r>
            <a:r>
              <a:rPr lang="ja-JP" altLang="en-US" sz="2400" b="1" dirty="0">
                <a:solidFill>
                  <a:srgbClr val="FF0000"/>
                </a:solidFill>
              </a:rPr>
              <a:t>一時参照用のポインター</a:t>
            </a:r>
            <a:r>
              <a:rPr lang="ja-JP" altLang="en-US" sz="2400" dirty="0"/>
              <a:t>です。</a:t>
            </a:r>
            <a:endParaRPr lang="en-US" altLang="ja-JP" sz="2400" dirty="0"/>
          </a:p>
          <a:p>
            <a:r>
              <a:rPr lang="ja-JP" altLang="en-US" sz="2400" b="1" dirty="0">
                <a:solidFill>
                  <a:srgbClr val="FF0000"/>
                </a:solidFill>
              </a:rPr>
              <a:t>参照機能のみで所有権は持ちません。</a:t>
            </a:r>
            <a:r>
              <a:rPr lang="en-US" altLang="ja-JP" sz="2400" b="1" dirty="0" err="1">
                <a:solidFill>
                  <a:srgbClr val="FF0000"/>
                </a:solidFill>
              </a:rPr>
              <a:t>make_weak</a:t>
            </a:r>
            <a:r>
              <a:rPr lang="ja-JP" altLang="en-US" sz="2400" b="1" dirty="0">
                <a:solidFill>
                  <a:srgbClr val="FF0000"/>
                </a:solidFill>
              </a:rPr>
              <a:t>関数もありません</a:t>
            </a:r>
            <a:endParaRPr lang="en-US" altLang="ja-JP" sz="2400" b="1" dirty="0">
              <a:solidFill>
                <a:srgbClr val="FF0000"/>
              </a:solidFill>
            </a:endParaRPr>
          </a:p>
        </p:txBody>
      </p:sp>
      <p:pic>
        <p:nvPicPr>
          <p:cNvPr id="5" name="図 4">
            <a:extLst>
              <a:ext uri="{FF2B5EF4-FFF2-40B4-BE49-F238E27FC236}">
                <a16:creationId xmlns:a16="http://schemas.microsoft.com/office/drawing/2014/main" id="{A41D3E00-AC55-4B31-A03D-472D9CA46D58}"/>
              </a:ext>
            </a:extLst>
          </p:cNvPr>
          <p:cNvPicPr>
            <a:picLocks noChangeAspect="1"/>
          </p:cNvPicPr>
          <p:nvPr/>
        </p:nvPicPr>
        <p:blipFill>
          <a:blip r:embed="rId2"/>
          <a:stretch>
            <a:fillRect/>
          </a:stretch>
        </p:blipFill>
        <p:spPr>
          <a:xfrm>
            <a:off x="567542" y="2187126"/>
            <a:ext cx="9835496" cy="3236521"/>
          </a:xfrm>
          <a:prstGeom prst="rect">
            <a:avLst/>
          </a:prstGeom>
        </p:spPr>
      </p:pic>
    </p:spTree>
    <p:extLst>
      <p:ext uri="{BB962C8B-B14F-4D97-AF65-F5344CB8AC3E}">
        <p14:creationId xmlns:p14="http://schemas.microsoft.com/office/powerpoint/2010/main" val="114021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52514" cy="1569660"/>
          </a:xfrm>
          <a:prstGeom prst="rect">
            <a:avLst/>
          </a:prstGeom>
          <a:noFill/>
        </p:spPr>
        <p:txBody>
          <a:bodyPr wrap="none" rtlCol="0">
            <a:spAutoFit/>
          </a:bodyPr>
          <a:lstStyle/>
          <a:p>
            <a:r>
              <a:rPr lang="en-US" altLang="ja-JP" sz="2400" dirty="0"/>
              <a:t>Weak</a:t>
            </a:r>
            <a:r>
              <a:rPr lang="ja-JP" altLang="en-US" sz="2400" dirty="0"/>
              <a:t>ポインターの</a:t>
            </a:r>
            <a:r>
              <a:rPr lang="en-US" altLang="ja-JP" sz="2400" b="1" dirty="0">
                <a:solidFill>
                  <a:srgbClr val="0070C0"/>
                </a:solidFill>
              </a:rPr>
              <a:t>lock</a:t>
            </a:r>
            <a:r>
              <a:rPr lang="ja-JP" altLang="en-US" sz="2400" b="1" dirty="0">
                <a:solidFill>
                  <a:srgbClr val="0070C0"/>
                </a:solidFill>
              </a:rPr>
              <a:t>関数</a:t>
            </a:r>
            <a:r>
              <a:rPr lang="ja-JP" altLang="en-US" sz="2400" dirty="0"/>
              <a:t>は</a:t>
            </a:r>
            <a:r>
              <a:rPr lang="ja-JP" altLang="en-US" sz="2400" b="1" dirty="0">
                <a:solidFill>
                  <a:srgbClr val="FF0000"/>
                </a:solidFill>
              </a:rPr>
              <a:t>参照している</a:t>
            </a:r>
            <a:r>
              <a:rPr lang="en-US" altLang="ja-JP" sz="2400" b="1" dirty="0">
                <a:solidFill>
                  <a:srgbClr val="FF0000"/>
                </a:solidFill>
              </a:rPr>
              <a:t>Shared</a:t>
            </a:r>
            <a:r>
              <a:rPr lang="ja-JP" altLang="en-US" sz="2400" b="1" dirty="0">
                <a:solidFill>
                  <a:srgbClr val="FF0000"/>
                </a:solidFill>
              </a:rPr>
              <a:t>を返却する関数</a:t>
            </a:r>
            <a:r>
              <a:rPr lang="ja-JP" altLang="en-US" sz="2400" dirty="0"/>
              <a:t>です。</a:t>
            </a:r>
            <a:endParaRPr lang="en-US" altLang="ja-JP" sz="2400" dirty="0"/>
          </a:p>
          <a:p>
            <a:r>
              <a:rPr lang="en-US" altLang="ja-JP" sz="2400" b="1" dirty="0">
                <a:solidFill>
                  <a:srgbClr val="FF0000"/>
                </a:solidFill>
              </a:rPr>
              <a:t>Shared</a:t>
            </a:r>
            <a:r>
              <a:rPr lang="ja-JP" altLang="en-US" sz="2400" b="1" dirty="0">
                <a:solidFill>
                  <a:srgbClr val="FF0000"/>
                </a:solidFill>
              </a:rPr>
              <a:t>の所有権も１つ増えます。</a:t>
            </a:r>
            <a:endParaRPr lang="en-US" altLang="ja-JP" sz="2400" b="1" dirty="0">
              <a:solidFill>
                <a:srgbClr val="FF0000"/>
              </a:solidFill>
            </a:endParaRPr>
          </a:p>
          <a:p>
            <a:r>
              <a:rPr lang="en-US" altLang="ja-JP" sz="2400" dirty="0"/>
              <a:t>Weak</a:t>
            </a:r>
            <a:r>
              <a:rPr lang="ja-JP" altLang="en-US" sz="2400" dirty="0"/>
              <a:t>ポインターからはメンバーにアクセスできないため、</a:t>
            </a:r>
            <a:endParaRPr lang="en-US" altLang="ja-JP" sz="2400" dirty="0"/>
          </a:p>
          <a:p>
            <a:r>
              <a:rPr lang="en-US" altLang="ja-JP" sz="2400" dirty="0"/>
              <a:t>lock</a:t>
            </a:r>
            <a:r>
              <a:rPr lang="ja-JP" altLang="en-US" sz="2400" dirty="0"/>
              <a:t>関数から</a:t>
            </a:r>
            <a:r>
              <a:rPr lang="en-US" altLang="ja-JP" sz="2400" dirty="0"/>
              <a:t>Shared</a:t>
            </a:r>
            <a:r>
              <a:rPr lang="ja-JP" altLang="en-US" sz="2400" dirty="0"/>
              <a:t>を取得してアクセスします。</a:t>
            </a:r>
            <a:endParaRPr lang="en-US" altLang="ja-JP" sz="2400" dirty="0"/>
          </a:p>
        </p:txBody>
      </p:sp>
      <p:pic>
        <p:nvPicPr>
          <p:cNvPr id="3" name="図 2">
            <a:extLst>
              <a:ext uri="{FF2B5EF4-FFF2-40B4-BE49-F238E27FC236}">
                <a16:creationId xmlns:a16="http://schemas.microsoft.com/office/drawing/2014/main" id="{35C678E0-0131-4A47-8B3A-FDFBEFF30EB6}"/>
              </a:ext>
            </a:extLst>
          </p:cNvPr>
          <p:cNvPicPr>
            <a:picLocks noChangeAspect="1"/>
          </p:cNvPicPr>
          <p:nvPr/>
        </p:nvPicPr>
        <p:blipFill>
          <a:blip r:embed="rId2"/>
          <a:stretch>
            <a:fillRect/>
          </a:stretch>
        </p:blipFill>
        <p:spPr>
          <a:xfrm>
            <a:off x="567542" y="2921307"/>
            <a:ext cx="7464834" cy="2484547"/>
          </a:xfrm>
          <a:prstGeom prst="rect">
            <a:avLst/>
          </a:prstGeom>
        </p:spPr>
      </p:pic>
    </p:spTree>
    <p:extLst>
      <p:ext uri="{BB962C8B-B14F-4D97-AF65-F5344CB8AC3E}">
        <p14:creationId xmlns:p14="http://schemas.microsoft.com/office/powerpoint/2010/main" val="1815629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874819" cy="461665"/>
          </a:xfrm>
          <a:prstGeom prst="rect">
            <a:avLst/>
          </a:prstGeom>
          <a:noFill/>
        </p:spPr>
        <p:txBody>
          <a:bodyPr wrap="none" rtlCol="0">
            <a:spAutoFit/>
          </a:bodyPr>
          <a:lstStyle/>
          <a:p>
            <a:r>
              <a:rPr lang="ja-JP" altLang="en-US" sz="2400" b="1" dirty="0">
                <a:solidFill>
                  <a:srgbClr val="FF0000"/>
                </a:solidFill>
              </a:rPr>
              <a:t>参照先の</a:t>
            </a:r>
            <a:r>
              <a:rPr lang="en-US" altLang="ja-JP" sz="2400" b="1" dirty="0">
                <a:solidFill>
                  <a:srgbClr val="FF0000"/>
                </a:solidFill>
              </a:rPr>
              <a:t>Shared</a:t>
            </a:r>
            <a:r>
              <a:rPr lang="ja-JP" altLang="en-US" sz="2400" b="1" dirty="0">
                <a:solidFill>
                  <a:srgbClr val="FF0000"/>
                </a:solidFill>
              </a:rPr>
              <a:t>が消えていた場合、</a:t>
            </a:r>
            <a:r>
              <a:rPr lang="en-US" altLang="ja-JP" sz="2400" b="1" dirty="0">
                <a:solidFill>
                  <a:srgbClr val="FF0000"/>
                </a:solidFill>
              </a:rPr>
              <a:t>lock</a:t>
            </a:r>
            <a:r>
              <a:rPr lang="ja-JP" altLang="en-US" sz="2400" b="1" dirty="0">
                <a:solidFill>
                  <a:srgbClr val="FF0000"/>
                </a:solidFill>
              </a:rPr>
              <a:t>関数は</a:t>
            </a:r>
            <a:r>
              <a:rPr lang="en-US" altLang="ja-JP" sz="2400" b="1" dirty="0">
                <a:solidFill>
                  <a:srgbClr val="FF0000"/>
                </a:solidFill>
              </a:rPr>
              <a:t>empty</a:t>
            </a:r>
            <a:r>
              <a:rPr lang="ja-JP" altLang="en-US" sz="2400" b="1" dirty="0">
                <a:solidFill>
                  <a:srgbClr val="FF0000"/>
                </a:solidFill>
              </a:rPr>
              <a:t>を返却します。</a:t>
            </a:r>
            <a:endParaRPr lang="en-US" altLang="ja-JP" sz="2400" b="1" dirty="0">
              <a:solidFill>
                <a:srgbClr val="FF0000"/>
              </a:solidFill>
            </a:endParaRPr>
          </a:p>
        </p:txBody>
      </p:sp>
      <p:pic>
        <p:nvPicPr>
          <p:cNvPr id="10" name="図 9">
            <a:extLst>
              <a:ext uri="{FF2B5EF4-FFF2-40B4-BE49-F238E27FC236}">
                <a16:creationId xmlns:a16="http://schemas.microsoft.com/office/drawing/2014/main" id="{9FA8E109-1019-4692-AA73-AE771215D3A5}"/>
              </a:ext>
            </a:extLst>
          </p:cNvPr>
          <p:cNvPicPr>
            <a:picLocks noChangeAspect="1"/>
          </p:cNvPicPr>
          <p:nvPr/>
        </p:nvPicPr>
        <p:blipFill>
          <a:blip r:embed="rId2"/>
          <a:stretch>
            <a:fillRect/>
          </a:stretch>
        </p:blipFill>
        <p:spPr>
          <a:xfrm>
            <a:off x="567541" y="1817794"/>
            <a:ext cx="9447665" cy="3749288"/>
          </a:xfrm>
          <a:prstGeom prst="rect">
            <a:avLst/>
          </a:prstGeom>
        </p:spPr>
      </p:pic>
    </p:spTree>
    <p:extLst>
      <p:ext uri="{BB962C8B-B14F-4D97-AF65-F5344CB8AC3E}">
        <p14:creationId xmlns:p14="http://schemas.microsoft.com/office/powerpoint/2010/main" val="71330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62096" cy="3785652"/>
          </a:xfrm>
          <a:prstGeom prst="rect">
            <a:avLst/>
          </a:prstGeom>
          <a:noFill/>
        </p:spPr>
        <p:txBody>
          <a:bodyPr wrap="none" rtlCol="0">
            <a:spAutoFit/>
          </a:bodyPr>
          <a:lstStyle/>
          <a:p>
            <a:r>
              <a:rPr lang="en-US" altLang="ja-JP" sz="2400" b="1" dirty="0">
                <a:solidFill>
                  <a:srgbClr val="00B050"/>
                </a:solidFill>
              </a:rPr>
              <a:t>Weak</a:t>
            </a:r>
            <a:r>
              <a:rPr lang="ja-JP" altLang="en-US" sz="2400" dirty="0"/>
              <a:t>は</a:t>
            </a:r>
            <a:r>
              <a:rPr lang="en-US" altLang="ja-JP" sz="2400" b="1" dirty="0">
                <a:solidFill>
                  <a:srgbClr val="FF0000"/>
                </a:solidFill>
              </a:rPr>
              <a:t>Shared</a:t>
            </a:r>
            <a:r>
              <a:rPr lang="ja-JP" altLang="en-US" sz="2400" b="1" dirty="0">
                <a:solidFill>
                  <a:srgbClr val="FF0000"/>
                </a:solidFill>
              </a:rPr>
              <a:t>を安全に使用するためにあるポインター</a:t>
            </a:r>
            <a:r>
              <a:rPr lang="ja-JP" altLang="en-US" sz="2400" dirty="0"/>
              <a:t>です。</a:t>
            </a:r>
            <a:endParaRPr lang="en-US" altLang="ja-JP" sz="2400" dirty="0"/>
          </a:p>
          <a:p>
            <a:r>
              <a:rPr lang="en-US" altLang="ja-JP" sz="2400" b="1" dirty="0">
                <a:solidFill>
                  <a:srgbClr val="0070C0"/>
                </a:solidFill>
              </a:rPr>
              <a:t>lock</a:t>
            </a:r>
            <a:r>
              <a:rPr lang="ja-JP" altLang="en-US" sz="2400" b="1" dirty="0">
                <a:solidFill>
                  <a:srgbClr val="0070C0"/>
                </a:solidFill>
              </a:rPr>
              <a:t>関数</a:t>
            </a:r>
            <a:r>
              <a:rPr lang="ja-JP" altLang="en-US" sz="2400" dirty="0"/>
              <a:t>をローカルに使うことにより、</a:t>
            </a:r>
            <a:endParaRPr lang="en-US" altLang="ja-JP" sz="2400" dirty="0"/>
          </a:p>
          <a:p>
            <a:r>
              <a:rPr lang="ja-JP" altLang="en-US" sz="2400" dirty="0"/>
              <a:t>危険な</a:t>
            </a:r>
            <a:r>
              <a:rPr lang="en-US" altLang="ja-JP" sz="2400" dirty="0"/>
              <a:t>Shared</a:t>
            </a:r>
            <a:r>
              <a:rPr lang="ja-JP" altLang="en-US" sz="2400" dirty="0"/>
              <a:t>のコピーを回避することができます。</a:t>
            </a:r>
            <a:endParaRPr lang="en-US" altLang="ja-JP" sz="2400" dirty="0"/>
          </a:p>
          <a:p>
            <a:endParaRPr lang="en-US" altLang="ja-JP" sz="2400" dirty="0"/>
          </a:p>
          <a:p>
            <a:r>
              <a:rPr lang="ja-JP" altLang="en-US" sz="2400" dirty="0"/>
              <a:t>安全なプログラムを組むためにも、</a:t>
            </a:r>
            <a:endParaRPr lang="en-US" altLang="ja-JP" sz="2400" dirty="0"/>
          </a:p>
          <a:p>
            <a:r>
              <a:rPr lang="en-US" altLang="ja-JP" sz="2400" b="1" dirty="0">
                <a:solidFill>
                  <a:srgbClr val="FF0000"/>
                </a:solidFill>
              </a:rPr>
              <a:t>Shared</a:t>
            </a:r>
            <a:r>
              <a:rPr lang="ja-JP" altLang="en-US" sz="2400" b="1" dirty="0">
                <a:solidFill>
                  <a:srgbClr val="FF0000"/>
                </a:solidFill>
              </a:rPr>
              <a:t>のコピーを使用する際は、一度</a:t>
            </a:r>
            <a:r>
              <a:rPr lang="en-US" altLang="ja-JP" sz="2400" b="1" dirty="0">
                <a:solidFill>
                  <a:srgbClr val="FF0000"/>
                </a:solidFill>
              </a:rPr>
              <a:t>Weak</a:t>
            </a:r>
            <a:r>
              <a:rPr lang="ja-JP" altLang="en-US" sz="2400" b="1" dirty="0">
                <a:solidFill>
                  <a:srgbClr val="FF0000"/>
                </a:solidFill>
              </a:rPr>
              <a:t>を検討しましょう。</a:t>
            </a:r>
            <a:endParaRPr lang="en-US" altLang="ja-JP" sz="2400" b="1" dirty="0">
              <a:solidFill>
                <a:srgbClr val="FF0000"/>
              </a:solidFill>
            </a:endParaRPr>
          </a:p>
          <a:p>
            <a:endParaRPr lang="en-US" altLang="ja-JP" sz="2400" dirty="0"/>
          </a:p>
          <a:p>
            <a:r>
              <a:rPr lang="ja-JP" altLang="en-US" sz="2400" b="1" dirty="0">
                <a:solidFill>
                  <a:srgbClr val="FF0000"/>
                </a:solidFill>
              </a:rPr>
              <a:t>■注意</a:t>
            </a:r>
            <a:endParaRPr lang="en-US" altLang="ja-JP" sz="2400" b="1" dirty="0">
              <a:solidFill>
                <a:srgbClr val="FF0000"/>
              </a:solidFill>
            </a:endParaRPr>
          </a:p>
          <a:p>
            <a:r>
              <a:rPr lang="en-US" altLang="ja-JP" sz="2400" b="1" dirty="0">
                <a:solidFill>
                  <a:srgbClr val="0070C0"/>
                </a:solidFill>
              </a:rPr>
              <a:t>lock</a:t>
            </a:r>
            <a:r>
              <a:rPr lang="ja-JP" altLang="en-US" sz="2400" b="1" dirty="0">
                <a:solidFill>
                  <a:srgbClr val="0070C0"/>
                </a:solidFill>
              </a:rPr>
              <a:t>関数</a:t>
            </a:r>
            <a:r>
              <a:rPr lang="ja-JP" altLang="en-US" sz="2400" dirty="0"/>
              <a:t>の受取先が</a:t>
            </a:r>
            <a:r>
              <a:rPr lang="ja-JP" altLang="en-US" sz="2400" b="1" dirty="0">
                <a:solidFill>
                  <a:srgbClr val="FF0000"/>
                </a:solidFill>
              </a:rPr>
              <a:t>グローバル変数</a:t>
            </a:r>
            <a:r>
              <a:rPr lang="ja-JP" altLang="en-US" sz="2400" dirty="0"/>
              <a:t>だと、</a:t>
            </a:r>
            <a:endParaRPr lang="en-US" altLang="ja-JP" sz="2400" dirty="0"/>
          </a:p>
          <a:p>
            <a:r>
              <a:rPr lang="ja-JP" altLang="en-US" sz="2400" dirty="0"/>
              <a:t>所有権が残りっぱなしで自動削除されないことが起きます。</a:t>
            </a:r>
            <a:endParaRPr lang="en-US" altLang="ja-JP" sz="2400" dirty="0"/>
          </a:p>
        </p:txBody>
      </p:sp>
    </p:spTree>
    <p:extLst>
      <p:ext uri="{BB962C8B-B14F-4D97-AF65-F5344CB8AC3E}">
        <p14:creationId xmlns:p14="http://schemas.microsoft.com/office/powerpoint/2010/main" val="714390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lang="ja-JP" altLang="en-US" sz="3200" b="1" u="sng" dirty="0"/>
              <a:t>スマートポインター</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264622" cy="4524315"/>
          </a:xfrm>
          <a:prstGeom prst="rect">
            <a:avLst/>
          </a:prstGeom>
          <a:noFill/>
        </p:spPr>
        <p:txBody>
          <a:bodyPr wrap="none" rtlCol="0">
            <a:spAutoFit/>
          </a:bodyPr>
          <a:lstStyle/>
          <a:p>
            <a:r>
              <a:rPr lang="ja-JP" altLang="en-US" sz="2400" dirty="0"/>
              <a:t>ゲーム制作では基本的に</a:t>
            </a:r>
            <a:r>
              <a:rPr lang="en-US" altLang="ja-JP" sz="2400" b="1" dirty="0">
                <a:solidFill>
                  <a:srgbClr val="00B050"/>
                </a:solidFill>
              </a:rPr>
              <a:t>Unique</a:t>
            </a:r>
            <a:r>
              <a:rPr lang="ja-JP" altLang="en-US" sz="2400" dirty="0"/>
              <a:t>を使います。</a:t>
            </a:r>
            <a:endParaRPr lang="en-US" altLang="ja-JP" sz="2400" dirty="0"/>
          </a:p>
          <a:p>
            <a:r>
              <a:rPr lang="en-US" altLang="ja-JP" sz="2400" b="1" dirty="0">
                <a:solidFill>
                  <a:srgbClr val="00B050"/>
                </a:solidFill>
              </a:rPr>
              <a:t>Unique</a:t>
            </a:r>
            <a:r>
              <a:rPr lang="ja-JP" altLang="en-US" sz="2400" dirty="0"/>
              <a:t>で実装できない場合は</a:t>
            </a:r>
            <a:r>
              <a:rPr lang="en-US" altLang="ja-JP" sz="2400" b="1" dirty="0">
                <a:solidFill>
                  <a:srgbClr val="00B050"/>
                </a:solidFill>
              </a:rPr>
              <a:t>Shared</a:t>
            </a:r>
            <a:r>
              <a:rPr lang="ja-JP" altLang="en-US" sz="2400" dirty="0"/>
              <a:t>や</a:t>
            </a:r>
            <a:r>
              <a:rPr lang="en-US" altLang="ja-JP" sz="2400" b="1" dirty="0">
                <a:solidFill>
                  <a:srgbClr val="00B050"/>
                </a:solidFill>
              </a:rPr>
              <a:t>Weak</a:t>
            </a:r>
            <a:r>
              <a:rPr lang="ja-JP" altLang="en-US" sz="2400" dirty="0"/>
              <a:t>を使っていきます。</a:t>
            </a:r>
            <a:endParaRPr lang="en-US" altLang="ja-JP" sz="2400" dirty="0"/>
          </a:p>
          <a:p>
            <a:endParaRPr lang="en-US" altLang="ja-JP" sz="2400" dirty="0"/>
          </a:p>
          <a:p>
            <a:r>
              <a:rPr lang="ja-JP" altLang="en-US" sz="2400" dirty="0"/>
              <a:t>自動</a:t>
            </a:r>
            <a:r>
              <a:rPr lang="en-US" altLang="ja-JP" sz="2400" dirty="0"/>
              <a:t>delete</a:t>
            </a:r>
            <a:r>
              <a:rPr lang="ja-JP" altLang="en-US" sz="2400" dirty="0"/>
              <a:t>のおかげでメモリリークのリスクを大幅に下げられます。</a:t>
            </a:r>
            <a:endParaRPr lang="en-US" altLang="ja-JP" sz="2400" dirty="0"/>
          </a:p>
          <a:p>
            <a:r>
              <a:rPr lang="ja-JP" altLang="en-US" sz="2400" dirty="0"/>
              <a:t>積極的に使っていきましょう。</a:t>
            </a:r>
            <a:endParaRPr lang="en-US" altLang="ja-JP" sz="2400" dirty="0"/>
          </a:p>
          <a:p>
            <a:endParaRPr lang="en-US" altLang="ja-JP" sz="2400" dirty="0"/>
          </a:p>
          <a:p>
            <a:r>
              <a:rPr lang="ja-JP" altLang="en-US" sz="2400" b="1" dirty="0">
                <a:solidFill>
                  <a:srgbClr val="7030A0"/>
                </a:solidFill>
              </a:rPr>
              <a:t>おまけ：</a:t>
            </a:r>
            <a:r>
              <a:rPr lang="en-US" altLang="ja-JP" sz="2400" b="1" dirty="0">
                <a:solidFill>
                  <a:srgbClr val="7030A0"/>
                </a:solidFill>
              </a:rPr>
              <a:t>C</a:t>
            </a:r>
            <a:r>
              <a:rPr lang="ja-JP" altLang="en-US" sz="2400" b="1" dirty="0">
                <a:solidFill>
                  <a:srgbClr val="7030A0"/>
                </a:solidFill>
              </a:rPr>
              <a:t>＃の場合</a:t>
            </a:r>
            <a:endParaRPr lang="en-US" altLang="ja-JP" sz="2400" b="1" dirty="0">
              <a:solidFill>
                <a:srgbClr val="7030A0"/>
              </a:solidFill>
            </a:endParaRPr>
          </a:p>
          <a:p>
            <a:r>
              <a:rPr lang="en-US" altLang="ja-JP" sz="2400" dirty="0"/>
              <a:t>Unity</a:t>
            </a:r>
            <a:r>
              <a:rPr lang="ja-JP" altLang="en-US" sz="2400" dirty="0"/>
              <a:t>で使う</a:t>
            </a:r>
            <a:r>
              <a:rPr lang="en-US" altLang="ja-JP" sz="2400" dirty="0"/>
              <a:t>C#</a:t>
            </a:r>
            <a:r>
              <a:rPr lang="ja-JP" altLang="en-US" sz="2400" dirty="0"/>
              <a:t>は、安全にメモリを使用するという方針から、</a:t>
            </a:r>
            <a:endParaRPr lang="en-US" altLang="ja-JP" sz="2400" dirty="0"/>
          </a:p>
          <a:p>
            <a:r>
              <a:rPr lang="ja-JP" altLang="en-US" sz="2400" dirty="0"/>
              <a:t>全てのオブジェクトが</a:t>
            </a:r>
            <a:r>
              <a:rPr lang="en-US" altLang="ja-JP" sz="2400" dirty="0"/>
              <a:t>Shared</a:t>
            </a:r>
            <a:r>
              <a:rPr lang="ja-JP" altLang="en-US" sz="2400" dirty="0"/>
              <a:t>で管理されます。</a:t>
            </a:r>
            <a:endParaRPr lang="en-US" altLang="ja-JP" sz="2400" dirty="0"/>
          </a:p>
          <a:p>
            <a:r>
              <a:rPr lang="ja-JP" altLang="en-US" sz="2400" dirty="0"/>
              <a:t>どこからも参照されなくなったオブジェクトは削除リストに追加され、</a:t>
            </a:r>
            <a:endParaRPr lang="en-US" altLang="ja-JP" sz="2400" dirty="0"/>
          </a:p>
          <a:p>
            <a:r>
              <a:rPr lang="ja-JP" altLang="en-US" sz="2400" dirty="0"/>
              <a:t>削除リストにあるオブジェクトは、メモリの空きが少なくなった時に作動する</a:t>
            </a:r>
            <a:endParaRPr lang="en-US" altLang="ja-JP" sz="2400" dirty="0"/>
          </a:p>
          <a:p>
            <a:r>
              <a:rPr lang="ja-JP" altLang="en-US" sz="2400" dirty="0"/>
              <a:t>ガベージコレクションで削除されます。</a:t>
            </a:r>
            <a:endParaRPr lang="en-US" altLang="ja-JP" sz="2400" dirty="0"/>
          </a:p>
        </p:txBody>
      </p:sp>
    </p:spTree>
    <p:extLst>
      <p:ext uri="{BB962C8B-B14F-4D97-AF65-F5344CB8AC3E}">
        <p14:creationId xmlns:p14="http://schemas.microsoft.com/office/powerpoint/2010/main" val="3261218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995004" cy="584775"/>
          </a:xfrm>
          <a:prstGeom prst="rect">
            <a:avLst/>
          </a:prstGeom>
          <a:noFill/>
        </p:spPr>
        <p:txBody>
          <a:bodyPr wrap="none" rtlCol="0">
            <a:spAutoFit/>
          </a:bodyPr>
          <a:lstStyle/>
          <a:p>
            <a:r>
              <a:rPr lang="ja-JP" altLang="en-US" sz="3200" b="1" u="sng" dirty="0"/>
              <a:t>おまけ 機能のラップ</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lang="ja-JP" altLang="en-US" sz="2400" dirty="0"/>
              <a:t>ゲームで実装する際は、</a:t>
            </a:r>
            <a:endParaRPr lang="en-US" altLang="ja-JP" sz="2400" dirty="0"/>
          </a:p>
          <a:p>
            <a:r>
              <a:rPr lang="ja-JP" altLang="en-US" sz="2400" dirty="0"/>
              <a:t>使いやすいように機能を</a:t>
            </a:r>
            <a:r>
              <a:rPr lang="ja-JP" altLang="en-US" sz="2400" b="1" dirty="0">
                <a:solidFill>
                  <a:srgbClr val="FF0000"/>
                </a:solidFill>
              </a:rPr>
              <a:t>ラップ</a:t>
            </a:r>
            <a:r>
              <a:rPr lang="ja-JP" altLang="en-US" sz="2400" dirty="0"/>
              <a:t>したものを用意すると使いやすくなります。</a:t>
            </a:r>
            <a:endParaRPr lang="en-US" altLang="ja-JP" sz="2400" dirty="0"/>
          </a:p>
        </p:txBody>
      </p:sp>
      <p:pic>
        <p:nvPicPr>
          <p:cNvPr id="3" name="図 2">
            <a:extLst>
              <a:ext uri="{FF2B5EF4-FFF2-40B4-BE49-F238E27FC236}">
                <a16:creationId xmlns:a16="http://schemas.microsoft.com/office/drawing/2014/main" id="{BE7C29DC-2ACD-4DE6-B8BB-91C0FD555CE9}"/>
              </a:ext>
            </a:extLst>
          </p:cNvPr>
          <p:cNvPicPr>
            <a:picLocks noChangeAspect="1"/>
          </p:cNvPicPr>
          <p:nvPr/>
        </p:nvPicPr>
        <p:blipFill>
          <a:blip r:embed="rId2"/>
          <a:stretch>
            <a:fillRect/>
          </a:stretch>
        </p:blipFill>
        <p:spPr>
          <a:xfrm>
            <a:off x="567542" y="2482963"/>
            <a:ext cx="4587164" cy="2936684"/>
          </a:xfrm>
          <a:prstGeom prst="rect">
            <a:avLst/>
          </a:prstGeom>
        </p:spPr>
      </p:pic>
      <p:sp>
        <p:nvSpPr>
          <p:cNvPr id="7" name="テキスト ボックス 6">
            <a:extLst>
              <a:ext uri="{FF2B5EF4-FFF2-40B4-BE49-F238E27FC236}">
                <a16:creationId xmlns:a16="http://schemas.microsoft.com/office/drawing/2014/main" id="{6BF0662C-341A-4927-ACD5-5EC89B10F276}"/>
              </a:ext>
            </a:extLst>
          </p:cNvPr>
          <p:cNvSpPr txBox="1"/>
          <p:nvPr/>
        </p:nvSpPr>
        <p:spPr>
          <a:xfrm>
            <a:off x="529885" y="2151004"/>
            <a:ext cx="1306768" cy="369332"/>
          </a:xfrm>
          <a:prstGeom prst="rect">
            <a:avLst/>
          </a:prstGeom>
          <a:noFill/>
        </p:spPr>
        <p:txBody>
          <a:bodyPr wrap="none" rtlCol="0">
            <a:spAutoFit/>
          </a:bodyPr>
          <a:lstStyle/>
          <a:p>
            <a:r>
              <a:rPr lang="en-US" altLang="ja-JP" b="1" dirty="0" err="1">
                <a:solidFill>
                  <a:srgbClr val="FF0000"/>
                </a:solidFill>
              </a:rPr>
              <a:t>Memory.h</a:t>
            </a:r>
            <a:endParaRPr lang="en-US" altLang="ja-JP" b="1" dirty="0">
              <a:solidFill>
                <a:srgbClr val="FF0000"/>
              </a:solidFill>
            </a:endParaRPr>
          </a:p>
        </p:txBody>
      </p:sp>
      <p:pic>
        <p:nvPicPr>
          <p:cNvPr id="8" name="図 7">
            <a:extLst>
              <a:ext uri="{FF2B5EF4-FFF2-40B4-BE49-F238E27FC236}">
                <a16:creationId xmlns:a16="http://schemas.microsoft.com/office/drawing/2014/main" id="{79B9E857-CD06-4EEB-9058-4A81643274DC}"/>
              </a:ext>
            </a:extLst>
          </p:cNvPr>
          <p:cNvPicPr>
            <a:picLocks noChangeAspect="1"/>
          </p:cNvPicPr>
          <p:nvPr/>
        </p:nvPicPr>
        <p:blipFill>
          <a:blip r:embed="rId3"/>
          <a:stretch>
            <a:fillRect/>
          </a:stretch>
        </p:blipFill>
        <p:spPr>
          <a:xfrm>
            <a:off x="5864300" y="2520336"/>
            <a:ext cx="5153323" cy="1905168"/>
          </a:xfrm>
          <a:prstGeom prst="rect">
            <a:avLst/>
          </a:prstGeom>
        </p:spPr>
      </p:pic>
      <p:sp>
        <p:nvSpPr>
          <p:cNvPr id="9" name="テキスト ボックス 8">
            <a:extLst>
              <a:ext uri="{FF2B5EF4-FFF2-40B4-BE49-F238E27FC236}">
                <a16:creationId xmlns:a16="http://schemas.microsoft.com/office/drawing/2014/main" id="{9F721CC0-1FA9-420C-A1F4-DBAE1A2AD820}"/>
              </a:ext>
            </a:extLst>
          </p:cNvPr>
          <p:cNvSpPr txBox="1"/>
          <p:nvPr/>
        </p:nvSpPr>
        <p:spPr>
          <a:xfrm>
            <a:off x="5864300" y="2151004"/>
            <a:ext cx="1367682" cy="369332"/>
          </a:xfrm>
          <a:prstGeom prst="rect">
            <a:avLst/>
          </a:prstGeom>
          <a:noFill/>
        </p:spPr>
        <p:txBody>
          <a:bodyPr wrap="none" rtlCol="0">
            <a:spAutoFit/>
          </a:bodyPr>
          <a:lstStyle/>
          <a:p>
            <a:r>
              <a:rPr lang="en-US" altLang="ja-JP" b="1" dirty="0">
                <a:solidFill>
                  <a:srgbClr val="FF0000"/>
                </a:solidFill>
              </a:rPr>
              <a:t>Player.cpp</a:t>
            </a:r>
          </a:p>
        </p:txBody>
      </p:sp>
      <p:sp>
        <p:nvSpPr>
          <p:cNvPr id="10" name="テキスト ボックス 9">
            <a:extLst>
              <a:ext uri="{FF2B5EF4-FFF2-40B4-BE49-F238E27FC236}">
                <a16:creationId xmlns:a16="http://schemas.microsoft.com/office/drawing/2014/main" id="{76B4E576-C835-44F3-8604-49E5FAB1A129}"/>
              </a:ext>
            </a:extLst>
          </p:cNvPr>
          <p:cNvSpPr txBox="1"/>
          <p:nvPr/>
        </p:nvSpPr>
        <p:spPr>
          <a:xfrm>
            <a:off x="567542" y="5779752"/>
            <a:ext cx="8390438" cy="461665"/>
          </a:xfrm>
          <a:prstGeom prst="rect">
            <a:avLst/>
          </a:prstGeom>
          <a:noFill/>
        </p:spPr>
        <p:txBody>
          <a:bodyPr wrap="none" rtlCol="0">
            <a:spAutoFit/>
          </a:bodyPr>
          <a:lstStyle/>
          <a:p>
            <a:r>
              <a:rPr lang="en-US" altLang="ja-JP" sz="2400" b="1" dirty="0">
                <a:solidFill>
                  <a:srgbClr val="00B050"/>
                </a:solidFill>
              </a:rPr>
              <a:t>array</a:t>
            </a:r>
            <a:r>
              <a:rPr lang="en-US" altLang="ja-JP" sz="2400" dirty="0"/>
              <a:t>, </a:t>
            </a:r>
            <a:r>
              <a:rPr lang="en-US" altLang="ja-JP" sz="2400" b="1" dirty="0">
                <a:solidFill>
                  <a:srgbClr val="00B050"/>
                </a:solidFill>
              </a:rPr>
              <a:t>vector</a:t>
            </a:r>
            <a:r>
              <a:rPr lang="en-US" altLang="ja-JP" sz="2400" dirty="0"/>
              <a:t>, </a:t>
            </a:r>
            <a:r>
              <a:rPr lang="en-US" altLang="ja-JP" sz="2400" b="1" dirty="0">
                <a:solidFill>
                  <a:srgbClr val="00B050"/>
                </a:solidFill>
              </a:rPr>
              <a:t>list</a:t>
            </a:r>
            <a:r>
              <a:rPr lang="ja-JP" altLang="en-US" sz="2400" dirty="0"/>
              <a:t>もこんな風にすると使いやすくなるかも</a:t>
            </a:r>
            <a:endParaRPr lang="en-US" altLang="ja-JP" sz="2400" dirty="0"/>
          </a:p>
        </p:txBody>
      </p:sp>
    </p:spTree>
    <p:extLst>
      <p:ext uri="{BB962C8B-B14F-4D97-AF65-F5344CB8AC3E}">
        <p14:creationId xmlns:p14="http://schemas.microsoft.com/office/powerpoint/2010/main" val="253460140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1431</TotalTime>
  <Words>889</Words>
  <Application>Microsoft Office PowerPoint</Application>
  <PresentationFormat>ワイド画面</PresentationFormat>
  <Paragraphs>139</Paragraphs>
  <Slides>20</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20</vt:i4>
      </vt:variant>
    </vt:vector>
  </HeadingPairs>
  <TitlesOfParts>
    <vt:vector size="24"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105</cp:revision>
  <dcterms:created xsi:type="dcterms:W3CDTF">2024-08-27T02:15:54Z</dcterms:created>
  <dcterms:modified xsi:type="dcterms:W3CDTF">2025-09-24T03:00:06Z</dcterms:modified>
</cp:coreProperties>
</file>