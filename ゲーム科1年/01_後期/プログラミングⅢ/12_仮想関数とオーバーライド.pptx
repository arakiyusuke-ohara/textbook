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07" d="100"/>
          <a:sy n="107" d="100"/>
        </p:scale>
        <p:origin x="696"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A950417-98BD-4172-A454-C76A49B97717}"/>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9F83E9AE-84BC-4452-8901-A17B27CC41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1B320892-0B52-41F1-BED3-1F36AE1E3B03}"/>
              </a:ext>
            </a:extLst>
          </p:cNvPr>
          <p:cNvSpPr>
            <a:spLocks noGrp="1"/>
          </p:cNvSpPr>
          <p:nvPr>
            <p:ph type="dt" sz="half" idx="10"/>
          </p:nvPr>
        </p:nvSpPr>
        <p:spPr/>
        <p:txBody>
          <a:bodyPr/>
          <a:lstStyle/>
          <a:p>
            <a:fld id="{E9CC885B-4903-4D54-9A93-00025F12DED9}" type="datetimeFigureOut">
              <a:rPr kumimoji="1" lang="ja-JP" altLang="en-US" smtClean="0"/>
              <a:t>2024/11/11</a:t>
            </a:fld>
            <a:endParaRPr kumimoji="1" lang="ja-JP" altLang="en-US"/>
          </a:p>
        </p:txBody>
      </p:sp>
      <p:sp>
        <p:nvSpPr>
          <p:cNvPr id="5" name="フッター プレースホルダー 4">
            <a:extLst>
              <a:ext uri="{FF2B5EF4-FFF2-40B4-BE49-F238E27FC236}">
                <a16:creationId xmlns:a16="http://schemas.microsoft.com/office/drawing/2014/main" id="{B4114070-C582-4B06-9805-0DFEFB583FE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E8014BC-198B-4E5B-89B4-FDBFD423BF5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745560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2C298B-DDF7-4BBD-B08C-16E40ED109E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284FECC-C823-4D42-8CAA-49FC9A8C5B3E}"/>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8B26879-4594-4C3F-BFFA-F4CB8674F4A9}"/>
              </a:ext>
            </a:extLst>
          </p:cNvPr>
          <p:cNvSpPr>
            <a:spLocks noGrp="1"/>
          </p:cNvSpPr>
          <p:nvPr>
            <p:ph type="dt" sz="half" idx="10"/>
          </p:nvPr>
        </p:nvSpPr>
        <p:spPr/>
        <p:txBody>
          <a:bodyPr/>
          <a:lstStyle/>
          <a:p>
            <a:fld id="{E9CC885B-4903-4D54-9A93-00025F12DED9}" type="datetimeFigureOut">
              <a:rPr kumimoji="1" lang="ja-JP" altLang="en-US" smtClean="0"/>
              <a:t>2024/11/11</a:t>
            </a:fld>
            <a:endParaRPr kumimoji="1" lang="ja-JP" altLang="en-US"/>
          </a:p>
        </p:txBody>
      </p:sp>
      <p:sp>
        <p:nvSpPr>
          <p:cNvPr id="5" name="フッター プレースホルダー 4">
            <a:extLst>
              <a:ext uri="{FF2B5EF4-FFF2-40B4-BE49-F238E27FC236}">
                <a16:creationId xmlns:a16="http://schemas.microsoft.com/office/drawing/2014/main" id="{F5FC6BE6-BB12-4008-B4BA-62D249C4990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6B8CAC6-4A91-4F74-9267-5C30714BF978}"/>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802473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78AD04-3137-4B16-97B1-DC1252F678A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BF8FC57-7A4A-4196-89B9-B1A6197D422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5CB80319-F15F-4C62-95BA-15B326F988A2}"/>
              </a:ext>
            </a:extLst>
          </p:cNvPr>
          <p:cNvSpPr>
            <a:spLocks noGrp="1"/>
          </p:cNvSpPr>
          <p:nvPr>
            <p:ph type="dt" sz="half" idx="10"/>
          </p:nvPr>
        </p:nvSpPr>
        <p:spPr/>
        <p:txBody>
          <a:bodyPr/>
          <a:lstStyle/>
          <a:p>
            <a:fld id="{E9CC885B-4903-4D54-9A93-00025F12DED9}" type="datetimeFigureOut">
              <a:rPr kumimoji="1" lang="ja-JP" altLang="en-US" smtClean="0"/>
              <a:t>2024/11/11</a:t>
            </a:fld>
            <a:endParaRPr kumimoji="1" lang="ja-JP" altLang="en-US"/>
          </a:p>
        </p:txBody>
      </p:sp>
      <p:sp>
        <p:nvSpPr>
          <p:cNvPr id="5" name="フッター プレースホルダー 4">
            <a:extLst>
              <a:ext uri="{FF2B5EF4-FFF2-40B4-BE49-F238E27FC236}">
                <a16:creationId xmlns:a16="http://schemas.microsoft.com/office/drawing/2014/main" id="{C89F0141-2F76-4B73-AAE0-1EDFEEA42E3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1F3A285-8438-4738-B4CE-18FC566351C3}"/>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0814076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39AAF0-C896-4BE5-8FCC-34320852482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96C332E-2DEA-4D46-8FEF-31D60DD975BC}"/>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F9D3FC79-3A15-47E8-8DC1-B5A928FF7FF2}"/>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E6AC8BB6-CC26-4AE8-B477-9A47780715C5}"/>
              </a:ext>
            </a:extLst>
          </p:cNvPr>
          <p:cNvSpPr>
            <a:spLocks noGrp="1"/>
          </p:cNvSpPr>
          <p:nvPr>
            <p:ph type="dt" sz="half" idx="10"/>
          </p:nvPr>
        </p:nvSpPr>
        <p:spPr/>
        <p:txBody>
          <a:bodyPr/>
          <a:lstStyle/>
          <a:p>
            <a:fld id="{E9CC885B-4903-4D54-9A93-00025F12DED9}" type="datetimeFigureOut">
              <a:rPr kumimoji="1" lang="ja-JP" altLang="en-US" smtClean="0"/>
              <a:t>2024/11/11</a:t>
            </a:fld>
            <a:endParaRPr kumimoji="1" lang="ja-JP" altLang="en-US"/>
          </a:p>
        </p:txBody>
      </p:sp>
      <p:sp>
        <p:nvSpPr>
          <p:cNvPr id="6" name="フッター プレースホルダー 5">
            <a:extLst>
              <a:ext uri="{FF2B5EF4-FFF2-40B4-BE49-F238E27FC236}">
                <a16:creationId xmlns:a16="http://schemas.microsoft.com/office/drawing/2014/main" id="{0D813CBF-5D01-4CF4-BD63-C8FC321B242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123F9A7-54F5-421C-9A71-CC8C4BC92376}"/>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2028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9A2E9A-2DDB-4057-9711-D792B04FFD0C}"/>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2E5496D-7437-4ADF-BF05-1B99ACC091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8A11600-06C5-424A-B2EA-FFEF7E75EAA5}"/>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43408E51-ED83-4218-8378-F0B44E296E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3D26C0C0-145F-4A52-BA72-D19A2971D5E1}"/>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649033F-9C86-42B4-AB90-0FE47F39E39A}"/>
              </a:ext>
            </a:extLst>
          </p:cNvPr>
          <p:cNvSpPr>
            <a:spLocks noGrp="1"/>
          </p:cNvSpPr>
          <p:nvPr>
            <p:ph type="dt" sz="half" idx="10"/>
          </p:nvPr>
        </p:nvSpPr>
        <p:spPr/>
        <p:txBody>
          <a:bodyPr/>
          <a:lstStyle/>
          <a:p>
            <a:fld id="{E9CC885B-4903-4D54-9A93-00025F12DED9}" type="datetimeFigureOut">
              <a:rPr kumimoji="1" lang="ja-JP" altLang="en-US" smtClean="0"/>
              <a:t>2024/11/11</a:t>
            </a:fld>
            <a:endParaRPr kumimoji="1" lang="ja-JP" altLang="en-US"/>
          </a:p>
        </p:txBody>
      </p:sp>
      <p:sp>
        <p:nvSpPr>
          <p:cNvPr id="8" name="フッター プレースホルダー 7">
            <a:extLst>
              <a:ext uri="{FF2B5EF4-FFF2-40B4-BE49-F238E27FC236}">
                <a16:creationId xmlns:a16="http://schemas.microsoft.com/office/drawing/2014/main" id="{F73F9DE8-EAB7-4A80-BF64-725C6DF460D7}"/>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71D0069B-43F7-430A-8C9D-C2BA7B92ECD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2546531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D48D3C-20F1-4E20-8FBC-734E9D946A78}"/>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B2E416B3-4C21-4278-9B88-62D41335DC9D}"/>
              </a:ext>
            </a:extLst>
          </p:cNvPr>
          <p:cNvSpPr>
            <a:spLocks noGrp="1"/>
          </p:cNvSpPr>
          <p:nvPr>
            <p:ph type="dt" sz="half" idx="10"/>
          </p:nvPr>
        </p:nvSpPr>
        <p:spPr/>
        <p:txBody>
          <a:bodyPr/>
          <a:lstStyle/>
          <a:p>
            <a:fld id="{E9CC885B-4903-4D54-9A93-00025F12DED9}" type="datetimeFigureOut">
              <a:rPr kumimoji="1" lang="ja-JP" altLang="en-US" smtClean="0"/>
              <a:t>2024/11/11</a:t>
            </a:fld>
            <a:endParaRPr kumimoji="1" lang="ja-JP" altLang="en-US"/>
          </a:p>
        </p:txBody>
      </p:sp>
      <p:sp>
        <p:nvSpPr>
          <p:cNvPr id="4" name="フッター プレースホルダー 3">
            <a:extLst>
              <a:ext uri="{FF2B5EF4-FFF2-40B4-BE49-F238E27FC236}">
                <a16:creationId xmlns:a16="http://schemas.microsoft.com/office/drawing/2014/main" id="{3EBA727E-E9E7-4EA2-B6ED-8CF036F2B5DA}"/>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8DC1C47C-5B0A-471B-BB77-77BE62B99175}"/>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5308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E55C2DD0-D598-4A5F-B542-7C6806B2F749}"/>
              </a:ext>
            </a:extLst>
          </p:cNvPr>
          <p:cNvSpPr>
            <a:spLocks noGrp="1"/>
          </p:cNvSpPr>
          <p:nvPr>
            <p:ph type="dt" sz="half" idx="10"/>
          </p:nvPr>
        </p:nvSpPr>
        <p:spPr/>
        <p:txBody>
          <a:bodyPr/>
          <a:lstStyle/>
          <a:p>
            <a:fld id="{E9CC885B-4903-4D54-9A93-00025F12DED9}" type="datetimeFigureOut">
              <a:rPr kumimoji="1" lang="ja-JP" altLang="en-US" smtClean="0"/>
              <a:t>2024/11/11</a:t>
            </a:fld>
            <a:endParaRPr kumimoji="1" lang="ja-JP" altLang="en-US"/>
          </a:p>
        </p:txBody>
      </p:sp>
      <p:sp>
        <p:nvSpPr>
          <p:cNvPr id="3" name="フッター プレースホルダー 2">
            <a:extLst>
              <a:ext uri="{FF2B5EF4-FFF2-40B4-BE49-F238E27FC236}">
                <a16:creationId xmlns:a16="http://schemas.microsoft.com/office/drawing/2014/main" id="{2260FD2A-DF3F-46FE-B2F8-14D9A2069736}"/>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2EF1C2C-6093-4ADD-9BFE-41DB125AD37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4204145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A35797B-0171-40BC-BCA2-0C1BA0D4C30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79CB0DB-618C-450C-BE67-5FD277B25D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42CC888D-BF8F-439D-9FC7-2DD4A8D750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4C2FA2E-4305-4946-8BDE-7AE113CDE687}"/>
              </a:ext>
            </a:extLst>
          </p:cNvPr>
          <p:cNvSpPr>
            <a:spLocks noGrp="1"/>
          </p:cNvSpPr>
          <p:nvPr>
            <p:ph type="dt" sz="half" idx="10"/>
          </p:nvPr>
        </p:nvSpPr>
        <p:spPr/>
        <p:txBody>
          <a:bodyPr/>
          <a:lstStyle/>
          <a:p>
            <a:fld id="{E9CC885B-4903-4D54-9A93-00025F12DED9}" type="datetimeFigureOut">
              <a:rPr kumimoji="1" lang="ja-JP" altLang="en-US" smtClean="0"/>
              <a:t>2024/11/11</a:t>
            </a:fld>
            <a:endParaRPr kumimoji="1" lang="ja-JP" altLang="en-US"/>
          </a:p>
        </p:txBody>
      </p:sp>
      <p:sp>
        <p:nvSpPr>
          <p:cNvPr id="6" name="フッター プレースホルダー 5">
            <a:extLst>
              <a:ext uri="{FF2B5EF4-FFF2-40B4-BE49-F238E27FC236}">
                <a16:creationId xmlns:a16="http://schemas.microsoft.com/office/drawing/2014/main" id="{BBA070CF-301C-4595-8007-2A2C19DFE06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3E21C8C-DA9E-4E6B-B45C-C2C4D38971B1}"/>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066929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0F7326-6BA4-4DC0-9519-87D04747ED89}"/>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3A1C2397-9613-4B24-A7D0-9EEE44E01C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05462283-8239-49BE-9D96-00B24831B7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F53455D-91B5-4938-AC24-CAFF77A6CD44}"/>
              </a:ext>
            </a:extLst>
          </p:cNvPr>
          <p:cNvSpPr>
            <a:spLocks noGrp="1"/>
          </p:cNvSpPr>
          <p:nvPr>
            <p:ph type="dt" sz="half" idx="10"/>
          </p:nvPr>
        </p:nvSpPr>
        <p:spPr/>
        <p:txBody>
          <a:bodyPr/>
          <a:lstStyle/>
          <a:p>
            <a:fld id="{E9CC885B-4903-4D54-9A93-00025F12DED9}" type="datetimeFigureOut">
              <a:rPr kumimoji="1" lang="ja-JP" altLang="en-US" smtClean="0"/>
              <a:t>2024/11/11</a:t>
            </a:fld>
            <a:endParaRPr kumimoji="1" lang="ja-JP" altLang="en-US"/>
          </a:p>
        </p:txBody>
      </p:sp>
      <p:sp>
        <p:nvSpPr>
          <p:cNvPr id="6" name="フッター プレースホルダー 5">
            <a:extLst>
              <a:ext uri="{FF2B5EF4-FFF2-40B4-BE49-F238E27FC236}">
                <a16:creationId xmlns:a16="http://schemas.microsoft.com/office/drawing/2014/main" id="{A7F23C7B-CEBC-48FC-81DC-98AFE68C2DE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7E65B5D-4A4C-4A6E-8AEB-3D88DC58273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1402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2AE957E-488D-43B9-8182-2A1DEEF0F7DD}"/>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E67B1EC-AFC1-41D0-BBB1-9A2E85E1399D}"/>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1B76048-AF91-4C32-A054-6305C2928E9F}"/>
              </a:ext>
            </a:extLst>
          </p:cNvPr>
          <p:cNvSpPr>
            <a:spLocks noGrp="1"/>
          </p:cNvSpPr>
          <p:nvPr>
            <p:ph type="dt" sz="half" idx="10"/>
          </p:nvPr>
        </p:nvSpPr>
        <p:spPr/>
        <p:txBody>
          <a:bodyPr/>
          <a:lstStyle/>
          <a:p>
            <a:fld id="{E9CC885B-4903-4D54-9A93-00025F12DED9}" type="datetimeFigureOut">
              <a:rPr kumimoji="1" lang="ja-JP" altLang="en-US" smtClean="0"/>
              <a:t>2024/11/11</a:t>
            </a:fld>
            <a:endParaRPr kumimoji="1" lang="ja-JP" altLang="en-US"/>
          </a:p>
        </p:txBody>
      </p:sp>
      <p:sp>
        <p:nvSpPr>
          <p:cNvPr id="5" name="フッター プレースホルダー 4">
            <a:extLst>
              <a:ext uri="{FF2B5EF4-FFF2-40B4-BE49-F238E27FC236}">
                <a16:creationId xmlns:a16="http://schemas.microsoft.com/office/drawing/2014/main" id="{98C66A49-F960-4196-B16B-31B98B34013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D7A86F7-B140-4439-A33B-63EA8498DCAB}"/>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485631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B4FA5DEF-DC74-4F38-9DA0-1EE9752F5F36}"/>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3C9EE93-ED20-4B3B-93FB-5A088C436B26}"/>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370666-1A4C-42B1-8748-A0D1453943A4}"/>
              </a:ext>
            </a:extLst>
          </p:cNvPr>
          <p:cNvSpPr>
            <a:spLocks noGrp="1"/>
          </p:cNvSpPr>
          <p:nvPr>
            <p:ph type="dt" sz="half" idx="10"/>
          </p:nvPr>
        </p:nvSpPr>
        <p:spPr/>
        <p:txBody>
          <a:bodyPr/>
          <a:lstStyle/>
          <a:p>
            <a:fld id="{E9CC885B-4903-4D54-9A93-00025F12DED9}" type="datetimeFigureOut">
              <a:rPr kumimoji="1" lang="ja-JP" altLang="en-US" smtClean="0"/>
              <a:t>2024/11/11</a:t>
            </a:fld>
            <a:endParaRPr kumimoji="1" lang="ja-JP" altLang="en-US"/>
          </a:p>
        </p:txBody>
      </p:sp>
      <p:sp>
        <p:nvSpPr>
          <p:cNvPr id="5" name="フッター プレースホルダー 4">
            <a:extLst>
              <a:ext uri="{FF2B5EF4-FFF2-40B4-BE49-F238E27FC236}">
                <a16:creationId xmlns:a16="http://schemas.microsoft.com/office/drawing/2014/main" id="{E26EC7E2-E7E6-45F2-BF6D-CDF318CECC0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CDE4F59-4276-46E3-AE2A-D255BC7BB35C}"/>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428509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F527E70E-5441-439A-8EA3-0826A036FC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A7C9CE9-5A22-43DB-862A-3B24B2BF15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45D76C-CB70-434A-A116-22531EEB41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CC885B-4903-4D54-9A93-00025F12DED9}" type="datetimeFigureOut">
              <a:rPr kumimoji="1" lang="ja-JP" altLang="en-US" smtClean="0"/>
              <a:t>2024/11/11</a:t>
            </a:fld>
            <a:endParaRPr kumimoji="1" lang="ja-JP" altLang="en-US"/>
          </a:p>
        </p:txBody>
      </p:sp>
      <p:sp>
        <p:nvSpPr>
          <p:cNvPr id="5" name="フッター プレースホルダー 4">
            <a:extLst>
              <a:ext uri="{FF2B5EF4-FFF2-40B4-BE49-F238E27FC236}">
                <a16:creationId xmlns:a16="http://schemas.microsoft.com/office/drawing/2014/main" id="{2505E6D4-441B-4864-8545-0FDE04F664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8FFD1810-F6DD-4BB4-8465-A3A3F3BF33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6517845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5109091" cy="584775"/>
          </a:xfrm>
          <a:prstGeom prst="rect">
            <a:avLst/>
          </a:prstGeom>
          <a:noFill/>
        </p:spPr>
        <p:txBody>
          <a:bodyPr wrap="none" rtlCol="0">
            <a:spAutoFit/>
          </a:bodyPr>
          <a:lstStyle/>
          <a:p>
            <a:r>
              <a:rPr lang="ja-JP" altLang="en-US" sz="3200" b="1" u="sng" dirty="0"/>
              <a:t>仮想関数とオーバーライド</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494633" cy="1200329"/>
          </a:xfrm>
          <a:prstGeom prst="rect">
            <a:avLst/>
          </a:prstGeom>
          <a:noFill/>
        </p:spPr>
        <p:txBody>
          <a:bodyPr wrap="none" rtlCol="0">
            <a:spAutoFit/>
          </a:bodyPr>
          <a:lstStyle/>
          <a:p>
            <a:r>
              <a:rPr lang="ja-JP" altLang="en-US" sz="2400" dirty="0"/>
              <a:t>クラス継承をすることにより、</a:t>
            </a:r>
            <a:endParaRPr lang="en-US" altLang="ja-JP" sz="2400" dirty="0"/>
          </a:p>
          <a:p>
            <a:r>
              <a:rPr lang="ja-JP" altLang="en-US" sz="2400" b="1" dirty="0">
                <a:solidFill>
                  <a:srgbClr val="FF0000"/>
                </a:solidFill>
              </a:rPr>
              <a:t>関数のオーバーライド</a:t>
            </a:r>
            <a:r>
              <a:rPr lang="ja-JP" altLang="en-US" sz="2400" dirty="0"/>
              <a:t>という機能を使えるようになります。</a:t>
            </a:r>
            <a:endParaRPr lang="en-US" altLang="ja-JP" sz="2400" dirty="0"/>
          </a:p>
          <a:p>
            <a:r>
              <a:rPr lang="ja-JP" altLang="en-US" sz="2400" dirty="0"/>
              <a:t>簡単な例で練習します。</a:t>
            </a:r>
            <a:endParaRPr lang="en-US" altLang="ja-JP" sz="2400" dirty="0"/>
          </a:p>
        </p:txBody>
      </p:sp>
    </p:spTree>
    <p:extLst>
      <p:ext uri="{BB962C8B-B14F-4D97-AF65-F5344CB8AC3E}">
        <p14:creationId xmlns:p14="http://schemas.microsoft.com/office/powerpoint/2010/main" val="4100289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5109091" cy="584775"/>
          </a:xfrm>
          <a:prstGeom prst="rect">
            <a:avLst/>
          </a:prstGeom>
          <a:noFill/>
        </p:spPr>
        <p:txBody>
          <a:bodyPr wrap="none" rtlCol="0">
            <a:spAutoFit/>
          </a:bodyPr>
          <a:lstStyle/>
          <a:p>
            <a:r>
              <a:rPr lang="ja-JP" altLang="en-US" sz="3200" b="1" u="sng" dirty="0"/>
              <a:t>仮想関数とオーバーライド</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3058851" cy="461665"/>
          </a:xfrm>
          <a:prstGeom prst="rect">
            <a:avLst/>
          </a:prstGeom>
          <a:noFill/>
        </p:spPr>
        <p:txBody>
          <a:bodyPr wrap="none" rtlCol="0">
            <a:spAutoFit/>
          </a:bodyPr>
          <a:lstStyle/>
          <a:p>
            <a:r>
              <a:rPr lang="en-US" altLang="ja-JP" sz="2400" b="1" dirty="0" err="1">
                <a:solidFill>
                  <a:srgbClr val="FF0000"/>
                </a:solidFill>
              </a:rPr>
              <a:t>Food.h</a:t>
            </a:r>
            <a:r>
              <a:rPr lang="ja-JP" altLang="en-US" sz="2400" dirty="0"/>
              <a:t>を書きます。</a:t>
            </a:r>
            <a:endParaRPr lang="en-US" altLang="ja-JP" sz="2400" dirty="0"/>
          </a:p>
        </p:txBody>
      </p:sp>
      <p:pic>
        <p:nvPicPr>
          <p:cNvPr id="9" name="図 8">
            <a:extLst>
              <a:ext uri="{FF2B5EF4-FFF2-40B4-BE49-F238E27FC236}">
                <a16:creationId xmlns:a16="http://schemas.microsoft.com/office/drawing/2014/main" id="{9CE63C00-834F-44E9-897E-7BB21FA872C1}"/>
              </a:ext>
            </a:extLst>
          </p:cNvPr>
          <p:cNvPicPr>
            <a:picLocks noChangeAspect="1"/>
          </p:cNvPicPr>
          <p:nvPr/>
        </p:nvPicPr>
        <p:blipFill>
          <a:blip r:embed="rId2"/>
          <a:stretch>
            <a:fillRect/>
          </a:stretch>
        </p:blipFill>
        <p:spPr>
          <a:xfrm>
            <a:off x="567542" y="1817794"/>
            <a:ext cx="7700490" cy="3390700"/>
          </a:xfrm>
          <a:prstGeom prst="rect">
            <a:avLst/>
          </a:prstGeom>
        </p:spPr>
      </p:pic>
      <p:sp>
        <p:nvSpPr>
          <p:cNvPr id="10" name="正方形/長方形 9">
            <a:extLst>
              <a:ext uri="{FF2B5EF4-FFF2-40B4-BE49-F238E27FC236}">
                <a16:creationId xmlns:a16="http://schemas.microsoft.com/office/drawing/2014/main" id="{510B5241-5F83-46E5-A5BE-EBF267652A8E}"/>
              </a:ext>
            </a:extLst>
          </p:cNvPr>
          <p:cNvSpPr/>
          <p:nvPr/>
        </p:nvSpPr>
        <p:spPr>
          <a:xfrm>
            <a:off x="2052918" y="3774141"/>
            <a:ext cx="2429435" cy="37651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1019413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5109091" cy="584775"/>
          </a:xfrm>
          <a:prstGeom prst="rect">
            <a:avLst/>
          </a:prstGeom>
          <a:noFill/>
        </p:spPr>
        <p:txBody>
          <a:bodyPr wrap="none" rtlCol="0">
            <a:spAutoFit/>
          </a:bodyPr>
          <a:lstStyle/>
          <a:p>
            <a:r>
              <a:rPr lang="ja-JP" altLang="en-US" sz="3200" b="1" u="sng" dirty="0"/>
              <a:t>仮想関数とオーバーライド</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3416320" cy="461665"/>
          </a:xfrm>
          <a:prstGeom prst="rect">
            <a:avLst/>
          </a:prstGeom>
          <a:noFill/>
        </p:spPr>
        <p:txBody>
          <a:bodyPr wrap="none" rtlCol="0">
            <a:spAutoFit/>
          </a:bodyPr>
          <a:lstStyle/>
          <a:p>
            <a:r>
              <a:rPr lang="en-US" altLang="ja-JP" sz="2400" b="1" dirty="0">
                <a:solidFill>
                  <a:srgbClr val="FF0000"/>
                </a:solidFill>
              </a:rPr>
              <a:t>Food.cpp</a:t>
            </a:r>
            <a:r>
              <a:rPr lang="ja-JP" altLang="en-US" sz="2400" dirty="0"/>
              <a:t>を書きます。</a:t>
            </a:r>
            <a:endParaRPr lang="en-US" altLang="ja-JP" sz="2400" dirty="0"/>
          </a:p>
        </p:txBody>
      </p:sp>
      <p:pic>
        <p:nvPicPr>
          <p:cNvPr id="3" name="図 2">
            <a:extLst>
              <a:ext uri="{FF2B5EF4-FFF2-40B4-BE49-F238E27FC236}">
                <a16:creationId xmlns:a16="http://schemas.microsoft.com/office/drawing/2014/main" id="{0A99ACF8-38E6-4491-8B4D-9CF7055D52E5}"/>
              </a:ext>
            </a:extLst>
          </p:cNvPr>
          <p:cNvPicPr>
            <a:picLocks noChangeAspect="1"/>
          </p:cNvPicPr>
          <p:nvPr/>
        </p:nvPicPr>
        <p:blipFill>
          <a:blip r:embed="rId2"/>
          <a:stretch>
            <a:fillRect/>
          </a:stretch>
        </p:blipFill>
        <p:spPr>
          <a:xfrm>
            <a:off x="567542" y="1817793"/>
            <a:ext cx="5237562" cy="1956347"/>
          </a:xfrm>
          <a:prstGeom prst="rect">
            <a:avLst/>
          </a:prstGeom>
        </p:spPr>
      </p:pic>
    </p:spTree>
    <p:extLst>
      <p:ext uri="{BB962C8B-B14F-4D97-AF65-F5344CB8AC3E}">
        <p14:creationId xmlns:p14="http://schemas.microsoft.com/office/powerpoint/2010/main" val="5697527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5109091" cy="584775"/>
          </a:xfrm>
          <a:prstGeom prst="rect">
            <a:avLst/>
          </a:prstGeom>
          <a:noFill/>
        </p:spPr>
        <p:txBody>
          <a:bodyPr wrap="none" rtlCol="0">
            <a:spAutoFit/>
          </a:bodyPr>
          <a:lstStyle/>
          <a:p>
            <a:r>
              <a:rPr lang="ja-JP" altLang="en-US" sz="3200" b="1" u="sng" dirty="0"/>
              <a:t>仮想関数とオーバーライド</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3377848" cy="461665"/>
          </a:xfrm>
          <a:prstGeom prst="rect">
            <a:avLst/>
          </a:prstGeom>
          <a:noFill/>
        </p:spPr>
        <p:txBody>
          <a:bodyPr wrap="none" rtlCol="0">
            <a:spAutoFit/>
          </a:bodyPr>
          <a:lstStyle/>
          <a:p>
            <a:r>
              <a:rPr lang="en-US" altLang="ja-JP" sz="2400" b="1" dirty="0">
                <a:solidFill>
                  <a:srgbClr val="FF0000"/>
                </a:solidFill>
              </a:rPr>
              <a:t>Fruit.cpp</a:t>
            </a:r>
            <a:r>
              <a:rPr lang="ja-JP" altLang="en-US" sz="2400" dirty="0"/>
              <a:t>を書きます。</a:t>
            </a:r>
            <a:endParaRPr lang="en-US" altLang="ja-JP" sz="2400" dirty="0"/>
          </a:p>
        </p:txBody>
      </p:sp>
      <p:pic>
        <p:nvPicPr>
          <p:cNvPr id="5" name="図 4">
            <a:extLst>
              <a:ext uri="{FF2B5EF4-FFF2-40B4-BE49-F238E27FC236}">
                <a16:creationId xmlns:a16="http://schemas.microsoft.com/office/drawing/2014/main" id="{6E048F95-C09F-47E9-BD3F-712052FB28F0}"/>
              </a:ext>
            </a:extLst>
          </p:cNvPr>
          <p:cNvPicPr>
            <a:picLocks noChangeAspect="1"/>
          </p:cNvPicPr>
          <p:nvPr/>
        </p:nvPicPr>
        <p:blipFill>
          <a:blip r:embed="rId2"/>
          <a:stretch>
            <a:fillRect/>
          </a:stretch>
        </p:blipFill>
        <p:spPr>
          <a:xfrm>
            <a:off x="567542" y="1817794"/>
            <a:ext cx="5109091" cy="4381300"/>
          </a:xfrm>
          <a:prstGeom prst="rect">
            <a:avLst/>
          </a:prstGeom>
        </p:spPr>
      </p:pic>
      <p:sp>
        <p:nvSpPr>
          <p:cNvPr id="7" name="正方形/長方形 6">
            <a:extLst>
              <a:ext uri="{FF2B5EF4-FFF2-40B4-BE49-F238E27FC236}">
                <a16:creationId xmlns:a16="http://schemas.microsoft.com/office/drawing/2014/main" id="{94DD0222-FE1A-4B72-99FF-2619B7EA13A0}"/>
              </a:ext>
            </a:extLst>
          </p:cNvPr>
          <p:cNvSpPr/>
          <p:nvPr/>
        </p:nvSpPr>
        <p:spPr>
          <a:xfrm>
            <a:off x="1129553" y="3774141"/>
            <a:ext cx="3836893" cy="22860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026660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5109091" cy="584775"/>
          </a:xfrm>
          <a:prstGeom prst="rect">
            <a:avLst/>
          </a:prstGeom>
          <a:noFill/>
        </p:spPr>
        <p:txBody>
          <a:bodyPr wrap="none" rtlCol="0">
            <a:spAutoFit/>
          </a:bodyPr>
          <a:lstStyle/>
          <a:p>
            <a:r>
              <a:rPr lang="ja-JP" altLang="en-US" sz="3200" b="1" u="sng" dirty="0"/>
              <a:t>仮想関数とオーバーライド</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3079689" cy="461665"/>
          </a:xfrm>
          <a:prstGeom prst="rect">
            <a:avLst/>
          </a:prstGeom>
          <a:noFill/>
        </p:spPr>
        <p:txBody>
          <a:bodyPr wrap="none" rtlCol="0">
            <a:spAutoFit/>
          </a:bodyPr>
          <a:lstStyle/>
          <a:p>
            <a:r>
              <a:rPr lang="en-US" altLang="ja-JP" sz="2400" b="1" dirty="0" err="1">
                <a:solidFill>
                  <a:srgbClr val="FF0000"/>
                </a:solidFill>
              </a:rPr>
              <a:t>Meat.h</a:t>
            </a:r>
            <a:r>
              <a:rPr lang="ja-JP" altLang="en-US" sz="2400" dirty="0"/>
              <a:t>を書きます。</a:t>
            </a:r>
            <a:endParaRPr lang="en-US" altLang="ja-JP" sz="2400" dirty="0"/>
          </a:p>
        </p:txBody>
      </p:sp>
      <p:pic>
        <p:nvPicPr>
          <p:cNvPr id="3" name="図 2">
            <a:extLst>
              <a:ext uri="{FF2B5EF4-FFF2-40B4-BE49-F238E27FC236}">
                <a16:creationId xmlns:a16="http://schemas.microsoft.com/office/drawing/2014/main" id="{65C2B234-7283-41AE-8056-0A8CF78CB752}"/>
              </a:ext>
            </a:extLst>
          </p:cNvPr>
          <p:cNvPicPr>
            <a:picLocks noChangeAspect="1"/>
          </p:cNvPicPr>
          <p:nvPr/>
        </p:nvPicPr>
        <p:blipFill>
          <a:blip r:embed="rId2"/>
          <a:stretch>
            <a:fillRect/>
          </a:stretch>
        </p:blipFill>
        <p:spPr>
          <a:xfrm>
            <a:off x="567542" y="1817794"/>
            <a:ext cx="7409652" cy="4548252"/>
          </a:xfrm>
          <a:prstGeom prst="rect">
            <a:avLst/>
          </a:prstGeom>
        </p:spPr>
      </p:pic>
    </p:spTree>
    <p:extLst>
      <p:ext uri="{BB962C8B-B14F-4D97-AF65-F5344CB8AC3E}">
        <p14:creationId xmlns:p14="http://schemas.microsoft.com/office/powerpoint/2010/main" val="42642183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5109091" cy="584775"/>
          </a:xfrm>
          <a:prstGeom prst="rect">
            <a:avLst/>
          </a:prstGeom>
          <a:noFill/>
        </p:spPr>
        <p:txBody>
          <a:bodyPr wrap="none" rtlCol="0">
            <a:spAutoFit/>
          </a:bodyPr>
          <a:lstStyle/>
          <a:p>
            <a:r>
              <a:rPr lang="ja-JP" altLang="en-US" sz="3200" b="1" u="sng" dirty="0"/>
              <a:t>仮想関数とオーバーライド</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3437159" cy="461665"/>
          </a:xfrm>
          <a:prstGeom prst="rect">
            <a:avLst/>
          </a:prstGeom>
          <a:noFill/>
        </p:spPr>
        <p:txBody>
          <a:bodyPr wrap="none" rtlCol="0">
            <a:spAutoFit/>
          </a:bodyPr>
          <a:lstStyle/>
          <a:p>
            <a:r>
              <a:rPr lang="en-US" altLang="ja-JP" sz="2400" b="1" dirty="0">
                <a:solidFill>
                  <a:srgbClr val="FF0000"/>
                </a:solidFill>
              </a:rPr>
              <a:t>Meat.cpp</a:t>
            </a:r>
            <a:r>
              <a:rPr lang="ja-JP" altLang="en-US" sz="2400" dirty="0"/>
              <a:t>を書きます。</a:t>
            </a:r>
            <a:endParaRPr lang="en-US" altLang="ja-JP" sz="2400" dirty="0"/>
          </a:p>
        </p:txBody>
      </p:sp>
      <p:pic>
        <p:nvPicPr>
          <p:cNvPr id="8" name="図 7">
            <a:extLst>
              <a:ext uri="{FF2B5EF4-FFF2-40B4-BE49-F238E27FC236}">
                <a16:creationId xmlns:a16="http://schemas.microsoft.com/office/drawing/2014/main" id="{036033AD-67ED-42B0-B554-94CB91E4141C}"/>
              </a:ext>
            </a:extLst>
          </p:cNvPr>
          <p:cNvPicPr>
            <a:picLocks noChangeAspect="1"/>
          </p:cNvPicPr>
          <p:nvPr/>
        </p:nvPicPr>
        <p:blipFill>
          <a:blip r:embed="rId2"/>
          <a:stretch>
            <a:fillRect/>
          </a:stretch>
        </p:blipFill>
        <p:spPr>
          <a:xfrm>
            <a:off x="567542" y="1817794"/>
            <a:ext cx="4345117" cy="4674576"/>
          </a:xfrm>
          <a:prstGeom prst="rect">
            <a:avLst/>
          </a:prstGeom>
        </p:spPr>
      </p:pic>
    </p:spTree>
    <p:extLst>
      <p:ext uri="{BB962C8B-B14F-4D97-AF65-F5344CB8AC3E}">
        <p14:creationId xmlns:p14="http://schemas.microsoft.com/office/powerpoint/2010/main" val="27526361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5109091" cy="584775"/>
          </a:xfrm>
          <a:prstGeom prst="rect">
            <a:avLst/>
          </a:prstGeom>
          <a:noFill/>
        </p:spPr>
        <p:txBody>
          <a:bodyPr wrap="none" rtlCol="0">
            <a:spAutoFit/>
          </a:bodyPr>
          <a:lstStyle/>
          <a:p>
            <a:r>
              <a:rPr lang="ja-JP" altLang="en-US" sz="3200" b="1" u="sng" dirty="0"/>
              <a:t>仮想関数とオーバーライド</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3417923" cy="461665"/>
          </a:xfrm>
          <a:prstGeom prst="rect">
            <a:avLst/>
          </a:prstGeom>
          <a:noFill/>
        </p:spPr>
        <p:txBody>
          <a:bodyPr wrap="none" rtlCol="0">
            <a:spAutoFit/>
          </a:bodyPr>
          <a:lstStyle/>
          <a:p>
            <a:r>
              <a:rPr lang="en-US" altLang="ja-JP" sz="2400" b="1" dirty="0">
                <a:solidFill>
                  <a:srgbClr val="FF0000"/>
                </a:solidFill>
              </a:rPr>
              <a:t>Main.cpp</a:t>
            </a:r>
            <a:r>
              <a:rPr lang="ja-JP" altLang="en-US" sz="2400" dirty="0"/>
              <a:t>を書きます。</a:t>
            </a:r>
            <a:endParaRPr lang="en-US" altLang="ja-JP" sz="2400" dirty="0"/>
          </a:p>
        </p:txBody>
      </p:sp>
      <p:pic>
        <p:nvPicPr>
          <p:cNvPr id="3" name="図 2">
            <a:extLst>
              <a:ext uri="{FF2B5EF4-FFF2-40B4-BE49-F238E27FC236}">
                <a16:creationId xmlns:a16="http://schemas.microsoft.com/office/drawing/2014/main" id="{D9E3BA72-20B2-444F-9991-8AF48C5A009A}"/>
              </a:ext>
            </a:extLst>
          </p:cNvPr>
          <p:cNvPicPr>
            <a:picLocks noChangeAspect="1"/>
          </p:cNvPicPr>
          <p:nvPr/>
        </p:nvPicPr>
        <p:blipFill>
          <a:blip r:embed="rId2"/>
          <a:stretch>
            <a:fillRect/>
          </a:stretch>
        </p:blipFill>
        <p:spPr>
          <a:xfrm>
            <a:off x="567542" y="1817794"/>
            <a:ext cx="6095851" cy="4430606"/>
          </a:xfrm>
          <a:prstGeom prst="rect">
            <a:avLst/>
          </a:prstGeom>
        </p:spPr>
      </p:pic>
    </p:spTree>
    <p:extLst>
      <p:ext uri="{BB962C8B-B14F-4D97-AF65-F5344CB8AC3E}">
        <p14:creationId xmlns:p14="http://schemas.microsoft.com/office/powerpoint/2010/main" val="26892776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5109091" cy="584775"/>
          </a:xfrm>
          <a:prstGeom prst="rect">
            <a:avLst/>
          </a:prstGeom>
          <a:noFill/>
        </p:spPr>
        <p:txBody>
          <a:bodyPr wrap="none" rtlCol="0">
            <a:spAutoFit/>
          </a:bodyPr>
          <a:lstStyle/>
          <a:p>
            <a:r>
              <a:rPr lang="ja-JP" altLang="en-US" sz="3200" b="1" u="sng" dirty="0"/>
              <a:t>仮想関数とオーバーライド</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4956806" cy="461665"/>
          </a:xfrm>
          <a:prstGeom prst="rect">
            <a:avLst/>
          </a:prstGeom>
          <a:noFill/>
        </p:spPr>
        <p:txBody>
          <a:bodyPr wrap="none" rtlCol="0">
            <a:spAutoFit/>
          </a:bodyPr>
          <a:lstStyle/>
          <a:p>
            <a:r>
              <a:rPr lang="en-US" altLang="ja-JP" sz="2400" b="1" dirty="0">
                <a:solidFill>
                  <a:srgbClr val="FF0000"/>
                </a:solidFill>
              </a:rPr>
              <a:t>Main.cpp</a:t>
            </a:r>
            <a:r>
              <a:rPr lang="ja-JP" altLang="en-US" sz="2400" dirty="0"/>
              <a:t>を書きます。（その２）</a:t>
            </a:r>
            <a:endParaRPr lang="en-US" altLang="ja-JP" sz="2400" dirty="0"/>
          </a:p>
        </p:txBody>
      </p:sp>
      <p:pic>
        <p:nvPicPr>
          <p:cNvPr id="5" name="図 4">
            <a:extLst>
              <a:ext uri="{FF2B5EF4-FFF2-40B4-BE49-F238E27FC236}">
                <a16:creationId xmlns:a16="http://schemas.microsoft.com/office/drawing/2014/main" id="{EF599FDF-C322-4493-978E-F0726E655915}"/>
              </a:ext>
            </a:extLst>
          </p:cNvPr>
          <p:cNvPicPr>
            <a:picLocks noChangeAspect="1"/>
          </p:cNvPicPr>
          <p:nvPr/>
        </p:nvPicPr>
        <p:blipFill>
          <a:blip r:embed="rId2"/>
          <a:stretch>
            <a:fillRect/>
          </a:stretch>
        </p:blipFill>
        <p:spPr>
          <a:xfrm>
            <a:off x="567542" y="1817794"/>
            <a:ext cx="9665265" cy="4027194"/>
          </a:xfrm>
          <a:prstGeom prst="rect">
            <a:avLst/>
          </a:prstGeom>
        </p:spPr>
      </p:pic>
    </p:spTree>
    <p:extLst>
      <p:ext uri="{BB962C8B-B14F-4D97-AF65-F5344CB8AC3E}">
        <p14:creationId xmlns:p14="http://schemas.microsoft.com/office/powerpoint/2010/main" val="35289571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5109091" cy="584775"/>
          </a:xfrm>
          <a:prstGeom prst="rect">
            <a:avLst/>
          </a:prstGeom>
          <a:noFill/>
        </p:spPr>
        <p:txBody>
          <a:bodyPr wrap="none" rtlCol="0">
            <a:spAutoFit/>
          </a:bodyPr>
          <a:lstStyle/>
          <a:p>
            <a:r>
              <a:rPr lang="ja-JP" altLang="en-US" sz="3200" b="1" u="sng" dirty="0"/>
              <a:t>仮想関数とオーバーライド</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494633" cy="461665"/>
          </a:xfrm>
          <a:prstGeom prst="rect">
            <a:avLst/>
          </a:prstGeom>
          <a:noFill/>
        </p:spPr>
        <p:txBody>
          <a:bodyPr wrap="none" rtlCol="0">
            <a:spAutoFit/>
          </a:bodyPr>
          <a:lstStyle/>
          <a:p>
            <a:r>
              <a:rPr lang="ja-JP" altLang="en-US" sz="2400" dirty="0"/>
              <a:t>実行すると値段補正がかかっていない金額が表示されます。</a:t>
            </a:r>
            <a:endParaRPr lang="en-US" altLang="ja-JP" sz="2400" dirty="0"/>
          </a:p>
        </p:txBody>
      </p:sp>
      <p:pic>
        <p:nvPicPr>
          <p:cNvPr id="3" name="図 2">
            <a:extLst>
              <a:ext uri="{FF2B5EF4-FFF2-40B4-BE49-F238E27FC236}">
                <a16:creationId xmlns:a16="http://schemas.microsoft.com/office/drawing/2014/main" id="{1CD5D5F9-58D3-4E7C-A944-51F247B9C366}"/>
              </a:ext>
            </a:extLst>
          </p:cNvPr>
          <p:cNvPicPr>
            <a:picLocks noChangeAspect="1"/>
          </p:cNvPicPr>
          <p:nvPr/>
        </p:nvPicPr>
        <p:blipFill>
          <a:blip r:embed="rId2"/>
          <a:stretch>
            <a:fillRect/>
          </a:stretch>
        </p:blipFill>
        <p:spPr>
          <a:xfrm>
            <a:off x="567541" y="1817794"/>
            <a:ext cx="5299163" cy="1257100"/>
          </a:xfrm>
          <a:prstGeom prst="rect">
            <a:avLst/>
          </a:prstGeom>
        </p:spPr>
      </p:pic>
      <p:sp>
        <p:nvSpPr>
          <p:cNvPr id="7" name="テキスト ボックス 6">
            <a:extLst>
              <a:ext uri="{FF2B5EF4-FFF2-40B4-BE49-F238E27FC236}">
                <a16:creationId xmlns:a16="http://schemas.microsoft.com/office/drawing/2014/main" id="{C86308F5-DB84-4DFA-A7DB-374718743EC5}"/>
              </a:ext>
            </a:extLst>
          </p:cNvPr>
          <p:cNvSpPr txBox="1"/>
          <p:nvPr/>
        </p:nvSpPr>
        <p:spPr>
          <a:xfrm>
            <a:off x="567541" y="3214594"/>
            <a:ext cx="10060767" cy="461665"/>
          </a:xfrm>
          <a:prstGeom prst="rect">
            <a:avLst/>
          </a:prstGeom>
          <a:noFill/>
        </p:spPr>
        <p:txBody>
          <a:bodyPr wrap="none" rtlCol="0">
            <a:spAutoFit/>
          </a:bodyPr>
          <a:lstStyle/>
          <a:p>
            <a:r>
              <a:rPr lang="ja-JP" altLang="en-US" sz="2400" dirty="0"/>
              <a:t>これは、各</a:t>
            </a:r>
            <a:r>
              <a:rPr lang="en-US" altLang="ja-JP" sz="2400" b="1" dirty="0" err="1">
                <a:solidFill>
                  <a:srgbClr val="0070C0"/>
                </a:solidFill>
              </a:rPr>
              <a:t>CalcPrice</a:t>
            </a:r>
            <a:r>
              <a:rPr lang="ja-JP" altLang="en-US" sz="2400" dirty="0"/>
              <a:t>関数が</a:t>
            </a:r>
            <a:r>
              <a:rPr lang="en-US" altLang="ja-JP" sz="2400" b="1" dirty="0">
                <a:solidFill>
                  <a:srgbClr val="00B050"/>
                </a:solidFill>
              </a:rPr>
              <a:t>Food</a:t>
            </a:r>
            <a:r>
              <a:rPr lang="ja-JP" altLang="en-US" sz="2400" dirty="0"/>
              <a:t>クラスのものを読んているからです。</a:t>
            </a:r>
            <a:endParaRPr lang="en-US" altLang="ja-JP" sz="2400" dirty="0"/>
          </a:p>
        </p:txBody>
      </p:sp>
      <p:pic>
        <p:nvPicPr>
          <p:cNvPr id="8" name="図 7">
            <a:extLst>
              <a:ext uri="{FF2B5EF4-FFF2-40B4-BE49-F238E27FC236}">
                <a16:creationId xmlns:a16="http://schemas.microsoft.com/office/drawing/2014/main" id="{6A699A71-DB96-4DF3-A376-1D4D67B49225}"/>
              </a:ext>
            </a:extLst>
          </p:cNvPr>
          <p:cNvPicPr>
            <a:picLocks noChangeAspect="1"/>
          </p:cNvPicPr>
          <p:nvPr/>
        </p:nvPicPr>
        <p:blipFill>
          <a:blip r:embed="rId3"/>
          <a:stretch>
            <a:fillRect/>
          </a:stretch>
        </p:blipFill>
        <p:spPr>
          <a:xfrm>
            <a:off x="567541" y="4936871"/>
            <a:ext cx="4553585" cy="1700866"/>
          </a:xfrm>
          <a:prstGeom prst="rect">
            <a:avLst/>
          </a:prstGeom>
        </p:spPr>
      </p:pic>
      <p:pic>
        <p:nvPicPr>
          <p:cNvPr id="10" name="図 9">
            <a:extLst>
              <a:ext uri="{FF2B5EF4-FFF2-40B4-BE49-F238E27FC236}">
                <a16:creationId xmlns:a16="http://schemas.microsoft.com/office/drawing/2014/main" id="{4ACBBFD2-F479-4F47-9B88-DC21437C697B}"/>
              </a:ext>
            </a:extLst>
          </p:cNvPr>
          <p:cNvPicPr>
            <a:picLocks noChangeAspect="1"/>
          </p:cNvPicPr>
          <p:nvPr/>
        </p:nvPicPr>
        <p:blipFill>
          <a:blip r:embed="rId4"/>
          <a:stretch>
            <a:fillRect/>
          </a:stretch>
        </p:blipFill>
        <p:spPr>
          <a:xfrm>
            <a:off x="567541" y="3815959"/>
            <a:ext cx="4553585" cy="981212"/>
          </a:xfrm>
          <a:prstGeom prst="rect">
            <a:avLst/>
          </a:prstGeom>
        </p:spPr>
      </p:pic>
    </p:spTree>
    <p:extLst>
      <p:ext uri="{BB962C8B-B14F-4D97-AF65-F5344CB8AC3E}">
        <p14:creationId xmlns:p14="http://schemas.microsoft.com/office/powerpoint/2010/main" val="16144099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5109091" cy="584775"/>
          </a:xfrm>
          <a:prstGeom prst="rect">
            <a:avLst/>
          </a:prstGeom>
          <a:noFill/>
        </p:spPr>
        <p:txBody>
          <a:bodyPr wrap="none" rtlCol="0">
            <a:spAutoFit/>
          </a:bodyPr>
          <a:lstStyle/>
          <a:p>
            <a:r>
              <a:rPr lang="ja-JP" altLang="en-US" sz="3200" b="1" u="sng" dirty="0"/>
              <a:t>仮想関数とオーバーライド</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419840" cy="830997"/>
          </a:xfrm>
          <a:prstGeom prst="rect">
            <a:avLst/>
          </a:prstGeom>
          <a:noFill/>
        </p:spPr>
        <p:txBody>
          <a:bodyPr wrap="none" rtlCol="0">
            <a:spAutoFit/>
          </a:bodyPr>
          <a:lstStyle/>
          <a:p>
            <a:r>
              <a:rPr lang="ja-JP" altLang="en-US" sz="2400" dirty="0"/>
              <a:t>ポインタは</a:t>
            </a:r>
            <a:r>
              <a:rPr lang="en-US" altLang="ja-JP" sz="2400" b="1" dirty="0">
                <a:solidFill>
                  <a:srgbClr val="00B050"/>
                </a:solidFill>
              </a:rPr>
              <a:t>Food</a:t>
            </a:r>
            <a:r>
              <a:rPr lang="ja-JP" altLang="en-US" sz="2400" dirty="0"/>
              <a:t>ですが、</a:t>
            </a:r>
            <a:r>
              <a:rPr lang="ja-JP" altLang="en-US" sz="2400" b="1" dirty="0">
                <a:solidFill>
                  <a:srgbClr val="FF0000"/>
                </a:solidFill>
              </a:rPr>
              <a:t>実際に生成されているのは、</a:t>
            </a:r>
            <a:r>
              <a:rPr lang="en-US" altLang="ja-JP" sz="2400" b="1" dirty="0">
                <a:solidFill>
                  <a:srgbClr val="00B050"/>
                </a:solidFill>
              </a:rPr>
              <a:t>Fruit</a:t>
            </a:r>
            <a:r>
              <a:rPr lang="ja-JP" altLang="en-US" sz="2400" b="1" dirty="0">
                <a:solidFill>
                  <a:srgbClr val="FF0000"/>
                </a:solidFill>
              </a:rPr>
              <a:t>と</a:t>
            </a:r>
            <a:r>
              <a:rPr lang="en-US" altLang="ja-JP" sz="2400" b="1" dirty="0">
                <a:solidFill>
                  <a:srgbClr val="00B050"/>
                </a:solidFill>
              </a:rPr>
              <a:t>Meat</a:t>
            </a:r>
            <a:r>
              <a:rPr lang="ja-JP" altLang="en-US" sz="2400" b="1" dirty="0">
                <a:solidFill>
                  <a:srgbClr val="FF0000"/>
                </a:solidFill>
              </a:rPr>
              <a:t>です。</a:t>
            </a:r>
            <a:endParaRPr lang="en-US" altLang="ja-JP" sz="2400" b="1" dirty="0">
              <a:solidFill>
                <a:srgbClr val="FF0000"/>
              </a:solidFill>
            </a:endParaRPr>
          </a:p>
          <a:p>
            <a:r>
              <a:rPr lang="ja-JP" altLang="en-US" sz="2400" dirty="0"/>
              <a:t>このままでは想定した処理になっていません。</a:t>
            </a:r>
            <a:endParaRPr lang="en-US" altLang="ja-JP" sz="2400" dirty="0"/>
          </a:p>
        </p:txBody>
      </p:sp>
      <p:pic>
        <p:nvPicPr>
          <p:cNvPr id="5" name="図 4">
            <a:extLst>
              <a:ext uri="{FF2B5EF4-FFF2-40B4-BE49-F238E27FC236}">
                <a16:creationId xmlns:a16="http://schemas.microsoft.com/office/drawing/2014/main" id="{04C56E91-F66E-4CD1-A000-E6CD2048BC36}"/>
              </a:ext>
            </a:extLst>
          </p:cNvPr>
          <p:cNvPicPr>
            <a:picLocks noChangeAspect="1"/>
          </p:cNvPicPr>
          <p:nvPr/>
        </p:nvPicPr>
        <p:blipFill>
          <a:blip r:embed="rId2"/>
          <a:stretch>
            <a:fillRect/>
          </a:stretch>
        </p:blipFill>
        <p:spPr>
          <a:xfrm>
            <a:off x="567542" y="2187126"/>
            <a:ext cx="4470623" cy="2503549"/>
          </a:xfrm>
          <a:prstGeom prst="rect">
            <a:avLst/>
          </a:prstGeom>
        </p:spPr>
      </p:pic>
      <p:pic>
        <p:nvPicPr>
          <p:cNvPr id="11" name="図 10">
            <a:extLst>
              <a:ext uri="{FF2B5EF4-FFF2-40B4-BE49-F238E27FC236}">
                <a16:creationId xmlns:a16="http://schemas.microsoft.com/office/drawing/2014/main" id="{AB65E4CA-A72B-41AE-B737-B9FF0784922C}"/>
              </a:ext>
            </a:extLst>
          </p:cNvPr>
          <p:cNvPicPr>
            <a:picLocks noChangeAspect="1"/>
          </p:cNvPicPr>
          <p:nvPr/>
        </p:nvPicPr>
        <p:blipFill>
          <a:blip r:embed="rId3"/>
          <a:stretch>
            <a:fillRect/>
          </a:stretch>
        </p:blipFill>
        <p:spPr>
          <a:xfrm>
            <a:off x="5777462" y="2187126"/>
            <a:ext cx="4677684" cy="2503549"/>
          </a:xfrm>
          <a:prstGeom prst="rect">
            <a:avLst/>
          </a:prstGeom>
        </p:spPr>
      </p:pic>
      <p:sp>
        <p:nvSpPr>
          <p:cNvPr id="12" name="テキスト ボックス 11">
            <a:extLst>
              <a:ext uri="{FF2B5EF4-FFF2-40B4-BE49-F238E27FC236}">
                <a16:creationId xmlns:a16="http://schemas.microsoft.com/office/drawing/2014/main" id="{46C4A238-9FE9-4E4A-B8E1-0E681D9EBEA8}"/>
              </a:ext>
            </a:extLst>
          </p:cNvPr>
          <p:cNvSpPr txBox="1"/>
          <p:nvPr/>
        </p:nvSpPr>
        <p:spPr>
          <a:xfrm>
            <a:off x="1585212" y="4806343"/>
            <a:ext cx="2435282" cy="461665"/>
          </a:xfrm>
          <a:prstGeom prst="rect">
            <a:avLst/>
          </a:prstGeom>
          <a:noFill/>
        </p:spPr>
        <p:txBody>
          <a:bodyPr wrap="none" rtlCol="0">
            <a:spAutoFit/>
          </a:bodyPr>
          <a:lstStyle/>
          <a:p>
            <a:r>
              <a:rPr lang="en-US" altLang="ja-JP" sz="2400" b="1" dirty="0">
                <a:solidFill>
                  <a:srgbClr val="00B050"/>
                </a:solidFill>
              </a:rPr>
              <a:t>Fruit</a:t>
            </a:r>
            <a:r>
              <a:rPr lang="ja-JP" altLang="en-US" sz="2400" dirty="0"/>
              <a:t>ならこっち</a:t>
            </a:r>
            <a:endParaRPr lang="en-US" altLang="ja-JP" sz="2400" dirty="0"/>
          </a:p>
        </p:txBody>
      </p:sp>
      <p:sp>
        <p:nvSpPr>
          <p:cNvPr id="13" name="テキスト ボックス 12">
            <a:extLst>
              <a:ext uri="{FF2B5EF4-FFF2-40B4-BE49-F238E27FC236}">
                <a16:creationId xmlns:a16="http://schemas.microsoft.com/office/drawing/2014/main" id="{2A497F25-A218-48A8-95DF-AA8320C87FDE}"/>
              </a:ext>
            </a:extLst>
          </p:cNvPr>
          <p:cNvSpPr txBox="1"/>
          <p:nvPr/>
        </p:nvSpPr>
        <p:spPr>
          <a:xfrm>
            <a:off x="6869007" y="4806344"/>
            <a:ext cx="2494594" cy="461665"/>
          </a:xfrm>
          <a:prstGeom prst="rect">
            <a:avLst/>
          </a:prstGeom>
          <a:noFill/>
        </p:spPr>
        <p:txBody>
          <a:bodyPr wrap="none" rtlCol="0">
            <a:spAutoFit/>
          </a:bodyPr>
          <a:lstStyle/>
          <a:p>
            <a:r>
              <a:rPr lang="en-US" altLang="ja-JP" sz="2400" b="1" dirty="0">
                <a:solidFill>
                  <a:srgbClr val="00B050"/>
                </a:solidFill>
              </a:rPr>
              <a:t>Meat</a:t>
            </a:r>
            <a:r>
              <a:rPr lang="ja-JP" altLang="en-US" sz="2400" dirty="0"/>
              <a:t>ならこっち</a:t>
            </a:r>
            <a:endParaRPr lang="en-US" altLang="ja-JP" sz="2400" dirty="0"/>
          </a:p>
        </p:txBody>
      </p:sp>
    </p:spTree>
    <p:extLst>
      <p:ext uri="{BB962C8B-B14F-4D97-AF65-F5344CB8AC3E}">
        <p14:creationId xmlns:p14="http://schemas.microsoft.com/office/powerpoint/2010/main" val="19430925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5109091" cy="584775"/>
          </a:xfrm>
          <a:prstGeom prst="rect">
            <a:avLst/>
          </a:prstGeom>
          <a:noFill/>
        </p:spPr>
        <p:txBody>
          <a:bodyPr wrap="none" rtlCol="0">
            <a:spAutoFit/>
          </a:bodyPr>
          <a:lstStyle/>
          <a:p>
            <a:r>
              <a:rPr lang="ja-JP" altLang="en-US" sz="3200" b="1" u="sng" dirty="0"/>
              <a:t>仮想関数とオーバーライド</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725739" cy="2677656"/>
          </a:xfrm>
          <a:prstGeom prst="rect">
            <a:avLst/>
          </a:prstGeom>
          <a:noFill/>
        </p:spPr>
        <p:txBody>
          <a:bodyPr wrap="none" rtlCol="0">
            <a:spAutoFit/>
          </a:bodyPr>
          <a:lstStyle/>
          <a:p>
            <a:r>
              <a:rPr lang="ja-JP" altLang="en-US" sz="2400" dirty="0"/>
              <a:t>この問題を解決するのが仮想関数とオーバーライド関数となります。</a:t>
            </a:r>
            <a:endParaRPr lang="en-US" altLang="ja-JP" sz="2400" dirty="0"/>
          </a:p>
          <a:p>
            <a:endParaRPr lang="en-US" altLang="ja-JP" sz="2400" dirty="0"/>
          </a:p>
          <a:p>
            <a:r>
              <a:rPr lang="ja-JP" altLang="en-US" sz="2400" b="1" dirty="0">
                <a:solidFill>
                  <a:srgbClr val="FF0000"/>
                </a:solidFill>
              </a:rPr>
              <a:t>■仮想関数</a:t>
            </a:r>
            <a:endParaRPr lang="en-US" altLang="ja-JP" sz="2400" b="1" dirty="0">
              <a:solidFill>
                <a:srgbClr val="FF0000"/>
              </a:solidFill>
            </a:endParaRPr>
          </a:p>
          <a:p>
            <a:r>
              <a:rPr lang="ja-JP" altLang="en-US" sz="2400" dirty="0"/>
              <a:t>仮想として関数を定義しておくテクニック</a:t>
            </a:r>
            <a:endParaRPr lang="en-US" altLang="ja-JP" sz="2400" dirty="0"/>
          </a:p>
          <a:p>
            <a:endParaRPr lang="en-US" altLang="ja-JP" sz="2400" dirty="0"/>
          </a:p>
          <a:p>
            <a:r>
              <a:rPr lang="ja-JP" altLang="en-US" sz="2400" b="1" dirty="0">
                <a:solidFill>
                  <a:srgbClr val="FF0000"/>
                </a:solidFill>
              </a:rPr>
              <a:t>■オーバーライド関数</a:t>
            </a:r>
            <a:endParaRPr lang="en-US" altLang="ja-JP" sz="2400" b="1" dirty="0">
              <a:solidFill>
                <a:srgbClr val="FF0000"/>
              </a:solidFill>
            </a:endParaRPr>
          </a:p>
          <a:p>
            <a:r>
              <a:rPr lang="ja-JP" altLang="en-US" sz="2400" dirty="0"/>
              <a:t>仮想関数に対して専用の機能を上乗せするテクニック</a:t>
            </a:r>
            <a:endParaRPr lang="en-US" altLang="ja-JP" sz="2400" dirty="0"/>
          </a:p>
        </p:txBody>
      </p:sp>
    </p:spTree>
    <p:extLst>
      <p:ext uri="{BB962C8B-B14F-4D97-AF65-F5344CB8AC3E}">
        <p14:creationId xmlns:p14="http://schemas.microsoft.com/office/powerpoint/2010/main" val="389258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5109091" cy="584775"/>
          </a:xfrm>
          <a:prstGeom prst="rect">
            <a:avLst/>
          </a:prstGeom>
          <a:noFill/>
        </p:spPr>
        <p:txBody>
          <a:bodyPr wrap="none" rtlCol="0">
            <a:spAutoFit/>
          </a:bodyPr>
          <a:lstStyle/>
          <a:p>
            <a:r>
              <a:rPr lang="ja-JP" altLang="en-US" sz="3200" b="1" u="sng" dirty="0"/>
              <a:t>仮想関数とオーバーライド</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6367449" cy="461665"/>
          </a:xfrm>
          <a:prstGeom prst="rect">
            <a:avLst/>
          </a:prstGeom>
          <a:noFill/>
        </p:spPr>
        <p:txBody>
          <a:bodyPr wrap="none" rtlCol="0">
            <a:spAutoFit/>
          </a:bodyPr>
          <a:lstStyle/>
          <a:p>
            <a:r>
              <a:rPr lang="en-US" altLang="ja-JP" sz="2400" b="1" dirty="0">
                <a:solidFill>
                  <a:srgbClr val="00B050"/>
                </a:solidFill>
              </a:rPr>
              <a:t>Food</a:t>
            </a:r>
            <a:r>
              <a:rPr lang="ja-JP" altLang="en-US" sz="2400" dirty="0"/>
              <a:t>の</a:t>
            </a:r>
            <a:r>
              <a:rPr lang="en-US" altLang="ja-JP" sz="2400" b="1" dirty="0" err="1">
                <a:solidFill>
                  <a:srgbClr val="0070C0"/>
                </a:solidFill>
              </a:rPr>
              <a:t>CalcPrice</a:t>
            </a:r>
            <a:r>
              <a:rPr lang="ja-JP" altLang="en-US" sz="2400" dirty="0"/>
              <a:t>関数を仮想関数にします。</a:t>
            </a:r>
            <a:endParaRPr lang="en-US" altLang="ja-JP" sz="2400" dirty="0"/>
          </a:p>
        </p:txBody>
      </p:sp>
      <p:pic>
        <p:nvPicPr>
          <p:cNvPr id="3" name="図 2">
            <a:extLst>
              <a:ext uri="{FF2B5EF4-FFF2-40B4-BE49-F238E27FC236}">
                <a16:creationId xmlns:a16="http://schemas.microsoft.com/office/drawing/2014/main" id="{C8E9C56C-320D-4EF4-8954-0E35808DF966}"/>
              </a:ext>
            </a:extLst>
          </p:cNvPr>
          <p:cNvPicPr>
            <a:picLocks noChangeAspect="1"/>
          </p:cNvPicPr>
          <p:nvPr/>
        </p:nvPicPr>
        <p:blipFill>
          <a:blip r:embed="rId2"/>
          <a:stretch>
            <a:fillRect/>
          </a:stretch>
        </p:blipFill>
        <p:spPr>
          <a:xfrm>
            <a:off x="567541" y="1817794"/>
            <a:ext cx="9214839" cy="2476300"/>
          </a:xfrm>
          <a:prstGeom prst="rect">
            <a:avLst/>
          </a:prstGeom>
        </p:spPr>
      </p:pic>
      <p:sp>
        <p:nvSpPr>
          <p:cNvPr id="7" name="正方形/長方形 6">
            <a:extLst>
              <a:ext uri="{FF2B5EF4-FFF2-40B4-BE49-F238E27FC236}">
                <a16:creationId xmlns:a16="http://schemas.microsoft.com/office/drawing/2014/main" id="{248FA8FA-BCA2-4EFD-8E0C-7BB34095A04C}"/>
              </a:ext>
            </a:extLst>
          </p:cNvPr>
          <p:cNvSpPr/>
          <p:nvPr/>
        </p:nvSpPr>
        <p:spPr>
          <a:xfrm>
            <a:off x="2330825" y="3532095"/>
            <a:ext cx="1174376" cy="46616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6187D9B8-D5D0-4ACA-A02D-D0EC26677E1B}"/>
              </a:ext>
            </a:extLst>
          </p:cNvPr>
          <p:cNvSpPr txBox="1"/>
          <p:nvPr/>
        </p:nvSpPr>
        <p:spPr>
          <a:xfrm>
            <a:off x="567542" y="4433794"/>
            <a:ext cx="4825360" cy="461665"/>
          </a:xfrm>
          <a:prstGeom prst="rect">
            <a:avLst/>
          </a:prstGeom>
          <a:noFill/>
        </p:spPr>
        <p:txBody>
          <a:bodyPr wrap="none" rtlCol="0">
            <a:spAutoFit/>
          </a:bodyPr>
          <a:lstStyle/>
          <a:p>
            <a:r>
              <a:rPr lang="ja-JP" altLang="en-US" sz="2400" dirty="0"/>
              <a:t>宣言の初めに</a:t>
            </a:r>
            <a:r>
              <a:rPr lang="en-US" altLang="ja-JP" sz="2400" b="1" dirty="0">
                <a:solidFill>
                  <a:srgbClr val="0070C0"/>
                </a:solidFill>
              </a:rPr>
              <a:t>virtual</a:t>
            </a:r>
            <a:r>
              <a:rPr lang="ja-JP" altLang="en-US" sz="2400" dirty="0"/>
              <a:t>と書きます。</a:t>
            </a:r>
            <a:endParaRPr lang="en-US" altLang="ja-JP" sz="2400" dirty="0"/>
          </a:p>
        </p:txBody>
      </p:sp>
    </p:spTree>
    <p:extLst>
      <p:ext uri="{BB962C8B-B14F-4D97-AF65-F5344CB8AC3E}">
        <p14:creationId xmlns:p14="http://schemas.microsoft.com/office/powerpoint/2010/main" val="26313417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5109091" cy="584775"/>
          </a:xfrm>
          <a:prstGeom prst="rect">
            <a:avLst/>
          </a:prstGeom>
          <a:noFill/>
        </p:spPr>
        <p:txBody>
          <a:bodyPr wrap="none" rtlCol="0">
            <a:spAutoFit/>
          </a:bodyPr>
          <a:lstStyle/>
          <a:p>
            <a:r>
              <a:rPr lang="ja-JP" altLang="en-US" sz="3200" b="1" u="sng" dirty="0"/>
              <a:t>仮想関数とオーバーライド</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946680" cy="461665"/>
          </a:xfrm>
          <a:prstGeom prst="rect">
            <a:avLst/>
          </a:prstGeom>
          <a:noFill/>
        </p:spPr>
        <p:txBody>
          <a:bodyPr wrap="none" rtlCol="0">
            <a:spAutoFit/>
          </a:bodyPr>
          <a:lstStyle/>
          <a:p>
            <a:r>
              <a:rPr lang="en-US" altLang="ja-JP" sz="2400" b="1" dirty="0">
                <a:solidFill>
                  <a:srgbClr val="00B050"/>
                </a:solidFill>
              </a:rPr>
              <a:t>Fruit</a:t>
            </a:r>
            <a:r>
              <a:rPr lang="ja-JP" altLang="en-US" sz="2400" dirty="0"/>
              <a:t>と</a:t>
            </a:r>
            <a:r>
              <a:rPr lang="en-US" altLang="ja-JP" sz="2400" b="1" dirty="0">
                <a:solidFill>
                  <a:srgbClr val="00B050"/>
                </a:solidFill>
              </a:rPr>
              <a:t>Meat</a:t>
            </a:r>
            <a:r>
              <a:rPr lang="ja-JP" altLang="en-US" sz="2400" dirty="0"/>
              <a:t>の</a:t>
            </a:r>
            <a:r>
              <a:rPr lang="en-US" altLang="ja-JP" sz="2400" b="1" dirty="0" err="1">
                <a:solidFill>
                  <a:srgbClr val="0070C0"/>
                </a:solidFill>
              </a:rPr>
              <a:t>CalcPrice</a:t>
            </a:r>
            <a:r>
              <a:rPr lang="ja-JP" altLang="en-US" sz="2400" dirty="0"/>
              <a:t>関数をオーバーライド関数にします。</a:t>
            </a:r>
            <a:endParaRPr lang="en-US" altLang="ja-JP" sz="2400" dirty="0"/>
          </a:p>
        </p:txBody>
      </p:sp>
      <p:pic>
        <p:nvPicPr>
          <p:cNvPr id="5" name="図 4">
            <a:extLst>
              <a:ext uri="{FF2B5EF4-FFF2-40B4-BE49-F238E27FC236}">
                <a16:creationId xmlns:a16="http://schemas.microsoft.com/office/drawing/2014/main" id="{B5384BCC-78F3-480A-8617-9BF3A12B1F2B}"/>
              </a:ext>
            </a:extLst>
          </p:cNvPr>
          <p:cNvPicPr>
            <a:picLocks noChangeAspect="1"/>
          </p:cNvPicPr>
          <p:nvPr/>
        </p:nvPicPr>
        <p:blipFill>
          <a:blip r:embed="rId2"/>
          <a:stretch>
            <a:fillRect/>
          </a:stretch>
        </p:blipFill>
        <p:spPr>
          <a:xfrm>
            <a:off x="567542" y="1817794"/>
            <a:ext cx="7325948" cy="3148653"/>
          </a:xfrm>
          <a:prstGeom prst="rect">
            <a:avLst/>
          </a:prstGeom>
        </p:spPr>
      </p:pic>
      <p:sp>
        <p:nvSpPr>
          <p:cNvPr id="9" name="正方形/長方形 8">
            <a:extLst>
              <a:ext uri="{FF2B5EF4-FFF2-40B4-BE49-F238E27FC236}">
                <a16:creationId xmlns:a16="http://schemas.microsoft.com/office/drawing/2014/main" id="{C375CDA7-B9B4-4C41-A626-4E8F8DED0CA1}"/>
              </a:ext>
            </a:extLst>
          </p:cNvPr>
          <p:cNvSpPr/>
          <p:nvPr/>
        </p:nvSpPr>
        <p:spPr>
          <a:xfrm>
            <a:off x="4455459" y="3227294"/>
            <a:ext cx="1335742" cy="40341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418C74E2-CE95-40E0-A5E5-4D3CB53BA2C0}"/>
              </a:ext>
            </a:extLst>
          </p:cNvPr>
          <p:cNvSpPr txBox="1"/>
          <p:nvPr/>
        </p:nvSpPr>
        <p:spPr>
          <a:xfrm>
            <a:off x="567542" y="5106147"/>
            <a:ext cx="4796506" cy="830997"/>
          </a:xfrm>
          <a:prstGeom prst="rect">
            <a:avLst/>
          </a:prstGeom>
          <a:noFill/>
        </p:spPr>
        <p:txBody>
          <a:bodyPr wrap="none" rtlCol="0">
            <a:spAutoFit/>
          </a:bodyPr>
          <a:lstStyle/>
          <a:p>
            <a:r>
              <a:rPr lang="ja-JP" altLang="en-US" sz="2400" dirty="0"/>
              <a:t>宣言の後に</a:t>
            </a:r>
            <a:r>
              <a:rPr lang="en-US" altLang="ja-JP" sz="2400" b="1" dirty="0">
                <a:solidFill>
                  <a:srgbClr val="0070C0"/>
                </a:solidFill>
              </a:rPr>
              <a:t>override</a:t>
            </a:r>
            <a:r>
              <a:rPr lang="ja-JP" altLang="en-US" sz="2400" dirty="0"/>
              <a:t>と書きます。</a:t>
            </a:r>
            <a:endParaRPr lang="en-US" altLang="ja-JP" sz="2400" dirty="0"/>
          </a:p>
          <a:p>
            <a:r>
              <a:rPr lang="en-US" altLang="ja-JP" sz="2400" b="1" dirty="0">
                <a:solidFill>
                  <a:srgbClr val="00B050"/>
                </a:solidFill>
              </a:rPr>
              <a:t>Meat</a:t>
            </a:r>
            <a:r>
              <a:rPr lang="ja-JP" altLang="en-US" sz="2400" dirty="0"/>
              <a:t>側も対応しましょう。</a:t>
            </a:r>
            <a:endParaRPr lang="en-US" altLang="ja-JP" sz="2400" dirty="0"/>
          </a:p>
        </p:txBody>
      </p:sp>
    </p:spTree>
    <p:extLst>
      <p:ext uri="{BB962C8B-B14F-4D97-AF65-F5344CB8AC3E}">
        <p14:creationId xmlns:p14="http://schemas.microsoft.com/office/powerpoint/2010/main" val="22091308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5109091" cy="584775"/>
          </a:xfrm>
          <a:prstGeom prst="rect">
            <a:avLst/>
          </a:prstGeom>
          <a:noFill/>
        </p:spPr>
        <p:txBody>
          <a:bodyPr wrap="none" rtlCol="0">
            <a:spAutoFit/>
          </a:bodyPr>
          <a:lstStyle/>
          <a:p>
            <a:r>
              <a:rPr lang="ja-JP" altLang="en-US" sz="3200" b="1" u="sng" dirty="0"/>
              <a:t>仮想関数とオーバーライド</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7571303" cy="461665"/>
          </a:xfrm>
          <a:prstGeom prst="rect">
            <a:avLst/>
          </a:prstGeom>
          <a:noFill/>
        </p:spPr>
        <p:txBody>
          <a:bodyPr wrap="none" rtlCol="0">
            <a:spAutoFit/>
          </a:bodyPr>
          <a:lstStyle/>
          <a:p>
            <a:r>
              <a:rPr lang="ja-JP" altLang="en-US" sz="2400" dirty="0"/>
              <a:t>実行すると値段補正がかかった状態で表示されます。</a:t>
            </a:r>
            <a:endParaRPr lang="en-US" altLang="ja-JP" sz="2400" dirty="0"/>
          </a:p>
        </p:txBody>
      </p:sp>
      <p:pic>
        <p:nvPicPr>
          <p:cNvPr id="3" name="図 2">
            <a:extLst>
              <a:ext uri="{FF2B5EF4-FFF2-40B4-BE49-F238E27FC236}">
                <a16:creationId xmlns:a16="http://schemas.microsoft.com/office/drawing/2014/main" id="{1FBD884C-B0B9-40AC-BFEC-DDAFF8A1514C}"/>
              </a:ext>
            </a:extLst>
          </p:cNvPr>
          <p:cNvPicPr>
            <a:picLocks noChangeAspect="1"/>
          </p:cNvPicPr>
          <p:nvPr/>
        </p:nvPicPr>
        <p:blipFill>
          <a:blip r:embed="rId2"/>
          <a:stretch>
            <a:fillRect/>
          </a:stretch>
        </p:blipFill>
        <p:spPr>
          <a:xfrm>
            <a:off x="567542" y="1817794"/>
            <a:ext cx="5217056" cy="1167453"/>
          </a:xfrm>
          <a:prstGeom prst="rect">
            <a:avLst/>
          </a:prstGeom>
        </p:spPr>
      </p:pic>
      <p:sp>
        <p:nvSpPr>
          <p:cNvPr id="11" name="テキスト ボックス 10">
            <a:extLst>
              <a:ext uri="{FF2B5EF4-FFF2-40B4-BE49-F238E27FC236}">
                <a16:creationId xmlns:a16="http://schemas.microsoft.com/office/drawing/2014/main" id="{41EA9D02-5765-461B-A07C-64166F8C06BB}"/>
              </a:ext>
            </a:extLst>
          </p:cNvPr>
          <p:cNvSpPr txBox="1"/>
          <p:nvPr/>
        </p:nvSpPr>
        <p:spPr>
          <a:xfrm>
            <a:off x="567542" y="3124947"/>
            <a:ext cx="9725739" cy="461665"/>
          </a:xfrm>
          <a:prstGeom prst="rect">
            <a:avLst/>
          </a:prstGeom>
          <a:noFill/>
        </p:spPr>
        <p:txBody>
          <a:bodyPr wrap="none" rtlCol="0">
            <a:spAutoFit/>
          </a:bodyPr>
          <a:lstStyle/>
          <a:p>
            <a:r>
              <a:rPr lang="ja-JP" altLang="en-US" sz="2400" dirty="0"/>
              <a:t>このように</a:t>
            </a:r>
            <a:r>
              <a:rPr lang="ja-JP" altLang="en-US" sz="2400" b="1" dirty="0">
                <a:solidFill>
                  <a:srgbClr val="FF0000"/>
                </a:solidFill>
              </a:rPr>
              <a:t>生成されたクラスに合わせて関数を呼ぶことができます。</a:t>
            </a:r>
            <a:endParaRPr lang="en-US" altLang="ja-JP" sz="2400" b="1" dirty="0">
              <a:solidFill>
                <a:srgbClr val="FF0000"/>
              </a:solidFill>
            </a:endParaRPr>
          </a:p>
        </p:txBody>
      </p:sp>
      <p:pic>
        <p:nvPicPr>
          <p:cNvPr id="8" name="図 7">
            <a:extLst>
              <a:ext uri="{FF2B5EF4-FFF2-40B4-BE49-F238E27FC236}">
                <a16:creationId xmlns:a16="http://schemas.microsoft.com/office/drawing/2014/main" id="{74CC3968-8ABB-4AB3-8292-C2A83102AAAB}"/>
              </a:ext>
            </a:extLst>
          </p:cNvPr>
          <p:cNvPicPr>
            <a:picLocks noChangeAspect="1"/>
          </p:cNvPicPr>
          <p:nvPr/>
        </p:nvPicPr>
        <p:blipFill>
          <a:blip r:embed="rId3"/>
          <a:stretch>
            <a:fillRect/>
          </a:stretch>
        </p:blipFill>
        <p:spPr>
          <a:xfrm>
            <a:off x="567542" y="3726312"/>
            <a:ext cx="7668695" cy="2610214"/>
          </a:xfrm>
          <a:prstGeom prst="rect">
            <a:avLst/>
          </a:prstGeom>
        </p:spPr>
      </p:pic>
      <p:sp>
        <p:nvSpPr>
          <p:cNvPr id="12" name="テキスト ボックス 11">
            <a:extLst>
              <a:ext uri="{FF2B5EF4-FFF2-40B4-BE49-F238E27FC236}">
                <a16:creationId xmlns:a16="http://schemas.microsoft.com/office/drawing/2014/main" id="{A2C2ED49-8D36-45B4-BA18-19F574021C56}"/>
              </a:ext>
            </a:extLst>
          </p:cNvPr>
          <p:cNvSpPr txBox="1"/>
          <p:nvPr/>
        </p:nvSpPr>
        <p:spPr>
          <a:xfrm>
            <a:off x="4353193" y="4118335"/>
            <a:ext cx="2635658" cy="461665"/>
          </a:xfrm>
          <a:prstGeom prst="rect">
            <a:avLst/>
          </a:prstGeom>
          <a:solidFill>
            <a:schemeClr val="bg1"/>
          </a:solidFill>
          <a:ln>
            <a:solidFill>
              <a:schemeClr val="tx1"/>
            </a:solidFill>
          </a:ln>
        </p:spPr>
        <p:txBody>
          <a:bodyPr wrap="none" rtlCol="0">
            <a:spAutoFit/>
          </a:bodyPr>
          <a:lstStyle/>
          <a:p>
            <a:r>
              <a:rPr lang="en-US" altLang="ja-JP" sz="2400" b="1" dirty="0">
                <a:solidFill>
                  <a:srgbClr val="00B050"/>
                </a:solidFill>
              </a:rPr>
              <a:t>Fruit</a:t>
            </a:r>
            <a:r>
              <a:rPr lang="ja-JP" altLang="en-US" sz="2400" dirty="0"/>
              <a:t>の</a:t>
            </a:r>
            <a:r>
              <a:rPr lang="en-US" altLang="ja-JP" sz="2400" b="1" dirty="0" err="1">
                <a:solidFill>
                  <a:srgbClr val="0070C0"/>
                </a:solidFill>
              </a:rPr>
              <a:t>CalcPrice</a:t>
            </a:r>
            <a:endParaRPr lang="en-US" altLang="ja-JP" sz="2400" b="1" dirty="0">
              <a:solidFill>
                <a:srgbClr val="0070C0"/>
              </a:solidFill>
            </a:endParaRPr>
          </a:p>
        </p:txBody>
      </p:sp>
      <p:sp>
        <p:nvSpPr>
          <p:cNvPr id="13" name="テキスト ボックス 12">
            <a:extLst>
              <a:ext uri="{FF2B5EF4-FFF2-40B4-BE49-F238E27FC236}">
                <a16:creationId xmlns:a16="http://schemas.microsoft.com/office/drawing/2014/main" id="{BA588752-75FF-46B8-BDB3-58F524079073}"/>
              </a:ext>
            </a:extLst>
          </p:cNvPr>
          <p:cNvSpPr txBox="1"/>
          <p:nvPr/>
        </p:nvSpPr>
        <p:spPr>
          <a:xfrm>
            <a:off x="4293882" y="5797887"/>
            <a:ext cx="2694969" cy="461665"/>
          </a:xfrm>
          <a:prstGeom prst="rect">
            <a:avLst/>
          </a:prstGeom>
          <a:solidFill>
            <a:schemeClr val="bg1"/>
          </a:solidFill>
          <a:ln>
            <a:solidFill>
              <a:schemeClr val="tx1"/>
            </a:solidFill>
          </a:ln>
        </p:spPr>
        <p:txBody>
          <a:bodyPr wrap="none" rtlCol="0">
            <a:spAutoFit/>
          </a:bodyPr>
          <a:lstStyle/>
          <a:p>
            <a:r>
              <a:rPr lang="en-US" altLang="ja-JP" sz="2400" b="1" dirty="0">
                <a:solidFill>
                  <a:srgbClr val="00B050"/>
                </a:solidFill>
              </a:rPr>
              <a:t>Meat</a:t>
            </a:r>
            <a:r>
              <a:rPr lang="ja-JP" altLang="en-US" sz="2400" dirty="0"/>
              <a:t>の</a:t>
            </a:r>
            <a:r>
              <a:rPr lang="en-US" altLang="ja-JP" sz="2400" b="1" dirty="0" err="1">
                <a:solidFill>
                  <a:srgbClr val="0070C0"/>
                </a:solidFill>
              </a:rPr>
              <a:t>CalcPrice</a:t>
            </a:r>
            <a:endParaRPr lang="en-US" altLang="ja-JP" sz="2400" b="1" dirty="0">
              <a:solidFill>
                <a:srgbClr val="0070C0"/>
              </a:solidFill>
            </a:endParaRPr>
          </a:p>
        </p:txBody>
      </p:sp>
    </p:spTree>
    <p:extLst>
      <p:ext uri="{BB962C8B-B14F-4D97-AF65-F5344CB8AC3E}">
        <p14:creationId xmlns:p14="http://schemas.microsoft.com/office/powerpoint/2010/main" val="12733917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5109091" cy="584775"/>
          </a:xfrm>
          <a:prstGeom prst="rect">
            <a:avLst/>
          </a:prstGeom>
          <a:noFill/>
        </p:spPr>
        <p:txBody>
          <a:bodyPr wrap="none" rtlCol="0">
            <a:spAutoFit/>
          </a:bodyPr>
          <a:lstStyle/>
          <a:p>
            <a:r>
              <a:rPr lang="ja-JP" altLang="en-US" sz="3200" b="1" u="sng" dirty="0"/>
              <a:t>仮想関数とオーバーライド</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1264622" cy="2308324"/>
          </a:xfrm>
          <a:prstGeom prst="rect">
            <a:avLst/>
          </a:prstGeom>
          <a:noFill/>
        </p:spPr>
        <p:txBody>
          <a:bodyPr wrap="none" rtlCol="0">
            <a:spAutoFit/>
          </a:bodyPr>
          <a:lstStyle/>
          <a:p>
            <a:r>
              <a:rPr lang="ja-JP" altLang="en-US" sz="2400" dirty="0"/>
              <a:t>このように</a:t>
            </a:r>
            <a:r>
              <a:rPr lang="ja-JP" altLang="en-US" sz="2400" b="1" dirty="0">
                <a:solidFill>
                  <a:srgbClr val="FF0000"/>
                </a:solidFill>
              </a:rPr>
              <a:t>基底クラスのポインタから派生クラスの関数を呼ぶことができます。</a:t>
            </a:r>
            <a:endParaRPr lang="en-US" altLang="ja-JP" sz="2400" b="1" dirty="0">
              <a:solidFill>
                <a:srgbClr val="FF0000"/>
              </a:solidFill>
            </a:endParaRPr>
          </a:p>
          <a:p>
            <a:endParaRPr lang="en-US" altLang="ja-JP" sz="2400" dirty="0"/>
          </a:p>
          <a:p>
            <a:r>
              <a:rPr lang="ja-JP" altLang="en-US" sz="2400" dirty="0"/>
              <a:t>ゲームにはエネミーやアイテムなど種類の多い要素がありますので、</a:t>
            </a:r>
            <a:endParaRPr lang="en-US" altLang="ja-JP" sz="2400" dirty="0"/>
          </a:p>
          <a:p>
            <a:r>
              <a:rPr lang="ja-JP" altLang="en-US" sz="2400" dirty="0"/>
              <a:t>このテクニックを軸にシステムをくみ上げていきます。</a:t>
            </a:r>
            <a:endParaRPr lang="en-US" altLang="ja-JP" sz="2400" dirty="0"/>
          </a:p>
          <a:p>
            <a:endParaRPr lang="en-US" altLang="ja-JP" sz="2400" dirty="0"/>
          </a:p>
          <a:p>
            <a:r>
              <a:rPr lang="ja-JP" altLang="en-US" sz="2400" dirty="0"/>
              <a:t>非常に重要なテクニックになるので、必ず覚えておきましょう。</a:t>
            </a:r>
            <a:endParaRPr lang="en-US" altLang="ja-JP" sz="2400" dirty="0"/>
          </a:p>
        </p:txBody>
      </p:sp>
    </p:spTree>
    <p:extLst>
      <p:ext uri="{BB962C8B-B14F-4D97-AF65-F5344CB8AC3E}">
        <p14:creationId xmlns:p14="http://schemas.microsoft.com/office/powerpoint/2010/main" val="2823852176"/>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414</TotalTime>
  <Words>372</Words>
  <Application>Microsoft Office PowerPoint</Application>
  <PresentationFormat>ワイド画面</PresentationFormat>
  <Paragraphs>53</Paragraphs>
  <Slides>15</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15</vt:i4>
      </vt:variant>
    </vt:vector>
  </HeadingPairs>
  <TitlesOfParts>
    <vt:vector size="19" baseType="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北九州校　ゲーム</dc:creator>
  <cp:lastModifiedBy>北九州校　ゲーム</cp:lastModifiedBy>
  <cp:revision>51</cp:revision>
  <dcterms:created xsi:type="dcterms:W3CDTF">2024-08-27T02:15:54Z</dcterms:created>
  <dcterms:modified xsi:type="dcterms:W3CDTF">2024-11-11T06:04:48Z</dcterms:modified>
</cp:coreProperties>
</file>