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1200329"/>
          </a:xfrm>
          <a:prstGeom prst="rect">
            <a:avLst/>
          </a:prstGeom>
          <a:noFill/>
        </p:spPr>
        <p:txBody>
          <a:bodyPr wrap="none" rtlCol="0">
            <a:spAutoFit/>
          </a:bodyPr>
          <a:lstStyle/>
          <a:p>
            <a:r>
              <a:rPr lang="ja-JP" altLang="en-US" sz="2400" dirty="0"/>
              <a:t>クラス継承をすることにより、</a:t>
            </a:r>
            <a:endParaRPr lang="en-US" altLang="ja-JP" sz="2400" dirty="0"/>
          </a:p>
          <a:p>
            <a:r>
              <a:rPr lang="ja-JP" altLang="en-US" sz="2400" b="1" dirty="0">
                <a:solidFill>
                  <a:srgbClr val="FF0000"/>
                </a:solidFill>
              </a:rPr>
              <a:t>関数のオーバーライド</a:t>
            </a:r>
            <a:r>
              <a:rPr lang="ja-JP" altLang="en-US" sz="2400" dirty="0"/>
              <a:t>という機能を使えるようになります。</a:t>
            </a:r>
            <a:endParaRPr lang="en-US" altLang="ja-JP" sz="2400" dirty="0"/>
          </a:p>
          <a:p>
            <a:r>
              <a:rPr lang="ja-JP" altLang="en-US" sz="2400" dirty="0"/>
              <a:t>簡単な例で練習します。</a:t>
            </a:r>
            <a:endParaRPr lang="en-US" altLang="ja-JP" sz="2400" dirty="0"/>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058851" cy="461665"/>
          </a:xfrm>
          <a:prstGeom prst="rect">
            <a:avLst/>
          </a:prstGeom>
          <a:noFill/>
        </p:spPr>
        <p:txBody>
          <a:bodyPr wrap="none" rtlCol="0">
            <a:spAutoFit/>
          </a:bodyPr>
          <a:lstStyle/>
          <a:p>
            <a:r>
              <a:rPr lang="en-US" altLang="ja-JP" sz="2400" b="1" dirty="0" err="1">
                <a:solidFill>
                  <a:srgbClr val="FF0000"/>
                </a:solidFill>
              </a:rPr>
              <a:t>Food.h</a:t>
            </a:r>
            <a:r>
              <a:rPr lang="ja-JP" altLang="en-US" sz="2400" dirty="0"/>
              <a:t>を書きます。</a:t>
            </a:r>
            <a:endParaRPr lang="en-US" altLang="ja-JP" sz="2400" dirty="0"/>
          </a:p>
        </p:txBody>
      </p:sp>
      <p:pic>
        <p:nvPicPr>
          <p:cNvPr id="9" name="図 8">
            <a:extLst>
              <a:ext uri="{FF2B5EF4-FFF2-40B4-BE49-F238E27FC236}">
                <a16:creationId xmlns:a16="http://schemas.microsoft.com/office/drawing/2014/main" id="{9CE63C00-834F-44E9-897E-7BB21FA872C1}"/>
              </a:ext>
            </a:extLst>
          </p:cNvPr>
          <p:cNvPicPr>
            <a:picLocks noChangeAspect="1"/>
          </p:cNvPicPr>
          <p:nvPr/>
        </p:nvPicPr>
        <p:blipFill>
          <a:blip r:embed="rId2"/>
          <a:stretch>
            <a:fillRect/>
          </a:stretch>
        </p:blipFill>
        <p:spPr>
          <a:xfrm>
            <a:off x="567542" y="1817794"/>
            <a:ext cx="7700490" cy="3390700"/>
          </a:xfrm>
          <a:prstGeom prst="rect">
            <a:avLst/>
          </a:prstGeom>
        </p:spPr>
      </p:pic>
      <p:sp>
        <p:nvSpPr>
          <p:cNvPr id="10" name="正方形/長方形 9">
            <a:extLst>
              <a:ext uri="{FF2B5EF4-FFF2-40B4-BE49-F238E27FC236}">
                <a16:creationId xmlns:a16="http://schemas.microsoft.com/office/drawing/2014/main" id="{510B5241-5F83-46E5-A5BE-EBF267652A8E}"/>
              </a:ext>
            </a:extLst>
          </p:cNvPr>
          <p:cNvSpPr/>
          <p:nvPr/>
        </p:nvSpPr>
        <p:spPr>
          <a:xfrm>
            <a:off x="2052918" y="3774141"/>
            <a:ext cx="2429435" cy="37651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1019413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416320" cy="461665"/>
          </a:xfrm>
          <a:prstGeom prst="rect">
            <a:avLst/>
          </a:prstGeom>
          <a:noFill/>
        </p:spPr>
        <p:txBody>
          <a:bodyPr wrap="none" rtlCol="0">
            <a:spAutoFit/>
          </a:bodyPr>
          <a:lstStyle/>
          <a:p>
            <a:r>
              <a:rPr lang="en-US" altLang="ja-JP" sz="2400" b="1" dirty="0">
                <a:solidFill>
                  <a:srgbClr val="FF0000"/>
                </a:solidFill>
              </a:rPr>
              <a:t>Food.cpp</a:t>
            </a:r>
            <a:r>
              <a:rPr lang="ja-JP" altLang="en-US" sz="2400" dirty="0"/>
              <a:t>を書きます。</a:t>
            </a:r>
            <a:endParaRPr lang="en-US" altLang="ja-JP" sz="2400" dirty="0"/>
          </a:p>
        </p:txBody>
      </p:sp>
      <p:pic>
        <p:nvPicPr>
          <p:cNvPr id="3" name="図 2">
            <a:extLst>
              <a:ext uri="{FF2B5EF4-FFF2-40B4-BE49-F238E27FC236}">
                <a16:creationId xmlns:a16="http://schemas.microsoft.com/office/drawing/2014/main" id="{0A99ACF8-38E6-4491-8B4D-9CF7055D52E5}"/>
              </a:ext>
            </a:extLst>
          </p:cNvPr>
          <p:cNvPicPr>
            <a:picLocks noChangeAspect="1"/>
          </p:cNvPicPr>
          <p:nvPr/>
        </p:nvPicPr>
        <p:blipFill>
          <a:blip r:embed="rId2"/>
          <a:stretch>
            <a:fillRect/>
          </a:stretch>
        </p:blipFill>
        <p:spPr>
          <a:xfrm>
            <a:off x="567542" y="1817793"/>
            <a:ext cx="5237562" cy="1956347"/>
          </a:xfrm>
          <a:prstGeom prst="rect">
            <a:avLst/>
          </a:prstGeom>
        </p:spPr>
      </p:pic>
    </p:spTree>
    <p:extLst>
      <p:ext uri="{BB962C8B-B14F-4D97-AF65-F5344CB8AC3E}">
        <p14:creationId xmlns:p14="http://schemas.microsoft.com/office/powerpoint/2010/main" val="569752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377848" cy="461665"/>
          </a:xfrm>
          <a:prstGeom prst="rect">
            <a:avLst/>
          </a:prstGeom>
          <a:noFill/>
        </p:spPr>
        <p:txBody>
          <a:bodyPr wrap="none" rtlCol="0">
            <a:spAutoFit/>
          </a:bodyPr>
          <a:lstStyle/>
          <a:p>
            <a:r>
              <a:rPr lang="en-US" altLang="ja-JP" sz="2400" b="1" dirty="0">
                <a:solidFill>
                  <a:srgbClr val="FF0000"/>
                </a:solidFill>
              </a:rPr>
              <a:t>Fruit.cpp</a:t>
            </a:r>
            <a:r>
              <a:rPr lang="ja-JP" altLang="en-US" sz="2400" dirty="0"/>
              <a:t>を書きます。</a:t>
            </a:r>
            <a:endParaRPr lang="en-US" altLang="ja-JP" sz="2400" dirty="0"/>
          </a:p>
        </p:txBody>
      </p:sp>
      <p:pic>
        <p:nvPicPr>
          <p:cNvPr id="5" name="図 4">
            <a:extLst>
              <a:ext uri="{FF2B5EF4-FFF2-40B4-BE49-F238E27FC236}">
                <a16:creationId xmlns:a16="http://schemas.microsoft.com/office/drawing/2014/main" id="{6E048F95-C09F-47E9-BD3F-712052FB28F0}"/>
              </a:ext>
            </a:extLst>
          </p:cNvPr>
          <p:cNvPicPr>
            <a:picLocks noChangeAspect="1"/>
          </p:cNvPicPr>
          <p:nvPr/>
        </p:nvPicPr>
        <p:blipFill>
          <a:blip r:embed="rId2"/>
          <a:stretch>
            <a:fillRect/>
          </a:stretch>
        </p:blipFill>
        <p:spPr>
          <a:xfrm>
            <a:off x="567542" y="1817794"/>
            <a:ext cx="5109091" cy="4381300"/>
          </a:xfrm>
          <a:prstGeom prst="rect">
            <a:avLst/>
          </a:prstGeom>
        </p:spPr>
      </p:pic>
      <p:sp>
        <p:nvSpPr>
          <p:cNvPr id="7" name="正方形/長方形 6">
            <a:extLst>
              <a:ext uri="{FF2B5EF4-FFF2-40B4-BE49-F238E27FC236}">
                <a16:creationId xmlns:a16="http://schemas.microsoft.com/office/drawing/2014/main" id="{94DD0222-FE1A-4B72-99FF-2619B7EA13A0}"/>
              </a:ext>
            </a:extLst>
          </p:cNvPr>
          <p:cNvSpPr/>
          <p:nvPr/>
        </p:nvSpPr>
        <p:spPr>
          <a:xfrm>
            <a:off x="1129553" y="3774141"/>
            <a:ext cx="3836893" cy="22860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2666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079689" cy="461665"/>
          </a:xfrm>
          <a:prstGeom prst="rect">
            <a:avLst/>
          </a:prstGeom>
          <a:noFill/>
        </p:spPr>
        <p:txBody>
          <a:bodyPr wrap="none" rtlCol="0">
            <a:spAutoFit/>
          </a:bodyPr>
          <a:lstStyle/>
          <a:p>
            <a:r>
              <a:rPr lang="en-US" altLang="ja-JP" sz="2400" b="1" dirty="0" err="1">
                <a:solidFill>
                  <a:srgbClr val="FF0000"/>
                </a:solidFill>
              </a:rPr>
              <a:t>Meat.h</a:t>
            </a:r>
            <a:r>
              <a:rPr lang="ja-JP" altLang="en-US" sz="2400" dirty="0"/>
              <a:t>を書きます。</a:t>
            </a:r>
            <a:endParaRPr lang="en-US" altLang="ja-JP" sz="2400" dirty="0"/>
          </a:p>
        </p:txBody>
      </p:sp>
      <p:pic>
        <p:nvPicPr>
          <p:cNvPr id="3" name="図 2">
            <a:extLst>
              <a:ext uri="{FF2B5EF4-FFF2-40B4-BE49-F238E27FC236}">
                <a16:creationId xmlns:a16="http://schemas.microsoft.com/office/drawing/2014/main" id="{65C2B234-7283-41AE-8056-0A8CF78CB752}"/>
              </a:ext>
            </a:extLst>
          </p:cNvPr>
          <p:cNvPicPr>
            <a:picLocks noChangeAspect="1"/>
          </p:cNvPicPr>
          <p:nvPr/>
        </p:nvPicPr>
        <p:blipFill>
          <a:blip r:embed="rId2"/>
          <a:stretch>
            <a:fillRect/>
          </a:stretch>
        </p:blipFill>
        <p:spPr>
          <a:xfrm>
            <a:off x="567542" y="1817794"/>
            <a:ext cx="7409652" cy="4548252"/>
          </a:xfrm>
          <a:prstGeom prst="rect">
            <a:avLst/>
          </a:prstGeom>
        </p:spPr>
      </p:pic>
    </p:spTree>
    <p:extLst>
      <p:ext uri="{BB962C8B-B14F-4D97-AF65-F5344CB8AC3E}">
        <p14:creationId xmlns:p14="http://schemas.microsoft.com/office/powerpoint/2010/main" val="4264218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437159" cy="461665"/>
          </a:xfrm>
          <a:prstGeom prst="rect">
            <a:avLst/>
          </a:prstGeom>
          <a:noFill/>
        </p:spPr>
        <p:txBody>
          <a:bodyPr wrap="none" rtlCol="0">
            <a:spAutoFit/>
          </a:bodyPr>
          <a:lstStyle/>
          <a:p>
            <a:r>
              <a:rPr lang="en-US" altLang="ja-JP" sz="2400" b="1" dirty="0">
                <a:solidFill>
                  <a:srgbClr val="FF0000"/>
                </a:solidFill>
              </a:rPr>
              <a:t>Meat.cpp</a:t>
            </a:r>
            <a:r>
              <a:rPr lang="ja-JP" altLang="en-US" sz="2400" dirty="0"/>
              <a:t>を書きます。</a:t>
            </a:r>
            <a:endParaRPr lang="en-US" altLang="ja-JP" sz="2400" dirty="0"/>
          </a:p>
        </p:txBody>
      </p:sp>
      <p:pic>
        <p:nvPicPr>
          <p:cNvPr id="8" name="図 7">
            <a:extLst>
              <a:ext uri="{FF2B5EF4-FFF2-40B4-BE49-F238E27FC236}">
                <a16:creationId xmlns:a16="http://schemas.microsoft.com/office/drawing/2014/main" id="{036033AD-67ED-42B0-B554-94CB91E4141C}"/>
              </a:ext>
            </a:extLst>
          </p:cNvPr>
          <p:cNvPicPr>
            <a:picLocks noChangeAspect="1"/>
          </p:cNvPicPr>
          <p:nvPr/>
        </p:nvPicPr>
        <p:blipFill>
          <a:blip r:embed="rId2"/>
          <a:stretch>
            <a:fillRect/>
          </a:stretch>
        </p:blipFill>
        <p:spPr>
          <a:xfrm>
            <a:off x="567542" y="1817794"/>
            <a:ext cx="4345117" cy="4674576"/>
          </a:xfrm>
          <a:prstGeom prst="rect">
            <a:avLst/>
          </a:prstGeom>
        </p:spPr>
      </p:pic>
    </p:spTree>
    <p:extLst>
      <p:ext uri="{BB962C8B-B14F-4D97-AF65-F5344CB8AC3E}">
        <p14:creationId xmlns:p14="http://schemas.microsoft.com/office/powerpoint/2010/main" val="27526361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417923" cy="461665"/>
          </a:xfrm>
          <a:prstGeom prst="rect">
            <a:avLst/>
          </a:prstGeom>
          <a:noFill/>
        </p:spPr>
        <p:txBody>
          <a:bodyPr wrap="none" rtlCol="0">
            <a:spAutoFit/>
          </a:bodyPr>
          <a:lstStyle/>
          <a:p>
            <a:r>
              <a:rPr lang="en-US" altLang="ja-JP" sz="2400" b="1" dirty="0">
                <a:solidFill>
                  <a:srgbClr val="FF0000"/>
                </a:solidFill>
              </a:rPr>
              <a:t>Main.cpp</a:t>
            </a:r>
            <a:r>
              <a:rPr lang="ja-JP" altLang="en-US" sz="2400" dirty="0"/>
              <a:t>を書きます。</a:t>
            </a:r>
            <a:endParaRPr lang="en-US" altLang="ja-JP" sz="2400" dirty="0"/>
          </a:p>
        </p:txBody>
      </p:sp>
      <p:pic>
        <p:nvPicPr>
          <p:cNvPr id="3" name="図 2">
            <a:extLst>
              <a:ext uri="{FF2B5EF4-FFF2-40B4-BE49-F238E27FC236}">
                <a16:creationId xmlns:a16="http://schemas.microsoft.com/office/drawing/2014/main" id="{D9E3BA72-20B2-444F-9991-8AF48C5A009A}"/>
              </a:ext>
            </a:extLst>
          </p:cNvPr>
          <p:cNvPicPr>
            <a:picLocks noChangeAspect="1"/>
          </p:cNvPicPr>
          <p:nvPr/>
        </p:nvPicPr>
        <p:blipFill>
          <a:blip r:embed="rId2"/>
          <a:stretch>
            <a:fillRect/>
          </a:stretch>
        </p:blipFill>
        <p:spPr>
          <a:xfrm>
            <a:off x="567542" y="1817794"/>
            <a:ext cx="6095851" cy="4430606"/>
          </a:xfrm>
          <a:prstGeom prst="rect">
            <a:avLst/>
          </a:prstGeom>
        </p:spPr>
      </p:pic>
    </p:spTree>
    <p:extLst>
      <p:ext uri="{BB962C8B-B14F-4D97-AF65-F5344CB8AC3E}">
        <p14:creationId xmlns:p14="http://schemas.microsoft.com/office/powerpoint/2010/main" val="26892776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956806" cy="461665"/>
          </a:xfrm>
          <a:prstGeom prst="rect">
            <a:avLst/>
          </a:prstGeom>
          <a:noFill/>
        </p:spPr>
        <p:txBody>
          <a:bodyPr wrap="none" rtlCol="0">
            <a:spAutoFit/>
          </a:bodyPr>
          <a:lstStyle/>
          <a:p>
            <a:r>
              <a:rPr lang="en-US" altLang="ja-JP" sz="2400" b="1" dirty="0">
                <a:solidFill>
                  <a:srgbClr val="FF0000"/>
                </a:solidFill>
              </a:rPr>
              <a:t>Main.cpp</a:t>
            </a:r>
            <a:r>
              <a:rPr lang="ja-JP" altLang="en-US" sz="2400" dirty="0"/>
              <a:t>を書きます。（その２）</a:t>
            </a:r>
            <a:endParaRPr lang="en-US" altLang="ja-JP" sz="2400" dirty="0"/>
          </a:p>
        </p:txBody>
      </p:sp>
      <p:pic>
        <p:nvPicPr>
          <p:cNvPr id="5" name="図 4">
            <a:extLst>
              <a:ext uri="{FF2B5EF4-FFF2-40B4-BE49-F238E27FC236}">
                <a16:creationId xmlns:a16="http://schemas.microsoft.com/office/drawing/2014/main" id="{EF599FDF-C322-4493-978E-F0726E655915}"/>
              </a:ext>
            </a:extLst>
          </p:cNvPr>
          <p:cNvPicPr>
            <a:picLocks noChangeAspect="1"/>
          </p:cNvPicPr>
          <p:nvPr/>
        </p:nvPicPr>
        <p:blipFill>
          <a:blip r:embed="rId2"/>
          <a:stretch>
            <a:fillRect/>
          </a:stretch>
        </p:blipFill>
        <p:spPr>
          <a:xfrm>
            <a:off x="567542" y="1817794"/>
            <a:ext cx="9665265" cy="4027194"/>
          </a:xfrm>
          <a:prstGeom prst="rect">
            <a:avLst/>
          </a:prstGeom>
        </p:spPr>
      </p:pic>
    </p:spTree>
    <p:extLst>
      <p:ext uri="{BB962C8B-B14F-4D97-AF65-F5344CB8AC3E}">
        <p14:creationId xmlns:p14="http://schemas.microsoft.com/office/powerpoint/2010/main" val="35289571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実行すると値段補正がかかっていない金額が表示されます。</a:t>
            </a:r>
            <a:endParaRPr lang="en-US" altLang="ja-JP" sz="2400" dirty="0"/>
          </a:p>
        </p:txBody>
      </p:sp>
      <p:pic>
        <p:nvPicPr>
          <p:cNvPr id="3" name="図 2">
            <a:extLst>
              <a:ext uri="{FF2B5EF4-FFF2-40B4-BE49-F238E27FC236}">
                <a16:creationId xmlns:a16="http://schemas.microsoft.com/office/drawing/2014/main" id="{1CD5D5F9-58D3-4E7C-A944-51F247B9C366}"/>
              </a:ext>
            </a:extLst>
          </p:cNvPr>
          <p:cNvPicPr>
            <a:picLocks noChangeAspect="1"/>
          </p:cNvPicPr>
          <p:nvPr/>
        </p:nvPicPr>
        <p:blipFill>
          <a:blip r:embed="rId2"/>
          <a:stretch>
            <a:fillRect/>
          </a:stretch>
        </p:blipFill>
        <p:spPr>
          <a:xfrm>
            <a:off x="567541" y="1817794"/>
            <a:ext cx="5299163" cy="1257100"/>
          </a:xfrm>
          <a:prstGeom prst="rect">
            <a:avLst/>
          </a:prstGeom>
        </p:spPr>
      </p:pic>
      <p:sp>
        <p:nvSpPr>
          <p:cNvPr id="7" name="テキスト ボックス 6">
            <a:extLst>
              <a:ext uri="{FF2B5EF4-FFF2-40B4-BE49-F238E27FC236}">
                <a16:creationId xmlns:a16="http://schemas.microsoft.com/office/drawing/2014/main" id="{C86308F5-DB84-4DFA-A7DB-374718743EC5}"/>
              </a:ext>
            </a:extLst>
          </p:cNvPr>
          <p:cNvSpPr txBox="1"/>
          <p:nvPr/>
        </p:nvSpPr>
        <p:spPr>
          <a:xfrm>
            <a:off x="567541" y="3214594"/>
            <a:ext cx="10060767" cy="461665"/>
          </a:xfrm>
          <a:prstGeom prst="rect">
            <a:avLst/>
          </a:prstGeom>
          <a:noFill/>
        </p:spPr>
        <p:txBody>
          <a:bodyPr wrap="none" rtlCol="0">
            <a:spAutoFit/>
          </a:bodyPr>
          <a:lstStyle/>
          <a:p>
            <a:r>
              <a:rPr lang="ja-JP" altLang="en-US" sz="2400" dirty="0"/>
              <a:t>これは、各</a:t>
            </a:r>
            <a:r>
              <a:rPr lang="en-US" altLang="ja-JP" sz="2400" b="1" dirty="0" err="1">
                <a:solidFill>
                  <a:srgbClr val="0070C0"/>
                </a:solidFill>
              </a:rPr>
              <a:t>CalcPrice</a:t>
            </a:r>
            <a:r>
              <a:rPr lang="ja-JP" altLang="en-US" sz="2400" dirty="0"/>
              <a:t>関数が</a:t>
            </a:r>
            <a:r>
              <a:rPr lang="en-US" altLang="ja-JP" sz="2400" b="1" dirty="0">
                <a:solidFill>
                  <a:srgbClr val="00B050"/>
                </a:solidFill>
              </a:rPr>
              <a:t>Food</a:t>
            </a:r>
            <a:r>
              <a:rPr lang="ja-JP" altLang="en-US" sz="2400" dirty="0"/>
              <a:t>クラスのものを呼んでいるからです。</a:t>
            </a:r>
            <a:endParaRPr lang="en-US" altLang="ja-JP" sz="2400" dirty="0"/>
          </a:p>
        </p:txBody>
      </p:sp>
      <p:pic>
        <p:nvPicPr>
          <p:cNvPr id="8" name="図 7">
            <a:extLst>
              <a:ext uri="{FF2B5EF4-FFF2-40B4-BE49-F238E27FC236}">
                <a16:creationId xmlns:a16="http://schemas.microsoft.com/office/drawing/2014/main" id="{6A699A71-DB96-4DF3-A376-1D4D67B49225}"/>
              </a:ext>
            </a:extLst>
          </p:cNvPr>
          <p:cNvPicPr>
            <a:picLocks noChangeAspect="1"/>
          </p:cNvPicPr>
          <p:nvPr/>
        </p:nvPicPr>
        <p:blipFill>
          <a:blip r:embed="rId3"/>
          <a:stretch>
            <a:fillRect/>
          </a:stretch>
        </p:blipFill>
        <p:spPr>
          <a:xfrm>
            <a:off x="567541" y="4936871"/>
            <a:ext cx="4553585" cy="1700866"/>
          </a:xfrm>
          <a:prstGeom prst="rect">
            <a:avLst/>
          </a:prstGeom>
        </p:spPr>
      </p:pic>
      <p:pic>
        <p:nvPicPr>
          <p:cNvPr id="10" name="図 9">
            <a:extLst>
              <a:ext uri="{FF2B5EF4-FFF2-40B4-BE49-F238E27FC236}">
                <a16:creationId xmlns:a16="http://schemas.microsoft.com/office/drawing/2014/main" id="{4ACBBFD2-F479-4F47-9B88-DC21437C697B}"/>
              </a:ext>
            </a:extLst>
          </p:cNvPr>
          <p:cNvPicPr>
            <a:picLocks noChangeAspect="1"/>
          </p:cNvPicPr>
          <p:nvPr/>
        </p:nvPicPr>
        <p:blipFill>
          <a:blip r:embed="rId4"/>
          <a:stretch>
            <a:fillRect/>
          </a:stretch>
        </p:blipFill>
        <p:spPr>
          <a:xfrm>
            <a:off x="567541" y="3815959"/>
            <a:ext cx="4553585" cy="981212"/>
          </a:xfrm>
          <a:prstGeom prst="rect">
            <a:avLst/>
          </a:prstGeom>
        </p:spPr>
      </p:pic>
    </p:spTree>
    <p:extLst>
      <p:ext uri="{BB962C8B-B14F-4D97-AF65-F5344CB8AC3E}">
        <p14:creationId xmlns:p14="http://schemas.microsoft.com/office/powerpoint/2010/main" val="16144099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9840" cy="830997"/>
          </a:xfrm>
          <a:prstGeom prst="rect">
            <a:avLst/>
          </a:prstGeom>
          <a:noFill/>
        </p:spPr>
        <p:txBody>
          <a:bodyPr wrap="none" rtlCol="0">
            <a:spAutoFit/>
          </a:bodyPr>
          <a:lstStyle/>
          <a:p>
            <a:r>
              <a:rPr lang="ja-JP" altLang="en-US" sz="2400" dirty="0"/>
              <a:t>ポインタは</a:t>
            </a:r>
            <a:r>
              <a:rPr lang="en-US" altLang="ja-JP" sz="2400" b="1" dirty="0">
                <a:solidFill>
                  <a:srgbClr val="00B050"/>
                </a:solidFill>
              </a:rPr>
              <a:t>Food</a:t>
            </a:r>
            <a:r>
              <a:rPr lang="ja-JP" altLang="en-US" sz="2400" dirty="0"/>
              <a:t>ですが、</a:t>
            </a:r>
            <a:r>
              <a:rPr lang="ja-JP" altLang="en-US" sz="2400" b="1" dirty="0">
                <a:solidFill>
                  <a:srgbClr val="FF0000"/>
                </a:solidFill>
              </a:rPr>
              <a:t>実際に生成されているのは、</a:t>
            </a:r>
            <a:r>
              <a:rPr lang="en-US" altLang="ja-JP" sz="2400" b="1" dirty="0">
                <a:solidFill>
                  <a:srgbClr val="00B050"/>
                </a:solidFill>
              </a:rPr>
              <a:t>Fruit</a:t>
            </a:r>
            <a:r>
              <a:rPr lang="ja-JP" altLang="en-US" sz="2400" b="1" dirty="0">
                <a:solidFill>
                  <a:srgbClr val="FF0000"/>
                </a:solidFill>
              </a:rPr>
              <a:t>と</a:t>
            </a:r>
            <a:r>
              <a:rPr lang="en-US" altLang="ja-JP" sz="2400" b="1" dirty="0">
                <a:solidFill>
                  <a:srgbClr val="00B050"/>
                </a:solidFill>
              </a:rPr>
              <a:t>Meat</a:t>
            </a:r>
            <a:r>
              <a:rPr lang="ja-JP" altLang="en-US" sz="2400" b="1" dirty="0">
                <a:solidFill>
                  <a:srgbClr val="FF0000"/>
                </a:solidFill>
              </a:rPr>
              <a:t>です。</a:t>
            </a:r>
            <a:endParaRPr lang="en-US" altLang="ja-JP" sz="2400" b="1" dirty="0">
              <a:solidFill>
                <a:srgbClr val="FF0000"/>
              </a:solidFill>
            </a:endParaRPr>
          </a:p>
          <a:p>
            <a:r>
              <a:rPr lang="ja-JP" altLang="en-US" sz="2400" dirty="0"/>
              <a:t>このままでは想定した処理になっていません。</a:t>
            </a:r>
            <a:endParaRPr lang="en-US" altLang="ja-JP" sz="2400" dirty="0"/>
          </a:p>
        </p:txBody>
      </p:sp>
      <p:pic>
        <p:nvPicPr>
          <p:cNvPr id="5" name="図 4">
            <a:extLst>
              <a:ext uri="{FF2B5EF4-FFF2-40B4-BE49-F238E27FC236}">
                <a16:creationId xmlns:a16="http://schemas.microsoft.com/office/drawing/2014/main" id="{04C56E91-F66E-4CD1-A000-E6CD2048BC36}"/>
              </a:ext>
            </a:extLst>
          </p:cNvPr>
          <p:cNvPicPr>
            <a:picLocks noChangeAspect="1"/>
          </p:cNvPicPr>
          <p:nvPr/>
        </p:nvPicPr>
        <p:blipFill>
          <a:blip r:embed="rId2"/>
          <a:stretch>
            <a:fillRect/>
          </a:stretch>
        </p:blipFill>
        <p:spPr>
          <a:xfrm>
            <a:off x="567542" y="2187126"/>
            <a:ext cx="4470623" cy="2503549"/>
          </a:xfrm>
          <a:prstGeom prst="rect">
            <a:avLst/>
          </a:prstGeom>
        </p:spPr>
      </p:pic>
      <p:pic>
        <p:nvPicPr>
          <p:cNvPr id="11" name="図 10">
            <a:extLst>
              <a:ext uri="{FF2B5EF4-FFF2-40B4-BE49-F238E27FC236}">
                <a16:creationId xmlns:a16="http://schemas.microsoft.com/office/drawing/2014/main" id="{AB65E4CA-A72B-41AE-B737-B9FF0784922C}"/>
              </a:ext>
            </a:extLst>
          </p:cNvPr>
          <p:cNvPicPr>
            <a:picLocks noChangeAspect="1"/>
          </p:cNvPicPr>
          <p:nvPr/>
        </p:nvPicPr>
        <p:blipFill>
          <a:blip r:embed="rId3"/>
          <a:stretch>
            <a:fillRect/>
          </a:stretch>
        </p:blipFill>
        <p:spPr>
          <a:xfrm>
            <a:off x="5777462" y="2187126"/>
            <a:ext cx="4677684" cy="2503549"/>
          </a:xfrm>
          <a:prstGeom prst="rect">
            <a:avLst/>
          </a:prstGeom>
        </p:spPr>
      </p:pic>
      <p:sp>
        <p:nvSpPr>
          <p:cNvPr id="12" name="テキスト ボックス 11">
            <a:extLst>
              <a:ext uri="{FF2B5EF4-FFF2-40B4-BE49-F238E27FC236}">
                <a16:creationId xmlns:a16="http://schemas.microsoft.com/office/drawing/2014/main" id="{46C4A238-9FE9-4E4A-B8E1-0E681D9EBEA8}"/>
              </a:ext>
            </a:extLst>
          </p:cNvPr>
          <p:cNvSpPr txBox="1"/>
          <p:nvPr/>
        </p:nvSpPr>
        <p:spPr>
          <a:xfrm>
            <a:off x="1585212" y="4806343"/>
            <a:ext cx="2435282" cy="461665"/>
          </a:xfrm>
          <a:prstGeom prst="rect">
            <a:avLst/>
          </a:prstGeom>
          <a:noFill/>
        </p:spPr>
        <p:txBody>
          <a:bodyPr wrap="none" rtlCol="0">
            <a:spAutoFit/>
          </a:bodyPr>
          <a:lstStyle/>
          <a:p>
            <a:r>
              <a:rPr lang="en-US" altLang="ja-JP" sz="2400" b="1" dirty="0">
                <a:solidFill>
                  <a:srgbClr val="00B050"/>
                </a:solidFill>
              </a:rPr>
              <a:t>Fruit</a:t>
            </a:r>
            <a:r>
              <a:rPr lang="ja-JP" altLang="en-US" sz="2400" dirty="0"/>
              <a:t>ならこっち</a:t>
            </a:r>
            <a:endParaRPr lang="en-US" altLang="ja-JP" sz="2400" dirty="0"/>
          </a:p>
        </p:txBody>
      </p:sp>
      <p:sp>
        <p:nvSpPr>
          <p:cNvPr id="13" name="テキスト ボックス 12">
            <a:extLst>
              <a:ext uri="{FF2B5EF4-FFF2-40B4-BE49-F238E27FC236}">
                <a16:creationId xmlns:a16="http://schemas.microsoft.com/office/drawing/2014/main" id="{2A497F25-A218-48A8-95DF-AA8320C87FDE}"/>
              </a:ext>
            </a:extLst>
          </p:cNvPr>
          <p:cNvSpPr txBox="1"/>
          <p:nvPr/>
        </p:nvSpPr>
        <p:spPr>
          <a:xfrm>
            <a:off x="6869007" y="4806344"/>
            <a:ext cx="2494594" cy="461665"/>
          </a:xfrm>
          <a:prstGeom prst="rect">
            <a:avLst/>
          </a:prstGeom>
          <a:noFill/>
        </p:spPr>
        <p:txBody>
          <a:bodyPr wrap="none" rtlCol="0">
            <a:spAutoFit/>
          </a:bodyPr>
          <a:lstStyle/>
          <a:p>
            <a:r>
              <a:rPr lang="en-US" altLang="ja-JP" sz="2400" b="1" dirty="0">
                <a:solidFill>
                  <a:srgbClr val="00B050"/>
                </a:solidFill>
              </a:rPr>
              <a:t>Meat</a:t>
            </a:r>
            <a:r>
              <a:rPr lang="ja-JP" altLang="en-US" sz="2400" dirty="0"/>
              <a:t>ならこっち</a:t>
            </a:r>
            <a:endParaRPr lang="en-US" altLang="ja-JP" sz="2400" dirty="0"/>
          </a:p>
        </p:txBody>
      </p:sp>
    </p:spTree>
    <p:extLst>
      <p:ext uri="{BB962C8B-B14F-4D97-AF65-F5344CB8AC3E}">
        <p14:creationId xmlns:p14="http://schemas.microsoft.com/office/powerpoint/2010/main" val="19430925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2677656"/>
          </a:xfrm>
          <a:prstGeom prst="rect">
            <a:avLst/>
          </a:prstGeom>
          <a:noFill/>
        </p:spPr>
        <p:txBody>
          <a:bodyPr wrap="none" rtlCol="0">
            <a:spAutoFit/>
          </a:bodyPr>
          <a:lstStyle/>
          <a:p>
            <a:r>
              <a:rPr lang="ja-JP" altLang="en-US" sz="2400" dirty="0"/>
              <a:t>この問題を解決するのが</a:t>
            </a:r>
            <a:r>
              <a:rPr lang="ja-JP" altLang="en-US" sz="2400" b="1" dirty="0">
                <a:solidFill>
                  <a:srgbClr val="FF0000"/>
                </a:solidFill>
              </a:rPr>
              <a:t>仮想関数</a:t>
            </a:r>
            <a:r>
              <a:rPr lang="ja-JP" altLang="en-US" sz="2400" dirty="0"/>
              <a:t>と</a:t>
            </a:r>
            <a:r>
              <a:rPr lang="ja-JP" altLang="en-US" sz="2400" b="1" dirty="0">
                <a:solidFill>
                  <a:srgbClr val="FF0000"/>
                </a:solidFill>
              </a:rPr>
              <a:t>オーバーライド関数</a:t>
            </a:r>
            <a:r>
              <a:rPr lang="ja-JP" altLang="en-US" sz="2400" dirty="0"/>
              <a:t>となります。</a:t>
            </a:r>
            <a:endParaRPr lang="en-US" altLang="ja-JP" sz="2400" dirty="0"/>
          </a:p>
          <a:p>
            <a:endParaRPr lang="en-US" altLang="ja-JP" sz="2400" dirty="0"/>
          </a:p>
          <a:p>
            <a:r>
              <a:rPr lang="ja-JP" altLang="en-US" sz="2400" b="1" dirty="0">
                <a:solidFill>
                  <a:srgbClr val="FF0000"/>
                </a:solidFill>
              </a:rPr>
              <a:t>■仮想関数</a:t>
            </a:r>
            <a:endParaRPr lang="en-US" altLang="ja-JP" sz="2400" b="1" dirty="0">
              <a:solidFill>
                <a:srgbClr val="FF0000"/>
              </a:solidFill>
            </a:endParaRPr>
          </a:p>
          <a:p>
            <a:r>
              <a:rPr lang="ja-JP" altLang="en-US" sz="2400" dirty="0"/>
              <a:t>派生先のクラスで実装することを想定して関数を定義しておくテクニック</a:t>
            </a:r>
            <a:endParaRPr lang="en-US" altLang="ja-JP" sz="2400" dirty="0"/>
          </a:p>
          <a:p>
            <a:endParaRPr lang="en-US" altLang="ja-JP" sz="2400" dirty="0"/>
          </a:p>
          <a:p>
            <a:r>
              <a:rPr lang="ja-JP" altLang="en-US" sz="2400" b="1" dirty="0">
                <a:solidFill>
                  <a:srgbClr val="FF0000"/>
                </a:solidFill>
              </a:rPr>
              <a:t>■オーバーライド関数</a:t>
            </a:r>
            <a:endParaRPr lang="en-US" altLang="ja-JP" sz="2400" b="1" dirty="0">
              <a:solidFill>
                <a:srgbClr val="FF0000"/>
              </a:solidFill>
            </a:endParaRPr>
          </a:p>
          <a:p>
            <a:r>
              <a:rPr lang="ja-JP" altLang="en-US" sz="2400" dirty="0"/>
              <a:t>仮想関数に対して専用の機能を上乗せするテクニック</a:t>
            </a:r>
            <a:endParaRPr lang="en-US" altLang="ja-JP" sz="2400" dirty="0"/>
          </a:p>
        </p:txBody>
      </p:sp>
    </p:spTree>
    <p:extLst>
      <p:ext uri="{BB962C8B-B14F-4D97-AF65-F5344CB8AC3E}">
        <p14:creationId xmlns:p14="http://schemas.microsoft.com/office/powerpoint/2010/main" val="38925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67449" cy="461665"/>
          </a:xfrm>
          <a:prstGeom prst="rect">
            <a:avLst/>
          </a:prstGeom>
          <a:noFill/>
        </p:spPr>
        <p:txBody>
          <a:bodyPr wrap="none" rtlCol="0">
            <a:spAutoFit/>
          </a:bodyPr>
          <a:lstStyle/>
          <a:p>
            <a:r>
              <a:rPr lang="en-US" altLang="ja-JP" sz="2400" b="1" dirty="0">
                <a:solidFill>
                  <a:srgbClr val="00B050"/>
                </a:solidFill>
              </a:rPr>
              <a:t>Food</a:t>
            </a:r>
            <a:r>
              <a:rPr lang="ja-JP" altLang="en-US" sz="2400" dirty="0"/>
              <a:t>の</a:t>
            </a:r>
            <a:r>
              <a:rPr lang="en-US" altLang="ja-JP" sz="2400" b="1" dirty="0" err="1">
                <a:solidFill>
                  <a:srgbClr val="0070C0"/>
                </a:solidFill>
              </a:rPr>
              <a:t>CalcPrice</a:t>
            </a:r>
            <a:r>
              <a:rPr lang="ja-JP" altLang="en-US" sz="2400" dirty="0"/>
              <a:t>関数を仮想関数にします。</a:t>
            </a:r>
            <a:endParaRPr lang="en-US" altLang="ja-JP" sz="2400" dirty="0"/>
          </a:p>
        </p:txBody>
      </p:sp>
      <p:pic>
        <p:nvPicPr>
          <p:cNvPr id="3" name="図 2">
            <a:extLst>
              <a:ext uri="{FF2B5EF4-FFF2-40B4-BE49-F238E27FC236}">
                <a16:creationId xmlns:a16="http://schemas.microsoft.com/office/drawing/2014/main" id="{C8E9C56C-320D-4EF4-8954-0E35808DF966}"/>
              </a:ext>
            </a:extLst>
          </p:cNvPr>
          <p:cNvPicPr>
            <a:picLocks noChangeAspect="1"/>
          </p:cNvPicPr>
          <p:nvPr/>
        </p:nvPicPr>
        <p:blipFill>
          <a:blip r:embed="rId2"/>
          <a:stretch>
            <a:fillRect/>
          </a:stretch>
        </p:blipFill>
        <p:spPr>
          <a:xfrm>
            <a:off x="567541" y="1817794"/>
            <a:ext cx="9214839" cy="2476300"/>
          </a:xfrm>
          <a:prstGeom prst="rect">
            <a:avLst/>
          </a:prstGeom>
        </p:spPr>
      </p:pic>
      <p:sp>
        <p:nvSpPr>
          <p:cNvPr id="7" name="正方形/長方形 6">
            <a:extLst>
              <a:ext uri="{FF2B5EF4-FFF2-40B4-BE49-F238E27FC236}">
                <a16:creationId xmlns:a16="http://schemas.microsoft.com/office/drawing/2014/main" id="{248FA8FA-BCA2-4EFD-8E0C-7BB34095A04C}"/>
              </a:ext>
            </a:extLst>
          </p:cNvPr>
          <p:cNvSpPr/>
          <p:nvPr/>
        </p:nvSpPr>
        <p:spPr>
          <a:xfrm>
            <a:off x="2330825" y="3532095"/>
            <a:ext cx="1174376" cy="466164"/>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187D9B8-D5D0-4ACA-A02D-D0EC26677E1B}"/>
              </a:ext>
            </a:extLst>
          </p:cNvPr>
          <p:cNvSpPr txBox="1"/>
          <p:nvPr/>
        </p:nvSpPr>
        <p:spPr>
          <a:xfrm>
            <a:off x="567542" y="4433794"/>
            <a:ext cx="4825360" cy="461665"/>
          </a:xfrm>
          <a:prstGeom prst="rect">
            <a:avLst/>
          </a:prstGeom>
          <a:noFill/>
        </p:spPr>
        <p:txBody>
          <a:bodyPr wrap="none" rtlCol="0">
            <a:spAutoFit/>
          </a:bodyPr>
          <a:lstStyle/>
          <a:p>
            <a:r>
              <a:rPr lang="ja-JP" altLang="en-US" sz="2400" dirty="0"/>
              <a:t>宣言の初めに</a:t>
            </a:r>
            <a:r>
              <a:rPr lang="en-US" altLang="ja-JP" sz="2400" b="1" dirty="0">
                <a:solidFill>
                  <a:srgbClr val="0070C0"/>
                </a:solidFill>
              </a:rPr>
              <a:t>virtual</a:t>
            </a:r>
            <a:r>
              <a:rPr lang="ja-JP" altLang="en-US" sz="2400" dirty="0"/>
              <a:t>と書きます。</a:t>
            </a:r>
            <a:endParaRPr lang="en-US" altLang="ja-JP" sz="2400" dirty="0"/>
          </a:p>
        </p:txBody>
      </p:sp>
    </p:spTree>
    <p:extLst>
      <p:ext uri="{BB962C8B-B14F-4D97-AF65-F5344CB8AC3E}">
        <p14:creationId xmlns:p14="http://schemas.microsoft.com/office/powerpoint/2010/main" val="26313417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46680" cy="461665"/>
          </a:xfrm>
          <a:prstGeom prst="rect">
            <a:avLst/>
          </a:prstGeom>
          <a:noFill/>
        </p:spPr>
        <p:txBody>
          <a:bodyPr wrap="none" rtlCol="0">
            <a:spAutoFit/>
          </a:bodyPr>
          <a:lstStyle/>
          <a:p>
            <a:r>
              <a:rPr lang="en-US" altLang="ja-JP" sz="2400" b="1" dirty="0">
                <a:solidFill>
                  <a:srgbClr val="00B050"/>
                </a:solidFill>
              </a:rPr>
              <a:t>Fruit</a:t>
            </a:r>
            <a:r>
              <a:rPr lang="ja-JP" altLang="en-US" sz="2400" dirty="0"/>
              <a:t>と</a:t>
            </a:r>
            <a:r>
              <a:rPr lang="en-US" altLang="ja-JP" sz="2400" b="1" dirty="0">
                <a:solidFill>
                  <a:srgbClr val="00B050"/>
                </a:solidFill>
              </a:rPr>
              <a:t>Meat</a:t>
            </a:r>
            <a:r>
              <a:rPr lang="ja-JP" altLang="en-US" sz="2400" dirty="0"/>
              <a:t>の</a:t>
            </a:r>
            <a:r>
              <a:rPr lang="en-US" altLang="ja-JP" sz="2400" b="1" dirty="0" err="1">
                <a:solidFill>
                  <a:srgbClr val="0070C0"/>
                </a:solidFill>
              </a:rPr>
              <a:t>CalcPrice</a:t>
            </a:r>
            <a:r>
              <a:rPr lang="ja-JP" altLang="en-US" sz="2400" dirty="0"/>
              <a:t>関数をオーバーライド関数にします。</a:t>
            </a:r>
            <a:endParaRPr lang="en-US" altLang="ja-JP" sz="2400" dirty="0"/>
          </a:p>
        </p:txBody>
      </p:sp>
      <p:pic>
        <p:nvPicPr>
          <p:cNvPr id="5" name="図 4">
            <a:extLst>
              <a:ext uri="{FF2B5EF4-FFF2-40B4-BE49-F238E27FC236}">
                <a16:creationId xmlns:a16="http://schemas.microsoft.com/office/drawing/2014/main" id="{B5384BCC-78F3-480A-8617-9BF3A12B1F2B}"/>
              </a:ext>
            </a:extLst>
          </p:cNvPr>
          <p:cNvPicPr>
            <a:picLocks noChangeAspect="1"/>
          </p:cNvPicPr>
          <p:nvPr/>
        </p:nvPicPr>
        <p:blipFill>
          <a:blip r:embed="rId2"/>
          <a:stretch>
            <a:fillRect/>
          </a:stretch>
        </p:blipFill>
        <p:spPr>
          <a:xfrm>
            <a:off x="567542" y="1817794"/>
            <a:ext cx="7325948" cy="3148653"/>
          </a:xfrm>
          <a:prstGeom prst="rect">
            <a:avLst/>
          </a:prstGeom>
        </p:spPr>
      </p:pic>
      <p:sp>
        <p:nvSpPr>
          <p:cNvPr id="9" name="正方形/長方形 8">
            <a:extLst>
              <a:ext uri="{FF2B5EF4-FFF2-40B4-BE49-F238E27FC236}">
                <a16:creationId xmlns:a16="http://schemas.microsoft.com/office/drawing/2014/main" id="{C375CDA7-B9B4-4C41-A626-4E8F8DED0CA1}"/>
              </a:ext>
            </a:extLst>
          </p:cNvPr>
          <p:cNvSpPr/>
          <p:nvPr/>
        </p:nvSpPr>
        <p:spPr>
          <a:xfrm>
            <a:off x="4455459" y="3227294"/>
            <a:ext cx="1335742" cy="40341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18C74E2-CE95-40E0-A5E5-4D3CB53BA2C0}"/>
              </a:ext>
            </a:extLst>
          </p:cNvPr>
          <p:cNvSpPr txBox="1"/>
          <p:nvPr/>
        </p:nvSpPr>
        <p:spPr>
          <a:xfrm>
            <a:off x="567542" y="5106147"/>
            <a:ext cx="4796506" cy="830997"/>
          </a:xfrm>
          <a:prstGeom prst="rect">
            <a:avLst/>
          </a:prstGeom>
          <a:noFill/>
        </p:spPr>
        <p:txBody>
          <a:bodyPr wrap="none" rtlCol="0">
            <a:spAutoFit/>
          </a:bodyPr>
          <a:lstStyle/>
          <a:p>
            <a:r>
              <a:rPr lang="ja-JP" altLang="en-US" sz="2400" dirty="0"/>
              <a:t>宣言の後に</a:t>
            </a:r>
            <a:r>
              <a:rPr lang="en-US" altLang="ja-JP" sz="2400" b="1" dirty="0">
                <a:solidFill>
                  <a:srgbClr val="0070C0"/>
                </a:solidFill>
              </a:rPr>
              <a:t>override</a:t>
            </a:r>
            <a:r>
              <a:rPr lang="ja-JP" altLang="en-US" sz="2400" dirty="0"/>
              <a:t>と書きます。</a:t>
            </a:r>
            <a:endParaRPr lang="en-US" altLang="ja-JP" sz="2400" dirty="0"/>
          </a:p>
          <a:p>
            <a:r>
              <a:rPr lang="en-US" altLang="ja-JP" sz="2400" b="1" dirty="0">
                <a:solidFill>
                  <a:srgbClr val="00B050"/>
                </a:solidFill>
              </a:rPr>
              <a:t>Meat</a:t>
            </a:r>
            <a:r>
              <a:rPr lang="ja-JP" altLang="en-US" sz="2400" dirty="0"/>
              <a:t>側も対応しましょう。</a:t>
            </a:r>
            <a:endParaRPr lang="en-US" altLang="ja-JP" sz="2400" dirty="0"/>
          </a:p>
        </p:txBody>
      </p:sp>
    </p:spTree>
    <p:extLst>
      <p:ext uri="{BB962C8B-B14F-4D97-AF65-F5344CB8AC3E}">
        <p14:creationId xmlns:p14="http://schemas.microsoft.com/office/powerpoint/2010/main" val="220913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461665"/>
          </a:xfrm>
          <a:prstGeom prst="rect">
            <a:avLst/>
          </a:prstGeom>
          <a:noFill/>
        </p:spPr>
        <p:txBody>
          <a:bodyPr wrap="none" rtlCol="0">
            <a:spAutoFit/>
          </a:bodyPr>
          <a:lstStyle/>
          <a:p>
            <a:r>
              <a:rPr lang="ja-JP" altLang="en-US" sz="2400" dirty="0"/>
              <a:t>実行すると値段補正がかかった状態で表示されます。</a:t>
            </a:r>
            <a:endParaRPr lang="en-US" altLang="ja-JP" sz="2400" dirty="0"/>
          </a:p>
        </p:txBody>
      </p:sp>
      <p:pic>
        <p:nvPicPr>
          <p:cNvPr id="3" name="図 2">
            <a:extLst>
              <a:ext uri="{FF2B5EF4-FFF2-40B4-BE49-F238E27FC236}">
                <a16:creationId xmlns:a16="http://schemas.microsoft.com/office/drawing/2014/main" id="{1FBD884C-B0B9-40AC-BFEC-DDAFF8A1514C}"/>
              </a:ext>
            </a:extLst>
          </p:cNvPr>
          <p:cNvPicPr>
            <a:picLocks noChangeAspect="1"/>
          </p:cNvPicPr>
          <p:nvPr/>
        </p:nvPicPr>
        <p:blipFill>
          <a:blip r:embed="rId2"/>
          <a:stretch>
            <a:fillRect/>
          </a:stretch>
        </p:blipFill>
        <p:spPr>
          <a:xfrm>
            <a:off x="567542" y="1817794"/>
            <a:ext cx="5217056" cy="1167453"/>
          </a:xfrm>
          <a:prstGeom prst="rect">
            <a:avLst/>
          </a:prstGeom>
        </p:spPr>
      </p:pic>
      <p:sp>
        <p:nvSpPr>
          <p:cNvPr id="11" name="テキスト ボックス 10">
            <a:extLst>
              <a:ext uri="{FF2B5EF4-FFF2-40B4-BE49-F238E27FC236}">
                <a16:creationId xmlns:a16="http://schemas.microsoft.com/office/drawing/2014/main" id="{41EA9D02-5765-461B-A07C-64166F8C06BB}"/>
              </a:ext>
            </a:extLst>
          </p:cNvPr>
          <p:cNvSpPr txBox="1"/>
          <p:nvPr/>
        </p:nvSpPr>
        <p:spPr>
          <a:xfrm>
            <a:off x="567542" y="3124947"/>
            <a:ext cx="9725739" cy="461665"/>
          </a:xfrm>
          <a:prstGeom prst="rect">
            <a:avLst/>
          </a:prstGeom>
          <a:noFill/>
        </p:spPr>
        <p:txBody>
          <a:bodyPr wrap="none" rtlCol="0">
            <a:spAutoFit/>
          </a:bodyPr>
          <a:lstStyle/>
          <a:p>
            <a:r>
              <a:rPr lang="ja-JP" altLang="en-US" sz="2400" dirty="0"/>
              <a:t>このように</a:t>
            </a:r>
            <a:r>
              <a:rPr lang="ja-JP" altLang="en-US" sz="2400" b="1" dirty="0">
                <a:solidFill>
                  <a:srgbClr val="FF0000"/>
                </a:solidFill>
              </a:rPr>
              <a:t>生成されたクラスに合わせて関数を呼ぶことができます。</a:t>
            </a:r>
            <a:endParaRPr lang="en-US" altLang="ja-JP" sz="2400" b="1" dirty="0">
              <a:solidFill>
                <a:srgbClr val="FF0000"/>
              </a:solidFill>
            </a:endParaRPr>
          </a:p>
        </p:txBody>
      </p:sp>
      <p:pic>
        <p:nvPicPr>
          <p:cNvPr id="8" name="図 7">
            <a:extLst>
              <a:ext uri="{FF2B5EF4-FFF2-40B4-BE49-F238E27FC236}">
                <a16:creationId xmlns:a16="http://schemas.microsoft.com/office/drawing/2014/main" id="{74CC3968-8ABB-4AB3-8292-C2A83102AAAB}"/>
              </a:ext>
            </a:extLst>
          </p:cNvPr>
          <p:cNvPicPr>
            <a:picLocks noChangeAspect="1"/>
          </p:cNvPicPr>
          <p:nvPr/>
        </p:nvPicPr>
        <p:blipFill>
          <a:blip r:embed="rId3"/>
          <a:stretch>
            <a:fillRect/>
          </a:stretch>
        </p:blipFill>
        <p:spPr>
          <a:xfrm>
            <a:off x="567542" y="3726312"/>
            <a:ext cx="7668695" cy="2610214"/>
          </a:xfrm>
          <a:prstGeom prst="rect">
            <a:avLst/>
          </a:prstGeom>
        </p:spPr>
      </p:pic>
      <p:sp>
        <p:nvSpPr>
          <p:cNvPr id="12" name="テキスト ボックス 11">
            <a:extLst>
              <a:ext uri="{FF2B5EF4-FFF2-40B4-BE49-F238E27FC236}">
                <a16:creationId xmlns:a16="http://schemas.microsoft.com/office/drawing/2014/main" id="{A2C2ED49-8D36-45B4-BA18-19F574021C56}"/>
              </a:ext>
            </a:extLst>
          </p:cNvPr>
          <p:cNvSpPr txBox="1"/>
          <p:nvPr/>
        </p:nvSpPr>
        <p:spPr>
          <a:xfrm>
            <a:off x="4353193" y="4118335"/>
            <a:ext cx="2635658" cy="461665"/>
          </a:xfrm>
          <a:prstGeom prst="rect">
            <a:avLst/>
          </a:prstGeom>
          <a:solidFill>
            <a:schemeClr val="bg1"/>
          </a:solidFill>
          <a:ln>
            <a:solidFill>
              <a:schemeClr val="tx1"/>
            </a:solidFill>
          </a:ln>
        </p:spPr>
        <p:txBody>
          <a:bodyPr wrap="none" rtlCol="0">
            <a:spAutoFit/>
          </a:bodyPr>
          <a:lstStyle/>
          <a:p>
            <a:r>
              <a:rPr lang="en-US" altLang="ja-JP" sz="2400" b="1" dirty="0">
                <a:solidFill>
                  <a:srgbClr val="00B050"/>
                </a:solidFill>
              </a:rPr>
              <a:t>Fruit</a:t>
            </a:r>
            <a:r>
              <a:rPr lang="ja-JP" altLang="en-US" sz="2400" dirty="0"/>
              <a:t>の</a:t>
            </a:r>
            <a:r>
              <a:rPr lang="en-US" altLang="ja-JP" sz="2400" b="1" dirty="0" err="1">
                <a:solidFill>
                  <a:srgbClr val="0070C0"/>
                </a:solidFill>
              </a:rPr>
              <a:t>CalcPrice</a:t>
            </a:r>
            <a:endParaRPr lang="en-US" altLang="ja-JP" sz="2400" b="1" dirty="0">
              <a:solidFill>
                <a:srgbClr val="0070C0"/>
              </a:solidFill>
            </a:endParaRPr>
          </a:p>
        </p:txBody>
      </p:sp>
      <p:sp>
        <p:nvSpPr>
          <p:cNvPr id="13" name="テキスト ボックス 12">
            <a:extLst>
              <a:ext uri="{FF2B5EF4-FFF2-40B4-BE49-F238E27FC236}">
                <a16:creationId xmlns:a16="http://schemas.microsoft.com/office/drawing/2014/main" id="{BA588752-75FF-46B8-BDB3-58F524079073}"/>
              </a:ext>
            </a:extLst>
          </p:cNvPr>
          <p:cNvSpPr txBox="1"/>
          <p:nvPr/>
        </p:nvSpPr>
        <p:spPr>
          <a:xfrm>
            <a:off x="4293882" y="5797887"/>
            <a:ext cx="2694969" cy="461665"/>
          </a:xfrm>
          <a:prstGeom prst="rect">
            <a:avLst/>
          </a:prstGeom>
          <a:solidFill>
            <a:schemeClr val="bg1"/>
          </a:solidFill>
          <a:ln>
            <a:solidFill>
              <a:schemeClr val="tx1"/>
            </a:solidFill>
          </a:ln>
        </p:spPr>
        <p:txBody>
          <a:bodyPr wrap="none" rtlCol="0">
            <a:spAutoFit/>
          </a:bodyPr>
          <a:lstStyle/>
          <a:p>
            <a:r>
              <a:rPr lang="en-US" altLang="ja-JP" sz="2400" b="1" dirty="0">
                <a:solidFill>
                  <a:srgbClr val="00B050"/>
                </a:solidFill>
              </a:rPr>
              <a:t>Meat</a:t>
            </a:r>
            <a:r>
              <a:rPr lang="ja-JP" altLang="en-US" sz="2400" dirty="0"/>
              <a:t>の</a:t>
            </a:r>
            <a:r>
              <a:rPr lang="en-US" altLang="ja-JP" sz="2400" b="1" dirty="0" err="1">
                <a:solidFill>
                  <a:srgbClr val="0070C0"/>
                </a:solidFill>
              </a:rPr>
              <a:t>CalcPrice</a:t>
            </a:r>
            <a:endParaRPr lang="en-US" altLang="ja-JP" sz="2400" b="1" dirty="0">
              <a:solidFill>
                <a:srgbClr val="0070C0"/>
              </a:solidFill>
            </a:endParaRPr>
          </a:p>
        </p:txBody>
      </p:sp>
    </p:spTree>
    <p:extLst>
      <p:ext uri="{BB962C8B-B14F-4D97-AF65-F5344CB8AC3E}">
        <p14:creationId xmlns:p14="http://schemas.microsoft.com/office/powerpoint/2010/main" val="1273391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109091" cy="584775"/>
          </a:xfrm>
          <a:prstGeom prst="rect">
            <a:avLst/>
          </a:prstGeom>
          <a:noFill/>
        </p:spPr>
        <p:txBody>
          <a:bodyPr wrap="none" rtlCol="0">
            <a:spAutoFit/>
          </a:bodyPr>
          <a:lstStyle/>
          <a:p>
            <a:r>
              <a:rPr lang="ja-JP" altLang="en-US" sz="3200" b="1" u="sng" dirty="0"/>
              <a:t>仮想関数とオーバーライド</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2308324"/>
          </a:xfrm>
          <a:prstGeom prst="rect">
            <a:avLst/>
          </a:prstGeom>
          <a:noFill/>
        </p:spPr>
        <p:txBody>
          <a:bodyPr wrap="none" rtlCol="0">
            <a:spAutoFit/>
          </a:bodyPr>
          <a:lstStyle/>
          <a:p>
            <a:r>
              <a:rPr lang="ja-JP" altLang="en-US" sz="2400" dirty="0"/>
              <a:t>このように</a:t>
            </a:r>
            <a:r>
              <a:rPr lang="ja-JP" altLang="en-US" sz="2400" b="1" dirty="0">
                <a:solidFill>
                  <a:srgbClr val="FF0000"/>
                </a:solidFill>
              </a:rPr>
              <a:t>基底クラスのポインタから派生クラスの関数を呼ぶことができます。</a:t>
            </a:r>
            <a:endParaRPr lang="en-US" altLang="ja-JP" sz="2400" b="1" dirty="0">
              <a:solidFill>
                <a:srgbClr val="FF0000"/>
              </a:solidFill>
            </a:endParaRPr>
          </a:p>
          <a:p>
            <a:endParaRPr lang="en-US" altLang="ja-JP" sz="2400" dirty="0"/>
          </a:p>
          <a:p>
            <a:r>
              <a:rPr lang="ja-JP" altLang="en-US" sz="2400" dirty="0"/>
              <a:t>ゲームにはエネミーやアイテムなど種類の多い要素がありますので、</a:t>
            </a:r>
            <a:endParaRPr lang="en-US" altLang="ja-JP" sz="2400" dirty="0"/>
          </a:p>
          <a:p>
            <a:r>
              <a:rPr lang="ja-JP" altLang="en-US" sz="2400" dirty="0"/>
              <a:t>このテクニックを軸にシステムを設計します。</a:t>
            </a:r>
            <a:endParaRPr lang="en-US" altLang="ja-JP" sz="2400" dirty="0"/>
          </a:p>
          <a:p>
            <a:endParaRPr lang="en-US" altLang="ja-JP" sz="2400" dirty="0"/>
          </a:p>
          <a:p>
            <a:r>
              <a:rPr lang="ja-JP" altLang="en-US" sz="2400" dirty="0"/>
              <a:t>非常に重要なテクニックになるので、必ず覚えておきましょう。</a:t>
            </a:r>
            <a:endParaRPr lang="en-US" altLang="ja-JP" sz="2400" dirty="0"/>
          </a:p>
        </p:txBody>
      </p:sp>
    </p:spTree>
    <p:extLst>
      <p:ext uri="{BB962C8B-B14F-4D97-AF65-F5344CB8AC3E}">
        <p14:creationId xmlns:p14="http://schemas.microsoft.com/office/powerpoint/2010/main" val="282385217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423</TotalTime>
  <Words>378</Words>
  <Application>Microsoft Office PowerPoint</Application>
  <PresentationFormat>ワイド画面</PresentationFormat>
  <Paragraphs>53</Paragraphs>
  <Slides>15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53</cp:revision>
  <dcterms:created xsi:type="dcterms:W3CDTF">2024-08-27T02:15:54Z</dcterms:created>
  <dcterms:modified xsi:type="dcterms:W3CDTF">2025-03-03T00:35:05Z</dcterms:modified>
</cp:coreProperties>
</file>