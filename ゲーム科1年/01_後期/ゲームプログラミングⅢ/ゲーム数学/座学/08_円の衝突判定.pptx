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円と円が衝突しているかどうか、いわゆる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円の当たり判定</a:t>
            </a:r>
            <a:r>
              <a:rPr kumimoji="1" lang="ja-JP" altLang="en-US" sz="2400" dirty="0"/>
              <a:t>は、</a:t>
            </a:r>
            <a:endParaRPr kumimoji="1" lang="en-US" altLang="ja-JP" sz="2400" dirty="0"/>
          </a:p>
          <a:p>
            <a:r>
              <a:rPr lang="ja-JP" altLang="en-US" sz="2400" dirty="0"/>
              <a:t>ゲームでもっとも使われる当たり判定です。</a:t>
            </a:r>
            <a:endParaRPr lang="en-US" altLang="ja-JP" sz="2400" dirty="0"/>
          </a:p>
          <a:p>
            <a:r>
              <a:rPr kumimoji="1" lang="ja-JP" altLang="en-US" sz="2400" dirty="0"/>
              <a:t>まずはどのように判定するのか見ていきましょう。</a:t>
            </a:r>
            <a:endParaRPr kumimoji="1"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24141F0-BD58-4356-8465-161B5CFC5CEE}"/>
              </a:ext>
            </a:extLst>
          </p:cNvPr>
          <p:cNvSpPr/>
          <p:nvPr/>
        </p:nvSpPr>
        <p:spPr>
          <a:xfrm>
            <a:off x="567542" y="2866852"/>
            <a:ext cx="3322041" cy="3221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09E0993-7A18-4CFA-A4E7-8DD26E7C9BCF}"/>
              </a:ext>
            </a:extLst>
          </p:cNvPr>
          <p:cNvSpPr/>
          <p:nvPr/>
        </p:nvSpPr>
        <p:spPr>
          <a:xfrm>
            <a:off x="3746971" y="2556458"/>
            <a:ext cx="2223082" cy="209025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衝突しているかどうかは、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お互いの中心間の距離</a:t>
            </a:r>
            <a:r>
              <a:rPr kumimoji="1" lang="ja-JP" altLang="en-US" sz="2400" dirty="0"/>
              <a:t>に注目します。</a:t>
            </a:r>
            <a:endParaRPr kumimoji="1"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24141F0-BD58-4356-8465-161B5CFC5CEE}"/>
              </a:ext>
            </a:extLst>
          </p:cNvPr>
          <p:cNvSpPr/>
          <p:nvPr/>
        </p:nvSpPr>
        <p:spPr>
          <a:xfrm>
            <a:off x="567542" y="2866852"/>
            <a:ext cx="3322041" cy="3221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09E0993-7A18-4CFA-A4E7-8DD26E7C9BCF}"/>
              </a:ext>
            </a:extLst>
          </p:cNvPr>
          <p:cNvSpPr/>
          <p:nvPr/>
        </p:nvSpPr>
        <p:spPr>
          <a:xfrm>
            <a:off x="3746971" y="2556458"/>
            <a:ext cx="2223082" cy="209025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40B7B8F-D346-4DB5-92EC-BB6E1DACD46C}"/>
              </a:ext>
            </a:extLst>
          </p:cNvPr>
          <p:cNvSpPr/>
          <p:nvPr/>
        </p:nvSpPr>
        <p:spPr>
          <a:xfrm>
            <a:off x="2186617" y="4437875"/>
            <a:ext cx="83890" cy="793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DBDEED1-E47D-4EEA-80D2-539B4CE1DC4B}"/>
              </a:ext>
            </a:extLst>
          </p:cNvPr>
          <p:cNvSpPr/>
          <p:nvPr/>
        </p:nvSpPr>
        <p:spPr>
          <a:xfrm>
            <a:off x="4816567" y="3561923"/>
            <a:ext cx="83890" cy="793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5A614EF-5D0D-4EDE-A678-450196050BCD}"/>
              </a:ext>
            </a:extLst>
          </p:cNvPr>
          <p:cNvCxnSpPr>
            <a:cxnSpLocks/>
            <a:stCxn id="7" idx="3"/>
            <a:endCxn id="3" idx="6"/>
          </p:cNvCxnSpPr>
          <p:nvPr/>
        </p:nvCxnSpPr>
        <p:spPr>
          <a:xfrm flipH="1">
            <a:off x="2270507" y="3629631"/>
            <a:ext cx="2558345" cy="8479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811A71-C851-43AE-BF73-13F1B670998D}"/>
                  </a:ext>
                </a:extLst>
              </p:cNvPr>
              <p:cNvSpPr txBox="1"/>
              <p:nvPr/>
            </p:nvSpPr>
            <p:spPr>
              <a:xfrm>
                <a:off x="3472160" y="4053584"/>
                <a:ext cx="423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kumimoji="1" lang="en-US" altLang="ja-JP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811A71-C851-43AE-BF73-13F1B6709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60" y="4053584"/>
                <a:ext cx="4235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27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円がお互い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ぴったりに衝突</a:t>
            </a:r>
            <a:r>
              <a:rPr kumimoji="1" lang="ja-JP" altLang="en-US" sz="2400" dirty="0"/>
              <a:t>していた場合、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中心間の距離はお互いの半径の合計と等しくなります。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EDFE5F4-7CFC-41E3-85B8-D1AD475E0477}"/>
              </a:ext>
            </a:extLst>
          </p:cNvPr>
          <p:cNvGrpSpPr/>
          <p:nvPr/>
        </p:nvGrpSpPr>
        <p:grpSpPr>
          <a:xfrm>
            <a:off x="567542" y="2556458"/>
            <a:ext cx="5402511" cy="3531766"/>
            <a:chOff x="567542" y="2556458"/>
            <a:chExt cx="5402511" cy="3531766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924141F0-BD58-4356-8465-161B5CFC5CEE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E09E0993-7A18-4CFA-A4E7-8DD26E7C9BCF}"/>
                </a:ext>
              </a:extLst>
            </p:cNvPr>
            <p:cNvSpPr/>
            <p:nvPr/>
          </p:nvSpPr>
          <p:spPr>
            <a:xfrm>
              <a:off x="3746971" y="255645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740B7B8F-D346-4DB5-92EC-BB6E1DACD46C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DBDEED1-E47D-4EEA-80D2-539B4CE1DC4B}"/>
                </a:ext>
              </a:extLst>
            </p:cNvPr>
            <p:cNvSpPr/>
            <p:nvPr/>
          </p:nvSpPr>
          <p:spPr>
            <a:xfrm>
              <a:off x="4816567" y="356192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A5A614EF-5D0D-4EDE-A678-450196050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5269" y="3643917"/>
              <a:ext cx="2558345" cy="8479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74640613-FF40-4630-9DF2-0FF67BEFD2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F9C1B3DE-7AD2-40AE-9C7B-CE058D78A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7618" y="361029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238DB744-37DC-430E-B874-CA0BE66B3541}"/>
                    </a:ext>
                  </a:extLst>
                </p:cNvPr>
                <p:cNvSpPr txBox="1"/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238DB744-37DC-430E-B874-CA0BE66B35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84CFDC9E-6F78-43CC-A9A5-891A94159442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84CFDC9E-6F78-43CC-A9A5-891A94159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1D04C30-4F63-4524-B549-3083185E84A4}"/>
                    </a:ext>
                  </a:extLst>
                </p:cNvPr>
                <p:cNvSpPr txBox="1"/>
                <p:nvPr/>
              </p:nvSpPr>
              <p:spPr>
                <a:xfrm>
                  <a:off x="4022719" y="336707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1D04C30-4F63-4524-B549-3083185E8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719" y="3367079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32588EF6-F21E-4B15-A642-77E7E998C46A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50609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だとぴったり当たってる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32588EF6-F21E-4B15-A642-77E7E998C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5060937" cy="461665"/>
              </a:xfrm>
              <a:prstGeom prst="rect">
                <a:avLst/>
              </a:prstGeom>
              <a:blipFill>
                <a:blip r:embed="rId5"/>
                <a:stretch>
                  <a:fillRect l="-361" t="-10526" r="-843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676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円がめり込むほど衝突していると、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中心間の距離はお互いの半径の合計よりも短くなります。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FB4047B-8A72-42B3-86EA-645B2B1AE870}"/>
              </a:ext>
            </a:extLst>
          </p:cNvPr>
          <p:cNvGrpSpPr/>
          <p:nvPr/>
        </p:nvGrpSpPr>
        <p:grpSpPr>
          <a:xfrm>
            <a:off x="567542" y="2682678"/>
            <a:ext cx="4914666" cy="3405546"/>
            <a:chOff x="567542" y="2682678"/>
            <a:chExt cx="4914666" cy="3405546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B9B3A6A-F569-4340-9A2C-0653243A581D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40F1A498-3575-4DB7-B17D-A5300C713FAE}"/>
                </a:ext>
              </a:extLst>
            </p:cNvPr>
            <p:cNvSpPr/>
            <p:nvPr/>
          </p:nvSpPr>
          <p:spPr>
            <a:xfrm>
              <a:off x="3259126" y="268267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915786FD-AF89-4C79-A3A1-0E13F1753A0E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3FCF8D5C-3BBC-4251-869F-F1ECD2D03EB8}"/>
                </a:ext>
              </a:extLst>
            </p:cNvPr>
            <p:cNvSpPr/>
            <p:nvPr/>
          </p:nvSpPr>
          <p:spPr>
            <a:xfrm>
              <a:off x="4328722" y="368814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02AFD2C8-4025-401F-B655-DD487C59C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713" y="3795713"/>
              <a:ext cx="2091954" cy="6933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A0BF2367-C5D0-4ADE-A4A8-64F715626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2474C66F-9DF1-4827-A0C2-F265C45353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9773" y="373651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BFA2A47-410A-4D11-9DFF-1D66D859AB8C}"/>
                    </a:ext>
                  </a:extLst>
                </p:cNvPr>
                <p:cNvSpPr txBox="1"/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BFA2A47-410A-4D11-9DFF-1D66D859A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EF0BF690-32EF-4872-8633-205508661EC8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EF0BF690-32EF-4872-8633-205508661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E6D099F0-E454-4508-981D-839FE11784F9}"/>
                    </a:ext>
                  </a:extLst>
                </p:cNvPr>
                <p:cNvSpPr txBox="1"/>
                <p:nvPr/>
              </p:nvSpPr>
              <p:spPr>
                <a:xfrm>
                  <a:off x="3534874" y="349329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E6D099F0-E454-4508-981D-839FE1178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874" y="3493299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EF10C2B-7D60-4F84-AC61-71DF9B3312B8}"/>
              </a:ext>
            </a:extLst>
          </p:cNvPr>
          <p:cNvCxnSpPr>
            <a:cxnSpLocks/>
          </p:cNvCxnSpPr>
          <p:nvPr/>
        </p:nvCxnSpPr>
        <p:spPr>
          <a:xfrm flipH="1">
            <a:off x="5767445" y="2956903"/>
            <a:ext cx="2091954" cy="6933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84A2F2A1-EAE5-4BA0-9180-397EB75F7B4F}"/>
              </a:ext>
            </a:extLst>
          </p:cNvPr>
          <p:cNvCxnSpPr>
            <a:cxnSpLocks/>
          </p:cNvCxnSpPr>
          <p:nvPr/>
        </p:nvCxnSpPr>
        <p:spPr>
          <a:xfrm flipV="1">
            <a:off x="5757956" y="3104540"/>
            <a:ext cx="1533632" cy="5079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0C35A113-370B-42CC-BC66-FA2DBF68B24C}"/>
              </a:ext>
            </a:extLst>
          </p:cNvPr>
          <p:cNvCxnSpPr>
            <a:cxnSpLocks/>
          </p:cNvCxnSpPr>
          <p:nvPr/>
        </p:nvCxnSpPr>
        <p:spPr>
          <a:xfrm flipV="1">
            <a:off x="7291588" y="2773867"/>
            <a:ext cx="1007107" cy="3306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だとめり込んでいる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blipFill>
                <a:blip r:embed="rId5"/>
                <a:stretch>
                  <a:fillRect l="-412" t="-10526" r="-1097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53506A73-FDD6-4639-8C71-131D9400FAF6}"/>
                  </a:ext>
                </a:extLst>
              </p:cNvPr>
              <p:cNvSpPr txBox="1"/>
              <p:nvPr/>
            </p:nvSpPr>
            <p:spPr>
              <a:xfrm>
                <a:off x="5591265" y="3792452"/>
                <a:ext cx="36728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1600" b="0" i="1" smtClean="0">
                        <a:latin typeface="Cambria Math" panose="02040503050406030204" pitchFamily="18" charset="0"/>
                      </a:rPr>
                      <m:t>重なっている</m:t>
                    </m:r>
                  </m:oMath>
                </a14:m>
                <a:r>
                  <a:rPr kumimoji="1" lang="ja-JP" altLang="en-US" sz="1600" dirty="0"/>
                  <a:t>分だけ半径の合計が長い</a:t>
                </a:r>
                <a:endParaRPr kumimoji="1" lang="en-US" altLang="ja-JP" sz="1600" dirty="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53506A73-FDD6-4639-8C71-131D9400F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265" y="3792452"/>
                <a:ext cx="3672800" cy="338554"/>
              </a:xfrm>
              <a:prstGeom prst="rect">
                <a:avLst/>
              </a:prstGeom>
              <a:blipFill>
                <a:blip r:embed="rId6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10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円が衝突していないと、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中心間の距離はお互いの半径の合計よりも長くなります。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だと衝突していない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blipFill>
                <a:blip r:embed="rId2"/>
                <a:stretch>
                  <a:fillRect l="-412" t="-10526" r="-1097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1B160BA-8563-44A8-9ED3-C0DB6B8D0F1C}"/>
              </a:ext>
            </a:extLst>
          </p:cNvPr>
          <p:cNvGrpSpPr/>
          <p:nvPr/>
        </p:nvGrpSpPr>
        <p:grpSpPr>
          <a:xfrm>
            <a:off x="567542" y="2361088"/>
            <a:ext cx="5973799" cy="3727136"/>
            <a:chOff x="567542" y="2361088"/>
            <a:chExt cx="5973799" cy="3727136"/>
          </a:xfrm>
        </p:grpSpPr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ED5DEA9D-ACB6-41FE-82B2-80035E029211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BDC06E92-A78F-49C0-9EFC-26D954CDD120}"/>
                </a:ext>
              </a:extLst>
            </p:cNvPr>
            <p:cNvSpPr/>
            <p:nvPr/>
          </p:nvSpPr>
          <p:spPr>
            <a:xfrm>
              <a:off x="4318259" y="236108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E5176870-59E2-4A82-B051-F4A0EC4EFDEA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E454DF5C-A729-4D9F-B891-EEB86EB2B45F}"/>
                </a:ext>
              </a:extLst>
            </p:cNvPr>
            <p:cNvSpPr/>
            <p:nvPr/>
          </p:nvSpPr>
          <p:spPr>
            <a:xfrm>
              <a:off x="5387855" y="336655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0475FDB5-9AE1-415C-9892-EE3CC54BF8F6}"/>
                </a:ext>
              </a:extLst>
            </p:cNvPr>
            <p:cNvCxnSpPr>
              <a:cxnSpLocks/>
              <a:stCxn id="26" idx="4"/>
            </p:cNvCxnSpPr>
            <p:nvPr/>
          </p:nvCxnSpPr>
          <p:spPr>
            <a:xfrm flipH="1">
              <a:off x="2275270" y="3445878"/>
              <a:ext cx="3154530" cy="10459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DD4B729A-9211-49B3-B798-B9C414CD7B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DBCC0721-7692-4DDA-8131-2D519E552C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8906" y="341492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4562A105-FC29-4558-AD86-3ED18DE85C0F}"/>
                    </a:ext>
                  </a:extLst>
                </p:cNvPr>
                <p:cNvSpPr txBox="1"/>
                <p:nvPr/>
              </p:nvSpPr>
              <p:spPr>
                <a:xfrm>
                  <a:off x="3969808" y="3910035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4562A105-FC29-4558-AD86-3ED18DE85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808" y="3910035"/>
                  <a:ext cx="42351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21CAE62-5F3E-4009-B752-995F55FB1F67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21CAE62-5F3E-4009-B752-995F55FB1F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188B2554-45BF-4D8C-8206-15498682DD9D}"/>
                    </a:ext>
                  </a:extLst>
                </p:cNvPr>
                <p:cNvSpPr txBox="1"/>
                <p:nvPr/>
              </p:nvSpPr>
              <p:spPr>
                <a:xfrm>
                  <a:off x="4594007" y="317170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188B2554-45BF-4D8C-8206-15498682D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4007" y="3171709"/>
                  <a:ext cx="48436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5957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D9ED975-6208-4977-AB18-405C4895FE13}"/>
              </a:ext>
            </a:extLst>
          </p:cNvPr>
          <p:cNvSpPr/>
          <p:nvPr/>
        </p:nvSpPr>
        <p:spPr>
          <a:xfrm>
            <a:off x="347133" y="1794933"/>
            <a:ext cx="10583334" cy="3124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44334" cy="434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以上のことから２つの円の当たり判定は以下のように計算できます。</a:t>
                </a:r>
                <a:endParaRPr kumimoji="1"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■２つの円の当たり判定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>
                    <a:solidFill>
                      <a:schemeClr val="tx1"/>
                    </a:solidFill>
                  </a:rPr>
                  <a:t>２つの円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・・・中心間の距離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			</a:t>
                </a:r>
                <a:r>
                  <a:rPr lang="ja-JP" altLang="en-US" sz="2400" dirty="0"/>
                  <a:t>・・・半径の合計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つまり、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中心間の距離≦半径の合計</a:t>
                </a:r>
                <a:r>
                  <a:rPr lang="ja-JP" altLang="en-US" sz="2400" dirty="0"/>
                  <a:t>であれば衝突しています。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44334" cy="4349781"/>
              </a:xfrm>
              <a:prstGeom prst="rect">
                <a:avLst/>
              </a:prstGeom>
              <a:blipFill>
                <a:blip r:embed="rId2"/>
                <a:stretch>
                  <a:fillRect l="-876" t="-1122" b="-23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81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90133" cy="434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互いの円の中心間の距離は、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(−10−50)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(10−20)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(−10−50)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(10−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0)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−10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3600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3700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90133" cy="4349781"/>
              </a:xfrm>
              <a:prstGeom prst="rect">
                <a:avLst/>
              </a:prstGeom>
              <a:blipFill>
                <a:blip r:embed="rId2"/>
                <a:stretch>
                  <a:fillRect l="-847" t="-11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47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521337" cy="543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■解答つづき</a:t>
                </a:r>
                <a:endParaRPr kumimoji="1" lang="en-US" altLang="ja-JP" sz="2400" dirty="0"/>
              </a:p>
              <a:p>
                <a:r>
                  <a:rPr kumimoji="1" lang="ja-JP" altLang="en-US" sz="2400" dirty="0"/>
                  <a:t>お互いの円の半径の合計は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521337" cy="5432834"/>
              </a:xfrm>
              <a:prstGeom prst="rect">
                <a:avLst/>
              </a:prstGeom>
              <a:blipFill>
                <a:blip r:embed="rId2"/>
                <a:stretch>
                  <a:fillRect l="-1402" t="-898" r="-4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3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647974" cy="4005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■解答つづき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3700</m:t>
                        </m:r>
                      </m:e>
                    </m:rad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は成り立たないので、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２つの円は衝突していない。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平方根の値は電卓で確認してみましょう。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647974" cy="4005135"/>
              </a:xfrm>
              <a:prstGeom prst="rect">
                <a:avLst/>
              </a:prstGeom>
              <a:blipFill>
                <a:blip r:embed="rId2"/>
                <a:stretch>
                  <a:fillRect l="-1375" t="-1218" b="-25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28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円の衝突判定はもう少し簡単にすることができます。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先ほどの問題を一部抜粋してみます。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(−10−50)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(10−20)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ここで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を先に計算します。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3600+100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=3700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2677656"/>
              </a:xfrm>
              <a:prstGeom prst="rect">
                <a:avLst/>
              </a:prstGeom>
              <a:blipFill>
                <a:blip r:embed="rId2"/>
                <a:stretch>
                  <a:fillRect l="-1208" t="-1822" r="-3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220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5052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円の衝突判定の判定式は、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この判定式は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両辺が２乗されていても大小関係は成り立つはず</a:t>
                </a:r>
                <a:r>
                  <a:rPr lang="ja-JP" altLang="en-US" sz="2400" dirty="0"/>
                  <a:t>です。つまり、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これでも当たり判定ができることが分かります。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先ほどの例題にあてはめると、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3700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𝟑𝟕𝟎𝟎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が成り立たないので衝突していない。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このように判定できます。（これで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ja-JP" altLang="en-US" sz="2400" dirty="0"/>
                  <a:t>に対して平方根を使わなくても良い）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5052473"/>
              </a:xfrm>
              <a:prstGeom prst="rect">
                <a:avLst/>
              </a:prstGeom>
              <a:blipFill>
                <a:blip r:embed="rId2"/>
                <a:stretch>
                  <a:fillRect l="-835" t="-966" b="-3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936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66EBE70-4541-4A38-9B7C-CEDD5CCC3B65}"/>
              </a:ext>
            </a:extLst>
          </p:cNvPr>
          <p:cNvSpPr/>
          <p:nvPr/>
        </p:nvSpPr>
        <p:spPr>
          <a:xfrm>
            <a:off x="389466" y="1811866"/>
            <a:ext cx="10622410" cy="16171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44334" cy="2492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改めて、最適化された衝突判定になります。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■円の最適化衝突検知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>
                    <a:solidFill>
                      <a:schemeClr val="tx1"/>
                    </a:solidFill>
                  </a:rPr>
                  <a:t>２つの円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44334" cy="2492990"/>
              </a:xfrm>
              <a:prstGeom prst="rect">
                <a:avLst/>
              </a:prstGeom>
              <a:blipFill>
                <a:blip r:embed="rId2"/>
                <a:stretch>
                  <a:fillRect l="-876" t="-19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28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82911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■次の</a:t>
                </a:r>
                <a:r>
                  <a:rPr lang="ja-JP" altLang="en-US" sz="2400" dirty="0"/>
                  <a:t>２つの円</a:t>
                </a:r>
                <a:r>
                  <a:rPr lang="en-US" altLang="ja-JP" sz="2400" dirty="0"/>
                  <a:t>A,B</a:t>
                </a:r>
                <a:r>
                  <a:rPr lang="ja-JP" altLang="en-US" sz="2400" dirty="0"/>
                  <a:t>が衝突しているか答えなさい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−70)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=1600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829114" cy="1569660"/>
              </a:xfrm>
              <a:prstGeom prst="rect">
                <a:avLst/>
              </a:prstGeom>
              <a:blipFill>
                <a:blip r:embed="rId2"/>
                <a:stretch>
                  <a:fillRect l="-1339" t="-3113" r="-446" b="-85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66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36CA4D6-F7E4-4F27-9816-95BAC5B28F9A}"/>
              </a:ext>
            </a:extLst>
          </p:cNvPr>
          <p:cNvSpPr/>
          <p:nvPr/>
        </p:nvSpPr>
        <p:spPr>
          <a:xfrm>
            <a:off x="389466" y="1811866"/>
            <a:ext cx="10622410" cy="235092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618915" cy="2806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球の衝突判定は</a:t>
                </a:r>
                <a:r>
                  <a:rPr kumimoji="1" lang="en-US" altLang="ja-JP" sz="2400" dirty="0"/>
                  <a:t>Z</a:t>
                </a:r>
                <a:r>
                  <a:rPr kumimoji="1" lang="ja-JP" altLang="en-US" sz="2400" dirty="0"/>
                  <a:t>軸を追加されるだけになります。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■球の最適化衝突検知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２つの球である、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618915" cy="2806666"/>
              </a:xfrm>
              <a:prstGeom prst="rect">
                <a:avLst/>
              </a:prstGeom>
              <a:blipFill>
                <a:blip r:embed="rId2"/>
                <a:stretch>
                  <a:fillRect l="-951" t="-1739" r="-63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88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760</Words>
  <Application>Microsoft Office PowerPoint</Application>
  <PresentationFormat>ワイド画面</PresentationFormat>
  <Paragraphs>115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77</cp:revision>
  <dcterms:created xsi:type="dcterms:W3CDTF">2024-08-27T02:15:54Z</dcterms:created>
  <dcterms:modified xsi:type="dcterms:W3CDTF">2026-05-19T03:22:27Z</dcterms:modified>
</cp:coreProperties>
</file>