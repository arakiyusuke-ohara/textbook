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69B0D5E-EDCD-4A1F-8303-6B242064E875}"/>
              </a:ext>
            </a:extLst>
          </p:cNvPr>
          <p:cNvSpPr/>
          <p:nvPr/>
        </p:nvSpPr>
        <p:spPr>
          <a:xfrm>
            <a:off x="507742" y="1844468"/>
            <a:ext cx="7129191" cy="141327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649069" cy="1941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２つの直線が垂直に交わる場合、</a:t>
                </a:r>
                <a:r>
                  <a:rPr lang="ja-JP" altLang="en-US" sz="2400" dirty="0"/>
                  <a:t>それらの直線の傾きには法則があります。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■垂直に交わる直線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ja-JP" altLang="en-US" sz="2400" b="0" i="1" dirty="0">
                          <a:latin typeface="Cambria Math" panose="02040503050406030204" pitchFamily="18" charset="0"/>
                        </a:rPr>
                        <m:t>２つの</m:t>
                      </m:r>
                      <m:r>
                        <a:rPr lang="ja-JP" altLang="en-US" sz="2400" i="1" dirty="0" smtClean="0">
                          <a:latin typeface="Cambria Math" panose="02040503050406030204" pitchFamily="18" charset="0"/>
                        </a:rPr>
                        <m:t>直線</m:t>
                      </m:r>
                      <m:r>
                        <a:rPr lang="ja-JP" altLang="en-US" sz="2400" i="1" dirty="0">
                          <a:latin typeface="Cambria Math" panose="02040503050406030204" pitchFamily="18" charset="0"/>
                        </a:rPr>
                        <m:t>の</m:t>
                      </m:r>
                      <m:r>
                        <a:rPr lang="ja-JP" altLang="en-US" sz="2400" i="1" dirty="0" smtClean="0">
                          <a:latin typeface="Cambria Math" panose="02040503050406030204" pitchFamily="18" charset="0"/>
                        </a:rPr>
                        <m:t>傾きが</m:t>
                      </m:r>
                      <m:sSub>
                        <m:sSub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ja-JP" altLang="en-US" sz="2400" i="1" dirty="0">
                          <a:latin typeface="Cambria Math" panose="02040503050406030204" pitchFamily="18" charset="0"/>
                        </a:rPr>
                        <m:t>の時</m:t>
                      </m:r>
                      <m:r>
                        <a:rPr lang="ja-JP" altLang="en-US" sz="2400" i="1" dirty="0" smtClean="0">
                          <a:latin typeface="Cambria Math" panose="02040503050406030204" pitchFamily="18" charset="0"/>
                        </a:rPr>
                        <m:t>、</m:t>
                      </m:r>
                    </m:oMath>
                  </m:oMathPara>
                </a14:m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だと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その２つの</m:t>
                    </m:r>
                  </m:oMath>
                </a14:m>
                <a:r>
                  <a:rPr kumimoji="1" lang="ja-JP" altLang="en-US" sz="2400" dirty="0"/>
                  <a:t>直線は垂直に交わる。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649069" cy="1941878"/>
              </a:xfrm>
              <a:prstGeom prst="rect">
                <a:avLst/>
              </a:prstGeom>
              <a:blipFill>
                <a:blip r:embed="rId2"/>
                <a:stretch>
                  <a:fillRect l="-859" t="-2516" b="-66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315E5237-1D84-498C-A45F-589B33A82068}"/>
              </a:ext>
            </a:extLst>
          </p:cNvPr>
          <p:cNvCxnSpPr>
            <a:cxnSpLocks/>
          </p:cNvCxnSpPr>
          <p:nvPr/>
        </p:nvCxnSpPr>
        <p:spPr>
          <a:xfrm flipV="1">
            <a:off x="3386047" y="4310063"/>
            <a:ext cx="112009" cy="61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F6C8C294-ECC7-4AF0-9C81-13046055BE89}"/>
              </a:ext>
            </a:extLst>
          </p:cNvPr>
          <p:cNvCxnSpPr>
            <a:cxnSpLocks/>
          </p:cNvCxnSpPr>
          <p:nvPr/>
        </p:nvCxnSpPr>
        <p:spPr>
          <a:xfrm flipH="1" flipV="1">
            <a:off x="3498057" y="4310063"/>
            <a:ext cx="57149" cy="97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62DB1B27-A8F2-4D9E-8AAA-98C945828766}"/>
              </a:ext>
            </a:extLst>
          </p:cNvPr>
          <p:cNvGrpSpPr/>
          <p:nvPr/>
        </p:nvGrpSpPr>
        <p:grpSpPr>
          <a:xfrm>
            <a:off x="567542" y="3298007"/>
            <a:ext cx="4580711" cy="2547128"/>
            <a:chOff x="567542" y="3298007"/>
            <a:chExt cx="4580711" cy="2547128"/>
          </a:xfrm>
        </p:grpSpPr>
        <p:grpSp>
          <p:nvGrpSpPr>
            <p:cNvPr id="65" name="グループ化 64">
              <a:extLst>
                <a:ext uri="{FF2B5EF4-FFF2-40B4-BE49-F238E27FC236}">
                  <a16:creationId xmlns:a16="http://schemas.microsoft.com/office/drawing/2014/main" id="{0EE88C30-8D01-4B32-8FD9-5A7AEB87E966}"/>
                </a:ext>
              </a:extLst>
            </p:cNvPr>
            <p:cNvGrpSpPr/>
            <p:nvPr/>
          </p:nvGrpSpPr>
          <p:grpSpPr>
            <a:xfrm>
              <a:off x="567542" y="3298007"/>
              <a:ext cx="4580711" cy="2547128"/>
              <a:chOff x="855355" y="3493841"/>
              <a:chExt cx="4580711" cy="2547128"/>
            </a:xfrm>
          </p:grpSpPr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A719EAF1-4869-4863-87FB-EF68A0C3268D}"/>
                  </a:ext>
                </a:extLst>
              </p:cNvPr>
              <p:cNvGrpSpPr/>
              <p:nvPr/>
            </p:nvGrpSpPr>
            <p:grpSpPr>
              <a:xfrm>
                <a:off x="1968503" y="3493841"/>
                <a:ext cx="3467563" cy="2147730"/>
                <a:chOff x="1685797" y="3749879"/>
                <a:chExt cx="3188207" cy="1996579"/>
              </a:xfrm>
            </p:grpSpPr>
            <p:cxnSp>
              <p:nvCxnSpPr>
                <p:cNvPr id="58" name="直線コネクタ 57">
                  <a:extLst>
                    <a:ext uri="{FF2B5EF4-FFF2-40B4-BE49-F238E27FC236}">
                      <a16:creationId xmlns:a16="http://schemas.microsoft.com/office/drawing/2014/main" id="{B221B727-B8C7-4B48-8035-1633D3B8189B}"/>
                    </a:ext>
                  </a:extLst>
                </p:cNvPr>
                <p:cNvCxnSpPr/>
                <p:nvPr/>
              </p:nvCxnSpPr>
              <p:spPr>
                <a:xfrm flipV="1">
                  <a:off x="1685797" y="4152550"/>
                  <a:ext cx="3188207" cy="137579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線コネクタ 59">
                  <a:extLst>
                    <a:ext uri="{FF2B5EF4-FFF2-40B4-BE49-F238E27FC236}">
                      <a16:creationId xmlns:a16="http://schemas.microsoft.com/office/drawing/2014/main" id="{6868D68A-150C-4240-8D16-629469EB2F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644" y="3749879"/>
                  <a:ext cx="1088245" cy="199657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テキスト ボックス 62">
                    <a:extLst>
                      <a:ext uri="{FF2B5EF4-FFF2-40B4-BE49-F238E27FC236}">
                        <a16:creationId xmlns:a16="http://schemas.microsoft.com/office/drawing/2014/main" id="{F58B3E25-F11D-4D0E-9E9B-370B4D8B30D3}"/>
                      </a:ext>
                    </a:extLst>
                  </p:cNvPr>
                  <p:cNvSpPr txBox="1"/>
                  <p:nvPr/>
                </p:nvSpPr>
                <p:spPr>
                  <a:xfrm>
                    <a:off x="855355" y="5229165"/>
                    <a:ext cx="1374094" cy="61093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altLang="ja-JP" sz="24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3" name="テキスト ボックス 62">
                    <a:extLst>
                      <a:ext uri="{FF2B5EF4-FFF2-40B4-BE49-F238E27FC236}">
                        <a16:creationId xmlns:a16="http://schemas.microsoft.com/office/drawing/2014/main" id="{F58B3E25-F11D-4D0E-9E9B-370B4D8B30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5355" y="5229165"/>
                    <a:ext cx="1374094" cy="61093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テキスト ボックス 63">
                    <a:extLst>
                      <a:ext uri="{FF2B5EF4-FFF2-40B4-BE49-F238E27FC236}">
                        <a16:creationId xmlns:a16="http://schemas.microsoft.com/office/drawing/2014/main" id="{B5166023-3BDD-4C3E-8E42-E70AEFB965B0}"/>
                      </a:ext>
                    </a:extLst>
                  </p:cNvPr>
                  <p:cNvSpPr txBox="1"/>
                  <p:nvPr/>
                </p:nvSpPr>
                <p:spPr>
                  <a:xfrm>
                    <a:off x="3673860" y="5671637"/>
                    <a:ext cx="150874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=−2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oMath>
                      </m:oMathPara>
                    </a14:m>
                    <a:endParaRPr lang="en-US" altLang="ja-JP" sz="24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4" name="テキスト ボックス 63">
                    <a:extLst>
                      <a:ext uri="{FF2B5EF4-FFF2-40B4-BE49-F238E27FC236}">
                        <a16:creationId xmlns:a16="http://schemas.microsoft.com/office/drawing/2014/main" id="{B5166023-3BDD-4C3E-8E42-E70AEFB965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73860" y="5671637"/>
                    <a:ext cx="150874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8AD45D58-8447-48A5-82FE-0F9B0DDA54E0}"/>
                    </a:ext>
                  </a:extLst>
                </p:cNvPr>
                <p:cNvSpPr txBox="1"/>
                <p:nvPr/>
              </p:nvSpPr>
              <p:spPr>
                <a:xfrm>
                  <a:off x="3386047" y="4023829"/>
                  <a:ext cx="4908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90</m:t>
                        </m:r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US" altLang="ja-JP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8AD45D58-8447-48A5-82FE-0F9B0DDA54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6047" y="4023829"/>
                  <a:ext cx="490840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566E7C81-B872-4635-8044-C76AC229EEA7}"/>
                  </a:ext>
                </a:extLst>
              </p:cNvPr>
              <p:cNvSpPr txBox="1"/>
              <p:nvPr/>
            </p:nvSpPr>
            <p:spPr>
              <a:xfrm>
                <a:off x="5852062" y="3591312"/>
                <a:ext cx="4807213" cy="17596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000" b="1" dirty="0">
                    <a:solidFill>
                      <a:srgbClr val="00B050"/>
                    </a:solidFill>
                  </a:rPr>
                  <a:t>MEMO</a:t>
                </a:r>
              </a:p>
              <a:p>
                <a:r>
                  <a:rPr kumimoji="1" lang="ja-JP" altLang="en-US" sz="2000" dirty="0"/>
                  <a:t>つまり、</a:t>
                </a:r>
                <a:r>
                  <a:rPr lang="ja-JP" altLang="en-US" sz="2000" dirty="0"/>
                  <a:t>傾きが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ja-JP" altLang="en-US" sz="2000" dirty="0"/>
                  <a:t>の直線に</a:t>
                </a:r>
                <a:endParaRPr kumimoji="1" lang="en-US" altLang="ja-JP" sz="2000" dirty="0"/>
              </a:p>
              <a:p>
                <a:r>
                  <a:rPr kumimoji="1" lang="ja-JP" altLang="en-US" sz="2000" dirty="0"/>
                  <a:t>直角に交わる直線の傾きは</a:t>
                </a:r>
                <a14:m>
                  <m:oMath xmlns:m="http://schemas.openxmlformats.org/officeDocument/2006/math">
                    <m:r>
                      <a:rPr kumimoji="1" lang="en-US" altLang="ja-JP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kumimoji="1"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kumimoji="1"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kumimoji="1" lang="ja-JP" altLang="en-US" sz="2000" dirty="0"/>
                  <a:t>となる。</a:t>
                </a:r>
                <a:endParaRPr kumimoji="1" lang="en-US" altLang="ja-JP" sz="2000" dirty="0"/>
              </a:p>
              <a:p>
                <a:r>
                  <a:rPr lang="ja-JP" altLang="en-US" sz="2000" dirty="0"/>
                  <a:t>（</a:t>
                </a:r>
                <a:r>
                  <a:rPr lang="en-US" altLang="ja-JP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000" dirty="0"/>
                  <a:t>の負の逆数）</a:t>
                </a:r>
                <a:endParaRPr kumimoji="1" lang="en-US" altLang="ja-JP" sz="2000" dirty="0"/>
              </a:p>
              <a:p>
                <a:endParaRPr kumimoji="1" lang="en-US" altLang="ja-JP" sz="2000" dirty="0"/>
              </a:p>
            </p:txBody>
          </p:sp>
        </mc:Choice>
        <mc:Fallback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566E7C81-B872-4635-8044-C76AC229E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062" y="3591312"/>
                <a:ext cx="4807213" cy="1759649"/>
              </a:xfrm>
              <a:prstGeom prst="rect">
                <a:avLst/>
              </a:prstGeom>
              <a:blipFill>
                <a:blip r:embed="rId6"/>
                <a:stretch>
                  <a:fillRect l="-1394" t="-1730" r="-7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605993" cy="40041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kumimoji="1" lang="ja-JP" altLang="en-US" sz="2400" dirty="0"/>
                  <a:t>に垂直に交わる直線の傾きを求めなさい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より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kumimoji="1" lang="en-US" altLang="ja-JP" sz="2400" b="1" dirty="0"/>
              </a:p>
              <a:p>
                <a:endParaRPr kumimoji="1" lang="en-US" altLang="ja-JP" sz="2400" dirty="0"/>
              </a:p>
              <a:p>
                <a:r>
                  <a:rPr lang="ja-JP" altLang="en-US" sz="2400" dirty="0"/>
                  <a:t>やはり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kumimoji="1" lang="ja-JP" altLang="en-US" sz="2400" dirty="0"/>
                  <a:t>となっているので負の逆数となります。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605993" cy="4004173"/>
              </a:xfrm>
              <a:prstGeom prst="rect">
                <a:avLst/>
              </a:prstGeom>
              <a:blipFill>
                <a:blip r:embed="rId2"/>
                <a:stretch>
                  <a:fillRect l="-1202" r="-321" b="-9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7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95575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kumimoji="1"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つの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直線の傾きが同じ</a:t>
                </a:r>
                <a:r>
                  <a:rPr kumimoji="1" lang="ja-JP" altLang="en-US" sz="2400" dirty="0"/>
                  <a:t>場合、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それらは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平行</a:t>
                </a:r>
                <a:r>
                  <a:rPr lang="ja-JP" altLang="en-US" sz="2400" dirty="0"/>
                  <a:t>していて交わることはありません。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955750" cy="830997"/>
              </a:xfrm>
              <a:prstGeom prst="rect">
                <a:avLst/>
              </a:prstGeom>
              <a:blipFill>
                <a:blip r:embed="rId2"/>
                <a:stretch>
                  <a:fillRect l="-1315" t="-5882" r="-438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2797C767-1C50-431B-9EEE-5F0420D5CB43}"/>
              </a:ext>
            </a:extLst>
          </p:cNvPr>
          <p:cNvGrpSpPr/>
          <p:nvPr/>
        </p:nvGrpSpPr>
        <p:grpSpPr>
          <a:xfrm>
            <a:off x="566920" y="2663906"/>
            <a:ext cx="4315627" cy="2331160"/>
            <a:chOff x="793630" y="3419781"/>
            <a:chExt cx="4315627" cy="2331160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85537154-7D8C-43D1-B241-E0F0018D54B0}"/>
                </a:ext>
              </a:extLst>
            </p:cNvPr>
            <p:cNvCxnSpPr/>
            <p:nvPr/>
          </p:nvCxnSpPr>
          <p:spPr>
            <a:xfrm flipV="1">
              <a:off x="793630" y="3631721"/>
              <a:ext cx="2829464" cy="1354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A1C418F2-13C7-4644-B6C9-C710776B7463}"/>
                </a:ext>
              </a:extLst>
            </p:cNvPr>
            <p:cNvCxnSpPr/>
            <p:nvPr/>
          </p:nvCxnSpPr>
          <p:spPr>
            <a:xfrm flipV="1">
              <a:off x="946030" y="4396594"/>
              <a:ext cx="2829464" cy="1354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BC5DDFB3-28C5-40D2-AE45-5894AAAB0752}"/>
                    </a:ext>
                  </a:extLst>
                </p:cNvPr>
                <p:cNvSpPr txBox="1"/>
                <p:nvPr/>
              </p:nvSpPr>
              <p:spPr>
                <a:xfrm>
                  <a:off x="3623094" y="3419781"/>
                  <a:ext cx="13337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+4</m:t>
                        </m:r>
                      </m:oMath>
                    </m:oMathPara>
                  </a14:m>
                  <a:endParaRPr lang="en-US" altLang="ja-JP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BC5DDFB3-28C5-40D2-AE45-5894AAAB0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3094" y="3419781"/>
                  <a:ext cx="1333763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6EDAB752-C759-45A7-AD17-87FA61427EDF}"/>
                    </a:ext>
                  </a:extLst>
                </p:cNvPr>
                <p:cNvSpPr txBox="1"/>
                <p:nvPr/>
              </p:nvSpPr>
              <p:spPr>
                <a:xfrm>
                  <a:off x="3775494" y="4167399"/>
                  <a:ext cx="13337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+6</m:t>
                        </m:r>
                      </m:oMath>
                    </m:oMathPara>
                  </a14:m>
                  <a:endParaRPr lang="en-US" altLang="ja-JP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6EDAB752-C759-45A7-AD17-87FA61427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5494" y="4167399"/>
                  <a:ext cx="1333763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08816B4-61FB-46E9-AB8B-CB26AFB8B889}"/>
                  </a:ext>
                </a:extLst>
              </p:cNvPr>
              <p:cNvSpPr txBox="1"/>
              <p:nvPr/>
            </p:nvSpPr>
            <p:spPr>
              <a:xfrm>
                <a:off x="566920" y="5611547"/>
                <a:ext cx="51090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特に</m:t>
                    </m:r>
                    <m:r>
                      <a:rPr lang="ja-JP" alt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これ以上のことはありません</m:t>
                    </m:r>
                  </m:oMath>
                </a14:m>
                <a:r>
                  <a:rPr kumimoji="1" lang="ja-JP" altLang="en-US" sz="2400" dirty="0">
                    <a:solidFill>
                      <a:schemeClr val="tx1"/>
                    </a:solidFill>
                  </a:rPr>
                  <a:t>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08816B4-61FB-46E9-AB8B-CB26AFB8B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0" y="5611547"/>
                <a:ext cx="5109091" cy="461665"/>
              </a:xfrm>
              <a:prstGeom prst="rect">
                <a:avLst/>
              </a:prstGeom>
              <a:blipFill>
                <a:blip r:embed="rId5"/>
                <a:stretch>
                  <a:fillRect l="-955" t="-9333" r="-835" b="-3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05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kumimoji="1"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つの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直線が交わる座標</a:t>
                </a:r>
                <a:r>
                  <a:rPr kumimoji="1" lang="ja-JP" altLang="en-US" sz="2400" dirty="0"/>
                  <a:t>は、</a:t>
                </a:r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２つの直線の方程式の連立方程式</a:t>
                </a:r>
                <a:r>
                  <a:rPr lang="ja-JP" altLang="en-US" sz="2400" dirty="0"/>
                  <a:t>で求めることができます。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（ここでは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代入法</a:t>
                </a:r>
                <a:r>
                  <a:rPr kumimoji="1" lang="ja-JP" altLang="en-US" sz="2400" dirty="0"/>
                  <a:t>を使って連立方程式を解きます）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1200329"/>
              </a:xfrm>
              <a:prstGeom prst="rect">
                <a:avLst/>
              </a:prstGeom>
              <a:blipFill>
                <a:blip r:embed="rId2"/>
                <a:stretch>
                  <a:fillRect l="-1076" t="-4082" r="-143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0C9A77CA-CC89-4A3E-916C-442F58815898}"/>
              </a:ext>
            </a:extLst>
          </p:cNvPr>
          <p:cNvGrpSpPr/>
          <p:nvPr/>
        </p:nvGrpSpPr>
        <p:grpSpPr>
          <a:xfrm>
            <a:off x="765527" y="2879011"/>
            <a:ext cx="4077049" cy="1810435"/>
            <a:chOff x="973123" y="3432684"/>
            <a:chExt cx="4077049" cy="1810435"/>
          </a:xfrm>
        </p:grpSpPr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E3C8810A-A0F1-4465-BFBB-AFD79156F72A}"/>
                </a:ext>
              </a:extLst>
            </p:cNvPr>
            <p:cNvCxnSpPr/>
            <p:nvPr/>
          </p:nvCxnSpPr>
          <p:spPr>
            <a:xfrm flipV="1">
              <a:off x="973123" y="3892492"/>
              <a:ext cx="3649211" cy="13506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2D7B3F49-2037-4224-8DFD-C2ABE64029CD}"/>
                </a:ext>
              </a:extLst>
            </p:cNvPr>
            <p:cNvCxnSpPr>
              <a:cxnSpLocks/>
            </p:cNvCxnSpPr>
            <p:nvPr/>
          </p:nvCxnSpPr>
          <p:spPr>
            <a:xfrm>
              <a:off x="1217802" y="3432684"/>
              <a:ext cx="3832370" cy="9967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99854520-8747-46FC-9C77-EB7AF81CA50B}"/>
                    </a:ext>
                  </a:extLst>
                </p:cNvPr>
                <p:cNvSpPr txBox="1"/>
                <p:nvPr/>
              </p:nvSpPr>
              <p:spPr>
                <a:xfrm>
                  <a:off x="3512078" y="3707826"/>
                  <a:ext cx="9765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ja-JP" altLang="en-US" i="1" dirty="0">
                            <a:latin typeface="Cambria Math" panose="02040503050406030204" pitchFamily="18" charset="0"/>
                          </a:rPr>
                          <m:t>？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ja-JP" altLang="en-US" i="1" dirty="0">
                            <a:latin typeface="Cambria Math" panose="02040503050406030204" pitchFamily="18" charset="0"/>
                          </a:rPr>
                          <m:t>？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ja-JP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99854520-8747-46FC-9C77-EB7AF81CA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2078" y="3707826"/>
                  <a:ext cx="97654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875" b="-147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CF57C6AA-A7AD-451B-994B-38386AE6D0E5}"/>
                </a:ext>
              </a:extLst>
            </p:cNvPr>
            <p:cNvSpPr/>
            <p:nvPr/>
          </p:nvSpPr>
          <p:spPr>
            <a:xfrm>
              <a:off x="3911432" y="4104564"/>
              <a:ext cx="75501" cy="704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6117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035102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２つの直線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が</m:t>
                    </m:r>
                  </m:oMath>
                </a14:m>
                <a:r>
                  <a:rPr kumimoji="1" lang="ja-JP" altLang="en-US" sz="2400" dirty="0"/>
                  <a:t>交わる座標を求めなさい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を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kumimoji="1" lang="ja-JP" altLang="en-US" sz="2400" dirty="0"/>
                  <a:t>形にすると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・・・①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①を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kumimoji="1" lang="ja-JP" altLang="en-US" sz="2400" dirty="0"/>
                  <a:t>に代入すると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400" dirty="0"/>
                  <a:t>を求められる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−16=9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=9+16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=−25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・・・②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035102" cy="4524315"/>
              </a:xfrm>
              <a:prstGeom prst="rect">
                <a:avLst/>
              </a:prstGeom>
              <a:blipFill>
                <a:blip r:embed="rId2"/>
                <a:stretch>
                  <a:fillRect l="-1012" t="-1078" r="-135" b="-21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035102" cy="3424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２つの直線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が</m:t>
                    </m:r>
                  </m:oMath>
                </a14:m>
                <a:r>
                  <a:rPr kumimoji="1" lang="ja-JP" altLang="en-US" sz="2400" dirty="0"/>
                  <a:t>交わる座標を求めなさい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■解答（つづき）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ja-JP" altLang="en-US" sz="2400" b="0" i="1" smtClean="0">
                        <a:latin typeface="Cambria Math" panose="02040503050406030204" pitchFamily="18" charset="0"/>
                      </a:rPr>
                      <m:t>②</m:t>
                    </m:r>
                  </m:oMath>
                </a14:m>
                <a:r>
                  <a:rPr kumimoji="1" lang="ja-JP" altLang="en-US" sz="2400" dirty="0"/>
                  <a:t>を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に代入すると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ja-JP" altLang="en-US" sz="2400" dirty="0"/>
                  <a:t>を求められる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−3(−25)+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75+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kumimoji="1" lang="en-US" altLang="ja-JP" sz="2400" b="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=8−75=−67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・・・③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②③より交わる座標は</a:t>
                </a:r>
                <a14:m>
                  <m:oMath xmlns:m="http://schemas.openxmlformats.org/officeDocument/2006/math"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𝟔𝟕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となる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035102" cy="3424142"/>
              </a:xfrm>
              <a:prstGeom prst="rect">
                <a:avLst/>
              </a:prstGeom>
              <a:blipFill>
                <a:blip r:embed="rId2"/>
                <a:stretch>
                  <a:fillRect l="-1012" t="-1426" r="-135" b="-33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416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 練習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3199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■以下の直線に垂直に交わる直線の傾きを答えなさい</a:t>
                </a:r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ja-JP" sz="2400" b="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endParaRPr lang="en-US" altLang="ja-JP" sz="2400" dirty="0"/>
              </a:p>
              <a:p>
                <a:r>
                  <a:rPr kumimoji="1" lang="ja-JP" altLang="en-US" sz="2400" dirty="0"/>
                  <a:t>■以下の２つの直線が交わる座標を求めなさい</a:t>
                </a:r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r>
                  <a:rPr lang="en-US" altLang="ja-JP" sz="2400" b="0" dirty="0"/>
                  <a:t> </a:t>
                </a:r>
                <a:r>
                  <a:rPr lang="ja-JP" altLang="en-US" sz="2400" b="0" dirty="0"/>
                  <a:t>と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altLang="ja-JP" sz="2400" b="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altLang="ja-JP" sz="2400" b="0" dirty="0"/>
                  <a:t> </a:t>
                </a:r>
                <a:r>
                  <a:rPr lang="ja-JP" altLang="en-US" sz="2400" b="0" dirty="0"/>
                  <a:t>と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3199209"/>
              </a:xfrm>
              <a:prstGeom prst="rect">
                <a:avLst/>
              </a:prstGeom>
              <a:blipFill>
                <a:blip r:embed="rId2"/>
                <a:stretch>
                  <a:fillRect l="-1369" t="-1527" r="-322" b="-41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43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517</Words>
  <Application>Microsoft Office PowerPoint</Application>
  <PresentationFormat>ワイド画面</PresentationFormat>
  <Paragraphs>65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42</cp:revision>
  <dcterms:created xsi:type="dcterms:W3CDTF">2024-08-27T02:15:54Z</dcterms:created>
  <dcterms:modified xsi:type="dcterms:W3CDTF">2025-06-12T02:36:33Z</dcterms:modified>
</cp:coreProperties>
</file>