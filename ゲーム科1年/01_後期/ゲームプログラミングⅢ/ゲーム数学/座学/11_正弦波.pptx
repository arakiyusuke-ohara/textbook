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正弦波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030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三角関数の正弦（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）の値をグラフに書くと以下のようになります。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03059" cy="461665"/>
              </a:xfrm>
              <a:prstGeom prst="rect">
                <a:avLst/>
              </a:prstGeom>
              <a:blipFill>
                <a:blip r:embed="rId2"/>
                <a:stretch>
                  <a:fillRect l="-914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D398F1A8-9DD8-4D7B-A1DB-189CF0F5CC60}"/>
                  </a:ext>
                </a:extLst>
              </p:cNvPr>
              <p:cNvSpPr txBox="1"/>
              <p:nvPr/>
            </p:nvSpPr>
            <p:spPr>
              <a:xfrm>
                <a:off x="567542" y="5559491"/>
                <a:ext cx="830605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このように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～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を行ったり来たりする波形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仮にこのグラフを角度を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/>
                  <a:t>とした</a:t>
                </a:r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のグラフ</a:t>
                </a:r>
                <a:r>
                  <a:rPr lang="ja-JP" altLang="en-US" sz="2400" dirty="0"/>
                  <a:t>とします。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D398F1A8-9DD8-4D7B-A1DB-189CF0F5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559491"/>
                <a:ext cx="8306056" cy="830997"/>
              </a:xfrm>
              <a:prstGeom prst="rect">
                <a:avLst/>
              </a:prstGeom>
              <a:blipFill>
                <a:blip r:embed="rId3"/>
                <a:stretch>
                  <a:fillRect l="-1101" t="-5882" r="-220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5342506E-87E8-414B-AEC1-20529CFDC613}"/>
              </a:ext>
            </a:extLst>
          </p:cNvPr>
          <p:cNvGrpSpPr/>
          <p:nvPr/>
        </p:nvGrpSpPr>
        <p:grpSpPr>
          <a:xfrm>
            <a:off x="567542" y="1992700"/>
            <a:ext cx="6463161" cy="3451460"/>
            <a:chOff x="567542" y="1992700"/>
            <a:chExt cx="6463161" cy="3451460"/>
          </a:xfrm>
        </p:grpSpPr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B2296846-B215-4C3E-A5EC-46850C0FEA5E}"/>
                </a:ext>
              </a:extLst>
            </p:cNvPr>
            <p:cNvGrpSpPr/>
            <p:nvPr/>
          </p:nvGrpSpPr>
          <p:grpSpPr>
            <a:xfrm>
              <a:off x="567542" y="1992700"/>
              <a:ext cx="6463161" cy="3451460"/>
              <a:chOff x="567542" y="1992700"/>
              <a:chExt cx="6463161" cy="3451460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38C535AE-1FCB-4145-B18D-964373082242}"/>
                  </a:ext>
                </a:extLst>
              </p:cNvPr>
              <p:cNvGrpSpPr/>
              <p:nvPr/>
            </p:nvGrpSpPr>
            <p:grpSpPr>
              <a:xfrm>
                <a:off x="567542" y="1992700"/>
                <a:ext cx="6463161" cy="3451460"/>
                <a:chOff x="567542" y="1776378"/>
                <a:chExt cx="6463161" cy="3451460"/>
              </a:xfrm>
            </p:grpSpPr>
            <p:grpSp>
              <p:nvGrpSpPr>
                <p:cNvPr id="54" name="グループ化 53">
                  <a:extLst>
                    <a:ext uri="{FF2B5EF4-FFF2-40B4-BE49-F238E27FC236}">
                      <a16:creationId xmlns:a16="http://schemas.microsoft.com/office/drawing/2014/main" id="{E9FC834B-1927-44BE-A6B1-DD3AF4448D9B}"/>
                    </a:ext>
                  </a:extLst>
                </p:cNvPr>
                <p:cNvGrpSpPr/>
                <p:nvPr/>
              </p:nvGrpSpPr>
              <p:grpSpPr>
                <a:xfrm>
                  <a:off x="567542" y="1817794"/>
                  <a:ext cx="6463161" cy="3332526"/>
                  <a:chOff x="1819779" y="2157566"/>
                  <a:chExt cx="6463161" cy="3332526"/>
                </a:xfrm>
              </p:grpSpPr>
              <p:cxnSp>
                <p:nvCxnSpPr>
                  <p:cNvPr id="47" name="直線コネクタ 46">
                    <a:extLst>
                      <a:ext uri="{FF2B5EF4-FFF2-40B4-BE49-F238E27FC236}">
                        <a16:creationId xmlns:a16="http://schemas.microsoft.com/office/drawing/2014/main" id="{35362EEA-D883-4BC4-88E5-980CBF3ACB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53D0F5C2-7866-465B-9C78-DCB545559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コネクタ 49">
                    <a:extLst>
                      <a:ext uri="{FF2B5EF4-FFF2-40B4-BE49-F238E27FC236}">
                        <a16:creationId xmlns:a16="http://schemas.microsoft.com/office/drawing/2014/main" id="{233C966D-EA22-437C-A69F-9E6F0E86F3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2" name="フリーフォーム: 図形 61">
                <a:extLst>
                  <a:ext uri="{FF2B5EF4-FFF2-40B4-BE49-F238E27FC236}">
                    <a16:creationId xmlns:a16="http://schemas.microsoft.com/office/drawing/2014/main" id="{13AE152A-D573-44D5-9843-24B51D8EEE5B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フリーフォーム: 図形 62">
                <a:extLst>
                  <a:ext uri="{FF2B5EF4-FFF2-40B4-BE49-F238E27FC236}">
                    <a16:creationId xmlns:a16="http://schemas.microsoft.com/office/drawing/2014/main" id="{09C7BA2B-A77F-4D42-85AE-EFF79BCAED1C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フリーフォーム: 図形 63">
                <a:extLst>
                  <a:ext uri="{FF2B5EF4-FFF2-40B4-BE49-F238E27FC236}">
                    <a16:creationId xmlns:a16="http://schemas.microsoft.com/office/drawing/2014/main" id="{08F8D160-6BB2-43A7-9EF1-4E3951528DBD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C115B75A-93F8-4EC4-BBC0-C3E1B4484752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正弦波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関数で与える</a:t>
            </a:r>
            <a:r>
              <a:rPr lang="ja-JP" altLang="en-US" sz="2400" b="1" dirty="0">
                <a:solidFill>
                  <a:srgbClr val="FF0000"/>
                </a:solidFill>
              </a:rPr>
              <a:t>角度を割り算</a:t>
            </a:r>
            <a:r>
              <a:rPr lang="ja-JP" altLang="en-US" sz="2400" dirty="0"/>
              <a:t>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波を横に引き伸ばす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B2296846-B215-4C3E-A5EC-46850C0FEA5E}"/>
              </a:ext>
            </a:extLst>
          </p:cNvPr>
          <p:cNvGrpSpPr/>
          <p:nvPr/>
        </p:nvGrpSpPr>
        <p:grpSpPr>
          <a:xfrm>
            <a:off x="567542" y="2034116"/>
            <a:ext cx="6463161" cy="3332526"/>
            <a:chOff x="567542" y="2034116"/>
            <a:chExt cx="6463161" cy="3332526"/>
          </a:xfrm>
        </p:grpSpPr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38C535AE-1FCB-4145-B18D-964373082242}"/>
                </a:ext>
              </a:extLst>
            </p:cNvPr>
            <p:cNvGrpSpPr/>
            <p:nvPr/>
          </p:nvGrpSpPr>
          <p:grpSpPr>
            <a:xfrm>
              <a:off x="567542" y="2034116"/>
              <a:ext cx="6463161" cy="3332526"/>
              <a:chOff x="567542" y="1817794"/>
              <a:chExt cx="6463161" cy="3332526"/>
            </a:xfrm>
          </p:grpSpPr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E9FC834B-1927-44BE-A6B1-DD3AF4448D9B}"/>
                  </a:ext>
                </a:extLst>
              </p:cNvPr>
              <p:cNvGrpSpPr/>
              <p:nvPr/>
            </p:nvGrpSpPr>
            <p:grpSpPr>
              <a:xfrm>
                <a:off x="567542" y="1817794"/>
                <a:ext cx="6463161" cy="3332526"/>
                <a:chOff x="1819779" y="2157566"/>
                <a:chExt cx="6463161" cy="3332526"/>
              </a:xfrm>
            </p:grpSpPr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35362EEA-D883-4BC4-88E5-980CBF3AC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7302" y="2388399"/>
                  <a:ext cx="5825638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53D0F5C2-7866-465B-9C78-DCB5455595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062" y="3828579"/>
                  <a:ext cx="582563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線コネクタ 49">
                  <a:extLst>
                    <a:ext uri="{FF2B5EF4-FFF2-40B4-BE49-F238E27FC236}">
                      <a16:creationId xmlns:a16="http://schemas.microsoft.com/office/drawing/2014/main" id="{233C966D-EA22-437C-A69F-9E6F0E86F3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062" y="5261139"/>
                  <a:ext cx="5825638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テキスト ボックス 50">
                      <a:extLst>
                        <a:ext uri="{FF2B5EF4-FFF2-40B4-BE49-F238E27FC236}">
                          <a16:creationId xmlns:a16="http://schemas.microsoft.com/office/drawing/2014/main" id="{DC10EF26-F36F-4723-BA61-6DD06E4130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4395" y="2157566"/>
                      <a:ext cx="44274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51" name="テキスト ボックス 50">
                      <a:extLst>
                        <a:ext uri="{FF2B5EF4-FFF2-40B4-BE49-F238E27FC236}">
                          <a16:creationId xmlns:a16="http://schemas.microsoft.com/office/drawing/2014/main" id="{DC10EF26-F36F-4723-BA61-6DD06E4130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34395" y="2157566"/>
                      <a:ext cx="44274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テキスト ボックス 51">
                      <a:extLst>
                        <a:ext uri="{FF2B5EF4-FFF2-40B4-BE49-F238E27FC236}">
                          <a16:creationId xmlns:a16="http://schemas.microsoft.com/office/drawing/2014/main" id="{AD187D9B-2FA6-4991-B619-3A663D483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49635" y="3588248"/>
                      <a:ext cx="44274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52" name="テキスト ボックス 51">
                      <a:extLst>
                        <a:ext uri="{FF2B5EF4-FFF2-40B4-BE49-F238E27FC236}">
                          <a16:creationId xmlns:a16="http://schemas.microsoft.com/office/drawing/2014/main" id="{AD187D9B-2FA6-4991-B619-3A663D4831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49635" y="3588248"/>
                      <a:ext cx="442749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6C282D98-FF53-4FEE-9454-88E2AE67A2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779" y="5028427"/>
                      <a:ext cx="67197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en-US" altLang="ja-JP" sz="2400" dirty="0"/>
                    </a:p>
                  </p:txBody>
                </p:sp>
              </mc:Choice>
              <mc:Fallback xmlns=""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6C282D98-FF53-4FEE-9454-88E2AE67A2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779" y="5028427"/>
                      <a:ext cx="671979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テキスト ボックス 55">
                    <a:extLst>
                      <a:ext uri="{FF2B5EF4-FFF2-40B4-BE49-F238E27FC236}">
                        <a16:creationId xmlns:a16="http://schemas.microsoft.com/office/drawing/2014/main" id="{F80DF57B-C729-440A-942A-EB1763F28B84}"/>
                      </a:ext>
                    </a:extLst>
                  </p:cNvPr>
                  <p:cNvSpPr txBox="1"/>
                  <p:nvPr/>
                </p:nvSpPr>
                <p:spPr>
                  <a:xfrm>
                    <a:off x="3255147" y="3474036"/>
                    <a:ext cx="862737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360</m:t>
                          </m:r>
                        </m:oMath>
                      </m:oMathPara>
                    </a14:m>
                    <a:endParaRPr lang="en-US" altLang="ja-JP" sz="1600" dirty="0"/>
                  </a:p>
                </p:txBody>
              </p:sp>
            </mc:Choice>
            <mc:Fallback xmlns="">
              <p:sp>
                <p:nvSpPr>
                  <p:cNvPr id="56" name="テキスト ボックス 55">
                    <a:extLst>
                      <a:ext uri="{FF2B5EF4-FFF2-40B4-BE49-F238E27FC236}">
                        <a16:creationId xmlns:a16="http://schemas.microsoft.com/office/drawing/2014/main" id="{F80DF57B-C729-440A-942A-EB1763F28B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5147" y="3474036"/>
                    <a:ext cx="862737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フリーフォーム: 図形 61">
              <a:extLst>
                <a:ext uri="{FF2B5EF4-FFF2-40B4-BE49-F238E27FC236}">
                  <a16:creationId xmlns:a16="http://schemas.microsoft.com/office/drawing/2014/main" id="{13AE152A-D573-44D5-9843-24B51D8EEE5B}"/>
                </a:ext>
              </a:extLst>
            </p:cNvPr>
            <p:cNvSpPr/>
            <p:nvPr/>
          </p:nvSpPr>
          <p:spPr>
            <a:xfrm>
              <a:off x="1196339" y="2263139"/>
              <a:ext cx="289703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09C7BA2B-A77F-4D42-85AE-EFF79BCAED1C}"/>
                </a:ext>
              </a:extLst>
            </p:cNvPr>
            <p:cNvSpPr/>
            <p:nvPr/>
          </p:nvSpPr>
          <p:spPr>
            <a:xfrm rot="10800000">
              <a:off x="4085801" y="3696704"/>
              <a:ext cx="289703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CBFA27B-F198-4237-8280-E7313F38869D}"/>
                  </a:ext>
                </a:extLst>
              </p:cNvPr>
              <p:cNvSpPr txBox="1"/>
              <p:nvPr/>
            </p:nvSpPr>
            <p:spPr>
              <a:xfrm>
                <a:off x="1879426" y="3690358"/>
                <a:ext cx="8627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US" altLang="ja-JP" sz="16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CBFA27B-F198-4237-8280-E7313F388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26" y="3690358"/>
                <a:ext cx="86273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6A3F1F3-0EA2-40C3-AC15-A7F3DE9ABF82}"/>
                  </a:ext>
                </a:extLst>
              </p:cNvPr>
              <p:cNvSpPr txBox="1"/>
              <p:nvPr/>
            </p:nvSpPr>
            <p:spPr>
              <a:xfrm>
                <a:off x="2555733" y="5469091"/>
                <a:ext cx="28071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のグラフ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6A3F1F3-0EA2-40C3-AC15-A7F3DE9AB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33" y="5469091"/>
                <a:ext cx="2807179" cy="461665"/>
              </a:xfrm>
              <a:prstGeom prst="rect">
                <a:avLst/>
              </a:prstGeom>
              <a:blipFill>
                <a:blip r:embed="rId9"/>
                <a:stretch>
                  <a:fillRect l="-434" t="-10526" r="-238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48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正弦波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関数で与える角度を</a:t>
            </a:r>
            <a:r>
              <a:rPr lang="ja-JP" altLang="en-US" sz="2400" b="1" dirty="0">
                <a:solidFill>
                  <a:srgbClr val="FF0000"/>
                </a:solidFill>
              </a:rPr>
              <a:t>掛け算</a:t>
            </a:r>
            <a:r>
              <a:rPr lang="ja-JP" altLang="en-US" sz="2400" dirty="0"/>
              <a:t>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波を縮める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5342506E-87E8-414B-AEC1-20529CFDC613}"/>
              </a:ext>
            </a:extLst>
          </p:cNvPr>
          <p:cNvGrpSpPr/>
          <p:nvPr/>
        </p:nvGrpSpPr>
        <p:grpSpPr>
          <a:xfrm>
            <a:off x="567542" y="1992700"/>
            <a:ext cx="6463161" cy="3451460"/>
            <a:chOff x="567542" y="1992700"/>
            <a:chExt cx="6463161" cy="3451460"/>
          </a:xfrm>
        </p:grpSpPr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B2296846-B215-4C3E-A5EC-46850C0FEA5E}"/>
                </a:ext>
              </a:extLst>
            </p:cNvPr>
            <p:cNvGrpSpPr/>
            <p:nvPr/>
          </p:nvGrpSpPr>
          <p:grpSpPr>
            <a:xfrm>
              <a:off x="567542" y="1992700"/>
              <a:ext cx="6463161" cy="3451460"/>
              <a:chOff x="567542" y="1992700"/>
              <a:chExt cx="6463161" cy="3451460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38C535AE-1FCB-4145-B18D-964373082242}"/>
                  </a:ext>
                </a:extLst>
              </p:cNvPr>
              <p:cNvGrpSpPr/>
              <p:nvPr/>
            </p:nvGrpSpPr>
            <p:grpSpPr>
              <a:xfrm>
                <a:off x="567542" y="1992700"/>
                <a:ext cx="6463161" cy="3451460"/>
                <a:chOff x="567542" y="1776378"/>
                <a:chExt cx="6463161" cy="3451460"/>
              </a:xfrm>
            </p:grpSpPr>
            <p:grpSp>
              <p:nvGrpSpPr>
                <p:cNvPr id="54" name="グループ化 53">
                  <a:extLst>
                    <a:ext uri="{FF2B5EF4-FFF2-40B4-BE49-F238E27FC236}">
                      <a16:creationId xmlns:a16="http://schemas.microsoft.com/office/drawing/2014/main" id="{E9FC834B-1927-44BE-A6B1-DD3AF4448D9B}"/>
                    </a:ext>
                  </a:extLst>
                </p:cNvPr>
                <p:cNvGrpSpPr/>
                <p:nvPr/>
              </p:nvGrpSpPr>
              <p:grpSpPr>
                <a:xfrm>
                  <a:off x="567542" y="1817794"/>
                  <a:ext cx="6463161" cy="3332526"/>
                  <a:chOff x="1819779" y="2157566"/>
                  <a:chExt cx="6463161" cy="3332526"/>
                </a:xfrm>
              </p:grpSpPr>
              <p:cxnSp>
                <p:nvCxnSpPr>
                  <p:cNvPr id="47" name="直線コネクタ 46">
                    <a:extLst>
                      <a:ext uri="{FF2B5EF4-FFF2-40B4-BE49-F238E27FC236}">
                        <a16:creationId xmlns:a16="http://schemas.microsoft.com/office/drawing/2014/main" id="{35362EEA-D883-4BC4-88E5-980CBF3ACB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53D0F5C2-7866-465B-9C78-DCB545559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コネクタ 49">
                    <a:extLst>
                      <a:ext uri="{FF2B5EF4-FFF2-40B4-BE49-F238E27FC236}">
                        <a16:creationId xmlns:a16="http://schemas.microsoft.com/office/drawing/2014/main" id="{233C966D-EA22-437C-A69F-9E6F0E86F3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2" name="フリーフォーム: 図形 61">
                <a:extLst>
                  <a:ext uri="{FF2B5EF4-FFF2-40B4-BE49-F238E27FC236}">
                    <a16:creationId xmlns:a16="http://schemas.microsoft.com/office/drawing/2014/main" id="{13AE152A-D573-44D5-9843-24B51D8EEE5B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683086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フリーフォーム: 図形 62">
                <a:extLst>
                  <a:ext uri="{FF2B5EF4-FFF2-40B4-BE49-F238E27FC236}">
                    <a16:creationId xmlns:a16="http://schemas.microsoft.com/office/drawing/2014/main" id="{09C7BA2B-A77F-4D42-85AE-EFF79BCAED1C}"/>
                  </a:ext>
                </a:extLst>
              </p:cNvPr>
              <p:cNvSpPr/>
              <p:nvPr/>
            </p:nvSpPr>
            <p:spPr>
              <a:xfrm rot="10800000">
                <a:off x="1879759" y="3696705"/>
                <a:ext cx="683086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フリーフォーム: 図形 63">
                <a:extLst>
                  <a:ext uri="{FF2B5EF4-FFF2-40B4-BE49-F238E27FC236}">
                    <a16:creationId xmlns:a16="http://schemas.microsoft.com/office/drawing/2014/main" id="{08F8D160-6BB2-43A7-9EF1-4E3951528DBD}"/>
                  </a:ext>
                </a:extLst>
              </p:cNvPr>
              <p:cNvSpPr/>
              <p:nvPr/>
            </p:nvSpPr>
            <p:spPr>
              <a:xfrm>
                <a:off x="2566036" y="2269991"/>
                <a:ext cx="683086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C115B75A-93F8-4EC4-BBC0-C3E1B4484752}"/>
                </a:ext>
              </a:extLst>
            </p:cNvPr>
            <p:cNvSpPr/>
            <p:nvPr/>
          </p:nvSpPr>
          <p:spPr>
            <a:xfrm rot="10800000">
              <a:off x="3249455" y="3702016"/>
              <a:ext cx="683086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/>
              <p:nvPr/>
            </p:nvSpPr>
            <p:spPr>
              <a:xfrm>
                <a:off x="2555733" y="5469091"/>
                <a:ext cx="24721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のグラフ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33" y="5469091"/>
                <a:ext cx="2472152" cy="461665"/>
              </a:xfrm>
              <a:prstGeom prst="rect">
                <a:avLst/>
              </a:prstGeom>
              <a:blipFill>
                <a:blip r:embed="rId11"/>
                <a:stretch>
                  <a:fillRect l="-493" t="-10526" r="-295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4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正弦波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関数の値を掛け算</a:t>
            </a:r>
            <a:r>
              <a:rPr lang="ja-JP" altLang="en-US" sz="2400" dirty="0"/>
              <a:t>すると</a:t>
            </a:r>
            <a:r>
              <a:rPr lang="ja-JP" altLang="en-US" sz="2400" b="1" dirty="0">
                <a:solidFill>
                  <a:srgbClr val="FF0000"/>
                </a:solidFill>
              </a:rPr>
              <a:t>波を大きく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/>
              <p:nvPr/>
            </p:nvSpPr>
            <p:spPr>
              <a:xfrm>
                <a:off x="2555733" y="5469091"/>
                <a:ext cx="28408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のグラフ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33" y="5469091"/>
                <a:ext cx="2840842" cy="461665"/>
              </a:xfrm>
              <a:prstGeom prst="rect">
                <a:avLst/>
              </a:prstGeom>
              <a:blipFill>
                <a:blip r:embed="rId2"/>
                <a:stretch>
                  <a:fillRect l="-429" t="-10526" r="-2575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6C6F47F-8C9E-4BCB-9987-B642082B4641}"/>
              </a:ext>
            </a:extLst>
          </p:cNvPr>
          <p:cNvSpPr txBox="1"/>
          <p:nvPr/>
        </p:nvSpPr>
        <p:spPr>
          <a:xfrm>
            <a:off x="7177673" y="4566997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000" dirty="0"/>
              <a:t>逆に割り算すると波を小さくできます。</a:t>
            </a:r>
            <a:endParaRPr lang="en-US" altLang="ja-JP" sz="20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406BDC1-95DE-4A4F-A1A9-7578A69E0A71}"/>
              </a:ext>
            </a:extLst>
          </p:cNvPr>
          <p:cNvGrpSpPr/>
          <p:nvPr/>
        </p:nvGrpSpPr>
        <p:grpSpPr>
          <a:xfrm>
            <a:off x="299094" y="1992700"/>
            <a:ext cx="6731609" cy="3451460"/>
            <a:chOff x="299094" y="1992700"/>
            <a:chExt cx="6731609" cy="3451460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EBE7CEF8-55FB-4CA3-8A07-0CFE010BB4A7}"/>
                </a:ext>
              </a:extLst>
            </p:cNvPr>
            <p:cNvGrpSpPr/>
            <p:nvPr/>
          </p:nvGrpSpPr>
          <p:grpSpPr>
            <a:xfrm>
              <a:off x="299094" y="1992700"/>
              <a:ext cx="6731609" cy="3451460"/>
              <a:chOff x="299094" y="1992700"/>
              <a:chExt cx="6731609" cy="3451460"/>
            </a:xfrm>
          </p:grpSpPr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A2DE719D-AA14-4079-B509-4986B862C951}"/>
                  </a:ext>
                </a:extLst>
              </p:cNvPr>
              <p:cNvGrpSpPr/>
              <p:nvPr/>
            </p:nvGrpSpPr>
            <p:grpSpPr>
              <a:xfrm>
                <a:off x="299094" y="1992700"/>
                <a:ext cx="6731609" cy="3451460"/>
                <a:chOff x="299094" y="1776378"/>
                <a:chExt cx="6731609" cy="3451460"/>
              </a:xfrm>
            </p:grpSpPr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568DCD57-EF0A-4080-8DB2-E3DCDE41521C}"/>
                    </a:ext>
                  </a:extLst>
                </p:cNvPr>
                <p:cNvGrpSpPr/>
                <p:nvPr/>
              </p:nvGrpSpPr>
              <p:grpSpPr>
                <a:xfrm>
                  <a:off x="299094" y="1817794"/>
                  <a:ext cx="6731609" cy="3332526"/>
                  <a:chOff x="1551331" y="2157566"/>
                  <a:chExt cx="6731609" cy="3332526"/>
                </a:xfrm>
              </p:grpSpPr>
              <p:cxnSp>
                <p:nvCxnSpPr>
                  <p:cNvPr id="37" name="直線コネクタ 36">
                    <a:extLst>
                      <a:ext uri="{FF2B5EF4-FFF2-40B4-BE49-F238E27FC236}">
                        <a16:creationId xmlns:a16="http://schemas.microsoft.com/office/drawing/2014/main" id="{B9726453-0D4A-47B8-A333-B5BB2D56E3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コネクタ 37">
                    <a:extLst>
                      <a:ext uri="{FF2B5EF4-FFF2-40B4-BE49-F238E27FC236}">
                        <a16:creationId xmlns:a16="http://schemas.microsoft.com/office/drawing/2014/main" id="{A4DACEAE-57B3-4337-9775-CBA7A52A73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線コネクタ 38">
                    <a:extLst>
                      <a:ext uri="{FF2B5EF4-FFF2-40B4-BE49-F238E27FC236}">
                        <a16:creationId xmlns:a16="http://schemas.microsoft.com/office/drawing/2014/main" id="{EE67F559-A708-4730-AEFB-216774B198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0" name="テキスト ボックス 39">
                        <a:extLst>
                          <a:ext uri="{FF2B5EF4-FFF2-40B4-BE49-F238E27FC236}">
                            <a16:creationId xmlns:a16="http://schemas.microsoft.com/office/drawing/2014/main" id="{1AD6EA52-2F2E-4BEA-801F-B7FFC3D8DFB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00171" y="2157566"/>
                        <a:ext cx="782587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>
                  <p:sp>
                    <p:nvSpPr>
                      <p:cNvPr id="40" name="テキスト ボックス 39">
                        <a:extLst>
                          <a:ext uri="{FF2B5EF4-FFF2-40B4-BE49-F238E27FC236}">
                            <a16:creationId xmlns:a16="http://schemas.microsoft.com/office/drawing/2014/main" id="{1AD6EA52-2F2E-4BEA-801F-B7FFC3D8DFB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00171" y="2157566"/>
                        <a:ext cx="782587" cy="461665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テキスト ボックス 40">
                        <a:extLst>
                          <a:ext uri="{FF2B5EF4-FFF2-40B4-BE49-F238E27FC236}">
                            <a16:creationId xmlns:a16="http://schemas.microsoft.com/office/drawing/2014/main" id="{14712F5F-09A6-4B39-8473-CEF32DBC68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2" name="テキスト ボックス 41">
                        <a:extLst>
                          <a:ext uri="{FF2B5EF4-FFF2-40B4-BE49-F238E27FC236}">
                            <a16:creationId xmlns:a16="http://schemas.microsoft.com/office/drawing/2014/main" id="{78C88CD1-7F02-407E-B38F-49C0969D473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1331" y="5028427"/>
                        <a:ext cx="101181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−100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>
                  <p:sp>
                    <p:nvSpPr>
                      <p:cNvPr id="42" name="テキスト ボックス 41">
                        <a:extLst>
                          <a:ext uri="{FF2B5EF4-FFF2-40B4-BE49-F238E27FC236}">
                            <a16:creationId xmlns:a16="http://schemas.microsoft.com/office/drawing/2014/main" id="{78C88CD1-7F02-407E-B38F-49C0969D473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51331" y="5028427"/>
                        <a:ext cx="1011815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テキスト ボックス 32">
                      <a:extLst>
                        <a:ext uri="{FF2B5EF4-FFF2-40B4-BE49-F238E27FC236}">
                          <a16:creationId xmlns:a16="http://schemas.microsoft.com/office/drawing/2014/main" id="{133BE3E6-081C-4986-9388-EB8AE322D7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テキスト ボックス 33">
                      <a:extLst>
                        <a:ext uri="{FF2B5EF4-FFF2-40B4-BE49-F238E27FC236}">
                          <a16:creationId xmlns:a16="http://schemas.microsoft.com/office/drawing/2014/main" id="{4C5FFEB6-5A36-4EEB-B12A-1DAD429626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EE9AA5D7-4050-4E4B-8916-1CFB1F6FB8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EF4C5107-F72D-42FF-A007-3771968F87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9" name="フリーフォーム: 図形 28">
                <a:extLst>
                  <a:ext uri="{FF2B5EF4-FFF2-40B4-BE49-F238E27FC236}">
                    <a16:creationId xmlns:a16="http://schemas.microsoft.com/office/drawing/2014/main" id="{E16064E4-7841-404B-AEBF-223A60CE4EA1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フリーフォーム: 図形 29">
                <a:extLst>
                  <a:ext uri="{FF2B5EF4-FFF2-40B4-BE49-F238E27FC236}">
                    <a16:creationId xmlns:a16="http://schemas.microsoft.com/office/drawing/2014/main" id="{690B8E8C-F6CA-44D4-B9D5-246AE8937667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フリーフォーム: 図形 30">
                <a:extLst>
                  <a:ext uri="{FF2B5EF4-FFF2-40B4-BE49-F238E27FC236}">
                    <a16:creationId xmlns:a16="http://schemas.microsoft.com/office/drawing/2014/main" id="{A843DFA1-5CB1-435F-A5CB-8B8279CF6D60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78034892-50DA-43C9-9880-D5E8347BE154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360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正弦波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8703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𝒄𝒐𝒔</m:t>
                    </m:r>
                  </m:oMath>
                </a14:m>
                <a:r>
                  <a:rPr lang="ja-JP" altLang="en-US" sz="2400" b="1" dirty="0">
                    <a:solidFill>
                      <a:srgbClr val="00B050"/>
                    </a:solidFill>
                  </a:rPr>
                  <a:t>関数の波</a:t>
                </a:r>
                <a:r>
                  <a:rPr lang="ja-JP" altLang="en-US" sz="2400" dirty="0"/>
                  <a:t>のことを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余弦波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870390" cy="461665"/>
              </a:xfrm>
              <a:prstGeom prst="rect">
                <a:avLst/>
              </a:prstGeom>
              <a:blipFill>
                <a:blip r:embed="rId2"/>
                <a:stretch>
                  <a:fillRect t="-10667" r="-1246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/>
              <p:nvPr/>
            </p:nvSpPr>
            <p:spPr>
              <a:xfrm>
                <a:off x="484004" y="5505737"/>
                <a:ext cx="61798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𝐜𝐨𝐬</m:t>
                    </m:r>
                    <m:r>
                      <a:rPr lang="en-US" altLang="ja-JP" sz="24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00B050"/>
                    </a:solidFill>
                  </a:rPr>
                  <a:t>のグラフ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lang="ja-JP" altLang="en-US" sz="2400" dirty="0"/>
                  <a:t>正弦波より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分位置がずれた波になります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B9FDBFC-65AE-49E9-AB22-F13EA4EAC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04" y="5505737"/>
                <a:ext cx="6179897" cy="830997"/>
              </a:xfrm>
              <a:prstGeom prst="rect">
                <a:avLst/>
              </a:prstGeom>
              <a:blipFill>
                <a:blip r:embed="rId3"/>
                <a:stretch>
                  <a:fillRect l="-1479" t="-5882" r="-592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5FCF575D-4CB7-44BD-A260-0B5707B6CA6B}"/>
              </a:ext>
            </a:extLst>
          </p:cNvPr>
          <p:cNvGrpSpPr/>
          <p:nvPr/>
        </p:nvGrpSpPr>
        <p:grpSpPr>
          <a:xfrm>
            <a:off x="483275" y="1992700"/>
            <a:ext cx="6547428" cy="3451460"/>
            <a:chOff x="483275" y="1992700"/>
            <a:chExt cx="6547428" cy="3451460"/>
          </a:xfrm>
        </p:grpSpPr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F23BB2CD-D985-421A-80C6-5F8E94A75ADC}"/>
                </a:ext>
              </a:extLst>
            </p:cNvPr>
            <p:cNvGrpSpPr/>
            <p:nvPr/>
          </p:nvGrpSpPr>
          <p:grpSpPr>
            <a:xfrm>
              <a:off x="483275" y="1992700"/>
              <a:ext cx="6547428" cy="3451460"/>
              <a:chOff x="483275" y="1992700"/>
              <a:chExt cx="6547428" cy="3451460"/>
            </a:xfrm>
          </p:grpSpPr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2E8135AD-365A-417A-ACCF-18EDC9BF2D71}"/>
                  </a:ext>
                </a:extLst>
              </p:cNvPr>
              <p:cNvGrpSpPr/>
              <p:nvPr/>
            </p:nvGrpSpPr>
            <p:grpSpPr>
              <a:xfrm>
                <a:off x="567542" y="1992700"/>
                <a:ext cx="6463161" cy="3451460"/>
                <a:chOff x="567542" y="1776378"/>
                <a:chExt cx="6463161" cy="3451460"/>
              </a:xfrm>
            </p:grpSpPr>
            <p:grpSp>
              <p:nvGrpSpPr>
                <p:cNvPr id="68" name="グループ化 67">
                  <a:extLst>
                    <a:ext uri="{FF2B5EF4-FFF2-40B4-BE49-F238E27FC236}">
                      <a16:creationId xmlns:a16="http://schemas.microsoft.com/office/drawing/2014/main" id="{4433E37B-B572-4C3F-835E-6C665EC0F688}"/>
                    </a:ext>
                  </a:extLst>
                </p:cNvPr>
                <p:cNvGrpSpPr/>
                <p:nvPr/>
              </p:nvGrpSpPr>
              <p:grpSpPr>
                <a:xfrm>
                  <a:off x="567542" y="1817794"/>
                  <a:ext cx="6463161" cy="3332526"/>
                  <a:chOff x="1819779" y="2157566"/>
                  <a:chExt cx="6463161" cy="3332526"/>
                </a:xfrm>
              </p:grpSpPr>
              <p:cxnSp>
                <p:nvCxnSpPr>
                  <p:cNvPr id="73" name="直線コネクタ 72">
                    <a:extLst>
                      <a:ext uri="{FF2B5EF4-FFF2-40B4-BE49-F238E27FC236}">
                        <a16:creationId xmlns:a16="http://schemas.microsoft.com/office/drawing/2014/main" id="{94F144BA-FFC3-477D-90C3-2B4CC7C955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コネクタ 73">
                    <a:extLst>
                      <a:ext uri="{FF2B5EF4-FFF2-40B4-BE49-F238E27FC236}">
                        <a16:creationId xmlns:a16="http://schemas.microsoft.com/office/drawing/2014/main" id="{9AD00470-105B-4911-BC94-6F3839232A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コネクタ 74">
                    <a:extLst>
                      <a:ext uri="{FF2B5EF4-FFF2-40B4-BE49-F238E27FC236}">
                        <a16:creationId xmlns:a16="http://schemas.microsoft.com/office/drawing/2014/main" id="{D585B4FF-B56A-4155-B8FE-E09B00E617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6" name="テキスト ボックス 75">
                        <a:extLst>
                          <a:ext uri="{FF2B5EF4-FFF2-40B4-BE49-F238E27FC236}">
                            <a16:creationId xmlns:a16="http://schemas.microsoft.com/office/drawing/2014/main" id="{9936393A-3658-456C-B8FB-EE9EF0A1C2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7" name="テキスト ボックス 76">
                        <a:extLst>
                          <a:ext uri="{FF2B5EF4-FFF2-40B4-BE49-F238E27FC236}">
                            <a16:creationId xmlns:a16="http://schemas.microsoft.com/office/drawing/2014/main" id="{9122AFAC-C1ED-4218-926C-0801C98FA4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8" name="テキスト ボックス 77">
                        <a:extLst>
                          <a:ext uri="{FF2B5EF4-FFF2-40B4-BE49-F238E27FC236}">
                            <a16:creationId xmlns:a16="http://schemas.microsoft.com/office/drawing/2014/main" id="{C741DC37-9EB3-4DEC-93A4-9639C9C627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テキスト ボックス 68">
                      <a:extLst>
                        <a:ext uri="{FF2B5EF4-FFF2-40B4-BE49-F238E27FC236}">
                          <a16:creationId xmlns:a16="http://schemas.microsoft.com/office/drawing/2014/main" id="{D572D83F-6DD6-4228-9D5E-2704E4D0D0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テキスト ボックス 69">
                      <a:extLst>
                        <a:ext uri="{FF2B5EF4-FFF2-40B4-BE49-F238E27FC236}">
                          <a16:creationId xmlns:a16="http://schemas.microsoft.com/office/drawing/2014/main" id="{51B1CC72-4CFE-4E31-A87F-EE759B505F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テキスト ボックス 70">
                      <a:extLst>
                        <a:ext uri="{FF2B5EF4-FFF2-40B4-BE49-F238E27FC236}">
                          <a16:creationId xmlns:a16="http://schemas.microsoft.com/office/drawing/2014/main" id="{B155E037-7EDB-44B7-8A7D-71849ABE76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テキスト ボックス 71">
                      <a:extLst>
                        <a:ext uri="{FF2B5EF4-FFF2-40B4-BE49-F238E27FC236}">
                          <a16:creationId xmlns:a16="http://schemas.microsoft.com/office/drawing/2014/main" id="{F25E740B-1247-45F3-993B-2841C684E2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8" name="フリーフォーム: 図形 47">
                <a:extLst>
                  <a:ext uri="{FF2B5EF4-FFF2-40B4-BE49-F238E27FC236}">
                    <a16:creationId xmlns:a16="http://schemas.microsoft.com/office/drawing/2014/main" id="{5DE38AD5-E6D2-4DED-9EBB-FF01865306C1}"/>
                  </a:ext>
                </a:extLst>
              </p:cNvPr>
              <p:cNvSpPr/>
              <p:nvPr/>
            </p:nvSpPr>
            <p:spPr>
              <a:xfrm>
                <a:off x="483275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フリーフォーム: 図形 56">
                <a:extLst>
                  <a:ext uri="{FF2B5EF4-FFF2-40B4-BE49-F238E27FC236}">
                    <a16:creationId xmlns:a16="http://schemas.microsoft.com/office/drawing/2014/main" id="{BBCFA55E-20D7-4647-B357-ECB48BA8048A}"/>
                  </a:ext>
                </a:extLst>
              </p:cNvPr>
              <p:cNvSpPr/>
              <p:nvPr/>
            </p:nvSpPr>
            <p:spPr>
              <a:xfrm rot="10800000">
                <a:off x="1928694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フリーフォーム: 図形 57">
                <a:extLst>
                  <a:ext uri="{FF2B5EF4-FFF2-40B4-BE49-F238E27FC236}">
                    <a16:creationId xmlns:a16="http://schemas.microsoft.com/office/drawing/2014/main" id="{49A06F05-7F15-4231-8057-A47FAAC932B0}"/>
                  </a:ext>
                </a:extLst>
              </p:cNvPr>
              <p:cNvSpPr/>
              <p:nvPr/>
            </p:nvSpPr>
            <p:spPr>
              <a:xfrm>
                <a:off x="3376971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9A126532-1608-4509-A595-6D5653A20331}"/>
                </a:ext>
              </a:extLst>
            </p:cNvPr>
            <p:cNvSpPr/>
            <p:nvPr/>
          </p:nvSpPr>
          <p:spPr>
            <a:xfrm rot="10800000">
              <a:off x="4822390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0F7B6180-B1AE-4222-A116-1B6C1F3D5AC1}"/>
              </a:ext>
            </a:extLst>
          </p:cNvPr>
          <p:cNvGrpSpPr/>
          <p:nvPr/>
        </p:nvGrpSpPr>
        <p:grpSpPr>
          <a:xfrm>
            <a:off x="1203381" y="2277220"/>
            <a:ext cx="5786915" cy="2879059"/>
            <a:chOff x="1196340" y="2263139"/>
            <a:chExt cx="5786915" cy="2879059"/>
          </a:xfrm>
        </p:grpSpPr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2DFB42EE-4EE7-4ECD-B5F9-DC1614709BAB}"/>
                </a:ext>
              </a:extLst>
            </p:cNvPr>
            <p:cNvGrpSpPr/>
            <p:nvPr/>
          </p:nvGrpSpPr>
          <p:grpSpPr>
            <a:xfrm>
              <a:off x="1196340" y="2263139"/>
              <a:ext cx="4341496" cy="2873748"/>
              <a:chOff x="1196340" y="2263139"/>
              <a:chExt cx="4341496" cy="2873748"/>
            </a:xfrm>
          </p:grpSpPr>
          <p:sp>
            <p:nvSpPr>
              <p:cNvPr id="83" name="フリーフォーム: 図形 82">
                <a:extLst>
                  <a:ext uri="{FF2B5EF4-FFF2-40B4-BE49-F238E27FC236}">
                    <a16:creationId xmlns:a16="http://schemas.microsoft.com/office/drawing/2014/main" id="{1A2B78CD-F4AC-4B67-A1C3-055FF1E2EA99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フリーフォーム: 図形 83">
                <a:extLst>
                  <a:ext uri="{FF2B5EF4-FFF2-40B4-BE49-F238E27FC236}">
                    <a16:creationId xmlns:a16="http://schemas.microsoft.com/office/drawing/2014/main" id="{48C75A99-0064-4216-BDE4-B8441FC15544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フリーフォーム: 図形 84">
                <a:extLst>
                  <a:ext uri="{FF2B5EF4-FFF2-40B4-BE49-F238E27FC236}">
                    <a16:creationId xmlns:a16="http://schemas.microsoft.com/office/drawing/2014/main" id="{A132F818-F549-4689-93A7-BEE2AE53108F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5DF92BB6-56FD-4405-8796-0EC1DE0517B9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040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224</Words>
  <Application>Microsoft Office PowerPoint</Application>
  <PresentationFormat>ワイド画面</PresentationFormat>
  <Paragraphs>52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98</cp:revision>
  <dcterms:created xsi:type="dcterms:W3CDTF">2024-08-27T02:15:54Z</dcterms:created>
  <dcterms:modified xsi:type="dcterms:W3CDTF">2024-10-10T02:13:49Z</dcterms:modified>
</cp:coreProperties>
</file>