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ゲーム数学で最初に学ぶのは</a:t>
            </a:r>
            <a:r>
              <a:rPr lang="ja-JP" altLang="en-US" sz="2400" b="1" dirty="0">
                <a:solidFill>
                  <a:srgbClr val="FF0000"/>
                </a:solidFill>
              </a:rPr>
              <a:t>点</a:t>
            </a:r>
            <a:r>
              <a:rPr lang="ja-JP" altLang="en-US" sz="2400" dirty="0"/>
              <a:t>についてです。</a:t>
            </a:r>
            <a:endParaRPr lang="en-US" altLang="ja-JP" sz="2400" dirty="0"/>
          </a:p>
          <a:p>
            <a:r>
              <a:rPr kumimoji="1" lang="ja-JP" altLang="en-US" sz="2400" dirty="0"/>
              <a:t>ゲームでは画像を画面に表示するのですが、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画面のどこに表示するか</a:t>
            </a:r>
            <a:r>
              <a:rPr lang="ja-JP" altLang="en-US" sz="2400" dirty="0"/>
              <a:t>を画面中の１点に指定してあげなければいけません。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0D09969-0B37-4D4C-9F07-32DCAC906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556458"/>
            <a:ext cx="6570516" cy="3809588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F3E635C5-F208-471E-B5ED-83B9CE95EEAA}"/>
              </a:ext>
            </a:extLst>
          </p:cNvPr>
          <p:cNvSpPr/>
          <p:nvPr/>
        </p:nvSpPr>
        <p:spPr>
          <a:xfrm rot="8127135">
            <a:off x="1405989" y="3447828"/>
            <a:ext cx="354263" cy="28131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AA66E4-E071-4F59-A8A5-613160230F28}"/>
              </a:ext>
            </a:extLst>
          </p:cNvPr>
          <p:cNvSpPr txBox="1"/>
          <p:nvPr/>
        </p:nvSpPr>
        <p:spPr>
          <a:xfrm>
            <a:off x="1808027" y="3063302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どこ？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5B571B3-FF21-441E-AE36-060BAE3E38D2}"/>
              </a:ext>
            </a:extLst>
          </p:cNvPr>
          <p:cNvSpPr/>
          <p:nvPr/>
        </p:nvSpPr>
        <p:spPr>
          <a:xfrm>
            <a:off x="338667" y="1837267"/>
            <a:ext cx="4749800" cy="2209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点を数学で定義するには以下のように表記します。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■点の定義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400" dirty="0"/>
                  <a:t>：点の</a:t>
                </a:r>
                <a:r>
                  <a:rPr kumimoji="1" lang="en-US" altLang="ja-JP" sz="2400" dirty="0"/>
                  <a:t>X</a:t>
                </a:r>
                <a:r>
                  <a:rPr kumimoji="1" lang="ja-JP" altLang="en-US" sz="2400" dirty="0"/>
                  <a:t>軸上の座標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kumimoji="1" lang="ja-JP" altLang="en-US" sz="2400" dirty="0"/>
                  <a:t>点の</a:t>
                </a:r>
                <a:r>
                  <a:rPr kumimoji="1" lang="en-US" altLang="ja-JP" sz="2400" dirty="0"/>
                  <a:t>Y</a:t>
                </a:r>
                <a:r>
                  <a:rPr kumimoji="1" lang="ja-JP" altLang="en-US" sz="2400" dirty="0"/>
                  <a:t>軸上の座標</a:t>
                </a:r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基本的に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X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軸は横軸</a:t>
                </a:r>
                <a:r>
                  <a:rPr lang="ja-JP" altLang="en-US" sz="2400" dirty="0"/>
                  <a:t>、</a:t>
                </a:r>
                <a:r>
                  <a:rPr lang="en-US" altLang="ja-JP" sz="2400" b="1" dirty="0">
                    <a:solidFill>
                      <a:srgbClr val="00B050"/>
                    </a:solidFill>
                  </a:rPr>
                  <a:t>Y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軸は縦軸</a:t>
                </a:r>
                <a:r>
                  <a:rPr lang="ja-JP" altLang="en-US" sz="2400" dirty="0"/>
                  <a:t>を表します。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実際に図で見てみましょう。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785652"/>
              </a:xfrm>
              <a:prstGeom prst="rect">
                <a:avLst/>
              </a:prstGeom>
              <a:blipFill>
                <a:blip r:embed="rId2"/>
                <a:stretch>
                  <a:fillRect l="-1258" t="-1288" r="-336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76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以下のグラフにある点について考えます。</a:t>
            </a:r>
            <a:endParaRPr kumimoji="1" lang="en-US" altLang="ja-JP" sz="2400" dirty="0"/>
          </a:p>
          <a:p>
            <a:r>
              <a:rPr lang="ja-JP" altLang="en-US" sz="2400" dirty="0"/>
              <a:t>点のある座標はいくつになるでしょう？</a:t>
            </a:r>
            <a:endParaRPr kumimoji="1" lang="en-US" altLang="ja-JP" sz="2400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BFF141FF-8BB8-4205-A89B-5DDE5D60F590}"/>
              </a:ext>
            </a:extLst>
          </p:cNvPr>
          <p:cNvGrpSpPr/>
          <p:nvPr/>
        </p:nvGrpSpPr>
        <p:grpSpPr>
          <a:xfrm>
            <a:off x="567542" y="2398054"/>
            <a:ext cx="4278806" cy="3967992"/>
            <a:chOff x="567542" y="2398054"/>
            <a:chExt cx="4278806" cy="3967992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884A8320-3B33-4E7C-A81F-863BE9D74CA0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EC39286A-5521-4CFA-913A-769C1734F716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3" name="直線矢印コネクタ 2">
                  <a:extLst>
                    <a:ext uri="{FF2B5EF4-FFF2-40B4-BE49-F238E27FC236}">
                      <a16:creationId xmlns:a16="http://schemas.microsoft.com/office/drawing/2014/main" id="{7B00073E-4CE2-4652-830E-445C806047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線矢印コネクタ 6">
                  <a:extLst>
                    <a:ext uri="{FF2B5EF4-FFF2-40B4-BE49-F238E27FC236}">
                      <a16:creationId xmlns:a16="http://schemas.microsoft.com/office/drawing/2014/main" id="{1CB82120-1FC3-4D1E-B14E-39E84E3AF0D3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コネクタ 22">
                  <a:extLst>
                    <a:ext uri="{FF2B5EF4-FFF2-40B4-BE49-F238E27FC236}">
                      <a16:creationId xmlns:a16="http://schemas.microsoft.com/office/drawing/2014/main" id="{1CEC9391-02D4-4FEE-BFC0-CEA8242210B6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コネクタ 23">
                  <a:extLst>
                    <a:ext uri="{FF2B5EF4-FFF2-40B4-BE49-F238E27FC236}">
                      <a16:creationId xmlns:a16="http://schemas.microsoft.com/office/drawing/2014/main" id="{A667497B-6C70-4D31-A4B2-D379B4BD0C2F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コネクタ 25">
                  <a:extLst>
                    <a:ext uri="{FF2B5EF4-FFF2-40B4-BE49-F238E27FC236}">
                      <a16:creationId xmlns:a16="http://schemas.microsoft.com/office/drawing/2014/main" id="{EC83FFE2-635F-4ED1-B33D-4B62B9854BF8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線コネクタ 27">
                  <a:extLst>
                    <a:ext uri="{FF2B5EF4-FFF2-40B4-BE49-F238E27FC236}">
                      <a16:creationId xmlns:a16="http://schemas.microsoft.com/office/drawing/2014/main" id="{0C0D89AC-97AD-4883-95BE-E745217F346B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AA41B5FB-758A-4D90-9FD2-EBD2A32C43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AD41E917-4D8E-4A80-8308-D58C60165A12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コネクタ 36">
                  <a:extLst>
                    <a:ext uri="{FF2B5EF4-FFF2-40B4-BE49-F238E27FC236}">
                      <a16:creationId xmlns:a16="http://schemas.microsoft.com/office/drawing/2014/main" id="{B781DB00-DD8E-4ACC-A770-EBE5F6FF1F4A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7" name="グループ化 56">
                  <a:extLst>
                    <a:ext uri="{FF2B5EF4-FFF2-40B4-BE49-F238E27FC236}">
                      <a16:creationId xmlns:a16="http://schemas.microsoft.com/office/drawing/2014/main" id="{4F06FB92-3D07-4342-AE95-327259BD0B65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42" name="直線コネクタ 41">
                    <a:extLst>
                      <a:ext uri="{FF2B5EF4-FFF2-40B4-BE49-F238E27FC236}">
                        <a16:creationId xmlns:a16="http://schemas.microsoft.com/office/drawing/2014/main" id="{FA54464F-012B-43A6-B85F-1D582C8198E9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650346D3-FA01-446A-BCF4-DDB6BC141618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1C782DD8-2BC6-43C2-B0E0-5465B74B496F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DD7493D7-4A1B-417E-AE02-BBA3E00C7B2A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線コネクタ 45">
                    <a:extLst>
                      <a:ext uri="{FF2B5EF4-FFF2-40B4-BE49-F238E27FC236}">
                        <a16:creationId xmlns:a16="http://schemas.microsoft.com/office/drawing/2014/main" id="{60D5C9BF-5FDA-451F-A44A-E2C188B1FD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線コネクタ 46">
                    <a:extLst>
                      <a:ext uri="{FF2B5EF4-FFF2-40B4-BE49-F238E27FC236}">
                        <a16:creationId xmlns:a16="http://schemas.microsoft.com/office/drawing/2014/main" id="{2E490E35-B2BF-4F05-A6FC-59A992A03658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430A5819-B08A-49FD-9D43-0A697DC3E68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72B9DE94-CB01-4652-A420-6FC6306C4FE3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8965299E-7224-4FFF-B832-F0EF285F872A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コネクタ 49">
                    <a:extLst>
                      <a:ext uri="{FF2B5EF4-FFF2-40B4-BE49-F238E27FC236}">
                        <a16:creationId xmlns:a16="http://schemas.microsoft.com/office/drawing/2014/main" id="{5B270781-98B6-4E7D-8C2A-D4E62B97091E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線コネクタ 50">
                    <a:extLst>
                      <a:ext uri="{FF2B5EF4-FFF2-40B4-BE49-F238E27FC236}">
                        <a16:creationId xmlns:a16="http://schemas.microsoft.com/office/drawing/2014/main" id="{07F8F003-39EB-488E-B1A3-0FC772885A4D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線コネクタ 51">
                    <a:extLst>
                      <a:ext uri="{FF2B5EF4-FFF2-40B4-BE49-F238E27FC236}">
                        <a16:creationId xmlns:a16="http://schemas.microsoft.com/office/drawing/2014/main" id="{B00BCC43-AA3C-4CE8-9FF3-BD13BF597C45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線コネクタ 52">
                    <a:extLst>
                      <a:ext uri="{FF2B5EF4-FFF2-40B4-BE49-F238E27FC236}">
                        <a16:creationId xmlns:a16="http://schemas.microsoft.com/office/drawing/2014/main" id="{C6F01ED4-AC88-414D-951A-9475A30811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コネクタ 53">
                    <a:extLst>
                      <a:ext uri="{FF2B5EF4-FFF2-40B4-BE49-F238E27FC236}">
                        <a16:creationId xmlns:a16="http://schemas.microsoft.com/office/drawing/2014/main" id="{088A622C-7E9C-4549-B8AB-B7023205E92E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線コネクタ 54">
                    <a:extLst>
                      <a:ext uri="{FF2B5EF4-FFF2-40B4-BE49-F238E27FC236}">
                        <a16:creationId xmlns:a16="http://schemas.microsoft.com/office/drawing/2014/main" id="{FCE87BE0-47DF-46F0-A668-0DAFC554F1C3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グループ化 57">
                  <a:extLst>
                    <a:ext uri="{FF2B5EF4-FFF2-40B4-BE49-F238E27FC236}">
                      <a16:creationId xmlns:a16="http://schemas.microsoft.com/office/drawing/2014/main" id="{6158EB4B-CCDE-4FF6-90BA-FDC0F2AAC209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59" name="直線コネクタ 58">
                    <a:extLst>
                      <a:ext uri="{FF2B5EF4-FFF2-40B4-BE49-F238E27FC236}">
                        <a16:creationId xmlns:a16="http://schemas.microsoft.com/office/drawing/2014/main" id="{06F988EB-A56E-4EEB-9449-48F0DCAA58B7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線コネクタ 59">
                    <a:extLst>
                      <a:ext uri="{FF2B5EF4-FFF2-40B4-BE49-F238E27FC236}">
                        <a16:creationId xmlns:a16="http://schemas.microsoft.com/office/drawing/2014/main" id="{3B3C0E30-98B3-487E-AD62-D2A2383C06C9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線コネクタ 60">
                    <a:extLst>
                      <a:ext uri="{FF2B5EF4-FFF2-40B4-BE49-F238E27FC236}">
                        <a16:creationId xmlns:a16="http://schemas.microsoft.com/office/drawing/2014/main" id="{872C53B0-4B6B-4220-94F4-198D024B2E02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線コネクタ 61">
                    <a:extLst>
                      <a:ext uri="{FF2B5EF4-FFF2-40B4-BE49-F238E27FC236}">
                        <a16:creationId xmlns:a16="http://schemas.microsoft.com/office/drawing/2014/main" id="{F3D83BAA-49BF-4861-BD0C-146345DAB10F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線コネクタ 62">
                    <a:extLst>
                      <a:ext uri="{FF2B5EF4-FFF2-40B4-BE49-F238E27FC236}">
                        <a16:creationId xmlns:a16="http://schemas.microsoft.com/office/drawing/2014/main" id="{97E32D75-522D-450D-8F8E-9554EB8EDD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線コネクタ 63">
                    <a:extLst>
                      <a:ext uri="{FF2B5EF4-FFF2-40B4-BE49-F238E27FC236}">
                        <a16:creationId xmlns:a16="http://schemas.microsoft.com/office/drawing/2014/main" id="{28F36643-0A32-434D-9F49-2EA391AF3C15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線コネクタ 64">
                    <a:extLst>
                      <a:ext uri="{FF2B5EF4-FFF2-40B4-BE49-F238E27FC236}">
                        <a16:creationId xmlns:a16="http://schemas.microsoft.com/office/drawing/2014/main" id="{F52B227A-F998-420A-882F-ADA40D9AF600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7" name="楕円 66">
                <a:extLst>
                  <a:ext uri="{FF2B5EF4-FFF2-40B4-BE49-F238E27FC236}">
                    <a16:creationId xmlns:a16="http://schemas.microsoft.com/office/drawing/2014/main" id="{7D386630-9A65-4A7A-AC37-9FE33F939CC9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883A21B0-5EAE-4CC7-B514-F7B8755A1F71}"/>
                  </a:ext>
                </a:extLst>
              </p:cNvPr>
              <p:cNvCxnSpPr>
                <a:cxnSpLocks/>
                <a:endCxn id="67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コネクタ 73">
                <a:extLst>
                  <a:ext uri="{FF2B5EF4-FFF2-40B4-BE49-F238E27FC236}">
                    <a16:creationId xmlns:a16="http://schemas.microsoft.com/office/drawing/2014/main" id="{5AF75787-D33D-4F1B-9FE0-2DCE05C7E9B4}"/>
                  </a:ext>
                </a:extLst>
              </p:cNvPr>
              <p:cNvCxnSpPr>
                <a:cxnSpLocks/>
                <a:endCxn id="67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C8897F7-7AEE-4E68-A4EC-56C670430BF5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C8897F7-7AEE-4E68-A4EC-56C670430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606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794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実はこのままでは点を定義することはできません。</a:t>
            </a:r>
            <a:endParaRPr lang="en-US" altLang="ja-JP" sz="2400" dirty="0"/>
          </a:p>
          <a:p>
            <a:r>
              <a:rPr lang="ja-JP" altLang="en-US" sz="2400" dirty="0"/>
              <a:t>このグラフは</a:t>
            </a:r>
            <a:r>
              <a:rPr lang="ja-JP" altLang="en-US" sz="2400" b="1" dirty="0">
                <a:solidFill>
                  <a:srgbClr val="FF0000"/>
                </a:solidFill>
              </a:rPr>
              <a:t>どちらに進めばプラスなのか、マイナスなのか</a:t>
            </a:r>
            <a:r>
              <a:rPr lang="ja-JP" altLang="en-US" sz="2400" dirty="0"/>
              <a:t>が</a:t>
            </a:r>
            <a:endParaRPr lang="en-US" altLang="ja-JP" sz="2400" dirty="0"/>
          </a:p>
          <a:p>
            <a:r>
              <a:rPr kumimoji="1" lang="ja-JP" altLang="en-US" sz="2400" dirty="0"/>
              <a:t>わからないからです。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606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6914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D8DB09C-9BA2-4619-A909-51BA7304BE13}"/>
              </a:ext>
            </a:extLst>
          </p:cNvPr>
          <p:cNvSpPr/>
          <p:nvPr/>
        </p:nvSpPr>
        <p:spPr>
          <a:xfrm>
            <a:off x="304525" y="2108586"/>
            <a:ext cx="8043608" cy="236181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点を定義するためには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座標系</a:t>
            </a:r>
            <a:r>
              <a:rPr kumimoji="1" lang="ja-JP" altLang="en-US" sz="2400" dirty="0"/>
              <a:t>も定義する必要があります。</a:t>
            </a:r>
            <a:endParaRPr kumimoji="1" lang="en-US" altLang="ja-JP" sz="2400" dirty="0"/>
          </a:p>
          <a:p>
            <a:r>
              <a:rPr lang="en-US" altLang="ja-JP" sz="2400" dirty="0"/>
              <a:t>2D</a:t>
            </a:r>
            <a:r>
              <a:rPr lang="ja-JP" altLang="en-US" sz="2400" dirty="0"/>
              <a:t>は主に２つの座標系が存在します。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■デカルト座標系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右に行くほどプラス、上に行くほどプラスの座標系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■スクリーン座標系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右に行くほどプラス、</a:t>
            </a:r>
            <a:r>
              <a:rPr lang="ja-JP" altLang="en-US" sz="2400" b="1" dirty="0">
                <a:solidFill>
                  <a:srgbClr val="FF0000"/>
                </a:solidFill>
              </a:rPr>
              <a:t>下に行くほどプラス</a:t>
            </a:r>
            <a:r>
              <a:rPr lang="ja-JP" altLang="en-US" sz="2400" dirty="0"/>
              <a:t>の座標系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数学のグラフは主にデカルト座標系ですが、</a:t>
            </a:r>
            <a:endParaRPr kumimoji="1" lang="en-US" altLang="ja-JP" sz="2400" dirty="0"/>
          </a:p>
          <a:p>
            <a:r>
              <a:rPr lang="ja-JP" altLang="en-US" sz="2400" dirty="0"/>
              <a:t>ゲーム画面はスクリーン座標系になります。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4713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例題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36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デカルト座標系での点</a:t>
            </a:r>
            <a:r>
              <a:rPr lang="en-US" altLang="ja-JP" sz="2400" dirty="0"/>
              <a:t>P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blipFill>
                  <a:blip r:embed="rId2"/>
                  <a:stretch>
                    <a:fillRect r="-508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/>
              <p:nvPr/>
            </p:nvSpPr>
            <p:spPr>
              <a:xfrm>
                <a:off x="5098017" y="2404340"/>
                <a:ext cx="6340197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000" b="1" dirty="0">
                    <a:solidFill>
                      <a:srgbClr val="FF0000"/>
                    </a:solidFill>
                  </a:rPr>
                  <a:t>■回答</a:t>
                </a:r>
                <a:endParaRPr kumimoji="1" lang="en-US" altLang="ja-JP" sz="20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000" dirty="0"/>
                  <a:t>デカルト座標系なので、</a:t>
                </a:r>
                <a:endParaRPr kumimoji="1" lang="en-US" altLang="ja-JP" sz="2000" dirty="0"/>
              </a:p>
              <a:p>
                <a:r>
                  <a:rPr kumimoji="1" lang="ja-JP" altLang="en-US" sz="2000" dirty="0"/>
                  <a:t>右に行くほどプラス、上に行くほどプラスとなる。</a:t>
                </a:r>
                <a:endParaRPr kumimoji="1" lang="en-US" altLang="ja-JP" sz="2000" dirty="0"/>
              </a:p>
              <a:p>
                <a:endParaRPr lang="en-US" altLang="ja-JP" sz="2000" dirty="0"/>
              </a:p>
              <a:p>
                <a:r>
                  <a:rPr kumimoji="1" lang="ja-JP" altLang="en-US" sz="2000" dirty="0"/>
                  <a:t>点Ｐは右に３メモリ、上に４メモ</a:t>
                </a:r>
                <a:r>
                  <a:rPr lang="ja-JP" altLang="en-US" sz="2000" dirty="0"/>
                  <a:t>リの位置になるので</a:t>
                </a:r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(3, 4)</m:t>
                    </m:r>
                  </m:oMath>
                </a14:m>
                <a:r>
                  <a:rPr kumimoji="1" lang="ja-JP" altLang="en-US" sz="2000" dirty="0"/>
                  <a:t>となる。</a:t>
                </a:r>
                <a:endParaRPr kumimoji="1" lang="en-US" altLang="ja-JP" sz="2000" dirty="0"/>
              </a:p>
              <a:p>
                <a:endParaRPr kumimoji="1" lang="en-US" altLang="ja-JP" sz="2000" dirty="0"/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017" y="2404340"/>
                <a:ext cx="6340197" cy="2246769"/>
              </a:xfrm>
              <a:prstGeom prst="rect">
                <a:avLst/>
              </a:prstGeom>
              <a:blipFill>
                <a:blip r:embed="rId3"/>
                <a:stretch>
                  <a:fillRect l="-962" t="-1355" r="-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62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例題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43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スクリーン座標系での点</a:t>
            </a:r>
            <a:r>
              <a:rPr lang="en-US" altLang="ja-JP" sz="2400" dirty="0"/>
              <a:t>P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blipFill>
                  <a:blip r:embed="rId2"/>
                  <a:stretch>
                    <a:fillRect r="-508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/>
              <p:nvPr/>
            </p:nvSpPr>
            <p:spPr>
              <a:xfrm>
                <a:off x="5098017" y="2404340"/>
                <a:ext cx="6340197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000" b="1" dirty="0">
                    <a:solidFill>
                      <a:srgbClr val="FF0000"/>
                    </a:solidFill>
                  </a:rPr>
                  <a:t>■回答</a:t>
                </a:r>
                <a:endParaRPr kumimoji="1" lang="en-US" altLang="ja-JP" sz="20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000" dirty="0"/>
                  <a:t>スクリーン座標系なので、</a:t>
                </a:r>
                <a:endParaRPr kumimoji="1" lang="en-US" altLang="ja-JP" sz="2000" dirty="0"/>
              </a:p>
              <a:p>
                <a:r>
                  <a:rPr kumimoji="1" lang="ja-JP" altLang="en-US" sz="2000" dirty="0"/>
                  <a:t>右に行くほどプラス、下に行くほどプラスとなる。</a:t>
                </a:r>
                <a:endParaRPr kumimoji="1" lang="en-US" altLang="ja-JP" sz="2000" dirty="0"/>
              </a:p>
              <a:p>
                <a:endParaRPr lang="en-US" altLang="ja-JP" sz="2000" dirty="0"/>
              </a:p>
              <a:p>
                <a:r>
                  <a:rPr kumimoji="1" lang="ja-JP" altLang="en-US" sz="2000" dirty="0"/>
                  <a:t>点Ｐは右に３メモリ、上に４メモ</a:t>
                </a:r>
                <a:r>
                  <a:rPr lang="ja-JP" altLang="en-US" sz="2000" dirty="0"/>
                  <a:t>リの位置になるので</a:t>
                </a:r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(3, −4)</m:t>
                    </m:r>
                  </m:oMath>
                </a14:m>
                <a:r>
                  <a:rPr kumimoji="1" lang="ja-JP" altLang="en-US" sz="2000" dirty="0"/>
                  <a:t>となる。</a:t>
                </a:r>
                <a:endParaRPr kumimoji="1" lang="en-US" altLang="ja-JP" sz="2000" dirty="0"/>
              </a:p>
              <a:p>
                <a:endParaRPr kumimoji="1" lang="en-US" altLang="ja-JP" sz="2000" dirty="0"/>
              </a:p>
              <a:p>
                <a:r>
                  <a:rPr kumimoji="1" lang="en-US" altLang="ja-JP" sz="2000" b="1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sz="2000" b="1" dirty="0">
                    <a:solidFill>
                      <a:srgbClr val="FF0000"/>
                    </a:solidFill>
                  </a:rPr>
                  <a:t>プラスの方向の逆はマイナスとなります</a:t>
                </a:r>
                <a:endParaRPr kumimoji="1" lang="en-US" altLang="ja-JP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017" y="2404340"/>
                <a:ext cx="6340197" cy="2554545"/>
              </a:xfrm>
              <a:prstGeom prst="rect">
                <a:avLst/>
              </a:prstGeom>
              <a:blipFill>
                <a:blip r:embed="rId3"/>
                <a:stretch>
                  <a:fillRect l="-962" t="-1193" r="-385" b="-33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01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66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デカルト座標系で以下の点</a:t>
            </a:r>
            <a:r>
              <a:rPr lang="en-US" altLang="ja-JP" sz="2400" dirty="0"/>
              <a:t>A</a:t>
            </a:r>
            <a:r>
              <a:rPr lang="ja-JP" altLang="en-US" sz="2400" dirty="0"/>
              <a:t>～</a:t>
            </a:r>
            <a:r>
              <a:rPr lang="en-US" altLang="ja-JP" sz="2400" dirty="0"/>
              <a:t>D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168015" y="4165917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29334" y="4188777"/>
                <a:ext cx="238681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0"/>
              </p:cNvCxnSpPr>
              <p:nvPr/>
            </p:nvCxnSpPr>
            <p:spPr>
              <a:xfrm>
                <a:off x="3190875" y="3976382"/>
                <a:ext cx="0" cy="18953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16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楕円 48">
            <a:extLst>
              <a:ext uri="{FF2B5EF4-FFF2-40B4-BE49-F238E27FC236}">
                <a16:creationId xmlns:a16="http://schemas.microsoft.com/office/drawing/2014/main" id="{A0C7D971-6CF8-4FFD-907F-D905A30650EA}"/>
              </a:ext>
            </a:extLst>
          </p:cNvPr>
          <p:cNvSpPr/>
          <p:nvPr/>
        </p:nvSpPr>
        <p:spPr>
          <a:xfrm>
            <a:off x="2352711" y="36641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5970E43-A143-48B6-AAAC-8AB746EFC59D}"/>
              </a:ext>
            </a:extLst>
          </p:cNvPr>
          <p:cNvCxnSpPr>
            <a:cxnSpLocks/>
          </p:cNvCxnSpPr>
          <p:nvPr/>
        </p:nvCxnSpPr>
        <p:spPr>
          <a:xfrm flipH="1">
            <a:off x="2411003" y="3687043"/>
            <a:ext cx="30055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69C64E59-A40E-4AB9-A921-CB7959B07670}"/>
              </a:ext>
            </a:extLst>
          </p:cNvPr>
          <p:cNvCxnSpPr>
            <a:cxnSpLocks/>
            <a:endCxn id="49" idx="0"/>
          </p:cNvCxnSpPr>
          <p:nvPr/>
        </p:nvCxnSpPr>
        <p:spPr>
          <a:xfrm flipV="1">
            <a:off x="2375571" y="3664183"/>
            <a:ext cx="0" cy="8079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楕円 54">
            <a:extLst>
              <a:ext uri="{FF2B5EF4-FFF2-40B4-BE49-F238E27FC236}">
                <a16:creationId xmlns:a16="http://schemas.microsoft.com/office/drawing/2014/main" id="{B6FB4535-9F03-4B41-BBC2-54C8AFD57F9E}"/>
              </a:ext>
            </a:extLst>
          </p:cNvPr>
          <p:cNvSpPr/>
          <p:nvPr/>
        </p:nvSpPr>
        <p:spPr>
          <a:xfrm>
            <a:off x="2047564" y="48051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9AF66C1-54CF-4114-80ED-81108AF9F0D5}"/>
              </a:ext>
            </a:extLst>
          </p:cNvPr>
          <p:cNvCxnSpPr>
            <a:cxnSpLocks/>
            <a:endCxn id="55" idx="6"/>
          </p:cNvCxnSpPr>
          <p:nvPr/>
        </p:nvCxnSpPr>
        <p:spPr>
          <a:xfrm flipH="1" flipV="1">
            <a:off x="2093283" y="4827988"/>
            <a:ext cx="618277" cy="364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5BC10A6-6A95-4B7A-8285-A271DD2BFAA9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2070424" y="4481678"/>
            <a:ext cx="0" cy="3234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/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/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楕円 51">
            <a:extLst>
              <a:ext uri="{FF2B5EF4-FFF2-40B4-BE49-F238E27FC236}">
                <a16:creationId xmlns:a16="http://schemas.microsoft.com/office/drawing/2014/main" id="{F8F0C49A-308C-473B-8F19-5812B02035CD}"/>
              </a:ext>
            </a:extLst>
          </p:cNvPr>
          <p:cNvSpPr/>
          <p:nvPr/>
        </p:nvSpPr>
        <p:spPr>
          <a:xfrm>
            <a:off x="2686005" y="54233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510A66A1-D95B-4796-A5F4-5176658656F8}"/>
                  </a:ext>
                </a:extLst>
              </p:cNvPr>
              <p:cNvSpPr txBox="1"/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510A66A1-D95B-4796-A5F4-517665865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868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73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スクリーン座標系で以下の点</a:t>
            </a:r>
            <a:r>
              <a:rPr lang="en-US" altLang="ja-JP" sz="2400" dirty="0"/>
              <a:t>A</a:t>
            </a:r>
            <a:r>
              <a:rPr lang="ja-JP" altLang="en-US" sz="2400" dirty="0"/>
              <a:t>～</a:t>
            </a:r>
            <a:r>
              <a:rPr lang="en-US" altLang="ja-JP" sz="2400" dirty="0"/>
              <a:t>D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168015" y="4165917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29334" y="4188777"/>
                <a:ext cx="238681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0"/>
              </p:cNvCxnSpPr>
              <p:nvPr/>
            </p:nvCxnSpPr>
            <p:spPr>
              <a:xfrm>
                <a:off x="3190875" y="3976382"/>
                <a:ext cx="0" cy="18953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16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楕円 48">
            <a:extLst>
              <a:ext uri="{FF2B5EF4-FFF2-40B4-BE49-F238E27FC236}">
                <a16:creationId xmlns:a16="http://schemas.microsoft.com/office/drawing/2014/main" id="{A0C7D971-6CF8-4FFD-907F-D905A30650EA}"/>
              </a:ext>
            </a:extLst>
          </p:cNvPr>
          <p:cNvSpPr/>
          <p:nvPr/>
        </p:nvSpPr>
        <p:spPr>
          <a:xfrm>
            <a:off x="2352711" y="36641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5970E43-A143-48B6-AAAC-8AB746EFC59D}"/>
              </a:ext>
            </a:extLst>
          </p:cNvPr>
          <p:cNvCxnSpPr>
            <a:cxnSpLocks/>
          </p:cNvCxnSpPr>
          <p:nvPr/>
        </p:nvCxnSpPr>
        <p:spPr>
          <a:xfrm flipH="1">
            <a:off x="2411003" y="3687043"/>
            <a:ext cx="30055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69C64E59-A40E-4AB9-A921-CB7959B07670}"/>
              </a:ext>
            </a:extLst>
          </p:cNvPr>
          <p:cNvCxnSpPr>
            <a:cxnSpLocks/>
            <a:endCxn id="49" idx="0"/>
          </p:cNvCxnSpPr>
          <p:nvPr/>
        </p:nvCxnSpPr>
        <p:spPr>
          <a:xfrm flipV="1">
            <a:off x="2375571" y="3664183"/>
            <a:ext cx="0" cy="8079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楕円 54">
            <a:extLst>
              <a:ext uri="{FF2B5EF4-FFF2-40B4-BE49-F238E27FC236}">
                <a16:creationId xmlns:a16="http://schemas.microsoft.com/office/drawing/2014/main" id="{B6FB4535-9F03-4B41-BBC2-54C8AFD57F9E}"/>
              </a:ext>
            </a:extLst>
          </p:cNvPr>
          <p:cNvSpPr/>
          <p:nvPr/>
        </p:nvSpPr>
        <p:spPr>
          <a:xfrm>
            <a:off x="2047564" y="48051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9AF66C1-54CF-4114-80ED-81108AF9F0D5}"/>
              </a:ext>
            </a:extLst>
          </p:cNvPr>
          <p:cNvCxnSpPr>
            <a:cxnSpLocks/>
            <a:endCxn id="55" idx="6"/>
          </p:cNvCxnSpPr>
          <p:nvPr/>
        </p:nvCxnSpPr>
        <p:spPr>
          <a:xfrm flipH="1" flipV="1">
            <a:off x="2093283" y="4827988"/>
            <a:ext cx="618277" cy="364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5BC10A6-6A95-4B7A-8285-A271DD2BFAA9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2070424" y="4481678"/>
            <a:ext cx="0" cy="3234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/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/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楕円 51">
            <a:extLst>
              <a:ext uri="{FF2B5EF4-FFF2-40B4-BE49-F238E27FC236}">
                <a16:creationId xmlns:a16="http://schemas.microsoft.com/office/drawing/2014/main" id="{125733C3-D5C0-47BC-A394-2E5BAC69D45E}"/>
              </a:ext>
            </a:extLst>
          </p:cNvPr>
          <p:cNvSpPr/>
          <p:nvPr/>
        </p:nvSpPr>
        <p:spPr>
          <a:xfrm>
            <a:off x="2686005" y="54233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8A09B080-8996-429A-B6F6-25A372E37C06}"/>
                  </a:ext>
                </a:extLst>
              </p:cNvPr>
              <p:cNvSpPr txBox="1"/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8A09B080-8996-429A-B6F6-25A372E37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30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464</Words>
  <Application>Microsoft Office PowerPoint</Application>
  <PresentationFormat>ワイド画面</PresentationFormat>
  <Paragraphs>69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20</cp:revision>
  <dcterms:created xsi:type="dcterms:W3CDTF">2024-08-27T02:15:54Z</dcterms:created>
  <dcterms:modified xsi:type="dcterms:W3CDTF">2025-06-10T00:48:29Z</dcterms:modified>
</cp:coreProperties>
</file>