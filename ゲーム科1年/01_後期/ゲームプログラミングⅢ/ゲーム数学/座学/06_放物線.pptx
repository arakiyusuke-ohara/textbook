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C983604-EB14-4CDF-BCAF-AC3C97E53081}"/>
              </a:ext>
            </a:extLst>
          </p:cNvPr>
          <p:cNvSpPr/>
          <p:nvPr/>
        </p:nvSpPr>
        <p:spPr>
          <a:xfrm>
            <a:off x="386817" y="2107167"/>
            <a:ext cx="9375249" cy="433596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</a:t>
                </a:r>
                <a:r>
                  <a:rPr kumimoji="1" lang="ja-JP" altLang="en-US" sz="2400" dirty="0"/>
                  <a:t>は直線と同様に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方程式で定義</a:t>
                </a:r>
                <a:r>
                  <a:rPr kumimoji="1" lang="ja-JP" altLang="en-US" sz="2400" dirty="0"/>
                  <a:t>することができます。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直線と違うところは、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形状によって方程式が変わる</a:t>
                </a:r>
                <a:r>
                  <a:rPr lang="ja-JP" altLang="en-US" sz="2400" dirty="0"/>
                  <a:t>ことです。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■対象軸が鉛直な放物線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■対象軸が水平な放物線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ja-JP" sz="2400" dirty="0"/>
              </a:p>
              <a:p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4893647"/>
              </a:xfrm>
              <a:prstGeom prst="rect">
                <a:avLst/>
              </a:prstGeom>
              <a:blipFill>
                <a:blip r:embed="rId2"/>
                <a:stretch>
                  <a:fillRect l="-1039" t="-998" r="-1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5B8FE2F-FC66-4962-9318-9B9028BE49EE}"/>
              </a:ext>
            </a:extLst>
          </p:cNvPr>
          <p:cNvGrpSpPr/>
          <p:nvPr/>
        </p:nvGrpSpPr>
        <p:grpSpPr>
          <a:xfrm>
            <a:off x="6096000" y="2318143"/>
            <a:ext cx="1234997" cy="3151884"/>
            <a:chOff x="7430831" y="2636520"/>
            <a:chExt cx="1234997" cy="3151884"/>
          </a:xfrm>
        </p:grpSpPr>
        <p:sp>
          <p:nvSpPr>
            <p:cNvPr id="11" name="円弧 10">
              <a:extLst>
                <a:ext uri="{FF2B5EF4-FFF2-40B4-BE49-F238E27FC236}">
                  <a16:creationId xmlns:a16="http://schemas.microsoft.com/office/drawing/2014/main" id="{F1BF5774-998A-4F78-BF3D-7BEF5EEF2D88}"/>
                </a:ext>
              </a:extLst>
            </p:cNvPr>
            <p:cNvSpPr/>
            <p:nvPr/>
          </p:nvSpPr>
          <p:spPr>
            <a:xfrm rot="16200000">
              <a:off x="6884074" y="4006650"/>
              <a:ext cx="2634144" cy="929364"/>
            </a:xfrm>
            <a:prstGeom prst="arc">
              <a:avLst>
                <a:gd name="adj1" fmla="val 16200000"/>
                <a:gd name="adj2" fmla="val 5432739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6425268-8876-4F94-95D5-6B3961E0B4E7}"/>
                    </a:ext>
                  </a:extLst>
                </p:cNvPr>
                <p:cNvSpPr txBox="1"/>
                <p:nvPr/>
              </p:nvSpPr>
              <p:spPr>
                <a:xfrm>
                  <a:off x="7430831" y="2784928"/>
                  <a:ext cx="79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6425268-8876-4F94-95D5-6B3961E0B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0831" y="2784928"/>
                  <a:ext cx="79489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C6351BC-6D7A-4481-9A98-60983D2730C9}"/>
                </a:ext>
              </a:extLst>
            </p:cNvPr>
            <p:cNvSpPr/>
            <p:nvPr/>
          </p:nvSpPr>
          <p:spPr>
            <a:xfrm>
              <a:off x="8180009" y="3114199"/>
              <a:ext cx="45719" cy="477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302DE7D3-3550-4E85-89AD-E08ACEDC4EBD}"/>
                </a:ext>
              </a:extLst>
            </p:cNvPr>
            <p:cNvCxnSpPr/>
            <p:nvPr/>
          </p:nvCxnSpPr>
          <p:spPr>
            <a:xfrm>
              <a:off x="8195249" y="2636520"/>
              <a:ext cx="0" cy="189738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8BFFA90F-C09E-4E1B-8782-CCF3D191F018}"/>
                    </a:ext>
                  </a:extLst>
                </p:cNvPr>
                <p:cNvSpPr txBox="1"/>
                <p:nvPr/>
              </p:nvSpPr>
              <p:spPr>
                <a:xfrm>
                  <a:off x="7788054" y="4493839"/>
                  <a:ext cx="8143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8BFFA90F-C09E-4E1B-8782-CCF3D191F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8054" y="4493839"/>
                  <a:ext cx="81439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74E5A5F0-A8E8-444C-85C2-1DB32918A0EA}"/>
              </a:ext>
            </a:extLst>
          </p:cNvPr>
          <p:cNvGrpSpPr/>
          <p:nvPr/>
        </p:nvGrpSpPr>
        <p:grpSpPr>
          <a:xfrm>
            <a:off x="5702910" y="5095164"/>
            <a:ext cx="3256173" cy="929364"/>
            <a:chOff x="5314955" y="5093490"/>
            <a:chExt cx="3256173" cy="929364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35512672-340F-41B1-9587-970C42AD62CD}"/>
                </a:ext>
              </a:extLst>
            </p:cNvPr>
            <p:cNvGrpSpPr/>
            <p:nvPr/>
          </p:nvGrpSpPr>
          <p:grpSpPr>
            <a:xfrm rot="5400000">
              <a:off x="6426215" y="3982230"/>
              <a:ext cx="929364" cy="3151884"/>
              <a:chOff x="7736464" y="2636520"/>
              <a:chExt cx="929364" cy="3151884"/>
            </a:xfrm>
          </p:grpSpPr>
          <p:sp>
            <p:nvSpPr>
              <p:cNvPr id="24" name="円弧 23">
                <a:extLst>
                  <a:ext uri="{FF2B5EF4-FFF2-40B4-BE49-F238E27FC236}">
                    <a16:creationId xmlns:a16="http://schemas.microsoft.com/office/drawing/2014/main" id="{11412E28-59D9-49C4-AB21-77E202343928}"/>
                  </a:ext>
                </a:extLst>
              </p:cNvPr>
              <p:cNvSpPr/>
              <p:nvPr/>
            </p:nvSpPr>
            <p:spPr>
              <a:xfrm rot="16200000">
                <a:off x="6884074" y="4006650"/>
                <a:ext cx="2634144" cy="929364"/>
              </a:xfrm>
              <a:prstGeom prst="arc">
                <a:avLst>
                  <a:gd name="adj1" fmla="val 16200000"/>
                  <a:gd name="adj2" fmla="val 5432739"/>
                </a:avLst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368C7645-CEA1-4975-A1EB-566096F59E4A}"/>
                  </a:ext>
                </a:extLst>
              </p:cNvPr>
              <p:cNvSpPr/>
              <p:nvPr/>
            </p:nvSpPr>
            <p:spPr>
              <a:xfrm>
                <a:off x="8180009" y="3114199"/>
                <a:ext cx="45719" cy="4777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734725F7-DE84-48DA-B429-CDE57E6BDF65}"/>
                  </a:ext>
                </a:extLst>
              </p:cNvPr>
              <p:cNvCxnSpPr/>
              <p:nvPr/>
            </p:nvCxnSpPr>
            <p:spPr>
              <a:xfrm>
                <a:off x="8195249" y="2636520"/>
                <a:ext cx="0" cy="189738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D120C74-A33C-459E-BCE6-6C0F07FDFC5F}"/>
                    </a:ext>
                  </a:extLst>
                </p:cNvPr>
                <p:cNvSpPr txBox="1"/>
                <p:nvPr/>
              </p:nvSpPr>
              <p:spPr>
                <a:xfrm>
                  <a:off x="7776231" y="5162370"/>
                  <a:ext cx="79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D120C74-A33C-459E-BCE6-6C0F07FDF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231" y="5162370"/>
                  <a:ext cx="79489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BF54D55-2471-4066-842B-A38429A3A5CF}"/>
                    </a:ext>
                  </a:extLst>
                </p:cNvPr>
                <p:cNvSpPr txBox="1"/>
                <p:nvPr/>
              </p:nvSpPr>
              <p:spPr>
                <a:xfrm>
                  <a:off x="5865955" y="5347036"/>
                  <a:ext cx="8143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BF54D55-2471-4066-842B-A38429A3A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955" y="5347036"/>
                  <a:ext cx="8143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8224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放物線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の頂点座標と対象軸の式を求めなさい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ja-JP" altLang="en-US" sz="2400" b="0" dirty="0"/>
                  <a:t>においての頂点座標は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なので、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頂点座標は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となる。</a:t>
                </a:r>
                <a:endParaRPr kumimoji="1" lang="en-US" altLang="ja-JP" sz="2400" b="0" dirty="0"/>
              </a:p>
              <a:p>
                <a:r>
                  <a:rPr kumimoji="1" lang="ja-JP" altLang="en-US" sz="2400" dirty="0"/>
                  <a:t>また対象軸は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ja-JP" altLang="en-US" sz="2400" dirty="0"/>
                  <a:t>なので</a:t>
                </a:r>
                <a:r>
                  <a:rPr lang="ja-JP" altLang="en-US" sz="2400" dirty="0"/>
                  <a:t>対象軸は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特に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座標のプラスマイナスには気をつけましょう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82249" cy="3046988"/>
              </a:xfrm>
              <a:prstGeom prst="rect">
                <a:avLst/>
              </a:prstGeom>
              <a:blipFill>
                <a:blip r:embed="rId2"/>
                <a:stretch>
                  <a:fillRect l="-1053" t="-1403" r="-140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6644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放物線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の頂点座標と対象軸の式を求めなさい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ja-JP" altLang="en-US" sz="2400" b="0" dirty="0"/>
                  <a:t>においての頂点座標は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なので、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頂点座標は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となる。</a:t>
                </a:r>
                <a:endParaRPr kumimoji="1" lang="en-US" altLang="ja-JP" sz="2400" b="0" dirty="0"/>
              </a:p>
              <a:p>
                <a:r>
                  <a:rPr kumimoji="1" lang="ja-JP" altLang="en-US" sz="2400" dirty="0"/>
                  <a:t>また対象軸は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ja-JP" altLang="en-US" sz="2400" dirty="0"/>
                  <a:t>なので</a:t>
                </a:r>
                <a:r>
                  <a:rPr lang="ja-JP" altLang="en-US" sz="2400" dirty="0"/>
                  <a:t>対象軸は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特に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Y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座標のプラスマイナスには気をつけましょう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鉛直の放物線とは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h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と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k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の位置が変わっています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66449" cy="3416320"/>
              </a:xfrm>
              <a:prstGeom prst="rect">
                <a:avLst/>
              </a:prstGeom>
              <a:blipFill>
                <a:blip r:embed="rId2"/>
                <a:stretch>
                  <a:fillRect l="-1162" t="-1250" r="-232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28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次の放物線の頂点座標と対象軸を求めなさい</a:t>
                </a:r>
                <a:endParaRPr kumimoji="1"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−4)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=−3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2677656"/>
              </a:xfrm>
              <a:prstGeom prst="rect">
                <a:avLst/>
              </a:prstGeom>
              <a:blipFill>
                <a:blip r:embed="rId2"/>
                <a:stretch>
                  <a:fillRect l="-1635" t="-1822" r="-577" b="-52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63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直線の坂道と同様に、</a:t>
            </a:r>
            <a:endParaRPr kumimoji="1" lang="en-US" altLang="ja-JP" sz="2400" dirty="0"/>
          </a:p>
          <a:p>
            <a:r>
              <a:rPr kumimoji="1" lang="ja-JP" altLang="en-US" sz="2400" dirty="0"/>
              <a:t>ゲームではキャラクターなどを放物線上に移動させるときに必要です。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2397C46-0BC3-4B9C-93DB-E71BA7951E5C}"/>
              </a:ext>
            </a:extLst>
          </p:cNvPr>
          <p:cNvGrpSpPr/>
          <p:nvPr/>
        </p:nvGrpSpPr>
        <p:grpSpPr>
          <a:xfrm>
            <a:off x="567542" y="2203162"/>
            <a:ext cx="2601070" cy="5214825"/>
            <a:chOff x="4183380" y="2564764"/>
            <a:chExt cx="2601070" cy="5214825"/>
          </a:xfrm>
        </p:grpSpPr>
        <p:sp>
          <p:nvSpPr>
            <p:cNvPr id="5" name="円弧 4">
              <a:extLst>
                <a:ext uri="{FF2B5EF4-FFF2-40B4-BE49-F238E27FC236}">
                  <a16:creationId xmlns:a16="http://schemas.microsoft.com/office/drawing/2014/main" id="{607D3EA8-B5D3-4DC2-B925-083E7280574D}"/>
                </a:ext>
              </a:extLst>
            </p:cNvPr>
            <p:cNvSpPr/>
            <p:nvPr/>
          </p:nvSpPr>
          <p:spPr>
            <a:xfrm rot="16200000">
              <a:off x="2827514" y="4419105"/>
              <a:ext cx="4830650" cy="1890317"/>
            </a:xfrm>
            <a:prstGeom prst="arc">
              <a:avLst>
                <a:gd name="adj1" fmla="val 16200000"/>
                <a:gd name="adj2" fmla="val 5432739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D0A5B60C-CBC7-43AC-A119-5934BE0A2BB4}"/>
                    </a:ext>
                  </a:extLst>
                </p:cNvPr>
                <p:cNvSpPr txBox="1"/>
                <p:nvPr/>
              </p:nvSpPr>
              <p:spPr>
                <a:xfrm>
                  <a:off x="4183380" y="5641571"/>
                  <a:ext cx="24003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a14:m>
                  <a:r>
                    <a:rPr kumimoji="1" lang="ja-JP" altLang="en-US" sz="1800" dirty="0"/>
                    <a:t>の山</a:t>
                  </a:r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D0A5B60C-CBC7-43AC-A119-5934BE0A2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380" y="5641571"/>
                  <a:ext cx="240030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6557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スマイル 2">
              <a:extLst>
                <a:ext uri="{FF2B5EF4-FFF2-40B4-BE49-F238E27FC236}">
                  <a16:creationId xmlns:a16="http://schemas.microsoft.com/office/drawing/2014/main" id="{2CB89CDC-4E5B-44DD-813F-9FAB0E622B3B}"/>
                </a:ext>
              </a:extLst>
            </p:cNvPr>
            <p:cNvSpPr/>
            <p:nvPr/>
          </p:nvSpPr>
          <p:spPr>
            <a:xfrm>
              <a:off x="4610100" y="5082323"/>
              <a:ext cx="274320" cy="28194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F696C615-658C-426D-9208-141AB84A729C}"/>
                </a:ext>
              </a:extLst>
            </p:cNvPr>
            <p:cNvSpPr/>
            <p:nvPr/>
          </p:nvSpPr>
          <p:spPr>
            <a:xfrm>
              <a:off x="4610100" y="2941103"/>
              <a:ext cx="274320" cy="28194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37D2EF0-BAA9-49A9-A79E-8C7A22F4D6EA}"/>
                </a:ext>
              </a:extLst>
            </p:cNvPr>
            <p:cNvSpPr txBox="1"/>
            <p:nvPr/>
          </p:nvSpPr>
          <p:spPr>
            <a:xfrm>
              <a:off x="4384150" y="4766709"/>
              <a:ext cx="2400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/>
                <a:t>X</a:t>
              </a:r>
              <a:r>
                <a:rPr kumimoji="1" lang="ja-JP" altLang="en-US" sz="1400" dirty="0"/>
                <a:t>座標が</a:t>
              </a:r>
              <a:r>
                <a:rPr kumimoji="1" lang="en-US" altLang="ja-JP" sz="1400" dirty="0"/>
                <a:t>2</a:t>
              </a:r>
              <a:r>
                <a:rPr kumimoji="1" lang="ja-JP" altLang="en-US" sz="1400" dirty="0"/>
                <a:t>だったら</a:t>
              </a:r>
              <a:endParaRPr kumimoji="1" lang="en-US" altLang="ja-JP" sz="14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A07DB59-0C1A-401A-AB61-D0E2CBCC5B6E}"/>
                </a:ext>
              </a:extLst>
            </p:cNvPr>
            <p:cNvSpPr txBox="1"/>
            <p:nvPr/>
          </p:nvSpPr>
          <p:spPr>
            <a:xfrm>
              <a:off x="4384150" y="2564764"/>
              <a:ext cx="2400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/>
                <a:t>Y</a:t>
              </a:r>
              <a:r>
                <a:rPr kumimoji="1" lang="ja-JP" altLang="en-US" sz="1400" dirty="0"/>
                <a:t>座標を</a:t>
              </a:r>
              <a:r>
                <a:rPr kumimoji="1" lang="en-US" altLang="ja-JP" sz="1400" dirty="0"/>
                <a:t>27</a:t>
              </a:r>
              <a:r>
                <a:rPr kumimoji="1" lang="ja-JP" altLang="en-US" sz="1400" dirty="0"/>
                <a:t>に押し上げる</a:t>
              </a:r>
              <a:endParaRPr kumimoji="1" lang="en-US" altLang="ja-JP" sz="1400" dirty="0"/>
            </a:p>
          </p:txBody>
        </p:sp>
      </p:grp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63D6567-D6BE-431B-8BF4-EB6B692C7F4A}"/>
              </a:ext>
            </a:extLst>
          </p:cNvPr>
          <p:cNvCxnSpPr>
            <a:stCxn id="3" idx="0"/>
            <a:endCxn id="8" idx="4"/>
          </p:cNvCxnSpPr>
          <p:nvPr/>
        </p:nvCxnSpPr>
        <p:spPr>
          <a:xfrm flipV="1">
            <a:off x="1131422" y="2861441"/>
            <a:ext cx="0" cy="185928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8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365</Words>
  <Application>Microsoft Office PowerPoint</Application>
  <PresentationFormat>ワイド画面</PresentationFormat>
  <Paragraphs>50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56</cp:revision>
  <dcterms:created xsi:type="dcterms:W3CDTF">2024-08-27T02:15:54Z</dcterms:created>
  <dcterms:modified xsi:type="dcterms:W3CDTF">2025-06-19T01:29:46Z</dcterms:modified>
</cp:coreProperties>
</file>