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バレットが斜めから壁に入ってきたとします。</a:t>
            </a:r>
            <a:endParaRPr lang="en-US" altLang="ja-JP" sz="2400" dirty="0"/>
          </a:p>
          <a:p>
            <a:r>
              <a:rPr kumimoji="1" lang="ja-JP" altLang="en-US" sz="2400" dirty="0"/>
              <a:t>この時のベクトルを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</a:t>
            </a:r>
            <a:r>
              <a:rPr kumimoji="1" lang="ja-JP" altLang="en-US" sz="2400" dirty="0"/>
              <a:t>とします。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22F826EF-A5C7-482A-95C6-607021FA4574}"/>
              </a:ext>
            </a:extLst>
          </p:cNvPr>
          <p:cNvCxnSpPr>
            <a:cxnSpLocks/>
          </p:cNvCxnSpPr>
          <p:nvPr/>
        </p:nvCxnSpPr>
        <p:spPr>
          <a:xfrm flipH="1">
            <a:off x="2632526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31617E-0B4D-4112-9669-7AA7A3C92641}"/>
              </a:ext>
            </a:extLst>
          </p:cNvPr>
          <p:cNvSpPr txBox="1"/>
          <p:nvPr/>
        </p:nvSpPr>
        <p:spPr>
          <a:xfrm>
            <a:off x="3534858" y="349346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入射ベクトル</a:t>
            </a:r>
            <a:endParaRPr kumimoji="1" lang="en-US" altLang="ja-JP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4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反射ベクトルを求めるには、まず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入射ベクトルを反転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9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反転したベクトルと法線ベクトルの内積</a:t>
            </a:r>
            <a:r>
              <a:rPr lang="ja-JP" altLang="en-US" sz="2400" dirty="0"/>
              <a:t>を計算すると、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横の投影</a:t>
            </a:r>
            <a:r>
              <a:rPr kumimoji="1" lang="ja-JP" altLang="en-US" sz="2400" dirty="0"/>
              <a:t>を計算することができます。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31617E-0B4D-4112-9669-7AA7A3C92641}"/>
              </a:ext>
            </a:extLst>
          </p:cNvPr>
          <p:cNvSpPr txBox="1"/>
          <p:nvPr/>
        </p:nvSpPr>
        <p:spPr>
          <a:xfrm>
            <a:off x="2996538" y="461010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投影</a:t>
            </a:r>
            <a:endParaRPr kumimoji="1" lang="en-US" altLang="ja-JP" sz="2400" b="1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4518212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108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入射ベクトルをすべてのベクトルの根元</a:t>
            </a:r>
            <a:r>
              <a:rPr lang="ja-JP" altLang="en-US" sz="2400" dirty="0"/>
              <a:t>に合わせます。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4518212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9D7E47B-529B-4EAD-8C32-14C1C23A2A75}"/>
              </a:ext>
            </a:extLst>
          </p:cNvPr>
          <p:cNvCxnSpPr>
            <a:cxnSpLocks/>
          </p:cNvCxnSpPr>
          <p:nvPr/>
        </p:nvCxnSpPr>
        <p:spPr>
          <a:xfrm flipH="1">
            <a:off x="1062890" y="4500282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ECACC2-A5FB-4BAB-8F80-99050B7E51BF}"/>
              </a:ext>
            </a:extLst>
          </p:cNvPr>
          <p:cNvSpPr txBox="1"/>
          <p:nvPr/>
        </p:nvSpPr>
        <p:spPr>
          <a:xfrm>
            <a:off x="1124907" y="4178057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</a:rPr>
              <a:t>入射ベクトルを</a:t>
            </a:r>
            <a:endParaRPr lang="en-US" altLang="ja-JP" sz="1400" b="1" dirty="0">
              <a:solidFill>
                <a:srgbClr val="0070C0"/>
              </a:solidFill>
            </a:endParaRPr>
          </a:p>
          <a:p>
            <a:r>
              <a:rPr lang="ja-JP" altLang="en-US" sz="1400" b="1" dirty="0">
                <a:solidFill>
                  <a:srgbClr val="0070C0"/>
                </a:solidFill>
              </a:rPr>
              <a:t>根元に合わせる</a:t>
            </a:r>
            <a:endParaRPr kumimoji="1" lang="en-US" altLang="ja-JP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15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39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入射ベクトルの終点から投影の長さを</a:t>
            </a:r>
            <a:r>
              <a:rPr lang="en-US" altLang="ja-JP" sz="2400" b="1" dirty="0">
                <a:solidFill>
                  <a:srgbClr val="FF0000"/>
                </a:solidFill>
              </a:rPr>
              <a:t>2</a:t>
            </a:r>
            <a:r>
              <a:rPr lang="ja-JP" altLang="en-US" sz="2400" b="1" dirty="0">
                <a:solidFill>
                  <a:srgbClr val="FF0000"/>
                </a:solidFill>
              </a:rPr>
              <a:t>倍</a:t>
            </a:r>
            <a:r>
              <a:rPr lang="ja-JP" altLang="en-US" sz="2400" b="1" dirty="0"/>
              <a:t>にすると、</a:t>
            </a:r>
            <a:endParaRPr lang="en-US" altLang="ja-JP" sz="2400" b="1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反射ベクトルが求められます。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1617557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6257368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9D7E47B-529B-4EAD-8C32-14C1C23A2A75}"/>
              </a:ext>
            </a:extLst>
          </p:cNvPr>
          <p:cNvCxnSpPr>
            <a:cxnSpLocks/>
          </p:cNvCxnSpPr>
          <p:nvPr/>
        </p:nvCxnSpPr>
        <p:spPr>
          <a:xfrm flipH="1">
            <a:off x="1062890" y="4500282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DB13246-D4B0-406C-8BE9-2CDAB029AA1B}"/>
              </a:ext>
            </a:extLst>
          </p:cNvPr>
          <p:cNvCxnSpPr/>
          <p:nvPr/>
        </p:nvCxnSpPr>
        <p:spPr>
          <a:xfrm>
            <a:off x="1029964" y="6257366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ECACC2-A5FB-4BAB-8F80-99050B7E51BF}"/>
              </a:ext>
            </a:extLst>
          </p:cNvPr>
          <p:cNvSpPr txBox="1"/>
          <p:nvPr/>
        </p:nvSpPr>
        <p:spPr>
          <a:xfrm>
            <a:off x="83208" y="4978892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</a:rPr>
              <a:t>① 入射ベクトルから</a:t>
            </a:r>
            <a:endParaRPr kumimoji="1" lang="en-US" altLang="ja-JP" sz="1400" b="1" dirty="0">
              <a:solidFill>
                <a:srgbClr val="0070C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CD81C2-1994-4460-9675-D5E97F00368F}"/>
              </a:ext>
            </a:extLst>
          </p:cNvPr>
          <p:cNvSpPr txBox="1"/>
          <p:nvPr/>
        </p:nvSpPr>
        <p:spPr>
          <a:xfrm>
            <a:off x="319508" y="6434937"/>
            <a:ext cx="5186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/>
              <a:t>② </a:t>
            </a:r>
            <a:r>
              <a:rPr lang="ja-JP" altLang="en-US" sz="1400" b="1" dirty="0">
                <a:solidFill>
                  <a:srgbClr val="00B050"/>
                </a:solidFill>
              </a:rPr>
              <a:t>法線の向き</a:t>
            </a:r>
            <a:r>
              <a:rPr lang="ja-JP" altLang="en-US" sz="1400" b="1" dirty="0"/>
              <a:t>に投影の分の</a:t>
            </a:r>
            <a:r>
              <a:rPr lang="en-US" altLang="ja-JP" sz="1400" b="1" dirty="0"/>
              <a:t>2</a:t>
            </a:r>
            <a:r>
              <a:rPr lang="ja-JP" altLang="en-US" sz="1400" b="1" dirty="0"/>
              <a:t>倍移動すると</a:t>
            </a:r>
            <a:r>
              <a:rPr lang="ja-JP" altLang="en-US" sz="1400" b="1" dirty="0">
                <a:solidFill>
                  <a:srgbClr val="FF0000"/>
                </a:solidFill>
              </a:rPr>
              <a:t>目的地</a:t>
            </a:r>
            <a:r>
              <a:rPr lang="ja-JP" altLang="en-US" sz="1400" b="1" dirty="0"/>
              <a:t>にたどり着く</a:t>
            </a:r>
            <a:endParaRPr kumimoji="1" lang="en-US" altLang="ja-JP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/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このことから以下の計算で、</a:t>
                </a:r>
                <a:endParaRPr lang="en-US" altLang="ja-JP" sz="2400" dirty="0"/>
              </a:p>
              <a:p>
                <a:r>
                  <a:rPr lang="ja-JP" altLang="en-US" sz="2400" dirty="0"/>
                  <a:t>反射ベクトルを計算できます。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ja-JP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・</m:t>
                          </m:r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rgbClr val="FF0000"/>
                  </a:solidFill>
                </a:endParaRPr>
              </a:p>
              <a:p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ja-JP" altLang="en-US" sz="2400" dirty="0"/>
                  <a:t>・・・反射ベクトル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ja-JP" altLang="en-US" sz="2400" dirty="0"/>
                  <a:t>・・・入射ベクトル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 sz="2400" dirty="0"/>
                  <a:t>・・・法線ベクトル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blipFill>
                <a:blip r:embed="rId2"/>
                <a:stretch>
                  <a:fillRect l="-2033" t="-1822" r="-1084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8B2065-5043-4B8A-A53E-AC72010C7DDD}"/>
              </a:ext>
            </a:extLst>
          </p:cNvPr>
          <p:cNvSpPr txBox="1"/>
          <p:nvPr/>
        </p:nvSpPr>
        <p:spPr>
          <a:xfrm>
            <a:off x="3371626" y="48550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反射ベクトル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9565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反射ベクトル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3402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・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kumimoji="1" lang="ja-JP" altLang="en-US" sz="2400" b="0" dirty="0"/>
                  <a:t>この公式から反射ベクトルを求めましょう。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■問題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/>
                  <a:t>ベクトル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[30, 50]</m:t>
                    </m:r>
                  </m:oMath>
                </a14:m>
                <a:r>
                  <a:rPr kumimoji="1" lang="ja-JP" altLang="en-US" sz="2400" b="0" dirty="0"/>
                  <a:t>の向きに地面に衝突した弾丸の反射ベクトルを求めなさい。</a:t>
                </a:r>
              </a:p>
              <a:p>
                <a:r>
                  <a:rPr kumimoji="1" lang="ja-JP" altLang="en-US" sz="2400" b="0" dirty="0"/>
                  <a:t>ただし地面の角度は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40°</m:t>
                    </m:r>
                  </m:oMath>
                </a14:m>
                <a:r>
                  <a:rPr kumimoji="1" lang="ja-JP" altLang="en-US" sz="2400" b="0" dirty="0"/>
                  <a:t>として、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40°= 0.6, </m:t>
                    </m:r>
                    <m:r>
                      <m:rPr>
                        <m:sty m:val="p"/>
                      </m:rP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40°= 0.8 </m:t>
                    </m:r>
                  </m:oMath>
                </a14:m>
                <a:r>
                  <a:rPr kumimoji="1" lang="ja-JP" altLang="en-US" sz="2400" b="0" dirty="0"/>
                  <a:t>とする。</a:t>
                </a:r>
              </a:p>
              <a:p>
                <a:endParaRPr kumimoji="1" lang="en-US" altLang="ja-JP" sz="2400" b="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/>
                  <a:t>地面の法線ベクトルは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6, 0.8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ja-JP" altLang="en-US" sz="2400" b="0" dirty="0"/>
                  <a:t>となる。</a:t>
                </a:r>
                <a:endParaRPr kumimoji="1"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34029" cy="3416320"/>
              </a:xfrm>
              <a:prstGeom prst="rect">
                <a:avLst/>
              </a:prstGeom>
              <a:blipFill>
                <a:blip r:embed="rId2"/>
                <a:stretch>
                  <a:fillRect l="-852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06F651B5-DE72-451B-8CB6-96DFA56044B5}"/>
              </a:ext>
            </a:extLst>
          </p:cNvPr>
          <p:cNvCxnSpPr>
            <a:cxnSpLocks/>
          </p:cNvCxnSpPr>
          <p:nvPr/>
        </p:nvCxnSpPr>
        <p:spPr>
          <a:xfrm flipV="1">
            <a:off x="1890981" y="5033837"/>
            <a:ext cx="1440000" cy="108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12F0A8D-E9AF-4FB2-AF6A-672E90FEC12D}"/>
              </a:ext>
            </a:extLst>
          </p:cNvPr>
          <p:cNvCxnSpPr>
            <a:cxnSpLocks/>
          </p:cNvCxnSpPr>
          <p:nvPr/>
        </p:nvCxnSpPr>
        <p:spPr>
          <a:xfrm>
            <a:off x="1118120" y="6130320"/>
            <a:ext cx="77192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7E99B27-141C-4FEA-83A5-EC6AE55AD139}"/>
              </a:ext>
            </a:extLst>
          </p:cNvPr>
          <p:cNvCxnSpPr>
            <a:cxnSpLocks/>
          </p:cNvCxnSpPr>
          <p:nvPr/>
        </p:nvCxnSpPr>
        <p:spPr>
          <a:xfrm flipV="1">
            <a:off x="1118121" y="4876800"/>
            <a:ext cx="0" cy="1237037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EC3868A-34E4-4C0E-A1E1-8FA10B6E2038}"/>
                  </a:ext>
                </a:extLst>
              </p:cNvPr>
              <p:cNvSpPr txBox="1"/>
              <p:nvPr/>
            </p:nvSpPr>
            <p:spPr>
              <a:xfrm>
                <a:off x="985630" y="6223231"/>
                <a:ext cx="9044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9EC3868A-34E4-4C0E-A1E1-8FA10B6E2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30" y="6223231"/>
                <a:ext cx="90441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70BF5885-99C4-4BDB-A4C1-3CD44F4611A9}"/>
                  </a:ext>
                </a:extLst>
              </p:cNvPr>
              <p:cNvSpPr txBox="1"/>
              <p:nvPr/>
            </p:nvSpPr>
            <p:spPr>
              <a:xfrm>
                <a:off x="457095" y="5408121"/>
                <a:ext cx="6751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altLang="ja-JP" sz="2400" b="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70BF5885-99C4-4BDB-A4C1-3CD44F461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95" y="5408121"/>
                <a:ext cx="67518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8911413-4B37-4243-9ECA-CA6511677E06}"/>
              </a:ext>
            </a:extLst>
          </p:cNvPr>
          <p:cNvCxnSpPr>
            <a:cxnSpLocks/>
          </p:cNvCxnSpPr>
          <p:nvPr/>
        </p:nvCxnSpPr>
        <p:spPr>
          <a:xfrm flipH="1" flipV="1">
            <a:off x="1118121" y="4876800"/>
            <a:ext cx="771924" cy="12450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50A66D00-7DA8-4376-9479-DDDAE52696D2}"/>
              </a:ext>
            </a:extLst>
          </p:cNvPr>
          <p:cNvCxnSpPr>
            <a:cxnSpLocks/>
          </p:cNvCxnSpPr>
          <p:nvPr/>
        </p:nvCxnSpPr>
        <p:spPr>
          <a:xfrm>
            <a:off x="1890045" y="6130320"/>
            <a:ext cx="144093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6D0E9AEA-EA8B-465D-B8E4-8CC8F4A5C1CD}"/>
              </a:ext>
            </a:extLst>
          </p:cNvPr>
          <p:cNvCxnSpPr>
            <a:cxnSpLocks/>
          </p:cNvCxnSpPr>
          <p:nvPr/>
        </p:nvCxnSpPr>
        <p:spPr>
          <a:xfrm flipV="1">
            <a:off x="3330981" y="5012421"/>
            <a:ext cx="0" cy="110141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8512231C-CB21-40AA-AEA4-112FD0B97E37}"/>
                  </a:ext>
                </a:extLst>
              </p:cNvPr>
              <p:cNvSpPr txBox="1"/>
              <p:nvPr/>
            </p:nvSpPr>
            <p:spPr>
              <a:xfrm>
                <a:off x="2272920" y="6219460"/>
                <a:ext cx="6751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US" altLang="ja-JP" sz="2400" b="0" dirty="0"/>
              </a:p>
            </p:txBody>
          </p:sp>
        </mc:Choice>
        <mc:Fallback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8512231C-CB21-40AA-AEA4-112FD0B97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920" y="6219460"/>
                <a:ext cx="67518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85879393-0F5D-433A-A415-A7BD7743E346}"/>
                  </a:ext>
                </a:extLst>
              </p:cNvPr>
              <p:cNvSpPr txBox="1"/>
              <p:nvPr/>
            </p:nvSpPr>
            <p:spPr>
              <a:xfrm>
                <a:off x="3330045" y="5433589"/>
                <a:ext cx="6751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US" altLang="ja-JP" sz="2400" b="0" dirty="0"/>
              </a:p>
            </p:txBody>
          </p:sp>
        </mc:Choice>
        <mc:Fallback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85879393-0F5D-433A-A415-A7BD7743E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045" y="5433589"/>
                <a:ext cx="67518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C4A6502-BB1A-43A8-9CD7-36DE01B121CD}"/>
              </a:ext>
            </a:extLst>
          </p:cNvPr>
          <p:cNvCxnSpPr>
            <a:cxnSpLocks/>
          </p:cNvCxnSpPr>
          <p:nvPr/>
        </p:nvCxnSpPr>
        <p:spPr>
          <a:xfrm flipV="1">
            <a:off x="1807369" y="5900136"/>
            <a:ext cx="109070" cy="100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54CB0945-F3A1-4D44-8EBC-7D5ABD2C6BC6}"/>
              </a:ext>
            </a:extLst>
          </p:cNvPr>
          <p:cNvCxnSpPr>
            <a:cxnSpLocks/>
          </p:cNvCxnSpPr>
          <p:nvPr/>
        </p:nvCxnSpPr>
        <p:spPr>
          <a:xfrm flipH="1" flipV="1">
            <a:off x="1916907" y="5895255"/>
            <a:ext cx="90487" cy="117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24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反射ベクトル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34029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・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kumimoji="1" lang="ja-JP" altLang="en-US" sz="2400" b="0" dirty="0"/>
                  <a:t>この公式から反射ベクトルを求めましょう。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■問題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/>
                  <a:t>ベクトル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[30, 50]</m:t>
                    </m:r>
                  </m:oMath>
                </a14:m>
                <a:r>
                  <a:rPr kumimoji="1" lang="ja-JP" altLang="en-US" sz="2400" b="0" dirty="0"/>
                  <a:t>の向きに地面に衝突した弾丸の反射ベクトルを求めなさい。</a:t>
                </a:r>
              </a:p>
              <a:p>
                <a:r>
                  <a:rPr kumimoji="1" lang="ja-JP" altLang="en-US" sz="2400" b="0" dirty="0"/>
                  <a:t>ただし地面の角度は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40°</m:t>
                    </m:r>
                  </m:oMath>
                </a14:m>
                <a:r>
                  <a:rPr kumimoji="1" lang="ja-JP" altLang="en-US" sz="2400" b="0" dirty="0"/>
                  <a:t>として、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40°= 0.6, </m:t>
                    </m:r>
                    <m:r>
                      <m:rPr>
                        <m:sty m:val="p"/>
                      </m:rP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40°= 0.8 </m:t>
                    </m:r>
                  </m:oMath>
                </a14:m>
                <a:r>
                  <a:rPr kumimoji="1" lang="ja-JP" altLang="en-US" sz="2400" b="0" dirty="0"/>
                  <a:t>とする。</a:t>
                </a:r>
              </a:p>
              <a:p>
                <a:endParaRPr kumimoji="1" lang="en-US" altLang="ja-JP" sz="2400" b="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公式に当てはめて計算すると、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=[30, 50]+2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30, 50</m:t>
                            </m:r>
                          </m:e>
                        </m:d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・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[−0.6, 0.8]</m:t>
                        </m:r>
                      </m:e>
                    </m:d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[−0.6, 0.8]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=[30, 50]+2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−22</m:t>
                        </m:r>
                      </m:e>
                    </m:d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[−0.6, 0.8]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=[30, 50]+</m:t>
                    </m:r>
                    <m:d>
                      <m:dPr>
                        <m:ctrlP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e>
                    </m:d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.6, 0.8]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=[30, 50]+ [26.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4, −35.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4]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=[56.4, 14.6]</m:t>
                    </m:r>
                  </m:oMath>
                </a14:m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34029" cy="5262979"/>
              </a:xfrm>
              <a:prstGeom prst="rect">
                <a:avLst/>
              </a:prstGeom>
              <a:blipFill>
                <a:blip r:embed="rId2"/>
                <a:stretch>
                  <a:fillRect l="-852" b="-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26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377</Words>
  <Application>Microsoft Office PowerPoint</Application>
  <PresentationFormat>ワイド画面</PresentationFormat>
  <Paragraphs>56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29</cp:revision>
  <dcterms:created xsi:type="dcterms:W3CDTF">2024-08-27T02:15:54Z</dcterms:created>
  <dcterms:modified xsi:type="dcterms:W3CDTF">2024-12-16T02:58:26Z</dcterms:modified>
</cp:coreProperties>
</file>