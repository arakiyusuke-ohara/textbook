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896166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ベクトルの表現方法には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種類あります。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■極座標ベクトル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=|</m:t>
                    </m:r>
                    <m:d>
                      <m:dPr>
                        <m:begChr m:val="|"/>
                        <m:endChr m:val="|"/>
                        <m:ctrlP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a:rPr lang="en-US" altLang="ja-JP" sz="2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|@</m:t>
                    </m:r>
                    <m:r>
                      <m:rPr>
                        <m:sty m:val="p"/>
                      </m:rPr>
                      <a:rPr lang="en-US" altLang="ja-JP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b="1" dirty="0"/>
              </a:p>
              <a:p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altLang="ja-JP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altLang="ja-JP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・・・ベクトルの長さ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・・・ベクトルの角度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■デカルト座標ベクトル（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2D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・・・ベクトル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成分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・・・</a:t>
                </a:r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2400" dirty="0"/>
                  <a:t>成分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896166" cy="4893647"/>
              </a:xfrm>
              <a:prstGeom prst="rect">
                <a:avLst/>
              </a:prstGeom>
              <a:blipFill>
                <a:blip r:embed="rId2"/>
                <a:stretch>
                  <a:fillRect l="-1551" t="-998" r="-724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7E808E6-633F-4C02-AA71-27B30B562224}"/>
              </a:ext>
            </a:extLst>
          </p:cNvPr>
          <p:cNvSpPr txBox="1"/>
          <p:nvPr/>
        </p:nvSpPr>
        <p:spPr>
          <a:xfrm>
            <a:off x="6463708" y="4540416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ゲームプログラムの変数としては、</a:t>
            </a:r>
            <a:endParaRPr lang="en-US" altLang="ja-JP" sz="2400" dirty="0"/>
          </a:p>
          <a:p>
            <a:r>
              <a:rPr lang="ja-JP" altLang="en-US" sz="2400" dirty="0">
                <a:solidFill>
                  <a:schemeClr val="tx1"/>
                </a:solidFill>
              </a:rPr>
              <a:t>デカルト座標ベクトルとして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管理することがほとんどです。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図で表すと以下の通りです。</a:t>
            </a:r>
            <a:endParaRPr lang="en-US" altLang="ja-JP" sz="2400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272425B1-3348-4134-8469-DA68DC993035}"/>
              </a:ext>
            </a:extLst>
          </p:cNvPr>
          <p:cNvGrpSpPr/>
          <p:nvPr/>
        </p:nvGrpSpPr>
        <p:grpSpPr>
          <a:xfrm>
            <a:off x="567542" y="1927056"/>
            <a:ext cx="3147272" cy="3945348"/>
            <a:chOff x="472132" y="1927056"/>
            <a:chExt cx="3147272" cy="3945348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7A87183-187D-4AC6-893E-BA12B781B61F}"/>
                </a:ext>
              </a:extLst>
            </p:cNvPr>
            <p:cNvGrpSpPr/>
            <p:nvPr/>
          </p:nvGrpSpPr>
          <p:grpSpPr>
            <a:xfrm>
              <a:off x="567542" y="2243920"/>
              <a:ext cx="2510769" cy="3166819"/>
              <a:chOff x="718992" y="2474753"/>
              <a:chExt cx="2510769" cy="3166819"/>
            </a:xfrm>
          </p:grpSpPr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E471C312-DE7F-4426-85E5-7CB94B118EF2}"/>
                  </a:ext>
                </a:extLst>
              </p:cNvPr>
              <p:cNvGrpSpPr/>
              <p:nvPr/>
            </p:nvGrpSpPr>
            <p:grpSpPr>
              <a:xfrm>
                <a:off x="718992" y="2474753"/>
                <a:ext cx="2510769" cy="3166819"/>
                <a:chOff x="758651" y="2499181"/>
                <a:chExt cx="1243652" cy="2014095"/>
              </a:xfrm>
            </p:grpSpPr>
            <p:cxnSp>
              <p:nvCxnSpPr>
                <p:cNvPr id="3" name="直線矢印コネクタ 2">
                  <a:extLst>
                    <a:ext uri="{FF2B5EF4-FFF2-40B4-BE49-F238E27FC236}">
                      <a16:creationId xmlns:a16="http://schemas.microsoft.com/office/drawing/2014/main" id="{02F3027A-1702-421B-90D9-C4AA552D73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0510" y="2499181"/>
                  <a:ext cx="1171793" cy="1663216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円弧 6">
                  <a:extLst>
                    <a:ext uri="{FF2B5EF4-FFF2-40B4-BE49-F238E27FC236}">
                      <a16:creationId xmlns:a16="http://schemas.microsoft.com/office/drawing/2014/main" id="{07DBC941-B3ED-4A44-9076-26A91112EB1D}"/>
                    </a:ext>
                  </a:extLst>
                </p:cNvPr>
                <p:cNvSpPr/>
                <p:nvPr/>
              </p:nvSpPr>
              <p:spPr>
                <a:xfrm>
                  <a:off x="758651" y="3942825"/>
                  <a:ext cx="411060" cy="570451"/>
                </a:xfrm>
                <a:prstGeom prst="arc">
                  <a:avLst>
                    <a:gd name="adj1" fmla="val 16693177"/>
                    <a:gd name="adj2" fmla="val 20957822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4A393F6F-2B82-49D6-9C37-EAB824B7CFD1}"/>
                      </a:ext>
                    </a:extLst>
                  </p:cNvPr>
                  <p:cNvSpPr txBox="1"/>
                  <p:nvPr/>
                </p:nvSpPr>
                <p:spPr>
                  <a:xfrm>
                    <a:off x="1328295" y="4513803"/>
                    <a:ext cx="44114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4A393F6F-2B82-49D6-9C37-EAB824B7CF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8295" y="4513803"/>
                    <a:ext cx="441146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C1D6AF64-7AA8-4FB1-836A-7C42D247B55E}"/>
                      </a:ext>
                    </a:extLst>
                  </p:cNvPr>
                  <p:cNvSpPr txBox="1"/>
                  <p:nvPr/>
                </p:nvSpPr>
                <p:spPr>
                  <a:xfrm>
                    <a:off x="1341663" y="3198167"/>
                    <a:ext cx="85555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dirty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ja-JP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 dirty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en-US" altLang="ja-JP" sz="2400" dirty="0">
                              <a:latin typeface="Cambria Math" panose="02040503050406030204" pitchFamily="18" charset="0"/>
                            </a:rPr>
                            <m:t>|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C1D6AF64-7AA8-4FB1-836A-7C42D247B5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1663" y="3198167"/>
                    <a:ext cx="855555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14" r="-714" b="-17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8A856BE-D7DA-418E-8964-C49C684534DF}"/>
                    </a:ext>
                  </a:extLst>
                </p:cNvPr>
                <p:cNvSpPr txBox="1"/>
                <p:nvPr/>
              </p:nvSpPr>
              <p:spPr>
                <a:xfrm>
                  <a:off x="472132" y="5410739"/>
                  <a:ext cx="314727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ja-JP" alt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ベクトル</m:t>
                      </m:r>
                      <m:r>
                        <a:rPr lang="en-US" altLang="ja-JP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ja-JP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en-US" altLang="ja-JP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|@</m:t>
                      </m:r>
                      <m:r>
                        <m:rPr>
                          <m:sty m:val="p"/>
                        </m:rPr>
                        <a:rPr lang="en-US" altLang="ja-JP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a14:m>
                  <a:r>
                    <a:rPr lang="en-US" altLang="ja-JP" sz="2400" b="1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8A856BE-D7DA-418E-8964-C49C68453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132" y="5410739"/>
                  <a:ext cx="3147272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969" b="-17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4BD3640B-C73F-4704-8FDA-2EA1130C2486}"/>
                </a:ext>
              </a:extLst>
            </p:cNvPr>
            <p:cNvSpPr txBox="1"/>
            <p:nvPr/>
          </p:nvSpPr>
          <p:spPr>
            <a:xfrm>
              <a:off x="472132" y="1927056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FF0000"/>
                  </a:solidFill>
                </a:rPr>
                <a:t>■極座標ベクトル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4833DD2-CA8A-4BE6-A51A-B6177BF9E94F}"/>
              </a:ext>
            </a:extLst>
          </p:cNvPr>
          <p:cNvGrpSpPr/>
          <p:nvPr/>
        </p:nvGrpSpPr>
        <p:grpSpPr>
          <a:xfrm>
            <a:off x="4405202" y="1927056"/>
            <a:ext cx="3649607" cy="3960467"/>
            <a:chOff x="3910251" y="1911937"/>
            <a:chExt cx="3649607" cy="3960467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69D956D5-126D-41F0-B63C-518FD98A482C}"/>
                </a:ext>
              </a:extLst>
            </p:cNvPr>
            <p:cNvGrpSpPr/>
            <p:nvPr/>
          </p:nvGrpSpPr>
          <p:grpSpPr>
            <a:xfrm>
              <a:off x="4632142" y="2333952"/>
              <a:ext cx="2927716" cy="3076787"/>
              <a:chOff x="4556620" y="2761377"/>
              <a:chExt cx="2927716" cy="3076787"/>
            </a:xfrm>
          </p:grpSpPr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C2F7064F-6B14-43CC-AC8A-03C442F741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6620" y="2761377"/>
                <a:ext cx="2365695" cy="261512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DAE23626-2FEB-408D-8EE0-B9A36EA42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620" y="5376499"/>
                <a:ext cx="2365695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426F047A-AA8C-4386-B416-4487D566AC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2315" y="2761377"/>
                <a:ext cx="0" cy="2615122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61B96CC6-85E8-46D7-A5FF-A914F5FCABB0}"/>
                      </a:ext>
                    </a:extLst>
                  </p:cNvPr>
                  <p:cNvSpPr txBox="1"/>
                  <p:nvPr/>
                </p:nvSpPr>
                <p:spPr>
                  <a:xfrm>
                    <a:off x="5518895" y="5376499"/>
                    <a:ext cx="44563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61B96CC6-85E8-46D7-A5FF-A914F5FCAB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8895" y="5376499"/>
                    <a:ext cx="445635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B387B263-5851-4079-91F5-1F45E3A9FD25}"/>
                      </a:ext>
                    </a:extLst>
                  </p:cNvPr>
                  <p:cNvSpPr txBox="1"/>
                  <p:nvPr/>
                </p:nvSpPr>
                <p:spPr>
                  <a:xfrm>
                    <a:off x="7038701" y="3838105"/>
                    <a:ext cx="44563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B387B263-5851-4079-91F5-1F45E3A9FD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8701" y="3838105"/>
                    <a:ext cx="445635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89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1FFBCF76-99F9-467B-A77C-1CF3905D229C}"/>
                    </a:ext>
                  </a:extLst>
                </p:cNvPr>
                <p:cNvSpPr txBox="1"/>
                <p:nvPr/>
              </p:nvSpPr>
              <p:spPr>
                <a:xfrm>
                  <a:off x="4538453" y="5410739"/>
                  <a:ext cx="27985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ja-JP" alt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ベクトル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ja-JP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altLang="ja-JP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1FFBCF76-99F9-467B-A77C-1CF3905D2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8453" y="5410739"/>
                  <a:ext cx="279858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A6682B9-C968-4216-9157-C55BE3EBBBF4}"/>
                </a:ext>
              </a:extLst>
            </p:cNvPr>
            <p:cNvSpPr txBox="1"/>
            <p:nvPr/>
          </p:nvSpPr>
          <p:spPr>
            <a:xfrm>
              <a:off x="3910251" y="1911937"/>
              <a:ext cx="35702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FF0000"/>
                  </a:solidFill>
                </a:rPr>
                <a:t>■デカルト座標ベクトル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00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頭の中では極座標のほうがイメージが簡単ですが、</a:t>
            </a:r>
            <a:endParaRPr lang="en-US" altLang="ja-JP" sz="2400" dirty="0"/>
          </a:p>
          <a:p>
            <a:r>
              <a:rPr lang="ja-JP" altLang="en-US" sz="2400" dirty="0"/>
              <a:t>ゲームで使うのはデカルト座標になります。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極座標からデカルト座標への変換</a:t>
            </a:r>
            <a:r>
              <a:rPr lang="ja-JP" altLang="en-US" sz="2400" dirty="0"/>
              <a:t>が必要になります。</a:t>
            </a:r>
            <a:endParaRPr lang="en-US" altLang="ja-JP" sz="2400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272425B1-3348-4134-8469-DA68DC993035}"/>
              </a:ext>
            </a:extLst>
          </p:cNvPr>
          <p:cNvGrpSpPr/>
          <p:nvPr/>
        </p:nvGrpSpPr>
        <p:grpSpPr>
          <a:xfrm>
            <a:off x="567542" y="2990541"/>
            <a:ext cx="3147272" cy="3628484"/>
            <a:chOff x="472132" y="2243920"/>
            <a:chExt cx="3147272" cy="3628484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7A87183-187D-4AC6-893E-BA12B781B61F}"/>
                </a:ext>
              </a:extLst>
            </p:cNvPr>
            <p:cNvGrpSpPr/>
            <p:nvPr/>
          </p:nvGrpSpPr>
          <p:grpSpPr>
            <a:xfrm>
              <a:off x="567542" y="2243920"/>
              <a:ext cx="2510769" cy="3166819"/>
              <a:chOff x="718992" y="2474753"/>
              <a:chExt cx="2510769" cy="3166819"/>
            </a:xfrm>
          </p:grpSpPr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E471C312-DE7F-4426-85E5-7CB94B118EF2}"/>
                  </a:ext>
                </a:extLst>
              </p:cNvPr>
              <p:cNvGrpSpPr/>
              <p:nvPr/>
            </p:nvGrpSpPr>
            <p:grpSpPr>
              <a:xfrm>
                <a:off x="718992" y="2474753"/>
                <a:ext cx="2510769" cy="3166819"/>
                <a:chOff x="758651" y="2499181"/>
                <a:chExt cx="1243652" cy="2014095"/>
              </a:xfrm>
            </p:grpSpPr>
            <p:cxnSp>
              <p:nvCxnSpPr>
                <p:cNvPr id="3" name="直線矢印コネクタ 2">
                  <a:extLst>
                    <a:ext uri="{FF2B5EF4-FFF2-40B4-BE49-F238E27FC236}">
                      <a16:creationId xmlns:a16="http://schemas.microsoft.com/office/drawing/2014/main" id="{02F3027A-1702-421B-90D9-C4AA552D73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0510" y="2499181"/>
                  <a:ext cx="1171793" cy="1663216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円弧 6">
                  <a:extLst>
                    <a:ext uri="{FF2B5EF4-FFF2-40B4-BE49-F238E27FC236}">
                      <a16:creationId xmlns:a16="http://schemas.microsoft.com/office/drawing/2014/main" id="{07DBC941-B3ED-4A44-9076-26A91112EB1D}"/>
                    </a:ext>
                  </a:extLst>
                </p:cNvPr>
                <p:cNvSpPr/>
                <p:nvPr/>
              </p:nvSpPr>
              <p:spPr>
                <a:xfrm>
                  <a:off x="758651" y="3942825"/>
                  <a:ext cx="411060" cy="570451"/>
                </a:xfrm>
                <a:prstGeom prst="arc">
                  <a:avLst>
                    <a:gd name="adj1" fmla="val 16693177"/>
                    <a:gd name="adj2" fmla="val 20957822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4A393F6F-2B82-49D6-9C37-EAB824B7CFD1}"/>
                      </a:ext>
                    </a:extLst>
                  </p:cNvPr>
                  <p:cNvSpPr txBox="1"/>
                  <p:nvPr/>
                </p:nvSpPr>
                <p:spPr>
                  <a:xfrm>
                    <a:off x="1328295" y="4513803"/>
                    <a:ext cx="44114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4A393F6F-2B82-49D6-9C37-EAB824B7CF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8295" y="4513803"/>
                    <a:ext cx="441146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C1D6AF64-7AA8-4FB1-836A-7C42D247B55E}"/>
                      </a:ext>
                    </a:extLst>
                  </p:cNvPr>
                  <p:cNvSpPr txBox="1"/>
                  <p:nvPr/>
                </p:nvSpPr>
                <p:spPr>
                  <a:xfrm>
                    <a:off x="1341663" y="3198167"/>
                    <a:ext cx="85555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dirty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ja-JP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 dirty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en-US" altLang="ja-JP" sz="2400" dirty="0">
                              <a:latin typeface="Cambria Math" panose="02040503050406030204" pitchFamily="18" charset="0"/>
                            </a:rPr>
                            <m:t>|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C1D6AF64-7AA8-4FB1-836A-7C42D247B5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1663" y="3198167"/>
                    <a:ext cx="855555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14" r="-714" b="-1578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8A856BE-D7DA-418E-8964-C49C684534DF}"/>
                    </a:ext>
                  </a:extLst>
                </p:cNvPr>
                <p:cNvSpPr txBox="1"/>
                <p:nvPr/>
              </p:nvSpPr>
              <p:spPr>
                <a:xfrm>
                  <a:off x="472132" y="5410739"/>
                  <a:ext cx="314727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ja-JP" alt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ベクトル</m:t>
                      </m:r>
                      <m:r>
                        <a:rPr lang="en-US" altLang="ja-JP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ja-JP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en-US" altLang="ja-JP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|@</m:t>
                      </m:r>
                      <m:r>
                        <m:rPr>
                          <m:sty m:val="p"/>
                        </m:rPr>
                        <a:rPr lang="en-US" altLang="ja-JP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a14:m>
                  <a:r>
                    <a:rPr lang="en-US" altLang="ja-JP" sz="2400" b="1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8A856BE-D7DA-418E-8964-C49C68453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132" y="5410739"/>
                  <a:ext cx="3147272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969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4833DD2-CA8A-4BE6-A51A-B6177BF9E94F}"/>
              </a:ext>
            </a:extLst>
          </p:cNvPr>
          <p:cNvGrpSpPr/>
          <p:nvPr/>
        </p:nvGrpSpPr>
        <p:grpSpPr>
          <a:xfrm>
            <a:off x="6568589" y="3080573"/>
            <a:ext cx="3021405" cy="3538452"/>
            <a:chOff x="4538453" y="2333952"/>
            <a:chExt cx="3021405" cy="3538452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69D956D5-126D-41F0-B63C-518FD98A482C}"/>
                </a:ext>
              </a:extLst>
            </p:cNvPr>
            <p:cNvGrpSpPr/>
            <p:nvPr/>
          </p:nvGrpSpPr>
          <p:grpSpPr>
            <a:xfrm>
              <a:off x="4632142" y="2333952"/>
              <a:ext cx="2927716" cy="3076787"/>
              <a:chOff x="4556620" y="2761377"/>
              <a:chExt cx="2927716" cy="3076787"/>
            </a:xfrm>
          </p:grpSpPr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C2F7064F-6B14-43CC-AC8A-03C442F741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6620" y="2761377"/>
                <a:ext cx="2365695" cy="261512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DAE23626-2FEB-408D-8EE0-B9A36EA42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620" y="5376499"/>
                <a:ext cx="2365695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426F047A-AA8C-4386-B416-4487D566AC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2315" y="2761377"/>
                <a:ext cx="0" cy="2615122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61B96CC6-85E8-46D7-A5FF-A914F5FCABB0}"/>
                      </a:ext>
                    </a:extLst>
                  </p:cNvPr>
                  <p:cNvSpPr txBox="1"/>
                  <p:nvPr/>
                </p:nvSpPr>
                <p:spPr>
                  <a:xfrm>
                    <a:off x="5518895" y="5376499"/>
                    <a:ext cx="44563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61B96CC6-85E8-46D7-A5FF-A914F5FCAB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8895" y="5376499"/>
                    <a:ext cx="445635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B387B263-5851-4079-91F5-1F45E3A9FD25}"/>
                      </a:ext>
                    </a:extLst>
                  </p:cNvPr>
                  <p:cNvSpPr txBox="1"/>
                  <p:nvPr/>
                </p:nvSpPr>
                <p:spPr>
                  <a:xfrm>
                    <a:off x="7038701" y="3838105"/>
                    <a:ext cx="44563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B387B263-5851-4079-91F5-1F45E3A9FD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8701" y="3838105"/>
                    <a:ext cx="445635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89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1FFBCF76-99F9-467B-A77C-1CF3905D229C}"/>
                    </a:ext>
                  </a:extLst>
                </p:cNvPr>
                <p:cNvSpPr txBox="1"/>
                <p:nvPr/>
              </p:nvSpPr>
              <p:spPr>
                <a:xfrm>
                  <a:off x="4538453" y="5410739"/>
                  <a:ext cx="27985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ja-JP" alt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ベクトル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ja-JP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altLang="ja-JP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1FFBCF76-99F9-467B-A77C-1CF3905D2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8453" y="5410739"/>
                  <a:ext cx="279858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矢印: 右 1">
            <a:extLst>
              <a:ext uri="{FF2B5EF4-FFF2-40B4-BE49-F238E27FC236}">
                <a16:creationId xmlns:a16="http://schemas.microsoft.com/office/drawing/2014/main" id="{15856ED2-A732-4F7D-9843-A503F8EAC09B}"/>
              </a:ext>
            </a:extLst>
          </p:cNvPr>
          <p:cNvSpPr/>
          <p:nvPr/>
        </p:nvSpPr>
        <p:spPr>
          <a:xfrm>
            <a:off x="4429387" y="3944787"/>
            <a:ext cx="1828800" cy="12003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変換</a:t>
            </a:r>
          </a:p>
        </p:txBody>
      </p:sp>
    </p:spTree>
    <p:extLst>
      <p:ext uri="{BB962C8B-B14F-4D97-AF65-F5344CB8AC3E}">
        <p14:creationId xmlns:p14="http://schemas.microsoft.com/office/powerpoint/2010/main" val="289484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000990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次の極座標ベクトル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をデカルト座標ベクトルに変換しなさい。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30°=0.5,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30°=0.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とする。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=20@30°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:r>
                  <a:rPr lang="ja-JP" altLang="en-US" sz="2400" dirty="0"/>
                  <a:t>ベクトルの長さを斜辺とする直角三角形から求められるので、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の各成分は、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=20×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30°=16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=20×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30°=10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よって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=[16,10]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三角関数や単位円を振り返ってみよう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000990" cy="4893647"/>
              </a:xfrm>
              <a:prstGeom prst="rect">
                <a:avLst/>
              </a:prstGeom>
              <a:blipFill>
                <a:blip r:embed="rId2"/>
                <a:stretch>
                  <a:fillRect l="-1016" t="-998" r="-68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50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6462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次の極座標ベクトル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をデカルト座標ベクトルに変換しなさい。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また、三角関数の値は関数電卓を使って小数第１位までの数値で計算しなさい。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=25@45°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=200@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64622" cy="1938992"/>
              </a:xfrm>
              <a:prstGeom prst="rect">
                <a:avLst/>
              </a:prstGeom>
              <a:blipFill>
                <a:blip r:embed="rId2"/>
                <a:stretch>
                  <a:fillRect l="-812" t="-2516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70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345</Words>
  <Application>Microsoft Office PowerPoint</Application>
  <PresentationFormat>ワイド画面</PresentationFormat>
  <Paragraphs>59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116</cp:revision>
  <dcterms:created xsi:type="dcterms:W3CDTF">2024-08-27T02:15:54Z</dcterms:created>
  <dcterms:modified xsi:type="dcterms:W3CDTF">2024-10-11T00:45:00Z</dcterms:modified>
</cp:coreProperties>
</file>