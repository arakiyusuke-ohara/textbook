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2024/10/11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ベクトルの投影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9417963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>
                    <a:solidFill>
                      <a:schemeClr val="tx1"/>
                    </a:solidFill>
                  </a:rPr>
                  <a:t>内積と外積を使えば、ベクトルの投影を計算することができます。</a:t>
                </a:r>
                <a:endParaRPr lang="en-US" altLang="ja-JP" sz="2400" dirty="0">
                  <a:solidFill>
                    <a:schemeClr val="tx1"/>
                  </a:solidFill>
                </a:endParaRPr>
              </a:p>
              <a:p>
                <a:r>
                  <a:rPr lang="ja-JP" altLang="en-US" sz="2400" dirty="0"/>
                  <a:t>投影とは、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ベクトル</a:t>
                </a:r>
                <a14:m>
                  <m:oMath xmlns:m="http://schemas.openxmlformats.org/officeDocument/2006/math"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ja-JP" altLang="en-US" sz="2400" b="1" dirty="0">
                    <a:solidFill>
                      <a:srgbClr val="FF0000"/>
                    </a:solidFill>
                  </a:rPr>
                  <a:t>に対してベクトル</a:t>
                </a:r>
                <a14:m>
                  <m:oMath xmlns:m="http://schemas.openxmlformats.org/officeDocument/2006/math"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ja-JP" altLang="en-US" sz="2400" b="1" dirty="0">
                    <a:solidFill>
                      <a:srgbClr val="FF0000"/>
                    </a:solidFill>
                  </a:rPr>
                  <a:t>の影を落とした時の、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影の長さ</a:t>
                </a:r>
                <a:r>
                  <a:rPr lang="ja-JP" altLang="en-US" sz="2400" dirty="0"/>
                  <a:t>のことを言います。</a:t>
                </a:r>
                <a:endParaRPr lang="en-US" altLang="ja-JP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9417963" cy="1200329"/>
              </a:xfrm>
              <a:prstGeom prst="rect">
                <a:avLst/>
              </a:prstGeom>
              <a:blipFill>
                <a:blip r:embed="rId2"/>
                <a:stretch>
                  <a:fillRect l="-971" t="-4082" r="-65" b="-1122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92BDE6E4-6348-453A-AE77-FEFA11971D11}"/>
              </a:ext>
            </a:extLst>
          </p:cNvPr>
          <p:cNvGrpSpPr/>
          <p:nvPr/>
        </p:nvGrpSpPr>
        <p:grpSpPr>
          <a:xfrm>
            <a:off x="567542" y="2898939"/>
            <a:ext cx="2829233" cy="3287670"/>
            <a:chOff x="602609" y="3435835"/>
            <a:chExt cx="2829233" cy="3287670"/>
          </a:xfrm>
        </p:grpSpPr>
        <p:cxnSp>
          <p:nvCxnSpPr>
            <p:cNvPr id="3" name="直線矢印コネクタ 2">
              <a:extLst>
                <a:ext uri="{FF2B5EF4-FFF2-40B4-BE49-F238E27FC236}">
                  <a16:creationId xmlns:a16="http://schemas.microsoft.com/office/drawing/2014/main" id="{CFF8D8BE-85A7-4A61-B1CC-CD02A23F5505}"/>
                </a:ext>
              </a:extLst>
            </p:cNvPr>
            <p:cNvCxnSpPr/>
            <p:nvPr/>
          </p:nvCxnSpPr>
          <p:spPr>
            <a:xfrm flipV="1">
              <a:off x="989901" y="3523376"/>
              <a:ext cx="2441941" cy="2441196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線矢印コネクタ 7">
              <a:extLst>
                <a:ext uri="{FF2B5EF4-FFF2-40B4-BE49-F238E27FC236}">
                  <a16:creationId xmlns:a16="http://schemas.microsoft.com/office/drawing/2014/main" id="{798C0893-F409-4772-BBFF-128182519C66}"/>
                </a:ext>
              </a:extLst>
            </p:cNvPr>
            <p:cNvCxnSpPr>
              <a:cxnSpLocks/>
            </p:cNvCxnSpPr>
            <p:nvPr/>
          </p:nvCxnSpPr>
          <p:spPr>
            <a:xfrm>
              <a:off x="989901" y="5964572"/>
              <a:ext cx="392884" cy="0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太陽 8">
              <a:extLst>
                <a:ext uri="{FF2B5EF4-FFF2-40B4-BE49-F238E27FC236}">
                  <a16:creationId xmlns:a16="http://schemas.microsoft.com/office/drawing/2014/main" id="{5C79A3A9-3980-4C43-8CE0-702ED6C52991}"/>
                </a:ext>
              </a:extLst>
            </p:cNvPr>
            <p:cNvSpPr/>
            <p:nvPr/>
          </p:nvSpPr>
          <p:spPr>
            <a:xfrm>
              <a:off x="602609" y="3435835"/>
              <a:ext cx="780176" cy="788564"/>
            </a:xfrm>
            <a:prstGeom prst="sun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2" name="直線矢印コネクタ 11">
              <a:extLst>
                <a:ext uri="{FF2B5EF4-FFF2-40B4-BE49-F238E27FC236}">
                  <a16:creationId xmlns:a16="http://schemas.microsoft.com/office/drawing/2014/main" id="{6D84D8DE-0535-478A-9949-6687378ED422}"/>
                </a:ext>
              </a:extLst>
            </p:cNvPr>
            <p:cNvCxnSpPr>
              <a:cxnSpLocks/>
            </p:cNvCxnSpPr>
            <p:nvPr/>
          </p:nvCxnSpPr>
          <p:spPr>
            <a:xfrm>
              <a:off x="989901" y="6165908"/>
              <a:ext cx="2441941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コネクタ 13">
              <a:extLst>
                <a:ext uri="{FF2B5EF4-FFF2-40B4-BE49-F238E27FC236}">
                  <a16:creationId xmlns:a16="http://schemas.microsoft.com/office/drawing/2014/main" id="{C751997C-76AE-4734-B46F-5E58FBCF2EE2}"/>
                </a:ext>
              </a:extLst>
            </p:cNvPr>
            <p:cNvCxnSpPr/>
            <p:nvPr/>
          </p:nvCxnSpPr>
          <p:spPr>
            <a:xfrm>
              <a:off x="3431842" y="3523376"/>
              <a:ext cx="0" cy="2667699"/>
            </a:xfrm>
            <a:prstGeom prst="line">
              <a:avLst/>
            </a:prstGeom>
            <a:ln w="12700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テキスト ボックス 15">
                  <a:extLst>
                    <a:ext uri="{FF2B5EF4-FFF2-40B4-BE49-F238E27FC236}">
                      <a16:creationId xmlns:a16="http://schemas.microsoft.com/office/drawing/2014/main" id="{A121B67A-BBF0-439F-82C3-1F1F9A79839C}"/>
                    </a:ext>
                  </a:extLst>
                </p:cNvPr>
                <p:cNvSpPr txBox="1"/>
                <p:nvPr/>
              </p:nvSpPr>
              <p:spPr>
                <a:xfrm>
                  <a:off x="1857959" y="4282309"/>
                  <a:ext cx="476412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en-US" altLang="ja-JP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6" name="テキスト ボックス 15">
                  <a:extLst>
                    <a:ext uri="{FF2B5EF4-FFF2-40B4-BE49-F238E27FC236}">
                      <a16:creationId xmlns:a16="http://schemas.microsoft.com/office/drawing/2014/main" id="{A121B67A-BBF0-439F-82C3-1F1F9A7983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57959" y="4282309"/>
                  <a:ext cx="476412" cy="46166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テキスト ボックス 16">
                  <a:extLst>
                    <a:ext uri="{FF2B5EF4-FFF2-40B4-BE49-F238E27FC236}">
                      <a16:creationId xmlns:a16="http://schemas.microsoft.com/office/drawing/2014/main" id="{B24F3045-3EA4-493E-AA39-935BEAC4C159}"/>
                    </a:ext>
                  </a:extLst>
                </p:cNvPr>
                <p:cNvSpPr txBox="1"/>
                <p:nvPr/>
              </p:nvSpPr>
              <p:spPr>
                <a:xfrm>
                  <a:off x="1186343" y="5515490"/>
                  <a:ext cx="483081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en-US" altLang="ja-JP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7" name="テキスト ボックス 16">
                  <a:extLst>
                    <a:ext uri="{FF2B5EF4-FFF2-40B4-BE49-F238E27FC236}">
                      <a16:creationId xmlns:a16="http://schemas.microsoft.com/office/drawing/2014/main" id="{B24F3045-3EA4-493E-AA39-935BEAC4C1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86343" y="5515490"/>
                  <a:ext cx="483081" cy="46166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id="{2E303F21-F8FE-4AA8-9D04-A5642373ECA6}"/>
                </a:ext>
              </a:extLst>
            </p:cNvPr>
            <p:cNvSpPr txBox="1"/>
            <p:nvPr/>
          </p:nvSpPr>
          <p:spPr>
            <a:xfrm>
              <a:off x="1810761" y="6261840"/>
              <a:ext cx="8002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2400" dirty="0">
                  <a:solidFill>
                    <a:schemeClr val="tx1"/>
                  </a:solidFill>
                </a:rPr>
                <a:t>投影</a:t>
              </a:r>
              <a:endParaRPr lang="en-US" altLang="ja-JP" sz="24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8989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ベクトルの投影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1413958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>
                    <a:solidFill>
                      <a:schemeClr val="tx1"/>
                    </a:solidFill>
                  </a:rPr>
                  <a:t>投影の時に一番重要なことは、</a:t>
                </a:r>
                <a:endParaRPr lang="en-US" altLang="ja-JP" sz="2400" dirty="0">
                  <a:solidFill>
                    <a:schemeClr val="tx1"/>
                  </a:solidFill>
                </a:endParaRPr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影を落とされる側のベクトル</a:t>
                </a:r>
                <a:r>
                  <a:rPr lang="en-US" altLang="ja-JP" sz="2400" b="1" dirty="0">
                    <a:solidFill>
                      <a:srgbClr val="FF0000"/>
                    </a:solidFill>
                  </a:rPr>
                  <a:t>(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ベクトル</a:t>
                </a:r>
                <a14:m>
                  <m:oMath xmlns:m="http://schemas.openxmlformats.org/officeDocument/2006/math"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ja-JP" sz="24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ja-JP" altLang="en-US" sz="2400" b="1" dirty="0">
                    <a:solidFill>
                      <a:srgbClr val="FF0000"/>
                    </a:solidFill>
                  </a:rPr>
                  <a:t>が正規化</a:t>
                </a:r>
                <a:r>
                  <a:rPr lang="ja-JP" altLang="en-US" sz="2400" dirty="0"/>
                  <a:t>されていなければいけません。</a:t>
                </a:r>
                <a:endParaRPr lang="en-US" altLang="ja-JP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1413958" cy="830997"/>
              </a:xfrm>
              <a:prstGeom prst="rect">
                <a:avLst/>
              </a:prstGeom>
              <a:blipFill>
                <a:blip r:embed="rId2"/>
                <a:stretch>
                  <a:fillRect l="-801" t="-5882" r="-53" b="-1617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92BDE6E4-6348-453A-AE77-FEFA11971D11}"/>
              </a:ext>
            </a:extLst>
          </p:cNvPr>
          <p:cNvGrpSpPr/>
          <p:nvPr/>
        </p:nvGrpSpPr>
        <p:grpSpPr>
          <a:xfrm>
            <a:off x="567542" y="2898939"/>
            <a:ext cx="2829233" cy="3287670"/>
            <a:chOff x="602609" y="3435835"/>
            <a:chExt cx="2829233" cy="3287670"/>
          </a:xfrm>
        </p:grpSpPr>
        <p:cxnSp>
          <p:nvCxnSpPr>
            <p:cNvPr id="3" name="直線矢印コネクタ 2">
              <a:extLst>
                <a:ext uri="{FF2B5EF4-FFF2-40B4-BE49-F238E27FC236}">
                  <a16:creationId xmlns:a16="http://schemas.microsoft.com/office/drawing/2014/main" id="{CFF8D8BE-85A7-4A61-B1CC-CD02A23F5505}"/>
                </a:ext>
              </a:extLst>
            </p:cNvPr>
            <p:cNvCxnSpPr/>
            <p:nvPr/>
          </p:nvCxnSpPr>
          <p:spPr>
            <a:xfrm flipV="1">
              <a:off x="989901" y="3523376"/>
              <a:ext cx="2441941" cy="2441196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線矢印コネクタ 7">
              <a:extLst>
                <a:ext uri="{FF2B5EF4-FFF2-40B4-BE49-F238E27FC236}">
                  <a16:creationId xmlns:a16="http://schemas.microsoft.com/office/drawing/2014/main" id="{798C0893-F409-4772-BBFF-128182519C66}"/>
                </a:ext>
              </a:extLst>
            </p:cNvPr>
            <p:cNvCxnSpPr>
              <a:cxnSpLocks/>
            </p:cNvCxnSpPr>
            <p:nvPr/>
          </p:nvCxnSpPr>
          <p:spPr>
            <a:xfrm>
              <a:off x="989901" y="5964572"/>
              <a:ext cx="392884" cy="0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太陽 8">
              <a:extLst>
                <a:ext uri="{FF2B5EF4-FFF2-40B4-BE49-F238E27FC236}">
                  <a16:creationId xmlns:a16="http://schemas.microsoft.com/office/drawing/2014/main" id="{5C79A3A9-3980-4C43-8CE0-702ED6C52991}"/>
                </a:ext>
              </a:extLst>
            </p:cNvPr>
            <p:cNvSpPr/>
            <p:nvPr/>
          </p:nvSpPr>
          <p:spPr>
            <a:xfrm>
              <a:off x="602609" y="3435835"/>
              <a:ext cx="780176" cy="788564"/>
            </a:xfrm>
            <a:prstGeom prst="sun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2" name="直線矢印コネクタ 11">
              <a:extLst>
                <a:ext uri="{FF2B5EF4-FFF2-40B4-BE49-F238E27FC236}">
                  <a16:creationId xmlns:a16="http://schemas.microsoft.com/office/drawing/2014/main" id="{6D84D8DE-0535-478A-9949-6687378ED422}"/>
                </a:ext>
              </a:extLst>
            </p:cNvPr>
            <p:cNvCxnSpPr>
              <a:cxnSpLocks/>
            </p:cNvCxnSpPr>
            <p:nvPr/>
          </p:nvCxnSpPr>
          <p:spPr>
            <a:xfrm>
              <a:off x="989901" y="6165908"/>
              <a:ext cx="2441941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コネクタ 13">
              <a:extLst>
                <a:ext uri="{FF2B5EF4-FFF2-40B4-BE49-F238E27FC236}">
                  <a16:creationId xmlns:a16="http://schemas.microsoft.com/office/drawing/2014/main" id="{C751997C-76AE-4734-B46F-5E58FBCF2EE2}"/>
                </a:ext>
              </a:extLst>
            </p:cNvPr>
            <p:cNvCxnSpPr/>
            <p:nvPr/>
          </p:nvCxnSpPr>
          <p:spPr>
            <a:xfrm>
              <a:off x="3431842" y="3523376"/>
              <a:ext cx="0" cy="2667699"/>
            </a:xfrm>
            <a:prstGeom prst="line">
              <a:avLst/>
            </a:prstGeom>
            <a:ln w="12700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テキスト ボックス 15">
                  <a:extLst>
                    <a:ext uri="{FF2B5EF4-FFF2-40B4-BE49-F238E27FC236}">
                      <a16:creationId xmlns:a16="http://schemas.microsoft.com/office/drawing/2014/main" id="{A121B67A-BBF0-439F-82C3-1F1F9A79839C}"/>
                    </a:ext>
                  </a:extLst>
                </p:cNvPr>
                <p:cNvSpPr txBox="1"/>
                <p:nvPr/>
              </p:nvSpPr>
              <p:spPr>
                <a:xfrm>
                  <a:off x="1857959" y="4282309"/>
                  <a:ext cx="476412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en-US" altLang="ja-JP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6" name="テキスト ボックス 15">
                  <a:extLst>
                    <a:ext uri="{FF2B5EF4-FFF2-40B4-BE49-F238E27FC236}">
                      <a16:creationId xmlns:a16="http://schemas.microsoft.com/office/drawing/2014/main" id="{A121B67A-BBF0-439F-82C3-1F1F9A7983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57959" y="4282309"/>
                  <a:ext cx="476412" cy="46166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テキスト ボックス 16">
                  <a:extLst>
                    <a:ext uri="{FF2B5EF4-FFF2-40B4-BE49-F238E27FC236}">
                      <a16:creationId xmlns:a16="http://schemas.microsoft.com/office/drawing/2014/main" id="{B24F3045-3EA4-493E-AA39-935BEAC4C159}"/>
                    </a:ext>
                  </a:extLst>
                </p:cNvPr>
                <p:cNvSpPr txBox="1"/>
                <p:nvPr/>
              </p:nvSpPr>
              <p:spPr>
                <a:xfrm>
                  <a:off x="1219899" y="5515490"/>
                  <a:ext cx="1555490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a14:m>
                  <a:r>
                    <a:rPr lang="en-US" altLang="ja-JP" sz="2400" b="1" dirty="0">
                      <a:solidFill>
                        <a:srgbClr val="FF0000"/>
                      </a:solidFill>
                    </a:rPr>
                    <a:t>(</a:t>
                  </a:r>
                  <a:r>
                    <a:rPr lang="ja-JP" altLang="en-US" sz="2400" b="1" dirty="0">
                      <a:solidFill>
                        <a:srgbClr val="FF0000"/>
                      </a:solidFill>
                    </a:rPr>
                    <a:t>正規化</a:t>
                  </a:r>
                  <a:r>
                    <a:rPr lang="en-US" altLang="ja-JP" sz="2400" b="1" dirty="0">
                      <a:solidFill>
                        <a:srgbClr val="FF0000"/>
                      </a:solidFill>
                    </a:rPr>
                    <a:t>)</a:t>
                  </a:r>
                </a:p>
              </p:txBody>
            </p:sp>
          </mc:Choice>
          <mc:Fallback>
            <p:sp>
              <p:nvSpPr>
                <p:cNvPr id="17" name="テキスト ボックス 16">
                  <a:extLst>
                    <a:ext uri="{FF2B5EF4-FFF2-40B4-BE49-F238E27FC236}">
                      <a16:creationId xmlns:a16="http://schemas.microsoft.com/office/drawing/2014/main" id="{B24F3045-3EA4-493E-AA39-935BEAC4C1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19899" y="5515490"/>
                  <a:ext cx="1555490" cy="461665"/>
                </a:xfrm>
                <a:prstGeom prst="rect">
                  <a:avLst/>
                </a:prstGeom>
                <a:blipFill>
                  <a:blip r:embed="rId4"/>
                  <a:stretch>
                    <a:fillRect l="-781" t="-10667" r="-5469" b="-30667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id="{2E303F21-F8FE-4AA8-9D04-A5642373ECA6}"/>
                </a:ext>
              </a:extLst>
            </p:cNvPr>
            <p:cNvSpPr txBox="1"/>
            <p:nvPr/>
          </p:nvSpPr>
          <p:spPr>
            <a:xfrm>
              <a:off x="1810761" y="6261840"/>
              <a:ext cx="8002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2400" dirty="0">
                  <a:solidFill>
                    <a:schemeClr val="tx1"/>
                  </a:solidFill>
                </a:rPr>
                <a:t>投影</a:t>
              </a:r>
              <a:endParaRPr lang="en-US" altLang="ja-JP" sz="24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6328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ベクトルの投影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941847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内積</a:t>
                </a:r>
                <a14:m>
                  <m:oMath xmlns:m="http://schemas.openxmlformats.org/officeDocument/2006/math"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ja-JP" alt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・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ja-JP" altLang="en-US" sz="2400" dirty="0">
                    <a:solidFill>
                      <a:schemeClr val="tx1"/>
                    </a:solidFill>
                  </a:rPr>
                  <a:t>を計算すると、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ベクトル</a:t>
                </a:r>
                <a14:m>
                  <m:oMath xmlns:m="http://schemas.openxmlformats.org/officeDocument/2006/math">
                    <m:r>
                      <a:rPr lang="en-US" altLang="ja-JP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ja-JP" altLang="en-US" sz="2400" b="1" dirty="0">
                    <a:solidFill>
                      <a:srgbClr val="FF0000"/>
                    </a:solidFill>
                  </a:rPr>
                  <a:t>に沿った投影</a:t>
                </a:r>
                <a:r>
                  <a:rPr lang="ja-JP" altLang="en-US" sz="2400" dirty="0">
                    <a:solidFill>
                      <a:schemeClr val="tx1"/>
                    </a:solidFill>
                  </a:rPr>
                  <a:t>が計算できます。</a:t>
                </a:r>
                <a:endParaRPr lang="en-US" altLang="ja-JP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9418476" cy="461665"/>
              </a:xfrm>
              <a:prstGeom prst="rect">
                <a:avLst/>
              </a:prstGeom>
              <a:blipFill>
                <a:blip r:embed="rId2"/>
                <a:stretch>
                  <a:fillRect l="-971" t="-10667" r="-388" b="-30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92BDE6E4-6348-453A-AE77-FEFA11971D11}"/>
              </a:ext>
            </a:extLst>
          </p:cNvPr>
          <p:cNvGrpSpPr/>
          <p:nvPr/>
        </p:nvGrpSpPr>
        <p:grpSpPr>
          <a:xfrm>
            <a:off x="567542" y="2898939"/>
            <a:ext cx="2829233" cy="3287670"/>
            <a:chOff x="602609" y="3435835"/>
            <a:chExt cx="2829233" cy="3287670"/>
          </a:xfrm>
        </p:grpSpPr>
        <p:cxnSp>
          <p:nvCxnSpPr>
            <p:cNvPr id="3" name="直線矢印コネクタ 2">
              <a:extLst>
                <a:ext uri="{FF2B5EF4-FFF2-40B4-BE49-F238E27FC236}">
                  <a16:creationId xmlns:a16="http://schemas.microsoft.com/office/drawing/2014/main" id="{CFF8D8BE-85A7-4A61-B1CC-CD02A23F5505}"/>
                </a:ext>
              </a:extLst>
            </p:cNvPr>
            <p:cNvCxnSpPr/>
            <p:nvPr/>
          </p:nvCxnSpPr>
          <p:spPr>
            <a:xfrm flipV="1">
              <a:off x="989901" y="3523376"/>
              <a:ext cx="2441941" cy="2441196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線矢印コネクタ 7">
              <a:extLst>
                <a:ext uri="{FF2B5EF4-FFF2-40B4-BE49-F238E27FC236}">
                  <a16:creationId xmlns:a16="http://schemas.microsoft.com/office/drawing/2014/main" id="{798C0893-F409-4772-BBFF-128182519C66}"/>
                </a:ext>
              </a:extLst>
            </p:cNvPr>
            <p:cNvCxnSpPr>
              <a:cxnSpLocks/>
            </p:cNvCxnSpPr>
            <p:nvPr/>
          </p:nvCxnSpPr>
          <p:spPr>
            <a:xfrm>
              <a:off x="989901" y="5964572"/>
              <a:ext cx="392884" cy="0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太陽 8">
              <a:extLst>
                <a:ext uri="{FF2B5EF4-FFF2-40B4-BE49-F238E27FC236}">
                  <a16:creationId xmlns:a16="http://schemas.microsoft.com/office/drawing/2014/main" id="{5C79A3A9-3980-4C43-8CE0-702ED6C52991}"/>
                </a:ext>
              </a:extLst>
            </p:cNvPr>
            <p:cNvSpPr/>
            <p:nvPr/>
          </p:nvSpPr>
          <p:spPr>
            <a:xfrm>
              <a:off x="602609" y="3435835"/>
              <a:ext cx="780176" cy="788564"/>
            </a:xfrm>
            <a:prstGeom prst="sun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2" name="直線矢印コネクタ 11">
              <a:extLst>
                <a:ext uri="{FF2B5EF4-FFF2-40B4-BE49-F238E27FC236}">
                  <a16:creationId xmlns:a16="http://schemas.microsoft.com/office/drawing/2014/main" id="{6D84D8DE-0535-478A-9949-6687378ED422}"/>
                </a:ext>
              </a:extLst>
            </p:cNvPr>
            <p:cNvCxnSpPr>
              <a:cxnSpLocks/>
            </p:cNvCxnSpPr>
            <p:nvPr/>
          </p:nvCxnSpPr>
          <p:spPr>
            <a:xfrm>
              <a:off x="989901" y="6165908"/>
              <a:ext cx="2441941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コネクタ 13">
              <a:extLst>
                <a:ext uri="{FF2B5EF4-FFF2-40B4-BE49-F238E27FC236}">
                  <a16:creationId xmlns:a16="http://schemas.microsoft.com/office/drawing/2014/main" id="{C751997C-76AE-4734-B46F-5E58FBCF2EE2}"/>
                </a:ext>
              </a:extLst>
            </p:cNvPr>
            <p:cNvCxnSpPr/>
            <p:nvPr/>
          </p:nvCxnSpPr>
          <p:spPr>
            <a:xfrm>
              <a:off x="3431842" y="3523376"/>
              <a:ext cx="0" cy="2667699"/>
            </a:xfrm>
            <a:prstGeom prst="line">
              <a:avLst/>
            </a:prstGeom>
            <a:ln w="12700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テキスト ボックス 15">
                  <a:extLst>
                    <a:ext uri="{FF2B5EF4-FFF2-40B4-BE49-F238E27FC236}">
                      <a16:creationId xmlns:a16="http://schemas.microsoft.com/office/drawing/2014/main" id="{A121B67A-BBF0-439F-82C3-1F1F9A79839C}"/>
                    </a:ext>
                  </a:extLst>
                </p:cNvPr>
                <p:cNvSpPr txBox="1"/>
                <p:nvPr/>
              </p:nvSpPr>
              <p:spPr>
                <a:xfrm>
                  <a:off x="1857959" y="4282309"/>
                  <a:ext cx="476412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en-US" altLang="ja-JP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6" name="テキスト ボックス 15">
                  <a:extLst>
                    <a:ext uri="{FF2B5EF4-FFF2-40B4-BE49-F238E27FC236}">
                      <a16:creationId xmlns:a16="http://schemas.microsoft.com/office/drawing/2014/main" id="{A121B67A-BBF0-439F-82C3-1F1F9A7983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57959" y="4282309"/>
                  <a:ext cx="476412" cy="46166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テキスト ボックス 16">
                  <a:extLst>
                    <a:ext uri="{FF2B5EF4-FFF2-40B4-BE49-F238E27FC236}">
                      <a16:creationId xmlns:a16="http://schemas.microsoft.com/office/drawing/2014/main" id="{B24F3045-3EA4-493E-AA39-935BEAC4C159}"/>
                    </a:ext>
                  </a:extLst>
                </p:cNvPr>
                <p:cNvSpPr txBox="1"/>
                <p:nvPr/>
              </p:nvSpPr>
              <p:spPr>
                <a:xfrm>
                  <a:off x="1219899" y="5515490"/>
                  <a:ext cx="483081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en-US" altLang="ja-JP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17" name="テキスト ボックス 16">
                  <a:extLst>
                    <a:ext uri="{FF2B5EF4-FFF2-40B4-BE49-F238E27FC236}">
                      <a16:creationId xmlns:a16="http://schemas.microsoft.com/office/drawing/2014/main" id="{B24F3045-3EA4-493E-AA39-935BEAC4C1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19899" y="5515490"/>
                  <a:ext cx="483081" cy="46166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id="{2E303F21-F8FE-4AA8-9D04-A5642373ECA6}"/>
                </a:ext>
              </a:extLst>
            </p:cNvPr>
            <p:cNvSpPr txBox="1"/>
            <p:nvPr/>
          </p:nvSpPr>
          <p:spPr>
            <a:xfrm>
              <a:off x="1366144" y="6261840"/>
              <a:ext cx="17235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2400" dirty="0">
                  <a:solidFill>
                    <a:schemeClr val="tx1"/>
                  </a:solidFill>
                </a:rPr>
                <a:t>内積の投影</a:t>
              </a:r>
              <a:endParaRPr lang="en-US" altLang="ja-JP" sz="24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9769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ベクトルの投影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9470157" cy="4618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ja-JP" alt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外積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ja-JP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ja-JP" altLang="en-US" sz="2400" dirty="0">
                    <a:solidFill>
                      <a:schemeClr val="tx1"/>
                    </a:solidFill>
                  </a:rPr>
                  <a:t>を計算すると、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ベクトル</a:t>
                </a:r>
                <a14:m>
                  <m:oMath xmlns:m="http://schemas.openxmlformats.org/officeDocument/2006/math"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ja-JP" altLang="en-US" sz="2400" b="1" dirty="0">
                    <a:solidFill>
                      <a:srgbClr val="FF0000"/>
                    </a:solidFill>
                  </a:rPr>
                  <a:t>に沿った投影</a:t>
                </a:r>
                <a:r>
                  <a:rPr lang="ja-JP" altLang="en-US" sz="2400" dirty="0">
                    <a:solidFill>
                      <a:schemeClr val="tx1"/>
                    </a:solidFill>
                  </a:rPr>
                  <a:t>が計算できます。</a:t>
                </a:r>
                <a:endParaRPr lang="en-US" altLang="ja-JP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9470157" cy="461858"/>
              </a:xfrm>
              <a:prstGeom prst="rect">
                <a:avLst/>
              </a:prstGeom>
              <a:blipFill>
                <a:blip r:embed="rId2"/>
                <a:stretch>
                  <a:fillRect l="-515" t="-9333" r="-129" b="-32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92BDE6E4-6348-453A-AE77-FEFA11971D11}"/>
              </a:ext>
            </a:extLst>
          </p:cNvPr>
          <p:cNvGrpSpPr/>
          <p:nvPr/>
        </p:nvGrpSpPr>
        <p:grpSpPr>
          <a:xfrm>
            <a:off x="567542" y="2898939"/>
            <a:ext cx="3434458" cy="2541320"/>
            <a:chOff x="602609" y="3435835"/>
            <a:chExt cx="3434458" cy="2541320"/>
          </a:xfrm>
        </p:grpSpPr>
        <p:cxnSp>
          <p:nvCxnSpPr>
            <p:cNvPr id="3" name="直線矢印コネクタ 2">
              <a:extLst>
                <a:ext uri="{FF2B5EF4-FFF2-40B4-BE49-F238E27FC236}">
                  <a16:creationId xmlns:a16="http://schemas.microsoft.com/office/drawing/2014/main" id="{CFF8D8BE-85A7-4A61-B1CC-CD02A23F5505}"/>
                </a:ext>
              </a:extLst>
            </p:cNvPr>
            <p:cNvCxnSpPr/>
            <p:nvPr/>
          </p:nvCxnSpPr>
          <p:spPr>
            <a:xfrm flipV="1">
              <a:off x="989901" y="3523376"/>
              <a:ext cx="2441941" cy="2441196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線矢印コネクタ 7">
              <a:extLst>
                <a:ext uri="{FF2B5EF4-FFF2-40B4-BE49-F238E27FC236}">
                  <a16:creationId xmlns:a16="http://schemas.microsoft.com/office/drawing/2014/main" id="{798C0893-F409-4772-BBFF-128182519C66}"/>
                </a:ext>
              </a:extLst>
            </p:cNvPr>
            <p:cNvCxnSpPr>
              <a:cxnSpLocks/>
            </p:cNvCxnSpPr>
            <p:nvPr/>
          </p:nvCxnSpPr>
          <p:spPr>
            <a:xfrm>
              <a:off x="989901" y="5964572"/>
              <a:ext cx="392884" cy="0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太陽 8">
              <a:extLst>
                <a:ext uri="{FF2B5EF4-FFF2-40B4-BE49-F238E27FC236}">
                  <a16:creationId xmlns:a16="http://schemas.microsoft.com/office/drawing/2014/main" id="{5C79A3A9-3980-4C43-8CE0-702ED6C52991}"/>
                </a:ext>
              </a:extLst>
            </p:cNvPr>
            <p:cNvSpPr/>
            <p:nvPr/>
          </p:nvSpPr>
          <p:spPr>
            <a:xfrm>
              <a:off x="602609" y="3435835"/>
              <a:ext cx="780176" cy="788564"/>
            </a:xfrm>
            <a:prstGeom prst="sun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2" name="直線矢印コネクタ 11">
              <a:extLst>
                <a:ext uri="{FF2B5EF4-FFF2-40B4-BE49-F238E27FC236}">
                  <a16:creationId xmlns:a16="http://schemas.microsoft.com/office/drawing/2014/main" id="{6D84D8DE-0535-478A-9949-6687378ED4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31842" y="3523377"/>
              <a:ext cx="0" cy="245377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コネクタ 13">
              <a:extLst>
                <a:ext uri="{FF2B5EF4-FFF2-40B4-BE49-F238E27FC236}">
                  <a16:creationId xmlns:a16="http://schemas.microsoft.com/office/drawing/2014/main" id="{C751997C-76AE-4734-B46F-5E58FBCF2E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8524" y="3523376"/>
              <a:ext cx="2389331" cy="0"/>
            </a:xfrm>
            <a:prstGeom prst="line">
              <a:avLst/>
            </a:prstGeom>
            <a:ln w="12700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テキスト ボックス 15">
                  <a:extLst>
                    <a:ext uri="{FF2B5EF4-FFF2-40B4-BE49-F238E27FC236}">
                      <a16:creationId xmlns:a16="http://schemas.microsoft.com/office/drawing/2014/main" id="{A121B67A-BBF0-439F-82C3-1F1F9A79839C}"/>
                    </a:ext>
                  </a:extLst>
                </p:cNvPr>
                <p:cNvSpPr txBox="1"/>
                <p:nvPr/>
              </p:nvSpPr>
              <p:spPr>
                <a:xfrm>
                  <a:off x="1857959" y="4282309"/>
                  <a:ext cx="476412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en-US" altLang="ja-JP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6" name="テキスト ボックス 15">
                  <a:extLst>
                    <a:ext uri="{FF2B5EF4-FFF2-40B4-BE49-F238E27FC236}">
                      <a16:creationId xmlns:a16="http://schemas.microsoft.com/office/drawing/2014/main" id="{A121B67A-BBF0-439F-82C3-1F1F9A7983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57959" y="4282309"/>
                  <a:ext cx="476412" cy="46166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テキスト ボックス 16">
                  <a:extLst>
                    <a:ext uri="{FF2B5EF4-FFF2-40B4-BE49-F238E27FC236}">
                      <a16:creationId xmlns:a16="http://schemas.microsoft.com/office/drawing/2014/main" id="{B24F3045-3EA4-493E-AA39-935BEAC4C159}"/>
                    </a:ext>
                  </a:extLst>
                </p:cNvPr>
                <p:cNvSpPr txBox="1"/>
                <p:nvPr/>
              </p:nvSpPr>
              <p:spPr>
                <a:xfrm>
                  <a:off x="1219899" y="5515490"/>
                  <a:ext cx="483081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en-US" altLang="ja-JP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17" name="テキスト ボックス 16">
                  <a:extLst>
                    <a:ext uri="{FF2B5EF4-FFF2-40B4-BE49-F238E27FC236}">
                      <a16:creationId xmlns:a16="http://schemas.microsoft.com/office/drawing/2014/main" id="{B24F3045-3EA4-493E-AA39-935BEAC4C1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19899" y="5515490"/>
                  <a:ext cx="483081" cy="46166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id="{2E303F21-F8FE-4AA8-9D04-A5642373ECA6}"/>
                </a:ext>
              </a:extLst>
            </p:cNvPr>
            <p:cNvSpPr txBox="1"/>
            <p:nvPr/>
          </p:nvSpPr>
          <p:spPr>
            <a:xfrm>
              <a:off x="3483069" y="4037422"/>
              <a:ext cx="553998" cy="1631216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ja-JP" altLang="en-US" sz="2400" dirty="0"/>
                <a:t>外積</a:t>
              </a:r>
              <a:r>
                <a:rPr lang="ja-JP" altLang="en-US" sz="2400" dirty="0">
                  <a:solidFill>
                    <a:schemeClr val="tx1"/>
                  </a:solidFill>
                </a:rPr>
                <a:t>の投影</a:t>
              </a:r>
              <a:endParaRPr lang="en-US" altLang="ja-JP" sz="24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48432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ベクトルの投影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26462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>
                <a:solidFill>
                  <a:schemeClr val="tx1"/>
                </a:solidFill>
              </a:rPr>
              <a:t>投影は影の長さを計算するときや、</a:t>
            </a:r>
            <a:endParaRPr lang="en-US" altLang="ja-JP" sz="2400" dirty="0">
              <a:solidFill>
                <a:schemeClr val="tx1"/>
              </a:solidFill>
            </a:endParaRPr>
          </a:p>
          <a:p>
            <a:r>
              <a:rPr lang="ja-JP" altLang="en-US" sz="2400" dirty="0">
                <a:solidFill>
                  <a:schemeClr val="tx1"/>
                </a:solidFill>
              </a:rPr>
              <a:t>視野角を扇形にしたい場合など、ゲームでも使うところは多いです。</a:t>
            </a:r>
            <a:endParaRPr lang="en-US" altLang="ja-JP" sz="2400" dirty="0">
              <a:solidFill>
                <a:schemeClr val="tx1"/>
              </a:solidFill>
            </a:endParaRPr>
          </a:p>
          <a:p>
            <a:r>
              <a:rPr lang="ja-JP" altLang="en-US" sz="2400" dirty="0"/>
              <a:t>計算自体はすでに学習しているので、</a:t>
            </a:r>
            <a:r>
              <a:rPr lang="ja-JP" altLang="en-US" sz="2400" b="1" dirty="0">
                <a:solidFill>
                  <a:srgbClr val="FF0000"/>
                </a:solidFill>
              </a:rPr>
              <a:t>投影のイメージ</a:t>
            </a:r>
            <a:r>
              <a:rPr lang="ja-JP" altLang="en-US" sz="2400" dirty="0"/>
              <a:t>をしっかり覚えましょう。</a:t>
            </a:r>
            <a:endParaRPr lang="en-US" altLang="ja-JP" sz="2400" dirty="0">
              <a:solidFill>
                <a:schemeClr val="tx1"/>
              </a:solidFill>
            </a:endParaRPr>
          </a:p>
        </p:txBody>
      </p: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92BDE6E4-6348-453A-AE77-FEFA11971D11}"/>
              </a:ext>
            </a:extLst>
          </p:cNvPr>
          <p:cNvGrpSpPr/>
          <p:nvPr/>
        </p:nvGrpSpPr>
        <p:grpSpPr>
          <a:xfrm>
            <a:off x="4678152" y="2898939"/>
            <a:ext cx="3434458" cy="2541320"/>
            <a:chOff x="602609" y="3435835"/>
            <a:chExt cx="3434458" cy="2541320"/>
          </a:xfrm>
        </p:grpSpPr>
        <p:cxnSp>
          <p:nvCxnSpPr>
            <p:cNvPr id="3" name="直線矢印コネクタ 2">
              <a:extLst>
                <a:ext uri="{FF2B5EF4-FFF2-40B4-BE49-F238E27FC236}">
                  <a16:creationId xmlns:a16="http://schemas.microsoft.com/office/drawing/2014/main" id="{CFF8D8BE-85A7-4A61-B1CC-CD02A23F5505}"/>
                </a:ext>
              </a:extLst>
            </p:cNvPr>
            <p:cNvCxnSpPr/>
            <p:nvPr/>
          </p:nvCxnSpPr>
          <p:spPr>
            <a:xfrm flipV="1">
              <a:off x="989901" y="3523376"/>
              <a:ext cx="2441941" cy="2441196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線矢印コネクタ 7">
              <a:extLst>
                <a:ext uri="{FF2B5EF4-FFF2-40B4-BE49-F238E27FC236}">
                  <a16:creationId xmlns:a16="http://schemas.microsoft.com/office/drawing/2014/main" id="{798C0893-F409-4772-BBFF-128182519C66}"/>
                </a:ext>
              </a:extLst>
            </p:cNvPr>
            <p:cNvCxnSpPr>
              <a:cxnSpLocks/>
            </p:cNvCxnSpPr>
            <p:nvPr/>
          </p:nvCxnSpPr>
          <p:spPr>
            <a:xfrm>
              <a:off x="989901" y="5964572"/>
              <a:ext cx="392884" cy="0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太陽 8">
              <a:extLst>
                <a:ext uri="{FF2B5EF4-FFF2-40B4-BE49-F238E27FC236}">
                  <a16:creationId xmlns:a16="http://schemas.microsoft.com/office/drawing/2014/main" id="{5C79A3A9-3980-4C43-8CE0-702ED6C52991}"/>
                </a:ext>
              </a:extLst>
            </p:cNvPr>
            <p:cNvSpPr/>
            <p:nvPr/>
          </p:nvSpPr>
          <p:spPr>
            <a:xfrm>
              <a:off x="602609" y="3435835"/>
              <a:ext cx="780176" cy="788564"/>
            </a:xfrm>
            <a:prstGeom prst="sun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2" name="直線矢印コネクタ 11">
              <a:extLst>
                <a:ext uri="{FF2B5EF4-FFF2-40B4-BE49-F238E27FC236}">
                  <a16:creationId xmlns:a16="http://schemas.microsoft.com/office/drawing/2014/main" id="{6D84D8DE-0535-478A-9949-6687378ED4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31842" y="3523377"/>
              <a:ext cx="0" cy="245377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コネクタ 13">
              <a:extLst>
                <a:ext uri="{FF2B5EF4-FFF2-40B4-BE49-F238E27FC236}">
                  <a16:creationId xmlns:a16="http://schemas.microsoft.com/office/drawing/2014/main" id="{C751997C-76AE-4734-B46F-5E58FBCF2E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8524" y="3523376"/>
              <a:ext cx="2389331" cy="0"/>
            </a:xfrm>
            <a:prstGeom prst="line">
              <a:avLst/>
            </a:prstGeom>
            <a:ln w="12700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テキスト ボックス 15">
                  <a:extLst>
                    <a:ext uri="{FF2B5EF4-FFF2-40B4-BE49-F238E27FC236}">
                      <a16:creationId xmlns:a16="http://schemas.microsoft.com/office/drawing/2014/main" id="{A121B67A-BBF0-439F-82C3-1F1F9A79839C}"/>
                    </a:ext>
                  </a:extLst>
                </p:cNvPr>
                <p:cNvSpPr txBox="1"/>
                <p:nvPr/>
              </p:nvSpPr>
              <p:spPr>
                <a:xfrm>
                  <a:off x="1857959" y="4282309"/>
                  <a:ext cx="476412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en-US" altLang="ja-JP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6" name="テキスト ボックス 15">
                  <a:extLst>
                    <a:ext uri="{FF2B5EF4-FFF2-40B4-BE49-F238E27FC236}">
                      <a16:creationId xmlns:a16="http://schemas.microsoft.com/office/drawing/2014/main" id="{A121B67A-BBF0-439F-82C3-1F1F9A7983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57959" y="4282309"/>
                  <a:ext cx="476412" cy="46166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テキスト ボックス 16">
                  <a:extLst>
                    <a:ext uri="{FF2B5EF4-FFF2-40B4-BE49-F238E27FC236}">
                      <a16:creationId xmlns:a16="http://schemas.microsoft.com/office/drawing/2014/main" id="{B24F3045-3EA4-493E-AA39-935BEAC4C159}"/>
                    </a:ext>
                  </a:extLst>
                </p:cNvPr>
                <p:cNvSpPr txBox="1"/>
                <p:nvPr/>
              </p:nvSpPr>
              <p:spPr>
                <a:xfrm>
                  <a:off x="1219899" y="5515490"/>
                  <a:ext cx="483081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en-US" altLang="ja-JP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17" name="テキスト ボックス 16">
                  <a:extLst>
                    <a:ext uri="{FF2B5EF4-FFF2-40B4-BE49-F238E27FC236}">
                      <a16:creationId xmlns:a16="http://schemas.microsoft.com/office/drawing/2014/main" id="{B24F3045-3EA4-493E-AA39-935BEAC4C1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19899" y="5515490"/>
                  <a:ext cx="483081" cy="46166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id="{2E303F21-F8FE-4AA8-9D04-A5642373ECA6}"/>
                </a:ext>
              </a:extLst>
            </p:cNvPr>
            <p:cNvSpPr txBox="1"/>
            <p:nvPr/>
          </p:nvSpPr>
          <p:spPr>
            <a:xfrm>
              <a:off x="3483069" y="4037422"/>
              <a:ext cx="553998" cy="1631216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ja-JP" altLang="en-US" sz="2400" dirty="0"/>
                <a:t>外積</a:t>
              </a:r>
              <a:r>
                <a:rPr lang="ja-JP" altLang="en-US" sz="2400" dirty="0">
                  <a:solidFill>
                    <a:schemeClr val="tx1"/>
                  </a:solidFill>
                </a:rPr>
                <a:t>の投影</a:t>
              </a:r>
              <a:endParaRPr lang="en-US" altLang="ja-JP" sz="2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096178F3-6BCE-4A95-990E-A2D90ED0E736}"/>
              </a:ext>
            </a:extLst>
          </p:cNvPr>
          <p:cNvGrpSpPr/>
          <p:nvPr/>
        </p:nvGrpSpPr>
        <p:grpSpPr>
          <a:xfrm>
            <a:off x="567542" y="2898939"/>
            <a:ext cx="2829233" cy="3287670"/>
            <a:chOff x="602609" y="3435835"/>
            <a:chExt cx="2829233" cy="3287670"/>
          </a:xfrm>
        </p:grpSpPr>
        <p:cxnSp>
          <p:nvCxnSpPr>
            <p:cNvPr id="15" name="直線矢印コネクタ 14">
              <a:extLst>
                <a:ext uri="{FF2B5EF4-FFF2-40B4-BE49-F238E27FC236}">
                  <a16:creationId xmlns:a16="http://schemas.microsoft.com/office/drawing/2014/main" id="{FA2DFC76-9891-4A72-909E-7E03C2200BAE}"/>
                </a:ext>
              </a:extLst>
            </p:cNvPr>
            <p:cNvCxnSpPr/>
            <p:nvPr/>
          </p:nvCxnSpPr>
          <p:spPr>
            <a:xfrm flipV="1">
              <a:off x="989901" y="3523376"/>
              <a:ext cx="2441941" cy="2441196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矢印コネクタ 19">
              <a:extLst>
                <a:ext uri="{FF2B5EF4-FFF2-40B4-BE49-F238E27FC236}">
                  <a16:creationId xmlns:a16="http://schemas.microsoft.com/office/drawing/2014/main" id="{D7FD04CF-DA9F-48C8-9C1B-D639E8F5ED32}"/>
                </a:ext>
              </a:extLst>
            </p:cNvPr>
            <p:cNvCxnSpPr>
              <a:cxnSpLocks/>
            </p:cNvCxnSpPr>
            <p:nvPr/>
          </p:nvCxnSpPr>
          <p:spPr>
            <a:xfrm>
              <a:off x="989901" y="5964572"/>
              <a:ext cx="392884" cy="0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太陽 20">
              <a:extLst>
                <a:ext uri="{FF2B5EF4-FFF2-40B4-BE49-F238E27FC236}">
                  <a16:creationId xmlns:a16="http://schemas.microsoft.com/office/drawing/2014/main" id="{0E4F7D26-3821-42EF-8812-D829963EB513}"/>
                </a:ext>
              </a:extLst>
            </p:cNvPr>
            <p:cNvSpPr/>
            <p:nvPr/>
          </p:nvSpPr>
          <p:spPr>
            <a:xfrm>
              <a:off x="602609" y="3435835"/>
              <a:ext cx="780176" cy="788564"/>
            </a:xfrm>
            <a:prstGeom prst="sun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22" name="直線矢印コネクタ 21">
              <a:extLst>
                <a:ext uri="{FF2B5EF4-FFF2-40B4-BE49-F238E27FC236}">
                  <a16:creationId xmlns:a16="http://schemas.microsoft.com/office/drawing/2014/main" id="{FFC671CD-C2CE-44BB-B391-6B38BEBE565B}"/>
                </a:ext>
              </a:extLst>
            </p:cNvPr>
            <p:cNvCxnSpPr>
              <a:cxnSpLocks/>
            </p:cNvCxnSpPr>
            <p:nvPr/>
          </p:nvCxnSpPr>
          <p:spPr>
            <a:xfrm>
              <a:off x="989901" y="6165908"/>
              <a:ext cx="2441941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コネクタ 22">
              <a:extLst>
                <a:ext uri="{FF2B5EF4-FFF2-40B4-BE49-F238E27FC236}">
                  <a16:creationId xmlns:a16="http://schemas.microsoft.com/office/drawing/2014/main" id="{9823582A-1ED5-4EBC-AB99-7B5A4D17BC77}"/>
                </a:ext>
              </a:extLst>
            </p:cNvPr>
            <p:cNvCxnSpPr/>
            <p:nvPr/>
          </p:nvCxnSpPr>
          <p:spPr>
            <a:xfrm>
              <a:off x="3431842" y="3523376"/>
              <a:ext cx="0" cy="2667699"/>
            </a:xfrm>
            <a:prstGeom prst="line">
              <a:avLst/>
            </a:prstGeom>
            <a:ln w="12700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7A86FFE6-DC07-4FAD-9324-49BCAA62F7DC}"/>
                    </a:ext>
                  </a:extLst>
                </p:cNvPr>
                <p:cNvSpPr txBox="1"/>
                <p:nvPr/>
              </p:nvSpPr>
              <p:spPr>
                <a:xfrm>
                  <a:off x="1857959" y="4282309"/>
                  <a:ext cx="476412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en-US" altLang="ja-JP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7A86FFE6-DC07-4FAD-9324-49BCAA62F7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57959" y="4282309"/>
                  <a:ext cx="476412" cy="46166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テキスト ボックス 24">
                  <a:extLst>
                    <a:ext uri="{FF2B5EF4-FFF2-40B4-BE49-F238E27FC236}">
                      <a16:creationId xmlns:a16="http://schemas.microsoft.com/office/drawing/2014/main" id="{757FA182-B54C-4648-A4E5-DD66B225490F}"/>
                    </a:ext>
                  </a:extLst>
                </p:cNvPr>
                <p:cNvSpPr txBox="1"/>
                <p:nvPr/>
              </p:nvSpPr>
              <p:spPr>
                <a:xfrm>
                  <a:off x="1219899" y="5515490"/>
                  <a:ext cx="483081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en-US" altLang="ja-JP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25" name="テキスト ボックス 24">
                  <a:extLst>
                    <a:ext uri="{FF2B5EF4-FFF2-40B4-BE49-F238E27FC236}">
                      <a16:creationId xmlns:a16="http://schemas.microsoft.com/office/drawing/2014/main" id="{757FA182-B54C-4648-A4E5-DD66B22549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19899" y="5515490"/>
                  <a:ext cx="483081" cy="46166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79469200-25B5-4A86-9E8F-8648F68F53EF}"/>
                </a:ext>
              </a:extLst>
            </p:cNvPr>
            <p:cNvSpPr txBox="1"/>
            <p:nvPr/>
          </p:nvSpPr>
          <p:spPr>
            <a:xfrm>
              <a:off x="1366144" y="6261840"/>
              <a:ext cx="17235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2400" dirty="0">
                  <a:solidFill>
                    <a:schemeClr val="tx1"/>
                  </a:solidFill>
                </a:rPr>
                <a:t>内積の投影</a:t>
              </a:r>
              <a:endParaRPr lang="en-US" altLang="ja-JP" sz="24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982842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1989</TotalTime>
  <Words>192</Words>
  <Application>Microsoft Office PowerPoint</Application>
  <PresentationFormat>ワイド画面</PresentationFormat>
  <Paragraphs>33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0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150</cp:revision>
  <dcterms:created xsi:type="dcterms:W3CDTF">2024-08-27T02:15:54Z</dcterms:created>
  <dcterms:modified xsi:type="dcterms:W3CDTF">2024-10-11T06:00:32Z</dcterms:modified>
</cp:coreProperties>
</file>