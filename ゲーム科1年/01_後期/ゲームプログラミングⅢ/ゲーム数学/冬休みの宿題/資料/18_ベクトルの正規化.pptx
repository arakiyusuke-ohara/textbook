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57" r:id="rId4"/>
    <p:sldId id="260" r:id="rId5"/>
    <p:sldId id="261" r:id="rId6"/>
    <p:sldId id="262"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2024/10/11</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200329"/>
          </a:xfrm>
          <a:prstGeom prst="rect">
            <a:avLst/>
          </a:prstGeom>
          <a:noFill/>
        </p:spPr>
        <p:txBody>
          <a:bodyPr wrap="none" rtlCol="0">
            <a:spAutoFit/>
          </a:bodyPr>
          <a:lstStyle/>
          <a:p>
            <a:r>
              <a:rPr lang="ja-JP" altLang="en-US" sz="2400" dirty="0">
                <a:solidFill>
                  <a:schemeClr val="tx1"/>
                </a:solidFill>
              </a:rPr>
              <a:t>ベクトルには</a:t>
            </a:r>
            <a:r>
              <a:rPr lang="ja-JP" altLang="en-US" sz="2400" b="1" dirty="0">
                <a:solidFill>
                  <a:srgbClr val="FF0000"/>
                </a:solidFill>
              </a:rPr>
              <a:t>正規化</a:t>
            </a:r>
            <a:r>
              <a:rPr lang="ja-JP" altLang="en-US" sz="2400" dirty="0">
                <a:solidFill>
                  <a:schemeClr val="tx1"/>
                </a:solidFill>
              </a:rPr>
              <a:t>という計算があります。</a:t>
            </a:r>
            <a:endParaRPr lang="en-US" altLang="ja-JP" sz="2400" dirty="0">
              <a:solidFill>
                <a:schemeClr val="tx1"/>
              </a:solidFill>
            </a:endParaRPr>
          </a:p>
          <a:p>
            <a:r>
              <a:rPr lang="ja-JP" altLang="en-US" sz="2400" dirty="0"/>
              <a:t>ベクトルの正規化とは、</a:t>
            </a:r>
            <a:r>
              <a:rPr lang="ja-JP" altLang="en-US" sz="2400" b="1" dirty="0">
                <a:solidFill>
                  <a:srgbClr val="FF0000"/>
                </a:solidFill>
              </a:rPr>
              <a:t>ベクトルの長さを１にする計算</a:t>
            </a:r>
            <a:r>
              <a:rPr lang="ja-JP" altLang="en-US" sz="2400" dirty="0"/>
              <a:t>になります。</a:t>
            </a:r>
            <a:endParaRPr lang="en-US" altLang="ja-JP" sz="2400" dirty="0"/>
          </a:p>
          <a:p>
            <a:r>
              <a:rPr lang="ja-JP" altLang="en-US" sz="2400" dirty="0"/>
              <a:t>これはベクトルのスカラー倍を応用すれば計算できます。</a:t>
            </a:r>
            <a:endParaRPr lang="en-US" altLang="ja-JP" sz="2400" dirty="0"/>
          </a:p>
        </p:txBody>
      </p:sp>
      <p:cxnSp>
        <p:nvCxnSpPr>
          <p:cNvPr id="3" name="直線矢印コネクタ 2">
            <a:extLst>
              <a:ext uri="{FF2B5EF4-FFF2-40B4-BE49-F238E27FC236}">
                <a16:creationId xmlns:a16="http://schemas.microsoft.com/office/drawing/2014/main" id="{87E994D0-8FE4-4863-BD6D-B18E8B3CCA64}"/>
              </a:ext>
            </a:extLst>
          </p:cNvPr>
          <p:cNvCxnSpPr/>
          <p:nvPr/>
        </p:nvCxnSpPr>
        <p:spPr>
          <a:xfrm>
            <a:off x="673741" y="3270338"/>
            <a:ext cx="36688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2EECD241-2F27-43E4-B489-A4E273509D05}"/>
              </a:ext>
            </a:extLst>
          </p:cNvPr>
          <p:cNvSpPr txBox="1"/>
          <p:nvPr/>
        </p:nvSpPr>
        <p:spPr>
          <a:xfrm>
            <a:off x="567542" y="3429000"/>
            <a:ext cx="4185761" cy="461665"/>
          </a:xfrm>
          <a:prstGeom prst="rect">
            <a:avLst/>
          </a:prstGeom>
          <a:noFill/>
        </p:spPr>
        <p:txBody>
          <a:bodyPr wrap="none" rtlCol="0">
            <a:spAutoFit/>
          </a:bodyPr>
          <a:lstStyle/>
          <a:p>
            <a:r>
              <a:rPr lang="ja-JP" altLang="en-US" sz="2400" dirty="0">
                <a:solidFill>
                  <a:schemeClr val="tx1"/>
                </a:solidFill>
              </a:rPr>
              <a:t>どんな長さのベクトルも。。</a:t>
            </a:r>
            <a:endParaRPr lang="en-US" altLang="ja-JP" sz="2400" dirty="0"/>
          </a:p>
        </p:txBody>
      </p:sp>
      <p:cxnSp>
        <p:nvCxnSpPr>
          <p:cNvPr id="8" name="直線矢印コネクタ 7">
            <a:extLst>
              <a:ext uri="{FF2B5EF4-FFF2-40B4-BE49-F238E27FC236}">
                <a16:creationId xmlns:a16="http://schemas.microsoft.com/office/drawing/2014/main" id="{399AD930-17FE-4650-88DD-951DBC36B7E3}"/>
              </a:ext>
            </a:extLst>
          </p:cNvPr>
          <p:cNvCxnSpPr>
            <a:cxnSpLocks/>
          </p:cNvCxnSpPr>
          <p:nvPr/>
        </p:nvCxnSpPr>
        <p:spPr>
          <a:xfrm>
            <a:off x="673741" y="4531398"/>
            <a:ext cx="40005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D3A5E05-B05B-4FF7-995C-AEA550DAC5FB}"/>
              </a:ext>
            </a:extLst>
          </p:cNvPr>
          <p:cNvSpPr txBox="1"/>
          <p:nvPr/>
        </p:nvSpPr>
        <p:spPr>
          <a:xfrm>
            <a:off x="567542" y="4690060"/>
            <a:ext cx="4185761" cy="461665"/>
          </a:xfrm>
          <a:prstGeom prst="rect">
            <a:avLst/>
          </a:prstGeom>
          <a:noFill/>
        </p:spPr>
        <p:txBody>
          <a:bodyPr wrap="none" rtlCol="0">
            <a:spAutoFit/>
          </a:bodyPr>
          <a:lstStyle/>
          <a:p>
            <a:r>
              <a:rPr lang="ja-JP" altLang="en-US" sz="2400" dirty="0">
                <a:solidFill>
                  <a:schemeClr val="tx1"/>
                </a:solidFill>
              </a:rPr>
              <a:t>正規化をすると長さ１になる</a:t>
            </a:r>
            <a:endParaRPr lang="en-US" altLang="ja-JP" sz="2400" dirty="0"/>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04066304-5E87-4551-887F-01FB3D7B53F9}"/>
                  </a:ext>
                </a:extLst>
              </p:cNvPr>
              <p:cNvSpPr txBox="1"/>
              <p:nvPr/>
            </p:nvSpPr>
            <p:spPr>
              <a:xfrm>
                <a:off x="617876" y="4055620"/>
                <a:ext cx="44275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1</m:t>
                      </m:r>
                    </m:oMath>
                  </m:oMathPara>
                </a14:m>
                <a:endParaRPr lang="en-US" altLang="ja-JP" sz="2400" dirty="0"/>
              </a:p>
            </p:txBody>
          </p:sp>
        </mc:Choice>
        <mc:Fallback>
          <p:sp>
            <p:nvSpPr>
              <p:cNvPr id="10" name="テキスト ボックス 9">
                <a:extLst>
                  <a:ext uri="{FF2B5EF4-FFF2-40B4-BE49-F238E27FC236}">
                    <a16:creationId xmlns:a16="http://schemas.microsoft.com/office/drawing/2014/main" id="{04066304-5E87-4551-887F-01FB3D7B53F9}"/>
                  </a:ext>
                </a:extLst>
              </p:cNvPr>
              <p:cNvSpPr txBox="1">
                <a:spLocks noRot="1" noChangeAspect="1" noMove="1" noResize="1" noEditPoints="1" noAdjustHandles="1" noChangeArrowheads="1" noChangeShapeType="1" noTextEdit="1"/>
              </p:cNvSpPr>
              <p:nvPr/>
            </p:nvSpPr>
            <p:spPr>
              <a:xfrm>
                <a:off x="617876" y="4055620"/>
                <a:ext cx="442750" cy="461665"/>
              </a:xfrm>
              <a:prstGeom prst="rect">
                <a:avLst/>
              </a:prstGeom>
              <a:blipFill>
                <a:blip r:embed="rId2"/>
                <a:stretch>
                  <a:fillRect/>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3FDBA531-3764-4BE4-A2D6-96986B29E267}"/>
              </a:ext>
            </a:extLst>
          </p:cNvPr>
          <p:cNvSpPr txBox="1"/>
          <p:nvPr/>
        </p:nvSpPr>
        <p:spPr>
          <a:xfrm>
            <a:off x="567542" y="5939154"/>
            <a:ext cx="8186857" cy="461665"/>
          </a:xfrm>
          <a:prstGeom prst="rect">
            <a:avLst/>
          </a:prstGeom>
          <a:noFill/>
        </p:spPr>
        <p:txBody>
          <a:bodyPr wrap="none" rtlCol="0">
            <a:spAutoFit/>
          </a:bodyPr>
          <a:lstStyle/>
          <a:p>
            <a:r>
              <a:rPr lang="ja-JP" altLang="en-US" sz="2400" dirty="0">
                <a:solidFill>
                  <a:schemeClr val="tx1"/>
                </a:solidFill>
              </a:rPr>
              <a:t>使いこなせばゲーム制作で</a:t>
            </a:r>
            <a:r>
              <a:rPr lang="ja-JP" altLang="en-US" sz="2400" b="1" dirty="0">
                <a:solidFill>
                  <a:srgbClr val="FF0000"/>
                </a:solidFill>
              </a:rPr>
              <a:t>とても便利な計算</a:t>
            </a:r>
            <a:r>
              <a:rPr lang="ja-JP" altLang="en-US" sz="2400" dirty="0">
                <a:solidFill>
                  <a:schemeClr val="tx1"/>
                </a:solidFill>
              </a:rPr>
              <a:t>となります。</a:t>
            </a:r>
            <a:endParaRPr lang="en-US" altLang="ja-JP" sz="2400" dirty="0"/>
          </a:p>
        </p:txBody>
      </p:sp>
    </p:spTree>
    <p:extLst>
      <p:ext uri="{BB962C8B-B14F-4D97-AF65-F5344CB8AC3E}">
        <p14:creationId xmlns:p14="http://schemas.microsoft.com/office/powerpoint/2010/main" val="258989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190884" cy="3201517"/>
              </a:xfrm>
              <a:prstGeom prst="rect">
                <a:avLst/>
              </a:prstGeom>
              <a:noFill/>
            </p:spPr>
            <p:txBody>
              <a:bodyPr wrap="none" rtlCol="0">
                <a:spAutoFit/>
              </a:bodyPr>
              <a:lstStyle/>
              <a:p>
                <a:r>
                  <a:rPr lang="ja-JP" altLang="en-US" sz="2400" dirty="0">
                    <a:solidFill>
                      <a:schemeClr val="tx1"/>
                    </a:solidFill>
                  </a:rPr>
                  <a:t>極座標で考えると正規化の計算はとても簡単に考えられます。</a:t>
                </a:r>
                <a:endParaRPr lang="en-US" altLang="ja-JP" sz="2400" dirty="0">
                  <a:solidFill>
                    <a:schemeClr val="tx1"/>
                  </a:solidFill>
                </a:endParaRPr>
              </a:p>
              <a:p>
                <a:endParaRPr lang="en-US" altLang="ja-JP" sz="2400" dirty="0"/>
              </a:p>
              <a:p>
                <a:r>
                  <a:rPr lang="ja-JP" altLang="en-US" sz="2400" dirty="0"/>
                  <a:t>■例</a:t>
                </a:r>
                <a:endParaRPr lang="en-US" altLang="ja-JP" sz="2400" dirty="0"/>
              </a:p>
              <a:p>
                <a14:m>
                  <m:oMath xmlns:m="http://schemas.openxmlformats.org/officeDocument/2006/math">
                    <m:r>
                      <a:rPr lang="en-US" altLang="ja-JP" sz="2400" b="0" i="1" smtClean="0">
                        <a:latin typeface="Cambria Math" panose="02040503050406030204" pitchFamily="18" charset="0"/>
                      </a:rPr>
                      <m:t>25@40</m:t>
                    </m:r>
                    <m:r>
                      <a:rPr lang="en-US" altLang="ja-JP" sz="2400" i="1">
                        <a:latin typeface="Cambria Math" panose="02040503050406030204" pitchFamily="18" charset="0"/>
                      </a:rPr>
                      <m:t>°</m:t>
                    </m:r>
                  </m:oMath>
                </a14:m>
                <a:r>
                  <a:rPr lang="ja-JP" altLang="en-US" sz="2400" dirty="0"/>
                  <a:t>のベクトルを正規化する。</a:t>
                </a:r>
                <a:endParaRPr lang="en-US" altLang="ja-JP" sz="2400" dirty="0"/>
              </a:p>
              <a:p>
                <a:r>
                  <a:rPr lang="ja-JP" altLang="en-US" sz="2400" dirty="0"/>
                  <a:t>このベクトルの長さは</a:t>
                </a:r>
                <a14:m>
                  <m:oMath xmlns:m="http://schemas.openxmlformats.org/officeDocument/2006/math">
                    <m:r>
                      <a:rPr lang="en-US" altLang="ja-JP" sz="2400" b="0" i="1" smtClean="0">
                        <a:latin typeface="Cambria Math" panose="02040503050406030204" pitchFamily="18" charset="0"/>
                      </a:rPr>
                      <m:t>25</m:t>
                    </m:r>
                  </m:oMath>
                </a14:m>
                <a:r>
                  <a:rPr lang="ja-JP" altLang="en-US" sz="2400" dirty="0"/>
                  <a:t>なので、長さを</a:t>
                </a:r>
                <a14:m>
                  <m:oMath xmlns:m="http://schemas.openxmlformats.org/officeDocument/2006/math">
                    <m:r>
                      <a:rPr lang="en-US" altLang="ja-JP" sz="2400" b="0" i="1" smtClean="0">
                        <a:latin typeface="Cambria Math" panose="02040503050406030204" pitchFamily="18" charset="0"/>
                      </a:rPr>
                      <m:t>1</m:t>
                    </m:r>
                  </m:oMath>
                </a14:m>
                <a:r>
                  <a:rPr lang="ja-JP" altLang="en-US" sz="2400" dirty="0"/>
                  <a:t>にするには</a:t>
                </a:r>
                <a14:m>
                  <m:oMath xmlns:m="http://schemas.openxmlformats.org/officeDocument/2006/math">
                    <m:r>
                      <a:rPr lang="en-US" altLang="ja-JP" sz="2400" b="0" i="1" smtClean="0">
                        <a:latin typeface="Cambria Math" panose="02040503050406030204" pitchFamily="18" charset="0"/>
                      </a:rPr>
                      <m:t>25</m:t>
                    </m:r>
                  </m:oMath>
                </a14:m>
                <a:r>
                  <a:rPr lang="ja-JP" altLang="en-US" sz="2400" dirty="0"/>
                  <a:t>で割れば良い。よって、</a:t>
                </a:r>
                <a:endParaRPr lang="en-US" altLang="ja-JP" sz="2400" dirty="0"/>
              </a:p>
              <a:p>
                <a14:m>
                  <m:oMath xmlns:m="http://schemas.openxmlformats.org/officeDocument/2006/math">
                    <m:r>
                      <a:rPr lang="en-US" altLang="ja-JP" sz="2400" b="0" i="1" smtClean="0">
                        <a:latin typeface="Cambria Math" panose="02040503050406030204" pitchFamily="18" charset="0"/>
                      </a:rPr>
                      <m:t>25@40</m:t>
                    </m:r>
                    <m:r>
                      <a:rPr lang="en-US" altLang="ja-JP" sz="2400" i="1">
                        <a:latin typeface="Cambria Math" panose="02040503050406030204" pitchFamily="18" charset="0"/>
                      </a:rPr>
                      <m:t>°÷</m:t>
                    </m:r>
                    <m:r>
                      <a:rPr lang="en-US" altLang="ja-JP" sz="2400" b="0" i="1" smtClean="0">
                        <a:latin typeface="Cambria Math" panose="02040503050406030204" pitchFamily="18" charset="0"/>
                      </a:rPr>
                      <m:t>25=</m:t>
                    </m:r>
                    <m:r>
                      <a:rPr lang="en-US" altLang="ja-JP" sz="2400" i="1">
                        <a:latin typeface="Cambria Math" panose="02040503050406030204" pitchFamily="18" charset="0"/>
                      </a:rPr>
                      <m:t>25@40°</m:t>
                    </m:r>
                    <m:r>
                      <a:rPr lang="en-US" altLang="ja-JP" sz="2400" b="0" i="1">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25</m:t>
                        </m:r>
                      </m:den>
                    </m:f>
                    <m:r>
                      <a:rPr lang="en-US" altLang="ja-JP" sz="2400" b="0" i="1" smtClean="0">
                        <a:latin typeface="Cambria Math" panose="02040503050406030204" pitchFamily="18" charset="0"/>
                      </a:rPr>
                      <m:t>=1@40</m:t>
                    </m:r>
                    <m:r>
                      <a:rPr lang="en-US" altLang="ja-JP" sz="2400" i="1">
                        <a:latin typeface="Cambria Math" panose="02040503050406030204" pitchFamily="18" charset="0"/>
                      </a:rPr>
                      <m:t>°</m:t>
                    </m:r>
                  </m:oMath>
                </a14:m>
                <a:r>
                  <a:rPr lang="en-US" altLang="ja-JP" sz="2400" dirty="0"/>
                  <a:t> </a:t>
                </a:r>
                <a:r>
                  <a:rPr lang="ja-JP" altLang="en-US" sz="2400" dirty="0"/>
                  <a:t>となる。</a:t>
                </a:r>
                <a:endParaRPr lang="en-US" altLang="ja-JP" sz="2400" dirty="0"/>
              </a:p>
              <a:p>
                <a:endParaRPr lang="en-US" altLang="ja-JP" sz="2400" dirty="0"/>
              </a:p>
              <a:p>
                <a:r>
                  <a:rPr lang="ja-JP" altLang="en-US" sz="2400" dirty="0"/>
                  <a:t>つまり、</a:t>
                </a:r>
                <a:r>
                  <a:rPr lang="ja-JP" altLang="en-US" sz="2400" b="1" dirty="0">
                    <a:solidFill>
                      <a:srgbClr val="FF0000"/>
                    </a:solidFill>
                  </a:rPr>
                  <a:t>そのベクトルの長さで割れば正規化することができます。</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1190884" cy="3201517"/>
              </a:xfrm>
              <a:prstGeom prst="rect">
                <a:avLst/>
              </a:prstGeom>
              <a:blipFill>
                <a:blip r:embed="rId2"/>
                <a:stretch>
                  <a:fillRect l="-817" t="-1524" b="-34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89112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2877070"/>
              </a:xfrm>
              <a:prstGeom prst="rect">
                <a:avLst/>
              </a:prstGeom>
              <a:noFill/>
            </p:spPr>
            <p:txBody>
              <a:bodyPr wrap="none" rtlCol="0">
                <a:spAutoFit/>
              </a:bodyPr>
              <a:lstStyle/>
              <a:p>
                <a:r>
                  <a:rPr lang="ja-JP" altLang="en-US" sz="2400" dirty="0"/>
                  <a:t>よって正規化の計算は以下の通りになります。</a:t>
                </a:r>
                <a:endParaRPr lang="en-US" altLang="ja-JP" sz="2400" dirty="0"/>
              </a:p>
              <a:p>
                <a:endParaRPr lang="en-US" altLang="ja-JP" sz="2400" dirty="0"/>
              </a:p>
              <a:p>
                <a:r>
                  <a:rPr lang="ja-JP" altLang="en-US" sz="2400" b="1" dirty="0">
                    <a:solidFill>
                      <a:srgbClr val="FF0000"/>
                    </a:solidFill>
                  </a:rPr>
                  <a:t>■ベクトルの正規化</a:t>
                </a:r>
                <a:endParaRPr lang="en-US" altLang="ja-JP" sz="2400" b="1" dirty="0">
                  <a:solidFill>
                    <a:srgbClr val="FF0000"/>
                  </a:solidFill>
                </a:endParaRPr>
              </a:p>
              <a:p>
                <a14:m>
                  <m:oMath xmlns:m="http://schemas.openxmlformats.org/officeDocument/2006/math">
                    <m:r>
                      <a:rPr lang="ja-JP" altLang="en-US" sz="2400" b="0" i="1" dirty="0" smtClean="0">
                        <a:solidFill>
                          <a:schemeClr val="tx1"/>
                        </a:solidFill>
                        <a:latin typeface="Cambria Math" panose="02040503050406030204" pitchFamily="18" charset="0"/>
                      </a:rPr>
                      <m:t>ベクトル</m:t>
                    </m:r>
                    <m:r>
                      <a:rPr lang="en-US" altLang="ja-JP" sz="2400" b="0" i="1" dirty="0" smtClean="0">
                        <a:solidFill>
                          <a:schemeClr val="tx1"/>
                        </a:solidFill>
                        <a:latin typeface="Cambria Math" panose="02040503050406030204" pitchFamily="18" charset="0"/>
                      </a:rPr>
                      <m:t>𝐴</m:t>
                    </m:r>
                    <m:r>
                      <a:rPr lang="en-US" altLang="ja-JP"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𝑦</m:t>
                    </m:r>
                    <m:r>
                      <a:rPr lang="en-US" altLang="ja-JP" sz="2400" b="0" i="1" dirty="0" smtClean="0">
                        <a:solidFill>
                          <a:schemeClr val="tx1"/>
                        </a:solidFill>
                        <a:latin typeface="Cambria Math" panose="02040503050406030204" pitchFamily="18" charset="0"/>
                      </a:rPr>
                      <m:t>]</m:t>
                    </m:r>
                  </m:oMath>
                </a14:m>
                <a:r>
                  <a:rPr lang="ja-JP" altLang="en-US" sz="2400" dirty="0">
                    <a:solidFill>
                      <a:schemeClr val="tx1"/>
                    </a:solidFill>
                  </a:rPr>
                  <a:t>のとき、</a:t>
                </a:r>
                <a:endParaRPr lang="en-US" altLang="ja-JP" sz="2400" dirty="0">
                  <a:solidFill>
                    <a:schemeClr val="tx1"/>
                  </a:solidFill>
                </a:endParaRPr>
              </a:p>
              <a:p>
                <a14:m>
                  <m:oMath xmlns:m="http://schemas.openxmlformats.org/officeDocument/2006/math">
                    <m:acc>
                      <m:accPr>
                        <m:chr m:val="̂"/>
                        <m:ctrlPr>
                          <a:rPr lang="en-US" altLang="ja-JP" sz="2400" i="1" smtClean="0">
                            <a:solidFill>
                              <a:schemeClr val="tx1"/>
                            </a:solidFill>
                            <a:latin typeface="Cambria Math" panose="02040503050406030204" pitchFamily="18" charset="0"/>
                          </a:rPr>
                        </m:ctrlPr>
                      </m:accPr>
                      <m:e>
                        <m:r>
                          <a:rPr lang="en-US" altLang="ja-JP" sz="2400" b="0" i="1" smtClean="0">
                            <a:solidFill>
                              <a:schemeClr val="tx1"/>
                            </a:solidFill>
                            <a:latin typeface="Cambria Math" panose="02040503050406030204" pitchFamily="18" charset="0"/>
                          </a:rPr>
                          <m:t>𝐴</m:t>
                        </m:r>
                      </m:e>
                    </m:acc>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1</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𝑥</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𝑦</m:t>
                        </m:r>
                      </m:num>
                      <m:den>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den>
                    </m:f>
                    <m:r>
                      <a:rPr lang="en-US" altLang="ja-JP" sz="2400" b="0" i="1" smtClean="0">
                        <a:solidFill>
                          <a:schemeClr val="tx1"/>
                        </a:solidFill>
                        <a:latin typeface="Cambria Math" panose="02040503050406030204" pitchFamily="18" charset="0"/>
                      </a:rPr>
                      <m:t>]</m:t>
                    </m:r>
                  </m:oMath>
                </a14:m>
                <a:r>
                  <a:rPr lang="en-US" altLang="ja-JP" sz="2400" dirty="0"/>
                  <a:t> </a:t>
                </a:r>
              </a:p>
              <a:p>
                <a:endParaRPr lang="en-US" altLang="ja-JP" sz="2400" dirty="0"/>
              </a:p>
              <a:p>
                <a:r>
                  <a:rPr lang="ja-JP" altLang="en-US" sz="2400" dirty="0"/>
                  <a:t>デカルト座標で計算する場合は、各成分を長さで割ってあげましょう。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033516" cy="2877070"/>
              </a:xfrm>
              <a:prstGeom prst="rect">
                <a:avLst/>
              </a:prstGeom>
              <a:blipFill>
                <a:blip r:embed="rId2"/>
                <a:stretch>
                  <a:fillRect l="-911" t="-1695" b="-381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83660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033155"/>
              </a:xfrm>
              <a:prstGeom prst="rect">
                <a:avLst/>
              </a:prstGeom>
              <a:noFill/>
            </p:spPr>
            <p:txBody>
              <a:bodyPr wrap="none" rtlCol="0">
                <a:spAutoFit/>
              </a:bodyPr>
              <a:lstStyle/>
              <a:p>
                <a:r>
                  <a:rPr lang="ja-JP" altLang="en-US" sz="2400" dirty="0"/>
                  <a:t>ベクトル</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=[5, −12]</m:t>
                    </m:r>
                  </m:oMath>
                </a14:m>
                <a:r>
                  <a:rPr lang="ja-JP" altLang="en-US" sz="2400" dirty="0"/>
                  <a:t>を正規化しなさい。</a:t>
                </a:r>
                <a:endParaRPr lang="en-US" altLang="ja-JP" sz="2400" dirty="0"/>
              </a:p>
              <a:p>
                <a:endParaRPr lang="en-US" altLang="ja-JP" sz="2400" dirty="0"/>
              </a:p>
              <a:p>
                <a:r>
                  <a:rPr lang="ja-JP" altLang="en-US" sz="2400" dirty="0"/>
                  <a:t>■解答</a:t>
                </a:r>
                <a:endParaRPr lang="en-US" altLang="ja-JP" sz="2400" dirty="0"/>
              </a:p>
              <a:p>
                <a:r>
                  <a:rPr lang="ja-JP" altLang="en-US" sz="2400" dirty="0"/>
                  <a:t>ベクトル</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の長さは、</a:t>
                </a:r>
                <a:endParaRPr lang="en-US" altLang="ja-JP" sz="2400" dirty="0"/>
              </a:p>
              <a:p>
                <a14:m>
                  <m:oMath xmlns:m="http://schemas.openxmlformats.org/officeDocument/2006/math">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rad>
                      <m:radPr>
                        <m:degHide m:val="on"/>
                        <m:ctrlPr>
                          <a:rPr lang="en-US" altLang="ja-JP" sz="2400" b="0" i="1" smtClean="0">
                            <a:latin typeface="Cambria Math" panose="02040503050406030204" pitchFamily="18" charset="0"/>
                          </a:rPr>
                        </m:ctrlPr>
                      </m:radPr>
                      <m:deg/>
                      <m:e>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5</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m:t>
                        </m:r>
                        <m:sSup>
                          <m:sSupPr>
                            <m:ctrlPr>
                              <a:rPr lang="en-US" altLang="ja-JP" sz="2400" i="1">
                                <a:latin typeface="Cambria Math" panose="02040503050406030204" pitchFamily="18" charset="0"/>
                              </a:rPr>
                            </m:ctrlPr>
                          </m:sSupPr>
                          <m:e>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−12</m:t>
                                </m:r>
                              </m:e>
                            </m:d>
                          </m:e>
                          <m:sup>
                            <m:r>
                              <a:rPr lang="en-US" altLang="ja-JP" sz="2400" i="1">
                                <a:latin typeface="Cambria Math" panose="02040503050406030204" pitchFamily="18" charset="0"/>
                              </a:rPr>
                              <m:t>2</m:t>
                            </m:r>
                          </m:sup>
                        </m:sSup>
                      </m:e>
                    </m:rad>
                    <m:r>
                      <a:rPr lang="en-US" altLang="ja-JP" sz="2400" b="0" i="1" smtClean="0">
                        <a:latin typeface="Cambria Math" panose="02040503050406030204" pitchFamily="18" charset="0"/>
                      </a:rPr>
                      <m:t>=</m:t>
                    </m:r>
                    <m:rad>
                      <m:radPr>
                        <m:degHide m:val="on"/>
                        <m:ctrlPr>
                          <a:rPr lang="en-US" altLang="ja-JP" sz="2400" i="1">
                            <a:latin typeface="Cambria Math" panose="02040503050406030204" pitchFamily="18" charset="0"/>
                          </a:rPr>
                        </m:ctrlPr>
                      </m:radPr>
                      <m:deg/>
                      <m:e>
                        <m:r>
                          <a:rPr lang="en-US" altLang="ja-JP" sz="2400" b="0" i="1" smtClean="0">
                            <a:latin typeface="Cambria Math" panose="02040503050406030204" pitchFamily="18" charset="0"/>
                          </a:rPr>
                          <m:t>25</m:t>
                        </m:r>
                        <m:r>
                          <a:rPr lang="en-US" altLang="ja-JP" sz="2400" i="1">
                            <a:latin typeface="Cambria Math" panose="02040503050406030204" pitchFamily="18" charset="0"/>
                          </a:rPr>
                          <m:t>+</m:t>
                        </m:r>
                        <m:r>
                          <a:rPr lang="en-US" altLang="ja-JP" sz="2400" b="0" i="1" smtClean="0">
                            <a:latin typeface="Cambria Math" panose="02040503050406030204" pitchFamily="18" charset="0"/>
                          </a:rPr>
                          <m:t>144</m:t>
                        </m:r>
                      </m:e>
                    </m:rad>
                    <m:r>
                      <a:rPr lang="en-US" altLang="ja-JP" sz="2400" b="0" i="1" smtClean="0">
                        <a:latin typeface="Cambria Math" panose="02040503050406030204" pitchFamily="18" charset="0"/>
                      </a:rPr>
                      <m:t>=</m:t>
                    </m:r>
                    <m:rad>
                      <m:radPr>
                        <m:degHide m:val="on"/>
                        <m:ctrlPr>
                          <a:rPr lang="en-US" altLang="ja-JP" sz="2400" i="1">
                            <a:latin typeface="Cambria Math" panose="02040503050406030204" pitchFamily="18" charset="0"/>
                          </a:rPr>
                        </m:ctrlPr>
                      </m:radPr>
                      <m:deg/>
                      <m:e>
                        <m:r>
                          <a:rPr lang="en-US" altLang="ja-JP" sz="2400" b="0" i="1" smtClean="0">
                            <a:latin typeface="Cambria Math" panose="02040503050406030204" pitchFamily="18" charset="0"/>
                          </a:rPr>
                          <m:t>169</m:t>
                        </m:r>
                      </m:e>
                    </m:rad>
                    <m:r>
                      <a:rPr lang="en-US" altLang="ja-JP" sz="2400" b="0" i="1" smtClean="0">
                        <a:latin typeface="Cambria Math" panose="02040503050406030204" pitchFamily="18" charset="0"/>
                      </a:rPr>
                      <m:t>=13</m:t>
                    </m:r>
                  </m:oMath>
                </a14:m>
                <a:r>
                  <a:rPr lang="en-US" altLang="ja-JP" sz="2400" dirty="0"/>
                  <a:t> </a:t>
                </a:r>
              </a:p>
              <a:p>
                <a:endParaRPr lang="en-US" altLang="ja-JP" sz="2400" dirty="0"/>
              </a:p>
              <a:p>
                <a:r>
                  <a:rPr lang="ja-JP" altLang="en-US" sz="2400" dirty="0"/>
                  <a:t>正規化するには各成分を長さで割るので、</a:t>
                </a:r>
                <a:endParaRPr lang="en-US" altLang="ja-JP" sz="2400" dirty="0"/>
              </a:p>
              <a:p>
                <a14:m>
                  <m:oMath xmlns:m="http://schemas.openxmlformats.org/officeDocument/2006/math">
                    <m:acc>
                      <m:accPr>
                        <m:chr m:val="̂"/>
                        <m:ctrlPr>
                          <a:rPr lang="en-US" altLang="ja-JP" sz="2400" i="1" smtClean="0">
                            <a:latin typeface="Cambria Math" panose="02040503050406030204" pitchFamily="18" charset="0"/>
                          </a:rPr>
                        </m:ctrlPr>
                      </m:accPr>
                      <m:e>
                        <m:r>
                          <a:rPr lang="en-US" altLang="ja-JP" sz="2400" b="0" i="1" smtClean="0">
                            <a:latin typeface="Cambria Math" panose="02040503050406030204" pitchFamily="18" charset="0"/>
                          </a:rPr>
                          <m:t>𝐴</m:t>
                        </m:r>
                      </m:e>
                    </m:acc>
                    <m:r>
                      <a:rPr lang="en-US" altLang="ja-JP" sz="2400" b="0" i="1" smtClean="0">
                        <a:latin typeface="Cambria Math" panose="02040503050406030204" pitchFamily="18" charset="0"/>
                      </a:rPr>
                      <m:t>=</m:t>
                    </m:r>
                    <m:r>
                      <a:rPr lang="en-US" altLang="ja-JP" sz="2400" b="1" i="1" smtClean="0">
                        <a:solidFill>
                          <a:srgbClr val="FF0000"/>
                        </a:solidFill>
                        <a:latin typeface="Cambria Math" panose="02040503050406030204" pitchFamily="18" charset="0"/>
                      </a:rPr>
                      <m:t>[</m:t>
                    </m:r>
                    <m:f>
                      <m:fPr>
                        <m:ctrlPr>
                          <a:rPr lang="en-US" altLang="ja-JP" sz="2400" b="1" i="1" smtClean="0">
                            <a:solidFill>
                              <a:srgbClr val="FF0000"/>
                            </a:solidFill>
                            <a:latin typeface="Cambria Math" panose="02040503050406030204" pitchFamily="18" charset="0"/>
                          </a:rPr>
                        </m:ctrlPr>
                      </m:fPr>
                      <m:num>
                        <m:r>
                          <a:rPr lang="en-US" altLang="ja-JP" sz="2400" b="1" i="1" smtClean="0">
                            <a:solidFill>
                              <a:srgbClr val="FF0000"/>
                            </a:solidFill>
                            <a:latin typeface="Cambria Math" panose="02040503050406030204" pitchFamily="18" charset="0"/>
                          </a:rPr>
                          <m:t>𝟓</m:t>
                        </m:r>
                      </m:num>
                      <m:den>
                        <m:r>
                          <a:rPr lang="en-US" altLang="ja-JP" sz="2400" b="1" i="1" smtClean="0">
                            <a:solidFill>
                              <a:srgbClr val="FF0000"/>
                            </a:solidFill>
                            <a:latin typeface="Cambria Math" panose="02040503050406030204" pitchFamily="18" charset="0"/>
                          </a:rPr>
                          <m:t>𝟏𝟑</m:t>
                        </m:r>
                      </m:den>
                    </m:f>
                    <m:r>
                      <a:rPr lang="en-US" altLang="ja-JP" sz="2400" b="1" i="1" smtClean="0">
                        <a:solidFill>
                          <a:srgbClr val="FF0000"/>
                        </a:solidFill>
                        <a:latin typeface="Cambria Math" panose="02040503050406030204" pitchFamily="18" charset="0"/>
                      </a:rPr>
                      <m:t>,−</m:t>
                    </m:r>
                    <m:f>
                      <m:fPr>
                        <m:ctrlPr>
                          <a:rPr lang="en-US" altLang="ja-JP" sz="2400" b="1" i="1">
                            <a:solidFill>
                              <a:srgbClr val="FF0000"/>
                            </a:solidFill>
                            <a:latin typeface="Cambria Math" panose="02040503050406030204" pitchFamily="18" charset="0"/>
                          </a:rPr>
                        </m:ctrlPr>
                      </m:fPr>
                      <m:num>
                        <m:r>
                          <a:rPr lang="en-US" altLang="ja-JP" sz="2400" b="1" i="1" smtClean="0">
                            <a:solidFill>
                              <a:srgbClr val="FF0000"/>
                            </a:solidFill>
                            <a:latin typeface="Cambria Math" panose="02040503050406030204" pitchFamily="18" charset="0"/>
                          </a:rPr>
                          <m:t>𝟏𝟐</m:t>
                        </m:r>
                      </m:num>
                      <m:den>
                        <m:r>
                          <a:rPr lang="en-US" altLang="ja-JP" sz="2400" b="1" i="1">
                            <a:solidFill>
                              <a:srgbClr val="FF0000"/>
                            </a:solidFill>
                            <a:latin typeface="Cambria Math" panose="02040503050406030204" pitchFamily="18" charset="0"/>
                          </a:rPr>
                          <m:t>𝟏𝟑</m:t>
                        </m:r>
                      </m:den>
                    </m:f>
                    <m:r>
                      <a:rPr lang="en-US" altLang="ja-JP" sz="2400" b="1" i="1" smtClean="0">
                        <a:solidFill>
                          <a:srgbClr val="FF0000"/>
                        </a:solidFill>
                        <a:latin typeface="Cambria Math" panose="02040503050406030204" pitchFamily="18" charset="0"/>
                      </a:rPr>
                      <m:t>]</m:t>
                    </m:r>
                  </m:oMath>
                </a14:m>
                <a:r>
                  <a:rPr lang="en-US" altLang="ja-JP" sz="2400" b="1" dirty="0">
                    <a:solidFill>
                      <a:srgbClr val="FF0000"/>
                    </a:solidFill>
                  </a:rPr>
                  <a:t> </a:t>
                </a:r>
              </a:p>
              <a:p>
                <a:endParaRPr lang="en-US" altLang="ja-JP" sz="2400" b="1" dirty="0">
                  <a:solidFill>
                    <a:srgbClr val="FF0000"/>
                  </a:solidFill>
                </a:endParaRPr>
              </a:p>
              <a:p>
                <a:r>
                  <a:rPr lang="ja-JP" altLang="en-US" sz="2400" b="1" dirty="0">
                    <a:solidFill>
                      <a:srgbClr val="FF0000"/>
                    </a:solidFill>
                  </a:rPr>
                  <a:t>デカルト座標のベクトルの長さはピタゴラスの定理で求めましょう。</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725739" cy="4033155"/>
              </a:xfrm>
              <a:prstGeom prst="rect">
                <a:avLst/>
              </a:prstGeom>
              <a:blipFill>
                <a:blip r:embed="rId2"/>
                <a:stretch>
                  <a:fillRect l="-940" t="-1210" b="-257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7376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練習</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304657" cy="1569660"/>
              </a:xfrm>
              <a:prstGeom prst="rect">
                <a:avLst/>
              </a:prstGeom>
              <a:noFill/>
            </p:spPr>
            <p:txBody>
              <a:bodyPr wrap="none" rtlCol="0">
                <a:spAutoFit/>
              </a:bodyPr>
              <a:lstStyle/>
              <a:p>
                <a:r>
                  <a:rPr lang="ja-JP" altLang="en-US" sz="2400" dirty="0"/>
                  <a:t>以下のベクトル</a:t>
                </a:r>
                <a14:m>
                  <m:oMath xmlns:m="http://schemas.openxmlformats.org/officeDocument/2006/math">
                    <m:r>
                      <a:rPr lang="en-US" altLang="ja-JP" sz="2400" b="0" i="1" smtClean="0">
                        <a:latin typeface="Cambria Math" panose="02040503050406030204" pitchFamily="18" charset="0"/>
                      </a:rPr>
                      <m:t>𝐴</m:t>
                    </m:r>
                    <m:r>
                      <a:rPr lang="ja-JP" altLang="en-US" sz="2400" i="1">
                        <a:latin typeface="Cambria Math" panose="02040503050406030204" pitchFamily="18" charset="0"/>
                      </a:rPr>
                      <m:t>を</m:t>
                    </m:r>
                  </m:oMath>
                </a14:m>
                <a:r>
                  <a:rPr lang="ja-JP" altLang="en-US" sz="2400" dirty="0"/>
                  <a:t>正規化しなさい。</a:t>
                </a:r>
                <a:endParaRPr lang="en-US" altLang="ja-JP" sz="2400" dirty="0"/>
              </a:p>
              <a:p>
                <a:endParaRPr lang="en-US" altLang="ja-JP" sz="2400" dirty="0"/>
              </a:p>
              <a:p>
                <a:pPr marL="457200" indent="-457200">
                  <a:buFont typeface="+mj-ea"/>
                  <a:buAutoNum type="circleNumDbPlain"/>
                </a:pPr>
                <a:r>
                  <a:rPr lang="en-US" altLang="ja-JP" sz="2400" dirty="0"/>
                  <a:t> </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=[24, 10]</m:t>
                    </m:r>
                  </m:oMath>
                </a14:m>
                <a:endParaRPr lang="en-US" altLang="ja-JP" sz="2400" dirty="0"/>
              </a:p>
              <a:p>
                <a:pPr marL="457200" indent="-457200">
                  <a:buFont typeface="+mj-ea"/>
                  <a:buAutoNum type="circleNumDbPlain"/>
                </a:pPr>
                <a:r>
                  <a:rPr lang="en-US" altLang="ja-JP" sz="2400" dirty="0"/>
                  <a:t> </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=[7, 24]</m:t>
                    </m:r>
                  </m:oMath>
                </a14:m>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5304657" cy="1569660"/>
              </a:xfrm>
              <a:prstGeom prst="rect">
                <a:avLst/>
              </a:prstGeom>
              <a:blipFill>
                <a:blip r:embed="rId2"/>
                <a:stretch>
                  <a:fillRect l="-1954" t="-3113" r="-920" b="-933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53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補足</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47259" cy="2162836"/>
              </a:xfrm>
              <a:prstGeom prst="rect">
                <a:avLst/>
              </a:prstGeom>
              <a:noFill/>
            </p:spPr>
            <p:txBody>
              <a:bodyPr wrap="none" rtlCol="0">
                <a:spAutoFit/>
              </a:bodyPr>
              <a:lstStyle/>
              <a:p>
                <a:r>
                  <a:rPr lang="ja-JP" altLang="en-US" sz="2400" dirty="0"/>
                  <a:t>ベクトルが</a:t>
                </a:r>
                <a:r>
                  <a:rPr lang="en-US" altLang="ja-JP" sz="2400" dirty="0"/>
                  <a:t>3D</a:t>
                </a:r>
                <a:r>
                  <a:rPr lang="ja-JP" altLang="en-US" sz="2400" dirty="0"/>
                  <a:t>の場合は</a:t>
                </a:r>
                <a:r>
                  <a:rPr lang="en-US" altLang="ja-JP" sz="2400" dirty="0"/>
                  <a:t>Z</a:t>
                </a:r>
                <a:r>
                  <a:rPr lang="ja-JP" altLang="en-US" sz="2400" dirty="0"/>
                  <a:t>成分が追加されるだけです。</a:t>
                </a:r>
                <a:endParaRPr lang="en-US" altLang="ja-JP" sz="2400" dirty="0"/>
              </a:p>
              <a:p>
                <a:endParaRPr lang="en-US" altLang="ja-JP" sz="2400" dirty="0"/>
              </a:p>
              <a:p>
                <a:r>
                  <a:rPr lang="ja-JP" altLang="en-US" sz="2400" b="1" dirty="0">
                    <a:solidFill>
                      <a:srgbClr val="FF0000"/>
                    </a:solidFill>
                  </a:rPr>
                  <a:t>■ベクトルの正規化</a:t>
                </a:r>
                <a:r>
                  <a:rPr lang="en-US" altLang="ja-JP" sz="2400" b="1" dirty="0">
                    <a:solidFill>
                      <a:srgbClr val="FF0000"/>
                    </a:solidFill>
                  </a:rPr>
                  <a:t>(3D)</a:t>
                </a:r>
              </a:p>
              <a:p>
                <a14:m>
                  <m:oMath xmlns:m="http://schemas.openxmlformats.org/officeDocument/2006/math">
                    <m:r>
                      <a:rPr lang="ja-JP" altLang="en-US" sz="2400" b="0" i="1" dirty="0" smtClean="0">
                        <a:solidFill>
                          <a:schemeClr val="tx1"/>
                        </a:solidFill>
                        <a:latin typeface="Cambria Math" panose="02040503050406030204" pitchFamily="18" charset="0"/>
                      </a:rPr>
                      <m:t>ベクトル</m:t>
                    </m:r>
                    <m:r>
                      <a:rPr lang="en-US" altLang="ja-JP" sz="2400" b="0" i="1" dirty="0" smtClean="0">
                        <a:solidFill>
                          <a:schemeClr val="tx1"/>
                        </a:solidFill>
                        <a:latin typeface="Cambria Math" panose="02040503050406030204" pitchFamily="18" charset="0"/>
                      </a:rPr>
                      <m:t>𝐴</m:t>
                    </m:r>
                    <m:r>
                      <a:rPr lang="en-US" altLang="ja-JP"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𝑦</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𝑧</m:t>
                    </m:r>
                    <m:r>
                      <a:rPr lang="en-US" altLang="ja-JP" sz="2400" b="0" i="1" dirty="0" smtClean="0">
                        <a:solidFill>
                          <a:schemeClr val="tx1"/>
                        </a:solidFill>
                        <a:latin typeface="Cambria Math" panose="02040503050406030204" pitchFamily="18" charset="0"/>
                      </a:rPr>
                      <m:t>]</m:t>
                    </m:r>
                  </m:oMath>
                </a14:m>
                <a:r>
                  <a:rPr lang="ja-JP" altLang="en-US" sz="2400" dirty="0">
                    <a:solidFill>
                      <a:schemeClr val="tx1"/>
                    </a:solidFill>
                  </a:rPr>
                  <a:t>のとき、</a:t>
                </a:r>
                <a:endParaRPr lang="en-US" altLang="ja-JP" sz="2400" dirty="0">
                  <a:solidFill>
                    <a:schemeClr val="tx1"/>
                  </a:solidFill>
                </a:endParaRPr>
              </a:p>
              <a:p>
                <a14:m>
                  <m:oMath xmlns:m="http://schemas.openxmlformats.org/officeDocument/2006/math">
                    <m:acc>
                      <m:accPr>
                        <m:chr m:val="̂"/>
                        <m:ctrlPr>
                          <a:rPr lang="en-US" altLang="ja-JP" sz="2400" i="1" smtClean="0">
                            <a:solidFill>
                              <a:schemeClr val="tx1"/>
                            </a:solidFill>
                            <a:latin typeface="Cambria Math" panose="02040503050406030204" pitchFamily="18" charset="0"/>
                          </a:rPr>
                        </m:ctrlPr>
                      </m:accPr>
                      <m:e>
                        <m:r>
                          <a:rPr lang="en-US" altLang="ja-JP" sz="2400" b="0" i="1" smtClean="0">
                            <a:solidFill>
                              <a:schemeClr val="tx1"/>
                            </a:solidFill>
                            <a:latin typeface="Cambria Math" panose="02040503050406030204" pitchFamily="18" charset="0"/>
                          </a:rPr>
                          <m:t>𝐴</m:t>
                        </m:r>
                      </m:e>
                    </m:acc>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1</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𝑥</m:t>
                        </m:r>
                      </m:num>
                      <m:den>
                        <m:d>
                          <m:dPr>
                            <m:begChr m:val="|"/>
                            <m:endChr m:val="|"/>
                            <m:ctrlPr>
                              <a:rPr lang="en-US" altLang="ja-JP" sz="2400" b="0" i="1" smtClean="0">
                                <a:solidFill>
                                  <a:schemeClr val="tx1"/>
                                </a:solidFill>
                                <a:latin typeface="Cambria Math" panose="02040503050406030204" pitchFamily="18" charset="0"/>
                              </a:rPr>
                            </m:ctrlPr>
                          </m:dPr>
                          <m:e>
                            <m:d>
                              <m:dPr>
                                <m:begChr m:val="|"/>
                                <m:endChr m:val="|"/>
                                <m:ctrlPr>
                                  <a:rPr lang="en-US" altLang="ja-JP" sz="2400" b="0" i="1" smtClean="0">
                                    <a:solidFill>
                                      <a:schemeClr val="tx1"/>
                                    </a:solidFill>
                                    <a:latin typeface="Cambria Math" panose="02040503050406030204" pitchFamily="18" charset="0"/>
                                  </a:rPr>
                                </m:ctrlPr>
                              </m:dPr>
                              <m:e>
                                <m:r>
                                  <a:rPr lang="en-US" altLang="ja-JP" sz="2400" b="0" i="1" smtClean="0">
                                    <a:solidFill>
                                      <a:schemeClr val="tx1"/>
                                    </a:solidFill>
                                    <a:latin typeface="Cambria Math" panose="02040503050406030204" pitchFamily="18" charset="0"/>
                                  </a:rPr>
                                  <m:t>𝐴</m:t>
                                </m:r>
                              </m:e>
                            </m:d>
                          </m:e>
                        </m:d>
                      </m:den>
                    </m:f>
                    <m:r>
                      <a:rPr lang="en-US" altLang="ja-JP" sz="2400" b="0" i="1" smtClean="0">
                        <a:solidFill>
                          <a:schemeClr val="tx1"/>
                        </a:solidFill>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𝑦</m:t>
                        </m:r>
                      </m:num>
                      <m:den>
                        <m:d>
                          <m:dPr>
                            <m:begChr m:val="|"/>
                            <m:endChr m:val="|"/>
                            <m:ctrlPr>
                              <a:rPr lang="en-US" altLang="ja-JP" sz="2400" b="0" i="1" smtClean="0">
                                <a:latin typeface="Cambria Math" panose="02040503050406030204" pitchFamily="18" charset="0"/>
                              </a:rPr>
                            </m:ctrlPr>
                          </m:dPr>
                          <m:e>
                            <m:d>
                              <m:dPr>
                                <m:begChr m:val="|"/>
                                <m:endChr m:val="|"/>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𝐴</m:t>
                                </m:r>
                              </m:e>
                            </m:d>
                          </m:e>
                        </m:d>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𝑧</m:t>
                        </m:r>
                      </m:num>
                      <m:den>
                        <m:d>
                          <m:dPr>
                            <m:begChr m:val="|"/>
                            <m:endChr m:val="|"/>
                            <m:ctrlPr>
                              <a:rPr lang="en-US" altLang="ja-JP" sz="2400" i="1">
                                <a:latin typeface="Cambria Math" panose="02040503050406030204" pitchFamily="18" charset="0"/>
                              </a:rPr>
                            </m:ctrlPr>
                          </m:dPr>
                          <m:e>
                            <m:d>
                              <m:dPr>
                                <m:begChr m:val="|"/>
                                <m:endChr m:val="|"/>
                                <m:ctrlPr>
                                  <a:rPr lang="en-US" altLang="ja-JP" sz="2400" i="1">
                                    <a:latin typeface="Cambria Math" panose="02040503050406030204" pitchFamily="18" charset="0"/>
                                  </a:rPr>
                                </m:ctrlPr>
                              </m:dPr>
                              <m:e>
                                <m:r>
                                  <a:rPr lang="en-US" altLang="ja-JP" sz="2400" i="1">
                                    <a:latin typeface="Cambria Math" panose="02040503050406030204" pitchFamily="18" charset="0"/>
                                  </a:rPr>
                                  <m:t>𝐴</m:t>
                                </m:r>
                              </m:e>
                            </m:d>
                          </m:e>
                        </m:d>
                      </m:den>
                    </m:f>
                    <m:r>
                      <a:rPr lang="en-US" altLang="ja-JP" sz="2400" b="0" i="1" smtClean="0">
                        <a:solidFill>
                          <a:schemeClr val="tx1"/>
                        </a:solidFill>
                        <a:latin typeface="Cambria Math" panose="02040503050406030204" pitchFamily="18" charset="0"/>
                      </a:rPr>
                      <m:t>]</m:t>
                    </m:r>
                  </m:oMath>
                </a14:m>
                <a:r>
                  <a:rPr lang="en-US" altLang="ja-JP" sz="2400" dirty="0"/>
                  <a:t> </a:t>
                </a: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547259" cy="2162836"/>
              </a:xfrm>
              <a:prstGeom prst="rect">
                <a:avLst/>
              </a:prstGeom>
              <a:blipFill>
                <a:blip r:embed="rId2"/>
                <a:stretch>
                  <a:fillRect l="-1212" t="-2260" r="-32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169414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1761</TotalTime>
  <Words>335</Words>
  <Application>Microsoft Office PowerPoint</Application>
  <PresentationFormat>ワイド画面</PresentationFormat>
  <Paragraphs>47</Paragraphs>
  <Slides>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128</cp:revision>
  <dcterms:created xsi:type="dcterms:W3CDTF">2024-08-27T02:15:54Z</dcterms:created>
  <dcterms:modified xsi:type="dcterms:W3CDTF">2024-10-11T02:06:32Z</dcterms:modified>
</cp:coreProperties>
</file>