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変位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変位</a:t>
            </a:r>
            <a:r>
              <a:rPr lang="ja-JP" altLang="en-US" sz="2400" dirty="0"/>
              <a:t>とは</a:t>
            </a:r>
            <a:r>
              <a:rPr lang="ja-JP" altLang="en-US" sz="2400" b="1" dirty="0">
                <a:solidFill>
                  <a:srgbClr val="FF0000"/>
                </a:solidFill>
              </a:rPr>
              <a:t>位置の変化</a:t>
            </a:r>
            <a:r>
              <a:rPr lang="ja-JP" altLang="en-US" sz="2400" dirty="0"/>
              <a:t>、つまり</a:t>
            </a:r>
            <a:r>
              <a:rPr lang="ja-JP" altLang="en-US" sz="2400" b="1" dirty="0">
                <a:solidFill>
                  <a:srgbClr val="FF0000"/>
                </a:solidFill>
              </a:rPr>
              <a:t>どれほど移動したか</a:t>
            </a:r>
            <a:r>
              <a:rPr lang="ja-JP" altLang="en-US" sz="2400" dirty="0"/>
              <a:t>を表す言葉です。</a:t>
            </a:r>
            <a:endParaRPr lang="en-US" altLang="ja-JP" sz="2400" dirty="0"/>
          </a:p>
          <a:p>
            <a:r>
              <a:rPr lang="ja-JP" altLang="en-US" sz="2400" dirty="0"/>
              <a:t>また</a:t>
            </a:r>
            <a:r>
              <a:rPr lang="ja-JP" altLang="en-US" sz="2400" b="1" dirty="0">
                <a:solidFill>
                  <a:srgbClr val="FF0000"/>
                </a:solidFill>
              </a:rPr>
              <a:t>変位はベクトルで表されます。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63CBF2F5-6A68-4FE5-BFDD-243038CD0E01}"/>
              </a:ext>
            </a:extLst>
          </p:cNvPr>
          <p:cNvGrpSpPr/>
          <p:nvPr/>
        </p:nvGrpSpPr>
        <p:grpSpPr>
          <a:xfrm>
            <a:off x="739967" y="2839974"/>
            <a:ext cx="4806114" cy="1178052"/>
            <a:chOff x="1461421" y="3339337"/>
            <a:chExt cx="4806114" cy="1178052"/>
          </a:xfrm>
        </p:grpSpPr>
        <p:sp>
          <p:nvSpPr>
            <p:cNvPr id="2" name="スマイル 1">
              <a:extLst>
                <a:ext uri="{FF2B5EF4-FFF2-40B4-BE49-F238E27FC236}">
                  <a16:creationId xmlns:a16="http://schemas.microsoft.com/office/drawing/2014/main" id="{AB8A3277-D041-4E6F-80A8-4722B30C1005}"/>
                </a:ext>
              </a:extLst>
            </p:cNvPr>
            <p:cNvSpPr/>
            <p:nvPr/>
          </p:nvSpPr>
          <p:spPr>
            <a:xfrm>
              <a:off x="1461421" y="3429000"/>
              <a:ext cx="1080000" cy="1080000"/>
            </a:xfrm>
            <a:prstGeom prst="smileyFace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スマイル 4">
              <a:extLst>
                <a:ext uri="{FF2B5EF4-FFF2-40B4-BE49-F238E27FC236}">
                  <a16:creationId xmlns:a16="http://schemas.microsoft.com/office/drawing/2014/main" id="{0D7423A8-1429-4905-AD73-06A40535D99C}"/>
                </a:ext>
              </a:extLst>
            </p:cNvPr>
            <p:cNvSpPr/>
            <p:nvPr/>
          </p:nvSpPr>
          <p:spPr>
            <a:xfrm>
              <a:off x="5187535" y="3437389"/>
              <a:ext cx="1080000" cy="1080000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573830CF-54B0-46EA-8B38-5BA019DFF66C}"/>
                </a:ext>
              </a:extLst>
            </p:cNvPr>
            <p:cNvCxnSpPr>
              <a:stCxn id="2" idx="6"/>
              <a:endCxn id="5" idx="2"/>
            </p:cNvCxnSpPr>
            <p:nvPr/>
          </p:nvCxnSpPr>
          <p:spPr>
            <a:xfrm>
              <a:off x="2541421" y="3969000"/>
              <a:ext cx="2646114" cy="838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E6ED84BE-8754-450A-9453-C8F255BED76A}"/>
                </a:ext>
              </a:extLst>
            </p:cNvPr>
            <p:cNvSpPr txBox="1"/>
            <p:nvPr/>
          </p:nvSpPr>
          <p:spPr>
            <a:xfrm>
              <a:off x="3464368" y="3339337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b="1" dirty="0">
                  <a:solidFill>
                    <a:srgbClr val="FF0000"/>
                  </a:solidFill>
                </a:rPr>
                <a:t>変位</a:t>
              </a:r>
              <a:endParaRPr lang="en-US" altLang="ja-JP" sz="24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36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変位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632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例えばキャラクターが</a:t>
            </a:r>
            <a:r>
              <a:rPr lang="en-US" altLang="ja-JP" sz="2400" dirty="0"/>
              <a:t>50m</a:t>
            </a:r>
            <a:r>
              <a:rPr lang="ja-JP" altLang="en-US" sz="2400" dirty="0"/>
              <a:t>地点にいるとしましょう。</a:t>
            </a:r>
            <a:endParaRPr lang="en-US" altLang="ja-JP" sz="2400" dirty="0"/>
          </a:p>
          <a:p>
            <a:r>
              <a:rPr lang="ja-JP" altLang="en-US" sz="2400" dirty="0"/>
              <a:t>そのキャラクターが</a:t>
            </a:r>
            <a:r>
              <a:rPr lang="en-US" altLang="ja-JP" sz="2400" dirty="0"/>
              <a:t>70m</a:t>
            </a:r>
            <a:r>
              <a:rPr lang="ja-JP" altLang="en-US" sz="2400" dirty="0"/>
              <a:t>地点に移動したとします。</a:t>
            </a:r>
            <a:endParaRPr lang="en-US" altLang="ja-JP" sz="2400" dirty="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63CBF2F5-6A68-4FE5-BFDD-243038CD0E01}"/>
              </a:ext>
            </a:extLst>
          </p:cNvPr>
          <p:cNvGrpSpPr/>
          <p:nvPr/>
        </p:nvGrpSpPr>
        <p:grpSpPr>
          <a:xfrm>
            <a:off x="563264" y="2929637"/>
            <a:ext cx="4982817" cy="1722630"/>
            <a:chOff x="1284718" y="3429000"/>
            <a:chExt cx="4982817" cy="1722630"/>
          </a:xfrm>
        </p:grpSpPr>
        <p:sp>
          <p:nvSpPr>
            <p:cNvPr id="2" name="スマイル 1">
              <a:extLst>
                <a:ext uri="{FF2B5EF4-FFF2-40B4-BE49-F238E27FC236}">
                  <a16:creationId xmlns:a16="http://schemas.microsoft.com/office/drawing/2014/main" id="{AB8A3277-D041-4E6F-80A8-4722B30C1005}"/>
                </a:ext>
              </a:extLst>
            </p:cNvPr>
            <p:cNvSpPr/>
            <p:nvPr/>
          </p:nvSpPr>
          <p:spPr>
            <a:xfrm>
              <a:off x="1461421" y="3429000"/>
              <a:ext cx="1080000" cy="1080000"/>
            </a:xfrm>
            <a:prstGeom prst="smileyFace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スマイル 4">
              <a:extLst>
                <a:ext uri="{FF2B5EF4-FFF2-40B4-BE49-F238E27FC236}">
                  <a16:creationId xmlns:a16="http://schemas.microsoft.com/office/drawing/2014/main" id="{0D7423A8-1429-4905-AD73-06A40535D99C}"/>
                </a:ext>
              </a:extLst>
            </p:cNvPr>
            <p:cNvSpPr/>
            <p:nvPr/>
          </p:nvSpPr>
          <p:spPr>
            <a:xfrm>
              <a:off x="5187535" y="3437389"/>
              <a:ext cx="1080000" cy="1080000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573830CF-54B0-46EA-8B38-5BA019DFF66C}"/>
                </a:ext>
              </a:extLst>
            </p:cNvPr>
            <p:cNvCxnSpPr>
              <a:stCxn id="2" idx="6"/>
              <a:endCxn id="5" idx="2"/>
            </p:cNvCxnSpPr>
            <p:nvPr/>
          </p:nvCxnSpPr>
          <p:spPr>
            <a:xfrm>
              <a:off x="2541421" y="3969000"/>
              <a:ext cx="2646114" cy="838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E6ED84BE-8754-450A-9453-C8F255BED76A}"/>
                </a:ext>
              </a:extLst>
            </p:cNvPr>
            <p:cNvSpPr txBox="1"/>
            <p:nvPr/>
          </p:nvSpPr>
          <p:spPr>
            <a:xfrm>
              <a:off x="1284718" y="4689965"/>
              <a:ext cx="14334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/>
                <a:t>50m</a:t>
              </a:r>
              <a:r>
                <a:rPr lang="ja-JP" altLang="en-US" sz="2400" dirty="0"/>
                <a:t>地点</a:t>
              </a:r>
              <a:endParaRPr lang="en-US" altLang="ja-JP" sz="2400" dirty="0"/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4EC3F75-1C9E-41D1-AD3E-2E0D2AD3E16C}"/>
              </a:ext>
            </a:extLst>
          </p:cNvPr>
          <p:cNvSpPr txBox="1"/>
          <p:nvPr/>
        </p:nvSpPr>
        <p:spPr>
          <a:xfrm>
            <a:off x="4349186" y="4190602"/>
            <a:ext cx="1407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70m</a:t>
            </a:r>
            <a:r>
              <a:rPr lang="ja-JP" altLang="en-US" sz="2400" dirty="0"/>
              <a:t>地点</a:t>
            </a:r>
            <a:endParaRPr lang="en-US" altLang="ja-JP" sz="2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03A521D-BB73-4A01-9E2B-D21ED763B6EC}"/>
              </a:ext>
            </a:extLst>
          </p:cNvPr>
          <p:cNvSpPr txBox="1"/>
          <p:nvPr/>
        </p:nvSpPr>
        <p:spPr>
          <a:xfrm>
            <a:off x="567542" y="501634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このキャラクターはどれだけ移動したでしょうか？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0312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変位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これは引き算をすれば移動距離が求められます。</a:t>
            </a:r>
            <a:endParaRPr lang="en-US" altLang="ja-JP" sz="2400" dirty="0"/>
          </a:p>
          <a:p>
            <a:r>
              <a:rPr lang="ja-JP" altLang="en-US" sz="2400" dirty="0"/>
              <a:t>このことから、</a:t>
            </a:r>
            <a:r>
              <a:rPr lang="ja-JP" altLang="en-US" sz="2400" b="1" dirty="0">
                <a:solidFill>
                  <a:srgbClr val="FF0000"/>
                </a:solidFill>
              </a:rPr>
              <a:t>変位は移動後の座標から移動前の座標を引き算</a:t>
            </a:r>
            <a:r>
              <a:rPr lang="ja-JP" altLang="en-US" sz="2400" dirty="0"/>
              <a:t>すると</a:t>
            </a:r>
            <a:endParaRPr lang="en-US" altLang="ja-JP" sz="2400" dirty="0"/>
          </a:p>
          <a:p>
            <a:r>
              <a:rPr lang="ja-JP" altLang="en-US" sz="2400" dirty="0"/>
              <a:t>求められることが分かります。</a:t>
            </a:r>
            <a:endParaRPr lang="en-US" altLang="ja-JP" sz="2400" dirty="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63CBF2F5-6A68-4FE5-BFDD-243038CD0E01}"/>
              </a:ext>
            </a:extLst>
          </p:cNvPr>
          <p:cNvGrpSpPr/>
          <p:nvPr/>
        </p:nvGrpSpPr>
        <p:grpSpPr>
          <a:xfrm>
            <a:off x="563264" y="2929637"/>
            <a:ext cx="4982817" cy="1722630"/>
            <a:chOff x="1284718" y="3429000"/>
            <a:chExt cx="4982817" cy="1722630"/>
          </a:xfrm>
        </p:grpSpPr>
        <p:sp>
          <p:nvSpPr>
            <p:cNvPr id="2" name="スマイル 1">
              <a:extLst>
                <a:ext uri="{FF2B5EF4-FFF2-40B4-BE49-F238E27FC236}">
                  <a16:creationId xmlns:a16="http://schemas.microsoft.com/office/drawing/2014/main" id="{AB8A3277-D041-4E6F-80A8-4722B30C1005}"/>
                </a:ext>
              </a:extLst>
            </p:cNvPr>
            <p:cNvSpPr/>
            <p:nvPr/>
          </p:nvSpPr>
          <p:spPr>
            <a:xfrm>
              <a:off x="1461421" y="3429000"/>
              <a:ext cx="1080000" cy="1080000"/>
            </a:xfrm>
            <a:prstGeom prst="smileyFace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スマイル 4">
              <a:extLst>
                <a:ext uri="{FF2B5EF4-FFF2-40B4-BE49-F238E27FC236}">
                  <a16:creationId xmlns:a16="http://schemas.microsoft.com/office/drawing/2014/main" id="{0D7423A8-1429-4905-AD73-06A40535D99C}"/>
                </a:ext>
              </a:extLst>
            </p:cNvPr>
            <p:cNvSpPr/>
            <p:nvPr/>
          </p:nvSpPr>
          <p:spPr>
            <a:xfrm>
              <a:off x="5187535" y="3437389"/>
              <a:ext cx="1080000" cy="1080000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573830CF-54B0-46EA-8B38-5BA019DFF66C}"/>
                </a:ext>
              </a:extLst>
            </p:cNvPr>
            <p:cNvCxnSpPr>
              <a:stCxn id="2" idx="6"/>
              <a:endCxn id="5" idx="2"/>
            </p:cNvCxnSpPr>
            <p:nvPr/>
          </p:nvCxnSpPr>
          <p:spPr>
            <a:xfrm>
              <a:off x="2541421" y="3969000"/>
              <a:ext cx="2646114" cy="838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E6ED84BE-8754-450A-9453-C8F255BED76A}"/>
                </a:ext>
              </a:extLst>
            </p:cNvPr>
            <p:cNvSpPr txBox="1"/>
            <p:nvPr/>
          </p:nvSpPr>
          <p:spPr>
            <a:xfrm>
              <a:off x="1284718" y="4689965"/>
              <a:ext cx="14334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/>
                <a:t>50m</a:t>
              </a:r>
              <a:r>
                <a:rPr lang="ja-JP" altLang="en-US" sz="2400" dirty="0"/>
                <a:t>地点</a:t>
              </a:r>
              <a:endParaRPr lang="en-US" altLang="ja-JP" sz="2400" dirty="0"/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4EC3F75-1C9E-41D1-AD3E-2E0D2AD3E16C}"/>
              </a:ext>
            </a:extLst>
          </p:cNvPr>
          <p:cNvSpPr txBox="1"/>
          <p:nvPr/>
        </p:nvSpPr>
        <p:spPr>
          <a:xfrm>
            <a:off x="4349186" y="4190602"/>
            <a:ext cx="1407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70m</a:t>
            </a:r>
            <a:r>
              <a:rPr lang="ja-JP" altLang="en-US" sz="2400" dirty="0"/>
              <a:t>地点</a:t>
            </a:r>
            <a:endParaRPr lang="en-US" altLang="ja-JP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03A521D-BB73-4A01-9E2B-D21ED763B6EC}"/>
                  </a:ext>
                </a:extLst>
              </p:cNvPr>
              <p:cNvSpPr txBox="1"/>
              <p:nvPr/>
            </p:nvSpPr>
            <p:spPr>
              <a:xfrm>
                <a:off x="6415296" y="2926698"/>
                <a:ext cx="3877985" cy="2367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■変位の公式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・・・変位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・・・移動後の位置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・・・移動前の位置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03A521D-BB73-4A01-9E2B-D21ED763B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5296" y="2926698"/>
                <a:ext cx="3877985" cy="2367571"/>
              </a:xfrm>
              <a:prstGeom prst="rect">
                <a:avLst/>
              </a:prstGeom>
              <a:blipFill>
                <a:blip r:embed="rId2"/>
                <a:stretch>
                  <a:fillRect l="-2355" t="-2062" r="-1413" b="-51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2BED3FE-F77D-4AD2-899E-1C80A42EA948}"/>
              </a:ext>
            </a:extLst>
          </p:cNvPr>
          <p:cNvSpPr txBox="1"/>
          <p:nvPr/>
        </p:nvSpPr>
        <p:spPr>
          <a:xfrm>
            <a:off x="2746921" y="2926698"/>
            <a:ext cx="79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20m</a:t>
            </a:r>
          </a:p>
        </p:txBody>
      </p:sp>
    </p:spTree>
    <p:extLst>
      <p:ext uri="{BB962C8B-B14F-4D97-AF65-F5344CB8AC3E}">
        <p14:creationId xmlns:p14="http://schemas.microsoft.com/office/powerpoint/2010/main" val="4021460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変位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291874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A</a:t>
                </a:r>
                <a:r>
                  <a:rPr lang="ja-JP" altLang="en-US" sz="2400" dirty="0"/>
                  <a:t>君は</a:t>
                </a:r>
                <a:r>
                  <a:rPr lang="en-US" altLang="ja-JP" sz="2400" dirty="0"/>
                  <a:t>100m</a:t>
                </a:r>
                <a:r>
                  <a:rPr lang="ja-JP" altLang="en-US" sz="2400" dirty="0"/>
                  <a:t>地点にある家から学校に向かって出発しました。</a:t>
                </a:r>
                <a:endParaRPr lang="en-US" altLang="ja-JP" sz="2400" dirty="0"/>
              </a:p>
              <a:p>
                <a:r>
                  <a:rPr lang="en-US" altLang="ja-JP" sz="2400" dirty="0"/>
                  <a:t>300m</a:t>
                </a:r>
                <a:r>
                  <a:rPr lang="ja-JP" altLang="en-US" sz="2400" dirty="0"/>
                  <a:t>地点で忘れ物に気づき</a:t>
                </a:r>
                <a:r>
                  <a:rPr lang="en-US" altLang="ja-JP" sz="2400" dirty="0"/>
                  <a:t>120</a:t>
                </a:r>
                <a:r>
                  <a:rPr lang="ja-JP" altLang="en-US" sz="2400" dirty="0"/>
                  <a:t>ｍ戻りましたが、</a:t>
                </a:r>
                <a:endParaRPr lang="en-US" altLang="ja-JP" sz="2400" dirty="0"/>
              </a:p>
              <a:p>
                <a:r>
                  <a:rPr lang="ja-JP" altLang="en-US" sz="2400" dirty="0"/>
                  <a:t>学校に遅刻しないことを優先し、その後</a:t>
                </a:r>
                <a:r>
                  <a:rPr lang="en-US" altLang="ja-JP" sz="2400" dirty="0"/>
                  <a:t>1200m</a:t>
                </a:r>
                <a:r>
                  <a:rPr lang="ja-JP" altLang="en-US" sz="2400" dirty="0"/>
                  <a:t>地点にある学校に到着しました。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このＡ君の一連の流れの変位を求めなさい。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:r>
                  <a:rPr lang="ja-JP" altLang="en-US" sz="2400" dirty="0"/>
                  <a:t>Ａ君は</a:t>
                </a:r>
                <a:r>
                  <a:rPr lang="en-US" altLang="ja-JP" sz="2400" dirty="0"/>
                  <a:t>100m</a:t>
                </a:r>
                <a:r>
                  <a:rPr lang="ja-JP" altLang="en-US" sz="2400" dirty="0"/>
                  <a:t>地点の家から</a:t>
                </a:r>
                <a:r>
                  <a:rPr lang="en-US" altLang="ja-JP" sz="2400" dirty="0"/>
                  <a:t>1200m</a:t>
                </a:r>
                <a:r>
                  <a:rPr lang="ja-JP" altLang="en-US" sz="2400" dirty="0"/>
                  <a:t>地点の学校まで移動したので、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=1200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𝟏𝟏𝟎𝟎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291874" cy="3046988"/>
              </a:xfrm>
              <a:prstGeom prst="rect">
                <a:avLst/>
              </a:prstGeom>
              <a:blipFill>
                <a:blip r:embed="rId2"/>
                <a:stretch>
                  <a:fillRect l="-810" t="-16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6996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3431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変位 例題 距離と変位の違い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291874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A</a:t>
                </a:r>
                <a:r>
                  <a:rPr lang="ja-JP" altLang="en-US" sz="2400" dirty="0"/>
                  <a:t>君は</a:t>
                </a:r>
                <a:r>
                  <a:rPr lang="en-US" altLang="ja-JP" sz="2400" dirty="0"/>
                  <a:t>100m</a:t>
                </a:r>
                <a:r>
                  <a:rPr lang="ja-JP" altLang="en-US" sz="2400" dirty="0"/>
                  <a:t>地点にある家から学校に向かって出発しました。</a:t>
                </a:r>
                <a:endParaRPr lang="en-US" altLang="ja-JP" sz="2400" dirty="0"/>
              </a:p>
              <a:p>
                <a:r>
                  <a:rPr lang="en-US" altLang="ja-JP" sz="2400" dirty="0"/>
                  <a:t>300m</a:t>
                </a:r>
                <a:r>
                  <a:rPr lang="ja-JP" altLang="en-US" sz="2400" dirty="0"/>
                  <a:t>地点で忘れ物に気づき</a:t>
                </a:r>
                <a:r>
                  <a:rPr lang="en-US" altLang="ja-JP" sz="2400" dirty="0"/>
                  <a:t>120</a:t>
                </a:r>
                <a:r>
                  <a:rPr lang="ja-JP" altLang="en-US" sz="2400" dirty="0"/>
                  <a:t>ｍ戻りましたが、</a:t>
                </a:r>
                <a:endParaRPr lang="en-US" altLang="ja-JP" sz="2400" dirty="0"/>
              </a:p>
              <a:p>
                <a:r>
                  <a:rPr lang="ja-JP" altLang="en-US" sz="2400" dirty="0"/>
                  <a:t>学校に遅刻しないことを優先し、その後</a:t>
                </a:r>
                <a:r>
                  <a:rPr lang="en-US" altLang="ja-JP" sz="2400" dirty="0"/>
                  <a:t>1200m</a:t>
                </a:r>
                <a:r>
                  <a:rPr lang="ja-JP" altLang="en-US" sz="2400" dirty="0"/>
                  <a:t>地点にある学校に到着しました。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このＡ君の一連の流れの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移動距離</a:t>
                </a:r>
                <a:r>
                  <a:rPr lang="ja-JP" altLang="en-US" sz="2400" dirty="0"/>
                  <a:t>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:r>
                  <a:rPr lang="ja-JP" altLang="en-US" sz="2400" dirty="0"/>
                  <a:t>Ａ君は</a:t>
                </a:r>
                <a:r>
                  <a:rPr lang="en-US" altLang="ja-JP" sz="2400" dirty="0"/>
                  <a:t>100m</a:t>
                </a:r>
                <a:r>
                  <a:rPr lang="ja-JP" altLang="en-US" sz="2400" dirty="0"/>
                  <a:t>地点の家から忘れ物に気づくまで、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=300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=200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移動している。</a:t>
                </a:r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・・・①</a:t>
                </a:r>
                <a:endParaRPr lang="en-US" altLang="ja-JP" sz="2400" dirty="0"/>
              </a:p>
              <a:p>
                <a:r>
                  <a:rPr lang="ja-JP" altLang="en-US" sz="2400" dirty="0"/>
                  <a:t>そこから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120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戻っている</a:t>
                </a:r>
                <a:r>
                  <a:rPr lang="en-US" altLang="ja-JP" sz="2400" dirty="0"/>
                  <a:t>				</a:t>
                </a:r>
                <a:r>
                  <a:rPr lang="ja-JP" altLang="en-US" sz="2400" dirty="0"/>
                  <a:t>・・・②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300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地点から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120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戻った場所から</a:t>
                </a:r>
                <a14:m>
                  <m:oMath xmlns:m="http://schemas.openxmlformats.org/officeDocument/2006/math">
                    <m:r>
                      <a:rPr lang="en-US" altLang="ja-JP" sz="2400" b="0" i="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200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地点の学校に移動したため、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=1200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−(300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−120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) =1020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・・・③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移動距離は①～③の合計なので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𝟏𝟑𝟒𝟎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ja-JP" altLang="en-US" sz="2400" dirty="0"/>
                  <a:t>となる。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291874" cy="4893647"/>
              </a:xfrm>
              <a:prstGeom prst="rect">
                <a:avLst/>
              </a:prstGeom>
              <a:blipFill>
                <a:blip r:embed="rId2"/>
                <a:stretch>
                  <a:fillRect l="-810" t="-998" b="-19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8567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変位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1117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以下の場面での</a:t>
            </a:r>
            <a:r>
              <a:rPr lang="en-US" altLang="ja-JP" sz="2400" dirty="0"/>
              <a:t>A</a:t>
            </a:r>
            <a:r>
              <a:rPr lang="ja-JP" altLang="en-US" sz="2400" dirty="0"/>
              <a:t>君の変位を求めなさい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① </a:t>
            </a:r>
            <a:r>
              <a:rPr lang="en-US" altLang="ja-JP" sz="2400" dirty="0"/>
              <a:t>A</a:t>
            </a:r>
            <a:r>
              <a:rPr lang="ja-JP" altLang="en-US" sz="2400" dirty="0"/>
              <a:t>君は</a:t>
            </a:r>
            <a:r>
              <a:rPr lang="en-US" altLang="ja-JP" sz="2400" dirty="0"/>
              <a:t>5m</a:t>
            </a:r>
            <a:r>
              <a:rPr lang="ja-JP" altLang="en-US" sz="2400" dirty="0"/>
              <a:t>地点から</a:t>
            </a:r>
            <a:r>
              <a:rPr lang="en-US" altLang="ja-JP" sz="2400" dirty="0"/>
              <a:t>65m</a:t>
            </a:r>
            <a:r>
              <a:rPr lang="ja-JP" altLang="en-US" sz="2400" dirty="0"/>
              <a:t>地点まで走って移動した。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② </a:t>
            </a:r>
            <a:r>
              <a:rPr lang="en-US" altLang="ja-JP" sz="2400" dirty="0"/>
              <a:t>A</a:t>
            </a:r>
            <a:r>
              <a:rPr lang="ja-JP" altLang="en-US" sz="2400" dirty="0"/>
              <a:t>君は勘違いして</a:t>
            </a:r>
            <a:r>
              <a:rPr lang="en-US" altLang="ja-JP" sz="2400" dirty="0"/>
              <a:t>65m</a:t>
            </a:r>
            <a:r>
              <a:rPr lang="ja-JP" altLang="en-US" sz="2400" dirty="0"/>
              <a:t>地点から</a:t>
            </a:r>
            <a:r>
              <a:rPr lang="en-US" altLang="ja-JP" sz="2400" dirty="0"/>
              <a:t>5m</a:t>
            </a:r>
            <a:r>
              <a:rPr lang="ja-JP" altLang="en-US" sz="2400" dirty="0"/>
              <a:t>地点まで移動してしまった。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630067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</TotalTime>
  <Words>434</Words>
  <Application>Microsoft Office PowerPoint</Application>
  <PresentationFormat>ワイド画面</PresentationFormat>
  <Paragraphs>52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108</cp:revision>
  <dcterms:created xsi:type="dcterms:W3CDTF">2024-08-27T02:15:54Z</dcterms:created>
  <dcterms:modified xsi:type="dcterms:W3CDTF">2024-10-10T03:43:54Z</dcterms:modified>
</cp:coreProperties>
</file>