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10268D-74CB-414A-8B81-EE378D92F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62BB04D-E9E5-44D2-AA80-7C03CF9942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183CA1-80D1-4A20-B84A-B7E4D66A1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3CF7DB-A18B-4943-88DB-EC82A13CE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4E4CBC-1209-4E6E-8C7B-BADD35E96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7613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F74BE4-940D-4079-BCCA-DF01C72F6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136420-1DF8-44E3-8D2A-D346E056C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27C241-5E32-44DF-AB69-11A994040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92FC97-B913-4839-820B-05F7FBA10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DD6FF3-58FC-4B2C-BAE2-58DAE4F6B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3760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572B55-42AE-408B-9EFE-CD5174865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E15DE06-3E3F-45F3-80EC-CEC393F60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22BEAD-8AF2-4E44-9A53-A3D0DC8F2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01DCA1-DE76-4CAF-9570-F99CF9D9F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3E97D1-1B81-43B3-83D2-6AE2F9725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7469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4B108B-380C-4348-AA02-571A1DCBC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3264F8C-739A-43E3-982E-95D08F2363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90ECE98-3B5D-4776-80D5-DA1DB77F2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9E8A7E3-48B1-446C-9277-476DEF718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1E5ABB5-C7B1-426D-8559-9DAA7D6E0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10F01C1-BFC0-4DD5-948C-5EAECC27E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7505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C2D960-C605-4C34-82EA-90F4C26ED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E89974C-4BA5-4B66-AF3D-CCB74B6CB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27CCD17-1092-46BC-989F-47D3918F9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152836E-721F-4F69-AF9A-8EBBC7C43A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C757E73-2609-4535-9147-D1DA34CD80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4C84BAF-1CBD-434E-8A8B-F11D51F34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457A9D1-A52A-4480-AD4D-675F4F0F5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AD1817F-78B5-4F3A-B340-FEC0DF5FD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9045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A71CFD-950C-4702-BF56-B1667DD5F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51BBA62-82E1-4464-8D0F-8B532F671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AFC4D2-FD0B-404B-8759-FF506A819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92C30FA-38F8-48B8-A11B-76714F95B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2010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6B1BA56-C568-45C0-AA42-27542CD3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A951B9D-D5A6-4D99-A8FB-41F47A970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B1B699E-18DA-40AF-B499-97A6C6996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8464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197184-B0D6-4EEE-9086-0094CF376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494B41-EE1E-444B-A31D-DF8387354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25D8683-9A8F-4863-80E9-3502A9D46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E2038D1-47DE-4951-8EA9-972E60324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A29BF0F-0CA0-4B99-9AC7-AA42E125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0A6AA78-6A6A-4440-8195-1CB1E7E9B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7488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D13703-F346-4539-B1B6-ED0CDC2D7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A1CA911-BDA9-440F-9771-20ED61B793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FF4A5BB-2913-4FF4-BC28-49483F8E3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B83140A-DFB5-49B1-A6FD-6984D583A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8EE96E8-61C7-4A4F-811A-8AB9BB8CE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C33BD9E-ABC6-4480-87FA-012123E7D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0576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6869B2-6753-4F67-871A-988BA46B3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8C696B2-02EE-4CEE-BF52-7E2A62FEB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4013E6-D163-4C0C-9A29-F81708D1E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3E5F35-A5F1-497F-9FA6-062C770A9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34CD61-926E-4F43-8F33-23E8C8A35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8707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94DB330-F5F8-4312-B474-812CCBCEE2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576E25B-EBD4-43F8-AD78-EB52C67AC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72753D3-FF98-47AF-887E-7E7C6F25F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8A3779-636E-4D41-AB8B-42508B342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4355E0-DB3E-4008-A2F2-5F08B05A7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9782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ED0B602-4E04-4BB1-9C0A-44CAA2447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965FC4F-7F79-4117-A4CB-7F0B958C0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66B16A-A01C-4F3D-9D8C-A0598AEF31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A1CE0F9-B4FA-40A3-8ECA-64AFFCC1FB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EC7023-2F0B-4D9D-A3C2-17052E585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4488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9E4E88B7-A0C8-4369-91CD-30412671B1F4}"/>
              </a:ext>
            </a:extLst>
          </p:cNvPr>
          <p:cNvGrpSpPr/>
          <p:nvPr/>
        </p:nvGrpSpPr>
        <p:grpSpPr>
          <a:xfrm>
            <a:off x="309153" y="748380"/>
            <a:ext cx="4588698" cy="2133651"/>
            <a:chOff x="3522616" y="269409"/>
            <a:chExt cx="4588698" cy="2133651"/>
          </a:xfrm>
        </p:grpSpPr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ED302EBB-F165-4BDD-B2FA-9CFBF76DD331}"/>
                </a:ext>
              </a:extLst>
            </p:cNvPr>
            <p:cNvSpPr txBox="1"/>
            <p:nvPr/>
          </p:nvSpPr>
          <p:spPr>
            <a:xfrm>
              <a:off x="3522616" y="879566"/>
              <a:ext cx="7010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6000" dirty="0">
                  <a:solidFill>
                    <a:srgbClr val="FF0000"/>
                  </a:solidFill>
                </a:rPr>
                <a:t>H</a:t>
              </a:r>
              <a:endParaRPr kumimoji="1" lang="ja-JP" altLang="en-US" sz="6000" dirty="0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ED714FBF-2D80-4C4F-B9FB-A46A3B2EA990}"/>
                </a:ext>
              </a:extLst>
            </p:cNvPr>
            <p:cNvSpPr txBox="1"/>
            <p:nvPr/>
          </p:nvSpPr>
          <p:spPr>
            <a:xfrm>
              <a:off x="4190088" y="563321"/>
              <a:ext cx="7010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6000" dirty="0">
                  <a:solidFill>
                    <a:srgbClr val="00B050"/>
                  </a:solidFill>
                </a:rPr>
                <a:t>A</a:t>
              </a: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577EAC34-80B2-4AD0-835F-7522FF7F74B9}"/>
                </a:ext>
              </a:extLst>
            </p:cNvPr>
            <p:cNvSpPr txBox="1"/>
            <p:nvPr/>
          </p:nvSpPr>
          <p:spPr>
            <a:xfrm>
              <a:off x="4724398" y="269409"/>
              <a:ext cx="7010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6000" dirty="0">
                  <a:solidFill>
                    <a:srgbClr val="0070C0"/>
                  </a:solidFill>
                </a:rPr>
                <a:t>K</a:t>
              </a: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2EFE1A11-3BDD-4E1E-A214-8573917DA482}"/>
                </a:ext>
              </a:extLst>
            </p:cNvPr>
            <p:cNvSpPr txBox="1"/>
            <p:nvPr/>
          </p:nvSpPr>
          <p:spPr>
            <a:xfrm>
              <a:off x="5294809" y="674914"/>
              <a:ext cx="7010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6000" dirty="0">
                  <a:solidFill>
                    <a:srgbClr val="FF0000"/>
                  </a:solidFill>
                </a:rPr>
                <a:t>O</a:t>
              </a: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D0402B75-A540-450C-AE66-11A1288E6848}"/>
                </a:ext>
              </a:extLst>
            </p:cNvPr>
            <p:cNvSpPr txBox="1"/>
            <p:nvPr/>
          </p:nvSpPr>
          <p:spPr>
            <a:xfrm>
              <a:off x="6102170" y="1071154"/>
              <a:ext cx="7010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6000" dirty="0">
                  <a:solidFill>
                    <a:srgbClr val="00B050"/>
                  </a:solidFill>
                </a:rPr>
                <a:t>P</a:t>
              </a: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0906A912-16EF-456F-91AD-E8653CFE8497}"/>
                </a:ext>
              </a:extLst>
            </p:cNvPr>
            <p:cNvSpPr txBox="1"/>
            <p:nvPr/>
          </p:nvSpPr>
          <p:spPr>
            <a:xfrm>
              <a:off x="6709232" y="1387397"/>
              <a:ext cx="7010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6000" dirty="0">
                  <a:solidFill>
                    <a:srgbClr val="0070C0"/>
                  </a:solidFill>
                </a:rPr>
                <a:t>O</a:t>
              </a: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52CA6EA3-DC48-4EFA-A45E-1522E4F9BB36}"/>
                </a:ext>
              </a:extLst>
            </p:cNvPr>
            <p:cNvSpPr txBox="1"/>
            <p:nvPr/>
          </p:nvSpPr>
          <p:spPr>
            <a:xfrm>
              <a:off x="7410273" y="1071153"/>
              <a:ext cx="7010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6000" dirty="0">
                  <a:solidFill>
                    <a:srgbClr val="FF0000"/>
                  </a:solidFill>
                </a:rPr>
                <a:t>N</a:t>
              </a:r>
            </a:p>
          </p:txBody>
        </p:sp>
      </p:grp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 dirty="0"/>
              <a:t>タイトル画面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A767265-4152-47ED-820B-C3D4856D4F47}"/>
              </a:ext>
            </a:extLst>
          </p:cNvPr>
          <p:cNvSpPr txBox="1"/>
          <p:nvPr/>
        </p:nvSpPr>
        <p:spPr>
          <a:xfrm>
            <a:off x="1384143" y="3213856"/>
            <a:ext cx="209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Press ※※</a:t>
            </a:r>
            <a:r>
              <a:rPr lang="ja-JP" altLang="en-US" dirty="0"/>
              <a:t> </a:t>
            </a:r>
            <a:r>
              <a:rPr lang="en-US" altLang="ja-JP" dirty="0"/>
              <a:t>Button</a:t>
            </a:r>
            <a:endParaRPr kumimoji="1" lang="ja-JP" altLang="en-US" dirty="0"/>
          </a:p>
        </p:txBody>
      </p:sp>
      <p:graphicFrame>
        <p:nvGraphicFramePr>
          <p:cNvPr id="19" name="表 19">
            <a:extLst>
              <a:ext uri="{FF2B5EF4-FFF2-40B4-BE49-F238E27FC236}">
                <a16:creationId xmlns:a16="http://schemas.microsoft.com/office/drawing/2014/main" id="{1E93B5D8-9354-4ADB-909C-78B93746E4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27594"/>
              </p:ext>
            </p:extLst>
          </p:nvPr>
        </p:nvGraphicFramePr>
        <p:xfrm>
          <a:off x="6333639" y="1262218"/>
          <a:ext cx="5570573" cy="311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0573">
                  <a:extLst>
                    <a:ext uri="{9D8B030D-6E8A-4147-A177-3AD203B41FA5}">
                      <a16:colId xmlns:a16="http://schemas.microsoft.com/office/drawing/2014/main" val="21788426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詳細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268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■タイトル名</a:t>
                      </a:r>
                      <a:endParaRPr kumimoji="1" lang="en-US" altLang="ja-JP" dirty="0"/>
                    </a:p>
                    <a:p>
                      <a:r>
                        <a:rPr kumimoji="1" lang="ja-JP" altLang="en-US" sz="1200" dirty="0"/>
                        <a:t>・１文字ずつ分割して作成する。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・１文字ずつ色を変える。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・１文字ずつ上下に揺れながらアニメーションする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98828"/>
                  </a:ext>
                </a:extLst>
              </a:tr>
              <a:tr h="443691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■</a:t>
                      </a:r>
                      <a:r>
                        <a:rPr kumimoji="1" lang="en-US" altLang="ja-JP" sz="1200" dirty="0"/>
                        <a:t>Press ※※ Button</a:t>
                      </a:r>
                    </a:p>
                    <a:p>
                      <a:r>
                        <a:rPr kumimoji="1" lang="ja-JP" altLang="en-US" sz="1200" dirty="0"/>
                        <a:t>・入力環境によって文言を変える。ゲームパッドがつながっていれば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　</a:t>
                      </a:r>
                      <a:r>
                        <a:rPr kumimoji="1" lang="en-US" altLang="ja-JP" sz="1200" dirty="0"/>
                        <a:t>Press A Button </a:t>
                      </a:r>
                      <a:r>
                        <a:rPr kumimoji="1" lang="ja-JP" altLang="en-US" sz="1200" dirty="0"/>
                        <a:t>キーボード操作であれば</a:t>
                      </a:r>
                      <a:r>
                        <a:rPr kumimoji="1" lang="en-US" altLang="ja-JP" sz="1200" dirty="0"/>
                        <a:t> Press Z Key</a:t>
                      </a:r>
                    </a:p>
                    <a:p>
                      <a:r>
                        <a:rPr kumimoji="1" lang="ja-JP" altLang="en-US" sz="1200" dirty="0"/>
                        <a:t>・ゆっくりと点滅させる</a:t>
                      </a:r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748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■背景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・ポップな色や柄の背景画像を用意する</a:t>
                      </a:r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005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■遷移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</a:t>
                      </a:r>
                      <a:r>
                        <a:rPr kumimoji="1" lang="en-US" altLang="ja-JP" sz="1200" dirty="0"/>
                        <a:t>A</a:t>
                      </a:r>
                      <a:r>
                        <a:rPr kumimoji="1" lang="ja-JP" altLang="en-US" sz="1200" dirty="0"/>
                        <a:t>ボタンもしくは</a:t>
                      </a:r>
                      <a:r>
                        <a:rPr kumimoji="1" lang="en-US" altLang="ja-JP" sz="1200" dirty="0"/>
                        <a:t>Z</a:t>
                      </a:r>
                      <a:r>
                        <a:rPr kumimoji="1" lang="ja-JP" altLang="en-US" sz="1200" dirty="0"/>
                        <a:t>キーを押したら、スタートメニュー表示（</a:t>
                      </a:r>
                      <a:r>
                        <a:rPr kumimoji="1" lang="en-US" altLang="ja-JP" sz="1200" dirty="0"/>
                        <a:t>P2</a:t>
                      </a:r>
                      <a:r>
                        <a:rPr kumimoji="1" lang="ja-JP" altLang="en-US" sz="1200" dirty="0"/>
                        <a:t>）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</a:t>
                      </a:r>
                      <a:r>
                        <a:rPr kumimoji="1" lang="en-US" altLang="ja-JP" sz="1200" dirty="0"/>
                        <a:t>30</a:t>
                      </a:r>
                      <a:r>
                        <a:rPr kumimoji="1" lang="ja-JP" altLang="en-US" sz="1200" dirty="0"/>
                        <a:t>秒放置でデモムービーへ遷移（</a:t>
                      </a:r>
                      <a:r>
                        <a:rPr kumimoji="1" lang="en-US" altLang="ja-JP" sz="1200" dirty="0"/>
                        <a:t>P5</a:t>
                      </a:r>
                      <a:r>
                        <a:rPr kumimoji="1" lang="ja-JP" altLang="en-US" sz="1200" dirty="0"/>
                        <a:t>）</a:t>
                      </a:r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124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0789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9E4E88B7-A0C8-4369-91CD-30412671B1F4}"/>
              </a:ext>
            </a:extLst>
          </p:cNvPr>
          <p:cNvGrpSpPr/>
          <p:nvPr/>
        </p:nvGrpSpPr>
        <p:grpSpPr>
          <a:xfrm>
            <a:off x="309153" y="748380"/>
            <a:ext cx="4588698" cy="2133651"/>
            <a:chOff x="3522616" y="269409"/>
            <a:chExt cx="4588698" cy="2133651"/>
          </a:xfrm>
        </p:grpSpPr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ED302EBB-F165-4BDD-B2FA-9CFBF76DD331}"/>
                </a:ext>
              </a:extLst>
            </p:cNvPr>
            <p:cNvSpPr txBox="1"/>
            <p:nvPr/>
          </p:nvSpPr>
          <p:spPr>
            <a:xfrm>
              <a:off x="3522616" y="879566"/>
              <a:ext cx="7010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6000" dirty="0">
                  <a:solidFill>
                    <a:srgbClr val="FF0000"/>
                  </a:solidFill>
                </a:rPr>
                <a:t>H</a:t>
              </a:r>
              <a:endParaRPr kumimoji="1" lang="ja-JP" altLang="en-US" sz="6000" dirty="0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ED714FBF-2D80-4C4F-B9FB-A46A3B2EA990}"/>
                </a:ext>
              </a:extLst>
            </p:cNvPr>
            <p:cNvSpPr txBox="1"/>
            <p:nvPr/>
          </p:nvSpPr>
          <p:spPr>
            <a:xfrm>
              <a:off x="4190088" y="563321"/>
              <a:ext cx="7010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6000" dirty="0">
                  <a:solidFill>
                    <a:srgbClr val="00B050"/>
                  </a:solidFill>
                </a:rPr>
                <a:t>A</a:t>
              </a: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577EAC34-80B2-4AD0-835F-7522FF7F74B9}"/>
                </a:ext>
              </a:extLst>
            </p:cNvPr>
            <p:cNvSpPr txBox="1"/>
            <p:nvPr/>
          </p:nvSpPr>
          <p:spPr>
            <a:xfrm>
              <a:off x="4724398" y="269409"/>
              <a:ext cx="7010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6000" dirty="0">
                  <a:solidFill>
                    <a:srgbClr val="0070C0"/>
                  </a:solidFill>
                </a:rPr>
                <a:t>K</a:t>
              </a: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2EFE1A11-3BDD-4E1E-A214-8573917DA482}"/>
                </a:ext>
              </a:extLst>
            </p:cNvPr>
            <p:cNvSpPr txBox="1"/>
            <p:nvPr/>
          </p:nvSpPr>
          <p:spPr>
            <a:xfrm>
              <a:off x="5294809" y="674914"/>
              <a:ext cx="7010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6000" dirty="0">
                  <a:solidFill>
                    <a:srgbClr val="FF0000"/>
                  </a:solidFill>
                </a:rPr>
                <a:t>O</a:t>
              </a: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D0402B75-A540-450C-AE66-11A1288E6848}"/>
                </a:ext>
              </a:extLst>
            </p:cNvPr>
            <p:cNvSpPr txBox="1"/>
            <p:nvPr/>
          </p:nvSpPr>
          <p:spPr>
            <a:xfrm>
              <a:off x="6102170" y="1071154"/>
              <a:ext cx="7010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6000" dirty="0">
                  <a:solidFill>
                    <a:srgbClr val="00B050"/>
                  </a:solidFill>
                </a:rPr>
                <a:t>P</a:t>
              </a: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0906A912-16EF-456F-91AD-E8653CFE8497}"/>
                </a:ext>
              </a:extLst>
            </p:cNvPr>
            <p:cNvSpPr txBox="1"/>
            <p:nvPr/>
          </p:nvSpPr>
          <p:spPr>
            <a:xfrm>
              <a:off x="6709232" y="1387397"/>
              <a:ext cx="7010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6000" dirty="0">
                  <a:solidFill>
                    <a:srgbClr val="0070C0"/>
                  </a:solidFill>
                </a:rPr>
                <a:t>O</a:t>
              </a: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52CA6EA3-DC48-4EFA-A45E-1522E4F9BB36}"/>
                </a:ext>
              </a:extLst>
            </p:cNvPr>
            <p:cNvSpPr txBox="1"/>
            <p:nvPr/>
          </p:nvSpPr>
          <p:spPr>
            <a:xfrm>
              <a:off x="7410273" y="1071153"/>
              <a:ext cx="7010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6000" dirty="0">
                  <a:solidFill>
                    <a:srgbClr val="FF0000"/>
                  </a:solidFill>
                </a:rPr>
                <a:t>N</a:t>
              </a:r>
            </a:p>
          </p:txBody>
        </p:sp>
      </p:grp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3714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 dirty="0"/>
              <a:t>タイトル画面 </a:t>
            </a:r>
            <a:r>
              <a:rPr kumimoji="1" lang="en-US" altLang="ja-JP" u="sng" dirty="0"/>
              <a:t>&gt; </a:t>
            </a:r>
            <a:r>
              <a:rPr kumimoji="1" lang="ja-JP" altLang="en-US" u="sng" dirty="0"/>
              <a:t>スタートメニュー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A767265-4152-47ED-820B-C3D4856D4F47}"/>
              </a:ext>
            </a:extLst>
          </p:cNvPr>
          <p:cNvSpPr txBox="1"/>
          <p:nvPr/>
        </p:nvSpPr>
        <p:spPr>
          <a:xfrm>
            <a:off x="1762452" y="3074519"/>
            <a:ext cx="13388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はじめから</a:t>
            </a:r>
            <a:endParaRPr kumimoji="1" lang="en-US" altLang="ja-JP" dirty="0"/>
          </a:p>
          <a:p>
            <a:r>
              <a:rPr lang="ja-JP" altLang="en-US" dirty="0"/>
              <a:t>つづきから</a:t>
            </a:r>
            <a:endParaRPr lang="en-US" altLang="ja-JP" dirty="0"/>
          </a:p>
          <a:p>
            <a:r>
              <a:rPr kumimoji="1" lang="ja-JP" altLang="en-US" dirty="0"/>
              <a:t>オプション</a:t>
            </a:r>
          </a:p>
        </p:txBody>
      </p:sp>
      <p:graphicFrame>
        <p:nvGraphicFramePr>
          <p:cNvPr id="19" name="表 19">
            <a:extLst>
              <a:ext uri="{FF2B5EF4-FFF2-40B4-BE49-F238E27FC236}">
                <a16:creationId xmlns:a16="http://schemas.microsoft.com/office/drawing/2014/main" id="{1E93B5D8-9354-4ADB-909C-78B93746E4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361489"/>
              </p:ext>
            </p:extLst>
          </p:nvPr>
        </p:nvGraphicFramePr>
        <p:xfrm>
          <a:off x="6333639" y="1262218"/>
          <a:ext cx="5570573" cy="247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0573">
                  <a:extLst>
                    <a:ext uri="{9D8B030D-6E8A-4147-A177-3AD203B41FA5}">
                      <a16:colId xmlns:a16="http://schemas.microsoft.com/office/drawing/2014/main" val="21788426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詳細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268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■はじめに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・以下に記載する部分以外はタイトルと同じ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　ただしデモムービーへの遷移はしない</a:t>
                      </a:r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98828"/>
                  </a:ext>
                </a:extLst>
              </a:tr>
              <a:tr h="443691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■はじめから～オプション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・選択中の項目の左側にカーソルを表示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　カーソルはハコポンの画像がアニメーションしてたりするといい</a:t>
                      </a:r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748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■遷移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・はじめから・・・チュートリアルステージ開始（別紙：プレイ画面</a:t>
                      </a:r>
                      <a:r>
                        <a:rPr kumimoji="1" lang="en-US" altLang="ja-JP" sz="1200" dirty="0"/>
                        <a:t>P1</a:t>
                      </a:r>
                      <a:r>
                        <a:rPr kumimoji="1" lang="ja-JP" altLang="en-US" sz="1200" dirty="0"/>
                        <a:t>）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・つづきから・・・ロード画面へ（</a:t>
                      </a:r>
                      <a:r>
                        <a:rPr kumimoji="1" lang="en-US" altLang="ja-JP" sz="1200" dirty="0"/>
                        <a:t>P3</a:t>
                      </a:r>
                      <a:r>
                        <a:rPr kumimoji="1" lang="ja-JP" altLang="en-US" sz="1200" dirty="0"/>
                        <a:t>）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・オプション・・・オプション画面へ（</a:t>
                      </a:r>
                      <a:r>
                        <a:rPr kumimoji="1" lang="en-US" altLang="ja-JP" sz="1200" dirty="0"/>
                        <a:t>P4</a:t>
                      </a:r>
                      <a:r>
                        <a:rPr kumimoji="1" lang="ja-JP" altLang="en-US" sz="1200" dirty="0"/>
                        <a:t>）</a:t>
                      </a:r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005062"/>
                  </a:ext>
                </a:extLst>
              </a:tr>
            </a:tbl>
          </a:graphicData>
        </a:graphic>
      </p:graphicFrame>
      <p:sp>
        <p:nvSpPr>
          <p:cNvPr id="2" name="二等辺三角形 1">
            <a:extLst>
              <a:ext uri="{FF2B5EF4-FFF2-40B4-BE49-F238E27FC236}">
                <a16:creationId xmlns:a16="http://schemas.microsoft.com/office/drawing/2014/main" id="{A1736B9C-3796-4BC9-A4AD-893436A8CF8F}"/>
              </a:ext>
            </a:extLst>
          </p:cNvPr>
          <p:cNvSpPr/>
          <p:nvPr/>
        </p:nvSpPr>
        <p:spPr>
          <a:xfrm rot="5400000">
            <a:off x="1569855" y="3120237"/>
            <a:ext cx="261257" cy="23513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1798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2143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 dirty="0"/>
              <a:t>セーブ</a:t>
            </a:r>
            <a:r>
              <a:rPr kumimoji="1" lang="en-US" altLang="ja-JP" u="sng" dirty="0"/>
              <a:t>/</a:t>
            </a:r>
            <a:r>
              <a:rPr kumimoji="1" lang="ja-JP" altLang="en-US" u="sng" dirty="0"/>
              <a:t>ロード画面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A767265-4152-47ED-820B-C3D4856D4F47}"/>
              </a:ext>
            </a:extLst>
          </p:cNvPr>
          <p:cNvSpPr txBox="1"/>
          <p:nvPr/>
        </p:nvSpPr>
        <p:spPr>
          <a:xfrm>
            <a:off x="781624" y="1149924"/>
            <a:ext cx="2723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データ１　ステージ画像</a:t>
            </a:r>
            <a:endParaRPr kumimoji="1" lang="en-US" altLang="ja-JP" dirty="0"/>
          </a:p>
          <a:p>
            <a:r>
              <a:rPr lang="ja-JP" altLang="en-US" dirty="0"/>
              <a:t>　　　　　プレイ時間</a:t>
            </a:r>
            <a:endParaRPr kumimoji="1" lang="ja-JP" altLang="en-US" dirty="0"/>
          </a:p>
        </p:txBody>
      </p:sp>
      <p:graphicFrame>
        <p:nvGraphicFramePr>
          <p:cNvPr id="19" name="表 19">
            <a:extLst>
              <a:ext uri="{FF2B5EF4-FFF2-40B4-BE49-F238E27FC236}">
                <a16:creationId xmlns:a16="http://schemas.microsoft.com/office/drawing/2014/main" id="{1E93B5D8-9354-4ADB-909C-78B93746E4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525335"/>
              </p:ext>
            </p:extLst>
          </p:nvPr>
        </p:nvGraphicFramePr>
        <p:xfrm>
          <a:off x="6333639" y="1262218"/>
          <a:ext cx="5570573" cy="375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0573">
                  <a:extLst>
                    <a:ext uri="{9D8B030D-6E8A-4147-A177-3AD203B41FA5}">
                      <a16:colId xmlns:a16="http://schemas.microsoft.com/office/drawing/2014/main" val="21788426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詳細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268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■はじめに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・セーブデータは３つまで</a:t>
                      </a:r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98828"/>
                  </a:ext>
                </a:extLst>
              </a:tr>
              <a:tr h="443691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■データ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・ステージ画像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　・セーブしたステージに対応したサムネ画像を表示する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・プレイ時間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　・プレイ時間を</a:t>
                      </a:r>
                      <a:r>
                        <a:rPr kumimoji="1" lang="en-US" altLang="ja-JP" sz="1200" dirty="0" err="1"/>
                        <a:t>hhh:mm:ss</a:t>
                      </a:r>
                      <a:r>
                        <a:rPr kumimoji="1" lang="ja-JP" altLang="en-US" sz="1200" dirty="0"/>
                        <a:t>で表示する</a:t>
                      </a:r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748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■背景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　・全体の背景画像と、データ枠用の画像を用意する</a:t>
                      </a:r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54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■遷移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・セーブ画面として開いているとき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　・キャンセルボタンで前の画面に戻る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・ロード画面として開いているとき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　・データを選択したらロードしてプレイ画面へ</a:t>
                      </a:r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005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■その他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・前の画面は裏側に残しておく</a:t>
                      </a:r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4502233"/>
                  </a:ext>
                </a:extLst>
              </a:tr>
            </a:tbl>
          </a:graphicData>
        </a:graphic>
      </p:graphicFrame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AAE5D9E-A9C4-46BC-9C20-11F95FB927C7}"/>
              </a:ext>
            </a:extLst>
          </p:cNvPr>
          <p:cNvSpPr txBox="1"/>
          <p:nvPr/>
        </p:nvSpPr>
        <p:spPr>
          <a:xfrm>
            <a:off x="781623" y="1930516"/>
            <a:ext cx="2723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データ２　ステージ画像</a:t>
            </a:r>
            <a:endParaRPr kumimoji="1" lang="en-US" altLang="ja-JP" dirty="0"/>
          </a:p>
          <a:p>
            <a:r>
              <a:rPr lang="ja-JP" altLang="en-US" dirty="0"/>
              <a:t>　　　　　プレイ時間</a:t>
            </a:r>
            <a:endParaRPr kumimoji="1" lang="ja-JP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2C3FEC9-6F5B-4862-91D2-65C41DB5C017}"/>
              </a:ext>
            </a:extLst>
          </p:cNvPr>
          <p:cNvSpPr txBox="1"/>
          <p:nvPr/>
        </p:nvSpPr>
        <p:spPr>
          <a:xfrm>
            <a:off x="781622" y="2705142"/>
            <a:ext cx="2723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データ３　ステージ画像</a:t>
            </a:r>
            <a:endParaRPr kumimoji="1" lang="en-US" altLang="ja-JP" dirty="0"/>
          </a:p>
          <a:p>
            <a:r>
              <a:rPr lang="ja-JP" altLang="en-US" dirty="0"/>
              <a:t>　　　　　プレイ時間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16445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 dirty="0"/>
              <a:t>オプション画面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A767265-4152-47ED-820B-C3D4856D4F47}"/>
              </a:ext>
            </a:extLst>
          </p:cNvPr>
          <p:cNvSpPr txBox="1"/>
          <p:nvPr/>
        </p:nvSpPr>
        <p:spPr>
          <a:xfrm>
            <a:off x="781624" y="1149924"/>
            <a:ext cx="21066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BGM</a:t>
            </a:r>
            <a:r>
              <a:rPr kumimoji="1" lang="ja-JP" altLang="en-US" dirty="0"/>
              <a:t>　■■■■□</a:t>
            </a:r>
            <a:endParaRPr kumimoji="1" lang="en-US" altLang="ja-JP" dirty="0"/>
          </a:p>
          <a:p>
            <a:r>
              <a:rPr lang="en-US" altLang="ja-JP" dirty="0"/>
              <a:t>SE</a:t>
            </a:r>
            <a:r>
              <a:rPr lang="ja-JP" altLang="en-US" dirty="0"/>
              <a:t>　　■■■□□</a:t>
            </a:r>
            <a:endParaRPr kumimoji="1" lang="ja-JP" altLang="en-US" dirty="0"/>
          </a:p>
        </p:txBody>
      </p:sp>
      <p:graphicFrame>
        <p:nvGraphicFramePr>
          <p:cNvPr id="19" name="表 19">
            <a:extLst>
              <a:ext uri="{FF2B5EF4-FFF2-40B4-BE49-F238E27FC236}">
                <a16:creationId xmlns:a16="http://schemas.microsoft.com/office/drawing/2014/main" id="{1E93B5D8-9354-4ADB-909C-78B93746E4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692775"/>
              </p:ext>
            </p:extLst>
          </p:nvPr>
        </p:nvGraphicFramePr>
        <p:xfrm>
          <a:off x="6333639" y="1262218"/>
          <a:ext cx="5570573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0573">
                  <a:extLst>
                    <a:ext uri="{9D8B030D-6E8A-4147-A177-3AD203B41FA5}">
                      <a16:colId xmlns:a16="http://schemas.microsoft.com/office/drawing/2014/main" val="21788426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詳細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268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■はじめに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・５段階で調整するようにする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・ポップなデザインで統一する</a:t>
                      </a:r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98828"/>
                  </a:ext>
                </a:extLst>
              </a:tr>
              <a:tr h="443691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■</a:t>
                      </a:r>
                      <a:r>
                        <a:rPr kumimoji="1" lang="en-US" altLang="ja-JP" sz="1200" dirty="0"/>
                        <a:t>BGM/SE</a:t>
                      </a:r>
                    </a:p>
                    <a:p>
                      <a:r>
                        <a:rPr kumimoji="1" lang="ja-JP" altLang="en-US" sz="1200" dirty="0"/>
                        <a:t>・選択中の項目の左側にカーソルを表示する</a:t>
                      </a:r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748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■背景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　・１枚絵でいいが、アニメーションがあるとなお良い</a:t>
                      </a:r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54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■遷移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・キャンセルボタンが押されたときに設定が変わっていたら、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　変更を保存するかどうか確認してから前の画面に戻る</a:t>
                      </a:r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005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■その他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・前の画面は裏側に残しておく</a:t>
                      </a:r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4502233"/>
                  </a:ext>
                </a:extLst>
              </a:tr>
            </a:tbl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5F238F9-2508-419C-8860-792B3AB4D80B}"/>
              </a:ext>
            </a:extLst>
          </p:cNvPr>
          <p:cNvSpPr txBox="1"/>
          <p:nvPr/>
        </p:nvSpPr>
        <p:spPr>
          <a:xfrm>
            <a:off x="1131079" y="57496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オプション</a:t>
            </a:r>
          </a:p>
        </p:txBody>
      </p:sp>
      <p:sp>
        <p:nvSpPr>
          <p:cNvPr id="8" name="二等辺三角形 7">
            <a:extLst>
              <a:ext uri="{FF2B5EF4-FFF2-40B4-BE49-F238E27FC236}">
                <a16:creationId xmlns:a16="http://schemas.microsoft.com/office/drawing/2014/main" id="{F7064F8D-2785-4DB0-AE8B-E9896F58AD23}"/>
              </a:ext>
            </a:extLst>
          </p:cNvPr>
          <p:cNvSpPr/>
          <p:nvPr/>
        </p:nvSpPr>
        <p:spPr>
          <a:xfrm rot="5400000">
            <a:off x="533430" y="1162987"/>
            <a:ext cx="261257" cy="23513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1676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 dirty="0"/>
              <a:t>デモムービー</a:t>
            </a:r>
          </a:p>
        </p:txBody>
      </p:sp>
      <p:graphicFrame>
        <p:nvGraphicFramePr>
          <p:cNvPr id="19" name="表 19">
            <a:extLst>
              <a:ext uri="{FF2B5EF4-FFF2-40B4-BE49-F238E27FC236}">
                <a16:creationId xmlns:a16="http://schemas.microsoft.com/office/drawing/2014/main" id="{1E93B5D8-9354-4ADB-909C-78B93746E4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5008461"/>
              </p:ext>
            </p:extLst>
          </p:nvPr>
        </p:nvGraphicFramePr>
        <p:xfrm>
          <a:off x="6333639" y="1262218"/>
          <a:ext cx="5570573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0573">
                  <a:extLst>
                    <a:ext uri="{9D8B030D-6E8A-4147-A177-3AD203B41FA5}">
                      <a16:colId xmlns:a16="http://schemas.microsoft.com/office/drawing/2014/main" val="21788426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詳細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268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■はじめに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・プレイ動画を３つほど用意して、遷移するたびに順番を変えながら再生する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・常に手前に</a:t>
                      </a:r>
                      <a:r>
                        <a:rPr kumimoji="1" lang="en-US" altLang="ja-JP" sz="1200" dirty="0"/>
                        <a:t>Press ※※ Button </a:t>
                      </a:r>
                      <a:r>
                        <a:rPr kumimoji="1" lang="ja-JP" altLang="en-US" sz="1200" dirty="0"/>
                        <a:t>を点滅表示させておく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・動画容量に余裕があれば種類を増やしていいかも</a:t>
                      </a:r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98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■遷移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・ボタンが押されたらタイトル画面に戻る</a:t>
                      </a:r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005062"/>
                  </a:ext>
                </a:extLst>
              </a:tr>
            </a:tbl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5F238F9-2508-419C-8860-792B3AB4D80B}"/>
              </a:ext>
            </a:extLst>
          </p:cNvPr>
          <p:cNvSpPr txBox="1"/>
          <p:nvPr/>
        </p:nvSpPr>
        <p:spPr>
          <a:xfrm>
            <a:off x="1131079" y="57496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背景：デモ動画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0606CF-ED03-4905-AB50-2476140D65AE}"/>
              </a:ext>
            </a:extLst>
          </p:cNvPr>
          <p:cNvSpPr txBox="1"/>
          <p:nvPr/>
        </p:nvSpPr>
        <p:spPr>
          <a:xfrm>
            <a:off x="983602" y="1811612"/>
            <a:ext cx="209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Press ※※</a:t>
            </a:r>
            <a:r>
              <a:rPr lang="ja-JP" altLang="en-US" dirty="0"/>
              <a:t> </a:t>
            </a:r>
            <a:r>
              <a:rPr lang="en-US" altLang="ja-JP" dirty="0"/>
              <a:t>Button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81360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536</Words>
  <Application>Microsoft Office PowerPoint</Application>
  <PresentationFormat>ワイド画面</PresentationFormat>
  <Paragraphs>96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情報北九州校 倉掛</dc:creator>
  <cp:lastModifiedBy>情報北九州校 倉掛</cp:lastModifiedBy>
  <cp:revision>6</cp:revision>
  <dcterms:created xsi:type="dcterms:W3CDTF">2026-01-26T01:13:53Z</dcterms:created>
  <dcterms:modified xsi:type="dcterms:W3CDTF">2026-01-26T01:54:46Z</dcterms:modified>
</cp:coreProperties>
</file>