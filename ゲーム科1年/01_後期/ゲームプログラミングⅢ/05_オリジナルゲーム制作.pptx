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2026/10/15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dospara.co.jp/?srsltid=AU7gw4UX2Gkizfo8Jf7RGLwmL_j17DVQQM3D4q3Gjuo8E_Zgly5LpoS1"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オリジナルゲーム制作</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4154984"/>
          </a:xfrm>
          <a:prstGeom prst="rect">
            <a:avLst/>
          </a:prstGeom>
          <a:noFill/>
        </p:spPr>
        <p:txBody>
          <a:bodyPr wrap="none" rtlCol="0">
            <a:spAutoFit/>
          </a:bodyPr>
          <a:lstStyle/>
          <a:p>
            <a:r>
              <a:rPr kumimoji="1" lang="ja-JP" altLang="en-US" sz="2400" dirty="0"/>
              <a:t>これまでの学習を生かしてオリジナルゲームを制作しましょう。</a:t>
            </a:r>
            <a:endParaRPr kumimoji="1" lang="en-US" altLang="ja-JP" sz="2400" dirty="0"/>
          </a:p>
          <a:p>
            <a:r>
              <a:rPr kumimoji="1" lang="ja-JP" altLang="en-US" sz="2400" dirty="0"/>
              <a:t>制作したゲームは今後いろいろなものに活用していきます。</a:t>
            </a:r>
            <a:endParaRPr kumimoji="1" lang="en-US" altLang="ja-JP" sz="2400" dirty="0"/>
          </a:p>
          <a:p>
            <a:endParaRPr kumimoji="1" lang="en-US" altLang="ja-JP" sz="2400" dirty="0"/>
          </a:p>
          <a:p>
            <a:r>
              <a:rPr lang="ja-JP" altLang="en-US" sz="2400" b="1" dirty="0">
                <a:solidFill>
                  <a:srgbClr val="FF0000"/>
                </a:solidFill>
              </a:rPr>
              <a:t>■ゲームの活用先</a:t>
            </a:r>
            <a:endParaRPr lang="en-US" altLang="ja-JP" sz="2400" b="1" dirty="0">
              <a:solidFill>
                <a:srgbClr val="FF0000"/>
              </a:solidFill>
            </a:endParaRPr>
          </a:p>
          <a:p>
            <a:r>
              <a:rPr kumimoji="1" lang="ja-JP" altLang="en-US" sz="2400" dirty="0"/>
              <a:t>・就活のポートフォリオに記載</a:t>
            </a:r>
            <a:endParaRPr kumimoji="1" lang="en-US" altLang="ja-JP" sz="2400" dirty="0"/>
          </a:p>
          <a:p>
            <a:r>
              <a:rPr lang="ja-JP" altLang="en-US" sz="2400" dirty="0"/>
              <a:t>・制作展への展示</a:t>
            </a:r>
            <a:endParaRPr lang="en-US" altLang="ja-JP" sz="2400" dirty="0"/>
          </a:p>
          <a:p>
            <a:r>
              <a:rPr kumimoji="1" lang="ja-JP" altLang="en-US" sz="2400" dirty="0"/>
              <a:t>・効果測定の成績</a:t>
            </a:r>
            <a:endParaRPr kumimoji="1" lang="en-US" altLang="ja-JP" sz="2400" dirty="0"/>
          </a:p>
          <a:p>
            <a:r>
              <a:rPr lang="ja-JP" altLang="en-US" sz="2400" dirty="0"/>
              <a:t>・コンクールへの提出</a:t>
            </a:r>
            <a:endParaRPr lang="en-US" altLang="ja-JP" sz="2400" dirty="0"/>
          </a:p>
          <a:p>
            <a:endParaRPr kumimoji="1" lang="en-US" altLang="ja-JP" sz="2400" dirty="0"/>
          </a:p>
          <a:p>
            <a:r>
              <a:rPr lang="ja-JP" altLang="en-US" sz="2400" dirty="0"/>
              <a:t>１年生の集大成ともいえる作品になります。</a:t>
            </a:r>
            <a:endParaRPr lang="en-US" altLang="ja-JP" sz="2400" dirty="0"/>
          </a:p>
          <a:p>
            <a:r>
              <a:rPr kumimoji="1" lang="ja-JP" altLang="en-US" sz="2400" dirty="0"/>
              <a:t>悔いの残らないように取り組みましょう。</a:t>
            </a:r>
            <a:endParaRPr kumimoji="1"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457217" cy="584775"/>
          </a:xfrm>
          <a:prstGeom prst="rect">
            <a:avLst/>
          </a:prstGeom>
          <a:noFill/>
        </p:spPr>
        <p:txBody>
          <a:bodyPr wrap="none" rtlCol="0">
            <a:spAutoFit/>
          </a:bodyPr>
          <a:lstStyle/>
          <a:p>
            <a:r>
              <a:rPr kumimoji="1" lang="ja-JP" altLang="en-US" sz="3200" b="1" u="sng" dirty="0"/>
              <a:t>オリジナルゲーム制作 企画と仕様</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4524315"/>
          </a:xfrm>
          <a:prstGeom prst="rect">
            <a:avLst/>
          </a:prstGeom>
          <a:noFill/>
        </p:spPr>
        <p:txBody>
          <a:bodyPr wrap="none" rtlCol="0">
            <a:spAutoFit/>
          </a:bodyPr>
          <a:lstStyle/>
          <a:p>
            <a:r>
              <a:rPr kumimoji="1" lang="ja-JP" altLang="en-US" sz="2400" dirty="0"/>
              <a:t>長期期間でのゲーム制作で重要なのは、</a:t>
            </a:r>
            <a:endParaRPr kumimoji="1" lang="en-US" altLang="ja-JP" sz="2400" dirty="0"/>
          </a:p>
          <a:p>
            <a:r>
              <a:rPr lang="ja-JP" altLang="en-US" sz="2400" b="1" dirty="0">
                <a:solidFill>
                  <a:srgbClr val="FF0000"/>
                </a:solidFill>
              </a:rPr>
              <a:t>企画</a:t>
            </a:r>
            <a:r>
              <a:rPr lang="ja-JP" altLang="en-US" sz="2400" dirty="0"/>
              <a:t>と</a:t>
            </a:r>
            <a:r>
              <a:rPr lang="ja-JP" altLang="en-US" sz="2400" b="1" dirty="0">
                <a:solidFill>
                  <a:srgbClr val="FF0000"/>
                </a:solidFill>
              </a:rPr>
              <a:t>仕様</a:t>
            </a:r>
            <a:r>
              <a:rPr lang="ja-JP" altLang="en-US" sz="2400" dirty="0"/>
              <a:t>をあらかじめ明確にしておくことです。</a:t>
            </a:r>
            <a:endParaRPr kumimoji="1" lang="en-US" altLang="ja-JP" sz="2400" dirty="0"/>
          </a:p>
          <a:p>
            <a:endParaRPr kumimoji="1" lang="en-US" altLang="ja-JP" sz="2400" dirty="0"/>
          </a:p>
          <a:p>
            <a:r>
              <a:rPr lang="ja-JP" altLang="en-US" sz="2400" b="1" dirty="0">
                <a:solidFill>
                  <a:srgbClr val="FF0000"/>
                </a:solidFill>
              </a:rPr>
              <a:t>■企画</a:t>
            </a:r>
            <a:endParaRPr lang="en-US" altLang="ja-JP" sz="2400" b="1" dirty="0">
              <a:solidFill>
                <a:srgbClr val="FF0000"/>
              </a:solidFill>
            </a:endParaRPr>
          </a:p>
          <a:p>
            <a:r>
              <a:rPr kumimoji="1" lang="ja-JP" altLang="en-US" sz="2400" dirty="0"/>
              <a:t>どんなゲームにするのか。</a:t>
            </a:r>
            <a:endParaRPr kumimoji="1" lang="en-US" altLang="ja-JP" sz="2400" dirty="0"/>
          </a:p>
          <a:p>
            <a:r>
              <a:rPr lang="ja-JP" altLang="en-US" sz="2400" dirty="0"/>
              <a:t>ゲームの詳細ではなく、</a:t>
            </a:r>
            <a:r>
              <a:rPr lang="ja-JP" altLang="en-US" sz="2400" b="1" dirty="0">
                <a:solidFill>
                  <a:srgbClr val="FF0000"/>
                </a:solidFill>
              </a:rPr>
              <a:t>何が面白いのか</a:t>
            </a:r>
            <a:r>
              <a:rPr lang="ja-JP" altLang="en-US" sz="2400" dirty="0"/>
              <a:t>を主に</a:t>
            </a:r>
            <a:r>
              <a:rPr lang="ja-JP" altLang="en-US" sz="2400" b="1" dirty="0">
                <a:solidFill>
                  <a:srgbClr val="FF0000"/>
                </a:solidFill>
              </a:rPr>
              <a:t>企画書</a:t>
            </a:r>
            <a:r>
              <a:rPr lang="ja-JP" altLang="en-US" sz="2400" dirty="0"/>
              <a:t>に書く。</a:t>
            </a:r>
            <a:endParaRPr lang="en-US" altLang="ja-JP" sz="2400" dirty="0"/>
          </a:p>
          <a:p>
            <a:endParaRPr kumimoji="1" lang="en-US" altLang="ja-JP" sz="2400" dirty="0"/>
          </a:p>
          <a:p>
            <a:r>
              <a:rPr lang="ja-JP" altLang="en-US" sz="2400" b="1" dirty="0">
                <a:solidFill>
                  <a:srgbClr val="FF0000"/>
                </a:solidFill>
              </a:rPr>
              <a:t>■仕様</a:t>
            </a:r>
            <a:endParaRPr lang="en-US" altLang="ja-JP" sz="2400" b="1" dirty="0">
              <a:solidFill>
                <a:srgbClr val="FF0000"/>
              </a:solidFill>
            </a:endParaRPr>
          </a:p>
          <a:p>
            <a:r>
              <a:rPr kumimoji="1" lang="ja-JP" altLang="en-US" sz="2400" b="1" dirty="0">
                <a:solidFill>
                  <a:srgbClr val="FF0000"/>
                </a:solidFill>
              </a:rPr>
              <a:t>ゲームに必要なもの全て。</a:t>
            </a:r>
            <a:r>
              <a:rPr kumimoji="1" lang="ja-JP" altLang="en-US" sz="2400" dirty="0"/>
              <a:t>それらを</a:t>
            </a:r>
            <a:r>
              <a:rPr kumimoji="1" lang="ja-JP" altLang="en-US" sz="2400" b="1" dirty="0">
                <a:solidFill>
                  <a:srgbClr val="FF0000"/>
                </a:solidFill>
              </a:rPr>
              <a:t>明確に仕様書</a:t>
            </a:r>
            <a:r>
              <a:rPr kumimoji="1" lang="ja-JP" altLang="en-US" sz="2400" dirty="0"/>
              <a:t>に書く。</a:t>
            </a:r>
            <a:endParaRPr kumimoji="1" lang="en-US" altLang="ja-JP" sz="2400" dirty="0"/>
          </a:p>
          <a:p>
            <a:r>
              <a:rPr lang="ja-JP" altLang="en-US" sz="2400" dirty="0"/>
              <a:t>読むだけで、どんなものを作れば良いかわかるものが理想的。</a:t>
            </a:r>
            <a:endParaRPr lang="en-US" altLang="ja-JP" sz="2400" dirty="0"/>
          </a:p>
          <a:p>
            <a:endParaRPr kumimoji="1" lang="en-US" altLang="ja-JP" sz="2400" dirty="0"/>
          </a:p>
          <a:p>
            <a:r>
              <a:rPr lang="ja-JP" altLang="en-US" sz="2400" dirty="0"/>
              <a:t>まずはこれらの資料を作成しましょう。</a:t>
            </a:r>
            <a:endParaRPr kumimoji="1" lang="en-US" altLang="ja-JP" sz="2400" dirty="0"/>
          </a:p>
        </p:txBody>
      </p:sp>
    </p:spTree>
    <p:extLst>
      <p:ext uri="{BB962C8B-B14F-4D97-AF65-F5344CB8AC3E}">
        <p14:creationId xmlns:p14="http://schemas.microsoft.com/office/powerpoint/2010/main" val="327511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7688323" cy="584775"/>
          </a:xfrm>
          <a:prstGeom prst="rect">
            <a:avLst/>
          </a:prstGeom>
          <a:noFill/>
        </p:spPr>
        <p:txBody>
          <a:bodyPr wrap="none" rtlCol="0">
            <a:spAutoFit/>
          </a:bodyPr>
          <a:lstStyle/>
          <a:p>
            <a:r>
              <a:rPr kumimoji="1" lang="ja-JP" altLang="en-US" sz="3200" b="1" u="sng" dirty="0"/>
              <a:t>オリジナルゲーム制作 スケジュール管理</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880175" cy="5262979"/>
          </a:xfrm>
          <a:prstGeom prst="rect">
            <a:avLst/>
          </a:prstGeom>
          <a:noFill/>
        </p:spPr>
        <p:txBody>
          <a:bodyPr wrap="none" rtlCol="0">
            <a:spAutoFit/>
          </a:bodyPr>
          <a:lstStyle/>
          <a:p>
            <a:r>
              <a:rPr kumimoji="1" lang="ja-JP" altLang="en-US" sz="2400" dirty="0"/>
              <a:t>仕様書を書けば、締め切りまでにどのように作業するか、</a:t>
            </a:r>
            <a:endParaRPr kumimoji="1" lang="en-US" altLang="ja-JP" sz="2400" dirty="0"/>
          </a:p>
          <a:p>
            <a:r>
              <a:rPr lang="ja-JP" altLang="en-US" sz="2400" dirty="0"/>
              <a:t>スケジュールを考えます。</a:t>
            </a:r>
            <a:endParaRPr lang="en-US" altLang="ja-JP" sz="2400" dirty="0"/>
          </a:p>
          <a:p>
            <a:endParaRPr kumimoji="1" lang="en-US" altLang="ja-JP" sz="2400" dirty="0"/>
          </a:p>
          <a:p>
            <a:r>
              <a:rPr lang="ja-JP" altLang="en-US" sz="2400" dirty="0"/>
              <a:t>仕様書に書かれているもの１つ１つに対して、</a:t>
            </a:r>
            <a:r>
              <a:rPr lang="ja-JP" altLang="en-US" sz="2400" b="1" dirty="0">
                <a:solidFill>
                  <a:srgbClr val="FF0000"/>
                </a:solidFill>
              </a:rPr>
              <a:t>どれだけ時間がかかるか（工数）</a:t>
            </a:r>
            <a:endParaRPr lang="en-US" altLang="ja-JP" sz="2400" b="1" dirty="0">
              <a:solidFill>
                <a:srgbClr val="FF0000"/>
              </a:solidFill>
            </a:endParaRPr>
          </a:p>
          <a:p>
            <a:r>
              <a:rPr kumimoji="1" lang="ja-JP" altLang="en-US" sz="2400" dirty="0"/>
              <a:t>を予想し、それを守りながら作業を進めます。</a:t>
            </a:r>
            <a:endParaRPr kumimoji="1" lang="en-US" altLang="ja-JP" sz="2400" dirty="0"/>
          </a:p>
          <a:p>
            <a:endParaRPr lang="en-US" altLang="ja-JP" sz="2400" dirty="0"/>
          </a:p>
          <a:p>
            <a:r>
              <a:rPr kumimoji="1" lang="ja-JP" altLang="en-US" sz="2400" b="1" dirty="0">
                <a:solidFill>
                  <a:srgbClr val="FF0000"/>
                </a:solidFill>
              </a:rPr>
              <a:t>■注意点</a:t>
            </a:r>
            <a:endParaRPr kumimoji="1" lang="en-US" altLang="ja-JP" sz="2400" b="1" dirty="0">
              <a:solidFill>
                <a:srgbClr val="FF0000"/>
              </a:solidFill>
            </a:endParaRPr>
          </a:p>
          <a:p>
            <a:r>
              <a:rPr lang="ja-JP" altLang="en-US" sz="2400" b="1" dirty="0">
                <a:solidFill>
                  <a:srgbClr val="FF0000"/>
                </a:solidFill>
              </a:rPr>
              <a:t>仕様を全て実装＝完成</a:t>
            </a:r>
            <a:r>
              <a:rPr lang="ja-JP" altLang="en-US" sz="2400" dirty="0"/>
              <a:t>ではありません。例えば、</a:t>
            </a:r>
            <a:endParaRPr lang="en-US" altLang="ja-JP" sz="2400" dirty="0"/>
          </a:p>
          <a:p>
            <a:r>
              <a:rPr kumimoji="1" lang="ja-JP" altLang="en-US" sz="2400" dirty="0"/>
              <a:t>・まだ面白くない</a:t>
            </a:r>
            <a:endParaRPr kumimoji="1" lang="en-US" altLang="ja-JP" sz="2400" dirty="0"/>
          </a:p>
          <a:p>
            <a:r>
              <a:rPr lang="ja-JP" altLang="en-US" sz="2400" dirty="0"/>
              <a:t>・不具合がでてる</a:t>
            </a:r>
            <a:endParaRPr lang="en-US" altLang="ja-JP" sz="2400" dirty="0"/>
          </a:p>
          <a:p>
            <a:r>
              <a:rPr lang="ja-JP" altLang="en-US" sz="2400" dirty="0"/>
              <a:t>など、作業中に他にやりたいことが常に増えていきます。</a:t>
            </a:r>
            <a:endParaRPr lang="en-US" altLang="ja-JP" sz="2400" dirty="0"/>
          </a:p>
          <a:p>
            <a:r>
              <a:rPr kumimoji="1" lang="ja-JP" altLang="en-US" sz="2400" dirty="0"/>
              <a:t>それらを想定しながら、</a:t>
            </a:r>
            <a:r>
              <a:rPr kumimoji="1" lang="ja-JP" altLang="en-US" sz="2400" b="1" dirty="0">
                <a:solidFill>
                  <a:srgbClr val="FF0000"/>
                </a:solidFill>
              </a:rPr>
              <a:t>余裕（マージン）を持ったスケジュールを考えましょう。</a:t>
            </a:r>
            <a:endParaRPr kumimoji="1" lang="en-US" altLang="ja-JP" sz="2400" b="1" dirty="0">
              <a:solidFill>
                <a:srgbClr val="FF0000"/>
              </a:solidFill>
            </a:endParaRPr>
          </a:p>
          <a:p>
            <a:endParaRPr lang="en-US" altLang="ja-JP" sz="2400" b="1" dirty="0">
              <a:solidFill>
                <a:srgbClr val="FF0000"/>
              </a:solidFill>
            </a:endParaRPr>
          </a:p>
          <a:p>
            <a:r>
              <a:rPr kumimoji="1" lang="en-US" altLang="ja-JP" sz="2400" dirty="0"/>
              <a:t>※</a:t>
            </a:r>
            <a:r>
              <a:rPr kumimoji="1" lang="ja-JP" altLang="en-US" sz="2400" dirty="0"/>
              <a:t>おおよそですが、締め切りの１か月前に全実装が現実的かと思います。</a:t>
            </a:r>
            <a:endParaRPr kumimoji="1" lang="en-US" altLang="ja-JP" sz="2400" dirty="0"/>
          </a:p>
        </p:txBody>
      </p:sp>
    </p:spTree>
    <p:extLst>
      <p:ext uri="{BB962C8B-B14F-4D97-AF65-F5344CB8AC3E}">
        <p14:creationId xmlns:p14="http://schemas.microsoft.com/office/powerpoint/2010/main" val="51944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7688323" cy="584775"/>
          </a:xfrm>
          <a:prstGeom prst="rect">
            <a:avLst/>
          </a:prstGeom>
          <a:noFill/>
        </p:spPr>
        <p:txBody>
          <a:bodyPr wrap="none" rtlCol="0">
            <a:spAutoFit/>
          </a:bodyPr>
          <a:lstStyle/>
          <a:p>
            <a:r>
              <a:rPr kumimoji="1" lang="ja-JP" altLang="en-US" sz="3200" b="1" u="sng" dirty="0"/>
              <a:t>オリジナルゲーム制作 スケジュール管理</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893647"/>
          </a:xfrm>
          <a:prstGeom prst="rect">
            <a:avLst/>
          </a:prstGeom>
          <a:noFill/>
        </p:spPr>
        <p:txBody>
          <a:bodyPr wrap="none" rtlCol="0">
            <a:spAutoFit/>
          </a:bodyPr>
          <a:lstStyle/>
          <a:p>
            <a:r>
              <a:rPr kumimoji="1" lang="ja-JP" altLang="en-US" sz="2400" dirty="0"/>
              <a:t>スケジュールを決めたら、よほどのことがない限り守りましょう。</a:t>
            </a:r>
            <a:endParaRPr kumimoji="1" lang="en-US" altLang="ja-JP" sz="2400" dirty="0"/>
          </a:p>
          <a:p>
            <a:r>
              <a:rPr lang="ja-JP" altLang="en-US" sz="2400" dirty="0"/>
              <a:t>授業の時間で間に合わなければ、放課後やお家で作業しましょう。</a:t>
            </a:r>
            <a:endParaRPr lang="en-US" altLang="ja-JP" sz="2400" dirty="0"/>
          </a:p>
          <a:p>
            <a:r>
              <a:rPr lang="ja-JP" altLang="en-US" sz="2400" b="1" dirty="0">
                <a:solidFill>
                  <a:srgbClr val="FF0000"/>
                </a:solidFill>
              </a:rPr>
              <a:t>よほどのことが発生した場合は、</a:t>
            </a:r>
            <a:endParaRPr lang="en-US" altLang="ja-JP" sz="2400" b="1" dirty="0">
              <a:solidFill>
                <a:srgbClr val="FF0000"/>
              </a:solidFill>
            </a:endParaRPr>
          </a:p>
          <a:p>
            <a:r>
              <a:rPr lang="ja-JP" altLang="en-US" sz="2400" b="1" dirty="0">
                <a:solidFill>
                  <a:srgbClr val="FF0000"/>
                </a:solidFill>
              </a:rPr>
              <a:t>スケジュールを組みなおしましょう。（リスケジュール）</a:t>
            </a:r>
            <a:endParaRPr lang="en-US" altLang="ja-JP" sz="2400" b="1" dirty="0">
              <a:solidFill>
                <a:srgbClr val="FF0000"/>
              </a:solidFill>
            </a:endParaRPr>
          </a:p>
          <a:p>
            <a:endParaRPr kumimoji="1" lang="en-US" altLang="ja-JP" sz="2400" dirty="0"/>
          </a:p>
          <a:p>
            <a:r>
              <a:rPr lang="ja-JP" altLang="en-US" sz="2400" b="1" dirty="0">
                <a:solidFill>
                  <a:srgbClr val="FF0000"/>
                </a:solidFill>
              </a:rPr>
              <a:t>■よほどのこととは</a:t>
            </a:r>
            <a:endParaRPr lang="en-US" altLang="ja-JP" sz="2400" b="1" dirty="0">
              <a:solidFill>
                <a:srgbClr val="FF0000"/>
              </a:solidFill>
            </a:endParaRPr>
          </a:p>
          <a:p>
            <a:r>
              <a:rPr kumimoji="1" lang="ja-JP" altLang="en-US" sz="2400" dirty="0"/>
              <a:t>・想定していたものよりずっと大規模だった</a:t>
            </a:r>
            <a:endParaRPr kumimoji="1" lang="en-US" altLang="ja-JP" sz="2400" dirty="0"/>
          </a:p>
          <a:p>
            <a:r>
              <a:rPr lang="ja-JP" altLang="en-US" sz="2400" dirty="0"/>
              <a:t>・不具合が出すぎて収集がつかなくなった</a:t>
            </a:r>
            <a:endParaRPr lang="en-US" altLang="ja-JP" sz="2400" dirty="0"/>
          </a:p>
          <a:p>
            <a:r>
              <a:rPr kumimoji="1" lang="ja-JP" altLang="en-US" sz="2400" dirty="0"/>
              <a:t>・想定していたものよりも実装難易度が高すぎた</a:t>
            </a:r>
            <a:endParaRPr kumimoji="1" lang="en-US" altLang="ja-JP" sz="2400" dirty="0"/>
          </a:p>
          <a:p>
            <a:endParaRPr lang="en-US" altLang="ja-JP" sz="2400" dirty="0"/>
          </a:p>
          <a:p>
            <a:r>
              <a:rPr kumimoji="1" lang="ja-JP" altLang="en-US" sz="2400" dirty="0"/>
              <a:t>判断がつきにくいと思いますので、こまめに先生に相談しましょう。</a:t>
            </a:r>
            <a:endParaRPr kumimoji="1" lang="en-US" altLang="ja-JP" sz="2400" dirty="0"/>
          </a:p>
          <a:p>
            <a:endParaRPr lang="en-US" altLang="ja-JP" sz="2400" dirty="0"/>
          </a:p>
          <a:p>
            <a:r>
              <a:rPr kumimoji="1" lang="ja-JP" altLang="en-US" sz="2400" b="1" dirty="0">
                <a:solidFill>
                  <a:srgbClr val="FF0000"/>
                </a:solidFill>
              </a:rPr>
              <a:t>スケジュールは一人ずつ先生と話し合いながら一緒に考えます。</a:t>
            </a:r>
            <a:endParaRPr kumimoji="1" lang="en-US" altLang="ja-JP" sz="2400" b="1" dirty="0">
              <a:solidFill>
                <a:srgbClr val="FF0000"/>
              </a:solidFill>
            </a:endParaRPr>
          </a:p>
        </p:txBody>
      </p:sp>
    </p:spTree>
    <p:extLst>
      <p:ext uri="{BB962C8B-B14F-4D97-AF65-F5344CB8AC3E}">
        <p14:creationId xmlns:p14="http://schemas.microsoft.com/office/powerpoint/2010/main" val="2278967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7688323" cy="584775"/>
          </a:xfrm>
          <a:prstGeom prst="rect">
            <a:avLst/>
          </a:prstGeom>
          <a:noFill/>
        </p:spPr>
        <p:txBody>
          <a:bodyPr wrap="none" rtlCol="0">
            <a:spAutoFit/>
          </a:bodyPr>
          <a:lstStyle/>
          <a:p>
            <a:r>
              <a:rPr kumimoji="1" lang="ja-JP" altLang="en-US" sz="3200" b="1" u="sng" dirty="0"/>
              <a:t>オリジナルゲーム制作 スケジュール管理</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461665"/>
          </a:xfrm>
          <a:prstGeom prst="rect">
            <a:avLst/>
          </a:prstGeom>
          <a:noFill/>
        </p:spPr>
        <p:txBody>
          <a:bodyPr wrap="none" rtlCol="0">
            <a:spAutoFit/>
          </a:bodyPr>
          <a:lstStyle/>
          <a:p>
            <a:r>
              <a:rPr kumimoji="1" lang="ja-JP" altLang="en-US" sz="2400" dirty="0"/>
              <a:t>これらを踏まえたうえでの作業の流れです。</a:t>
            </a:r>
            <a:endParaRPr kumimoji="1" lang="en-US" altLang="ja-JP" sz="2400" dirty="0"/>
          </a:p>
        </p:txBody>
      </p:sp>
      <p:sp>
        <p:nvSpPr>
          <p:cNvPr id="2" name="正方形/長方形 1">
            <a:extLst>
              <a:ext uri="{FF2B5EF4-FFF2-40B4-BE49-F238E27FC236}">
                <a16:creationId xmlns:a16="http://schemas.microsoft.com/office/drawing/2014/main" id="{1C27C03E-0B0A-439C-9B96-BAC9BEF89C89}"/>
              </a:ext>
            </a:extLst>
          </p:cNvPr>
          <p:cNvSpPr/>
          <p:nvPr/>
        </p:nvSpPr>
        <p:spPr>
          <a:xfrm>
            <a:off x="767370" y="2836506"/>
            <a:ext cx="650883" cy="1970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normAutofit/>
          </a:bodyPr>
          <a:lstStyle/>
          <a:p>
            <a:pPr algn="ctr"/>
            <a:r>
              <a:rPr kumimoji="1" lang="ja-JP" altLang="en-US" b="1" dirty="0"/>
              <a:t>企画書作成</a:t>
            </a:r>
          </a:p>
        </p:txBody>
      </p:sp>
      <p:sp>
        <p:nvSpPr>
          <p:cNvPr id="5" name="正方形/長方形 4">
            <a:extLst>
              <a:ext uri="{FF2B5EF4-FFF2-40B4-BE49-F238E27FC236}">
                <a16:creationId xmlns:a16="http://schemas.microsoft.com/office/drawing/2014/main" id="{61B73BD5-A1FE-4B26-BA98-6AB06CA546AC}"/>
              </a:ext>
            </a:extLst>
          </p:cNvPr>
          <p:cNvSpPr/>
          <p:nvPr/>
        </p:nvSpPr>
        <p:spPr>
          <a:xfrm>
            <a:off x="3282673" y="2836506"/>
            <a:ext cx="650883" cy="1970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normAutofit/>
          </a:bodyPr>
          <a:lstStyle/>
          <a:p>
            <a:pPr algn="ctr"/>
            <a:r>
              <a:rPr kumimoji="1" lang="ja-JP" altLang="en-US" b="1" dirty="0"/>
              <a:t>仕様書作成</a:t>
            </a:r>
          </a:p>
        </p:txBody>
      </p:sp>
      <p:sp>
        <p:nvSpPr>
          <p:cNvPr id="7" name="正方形/長方形 6">
            <a:extLst>
              <a:ext uri="{FF2B5EF4-FFF2-40B4-BE49-F238E27FC236}">
                <a16:creationId xmlns:a16="http://schemas.microsoft.com/office/drawing/2014/main" id="{DCD7446E-811B-4FE2-86CD-98546BC2E9B4}"/>
              </a:ext>
            </a:extLst>
          </p:cNvPr>
          <p:cNvSpPr/>
          <p:nvPr/>
        </p:nvSpPr>
        <p:spPr>
          <a:xfrm>
            <a:off x="5814934" y="2836506"/>
            <a:ext cx="650883" cy="1970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normAutofit/>
          </a:bodyPr>
          <a:lstStyle/>
          <a:p>
            <a:pPr algn="ctr"/>
            <a:r>
              <a:rPr kumimoji="1" lang="ja-JP" altLang="en-US" b="1" dirty="0"/>
              <a:t>スケジュール作成</a:t>
            </a:r>
          </a:p>
        </p:txBody>
      </p:sp>
      <p:sp>
        <p:nvSpPr>
          <p:cNvPr id="8" name="正方形/長方形 7">
            <a:extLst>
              <a:ext uri="{FF2B5EF4-FFF2-40B4-BE49-F238E27FC236}">
                <a16:creationId xmlns:a16="http://schemas.microsoft.com/office/drawing/2014/main" id="{059A2CB7-A53D-4218-A99D-AE7957FBE5F1}"/>
              </a:ext>
            </a:extLst>
          </p:cNvPr>
          <p:cNvSpPr/>
          <p:nvPr/>
        </p:nvSpPr>
        <p:spPr>
          <a:xfrm>
            <a:off x="8313279" y="2836505"/>
            <a:ext cx="650883" cy="1970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normAutofit/>
          </a:bodyPr>
          <a:lstStyle/>
          <a:p>
            <a:pPr algn="ctr"/>
            <a:r>
              <a:rPr kumimoji="1" lang="ja-JP" altLang="en-US" b="1" dirty="0"/>
              <a:t>制作作業</a:t>
            </a:r>
          </a:p>
        </p:txBody>
      </p:sp>
      <p:sp>
        <p:nvSpPr>
          <p:cNvPr id="3" name="矢印: 右 2">
            <a:extLst>
              <a:ext uri="{FF2B5EF4-FFF2-40B4-BE49-F238E27FC236}">
                <a16:creationId xmlns:a16="http://schemas.microsoft.com/office/drawing/2014/main" id="{BDE673A4-72AE-4E79-93D1-B47EC5DA5163}"/>
              </a:ext>
            </a:extLst>
          </p:cNvPr>
          <p:cNvSpPr/>
          <p:nvPr/>
        </p:nvSpPr>
        <p:spPr>
          <a:xfrm>
            <a:off x="1418253" y="3524429"/>
            <a:ext cx="1847462" cy="71195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チェック合格</a:t>
            </a:r>
          </a:p>
        </p:txBody>
      </p:sp>
      <p:sp>
        <p:nvSpPr>
          <p:cNvPr id="9" name="矢印: 右 8">
            <a:extLst>
              <a:ext uri="{FF2B5EF4-FFF2-40B4-BE49-F238E27FC236}">
                <a16:creationId xmlns:a16="http://schemas.microsoft.com/office/drawing/2014/main" id="{4513EE6E-6355-4232-A1D1-C57928301B85}"/>
              </a:ext>
            </a:extLst>
          </p:cNvPr>
          <p:cNvSpPr/>
          <p:nvPr/>
        </p:nvSpPr>
        <p:spPr>
          <a:xfrm>
            <a:off x="3950514" y="3524429"/>
            <a:ext cx="1847462" cy="71195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チェック合格</a:t>
            </a:r>
          </a:p>
        </p:txBody>
      </p:sp>
      <p:sp>
        <p:nvSpPr>
          <p:cNvPr id="10" name="矢印: 右 9">
            <a:extLst>
              <a:ext uri="{FF2B5EF4-FFF2-40B4-BE49-F238E27FC236}">
                <a16:creationId xmlns:a16="http://schemas.microsoft.com/office/drawing/2014/main" id="{D7871462-ED25-484E-9651-0561BDE55F35}"/>
              </a:ext>
            </a:extLst>
          </p:cNvPr>
          <p:cNvSpPr/>
          <p:nvPr/>
        </p:nvSpPr>
        <p:spPr>
          <a:xfrm>
            <a:off x="6465817" y="3524429"/>
            <a:ext cx="1847462" cy="71195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b="1" dirty="0"/>
          </a:p>
        </p:txBody>
      </p:sp>
      <p:sp>
        <p:nvSpPr>
          <p:cNvPr id="11" name="矢印: 右 10">
            <a:extLst>
              <a:ext uri="{FF2B5EF4-FFF2-40B4-BE49-F238E27FC236}">
                <a16:creationId xmlns:a16="http://schemas.microsoft.com/office/drawing/2014/main" id="{965B5186-7708-4743-9E08-C7ABBEF63CAD}"/>
              </a:ext>
            </a:extLst>
          </p:cNvPr>
          <p:cNvSpPr/>
          <p:nvPr/>
        </p:nvSpPr>
        <p:spPr>
          <a:xfrm>
            <a:off x="8964162" y="2836505"/>
            <a:ext cx="1847462" cy="71195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400" b="1" dirty="0"/>
              <a:t>よほどのこと発生</a:t>
            </a:r>
          </a:p>
        </p:txBody>
      </p:sp>
      <p:sp>
        <p:nvSpPr>
          <p:cNvPr id="12" name="正方形/長方形 11">
            <a:extLst>
              <a:ext uri="{FF2B5EF4-FFF2-40B4-BE49-F238E27FC236}">
                <a16:creationId xmlns:a16="http://schemas.microsoft.com/office/drawing/2014/main" id="{788C6015-DD53-4870-9C6F-C73CE6F3FCDE}"/>
              </a:ext>
            </a:extLst>
          </p:cNvPr>
          <p:cNvSpPr/>
          <p:nvPr/>
        </p:nvSpPr>
        <p:spPr>
          <a:xfrm>
            <a:off x="10828582" y="2836504"/>
            <a:ext cx="650883" cy="1970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normAutofit/>
          </a:bodyPr>
          <a:lstStyle/>
          <a:p>
            <a:pPr algn="ctr"/>
            <a:r>
              <a:rPr kumimoji="1" lang="ja-JP" altLang="en-US" b="1" dirty="0"/>
              <a:t>リスケジュール</a:t>
            </a:r>
          </a:p>
        </p:txBody>
      </p:sp>
      <p:sp>
        <p:nvSpPr>
          <p:cNvPr id="13" name="矢印: 左 12">
            <a:extLst>
              <a:ext uri="{FF2B5EF4-FFF2-40B4-BE49-F238E27FC236}">
                <a16:creationId xmlns:a16="http://schemas.microsoft.com/office/drawing/2014/main" id="{7083C5D0-BD82-45BB-9AE9-10839F814524}"/>
              </a:ext>
            </a:extLst>
          </p:cNvPr>
          <p:cNvSpPr/>
          <p:nvPr/>
        </p:nvSpPr>
        <p:spPr>
          <a:xfrm>
            <a:off x="8981120" y="4004248"/>
            <a:ext cx="1847462" cy="6377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チェック合格</a:t>
            </a:r>
          </a:p>
        </p:txBody>
      </p:sp>
    </p:spTree>
    <p:extLst>
      <p:ext uri="{BB962C8B-B14F-4D97-AF65-F5344CB8AC3E}">
        <p14:creationId xmlns:p14="http://schemas.microsoft.com/office/powerpoint/2010/main" val="1611807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046848" cy="584775"/>
          </a:xfrm>
          <a:prstGeom prst="rect">
            <a:avLst/>
          </a:prstGeom>
          <a:noFill/>
        </p:spPr>
        <p:txBody>
          <a:bodyPr wrap="none" rtlCol="0">
            <a:spAutoFit/>
          </a:bodyPr>
          <a:lstStyle/>
          <a:p>
            <a:r>
              <a:rPr kumimoji="1" lang="ja-JP" altLang="en-US" sz="3200" b="1" u="sng" dirty="0"/>
              <a:t>オリジナルゲーム制作 さいごに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2308324"/>
          </a:xfrm>
          <a:prstGeom prst="rect">
            <a:avLst/>
          </a:prstGeom>
          <a:noFill/>
        </p:spPr>
        <p:txBody>
          <a:bodyPr wrap="none" rtlCol="0">
            <a:spAutoFit/>
          </a:bodyPr>
          <a:lstStyle/>
          <a:p>
            <a:r>
              <a:rPr kumimoji="1" lang="ja-JP" altLang="en-US" sz="2400" dirty="0"/>
              <a:t>ゲーム制作の時間はどれだけあっても足りません。</a:t>
            </a:r>
            <a:endParaRPr kumimoji="1" lang="en-US" altLang="ja-JP" sz="2400" dirty="0"/>
          </a:p>
          <a:p>
            <a:r>
              <a:rPr lang="ja-JP" altLang="en-US" sz="2400" b="1" dirty="0">
                <a:solidFill>
                  <a:srgbClr val="FF0000"/>
                </a:solidFill>
              </a:rPr>
              <a:t>可能な限り学校に残って作業しましょう。</a:t>
            </a:r>
            <a:endParaRPr lang="en-US" altLang="ja-JP" sz="2400" b="1" dirty="0">
              <a:solidFill>
                <a:srgbClr val="FF0000"/>
              </a:solidFill>
            </a:endParaRPr>
          </a:p>
          <a:p>
            <a:r>
              <a:rPr kumimoji="1" lang="ja-JP" altLang="en-US" sz="2400" dirty="0"/>
              <a:t>また、学校が空いていない期間に作業できないのは非常にもったいないです。</a:t>
            </a:r>
            <a:endParaRPr kumimoji="1" lang="en-US" altLang="ja-JP" sz="2400" dirty="0"/>
          </a:p>
          <a:p>
            <a:r>
              <a:rPr kumimoji="1" lang="ja-JP" altLang="en-US" sz="2400" dirty="0"/>
              <a:t>これを機に</a:t>
            </a:r>
            <a:r>
              <a:rPr kumimoji="1" lang="ja-JP" altLang="en-US" sz="2400" b="1" dirty="0">
                <a:solidFill>
                  <a:srgbClr val="FF0000"/>
                </a:solidFill>
              </a:rPr>
              <a:t>お家で作業する環境</a:t>
            </a:r>
            <a:r>
              <a:rPr kumimoji="1" lang="ja-JP" altLang="en-US" sz="2400" dirty="0"/>
              <a:t>を整えても良いかもしれません。</a:t>
            </a:r>
            <a:endParaRPr kumimoji="1" lang="en-US" altLang="ja-JP" sz="2400" dirty="0"/>
          </a:p>
          <a:p>
            <a:endParaRPr lang="en-US" altLang="ja-JP" sz="2400" dirty="0"/>
          </a:p>
          <a:p>
            <a:r>
              <a:rPr lang="ja-JP" altLang="en-US" sz="2400" dirty="0">
                <a:hlinkClick r:id="rId2"/>
              </a:rPr>
              <a:t>パソコン（</a:t>
            </a:r>
            <a:r>
              <a:rPr lang="en-US" altLang="ja-JP" sz="2400" dirty="0">
                <a:hlinkClick r:id="rId2"/>
              </a:rPr>
              <a:t>PC</a:t>
            </a:r>
            <a:r>
              <a:rPr lang="ja-JP" altLang="en-US" sz="2400" dirty="0">
                <a:hlinkClick r:id="rId2"/>
              </a:rPr>
              <a:t>）通販のドスパラ</a:t>
            </a:r>
            <a:r>
              <a:rPr lang="en-US" altLang="ja-JP" sz="2400" dirty="0">
                <a:hlinkClick r:id="rId2"/>
              </a:rPr>
              <a:t>【</a:t>
            </a:r>
            <a:r>
              <a:rPr lang="ja-JP" altLang="en-US" sz="2400" dirty="0">
                <a:hlinkClick r:id="rId2"/>
              </a:rPr>
              <a:t>公式</a:t>
            </a:r>
            <a:r>
              <a:rPr lang="en-US" altLang="ja-JP" sz="2400" dirty="0">
                <a:hlinkClick r:id="rId2"/>
              </a:rPr>
              <a:t>】</a:t>
            </a:r>
            <a:endParaRPr kumimoji="1" lang="en-US" altLang="ja-JP" sz="2400" dirty="0"/>
          </a:p>
        </p:txBody>
      </p:sp>
    </p:spTree>
    <p:extLst>
      <p:ext uri="{BB962C8B-B14F-4D97-AF65-F5344CB8AC3E}">
        <p14:creationId xmlns:p14="http://schemas.microsoft.com/office/powerpoint/2010/main" val="1528662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492</Words>
  <Application>Microsoft Office PowerPoint</Application>
  <PresentationFormat>ワイド画面</PresentationFormat>
  <Paragraphs>72</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21</cp:revision>
  <dcterms:created xsi:type="dcterms:W3CDTF">2024-08-27T02:15:54Z</dcterms:created>
  <dcterms:modified xsi:type="dcterms:W3CDTF">2026-10-15T02:36:52Z</dcterms:modified>
</cp:coreProperties>
</file>