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2025/2/27</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2025/2/27</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2025/2/27</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2025/2/27</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2025/2/27</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2025/2/27</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2025/2/27</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2025/2/27</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2025/2/27</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2025/2/27</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2025/2/27</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2025/2/27</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www.toptal.com/developers/gitignore"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706464" cy="584775"/>
          </a:xfrm>
          <a:prstGeom prst="rect">
            <a:avLst/>
          </a:prstGeom>
          <a:noFill/>
        </p:spPr>
        <p:txBody>
          <a:bodyPr wrap="none" rtlCol="0">
            <a:spAutoFit/>
          </a:bodyPr>
          <a:lstStyle/>
          <a:p>
            <a:r>
              <a:rPr kumimoji="1" lang="en-US" altLang="ja-JP" sz="3200" b="1" u="sng" dirty="0"/>
              <a:t>.</a:t>
            </a:r>
            <a:r>
              <a:rPr kumimoji="1" lang="en-US" altLang="ja-JP" sz="3200" b="1" u="sng" dirty="0" err="1"/>
              <a:t>gitignore</a:t>
            </a:r>
            <a:r>
              <a:rPr kumimoji="1" lang="ja-JP" altLang="en-US" sz="3200" b="1" u="sng" dirty="0"/>
              <a:t>ファイル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956846" cy="4524315"/>
          </a:xfrm>
          <a:prstGeom prst="rect">
            <a:avLst/>
          </a:prstGeom>
          <a:noFill/>
        </p:spPr>
        <p:txBody>
          <a:bodyPr wrap="none" rtlCol="0">
            <a:spAutoFit/>
          </a:bodyPr>
          <a:lstStyle/>
          <a:p>
            <a:r>
              <a:rPr lang="ja-JP" altLang="en-US" sz="2400" dirty="0"/>
              <a:t>バージョン管理では管理したいファイルとしたくないファイルがあります。</a:t>
            </a:r>
            <a:endParaRPr lang="en-US" altLang="ja-JP" sz="2400" dirty="0"/>
          </a:p>
          <a:p>
            <a:r>
              <a:rPr lang="ja-JP" altLang="en-US" sz="2400" dirty="0"/>
              <a:t>以下は例です。</a:t>
            </a:r>
            <a:endParaRPr lang="en-US" altLang="ja-JP" sz="2400" dirty="0"/>
          </a:p>
          <a:p>
            <a:endParaRPr lang="en-US" altLang="ja-JP" sz="2400" dirty="0"/>
          </a:p>
          <a:p>
            <a:r>
              <a:rPr lang="ja-JP" altLang="en-US" sz="2400" b="1" dirty="0">
                <a:solidFill>
                  <a:srgbClr val="FF0000"/>
                </a:solidFill>
              </a:rPr>
              <a:t>■管理したいファイル</a:t>
            </a:r>
            <a:endParaRPr lang="en-US" altLang="ja-JP" sz="2400" b="1" dirty="0">
              <a:solidFill>
                <a:srgbClr val="FF0000"/>
              </a:solidFill>
            </a:endParaRPr>
          </a:p>
          <a:p>
            <a:r>
              <a:rPr lang="ja-JP" altLang="en-US" sz="2400" dirty="0"/>
              <a:t>・ソースファイル（</a:t>
            </a:r>
            <a:r>
              <a:rPr lang="en-US" altLang="ja-JP" sz="2400" dirty="0"/>
              <a:t>.</a:t>
            </a:r>
            <a:r>
              <a:rPr lang="en-US" altLang="ja-JP" sz="2400" dirty="0" err="1"/>
              <a:t>cpp</a:t>
            </a:r>
            <a:r>
              <a:rPr lang="en-US" altLang="ja-JP" sz="2400" dirty="0"/>
              <a:t> .cs</a:t>
            </a:r>
            <a:r>
              <a:rPr lang="ja-JP" altLang="en-US" sz="2400" dirty="0"/>
              <a:t>など）</a:t>
            </a:r>
            <a:endParaRPr lang="en-US" altLang="ja-JP" sz="2400" dirty="0"/>
          </a:p>
          <a:p>
            <a:r>
              <a:rPr lang="ja-JP" altLang="en-US" sz="2400" dirty="0"/>
              <a:t>・素材ファイル（</a:t>
            </a:r>
            <a:r>
              <a:rPr lang="en-US" altLang="ja-JP" sz="2400" dirty="0"/>
              <a:t>.</a:t>
            </a:r>
            <a:r>
              <a:rPr lang="en-US" altLang="ja-JP" sz="2400" dirty="0" err="1"/>
              <a:t>png</a:t>
            </a:r>
            <a:r>
              <a:rPr lang="en-US" altLang="ja-JP" sz="2400" dirty="0"/>
              <a:t> .mp3</a:t>
            </a:r>
            <a:r>
              <a:rPr lang="ja-JP" altLang="en-US" sz="2400" dirty="0"/>
              <a:t>など）</a:t>
            </a:r>
            <a:endParaRPr lang="en-US" altLang="ja-JP" sz="2400" dirty="0"/>
          </a:p>
          <a:p>
            <a:r>
              <a:rPr lang="ja-JP" altLang="en-US" sz="2400" dirty="0"/>
              <a:t>・ゲームデータ（</a:t>
            </a:r>
            <a:r>
              <a:rPr lang="en-US" altLang="ja-JP" sz="2400" dirty="0"/>
              <a:t>.prefab .meta</a:t>
            </a:r>
            <a:r>
              <a:rPr lang="ja-JP" altLang="en-US" sz="2400" dirty="0"/>
              <a:t>など）</a:t>
            </a:r>
            <a:endParaRPr lang="en-US" altLang="ja-JP" sz="2400" dirty="0"/>
          </a:p>
          <a:p>
            <a:endParaRPr lang="en-US" altLang="ja-JP" sz="2400" dirty="0"/>
          </a:p>
          <a:p>
            <a:r>
              <a:rPr lang="ja-JP" altLang="en-US" sz="2400" b="1" dirty="0">
                <a:solidFill>
                  <a:srgbClr val="FF0000"/>
                </a:solidFill>
              </a:rPr>
              <a:t>■管理したくないファイル</a:t>
            </a:r>
            <a:endParaRPr lang="en-US" altLang="ja-JP" sz="2400" b="1" dirty="0">
              <a:solidFill>
                <a:srgbClr val="FF0000"/>
              </a:solidFill>
            </a:endParaRPr>
          </a:p>
          <a:p>
            <a:r>
              <a:rPr lang="ja-JP" altLang="en-US" sz="2400" dirty="0"/>
              <a:t>・</a:t>
            </a:r>
            <a:r>
              <a:rPr lang="en-US" altLang="ja-JP" sz="2400" dirty="0"/>
              <a:t>Visual Studio</a:t>
            </a:r>
            <a:r>
              <a:rPr lang="ja-JP" altLang="en-US" sz="2400" dirty="0"/>
              <a:t>の設定データ（自動入力設定 背景色など）</a:t>
            </a:r>
            <a:endParaRPr lang="en-US" altLang="ja-JP" sz="2400" dirty="0"/>
          </a:p>
          <a:p>
            <a:endParaRPr lang="en-US" altLang="ja-JP" sz="2400" dirty="0"/>
          </a:p>
          <a:p>
            <a:r>
              <a:rPr lang="ja-JP" altLang="en-US" sz="2400" b="1" dirty="0">
                <a:solidFill>
                  <a:srgbClr val="FF0000"/>
                </a:solidFill>
              </a:rPr>
              <a:t>個人で別々に所持しておきたいファイルは基本的に管理したくないです。</a:t>
            </a:r>
            <a:endParaRPr lang="en-US" altLang="ja-JP" sz="2400" b="1" dirty="0">
              <a:solidFill>
                <a:srgbClr val="FF0000"/>
              </a:solidFill>
            </a:endParaRPr>
          </a:p>
        </p:txBody>
      </p:sp>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706464" cy="584775"/>
          </a:xfrm>
          <a:prstGeom prst="rect">
            <a:avLst/>
          </a:prstGeom>
          <a:noFill/>
        </p:spPr>
        <p:txBody>
          <a:bodyPr wrap="none" rtlCol="0">
            <a:spAutoFit/>
          </a:bodyPr>
          <a:lstStyle/>
          <a:p>
            <a:r>
              <a:rPr kumimoji="1" lang="en-US" altLang="ja-JP" sz="3200" b="1" u="sng" dirty="0"/>
              <a:t>.</a:t>
            </a:r>
            <a:r>
              <a:rPr kumimoji="1" lang="en-US" altLang="ja-JP" sz="3200" b="1" u="sng" dirty="0" err="1"/>
              <a:t>gitignore</a:t>
            </a:r>
            <a:r>
              <a:rPr kumimoji="1" lang="ja-JP" altLang="en-US" sz="3200" b="1" u="sng" dirty="0"/>
              <a:t>ファイル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936007" cy="1938992"/>
          </a:xfrm>
          <a:prstGeom prst="rect">
            <a:avLst/>
          </a:prstGeom>
          <a:noFill/>
        </p:spPr>
        <p:txBody>
          <a:bodyPr wrap="none" rtlCol="0">
            <a:spAutoFit/>
          </a:bodyPr>
          <a:lstStyle/>
          <a:p>
            <a:r>
              <a:rPr lang="en-US" altLang="ja-JP" sz="2400" dirty="0"/>
              <a:t>Git</a:t>
            </a:r>
            <a:r>
              <a:rPr lang="ja-JP" altLang="en-US" sz="2400" dirty="0"/>
              <a:t>側で管理したくないファイルを設定するには、「</a:t>
            </a:r>
            <a:r>
              <a:rPr lang="en-US" altLang="ja-JP" sz="2400" b="1" dirty="0">
                <a:solidFill>
                  <a:srgbClr val="FF0000"/>
                </a:solidFill>
              </a:rPr>
              <a:t>.</a:t>
            </a:r>
            <a:r>
              <a:rPr lang="en-US" altLang="ja-JP" sz="2400" b="1" dirty="0" err="1">
                <a:solidFill>
                  <a:srgbClr val="FF0000"/>
                </a:solidFill>
              </a:rPr>
              <a:t>gitignore</a:t>
            </a:r>
            <a:r>
              <a:rPr lang="ja-JP" altLang="en-US" sz="2400" dirty="0"/>
              <a:t>」を使います。</a:t>
            </a:r>
            <a:endParaRPr lang="en-US" altLang="ja-JP" sz="2400" dirty="0"/>
          </a:p>
          <a:p>
            <a:r>
              <a:rPr lang="ja-JP" altLang="en-US" sz="2400" dirty="0"/>
              <a:t>メモ帳で開いてみましょう。（おそらく何も書かれてないはず）</a:t>
            </a:r>
            <a:endParaRPr lang="en-US" altLang="ja-JP" sz="2400" dirty="0"/>
          </a:p>
          <a:p>
            <a:endParaRPr lang="en-US" altLang="ja-JP" sz="2400" dirty="0"/>
          </a:p>
          <a:p>
            <a:r>
              <a:rPr lang="en-US" altLang="ja-JP" sz="2400" dirty="0"/>
              <a:t>.</a:t>
            </a:r>
            <a:r>
              <a:rPr lang="en-US" altLang="ja-JP" sz="2400" dirty="0" err="1"/>
              <a:t>gitignore</a:t>
            </a:r>
            <a:r>
              <a:rPr lang="ja-JP" altLang="en-US" sz="2400" dirty="0"/>
              <a:t>ファイルがない場合は</a:t>
            </a:r>
            <a:endParaRPr lang="en-US" altLang="ja-JP" sz="2400" dirty="0"/>
          </a:p>
          <a:p>
            <a:r>
              <a:rPr lang="ja-JP" altLang="en-US" sz="2400" dirty="0"/>
              <a:t>「右クリック　＞　新規作成　＞　テキストドキュメント」で作りましょう。</a:t>
            </a:r>
            <a:endParaRPr lang="en-US" altLang="ja-JP" sz="2400" dirty="0"/>
          </a:p>
        </p:txBody>
      </p:sp>
      <p:pic>
        <p:nvPicPr>
          <p:cNvPr id="3" name="図 2">
            <a:extLst>
              <a:ext uri="{FF2B5EF4-FFF2-40B4-BE49-F238E27FC236}">
                <a16:creationId xmlns:a16="http://schemas.microsoft.com/office/drawing/2014/main" id="{E35CEBD8-3826-4483-B000-621DC1D17898}"/>
              </a:ext>
            </a:extLst>
          </p:cNvPr>
          <p:cNvPicPr>
            <a:picLocks noChangeAspect="1"/>
          </p:cNvPicPr>
          <p:nvPr/>
        </p:nvPicPr>
        <p:blipFill>
          <a:blip r:embed="rId2"/>
          <a:stretch>
            <a:fillRect/>
          </a:stretch>
        </p:blipFill>
        <p:spPr>
          <a:xfrm>
            <a:off x="567543" y="3295121"/>
            <a:ext cx="2534246" cy="3124079"/>
          </a:xfrm>
          <a:prstGeom prst="rect">
            <a:avLst/>
          </a:prstGeom>
        </p:spPr>
      </p:pic>
    </p:spTree>
    <p:extLst>
      <p:ext uri="{BB962C8B-B14F-4D97-AF65-F5344CB8AC3E}">
        <p14:creationId xmlns:p14="http://schemas.microsoft.com/office/powerpoint/2010/main" val="3975032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706464" cy="584775"/>
          </a:xfrm>
          <a:prstGeom prst="rect">
            <a:avLst/>
          </a:prstGeom>
          <a:noFill/>
        </p:spPr>
        <p:txBody>
          <a:bodyPr wrap="none" rtlCol="0">
            <a:spAutoFit/>
          </a:bodyPr>
          <a:lstStyle/>
          <a:p>
            <a:r>
              <a:rPr kumimoji="1" lang="en-US" altLang="ja-JP" sz="3200" b="1" u="sng" dirty="0"/>
              <a:t>.</a:t>
            </a:r>
            <a:r>
              <a:rPr kumimoji="1" lang="en-US" altLang="ja-JP" sz="3200" b="1" u="sng" dirty="0" err="1"/>
              <a:t>gitignore</a:t>
            </a:r>
            <a:r>
              <a:rPr kumimoji="1" lang="ja-JP" altLang="en-US" sz="3200" b="1" u="sng" dirty="0"/>
              <a:t>ファイル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214382" cy="2308324"/>
          </a:xfrm>
          <a:prstGeom prst="rect">
            <a:avLst/>
          </a:prstGeom>
          <a:noFill/>
        </p:spPr>
        <p:txBody>
          <a:bodyPr wrap="none" rtlCol="0">
            <a:spAutoFit/>
          </a:bodyPr>
          <a:lstStyle/>
          <a:p>
            <a:r>
              <a:rPr lang="ja-JP" altLang="en-US" sz="2400" dirty="0"/>
              <a:t>このファイルに書かれているファイルは</a:t>
            </a:r>
            <a:r>
              <a:rPr lang="en-US" altLang="ja-JP" sz="2400" dirty="0"/>
              <a:t>Git</a:t>
            </a:r>
            <a:r>
              <a:rPr lang="ja-JP" altLang="en-US" sz="2400" dirty="0"/>
              <a:t>の管理外となります。</a:t>
            </a:r>
            <a:endParaRPr lang="en-US" altLang="ja-JP" sz="2400" dirty="0"/>
          </a:p>
          <a:p>
            <a:r>
              <a:rPr lang="ja-JP" altLang="en-US" sz="2400" dirty="0"/>
              <a:t>リーダーは「</a:t>
            </a:r>
            <a:r>
              <a:rPr lang="en-US" altLang="ja-JP" sz="2400" dirty="0"/>
              <a:t>*.txt</a:t>
            </a:r>
            <a:r>
              <a:rPr lang="ja-JP" altLang="en-US" sz="2400" dirty="0"/>
              <a:t>」と記載して保存し、</a:t>
            </a:r>
            <a:r>
              <a:rPr lang="en-US" altLang="ja-JP" sz="2400" dirty="0"/>
              <a:t>Push</a:t>
            </a:r>
            <a:r>
              <a:rPr lang="ja-JP" altLang="en-US" sz="2400" dirty="0"/>
              <a:t>しましょう。</a:t>
            </a:r>
            <a:endParaRPr lang="en-US" altLang="ja-JP" sz="2400" dirty="0"/>
          </a:p>
          <a:p>
            <a:endParaRPr lang="en-US" altLang="ja-JP" sz="2400" dirty="0"/>
          </a:p>
          <a:p>
            <a:r>
              <a:rPr lang="en-US" altLang="ja-JP" sz="2400" b="1" dirty="0">
                <a:solidFill>
                  <a:srgbClr val="FF0000"/>
                </a:solidFill>
              </a:rPr>
              <a:t>※Push</a:t>
            </a:r>
            <a:r>
              <a:rPr lang="ja-JP" altLang="en-US" sz="2400" b="1" dirty="0">
                <a:solidFill>
                  <a:srgbClr val="FF0000"/>
                </a:solidFill>
              </a:rPr>
              <a:t>までしないと反映されません。</a:t>
            </a:r>
            <a:endParaRPr lang="en-US" altLang="ja-JP" sz="2400" b="1" dirty="0">
              <a:solidFill>
                <a:srgbClr val="FF0000"/>
              </a:solidFill>
            </a:endParaRPr>
          </a:p>
          <a:p>
            <a:endParaRPr lang="en-US" altLang="ja-JP" sz="2400" b="1" dirty="0">
              <a:solidFill>
                <a:srgbClr val="FF0000"/>
              </a:solidFill>
            </a:endParaRPr>
          </a:p>
          <a:p>
            <a:r>
              <a:rPr lang="ja-JP" altLang="en-US" sz="2400" dirty="0"/>
              <a:t>他のメンバーは</a:t>
            </a:r>
            <a:r>
              <a:rPr lang="en-US" altLang="ja-JP" sz="2400" dirty="0"/>
              <a:t>Pull</a:t>
            </a:r>
            <a:r>
              <a:rPr lang="ja-JP" altLang="en-US" sz="2400" dirty="0"/>
              <a:t>して反映しましょう。</a:t>
            </a:r>
            <a:endParaRPr lang="en-US" altLang="ja-JP" sz="2400" dirty="0"/>
          </a:p>
        </p:txBody>
      </p:sp>
      <p:pic>
        <p:nvPicPr>
          <p:cNvPr id="5" name="図 4">
            <a:extLst>
              <a:ext uri="{FF2B5EF4-FFF2-40B4-BE49-F238E27FC236}">
                <a16:creationId xmlns:a16="http://schemas.microsoft.com/office/drawing/2014/main" id="{04E805B2-3ED3-4E12-992E-87FF3091821E}"/>
              </a:ext>
            </a:extLst>
          </p:cNvPr>
          <p:cNvPicPr>
            <a:picLocks noChangeAspect="1"/>
          </p:cNvPicPr>
          <p:nvPr/>
        </p:nvPicPr>
        <p:blipFill>
          <a:blip r:embed="rId2"/>
          <a:stretch>
            <a:fillRect/>
          </a:stretch>
        </p:blipFill>
        <p:spPr>
          <a:xfrm>
            <a:off x="567542" y="3664453"/>
            <a:ext cx="3975708" cy="2701593"/>
          </a:xfrm>
          <a:prstGeom prst="rect">
            <a:avLst/>
          </a:prstGeom>
        </p:spPr>
      </p:pic>
    </p:spTree>
    <p:extLst>
      <p:ext uri="{BB962C8B-B14F-4D97-AF65-F5344CB8AC3E}">
        <p14:creationId xmlns:p14="http://schemas.microsoft.com/office/powerpoint/2010/main" val="851535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706464" cy="584775"/>
          </a:xfrm>
          <a:prstGeom prst="rect">
            <a:avLst/>
          </a:prstGeom>
          <a:noFill/>
        </p:spPr>
        <p:txBody>
          <a:bodyPr wrap="none" rtlCol="0">
            <a:spAutoFit/>
          </a:bodyPr>
          <a:lstStyle/>
          <a:p>
            <a:r>
              <a:rPr kumimoji="1" lang="en-US" altLang="ja-JP" sz="3200" b="1" u="sng" dirty="0"/>
              <a:t>.</a:t>
            </a:r>
            <a:r>
              <a:rPr kumimoji="1" lang="en-US" altLang="ja-JP" sz="3200" b="1" u="sng" dirty="0" err="1"/>
              <a:t>gitignore</a:t>
            </a:r>
            <a:r>
              <a:rPr kumimoji="1" lang="ja-JP" altLang="en-US" sz="3200" b="1" u="sng" dirty="0"/>
              <a:t>ファイル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830997"/>
          </a:xfrm>
          <a:prstGeom prst="rect">
            <a:avLst/>
          </a:prstGeom>
          <a:noFill/>
        </p:spPr>
        <p:txBody>
          <a:bodyPr wrap="none" rtlCol="0">
            <a:spAutoFit/>
          </a:bodyPr>
          <a:lstStyle/>
          <a:p>
            <a:r>
              <a:rPr lang="ja-JP" altLang="en-US" sz="2400" dirty="0"/>
              <a:t>プロジェクト内にテキストファイルと</a:t>
            </a:r>
            <a:r>
              <a:rPr lang="en-US" altLang="ja-JP" sz="2400" dirty="0"/>
              <a:t>Word</a:t>
            </a:r>
            <a:r>
              <a:rPr lang="ja-JP" altLang="en-US" sz="2400" dirty="0"/>
              <a:t>ファイルを追加します。</a:t>
            </a:r>
            <a:endParaRPr lang="en-US" altLang="ja-JP" sz="2400" dirty="0"/>
          </a:p>
          <a:p>
            <a:r>
              <a:rPr lang="ja-JP" altLang="en-US" sz="2400" dirty="0"/>
              <a:t>追加したら元のフォルダを右クリックして</a:t>
            </a:r>
            <a:r>
              <a:rPr lang="ja-JP" altLang="en-US" sz="2400" b="1" dirty="0">
                <a:solidFill>
                  <a:srgbClr val="FF0000"/>
                </a:solidFill>
              </a:rPr>
              <a:t>コミット画面を出しましょう。</a:t>
            </a:r>
            <a:endParaRPr lang="en-US" altLang="ja-JP" sz="2400" b="1" dirty="0">
              <a:solidFill>
                <a:srgbClr val="FF0000"/>
              </a:solidFill>
            </a:endParaRPr>
          </a:p>
        </p:txBody>
      </p:sp>
      <p:pic>
        <p:nvPicPr>
          <p:cNvPr id="3" name="図 2">
            <a:extLst>
              <a:ext uri="{FF2B5EF4-FFF2-40B4-BE49-F238E27FC236}">
                <a16:creationId xmlns:a16="http://schemas.microsoft.com/office/drawing/2014/main" id="{8DDF5F03-67F3-4ADA-8A03-7FA38EFC72FD}"/>
              </a:ext>
            </a:extLst>
          </p:cNvPr>
          <p:cNvPicPr>
            <a:picLocks noChangeAspect="1"/>
          </p:cNvPicPr>
          <p:nvPr/>
        </p:nvPicPr>
        <p:blipFill>
          <a:blip r:embed="rId2"/>
          <a:stretch>
            <a:fillRect/>
          </a:stretch>
        </p:blipFill>
        <p:spPr>
          <a:xfrm>
            <a:off x="567542" y="2187126"/>
            <a:ext cx="7913290" cy="3048262"/>
          </a:xfrm>
          <a:prstGeom prst="rect">
            <a:avLst/>
          </a:prstGeom>
        </p:spPr>
      </p:pic>
      <p:sp>
        <p:nvSpPr>
          <p:cNvPr id="7" name="テキスト ボックス 6">
            <a:extLst>
              <a:ext uri="{FF2B5EF4-FFF2-40B4-BE49-F238E27FC236}">
                <a16:creationId xmlns:a16="http://schemas.microsoft.com/office/drawing/2014/main" id="{AE42605D-C2FB-4878-829E-E2C6BBFD6C5E}"/>
              </a:ext>
            </a:extLst>
          </p:cNvPr>
          <p:cNvSpPr txBox="1"/>
          <p:nvPr/>
        </p:nvSpPr>
        <p:spPr>
          <a:xfrm>
            <a:off x="567541" y="5375088"/>
            <a:ext cx="5724644" cy="461665"/>
          </a:xfrm>
          <a:prstGeom prst="rect">
            <a:avLst/>
          </a:prstGeom>
          <a:noFill/>
        </p:spPr>
        <p:txBody>
          <a:bodyPr wrap="none" rtlCol="0">
            <a:spAutoFit/>
          </a:bodyPr>
          <a:lstStyle/>
          <a:p>
            <a:r>
              <a:rPr lang="en-US" altLang="ja-JP" sz="2400" b="1" dirty="0">
                <a:solidFill>
                  <a:srgbClr val="FF0000"/>
                </a:solidFill>
              </a:rPr>
              <a:t>※</a:t>
            </a:r>
            <a:r>
              <a:rPr lang="ja-JP" altLang="en-US" sz="2400" b="1" dirty="0">
                <a:solidFill>
                  <a:srgbClr val="FF0000"/>
                </a:solidFill>
              </a:rPr>
              <a:t>まだコミットはしないでください！！</a:t>
            </a:r>
            <a:endParaRPr lang="en-US" altLang="ja-JP" sz="2400" b="1" dirty="0">
              <a:solidFill>
                <a:srgbClr val="FF0000"/>
              </a:solidFill>
            </a:endParaRPr>
          </a:p>
        </p:txBody>
      </p:sp>
      <p:sp>
        <p:nvSpPr>
          <p:cNvPr id="8" name="正方形/長方形 7">
            <a:extLst>
              <a:ext uri="{FF2B5EF4-FFF2-40B4-BE49-F238E27FC236}">
                <a16:creationId xmlns:a16="http://schemas.microsoft.com/office/drawing/2014/main" id="{CB721BCD-07D5-4308-B91D-DFD578A93826}"/>
              </a:ext>
            </a:extLst>
          </p:cNvPr>
          <p:cNvSpPr/>
          <p:nvPr/>
        </p:nvSpPr>
        <p:spPr>
          <a:xfrm>
            <a:off x="645459" y="4087906"/>
            <a:ext cx="3137647" cy="95922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17911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706464" cy="584775"/>
          </a:xfrm>
          <a:prstGeom prst="rect">
            <a:avLst/>
          </a:prstGeom>
          <a:noFill/>
        </p:spPr>
        <p:txBody>
          <a:bodyPr wrap="none" rtlCol="0">
            <a:spAutoFit/>
          </a:bodyPr>
          <a:lstStyle/>
          <a:p>
            <a:r>
              <a:rPr kumimoji="1" lang="en-US" altLang="ja-JP" sz="3200" b="1" u="sng" dirty="0"/>
              <a:t>.</a:t>
            </a:r>
            <a:r>
              <a:rPr kumimoji="1" lang="en-US" altLang="ja-JP" sz="3200" b="1" u="sng" dirty="0" err="1"/>
              <a:t>gitignore</a:t>
            </a:r>
            <a:r>
              <a:rPr kumimoji="1" lang="ja-JP" altLang="en-US" sz="3200" b="1" u="sng" dirty="0"/>
              <a:t>ファイル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399274" cy="1200329"/>
          </a:xfrm>
          <a:prstGeom prst="rect">
            <a:avLst/>
          </a:prstGeom>
          <a:noFill/>
        </p:spPr>
        <p:txBody>
          <a:bodyPr wrap="none" rtlCol="0">
            <a:spAutoFit/>
          </a:bodyPr>
          <a:lstStyle/>
          <a:p>
            <a:r>
              <a:rPr lang="en-US" altLang="ja-JP" sz="2400" dirty="0"/>
              <a:t>Word</a:t>
            </a:r>
            <a:r>
              <a:rPr lang="ja-JP" altLang="en-US" sz="2400" dirty="0"/>
              <a:t>データは候補として表示されますが、</a:t>
            </a:r>
            <a:r>
              <a:rPr lang="ja-JP" altLang="en-US" sz="2400" b="1" dirty="0">
                <a:solidFill>
                  <a:srgbClr val="FF0000"/>
                </a:solidFill>
              </a:rPr>
              <a:t>テキストファイルは表示されません。</a:t>
            </a:r>
            <a:endParaRPr lang="en-US" altLang="ja-JP" sz="2400" b="1" dirty="0">
              <a:solidFill>
                <a:srgbClr val="FF0000"/>
              </a:solidFill>
            </a:endParaRPr>
          </a:p>
          <a:p>
            <a:r>
              <a:rPr lang="en-US" altLang="ja-JP" sz="2400" dirty="0"/>
              <a:t>.</a:t>
            </a:r>
            <a:r>
              <a:rPr lang="en-US" altLang="ja-JP" sz="2400" dirty="0" err="1"/>
              <a:t>gitignore</a:t>
            </a:r>
            <a:r>
              <a:rPr lang="ja-JP" altLang="en-US" sz="2400" dirty="0"/>
              <a:t>によって無視されています。</a:t>
            </a:r>
            <a:endParaRPr lang="en-US" altLang="ja-JP" sz="2400" dirty="0"/>
          </a:p>
          <a:p>
            <a:r>
              <a:rPr lang="ja-JP" altLang="en-US" sz="2400" dirty="0"/>
              <a:t>このように拡張子単位で</a:t>
            </a:r>
            <a:r>
              <a:rPr lang="en-US" altLang="ja-JP" sz="2400" dirty="0"/>
              <a:t>Git</a:t>
            </a:r>
            <a:r>
              <a:rPr lang="ja-JP" altLang="en-US" sz="2400" dirty="0"/>
              <a:t>から無視させることができます。</a:t>
            </a:r>
            <a:endParaRPr lang="en-US" altLang="ja-JP" sz="2400" dirty="0"/>
          </a:p>
        </p:txBody>
      </p:sp>
      <p:pic>
        <p:nvPicPr>
          <p:cNvPr id="5" name="図 4">
            <a:extLst>
              <a:ext uri="{FF2B5EF4-FFF2-40B4-BE49-F238E27FC236}">
                <a16:creationId xmlns:a16="http://schemas.microsoft.com/office/drawing/2014/main" id="{763EDA7B-A0DD-464E-9FCE-C1012A0834D0}"/>
              </a:ext>
            </a:extLst>
          </p:cNvPr>
          <p:cNvPicPr>
            <a:picLocks noChangeAspect="1"/>
          </p:cNvPicPr>
          <p:nvPr/>
        </p:nvPicPr>
        <p:blipFill>
          <a:blip r:embed="rId2"/>
          <a:stretch>
            <a:fillRect/>
          </a:stretch>
        </p:blipFill>
        <p:spPr>
          <a:xfrm>
            <a:off x="567542" y="2556458"/>
            <a:ext cx="4117478" cy="3909253"/>
          </a:xfrm>
          <a:prstGeom prst="rect">
            <a:avLst/>
          </a:prstGeom>
        </p:spPr>
      </p:pic>
      <p:sp>
        <p:nvSpPr>
          <p:cNvPr id="9" name="テキスト ボックス 8">
            <a:extLst>
              <a:ext uri="{FF2B5EF4-FFF2-40B4-BE49-F238E27FC236}">
                <a16:creationId xmlns:a16="http://schemas.microsoft.com/office/drawing/2014/main" id="{507ED977-0749-42FA-9826-5ABF42C1CEC1}"/>
              </a:ext>
            </a:extLst>
          </p:cNvPr>
          <p:cNvSpPr txBox="1"/>
          <p:nvPr/>
        </p:nvSpPr>
        <p:spPr>
          <a:xfrm>
            <a:off x="4798796" y="5372958"/>
            <a:ext cx="6083717" cy="1015663"/>
          </a:xfrm>
          <a:prstGeom prst="rect">
            <a:avLst/>
          </a:prstGeom>
          <a:noFill/>
        </p:spPr>
        <p:txBody>
          <a:bodyPr wrap="none" rtlCol="0">
            <a:spAutoFit/>
          </a:bodyPr>
          <a:lstStyle/>
          <a:p>
            <a:r>
              <a:rPr lang="en-US" altLang="ja-JP" sz="2000" b="1" dirty="0">
                <a:solidFill>
                  <a:srgbClr val="00B050"/>
                </a:solidFill>
              </a:rPr>
              <a:t>MEMO</a:t>
            </a:r>
          </a:p>
          <a:p>
            <a:r>
              <a:rPr lang="ja-JP" altLang="en-US" sz="2000" dirty="0"/>
              <a:t>他にもフォルダ単位で無視したり、</a:t>
            </a:r>
            <a:endParaRPr lang="en-US" altLang="ja-JP" sz="2000" dirty="0"/>
          </a:p>
          <a:p>
            <a:r>
              <a:rPr lang="ja-JP" altLang="en-US" sz="2000" dirty="0"/>
              <a:t>ファイル名を直接指定して無視したりもできます。</a:t>
            </a:r>
            <a:endParaRPr lang="en-US" altLang="ja-JP" sz="2000" dirty="0"/>
          </a:p>
        </p:txBody>
      </p:sp>
      <p:sp>
        <p:nvSpPr>
          <p:cNvPr id="10" name="正方形/長方形 9">
            <a:extLst>
              <a:ext uri="{FF2B5EF4-FFF2-40B4-BE49-F238E27FC236}">
                <a16:creationId xmlns:a16="http://schemas.microsoft.com/office/drawing/2014/main" id="{F9153E81-5234-4E6A-B8F9-84765F2C7E9C}"/>
              </a:ext>
            </a:extLst>
          </p:cNvPr>
          <p:cNvSpPr/>
          <p:nvPr/>
        </p:nvSpPr>
        <p:spPr>
          <a:xfrm>
            <a:off x="681318" y="4849906"/>
            <a:ext cx="3908611" cy="7916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F0E75117-3613-4FE6-80AC-F6990C901929}"/>
              </a:ext>
            </a:extLst>
          </p:cNvPr>
          <p:cNvSpPr txBox="1"/>
          <p:nvPr/>
        </p:nvSpPr>
        <p:spPr>
          <a:xfrm>
            <a:off x="4798796" y="3922299"/>
            <a:ext cx="6083717" cy="1323439"/>
          </a:xfrm>
          <a:prstGeom prst="rect">
            <a:avLst/>
          </a:prstGeom>
          <a:noFill/>
        </p:spPr>
        <p:txBody>
          <a:bodyPr wrap="none" rtlCol="0">
            <a:spAutoFit/>
          </a:bodyPr>
          <a:lstStyle/>
          <a:p>
            <a:r>
              <a:rPr lang="ja-JP" altLang="en-US" sz="2000" b="1" dirty="0">
                <a:solidFill>
                  <a:srgbClr val="FF0000"/>
                </a:solidFill>
              </a:rPr>
              <a:t>■注意</a:t>
            </a:r>
            <a:endParaRPr lang="en-US" altLang="ja-JP" sz="2000" b="1" dirty="0">
              <a:solidFill>
                <a:srgbClr val="FF0000"/>
              </a:solidFill>
            </a:endParaRPr>
          </a:p>
          <a:p>
            <a:r>
              <a:rPr lang="ja-JP" altLang="en-US" sz="2000" dirty="0"/>
              <a:t>既に</a:t>
            </a:r>
            <a:r>
              <a:rPr lang="en-US" altLang="ja-JP" sz="2000" dirty="0"/>
              <a:t>Push</a:t>
            </a:r>
            <a:r>
              <a:rPr lang="ja-JP" altLang="en-US" sz="2000" dirty="0"/>
              <a:t>されているファイルは無視されません。</a:t>
            </a:r>
            <a:endParaRPr lang="en-US" altLang="ja-JP" sz="2000" dirty="0"/>
          </a:p>
          <a:p>
            <a:r>
              <a:rPr lang="ja-JP" altLang="en-US" sz="2000" dirty="0"/>
              <a:t>ファイルを直接右クリックしてコミットする場合も</a:t>
            </a:r>
            <a:endParaRPr lang="en-US" altLang="ja-JP" sz="2000" dirty="0"/>
          </a:p>
          <a:p>
            <a:r>
              <a:rPr lang="ja-JP" altLang="en-US" sz="2000" dirty="0"/>
              <a:t>無視されません。</a:t>
            </a:r>
            <a:endParaRPr lang="en-US" altLang="ja-JP" sz="2000" dirty="0"/>
          </a:p>
        </p:txBody>
      </p:sp>
    </p:spTree>
    <p:extLst>
      <p:ext uri="{BB962C8B-B14F-4D97-AF65-F5344CB8AC3E}">
        <p14:creationId xmlns:p14="http://schemas.microsoft.com/office/powerpoint/2010/main" val="1381014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706464" cy="584775"/>
          </a:xfrm>
          <a:prstGeom prst="rect">
            <a:avLst/>
          </a:prstGeom>
          <a:noFill/>
        </p:spPr>
        <p:txBody>
          <a:bodyPr wrap="none" rtlCol="0">
            <a:spAutoFit/>
          </a:bodyPr>
          <a:lstStyle/>
          <a:p>
            <a:r>
              <a:rPr kumimoji="1" lang="en-US" altLang="ja-JP" sz="3200" b="1" u="sng" dirty="0"/>
              <a:t>.</a:t>
            </a:r>
            <a:r>
              <a:rPr kumimoji="1" lang="en-US" altLang="ja-JP" sz="3200" b="1" u="sng" dirty="0" err="1"/>
              <a:t>gitignore</a:t>
            </a:r>
            <a:r>
              <a:rPr kumimoji="1" lang="ja-JP" altLang="en-US" sz="3200" b="1" u="sng" dirty="0"/>
              <a:t>ファイル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546203" cy="1938992"/>
          </a:xfrm>
          <a:prstGeom prst="rect">
            <a:avLst/>
          </a:prstGeom>
          <a:noFill/>
        </p:spPr>
        <p:txBody>
          <a:bodyPr wrap="none" rtlCol="0">
            <a:spAutoFit/>
          </a:bodyPr>
          <a:lstStyle/>
          <a:p>
            <a:r>
              <a:rPr lang="en-US" altLang="ja-JP" sz="2400" dirty="0"/>
              <a:t>.</a:t>
            </a:r>
            <a:r>
              <a:rPr lang="en-US" altLang="ja-JP" sz="2400" dirty="0" err="1"/>
              <a:t>gitignore</a:t>
            </a:r>
            <a:r>
              <a:rPr lang="ja-JP" altLang="en-US" sz="2400" dirty="0"/>
              <a:t>は生成ツールを使うと簡単に設定できます。</a:t>
            </a:r>
            <a:endParaRPr lang="en-US" altLang="ja-JP" sz="2400" dirty="0"/>
          </a:p>
          <a:p>
            <a:r>
              <a:rPr lang="ja-JP" altLang="en-US" sz="2400" dirty="0"/>
              <a:t>以下のリンクからアクセスできます。</a:t>
            </a:r>
            <a:endParaRPr lang="en-US" altLang="ja-JP" sz="2400" dirty="0"/>
          </a:p>
          <a:p>
            <a:endParaRPr lang="en-US" altLang="ja-JP" sz="2400" dirty="0"/>
          </a:p>
          <a:p>
            <a:r>
              <a:rPr lang="ja-JP" altLang="en-US" sz="2400" b="1" dirty="0">
                <a:solidFill>
                  <a:srgbClr val="FF0000"/>
                </a:solidFill>
              </a:rPr>
              <a:t>■</a:t>
            </a:r>
            <a:r>
              <a:rPr lang="en-US" altLang="ja-JP" sz="2400" b="1" dirty="0">
                <a:solidFill>
                  <a:srgbClr val="FF0000"/>
                </a:solidFill>
              </a:rPr>
              <a:t>.</a:t>
            </a:r>
            <a:r>
              <a:rPr lang="en-US" altLang="ja-JP" sz="2400" b="1" dirty="0" err="1">
                <a:solidFill>
                  <a:srgbClr val="FF0000"/>
                </a:solidFill>
              </a:rPr>
              <a:t>gitignore</a:t>
            </a:r>
            <a:r>
              <a:rPr lang="ja-JP" altLang="en-US" sz="2400" b="1" dirty="0">
                <a:solidFill>
                  <a:srgbClr val="FF0000"/>
                </a:solidFill>
              </a:rPr>
              <a:t>生成ツール</a:t>
            </a:r>
            <a:endParaRPr lang="en-US" altLang="ja-JP" sz="2400" b="1" dirty="0">
              <a:solidFill>
                <a:srgbClr val="FF0000"/>
              </a:solidFill>
            </a:endParaRPr>
          </a:p>
          <a:p>
            <a:r>
              <a:rPr lang="en-US" altLang="ja-JP" sz="2400" dirty="0">
                <a:hlinkClick r:id="rId2"/>
              </a:rPr>
              <a:t>gitignore.io - </a:t>
            </a:r>
            <a:r>
              <a:rPr lang="ja-JP" altLang="en-US" sz="2400" dirty="0">
                <a:hlinkClick r:id="rId2"/>
              </a:rPr>
              <a:t>プロジェクトに役立つ</a:t>
            </a:r>
            <a:r>
              <a:rPr lang="en-US" altLang="ja-JP" sz="2400" dirty="0">
                <a:hlinkClick r:id="rId2"/>
              </a:rPr>
              <a:t>.</a:t>
            </a:r>
            <a:r>
              <a:rPr lang="en-US" altLang="ja-JP" sz="2400" dirty="0" err="1">
                <a:hlinkClick r:id="rId2"/>
              </a:rPr>
              <a:t>gitignore</a:t>
            </a:r>
            <a:r>
              <a:rPr lang="ja-JP" altLang="en-US" sz="2400" dirty="0">
                <a:hlinkClick r:id="rId2"/>
              </a:rPr>
              <a:t>ファイルを作成しよう</a:t>
            </a:r>
            <a:endParaRPr lang="en-US" altLang="ja-JP" sz="2400" dirty="0"/>
          </a:p>
        </p:txBody>
      </p:sp>
    </p:spTree>
    <p:extLst>
      <p:ext uri="{BB962C8B-B14F-4D97-AF65-F5344CB8AC3E}">
        <p14:creationId xmlns:p14="http://schemas.microsoft.com/office/powerpoint/2010/main" val="2763296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706464" cy="584775"/>
          </a:xfrm>
          <a:prstGeom prst="rect">
            <a:avLst/>
          </a:prstGeom>
          <a:noFill/>
        </p:spPr>
        <p:txBody>
          <a:bodyPr wrap="none" rtlCol="0">
            <a:spAutoFit/>
          </a:bodyPr>
          <a:lstStyle/>
          <a:p>
            <a:r>
              <a:rPr kumimoji="1" lang="en-US" altLang="ja-JP" sz="3200" b="1" u="sng" dirty="0"/>
              <a:t>.</a:t>
            </a:r>
            <a:r>
              <a:rPr kumimoji="1" lang="en-US" altLang="ja-JP" sz="3200" b="1" u="sng" dirty="0" err="1"/>
              <a:t>gitignore</a:t>
            </a:r>
            <a:r>
              <a:rPr kumimoji="1" lang="ja-JP" altLang="en-US" sz="3200" b="1" u="sng" dirty="0"/>
              <a:t>ファイル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461665"/>
          </a:xfrm>
          <a:prstGeom prst="rect">
            <a:avLst/>
          </a:prstGeom>
          <a:noFill/>
        </p:spPr>
        <p:txBody>
          <a:bodyPr wrap="none" rtlCol="0">
            <a:spAutoFit/>
          </a:bodyPr>
          <a:lstStyle/>
          <a:p>
            <a:r>
              <a:rPr lang="ja-JP" altLang="en-US" sz="2400" dirty="0"/>
              <a:t>プロジェクトで使用するツールや言語を追加していきます。</a:t>
            </a:r>
            <a:endParaRPr lang="en-US" altLang="ja-JP" sz="2400" dirty="0"/>
          </a:p>
        </p:txBody>
      </p:sp>
      <p:pic>
        <p:nvPicPr>
          <p:cNvPr id="3" name="図 2">
            <a:extLst>
              <a:ext uri="{FF2B5EF4-FFF2-40B4-BE49-F238E27FC236}">
                <a16:creationId xmlns:a16="http://schemas.microsoft.com/office/drawing/2014/main" id="{9CFA1867-19E2-4CA3-B5DC-93E7C93A6D1A}"/>
              </a:ext>
            </a:extLst>
          </p:cNvPr>
          <p:cNvPicPr>
            <a:picLocks noChangeAspect="1"/>
          </p:cNvPicPr>
          <p:nvPr/>
        </p:nvPicPr>
        <p:blipFill>
          <a:blip r:embed="rId2"/>
          <a:stretch>
            <a:fillRect/>
          </a:stretch>
        </p:blipFill>
        <p:spPr>
          <a:xfrm>
            <a:off x="567541" y="1817794"/>
            <a:ext cx="9494675" cy="3749288"/>
          </a:xfrm>
          <a:prstGeom prst="rect">
            <a:avLst/>
          </a:prstGeom>
        </p:spPr>
      </p:pic>
    </p:spTree>
    <p:extLst>
      <p:ext uri="{BB962C8B-B14F-4D97-AF65-F5344CB8AC3E}">
        <p14:creationId xmlns:p14="http://schemas.microsoft.com/office/powerpoint/2010/main" val="3124585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706464" cy="584775"/>
          </a:xfrm>
          <a:prstGeom prst="rect">
            <a:avLst/>
          </a:prstGeom>
          <a:noFill/>
        </p:spPr>
        <p:txBody>
          <a:bodyPr wrap="none" rtlCol="0">
            <a:spAutoFit/>
          </a:bodyPr>
          <a:lstStyle/>
          <a:p>
            <a:r>
              <a:rPr kumimoji="1" lang="en-US" altLang="ja-JP" sz="3200" b="1" u="sng" dirty="0"/>
              <a:t>.</a:t>
            </a:r>
            <a:r>
              <a:rPr kumimoji="1" lang="en-US" altLang="ja-JP" sz="3200" b="1" u="sng" dirty="0" err="1"/>
              <a:t>gitignore</a:t>
            </a:r>
            <a:r>
              <a:rPr kumimoji="1" lang="ja-JP" altLang="en-US" sz="3200" b="1" u="sng" dirty="0"/>
              <a:t>ファイル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331401" cy="830997"/>
          </a:xfrm>
          <a:prstGeom prst="rect">
            <a:avLst/>
          </a:prstGeom>
          <a:noFill/>
        </p:spPr>
        <p:txBody>
          <a:bodyPr wrap="none" rtlCol="0">
            <a:spAutoFit/>
          </a:bodyPr>
          <a:lstStyle/>
          <a:p>
            <a:r>
              <a:rPr lang="ja-JP" altLang="en-US" sz="2400" dirty="0"/>
              <a:t>作成されたテキストをそのまま</a:t>
            </a:r>
            <a:r>
              <a:rPr lang="en-US" altLang="ja-JP" sz="2400" dirty="0"/>
              <a:t>.</a:t>
            </a:r>
            <a:r>
              <a:rPr lang="en-US" altLang="ja-JP" sz="2400" dirty="0" err="1"/>
              <a:t>gitignore</a:t>
            </a:r>
            <a:r>
              <a:rPr lang="ja-JP" altLang="en-US" sz="2400" dirty="0"/>
              <a:t>にコピペすれば</a:t>
            </a:r>
            <a:r>
              <a:rPr lang="en-US" altLang="ja-JP" sz="2400" dirty="0"/>
              <a:t>OK</a:t>
            </a:r>
            <a:r>
              <a:rPr lang="ja-JP" altLang="en-US" sz="2400" dirty="0"/>
              <a:t>です。</a:t>
            </a:r>
            <a:endParaRPr lang="en-US" altLang="ja-JP" sz="2400" dirty="0"/>
          </a:p>
          <a:p>
            <a:r>
              <a:rPr lang="ja-JP" altLang="en-US" sz="2400"/>
              <a:t>リーダーは書き換えて</a:t>
            </a:r>
            <a:r>
              <a:rPr lang="en-US" altLang="ja-JP" sz="2400"/>
              <a:t>Push</a:t>
            </a:r>
            <a:r>
              <a:rPr lang="ja-JP" altLang="en-US" sz="2400" dirty="0"/>
              <a:t>しておきましょう。</a:t>
            </a:r>
            <a:endParaRPr lang="en-US" altLang="ja-JP" sz="2400" dirty="0"/>
          </a:p>
        </p:txBody>
      </p:sp>
      <p:pic>
        <p:nvPicPr>
          <p:cNvPr id="5" name="図 4">
            <a:extLst>
              <a:ext uri="{FF2B5EF4-FFF2-40B4-BE49-F238E27FC236}">
                <a16:creationId xmlns:a16="http://schemas.microsoft.com/office/drawing/2014/main" id="{5E6A2EAF-05D4-42FD-AAA3-8AC5F624FF95}"/>
              </a:ext>
            </a:extLst>
          </p:cNvPr>
          <p:cNvPicPr>
            <a:picLocks noChangeAspect="1"/>
          </p:cNvPicPr>
          <p:nvPr/>
        </p:nvPicPr>
        <p:blipFill>
          <a:blip r:embed="rId2"/>
          <a:stretch>
            <a:fillRect/>
          </a:stretch>
        </p:blipFill>
        <p:spPr>
          <a:xfrm>
            <a:off x="567542" y="2187126"/>
            <a:ext cx="4676811" cy="4415103"/>
          </a:xfrm>
          <a:prstGeom prst="rect">
            <a:avLst/>
          </a:prstGeom>
        </p:spPr>
      </p:pic>
    </p:spTree>
    <p:extLst>
      <p:ext uri="{BB962C8B-B14F-4D97-AF65-F5344CB8AC3E}">
        <p14:creationId xmlns:p14="http://schemas.microsoft.com/office/powerpoint/2010/main" val="411106999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593</TotalTime>
  <Words>392</Words>
  <Application>Microsoft Office PowerPoint</Application>
  <PresentationFormat>ワイド画面</PresentationFormat>
  <Paragraphs>52</Paragraphs>
  <Slides>8</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8</vt:i4>
      </vt:variant>
    </vt:vector>
  </HeadingPairs>
  <TitlesOfParts>
    <vt:vector size="12"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60</cp:revision>
  <dcterms:created xsi:type="dcterms:W3CDTF">2024-08-27T02:15:54Z</dcterms:created>
  <dcterms:modified xsi:type="dcterms:W3CDTF">2025-02-27T01:09:58Z</dcterms:modified>
</cp:coreProperties>
</file>