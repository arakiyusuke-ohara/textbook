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8" r:id="rId11"/>
    <p:sldId id="266" r:id="rId12"/>
    <p:sldId id="267" r:id="rId13"/>
    <p:sldId id="269" r:id="rId14"/>
    <p:sldId id="270" r:id="rId15"/>
    <p:sldId id="271" r:id="rId16"/>
    <p:sldId id="272" r:id="rId1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2025/5/15</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2025/5/15</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2025/5/15</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2025/5/15</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2025/5/15</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2025/5/15</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2025/5/15</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2025/5/15</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2025/5/15</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2025/5/15</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2025/5/15</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2025/5/15</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kumimoji="1" lang="ja-JP" altLang="en-US" sz="3200" b="1" u="sng" dirty="0"/>
              <a:t>プルリクエスト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885766" cy="830997"/>
          </a:xfrm>
          <a:prstGeom prst="rect">
            <a:avLst/>
          </a:prstGeom>
          <a:noFill/>
        </p:spPr>
        <p:txBody>
          <a:bodyPr wrap="none" rtlCol="0">
            <a:spAutoFit/>
          </a:bodyPr>
          <a:lstStyle/>
          <a:p>
            <a:r>
              <a:rPr lang="ja-JP" altLang="en-US" sz="2400" dirty="0"/>
              <a:t>前回作成した</a:t>
            </a:r>
            <a:r>
              <a:rPr lang="en-US" altLang="ja-JP" sz="2400" dirty="0"/>
              <a:t>Branch</a:t>
            </a:r>
            <a:r>
              <a:rPr lang="ja-JP" altLang="en-US" sz="2400" dirty="0"/>
              <a:t>で作業をして</a:t>
            </a:r>
            <a:r>
              <a:rPr lang="en-US" altLang="ja-JP" sz="2400" dirty="0"/>
              <a:t>master</a:t>
            </a:r>
            <a:r>
              <a:rPr lang="ja-JP" altLang="en-US" sz="2400" dirty="0"/>
              <a:t>に</a:t>
            </a:r>
            <a:r>
              <a:rPr lang="en-US" altLang="ja-JP" sz="2400" dirty="0"/>
              <a:t>Merge</a:t>
            </a:r>
            <a:r>
              <a:rPr lang="ja-JP" altLang="en-US" sz="2400" dirty="0"/>
              <a:t>させます。</a:t>
            </a:r>
            <a:endParaRPr lang="en-US" altLang="ja-JP" sz="2400" dirty="0"/>
          </a:p>
          <a:p>
            <a:r>
              <a:rPr lang="ja-JP" altLang="en-US" sz="2400" b="1" dirty="0">
                <a:solidFill>
                  <a:srgbClr val="FF0000"/>
                </a:solidFill>
              </a:rPr>
              <a:t>前回</a:t>
            </a:r>
            <a:r>
              <a:rPr lang="en-US" altLang="ja-JP" sz="2400" b="1" dirty="0">
                <a:solidFill>
                  <a:srgbClr val="FF0000"/>
                </a:solidFill>
              </a:rPr>
              <a:t>Branch</a:t>
            </a:r>
            <a:r>
              <a:rPr lang="ja-JP" altLang="en-US" sz="2400" b="1" dirty="0">
                <a:solidFill>
                  <a:srgbClr val="FF0000"/>
                </a:solidFill>
              </a:rPr>
              <a:t>を作った人が引き続き作業してください。</a:t>
            </a:r>
            <a:endParaRPr lang="en-US" altLang="ja-JP" sz="2400" b="1" dirty="0">
              <a:solidFill>
                <a:srgbClr val="FF0000"/>
              </a:solidFill>
            </a:endParaRPr>
          </a:p>
        </p:txBody>
      </p:sp>
    </p:spTree>
    <p:extLst>
      <p:ext uri="{BB962C8B-B14F-4D97-AF65-F5344CB8AC3E}">
        <p14:creationId xmlns:p14="http://schemas.microsoft.com/office/powerpoint/2010/main" val="1918227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kumimoji="1" lang="ja-JP" altLang="en-US" sz="3200" b="1" u="sng" dirty="0"/>
              <a:t>プルリクエスト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571303" cy="830997"/>
          </a:xfrm>
          <a:prstGeom prst="rect">
            <a:avLst/>
          </a:prstGeom>
          <a:noFill/>
        </p:spPr>
        <p:txBody>
          <a:bodyPr wrap="none" rtlCol="0">
            <a:spAutoFit/>
          </a:bodyPr>
          <a:lstStyle/>
          <a:p>
            <a:r>
              <a:rPr lang="ja-JP" altLang="en-US" sz="2400" dirty="0"/>
              <a:t>まずは練習用のテキストを適当に書き換えましょう。</a:t>
            </a:r>
            <a:endParaRPr lang="en-US" altLang="ja-JP" sz="2400" dirty="0"/>
          </a:p>
          <a:p>
            <a:r>
              <a:rPr lang="ja-JP" altLang="en-US" sz="2400" dirty="0"/>
              <a:t>書き換えたら</a:t>
            </a:r>
            <a:r>
              <a:rPr lang="en-US" altLang="ja-JP" sz="2400" dirty="0"/>
              <a:t>Push</a:t>
            </a:r>
            <a:r>
              <a:rPr lang="ja-JP" altLang="en-US" sz="2400" dirty="0"/>
              <a:t>までしましょう。</a:t>
            </a:r>
            <a:endParaRPr lang="en-US" altLang="ja-JP" sz="2400" dirty="0"/>
          </a:p>
        </p:txBody>
      </p:sp>
      <p:pic>
        <p:nvPicPr>
          <p:cNvPr id="3" name="図 2">
            <a:extLst>
              <a:ext uri="{FF2B5EF4-FFF2-40B4-BE49-F238E27FC236}">
                <a16:creationId xmlns:a16="http://schemas.microsoft.com/office/drawing/2014/main" id="{5350FB18-26FF-479E-984A-111B3AEF987E}"/>
              </a:ext>
            </a:extLst>
          </p:cNvPr>
          <p:cNvPicPr>
            <a:picLocks noChangeAspect="1"/>
          </p:cNvPicPr>
          <p:nvPr/>
        </p:nvPicPr>
        <p:blipFill>
          <a:blip r:embed="rId2"/>
          <a:stretch>
            <a:fillRect/>
          </a:stretch>
        </p:blipFill>
        <p:spPr>
          <a:xfrm>
            <a:off x="567542" y="2187126"/>
            <a:ext cx="3382717" cy="2763171"/>
          </a:xfrm>
          <a:prstGeom prst="rect">
            <a:avLst/>
          </a:prstGeom>
        </p:spPr>
      </p:pic>
    </p:spTree>
    <p:extLst>
      <p:ext uri="{BB962C8B-B14F-4D97-AF65-F5344CB8AC3E}">
        <p14:creationId xmlns:p14="http://schemas.microsoft.com/office/powerpoint/2010/main" val="1657500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kumimoji="1" lang="ja-JP" altLang="en-US" sz="3200" b="1" u="sng" dirty="0"/>
              <a:t>プルリクエスト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648521" cy="461665"/>
          </a:xfrm>
          <a:prstGeom prst="rect">
            <a:avLst/>
          </a:prstGeom>
          <a:noFill/>
        </p:spPr>
        <p:txBody>
          <a:bodyPr wrap="none" rtlCol="0">
            <a:spAutoFit/>
          </a:bodyPr>
          <a:lstStyle/>
          <a:p>
            <a:r>
              <a:rPr lang="en-US" altLang="ja-JP" sz="2400" dirty="0"/>
              <a:t>Bitbucket</a:t>
            </a:r>
            <a:r>
              <a:rPr lang="ja-JP" altLang="en-US" sz="2400" dirty="0"/>
              <a:t>の</a:t>
            </a:r>
            <a:r>
              <a:rPr lang="en-US" altLang="ja-JP" sz="2400" b="1" dirty="0">
                <a:solidFill>
                  <a:srgbClr val="FF0000"/>
                </a:solidFill>
              </a:rPr>
              <a:t>Commits</a:t>
            </a:r>
            <a:r>
              <a:rPr lang="ja-JP" altLang="en-US" sz="2400" b="1" dirty="0">
                <a:solidFill>
                  <a:srgbClr val="FF0000"/>
                </a:solidFill>
              </a:rPr>
              <a:t>ページ</a:t>
            </a:r>
            <a:r>
              <a:rPr lang="ja-JP" altLang="en-US" sz="2400" dirty="0"/>
              <a:t>を開いて現状を確認しましょう。</a:t>
            </a:r>
            <a:endParaRPr lang="en-US" altLang="ja-JP" sz="2400" dirty="0"/>
          </a:p>
        </p:txBody>
      </p:sp>
      <p:pic>
        <p:nvPicPr>
          <p:cNvPr id="8" name="図 7">
            <a:extLst>
              <a:ext uri="{FF2B5EF4-FFF2-40B4-BE49-F238E27FC236}">
                <a16:creationId xmlns:a16="http://schemas.microsoft.com/office/drawing/2014/main" id="{CC4B4145-5DA6-42CF-BB13-CC377C22199B}"/>
              </a:ext>
            </a:extLst>
          </p:cNvPr>
          <p:cNvPicPr>
            <a:picLocks noChangeAspect="1"/>
          </p:cNvPicPr>
          <p:nvPr/>
        </p:nvPicPr>
        <p:blipFill>
          <a:blip r:embed="rId2"/>
          <a:stretch>
            <a:fillRect/>
          </a:stretch>
        </p:blipFill>
        <p:spPr>
          <a:xfrm>
            <a:off x="567542" y="1817794"/>
            <a:ext cx="8848660" cy="3453453"/>
          </a:xfrm>
          <a:prstGeom prst="rect">
            <a:avLst/>
          </a:prstGeom>
        </p:spPr>
      </p:pic>
      <p:sp>
        <p:nvSpPr>
          <p:cNvPr id="9" name="テキスト ボックス 8">
            <a:extLst>
              <a:ext uri="{FF2B5EF4-FFF2-40B4-BE49-F238E27FC236}">
                <a16:creationId xmlns:a16="http://schemas.microsoft.com/office/drawing/2014/main" id="{57267F0E-3776-4958-9A0B-C74F1B8A5C78}"/>
              </a:ext>
            </a:extLst>
          </p:cNvPr>
          <p:cNvSpPr txBox="1"/>
          <p:nvPr/>
        </p:nvSpPr>
        <p:spPr>
          <a:xfrm>
            <a:off x="3819397" y="2572967"/>
            <a:ext cx="5724644" cy="461665"/>
          </a:xfrm>
          <a:prstGeom prst="rect">
            <a:avLst/>
          </a:prstGeom>
          <a:noFill/>
        </p:spPr>
        <p:txBody>
          <a:bodyPr wrap="square" rtlCol="0">
            <a:spAutoFit/>
          </a:bodyPr>
          <a:lstStyle/>
          <a:p>
            <a:r>
              <a:rPr lang="ja-JP" altLang="en-US" sz="2400" dirty="0"/>
              <a:t>ここを切り替えて各ブランチを確認する</a:t>
            </a:r>
            <a:endParaRPr lang="en-US" altLang="ja-JP" sz="2400" dirty="0"/>
          </a:p>
        </p:txBody>
      </p:sp>
      <p:sp>
        <p:nvSpPr>
          <p:cNvPr id="10" name="吹き出し: 四角形 9">
            <a:extLst>
              <a:ext uri="{FF2B5EF4-FFF2-40B4-BE49-F238E27FC236}">
                <a16:creationId xmlns:a16="http://schemas.microsoft.com/office/drawing/2014/main" id="{4A66CB6C-C990-438C-86AF-F192FD6EDF88}"/>
              </a:ext>
            </a:extLst>
          </p:cNvPr>
          <p:cNvSpPr/>
          <p:nvPr/>
        </p:nvSpPr>
        <p:spPr>
          <a:xfrm>
            <a:off x="3819397" y="2572967"/>
            <a:ext cx="5724644" cy="461665"/>
          </a:xfrm>
          <a:prstGeom prst="wedgeRectCallout">
            <a:avLst>
              <a:gd name="adj1" fmla="val -28467"/>
              <a:gd name="adj2" fmla="val 111472"/>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236702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kumimoji="1" lang="ja-JP" altLang="en-US" sz="3200" b="1" u="sng" dirty="0"/>
              <a:t>プルリクエスト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078400" cy="2308324"/>
          </a:xfrm>
          <a:prstGeom prst="rect">
            <a:avLst/>
          </a:prstGeom>
          <a:noFill/>
        </p:spPr>
        <p:txBody>
          <a:bodyPr wrap="none" rtlCol="0">
            <a:spAutoFit/>
          </a:bodyPr>
          <a:lstStyle/>
          <a:p>
            <a:r>
              <a:rPr lang="ja-JP" altLang="en-US" sz="2400" dirty="0"/>
              <a:t>今回の編集を</a:t>
            </a:r>
            <a:r>
              <a:rPr lang="en-US" altLang="ja-JP" sz="2400" dirty="0"/>
              <a:t>master</a:t>
            </a:r>
            <a:r>
              <a:rPr lang="ja-JP" altLang="en-US" sz="2400" dirty="0"/>
              <a:t>に</a:t>
            </a:r>
            <a:r>
              <a:rPr lang="en-US" altLang="ja-JP" sz="2400" dirty="0"/>
              <a:t>Merge</a:t>
            </a:r>
            <a:r>
              <a:rPr lang="ja-JP" altLang="en-US" sz="2400" dirty="0"/>
              <a:t>させるには</a:t>
            </a:r>
            <a:r>
              <a:rPr lang="ja-JP" altLang="en-US" sz="2400" b="1" dirty="0">
                <a:solidFill>
                  <a:srgbClr val="FF0000"/>
                </a:solidFill>
              </a:rPr>
              <a:t>プルリクエスト</a:t>
            </a:r>
            <a:r>
              <a:rPr lang="ja-JP" altLang="en-US" sz="2400" dirty="0"/>
              <a:t>を作成します。</a:t>
            </a:r>
            <a:endParaRPr lang="en-US" altLang="ja-JP" sz="2400" dirty="0"/>
          </a:p>
          <a:p>
            <a:r>
              <a:rPr lang="ja-JP" altLang="en-US" sz="2400" dirty="0"/>
              <a:t>プルリクエストとは、</a:t>
            </a:r>
            <a:endParaRPr lang="en-US" altLang="ja-JP" sz="2400" dirty="0"/>
          </a:p>
          <a:p>
            <a:r>
              <a:rPr lang="ja-JP" altLang="en-US" sz="2400" b="1" dirty="0">
                <a:solidFill>
                  <a:srgbClr val="FF0000"/>
                </a:solidFill>
              </a:rPr>
              <a:t>「作業したブランチを別のブランチに合流させてください」</a:t>
            </a:r>
            <a:endParaRPr lang="en-US" altLang="ja-JP" sz="2400" b="1" dirty="0">
              <a:solidFill>
                <a:srgbClr val="FF0000"/>
              </a:solidFill>
            </a:endParaRPr>
          </a:p>
          <a:p>
            <a:r>
              <a:rPr lang="ja-JP" altLang="en-US" sz="2400" dirty="0"/>
              <a:t>とリクエストするものになります。</a:t>
            </a:r>
            <a:endParaRPr lang="en-US" altLang="ja-JP" sz="2400" dirty="0"/>
          </a:p>
          <a:p>
            <a:endParaRPr lang="en-US" altLang="ja-JP" sz="2400" dirty="0"/>
          </a:p>
          <a:p>
            <a:r>
              <a:rPr lang="ja-JP" altLang="en-US" sz="2400" b="1" dirty="0">
                <a:solidFill>
                  <a:srgbClr val="FF0000"/>
                </a:solidFill>
              </a:rPr>
              <a:t>■イメージ</a:t>
            </a:r>
            <a:endParaRPr lang="en-US" altLang="ja-JP" sz="2400" b="1" dirty="0">
              <a:solidFill>
                <a:srgbClr val="FF0000"/>
              </a:solidFill>
            </a:endParaRPr>
          </a:p>
        </p:txBody>
      </p:sp>
      <p:sp>
        <p:nvSpPr>
          <p:cNvPr id="2" name="楕円 1">
            <a:extLst>
              <a:ext uri="{FF2B5EF4-FFF2-40B4-BE49-F238E27FC236}">
                <a16:creationId xmlns:a16="http://schemas.microsoft.com/office/drawing/2014/main" id="{B8ED6CDC-23EC-41AE-ADFD-AECF9EEC296B}"/>
              </a:ext>
            </a:extLst>
          </p:cNvPr>
          <p:cNvSpPr/>
          <p:nvPr/>
        </p:nvSpPr>
        <p:spPr>
          <a:xfrm>
            <a:off x="915235" y="3664453"/>
            <a:ext cx="475129" cy="4796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298CBD56-13D8-41D7-9BCB-3100294CD202}"/>
              </a:ext>
            </a:extLst>
          </p:cNvPr>
          <p:cNvSpPr txBox="1"/>
          <p:nvPr/>
        </p:nvSpPr>
        <p:spPr>
          <a:xfrm>
            <a:off x="567542" y="4325311"/>
            <a:ext cx="1170513" cy="461665"/>
          </a:xfrm>
          <a:prstGeom prst="rect">
            <a:avLst/>
          </a:prstGeom>
          <a:noFill/>
        </p:spPr>
        <p:txBody>
          <a:bodyPr wrap="none" rtlCol="0">
            <a:spAutoFit/>
          </a:bodyPr>
          <a:lstStyle/>
          <a:p>
            <a:r>
              <a:rPr lang="en-US" altLang="ja-JP" sz="2400" dirty="0"/>
              <a:t>master</a:t>
            </a:r>
          </a:p>
        </p:txBody>
      </p:sp>
      <p:sp>
        <p:nvSpPr>
          <p:cNvPr id="12" name="楕円 11">
            <a:extLst>
              <a:ext uri="{FF2B5EF4-FFF2-40B4-BE49-F238E27FC236}">
                <a16:creationId xmlns:a16="http://schemas.microsoft.com/office/drawing/2014/main" id="{5EFDBC9C-5CBF-479F-BDBC-98B13DFFA567}"/>
              </a:ext>
            </a:extLst>
          </p:cNvPr>
          <p:cNvSpPr/>
          <p:nvPr/>
        </p:nvSpPr>
        <p:spPr>
          <a:xfrm>
            <a:off x="2012445" y="4971837"/>
            <a:ext cx="475129" cy="47961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85690306-B75D-4D25-804A-237D34DAE0B1}"/>
              </a:ext>
            </a:extLst>
          </p:cNvPr>
          <p:cNvSpPr txBox="1"/>
          <p:nvPr/>
        </p:nvSpPr>
        <p:spPr>
          <a:xfrm>
            <a:off x="1587808" y="5451449"/>
            <a:ext cx="1324402" cy="461665"/>
          </a:xfrm>
          <a:prstGeom prst="rect">
            <a:avLst/>
          </a:prstGeom>
          <a:noFill/>
        </p:spPr>
        <p:txBody>
          <a:bodyPr wrap="none" rtlCol="0">
            <a:spAutoFit/>
          </a:bodyPr>
          <a:lstStyle/>
          <a:p>
            <a:r>
              <a:rPr lang="en-US" altLang="ja-JP" sz="2400" dirty="0"/>
              <a:t>practice</a:t>
            </a:r>
          </a:p>
        </p:txBody>
      </p:sp>
      <p:cxnSp>
        <p:nvCxnSpPr>
          <p:cNvPr id="5" name="直線矢印コネクタ 4">
            <a:extLst>
              <a:ext uri="{FF2B5EF4-FFF2-40B4-BE49-F238E27FC236}">
                <a16:creationId xmlns:a16="http://schemas.microsoft.com/office/drawing/2014/main" id="{DC4C3D84-C95F-4A2C-8C62-A0F79CCBB656}"/>
              </a:ext>
            </a:extLst>
          </p:cNvPr>
          <p:cNvCxnSpPr>
            <a:stCxn id="2" idx="6"/>
          </p:cNvCxnSpPr>
          <p:nvPr/>
        </p:nvCxnSpPr>
        <p:spPr>
          <a:xfrm flipV="1">
            <a:off x="1390364" y="3902018"/>
            <a:ext cx="3603812" cy="22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01CB9C4C-EE89-4489-8892-A7EA4E2C1B3C}"/>
              </a:ext>
            </a:extLst>
          </p:cNvPr>
          <p:cNvCxnSpPr>
            <a:cxnSpLocks/>
            <a:stCxn id="12" idx="6"/>
          </p:cNvCxnSpPr>
          <p:nvPr/>
        </p:nvCxnSpPr>
        <p:spPr>
          <a:xfrm flipV="1">
            <a:off x="2487574" y="4079026"/>
            <a:ext cx="1672884" cy="113261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テキスト ボックス 21">
            <a:extLst>
              <a:ext uri="{FF2B5EF4-FFF2-40B4-BE49-F238E27FC236}">
                <a16:creationId xmlns:a16="http://schemas.microsoft.com/office/drawing/2014/main" id="{123B51B3-EFF1-459F-A57A-900DE3B9EF1B}"/>
              </a:ext>
            </a:extLst>
          </p:cNvPr>
          <p:cNvSpPr txBox="1"/>
          <p:nvPr/>
        </p:nvSpPr>
        <p:spPr>
          <a:xfrm>
            <a:off x="3410471" y="4461569"/>
            <a:ext cx="2723823" cy="646331"/>
          </a:xfrm>
          <a:prstGeom prst="rect">
            <a:avLst/>
          </a:prstGeom>
          <a:noFill/>
        </p:spPr>
        <p:txBody>
          <a:bodyPr wrap="none" rtlCol="0">
            <a:spAutoFit/>
          </a:bodyPr>
          <a:lstStyle/>
          <a:p>
            <a:r>
              <a:rPr lang="ja-JP" altLang="en-US" b="1" dirty="0">
                <a:solidFill>
                  <a:srgbClr val="FF0000"/>
                </a:solidFill>
              </a:rPr>
              <a:t>合流させてください！！</a:t>
            </a:r>
            <a:endParaRPr lang="en-US" altLang="ja-JP" b="1" dirty="0">
              <a:solidFill>
                <a:srgbClr val="FF0000"/>
              </a:solidFill>
            </a:endParaRPr>
          </a:p>
          <a:p>
            <a:r>
              <a:rPr lang="ja-JP" altLang="en-US" b="1" dirty="0">
                <a:solidFill>
                  <a:srgbClr val="FF0000"/>
                </a:solidFill>
              </a:rPr>
              <a:t>（プルリクエスト）</a:t>
            </a:r>
            <a:endParaRPr lang="en-US" altLang="ja-JP" b="1" dirty="0">
              <a:solidFill>
                <a:srgbClr val="FF0000"/>
              </a:solidFill>
            </a:endParaRPr>
          </a:p>
        </p:txBody>
      </p:sp>
    </p:spTree>
    <p:extLst>
      <p:ext uri="{BB962C8B-B14F-4D97-AF65-F5344CB8AC3E}">
        <p14:creationId xmlns:p14="http://schemas.microsoft.com/office/powerpoint/2010/main" val="39062583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kumimoji="1" lang="ja-JP" altLang="en-US" sz="3200" b="1" u="sng" dirty="0"/>
              <a:t>プルリクエスト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996374" cy="830997"/>
          </a:xfrm>
          <a:prstGeom prst="rect">
            <a:avLst/>
          </a:prstGeom>
          <a:noFill/>
        </p:spPr>
        <p:txBody>
          <a:bodyPr wrap="none" rtlCol="0">
            <a:spAutoFit/>
          </a:bodyPr>
          <a:lstStyle/>
          <a:p>
            <a:r>
              <a:rPr lang="en-US" altLang="ja-JP" sz="2400" dirty="0" err="1"/>
              <a:t>BitBucket</a:t>
            </a:r>
            <a:r>
              <a:rPr lang="ja-JP" altLang="en-US" sz="2400" dirty="0"/>
              <a:t>の</a:t>
            </a:r>
            <a:r>
              <a:rPr lang="en-US" altLang="ja-JP" sz="2400" b="1" dirty="0">
                <a:solidFill>
                  <a:srgbClr val="FF0000"/>
                </a:solidFill>
              </a:rPr>
              <a:t>Pull requests</a:t>
            </a:r>
            <a:r>
              <a:rPr lang="ja-JP" altLang="en-US" sz="2400" b="1" dirty="0">
                <a:solidFill>
                  <a:srgbClr val="FF0000"/>
                </a:solidFill>
              </a:rPr>
              <a:t>ページ</a:t>
            </a:r>
            <a:r>
              <a:rPr lang="ja-JP" altLang="en-US" sz="2400" dirty="0"/>
              <a:t>を開きます。</a:t>
            </a:r>
            <a:endParaRPr lang="en-US" altLang="ja-JP" sz="2400" dirty="0"/>
          </a:p>
          <a:p>
            <a:r>
              <a:rPr lang="en-US" altLang="ja-JP" sz="2400" b="1" dirty="0">
                <a:solidFill>
                  <a:srgbClr val="FF0000"/>
                </a:solidFill>
              </a:rPr>
              <a:t>Create pull request </a:t>
            </a:r>
            <a:r>
              <a:rPr lang="ja-JP" altLang="en-US" sz="2400" dirty="0"/>
              <a:t>ボタンからプルリクエストを作成します。</a:t>
            </a:r>
            <a:endParaRPr lang="en-US" altLang="ja-JP" sz="2400" dirty="0"/>
          </a:p>
        </p:txBody>
      </p:sp>
      <p:pic>
        <p:nvPicPr>
          <p:cNvPr id="7" name="図 6">
            <a:extLst>
              <a:ext uri="{FF2B5EF4-FFF2-40B4-BE49-F238E27FC236}">
                <a16:creationId xmlns:a16="http://schemas.microsoft.com/office/drawing/2014/main" id="{6B4C7ABA-2CC4-4837-AD11-ADFA8C622355}"/>
              </a:ext>
            </a:extLst>
          </p:cNvPr>
          <p:cNvPicPr>
            <a:picLocks noChangeAspect="1"/>
          </p:cNvPicPr>
          <p:nvPr/>
        </p:nvPicPr>
        <p:blipFill>
          <a:blip r:embed="rId2"/>
          <a:stretch>
            <a:fillRect/>
          </a:stretch>
        </p:blipFill>
        <p:spPr>
          <a:xfrm>
            <a:off x="567542" y="2187126"/>
            <a:ext cx="10880387" cy="2173753"/>
          </a:xfrm>
          <a:prstGeom prst="rect">
            <a:avLst/>
          </a:prstGeom>
        </p:spPr>
      </p:pic>
      <p:sp>
        <p:nvSpPr>
          <p:cNvPr id="8" name="矢印: 右 7">
            <a:extLst>
              <a:ext uri="{FF2B5EF4-FFF2-40B4-BE49-F238E27FC236}">
                <a16:creationId xmlns:a16="http://schemas.microsoft.com/office/drawing/2014/main" id="{74214A99-C893-45DC-BC1B-DFE34255A085}"/>
              </a:ext>
            </a:extLst>
          </p:cNvPr>
          <p:cNvSpPr/>
          <p:nvPr/>
        </p:nvSpPr>
        <p:spPr>
          <a:xfrm rot="13224477">
            <a:off x="1434353" y="4199429"/>
            <a:ext cx="502023" cy="32273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矢印: 右 13">
            <a:extLst>
              <a:ext uri="{FF2B5EF4-FFF2-40B4-BE49-F238E27FC236}">
                <a16:creationId xmlns:a16="http://schemas.microsoft.com/office/drawing/2014/main" id="{6D84F600-5D77-4767-91D4-9CAD5D311784}"/>
              </a:ext>
            </a:extLst>
          </p:cNvPr>
          <p:cNvSpPr/>
          <p:nvPr/>
        </p:nvSpPr>
        <p:spPr>
          <a:xfrm rot="13224477">
            <a:off x="11196916" y="3112637"/>
            <a:ext cx="502023" cy="32273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799976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kumimoji="1" lang="ja-JP" altLang="en-US" sz="3200" b="1" u="sng" dirty="0"/>
              <a:t>プルリクエスト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3262432" cy="461665"/>
          </a:xfrm>
          <a:prstGeom prst="rect">
            <a:avLst/>
          </a:prstGeom>
          <a:noFill/>
        </p:spPr>
        <p:txBody>
          <a:bodyPr wrap="none" rtlCol="0">
            <a:spAutoFit/>
          </a:bodyPr>
          <a:lstStyle/>
          <a:p>
            <a:r>
              <a:rPr lang="ja-JP" altLang="en-US" sz="2400" dirty="0"/>
              <a:t>各項目を設定します。</a:t>
            </a:r>
            <a:endParaRPr lang="en-US" altLang="ja-JP" sz="2400" dirty="0"/>
          </a:p>
        </p:txBody>
      </p:sp>
      <p:pic>
        <p:nvPicPr>
          <p:cNvPr id="3" name="図 2">
            <a:extLst>
              <a:ext uri="{FF2B5EF4-FFF2-40B4-BE49-F238E27FC236}">
                <a16:creationId xmlns:a16="http://schemas.microsoft.com/office/drawing/2014/main" id="{343D98C8-3AFC-4FC8-B3D0-2A125CAC68D7}"/>
              </a:ext>
            </a:extLst>
          </p:cNvPr>
          <p:cNvPicPr>
            <a:picLocks noChangeAspect="1"/>
          </p:cNvPicPr>
          <p:nvPr/>
        </p:nvPicPr>
        <p:blipFill>
          <a:blip r:embed="rId2"/>
          <a:stretch>
            <a:fillRect/>
          </a:stretch>
        </p:blipFill>
        <p:spPr>
          <a:xfrm>
            <a:off x="567543" y="1817794"/>
            <a:ext cx="6846270" cy="4397057"/>
          </a:xfrm>
          <a:prstGeom prst="rect">
            <a:avLst/>
          </a:prstGeom>
        </p:spPr>
      </p:pic>
      <p:sp>
        <p:nvSpPr>
          <p:cNvPr id="9" name="テキスト ボックス 8">
            <a:extLst>
              <a:ext uri="{FF2B5EF4-FFF2-40B4-BE49-F238E27FC236}">
                <a16:creationId xmlns:a16="http://schemas.microsoft.com/office/drawing/2014/main" id="{665CE29F-B227-43C4-9721-A38119B19E33}"/>
              </a:ext>
            </a:extLst>
          </p:cNvPr>
          <p:cNvSpPr txBox="1"/>
          <p:nvPr/>
        </p:nvSpPr>
        <p:spPr>
          <a:xfrm>
            <a:off x="1374366" y="2372875"/>
            <a:ext cx="2050561" cy="307777"/>
          </a:xfrm>
          <a:prstGeom prst="rect">
            <a:avLst/>
          </a:prstGeom>
          <a:noFill/>
          <a:ln>
            <a:solidFill>
              <a:schemeClr val="tx1"/>
            </a:solidFill>
          </a:ln>
        </p:spPr>
        <p:txBody>
          <a:bodyPr wrap="none" rtlCol="0">
            <a:spAutoFit/>
          </a:bodyPr>
          <a:lstStyle/>
          <a:p>
            <a:r>
              <a:rPr lang="ja-JP" altLang="en-US" sz="1400" b="1" dirty="0">
                <a:solidFill>
                  <a:srgbClr val="FF0000"/>
                </a:solidFill>
              </a:rPr>
              <a:t>① </a:t>
            </a:r>
            <a:r>
              <a:rPr lang="en-US" altLang="ja-JP" sz="1400" b="1" dirty="0">
                <a:solidFill>
                  <a:srgbClr val="FF0000"/>
                </a:solidFill>
              </a:rPr>
              <a:t>Merge</a:t>
            </a:r>
            <a:r>
              <a:rPr lang="ja-JP" altLang="en-US" sz="1400" b="1" dirty="0">
                <a:solidFill>
                  <a:srgbClr val="FF0000"/>
                </a:solidFill>
              </a:rPr>
              <a:t>するブランチ</a:t>
            </a:r>
            <a:endParaRPr lang="en-US" altLang="ja-JP" sz="1400" b="1" dirty="0">
              <a:solidFill>
                <a:srgbClr val="FF0000"/>
              </a:solidFill>
            </a:endParaRPr>
          </a:p>
        </p:txBody>
      </p:sp>
      <p:sp>
        <p:nvSpPr>
          <p:cNvPr id="10" name="テキスト ボックス 9">
            <a:extLst>
              <a:ext uri="{FF2B5EF4-FFF2-40B4-BE49-F238E27FC236}">
                <a16:creationId xmlns:a16="http://schemas.microsoft.com/office/drawing/2014/main" id="{8ECAE994-2375-44E1-AA15-3A3425577ECA}"/>
              </a:ext>
            </a:extLst>
          </p:cNvPr>
          <p:cNvSpPr txBox="1"/>
          <p:nvPr/>
        </p:nvSpPr>
        <p:spPr>
          <a:xfrm>
            <a:off x="5076789" y="2380556"/>
            <a:ext cx="2050561" cy="307777"/>
          </a:xfrm>
          <a:prstGeom prst="rect">
            <a:avLst/>
          </a:prstGeom>
          <a:noFill/>
          <a:ln>
            <a:solidFill>
              <a:schemeClr val="tx1"/>
            </a:solidFill>
          </a:ln>
        </p:spPr>
        <p:txBody>
          <a:bodyPr wrap="none" rtlCol="0">
            <a:spAutoFit/>
          </a:bodyPr>
          <a:lstStyle/>
          <a:p>
            <a:r>
              <a:rPr lang="ja-JP" altLang="en-US" sz="1400" b="1" dirty="0">
                <a:solidFill>
                  <a:srgbClr val="FF0000"/>
                </a:solidFill>
              </a:rPr>
              <a:t>② </a:t>
            </a:r>
            <a:r>
              <a:rPr lang="en-US" altLang="ja-JP" sz="1400" b="1" dirty="0">
                <a:solidFill>
                  <a:srgbClr val="FF0000"/>
                </a:solidFill>
              </a:rPr>
              <a:t>Merge</a:t>
            </a:r>
            <a:r>
              <a:rPr lang="ja-JP" altLang="en-US" sz="1400" b="1" dirty="0">
                <a:solidFill>
                  <a:srgbClr val="FF0000"/>
                </a:solidFill>
              </a:rPr>
              <a:t>先のブランチ</a:t>
            </a:r>
            <a:endParaRPr lang="en-US" altLang="ja-JP" sz="1400" b="1" dirty="0">
              <a:solidFill>
                <a:srgbClr val="FF0000"/>
              </a:solidFill>
            </a:endParaRPr>
          </a:p>
        </p:txBody>
      </p:sp>
      <p:sp>
        <p:nvSpPr>
          <p:cNvPr id="11" name="テキスト ボックス 10">
            <a:extLst>
              <a:ext uri="{FF2B5EF4-FFF2-40B4-BE49-F238E27FC236}">
                <a16:creationId xmlns:a16="http://schemas.microsoft.com/office/drawing/2014/main" id="{A3A86470-7CDD-46E5-B86B-D443A9F979A2}"/>
              </a:ext>
            </a:extLst>
          </p:cNvPr>
          <p:cNvSpPr txBox="1"/>
          <p:nvPr/>
        </p:nvSpPr>
        <p:spPr>
          <a:xfrm>
            <a:off x="1643307" y="3235733"/>
            <a:ext cx="3108543" cy="307777"/>
          </a:xfrm>
          <a:prstGeom prst="rect">
            <a:avLst/>
          </a:prstGeom>
          <a:noFill/>
          <a:ln>
            <a:solidFill>
              <a:schemeClr val="tx1"/>
            </a:solidFill>
          </a:ln>
        </p:spPr>
        <p:txBody>
          <a:bodyPr wrap="square" rtlCol="0">
            <a:spAutoFit/>
          </a:bodyPr>
          <a:lstStyle/>
          <a:p>
            <a:r>
              <a:rPr lang="ja-JP" altLang="en-US" sz="1400" b="1" dirty="0">
                <a:solidFill>
                  <a:srgbClr val="FF0000"/>
                </a:solidFill>
              </a:rPr>
              <a:t>③ タイトルは作業内容を簡単に書く</a:t>
            </a:r>
            <a:endParaRPr lang="en-US" altLang="ja-JP" sz="1400" b="1" dirty="0">
              <a:solidFill>
                <a:srgbClr val="FF0000"/>
              </a:solidFill>
            </a:endParaRPr>
          </a:p>
        </p:txBody>
      </p:sp>
      <p:sp>
        <p:nvSpPr>
          <p:cNvPr id="12" name="テキスト ボックス 11">
            <a:extLst>
              <a:ext uri="{FF2B5EF4-FFF2-40B4-BE49-F238E27FC236}">
                <a16:creationId xmlns:a16="http://schemas.microsoft.com/office/drawing/2014/main" id="{F546FBC5-E11C-45CA-9562-A4458A52165F}"/>
              </a:ext>
            </a:extLst>
          </p:cNvPr>
          <p:cNvSpPr txBox="1"/>
          <p:nvPr/>
        </p:nvSpPr>
        <p:spPr>
          <a:xfrm>
            <a:off x="935143" y="4139974"/>
            <a:ext cx="3439633" cy="307777"/>
          </a:xfrm>
          <a:prstGeom prst="rect">
            <a:avLst/>
          </a:prstGeom>
          <a:noFill/>
          <a:ln>
            <a:solidFill>
              <a:schemeClr val="tx1"/>
            </a:solidFill>
          </a:ln>
        </p:spPr>
        <p:txBody>
          <a:bodyPr wrap="square" rtlCol="0">
            <a:spAutoFit/>
          </a:bodyPr>
          <a:lstStyle/>
          <a:p>
            <a:r>
              <a:rPr lang="ja-JP" altLang="en-US" sz="1400" b="1" dirty="0">
                <a:solidFill>
                  <a:srgbClr val="FF0000"/>
                </a:solidFill>
              </a:rPr>
              <a:t>④ 詳細な説明が必要な場合はここに書く</a:t>
            </a:r>
            <a:endParaRPr lang="en-US" altLang="ja-JP" sz="1400" b="1" dirty="0">
              <a:solidFill>
                <a:srgbClr val="FF0000"/>
              </a:solidFill>
            </a:endParaRPr>
          </a:p>
        </p:txBody>
      </p:sp>
      <p:sp>
        <p:nvSpPr>
          <p:cNvPr id="13" name="テキスト ボックス 12">
            <a:extLst>
              <a:ext uri="{FF2B5EF4-FFF2-40B4-BE49-F238E27FC236}">
                <a16:creationId xmlns:a16="http://schemas.microsoft.com/office/drawing/2014/main" id="{34A976A4-9818-40CC-BF09-F9C5107C7F4A}"/>
              </a:ext>
            </a:extLst>
          </p:cNvPr>
          <p:cNvSpPr txBox="1"/>
          <p:nvPr/>
        </p:nvSpPr>
        <p:spPr>
          <a:xfrm>
            <a:off x="1486774" y="5044215"/>
            <a:ext cx="4474755" cy="307777"/>
          </a:xfrm>
          <a:prstGeom prst="rect">
            <a:avLst/>
          </a:prstGeom>
          <a:noFill/>
          <a:ln>
            <a:solidFill>
              <a:schemeClr val="tx1"/>
            </a:solidFill>
          </a:ln>
        </p:spPr>
        <p:txBody>
          <a:bodyPr wrap="square" rtlCol="0">
            <a:spAutoFit/>
          </a:bodyPr>
          <a:lstStyle/>
          <a:p>
            <a:r>
              <a:rPr lang="ja-JP" altLang="en-US" sz="1400" b="1" dirty="0">
                <a:solidFill>
                  <a:srgbClr val="FF0000"/>
                </a:solidFill>
              </a:rPr>
              <a:t>⑤ チームメンバー全員をレビュワーとして追加する</a:t>
            </a:r>
            <a:endParaRPr lang="en-US" altLang="ja-JP" sz="1400" b="1" dirty="0">
              <a:solidFill>
                <a:srgbClr val="FF0000"/>
              </a:solidFill>
            </a:endParaRPr>
          </a:p>
        </p:txBody>
      </p:sp>
      <p:sp>
        <p:nvSpPr>
          <p:cNvPr id="15" name="テキスト ボックス 14">
            <a:extLst>
              <a:ext uri="{FF2B5EF4-FFF2-40B4-BE49-F238E27FC236}">
                <a16:creationId xmlns:a16="http://schemas.microsoft.com/office/drawing/2014/main" id="{2CE17182-43B0-4102-B649-F58BCAB7EA7A}"/>
              </a:ext>
            </a:extLst>
          </p:cNvPr>
          <p:cNvSpPr txBox="1"/>
          <p:nvPr/>
        </p:nvSpPr>
        <p:spPr>
          <a:xfrm>
            <a:off x="715809" y="5760865"/>
            <a:ext cx="4878167" cy="307777"/>
          </a:xfrm>
          <a:prstGeom prst="rect">
            <a:avLst/>
          </a:prstGeom>
          <a:noFill/>
          <a:ln>
            <a:solidFill>
              <a:schemeClr val="tx1"/>
            </a:solidFill>
          </a:ln>
        </p:spPr>
        <p:txBody>
          <a:bodyPr wrap="square" rtlCol="0">
            <a:spAutoFit/>
          </a:bodyPr>
          <a:lstStyle/>
          <a:p>
            <a:r>
              <a:rPr lang="ja-JP" altLang="en-US" sz="1400" b="1" dirty="0">
                <a:solidFill>
                  <a:srgbClr val="FF0000"/>
                </a:solidFill>
              </a:rPr>
              <a:t>⑥ </a:t>
            </a:r>
            <a:r>
              <a:rPr lang="en-US" altLang="ja-JP" sz="1400" b="1" dirty="0">
                <a:solidFill>
                  <a:srgbClr val="FF0000"/>
                </a:solidFill>
              </a:rPr>
              <a:t>Merge</a:t>
            </a:r>
            <a:r>
              <a:rPr lang="ja-JP" altLang="en-US" sz="1400" b="1" dirty="0">
                <a:solidFill>
                  <a:srgbClr val="FF0000"/>
                </a:solidFill>
              </a:rPr>
              <a:t>されたら</a:t>
            </a:r>
            <a:r>
              <a:rPr lang="en-US" altLang="ja-JP" sz="1400" b="1" dirty="0">
                <a:solidFill>
                  <a:srgbClr val="FF0000"/>
                </a:solidFill>
              </a:rPr>
              <a:t>Branch</a:t>
            </a:r>
            <a:r>
              <a:rPr lang="ja-JP" altLang="en-US" sz="1400" b="1" dirty="0">
                <a:solidFill>
                  <a:srgbClr val="FF0000"/>
                </a:solidFill>
              </a:rPr>
              <a:t>を消すかどうか（基本は</a:t>
            </a:r>
            <a:r>
              <a:rPr lang="en-US" altLang="ja-JP" sz="1400" b="1" dirty="0">
                <a:solidFill>
                  <a:srgbClr val="FF0000"/>
                </a:solidFill>
              </a:rPr>
              <a:t>OFF</a:t>
            </a:r>
            <a:r>
              <a:rPr lang="ja-JP" altLang="en-US" sz="1400" b="1" dirty="0">
                <a:solidFill>
                  <a:srgbClr val="FF0000"/>
                </a:solidFill>
              </a:rPr>
              <a:t>）</a:t>
            </a:r>
            <a:endParaRPr lang="en-US" altLang="ja-JP" sz="1400" b="1" dirty="0">
              <a:solidFill>
                <a:srgbClr val="FF0000"/>
              </a:solidFill>
            </a:endParaRPr>
          </a:p>
        </p:txBody>
      </p:sp>
    </p:spTree>
    <p:extLst>
      <p:ext uri="{BB962C8B-B14F-4D97-AF65-F5344CB8AC3E}">
        <p14:creationId xmlns:p14="http://schemas.microsoft.com/office/powerpoint/2010/main" val="127536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kumimoji="1" lang="ja-JP" altLang="en-US" sz="3200" b="1" u="sng" dirty="0"/>
              <a:t>プルリクエスト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238426" cy="830997"/>
          </a:xfrm>
          <a:prstGeom prst="rect">
            <a:avLst/>
          </a:prstGeom>
          <a:noFill/>
        </p:spPr>
        <p:txBody>
          <a:bodyPr wrap="none" rtlCol="0">
            <a:spAutoFit/>
          </a:bodyPr>
          <a:lstStyle/>
          <a:p>
            <a:r>
              <a:rPr lang="ja-JP" altLang="en-US" sz="2400" dirty="0"/>
              <a:t>作成したプルリクエストは</a:t>
            </a:r>
            <a:r>
              <a:rPr lang="en-US" altLang="ja-JP" sz="2400" b="1" dirty="0">
                <a:solidFill>
                  <a:srgbClr val="FF0000"/>
                </a:solidFill>
              </a:rPr>
              <a:t>Pull requests</a:t>
            </a:r>
            <a:r>
              <a:rPr lang="ja-JP" altLang="en-US" sz="2400" b="1" dirty="0">
                <a:solidFill>
                  <a:srgbClr val="FF0000"/>
                </a:solidFill>
              </a:rPr>
              <a:t>ページ</a:t>
            </a:r>
            <a:r>
              <a:rPr lang="ja-JP" altLang="en-US" sz="2400" dirty="0"/>
              <a:t>で確認できます。</a:t>
            </a:r>
            <a:endParaRPr lang="en-US" altLang="ja-JP" sz="2400" dirty="0"/>
          </a:p>
          <a:p>
            <a:r>
              <a:rPr lang="ja-JP" altLang="en-US" sz="2400" dirty="0"/>
              <a:t>各メンバーは確認してみましょう。</a:t>
            </a:r>
            <a:endParaRPr lang="en-US" altLang="ja-JP" sz="2400" dirty="0"/>
          </a:p>
        </p:txBody>
      </p:sp>
      <p:pic>
        <p:nvPicPr>
          <p:cNvPr id="5" name="図 4">
            <a:extLst>
              <a:ext uri="{FF2B5EF4-FFF2-40B4-BE49-F238E27FC236}">
                <a16:creationId xmlns:a16="http://schemas.microsoft.com/office/drawing/2014/main" id="{F746F199-5D8E-4213-AC16-609212241057}"/>
              </a:ext>
            </a:extLst>
          </p:cNvPr>
          <p:cNvPicPr>
            <a:picLocks noChangeAspect="1"/>
          </p:cNvPicPr>
          <p:nvPr/>
        </p:nvPicPr>
        <p:blipFill>
          <a:blip r:embed="rId2"/>
          <a:stretch>
            <a:fillRect/>
          </a:stretch>
        </p:blipFill>
        <p:spPr>
          <a:xfrm>
            <a:off x="567542" y="2187126"/>
            <a:ext cx="10635286" cy="3657862"/>
          </a:xfrm>
          <a:prstGeom prst="rect">
            <a:avLst/>
          </a:prstGeom>
        </p:spPr>
      </p:pic>
      <p:sp>
        <p:nvSpPr>
          <p:cNvPr id="14" name="矢印: 右 13">
            <a:extLst>
              <a:ext uri="{FF2B5EF4-FFF2-40B4-BE49-F238E27FC236}">
                <a16:creationId xmlns:a16="http://schemas.microsoft.com/office/drawing/2014/main" id="{6BAA5A6F-A0D0-411A-8DB3-139E1F72BF03}"/>
              </a:ext>
            </a:extLst>
          </p:cNvPr>
          <p:cNvSpPr/>
          <p:nvPr/>
        </p:nvSpPr>
        <p:spPr>
          <a:xfrm rot="13224477">
            <a:off x="2214281" y="5122793"/>
            <a:ext cx="502023" cy="32273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296103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kumimoji="1" lang="ja-JP" altLang="en-US" sz="3200" b="1" u="sng" dirty="0"/>
              <a:t>プルリクエスト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847568" cy="830997"/>
          </a:xfrm>
          <a:prstGeom prst="rect">
            <a:avLst/>
          </a:prstGeom>
          <a:noFill/>
        </p:spPr>
        <p:txBody>
          <a:bodyPr wrap="none" rtlCol="0">
            <a:spAutoFit/>
          </a:bodyPr>
          <a:lstStyle/>
          <a:p>
            <a:r>
              <a:rPr lang="en-US" altLang="ja-JP" sz="2400" dirty="0"/>
              <a:t>Files changed</a:t>
            </a:r>
            <a:r>
              <a:rPr lang="ja-JP" altLang="en-US" sz="2400" dirty="0"/>
              <a:t>の項目で、プルリクエストの修正内容が確認できます。</a:t>
            </a:r>
            <a:endParaRPr lang="en-US" altLang="ja-JP" sz="2400" dirty="0"/>
          </a:p>
          <a:p>
            <a:r>
              <a:rPr lang="ja-JP" altLang="en-US" sz="2400" dirty="0"/>
              <a:t>全員で確認してみましょう。</a:t>
            </a:r>
            <a:endParaRPr lang="en-US" altLang="ja-JP" sz="2400" dirty="0"/>
          </a:p>
        </p:txBody>
      </p:sp>
      <p:pic>
        <p:nvPicPr>
          <p:cNvPr id="3" name="図 2">
            <a:extLst>
              <a:ext uri="{FF2B5EF4-FFF2-40B4-BE49-F238E27FC236}">
                <a16:creationId xmlns:a16="http://schemas.microsoft.com/office/drawing/2014/main" id="{BEBF77AF-2004-458E-AA1B-926EE6817D78}"/>
              </a:ext>
            </a:extLst>
          </p:cNvPr>
          <p:cNvPicPr>
            <a:picLocks noChangeAspect="1"/>
          </p:cNvPicPr>
          <p:nvPr/>
        </p:nvPicPr>
        <p:blipFill>
          <a:blip r:embed="rId2"/>
          <a:stretch>
            <a:fillRect/>
          </a:stretch>
        </p:blipFill>
        <p:spPr>
          <a:xfrm>
            <a:off x="567542" y="2187127"/>
            <a:ext cx="6147023" cy="4239566"/>
          </a:xfrm>
          <a:prstGeom prst="rect">
            <a:avLst/>
          </a:prstGeom>
        </p:spPr>
      </p:pic>
      <p:sp>
        <p:nvSpPr>
          <p:cNvPr id="8" name="矢印: 右 7">
            <a:extLst>
              <a:ext uri="{FF2B5EF4-FFF2-40B4-BE49-F238E27FC236}">
                <a16:creationId xmlns:a16="http://schemas.microsoft.com/office/drawing/2014/main" id="{96475CFF-2EA0-41C7-94DD-BFEAD9178F85}"/>
              </a:ext>
            </a:extLst>
          </p:cNvPr>
          <p:cNvSpPr/>
          <p:nvPr/>
        </p:nvSpPr>
        <p:spPr>
          <a:xfrm rot="13224477">
            <a:off x="2140886" y="3948417"/>
            <a:ext cx="502023" cy="32273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47419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kumimoji="1" lang="ja-JP" altLang="en-US" sz="3200" b="1" u="sng" dirty="0"/>
              <a:t>プルリクエスト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110186" cy="830997"/>
          </a:xfrm>
          <a:prstGeom prst="rect">
            <a:avLst/>
          </a:prstGeom>
          <a:noFill/>
        </p:spPr>
        <p:txBody>
          <a:bodyPr wrap="none" rtlCol="0">
            <a:spAutoFit/>
          </a:bodyPr>
          <a:lstStyle/>
          <a:p>
            <a:r>
              <a:rPr lang="ja-JP" altLang="en-US" sz="2400" dirty="0"/>
              <a:t>もしも問題がありそうであればコメントを送れます。</a:t>
            </a:r>
            <a:endParaRPr lang="en-US" altLang="ja-JP" sz="2400" dirty="0"/>
          </a:p>
          <a:p>
            <a:r>
              <a:rPr lang="ja-JP" altLang="en-US" sz="2400" dirty="0"/>
              <a:t>このように</a:t>
            </a:r>
            <a:r>
              <a:rPr lang="ja-JP" altLang="en-US" sz="2400" b="1" dirty="0">
                <a:solidFill>
                  <a:srgbClr val="FF0000"/>
                </a:solidFill>
              </a:rPr>
              <a:t>他のメンバーの作業をレビュー</a:t>
            </a:r>
            <a:r>
              <a:rPr lang="ja-JP" altLang="en-US" sz="2400" dirty="0"/>
              <a:t>することができます。</a:t>
            </a:r>
            <a:endParaRPr lang="en-US" altLang="ja-JP" sz="2400" dirty="0"/>
          </a:p>
        </p:txBody>
      </p:sp>
      <p:pic>
        <p:nvPicPr>
          <p:cNvPr id="5" name="図 4">
            <a:extLst>
              <a:ext uri="{FF2B5EF4-FFF2-40B4-BE49-F238E27FC236}">
                <a16:creationId xmlns:a16="http://schemas.microsoft.com/office/drawing/2014/main" id="{20D9C187-B6ED-4767-9EB4-08FA12451BD9}"/>
              </a:ext>
            </a:extLst>
          </p:cNvPr>
          <p:cNvPicPr>
            <a:picLocks noChangeAspect="1"/>
          </p:cNvPicPr>
          <p:nvPr/>
        </p:nvPicPr>
        <p:blipFill>
          <a:blip r:embed="rId2"/>
          <a:stretch>
            <a:fillRect/>
          </a:stretch>
        </p:blipFill>
        <p:spPr>
          <a:xfrm>
            <a:off x="567542" y="2187126"/>
            <a:ext cx="6839138" cy="4106098"/>
          </a:xfrm>
          <a:prstGeom prst="rect">
            <a:avLst/>
          </a:prstGeom>
        </p:spPr>
      </p:pic>
    </p:spTree>
    <p:extLst>
      <p:ext uri="{BB962C8B-B14F-4D97-AF65-F5344CB8AC3E}">
        <p14:creationId xmlns:p14="http://schemas.microsoft.com/office/powerpoint/2010/main" val="14347847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kumimoji="1" lang="ja-JP" altLang="en-US" sz="3200" b="1" u="sng" dirty="0"/>
              <a:t>プルリクエスト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505073" cy="830997"/>
          </a:xfrm>
          <a:prstGeom prst="rect">
            <a:avLst/>
          </a:prstGeom>
          <a:noFill/>
        </p:spPr>
        <p:txBody>
          <a:bodyPr wrap="none" rtlCol="0">
            <a:spAutoFit/>
          </a:bodyPr>
          <a:lstStyle/>
          <a:p>
            <a:r>
              <a:rPr lang="ja-JP" altLang="en-US" sz="2400" dirty="0"/>
              <a:t>また特に問題ないと思うメンバーは</a:t>
            </a:r>
            <a:r>
              <a:rPr lang="en-US" altLang="ja-JP" sz="2400" b="1" dirty="0">
                <a:solidFill>
                  <a:srgbClr val="00B050"/>
                </a:solidFill>
              </a:rPr>
              <a:t>Approve</a:t>
            </a:r>
            <a:r>
              <a:rPr lang="ja-JP" altLang="en-US" sz="2400" b="1" dirty="0">
                <a:solidFill>
                  <a:srgbClr val="00B050"/>
                </a:solidFill>
              </a:rPr>
              <a:t>ボタン</a:t>
            </a:r>
            <a:r>
              <a:rPr lang="ja-JP" altLang="en-US" sz="2400" dirty="0"/>
              <a:t>から</a:t>
            </a:r>
            <a:r>
              <a:rPr lang="ja-JP" altLang="en-US" sz="2400" b="1" dirty="0">
                <a:solidFill>
                  <a:srgbClr val="00B050"/>
                </a:solidFill>
              </a:rPr>
              <a:t>承認</a:t>
            </a:r>
            <a:r>
              <a:rPr lang="ja-JP" altLang="en-US" sz="2400" dirty="0"/>
              <a:t>することができます。</a:t>
            </a:r>
            <a:endParaRPr lang="en-US" altLang="ja-JP" sz="2400" dirty="0"/>
          </a:p>
          <a:p>
            <a:r>
              <a:rPr lang="ja-JP" altLang="en-US" sz="2400" dirty="0"/>
              <a:t>「個人的には大丈夫と思う」という意思表示ができます。</a:t>
            </a:r>
            <a:endParaRPr lang="en-US" altLang="ja-JP" sz="2400" dirty="0"/>
          </a:p>
        </p:txBody>
      </p:sp>
      <p:pic>
        <p:nvPicPr>
          <p:cNvPr id="3" name="図 2">
            <a:extLst>
              <a:ext uri="{FF2B5EF4-FFF2-40B4-BE49-F238E27FC236}">
                <a16:creationId xmlns:a16="http://schemas.microsoft.com/office/drawing/2014/main" id="{04666345-52F4-42DA-8146-5F5F8FC93E90}"/>
              </a:ext>
            </a:extLst>
          </p:cNvPr>
          <p:cNvPicPr>
            <a:picLocks noChangeAspect="1"/>
          </p:cNvPicPr>
          <p:nvPr/>
        </p:nvPicPr>
        <p:blipFill>
          <a:blip r:embed="rId2"/>
          <a:stretch>
            <a:fillRect/>
          </a:stretch>
        </p:blipFill>
        <p:spPr>
          <a:xfrm>
            <a:off x="567542" y="2187126"/>
            <a:ext cx="10871423" cy="1115202"/>
          </a:xfrm>
          <a:prstGeom prst="rect">
            <a:avLst/>
          </a:prstGeom>
        </p:spPr>
      </p:pic>
      <p:sp>
        <p:nvSpPr>
          <p:cNvPr id="7" name="矢印: 右 6">
            <a:extLst>
              <a:ext uri="{FF2B5EF4-FFF2-40B4-BE49-F238E27FC236}">
                <a16:creationId xmlns:a16="http://schemas.microsoft.com/office/drawing/2014/main" id="{76E03B4C-F566-472A-9A65-1075E45C3376}"/>
              </a:ext>
            </a:extLst>
          </p:cNvPr>
          <p:cNvSpPr/>
          <p:nvPr/>
        </p:nvSpPr>
        <p:spPr>
          <a:xfrm rot="13224477">
            <a:off x="10110510" y="3108725"/>
            <a:ext cx="502023" cy="32273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1750EA2C-6067-4016-8C93-01DE7748212D}"/>
              </a:ext>
            </a:extLst>
          </p:cNvPr>
          <p:cNvSpPr txBox="1"/>
          <p:nvPr/>
        </p:nvSpPr>
        <p:spPr>
          <a:xfrm>
            <a:off x="567541" y="3442887"/>
            <a:ext cx="7263527" cy="461665"/>
          </a:xfrm>
          <a:prstGeom prst="rect">
            <a:avLst/>
          </a:prstGeom>
          <a:noFill/>
        </p:spPr>
        <p:txBody>
          <a:bodyPr wrap="none" rtlCol="0">
            <a:spAutoFit/>
          </a:bodyPr>
          <a:lstStyle/>
          <a:p>
            <a:r>
              <a:rPr lang="ja-JP" altLang="en-US" sz="2400" dirty="0"/>
              <a:t>問題ないと思ったらなるべく押してあげましょう。</a:t>
            </a:r>
            <a:endParaRPr lang="en-US" altLang="ja-JP" sz="2400" dirty="0"/>
          </a:p>
        </p:txBody>
      </p:sp>
    </p:spTree>
    <p:extLst>
      <p:ext uri="{BB962C8B-B14F-4D97-AF65-F5344CB8AC3E}">
        <p14:creationId xmlns:p14="http://schemas.microsoft.com/office/powerpoint/2010/main" val="23988725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kumimoji="1" lang="ja-JP" altLang="en-US" sz="3200" b="1" u="sng" dirty="0"/>
              <a:t>プルリクエスト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802410" cy="3416320"/>
          </a:xfrm>
          <a:prstGeom prst="rect">
            <a:avLst/>
          </a:prstGeom>
          <a:noFill/>
        </p:spPr>
        <p:txBody>
          <a:bodyPr wrap="none" rtlCol="0">
            <a:spAutoFit/>
          </a:bodyPr>
          <a:lstStyle/>
          <a:p>
            <a:r>
              <a:rPr lang="ja-JP" altLang="en-US" sz="2400" dirty="0"/>
              <a:t>メンバー間で作業をレビューすることは非常に大事なことで、</a:t>
            </a:r>
            <a:endParaRPr lang="en-US" altLang="ja-JP" sz="2400" dirty="0"/>
          </a:p>
          <a:p>
            <a:r>
              <a:rPr lang="ja-JP" altLang="en-US" sz="2400" dirty="0"/>
              <a:t>チーム全体で様々な情報を共有することができます。</a:t>
            </a:r>
            <a:endParaRPr lang="en-US" altLang="ja-JP" sz="2400" dirty="0"/>
          </a:p>
          <a:p>
            <a:endParaRPr lang="en-US" altLang="ja-JP" sz="2400" dirty="0"/>
          </a:p>
          <a:p>
            <a:r>
              <a:rPr lang="ja-JP" altLang="en-US" sz="2400" b="1" dirty="0">
                <a:solidFill>
                  <a:srgbClr val="FF0000"/>
                </a:solidFill>
              </a:rPr>
              <a:t>■レビューのメリット</a:t>
            </a:r>
            <a:endParaRPr lang="en-US" altLang="ja-JP" sz="2400" b="1" dirty="0">
              <a:solidFill>
                <a:srgbClr val="FF0000"/>
              </a:solidFill>
            </a:endParaRPr>
          </a:p>
          <a:p>
            <a:r>
              <a:rPr lang="ja-JP" altLang="en-US" sz="2400" dirty="0"/>
              <a:t>・他の人のプログラムの組み方がわかる</a:t>
            </a:r>
            <a:endParaRPr lang="en-US" altLang="ja-JP" sz="2400" dirty="0"/>
          </a:p>
          <a:p>
            <a:r>
              <a:rPr lang="ja-JP" altLang="en-US" sz="2400" dirty="0"/>
              <a:t>・書き間違えなどを事前に発見できる</a:t>
            </a:r>
            <a:endParaRPr lang="en-US" altLang="ja-JP" sz="2400" dirty="0"/>
          </a:p>
          <a:p>
            <a:r>
              <a:rPr lang="ja-JP" altLang="en-US" sz="2400" dirty="0"/>
              <a:t>・実装方法を共有できる</a:t>
            </a:r>
            <a:endParaRPr lang="en-US" altLang="ja-JP" sz="2400" dirty="0"/>
          </a:p>
          <a:p>
            <a:endParaRPr lang="en-US" altLang="ja-JP" sz="2400" dirty="0"/>
          </a:p>
          <a:p>
            <a:r>
              <a:rPr lang="ja-JP" altLang="en-US" sz="2400" b="1" dirty="0">
                <a:solidFill>
                  <a:srgbClr val="FF0000"/>
                </a:solidFill>
              </a:rPr>
              <a:t>結果的にチーム全体の開発力が上がります。</a:t>
            </a:r>
            <a:endParaRPr lang="en-US" altLang="ja-JP" sz="2400" b="1" dirty="0">
              <a:solidFill>
                <a:srgbClr val="FF0000"/>
              </a:solidFill>
            </a:endParaRPr>
          </a:p>
        </p:txBody>
      </p:sp>
    </p:spTree>
    <p:extLst>
      <p:ext uri="{BB962C8B-B14F-4D97-AF65-F5344CB8AC3E}">
        <p14:creationId xmlns:p14="http://schemas.microsoft.com/office/powerpoint/2010/main" val="2920723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59054" cy="584775"/>
          </a:xfrm>
          <a:prstGeom prst="rect">
            <a:avLst/>
          </a:prstGeom>
          <a:noFill/>
        </p:spPr>
        <p:txBody>
          <a:bodyPr wrap="none" rtlCol="0">
            <a:spAutoFit/>
          </a:bodyPr>
          <a:lstStyle/>
          <a:p>
            <a:r>
              <a:rPr kumimoji="1" lang="en-US" altLang="ja-JP" sz="3200" b="1" u="sng" dirty="0"/>
              <a:t>Merge</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030036" cy="830997"/>
          </a:xfrm>
          <a:prstGeom prst="rect">
            <a:avLst/>
          </a:prstGeom>
          <a:noFill/>
        </p:spPr>
        <p:txBody>
          <a:bodyPr wrap="none" rtlCol="0">
            <a:spAutoFit/>
          </a:bodyPr>
          <a:lstStyle/>
          <a:p>
            <a:r>
              <a:rPr lang="ja-JP" altLang="en-US" sz="2400" dirty="0"/>
              <a:t>レビューが終わり、問題なければ</a:t>
            </a:r>
            <a:r>
              <a:rPr lang="en-US" altLang="ja-JP" sz="2400" b="1" dirty="0">
                <a:solidFill>
                  <a:srgbClr val="FF0000"/>
                </a:solidFill>
              </a:rPr>
              <a:t>Merge</a:t>
            </a:r>
            <a:r>
              <a:rPr lang="ja-JP" altLang="en-US" sz="2400" dirty="0"/>
              <a:t>をします。</a:t>
            </a:r>
            <a:endParaRPr lang="en-US" altLang="ja-JP" sz="2400" dirty="0"/>
          </a:p>
          <a:p>
            <a:r>
              <a:rPr lang="en-US" altLang="ja-JP" sz="2400" b="1" dirty="0">
                <a:solidFill>
                  <a:srgbClr val="FF0000"/>
                </a:solidFill>
              </a:rPr>
              <a:t>Finish Review</a:t>
            </a:r>
            <a:r>
              <a:rPr lang="ja-JP" altLang="en-US" sz="2400" b="1" dirty="0">
                <a:solidFill>
                  <a:srgbClr val="FF0000"/>
                </a:solidFill>
              </a:rPr>
              <a:t>ボタン</a:t>
            </a:r>
            <a:r>
              <a:rPr lang="ja-JP" altLang="en-US" sz="2400" dirty="0"/>
              <a:t>を押すと</a:t>
            </a:r>
            <a:r>
              <a:rPr lang="en-US" altLang="ja-JP" sz="2400" b="1" dirty="0">
                <a:solidFill>
                  <a:srgbClr val="FF0000"/>
                </a:solidFill>
              </a:rPr>
              <a:t>Merge</a:t>
            </a:r>
            <a:r>
              <a:rPr lang="ja-JP" altLang="en-US" sz="2400" b="1" dirty="0">
                <a:solidFill>
                  <a:srgbClr val="FF0000"/>
                </a:solidFill>
              </a:rPr>
              <a:t>ボタン</a:t>
            </a:r>
            <a:r>
              <a:rPr lang="ja-JP" altLang="en-US" sz="2400" dirty="0"/>
              <a:t>に切り替わります。</a:t>
            </a:r>
            <a:endParaRPr lang="en-US" altLang="ja-JP" sz="2400" dirty="0"/>
          </a:p>
        </p:txBody>
      </p:sp>
      <p:pic>
        <p:nvPicPr>
          <p:cNvPr id="3" name="図 2">
            <a:extLst>
              <a:ext uri="{FF2B5EF4-FFF2-40B4-BE49-F238E27FC236}">
                <a16:creationId xmlns:a16="http://schemas.microsoft.com/office/drawing/2014/main" id="{B2F431C7-45AC-4E42-B2C5-3A14E2AD9EBB}"/>
              </a:ext>
            </a:extLst>
          </p:cNvPr>
          <p:cNvPicPr>
            <a:picLocks noChangeAspect="1"/>
          </p:cNvPicPr>
          <p:nvPr/>
        </p:nvPicPr>
        <p:blipFill>
          <a:blip r:embed="rId2"/>
          <a:stretch>
            <a:fillRect/>
          </a:stretch>
        </p:blipFill>
        <p:spPr>
          <a:xfrm>
            <a:off x="567542" y="2187126"/>
            <a:ext cx="8140114" cy="3899909"/>
          </a:xfrm>
          <a:prstGeom prst="rect">
            <a:avLst/>
          </a:prstGeom>
        </p:spPr>
      </p:pic>
      <p:sp>
        <p:nvSpPr>
          <p:cNvPr id="7" name="矢印: 右 6">
            <a:extLst>
              <a:ext uri="{FF2B5EF4-FFF2-40B4-BE49-F238E27FC236}">
                <a16:creationId xmlns:a16="http://schemas.microsoft.com/office/drawing/2014/main" id="{39527978-A41E-422B-8E52-8B90FE6167E7}"/>
              </a:ext>
            </a:extLst>
          </p:cNvPr>
          <p:cNvSpPr/>
          <p:nvPr/>
        </p:nvSpPr>
        <p:spPr>
          <a:xfrm rot="13224477">
            <a:off x="8335497" y="2890582"/>
            <a:ext cx="502023" cy="32273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E7E8E752-7E82-4E68-AB4D-AC427EE70C65}"/>
              </a:ext>
            </a:extLst>
          </p:cNvPr>
          <p:cNvSpPr txBox="1"/>
          <p:nvPr/>
        </p:nvSpPr>
        <p:spPr>
          <a:xfrm>
            <a:off x="567542" y="6226735"/>
            <a:ext cx="6938118" cy="461665"/>
          </a:xfrm>
          <a:prstGeom prst="rect">
            <a:avLst/>
          </a:prstGeom>
          <a:noFill/>
        </p:spPr>
        <p:txBody>
          <a:bodyPr wrap="none" rtlCol="0">
            <a:spAutoFit/>
          </a:bodyPr>
          <a:lstStyle/>
          <a:p>
            <a:r>
              <a:rPr lang="ja-JP" altLang="en-US" sz="2400" dirty="0"/>
              <a:t>ボタンを押せば確認画面の後に</a:t>
            </a:r>
            <a:r>
              <a:rPr lang="en-US" altLang="ja-JP" sz="2400" dirty="0"/>
              <a:t>Merge</a:t>
            </a:r>
            <a:r>
              <a:rPr lang="ja-JP" altLang="en-US" sz="2400" dirty="0"/>
              <a:t>されます。</a:t>
            </a:r>
            <a:endParaRPr lang="en-US" altLang="ja-JP" sz="2400" dirty="0"/>
          </a:p>
        </p:txBody>
      </p:sp>
    </p:spTree>
    <p:extLst>
      <p:ext uri="{BB962C8B-B14F-4D97-AF65-F5344CB8AC3E}">
        <p14:creationId xmlns:p14="http://schemas.microsoft.com/office/powerpoint/2010/main" val="40982010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59054" cy="584775"/>
          </a:xfrm>
          <a:prstGeom prst="rect">
            <a:avLst/>
          </a:prstGeom>
          <a:noFill/>
        </p:spPr>
        <p:txBody>
          <a:bodyPr wrap="none" rtlCol="0">
            <a:spAutoFit/>
          </a:bodyPr>
          <a:lstStyle/>
          <a:p>
            <a:r>
              <a:rPr kumimoji="1" lang="en-US" altLang="ja-JP" sz="3200" b="1" u="sng" dirty="0"/>
              <a:t>Merge</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441735" cy="1200329"/>
          </a:xfrm>
          <a:prstGeom prst="rect">
            <a:avLst/>
          </a:prstGeom>
          <a:noFill/>
        </p:spPr>
        <p:txBody>
          <a:bodyPr wrap="none" rtlCol="0">
            <a:spAutoFit/>
          </a:bodyPr>
          <a:lstStyle/>
          <a:p>
            <a:r>
              <a:rPr lang="en-US" altLang="ja-JP" sz="2400" dirty="0"/>
              <a:t>master</a:t>
            </a:r>
            <a:r>
              <a:rPr lang="ja-JP" altLang="en-US" sz="2400" dirty="0"/>
              <a:t>ブランチに</a:t>
            </a:r>
            <a:r>
              <a:rPr lang="en-US" altLang="ja-JP" sz="2400" dirty="0"/>
              <a:t>Merge</a:t>
            </a:r>
            <a:r>
              <a:rPr lang="ja-JP" altLang="en-US" sz="2400" dirty="0"/>
              <a:t>されたかを確認します。</a:t>
            </a:r>
            <a:endParaRPr lang="en-US" altLang="ja-JP" sz="2400" dirty="0"/>
          </a:p>
          <a:p>
            <a:r>
              <a:rPr lang="ja-JP" altLang="en-US" sz="2400" dirty="0"/>
              <a:t>フォルダ内を右クリックして、</a:t>
            </a:r>
            <a:endParaRPr lang="en-US" altLang="ja-JP" sz="2400" dirty="0"/>
          </a:p>
          <a:p>
            <a:r>
              <a:rPr lang="ja-JP" altLang="en-US" sz="2400" dirty="0"/>
              <a:t>「</a:t>
            </a:r>
            <a:r>
              <a:rPr lang="en-US" altLang="ja-JP" sz="2400" b="1" dirty="0">
                <a:solidFill>
                  <a:srgbClr val="FF0000"/>
                </a:solidFill>
              </a:rPr>
              <a:t>Tortoise Git</a:t>
            </a:r>
            <a:r>
              <a:rPr lang="ja-JP" altLang="en-US" sz="2400" b="1" dirty="0">
                <a:solidFill>
                  <a:srgbClr val="FF0000"/>
                </a:solidFill>
              </a:rPr>
              <a:t>　＞　</a:t>
            </a:r>
            <a:r>
              <a:rPr lang="en-US" altLang="ja-JP" sz="2400" b="1" dirty="0">
                <a:solidFill>
                  <a:srgbClr val="FF0000"/>
                </a:solidFill>
              </a:rPr>
              <a:t>Switch/Checkout</a:t>
            </a:r>
            <a:r>
              <a:rPr lang="ja-JP" altLang="en-US" sz="2400" dirty="0"/>
              <a:t>」を選択します。</a:t>
            </a:r>
            <a:endParaRPr lang="en-US" altLang="ja-JP" sz="2400" dirty="0"/>
          </a:p>
        </p:txBody>
      </p:sp>
      <p:pic>
        <p:nvPicPr>
          <p:cNvPr id="5" name="図 4">
            <a:extLst>
              <a:ext uri="{FF2B5EF4-FFF2-40B4-BE49-F238E27FC236}">
                <a16:creationId xmlns:a16="http://schemas.microsoft.com/office/drawing/2014/main" id="{2A412597-AAB3-4337-B2F2-BC6AF664E181}"/>
              </a:ext>
            </a:extLst>
          </p:cNvPr>
          <p:cNvPicPr>
            <a:picLocks noChangeAspect="1"/>
          </p:cNvPicPr>
          <p:nvPr/>
        </p:nvPicPr>
        <p:blipFill>
          <a:blip r:embed="rId2"/>
          <a:stretch>
            <a:fillRect/>
          </a:stretch>
        </p:blipFill>
        <p:spPr>
          <a:xfrm>
            <a:off x="567542" y="2556458"/>
            <a:ext cx="9723734" cy="3154060"/>
          </a:xfrm>
          <a:prstGeom prst="rect">
            <a:avLst/>
          </a:prstGeom>
        </p:spPr>
      </p:pic>
      <p:sp>
        <p:nvSpPr>
          <p:cNvPr id="9" name="矢印: 右 8">
            <a:extLst>
              <a:ext uri="{FF2B5EF4-FFF2-40B4-BE49-F238E27FC236}">
                <a16:creationId xmlns:a16="http://schemas.microsoft.com/office/drawing/2014/main" id="{54A649DF-0496-4192-92A3-74D7AEC7A97F}"/>
              </a:ext>
            </a:extLst>
          </p:cNvPr>
          <p:cNvSpPr/>
          <p:nvPr/>
        </p:nvSpPr>
        <p:spPr>
          <a:xfrm rot="13224477">
            <a:off x="8093449" y="5337946"/>
            <a:ext cx="502023" cy="32273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8814647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59054" cy="584775"/>
          </a:xfrm>
          <a:prstGeom prst="rect">
            <a:avLst/>
          </a:prstGeom>
          <a:noFill/>
        </p:spPr>
        <p:txBody>
          <a:bodyPr wrap="none" rtlCol="0">
            <a:spAutoFit/>
          </a:bodyPr>
          <a:lstStyle/>
          <a:p>
            <a:r>
              <a:rPr kumimoji="1" lang="en-US" altLang="ja-JP" sz="3200" b="1" u="sng" dirty="0"/>
              <a:t>Merge</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955750" cy="461665"/>
          </a:xfrm>
          <a:prstGeom prst="rect">
            <a:avLst/>
          </a:prstGeom>
          <a:noFill/>
        </p:spPr>
        <p:txBody>
          <a:bodyPr wrap="none" rtlCol="0">
            <a:spAutoFit/>
          </a:bodyPr>
          <a:lstStyle/>
          <a:p>
            <a:r>
              <a:rPr lang="ja-JP" altLang="en-US" sz="2400" dirty="0"/>
              <a:t>一番上の項目に切り替えるブランチを設定します</a:t>
            </a:r>
            <a:endParaRPr lang="en-US" altLang="ja-JP" sz="2400" dirty="0"/>
          </a:p>
        </p:txBody>
      </p:sp>
      <p:pic>
        <p:nvPicPr>
          <p:cNvPr id="8" name="図 7">
            <a:extLst>
              <a:ext uri="{FF2B5EF4-FFF2-40B4-BE49-F238E27FC236}">
                <a16:creationId xmlns:a16="http://schemas.microsoft.com/office/drawing/2014/main" id="{2EC330A3-0EA3-4358-8571-86416654D0A4}"/>
              </a:ext>
            </a:extLst>
          </p:cNvPr>
          <p:cNvPicPr>
            <a:picLocks noChangeAspect="1"/>
          </p:cNvPicPr>
          <p:nvPr/>
        </p:nvPicPr>
        <p:blipFill>
          <a:blip r:embed="rId2"/>
          <a:stretch>
            <a:fillRect/>
          </a:stretch>
        </p:blipFill>
        <p:spPr>
          <a:xfrm>
            <a:off x="567542" y="1817793"/>
            <a:ext cx="6283848" cy="4134771"/>
          </a:xfrm>
          <a:prstGeom prst="rect">
            <a:avLst/>
          </a:prstGeom>
        </p:spPr>
      </p:pic>
      <p:sp>
        <p:nvSpPr>
          <p:cNvPr id="10" name="矢印: 右 9">
            <a:extLst>
              <a:ext uri="{FF2B5EF4-FFF2-40B4-BE49-F238E27FC236}">
                <a16:creationId xmlns:a16="http://schemas.microsoft.com/office/drawing/2014/main" id="{EBA3E000-B1BA-4A92-8554-4926C262142C}"/>
              </a:ext>
            </a:extLst>
          </p:cNvPr>
          <p:cNvSpPr/>
          <p:nvPr/>
        </p:nvSpPr>
        <p:spPr>
          <a:xfrm rot="13224477">
            <a:off x="2902884" y="2523029"/>
            <a:ext cx="502023" cy="32273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9528556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59054" cy="584775"/>
          </a:xfrm>
          <a:prstGeom prst="rect">
            <a:avLst/>
          </a:prstGeom>
          <a:noFill/>
        </p:spPr>
        <p:txBody>
          <a:bodyPr wrap="none" rtlCol="0">
            <a:spAutoFit/>
          </a:bodyPr>
          <a:lstStyle/>
          <a:p>
            <a:r>
              <a:rPr kumimoji="1" lang="en-US" altLang="ja-JP" sz="3200" b="1" u="sng" dirty="0"/>
              <a:t>Merge</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038052" cy="461665"/>
          </a:xfrm>
          <a:prstGeom prst="rect">
            <a:avLst/>
          </a:prstGeom>
          <a:noFill/>
        </p:spPr>
        <p:txBody>
          <a:bodyPr wrap="none" rtlCol="0">
            <a:spAutoFit/>
          </a:bodyPr>
          <a:lstStyle/>
          <a:p>
            <a:r>
              <a:rPr lang="ja-JP" altLang="en-US" sz="2400" dirty="0"/>
              <a:t>最新を</a:t>
            </a:r>
            <a:r>
              <a:rPr lang="en-US" altLang="ja-JP" sz="2400" dirty="0"/>
              <a:t>Pull</a:t>
            </a:r>
            <a:r>
              <a:rPr lang="ja-JP" altLang="en-US" sz="2400" dirty="0"/>
              <a:t>してファイルが書き換わっているか確認しましょう。</a:t>
            </a:r>
            <a:endParaRPr lang="en-US" altLang="ja-JP" sz="2400" dirty="0"/>
          </a:p>
        </p:txBody>
      </p:sp>
      <p:pic>
        <p:nvPicPr>
          <p:cNvPr id="3" name="図 2">
            <a:extLst>
              <a:ext uri="{FF2B5EF4-FFF2-40B4-BE49-F238E27FC236}">
                <a16:creationId xmlns:a16="http://schemas.microsoft.com/office/drawing/2014/main" id="{C398A21B-385C-495D-864D-7D4AAA854D80}"/>
              </a:ext>
            </a:extLst>
          </p:cNvPr>
          <p:cNvPicPr>
            <a:picLocks noChangeAspect="1"/>
          </p:cNvPicPr>
          <p:nvPr/>
        </p:nvPicPr>
        <p:blipFill>
          <a:blip r:embed="rId2"/>
          <a:stretch>
            <a:fillRect/>
          </a:stretch>
        </p:blipFill>
        <p:spPr>
          <a:xfrm>
            <a:off x="567542" y="1817794"/>
            <a:ext cx="3276914" cy="2879712"/>
          </a:xfrm>
          <a:prstGeom prst="rect">
            <a:avLst/>
          </a:prstGeom>
        </p:spPr>
      </p:pic>
    </p:spTree>
    <p:extLst>
      <p:ext uri="{BB962C8B-B14F-4D97-AF65-F5344CB8AC3E}">
        <p14:creationId xmlns:p14="http://schemas.microsoft.com/office/powerpoint/2010/main" val="22409474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15772" cy="584775"/>
          </a:xfrm>
          <a:prstGeom prst="rect">
            <a:avLst/>
          </a:prstGeom>
          <a:noFill/>
        </p:spPr>
        <p:txBody>
          <a:bodyPr wrap="none" rtlCol="0">
            <a:spAutoFit/>
          </a:bodyPr>
          <a:lstStyle/>
          <a:p>
            <a:r>
              <a:rPr kumimoji="1" lang="ja-JP" altLang="en-US" sz="3200" b="1" u="sng" dirty="0"/>
              <a:t>まとめ</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341293" cy="5262979"/>
          </a:xfrm>
          <a:prstGeom prst="rect">
            <a:avLst/>
          </a:prstGeom>
          <a:noFill/>
        </p:spPr>
        <p:txBody>
          <a:bodyPr wrap="none" rtlCol="0">
            <a:spAutoFit/>
          </a:bodyPr>
          <a:lstStyle/>
          <a:p>
            <a:r>
              <a:rPr lang="ja-JP" altLang="en-US" sz="2400" dirty="0"/>
              <a:t>最後にプルリクエストを使ったタスク作業の流れを簡潔にまとめます。</a:t>
            </a:r>
            <a:endParaRPr lang="en-US" altLang="ja-JP" sz="2400" dirty="0"/>
          </a:p>
          <a:p>
            <a:endParaRPr lang="en-US" altLang="ja-JP" sz="2400" dirty="0"/>
          </a:p>
          <a:p>
            <a:r>
              <a:rPr lang="ja-JP" altLang="en-US" sz="2400" b="1" dirty="0">
                <a:solidFill>
                  <a:srgbClr val="FF0000"/>
                </a:solidFill>
              </a:rPr>
              <a:t>■作業の流れ</a:t>
            </a:r>
            <a:endParaRPr lang="en-US" altLang="ja-JP" sz="2400" b="1" dirty="0">
              <a:solidFill>
                <a:srgbClr val="FF0000"/>
              </a:solidFill>
            </a:endParaRPr>
          </a:p>
          <a:p>
            <a:r>
              <a:rPr lang="ja-JP" altLang="en-US" sz="2400" dirty="0"/>
              <a:t>１．各メンバーに作業タスクを割り当てる</a:t>
            </a:r>
            <a:endParaRPr lang="en-US" altLang="ja-JP" sz="2400" dirty="0"/>
          </a:p>
          <a:p>
            <a:endParaRPr lang="en-US" altLang="ja-JP" sz="2400" dirty="0"/>
          </a:p>
          <a:p>
            <a:r>
              <a:rPr lang="ja-JP" altLang="en-US" sz="2400" dirty="0"/>
              <a:t>２．各メンバーは作業用のブランチを</a:t>
            </a:r>
            <a:r>
              <a:rPr lang="en-US" altLang="ja-JP" sz="2400" dirty="0"/>
              <a:t>master</a:t>
            </a:r>
            <a:r>
              <a:rPr lang="ja-JP" altLang="en-US" sz="2400" dirty="0"/>
              <a:t>から作成する</a:t>
            </a:r>
            <a:endParaRPr lang="en-US" altLang="ja-JP" sz="2400" dirty="0"/>
          </a:p>
          <a:p>
            <a:endParaRPr lang="en-US" altLang="ja-JP" sz="2400" dirty="0"/>
          </a:p>
          <a:p>
            <a:r>
              <a:rPr lang="ja-JP" altLang="en-US" sz="2400" dirty="0"/>
              <a:t>３．それぞれ実装作業をする</a:t>
            </a:r>
            <a:endParaRPr lang="en-US" altLang="ja-JP" sz="2400" dirty="0"/>
          </a:p>
          <a:p>
            <a:endParaRPr lang="en-US" altLang="ja-JP" sz="2400" dirty="0"/>
          </a:p>
          <a:p>
            <a:r>
              <a:rPr lang="ja-JP" altLang="en-US" sz="2400" dirty="0"/>
              <a:t>４．出来上がったらプルリクエストを作成する</a:t>
            </a:r>
            <a:endParaRPr lang="en-US" altLang="ja-JP" sz="2400" dirty="0"/>
          </a:p>
          <a:p>
            <a:endParaRPr lang="en-US" altLang="ja-JP" sz="2400" dirty="0"/>
          </a:p>
          <a:p>
            <a:r>
              <a:rPr lang="ja-JP" altLang="en-US" sz="2400" dirty="0"/>
              <a:t>５．</a:t>
            </a:r>
            <a:r>
              <a:rPr lang="ja-JP" altLang="en-US" sz="2400"/>
              <a:t>プルリクエストを各メンバーで確認</a:t>
            </a:r>
            <a:r>
              <a:rPr lang="ja-JP" altLang="en-US" sz="2400" dirty="0"/>
              <a:t>してレビューする</a:t>
            </a:r>
            <a:endParaRPr lang="en-US" altLang="ja-JP" sz="2400" dirty="0"/>
          </a:p>
          <a:p>
            <a:endParaRPr lang="en-US" altLang="ja-JP" sz="2400" dirty="0"/>
          </a:p>
          <a:p>
            <a:r>
              <a:rPr lang="ja-JP" altLang="en-US" sz="2400" dirty="0"/>
              <a:t>６．問題なければ</a:t>
            </a:r>
            <a:r>
              <a:rPr lang="en-US" altLang="ja-JP" sz="2400" dirty="0"/>
              <a:t>master</a:t>
            </a:r>
            <a:r>
              <a:rPr lang="ja-JP" altLang="en-US" sz="2400" dirty="0"/>
              <a:t>にマージする</a:t>
            </a:r>
            <a:endParaRPr lang="en-US" altLang="ja-JP" sz="2400" dirty="0"/>
          </a:p>
        </p:txBody>
      </p:sp>
    </p:spTree>
    <p:extLst>
      <p:ext uri="{BB962C8B-B14F-4D97-AF65-F5344CB8AC3E}">
        <p14:creationId xmlns:p14="http://schemas.microsoft.com/office/powerpoint/2010/main" val="195402718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861</TotalTime>
  <Words>519</Words>
  <Application>Microsoft Office PowerPoint</Application>
  <PresentationFormat>ワイド画面</PresentationFormat>
  <Paragraphs>81</Paragraphs>
  <Slides>16</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16</vt:i4>
      </vt:variant>
    </vt:vector>
  </HeadingPairs>
  <TitlesOfParts>
    <vt:vector size="20"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北九州校　ゲーム</cp:lastModifiedBy>
  <cp:revision>83</cp:revision>
  <dcterms:created xsi:type="dcterms:W3CDTF">2024-08-27T02:15:54Z</dcterms:created>
  <dcterms:modified xsi:type="dcterms:W3CDTF">2025-05-15T03:31:21Z</dcterms:modified>
</cp:coreProperties>
</file>