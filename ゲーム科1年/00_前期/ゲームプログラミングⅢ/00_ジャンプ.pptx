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プレイヤーをジャンプさせるプログラムを練習します。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EEFBAB2-73E9-4E2C-BFD8-E89C9DDA9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6214585" cy="469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5060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ジャンプさせるには</a:t>
            </a:r>
            <a:r>
              <a:rPr lang="en-US" altLang="ja-JP" sz="2400" dirty="0"/>
              <a:t>2</a:t>
            </a:r>
            <a:r>
              <a:rPr lang="ja-JP" altLang="en-US" sz="2400" dirty="0"/>
              <a:t>つのパラメータが必要になります。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■必要なパラメータ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・ジャンプ力</a:t>
            </a:r>
            <a:endParaRPr kumimoji="1" lang="en-US" altLang="ja-JP" sz="2400" dirty="0"/>
          </a:p>
          <a:p>
            <a:r>
              <a:rPr lang="ja-JP" altLang="en-US" sz="2400" dirty="0"/>
              <a:t>・重力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まずは仕組みを解説します。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9187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ジャンプ力（</a:t>
            </a:r>
            <a:r>
              <a:rPr lang="en-US" altLang="ja-JP" sz="2400" dirty="0"/>
              <a:t>5</a:t>
            </a:r>
            <a:r>
              <a:rPr lang="ja-JP" altLang="en-US" sz="2400" dirty="0"/>
              <a:t>）</a:t>
            </a:r>
            <a:r>
              <a:rPr lang="en-US" altLang="ja-JP" sz="2400" dirty="0"/>
              <a:t>, </a:t>
            </a:r>
            <a:r>
              <a:rPr lang="ja-JP" altLang="en-US" sz="2400" dirty="0"/>
              <a:t>重力</a:t>
            </a:r>
            <a:r>
              <a:rPr lang="en-US" altLang="ja-JP" sz="2400" dirty="0"/>
              <a:t>(1)</a:t>
            </a:r>
            <a:r>
              <a:rPr lang="ja-JP" altLang="en-US" sz="2400" dirty="0"/>
              <a:t>とします。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ジャンプした瞬間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ジャンプ力の分だけ上昇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198589-4F10-4170-BFF9-B32992C8C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14" y="3706009"/>
            <a:ext cx="1770192" cy="1770192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EBC1642-EC16-4F44-92CC-88C6A6AB7AB9}"/>
              </a:ext>
            </a:extLst>
          </p:cNvPr>
          <p:cNvGrpSpPr/>
          <p:nvPr/>
        </p:nvGrpSpPr>
        <p:grpSpPr>
          <a:xfrm>
            <a:off x="1443710" y="5476201"/>
            <a:ext cx="356188" cy="976049"/>
            <a:chOff x="1443710" y="5476201"/>
            <a:chExt cx="356188" cy="976049"/>
          </a:xfrm>
        </p:grpSpPr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D77B2A53-9A2E-4BAF-9DAB-A172C7DE12C8}"/>
                </a:ext>
              </a:extLst>
            </p:cNvPr>
            <p:cNvCxnSpPr>
              <a:cxnSpLocks/>
              <a:endCxn id="3" idx="2"/>
            </p:cNvCxnSpPr>
            <p:nvPr/>
          </p:nvCxnSpPr>
          <p:spPr>
            <a:xfrm flipV="1">
              <a:off x="1443710" y="5476201"/>
              <a:ext cx="0" cy="976049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A1A5C3A-695F-4D52-BF36-30EFD65C666A}"/>
                </a:ext>
              </a:extLst>
            </p:cNvPr>
            <p:cNvSpPr txBox="1"/>
            <p:nvPr/>
          </p:nvSpPr>
          <p:spPr>
            <a:xfrm>
              <a:off x="1443710" y="582803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5</a:t>
              </a:r>
              <a:endParaRPr kumimoji="1"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5519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次のフレームから</a:t>
            </a:r>
            <a:r>
              <a:rPr lang="ja-JP" altLang="en-US" sz="2400" b="1" dirty="0">
                <a:solidFill>
                  <a:srgbClr val="FF0000"/>
                </a:solidFill>
              </a:rPr>
              <a:t>重力の分だけ弱くなった力で上昇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CB2C886-3AC4-4C31-ACF5-280EFEEC0159}"/>
              </a:ext>
            </a:extLst>
          </p:cNvPr>
          <p:cNvGrpSpPr/>
          <p:nvPr/>
        </p:nvGrpSpPr>
        <p:grpSpPr>
          <a:xfrm>
            <a:off x="558614" y="3706009"/>
            <a:ext cx="1770192" cy="2746241"/>
            <a:chOff x="558614" y="3706009"/>
            <a:chExt cx="1770192" cy="2746241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6E198589-4F10-4170-BFF9-B32992C8C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706009"/>
              <a:ext cx="1770192" cy="1770192"/>
            </a:xfrm>
            <a:prstGeom prst="rect">
              <a:avLst/>
            </a:prstGeom>
          </p:spPr>
        </p:pic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EBC1642-EC16-4F44-92CC-88C6A6AB7AB9}"/>
                </a:ext>
              </a:extLst>
            </p:cNvPr>
            <p:cNvGrpSpPr/>
            <p:nvPr/>
          </p:nvGrpSpPr>
          <p:grpSpPr>
            <a:xfrm>
              <a:off x="1443710" y="5476201"/>
              <a:ext cx="356188" cy="976049"/>
              <a:chOff x="1443710" y="5476201"/>
              <a:chExt cx="356188" cy="976049"/>
            </a:xfrm>
          </p:grpSpPr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D77B2A53-9A2E-4BAF-9DAB-A172C7DE12C8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>
              <a:xfrm flipV="1">
                <a:off x="1443710" y="5476201"/>
                <a:ext cx="0" cy="976049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6A1A5C3A-695F-4D52-BF36-30EFD65C666A}"/>
                  </a:ext>
                </a:extLst>
              </p:cNvPr>
              <p:cNvSpPr txBox="1"/>
              <p:nvPr/>
            </p:nvSpPr>
            <p:spPr>
              <a:xfrm>
                <a:off x="1443710" y="5828037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5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6A2F9CC-1BF4-4FAF-A01F-5AEC2616F42A}"/>
              </a:ext>
            </a:extLst>
          </p:cNvPr>
          <p:cNvGrpSpPr/>
          <p:nvPr/>
        </p:nvGrpSpPr>
        <p:grpSpPr>
          <a:xfrm>
            <a:off x="1616799" y="2943566"/>
            <a:ext cx="1770192" cy="2556955"/>
            <a:chOff x="558614" y="3895296"/>
            <a:chExt cx="1770192" cy="2556955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83B9060-6F95-4695-9437-C2B8B6EFE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895296"/>
              <a:ext cx="1770192" cy="1770192"/>
            </a:xfrm>
            <a:prstGeom prst="rect">
              <a:avLst/>
            </a:prstGeom>
          </p:spPr>
        </p:pic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F8049F04-82FA-4679-9E8A-32AE02DA199F}"/>
                </a:ext>
              </a:extLst>
            </p:cNvPr>
            <p:cNvGrpSpPr/>
            <p:nvPr/>
          </p:nvGrpSpPr>
          <p:grpSpPr>
            <a:xfrm>
              <a:off x="1443710" y="5689100"/>
              <a:ext cx="364681" cy="763151"/>
              <a:chOff x="1443710" y="5689100"/>
              <a:chExt cx="364681" cy="763151"/>
            </a:xfrm>
          </p:grpSpPr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2371E529-2D78-4385-BDBA-57207F20BB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689100"/>
                <a:ext cx="0" cy="763151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7941723-F4ED-4283-858B-E3DF3F9853F3}"/>
                  </a:ext>
                </a:extLst>
              </p:cNvPr>
              <p:cNvSpPr txBox="1"/>
              <p:nvPr/>
            </p:nvSpPr>
            <p:spPr>
              <a:xfrm>
                <a:off x="1452203" y="5966266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4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064C85B-E02B-4965-B768-867B874C9729}"/>
              </a:ext>
            </a:extLst>
          </p:cNvPr>
          <p:cNvGrpSpPr/>
          <p:nvPr/>
        </p:nvGrpSpPr>
        <p:grpSpPr>
          <a:xfrm>
            <a:off x="2810059" y="2151551"/>
            <a:ext cx="1770192" cy="2510467"/>
            <a:chOff x="558614" y="4012697"/>
            <a:chExt cx="1770192" cy="2510467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2010A48A-0AD0-4A2D-A1A8-61D7E3EB2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0F72BEBB-9E83-4E60-96A6-275073B48F93}"/>
                </a:ext>
              </a:extLst>
            </p:cNvPr>
            <p:cNvGrpSpPr/>
            <p:nvPr/>
          </p:nvGrpSpPr>
          <p:grpSpPr>
            <a:xfrm>
              <a:off x="1443710" y="5828037"/>
              <a:ext cx="356188" cy="695127"/>
              <a:chOff x="1443710" y="5828037"/>
              <a:chExt cx="356188" cy="695127"/>
            </a:xfrm>
          </p:grpSpPr>
          <p:cxnSp>
            <p:nvCxnSpPr>
              <p:cNvPr id="23" name="直線矢印コネクタ 22">
                <a:extLst>
                  <a:ext uri="{FF2B5EF4-FFF2-40B4-BE49-F238E27FC236}">
                    <a16:creationId xmlns:a16="http://schemas.microsoft.com/office/drawing/2014/main" id="{1EC581EA-40CE-42D7-9FA1-FF08C4AD0C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828037"/>
                <a:ext cx="0" cy="624215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36DB3C3-32AE-4096-A380-3DEB61EC42FC}"/>
                  </a:ext>
                </a:extLst>
              </p:cNvPr>
              <p:cNvSpPr txBox="1"/>
              <p:nvPr/>
            </p:nvSpPr>
            <p:spPr>
              <a:xfrm>
                <a:off x="1443710" y="606149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</a:t>
                </a:r>
                <a:endParaRPr kumimoji="1" lang="en-US" altLang="ja-JP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7477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16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弱くなっていく</a:t>
            </a:r>
            <a:r>
              <a:rPr lang="ja-JP" altLang="en-US" sz="2400" b="1" dirty="0">
                <a:solidFill>
                  <a:srgbClr val="FF0000"/>
                </a:solidFill>
              </a:rPr>
              <a:t>上昇力はやがて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になります。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CB2C886-3AC4-4C31-ACF5-280EFEEC0159}"/>
              </a:ext>
            </a:extLst>
          </p:cNvPr>
          <p:cNvGrpSpPr/>
          <p:nvPr/>
        </p:nvGrpSpPr>
        <p:grpSpPr>
          <a:xfrm>
            <a:off x="558614" y="3706009"/>
            <a:ext cx="1770192" cy="2986621"/>
            <a:chOff x="558614" y="3706009"/>
            <a:chExt cx="1770192" cy="2986621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6E198589-4F10-4170-BFF9-B32992C8C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706009"/>
              <a:ext cx="1770192" cy="1770192"/>
            </a:xfrm>
            <a:prstGeom prst="rect">
              <a:avLst/>
            </a:prstGeom>
          </p:spPr>
        </p:pic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EBC1642-EC16-4F44-92CC-88C6A6AB7AB9}"/>
                </a:ext>
              </a:extLst>
            </p:cNvPr>
            <p:cNvGrpSpPr/>
            <p:nvPr/>
          </p:nvGrpSpPr>
          <p:grpSpPr>
            <a:xfrm>
              <a:off x="1443710" y="5476201"/>
              <a:ext cx="356188" cy="1216429"/>
              <a:chOff x="1443710" y="5476201"/>
              <a:chExt cx="356188" cy="1216429"/>
            </a:xfrm>
          </p:grpSpPr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D77B2A53-9A2E-4BAF-9DAB-A172C7DE12C8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>
              <a:xfrm flipV="1">
                <a:off x="1443710" y="5476201"/>
                <a:ext cx="0" cy="1216429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6A1A5C3A-695F-4D52-BF36-30EFD65C666A}"/>
                  </a:ext>
                </a:extLst>
              </p:cNvPr>
              <p:cNvSpPr txBox="1"/>
              <p:nvPr/>
            </p:nvSpPr>
            <p:spPr>
              <a:xfrm>
                <a:off x="1443710" y="5828037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5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6A2F9CC-1BF4-4FAF-A01F-5AEC2616F42A}"/>
              </a:ext>
            </a:extLst>
          </p:cNvPr>
          <p:cNvGrpSpPr/>
          <p:nvPr/>
        </p:nvGrpSpPr>
        <p:grpSpPr>
          <a:xfrm>
            <a:off x="1616799" y="2943566"/>
            <a:ext cx="1770192" cy="2698005"/>
            <a:chOff x="558614" y="3895296"/>
            <a:chExt cx="1770192" cy="2698005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83B9060-6F95-4695-9437-C2B8B6EFE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895296"/>
              <a:ext cx="1770192" cy="1770192"/>
            </a:xfrm>
            <a:prstGeom prst="rect">
              <a:avLst/>
            </a:prstGeom>
          </p:spPr>
        </p:pic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F8049F04-82FA-4679-9E8A-32AE02DA199F}"/>
                </a:ext>
              </a:extLst>
            </p:cNvPr>
            <p:cNvGrpSpPr/>
            <p:nvPr/>
          </p:nvGrpSpPr>
          <p:grpSpPr>
            <a:xfrm>
              <a:off x="1443710" y="5689101"/>
              <a:ext cx="364681" cy="904200"/>
              <a:chOff x="1443710" y="5689101"/>
              <a:chExt cx="364681" cy="904200"/>
            </a:xfrm>
          </p:grpSpPr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2371E529-2D78-4385-BDBA-57207F20BB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689101"/>
                <a:ext cx="1" cy="904200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7941723-F4ED-4283-858B-E3DF3F9853F3}"/>
                  </a:ext>
                </a:extLst>
              </p:cNvPr>
              <p:cNvSpPr txBox="1"/>
              <p:nvPr/>
            </p:nvSpPr>
            <p:spPr>
              <a:xfrm>
                <a:off x="1452203" y="5966266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4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064C85B-E02B-4965-B768-867B874C9729}"/>
              </a:ext>
            </a:extLst>
          </p:cNvPr>
          <p:cNvGrpSpPr/>
          <p:nvPr/>
        </p:nvGrpSpPr>
        <p:grpSpPr>
          <a:xfrm>
            <a:off x="2810059" y="2151551"/>
            <a:ext cx="1770192" cy="2510467"/>
            <a:chOff x="558614" y="4012697"/>
            <a:chExt cx="1770192" cy="2510467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2010A48A-0AD0-4A2D-A1A8-61D7E3EB2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0F72BEBB-9E83-4E60-96A6-275073B48F93}"/>
                </a:ext>
              </a:extLst>
            </p:cNvPr>
            <p:cNvGrpSpPr/>
            <p:nvPr/>
          </p:nvGrpSpPr>
          <p:grpSpPr>
            <a:xfrm>
              <a:off x="1443710" y="5828038"/>
              <a:ext cx="356188" cy="695126"/>
              <a:chOff x="1443710" y="5828038"/>
              <a:chExt cx="356188" cy="695126"/>
            </a:xfrm>
          </p:grpSpPr>
          <p:cxnSp>
            <p:nvCxnSpPr>
              <p:cNvPr id="23" name="直線矢印コネクタ 22">
                <a:extLst>
                  <a:ext uri="{FF2B5EF4-FFF2-40B4-BE49-F238E27FC236}">
                    <a16:creationId xmlns:a16="http://schemas.microsoft.com/office/drawing/2014/main" id="{1EC581EA-40CE-42D7-9FA1-FF08C4AD0C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828038"/>
                <a:ext cx="0" cy="695126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36DB3C3-32AE-4096-A380-3DEB61EC42FC}"/>
                  </a:ext>
                </a:extLst>
              </p:cNvPr>
              <p:cNvSpPr txBox="1"/>
              <p:nvPr/>
            </p:nvSpPr>
            <p:spPr>
              <a:xfrm>
                <a:off x="1443710" y="606149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</a:t>
                </a:r>
                <a:endParaRPr kumimoji="1" lang="en-US" altLang="ja-JP" sz="2400" dirty="0"/>
              </a:p>
            </p:txBody>
          </p:sp>
        </p:grp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09325A6-6534-472E-8207-79D712FBF259}"/>
              </a:ext>
            </a:extLst>
          </p:cNvPr>
          <p:cNvSpPr txBox="1"/>
          <p:nvPr/>
        </p:nvSpPr>
        <p:spPr>
          <a:xfrm>
            <a:off x="4289992" y="347249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・・・</a:t>
            </a:r>
            <a:endParaRPr kumimoji="1" lang="en-US" altLang="ja-JP" sz="2400" dirty="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F7DADEC-DDB0-43DF-A720-C7C10E9AAA10}"/>
              </a:ext>
            </a:extLst>
          </p:cNvPr>
          <p:cNvGrpSpPr/>
          <p:nvPr/>
        </p:nvGrpSpPr>
        <p:grpSpPr>
          <a:xfrm>
            <a:off x="5193608" y="1411276"/>
            <a:ext cx="1770192" cy="2146539"/>
            <a:chOff x="558614" y="4012697"/>
            <a:chExt cx="1770192" cy="2146539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5CAC0F16-7BB1-46E0-AC45-1776E92E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4784A4B-82CF-4F41-B5F9-6E6AAABA394E}"/>
                </a:ext>
              </a:extLst>
            </p:cNvPr>
            <p:cNvSpPr txBox="1"/>
            <p:nvPr/>
          </p:nvSpPr>
          <p:spPr>
            <a:xfrm>
              <a:off x="1087522" y="569757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0</a:t>
              </a:r>
              <a:endParaRPr kumimoji="1" lang="en-US" altLang="ja-JP" sz="2400" dirty="0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2D7544B-60F5-4CE6-8DF4-D9F982C2BA7E}"/>
              </a:ext>
            </a:extLst>
          </p:cNvPr>
          <p:cNvSpPr txBox="1"/>
          <p:nvPr/>
        </p:nvSpPr>
        <p:spPr>
          <a:xfrm>
            <a:off x="6113298" y="276596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b="1" dirty="0">
                <a:solidFill>
                  <a:srgbClr val="FF0000"/>
                </a:solidFill>
              </a:rPr>
              <a:t>この位置がジャンプの頂点になります。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93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重力はかかり続けるので、ここからは</a:t>
            </a:r>
            <a:r>
              <a:rPr lang="ja-JP" altLang="en-US" sz="2400" b="1" dirty="0">
                <a:solidFill>
                  <a:srgbClr val="FF0000"/>
                </a:solidFill>
              </a:rPr>
              <a:t>落下</a:t>
            </a:r>
            <a:r>
              <a:rPr lang="ja-JP" altLang="en-US" sz="2400" dirty="0"/>
              <a:t>が始まります。</a:t>
            </a:r>
            <a:endParaRPr kumimoji="1"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CB2C886-3AC4-4C31-ACF5-280EFEEC0159}"/>
              </a:ext>
            </a:extLst>
          </p:cNvPr>
          <p:cNvGrpSpPr/>
          <p:nvPr/>
        </p:nvGrpSpPr>
        <p:grpSpPr>
          <a:xfrm>
            <a:off x="558614" y="3706009"/>
            <a:ext cx="1770192" cy="2986621"/>
            <a:chOff x="558614" y="3706009"/>
            <a:chExt cx="1770192" cy="2986621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6E198589-4F10-4170-BFF9-B32992C8C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706009"/>
              <a:ext cx="1770192" cy="1770192"/>
            </a:xfrm>
            <a:prstGeom prst="rect">
              <a:avLst/>
            </a:prstGeom>
          </p:spPr>
        </p:pic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EBC1642-EC16-4F44-92CC-88C6A6AB7AB9}"/>
                </a:ext>
              </a:extLst>
            </p:cNvPr>
            <p:cNvGrpSpPr/>
            <p:nvPr/>
          </p:nvGrpSpPr>
          <p:grpSpPr>
            <a:xfrm>
              <a:off x="1443710" y="5476201"/>
              <a:ext cx="356188" cy="1216429"/>
              <a:chOff x="1443710" y="5476201"/>
              <a:chExt cx="356188" cy="1216429"/>
            </a:xfrm>
          </p:grpSpPr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D77B2A53-9A2E-4BAF-9DAB-A172C7DE12C8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>
              <a:xfrm flipV="1">
                <a:off x="1443710" y="5476201"/>
                <a:ext cx="0" cy="1216429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6A1A5C3A-695F-4D52-BF36-30EFD65C666A}"/>
                  </a:ext>
                </a:extLst>
              </p:cNvPr>
              <p:cNvSpPr txBox="1"/>
              <p:nvPr/>
            </p:nvSpPr>
            <p:spPr>
              <a:xfrm>
                <a:off x="1443710" y="5828037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5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6A2F9CC-1BF4-4FAF-A01F-5AEC2616F42A}"/>
              </a:ext>
            </a:extLst>
          </p:cNvPr>
          <p:cNvGrpSpPr/>
          <p:nvPr/>
        </p:nvGrpSpPr>
        <p:grpSpPr>
          <a:xfrm>
            <a:off x="1616799" y="2943566"/>
            <a:ext cx="1770192" cy="2698005"/>
            <a:chOff x="558614" y="3895296"/>
            <a:chExt cx="1770192" cy="2698005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83B9060-6F95-4695-9437-C2B8B6EFE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895296"/>
              <a:ext cx="1770192" cy="1770192"/>
            </a:xfrm>
            <a:prstGeom prst="rect">
              <a:avLst/>
            </a:prstGeom>
          </p:spPr>
        </p:pic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F8049F04-82FA-4679-9E8A-32AE02DA199F}"/>
                </a:ext>
              </a:extLst>
            </p:cNvPr>
            <p:cNvGrpSpPr/>
            <p:nvPr/>
          </p:nvGrpSpPr>
          <p:grpSpPr>
            <a:xfrm>
              <a:off x="1443710" y="5689101"/>
              <a:ext cx="364681" cy="904200"/>
              <a:chOff x="1443710" y="5689101"/>
              <a:chExt cx="364681" cy="904200"/>
            </a:xfrm>
          </p:grpSpPr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2371E529-2D78-4385-BDBA-57207F20BB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689101"/>
                <a:ext cx="1" cy="904200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7941723-F4ED-4283-858B-E3DF3F9853F3}"/>
                  </a:ext>
                </a:extLst>
              </p:cNvPr>
              <p:cNvSpPr txBox="1"/>
              <p:nvPr/>
            </p:nvSpPr>
            <p:spPr>
              <a:xfrm>
                <a:off x="1452203" y="5966266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4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064C85B-E02B-4965-B768-867B874C9729}"/>
              </a:ext>
            </a:extLst>
          </p:cNvPr>
          <p:cNvGrpSpPr/>
          <p:nvPr/>
        </p:nvGrpSpPr>
        <p:grpSpPr>
          <a:xfrm>
            <a:off x="2810059" y="2151551"/>
            <a:ext cx="1770192" cy="2510467"/>
            <a:chOff x="558614" y="4012697"/>
            <a:chExt cx="1770192" cy="2510467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2010A48A-0AD0-4A2D-A1A8-61D7E3EB2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0F72BEBB-9E83-4E60-96A6-275073B48F93}"/>
                </a:ext>
              </a:extLst>
            </p:cNvPr>
            <p:cNvGrpSpPr/>
            <p:nvPr/>
          </p:nvGrpSpPr>
          <p:grpSpPr>
            <a:xfrm>
              <a:off x="1443710" y="5828038"/>
              <a:ext cx="356188" cy="695126"/>
              <a:chOff x="1443710" y="5828038"/>
              <a:chExt cx="356188" cy="695126"/>
            </a:xfrm>
          </p:grpSpPr>
          <p:cxnSp>
            <p:nvCxnSpPr>
              <p:cNvPr id="23" name="直線矢印コネクタ 22">
                <a:extLst>
                  <a:ext uri="{FF2B5EF4-FFF2-40B4-BE49-F238E27FC236}">
                    <a16:creationId xmlns:a16="http://schemas.microsoft.com/office/drawing/2014/main" id="{1EC581EA-40CE-42D7-9FA1-FF08C4AD0C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828038"/>
                <a:ext cx="0" cy="695126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36DB3C3-32AE-4096-A380-3DEB61EC42FC}"/>
                  </a:ext>
                </a:extLst>
              </p:cNvPr>
              <p:cNvSpPr txBox="1"/>
              <p:nvPr/>
            </p:nvSpPr>
            <p:spPr>
              <a:xfrm>
                <a:off x="1443710" y="606149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</a:t>
                </a:r>
                <a:endParaRPr kumimoji="1" lang="en-US" altLang="ja-JP" sz="2400" dirty="0"/>
              </a:p>
            </p:txBody>
          </p:sp>
        </p:grp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09325A6-6534-472E-8207-79D712FBF259}"/>
              </a:ext>
            </a:extLst>
          </p:cNvPr>
          <p:cNvSpPr txBox="1"/>
          <p:nvPr/>
        </p:nvSpPr>
        <p:spPr>
          <a:xfrm>
            <a:off x="4289992" y="347249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・・・</a:t>
            </a:r>
            <a:endParaRPr kumimoji="1" lang="en-US" altLang="ja-JP" sz="2400" dirty="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F7DADEC-DDB0-43DF-A720-C7C10E9AAA10}"/>
              </a:ext>
            </a:extLst>
          </p:cNvPr>
          <p:cNvGrpSpPr/>
          <p:nvPr/>
        </p:nvGrpSpPr>
        <p:grpSpPr>
          <a:xfrm>
            <a:off x="5193608" y="1411276"/>
            <a:ext cx="1770192" cy="2146539"/>
            <a:chOff x="558614" y="4012697"/>
            <a:chExt cx="1770192" cy="2146539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5CAC0F16-7BB1-46E0-AC45-1776E92E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4784A4B-82CF-4F41-B5F9-6E6AAABA394E}"/>
                </a:ext>
              </a:extLst>
            </p:cNvPr>
            <p:cNvSpPr txBox="1"/>
            <p:nvPr/>
          </p:nvSpPr>
          <p:spPr>
            <a:xfrm>
              <a:off x="1087522" y="569757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0</a:t>
              </a:r>
              <a:endParaRPr kumimoji="1" lang="en-US" altLang="ja-JP" sz="2400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52C1A3A-B9D4-4446-A5FE-3851085672AA}"/>
              </a:ext>
            </a:extLst>
          </p:cNvPr>
          <p:cNvGrpSpPr/>
          <p:nvPr/>
        </p:nvGrpSpPr>
        <p:grpSpPr>
          <a:xfrm>
            <a:off x="6300989" y="1682123"/>
            <a:ext cx="1770192" cy="2106524"/>
            <a:chOff x="558614" y="4012697"/>
            <a:chExt cx="1770192" cy="2106524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74229605-9DFC-4EFC-A7B7-47ED919B5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CC0A7FE-F801-4369-86F1-7271A1AD8A1B}"/>
                </a:ext>
              </a:extLst>
            </p:cNvPr>
            <p:cNvSpPr txBox="1"/>
            <p:nvPr/>
          </p:nvSpPr>
          <p:spPr>
            <a:xfrm>
              <a:off x="1348848" y="5657556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1</a:t>
              </a:r>
              <a:endParaRPr kumimoji="1" lang="en-US" altLang="ja-JP" sz="2400" dirty="0"/>
            </a:p>
          </p:txBody>
        </p:sp>
      </p:grp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BBB53C32-A2D4-44ED-AB6B-3E5043708750}"/>
              </a:ext>
            </a:extLst>
          </p:cNvPr>
          <p:cNvCxnSpPr>
            <a:cxnSpLocks/>
          </p:cNvCxnSpPr>
          <p:nvPr/>
        </p:nvCxnSpPr>
        <p:spPr>
          <a:xfrm>
            <a:off x="6963800" y="3406952"/>
            <a:ext cx="0" cy="3819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9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落下力は重力の強さの分、次第に強くなります。</a:t>
            </a:r>
            <a:endParaRPr kumimoji="1"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CB2C886-3AC4-4C31-ACF5-280EFEEC0159}"/>
              </a:ext>
            </a:extLst>
          </p:cNvPr>
          <p:cNvGrpSpPr/>
          <p:nvPr/>
        </p:nvGrpSpPr>
        <p:grpSpPr>
          <a:xfrm>
            <a:off x="558614" y="3706009"/>
            <a:ext cx="1770192" cy="2986621"/>
            <a:chOff x="558614" y="3706009"/>
            <a:chExt cx="1770192" cy="2986621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6E198589-4F10-4170-BFF9-B32992C8C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706009"/>
              <a:ext cx="1770192" cy="1770192"/>
            </a:xfrm>
            <a:prstGeom prst="rect">
              <a:avLst/>
            </a:prstGeom>
          </p:spPr>
        </p:pic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EBC1642-EC16-4F44-92CC-88C6A6AB7AB9}"/>
                </a:ext>
              </a:extLst>
            </p:cNvPr>
            <p:cNvGrpSpPr/>
            <p:nvPr/>
          </p:nvGrpSpPr>
          <p:grpSpPr>
            <a:xfrm>
              <a:off x="1443710" y="5476201"/>
              <a:ext cx="356188" cy="1216429"/>
              <a:chOff x="1443710" y="5476201"/>
              <a:chExt cx="356188" cy="1216429"/>
            </a:xfrm>
          </p:grpSpPr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D77B2A53-9A2E-4BAF-9DAB-A172C7DE12C8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>
              <a:xfrm flipV="1">
                <a:off x="1443710" y="5476201"/>
                <a:ext cx="0" cy="1216429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6A1A5C3A-695F-4D52-BF36-30EFD65C666A}"/>
                  </a:ext>
                </a:extLst>
              </p:cNvPr>
              <p:cNvSpPr txBox="1"/>
              <p:nvPr/>
            </p:nvSpPr>
            <p:spPr>
              <a:xfrm>
                <a:off x="1443710" y="5828037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5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6A2F9CC-1BF4-4FAF-A01F-5AEC2616F42A}"/>
              </a:ext>
            </a:extLst>
          </p:cNvPr>
          <p:cNvGrpSpPr/>
          <p:nvPr/>
        </p:nvGrpSpPr>
        <p:grpSpPr>
          <a:xfrm>
            <a:off x="1616799" y="2943566"/>
            <a:ext cx="1770192" cy="2698005"/>
            <a:chOff x="558614" y="3895296"/>
            <a:chExt cx="1770192" cy="2698005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83B9060-6F95-4695-9437-C2B8B6EFE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3895296"/>
              <a:ext cx="1770192" cy="1770192"/>
            </a:xfrm>
            <a:prstGeom prst="rect">
              <a:avLst/>
            </a:prstGeom>
          </p:spPr>
        </p:pic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F8049F04-82FA-4679-9E8A-32AE02DA199F}"/>
                </a:ext>
              </a:extLst>
            </p:cNvPr>
            <p:cNvGrpSpPr/>
            <p:nvPr/>
          </p:nvGrpSpPr>
          <p:grpSpPr>
            <a:xfrm>
              <a:off x="1443710" y="5689101"/>
              <a:ext cx="364681" cy="904200"/>
              <a:chOff x="1443710" y="5689101"/>
              <a:chExt cx="364681" cy="904200"/>
            </a:xfrm>
          </p:grpSpPr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2371E529-2D78-4385-BDBA-57207F20BB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689101"/>
                <a:ext cx="1" cy="904200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7941723-F4ED-4283-858B-E3DF3F9853F3}"/>
                  </a:ext>
                </a:extLst>
              </p:cNvPr>
              <p:cNvSpPr txBox="1"/>
              <p:nvPr/>
            </p:nvSpPr>
            <p:spPr>
              <a:xfrm>
                <a:off x="1452203" y="5966266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4</a:t>
                </a:r>
                <a:endParaRPr kumimoji="1" lang="en-US" altLang="ja-JP" sz="2400" dirty="0"/>
              </a:p>
            </p:txBody>
          </p:sp>
        </p:grp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064C85B-E02B-4965-B768-867B874C9729}"/>
              </a:ext>
            </a:extLst>
          </p:cNvPr>
          <p:cNvGrpSpPr/>
          <p:nvPr/>
        </p:nvGrpSpPr>
        <p:grpSpPr>
          <a:xfrm>
            <a:off x="2810059" y="2151551"/>
            <a:ext cx="1770192" cy="2585820"/>
            <a:chOff x="558614" y="4012697"/>
            <a:chExt cx="1770192" cy="2585820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2010A48A-0AD0-4A2D-A1A8-61D7E3EB2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0F72BEBB-9E83-4E60-96A6-275073B48F93}"/>
                </a:ext>
              </a:extLst>
            </p:cNvPr>
            <p:cNvGrpSpPr/>
            <p:nvPr/>
          </p:nvGrpSpPr>
          <p:grpSpPr>
            <a:xfrm>
              <a:off x="1443710" y="5828038"/>
              <a:ext cx="356188" cy="770479"/>
              <a:chOff x="1443710" y="5828038"/>
              <a:chExt cx="356188" cy="770479"/>
            </a:xfrm>
          </p:grpSpPr>
          <p:cxnSp>
            <p:nvCxnSpPr>
              <p:cNvPr id="23" name="直線矢印コネクタ 22">
                <a:extLst>
                  <a:ext uri="{FF2B5EF4-FFF2-40B4-BE49-F238E27FC236}">
                    <a16:creationId xmlns:a16="http://schemas.microsoft.com/office/drawing/2014/main" id="{1EC581EA-40CE-42D7-9FA1-FF08C4AD0C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3710" y="5828038"/>
                <a:ext cx="0" cy="770479"/>
              </a:xfrm>
              <a:prstGeom prst="straightConnector1">
                <a:avLst/>
              </a:prstGeom>
              <a:ln w="762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36DB3C3-32AE-4096-A380-3DEB61EC42FC}"/>
                  </a:ext>
                </a:extLst>
              </p:cNvPr>
              <p:cNvSpPr txBox="1"/>
              <p:nvPr/>
            </p:nvSpPr>
            <p:spPr>
              <a:xfrm>
                <a:off x="1443710" y="606149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</a:t>
                </a:r>
                <a:endParaRPr kumimoji="1" lang="en-US" altLang="ja-JP" sz="2400" dirty="0"/>
              </a:p>
            </p:txBody>
          </p:sp>
        </p:grp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09325A6-6534-472E-8207-79D712FBF259}"/>
              </a:ext>
            </a:extLst>
          </p:cNvPr>
          <p:cNvSpPr txBox="1"/>
          <p:nvPr/>
        </p:nvSpPr>
        <p:spPr>
          <a:xfrm>
            <a:off x="4289992" y="347249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・・・</a:t>
            </a:r>
            <a:endParaRPr kumimoji="1" lang="en-US" altLang="ja-JP" sz="2400" dirty="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F7DADEC-DDB0-43DF-A720-C7C10E9AAA10}"/>
              </a:ext>
            </a:extLst>
          </p:cNvPr>
          <p:cNvGrpSpPr/>
          <p:nvPr/>
        </p:nvGrpSpPr>
        <p:grpSpPr>
          <a:xfrm>
            <a:off x="5193608" y="1411276"/>
            <a:ext cx="1770192" cy="2146539"/>
            <a:chOff x="558614" y="4012697"/>
            <a:chExt cx="1770192" cy="2146539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5CAC0F16-7BB1-46E0-AC45-1776E92E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4" y="4012697"/>
              <a:ext cx="1770192" cy="1770192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4784A4B-82CF-4F41-B5F9-6E6AAABA394E}"/>
                </a:ext>
              </a:extLst>
            </p:cNvPr>
            <p:cNvSpPr txBox="1"/>
            <p:nvPr/>
          </p:nvSpPr>
          <p:spPr>
            <a:xfrm>
              <a:off x="1087522" y="569757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0</a:t>
              </a:r>
              <a:endParaRPr kumimoji="1" lang="en-US" altLang="ja-JP" sz="2400" dirty="0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A9DD0B-A19F-4A95-A48B-CE61357983D1}"/>
              </a:ext>
            </a:extLst>
          </p:cNvPr>
          <p:cNvGrpSpPr/>
          <p:nvPr/>
        </p:nvGrpSpPr>
        <p:grpSpPr>
          <a:xfrm>
            <a:off x="6963800" y="3326982"/>
            <a:ext cx="483611" cy="461945"/>
            <a:chOff x="6963800" y="3326982"/>
            <a:chExt cx="483611" cy="461945"/>
          </a:xfrm>
        </p:grpSpPr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CC0A7FE-F801-4369-86F1-7271A1AD8A1B}"/>
                </a:ext>
              </a:extLst>
            </p:cNvPr>
            <p:cNvSpPr txBox="1"/>
            <p:nvPr/>
          </p:nvSpPr>
          <p:spPr>
            <a:xfrm>
              <a:off x="7091223" y="332698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1</a:t>
              </a:r>
              <a:endParaRPr kumimoji="1" lang="en-US" altLang="ja-JP" sz="2400" dirty="0"/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BBB53C32-A2D4-44ED-AB6B-3E5043708750}"/>
                </a:ext>
              </a:extLst>
            </p:cNvPr>
            <p:cNvCxnSpPr>
              <a:cxnSpLocks/>
            </p:cNvCxnSpPr>
            <p:nvPr/>
          </p:nvCxnSpPr>
          <p:spPr>
            <a:xfrm>
              <a:off x="6963800" y="3406952"/>
              <a:ext cx="0" cy="38197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949466B-828D-470D-AFF3-E8D99858CB51}"/>
              </a:ext>
            </a:extLst>
          </p:cNvPr>
          <p:cNvGrpSpPr/>
          <p:nvPr/>
        </p:nvGrpSpPr>
        <p:grpSpPr>
          <a:xfrm>
            <a:off x="7976318" y="3842905"/>
            <a:ext cx="483611" cy="588280"/>
            <a:chOff x="6963800" y="3326982"/>
            <a:chExt cx="483611" cy="588280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B03382B9-0717-4470-9BCB-69E5FF7078F1}"/>
                </a:ext>
              </a:extLst>
            </p:cNvPr>
            <p:cNvSpPr txBox="1"/>
            <p:nvPr/>
          </p:nvSpPr>
          <p:spPr>
            <a:xfrm>
              <a:off x="7091223" y="332698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2</a:t>
              </a:r>
              <a:endParaRPr kumimoji="1" lang="en-US" altLang="ja-JP" sz="2400" dirty="0"/>
            </a:p>
          </p:txBody>
        </p: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14AE8400-82FE-4CA2-9E36-D21B38C65118}"/>
                </a:ext>
              </a:extLst>
            </p:cNvPr>
            <p:cNvCxnSpPr>
              <a:cxnSpLocks/>
            </p:cNvCxnSpPr>
            <p:nvPr/>
          </p:nvCxnSpPr>
          <p:spPr>
            <a:xfrm>
              <a:off x="6963800" y="3406952"/>
              <a:ext cx="0" cy="50831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882FECF3-8E1C-424B-9550-1CB0DD5F8C62}"/>
              </a:ext>
            </a:extLst>
          </p:cNvPr>
          <p:cNvGrpSpPr/>
          <p:nvPr/>
        </p:nvGrpSpPr>
        <p:grpSpPr>
          <a:xfrm>
            <a:off x="8944646" y="5073859"/>
            <a:ext cx="483611" cy="782917"/>
            <a:chOff x="6963800" y="3326982"/>
            <a:chExt cx="483611" cy="782917"/>
          </a:xfrm>
        </p:grpSpPr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74782061-1F5E-46A2-8BBC-B654308BBCA0}"/>
                </a:ext>
              </a:extLst>
            </p:cNvPr>
            <p:cNvSpPr txBox="1"/>
            <p:nvPr/>
          </p:nvSpPr>
          <p:spPr>
            <a:xfrm>
              <a:off x="7091223" y="332698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3</a:t>
              </a:r>
              <a:endParaRPr kumimoji="1" lang="en-US" altLang="ja-JP" sz="2400" dirty="0"/>
            </a:p>
          </p:txBody>
        </p: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CEF00D22-87EB-4131-B796-5D35CCF6A14D}"/>
                </a:ext>
              </a:extLst>
            </p:cNvPr>
            <p:cNvCxnSpPr>
              <a:cxnSpLocks/>
            </p:cNvCxnSpPr>
            <p:nvPr/>
          </p:nvCxnSpPr>
          <p:spPr>
            <a:xfrm>
              <a:off x="6963800" y="3406952"/>
              <a:ext cx="0" cy="702947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図 42">
            <a:extLst>
              <a:ext uri="{FF2B5EF4-FFF2-40B4-BE49-F238E27FC236}">
                <a16:creationId xmlns:a16="http://schemas.microsoft.com/office/drawing/2014/main" id="{B1027E07-E377-4630-9E84-68281E97A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07" y="1734670"/>
            <a:ext cx="1857586" cy="1857586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B8101B31-15EA-452C-B93F-E0A4534E3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511" y="2275001"/>
            <a:ext cx="1857586" cy="1857586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C7501053-7D3C-4A4C-9BA0-E4F46406E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853" y="3472497"/>
            <a:ext cx="1857586" cy="185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8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これらのことからプログラムは以下の通りになります。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１．ジャンプするタイミングでジャンプ力を与える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２．常に重力を加える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この２つの処理だけで実現できます。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1940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05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Player.cpp</a:t>
            </a:r>
            <a:r>
              <a:rPr lang="ja-JP" altLang="en-US" sz="2400" dirty="0"/>
              <a:t>にジャンプ力と重力を定義しています。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E49415-6DC7-403B-B146-9FF7CD85C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22658"/>
            <a:ext cx="5896999" cy="125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4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Z</a:t>
            </a:r>
            <a:r>
              <a:rPr lang="ja-JP" altLang="en-US" sz="2400" dirty="0"/>
              <a:t>キーでジャンプさせます。</a:t>
            </a:r>
            <a:endParaRPr lang="en-US" altLang="ja-JP" sz="2400" dirty="0"/>
          </a:p>
          <a:p>
            <a:r>
              <a:rPr lang="ja-JP" altLang="en-US" sz="2400" dirty="0"/>
              <a:t>移動量にジャンプ力を与えるだけです。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4524109-C535-4429-A05B-C47D313EE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121107" cy="345444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B8604B1-40DE-4E8E-9EC4-7C51CCEB3586}"/>
              </a:ext>
            </a:extLst>
          </p:cNvPr>
          <p:cNvSpPr/>
          <p:nvPr/>
        </p:nvSpPr>
        <p:spPr>
          <a:xfrm>
            <a:off x="2042809" y="3881336"/>
            <a:ext cx="5768502" cy="16245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10C4CC-3F01-4EA4-B9CA-68A38223BBD9}"/>
              </a:ext>
            </a:extLst>
          </p:cNvPr>
          <p:cNvSpPr txBox="1"/>
          <p:nvPr/>
        </p:nvSpPr>
        <p:spPr>
          <a:xfrm>
            <a:off x="567542" y="5781271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ジャンプは上向きなのでマイナスです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あとは毎フレーム重力を加え続けます。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7DF5C98-D308-4F3B-8BD5-6EE7C74F5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001323" cy="364858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30F996A-5E19-492E-BD11-E0F8C97359FE}"/>
              </a:ext>
            </a:extLst>
          </p:cNvPr>
          <p:cNvSpPr/>
          <p:nvPr/>
        </p:nvSpPr>
        <p:spPr>
          <a:xfrm>
            <a:off x="1809345" y="4741527"/>
            <a:ext cx="3920246" cy="569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EB0F7A-C31D-4C73-81BF-66CF70A7E277}"/>
              </a:ext>
            </a:extLst>
          </p:cNvPr>
          <p:cNvSpPr txBox="1"/>
          <p:nvPr/>
        </p:nvSpPr>
        <p:spPr>
          <a:xfrm>
            <a:off x="567542" y="5781271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重力は下向きなのでプラスです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460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ジャンプ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動作確認してみましょう。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29E077F-6D08-40A7-996A-E0EA92BE6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6214585" cy="469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84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248</Words>
  <Application>Microsoft Office PowerPoint</Application>
  <PresentationFormat>ワイド画面</PresentationFormat>
  <Paragraphs>64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13</cp:revision>
  <dcterms:created xsi:type="dcterms:W3CDTF">2024-08-27T02:15:54Z</dcterms:created>
  <dcterms:modified xsi:type="dcterms:W3CDTF">2026-06-22T02:22:19Z</dcterms:modified>
</cp:coreProperties>
</file>