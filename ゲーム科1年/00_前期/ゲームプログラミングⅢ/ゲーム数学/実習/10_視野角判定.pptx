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4" r:id="rId8"/>
    <p:sldId id="265" r:id="rId9"/>
    <p:sldId id="266" r:id="rId10"/>
    <p:sldId id="267" r:id="rId11"/>
    <p:sldId id="262" r:id="rId12"/>
    <p:sldId id="268" r:id="rId1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2025/3/14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2025/3/14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2025/3/14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2025/3/14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視野角判定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8790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視野角度を指定した、正確な視野角判定を実装します。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F0B55D93-1E09-4A38-B2F1-FC0441A2B0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1817794"/>
            <a:ext cx="6615639" cy="4548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視野角判定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8932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SightMachine.cpp</a:t>
            </a:r>
            <a:r>
              <a:rPr kumimoji="1" lang="ja-JP" altLang="en-US" sz="2400" dirty="0"/>
              <a:t>の空欄を埋めて実装します。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74916BF3-3DFA-4C81-8F92-16F69A27DF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6806925" cy="450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001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視野角判定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5713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まずは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遠すぎるものを判定しない</a:t>
            </a:r>
            <a:r>
              <a:rPr kumimoji="1" lang="ja-JP" altLang="en-US" sz="2400" dirty="0"/>
              <a:t>ように、</a:t>
            </a:r>
            <a:endParaRPr kumimoji="1" lang="en-US" altLang="ja-JP" sz="2400" dirty="0"/>
          </a:p>
          <a:p>
            <a:r>
              <a:rPr kumimoji="1" lang="ja-JP" altLang="en-US" sz="2400" dirty="0"/>
              <a:t>一定の距離に近づいているかどうか判定しましょう。</a:t>
            </a:r>
            <a:endParaRPr kumimoji="1" lang="en-US" altLang="ja-JP" sz="2400" dirty="0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D3CDF1AF-0A39-48BF-BF0C-4033E5C1DC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5"/>
            <a:ext cx="9775944" cy="2952141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29CB2850-4575-4236-966F-9E5F8D1F7A5B}"/>
              </a:ext>
            </a:extLst>
          </p:cNvPr>
          <p:cNvSpPr txBox="1"/>
          <p:nvPr/>
        </p:nvSpPr>
        <p:spPr>
          <a:xfrm>
            <a:off x="567542" y="5278965"/>
            <a:ext cx="969688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※</a:t>
            </a:r>
            <a:r>
              <a:rPr kumimoji="1" lang="en-US" altLang="ja-JP" sz="2400" b="1" dirty="0" err="1">
                <a:solidFill>
                  <a:srgbClr val="0070C0"/>
                </a:solidFill>
              </a:rPr>
              <a:t>targetPos</a:t>
            </a:r>
            <a:r>
              <a:rPr kumimoji="1" lang="ja-JP" altLang="en-US" sz="2400" dirty="0"/>
              <a:t>にはプレイヤーの座標が渡されています。</a:t>
            </a:r>
            <a:endParaRPr kumimoji="1" lang="en-US" altLang="ja-JP" sz="2400" dirty="0"/>
          </a:p>
          <a:p>
            <a:r>
              <a:rPr lang="en-US" altLang="ja-JP" sz="2400" dirty="0"/>
              <a:t>※</a:t>
            </a:r>
            <a:r>
              <a:rPr lang="ja-JP" altLang="en-US" sz="2400" dirty="0"/>
              <a:t>判定距離は</a:t>
            </a:r>
            <a:r>
              <a:rPr lang="en-US" altLang="ja-JP" sz="2400" b="1" dirty="0">
                <a:solidFill>
                  <a:srgbClr val="7030A0"/>
                </a:solidFill>
              </a:rPr>
              <a:t>SIGHT_MACHINE_FOV_RANGE</a:t>
            </a:r>
            <a:r>
              <a:rPr lang="ja-JP" altLang="en-US" sz="2400" dirty="0"/>
              <a:t>で</a:t>
            </a:r>
            <a:r>
              <a:rPr lang="en-US" altLang="ja-JP" sz="2400" dirty="0"/>
              <a:t>200</a:t>
            </a:r>
            <a:r>
              <a:rPr lang="ja-JP" altLang="en-US" sz="2400" dirty="0"/>
              <a:t>としています。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166650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5846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視野角判定 仕組み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2635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視野角判定には３つのベクトルが必要になります。</a:t>
            </a:r>
            <a:endParaRPr kumimoji="1"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A6CA6E71-1755-4677-86B3-8009562964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6389" y="4631205"/>
            <a:ext cx="544265" cy="108853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EF181451-BD0B-49FC-A7D6-75A57F0241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536" y="3672951"/>
            <a:ext cx="720931" cy="720931"/>
          </a:xfrm>
          <a:prstGeom prst="rect">
            <a:avLst/>
          </a:prstGeom>
        </p:spPr>
      </p:pic>
      <p:sp>
        <p:nvSpPr>
          <p:cNvPr id="5" name="部分円 4">
            <a:extLst>
              <a:ext uri="{FF2B5EF4-FFF2-40B4-BE49-F238E27FC236}">
                <a16:creationId xmlns:a16="http://schemas.microsoft.com/office/drawing/2014/main" id="{E6EB77CC-532F-44BA-93D9-BAF9AD41226D}"/>
              </a:ext>
            </a:extLst>
          </p:cNvPr>
          <p:cNvSpPr/>
          <p:nvPr/>
        </p:nvSpPr>
        <p:spPr>
          <a:xfrm rot="9024398">
            <a:off x="-1315418" y="1333416"/>
            <a:ext cx="5400000" cy="5400000"/>
          </a:xfrm>
          <a:prstGeom prst="pie">
            <a:avLst>
              <a:gd name="adj1" fmla="val 10273235"/>
              <a:gd name="adj2" fmla="val 14667644"/>
            </a:avLst>
          </a:prstGeom>
          <a:solidFill>
            <a:srgbClr val="FF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41D64771-9E92-4E5D-8D2C-058B4DA587AA}"/>
              </a:ext>
            </a:extLst>
          </p:cNvPr>
          <p:cNvCxnSpPr>
            <a:cxnSpLocks/>
          </p:cNvCxnSpPr>
          <p:nvPr/>
        </p:nvCxnSpPr>
        <p:spPr>
          <a:xfrm>
            <a:off x="1571467" y="4140993"/>
            <a:ext cx="2053860" cy="57085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603DD444-9285-40C8-B1B1-68E9316976E1}"/>
              </a:ext>
            </a:extLst>
          </p:cNvPr>
          <p:cNvCxnSpPr>
            <a:cxnSpLocks/>
          </p:cNvCxnSpPr>
          <p:nvPr/>
        </p:nvCxnSpPr>
        <p:spPr>
          <a:xfrm>
            <a:off x="1568267" y="4033493"/>
            <a:ext cx="529474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2464F546-FF8D-4253-A40E-0B09B80B450B}"/>
              </a:ext>
            </a:extLst>
          </p:cNvPr>
          <p:cNvCxnSpPr>
            <a:cxnSpLocks/>
          </p:cNvCxnSpPr>
          <p:nvPr/>
        </p:nvCxnSpPr>
        <p:spPr>
          <a:xfrm flipV="1">
            <a:off x="1568267" y="2312894"/>
            <a:ext cx="1968122" cy="1604058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54FACF83-FC2D-4CC6-99D4-92E44BDF9253}"/>
              </a:ext>
            </a:extLst>
          </p:cNvPr>
          <p:cNvSpPr txBox="1"/>
          <p:nvPr/>
        </p:nvSpPr>
        <p:spPr>
          <a:xfrm>
            <a:off x="5511442" y="2888121"/>
            <a:ext cx="532068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■必要なベクトル</a:t>
            </a:r>
            <a:endParaRPr lang="en-US" altLang="ja-JP" sz="2400" dirty="0"/>
          </a:p>
          <a:p>
            <a:r>
              <a:rPr lang="en-US" altLang="ja-JP" sz="2400" b="1" dirty="0">
                <a:solidFill>
                  <a:srgbClr val="FF0000"/>
                </a:solidFill>
              </a:rPr>
              <a:t>A</a:t>
            </a:r>
            <a:r>
              <a:rPr lang="ja-JP" altLang="en-US" sz="2400" b="1" dirty="0">
                <a:solidFill>
                  <a:srgbClr val="FF0000"/>
                </a:solidFill>
              </a:rPr>
              <a:t>：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敵からターゲットまでのベクトル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lang="en-US" altLang="ja-JP" sz="2400" b="1" dirty="0">
                <a:solidFill>
                  <a:srgbClr val="00B050"/>
                </a:solidFill>
              </a:rPr>
              <a:t>B</a:t>
            </a:r>
            <a:r>
              <a:rPr lang="ja-JP" altLang="en-US" sz="2400" b="1" dirty="0">
                <a:solidFill>
                  <a:srgbClr val="00B050"/>
                </a:solidFill>
              </a:rPr>
              <a:t>：</a:t>
            </a:r>
            <a:r>
              <a:rPr kumimoji="1" lang="ja-JP" altLang="en-US" sz="2400" b="1" dirty="0">
                <a:solidFill>
                  <a:srgbClr val="00B050"/>
                </a:solidFill>
              </a:rPr>
              <a:t>向きベクトル</a:t>
            </a:r>
            <a:endParaRPr kumimoji="1" lang="en-US" altLang="ja-JP" sz="2400" b="1" dirty="0">
              <a:solidFill>
                <a:srgbClr val="00B050"/>
              </a:solidFill>
            </a:endParaRPr>
          </a:p>
          <a:p>
            <a:r>
              <a:rPr lang="en-US" altLang="ja-JP" sz="2400" b="1" dirty="0">
                <a:solidFill>
                  <a:srgbClr val="0070C0"/>
                </a:solidFill>
              </a:rPr>
              <a:t>C</a:t>
            </a:r>
            <a:r>
              <a:rPr lang="ja-JP" altLang="en-US" sz="2400" b="1" dirty="0">
                <a:solidFill>
                  <a:srgbClr val="0070C0"/>
                </a:solidFill>
              </a:rPr>
              <a:t>：視野の端に沿ったベクトル</a:t>
            </a:r>
            <a:endParaRPr kumimoji="1" lang="en-US" altLang="ja-JP" sz="24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1107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5846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視野角判定 仕組み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5745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３つのベクトルを正規化して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長さを１に揃えます。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この時の</a:t>
            </a:r>
            <a:r>
              <a:rPr lang="en-US" altLang="ja-JP" sz="2400" b="1" dirty="0">
                <a:solidFill>
                  <a:srgbClr val="FF0000"/>
                </a:solidFill>
              </a:rPr>
              <a:t>A</a:t>
            </a:r>
            <a:r>
              <a:rPr lang="ja-JP" altLang="en-US" sz="2400" dirty="0"/>
              <a:t>と</a:t>
            </a:r>
            <a:r>
              <a:rPr lang="en-US" altLang="ja-JP" sz="2400" b="1" dirty="0">
                <a:solidFill>
                  <a:srgbClr val="0070C0"/>
                </a:solidFill>
              </a:rPr>
              <a:t>C</a:t>
            </a:r>
            <a:r>
              <a:rPr lang="ja-JP" altLang="en-US" sz="2400" dirty="0"/>
              <a:t>のベクトルを</a:t>
            </a:r>
            <a:r>
              <a:rPr lang="en-US" altLang="ja-JP" sz="2400" b="1" dirty="0">
                <a:solidFill>
                  <a:srgbClr val="00B050"/>
                </a:solidFill>
              </a:rPr>
              <a:t>B</a:t>
            </a:r>
            <a:r>
              <a:rPr lang="ja-JP" altLang="en-US" sz="2400" b="1" dirty="0">
                <a:solidFill>
                  <a:srgbClr val="00B050"/>
                </a:solidFill>
              </a:rPr>
              <a:t>ベクトル</a:t>
            </a:r>
            <a:r>
              <a:rPr lang="ja-JP" altLang="en-US" sz="2400" dirty="0"/>
              <a:t>に投影します。</a:t>
            </a:r>
            <a:endParaRPr kumimoji="1"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A6CA6E71-1755-4677-86B3-8009562964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6389" y="4631205"/>
            <a:ext cx="544265" cy="108853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EF181451-BD0B-49FC-A7D6-75A57F0241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536" y="3672951"/>
            <a:ext cx="720931" cy="720931"/>
          </a:xfrm>
          <a:prstGeom prst="rect">
            <a:avLst/>
          </a:prstGeom>
        </p:spPr>
      </p:pic>
      <p:sp>
        <p:nvSpPr>
          <p:cNvPr id="5" name="部分円 4">
            <a:extLst>
              <a:ext uri="{FF2B5EF4-FFF2-40B4-BE49-F238E27FC236}">
                <a16:creationId xmlns:a16="http://schemas.microsoft.com/office/drawing/2014/main" id="{E6EB77CC-532F-44BA-93D9-BAF9AD41226D}"/>
              </a:ext>
            </a:extLst>
          </p:cNvPr>
          <p:cNvSpPr/>
          <p:nvPr/>
        </p:nvSpPr>
        <p:spPr>
          <a:xfrm rot="9024398">
            <a:off x="-1315418" y="1333416"/>
            <a:ext cx="5400000" cy="5400000"/>
          </a:xfrm>
          <a:prstGeom prst="pie">
            <a:avLst>
              <a:gd name="adj1" fmla="val 10273235"/>
              <a:gd name="adj2" fmla="val 14667644"/>
            </a:avLst>
          </a:prstGeom>
          <a:solidFill>
            <a:srgbClr val="FF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41D64771-9E92-4E5D-8D2C-058B4DA587AA}"/>
              </a:ext>
            </a:extLst>
          </p:cNvPr>
          <p:cNvCxnSpPr>
            <a:cxnSpLocks/>
          </p:cNvCxnSpPr>
          <p:nvPr/>
        </p:nvCxnSpPr>
        <p:spPr>
          <a:xfrm>
            <a:off x="1571467" y="4140993"/>
            <a:ext cx="452066" cy="9234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603DD444-9285-40C8-B1B1-68E9316976E1}"/>
              </a:ext>
            </a:extLst>
          </p:cNvPr>
          <p:cNvCxnSpPr>
            <a:cxnSpLocks/>
          </p:cNvCxnSpPr>
          <p:nvPr/>
        </p:nvCxnSpPr>
        <p:spPr>
          <a:xfrm>
            <a:off x="1568267" y="4033493"/>
            <a:ext cx="529474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2464F546-FF8D-4253-A40E-0B09B80B450B}"/>
              </a:ext>
            </a:extLst>
          </p:cNvPr>
          <p:cNvCxnSpPr>
            <a:cxnSpLocks/>
          </p:cNvCxnSpPr>
          <p:nvPr/>
        </p:nvCxnSpPr>
        <p:spPr>
          <a:xfrm flipV="1">
            <a:off x="1568267" y="3606800"/>
            <a:ext cx="336733" cy="310153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9752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5846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視野角判定 仕組み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9242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ターゲットが視野角にいる場合は、</a:t>
            </a:r>
            <a:r>
              <a:rPr lang="en-US" altLang="ja-JP" sz="2400" b="1" dirty="0">
                <a:solidFill>
                  <a:srgbClr val="FF0000"/>
                </a:solidFill>
              </a:rPr>
              <a:t>A</a:t>
            </a:r>
            <a:r>
              <a:rPr lang="ja-JP" altLang="en-US" sz="2400" b="1" dirty="0"/>
              <a:t>・</a:t>
            </a:r>
            <a:r>
              <a:rPr lang="en-US" altLang="ja-JP" sz="2400" b="1" dirty="0">
                <a:solidFill>
                  <a:srgbClr val="00B050"/>
                </a:solidFill>
              </a:rPr>
              <a:t>B </a:t>
            </a:r>
            <a:r>
              <a:rPr lang="ja-JP" altLang="en-US" sz="2400" b="1" dirty="0"/>
              <a:t>≧</a:t>
            </a:r>
            <a:r>
              <a:rPr lang="ja-JP" altLang="en-US" sz="2400" b="1" dirty="0">
                <a:solidFill>
                  <a:srgbClr val="00B050"/>
                </a:solidFill>
              </a:rPr>
              <a:t> </a:t>
            </a:r>
            <a:r>
              <a:rPr lang="en-US" altLang="ja-JP" sz="2400" b="1" dirty="0">
                <a:solidFill>
                  <a:srgbClr val="0070C0"/>
                </a:solidFill>
              </a:rPr>
              <a:t>C</a:t>
            </a:r>
            <a:r>
              <a:rPr lang="ja-JP" altLang="en-US" sz="2400" b="1" dirty="0"/>
              <a:t>・</a:t>
            </a:r>
            <a:r>
              <a:rPr lang="en-US" altLang="ja-JP" sz="2400" b="1" dirty="0">
                <a:solidFill>
                  <a:srgbClr val="00B050"/>
                </a:solidFill>
              </a:rPr>
              <a:t>B</a:t>
            </a:r>
            <a:r>
              <a:rPr lang="ja-JP" altLang="en-US" sz="2400" dirty="0"/>
              <a:t>となります。</a:t>
            </a:r>
            <a:endParaRPr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A6CA6E71-1755-4677-86B3-8009562964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6389" y="4631205"/>
            <a:ext cx="544265" cy="108853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EF181451-BD0B-49FC-A7D6-75A57F0241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536" y="3672951"/>
            <a:ext cx="720931" cy="720931"/>
          </a:xfrm>
          <a:prstGeom prst="rect">
            <a:avLst/>
          </a:prstGeom>
        </p:spPr>
      </p:pic>
      <p:sp>
        <p:nvSpPr>
          <p:cNvPr id="5" name="部分円 4">
            <a:extLst>
              <a:ext uri="{FF2B5EF4-FFF2-40B4-BE49-F238E27FC236}">
                <a16:creationId xmlns:a16="http://schemas.microsoft.com/office/drawing/2014/main" id="{E6EB77CC-532F-44BA-93D9-BAF9AD41226D}"/>
              </a:ext>
            </a:extLst>
          </p:cNvPr>
          <p:cNvSpPr/>
          <p:nvPr/>
        </p:nvSpPr>
        <p:spPr>
          <a:xfrm rot="9024398">
            <a:off x="-1315418" y="1333416"/>
            <a:ext cx="5400000" cy="5400000"/>
          </a:xfrm>
          <a:prstGeom prst="pie">
            <a:avLst>
              <a:gd name="adj1" fmla="val 10273235"/>
              <a:gd name="adj2" fmla="val 14667644"/>
            </a:avLst>
          </a:prstGeom>
          <a:solidFill>
            <a:srgbClr val="FF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41D64771-9E92-4E5D-8D2C-058B4DA587AA}"/>
              </a:ext>
            </a:extLst>
          </p:cNvPr>
          <p:cNvCxnSpPr>
            <a:cxnSpLocks/>
          </p:cNvCxnSpPr>
          <p:nvPr/>
        </p:nvCxnSpPr>
        <p:spPr>
          <a:xfrm>
            <a:off x="1571467" y="4140993"/>
            <a:ext cx="452066" cy="9234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603DD444-9285-40C8-B1B1-68E9316976E1}"/>
              </a:ext>
            </a:extLst>
          </p:cNvPr>
          <p:cNvCxnSpPr>
            <a:cxnSpLocks/>
          </p:cNvCxnSpPr>
          <p:nvPr/>
        </p:nvCxnSpPr>
        <p:spPr>
          <a:xfrm>
            <a:off x="1568267" y="4033493"/>
            <a:ext cx="529474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2464F546-FF8D-4253-A40E-0B09B80B450B}"/>
              </a:ext>
            </a:extLst>
          </p:cNvPr>
          <p:cNvCxnSpPr>
            <a:cxnSpLocks/>
          </p:cNvCxnSpPr>
          <p:nvPr/>
        </p:nvCxnSpPr>
        <p:spPr>
          <a:xfrm flipV="1">
            <a:off x="1568267" y="3606800"/>
            <a:ext cx="336733" cy="310153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99991011-598B-4A14-A48C-EE712D3BED67}"/>
              </a:ext>
            </a:extLst>
          </p:cNvPr>
          <p:cNvCxnSpPr>
            <a:cxnSpLocks/>
          </p:cNvCxnSpPr>
          <p:nvPr/>
        </p:nvCxnSpPr>
        <p:spPr>
          <a:xfrm flipH="1">
            <a:off x="1905001" y="3606800"/>
            <a:ext cx="1" cy="1955800"/>
          </a:xfrm>
          <a:prstGeom prst="line">
            <a:avLst/>
          </a:prstGeom>
          <a:ln w="3810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508727D9-DA9B-48AB-ADD5-4B9F60CF6089}"/>
              </a:ext>
            </a:extLst>
          </p:cNvPr>
          <p:cNvCxnSpPr>
            <a:cxnSpLocks/>
          </p:cNvCxnSpPr>
          <p:nvPr/>
        </p:nvCxnSpPr>
        <p:spPr>
          <a:xfrm>
            <a:off x="2023533" y="3606800"/>
            <a:ext cx="0" cy="195580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72369D7F-AEEF-4008-8EF6-879833803713}"/>
              </a:ext>
            </a:extLst>
          </p:cNvPr>
          <p:cNvCxnSpPr>
            <a:cxnSpLocks/>
          </p:cNvCxnSpPr>
          <p:nvPr/>
        </p:nvCxnSpPr>
        <p:spPr>
          <a:xfrm flipH="1">
            <a:off x="1568267" y="6266208"/>
            <a:ext cx="764678" cy="0"/>
          </a:xfrm>
          <a:prstGeom prst="line">
            <a:avLst/>
          </a:prstGeom>
          <a:ln w="3810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EA1C36FB-3931-4F3B-BD18-3A10FB112D5D}"/>
              </a:ext>
            </a:extLst>
          </p:cNvPr>
          <p:cNvCxnSpPr>
            <a:cxnSpLocks/>
          </p:cNvCxnSpPr>
          <p:nvPr/>
        </p:nvCxnSpPr>
        <p:spPr>
          <a:xfrm flipH="1">
            <a:off x="1568267" y="5898795"/>
            <a:ext cx="764678" cy="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846E2391-7905-41CD-B76A-C355F8FD5545}"/>
              </a:ext>
            </a:extLst>
          </p:cNvPr>
          <p:cNvSpPr txBox="1"/>
          <p:nvPr/>
        </p:nvSpPr>
        <p:spPr>
          <a:xfrm>
            <a:off x="830565" y="5714129"/>
            <a:ext cx="737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b="1" dirty="0">
                <a:solidFill>
                  <a:srgbClr val="FF0000"/>
                </a:solidFill>
              </a:rPr>
              <a:t>A</a:t>
            </a:r>
            <a:r>
              <a:rPr lang="ja-JP" altLang="en-US" b="1" dirty="0"/>
              <a:t>・</a:t>
            </a:r>
            <a:r>
              <a:rPr lang="en-US" altLang="ja-JP" b="1" dirty="0">
                <a:solidFill>
                  <a:srgbClr val="00B050"/>
                </a:solidFill>
              </a:rPr>
              <a:t>B</a:t>
            </a:r>
            <a:endParaRPr kumimoji="1" lang="en-US" altLang="ja-JP" dirty="0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F253F70C-DD6A-43F5-B496-3148AE372269}"/>
              </a:ext>
            </a:extLst>
          </p:cNvPr>
          <p:cNvSpPr txBox="1"/>
          <p:nvPr/>
        </p:nvSpPr>
        <p:spPr>
          <a:xfrm>
            <a:off x="830565" y="6116356"/>
            <a:ext cx="737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b="1" dirty="0">
                <a:solidFill>
                  <a:srgbClr val="0070C0"/>
                </a:solidFill>
              </a:rPr>
              <a:t>C</a:t>
            </a:r>
            <a:r>
              <a:rPr lang="ja-JP" altLang="en-US" b="1" dirty="0"/>
              <a:t>・</a:t>
            </a:r>
            <a:r>
              <a:rPr lang="en-US" altLang="ja-JP" b="1" dirty="0">
                <a:solidFill>
                  <a:srgbClr val="00B050"/>
                </a:solidFill>
              </a:rPr>
              <a:t>B</a:t>
            </a:r>
            <a:endParaRPr kumimoji="1" lang="en-US" altLang="ja-JP" dirty="0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2CEBA607-23D7-4436-906F-7B669C344ABD}"/>
              </a:ext>
            </a:extLst>
          </p:cNvPr>
          <p:cNvSpPr txBox="1"/>
          <p:nvPr/>
        </p:nvSpPr>
        <p:spPr>
          <a:xfrm>
            <a:off x="6096000" y="5898795"/>
            <a:ext cx="44935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ただし問題点が１つあります。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69495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5846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視野角判定 仕組み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40807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0070C0"/>
                </a:solidFill>
              </a:rPr>
              <a:t>視野角に沿ったベクトル</a:t>
            </a:r>
            <a:r>
              <a:rPr lang="en-US" altLang="ja-JP" sz="2400" b="1" dirty="0">
                <a:solidFill>
                  <a:srgbClr val="0070C0"/>
                </a:solidFill>
              </a:rPr>
              <a:t>C</a:t>
            </a:r>
            <a:r>
              <a:rPr lang="ja-JP" altLang="en-US" sz="2400" dirty="0"/>
              <a:t>がいくつなのかが分かりません。</a:t>
            </a:r>
            <a:endParaRPr lang="en-US" altLang="ja-JP" sz="2400" dirty="0"/>
          </a:p>
          <a:p>
            <a:r>
              <a:rPr kumimoji="1" lang="ja-JP" altLang="en-US" sz="2400" dirty="0"/>
              <a:t>なので</a:t>
            </a:r>
            <a:r>
              <a:rPr lang="en-US" altLang="ja-JP" sz="2400" b="1" dirty="0">
                <a:solidFill>
                  <a:srgbClr val="0070C0"/>
                </a:solidFill>
              </a:rPr>
              <a:t>C</a:t>
            </a:r>
            <a:r>
              <a:rPr lang="ja-JP" altLang="en-US" sz="2400" b="1" dirty="0"/>
              <a:t>・</a:t>
            </a:r>
            <a:r>
              <a:rPr lang="en-US" altLang="ja-JP" sz="2400" b="1" dirty="0">
                <a:solidFill>
                  <a:srgbClr val="00B050"/>
                </a:solidFill>
              </a:rPr>
              <a:t>B</a:t>
            </a:r>
            <a:r>
              <a:rPr lang="ja-JP" altLang="en-US" sz="2400" dirty="0"/>
              <a:t>は</a:t>
            </a:r>
            <a:r>
              <a:rPr lang="ja-JP" altLang="en-US" sz="2400" b="1" dirty="0">
                <a:solidFill>
                  <a:srgbClr val="FF0000"/>
                </a:solidFill>
              </a:rPr>
              <a:t>もう一つの内積の計算</a:t>
            </a:r>
            <a:r>
              <a:rPr lang="ja-JP" altLang="en-US" sz="2400" dirty="0"/>
              <a:t>で求めます。</a:t>
            </a:r>
            <a:endParaRPr kumimoji="1"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A6CA6E71-1755-4677-86B3-8009562964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6389" y="4631205"/>
            <a:ext cx="544265" cy="108853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EF181451-BD0B-49FC-A7D6-75A57F0241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536" y="3672951"/>
            <a:ext cx="720931" cy="720931"/>
          </a:xfrm>
          <a:prstGeom prst="rect">
            <a:avLst/>
          </a:prstGeom>
        </p:spPr>
      </p:pic>
      <p:sp>
        <p:nvSpPr>
          <p:cNvPr id="5" name="部分円 4">
            <a:extLst>
              <a:ext uri="{FF2B5EF4-FFF2-40B4-BE49-F238E27FC236}">
                <a16:creationId xmlns:a16="http://schemas.microsoft.com/office/drawing/2014/main" id="{E6EB77CC-532F-44BA-93D9-BAF9AD41226D}"/>
              </a:ext>
            </a:extLst>
          </p:cNvPr>
          <p:cNvSpPr/>
          <p:nvPr/>
        </p:nvSpPr>
        <p:spPr>
          <a:xfrm rot="9024398">
            <a:off x="-1315418" y="1333416"/>
            <a:ext cx="5400000" cy="5400000"/>
          </a:xfrm>
          <a:prstGeom prst="pie">
            <a:avLst>
              <a:gd name="adj1" fmla="val 10273235"/>
              <a:gd name="adj2" fmla="val 14667644"/>
            </a:avLst>
          </a:prstGeom>
          <a:solidFill>
            <a:srgbClr val="FF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41D64771-9E92-4E5D-8D2C-058B4DA587AA}"/>
              </a:ext>
            </a:extLst>
          </p:cNvPr>
          <p:cNvCxnSpPr>
            <a:cxnSpLocks/>
          </p:cNvCxnSpPr>
          <p:nvPr/>
        </p:nvCxnSpPr>
        <p:spPr>
          <a:xfrm>
            <a:off x="1571467" y="4140993"/>
            <a:ext cx="2053860" cy="57085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603DD444-9285-40C8-B1B1-68E9316976E1}"/>
              </a:ext>
            </a:extLst>
          </p:cNvPr>
          <p:cNvCxnSpPr>
            <a:cxnSpLocks/>
          </p:cNvCxnSpPr>
          <p:nvPr/>
        </p:nvCxnSpPr>
        <p:spPr>
          <a:xfrm>
            <a:off x="1568267" y="4033493"/>
            <a:ext cx="529474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2464F546-FF8D-4253-A40E-0B09B80B450B}"/>
              </a:ext>
            </a:extLst>
          </p:cNvPr>
          <p:cNvCxnSpPr>
            <a:cxnSpLocks/>
          </p:cNvCxnSpPr>
          <p:nvPr/>
        </p:nvCxnSpPr>
        <p:spPr>
          <a:xfrm flipV="1">
            <a:off x="1568267" y="2312894"/>
            <a:ext cx="1968122" cy="1604058"/>
          </a:xfrm>
          <a:prstGeom prst="straightConnector1">
            <a:avLst/>
          </a:prstGeom>
          <a:ln w="762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1025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5846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視野角判定 仕組み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9110186" cy="26776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内積は以下の方法でも計算できます。</a:t>
                </a:r>
                <a:endParaRPr kumimoji="1" lang="en-US" altLang="ja-JP" sz="2400" dirty="0"/>
              </a:p>
              <a:p>
                <a:endParaRPr lang="en-US" altLang="ja-JP" sz="2400" dirty="0"/>
              </a:p>
              <a:p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■ベクトルの長さと</a:t>
                </a:r>
                <a14:m>
                  <m:oMath xmlns:m="http://schemas.openxmlformats.org/officeDocument/2006/math">
                    <m:r>
                      <a:rPr kumimoji="1"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𝒄𝒐𝒔</m:t>
                    </m:r>
                  </m:oMath>
                </a14:m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を使った内積</a:t>
                </a:r>
                <a:endParaRPr kumimoji="1"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ja-JP" altLang="en-US" sz="2400" b="0" i="1" dirty="0">
                        <a:latin typeface="Cambria Math" panose="02040503050406030204" pitchFamily="18" charset="0"/>
                      </a:rPr>
                      <m:t>ベクトル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kumimoji="1" lang="ja-JP" altLang="en-US" sz="2400" dirty="0"/>
                  <a:t>と</a:t>
                </a:r>
                <a14:m>
                  <m:oMath xmlns:m="http://schemas.openxmlformats.org/officeDocument/2006/math"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が</m:t>
                    </m:r>
                  </m:oMath>
                </a14:m>
                <a:r>
                  <a:rPr kumimoji="1" lang="ja-JP" altLang="en-US" sz="2400" dirty="0"/>
                  <a:t>なす角を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z="2400" i="1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kumimoji="1" lang="ja-JP" altLang="en-US" sz="2400" dirty="0"/>
                  <a:t>としたとき、</a:t>
                </a:r>
                <a:endParaRPr kumimoji="1"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ja-JP" alt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・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=||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||×||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||×</m:t>
                    </m:r>
                    <m:r>
                      <a:rPr lang="en-US" altLang="ja-JP" sz="24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𝐜𝐨𝐬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altLang="ja-JP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𝜽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ja-JP" sz="2400" b="1" dirty="0">
                    <a:solidFill>
                      <a:srgbClr val="FF0000"/>
                    </a:solidFill>
                  </a:rPr>
                  <a:t> </a:t>
                </a:r>
                <a:r>
                  <a:rPr kumimoji="1" lang="ja-JP" altLang="en-US" sz="2400" dirty="0"/>
                  <a:t>となる。</a:t>
                </a:r>
                <a:endParaRPr kumimoji="1" lang="en-US" altLang="ja-JP" sz="2400" dirty="0"/>
              </a:p>
              <a:p>
                <a:endParaRPr lang="en-US" altLang="ja-JP" sz="2400" dirty="0"/>
              </a:p>
              <a:p>
                <a:r>
                  <a:rPr kumimoji="1" lang="ja-JP" altLang="en-US" sz="2400" dirty="0"/>
                  <a:t>これで視野角に沿ったベクトルが分からなくても計算できます。</a:t>
                </a:r>
                <a:endParaRPr kumimoji="1"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9110186" cy="2677656"/>
              </a:xfrm>
              <a:prstGeom prst="rect">
                <a:avLst/>
              </a:prstGeom>
              <a:blipFill>
                <a:blip r:embed="rId2"/>
                <a:stretch>
                  <a:fillRect l="-1003" t="-1822" r="-67" b="-432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7374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5846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視野角判定 仕組み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75967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00B050"/>
                </a:solidFill>
              </a:rPr>
              <a:t>ベクトル</a:t>
            </a:r>
            <a:r>
              <a:rPr lang="en-US" altLang="ja-JP" sz="2400" b="1" dirty="0">
                <a:solidFill>
                  <a:srgbClr val="00B050"/>
                </a:solidFill>
              </a:rPr>
              <a:t>B</a:t>
            </a:r>
            <a:r>
              <a:rPr lang="ja-JP" altLang="en-US" sz="2400" dirty="0"/>
              <a:t>は</a:t>
            </a:r>
            <a:r>
              <a:rPr lang="ja-JP" altLang="en-US" sz="2400" b="1" dirty="0">
                <a:solidFill>
                  <a:srgbClr val="FF0000"/>
                </a:solidFill>
              </a:rPr>
              <a:t>視野角のちょうど真ん中にまっすぐ伸びています。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つまり</a:t>
            </a:r>
            <a:r>
              <a:rPr lang="ja-JP" altLang="en-US" sz="2400" b="1" dirty="0">
                <a:solidFill>
                  <a:srgbClr val="0070C0"/>
                </a:solidFill>
              </a:rPr>
              <a:t>ベクトル</a:t>
            </a:r>
            <a:r>
              <a:rPr lang="en-US" altLang="ja-JP" sz="2400" b="1" dirty="0">
                <a:solidFill>
                  <a:srgbClr val="0070C0"/>
                </a:solidFill>
              </a:rPr>
              <a:t>C</a:t>
            </a:r>
            <a:r>
              <a:rPr lang="ja-JP" altLang="en-US" sz="2400" dirty="0"/>
              <a:t>と</a:t>
            </a:r>
            <a:r>
              <a:rPr lang="ja-JP" altLang="en-US" sz="2400" b="1" dirty="0">
                <a:solidFill>
                  <a:srgbClr val="00B050"/>
                </a:solidFill>
              </a:rPr>
              <a:t>ベクトル</a:t>
            </a:r>
            <a:r>
              <a:rPr lang="en-US" altLang="ja-JP" sz="2400" b="1" dirty="0">
                <a:solidFill>
                  <a:srgbClr val="00B050"/>
                </a:solidFill>
              </a:rPr>
              <a:t>B</a:t>
            </a:r>
            <a:r>
              <a:rPr lang="ja-JP" altLang="en-US" sz="2400" dirty="0"/>
              <a:t>のなす角は、</a:t>
            </a:r>
            <a:r>
              <a:rPr lang="ja-JP" altLang="en-US" sz="2400" b="1" dirty="0">
                <a:solidFill>
                  <a:srgbClr val="FF0000"/>
                </a:solidFill>
              </a:rPr>
              <a:t>視野角の半分の大きさ</a:t>
            </a:r>
            <a:r>
              <a:rPr lang="ja-JP" altLang="en-US" sz="2400" dirty="0"/>
              <a:t>となります</a:t>
            </a:r>
            <a:endParaRPr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A6CA6E71-1755-4677-86B3-8009562964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6389" y="4631205"/>
            <a:ext cx="544265" cy="108853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EF181451-BD0B-49FC-A7D6-75A57F0241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536" y="3672951"/>
            <a:ext cx="720931" cy="720931"/>
          </a:xfrm>
          <a:prstGeom prst="rect">
            <a:avLst/>
          </a:prstGeom>
        </p:spPr>
      </p:pic>
      <p:sp>
        <p:nvSpPr>
          <p:cNvPr id="5" name="部分円 4">
            <a:extLst>
              <a:ext uri="{FF2B5EF4-FFF2-40B4-BE49-F238E27FC236}">
                <a16:creationId xmlns:a16="http://schemas.microsoft.com/office/drawing/2014/main" id="{E6EB77CC-532F-44BA-93D9-BAF9AD41226D}"/>
              </a:ext>
            </a:extLst>
          </p:cNvPr>
          <p:cNvSpPr/>
          <p:nvPr/>
        </p:nvSpPr>
        <p:spPr>
          <a:xfrm rot="9024398">
            <a:off x="-1315418" y="1333416"/>
            <a:ext cx="5400000" cy="5400000"/>
          </a:xfrm>
          <a:prstGeom prst="pie">
            <a:avLst>
              <a:gd name="adj1" fmla="val 10273235"/>
              <a:gd name="adj2" fmla="val 14667644"/>
            </a:avLst>
          </a:prstGeom>
          <a:solidFill>
            <a:srgbClr val="FF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603DD444-9285-40C8-B1B1-68E9316976E1}"/>
              </a:ext>
            </a:extLst>
          </p:cNvPr>
          <p:cNvCxnSpPr>
            <a:cxnSpLocks/>
          </p:cNvCxnSpPr>
          <p:nvPr/>
        </p:nvCxnSpPr>
        <p:spPr>
          <a:xfrm>
            <a:off x="1568267" y="4033493"/>
            <a:ext cx="529474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2464F546-FF8D-4253-A40E-0B09B80B450B}"/>
              </a:ext>
            </a:extLst>
          </p:cNvPr>
          <p:cNvCxnSpPr>
            <a:cxnSpLocks/>
          </p:cNvCxnSpPr>
          <p:nvPr/>
        </p:nvCxnSpPr>
        <p:spPr>
          <a:xfrm flipV="1">
            <a:off x="1568267" y="3606800"/>
            <a:ext cx="336733" cy="310153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円弧 1">
            <a:extLst>
              <a:ext uri="{FF2B5EF4-FFF2-40B4-BE49-F238E27FC236}">
                <a16:creationId xmlns:a16="http://schemas.microsoft.com/office/drawing/2014/main" id="{57BEAB52-6784-485C-A50E-088217DDD177}"/>
              </a:ext>
            </a:extLst>
          </p:cNvPr>
          <p:cNvSpPr/>
          <p:nvPr/>
        </p:nvSpPr>
        <p:spPr>
          <a:xfrm rot="1363339">
            <a:off x="1248368" y="3836158"/>
            <a:ext cx="529475" cy="720932"/>
          </a:xfrm>
          <a:prstGeom prst="arc">
            <a:avLst>
              <a:gd name="adj1" fmla="val 16200000"/>
              <a:gd name="adj2" fmla="val 18497746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87E244C2-95B4-4398-9B87-C72E667C23B1}"/>
              </a:ext>
            </a:extLst>
          </p:cNvPr>
          <p:cNvCxnSpPr/>
          <p:nvPr/>
        </p:nvCxnSpPr>
        <p:spPr>
          <a:xfrm>
            <a:off x="1568267" y="4033416"/>
            <a:ext cx="3901200" cy="0"/>
          </a:xfrm>
          <a:prstGeom prst="line">
            <a:avLst/>
          </a:prstGeom>
          <a:ln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78781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5846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視野角判定 仕組み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8685391" cy="30498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またベクトル</a:t>
                </a:r>
                <a:r>
                  <a:rPr lang="en-US" altLang="ja-JP" sz="2400" dirty="0"/>
                  <a:t>B,C</a:t>
                </a:r>
                <a:r>
                  <a:rPr lang="ja-JP" altLang="en-US" sz="2400" dirty="0"/>
                  <a:t>は共に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正規化</a:t>
                </a:r>
                <a:r>
                  <a:rPr lang="ja-JP" altLang="en-US" sz="2400" dirty="0"/>
                  <a:t>されているので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長さは１</a:t>
                </a:r>
                <a:r>
                  <a:rPr lang="ja-JP" altLang="en-US" sz="2400" dirty="0"/>
                  <a:t>です。</a:t>
                </a:r>
                <a:endParaRPr lang="en-US" altLang="ja-JP" sz="2400" dirty="0"/>
              </a:p>
              <a:p>
                <a:r>
                  <a:rPr lang="ja-JP" altLang="en-US" sz="2400" dirty="0"/>
                  <a:t>つまり以下のように計算できます。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z="2400" i="0">
                        <a:latin typeface="Cambria Math" panose="02040503050406030204" pitchFamily="18" charset="0"/>
                      </a:rPr>
                      <m:t>C</m:t>
                    </m:r>
                    <m:r>
                      <a:rPr lang="ja-JP" altLang="en-US" sz="2400" i="0">
                        <a:latin typeface="Cambria Math" panose="02040503050406030204" pitchFamily="18" charset="0"/>
                      </a:rPr>
                      <m:t>・</m:t>
                    </m:r>
                    <m:r>
                      <m:rPr>
                        <m:sty m:val="p"/>
                      </m:rPr>
                      <a:rPr lang="en-US" altLang="ja-JP" sz="2400" i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ja-JP" sz="2400" b="0" i="0" smtClean="0">
                        <a:latin typeface="Cambria Math" panose="02040503050406030204" pitchFamily="18" charset="0"/>
                      </a:rPr>
                      <m:t>=|</m:t>
                    </m:r>
                    <m:d>
                      <m:dPr>
                        <m:begChr m:val="|"/>
                        <m:endChr m:val="|"/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ja-JP" sz="2400" b="0" i="0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</m:d>
                    <m:r>
                      <a:rPr lang="en-US" altLang="ja-JP" sz="2400" b="0" i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ja-JP" sz="2400" i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ja-JP" sz="2400" b="0" i="0" smtClean="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|"/>
                        <m:endChr m:val="|"/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ja-JP" sz="2400" b="0" i="0" smtClean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d>
                    <m:r>
                      <a:rPr lang="en-US" altLang="ja-JP" sz="2400" b="0" i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ja-JP" sz="2400" i="0">
                        <a:latin typeface="Cambria Math" panose="02040503050406030204" pitchFamily="18" charset="0"/>
                      </a:rPr>
                      <m:t>×</m:t>
                    </m:r>
                    <m:func>
                      <m:func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24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en-US" sz="2400" i="0">
                                <a:latin typeface="Cambria Math" panose="02040503050406030204" pitchFamily="18" charset="0"/>
                              </a:rPr>
                              <m:t>視野角</m:t>
                            </m:r>
                            <m:r>
                              <a:rPr lang="en-US" altLang="ja-JP" sz="2400" i="0" smtClean="0">
                                <a:latin typeface="Cambria Math" panose="02040503050406030204" pitchFamily="18" charset="0"/>
                              </a:rPr>
                              <m:t>÷</m:t>
                            </m:r>
                            <m:r>
                              <a:rPr lang="en-US" altLang="ja-JP" sz="2400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e>
                    </m:func>
                  </m:oMath>
                </a14:m>
                <a:r>
                  <a:rPr lang="en-US" altLang="ja-JP" sz="2400" dirty="0"/>
                  <a:t> </a:t>
                </a:r>
              </a:p>
              <a:p>
                <a:r>
                  <a:rPr lang="ja-JP" altLang="en-US" sz="2400" dirty="0"/>
                  <a:t>各ベクトルの長さは１なので、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ja-JP" sz="2400" i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ja-JP" sz="2400" b="0" i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ja-JP" sz="2400" i="0">
                        <a:latin typeface="Cambria Math" panose="02040503050406030204" pitchFamily="18" charset="0"/>
                      </a:rPr>
                      <m:t>×</m:t>
                    </m:r>
                    <m:func>
                      <m:func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24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en-US" sz="2400" i="0">
                                <a:latin typeface="Cambria Math" panose="02040503050406030204" pitchFamily="18" charset="0"/>
                              </a:rPr>
                              <m:t>視野角</m:t>
                            </m:r>
                            <m:r>
                              <a:rPr lang="en-US" altLang="ja-JP" sz="2400" i="0" smtClean="0">
                                <a:latin typeface="Cambria Math" panose="02040503050406030204" pitchFamily="18" charset="0"/>
                              </a:rPr>
                              <m:t>÷</m:t>
                            </m:r>
                            <m:r>
                              <a:rPr lang="en-US" altLang="ja-JP" sz="2400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e>
                    </m:func>
                    <m:r>
                      <a:rPr lang="en-US" altLang="ja-JP" sz="2400" b="0" i="0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ja-JP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ja-JP" sz="2400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𝐜𝐨𝐬</m:t>
                        </m:r>
                      </m:fName>
                      <m:e>
                        <m:d>
                          <m:dPr>
                            <m:ctrlPr>
                              <a:rPr lang="en-US" altLang="ja-JP" sz="2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en-US" sz="2400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視野角</m:t>
                            </m:r>
                            <m:r>
                              <a:rPr lang="en-US" altLang="ja-JP" sz="2400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÷</m:t>
                            </m:r>
                            <m:r>
                              <a:rPr lang="en-US" altLang="ja-JP" sz="2400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</m:d>
                      </m:e>
                    </m:func>
                  </m:oMath>
                </a14:m>
                <a:r>
                  <a:rPr lang="en-US" altLang="ja-JP" sz="2400" b="1" dirty="0">
                    <a:solidFill>
                      <a:srgbClr val="FF0000"/>
                    </a:solidFill>
                  </a:rPr>
                  <a:t> </a:t>
                </a:r>
              </a:p>
              <a:p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ja-JP" altLang="en-US" sz="2400" dirty="0"/>
                  <a:t>実際にプログラムを組んでいきましょう。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8685391" cy="3049809"/>
              </a:xfrm>
              <a:prstGeom prst="rect">
                <a:avLst/>
              </a:prstGeom>
              <a:blipFill>
                <a:blip r:embed="rId2"/>
                <a:stretch>
                  <a:fillRect l="-1053" t="-1600" r="-140" b="-36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08038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視野角判定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571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これらを踏まえて残りの空欄を埋めていきましょう。</a:t>
            </a:r>
            <a:endParaRPr lang="en-US" altLang="ja-JP" sz="2400" dirty="0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8505E226-22CF-4DDC-ADD4-9AD92C2299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8422316" cy="4548252"/>
          </a:xfrm>
          <a:prstGeom prst="rect">
            <a:avLst/>
          </a:prstGeom>
        </p:spPr>
      </p:pic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5C21371C-FCC2-4268-923B-C484D8BFC512}"/>
              </a:ext>
            </a:extLst>
          </p:cNvPr>
          <p:cNvSpPr txBox="1"/>
          <p:nvPr/>
        </p:nvSpPr>
        <p:spPr>
          <a:xfrm>
            <a:off x="5639076" y="5263496"/>
            <a:ext cx="5514651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ja-JP" altLang="en-US" sz="2000" b="1" dirty="0"/>
              <a:t>用意してある変数・定数</a:t>
            </a:r>
            <a:endParaRPr lang="en-US" altLang="ja-JP" sz="2000" b="1" dirty="0"/>
          </a:p>
          <a:p>
            <a:r>
              <a:rPr lang="en-US" altLang="ja-JP" sz="2000" dirty="0" err="1">
                <a:solidFill>
                  <a:srgbClr val="0070C0"/>
                </a:solidFill>
              </a:rPr>
              <a:t>g_SightMachineData.dir</a:t>
            </a:r>
            <a:r>
              <a:rPr lang="ja-JP" altLang="en-US" sz="2000" dirty="0"/>
              <a:t>：敵の向きベクトル</a:t>
            </a:r>
            <a:endParaRPr lang="en-US" altLang="ja-JP" sz="2000" dirty="0"/>
          </a:p>
          <a:p>
            <a:r>
              <a:rPr lang="en-US" altLang="ja-JP" sz="2000" dirty="0">
                <a:solidFill>
                  <a:srgbClr val="7030A0"/>
                </a:solidFill>
              </a:rPr>
              <a:t>SIGHT_MACHINE_VIEWING_ANGLE</a:t>
            </a:r>
            <a:r>
              <a:rPr lang="ja-JP" altLang="en-US" sz="2000" dirty="0"/>
              <a:t>：視野角</a:t>
            </a:r>
            <a:endParaRPr lang="en-US" altLang="ja-JP" sz="2000" dirty="0"/>
          </a:p>
        </p:txBody>
      </p:sp>
    </p:spTree>
    <p:extLst>
      <p:ext uri="{BB962C8B-B14F-4D97-AF65-F5344CB8AC3E}">
        <p14:creationId xmlns:p14="http://schemas.microsoft.com/office/powerpoint/2010/main" val="40964617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視野角判定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26462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正しくできていればサンプル通りにプレイヤーの左上の座標が視野角に入れば、</a:t>
            </a:r>
            <a:endParaRPr kumimoji="1" lang="en-US" altLang="ja-JP" sz="2400" dirty="0"/>
          </a:p>
          <a:p>
            <a:r>
              <a:rPr kumimoji="1" lang="ja-JP" altLang="en-US" sz="2400" dirty="0"/>
              <a:t>プレイヤーを追従するようになります。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D43D27BC-A265-488C-9B55-48EFBD8115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6151959" cy="4178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0855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450</Words>
  <Application>Microsoft Office PowerPoint</Application>
  <PresentationFormat>ワイド画面</PresentationFormat>
  <Paragraphs>54</Paragraphs>
  <Slides>12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7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20</cp:revision>
  <dcterms:created xsi:type="dcterms:W3CDTF">2024-08-27T02:15:54Z</dcterms:created>
  <dcterms:modified xsi:type="dcterms:W3CDTF">2025-03-14T00:59:50Z</dcterms:modified>
</cp:coreProperties>
</file>