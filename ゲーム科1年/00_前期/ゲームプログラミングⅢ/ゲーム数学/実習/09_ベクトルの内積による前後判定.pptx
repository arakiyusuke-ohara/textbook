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ベクトルの内積による前後判定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プレイヤーがエネミーの前側にいるか後ろ側にいるか</a:t>
            </a:r>
            <a:r>
              <a:rPr lang="ja-JP" altLang="en-US" sz="2400" dirty="0"/>
              <a:t>判定します。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ベクトルの内積</a:t>
            </a:r>
            <a:r>
              <a:rPr kumimoji="1" lang="ja-JP" altLang="en-US" sz="2400" dirty="0"/>
              <a:t>を計算すると判定することができます。</a:t>
            </a:r>
            <a:endParaRPr kumimoji="1" lang="en-US" altLang="ja-JP" sz="2400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A83CC8DD-10F9-48C7-A523-40272662B7C6}"/>
              </a:ext>
            </a:extLst>
          </p:cNvPr>
          <p:cNvGrpSpPr/>
          <p:nvPr/>
        </p:nvGrpSpPr>
        <p:grpSpPr>
          <a:xfrm>
            <a:off x="567542" y="2187126"/>
            <a:ext cx="6563042" cy="3476239"/>
            <a:chOff x="-567955" y="3002587"/>
            <a:chExt cx="6563042" cy="3476239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2EB99CF9-0BEE-409C-906E-9AB2724D5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3937" y="4089643"/>
              <a:ext cx="720931" cy="72093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94087D2A-7CDD-473F-8975-7F2823CD0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57963" y="5390296"/>
              <a:ext cx="544265" cy="1088530"/>
            </a:xfrm>
            <a:prstGeom prst="rect">
              <a:avLst/>
            </a:prstGeom>
          </p:spPr>
        </p:pic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147FA9CB-033F-4408-BDC4-3E8D09600CA4}"/>
                </a:ext>
              </a:extLst>
            </p:cNvPr>
            <p:cNvCxnSpPr>
              <a:cxnSpLocks/>
            </p:cNvCxnSpPr>
            <p:nvPr/>
          </p:nvCxnSpPr>
          <p:spPr>
            <a:xfrm>
              <a:off x="2594402" y="3002587"/>
              <a:ext cx="0" cy="33104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0A4658E-1514-4FF5-8C20-EF8662A8DD92}"/>
                </a:ext>
              </a:extLst>
            </p:cNvPr>
            <p:cNvSpPr txBox="1"/>
            <p:nvPr/>
          </p:nvSpPr>
          <p:spPr>
            <a:xfrm>
              <a:off x="5502644" y="4219275"/>
              <a:ext cx="4924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rgbClr val="FF0000"/>
                  </a:solidFill>
                </a:rPr>
                <a:t>前</a:t>
              </a:r>
              <a:endParaRPr kumimoji="1"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34809C44-C3A0-4205-A107-441302F1F2CF}"/>
                </a:ext>
              </a:extLst>
            </p:cNvPr>
            <p:cNvSpPr txBox="1"/>
            <p:nvPr/>
          </p:nvSpPr>
          <p:spPr>
            <a:xfrm>
              <a:off x="-567955" y="421927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rgbClr val="FF0000"/>
                  </a:solidFill>
                </a:rPr>
                <a:t>後ろ</a:t>
              </a:r>
              <a:endParaRPr kumimoji="1" lang="en-US" altLang="ja-JP" sz="24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1131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ベクトルの内積による前後判定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まず、</a:t>
            </a:r>
            <a:r>
              <a:rPr lang="ja-JP" altLang="en-US" sz="2400" b="1" dirty="0">
                <a:solidFill>
                  <a:srgbClr val="FF0000"/>
                </a:solidFill>
              </a:rPr>
              <a:t>エネミーからプレイヤーまでのベクトル</a:t>
            </a:r>
            <a:r>
              <a:rPr lang="ja-JP" altLang="en-US" sz="2400" dirty="0"/>
              <a:t>を作ります。</a:t>
            </a:r>
            <a:endParaRPr kumimoji="1"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76EA71F-970B-4678-B9C1-05E627C96CD3}"/>
              </a:ext>
            </a:extLst>
          </p:cNvPr>
          <p:cNvGrpSpPr/>
          <p:nvPr/>
        </p:nvGrpSpPr>
        <p:grpSpPr>
          <a:xfrm>
            <a:off x="567542" y="2187126"/>
            <a:ext cx="6563042" cy="3476239"/>
            <a:chOff x="567542" y="2187126"/>
            <a:chExt cx="6563042" cy="3476239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67BE8AC2-CDCC-4605-9E8C-86C98AFBCE83}"/>
                </a:ext>
              </a:extLst>
            </p:cNvPr>
            <p:cNvGrpSpPr/>
            <p:nvPr/>
          </p:nvGrpSpPr>
          <p:grpSpPr>
            <a:xfrm>
              <a:off x="567542" y="2187126"/>
              <a:ext cx="6563042" cy="3476239"/>
              <a:chOff x="-567955" y="3002587"/>
              <a:chExt cx="6563042" cy="3476239"/>
            </a:xfrm>
          </p:grpSpPr>
          <p:pic>
            <p:nvPicPr>
              <p:cNvPr id="39" name="図 38">
                <a:extLst>
                  <a:ext uri="{FF2B5EF4-FFF2-40B4-BE49-F238E27FC236}">
                    <a16:creationId xmlns:a16="http://schemas.microsoft.com/office/drawing/2014/main" id="{80433657-247B-4698-8B0F-AF085C1574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33937" y="4089643"/>
                <a:ext cx="720931" cy="720931"/>
              </a:xfrm>
              <a:prstGeom prst="rect">
                <a:avLst/>
              </a:prstGeom>
            </p:spPr>
          </p:pic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C42B52A7-9F44-4681-AA47-60D0B9E51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57963" y="5390296"/>
                <a:ext cx="544265" cy="1088530"/>
              </a:xfrm>
              <a:prstGeom prst="rect">
                <a:avLst/>
              </a:prstGeom>
            </p:spPr>
          </p:pic>
          <p:cxnSp>
            <p:nvCxnSpPr>
              <p:cNvPr id="41" name="直線コネクタ 40">
                <a:extLst>
                  <a:ext uri="{FF2B5EF4-FFF2-40B4-BE49-F238E27FC236}">
                    <a16:creationId xmlns:a16="http://schemas.microsoft.com/office/drawing/2014/main" id="{CC0D77F7-C671-4C3B-8502-899040C0DE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4402" y="3002587"/>
                <a:ext cx="0" cy="331046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EDED2561-C837-4176-A1E7-351D79EB879A}"/>
                  </a:ext>
                </a:extLst>
              </p:cNvPr>
              <p:cNvSpPr txBox="1"/>
              <p:nvPr/>
            </p:nvSpPr>
            <p:spPr>
              <a:xfrm>
                <a:off x="5502644" y="4219275"/>
                <a:ext cx="492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rgbClr val="FF0000"/>
                    </a:solidFill>
                  </a:rPr>
                  <a:t>前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43" name="テキスト ボックス 42">
                <a:extLst>
                  <a:ext uri="{FF2B5EF4-FFF2-40B4-BE49-F238E27FC236}">
                    <a16:creationId xmlns:a16="http://schemas.microsoft.com/office/drawing/2014/main" id="{31CE621E-2690-4194-B9C4-955A3A21B2AA}"/>
                  </a:ext>
                </a:extLst>
              </p:cNvPr>
              <p:cNvSpPr txBox="1"/>
              <p:nvPr/>
            </p:nvSpPr>
            <p:spPr>
              <a:xfrm>
                <a:off x="-567955" y="421927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後ろ</a:t>
                </a:r>
                <a:endParaRPr kumimoji="1" lang="en-US" altLang="ja-JP" sz="2400" b="1" dirty="0">
                  <a:solidFill>
                    <a:srgbClr val="FF0000"/>
                  </a:solidFill>
                </a:endParaRPr>
              </a:p>
            </p:txBody>
          </p:sp>
        </p:grp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13221960-C0A7-4E5B-89AA-9C7D87357265}"/>
                </a:ext>
              </a:extLst>
            </p:cNvPr>
            <p:cNvCxnSpPr/>
            <p:nvPr/>
          </p:nvCxnSpPr>
          <p:spPr>
            <a:xfrm>
              <a:off x="3733800" y="3615267"/>
              <a:ext cx="2175933" cy="9906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696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ベクトルの内積による前後判定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B050"/>
                </a:solidFill>
              </a:rPr>
              <a:t>エネミーの向きを示すベクトル</a:t>
            </a:r>
            <a:r>
              <a:rPr kumimoji="1" lang="ja-JP" altLang="en-US" sz="2400" dirty="0"/>
              <a:t>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正規化</a:t>
            </a:r>
            <a:r>
              <a:rPr kumimoji="1" lang="ja-JP" altLang="en-US" sz="2400" dirty="0"/>
              <a:t>した状態で用意します。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0BB96CB-82B7-4CC9-A3D1-1EE218D50903}"/>
              </a:ext>
            </a:extLst>
          </p:cNvPr>
          <p:cNvGrpSpPr/>
          <p:nvPr/>
        </p:nvGrpSpPr>
        <p:grpSpPr>
          <a:xfrm>
            <a:off x="567542" y="2187126"/>
            <a:ext cx="6563042" cy="3476239"/>
            <a:chOff x="567542" y="2187126"/>
            <a:chExt cx="6563042" cy="3476239"/>
          </a:xfrm>
        </p:grpSpPr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26CBAC22-582A-4007-8EE4-9F2CD292A67D}"/>
                </a:ext>
              </a:extLst>
            </p:cNvPr>
            <p:cNvGrpSpPr/>
            <p:nvPr/>
          </p:nvGrpSpPr>
          <p:grpSpPr>
            <a:xfrm>
              <a:off x="567542" y="2187126"/>
              <a:ext cx="6563042" cy="3476239"/>
              <a:chOff x="567542" y="2187126"/>
              <a:chExt cx="6563042" cy="3476239"/>
            </a:xfrm>
          </p:grpSpPr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9A9AF374-33CD-49DD-9C00-71B213B8D071}"/>
                  </a:ext>
                </a:extLst>
              </p:cNvPr>
              <p:cNvGrpSpPr/>
              <p:nvPr/>
            </p:nvGrpSpPr>
            <p:grpSpPr>
              <a:xfrm>
                <a:off x="567542" y="2187126"/>
                <a:ext cx="6563042" cy="3476239"/>
                <a:chOff x="-567955" y="3002587"/>
                <a:chExt cx="6563042" cy="3476239"/>
              </a:xfrm>
            </p:grpSpPr>
            <p:pic>
              <p:nvPicPr>
                <p:cNvPr id="25" name="図 24">
                  <a:extLst>
                    <a:ext uri="{FF2B5EF4-FFF2-40B4-BE49-F238E27FC236}">
                      <a16:creationId xmlns:a16="http://schemas.microsoft.com/office/drawing/2014/main" id="{6E52FB0F-347A-4558-9AC9-F9315F4025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33937" y="4089643"/>
                  <a:ext cx="720931" cy="720931"/>
                </a:xfrm>
                <a:prstGeom prst="rect">
                  <a:avLst/>
                </a:prstGeom>
              </p:spPr>
            </p:pic>
            <p:pic>
              <p:nvPicPr>
                <p:cNvPr id="26" name="図 25">
                  <a:extLst>
                    <a:ext uri="{FF2B5EF4-FFF2-40B4-BE49-F238E27FC236}">
                      <a16:creationId xmlns:a16="http://schemas.microsoft.com/office/drawing/2014/main" id="{1B133F90-74CE-4FB3-9CED-683EF52C99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57963" y="5390296"/>
                  <a:ext cx="544265" cy="1088530"/>
                </a:xfrm>
                <a:prstGeom prst="rect">
                  <a:avLst/>
                </a:prstGeom>
              </p:spPr>
            </p:pic>
            <p:cxnSp>
              <p:nvCxnSpPr>
                <p:cNvPr id="27" name="直線コネクタ 26">
                  <a:extLst>
                    <a:ext uri="{FF2B5EF4-FFF2-40B4-BE49-F238E27FC236}">
                      <a16:creationId xmlns:a16="http://schemas.microsoft.com/office/drawing/2014/main" id="{1CA0F4AC-9AFE-4CD9-9B34-C95AB749E1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4402" y="3002587"/>
                  <a:ext cx="0" cy="331046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6E031525-69CE-48BB-9622-24A28F55AC92}"/>
                    </a:ext>
                  </a:extLst>
                </p:cNvPr>
                <p:cNvSpPr txBox="1"/>
                <p:nvPr/>
              </p:nvSpPr>
              <p:spPr>
                <a:xfrm>
                  <a:off x="5502644" y="4219275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ja-JP" altLang="en-US" sz="2400" b="1" dirty="0">
                      <a:solidFill>
                        <a:srgbClr val="FF0000"/>
                      </a:solidFill>
                    </a:rPr>
                    <a:t>前</a:t>
                  </a:r>
                  <a:endParaRPr kumimoji="1" lang="en-US" altLang="ja-JP" sz="2400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A5B27CAE-C64F-41EB-B4FD-44C2D8470E9D}"/>
                    </a:ext>
                  </a:extLst>
                </p:cNvPr>
                <p:cNvSpPr txBox="1"/>
                <p:nvPr/>
              </p:nvSpPr>
              <p:spPr>
                <a:xfrm>
                  <a:off x="-567955" y="4219274"/>
                  <a:ext cx="80021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b="1" dirty="0">
                      <a:solidFill>
                        <a:srgbClr val="FF0000"/>
                      </a:solidFill>
                    </a:rPr>
                    <a:t>後ろ</a:t>
                  </a:r>
                  <a:endParaRPr kumimoji="1" lang="en-US" altLang="ja-JP" sz="2400" b="1" dirty="0">
                    <a:solidFill>
                      <a:srgbClr val="FF0000"/>
                    </a:solidFill>
                  </a:endParaRPr>
                </a:p>
              </p:txBody>
            </p:sp>
          </p:grpSp>
          <p:cxnSp>
            <p:nvCxnSpPr>
              <p:cNvPr id="24" name="直線矢印コネクタ 23">
                <a:extLst>
                  <a:ext uri="{FF2B5EF4-FFF2-40B4-BE49-F238E27FC236}">
                    <a16:creationId xmlns:a16="http://schemas.microsoft.com/office/drawing/2014/main" id="{1D22551C-554D-4EED-89BD-7D6278910D27}"/>
                  </a:ext>
                </a:extLst>
              </p:cNvPr>
              <p:cNvCxnSpPr/>
              <p:nvPr/>
            </p:nvCxnSpPr>
            <p:spPr>
              <a:xfrm>
                <a:off x="3733800" y="3615267"/>
                <a:ext cx="2175933" cy="99060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3F7AA074-263C-48E2-8D18-C91928C1096A}"/>
                </a:ext>
              </a:extLst>
            </p:cNvPr>
            <p:cNvCxnSpPr>
              <a:cxnSpLocks/>
            </p:cNvCxnSpPr>
            <p:nvPr/>
          </p:nvCxnSpPr>
          <p:spPr>
            <a:xfrm>
              <a:off x="3733800" y="3609660"/>
              <a:ext cx="553211" cy="5607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3497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ベクトルの内積による前後判定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この２つのベクトルの内積を計算すると、</a:t>
            </a:r>
            <a:r>
              <a:rPr kumimoji="1" lang="ja-JP" altLang="en-US" sz="2400" b="1" dirty="0"/>
              <a:t>横の投影</a:t>
            </a:r>
            <a:r>
              <a:rPr kumimoji="1" lang="ja-JP" altLang="en-US" sz="2400" dirty="0"/>
              <a:t>が計算できます。</a:t>
            </a:r>
            <a:endParaRPr kumimoji="1" lang="en-US" altLang="ja-JP" sz="2400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0C004987-56DF-4F4C-ACAC-B6C83316B929}"/>
              </a:ext>
            </a:extLst>
          </p:cNvPr>
          <p:cNvGrpSpPr/>
          <p:nvPr/>
        </p:nvGrpSpPr>
        <p:grpSpPr>
          <a:xfrm>
            <a:off x="567542" y="2187126"/>
            <a:ext cx="6563042" cy="3476239"/>
            <a:chOff x="567542" y="2187126"/>
            <a:chExt cx="6563042" cy="3476239"/>
          </a:xfrm>
        </p:grpSpPr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C1D8697C-CAD9-49C8-92BA-32EED2BE33F0}"/>
                </a:ext>
              </a:extLst>
            </p:cNvPr>
            <p:cNvCxnSpPr>
              <a:cxnSpLocks/>
            </p:cNvCxnSpPr>
            <p:nvPr/>
          </p:nvCxnSpPr>
          <p:spPr>
            <a:xfrm>
              <a:off x="3729899" y="3609660"/>
              <a:ext cx="216356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3F6367D5-F750-4DA5-9EF5-8D5B1EF80D62}"/>
                </a:ext>
              </a:extLst>
            </p:cNvPr>
            <p:cNvGrpSpPr/>
            <p:nvPr/>
          </p:nvGrpSpPr>
          <p:grpSpPr>
            <a:xfrm>
              <a:off x="567542" y="2187126"/>
              <a:ext cx="6563042" cy="3476239"/>
              <a:chOff x="567542" y="2187126"/>
              <a:chExt cx="6563042" cy="3476239"/>
            </a:xfrm>
          </p:grpSpPr>
          <p:grpSp>
            <p:nvGrpSpPr>
              <p:cNvPr id="24" name="グループ化 23">
                <a:extLst>
                  <a:ext uri="{FF2B5EF4-FFF2-40B4-BE49-F238E27FC236}">
                    <a16:creationId xmlns:a16="http://schemas.microsoft.com/office/drawing/2014/main" id="{9197872E-CC8D-4953-B5D0-7395C00677F3}"/>
                  </a:ext>
                </a:extLst>
              </p:cNvPr>
              <p:cNvGrpSpPr/>
              <p:nvPr/>
            </p:nvGrpSpPr>
            <p:grpSpPr>
              <a:xfrm>
                <a:off x="567542" y="2187126"/>
                <a:ext cx="6563042" cy="3476239"/>
                <a:chOff x="567542" y="2187126"/>
                <a:chExt cx="6563042" cy="3476239"/>
              </a:xfrm>
            </p:grpSpPr>
            <p:grpSp>
              <p:nvGrpSpPr>
                <p:cNvPr id="26" name="グループ化 25">
                  <a:extLst>
                    <a:ext uri="{FF2B5EF4-FFF2-40B4-BE49-F238E27FC236}">
                      <a16:creationId xmlns:a16="http://schemas.microsoft.com/office/drawing/2014/main" id="{5E3FE5ED-153C-4A4E-A14E-011F17A4CC80}"/>
                    </a:ext>
                  </a:extLst>
                </p:cNvPr>
                <p:cNvGrpSpPr/>
                <p:nvPr/>
              </p:nvGrpSpPr>
              <p:grpSpPr>
                <a:xfrm>
                  <a:off x="567542" y="2187126"/>
                  <a:ext cx="6563042" cy="3476239"/>
                  <a:chOff x="-567955" y="3002587"/>
                  <a:chExt cx="6563042" cy="3476239"/>
                </a:xfrm>
              </p:grpSpPr>
              <p:pic>
                <p:nvPicPr>
                  <p:cNvPr id="28" name="図 27">
                    <a:extLst>
                      <a:ext uri="{FF2B5EF4-FFF2-40B4-BE49-F238E27FC236}">
                        <a16:creationId xmlns:a16="http://schemas.microsoft.com/office/drawing/2014/main" id="{7675ECC5-4B8B-4147-B501-7023E43FCED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233937" y="4089643"/>
                    <a:ext cx="720931" cy="720931"/>
                  </a:xfrm>
                  <a:prstGeom prst="rect">
                    <a:avLst/>
                  </a:prstGeom>
                </p:spPr>
              </p:pic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84CB62A5-A343-41E0-AAB2-8738C894C87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757963" y="5390296"/>
                    <a:ext cx="544265" cy="1088530"/>
                  </a:xfrm>
                  <a:prstGeom prst="rect">
                    <a:avLst/>
                  </a:prstGeom>
                </p:spPr>
              </p:pic>
              <p:cxnSp>
                <p:nvCxnSpPr>
                  <p:cNvPr id="30" name="直線コネクタ 29">
                    <a:extLst>
                      <a:ext uri="{FF2B5EF4-FFF2-40B4-BE49-F238E27FC236}">
                        <a16:creationId xmlns:a16="http://schemas.microsoft.com/office/drawing/2014/main" id="{187D0252-69E6-4891-ADDB-6365C2CC93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594402" y="3002587"/>
                    <a:ext cx="0" cy="331046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1" name="テキスト ボックス 30">
                    <a:extLst>
                      <a:ext uri="{FF2B5EF4-FFF2-40B4-BE49-F238E27FC236}">
                        <a16:creationId xmlns:a16="http://schemas.microsoft.com/office/drawing/2014/main" id="{474E5C5C-F7CB-4DD7-B5B5-2B655A95CCA7}"/>
                      </a:ext>
                    </a:extLst>
                  </p:cNvPr>
                  <p:cNvSpPr txBox="1"/>
                  <p:nvPr/>
                </p:nvSpPr>
                <p:spPr>
                  <a:xfrm>
                    <a:off x="5502644" y="4219275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ja-JP" altLang="en-US" sz="2400" b="1" dirty="0">
                        <a:solidFill>
                          <a:srgbClr val="FF0000"/>
                        </a:solidFill>
                      </a:rPr>
                      <a:t>前</a:t>
                    </a:r>
                    <a:endParaRPr kumimoji="1" lang="en-US" altLang="ja-JP" sz="2400" b="1" dirty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A9633ACC-03ED-4E64-9CEB-5EFB9744777E}"/>
                      </a:ext>
                    </a:extLst>
                  </p:cNvPr>
                  <p:cNvSpPr txBox="1"/>
                  <p:nvPr/>
                </p:nvSpPr>
                <p:spPr>
                  <a:xfrm>
                    <a:off x="-567955" y="4219274"/>
                    <a:ext cx="80021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ja-JP" altLang="en-US" sz="2400" b="1" dirty="0">
                        <a:solidFill>
                          <a:srgbClr val="FF0000"/>
                        </a:solidFill>
                      </a:rPr>
                      <a:t>後ろ</a:t>
                    </a:r>
                    <a:endParaRPr kumimoji="1" lang="en-US" altLang="ja-JP" sz="2400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27" name="直線矢印コネクタ 26">
                  <a:extLst>
                    <a:ext uri="{FF2B5EF4-FFF2-40B4-BE49-F238E27FC236}">
                      <a16:creationId xmlns:a16="http://schemas.microsoft.com/office/drawing/2014/main" id="{34D75175-3BE5-4DCC-8517-1EE89146FFA4}"/>
                    </a:ext>
                  </a:extLst>
                </p:cNvPr>
                <p:cNvCxnSpPr/>
                <p:nvPr/>
              </p:nvCxnSpPr>
              <p:spPr>
                <a:xfrm>
                  <a:off x="3733800" y="3615267"/>
                  <a:ext cx="2175933" cy="99060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EC42DDAF-6BA1-421A-9EB8-4F1D98A479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3800" y="3609660"/>
                <a:ext cx="553211" cy="5607"/>
              </a:xfrm>
              <a:prstGeom prst="straightConnector1">
                <a:avLst/>
              </a:prstGeom>
              <a:ln w="381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1BD2EC8D-D93B-4C0E-8AC7-D2EFAF74E046}"/>
                </a:ext>
              </a:extLst>
            </p:cNvPr>
            <p:cNvCxnSpPr/>
            <p:nvPr/>
          </p:nvCxnSpPr>
          <p:spPr>
            <a:xfrm>
              <a:off x="5893460" y="2548467"/>
              <a:ext cx="0" cy="2379133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74146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7A69407-54D6-4CF5-8302-DBF494960E13}"/>
              </a:ext>
            </a:extLst>
          </p:cNvPr>
          <p:cNvSpPr/>
          <p:nvPr/>
        </p:nvSpPr>
        <p:spPr>
          <a:xfrm>
            <a:off x="6999515" y="4896625"/>
            <a:ext cx="5014680" cy="160571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ベクトルの内積による前後判定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投影が右に伸びていれば前側にいる</a:t>
            </a:r>
            <a:r>
              <a:rPr kumimoji="1" lang="ja-JP" altLang="en-US" sz="2400" dirty="0"/>
              <a:t>と判定できます。</a:t>
            </a:r>
            <a:endParaRPr kumimoji="1" lang="en-US" altLang="ja-JP" sz="2400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6500EF5-7678-40D1-8264-8FEE93DCE207}"/>
              </a:ext>
            </a:extLst>
          </p:cNvPr>
          <p:cNvSpPr txBox="1"/>
          <p:nvPr/>
        </p:nvSpPr>
        <p:spPr>
          <a:xfrm>
            <a:off x="7094288" y="4932677"/>
            <a:ext cx="510909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kumimoji="1" lang="ja-JP" altLang="en-US" sz="2400" dirty="0"/>
              <a:t>スクリーン座標系は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右に正</a:t>
            </a:r>
            <a:r>
              <a:rPr kumimoji="1" lang="ja-JP" altLang="en-US" sz="2400" dirty="0"/>
              <a:t>なので、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投影が右に伸びるということは、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内積の計算結果が正</a:t>
            </a:r>
            <a:r>
              <a:rPr kumimoji="1" lang="ja-JP" altLang="en-US" sz="2400" dirty="0"/>
              <a:t>ということ。</a:t>
            </a:r>
            <a:endParaRPr kumimoji="1" lang="en-US" altLang="ja-JP" sz="2400" dirty="0"/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663AD13C-E0D9-4735-9DA3-F6F8F51D8EA9}"/>
              </a:ext>
            </a:extLst>
          </p:cNvPr>
          <p:cNvGrpSpPr/>
          <p:nvPr/>
        </p:nvGrpSpPr>
        <p:grpSpPr>
          <a:xfrm>
            <a:off x="567542" y="2187126"/>
            <a:ext cx="6563042" cy="3476239"/>
            <a:chOff x="567542" y="2187126"/>
            <a:chExt cx="6563042" cy="3476239"/>
          </a:xfrm>
        </p:grpSpPr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277F5A6E-5FE8-48CB-94A3-A68421343499}"/>
                </a:ext>
              </a:extLst>
            </p:cNvPr>
            <p:cNvCxnSpPr>
              <a:cxnSpLocks/>
            </p:cNvCxnSpPr>
            <p:nvPr/>
          </p:nvCxnSpPr>
          <p:spPr>
            <a:xfrm>
              <a:off x="3729899" y="3609660"/>
              <a:ext cx="216356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02D76EE8-2B31-41A5-948B-DA694C43A121}"/>
                </a:ext>
              </a:extLst>
            </p:cNvPr>
            <p:cNvGrpSpPr/>
            <p:nvPr/>
          </p:nvGrpSpPr>
          <p:grpSpPr>
            <a:xfrm>
              <a:off x="567542" y="2187126"/>
              <a:ext cx="6563042" cy="3476239"/>
              <a:chOff x="567542" y="2187126"/>
              <a:chExt cx="6563042" cy="3476239"/>
            </a:xfrm>
          </p:grpSpPr>
          <p:grpSp>
            <p:nvGrpSpPr>
              <p:cNvPr id="28" name="グループ化 27">
                <a:extLst>
                  <a:ext uri="{FF2B5EF4-FFF2-40B4-BE49-F238E27FC236}">
                    <a16:creationId xmlns:a16="http://schemas.microsoft.com/office/drawing/2014/main" id="{6B521004-8F3B-4724-BC47-8CB4738801BF}"/>
                  </a:ext>
                </a:extLst>
              </p:cNvPr>
              <p:cNvGrpSpPr/>
              <p:nvPr/>
            </p:nvGrpSpPr>
            <p:grpSpPr>
              <a:xfrm>
                <a:off x="567542" y="2187126"/>
                <a:ext cx="6563042" cy="3476239"/>
                <a:chOff x="567542" y="2187126"/>
                <a:chExt cx="6563042" cy="3476239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A5BB48BF-A040-4C73-8E89-179B8EEBBCB0}"/>
                    </a:ext>
                  </a:extLst>
                </p:cNvPr>
                <p:cNvGrpSpPr/>
                <p:nvPr/>
              </p:nvGrpSpPr>
              <p:grpSpPr>
                <a:xfrm>
                  <a:off x="567542" y="2187126"/>
                  <a:ext cx="6563042" cy="3476239"/>
                  <a:chOff x="-567955" y="3002587"/>
                  <a:chExt cx="6563042" cy="3476239"/>
                </a:xfrm>
              </p:grpSpPr>
              <p:pic>
                <p:nvPicPr>
                  <p:cNvPr id="32" name="図 31">
                    <a:extLst>
                      <a:ext uri="{FF2B5EF4-FFF2-40B4-BE49-F238E27FC236}">
                        <a16:creationId xmlns:a16="http://schemas.microsoft.com/office/drawing/2014/main" id="{0DF50D1E-B537-458D-82EF-8742F87F5F0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233937" y="4089643"/>
                    <a:ext cx="720931" cy="720931"/>
                  </a:xfrm>
                  <a:prstGeom prst="rect">
                    <a:avLst/>
                  </a:prstGeom>
                </p:spPr>
              </p:pic>
              <p:pic>
                <p:nvPicPr>
                  <p:cNvPr id="33" name="図 32">
                    <a:extLst>
                      <a:ext uri="{FF2B5EF4-FFF2-40B4-BE49-F238E27FC236}">
                        <a16:creationId xmlns:a16="http://schemas.microsoft.com/office/drawing/2014/main" id="{1E7564B3-771E-4843-8640-43700E5E988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757963" y="5390296"/>
                    <a:ext cx="544265" cy="1088530"/>
                  </a:xfrm>
                  <a:prstGeom prst="rect">
                    <a:avLst/>
                  </a:prstGeom>
                </p:spPr>
              </p:pic>
              <p:cxnSp>
                <p:nvCxnSpPr>
                  <p:cNvPr id="34" name="直線コネクタ 33">
                    <a:extLst>
                      <a:ext uri="{FF2B5EF4-FFF2-40B4-BE49-F238E27FC236}">
                        <a16:creationId xmlns:a16="http://schemas.microsoft.com/office/drawing/2014/main" id="{C0621920-7045-4A83-A2AE-2ADC03DF95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594402" y="3002587"/>
                    <a:ext cx="0" cy="331046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1EC7FCF9-2783-4C2E-A464-CE7CF46AB26C}"/>
                      </a:ext>
                    </a:extLst>
                  </p:cNvPr>
                  <p:cNvSpPr txBox="1"/>
                  <p:nvPr/>
                </p:nvSpPr>
                <p:spPr>
                  <a:xfrm>
                    <a:off x="5502644" y="4219275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ja-JP" altLang="en-US" sz="2400" b="1" dirty="0">
                        <a:solidFill>
                          <a:srgbClr val="FF0000"/>
                        </a:solidFill>
                      </a:rPr>
                      <a:t>前</a:t>
                    </a:r>
                    <a:endParaRPr kumimoji="1" lang="en-US" altLang="ja-JP" sz="2400" b="1" dirty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36" name="テキスト ボックス 35">
                    <a:extLst>
                      <a:ext uri="{FF2B5EF4-FFF2-40B4-BE49-F238E27FC236}">
                        <a16:creationId xmlns:a16="http://schemas.microsoft.com/office/drawing/2014/main" id="{061643CD-A8AE-40D1-8CB6-E83C7E330DBE}"/>
                      </a:ext>
                    </a:extLst>
                  </p:cNvPr>
                  <p:cNvSpPr txBox="1"/>
                  <p:nvPr/>
                </p:nvSpPr>
                <p:spPr>
                  <a:xfrm>
                    <a:off x="-567955" y="4219274"/>
                    <a:ext cx="80021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ja-JP" altLang="en-US" sz="2400" b="1" dirty="0">
                        <a:solidFill>
                          <a:srgbClr val="FF0000"/>
                        </a:solidFill>
                      </a:rPr>
                      <a:t>後ろ</a:t>
                    </a:r>
                    <a:endParaRPr kumimoji="1" lang="en-US" altLang="ja-JP" sz="2400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31" name="直線矢印コネクタ 30">
                  <a:extLst>
                    <a:ext uri="{FF2B5EF4-FFF2-40B4-BE49-F238E27FC236}">
                      <a16:creationId xmlns:a16="http://schemas.microsoft.com/office/drawing/2014/main" id="{B46701E1-8B78-43EF-A5C0-57F850EC2DCB}"/>
                    </a:ext>
                  </a:extLst>
                </p:cNvPr>
                <p:cNvCxnSpPr/>
                <p:nvPr/>
              </p:nvCxnSpPr>
              <p:spPr>
                <a:xfrm>
                  <a:off x="3733800" y="3615267"/>
                  <a:ext cx="2175933" cy="990600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9D854CB5-4679-434F-89F6-22268E522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3800" y="3609660"/>
                <a:ext cx="553211" cy="5607"/>
              </a:xfrm>
              <a:prstGeom prst="straightConnector1">
                <a:avLst/>
              </a:prstGeom>
              <a:ln w="381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7" name="直線コネクタ 26">
              <a:extLst>
                <a:ext uri="{FF2B5EF4-FFF2-40B4-BE49-F238E27FC236}">
                  <a16:creationId xmlns:a16="http://schemas.microsoft.com/office/drawing/2014/main" id="{7CEBF13B-73E3-4685-AB7E-52603D052F19}"/>
                </a:ext>
              </a:extLst>
            </p:cNvPr>
            <p:cNvCxnSpPr/>
            <p:nvPr/>
          </p:nvCxnSpPr>
          <p:spPr>
            <a:xfrm>
              <a:off x="5893460" y="2548467"/>
              <a:ext cx="0" cy="2379133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65567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0DA1D8A-398E-48E7-92D4-82DD34A8BF60}"/>
              </a:ext>
            </a:extLst>
          </p:cNvPr>
          <p:cNvSpPr/>
          <p:nvPr/>
        </p:nvSpPr>
        <p:spPr>
          <a:xfrm>
            <a:off x="6999515" y="4896625"/>
            <a:ext cx="5014680" cy="160571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ベクトルの内積による前後判定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投影が左に伸びていれば後ろにいる</a:t>
            </a:r>
            <a:r>
              <a:rPr kumimoji="1" lang="ja-JP" altLang="en-US" sz="2400" dirty="0"/>
              <a:t>と判定できます。</a:t>
            </a:r>
            <a:endParaRPr kumimoji="1" lang="en-US" altLang="ja-JP" sz="2400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773D919-53D3-4B75-839C-EE5520084D4B}"/>
              </a:ext>
            </a:extLst>
          </p:cNvPr>
          <p:cNvSpPr txBox="1"/>
          <p:nvPr/>
        </p:nvSpPr>
        <p:spPr>
          <a:xfrm>
            <a:off x="7094288" y="4932677"/>
            <a:ext cx="510909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kumimoji="1" lang="ja-JP" altLang="en-US" sz="2400" dirty="0"/>
              <a:t>スクリーン座標系は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左に負</a:t>
            </a:r>
            <a:r>
              <a:rPr kumimoji="1" lang="ja-JP" altLang="en-US" sz="2400" dirty="0"/>
              <a:t>なので、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投影が左に伸びるということは、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内積の計算結果が負</a:t>
            </a:r>
            <a:r>
              <a:rPr kumimoji="1" lang="ja-JP" altLang="en-US" sz="2400" dirty="0"/>
              <a:t>ということ。</a:t>
            </a:r>
            <a:endParaRPr kumimoji="1" lang="en-US" altLang="ja-JP" sz="2400" dirty="0"/>
          </a:p>
        </p:txBody>
      </p: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B1893FB6-364F-449D-9D66-BA23C7BF1554}"/>
              </a:ext>
            </a:extLst>
          </p:cNvPr>
          <p:cNvGrpSpPr/>
          <p:nvPr/>
        </p:nvGrpSpPr>
        <p:grpSpPr>
          <a:xfrm>
            <a:off x="567542" y="2084615"/>
            <a:ext cx="6563042" cy="3412978"/>
            <a:chOff x="567542" y="2084615"/>
            <a:chExt cx="6563042" cy="3412978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2C9C8DEA-C30C-462D-B0F5-0CDF78393641}"/>
                </a:ext>
              </a:extLst>
            </p:cNvPr>
            <p:cNvGrpSpPr/>
            <p:nvPr/>
          </p:nvGrpSpPr>
          <p:grpSpPr>
            <a:xfrm>
              <a:off x="567542" y="2187126"/>
              <a:ext cx="6563042" cy="3310467"/>
              <a:chOff x="567542" y="2187126"/>
              <a:chExt cx="6563042" cy="3310467"/>
            </a:xfrm>
          </p:grpSpPr>
          <p:grpSp>
            <p:nvGrpSpPr>
              <p:cNvPr id="29" name="グループ化 28">
                <a:extLst>
                  <a:ext uri="{FF2B5EF4-FFF2-40B4-BE49-F238E27FC236}">
                    <a16:creationId xmlns:a16="http://schemas.microsoft.com/office/drawing/2014/main" id="{6385274A-5BF5-44ED-8EBC-2470B84E3B49}"/>
                  </a:ext>
                </a:extLst>
              </p:cNvPr>
              <p:cNvGrpSpPr/>
              <p:nvPr/>
            </p:nvGrpSpPr>
            <p:grpSpPr>
              <a:xfrm>
                <a:off x="567542" y="2187126"/>
                <a:ext cx="6563042" cy="3310467"/>
                <a:chOff x="567542" y="2187126"/>
                <a:chExt cx="6563042" cy="3310467"/>
              </a:xfrm>
            </p:grpSpPr>
            <p:grpSp>
              <p:nvGrpSpPr>
                <p:cNvPr id="31" name="グループ化 30">
                  <a:extLst>
                    <a:ext uri="{FF2B5EF4-FFF2-40B4-BE49-F238E27FC236}">
                      <a16:creationId xmlns:a16="http://schemas.microsoft.com/office/drawing/2014/main" id="{E763F212-DBF2-4C36-A6D1-7E94D2E2B7C2}"/>
                    </a:ext>
                  </a:extLst>
                </p:cNvPr>
                <p:cNvGrpSpPr/>
                <p:nvPr/>
              </p:nvGrpSpPr>
              <p:grpSpPr>
                <a:xfrm>
                  <a:off x="567542" y="2187126"/>
                  <a:ext cx="6563042" cy="3310467"/>
                  <a:chOff x="-567955" y="3002587"/>
                  <a:chExt cx="6563042" cy="3310467"/>
                </a:xfrm>
              </p:grpSpPr>
              <p:pic>
                <p:nvPicPr>
                  <p:cNvPr id="33" name="図 32">
                    <a:extLst>
                      <a:ext uri="{FF2B5EF4-FFF2-40B4-BE49-F238E27FC236}">
                        <a16:creationId xmlns:a16="http://schemas.microsoft.com/office/drawing/2014/main" id="{0906CA16-B505-4D83-8327-46B9CB34F82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233937" y="4089643"/>
                    <a:ext cx="720931" cy="720931"/>
                  </a:xfrm>
                  <a:prstGeom prst="rect">
                    <a:avLst/>
                  </a:prstGeom>
                </p:spPr>
              </p:pic>
              <p:pic>
                <p:nvPicPr>
                  <p:cNvPr id="34" name="図 33">
                    <a:extLst>
                      <a:ext uri="{FF2B5EF4-FFF2-40B4-BE49-F238E27FC236}">
                        <a16:creationId xmlns:a16="http://schemas.microsoft.com/office/drawing/2014/main" id="{340326F2-33EF-439E-B8D4-51C36AE4652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0842" y="5224524"/>
                    <a:ext cx="544265" cy="1088530"/>
                  </a:xfrm>
                  <a:prstGeom prst="rect">
                    <a:avLst/>
                  </a:prstGeom>
                </p:spPr>
              </p:pic>
              <p:cxnSp>
                <p:nvCxnSpPr>
                  <p:cNvPr id="35" name="直線コネクタ 34">
                    <a:extLst>
                      <a:ext uri="{FF2B5EF4-FFF2-40B4-BE49-F238E27FC236}">
                        <a16:creationId xmlns:a16="http://schemas.microsoft.com/office/drawing/2014/main" id="{673B3483-D27E-44F3-AC90-003FDD364B4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594402" y="3002587"/>
                    <a:ext cx="0" cy="331046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テキスト ボックス 35">
                    <a:extLst>
                      <a:ext uri="{FF2B5EF4-FFF2-40B4-BE49-F238E27FC236}">
                        <a16:creationId xmlns:a16="http://schemas.microsoft.com/office/drawing/2014/main" id="{63D326D3-B000-432B-87D1-BC1EBFFD19F6}"/>
                      </a:ext>
                    </a:extLst>
                  </p:cNvPr>
                  <p:cNvSpPr txBox="1"/>
                  <p:nvPr/>
                </p:nvSpPr>
                <p:spPr>
                  <a:xfrm>
                    <a:off x="5502644" y="4219275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ja-JP" altLang="en-US" sz="2400" b="1" dirty="0">
                        <a:solidFill>
                          <a:srgbClr val="FF0000"/>
                        </a:solidFill>
                      </a:rPr>
                      <a:t>前</a:t>
                    </a:r>
                    <a:endParaRPr kumimoji="1" lang="en-US" altLang="ja-JP" sz="2400" b="1" dirty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662F3386-20BB-4026-8E65-27D2E071479C}"/>
                      </a:ext>
                    </a:extLst>
                  </p:cNvPr>
                  <p:cNvSpPr txBox="1"/>
                  <p:nvPr/>
                </p:nvSpPr>
                <p:spPr>
                  <a:xfrm>
                    <a:off x="-567955" y="4219274"/>
                    <a:ext cx="80021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ja-JP" altLang="en-US" sz="2400" b="1" dirty="0">
                        <a:solidFill>
                          <a:srgbClr val="FF0000"/>
                        </a:solidFill>
                      </a:rPr>
                      <a:t>後ろ</a:t>
                    </a:r>
                    <a:endParaRPr kumimoji="1" lang="en-US" altLang="ja-JP" sz="2400" b="1" dirty="0">
                      <a:solidFill>
                        <a:srgbClr val="FF0000"/>
                      </a:solidFill>
                    </a:endParaRPr>
                  </a:p>
                </p:txBody>
              </p:sp>
            </p:grpSp>
            <p:cxnSp>
              <p:nvCxnSpPr>
                <p:cNvPr id="32" name="直線矢印コネクタ 31">
                  <a:extLst>
                    <a:ext uri="{FF2B5EF4-FFF2-40B4-BE49-F238E27FC236}">
                      <a16:creationId xmlns:a16="http://schemas.microsoft.com/office/drawing/2014/main" id="{9709F834-62A5-4BCE-A2D4-FD04F12E3843}"/>
                    </a:ext>
                  </a:extLst>
                </p:cNvPr>
                <p:cNvCxnSpPr>
                  <a:cxnSpLocks/>
                  <a:endCxn id="34" idx="0"/>
                </p:cNvCxnSpPr>
                <p:nvPr/>
              </p:nvCxnSpPr>
              <p:spPr>
                <a:xfrm flipH="1">
                  <a:off x="1838472" y="3615267"/>
                  <a:ext cx="1895328" cy="793796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直線矢印コネクタ 29">
                <a:extLst>
                  <a:ext uri="{FF2B5EF4-FFF2-40B4-BE49-F238E27FC236}">
                    <a16:creationId xmlns:a16="http://schemas.microsoft.com/office/drawing/2014/main" id="{A137AB7B-74E5-43C2-AB35-61D7BD8BC3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3800" y="3609660"/>
                <a:ext cx="553211" cy="5607"/>
              </a:xfrm>
              <a:prstGeom prst="straightConnector1">
                <a:avLst/>
              </a:prstGeom>
              <a:ln w="381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94ACDFEF-A4D3-4F2A-9BE2-E74B84AD5655}"/>
                </a:ext>
              </a:extLst>
            </p:cNvPr>
            <p:cNvCxnSpPr/>
            <p:nvPr/>
          </p:nvCxnSpPr>
          <p:spPr>
            <a:xfrm>
              <a:off x="1838471" y="2084615"/>
              <a:ext cx="0" cy="2379133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F9DED2C3-33A2-432C-B5A5-04AB987E8A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38471" y="3609660"/>
              <a:ext cx="189142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377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ベクトルの内積による前後判定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277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SightMachine.cpp</a:t>
            </a:r>
            <a:r>
              <a:rPr lang="ja-JP" altLang="en-US" sz="2400" dirty="0"/>
              <a:t>の空白を埋めましょう。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B46509C-84B6-43D7-B077-17D47FA21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9025809" cy="236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473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227</Words>
  <Application>Microsoft Office PowerPoint</Application>
  <PresentationFormat>ワイド画面</PresentationFormat>
  <Paragraphs>35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9</cp:revision>
  <dcterms:created xsi:type="dcterms:W3CDTF">2024-08-27T02:15:54Z</dcterms:created>
  <dcterms:modified xsi:type="dcterms:W3CDTF">2025-01-06T06:20:32Z</dcterms:modified>
</cp:coreProperties>
</file>