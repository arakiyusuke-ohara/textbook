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接線ベクトルと反射ベクトル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特定のブロックにバレットが当たったら、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壁沿い</a:t>
            </a:r>
            <a:r>
              <a:rPr kumimoji="1" lang="ja-JP" altLang="en-US" sz="2400" dirty="0"/>
              <a:t>に進んだり、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反射</a:t>
            </a:r>
            <a:r>
              <a:rPr kumimoji="1" lang="ja-JP" altLang="en-US" sz="2400" dirty="0"/>
              <a:t>したりするようにします。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C645573-3403-4604-A41E-0891D0E87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738976" cy="2770356"/>
          </a:xfrm>
          <a:prstGeom prst="rect">
            <a:avLst/>
          </a:prstGeom>
        </p:spPr>
      </p:pic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CD06BCF-9F60-4DDE-819A-40CF99408737}"/>
              </a:ext>
            </a:extLst>
          </p:cNvPr>
          <p:cNvCxnSpPr>
            <a:cxnSpLocks/>
          </p:cNvCxnSpPr>
          <p:nvPr/>
        </p:nvCxnSpPr>
        <p:spPr>
          <a:xfrm>
            <a:off x="1389528" y="3783106"/>
            <a:ext cx="0" cy="6185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>
            <a:extLst>
              <a:ext uri="{FF2B5EF4-FFF2-40B4-BE49-F238E27FC236}">
                <a16:creationId xmlns:a16="http://schemas.microsoft.com/office/drawing/2014/main" id="{A4CEBC3E-C0B3-4EFB-BB98-029E8DD79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400" y="2187126"/>
            <a:ext cx="5090824" cy="2770356"/>
          </a:xfrm>
          <a:prstGeom prst="rect">
            <a:avLst/>
          </a:prstGeom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483FA56-EB24-4595-B32B-49063E794731}"/>
              </a:ext>
            </a:extLst>
          </p:cNvPr>
          <p:cNvCxnSpPr>
            <a:cxnSpLocks/>
          </p:cNvCxnSpPr>
          <p:nvPr/>
        </p:nvCxnSpPr>
        <p:spPr>
          <a:xfrm>
            <a:off x="6741459" y="4213412"/>
            <a:ext cx="349622" cy="18825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890E6795-D112-4D05-9A5D-A9E09D177169}"/>
              </a:ext>
            </a:extLst>
          </p:cNvPr>
          <p:cNvCxnSpPr>
            <a:cxnSpLocks/>
          </p:cNvCxnSpPr>
          <p:nvPr/>
        </p:nvCxnSpPr>
        <p:spPr>
          <a:xfrm flipH="1">
            <a:off x="6741459" y="3783106"/>
            <a:ext cx="824754" cy="430306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衝突した壁に沿ったベクトルを計算するには、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接線ベクトル</a:t>
            </a:r>
            <a:r>
              <a:rPr kumimoji="1" lang="ja-JP" altLang="en-US" sz="2400" dirty="0"/>
              <a:t>を計算します。</a:t>
            </a:r>
            <a:endParaRPr kumimoji="1" lang="en-US" altLang="ja-JP" sz="2400" dirty="0"/>
          </a:p>
          <a:p>
            <a:r>
              <a:rPr lang="ja-JP" altLang="en-US" sz="2400" dirty="0"/>
              <a:t>接線ベクトルを計算するには</a:t>
            </a:r>
            <a:r>
              <a:rPr lang="ja-JP" altLang="en-US" sz="2400" b="1" dirty="0">
                <a:solidFill>
                  <a:srgbClr val="FF0000"/>
                </a:solidFill>
              </a:rPr>
              <a:t>壁の法線ベクトル</a:t>
            </a:r>
            <a:r>
              <a:rPr lang="ja-JP" altLang="en-US" sz="2400" dirty="0"/>
              <a:t>が重要になります。</a:t>
            </a:r>
            <a:endParaRPr kumimoji="1" lang="en-US" altLang="ja-JP" sz="240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C846895-ADD9-4851-9D36-21FBDB741CD6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A10B586-47D9-409D-82CA-5B4CF6A67078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D683768-130A-48D7-97BE-5320172C382A}"/>
              </a:ext>
            </a:extLst>
          </p:cNvPr>
          <p:cNvSpPr txBox="1"/>
          <p:nvPr/>
        </p:nvSpPr>
        <p:spPr>
          <a:xfrm>
            <a:off x="2622749" y="575984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求めたい接線ベクトル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853296A-BEAD-4B83-A403-6A406BA0C3E3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920F912-8757-4791-91BE-B2394D94D618}"/>
              </a:ext>
            </a:extLst>
          </p:cNvPr>
          <p:cNvSpPr txBox="1"/>
          <p:nvPr/>
        </p:nvSpPr>
        <p:spPr>
          <a:xfrm>
            <a:off x="2622749" y="402068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B050"/>
                </a:solidFill>
              </a:rPr>
              <a:t>法線ベクトル</a:t>
            </a:r>
            <a:endParaRPr kumimoji="1" lang="en-US" altLang="ja-JP" sz="2400" b="1" dirty="0">
              <a:solidFill>
                <a:srgbClr val="00B050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96A4254-FE91-4290-906C-F55B81B69152}"/>
              </a:ext>
            </a:extLst>
          </p:cNvPr>
          <p:cNvSpPr txBox="1"/>
          <p:nvPr/>
        </p:nvSpPr>
        <p:spPr>
          <a:xfrm>
            <a:off x="2048477" y="234528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壁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243436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バレットが斜めから壁に入ってきたとします。</a:t>
            </a:r>
            <a:endParaRPr lang="en-US" altLang="ja-JP" sz="2400" dirty="0"/>
          </a:p>
          <a:p>
            <a:r>
              <a:rPr kumimoji="1" lang="ja-JP" altLang="en-US" sz="2400" dirty="0"/>
              <a:t>この時のベクトルを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入射ベクトル</a:t>
            </a:r>
            <a:r>
              <a:rPr kumimoji="1" lang="ja-JP" altLang="en-US" sz="2400" dirty="0"/>
              <a:t>とします。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22F826EF-A5C7-482A-95C6-607021FA4574}"/>
              </a:ext>
            </a:extLst>
          </p:cNvPr>
          <p:cNvCxnSpPr>
            <a:cxnSpLocks/>
          </p:cNvCxnSpPr>
          <p:nvPr/>
        </p:nvCxnSpPr>
        <p:spPr>
          <a:xfrm flipH="1">
            <a:off x="2632526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F31617E-0B4D-4112-9669-7AA7A3C92641}"/>
              </a:ext>
            </a:extLst>
          </p:cNvPr>
          <p:cNvSpPr txBox="1"/>
          <p:nvPr/>
        </p:nvSpPr>
        <p:spPr>
          <a:xfrm>
            <a:off x="3534858" y="3493464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70C0"/>
                </a:solidFill>
              </a:rPr>
              <a:t>入射ベクトル</a:t>
            </a:r>
            <a:endParaRPr kumimoji="1" lang="en-US" altLang="ja-JP" sz="2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54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接線ベクトル求めるには、まず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入射ベクトルを反転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99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反転したベクトルと法線ベクトルの内積</a:t>
            </a:r>
            <a:r>
              <a:rPr lang="ja-JP" altLang="en-US" sz="2400" dirty="0"/>
              <a:t>を計算すると、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横の投影</a:t>
            </a:r>
            <a:r>
              <a:rPr kumimoji="1" lang="ja-JP" altLang="en-US" sz="2400" dirty="0"/>
              <a:t>を計算することができます。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F31617E-0B4D-4112-9669-7AA7A3C92641}"/>
              </a:ext>
            </a:extLst>
          </p:cNvPr>
          <p:cNvSpPr txBox="1"/>
          <p:nvPr/>
        </p:nvSpPr>
        <p:spPr>
          <a:xfrm>
            <a:off x="2996538" y="461010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投影</a:t>
            </a:r>
            <a:endParaRPr kumimoji="1" lang="en-US" altLang="ja-JP" sz="2400" b="1" dirty="0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A8C6EE2-658B-472E-BBBD-8467115DC747}"/>
              </a:ext>
            </a:extLst>
          </p:cNvPr>
          <p:cNvCxnSpPr/>
          <p:nvPr/>
        </p:nvCxnSpPr>
        <p:spPr>
          <a:xfrm>
            <a:off x="2614597" y="4518212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10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入射ベクトルをすべてのベクトルの根元</a:t>
            </a:r>
            <a:r>
              <a:rPr lang="ja-JP" altLang="en-US" sz="2400" dirty="0"/>
              <a:t>に合わせます。</a:t>
            </a:r>
            <a:endParaRPr lang="en-US" altLang="ja-JP" sz="2400" dirty="0"/>
          </a:p>
          <a:p>
            <a:r>
              <a:rPr kumimoji="1" lang="ja-JP" altLang="en-US" sz="2400" dirty="0"/>
              <a:t>すると、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入射ベクトルに投影の分だけ移動した先が求めたい座標</a:t>
            </a:r>
            <a:r>
              <a:rPr kumimoji="1" lang="ja-JP" altLang="en-US" sz="2400" dirty="0"/>
              <a:t>だとわかります。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0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A8C6EE2-658B-472E-BBBD-8467115DC747}"/>
              </a:ext>
            </a:extLst>
          </p:cNvPr>
          <p:cNvCxnSpPr/>
          <p:nvPr/>
        </p:nvCxnSpPr>
        <p:spPr>
          <a:xfrm>
            <a:off x="2614597" y="4518212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9D7E47B-529B-4EAD-8C32-14C1C23A2A75}"/>
              </a:ext>
            </a:extLst>
          </p:cNvPr>
          <p:cNvCxnSpPr>
            <a:cxnSpLocks/>
          </p:cNvCxnSpPr>
          <p:nvPr/>
        </p:nvCxnSpPr>
        <p:spPr>
          <a:xfrm flipH="1">
            <a:off x="1062890" y="4500282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DB13246-D4B0-406C-8BE9-2CDAB029AA1B}"/>
              </a:ext>
            </a:extLst>
          </p:cNvPr>
          <p:cNvCxnSpPr/>
          <p:nvPr/>
        </p:nvCxnSpPr>
        <p:spPr>
          <a:xfrm>
            <a:off x="1029964" y="6257366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ECACC2-A5FB-4BAB-8F80-99050B7E51BF}"/>
              </a:ext>
            </a:extLst>
          </p:cNvPr>
          <p:cNvSpPr txBox="1"/>
          <p:nvPr/>
        </p:nvSpPr>
        <p:spPr>
          <a:xfrm>
            <a:off x="83208" y="4978892"/>
            <a:ext cx="1851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0070C0"/>
                </a:solidFill>
              </a:rPr>
              <a:t>① 入射ベクトルから</a:t>
            </a:r>
            <a:endParaRPr kumimoji="1" lang="en-US" altLang="ja-JP" sz="1400" b="1" dirty="0">
              <a:solidFill>
                <a:srgbClr val="0070C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CD81C2-1994-4460-9675-D5E97F00368F}"/>
              </a:ext>
            </a:extLst>
          </p:cNvPr>
          <p:cNvSpPr txBox="1"/>
          <p:nvPr/>
        </p:nvSpPr>
        <p:spPr>
          <a:xfrm>
            <a:off x="319508" y="6434937"/>
            <a:ext cx="5083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/>
              <a:t>② </a:t>
            </a:r>
            <a:r>
              <a:rPr lang="ja-JP" altLang="en-US" sz="1400" b="1" dirty="0">
                <a:solidFill>
                  <a:srgbClr val="00B050"/>
                </a:solidFill>
              </a:rPr>
              <a:t>法線の向き</a:t>
            </a:r>
            <a:r>
              <a:rPr lang="ja-JP" altLang="en-US" sz="1400" b="1" dirty="0"/>
              <a:t>に投影の分だけ移動すると</a:t>
            </a:r>
            <a:r>
              <a:rPr lang="ja-JP" altLang="en-US" sz="1400" b="1" dirty="0">
                <a:solidFill>
                  <a:srgbClr val="FF0000"/>
                </a:solidFill>
              </a:rPr>
              <a:t>目的地</a:t>
            </a:r>
            <a:r>
              <a:rPr lang="ja-JP" altLang="en-US" sz="1400" b="1" dirty="0"/>
              <a:t>にたどり着く</a:t>
            </a:r>
            <a:endParaRPr kumimoji="1" lang="en-US" altLang="ja-JP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/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このことから以下の計算で、</a:t>
                </a:r>
                <a:endParaRPr lang="en-US" altLang="ja-JP" sz="2400" dirty="0"/>
              </a:p>
              <a:p>
                <a:r>
                  <a:rPr lang="ja-JP" altLang="en-US" sz="2400" dirty="0"/>
                  <a:t>接線ベクトルを計算できます。</a:t>
                </a:r>
                <a:endParaRPr kumimoji="1" lang="en-US" altLang="ja-JP" sz="2400" b="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ja-JP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・</m:t>
                          </m:r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en-US" altLang="ja-JP" sz="2400" b="0" dirty="0">
                  <a:solidFill>
                    <a:srgbClr val="FF0000"/>
                  </a:solidFill>
                </a:endParaRPr>
              </a:p>
              <a:p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ja-JP" altLang="en-US" sz="2400" dirty="0"/>
                  <a:t>・・・接線ベクトル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1" lang="ja-JP" altLang="en-US" sz="2400" dirty="0"/>
                  <a:t>・・・入射ベクトル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ja-JP" altLang="en-US" sz="2400" dirty="0"/>
                  <a:t>・・・法線ベクトル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blipFill>
                <a:blip r:embed="rId2"/>
                <a:stretch>
                  <a:fillRect l="-2033" t="-1822" r="-1084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15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接線ベクトル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23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以上を踏まえて、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MyMath.cpp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VecTangent</a:t>
            </a:r>
            <a:r>
              <a:rPr kumimoji="1" lang="ja-JP" altLang="en-US" sz="2400" dirty="0"/>
              <a:t>関数を完成させましょう。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05DFA0D-EF56-4238-AF07-E5CE8568C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081048" cy="3964441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CBED1F3-87B3-4B73-8558-676B2CC2E670}"/>
              </a:ext>
            </a:extLst>
          </p:cNvPr>
          <p:cNvSpPr txBox="1"/>
          <p:nvPr/>
        </p:nvSpPr>
        <p:spPr>
          <a:xfrm>
            <a:off x="567542" y="5921935"/>
            <a:ext cx="90717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vecIncident</a:t>
            </a:r>
            <a:r>
              <a:rPr kumimoji="1" lang="ja-JP" altLang="en-US" sz="2400" dirty="0"/>
              <a:t>が入射ベクトル、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vecNormal</a:t>
            </a:r>
            <a:r>
              <a:rPr kumimoji="1" lang="ja-JP" altLang="en-US" sz="2400" dirty="0"/>
              <a:t>が法線ベクトルです。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08488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反射ベクトル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631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投影の長さを</a:t>
            </a:r>
            <a:r>
              <a:rPr lang="en-US" altLang="ja-JP" sz="2400" b="1" dirty="0">
                <a:solidFill>
                  <a:srgbClr val="FF0000"/>
                </a:solidFill>
              </a:rPr>
              <a:t>2</a:t>
            </a:r>
            <a:r>
              <a:rPr lang="ja-JP" altLang="en-US" sz="2400" b="1" dirty="0">
                <a:solidFill>
                  <a:srgbClr val="FF0000"/>
                </a:solidFill>
              </a:rPr>
              <a:t>倍</a:t>
            </a:r>
            <a:r>
              <a:rPr lang="ja-JP" altLang="en-US" sz="2400" b="1" dirty="0"/>
              <a:t>にすると、</a:t>
            </a:r>
            <a:r>
              <a:rPr lang="ja-JP" altLang="en-US" sz="2400" b="1" dirty="0">
                <a:solidFill>
                  <a:srgbClr val="FF0000"/>
                </a:solidFill>
              </a:rPr>
              <a:t>反射ベクトル</a:t>
            </a:r>
            <a:r>
              <a:rPr lang="ja-JP" altLang="en-US" sz="2400" b="1" dirty="0"/>
              <a:t>が計算できます。</a:t>
            </a:r>
            <a:endParaRPr kumimoji="1"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58283D-6549-45F9-9AE4-B5D8AD741137}"/>
              </a:ext>
            </a:extLst>
          </p:cNvPr>
          <p:cNvCxnSpPr/>
          <p:nvPr/>
        </p:nvCxnSpPr>
        <p:spPr>
          <a:xfrm>
            <a:off x="2626659" y="2375647"/>
            <a:ext cx="0" cy="38458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A32B8B0-432A-4055-B456-751DD8F0F481}"/>
              </a:ext>
            </a:extLst>
          </p:cNvPr>
          <p:cNvCxnSpPr>
            <a:cxnSpLocks/>
          </p:cNvCxnSpPr>
          <p:nvPr/>
        </p:nvCxnSpPr>
        <p:spPr>
          <a:xfrm>
            <a:off x="2622749" y="4518212"/>
            <a:ext cx="1617557" cy="1739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2EFC0F0-318B-49D0-B2F5-63EF8062F134}"/>
              </a:ext>
            </a:extLst>
          </p:cNvPr>
          <p:cNvCxnSpPr>
            <a:cxnSpLocks/>
          </p:cNvCxnSpPr>
          <p:nvPr/>
        </p:nvCxnSpPr>
        <p:spPr>
          <a:xfrm>
            <a:off x="2620793" y="4518212"/>
            <a:ext cx="503977" cy="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6388B2E3-DF44-43E7-B107-294819B84E00}"/>
              </a:ext>
            </a:extLst>
          </p:cNvPr>
          <p:cNvCxnSpPr>
            <a:cxnSpLocks/>
          </p:cNvCxnSpPr>
          <p:nvPr/>
        </p:nvCxnSpPr>
        <p:spPr>
          <a:xfrm flipV="1">
            <a:off x="2614597" y="2796988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4A8C6EE2-658B-472E-BBBD-8467115DC747}"/>
              </a:ext>
            </a:extLst>
          </p:cNvPr>
          <p:cNvCxnSpPr/>
          <p:nvPr/>
        </p:nvCxnSpPr>
        <p:spPr>
          <a:xfrm>
            <a:off x="2614597" y="6257368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9D7E47B-529B-4EAD-8C32-14C1C23A2A75}"/>
              </a:ext>
            </a:extLst>
          </p:cNvPr>
          <p:cNvCxnSpPr>
            <a:cxnSpLocks/>
          </p:cNvCxnSpPr>
          <p:nvPr/>
        </p:nvCxnSpPr>
        <p:spPr>
          <a:xfrm flipH="1">
            <a:off x="1062890" y="4500282"/>
            <a:ext cx="1559859" cy="1721224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DB13246-D4B0-406C-8BE9-2CDAB029AA1B}"/>
              </a:ext>
            </a:extLst>
          </p:cNvPr>
          <p:cNvCxnSpPr/>
          <p:nvPr/>
        </p:nvCxnSpPr>
        <p:spPr>
          <a:xfrm>
            <a:off x="1029964" y="6257366"/>
            <a:ext cx="1625709" cy="0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ECACC2-A5FB-4BAB-8F80-99050B7E51BF}"/>
              </a:ext>
            </a:extLst>
          </p:cNvPr>
          <p:cNvSpPr txBox="1"/>
          <p:nvPr/>
        </p:nvSpPr>
        <p:spPr>
          <a:xfrm>
            <a:off x="83208" y="4978892"/>
            <a:ext cx="18517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0070C0"/>
                </a:solidFill>
              </a:rPr>
              <a:t>① 入射ベクトルから</a:t>
            </a:r>
            <a:endParaRPr kumimoji="1" lang="en-US" altLang="ja-JP" sz="1400" b="1" dirty="0">
              <a:solidFill>
                <a:srgbClr val="0070C0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ECD81C2-1994-4460-9675-D5E97F00368F}"/>
              </a:ext>
            </a:extLst>
          </p:cNvPr>
          <p:cNvSpPr txBox="1"/>
          <p:nvPr/>
        </p:nvSpPr>
        <p:spPr>
          <a:xfrm>
            <a:off x="319508" y="6434937"/>
            <a:ext cx="5186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/>
              <a:t>② </a:t>
            </a:r>
            <a:r>
              <a:rPr lang="ja-JP" altLang="en-US" sz="1400" b="1" dirty="0">
                <a:solidFill>
                  <a:srgbClr val="00B050"/>
                </a:solidFill>
              </a:rPr>
              <a:t>法線の向き</a:t>
            </a:r>
            <a:r>
              <a:rPr lang="ja-JP" altLang="en-US" sz="1400" b="1" dirty="0"/>
              <a:t>に投影の分の</a:t>
            </a:r>
            <a:r>
              <a:rPr lang="en-US" altLang="ja-JP" sz="1400" b="1" dirty="0"/>
              <a:t>2</a:t>
            </a:r>
            <a:r>
              <a:rPr lang="ja-JP" altLang="en-US" sz="1400" b="1" dirty="0"/>
              <a:t>倍移動すると</a:t>
            </a:r>
            <a:r>
              <a:rPr lang="ja-JP" altLang="en-US" sz="1400" b="1" dirty="0">
                <a:solidFill>
                  <a:srgbClr val="FF0000"/>
                </a:solidFill>
              </a:rPr>
              <a:t>目的地</a:t>
            </a:r>
            <a:r>
              <a:rPr lang="ja-JP" altLang="en-US" sz="1400" b="1" dirty="0"/>
              <a:t>にたどり着く</a:t>
            </a:r>
            <a:endParaRPr kumimoji="1" lang="en-US" altLang="ja-JP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/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このことから以下の計算で、</a:t>
                </a:r>
                <a:endParaRPr lang="en-US" altLang="ja-JP" sz="2400" dirty="0"/>
              </a:p>
              <a:p>
                <a:r>
                  <a:rPr lang="ja-JP" altLang="en-US" sz="2400" dirty="0"/>
                  <a:t>反射ベクトルを計算できます。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ja-JP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・</m:t>
                          </m:r>
                          <m:r>
                            <a:rPr lang="en-US" altLang="ja-JP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kumimoji="1" lang="en-US" altLang="ja-JP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en-US" altLang="ja-JP" sz="2400" b="0" dirty="0">
                  <a:solidFill>
                    <a:srgbClr val="FF0000"/>
                  </a:solidFill>
                </a:endParaRPr>
              </a:p>
              <a:p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ja-JP" altLang="en-US" sz="2400" dirty="0"/>
                  <a:t>・・・反射ベクトル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kumimoji="1" lang="ja-JP" altLang="en-US" sz="2400" dirty="0"/>
                  <a:t>・・・入射ベクトル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ja-JP" altLang="en-US" sz="2400" dirty="0"/>
                  <a:t>・・・法線ベクトル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F5AF3D5F-B2A0-4D9F-9861-18619BE2D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8365" y="2963915"/>
                <a:ext cx="4493538" cy="2677656"/>
              </a:xfrm>
              <a:prstGeom prst="rect">
                <a:avLst/>
              </a:prstGeom>
              <a:blipFill>
                <a:blip r:embed="rId2"/>
                <a:stretch>
                  <a:fillRect l="-2033" t="-1822" r="-1084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28B2065-5043-4B8A-A53E-AC72010C7DDD}"/>
              </a:ext>
            </a:extLst>
          </p:cNvPr>
          <p:cNvSpPr txBox="1"/>
          <p:nvPr/>
        </p:nvSpPr>
        <p:spPr>
          <a:xfrm>
            <a:off x="3371626" y="485500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反射ベクトル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35082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反射</a:t>
            </a:r>
            <a:r>
              <a:rPr kumimoji="1" lang="ja-JP" altLang="en-US" sz="3200" b="1" u="sng" dirty="0"/>
              <a:t>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46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以上を踏まえて、</a:t>
            </a:r>
            <a:r>
              <a:rPr kumimoji="1" lang="en-US" altLang="ja-JP" sz="2400" dirty="0"/>
              <a:t>MyMath.cpp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VecReflact</a:t>
            </a:r>
            <a:r>
              <a:rPr kumimoji="1" lang="ja-JP" altLang="en-US" sz="2400" dirty="0"/>
              <a:t>関数を完成させましょう。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01440EE-E534-4BBB-81EB-4DBFB26C5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9748575" cy="401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28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反射</a:t>
            </a:r>
            <a:r>
              <a:rPr kumimoji="1" lang="ja-JP" altLang="en-US" sz="3200" b="1" u="sng" dirty="0"/>
              <a:t>ベクトル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874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StraightBullet.cpp</a:t>
            </a:r>
            <a:r>
              <a:rPr lang="ja-JP" altLang="en-US" sz="2400" dirty="0"/>
              <a:t>で呼ばれている</a:t>
            </a:r>
            <a:r>
              <a:rPr lang="en-US" altLang="ja-JP" sz="2400" b="1" dirty="0" err="1">
                <a:solidFill>
                  <a:srgbClr val="0070C0"/>
                </a:solidFill>
              </a:rPr>
              <a:t>VecTangent</a:t>
            </a:r>
            <a:r>
              <a:rPr lang="ja-JP" altLang="en-US" sz="2400" dirty="0"/>
              <a:t>関数を、</a:t>
            </a:r>
            <a:endParaRPr lang="en-US" altLang="ja-JP" sz="2400" dirty="0"/>
          </a:p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VecReflact</a:t>
            </a:r>
            <a:r>
              <a:rPr kumimoji="1" lang="ja-JP" altLang="en-US" sz="2400" dirty="0"/>
              <a:t>関数に置き換えて動作確認しましょう。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A3454D-16EE-4C96-9031-F0EFE7CCD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10584452" cy="2205580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26619F7-3EEB-4BAB-9DF4-EC5EEFE558F6}"/>
              </a:ext>
            </a:extLst>
          </p:cNvPr>
          <p:cNvSpPr/>
          <p:nvPr/>
        </p:nvSpPr>
        <p:spPr>
          <a:xfrm>
            <a:off x="3980329" y="3429000"/>
            <a:ext cx="1362636" cy="4168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692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365</Words>
  <Application>Microsoft Office PowerPoint</Application>
  <PresentationFormat>ワイド画面</PresentationFormat>
  <Paragraphs>51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18</cp:revision>
  <dcterms:created xsi:type="dcterms:W3CDTF">2024-08-27T02:15:54Z</dcterms:created>
  <dcterms:modified xsi:type="dcterms:W3CDTF">2025-01-06T06:25:05Z</dcterms:modified>
</cp:coreProperties>
</file>