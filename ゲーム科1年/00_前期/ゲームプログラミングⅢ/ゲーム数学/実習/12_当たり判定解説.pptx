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58" r:id="rId6"/>
    <p:sldId id="259" r:id="rId7"/>
    <p:sldId id="263" r:id="rId8"/>
    <p:sldId id="260" r:id="rId9"/>
    <p:sldId id="264" r:id="rId10"/>
    <p:sldId id="265" r:id="rId11"/>
    <p:sldId id="266" r:id="rId12"/>
    <p:sldId id="267" r:id="rId13"/>
    <p:sldId id="270" r:id="rId14"/>
    <p:sldId id="269" r:id="rId15"/>
    <p:sldId id="271" r:id="rId16"/>
    <p:sldId id="272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これまでのサンプルゲームに使用されている、</a:t>
            </a:r>
            <a:endParaRPr lang="en-US" altLang="ja-JP" sz="2400" dirty="0"/>
          </a:p>
          <a:p>
            <a:r>
              <a:rPr lang="ja-JP" altLang="en-US" sz="2400" dirty="0"/>
              <a:t>ステージとの当たり判定を解説します。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E8D4B62-D634-42A7-A255-C29919C1F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473799" cy="4348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4772561" y="3198168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マップチップ拡張</a:t>
            </a:r>
            <a:endParaRPr kumimoji="1" lang="en-US" altLang="ja-JP" sz="2400" b="1" dirty="0"/>
          </a:p>
        </p:txBody>
      </p:sp>
    </p:spTree>
    <p:extLst>
      <p:ext uri="{BB962C8B-B14F-4D97-AF65-F5344CB8AC3E}">
        <p14:creationId xmlns:p14="http://schemas.microsoft.com/office/powerpoint/2010/main" val="2830833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4572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マップチップ拡張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坂、動く床などステージに関するものは全てマップチップで配置します。</a:t>
            </a:r>
            <a:endParaRPr lang="en-US" altLang="ja-JP" sz="2400" dirty="0"/>
          </a:p>
          <a:p>
            <a:r>
              <a:rPr kumimoji="1" lang="ja-JP" altLang="en-US" sz="2400" dirty="0"/>
              <a:t>これにより、当たり判定を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１つの処理にまとめる</a:t>
            </a:r>
            <a:r>
              <a:rPr kumimoji="1" lang="ja-JP" altLang="en-US" sz="2400" dirty="0"/>
              <a:t>ことができます。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2D16D2E-899A-44ED-83EB-719E02E05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703" y="2047426"/>
            <a:ext cx="6294869" cy="4249533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642DFF7-2310-47ED-AAEF-08A01DE06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187126"/>
            <a:ext cx="3515216" cy="263879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E057EF1-CB7D-4BF8-BEC7-E27060B4416C}"/>
              </a:ext>
            </a:extLst>
          </p:cNvPr>
          <p:cNvSpPr txBox="1"/>
          <p:nvPr/>
        </p:nvSpPr>
        <p:spPr>
          <a:xfrm>
            <a:off x="8913683" y="6296959"/>
            <a:ext cx="2863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solidFill>
                  <a:srgbClr val="FF0000"/>
                </a:solidFill>
              </a:rPr>
              <a:t>※Excel</a:t>
            </a:r>
            <a:r>
              <a:rPr kumimoji="1" lang="ja-JP" altLang="en-US" b="1" dirty="0">
                <a:solidFill>
                  <a:srgbClr val="FF0000"/>
                </a:solidFill>
              </a:rPr>
              <a:t>側も対応してます</a:t>
            </a:r>
            <a:endParaRPr kumimoji="1" lang="en-US" altLang="ja-JP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424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165297" y="3198168"/>
            <a:ext cx="18614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Body</a:t>
            </a:r>
            <a:r>
              <a:rPr lang="ja-JP" altLang="en-US" sz="2400" b="1" dirty="0"/>
              <a:t>構造体</a:t>
            </a:r>
            <a:endParaRPr kumimoji="1" lang="en-US" altLang="ja-JP" sz="2400" b="1" dirty="0"/>
          </a:p>
        </p:txBody>
      </p:sp>
    </p:spTree>
    <p:extLst>
      <p:ext uri="{BB962C8B-B14F-4D97-AF65-F5344CB8AC3E}">
        <p14:creationId xmlns:p14="http://schemas.microsoft.com/office/powerpoint/2010/main" val="2481782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120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</a:t>
            </a:r>
            <a:r>
              <a:rPr kumimoji="1" lang="en-US" altLang="ja-JP" sz="3200" b="1" u="sng" dirty="0"/>
              <a:t>Body</a:t>
            </a:r>
            <a:r>
              <a:rPr kumimoji="1" lang="ja-JP" altLang="en-US" sz="3200" b="1" u="sng" dirty="0"/>
              <a:t>構造体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0947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当たり判定と衝突解決に必要な変数は</a:t>
            </a:r>
            <a:r>
              <a:rPr lang="en-US" altLang="ja-JP" sz="2400" b="1" dirty="0">
                <a:solidFill>
                  <a:srgbClr val="00B050"/>
                </a:solidFill>
              </a:rPr>
              <a:t>Body</a:t>
            </a:r>
            <a:r>
              <a:rPr lang="ja-JP" altLang="en-US" sz="2400" b="1" dirty="0">
                <a:solidFill>
                  <a:srgbClr val="00B050"/>
                </a:solidFill>
              </a:rPr>
              <a:t>構造体</a:t>
            </a:r>
            <a:r>
              <a:rPr lang="ja-JP" altLang="en-US" sz="2400" dirty="0"/>
              <a:t>にまとめてます。</a:t>
            </a:r>
            <a:endParaRPr lang="en-US" altLang="ja-JP" sz="2400" dirty="0"/>
          </a:p>
          <a:p>
            <a:r>
              <a:rPr kumimoji="1" lang="ja-JP" altLang="en-US" sz="2400" dirty="0"/>
              <a:t>これでどのようなオブジェクトも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Body</a:t>
            </a:r>
            <a:r>
              <a:rPr kumimoji="1" lang="ja-JP" altLang="en-US" sz="2400" dirty="0"/>
              <a:t>を用意すれば当たり判定ができます。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15134B8-4B5B-46ED-B055-845F00DE3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2901799" cy="227701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8BA0099B-A5E9-485A-90DB-B3521AE24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74" y="2187126"/>
            <a:ext cx="2568428" cy="1824371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2E32AFA-2AB7-41C9-A535-7C78C99456C2}"/>
              </a:ext>
            </a:extLst>
          </p:cNvPr>
          <p:cNvSpPr/>
          <p:nvPr/>
        </p:nvSpPr>
        <p:spPr>
          <a:xfrm>
            <a:off x="5029200" y="3088714"/>
            <a:ext cx="1066800" cy="3182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D765CCBA-1034-4C6C-808F-4C3F47E0A9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344" y="2187126"/>
            <a:ext cx="4711241" cy="2025913"/>
          </a:xfrm>
          <a:prstGeom prst="rect">
            <a:avLst/>
          </a:prstGeom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1FD58B8-172C-465D-B123-76B7495147B5}"/>
              </a:ext>
            </a:extLst>
          </p:cNvPr>
          <p:cNvSpPr/>
          <p:nvPr/>
        </p:nvSpPr>
        <p:spPr>
          <a:xfrm>
            <a:off x="7862048" y="3007384"/>
            <a:ext cx="1066800" cy="3182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9974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120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</a:t>
            </a:r>
            <a:r>
              <a:rPr kumimoji="1" lang="en-US" altLang="ja-JP" sz="3200" b="1" u="sng" dirty="0"/>
              <a:t>Body</a:t>
            </a:r>
            <a:r>
              <a:rPr kumimoji="1" lang="ja-JP" altLang="en-US" sz="3200" b="1" u="sng" dirty="0"/>
              <a:t>構造体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063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Body</a:t>
            </a:r>
            <a:r>
              <a:rPr lang="ja-JP" altLang="en-US" sz="2400" dirty="0"/>
              <a:t>同士で当たり判定＆衝突解決をしてます。</a:t>
            </a:r>
            <a:endParaRPr lang="en-US" altLang="ja-JP" sz="2400" dirty="0"/>
          </a:p>
          <a:p>
            <a:r>
              <a:rPr kumimoji="1" lang="ja-JP" altLang="en-US" sz="2400" dirty="0"/>
              <a:t>つまり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Body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を持っていればどんなものでも当たり判定できます。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6B4CA3E-A8BD-45A1-9EB1-863F21005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449590" cy="1876687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15BB4084-2DAC-40A7-94D8-D6A0F4F8D9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345768"/>
            <a:ext cx="8830907" cy="2200582"/>
          </a:xfrm>
          <a:prstGeom prst="rect">
            <a:avLst/>
          </a:prstGeom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0A5EE26-3160-43D4-8A1A-D7B23750BBEB}"/>
              </a:ext>
            </a:extLst>
          </p:cNvPr>
          <p:cNvSpPr/>
          <p:nvPr/>
        </p:nvSpPr>
        <p:spPr>
          <a:xfrm>
            <a:off x="3890682" y="2420471"/>
            <a:ext cx="3962400" cy="2510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29AFD52-96C3-4D23-85EF-0F4AA391D01B}"/>
              </a:ext>
            </a:extLst>
          </p:cNvPr>
          <p:cNvSpPr/>
          <p:nvPr/>
        </p:nvSpPr>
        <p:spPr>
          <a:xfrm>
            <a:off x="3836895" y="4535862"/>
            <a:ext cx="3245223" cy="2510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6640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388114" y="319816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負荷軽減</a:t>
            </a:r>
            <a:endParaRPr kumimoji="1" lang="en-US" altLang="ja-JP" sz="2400" b="1" dirty="0"/>
          </a:p>
        </p:txBody>
      </p:sp>
    </p:spTree>
    <p:extLst>
      <p:ext uri="{BB962C8B-B14F-4D97-AF65-F5344CB8AC3E}">
        <p14:creationId xmlns:p14="http://schemas.microsoft.com/office/powerpoint/2010/main" val="4284892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負荷軽減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67819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ステージを広げるとブロックの数も増えていきます。</a:t>
            </a:r>
            <a:endParaRPr lang="en-US" altLang="ja-JP" sz="2400" dirty="0"/>
          </a:p>
          <a:p>
            <a:r>
              <a:rPr kumimoji="1" lang="ja-JP" altLang="en-US" sz="2400" dirty="0"/>
              <a:t>広げていくとそのうちに、大量のブロックと当たり判定をすることになります。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いくらスペックの高い</a:t>
            </a:r>
            <a:r>
              <a:rPr lang="en-US" altLang="ja-JP" sz="2400" dirty="0"/>
              <a:t>PC</a:t>
            </a:r>
            <a:r>
              <a:rPr lang="ja-JP" altLang="en-US" sz="2400" dirty="0"/>
              <a:t>とはいえ、数千、数万のブロックと当たり判定をすると、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処理落ち</a:t>
            </a:r>
            <a:r>
              <a:rPr lang="ja-JP" altLang="en-US" sz="2400" dirty="0"/>
              <a:t>が発生してゲームに影響が出てしまいます。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処理落ちとは、プログラムの処理が多すぎてゲームの速度が落ちることです。</a:t>
            </a:r>
            <a:endParaRPr lang="en-US" altLang="ja-JP" sz="2400" dirty="0"/>
          </a:p>
          <a:p>
            <a:r>
              <a:rPr lang="ja-JP" altLang="en-US" sz="2400" dirty="0"/>
              <a:t>　昔のゲームではよく発生してました。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09967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負荷軽減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0947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サンプルでは、</a:t>
            </a:r>
            <a:r>
              <a:rPr lang="en-US" altLang="ja-JP" sz="2400" b="1" dirty="0">
                <a:solidFill>
                  <a:srgbClr val="FF0000"/>
                </a:solidFill>
              </a:rPr>
              <a:t>Body</a:t>
            </a:r>
            <a:r>
              <a:rPr lang="ja-JP" altLang="en-US" sz="2400" b="1" dirty="0">
                <a:solidFill>
                  <a:srgbClr val="FF0000"/>
                </a:solidFill>
              </a:rPr>
              <a:t>の周囲にあるマップチップとしか当たり判定をしません。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これによりどれだけステージを広げても、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当たり判定処理の最大量が保証されます。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6B5015-3630-4D6A-9EF5-6ECECF964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67" y="2556458"/>
            <a:ext cx="6745701" cy="3924465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FE1256B-CE51-49FE-8EE9-251320EB405A}"/>
              </a:ext>
            </a:extLst>
          </p:cNvPr>
          <p:cNvSpPr/>
          <p:nvPr/>
        </p:nvSpPr>
        <p:spPr>
          <a:xfrm>
            <a:off x="115672" y="3785877"/>
            <a:ext cx="2859741" cy="18556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CF74CB4-83C9-4905-890A-2BAE97AD1EF2}"/>
              </a:ext>
            </a:extLst>
          </p:cNvPr>
          <p:cNvSpPr txBox="1"/>
          <p:nvPr/>
        </p:nvSpPr>
        <p:spPr>
          <a:xfrm>
            <a:off x="2010142" y="5781271"/>
            <a:ext cx="4570482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ja-JP" altLang="en-US" dirty="0"/>
              <a:t>実際はこの範囲しか判定してない。</a:t>
            </a:r>
            <a:endParaRPr lang="en-US" altLang="ja-JP" dirty="0"/>
          </a:p>
          <a:p>
            <a:r>
              <a:rPr lang="ja-JP" altLang="en-US" dirty="0"/>
              <a:t>つまりこれ以上多くの判定は行われない。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36641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負荷軽減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実際の処理はこちらです。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E157431-1B0E-4ED3-9A9F-F313642A9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6135010" cy="422732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C9C2042-10B7-4E44-9F96-42665D23EDF7}"/>
              </a:ext>
            </a:extLst>
          </p:cNvPr>
          <p:cNvSpPr txBox="1"/>
          <p:nvPr/>
        </p:nvSpPr>
        <p:spPr>
          <a:xfrm>
            <a:off x="2172295" y="6135213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↓ここから当たり判定＆衝突解決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10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負荷軽減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このように、ゲームを作る時には常に、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拡張するとどうなるか</a:t>
            </a:r>
            <a:r>
              <a:rPr lang="ja-JP" altLang="en-US" sz="2400" dirty="0"/>
              <a:t>を考える必要があります。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始めのうちは難しいので、徐々に考えられるようになりましょう。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13924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4772561" y="3198168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その他テクニック</a:t>
            </a:r>
            <a:endParaRPr kumimoji="1" lang="en-US" altLang="ja-JP" sz="2400" b="1" dirty="0"/>
          </a:p>
        </p:txBody>
      </p:sp>
    </p:spTree>
    <p:extLst>
      <p:ext uri="{BB962C8B-B14F-4D97-AF65-F5344CB8AC3E}">
        <p14:creationId xmlns:p14="http://schemas.microsoft.com/office/powerpoint/2010/main" val="3404076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スナップ処理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床の上にいるときは、</a:t>
            </a:r>
            <a:r>
              <a:rPr lang="ja-JP" altLang="en-US" sz="2400" b="1" dirty="0">
                <a:solidFill>
                  <a:srgbClr val="FF0000"/>
                </a:solidFill>
              </a:rPr>
              <a:t>簡単に床から離れないようにスナップ処理（吸いつき）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を用意することが多いです。</a:t>
            </a:r>
            <a:endParaRPr lang="en-US" altLang="ja-JP" sz="2400" dirty="0"/>
          </a:p>
          <a:p>
            <a:r>
              <a:rPr lang="ja-JP" altLang="en-US" sz="2400" dirty="0"/>
              <a:t>これにより、</a:t>
            </a:r>
            <a:r>
              <a:rPr lang="ja-JP" altLang="en-US" sz="2400" b="1" dirty="0">
                <a:solidFill>
                  <a:srgbClr val="FF0000"/>
                </a:solidFill>
              </a:rPr>
              <a:t>ちょっとした段差や坂では空中に浮かないように</a:t>
            </a:r>
            <a:r>
              <a:rPr lang="ja-JP" altLang="en-US" sz="2400" dirty="0"/>
              <a:t>しています。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6905358-33C7-4E5D-8391-F0A008160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556457"/>
            <a:ext cx="10659791" cy="128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781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動く床追従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動く床に乗った場合は、押し出すだけでなく、</a:t>
            </a:r>
            <a:r>
              <a:rPr lang="ja-JP" altLang="en-US" sz="2400" b="1" dirty="0">
                <a:solidFill>
                  <a:srgbClr val="FF0000"/>
                </a:solidFill>
              </a:rPr>
              <a:t>一緒に動かなくてはいけません。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なので、</a:t>
            </a:r>
            <a:r>
              <a:rPr lang="ja-JP" altLang="en-US" sz="2400" b="1" dirty="0">
                <a:solidFill>
                  <a:srgbClr val="FF0000"/>
                </a:solidFill>
              </a:rPr>
              <a:t>乗ったときだけ床の移動量を加算する</a:t>
            </a:r>
            <a:r>
              <a:rPr lang="ja-JP" altLang="en-US" sz="2400" dirty="0"/>
              <a:t>必要があります。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9ADB7FC-758F-4180-A4B5-294395070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419698" cy="200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80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小数誤差対策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コンピューターは正確な小数を表現できません。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たまに、</a:t>
            </a:r>
            <a:r>
              <a:rPr lang="ja-JP" altLang="en-US" sz="2400" b="1" dirty="0">
                <a:solidFill>
                  <a:srgbClr val="FF0000"/>
                </a:solidFill>
              </a:rPr>
              <a:t>ごく小さな小数の誤差で当たり判定が誤る</a:t>
            </a:r>
            <a:r>
              <a:rPr lang="ja-JP" altLang="en-US" sz="2400" dirty="0"/>
              <a:t>時があります。</a:t>
            </a:r>
            <a:endParaRPr lang="en-US" altLang="ja-JP" sz="2400" dirty="0"/>
          </a:p>
          <a:p>
            <a:r>
              <a:rPr lang="ja-JP" altLang="en-US" sz="2400" dirty="0"/>
              <a:t>サンプルでは小数以下第３位以降は無視するようにして、</a:t>
            </a:r>
            <a:endParaRPr lang="en-US" altLang="ja-JP" sz="2400" dirty="0"/>
          </a:p>
          <a:p>
            <a:r>
              <a:rPr lang="ja-JP" altLang="en-US" sz="2400" dirty="0"/>
              <a:t>小さすぎる誤差を無視するようにしています。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EA5FA2-FC53-4A51-BA12-7521C003E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925789"/>
            <a:ext cx="4134427" cy="68589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8C81BD09-FB18-4E3C-83CC-DD57BCFF6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3751385"/>
            <a:ext cx="8830907" cy="154326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4A6DECD-952E-4BF7-AA68-3B7C91161A4B}"/>
              </a:ext>
            </a:extLst>
          </p:cNvPr>
          <p:cNvSpPr txBox="1"/>
          <p:nvPr/>
        </p:nvSpPr>
        <p:spPr>
          <a:xfrm>
            <a:off x="567542" y="5434350"/>
            <a:ext cx="79143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サンプルでも小数点以下</a:t>
            </a:r>
            <a:r>
              <a:rPr lang="en-US" altLang="ja-JP" sz="2400" dirty="0"/>
              <a:t>12</a:t>
            </a:r>
            <a:r>
              <a:rPr lang="ja-JP" altLang="en-US" sz="2400" dirty="0"/>
              <a:t>位くらいで誤差が発生し、</a:t>
            </a:r>
            <a:endParaRPr lang="en-US" altLang="ja-JP" sz="2400" dirty="0"/>
          </a:p>
          <a:p>
            <a:r>
              <a:rPr lang="ja-JP" altLang="en-US" sz="2400" dirty="0"/>
              <a:t>　床をすり抜けたりすることがありました。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989235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当たり判定解説 まとめ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当たり判定と衝突解決は確たる正解はありません。</a:t>
            </a:r>
            <a:endParaRPr lang="en-US" altLang="ja-JP" sz="2400" dirty="0"/>
          </a:p>
          <a:p>
            <a:r>
              <a:rPr lang="ja-JP" altLang="en-US" sz="2400" dirty="0"/>
              <a:t>ここで紹介したものを対応しても解決しないものもあります。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大事なことは２点で、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・どのようなプログラムを組んだかをきちんと把握すること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・不具合が起きたら、根本的な原因を調べること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これらを意識して解決していくことが重要になります。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64702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599</Words>
  <Application>Microsoft Office PowerPoint</Application>
  <PresentationFormat>ワイド画面</PresentationFormat>
  <Paragraphs>63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27</cp:revision>
  <dcterms:created xsi:type="dcterms:W3CDTF">2024-08-27T02:15:54Z</dcterms:created>
  <dcterms:modified xsi:type="dcterms:W3CDTF">2026-02-24T02:30:08Z</dcterms:modified>
</cp:coreProperties>
</file>