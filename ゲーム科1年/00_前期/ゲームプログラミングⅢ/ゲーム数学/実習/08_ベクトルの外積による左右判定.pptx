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2024/12/4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9298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ベクトルの外積による左右判定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1101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プレイヤーがエネミーの右側にいるか左側にいるか</a:t>
            </a:r>
            <a:r>
              <a:rPr lang="ja-JP" altLang="en-US" sz="2400" dirty="0"/>
              <a:t>判定します。</a:t>
            </a:r>
            <a:endParaRPr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ベクトルの外積</a:t>
            </a:r>
            <a:r>
              <a:rPr kumimoji="1" lang="ja-JP" altLang="en-US" sz="2400" dirty="0"/>
              <a:t>を計算すると判定することができます。</a:t>
            </a:r>
            <a:endParaRPr kumimoji="1" lang="en-US" altLang="ja-JP" sz="2400" dirty="0"/>
          </a:p>
        </p:txBody>
      </p: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A83CC8DD-10F9-48C7-A523-40272662B7C6}"/>
              </a:ext>
            </a:extLst>
          </p:cNvPr>
          <p:cNvGrpSpPr/>
          <p:nvPr/>
        </p:nvGrpSpPr>
        <p:grpSpPr>
          <a:xfrm>
            <a:off x="567542" y="3172906"/>
            <a:ext cx="6431973" cy="3088866"/>
            <a:chOff x="238991" y="3567760"/>
            <a:chExt cx="6431973" cy="3088866"/>
          </a:xfrm>
        </p:grpSpPr>
        <p:pic>
          <p:nvPicPr>
            <p:cNvPr id="3" name="図 2">
              <a:extLst>
                <a:ext uri="{FF2B5EF4-FFF2-40B4-BE49-F238E27FC236}">
                  <a16:creationId xmlns:a16="http://schemas.microsoft.com/office/drawing/2014/main" id="{2EB99CF9-0BEE-409C-906E-9AB2724D53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9270" y="4089644"/>
              <a:ext cx="720931" cy="720931"/>
            </a:xfrm>
            <a:prstGeom prst="rect">
              <a:avLst/>
            </a:prstGeom>
          </p:spPr>
        </p:pic>
        <p:pic>
          <p:nvPicPr>
            <p:cNvPr id="7" name="図 6">
              <a:extLst>
                <a:ext uri="{FF2B5EF4-FFF2-40B4-BE49-F238E27FC236}">
                  <a16:creationId xmlns:a16="http://schemas.microsoft.com/office/drawing/2014/main" id="{94087D2A-7CDD-473F-8975-7F2823CD03E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03905" y="5568096"/>
              <a:ext cx="544265" cy="1088530"/>
            </a:xfrm>
            <a:prstGeom prst="rect">
              <a:avLst/>
            </a:prstGeom>
          </p:spPr>
        </p:pic>
        <p:cxnSp>
          <p:nvCxnSpPr>
            <p:cNvPr id="9" name="直線コネクタ 8">
              <a:extLst>
                <a:ext uri="{FF2B5EF4-FFF2-40B4-BE49-F238E27FC236}">
                  <a16:creationId xmlns:a16="http://schemas.microsoft.com/office/drawing/2014/main" id="{147FA9CB-033F-4408-BDC4-3E8D09600CA4}"/>
                </a:ext>
              </a:extLst>
            </p:cNvPr>
            <p:cNvCxnSpPr/>
            <p:nvPr/>
          </p:nvCxnSpPr>
          <p:spPr>
            <a:xfrm>
              <a:off x="238991" y="4450109"/>
              <a:ext cx="6431973" cy="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60A4658E-1514-4FF5-8C20-EF8662A8DD92}"/>
                </a:ext>
              </a:extLst>
            </p:cNvPr>
            <p:cNvSpPr txBox="1"/>
            <p:nvPr/>
          </p:nvSpPr>
          <p:spPr>
            <a:xfrm>
              <a:off x="5849778" y="4829814"/>
              <a:ext cx="49244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400" b="1" dirty="0">
                  <a:solidFill>
                    <a:srgbClr val="FF0000"/>
                  </a:solidFill>
                </a:rPr>
                <a:t>右</a:t>
              </a:r>
              <a:endParaRPr kumimoji="1" lang="en-US" altLang="ja-JP" sz="2400" b="1" dirty="0">
                <a:solidFill>
                  <a:srgbClr val="FF0000"/>
                </a:solidFill>
              </a:endParaRPr>
            </a:p>
          </p:txBody>
        </p:sp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34809C44-C3A0-4205-A107-441302F1F2CF}"/>
                </a:ext>
              </a:extLst>
            </p:cNvPr>
            <p:cNvSpPr txBox="1"/>
            <p:nvPr/>
          </p:nvSpPr>
          <p:spPr>
            <a:xfrm>
              <a:off x="5849778" y="3567760"/>
              <a:ext cx="49244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400" b="1" dirty="0">
                  <a:solidFill>
                    <a:srgbClr val="FF0000"/>
                  </a:solidFill>
                </a:rPr>
                <a:t>左</a:t>
              </a:r>
              <a:endParaRPr kumimoji="1" lang="en-US" altLang="ja-JP" sz="2400" b="1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9298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ベクトルの外積による左右判定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4946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まず、</a:t>
            </a:r>
            <a:r>
              <a:rPr lang="ja-JP" altLang="en-US" sz="2400" b="1" dirty="0">
                <a:solidFill>
                  <a:srgbClr val="FF0000"/>
                </a:solidFill>
              </a:rPr>
              <a:t>エネミーからプレイヤーまでのベクトル</a:t>
            </a:r>
            <a:r>
              <a:rPr lang="ja-JP" altLang="en-US" sz="2400" dirty="0"/>
              <a:t>を作ります。</a:t>
            </a:r>
            <a:endParaRPr kumimoji="1" lang="en-US" altLang="ja-JP" sz="2400" dirty="0"/>
          </a:p>
        </p:txBody>
      </p: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A40A5127-125F-490E-A4CA-6082EA90A1F7}"/>
              </a:ext>
            </a:extLst>
          </p:cNvPr>
          <p:cNvGrpSpPr/>
          <p:nvPr/>
        </p:nvGrpSpPr>
        <p:grpSpPr>
          <a:xfrm>
            <a:off x="567542" y="3172906"/>
            <a:ext cx="6431973" cy="3088866"/>
            <a:chOff x="567542" y="3172906"/>
            <a:chExt cx="6431973" cy="3088866"/>
          </a:xfrm>
        </p:grpSpPr>
        <p:grpSp>
          <p:nvGrpSpPr>
            <p:cNvPr id="13" name="グループ化 12">
              <a:extLst>
                <a:ext uri="{FF2B5EF4-FFF2-40B4-BE49-F238E27FC236}">
                  <a16:creationId xmlns:a16="http://schemas.microsoft.com/office/drawing/2014/main" id="{18EECF09-FD7B-4182-88EB-18F2B3FD751E}"/>
                </a:ext>
              </a:extLst>
            </p:cNvPr>
            <p:cNvGrpSpPr/>
            <p:nvPr/>
          </p:nvGrpSpPr>
          <p:grpSpPr>
            <a:xfrm>
              <a:off x="567542" y="3172906"/>
              <a:ext cx="6431973" cy="3088866"/>
              <a:chOff x="238991" y="3567760"/>
              <a:chExt cx="6431973" cy="3088866"/>
            </a:xfrm>
          </p:grpSpPr>
          <p:pic>
            <p:nvPicPr>
              <p:cNvPr id="14" name="図 13">
                <a:extLst>
                  <a:ext uri="{FF2B5EF4-FFF2-40B4-BE49-F238E27FC236}">
                    <a16:creationId xmlns:a16="http://schemas.microsoft.com/office/drawing/2014/main" id="{01B0CC85-F1B8-4CF1-B26F-02BC61858AC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9270" y="4089644"/>
                <a:ext cx="720931" cy="720931"/>
              </a:xfrm>
              <a:prstGeom prst="rect">
                <a:avLst/>
              </a:prstGeom>
            </p:spPr>
          </p:pic>
          <p:pic>
            <p:nvPicPr>
              <p:cNvPr id="15" name="図 14">
                <a:extLst>
                  <a:ext uri="{FF2B5EF4-FFF2-40B4-BE49-F238E27FC236}">
                    <a16:creationId xmlns:a16="http://schemas.microsoft.com/office/drawing/2014/main" id="{EC12BCF9-1E1D-4A65-8031-8F200508B43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03905" y="5568096"/>
                <a:ext cx="544265" cy="1088530"/>
              </a:xfrm>
              <a:prstGeom prst="rect">
                <a:avLst/>
              </a:prstGeom>
            </p:spPr>
          </p:pic>
          <p:cxnSp>
            <p:nvCxnSpPr>
              <p:cNvPr id="16" name="直線コネクタ 15">
                <a:extLst>
                  <a:ext uri="{FF2B5EF4-FFF2-40B4-BE49-F238E27FC236}">
                    <a16:creationId xmlns:a16="http://schemas.microsoft.com/office/drawing/2014/main" id="{91598CF9-178D-4ECA-AD97-77637D2A9E97}"/>
                  </a:ext>
                </a:extLst>
              </p:cNvPr>
              <p:cNvCxnSpPr/>
              <p:nvPr/>
            </p:nvCxnSpPr>
            <p:spPr>
              <a:xfrm>
                <a:off x="238991" y="4450109"/>
                <a:ext cx="6431973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C25E9533-9BD3-4AC2-A92B-DD0759098967}"/>
                  </a:ext>
                </a:extLst>
              </p:cNvPr>
              <p:cNvSpPr txBox="1"/>
              <p:nvPr/>
            </p:nvSpPr>
            <p:spPr>
              <a:xfrm>
                <a:off x="5849778" y="4829814"/>
                <a:ext cx="49244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右</a:t>
                </a:r>
                <a:endParaRPr kumimoji="1" lang="en-US" altLang="ja-JP" sz="2400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B2D51D72-7900-4737-A3B6-330C9BC5A552}"/>
                  </a:ext>
                </a:extLst>
              </p:cNvPr>
              <p:cNvSpPr txBox="1"/>
              <p:nvPr/>
            </p:nvSpPr>
            <p:spPr>
              <a:xfrm>
                <a:off x="5849778" y="3567760"/>
                <a:ext cx="49244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左</a:t>
                </a:r>
                <a:endParaRPr kumimoji="1" lang="en-US" altLang="ja-JP" sz="2400" b="1" dirty="0">
                  <a:solidFill>
                    <a:srgbClr val="FF0000"/>
                  </a:solidFill>
                </a:endParaRPr>
              </a:p>
            </p:txBody>
          </p:sp>
        </p:grpSp>
        <p:cxnSp>
          <p:nvCxnSpPr>
            <p:cNvPr id="19" name="直線矢印コネクタ 18">
              <a:extLst>
                <a:ext uri="{FF2B5EF4-FFF2-40B4-BE49-F238E27FC236}">
                  <a16:creationId xmlns:a16="http://schemas.microsoft.com/office/drawing/2014/main" id="{C68D280C-A1CE-402B-AEA9-DD7488800C35}"/>
                </a:ext>
              </a:extLst>
            </p:cNvPr>
            <p:cNvCxnSpPr>
              <a:cxnSpLocks/>
            </p:cNvCxnSpPr>
            <p:nvPr/>
          </p:nvCxnSpPr>
          <p:spPr>
            <a:xfrm>
              <a:off x="1587316" y="4053824"/>
              <a:ext cx="1895103" cy="1235149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416964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9298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ベクトルの外積による左右判定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1101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rgbClr val="00B050"/>
                </a:solidFill>
              </a:rPr>
              <a:t>エネミーの向きを示すベクトル</a:t>
            </a:r>
            <a:r>
              <a:rPr kumimoji="1" lang="ja-JP" altLang="en-US" sz="2400" dirty="0"/>
              <a:t>を正規化した状態で用意します。</a:t>
            </a:r>
            <a:endParaRPr kumimoji="1" lang="en-US" altLang="ja-JP" sz="2400" dirty="0"/>
          </a:p>
        </p:txBody>
      </p: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5D6EC2A8-AB24-4F86-A3DC-91BFBFD837F6}"/>
              </a:ext>
            </a:extLst>
          </p:cNvPr>
          <p:cNvGrpSpPr/>
          <p:nvPr/>
        </p:nvGrpSpPr>
        <p:grpSpPr>
          <a:xfrm>
            <a:off x="567542" y="3172906"/>
            <a:ext cx="6431973" cy="3088866"/>
            <a:chOff x="567542" y="3172906"/>
            <a:chExt cx="6431973" cy="3088866"/>
          </a:xfrm>
        </p:grpSpPr>
        <p:grpSp>
          <p:nvGrpSpPr>
            <p:cNvPr id="14" name="グループ化 13">
              <a:extLst>
                <a:ext uri="{FF2B5EF4-FFF2-40B4-BE49-F238E27FC236}">
                  <a16:creationId xmlns:a16="http://schemas.microsoft.com/office/drawing/2014/main" id="{6DC519C8-2FC4-4D67-8D1D-D65659F2E5F0}"/>
                </a:ext>
              </a:extLst>
            </p:cNvPr>
            <p:cNvGrpSpPr/>
            <p:nvPr/>
          </p:nvGrpSpPr>
          <p:grpSpPr>
            <a:xfrm>
              <a:off x="567542" y="3172906"/>
              <a:ext cx="6431973" cy="3088866"/>
              <a:chOff x="238991" y="3567760"/>
              <a:chExt cx="6431973" cy="3088866"/>
            </a:xfrm>
          </p:grpSpPr>
          <p:pic>
            <p:nvPicPr>
              <p:cNvPr id="16" name="図 15">
                <a:extLst>
                  <a:ext uri="{FF2B5EF4-FFF2-40B4-BE49-F238E27FC236}">
                    <a16:creationId xmlns:a16="http://schemas.microsoft.com/office/drawing/2014/main" id="{234C86F6-28F7-4251-8466-1158600331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9270" y="4089644"/>
                <a:ext cx="720931" cy="720931"/>
              </a:xfrm>
              <a:prstGeom prst="rect">
                <a:avLst/>
              </a:prstGeom>
            </p:spPr>
          </p:pic>
          <p:pic>
            <p:nvPicPr>
              <p:cNvPr id="17" name="図 16">
                <a:extLst>
                  <a:ext uri="{FF2B5EF4-FFF2-40B4-BE49-F238E27FC236}">
                    <a16:creationId xmlns:a16="http://schemas.microsoft.com/office/drawing/2014/main" id="{4D6EAAFB-05E4-4844-9D78-3F6BF5261C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03905" y="5568096"/>
                <a:ext cx="544265" cy="1088530"/>
              </a:xfrm>
              <a:prstGeom prst="rect">
                <a:avLst/>
              </a:prstGeom>
            </p:spPr>
          </p:pic>
          <p:cxnSp>
            <p:nvCxnSpPr>
              <p:cNvPr id="18" name="直線コネクタ 17">
                <a:extLst>
                  <a:ext uri="{FF2B5EF4-FFF2-40B4-BE49-F238E27FC236}">
                    <a16:creationId xmlns:a16="http://schemas.microsoft.com/office/drawing/2014/main" id="{C9209A51-6091-4F5A-B6B1-21CC856D8ED3}"/>
                  </a:ext>
                </a:extLst>
              </p:cNvPr>
              <p:cNvCxnSpPr/>
              <p:nvPr/>
            </p:nvCxnSpPr>
            <p:spPr>
              <a:xfrm>
                <a:off x="238991" y="4450109"/>
                <a:ext cx="6431973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9D5A1269-49AB-41C3-A2E7-FADAF0BC3867}"/>
                  </a:ext>
                </a:extLst>
              </p:cNvPr>
              <p:cNvSpPr txBox="1"/>
              <p:nvPr/>
            </p:nvSpPr>
            <p:spPr>
              <a:xfrm>
                <a:off x="5849778" y="4829814"/>
                <a:ext cx="49244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右</a:t>
                </a:r>
                <a:endParaRPr kumimoji="1" lang="en-US" altLang="ja-JP" sz="2400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68F1AC72-717F-455B-8077-D81EA9EE01D7}"/>
                  </a:ext>
                </a:extLst>
              </p:cNvPr>
              <p:cNvSpPr txBox="1"/>
              <p:nvPr/>
            </p:nvSpPr>
            <p:spPr>
              <a:xfrm>
                <a:off x="5849778" y="3567760"/>
                <a:ext cx="49244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左</a:t>
                </a:r>
                <a:endParaRPr kumimoji="1" lang="en-US" altLang="ja-JP" sz="2400" b="1" dirty="0">
                  <a:solidFill>
                    <a:srgbClr val="FF0000"/>
                  </a:solidFill>
                </a:endParaRPr>
              </a:p>
            </p:txBody>
          </p:sp>
        </p:grpSp>
        <p:cxnSp>
          <p:nvCxnSpPr>
            <p:cNvPr id="15" name="直線矢印コネクタ 14">
              <a:extLst>
                <a:ext uri="{FF2B5EF4-FFF2-40B4-BE49-F238E27FC236}">
                  <a16:creationId xmlns:a16="http://schemas.microsoft.com/office/drawing/2014/main" id="{DD94631D-0946-44B1-BB1E-6A1824D47C37}"/>
                </a:ext>
              </a:extLst>
            </p:cNvPr>
            <p:cNvCxnSpPr>
              <a:cxnSpLocks/>
            </p:cNvCxnSpPr>
            <p:nvPr/>
          </p:nvCxnSpPr>
          <p:spPr>
            <a:xfrm>
              <a:off x="1587316" y="4053824"/>
              <a:ext cx="1895103" cy="1235149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C17E1F46-A50A-43C6-B435-6ABFA18BE75E}"/>
              </a:ext>
            </a:extLst>
          </p:cNvPr>
          <p:cNvCxnSpPr>
            <a:cxnSpLocks/>
          </p:cNvCxnSpPr>
          <p:nvPr/>
        </p:nvCxnSpPr>
        <p:spPr>
          <a:xfrm>
            <a:off x="1928752" y="4044698"/>
            <a:ext cx="553211" cy="5607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34979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9298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ベクトルの外積による左右判定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7257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この２つのベクトルの外積を計算すると、</a:t>
            </a:r>
            <a:r>
              <a:rPr kumimoji="1" lang="ja-JP" altLang="en-US" sz="2400" b="1" dirty="0"/>
              <a:t>縦の投影</a:t>
            </a:r>
            <a:r>
              <a:rPr kumimoji="1" lang="ja-JP" altLang="en-US" sz="2400" dirty="0"/>
              <a:t>が計算できます。</a:t>
            </a:r>
            <a:endParaRPr kumimoji="1" lang="en-US" altLang="ja-JP" sz="2400" dirty="0"/>
          </a:p>
        </p:txBody>
      </p: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5D6EC2A8-AB24-4F86-A3DC-91BFBFD837F6}"/>
              </a:ext>
            </a:extLst>
          </p:cNvPr>
          <p:cNvGrpSpPr/>
          <p:nvPr/>
        </p:nvGrpSpPr>
        <p:grpSpPr>
          <a:xfrm>
            <a:off x="567542" y="3172906"/>
            <a:ext cx="6431973" cy="3088866"/>
            <a:chOff x="567542" y="3172906"/>
            <a:chExt cx="6431973" cy="3088866"/>
          </a:xfrm>
        </p:grpSpPr>
        <p:grpSp>
          <p:nvGrpSpPr>
            <p:cNvPr id="14" name="グループ化 13">
              <a:extLst>
                <a:ext uri="{FF2B5EF4-FFF2-40B4-BE49-F238E27FC236}">
                  <a16:creationId xmlns:a16="http://schemas.microsoft.com/office/drawing/2014/main" id="{6DC519C8-2FC4-4D67-8D1D-D65659F2E5F0}"/>
                </a:ext>
              </a:extLst>
            </p:cNvPr>
            <p:cNvGrpSpPr/>
            <p:nvPr/>
          </p:nvGrpSpPr>
          <p:grpSpPr>
            <a:xfrm>
              <a:off x="567542" y="3172906"/>
              <a:ext cx="6431973" cy="3088866"/>
              <a:chOff x="238991" y="3567760"/>
              <a:chExt cx="6431973" cy="3088866"/>
            </a:xfrm>
          </p:grpSpPr>
          <p:pic>
            <p:nvPicPr>
              <p:cNvPr id="16" name="図 15">
                <a:extLst>
                  <a:ext uri="{FF2B5EF4-FFF2-40B4-BE49-F238E27FC236}">
                    <a16:creationId xmlns:a16="http://schemas.microsoft.com/office/drawing/2014/main" id="{234C86F6-28F7-4251-8466-1158600331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9270" y="4089644"/>
                <a:ext cx="720931" cy="720931"/>
              </a:xfrm>
              <a:prstGeom prst="rect">
                <a:avLst/>
              </a:prstGeom>
            </p:spPr>
          </p:pic>
          <p:pic>
            <p:nvPicPr>
              <p:cNvPr id="17" name="図 16">
                <a:extLst>
                  <a:ext uri="{FF2B5EF4-FFF2-40B4-BE49-F238E27FC236}">
                    <a16:creationId xmlns:a16="http://schemas.microsoft.com/office/drawing/2014/main" id="{4D6EAAFB-05E4-4844-9D78-3F6BF5261C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03905" y="5568096"/>
                <a:ext cx="544265" cy="1088530"/>
              </a:xfrm>
              <a:prstGeom prst="rect">
                <a:avLst/>
              </a:prstGeom>
            </p:spPr>
          </p:pic>
          <p:cxnSp>
            <p:nvCxnSpPr>
              <p:cNvPr id="18" name="直線コネクタ 17">
                <a:extLst>
                  <a:ext uri="{FF2B5EF4-FFF2-40B4-BE49-F238E27FC236}">
                    <a16:creationId xmlns:a16="http://schemas.microsoft.com/office/drawing/2014/main" id="{C9209A51-6091-4F5A-B6B1-21CC856D8ED3}"/>
                  </a:ext>
                </a:extLst>
              </p:cNvPr>
              <p:cNvCxnSpPr/>
              <p:nvPr/>
            </p:nvCxnSpPr>
            <p:spPr>
              <a:xfrm>
                <a:off x="238991" y="4450109"/>
                <a:ext cx="6431973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9D5A1269-49AB-41C3-A2E7-FADAF0BC3867}"/>
                  </a:ext>
                </a:extLst>
              </p:cNvPr>
              <p:cNvSpPr txBox="1"/>
              <p:nvPr/>
            </p:nvSpPr>
            <p:spPr>
              <a:xfrm>
                <a:off x="5849778" y="4829814"/>
                <a:ext cx="49244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右</a:t>
                </a:r>
                <a:endParaRPr kumimoji="1" lang="en-US" altLang="ja-JP" sz="2400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68F1AC72-717F-455B-8077-D81EA9EE01D7}"/>
                  </a:ext>
                </a:extLst>
              </p:cNvPr>
              <p:cNvSpPr txBox="1"/>
              <p:nvPr/>
            </p:nvSpPr>
            <p:spPr>
              <a:xfrm>
                <a:off x="5849778" y="3567760"/>
                <a:ext cx="49244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左</a:t>
                </a:r>
                <a:endParaRPr kumimoji="1" lang="en-US" altLang="ja-JP" sz="2400" b="1" dirty="0">
                  <a:solidFill>
                    <a:srgbClr val="FF0000"/>
                  </a:solidFill>
                </a:endParaRPr>
              </a:p>
            </p:txBody>
          </p:sp>
        </p:grpSp>
        <p:cxnSp>
          <p:nvCxnSpPr>
            <p:cNvPr id="15" name="直線矢印コネクタ 14">
              <a:extLst>
                <a:ext uri="{FF2B5EF4-FFF2-40B4-BE49-F238E27FC236}">
                  <a16:creationId xmlns:a16="http://schemas.microsoft.com/office/drawing/2014/main" id="{DD94631D-0946-44B1-BB1E-6A1824D47C37}"/>
                </a:ext>
              </a:extLst>
            </p:cNvPr>
            <p:cNvCxnSpPr>
              <a:cxnSpLocks/>
            </p:cNvCxnSpPr>
            <p:nvPr/>
          </p:nvCxnSpPr>
          <p:spPr>
            <a:xfrm>
              <a:off x="1587316" y="4053824"/>
              <a:ext cx="1895103" cy="1235149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C17E1F46-A50A-43C6-B435-6ABFA18BE75E}"/>
              </a:ext>
            </a:extLst>
          </p:cNvPr>
          <p:cNvCxnSpPr>
            <a:cxnSpLocks/>
          </p:cNvCxnSpPr>
          <p:nvPr/>
        </p:nvCxnSpPr>
        <p:spPr>
          <a:xfrm>
            <a:off x="1928752" y="4044698"/>
            <a:ext cx="553211" cy="5607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C1D8697C-CAD9-49C8-92BA-32EED2BE33F0}"/>
              </a:ext>
            </a:extLst>
          </p:cNvPr>
          <p:cNvCxnSpPr>
            <a:cxnSpLocks/>
          </p:cNvCxnSpPr>
          <p:nvPr/>
        </p:nvCxnSpPr>
        <p:spPr>
          <a:xfrm>
            <a:off x="4164759" y="4044698"/>
            <a:ext cx="0" cy="124427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41469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9298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ベクトルの外積による左右判定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571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</a:rPr>
              <a:t>投影が下に伸びていれば右側にいる</a:t>
            </a:r>
            <a:r>
              <a:rPr kumimoji="1" lang="ja-JP" altLang="en-US" sz="2400" dirty="0"/>
              <a:t>と判定できます。</a:t>
            </a:r>
            <a:endParaRPr kumimoji="1" lang="en-US" altLang="ja-JP" sz="2400" dirty="0"/>
          </a:p>
        </p:txBody>
      </p: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5D6EC2A8-AB24-4F86-A3DC-91BFBFD837F6}"/>
              </a:ext>
            </a:extLst>
          </p:cNvPr>
          <p:cNvGrpSpPr/>
          <p:nvPr/>
        </p:nvGrpSpPr>
        <p:grpSpPr>
          <a:xfrm>
            <a:off x="567542" y="3172906"/>
            <a:ext cx="6431973" cy="3088866"/>
            <a:chOff x="567542" y="3172906"/>
            <a:chExt cx="6431973" cy="3088866"/>
          </a:xfrm>
        </p:grpSpPr>
        <p:grpSp>
          <p:nvGrpSpPr>
            <p:cNvPr id="14" name="グループ化 13">
              <a:extLst>
                <a:ext uri="{FF2B5EF4-FFF2-40B4-BE49-F238E27FC236}">
                  <a16:creationId xmlns:a16="http://schemas.microsoft.com/office/drawing/2014/main" id="{6DC519C8-2FC4-4D67-8D1D-D65659F2E5F0}"/>
                </a:ext>
              </a:extLst>
            </p:cNvPr>
            <p:cNvGrpSpPr/>
            <p:nvPr/>
          </p:nvGrpSpPr>
          <p:grpSpPr>
            <a:xfrm>
              <a:off x="567542" y="3172906"/>
              <a:ext cx="6431973" cy="3088866"/>
              <a:chOff x="238991" y="3567760"/>
              <a:chExt cx="6431973" cy="3088866"/>
            </a:xfrm>
          </p:grpSpPr>
          <p:pic>
            <p:nvPicPr>
              <p:cNvPr id="16" name="図 15">
                <a:extLst>
                  <a:ext uri="{FF2B5EF4-FFF2-40B4-BE49-F238E27FC236}">
                    <a16:creationId xmlns:a16="http://schemas.microsoft.com/office/drawing/2014/main" id="{234C86F6-28F7-4251-8466-1158600331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9270" y="4089644"/>
                <a:ext cx="720931" cy="720931"/>
              </a:xfrm>
              <a:prstGeom prst="rect">
                <a:avLst/>
              </a:prstGeom>
            </p:spPr>
          </p:pic>
          <p:pic>
            <p:nvPicPr>
              <p:cNvPr id="17" name="図 16">
                <a:extLst>
                  <a:ext uri="{FF2B5EF4-FFF2-40B4-BE49-F238E27FC236}">
                    <a16:creationId xmlns:a16="http://schemas.microsoft.com/office/drawing/2014/main" id="{4D6EAAFB-05E4-4844-9D78-3F6BF5261C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03905" y="5568096"/>
                <a:ext cx="544265" cy="1088530"/>
              </a:xfrm>
              <a:prstGeom prst="rect">
                <a:avLst/>
              </a:prstGeom>
            </p:spPr>
          </p:pic>
          <p:cxnSp>
            <p:nvCxnSpPr>
              <p:cNvPr id="18" name="直線コネクタ 17">
                <a:extLst>
                  <a:ext uri="{FF2B5EF4-FFF2-40B4-BE49-F238E27FC236}">
                    <a16:creationId xmlns:a16="http://schemas.microsoft.com/office/drawing/2014/main" id="{C9209A51-6091-4F5A-B6B1-21CC856D8ED3}"/>
                  </a:ext>
                </a:extLst>
              </p:cNvPr>
              <p:cNvCxnSpPr/>
              <p:nvPr/>
            </p:nvCxnSpPr>
            <p:spPr>
              <a:xfrm>
                <a:off x="238991" y="4450109"/>
                <a:ext cx="6431973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9D5A1269-49AB-41C3-A2E7-FADAF0BC3867}"/>
                  </a:ext>
                </a:extLst>
              </p:cNvPr>
              <p:cNvSpPr txBox="1"/>
              <p:nvPr/>
            </p:nvSpPr>
            <p:spPr>
              <a:xfrm>
                <a:off x="5849778" y="4829814"/>
                <a:ext cx="49244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右</a:t>
                </a:r>
                <a:endParaRPr kumimoji="1" lang="en-US" altLang="ja-JP" sz="2400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68F1AC72-717F-455B-8077-D81EA9EE01D7}"/>
                  </a:ext>
                </a:extLst>
              </p:cNvPr>
              <p:cNvSpPr txBox="1"/>
              <p:nvPr/>
            </p:nvSpPr>
            <p:spPr>
              <a:xfrm>
                <a:off x="5849778" y="3567760"/>
                <a:ext cx="49244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左</a:t>
                </a:r>
                <a:endParaRPr kumimoji="1" lang="en-US" altLang="ja-JP" sz="2400" b="1" dirty="0">
                  <a:solidFill>
                    <a:srgbClr val="FF0000"/>
                  </a:solidFill>
                </a:endParaRPr>
              </a:p>
            </p:txBody>
          </p:sp>
        </p:grpSp>
        <p:cxnSp>
          <p:nvCxnSpPr>
            <p:cNvPr id="15" name="直線矢印コネクタ 14">
              <a:extLst>
                <a:ext uri="{FF2B5EF4-FFF2-40B4-BE49-F238E27FC236}">
                  <a16:creationId xmlns:a16="http://schemas.microsoft.com/office/drawing/2014/main" id="{DD94631D-0946-44B1-BB1E-6A1824D47C37}"/>
                </a:ext>
              </a:extLst>
            </p:cNvPr>
            <p:cNvCxnSpPr>
              <a:cxnSpLocks/>
            </p:cNvCxnSpPr>
            <p:nvPr/>
          </p:nvCxnSpPr>
          <p:spPr>
            <a:xfrm>
              <a:off x="1587316" y="4053824"/>
              <a:ext cx="1895103" cy="1235149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C17E1F46-A50A-43C6-B435-6ABFA18BE75E}"/>
              </a:ext>
            </a:extLst>
          </p:cNvPr>
          <p:cNvCxnSpPr>
            <a:cxnSpLocks/>
          </p:cNvCxnSpPr>
          <p:nvPr/>
        </p:nvCxnSpPr>
        <p:spPr>
          <a:xfrm>
            <a:off x="1928752" y="4044698"/>
            <a:ext cx="553211" cy="5607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66500EF5-7678-40D1-8264-8FEE93DCE207}"/>
              </a:ext>
            </a:extLst>
          </p:cNvPr>
          <p:cNvSpPr txBox="1"/>
          <p:nvPr/>
        </p:nvSpPr>
        <p:spPr>
          <a:xfrm>
            <a:off x="7094288" y="4932677"/>
            <a:ext cx="510909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00B050"/>
                </a:solidFill>
              </a:rPr>
              <a:t>MEMO</a:t>
            </a:r>
          </a:p>
          <a:p>
            <a:r>
              <a:rPr kumimoji="1" lang="ja-JP" altLang="en-US" sz="2400" dirty="0"/>
              <a:t>スクリーン座標系は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下に正</a:t>
            </a:r>
            <a:r>
              <a:rPr kumimoji="1" lang="ja-JP" altLang="en-US" sz="2400" dirty="0"/>
              <a:t>なので、</a:t>
            </a:r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投影が下に伸びるということは、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外積の計算結果が正</a:t>
            </a:r>
            <a:r>
              <a:rPr kumimoji="1" lang="ja-JP" altLang="en-US" sz="2400" dirty="0"/>
              <a:t>ということ。</a:t>
            </a:r>
            <a:endParaRPr kumimoji="1" lang="en-US" altLang="ja-JP" sz="2400" dirty="0"/>
          </a:p>
        </p:txBody>
      </p: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0737EDC3-040D-445F-A2CB-87B91BE8754A}"/>
              </a:ext>
            </a:extLst>
          </p:cNvPr>
          <p:cNvCxnSpPr>
            <a:cxnSpLocks/>
          </p:cNvCxnSpPr>
          <p:nvPr/>
        </p:nvCxnSpPr>
        <p:spPr>
          <a:xfrm>
            <a:off x="4164759" y="4044698"/>
            <a:ext cx="0" cy="124427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55671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9298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ベクトルの外積による左右判定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571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</a:rPr>
              <a:t>投影が上に伸びていれば左側にいる</a:t>
            </a:r>
            <a:r>
              <a:rPr kumimoji="1" lang="ja-JP" altLang="en-US" sz="2400" dirty="0"/>
              <a:t>と判定できます。</a:t>
            </a:r>
            <a:endParaRPr kumimoji="1" lang="en-US" altLang="ja-JP" sz="2400" dirty="0"/>
          </a:p>
        </p:txBody>
      </p: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5D6EC2A8-AB24-4F86-A3DC-91BFBFD837F6}"/>
              </a:ext>
            </a:extLst>
          </p:cNvPr>
          <p:cNvGrpSpPr/>
          <p:nvPr/>
        </p:nvGrpSpPr>
        <p:grpSpPr>
          <a:xfrm>
            <a:off x="567542" y="2098778"/>
            <a:ext cx="6431973" cy="2797847"/>
            <a:chOff x="567542" y="2098778"/>
            <a:chExt cx="6431973" cy="2797847"/>
          </a:xfrm>
        </p:grpSpPr>
        <p:grpSp>
          <p:nvGrpSpPr>
            <p:cNvPr id="14" name="グループ化 13">
              <a:extLst>
                <a:ext uri="{FF2B5EF4-FFF2-40B4-BE49-F238E27FC236}">
                  <a16:creationId xmlns:a16="http://schemas.microsoft.com/office/drawing/2014/main" id="{6DC519C8-2FC4-4D67-8D1D-D65659F2E5F0}"/>
                </a:ext>
              </a:extLst>
            </p:cNvPr>
            <p:cNvGrpSpPr/>
            <p:nvPr/>
          </p:nvGrpSpPr>
          <p:grpSpPr>
            <a:xfrm>
              <a:off x="567542" y="2098778"/>
              <a:ext cx="6431973" cy="2797847"/>
              <a:chOff x="238991" y="2493632"/>
              <a:chExt cx="6431973" cy="2797847"/>
            </a:xfrm>
          </p:grpSpPr>
          <p:pic>
            <p:nvPicPr>
              <p:cNvPr id="16" name="図 15">
                <a:extLst>
                  <a:ext uri="{FF2B5EF4-FFF2-40B4-BE49-F238E27FC236}">
                    <a16:creationId xmlns:a16="http://schemas.microsoft.com/office/drawing/2014/main" id="{234C86F6-28F7-4251-8466-1158600331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9270" y="4089644"/>
                <a:ext cx="720931" cy="720931"/>
              </a:xfrm>
              <a:prstGeom prst="rect">
                <a:avLst/>
              </a:prstGeom>
            </p:spPr>
          </p:pic>
          <p:pic>
            <p:nvPicPr>
              <p:cNvPr id="17" name="図 16">
                <a:extLst>
                  <a:ext uri="{FF2B5EF4-FFF2-40B4-BE49-F238E27FC236}">
                    <a16:creationId xmlns:a16="http://schemas.microsoft.com/office/drawing/2014/main" id="{4D6EAAFB-05E4-4844-9D78-3F6BF5261C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21172" y="2493632"/>
                <a:ext cx="544265" cy="1088530"/>
              </a:xfrm>
              <a:prstGeom prst="rect">
                <a:avLst/>
              </a:prstGeom>
            </p:spPr>
          </p:pic>
          <p:cxnSp>
            <p:nvCxnSpPr>
              <p:cNvPr id="18" name="直線コネクタ 17">
                <a:extLst>
                  <a:ext uri="{FF2B5EF4-FFF2-40B4-BE49-F238E27FC236}">
                    <a16:creationId xmlns:a16="http://schemas.microsoft.com/office/drawing/2014/main" id="{C9209A51-6091-4F5A-B6B1-21CC856D8ED3}"/>
                  </a:ext>
                </a:extLst>
              </p:cNvPr>
              <p:cNvCxnSpPr/>
              <p:nvPr/>
            </p:nvCxnSpPr>
            <p:spPr>
              <a:xfrm>
                <a:off x="238991" y="4450109"/>
                <a:ext cx="6431973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9D5A1269-49AB-41C3-A2E7-FADAF0BC3867}"/>
                  </a:ext>
                </a:extLst>
              </p:cNvPr>
              <p:cNvSpPr txBox="1"/>
              <p:nvPr/>
            </p:nvSpPr>
            <p:spPr>
              <a:xfrm>
                <a:off x="5849778" y="4829814"/>
                <a:ext cx="49244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右</a:t>
                </a:r>
                <a:endParaRPr kumimoji="1" lang="en-US" altLang="ja-JP" sz="2400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68F1AC72-717F-455B-8077-D81EA9EE01D7}"/>
                  </a:ext>
                </a:extLst>
              </p:cNvPr>
              <p:cNvSpPr txBox="1"/>
              <p:nvPr/>
            </p:nvSpPr>
            <p:spPr>
              <a:xfrm>
                <a:off x="5849778" y="3567760"/>
                <a:ext cx="49244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左</a:t>
                </a:r>
                <a:endParaRPr kumimoji="1" lang="en-US" altLang="ja-JP" sz="2400" b="1" dirty="0">
                  <a:solidFill>
                    <a:srgbClr val="FF0000"/>
                  </a:solidFill>
                </a:endParaRPr>
              </a:p>
            </p:txBody>
          </p:sp>
        </p:grpSp>
        <p:cxnSp>
          <p:nvCxnSpPr>
            <p:cNvPr id="15" name="直線矢印コネクタ 14">
              <a:extLst>
                <a:ext uri="{FF2B5EF4-FFF2-40B4-BE49-F238E27FC236}">
                  <a16:creationId xmlns:a16="http://schemas.microsoft.com/office/drawing/2014/main" id="{DD94631D-0946-44B1-BB1E-6A1824D47C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87316" y="2243821"/>
              <a:ext cx="1945140" cy="1810003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C17E1F46-A50A-43C6-B435-6ABFA18BE75E}"/>
              </a:ext>
            </a:extLst>
          </p:cNvPr>
          <p:cNvCxnSpPr>
            <a:cxnSpLocks/>
          </p:cNvCxnSpPr>
          <p:nvPr/>
        </p:nvCxnSpPr>
        <p:spPr>
          <a:xfrm>
            <a:off x="1928752" y="4044698"/>
            <a:ext cx="553211" cy="5607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C1D8697C-CAD9-49C8-92BA-32EED2BE33F0}"/>
              </a:ext>
            </a:extLst>
          </p:cNvPr>
          <p:cNvCxnSpPr>
            <a:cxnSpLocks/>
          </p:cNvCxnSpPr>
          <p:nvPr/>
        </p:nvCxnSpPr>
        <p:spPr>
          <a:xfrm flipV="1">
            <a:off x="4353193" y="2098778"/>
            <a:ext cx="0" cy="194503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6773D919-53D3-4B75-839C-EE5520084D4B}"/>
              </a:ext>
            </a:extLst>
          </p:cNvPr>
          <p:cNvSpPr txBox="1"/>
          <p:nvPr/>
        </p:nvSpPr>
        <p:spPr>
          <a:xfrm>
            <a:off x="7094288" y="4932677"/>
            <a:ext cx="510909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00B050"/>
                </a:solidFill>
              </a:rPr>
              <a:t>MEMO</a:t>
            </a:r>
          </a:p>
          <a:p>
            <a:r>
              <a:rPr kumimoji="1" lang="ja-JP" altLang="en-US" sz="2400" dirty="0"/>
              <a:t>スクリーン座標系は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上に負</a:t>
            </a:r>
            <a:r>
              <a:rPr kumimoji="1" lang="ja-JP" altLang="en-US" sz="2400" dirty="0"/>
              <a:t>なので、</a:t>
            </a:r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投影が上に伸びるということは、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外積の計算結果が負</a:t>
            </a:r>
            <a:r>
              <a:rPr kumimoji="1" lang="ja-JP" altLang="en-US" sz="2400" dirty="0"/>
              <a:t>ということ。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0037799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9298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ベクトルの外積による左右判定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2776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SightMachine.cpp</a:t>
            </a:r>
            <a:r>
              <a:rPr lang="ja-JP" altLang="en-US" sz="2400" dirty="0"/>
              <a:t>の空白を埋めましょう。</a:t>
            </a:r>
            <a:endParaRPr kumimoji="1"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C140FF6C-7083-4B6B-BE45-25A513AAF8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3" y="1817794"/>
            <a:ext cx="5074722" cy="4500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4739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9298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ベクトルの外積による左右判定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80241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左右判定も使いどころも多く、様々な仕組みに応用できます。</a:t>
            </a:r>
            <a:endParaRPr lang="en-US" altLang="ja-JP" sz="2400" dirty="0"/>
          </a:p>
          <a:p>
            <a:r>
              <a:rPr kumimoji="1" lang="ja-JP" altLang="en-US" sz="2400" dirty="0"/>
              <a:t>今回の処理と仕組みはしっかり覚えておきましょう。</a:t>
            </a:r>
            <a:endParaRPr kumimoji="1" lang="en-US" altLang="ja-JP" sz="2400" dirty="0"/>
          </a:p>
        </p:txBody>
      </p: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94B1296A-F0C7-4811-B94C-5E01F8907C36}"/>
              </a:ext>
            </a:extLst>
          </p:cNvPr>
          <p:cNvGrpSpPr/>
          <p:nvPr/>
        </p:nvGrpSpPr>
        <p:grpSpPr>
          <a:xfrm>
            <a:off x="567542" y="3567760"/>
            <a:ext cx="4399313" cy="1908249"/>
            <a:chOff x="567542" y="3172906"/>
            <a:chExt cx="6431973" cy="3088866"/>
          </a:xfrm>
        </p:grpSpPr>
        <p:grpSp>
          <p:nvGrpSpPr>
            <p:cNvPr id="5" name="グループ化 4">
              <a:extLst>
                <a:ext uri="{FF2B5EF4-FFF2-40B4-BE49-F238E27FC236}">
                  <a16:creationId xmlns:a16="http://schemas.microsoft.com/office/drawing/2014/main" id="{9569C042-760C-4966-8AD5-E92EC9AB835C}"/>
                </a:ext>
              </a:extLst>
            </p:cNvPr>
            <p:cNvGrpSpPr/>
            <p:nvPr/>
          </p:nvGrpSpPr>
          <p:grpSpPr>
            <a:xfrm>
              <a:off x="567542" y="3172906"/>
              <a:ext cx="6431973" cy="3088866"/>
              <a:chOff x="567542" y="3172906"/>
              <a:chExt cx="6431973" cy="3088866"/>
            </a:xfrm>
          </p:grpSpPr>
          <p:grpSp>
            <p:nvGrpSpPr>
              <p:cNvPr id="7" name="グループ化 6">
                <a:extLst>
                  <a:ext uri="{FF2B5EF4-FFF2-40B4-BE49-F238E27FC236}">
                    <a16:creationId xmlns:a16="http://schemas.microsoft.com/office/drawing/2014/main" id="{A8E9F059-A2BD-4B90-9A53-12A544BF6785}"/>
                  </a:ext>
                </a:extLst>
              </p:cNvPr>
              <p:cNvGrpSpPr/>
              <p:nvPr/>
            </p:nvGrpSpPr>
            <p:grpSpPr>
              <a:xfrm>
                <a:off x="567542" y="3172906"/>
                <a:ext cx="6431973" cy="3088866"/>
                <a:chOff x="238991" y="3567760"/>
                <a:chExt cx="6431973" cy="3088866"/>
              </a:xfrm>
            </p:grpSpPr>
            <p:pic>
              <p:nvPicPr>
                <p:cNvPr id="9" name="図 8">
                  <a:extLst>
                    <a:ext uri="{FF2B5EF4-FFF2-40B4-BE49-F238E27FC236}">
                      <a16:creationId xmlns:a16="http://schemas.microsoft.com/office/drawing/2014/main" id="{5535CEE2-80F6-4608-B4EC-A4CF9371D41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79270" y="4089644"/>
                  <a:ext cx="720931" cy="720931"/>
                </a:xfrm>
                <a:prstGeom prst="rect">
                  <a:avLst/>
                </a:prstGeom>
              </p:spPr>
            </p:pic>
            <p:pic>
              <p:nvPicPr>
                <p:cNvPr id="10" name="図 9">
                  <a:extLst>
                    <a:ext uri="{FF2B5EF4-FFF2-40B4-BE49-F238E27FC236}">
                      <a16:creationId xmlns:a16="http://schemas.microsoft.com/office/drawing/2014/main" id="{69F205E7-8249-433E-939D-8B9533FB1EA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203905" y="5568096"/>
                  <a:ext cx="544265" cy="1088530"/>
                </a:xfrm>
                <a:prstGeom prst="rect">
                  <a:avLst/>
                </a:prstGeom>
              </p:spPr>
            </p:pic>
            <p:cxnSp>
              <p:nvCxnSpPr>
                <p:cNvPr id="11" name="直線コネクタ 10">
                  <a:extLst>
                    <a:ext uri="{FF2B5EF4-FFF2-40B4-BE49-F238E27FC236}">
                      <a16:creationId xmlns:a16="http://schemas.microsoft.com/office/drawing/2014/main" id="{BB8DDA6C-92B9-47F0-BDA7-94C4B3C76EA4}"/>
                    </a:ext>
                  </a:extLst>
                </p:cNvPr>
                <p:cNvCxnSpPr/>
                <p:nvPr/>
              </p:nvCxnSpPr>
              <p:spPr>
                <a:xfrm>
                  <a:off x="238991" y="4450109"/>
                  <a:ext cx="643197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2" name="テキスト ボックス 11">
                  <a:extLst>
                    <a:ext uri="{FF2B5EF4-FFF2-40B4-BE49-F238E27FC236}">
                      <a16:creationId xmlns:a16="http://schemas.microsoft.com/office/drawing/2014/main" id="{86DB2000-03DB-4509-B98F-F5C01F348769}"/>
                    </a:ext>
                  </a:extLst>
                </p:cNvPr>
                <p:cNvSpPr txBox="1"/>
                <p:nvPr/>
              </p:nvSpPr>
              <p:spPr>
                <a:xfrm>
                  <a:off x="5849778" y="4639960"/>
                  <a:ext cx="492443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ja-JP" altLang="en-US" sz="2400" b="1" dirty="0">
                      <a:solidFill>
                        <a:srgbClr val="FF0000"/>
                      </a:solidFill>
                    </a:rPr>
                    <a:t>右</a:t>
                  </a:r>
                  <a:endParaRPr kumimoji="1" lang="en-US" altLang="ja-JP" sz="2400" b="1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13" name="テキスト ボックス 12">
                  <a:extLst>
                    <a:ext uri="{FF2B5EF4-FFF2-40B4-BE49-F238E27FC236}">
                      <a16:creationId xmlns:a16="http://schemas.microsoft.com/office/drawing/2014/main" id="{BD096B5D-9F1E-49BE-85F9-FB327FA28501}"/>
                    </a:ext>
                  </a:extLst>
                </p:cNvPr>
                <p:cNvSpPr txBox="1"/>
                <p:nvPr/>
              </p:nvSpPr>
              <p:spPr>
                <a:xfrm>
                  <a:off x="5849778" y="3567760"/>
                  <a:ext cx="492443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ja-JP" altLang="en-US" sz="2400" b="1" dirty="0">
                      <a:solidFill>
                        <a:srgbClr val="FF0000"/>
                      </a:solidFill>
                    </a:rPr>
                    <a:t>左</a:t>
                  </a:r>
                  <a:endParaRPr kumimoji="1" lang="en-US" altLang="ja-JP" sz="2400" b="1" dirty="0">
                    <a:solidFill>
                      <a:srgbClr val="FF0000"/>
                    </a:solidFill>
                  </a:endParaRPr>
                </a:p>
              </p:txBody>
            </p:sp>
          </p:grpSp>
          <p:cxnSp>
            <p:nvCxnSpPr>
              <p:cNvPr id="8" name="直線矢印コネクタ 7">
                <a:extLst>
                  <a:ext uri="{FF2B5EF4-FFF2-40B4-BE49-F238E27FC236}">
                    <a16:creationId xmlns:a16="http://schemas.microsoft.com/office/drawing/2014/main" id="{AB6E210E-DB67-4521-91F4-1A561DB5497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87316" y="4053824"/>
                <a:ext cx="1895103" cy="1235149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4" name="直線矢印コネクタ 13">
              <a:extLst>
                <a:ext uri="{FF2B5EF4-FFF2-40B4-BE49-F238E27FC236}">
                  <a16:creationId xmlns:a16="http://schemas.microsoft.com/office/drawing/2014/main" id="{C849D339-6455-407C-A885-C8D6FD52B946}"/>
                </a:ext>
              </a:extLst>
            </p:cNvPr>
            <p:cNvCxnSpPr>
              <a:cxnSpLocks/>
            </p:cNvCxnSpPr>
            <p:nvPr/>
          </p:nvCxnSpPr>
          <p:spPr>
            <a:xfrm>
              <a:off x="1928752" y="4044698"/>
              <a:ext cx="553211" cy="5607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矢印コネクタ 14">
              <a:extLst>
                <a:ext uri="{FF2B5EF4-FFF2-40B4-BE49-F238E27FC236}">
                  <a16:creationId xmlns:a16="http://schemas.microsoft.com/office/drawing/2014/main" id="{A890EEE9-61CE-46BE-8B02-E2DE72CE5313}"/>
                </a:ext>
              </a:extLst>
            </p:cNvPr>
            <p:cNvCxnSpPr>
              <a:cxnSpLocks/>
            </p:cNvCxnSpPr>
            <p:nvPr/>
          </p:nvCxnSpPr>
          <p:spPr>
            <a:xfrm>
              <a:off x="4164759" y="4044698"/>
              <a:ext cx="0" cy="124427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102E6922-6426-4823-ABAD-D5949E1EBD69}"/>
              </a:ext>
            </a:extLst>
          </p:cNvPr>
          <p:cNvGrpSpPr/>
          <p:nvPr/>
        </p:nvGrpSpPr>
        <p:grpSpPr>
          <a:xfrm>
            <a:off x="6495739" y="2761328"/>
            <a:ext cx="4472049" cy="1898072"/>
            <a:chOff x="567542" y="2098778"/>
            <a:chExt cx="6431973" cy="2797847"/>
          </a:xfrm>
        </p:grpSpPr>
        <p:grpSp>
          <p:nvGrpSpPr>
            <p:cNvPr id="16" name="グループ化 15">
              <a:extLst>
                <a:ext uri="{FF2B5EF4-FFF2-40B4-BE49-F238E27FC236}">
                  <a16:creationId xmlns:a16="http://schemas.microsoft.com/office/drawing/2014/main" id="{748EB742-4379-4C9A-9A8D-75F6D45753B1}"/>
                </a:ext>
              </a:extLst>
            </p:cNvPr>
            <p:cNvGrpSpPr/>
            <p:nvPr/>
          </p:nvGrpSpPr>
          <p:grpSpPr>
            <a:xfrm>
              <a:off x="567542" y="2098778"/>
              <a:ext cx="6431973" cy="2797847"/>
              <a:chOff x="567542" y="2098778"/>
              <a:chExt cx="6431973" cy="2797847"/>
            </a:xfrm>
          </p:grpSpPr>
          <p:grpSp>
            <p:nvGrpSpPr>
              <p:cNvPr id="17" name="グループ化 16">
                <a:extLst>
                  <a:ext uri="{FF2B5EF4-FFF2-40B4-BE49-F238E27FC236}">
                    <a16:creationId xmlns:a16="http://schemas.microsoft.com/office/drawing/2014/main" id="{D8BC0867-D7B3-4041-BD2D-1E59C71194C4}"/>
                  </a:ext>
                </a:extLst>
              </p:cNvPr>
              <p:cNvGrpSpPr/>
              <p:nvPr/>
            </p:nvGrpSpPr>
            <p:grpSpPr>
              <a:xfrm>
                <a:off x="567542" y="2098778"/>
                <a:ext cx="6431973" cy="2797847"/>
                <a:chOff x="238991" y="2493632"/>
                <a:chExt cx="6431973" cy="2797847"/>
              </a:xfrm>
            </p:grpSpPr>
            <p:pic>
              <p:nvPicPr>
                <p:cNvPr id="19" name="図 18">
                  <a:extLst>
                    <a:ext uri="{FF2B5EF4-FFF2-40B4-BE49-F238E27FC236}">
                      <a16:creationId xmlns:a16="http://schemas.microsoft.com/office/drawing/2014/main" id="{10C86553-3A03-49BA-B87D-A43FCA36794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79270" y="4089644"/>
                  <a:ext cx="720931" cy="720931"/>
                </a:xfrm>
                <a:prstGeom prst="rect">
                  <a:avLst/>
                </a:prstGeom>
              </p:spPr>
            </p:pic>
            <p:pic>
              <p:nvPicPr>
                <p:cNvPr id="20" name="図 19">
                  <a:extLst>
                    <a:ext uri="{FF2B5EF4-FFF2-40B4-BE49-F238E27FC236}">
                      <a16:creationId xmlns:a16="http://schemas.microsoft.com/office/drawing/2014/main" id="{6D7F3A19-2AEC-4C26-8E4B-CDB7A85633A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221172" y="2493632"/>
                  <a:ext cx="544265" cy="1088530"/>
                </a:xfrm>
                <a:prstGeom prst="rect">
                  <a:avLst/>
                </a:prstGeom>
              </p:spPr>
            </p:pic>
            <p:cxnSp>
              <p:nvCxnSpPr>
                <p:cNvPr id="21" name="直線コネクタ 20">
                  <a:extLst>
                    <a:ext uri="{FF2B5EF4-FFF2-40B4-BE49-F238E27FC236}">
                      <a16:creationId xmlns:a16="http://schemas.microsoft.com/office/drawing/2014/main" id="{938B8D7E-9B48-4644-8B62-993DA1CD2E1F}"/>
                    </a:ext>
                  </a:extLst>
                </p:cNvPr>
                <p:cNvCxnSpPr/>
                <p:nvPr/>
              </p:nvCxnSpPr>
              <p:spPr>
                <a:xfrm>
                  <a:off x="238991" y="4450109"/>
                  <a:ext cx="643197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2" name="テキスト ボックス 21">
                  <a:extLst>
                    <a:ext uri="{FF2B5EF4-FFF2-40B4-BE49-F238E27FC236}">
                      <a16:creationId xmlns:a16="http://schemas.microsoft.com/office/drawing/2014/main" id="{E7593A43-72A2-447E-B8A8-E02E7F6A7AC9}"/>
                    </a:ext>
                  </a:extLst>
                </p:cNvPr>
                <p:cNvSpPr txBox="1"/>
                <p:nvPr/>
              </p:nvSpPr>
              <p:spPr>
                <a:xfrm>
                  <a:off x="5849778" y="4829814"/>
                  <a:ext cx="492443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ja-JP" altLang="en-US" sz="2400" b="1" dirty="0">
                      <a:solidFill>
                        <a:srgbClr val="FF0000"/>
                      </a:solidFill>
                    </a:rPr>
                    <a:t>右</a:t>
                  </a:r>
                  <a:endParaRPr kumimoji="1" lang="en-US" altLang="ja-JP" sz="2400" b="1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23" name="テキスト ボックス 22">
                  <a:extLst>
                    <a:ext uri="{FF2B5EF4-FFF2-40B4-BE49-F238E27FC236}">
                      <a16:creationId xmlns:a16="http://schemas.microsoft.com/office/drawing/2014/main" id="{2BF2B3D0-62BF-483D-8225-86EE4C803FCF}"/>
                    </a:ext>
                  </a:extLst>
                </p:cNvPr>
                <p:cNvSpPr txBox="1"/>
                <p:nvPr/>
              </p:nvSpPr>
              <p:spPr>
                <a:xfrm>
                  <a:off x="5849778" y="3567760"/>
                  <a:ext cx="492443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ja-JP" altLang="en-US" sz="2400" b="1" dirty="0">
                      <a:solidFill>
                        <a:srgbClr val="FF0000"/>
                      </a:solidFill>
                    </a:rPr>
                    <a:t>左</a:t>
                  </a:r>
                  <a:endParaRPr kumimoji="1" lang="en-US" altLang="ja-JP" sz="2400" b="1" dirty="0">
                    <a:solidFill>
                      <a:srgbClr val="FF0000"/>
                    </a:solidFill>
                  </a:endParaRPr>
                </a:p>
              </p:txBody>
            </p:sp>
          </p:grpSp>
          <p:cxnSp>
            <p:nvCxnSpPr>
              <p:cNvPr id="18" name="直線矢印コネクタ 17">
                <a:extLst>
                  <a:ext uri="{FF2B5EF4-FFF2-40B4-BE49-F238E27FC236}">
                    <a16:creationId xmlns:a16="http://schemas.microsoft.com/office/drawing/2014/main" id="{FB4491AE-AD82-4B6B-8513-151565EF788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587316" y="2243821"/>
                <a:ext cx="1945140" cy="1810003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4" name="直線矢印コネクタ 23">
              <a:extLst>
                <a:ext uri="{FF2B5EF4-FFF2-40B4-BE49-F238E27FC236}">
                  <a16:creationId xmlns:a16="http://schemas.microsoft.com/office/drawing/2014/main" id="{D99FF38F-DBF6-430D-9F48-13C63ABD07FD}"/>
                </a:ext>
              </a:extLst>
            </p:cNvPr>
            <p:cNvCxnSpPr>
              <a:cxnSpLocks/>
            </p:cNvCxnSpPr>
            <p:nvPr/>
          </p:nvCxnSpPr>
          <p:spPr>
            <a:xfrm>
              <a:off x="1928752" y="4044698"/>
              <a:ext cx="553211" cy="5607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矢印コネクタ 24">
              <a:extLst>
                <a:ext uri="{FF2B5EF4-FFF2-40B4-BE49-F238E27FC236}">
                  <a16:creationId xmlns:a16="http://schemas.microsoft.com/office/drawing/2014/main" id="{31D9A946-5C70-45FD-9DAC-B37DC9CCCF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53193" y="2098778"/>
              <a:ext cx="0" cy="194503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86218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261</Words>
  <Application>Microsoft Office PowerPoint</Application>
  <PresentationFormat>ワイド画面</PresentationFormat>
  <Paragraphs>42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2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13</cp:revision>
  <dcterms:created xsi:type="dcterms:W3CDTF">2024-08-27T02:15:54Z</dcterms:created>
  <dcterms:modified xsi:type="dcterms:W3CDTF">2024-12-04T01:02:29Z</dcterms:modified>
</cp:coreProperties>
</file>