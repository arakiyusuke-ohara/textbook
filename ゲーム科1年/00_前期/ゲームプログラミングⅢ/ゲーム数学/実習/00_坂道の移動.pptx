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004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2D</a:t>
            </a:r>
            <a:r>
              <a:rPr kumimoji="1" lang="ja-JP" altLang="en-US" sz="2400" dirty="0"/>
              <a:t>ゲームの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坂道の移動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直線の方程式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  <a:p>
            <a:r>
              <a:rPr lang="ja-JP" altLang="en-US" sz="2400" dirty="0"/>
              <a:t>座学の内容を思い出しながら練習しましょう。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A87D42-5299-4E71-B74D-46C9C97F1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1308"/>
            <a:ext cx="8172710" cy="377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416868" cy="46071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今回使用する方程式を振り返ります。</a:t>
                </a:r>
                <a:endParaRPr kumimoji="1"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■直線の傾き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i="1" smtClean="0">
                              <a:latin typeface="Cambria Math" panose="02040503050406030204" pitchFamily="18" charset="0"/>
                            </a:rPr>
                            <m:t>増加量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ja-JP" altLang="en-US" sz="2400" i="1">
                              <a:latin typeface="Cambria Math" panose="02040503050406030204" pitchFamily="18" charset="0"/>
                            </a:rPr>
                            <m:t>の</m:t>
                          </m:r>
                          <m:r>
                            <a:rPr lang="ja-JP" altLang="en-US" sz="2400" i="1" smtClean="0">
                              <a:latin typeface="Cambria Math" panose="02040503050406030204" pitchFamily="18" charset="0"/>
                            </a:rPr>
                            <m:t>増加量</m:t>
                          </m:r>
                        </m:den>
                      </m:f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■傾き、切片型の直線の方程式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座標</m:t>
                    </m:r>
                  </m:oMath>
                </a14:m>
                <a:endParaRPr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傾き</m:t>
                    </m:r>
                  </m:oMath>
                </a14:m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・・・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座標</m:t>
                    </m:r>
                  </m:oMath>
                </a14:m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切片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416868" cy="4607159"/>
              </a:xfrm>
              <a:prstGeom prst="rect">
                <a:avLst/>
              </a:prstGeom>
              <a:blipFill>
                <a:blip r:embed="rId2"/>
                <a:stretch>
                  <a:fillRect l="-1687" t="-1060" r="-787" b="-22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939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2045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処理手順は以下の通りです。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① 坂を直線に見立てて、その直線の始点と終点から傾きを計算する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② 坂の始点と①で計算した傾きを使って切片を求める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③ 傾き、プレイヤーの足元の</a:t>
            </a:r>
            <a:r>
              <a:rPr kumimoji="1" lang="en-US" altLang="ja-JP" sz="2400" dirty="0"/>
              <a:t>X</a:t>
            </a:r>
            <a:r>
              <a:rPr lang="ja-JP" altLang="en-US" sz="2400" dirty="0"/>
              <a:t>座標、切片を使って、坂の高さを求める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en-US" altLang="ja-JP" sz="2400" dirty="0"/>
              <a:t>※</a:t>
            </a:r>
            <a:r>
              <a:rPr lang="ja-JP" altLang="en-US" sz="2400" dirty="0"/>
              <a:t>ほかにもゲーム的な工夫は必要ですが、</a:t>
            </a:r>
            <a:r>
              <a:rPr kumimoji="1" lang="ja-JP" altLang="en-US" sz="2400" dirty="0"/>
              <a:t>今回は数学部分だけ。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8124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2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Player.cpp</a:t>
            </a:r>
            <a:r>
              <a:rPr kumimoji="1" lang="ja-JP" altLang="en-US" sz="2400" dirty="0"/>
              <a:t>の</a:t>
            </a:r>
            <a:r>
              <a:rPr kumimoji="1" lang="en-US" altLang="ja-JP" sz="2400" dirty="0" err="1">
                <a:solidFill>
                  <a:srgbClr val="0070C0"/>
                </a:solidFill>
              </a:rPr>
              <a:t>PlayerHitSlopeBlockY</a:t>
            </a:r>
            <a:r>
              <a:rPr kumimoji="1" lang="ja-JP" altLang="en-US" sz="2400" dirty="0"/>
              <a:t>関数にある以下のコメントを探しましょう。</a:t>
            </a:r>
            <a:endParaRPr kumimoji="1" lang="en-US" altLang="ja-JP" sz="2400" dirty="0"/>
          </a:p>
          <a:p>
            <a:r>
              <a:rPr lang="ja-JP" altLang="en-US" sz="2400" dirty="0"/>
              <a:t>ここに先ほどの手順の処理を書いていきます。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B4B8F7-F3FE-4094-A90B-FCCF069EC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5"/>
            <a:ext cx="9483060" cy="277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72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28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 坂を直線に見立てて、傾きを計算します。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5DEAC74-43D2-4005-88E8-5C208FF98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3671949" cy="1694746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8784762-B28A-4782-96AC-FF6EF0CED45B}"/>
              </a:ext>
            </a:extLst>
          </p:cNvPr>
          <p:cNvCxnSpPr>
            <a:cxnSpLocks/>
          </p:cNvCxnSpPr>
          <p:nvPr/>
        </p:nvCxnSpPr>
        <p:spPr>
          <a:xfrm flipV="1">
            <a:off x="1529933" y="2140527"/>
            <a:ext cx="1274119" cy="128847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AABB42C-A6D1-4274-9788-C2EE18D146E9}"/>
              </a:ext>
            </a:extLst>
          </p:cNvPr>
          <p:cNvSpPr txBox="1"/>
          <p:nvPr/>
        </p:nvSpPr>
        <p:spPr>
          <a:xfrm>
            <a:off x="567541" y="3835273"/>
            <a:ext cx="75713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坂の始点と終点はすでに変数で用意しています。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坂の始点・・・</a:t>
            </a:r>
            <a:r>
              <a:rPr lang="en-US" altLang="ja-JP" sz="2400" dirty="0" err="1">
                <a:solidFill>
                  <a:srgbClr val="0070C0"/>
                </a:solidFill>
              </a:rPr>
              <a:t>startX</a:t>
            </a:r>
            <a:r>
              <a:rPr lang="en-US" altLang="ja-JP" sz="2400" dirty="0"/>
              <a:t>, </a:t>
            </a:r>
            <a:r>
              <a:rPr lang="en-US" altLang="ja-JP" sz="2400" dirty="0" err="1">
                <a:solidFill>
                  <a:srgbClr val="0070C0"/>
                </a:solidFill>
              </a:rPr>
              <a:t>startY</a:t>
            </a:r>
            <a:endParaRPr lang="en-US" altLang="ja-JP" sz="2400" dirty="0">
              <a:solidFill>
                <a:srgbClr val="0070C0"/>
              </a:solidFill>
            </a:endParaRPr>
          </a:p>
          <a:p>
            <a:r>
              <a:rPr kumimoji="1" lang="ja-JP" altLang="en-US" sz="2400" dirty="0"/>
              <a:t>坂の終点・・・</a:t>
            </a:r>
            <a:r>
              <a:rPr lang="en-US" altLang="ja-JP" sz="2400" dirty="0" err="1">
                <a:solidFill>
                  <a:srgbClr val="0070C0"/>
                </a:solidFill>
              </a:rPr>
              <a:t>endX</a:t>
            </a:r>
            <a:r>
              <a:rPr lang="en-US" altLang="ja-JP" sz="2400" dirty="0"/>
              <a:t>, </a:t>
            </a:r>
            <a:r>
              <a:rPr lang="en-US" altLang="ja-JP" sz="2400" dirty="0" err="1">
                <a:solidFill>
                  <a:srgbClr val="0070C0"/>
                </a:solidFill>
              </a:rPr>
              <a:t>endY</a:t>
            </a:r>
            <a:endParaRPr lang="en-US" altLang="ja-JP" sz="2400" dirty="0">
              <a:solidFill>
                <a:srgbClr val="0070C0"/>
              </a:solidFill>
            </a:endParaRPr>
          </a:p>
          <a:p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わからないときは座学の時の資料も見返してみよう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17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7235" cy="3231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② 坂の始点座標と傾きを方程式に代入すると、切片を求められます。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ja-JP" altLang="en-US" sz="2400" b="0" i="1" dirty="0">
                        <a:latin typeface="Cambria Math" panose="02040503050406030204" pitchFamily="18" charset="0"/>
                      </a:rPr>
                      <m:t>坂の始点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坂の始点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:r>
                  <a:rPr kumimoji="1" lang="ja-JP" altLang="en-US" sz="2400" dirty="0"/>
                  <a:t>わかっている要素を置き換え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ja-JP" altLang="en-US" sz="2400" b="0" i="1" dirty="0" smtClean="0">
                        <a:latin typeface="Cambria Math" panose="02040503050406030204" pitchFamily="18" charset="0"/>
                      </a:rPr>
                      <m:t>坂の始点</m:t>
                    </m:r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坂の始点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の形に式を変形</a:t>
                </a:r>
                <a:endParaRPr kumimoji="1"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kumimoji="1" lang="ja-JP" altLang="en-US" sz="2400" dirty="0"/>
                  <a:t>これで切片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sz="2400" dirty="0"/>
                  <a:t>を求められます。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7235" cy="3231654"/>
              </a:xfrm>
              <a:prstGeom prst="rect">
                <a:avLst/>
              </a:prstGeom>
              <a:blipFill>
                <a:blip r:embed="rId2"/>
                <a:stretch>
                  <a:fillRect l="-852" t="-1509" b="-33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86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737235" cy="37858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③ 傾き、切片、プレイヤーの足元の座標から、坂の高さを求めます。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lang="ja-JP" altLang="en-US" sz="2400" b="0" i="1" dirty="0">
                        <a:latin typeface="Cambria Math" panose="02040503050406030204" pitchFamily="18" charset="0"/>
                      </a:rPr>
                      <m:t>坂道の高さ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傾き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足元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切片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:r>
                  <a:rPr kumimoji="1" lang="ja-JP" altLang="en-US" sz="2400" dirty="0"/>
                  <a:t>わかっている要素を置き換え</a:t>
                </a:r>
                <a:endParaRPr kumimoji="1"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kumimoji="1" lang="ja-JP" altLang="en-US" sz="2400" dirty="0"/>
                  <a:t>足元の</a:t>
                </a:r>
                <a:r>
                  <a:rPr kumimoji="1" lang="en-US" altLang="ja-JP" sz="2400" dirty="0"/>
                  <a:t>X</a:t>
                </a:r>
                <a:r>
                  <a:rPr kumimoji="1" lang="ja-JP" altLang="en-US" sz="2400" dirty="0"/>
                  <a:t>座標はすでに用意しています。</a:t>
                </a:r>
                <a:endParaRPr kumimoji="1" lang="en-US" altLang="ja-JP" sz="2400" dirty="0"/>
              </a:p>
              <a:p>
                <a:pPr/>
                <a:r>
                  <a:rPr lang="ja-JP" altLang="en-US" sz="2400" dirty="0"/>
                  <a:t>足元の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座標・・・</a:t>
                </a:r>
                <a:r>
                  <a:rPr lang="en-US" altLang="ja-JP" sz="2400" dirty="0" err="1">
                    <a:solidFill>
                      <a:srgbClr val="0070C0"/>
                    </a:solidFill>
                  </a:rPr>
                  <a:t>playerFootX</a:t>
                </a:r>
                <a:endParaRPr lang="en-US" altLang="ja-JP" sz="2400" dirty="0">
                  <a:solidFill>
                    <a:srgbClr val="0070C0"/>
                  </a:solidFill>
                </a:endParaRPr>
              </a:p>
              <a:p>
                <a:pPr/>
                <a:endParaRPr kumimoji="1" lang="en-US" altLang="ja-JP" sz="2400" dirty="0">
                  <a:solidFill>
                    <a:srgbClr val="0070C0"/>
                  </a:solidFill>
                </a:endParaRPr>
              </a:p>
              <a:p>
                <a:pPr/>
                <a:r>
                  <a:rPr kumimoji="1" lang="en-US" altLang="ja-JP" sz="2400" dirty="0" err="1">
                    <a:solidFill>
                      <a:srgbClr val="0070C0"/>
                    </a:solidFill>
                  </a:rPr>
                  <a:t>slopeY</a:t>
                </a:r>
                <a:r>
                  <a:rPr kumimoji="1" lang="ja-JP" altLang="en-US" sz="2400" dirty="0"/>
                  <a:t>という変数を用意して、計算結果を格納しましょう。</a:t>
                </a:r>
                <a:endParaRPr kumimoji="1" lang="en-US" altLang="ja-JP" sz="2400" dirty="0"/>
              </a:p>
              <a:p>
                <a:pPr/>
                <a:r>
                  <a:rPr lang="ja-JP" altLang="en-US" sz="2400" dirty="0"/>
                  <a:t>正しく計算できていれば、坂道を上ることができます。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737235" cy="3785845"/>
              </a:xfrm>
              <a:prstGeom prst="rect">
                <a:avLst/>
              </a:prstGeom>
              <a:blipFill>
                <a:blip r:embed="rId2"/>
                <a:stretch>
                  <a:fillRect l="-852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4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坂道の移動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坂の高さよりも少し高いところからあたったようにしないと、</a:t>
            </a:r>
            <a:endParaRPr kumimoji="1" lang="en-US" altLang="ja-JP" sz="2400" dirty="0"/>
          </a:p>
          <a:p>
            <a:r>
              <a:rPr lang="ja-JP" altLang="en-US" sz="2400" dirty="0"/>
              <a:t>下るときに浮いてしまいます。</a:t>
            </a:r>
            <a:endParaRPr lang="en-US" altLang="ja-JP" sz="2400" dirty="0"/>
          </a:p>
          <a:p>
            <a:r>
              <a:rPr kumimoji="1" lang="ja-JP" altLang="en-US" sz="2400" dirty="0"/>
              <a:t>このようにゲーム次第では様々な工夫が必要になります。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25FCD3-ED10-44D4-B059-C6634305A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6773220" cy="207674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CF12F1-9D14-40C3-A36E-34B174E963DA}"/>
              </a:ext>
            </a:extLst>
          </p:cNvPr>
          <p:cNvSpPr txBox="1"/>
          <p:nvPr/>
        </p:nvSpPr>
        <p:spPr>
          <a:xfrm>
            <a:off x="567542" y="4773192"/>
            <a:ext cx="9408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rgbClr val="7030A0"/>
                </a:solidFill>
              </a:rPr>
              <a:t>PLAYER_SLOPE_ATTRACTION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0</a:t>
            </a:r>
            <a:r>
              <a:rPr kumimoji="1" lang="ja-JP" altLang="en-US" sz="2400" dirty="0"/>
              <a:t>にして坂を下ってみましょう。</a:t>
            </a:r>
            <a:endParaRPr kumimoji="1" lang="en-US" altLang="ja-JP" sz="2400" dirty="0"/>
          </a:p>
          <a:p>
            <a:r>
              <a:rPr lang="ja-JP" altLang="en-US" sz="2400" dirty="0"/>
              <a:t>浮きながら坂を下ると思います。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6250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481</Words>
  <Application>Microsoft Office PowerPoint</Application>
  <PresentationFormat>ワイド画面</PresentationFormat>
  <Paragraphs>60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12</cp:revision>
  <dcterms:created xsi:type="dcterms:W3CDTF">2024-08-27T02:15:54Z</dcterms:created>
  <dcterms:modified xsi:type="dcterms:W3CDTF">2024-10-28T07:53:54Z</dcterms:modified>
</cp:coreProperties>
</file>