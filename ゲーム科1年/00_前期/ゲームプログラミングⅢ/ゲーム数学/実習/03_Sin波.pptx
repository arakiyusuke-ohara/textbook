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3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Sin</a:t>
            </a:r>
            <a:r>
              <a:rPr kumimoji="1" lang="ja-JP" altLang="en-US" sz="3200" b="1" u="sng" dirty="0"/>
              <a:t>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Sin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波</a:t>
            </a:r>
            <a:r>
              <a:rPr kumimoji="1" lang="ja-JP" altLang="en-US" sz="2400" dirty="0"/>
              <a:t>は</a:t>
            </a:r>
            <a:r>
              <a:rPr kumimoji="1" lang="en-US" altLang="ja-JP" sz="2400" dirty="0"/>
              <a:t>Sin</a:t>
            </a:r>
            <a:r>
              <a:rPr kumimoji="1" lang="ja-JP" altLang="en-US" sz="2400" dirty="0"/>
              <a:t>関数が返却する値をグラフ化したときの波です。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数値の増減が滑らかに変化するため、</a:t>
            </a:r>
            <a:r>
              <a:rPr lang="ja-JP" altLang="en-US" sz="2400" dirty="0"/>
              <a:t>ゲームに使えるところも多いです。</a:t>
            </a:r>
            <a:endParaRPr kumimoji="1" lang="en-US" altLang="ja-JP" sz="24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3093E83-AECA-4118-B6A6-1784C02DCD91}"/>
              </a:ext>
            </a:extLst>
          </p:cNvPr>
          <p:cNvGrpSpPr/>
          <p:nvPr/>
        </p:nvGrpSpPr>
        <p:grpSpPr>
          <a:xfrm>
            <a:off x="567542" y="2190110"/>
            <a:ext cx="7393117" cy="4175935"/>
            <a:chOff x="567542" y="1992700"/>
            <a:chExt cx="6463161" cy="3451460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038D12C-73D8-4E29-9220-3FE035668E99}"/>
                </a:ext>
              </a:extLst>
            </p:cNvPr>
            <p:cNvGrpSpPr/>
            <p:nvPr/>
          </p:nvGrpSpPr>
          <p:grpSpPr>
            <a:xfrm>
              <a:off x="567542" y="1992700"/>
              <a:ext cx="6463161" cy="3451460"/>
              <a:chOff x="567542" y="1992700"/>
              <a:chExt cx="6463161" cy="3451460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AF57149F-F3AC-47B6-9076-BE2CBB79B0B2}"/>
                  </a:ext>
                </a:extLst>
              </p:cNvPr>
              <p:cNvGrpSpPr/>
              <p:nvPr/>
            </p:nvGrpSpPr>
            <p:grpSpPr>
              <a:xfrm>
                <a:off x="567542" y="1992700"/>
                <a:ext cx="6463161" cy="3451460"/>
                <a:chOff x="567542" y="1776378"/>
                <a:chExt cx="6463161" cy="3451460"/>
              </a:xfrm>
            </p:grpSpPr>
            <p:grpSp>
              <p:nvGrpSpPr>
                <p:cNvPr id="13" name="グループ化 12">
                  <a:extLst>
                    <a:ext uri="{FF2B5EF4-FFF2-40B4-BE49-F238E27FC236}">
                      <a16:creationId xmlns:a16="http://schemas.microsoft.com/office/drawing/2014/main" id="{257A3276-FFA6-4588-8061-AF273C1C20B5}"/>
                    </a:ext>
                  </a:extLst>
                </p:cNvPr>
                <p:cNvGrpSpPr/>
                <p:nvPr/>
              </p:nvGrpSpPr>
              <p:grpSpPr>
                <a:xfrm>
                  <a:off x="567542" y="1817794"/>
                  <a:ext cx="6463161" cy="3332526"/>
                  <a:chOff x="1819779" y="2157566"/>
                  <a:chExt cx="6463161" cy="3332526"/>
                </a:xfrm>
              </p:grpSpPr>
              <p:cxnSp>
                <p:nvCxnSpPr>
                  <p:cNvPr id="18" name="直線コネクタ 17">
                    <a:extLst>
                      <a:ext uri="{FF2B5EF4-FFF2-40B4-BE49-F238E27FC236}">
                        <a16:creationId xmlns:a16="http://schemas.microsoft.com/office/drawing/2014/main" id="{7BE5D361-21A2-439A-B7D6-ADA89FB328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57302" y="238839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線コネクタ 18">
                    <a:extLst>
                      <a:ext uri="{FF2B5EF4-FFF2-40B4-BE49-F238E27FC236}">
                        <a16:creationId xmlns:a16="http://schemas.microsoft.com/office/drawing/2014/main" id="{2325D545-BF66-4617-A836-AB2A33F456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3828579"/>
                    <a:ext cx="5825638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線コネクタ 19">
                    <a:extLst>
                      <a:ext uri="{FF2B5EF4-FFF2-40B4-BE49-F238E27FC236}">
                        <a16:creationId xmlns:a16="http://schemas.microsoft.com/office/drawing/2014/main" id="{02D83C6A-B3B9-48B5-8331-D5B7CC9770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526113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テキスト ボックス 20">
                        <a:extLst>
                          <a:ext uri="{FF2B5EF4-FFF2-40B4-BE49-F238E27FC236}">
                            <a16:creationId xmlns:a16="http://schemas.microsoft.com/office/drawing/2014/main" id="{50D74D44-A8AD-4168-B993-0506181A3BB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1" name="テキスト ボックス 50">
                        <a:extLst>
                          <a:ext uri="{FF2B5EF4-FFF2-40B4-BE49-F238E27FC236}">
                            <a16:creationId xmlns:a16="http://schemas.microsoft.com/office/drawing/2014/main" id="{DC10EF26-F36F-4723-BA61-6DD06E4130F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テキスト ボックス 21">
                        <a:extLst>
                          <a:ext uri="{FF2B5EF4-FFF2-40B4-BE49-F238E27FC236}">
                            <a16:creationId xmlns:a16="http://schemas.microsoft.com/office/drawing/2014/main" id="{6C829EE1-E2C5-4D13-B176-563DB1CE644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2" name="テキスト ボックス 51">
                        <a:extLst>
                          <a:ext uri="{FF2B5EF4-FFF2-40B4-BE49-F238E27FC236}">
                            <a16:creationId xmlns:a16="http://schemas.microsoft.com/office/drawing/2014/main" id="{AD187D9B-2FA6-4991-B619-3A663D4831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3" name="テキスト ボックス 22">
                        <a:extLst>
                          <a:ext uri="{FF2B5EF4-FFF2-40B4-BE49-F238E27FC236}">
                            <a16:creationId xmlns:a16="http://schemas.microsoft.com/office/drawing/2014/main" id="{DC3C562F-74FB-4A7A-9BC4-0D5D6A793AA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3" name="テキスト ボックス 52">
                        <a:extLst>
                          <a:ext uri="{FF2B5EF4-FFF2-40B4-BE49-F238E27FC236}">
                            <a16:creationId xmlns:a16="http://schemas.microsoft.com/office/drawing/2014/main" id="{6C282D98-FF53-4FEE-9454-88E2AE67A2F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テキスト ボックス 13">
                      <a:extLst>
                        <a:ext uri="{FF2B5EF4-FFF2-40B4-BE49-F238E27FC236}">
                          <a16:creationId xmlns:a16="http://schemas.microsoft.com/office/drawing/2014/main" id="{DC25C1F1-D7D6-4DDA-9DCA-BDFB335891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180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テキスト ボックス 14">
                      <a:extLst>
                        <a:ext uri="{FF2B5EF4-FFF2-40B4-BE49-F238E27FC236}">
                          <a16:creationId xmlns:a16="http://schemas.microsoft.com/office/drawing/2014/main" id="{C4D9AD99-80E5-4C6D-A9CA-AA37D956E5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9064BE2B-D013-45CB-9F99-062AB8D7A3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90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C06CEB2B-D5D1-458D-BAD5-22E6B70A0F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270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" name="フリーフォーム: 図形 9">
                <a:extLst>
                  <a:ext uri="{FF2B5EF4-FFF2-40B4-BE49-F238E27FC236}">
                    <a16:creationId xmlns:a16="http://schemas.microsoft.com/office/drawing/2014/main" id="{A08B95C2-D156-449F-82EE-F3EDD1B8BFB6}"/>
                  </a:ext>
                </a:extLst>
              </p:cNvPr>
              <p:cNvSpPr/>
              <p:nvPr/>
            </p:nvSpPr>
            <p:spPr>
              <a:xfrm>
                <a:off x="1196340" y="2263139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フリーフォーム: 図形 10">
                <a:extLst>
                  <a:ext uri="{FF2B5EF4-FFF2-40B4-BE49-F238E27FC236}">
                    <a16:creationId xmlns:a16="http://schemas.microsoft.com/office/drawing/2014/main" id="{7D339916-0564-4959-9143-B9AA191A50DF}"/>
                  </a:ext>
                </a:extLst>
              </p:cNvPr>
              <p:cNvSpPr/>
              <p:nvPr/>
            </p:nvSpPr>
            <p:spPr>
              <a:xfrm rot="10800000">
                <a:off x="2641759" y="3696706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フリーフォーム: 図形 11">
                <a:extLst>
                  <a:ext uri="{FF2B5EF4-FFF2-40B4-BE49-F238E27FC236}">
                    <a16:creationId xmlns:a16="http://schemas.microsoft.com/office/drawing/2014/main" id="{5CA69529-950C-4696-9934-994C7C9E2946}"/>
                  </a:ext>
                </a:extLst>
              </p:cNvPr>
              <p:cNvSpPr/>
              <p:nvPr/>
            </p:nvSpPr>
            <p:spPr>
              <a:xfrm>
                <a:off x="4090036" y="2269991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ECEBB2D6-A686-4367-8812-CB3AFBB5A211}"/>
                </a:ext>
              </a:extLst>
            </p:cNvPr>
            <p:cNvSpPr/>
            <p:nvPr/>
          </p:nvSpPr>
          <p:spPr>
            <a:xfrm rot="10800000">
              <a:off x="5535455" y="3702017"/>
              <a:ext cx="144780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3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Sin</a:t>
            </a:r>
            <a:r>
              <a:rPr kumimoji="1" lang="ja-JP" altLang="en-US" sz="3200" b="1" u="sng" dirty="0"/>
              <a:t>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今回は上下に移動する床を作ります。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9B3E5A0-68A3-49CB-A804-6339F5BE7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5545659" cy="4385782"/>
          </a:xfrm>
          <a:prstGeom prst="rect">
            <a:avLst/>
          </a:prstGeom>
        </p:spPr>
      </p:pic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EBC7B95-6C61-4751-A7A5-80B8BA500B91}"/>
              </a:ext>
            </a:extLst>
          </p:cNvPr>
          <p:cNvCxnSpPr>
            <a:cxnSpLocks/>
          </p:cNvCxnSpPr>
          <p:nvPr/>
        </p:nvCxnSpPr>
        <p:spPr>
          <a:xfrm>
            <a:off x="5020235" y="2850776"/>
            <a:ext cx="0" cy="2590800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09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3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Sin</a:t>
            </a:r>
            <a:r>
              <a:rPr kumimoji="1" lang="ja-JP" altLang="en-US" sz="3200" b="1" u="sng" dirty="0"/>
              <a:t>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3116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今回のために用意している変数は以下の通りです。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 err="1"/>
              <a:t>g_MoveBlockData.posX</a:t>
            </a:r>
            <a:r>
              <a:rPr lang="en-US" altLang="ja-JP" sz="2400" dirty="0"/>
              <a:t>		</a:t>
            </a:r>
            <a:r>
              <a:rPr lang="ja-JP" altLang="en-US" sz="2400" dirty="0"/>
              <a:t>・・・床の座標</a:t>
            </a:r>
            <a:r>
              <a:rPr lang="en-US" altLang="ja-JP" sz="2400" dirty="0"/>
              <a:t>X</a:t>
            </a:r>
          </a:p>
          <a:p>
            <a:r>
              <a:rPr lang="en-US" altLang="ja-JP" sz="2400" dirty="0" err="1"/>
              <a:t>g_MoveBlockData.posY</a:t>
            </a:r>
            <a:r>
              <a:rPr lang="en-US" altLang="ja-JP" sz="2400" dirty="0"/>
              <a:t>		</a:t>
            </a:r>
            <a:r>
              <a:rPr lang="ja-JP" altLang="en-US" sz="2400" dirty="0"/>
              <a:t>・・・床の座標</a:t>
            </a:r>
            <a:r>
              <a:rPr lang="en-US" altLang="ja-JP" sz="2400" dirty="0"/>
              <a:t>Y</a:t>
            </a:r>
          </a:p>
          <a:p>
            <a:r>
              <a:rPr lang="en-US" altLang="ja-JP" sz="2400" dirty="0" err="1"/>
              <a:t>g_MoveBlockData.startX</a:t>
            </a:r>
            <a:r>
              <a:rPr lang="en-US" altLang="ja-JP" sz="2400" dirty="0"/>
              <a:t>		</a:t>
            </a:r>
            <a:r>
              <a:rPr lang="ja-JP" altLang="en-US" sz="2400" dirty="0"/>
              <a:t>・・・床の初期位置</a:t>
            </a:r>
            <a:r>
              <a:rPr lang="en-US" altLang="ja-JP" sz="2400" dirty="0"/>
              <a:t>X</a:t>
            </a:r>
          </a:p>
          <a:p>
            <a:r>
              <a:rPr lang="en-US" altLang="ja-JP" sz="2400" dirty="0" err="1"/>
              <a:t>g_MoveBlockData.startY</a:t>
            </a:r>
            <a:r>
              <a:rPr lang="en-US" altLang="ja-JP" sz="2400" dirty="0"/>
              <a:t>		</a:t>
            </a:r>
            <a:r>
              <a:rPr lang="ja-JP" altLang="en-US" sz="2400" dirty="0"/>
              <a:t>・・・床の初期位置</a:t>
            </a:r>
            <a:r>
              <a:rPr lang="en-US" altLang="ja-JP" sz="2400" dirty="0"/>
              <a:t>Y</a:t>
            </a:r>
          </a:p>
          <a:p>
            <a:r>
              <a:rPr lang="en-US" altLang="ja-JP" sz="2400" dirty="0" err="1"/>
              <a:t>g_MoveBlockData.sinAngle</a:t>
            </a:r>
            <a:r>
              <a:rPr lang="en-US" altLang="ja-JP" sz="2400" dirty="0"/>
              <a:t>	</a:t>
            </a:r>
            <a:r>
              <a:rPr lang="ja-JP" altLang="en-US" sz="2400" dirty="0"/>
              <a:t>・・・</a:t>
            </a:r>
            <a:r>
              <a:rPr lang="en-US" altLang="ja-JP" sz="2400" dirty="0" err="1"/>
              <a:t>sinf</a:t>
            </a:r>
            <a:r>
              <a:rPr lang="ja-JP" altLang="en-US" sz="2400" dirty="0"/>
              <a:t>に渡す角度（ラジアン）</a:t>
            </a:r>
            <a:endParaRPr lang="en-US" altLang="ja-JP" sz="2400" dirty="0"/>
          </a:p>
          <a:p>
            <a:r>
              <a:rPr lang="en-US" altLang="ja-JP" sz="2400" dirty="0" err="1"/>
              <a:t>g_MoveBlockData.sinRange</a:t>
            </a:r>
            <a:r>
              <a:rPr lang="en-US" altLang="ja-JP" sz="2400" dirty="0"/>
              <a:t>	</a:t>
            </a:r>
            <a:r>
              <a:rPr lang="ja-JP" altLang="en-US" sz="2400" dirty="0"/>
              <a:t>・・・上下の移動幅</a:t>
            </a:r>
            <a:endParaRPr lang="en-US" altLang="ja-JP" sz="2400" dirty="0"/>
          </a:p>
          <a:p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これらを使って完成させます。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2896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3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Sin</a:t>
            </a:r>
            <a:r>
              <a:rPr kumimoji="1" lang="ja-JP" altLang="en-US" sz="3200" b="1" u="sng" dirty="0"/>
              <a:t>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875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b="1" dirty="0" err="1">
                <a:solidFill>
                  <a:srgbClr val="0070C0"/>
                </a:solidFill>
              </a:rPr>
              <a:t>sinf</a:t>
            </a:r>
            <a:r>
              <a:rPr lang="ja-JP" altLang="en-US" sz="2400" dirty="0"/>
              <a:t>関数を使って波の値を取得します。</a:t>
            </a:r>
            <a:endParaRPr lang="en-US" altLang="ja-JP" sz="2400" dirty="0"/>
          </a:p>
          <a:p>
            <a:r>
              <a:rPr kumimoji="1" lang="ja-JP" altLang="en-US" sz="2400" dirty="0"/>
              <a:t>ただし、</a:t>
            </a:r>
            <a:r>
              <a:rPr lang="en-US" altLang="ja-JP" sz="2400" b="1" dirty="0">
                <a:solidFill>
                  <a:srgbClr val="FF0000"/>
                </a:solidFill>
              </a:rPr>
              <a:t>sin</a:t>
            </a:r>
            <a:r>
              <a:rPr lang="ja-JP" altLang="en-US" sz="2400" b="1" dirty="0">
                <a:solidFill>
                  <a:srgbClr val="FF0000"/>
                </a:solidFill>
              </a:rPr>
              <a:t>波は</a:t>
            </a:r>
            <a:r>
              <a:rPr lang="en-US" altLang="ja-JP" sz="2400" b="1" dirty="0">
                <a:solidFill>
                  <a:srgbClr val="FF0000"/>
                </a:solidFill>
              </a:rPr>
              <a:t>-1</a:t>
            </a:r>
            <a:r>
              <a:rPr lang="ja-JP" altLang="en-US" sz="2400" b="1" dirty="0">
                <a:solidFill>
                  <a:srgbClr val="FF0000"/>
                </a:solidFill>
              </a:rPr>
              <a:t>～</a:t>
            </a:r>
            <a:r>
              <a:rPr lang="en-US" altLang="ja-JP" sz="2400" b="1" dirty="0">
                <a:solidFill>
                  <a:srgbClr val="FF0000"/>
                </a:solidFill>
              </a:rPr>
              <a:t>1</a:t>
            </a:r>
            <a:r>
              <a:rPr lang="ja-JP" altLang="en-US" sz="2400" b="1" dirty="0">
                <a:solidFill>
                  <a:srgbClr val="FF0000"/>
                </a:solidFill>
              </a:rPr>
              <a:t>の数値を返却</a:t>
            </a:r>
            <a:r>
              <a:rPr lang="ja-JP" altLang="en-US" sz="2400" dirty="0"/>
              <a:t>するので、</a:t>
            </a:r>
            <a:r>
              <a:rPr lang="ja-JP" altLang="en-US" sz="2400" b="1" dirty="0">
                <a:solidFill>
                  <a:srgbClr val="FF0000"/>
                </a:solidFill>
              </a:rPr>
              <a:t>上下の移動幅だけ、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数値を大きくする</a:t>
            </a:r>
            <a:r>
              <a:rPr kumimoji="1" lang="ja-JP" altLang="en-US" sz="2400" dirty="0"/>
              <a:t>必要があります。</a:t>
            </a:r>
            <a:endParaRPr kumimoji="1" lang="en-US" altLang="ja-JP" sz="24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F4D32B6-2A7A-428F-A5A3-BFFEC42D6B58}"/>
              </a:ext>
            </a:extLst>
          </p:cNvPr>
          <p:cNvGrpSpPr/>
          <p:nvPr/>
        </p:nvGrpSpPr>
        <p:grpSpPr>
          <a:xfrm>
            <a:off x="264283" y="2556458"/>
            <a:ext cx="7472258" cy="3809587"/>
            <a:chOff x="294141" y="1992700"/>
            <a:chExt cx="6736562" cy="3451460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D00D4D93-4413-452D-8829-F82C7A68F96F}"/>
                </a:ext>
              </a:extLst>
            </p:cNvPr>
            <p:cNvGrpSpPr/>
            <p:nvPr/>
          </p:nvGrpSpPr>
          <p:grpSpPr>
            <a:xfrm>
              <a:off x="294141" y="1992700"/>
              <a:ext cx="6736562" cy="3451460"/>
              <a:chOff x="294141" y="1992700"/>
              <a:chExt cx="6736562" cy="3451460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94D86A3E-E6AE-4438-9D97-0A5D14C039AA}"/>
                  </a:ext>
                </a:extLst>
              </p:cNvPr>
              <p:cNvGrpSpPr/>
              <p:nvPr/>
            </p:nvGrpSpPr>
            <p:grpSpPr>
              <a:xfrm>
                <a:off x="294141" y="1992700"/>
                <a:ext cx="6736562" cy="3451460"/>
                <a:chOff x="294141" y="1776378"/>
                <a:chExt cx="6736562" cy="3451460"/>
              </a:xfrm>
            </p:grpSpPr>
            <p:grpSp>
              <p:nvGrpSpPr>
                <p:cNvPr id="13" name="グループ化 12">
                  <a:extLst>
                    <a:ext uri="{FF2B5EF4-FFF2-40B4-BE49-F238E27FC236}">
                      <a16:creationId xmlns:a16="http://schemas.microsoft.com/office/drawing/2014/main" id="{E5F28160-A285-4540-BB6B-BEF5B9D0F227}"/>
                    </a:ext>
                  </a:extLst>
                </p:cNvPr>
                <p:cNvGrpSpPr/>
                <p:nvPr/>
              </p:nvGrpSpPr>
              <p:grpSpPr>
                <a:xfrm>
                  <a:off x="294141" y="1825286"/>
                  <a:ext cx="6736562" cy="3307213"/>
                  <a:chOff x="1546378" y="2165058"/>
                  <a:chExt cx="6736562" cy="3307213"/>
                </a:xfrm>
              </p:grpSpPr>
              <p:cxnSp>
                <p:nvCxnSpPr>
                  <p:cNvPr id="18" name="直線コネクタ 17">
                    <a:extLst>
                      <a:ext uri="{FF2B5EF4-FFF2-40B4-BE49-F238E27FC236}">
                        <a16:creationId xmlns:a16="http://schemas.microsoft.com/office/drawing/2014/main" id="{AD3B77B3-0154-43DD-A6C9-B838F6C1F1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57302" y="238839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線コネクタ 18">
                    <a:extLst>
                      <a:ext uri="{FF2B5EF4-FFF2-40B4-BE49-F238E27FC236}">
                        <a16:creationId xmlns:a16="http://schemas.microsoft.com/office/drawing/2014/main" id="{72A79699-1AA2-446A-B3ED-27E22AE348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3828579"/>
                    <a:ext cx="5825638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線コネクタ 19">
                    <a:extLst>
                      <a:ext uri="{FF2B5EF4-FFF2-40B4-BE49-F238E27FC236}">
                        <a16:creationId xmlns:a16="http://schemas.microsoft.com/office/drawing/2014/main" id="{604EDC1E-7D5A-4EA3-BBF7-A05257AA96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526113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1" name="テキスト ボックス 20">
                        <a:extLst>
                          <a:ext uri="{FF2B5EF4-FFF2-40B4-BE49-F238E27FC236}">
                            <a16:creationId xmlns:a16="http://schemas.microsoft.com/office/drawing/2014/main" id="{AF29BE63-8F3B-481F-854D-93ABE07ADE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47403" y="2165058"/>
                        <a:ext cx="705536" cy="4182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>
                  <p:sp>
                    <p:nvSpPr>
                      <p:cNvPr id="21" name="テキスト ボックス 20">
                        <a:extLst>
                          <a:ext uri="{FF2B5EF4-FFF2-40B4-BE49-F238E27FC236}">
                            <a16:creationId xmlns:a16="http://schemas.microsoft.com/office/drawing/2014/main" id="{AF29BE63-8F3B-481F-854D-93ABE07ADE4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47403" y="2165058"/>
                        <a:ext cx="705536" cy="41826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テキスト ボックス 21">
                        <a:extLst>
                          <a:ext uri="{FF2B5EF4-FFF2-40B4-BE49-F238E27FC236}">
                            <a16:creationId xmlns:a16="http://schemas.microsoft.com/office/drawing/2014/main" id="{127B8EB8-EC20-4A27-BD38-C5843AAB395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2" name="テキスト ボックス 51">
                        <a:extLst>
                          <a:ext uri="{FF2B5EF4-FFF2-40B4-BE49-F238E27FC236}">
                            <a16:creationId xmlns:a16="http://schemas.microsoft.com/office/drawing/2014/main" id="{AD187D9B-2FA6-4991-B619-3A663D4831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3" name="テキスト ボックス 22">
                        <a:extLst>
                          <a:ext uri="{FF2B5EF4-FFF2-40B4-BE49-F238E27FC236}">
                            <a16:creationId xmlns:a16="http://schemas.microsoft.com/office/drawing/2014/main" id="{812757F5-CB73-40E5-BCAE-0E159291D44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546378" y="5054006"/>
                        <a:ext cx="912195" cy="4182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−100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>
                  <p:sp>
                    <p:nvSpPr>
                      <p:cNvPr id="23" name="テキスト ボックス 22">
                        <a:extLst>
                          <a:ext uri="{FF2B5EF4-FFF2-40B4-BE49-F238E27FC236}">
                            <a16:creationId xmlns:a16="http://schemas.microsoft.com/office/drawing/2014/main" id="{812757F5-CB73-40E5-BCAE-0E159291D44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46378" y="5054006"/>
                        <a:ext cx="912195" cy="41826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テキスト ボックス 13">
                      <a:extLst>
                        <a:ext uri="{FF2B5EF4-FFF2-40B4-BE49-F238E27FC236}">
                          <a16:creationId xmlns:a16="http://schemas.microsoft.com/office/drawing/2014/main" id="{6C860ED5-B1B8-4591-8B25-4C9C82A9C5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180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テキスト ボックス 14">
                      <a:extLst>
                        <a:ext uri="{FF2B5EF4-FFF2-40B4-BE49-F238E27FC236}">
                          <a16:creationId xmlns:a16="http://schemas.microsoft.com/office/drawing/2014/main" id="{CF6D2836-3CD6-4130-8BB9-5C9503F196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7F86B96F-457D-47A6-8313-8CEE874D92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90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640FCC4C-E089-43DE-BF94-AB6A641451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270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" name="フリーフォーム: 図形 9">
                <a:extLst>
                  <a:ext uri="{FF2B5EF4-FFF2-40B4-BE49-F238E27FC236}">
                    <a16:creationId xmlns:a16="http://schemas.microsoft.com/office/drawing/2014/main" id="{E5AA72B8-51EA-4189-97F0-F5A221F83B22}"/>
                  </a:ext>
                </a:extLst>
              </p:cNvPr>
              <p:cNvSpPr/>
              <p:nvPr/>
            </p:nvSpPr>
            <p:spPr>
              <a:xfrm>
                <a:off x="1196340" y="2263139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フリーフォーム: 図形 10">
                <a:extLst>
                  <a:ext uri="{FF2B5EF4-FFF2-40B4-BE49-F238E27FC236}">
                    <a16:creationId xmlns:a16="http://schemas.microsoft.com/office/drawing/2014/main" id="{B28D004D-0775-4457-8D6D-D74F1FD9BEAC}"/>
                  </a:ext>
                </a:extLst>
              </p:cNvPr>
              <p:cNvSpPr/>
              <p:nvPr/>
            </p:nvSpPr>
            <p:spPr>
              <a:xfrm rot="10800000">
                <a:off x="2641759" y="3696706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フリーフォーム: 図形 11">
                <a:extLst>
                  <a:ext uri="{FF2B5EF4-FFF2-40B4-BE49-F238E27FC236}">
                    <a16:creationId xmlns:a16="http://schemas.microsoft.com/office/drawing/2014/main" id="{70A3C999-1215-413C-906C-6EA2CDD6538C}"/>
                  </a:ext>
                </a:extLst>
              </p:cNvPr>
              <p:cNvSpPr/>
              <p:nvPr/>
            </p:nvSpPr>
            <p:spPr>
              <a:xfrm>
                <a:off x="4090036" y="2269991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FD9A8A50-67A9-4DC0-AB2F-24F65D3F4069}"/>
                </a:ext>
              </a:extLst>
            </p:cNvPr>
            <p:cNvSpPr/>
            <p:nvPr/>
          </p:nvSpPr>
          <p:spPr>
            <a:xfrm rot="10800000">
              <a:off x="5535455" y="3702017"/>
              <a:ext cx="144780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85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3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Sin</a:t>
            </a:r>
            <a:r>
              <a:rPr kumimoji="1" lang="ja-JP" altLang="en-US" sz="3200" b="1" u="sng" dirty="0"/>
              <a:t>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波の値は初期位置からどれだけ移動しているかの値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kumimoji="1" lang="ja-JP" altLang="en-US" sz="2400" dirty="0"/>
              <a:t>その点に気を付けて床の</a:t>
            </a:r>
            <a:r>
              <a:rPr kumimoji="1" lang="en-US" altLang="ja-JP" sz="2400" dirty="0"/>
              <a:t>Y</a:t>
            </a:r>
            <a:r>
              <a:rPr kumimoji="1" lang="ja-JP" altLang="en-US" sz="2400" dirty="0"/>
              <a:t>座標を計算しましょう。</a:t>
            </a:r>
            <a:endParaRPr kumimoji="1" lang="en-US" altLang="ja-JP" sz="24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F4D32B6-2A7A-428F-A5A3-BFFEC42D6B58}"/>
              </a:ext>
            </a:extLst>
          </p:cNvPr>
          <p:cNvGrpSpPr/>
          <p:nvPr/>
        </p:nvGrpSpPr>
        <p:grpSpPr>
          <a:xfrm>
            <a:off x="2319" y="2556458"/>
            <a:ext cx="7734222" cy="3809587"/>
            <a:chOff x="57969" y="1992700"/>
            <a:chExt cx="6972734" cy="3451460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D00D4D93-4413-452D-8829-F82C7A68F96F}"/>
                </a:ext>
              </a:extLst>
            </p:cNvPr>
            <p:cNvGrpSpPr/>
            <p:nvPr/>
          </p:nvGrpSpPr>
          <p:grpSpPr>
            <a:xfrm>
              <a:off x="57969" y="1992700"/>
              <a:ext cx="6972734" cy="3451460"/>
              <a:chOff x="57969" y="1992700"/>
              <a:chExt cx="6972734" cy="3451460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94D86A3E-E6AE-4438-9D97-0A5D14C039AA}"/>
                  </a:ext>
                </a:extLst>
              </p:cNvPr>
              <p:cNvGrpSpPr/>
              <p:nvPr/>
            </p:nvGrpSpPr>
            <p:grpSpPr>
              <a:xfrm>
                <a:off x="57969" y="1992700"/>
                <a:ext cx="6972734" cy="3451460"/>
                <a:chOff x="57969" y="1776378"/>
                <a:chExt cx="6972734" cy="3451460"/>
              </a:xfrm>
            </p:grpSpPr>
            <p:grpSp>
              <p:nvGrpSpPr>
                <p:cNvPr id="13" name="グループ化 12">
                  <a:extLst>
                    <a:ext uri="{FF2B5EF4-FFF2-40B4-BE49-F238E27FC236}">
                      <a16:creationId xmlns:a16="http://schemas.microsoft.com/office/drawing/2014/main" id="{E5F28160-A285-4540-BB6B-BEF5B9D0F227}"/>
                    </a:ext>
                  </a:extLst>
                </p:cNvPr>
                <p:cNvGrpSpPr/>
                <p:nvPr/>
              </p:nvGrpSpPr>
              <p:grpSpPr>
                <a:xfrm>
                  <a:off x="57969" y="1930768"/>
                  <a:ext cx="6972734" cy="3121888"/>
                  <a:chOff x="1310206" y="2270540"/>
                  <a:chExt cx="6972734" cy="3121888"/>
                </a:xfrm>
              </p:grpSpPr>
              <p:cxnSp>
                <p:nvCxnSpPr>
                  <p:cNvPr id="18" name="直線コネクタ 17">
                    <a:extLst>
                      <a:ext uri="{FF2B5EF4-FFF2-40B4-BE49-F238E27FC236}">
                        <a16:creationId xmlns:a16="http://schemas.microsoft.com/office/drawing/2014/main" id="{AD3B77B3-0154-43DD-A6C9-B838F6C1F1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57302" y="238839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線コネクタ 18">
                    <a:extLst>
                      <a:ext uri="{FF2B5EF4-FFF2-40B4-BE49-F238E27FC236}">
                        <a16:creationId xmlns:a16="http://schemas.microsoft.com/office/drawing/2014/main" id="{72A79699-1AA2-446A-B3ED-27E22AE348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3828579"/>
                    <a:ext cx="5825638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線コネクタ 19">
                    <a:extLst>
                      <a:ext uri="{FF2B5EF4-FFF2-40B4-BE49-F238E27FC236}">
                        <a16:creationId xmlns:a16="http://schemas.microsoft.com/office/drawing/2014/main" id="{604EDC1E-7D5A-4EA3-BBF7-A05257AA96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526113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1" name="テキスト ボックス 20">
                        <a:extLst>
                          <a:ext uri="{FF2B5EF4-FFF2-40B4-BE49-F238E27FC236}">
                            <a16:creationId xmlns:a16="http://schemas.microsoft.com/office/drawing/2014/main" id="{AF29BE63-8F3B-481F-854D-93ABE07ADE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53949" y="2270540"/>
                        <a:ext cx="1155910" cy="25095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ja-JP" altLang="en-US" sz="1200" i="1" smtClean="0">
                                  <a:latin typeface="Cambria Math" panose="02040503050406030204" pitchFamily="18" charset="0"/>
                                </a:rPr>
                                <m:t>初期位置</m:t>
                              </m:r>
                              <m:r>
                                <a:rPr lang="en-US" altLang="ja-JP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12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oMath>
                          </m:oMathPara>
                        </a14:m>
                        <a:endParaRPr lang="en-US" altLang="ja-JP" sz="1200" dirty="0"/>
                      </a:p>
                    </p:txBody>
                  </p:sp>
                </mc:Choice>
                <mc:Fallback>
                  <p:sp>
                    <p:nvSpPr>
                      <p:cNvPr id="21" name="テキスト ボックス 20">
                        <a:extLst>
                          <a:ext uri="{FF2B5EF4-FFF2-40B4-BE49-F238E27FC236}">
                            <a16:creationId xmlns:a16="http://schemas.microsoft.com/office/drawing/2014/main" id="{AF29BE63-8F3B-481F-854D-93ABE07ADE4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353949" y="2270540"/>
                        <a:ext cx="1155910" cy="250959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2" name="テキスト ボックス 21">
                        <a:extLst>
                          <a:ext uri="{FF2B5EF4-FFF2-40B4-BE49-F238E27FC236}">
                            <a16:creationId xmlns:a16="http://schemas.microsoft.com/office/drawing/2014/main" id="{127B8EB8-EC20-4A27-BD38-C5843AAB395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48828" y="3673406"/>
                        <a:ext cx="959886" cy="30672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ja-JP" altLang="en-US" sz="1600" i="1">
                                  <a:latin typeface="Cambria Math" panose="02040503050406030204" pitchFamily="18" charset="0"/>
                                </a:rPr>
                                <m:t>初期位置</m:t>
                              </m:r>
                            </m:oMath>
                          </m:oMathPara>
                        </a14:m>
                        <a:endParaRPr lang="en-US" altLang="ja-JP" sz="1600" dirty="0"/>
                      </a:p>
                    </p:txBody>
                  </p:sp>
                </mc:Choice>
                <mc:Fallback>
                  <p:sp>
                    <p:nvSpPr>
                      <p:cNvPr id="22" name="テキスト ボックス 21">
                        <a:extLst>
                          <a:ext uri="{FF2B5EF4-FFF2-40B4-BE49-F238E27FC236}">
                            <a16:creationId xmlns:a16="http://schemas.microsoft.com/office/drawing/2014/main" id="{127B8EB8-EC20-4A27-BD38-C5843AAB395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448828" y="3673406"/>
                        <a:ext cx="959886" cy="306728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3" name="テキスト ボックス 22">
                        <a:extLst>
                          <a:ext uri="{FF2B5EF4-FFF2-40B4-BE49-F238E27FC236}">
                            <a16:creationId xmlns:a16="http://schemas.microsoft.com/office/drawing/2014/main" id="{812757F5-CB73-40E5-BCAE-0E159291D44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10206" y="5141469"/>
                        <a:ext cx="1155910" cy="25095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ja-JP" altLang="en-US" sz="1200" i="1">
                                  <a:latin typeface="Cambria Math" panose="02040503050406030204" pitchFamily="18" charset="0"/>
                                </a:rPr>
                                <m:t>初期位置</m:t>
                              </m:r>
                              <m:r>
                                <a:rPr lang="en-US" altLang="ja-JP" sz="1200" b="0" i="1" smtClean="0">
                                  <a:latin typeface="Cambria Math" panose="02040503050406030204" pitchFamily="18" charset="0"/>
                                </a:rPr>
                                <m:t>−100</m:t>
                              </m:r>
                            </m:oMath>
                          </m:oMathPara>
                        </a14:m>
                        <a:endParaRPr lang="en-US" altLang="ja-JP" sz="1200" dirty="0"/>
                      </a:p>
                    </p:txBody>
                  </p:sp>
                </mc:Choice>
                <mc:Fallback>
                  <p:sp>
                    <p:nvSpPr>
                      <p:cNvPr id="23" name="テキスト ボックス 22">
                        <a:extLst>
                          <a:ext uri="{FF2B5EF4-FFF2-40B4-BE49-F238E27FC236}">
                            <a16:creationId xmlns:a16="http://schemas.microsoft.com/office/drawing/2014/main" id="{812757F5-CB73-40E5-BCAE-0E159291D44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310206" y="5141469"/>
                        <a:ext cx="1155910" cy="250959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テキスト ボックス 13">
                      <a:extLst>
                        <a:ext uri="{FF2B5EF4-FFF2-40B4-BE49-F238E27FC236}">
                          <a16:creationId xmlns:a16="http://schemas.microsoft.com/office/drawing/2014/main" id="{6C860ED5-B1B8-4591-8B25-4C9C82A9C5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180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テキスト ボックス 14">
                      <a:extLst>
                        <a:ext uri="{FF2B5EF4-FFF2-40B4-BE49-F238E27FC236}">
                          <a16:creationId xmlns:a16="http://schemas.microsoft.com/office/drawing/2014/main" id="{CF6D2836-3CD6-4130-8BB9-5C9503F1969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テキスト ボックス 15">
                      <a:extLst>
                        <a:ext uri="{FF2B5EF4-FFF2-40B4-BE49-F238E27FC236}">
                          <a16:creationId xmlns:a16="http://schemas.microsoft.com/office/drawing/2014/main" id="{7F86B96F-457D-47A6-8313-8CEE874D92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90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640FCC4C-E089-43DE-BF94-AB6A641451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270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0" name="フリーフォーム: 図形 9">
                <a:extLst>
                  <a:ext uri="{FF2B5EF4-FFF2-40B4-BE49-F238E27FC236}">
                    <a16:creationId xmlns:a16="http://schemas.microsoft.com/office/drawing/2014/main" id="{E5AA72B8-51EA-4189-97F0-F5A221F83B22}"/>
                  </a:ext>
                </a:extLst>
              </p:cNvPr>
              <p:cNvSpPr/>
              <p:nvPr/>
            </p:nvSpPr>
            <p:spPr>
              <a:xfrm>
                <a:off x="1196340" y="2263139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フリーフォーム: 図形 10">
                <a:extLst>
                  <a:ext uri="{FF2B5EF4-FFF2-40B4-BE49-F238E27FC236}">
                    <a16:creationId xmlns:a16="http://schemas.microsoft.com/office/drawing/2014/main" id="{B28D004D-0775-4457-8D6D-D74F1FD9BEAC}"/>
                  </a:ext>
                </a:extLst>
              </p:cNvPr>
              <p:cNvSpPr/>
              <p:nvPr/>
            </p:nvSpPr>
            <p:spPr>
              <a:xfrm rot="10800000">
                <a:off x="2641759" y="3696706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フリーフォーム: 図形 11">
                <a:extLst>
                  <a:ext uri="{FF2B5EF4-FFF2-40B4-BE49-F238E27FC236}">
                    <a16:creationId xmlns:a16="http://schemas.microsoft.com/office/drawing/2014/main" id="{70A3C999-1215-413C-906C-6EA2CDD6538C}"/>
                  </a:ext>
                </a:extLst>
              </p:cNvPr>
              <p:cNvSpPr/>
              <p:nvPr/>
            </p:nvSpPr>
            <p:spPr>
              <a:xfrm>
                <a:off x="4090036" y="2269991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FD9A8A50-67A9-4DC0-AB2F-24F65D3F4069}"/>
                </a:ext>
              </a:extLst>
            </p:cNvPr>
            <p:cNvSpPr/>
            <p:nvPr/>
          </p:nvSpPr>
          <p:spPr>
            <a:xfrm rot="10800000">
              <a:off x="5535455" y="3702017"/>
              <a:ext cx="144780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EFAFB10-5F91-461F-AF85-6CDA67881A13}"/>
              </a:ext>
            </a:extLst>
          </p:cNvPr>
          <p:cNvSpPr txBox="1"/>
          <p:nvPr/>
        </p:nvSpPr>
        <p:spPr>
          <a:xfrm>
            <a:off x="9354873" y="576152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ここまで①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2957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3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Sin</a:t>
            </a:r>
            <a:r>
              <a:rPr kumimoji="1" lang="ja-JP" altLang="en-US" sz="3200" b="1" u="sng" dirty="0"/>
              <a:t>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771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Sin</a:t>
            </a:r>
            <a:r>
              <a:rPr kumimoji="1" lang="ja-JP" altLang="en-US" sz="2400" dirty="0"/>
              <a:t>波は与える角度を増やしていくにつれて波の形になります。</a:t>
            </a:r>
            <a:endParaRPr kumimoji="1" lang="en-US" altLang="ja-JP" sz="2400" dirty="0"/>
          </a:p>
          <a:p>
            <a:r>
              <a:rPr lang="ja-JP" altLang="en-US" sz="2400" dirty="0"/>
              <a:t>つまり</a:t>
            </a:r>
            <a:r>
              <a:rPr lang="en-US" altLang="ja-JP" sz="2400" b="1" dirty="0" err="1">
                <a:solidFill>
                  <a:srgbClr val="FF0000"/>
                </a:solidFill>
              </a:rPr>
              <a:t>sinf</a:t>
            </a:r>
            <a:r>
              <a:rPr lang="ja-JP" altLang="en-US" sz="2400" b="1" dirty="0">
                <a:solidFill>
                  <a:srgbClr val="FF0000"/>
                </a:solidFill>
              </a:rPr>
              <a:t>関数に渡す角度は、常に加算する必要があります。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EFAFB10-5F91-461F-AF85-6CDA67881A13}"/>
              </a:ext>
            </a:extLst>
          </p:cNvPr>
          <p:cNvSpPr txBox="1"/>
          <p:nvPr/>
        </p:nvSpPr>
        <p:spPr>
          <a:xfrm>
            <a:off x="9354873" y="576152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ここまで②</a:t>
            </a:r>
            <a:endParaRPr kumimoji="1" lang="en-US" altLang="ja-JP" sz="2400" dirty="0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0770C3B-8D1F-454F-91BC-892B97A37F7A}"/>
              </a:ext>
            </a:extLst>
          </p:cNvPr>
          <p:cNvGrpSpPr/>
          <p:nvPr/>
        </p:nvGrpSpPr>
        <p:grpSpPr>
          <a:xfrm>
            <a:off x="567542" y="2190110"/>
            <a:ext cx="7393117" cy="4175935"/>
            <a:chOff x="567542" y="1992700"/>
            <a:chExt cx="6463161" cy="3451460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C2BB5121-74A1-45DF-AE8B-232B4B386304}"/>
                </a:ext>
              </a:extLst>
            </p:cNvPr>
            <p:cNvGrpSpPr/>
            <p:nvPr/>
          </p:nvGrpSpPr>
          <p:grpSpPr>
            <a:xfrm>
              <a:off x="567542" y="1992700"/>
              <a:ext cx="6463161" cy="3451460"/>
              <a:chOff x="567542" y="1992700"/>
              <a:chExt cx="6463161" cy="3451460"/>
            </a:xfrm>
          </p:grpSpPr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F9763802-46F3-4253-B14E-184D6BF516D1}"/>
                  </a:ext>
                </a:extLst>
              </p:cNvPr>
              <p:cNvGrpSpPr/>
              <p:nvPr/>
            </p:nvGrpSpPr>
            <p:grpSpPr>
              <a:xfrm>
                <a:off x="567542" y="1992700"/>
                <a:ext cx="6463161" cy="3451460"/>
                <a:chOff x="567542" y="1776378"/>
                <a:chExt cx="6463161" cy="3451460"/>
              </a:xfrm>
            </p:grpSpPr>
            <p:grpSp>
              <p:nvGrpSpPr>
                <p:cNvPr id="32" name="グループ化 31">
                  <a:extLst>
                    <a:ext uri="{FF2B5EF4-FFF2-40B4-BE49-F238E27FC236}">
                      <a16:creationId xmlns:a16="http://schemas.microsoft.com/office/drawing/2014/main" id="{7D719DDF-54AF-415B-8AEF-C74B6529AC83}"/>
                    </a:ext>
                  </a:extLst>
                </p:cNvPr>
                <p:cNvGrpSpPr/>
                <p:nvPr/>
              </p:nvGrpSpPr>
              <p:grpSpPr>
                <a:xfrm>
                  <a:off x="567542" y="1817794"/>
                  <a:ext cx="6463161" cy="3332526"/>
                  <a:chOff x="1819779" y="2157566"/>
                  <a:chExt cx="6463161" cy="3332526"/>
                </a:xfrm>
              </p:grpSpPr>
              <p:cxnSp>
                <p:nvCxnSpPr>
                  <p:cNvPr id="37" name="直線コネクタ 36">
                    <a:extLst>
                      <a:ext uri="{FF2B5EF4-FFF2-40B4-BE49-F238E27FC236}">
                        <a16:creationId xmlns:a16="http://schemas.microsoft.com/office/drawing/2014/main" id="{2423855F-CB57-460F-9424-2733335C50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57302" y="238839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直線コネクタ 37">
                    <a:extLst>
                      <a:ext uri="{FF2B5EF4-FFF2-40B4-BE49-F238E27FC236}">
                        <a16:creationId xmlns:a16="http://schemas.microsoft.com/office/drawing/2014/main" id="{A608C717-F3DC-458F-94EC-B549270D16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3828579"/>
                    <a:ext cx="5825638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線コネクタ 38">
                    <a:extLst>
                      <a:ext uri="{FF2B5EF4-FFF2-40B4-BE49-F238E27FC236}">
                        <a16:creationId xmlns:a16="http://schemas.microsoft.com/office/drawing/2014/main" id="{EC15BEF4-87D5-4D12-BAF8-E5D8FFB689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42062" y="5261139"/>
                    <a:ext cx="5825638" cy="0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" name="テキスト ボックス 39">
                        <a:extLst>
                          <a:ext uri="{FF2B5EF4-FFF2-40B4-BE49-F238E27FC236}">
                            <a16:creationId xmlns:a16="http://schemas.microsoft.com/office/drawing/2014/main" id="{A81FCB23-93F7-4526-ABE1-8A811785B61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1" name="テキスト ボックス 50">
                        <a:extLst>
                          <a:ext uri="{FF2B5EF4-FFF2-40B4-BE49-F238E27FC236}">
                            <a16:creationId xmlns:a16="http://schemas.microsoft.com/office/drawing/2014/main" id="{DC10EF26-F36F-4723-BA61-6DD06E4130F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34395" y="2157566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テキスト ボックス 40">
                        <a:extLst>
                          <a:ext uri="{FF2B5EF4-FFF2-40B4-BE49-F238E27FC236}">
                            <a16:creationId xmlns:a16="http://schemas.microsoft.com/office/drawing/2014/main" id="{73453E15-C17B-4606-934D-BD59C52F487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2" name="テキスト ボックス 51">
                        <a:extLst>
                          <a:ext uri="{FF2B5EF4-FFF2-40B4-BE49-F238E27FC236}">
                            <a16:creationId xmlns:a16="http://schemas.microsoft.com/office/drawing/2014/main" id="{AD187D9B-2FA6-4991-B619-3A663D48317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49635" y="3588248"/>
                        <a:ext cx="442749" cy="46166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テキスト ボックス 41">
                        <a:extLst>
                          <a:ext uri="{FF2B5EF4-FFF2-40B4-BE49-F238E27FC236}">
                            <a16:creationId xmlns:a16="http://schemas.microsoft.com/office/drawing/2014/main" id="{F46756D2-42C8-4287-9541-7B80439D226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oMath>
                          </m:oMathPara>
                        </a14:m>
                        <a:endParaRPr lang="en-US" altLang="ja-JP" sz="2400" dirty="0"/>
                      </a:p>
                    </p:txBody>
                  </p:sp>
                </mc:Choice>
                <mc:Fallback xmlns="">
                  <p:sp>
                    <p:nvSpPr>
                      <p:cNvPr id="53" name="テキスト ボックス 52">
                        <a:extLst>
                          <a:ext uri="{FF2B5EF4-FFF2-40B4-BE49-F238E27FC236}">
                            <a16:creationId xmlns:a16="http://schemas.microsoft.com/office/drawing/2014/main" id="{6C282D98-FF53-4FEE-9454-88E2AE67A2F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19779" y="5028427"/>
                        <a:ext cx="671979" cy="46166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テキスト ボックス 32">
                      <a:extLst>
                        <a:ext uri="{FF2B5EF4-FFF2-40B4-BE49-F238E27FC236}">
                          <a16:creationId xmlns:a16="http://schemas.microsoft.com/office/drawing/2014/main" id="{6B826E13-0A51-4323-9595-9235518AE2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180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5" name="テキスト ボックス 54">
                      <a:extLst>
                        <a:ext uri="{FF2B5EF4-FFF2-40B4-BE49-F238E27FC236}">
                          <a16:creationId xmlns:a16="http://schemas.microsoft.com/office/drawing/2014/main" id="{D435A0B8-73C6-48C9-AE37-C2992EFF70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79426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テキスト ボックス 33">
                      <a:extLst>
                        <a:ext uri="{FF2B5EF4-FFF2-40B4-BE49-F238E27FC236}">
                          <a16:creationId xmlns:a16="http://schemas.microsoft.com/office/drawing/2014/main" id="{D4347C55-6EBA-4D96-954D-21FF5D8ED6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6" name="テキスト ボックス 55">
                      <a:extLst>
                        <a:ext uri="{FF2B5EF4-FFF2-40B4-BE49-F238E27FC236}">
                          <a16:creationId xmlns:a16="http://schemas.microsoft.com/office/drawing/2014/main" id="{F80DF57B-C729-440A-942A-EB1763F28B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55147" y="3474036"/>
                      <a:ext cx="862737" cy="338554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テキスト ボックス 34">
                      <a:extLst>
                        <a:ext uri="{FF2B5EF4-FFF2-40B4-BE49-F238E27FC236}">
                          <a16:creationId xmlns:a16="http://schemas.microsoft.com/office/drawing/2014/main" id="{B6E8AF16-3FF0-4330-B0B7-7C477DE507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90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59" name="テキスト ボックス 58">
                      <a:extLst>
                        <a:ext uri="{FF2B5EF4-FFF2-40B4-BE49-F238E27FC236}">
                          <a16:creationId xmlns:a16="http://schemas.microsoft.com/office/drawing/2014/main" id="{33793090-82A7-4AEC-97F1-5ACA143958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39521" y="1776378"/>
                      <a:ext cx="748923" cy="33855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テキスト ボックス 35">
                      <a:extLst>
                        <a:ext uri="{FF2B5EF4-FFF2-40B4-BE49-F238E27FC236}">
                          <a16:creationId xmlns:a16="http://schemas.microsoft.com/office/drawing/2014/main" id="{EDA3B77D-2614-43EE-9B6D-62E4AFA1D9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270</m:t>
                            </m:r>
                          </m:oMath>
                        </m:oMathPara>
                      </a14:m>
                      <a:endParaRPr lang="en-US" altLang="ja-JP" sz="1600" dirty="0"/>
                    </a:p>
                  </p:txBody>
                </p:sp>
              </mc:Choice>
              <mc:Fallback xmlns="">
                <p:sp>
                  <p:nvSpPr>
                    <p:cNvPr id="60" name="テキスト ボックス 59">
                      <a:extLst>
                        <a:ext uri="{FF2B5EF4-FFF2-40B4-BE49-F238E27FC236}">
                          <a16:creationId xmlns:a16="http://schemas.microsoft.com/office/drawing/2014/main" id="{25D68D67-6AF6-4589-9860-5217804110D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3670" y="4889284"/>
                      <a:ext cx="862737" cy="338554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9" name="フリーフォーム: 図形 28">
                <a:extLst>
                  <a:ext uri="{FF2B5EF4-FFF2-40B4-BE49-F238E27FC236}">
                    <a16:creationId xmlns:a16="http://schemas.microsoft.com/office/drawing/2014/main" id="{47E852FC-0FD2-435B-BF07-AD3DEE80DCCD}"/>
                  </a:ext>
                </a:extLst>
              </p:cNvPr>
              <p:cNvSpPr/>
              <p:nvPr/>
            </p:nvSpPr>
            <p:spPr>
              <a:xfrm>
                <a:off x="1196340" y="2263139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フリーフォーム: 図形 29">
                <a:extLst>
                  <a:ext uri="{FF2B5EF4-FFF2-40B4-BE49-F238E27FC236}">
                    <a16:creationId xmlns:a16="http://schemas.microsoft.com/office/drawing/2014/main" id="{0005DFA8-B5EA-4965-9C39-8CB888183710}"/>
                  </a:ext>
                </a:extLst>
              </p:cNvPr>
              <p:cNvSpPr/>
              <p:nvPr/>
            </p:nvSpPr>
            <p:spPr>
              <a:xfrm rot="10800000">
                <a:off x="2641759" y="3696706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フリーフォーム: 図形 30">
                <a:extLst>
                  <a:ext uri="{FF2B5EF4-FFF2-40B4-BE49-F238E27FC236}">
                    <a16:creationId xmlns:a16="http://schemas.microsoft.com/office/drawing/2014/main" id="{A42321A1-2BE6-4CF5-B70F-0283B51DB399}"/>
                  </a:ext>
                </a:extLst>
              </p:cNvPr>
              <p:cNvSpPr/>
              <p:nvPr/>
            </p:nvSpPr>
            <p:spPr>
              <a:xfrm>
                <a:off x="4090036" y="2269991"/>
                <a:ext cx="1447800" cy="1440181"/>
              </a:xfrm>
              <a:custGeom>
                <a:avLst/>
                <a:gdLst>
                  <a:gd name="connsiteX0" fmla="*/ 0 w 1447800"/>
                  <a:gd name="connsiteY0" fmla="*/ 1432561 h 1440181"/>
                  <a:gd name="connsiteX1" fmla="*/ 762000 w 1447800"/>
                  <a:gd name="connsiteY1" fmla="*/ 1 h 1440181"/>
                  <a:gd name="connsiteX2" fmla="*/ 1447800 w 1447800"/>
                  <a:gd name="connsiteY2" fmla="*/ 1440181 h 1440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7800" h="1440181">
                    <a:moveTo>
                      <a:pt x="0" y="1432561"/>
                    </a:moveTo>
                    <a:cubicBezTo>
                      <a:pt x="260350" y="715646"/>
                      <a:pt x="520700" y="-1269"/>
                      <a:pt x="762000" y="1"/>
                    </a:cubicBezTo>
                    <a:cubicBezTo>
                      <a:pt x="1003300" y="1271"/>
                      <a:pt x="1225550" y="720726"/>
                      <a:pt x="1447800" y="1440181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92B872FA-D2EC-487B-A73E-7833E794748B}"/>
                </a:ext>
              </a:extLst>
            </p:cNvPr>
            <p:cNvSpPr/>
            <p:nvPr/>
          </p:nvSpPr>
          <p:spPr>
            <a:xfrm rot="10800000">
              <a:off x="5535455" y="3702017"/>
              <a:ext cx="1447800" cy="1440181"/>
            </a:xfrm>
            <a:custGeom>
              <a:avLst/>
              <a:gdLst>
                <a:gd name="connsiteX0" fmla="*/ 0 w 1447800"/>
                <a:gd name="connsiteY0" fmla="*/ 1432561 h 1440181"/>
                <a:gd name="connsiteX1" fmla="*/ 762000 w 1447800"/>
                <a:gd name="connsiteY1" fmla="*/ 1 h 1440181"/>
                <a:gd name="connsiteX2" fmla="*/ 1447800 w 1447800"/>
                <a:gd name="connsiteY2" fmla="*/ 1440181 h 1440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7800" h="1440181">
                  <a:moveTo>
                    <a:pt x="0" y="1432561"/>
                  </a:moveTo>
                  <a:cubicBezTo>
                    <a:pt x="260350" y="715646"/>
                    <a:pt x="520700" y="-1269"/>
                    <a:pt x="762000" y="1"/>
                  </a:cubicBezTo>
                  <a:cubicBezTo>
                    <a:pt x="1003300" y="1271"/>
                    <a:pt x="1225550" y="720726"/>
                    <a:pt x="1447800" y="144018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8395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3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Sin</a:t>
            </a:r>
            <a:r>
              <a:rPr kumimoji="1" lang="ja-JP" altLang="en-US" sz="3200" b="1" u="sng" dirty="0"/>
              <a:t>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kumimoji="1" lang="ja-JP" altLang="en-US" sz="2400" dirty="0"/>
                  <a:t>角度は</a:t>
                </a:r>
                <a14:m>
                  <m:oMath xmlns:m="http://schemas.openxmlformats.org/officeDocument/2006/math"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ja-JP" alt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～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𝟑𝟔𝟎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で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1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周してループします。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:r>
                  <a:rPr kumimoji="1" lang="ja-JP" altLang="en-US" sz="2400" dirty="0"/>
                  <a:t>よって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角度を加算したときに</a:t>
                </a:r>
                <a14:m>
                  <m:oMath xmlns:m="http://schemas.openxmlformats.org/officeDocument/2006/math"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𝟑𝟔𝟎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を超えた場合</a:t>
                </a:r>
                <a:r>
                  <a:rPr lang="ja-JP" altLang="en-US" sz="2400" dirty="0"/>
                  <a:t>は、</a:t>
                </a:r>
                <a:endParaRPr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ja-JP" altLang="en-US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～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𝟑𝟔𝟎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の値に変換</a:t>
                </a:r>
                <a:r>
                  <a:rPr kumimoji="1" lang="ja-JP" altLang="en-US" sz="2400" dirty="0"/>
                  <a:t>する必要があります。</a:t>
                </a:r>
                <a:endParaRPr kumimoji="1" lang="en-US" altLang="ja-JP" sz="2400" dirty="0"/>
              </a:p>
              <a:p>
                <a:pPr/>
                <a:r>
                  <a:rPr lang="ja-JP" altLang="en-US" sz="2400" dirty="0"/>
                  <a:t>最後にその処理を作りましょう。ただし、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プログラムの単位はラジアンなので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気を付けましょう。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1938992"/>
              </a:xfrm>
              <a:prstGeom prst="rect">
                <a:avLst/>
              </a:prstGeom>
              <a:blipFill>
                <a:blip r:embed="rId2"/>
                <a:stretch>
                  <a:fillRect l="-835" t="-2516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EFAFB10-5F91-461F-AF85-6CDA67881A13}"/>
              </a:ext>
            </a:extLst>
          </p:cNvPr>
          <p:cNvSpPr txBox="1"/>
          <p:nvPr/>
        </p:nvSpPr>
        <p:spPr>
          <a:xfrm>
            <a:off x="9354873" y="576152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ここまで③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52248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3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Sin</a:t>
            </a:r>
            <a:r>
              <a:rPr kumimoji="1" lang="ja-JP" altLang="en-US" sz="3200" b="1" u="sng" dirty="0"/>
              <a:t>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2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MoveBlock.cpp</a:t>
            </a:r>
            <a:r>
              <a:rPr kumimoji="1" lang="ja-JP" altLang="en-US" sz="2400" dirty="0"/>
              <a:t>を開いて以下の空白を埋めましょう。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52C208D-B59E-42D5-8420-1654FD6B9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406330" cy="419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5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405</Words>
  <Application>Microsoft Office PowerPoint</Application>
  <PresentationFormat>ワイド画面</PresentationFormat>
  <Paragraphs>66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12</cp:revision>
  <dcterms:created xsi:type="dcterms:W3CDTF">2024-08-27T02:15:54Z</dcterms:created>
  <dcterms:modified xsi:type="dcterms:W3CDTF">2024-11-05T05:29:25Z</dcterms:modified>
</cp:coreProperties>
</file>