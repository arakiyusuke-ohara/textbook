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3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Sin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波</a:t>
            </a:r>
            <a:r>
              <a:rPr kumimoji="1" lang="ja-JP" altLang="en-US" sz="2400" dirty="0"/>
              <a:t>は</a:t>
            </a:r>
            <a:r>
              <a:rPr kumimoji="1" lang="en-US" altLang="ja-JP" sz="2400" dirty="0"/>
              <a:t>Sin</a:t>
            </a:r>
            <a:r>
              <a:rPr kumimoji="1" lang="ja-JP" altLang="en-US" sz="2400" dirty="0"/>
              <a:t>関数が返却する値をグラフ化したときの波です。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数値の増減が滑らかに変化するため、</a:t>
            </a:r>
            <a:r>
              <a:rPr lang="ja-JP" altLang="en-US" sz="2400" dirty="0"/>
              <a:t>ゲームに使えるところも多いです。</a:t>
            </a:r>
            <a:endParaRPr kumimoji="1"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3093E83-AECA-4118-B6A6-1784C02DCD91}"/>
              </a:ext>
            </a:extLst>
          </p:cNvPr>
          <p:cNvGrpSpPr/>
          <p:nvPr/>
        </p:nvGrpSpPr>
        <p:grpSpPr>
          <a:xfrm>
            <a:off x="567542" y="2190110"/>
            <a:ext cx="7393117" cy="4175935"/>
            <a:chOff x="567542" y="1992700"/>
            <a:chExt cx="6463161" cy="3451460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0038D12C-73D8-4E29-9220-3FE035668E99}"/>
                </a:ext>
              </a:extLst>
            </p:cNvPr>
            <p:cNvGrpSpPr/>
            <p:nvPr/>
          </p:nvGrpSpPr>
          <p:grpSpPr>
            <a:xfrm>
              <a:off x="567542" y="1992700"/>
              <a:ext cx="6463161" cy="3451460"/>
              <a:chOff x="567542" y="1992700"/>
              <a:chExt cx="6463161" cy="3451460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AF57149F-F3AC-47B6-9076-BE2CBB79B0B2}"/>
                  </a:ext>
                </a:extLst>
              </p:cNvPr>
              <p:cNvGrpSpPr/>
              <p:nvPr/>
            </p:nvGrpSpPr>
            <p:grpSpPr>
              <a:xfrm>
                <a:off x="567542" y="1992700"/>
                <a:ext cx="6463161" cy="3451460"/>
                <a:chOff x="567542" y="1776378"/>
                <a:chExt cx="6463161" cy="3451460"/>
              </a:xfrm>
            </p:grpSpPr>
            <p:grpSp>
              <p:nvGrpSpPr>
                <p:cNvPr id="13" name="グループ化 12">
                  <a:extLst>
                    <a:ext uri="{FF2B5EF4-FFF2-40B4-BE49-F238E27FC236}">
                      <a16:creationId xmlns:a16="http://schemas.microsoft.com/office/drawing/2014/main" id="{257A3276-FFA6-4588-8061-AF273C1C20B5}"/>
                    </a:ext>
                  </a:extLst>
                </p:cNvPr>
                <p:cNvGrpSpPr/>
                <p:nvPr/>
              </p:nvGrpSpPr>
              <p:grpSpPr>
                <a:xfrm>
                  <a:off x="567542" y="1817794"/>
                  <a:ext cx="6463161" cy="3332526"/>
                  <a:chOff x="1819779" y="2157566"/>
                  <a:chExt cx="6463161" cy="3332526"/>
                </a:xfrm>
              </p:grpSpPr>
              <p:cxnSp>
                <p:nvCxnSpPr>
                  <p:cNvPr id="18" name="直線コネクタ 17">
                    <a:extLst>
                      <a:ext uri="{FF2B5EF4-FFF2-40B4-BE49-F238E27FC236}">
                        <a16:creationId xmlns:a16="http://schemas.microsoft.com/office/drawing/2014/main" id="{7BE5D361-21A2-439A-B7D6-ADA89FB328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57302" y="2388399"/>
                    <a:ext cx="5825638" cy="0"/>
                  </a:xfrm>
                  <a:prstGeom prst="line">
                    <a:avLst/>
                  </a:prstGeom>
                  <a:ln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線コネクタ 18">
                    <a:extLst>
                      <a:ext uri="{FF2B5EF4-FFF2-40B4-BE49-F238E27FC236}">
                        <a16:creationId xmlns:a16="http://schemas.microsoft.com/office/drawing/2014/main" id="{2325D545-BF66-4617-A836-AB2A33F4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42062" y="3828579"/>
                    <a:ext cx="5825638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線コネクタ 19">
                    <a:extLst>
                      <a:ext uri="{FF2B5EF4-FFF2-40B4-BE49-F238E27FC236}">
                        <a16:creationId xmlns:a16="http://schemas.microsoft.com/office/drawing/2014/main" id="{02D83C6A-B3B9-48B5-8331-D5B7CC9770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42062" y="5261139"/>
                    <a:ext cx="5825638" cy="0"/>
                  </a:xfrm>
                  <a:prstGeom prst="line">
                    <a:avLst/>
                  </a:prstGeom>
                  <a:ln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テキスト ボックス 20">
                        <a:extLst>
                          <a:ext uri="{FF2B5EF4-FFF2-40B4-BE49-F238E27FC236}">
                            <a16:creationId xmlns:a16="http://schemas.microsoft.com/office/drawing/2014/main" id="{50D74D44-A8AD-4168-B993-0506181A3BB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34395" y="2157566"/>
                        <a:ext cx="442749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endParaRPr lang="en-US" altLang="ja-JP" sz="2400" dirty="0"/>
                      </a:p>
                    </p:txBody>
                  </p:sp>
                </mc:Choice>
                <mc:Fallback xmlns="">
                  <p:sp>
                    <p:nvSpPr>
                      <p:cNvPr id="51" name="テキスト ボックス 50">
                        <a:extLst>
                          <a:ext uri="{FF2B5EF4-FFF2-40B4-BE49-F238E27FC236}">
                            <a16:creationId xmlns:a16="http://schemas.microsoft.com/office/drawing/2014/main" id="{DC10EF26-F36F-4723-BA61-6DD06E4130F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34395" y="2157566"/>
                        <a:ext cx="442749" cy="461665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" name="テキスト ボックス 21">
                        <a:extLst>
                          <a:ext uri="{FF2B5EF4-FFF2-40B4-BE49-F238E27FC236}">
                            <a16:creationId xmlns:a16="http://schemas.microsoft.com/office/drawing/2014/main" id="{6C829EE1-E2C5-4D13-B176-563DB1CE64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49635" y="3588248"/>
                        <a:ext cx="442749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m:oMathPara>
                        </a14:m>
                        <a:endParaRPr lang="en-US" altLang="ja-JP" sz="2400" dirty="0"/>
                      </a:p>
                    </p:txBody>
                  </p:sp>
                </mc:Choice>
                <mc:Fallback xmlns="">
                  <p:sp>
                    <p:nvSpPr>
                      <p:cNvPr id="52" name="テキスト ボックス 51">
                        <a:extLst>
                          <a:ext uri="{FF2B5EF4-FFF2-40B4-BE49-F238E27FC236}">
                            <a16:creationId xmlns:a16="http://schemas.microsoft.com/office/drawing/2014/main" id="{AD187D9B-2FA6-4991-B619-3A663D48317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49635" y="3588248"/>
                        <a:ext cx="442749" cy="461665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" name="テキスト ボックス 22">
                        <a:extLst>
                          <a:ext uri="{FF2B5EF4-FFF2-40B4-BE49-F238E27FC236}">
                            <a16:creationId xmlns:a16="http://schemas.microsoft.com/office/drawing/2014/main" id="{DC3C562F-74FB-4A7A-9BC4-0D5D6A793A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19779" y="5028427"/>
                        <a:ext cx="671979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oMath>
                          </m:oMathPara>
                        </a14:m>
                        <a:endParaRPr lang="en-US" altLang="ja-JP" sz="2400" dirty="0"/>
                      </a:p>
                    </p:txBody>
                  </p:sp>
                </mc:Choice>
                <mc:Fallback xmlns="">
                  <p:sp>
                    <p:nvSpPr>
                      <p:cNvPr id="53" name="テキスト ボックス 52">
                        <a:extLst>
                          <a:ext uri="{FF2B5EF4-FFF2-40B4-BE49-F238E27FC236}">
                            <a16:creationId xmlns:a16="http://schemas.microsoft.com/office/drawing/2014/main" id="{6C282D98-FF53-4FEE-9454-88E2AE67A2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19779" y="5028427"/>
                        <a:ext cx="671979" cy="461665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テキスト ボックス 13">
                      <a:extLst>
                        <a:ext uri="{FF2B5EF4-FFF2-40B4-BE49-F238E27FC236}">
                          <a16:creationId xmlns:a16="http://schemas.microsoft.com/office/drawing/2014/main" id="{DC25C1F1-D7D6-4DDA-9DCA-BDFB335891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79426" y="3474036"/>
                      <a:ext cx="86273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180</m:t>
                            </m:r>
                          </m:oMath>
                        </m:oMathPara>
                      </a14:m>
                      <a:endParaRPr lang="en-US" altLang="ja-JP" sz="1600" dirty="0"/>
                    </a:p>
                  </p:txBody>
                </p:sp>
              </mc:Choice>
              <mc:Fallback xmlns="">
                <p:sp>
                  <p:nvSpPr>
                    <p:cNvPr id="55" name="テキスト ボックス 54">
                      <a:extLst>
                        <a:ext uri="{FF2B5EF4-FFF2-40B4-BE49-F238E27FC236}">
                          <a16:creationId xmlns:a16="http://schemas.microsoft.com/office/drawing/2014/main" id="{D435A0B8-73C6-48C9-AE37-C2992EFF70B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9426" y="3474036"/>
                      <a:ext cx="862737" cy="33855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C4D9AD99-80E5-4C6D-A9CA-AA37D956E5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55147" y="3474036"/>
                      <a:ext cx="86273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360</m:t>
                            </m:r>
                          </m:oMath>
                        </m:oMathPara>
                      </a14:m>
                      <a:endParaRPr lang="en-US" altLang="ja-JP" sz="1600" dirty="0"/>
                    </a:p>
                  </p:txBody>
                </p:sp>
              </mc:Choice>
              <mc:Fallback xmlns=""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F80DF57B-C729-440A-942A-EB1763F28B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55147" y="3474036"/>
                      <a:ext cx="862737" cy="33855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9064BE2B-D013-45CB-9F99-062AB8D7A3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39521" y="1776378"/>
                      <a:ext cx="748923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90</m:t>
                            </m:r>
                          </m:oMath>
                        </m:oMathPara>
                      </a14:m>
                      <a:endParaRPr lang="en-US" altLang="ja-JP" sz="1600" dirty="0"/>
                    </a:p>
                  </p:txBody>
                </p:sp>
              </mc:Choice>
              <mc:Fallback xmlns="">
                <p:sp>
                  <p:nvSpPr>
                    <p:cNvPr id="59" name="テキスト ボックス 58">
                      <a:extLst>
                        <a:ext uri="{FF2B5EF4-FFF2-40B4-BE49-F238E27FC236}">
                          <a16:creationId xmlns:a16="http://schemas.microsoft.com/office/drawing/2014/main" id="{33793090-82A7-4AEC-97F1-5ACA143958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39521" y="1776378"/>
                      <a:ext cx="748923" cy="33855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C06CEB2B-D5D1-458D-BAD5-22E6B70A0F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13670" y="4889284"/>
                      <a:ext cx="86273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270</m:t>
                            </m:r>
                          </m:oMath>
                        </m:oMathPara>
                      </a14:m>
                      <a:endParaRPr lang="en-US" altLang="ja-JP" sz="1600" dirty="0"/>
                    </a:p>
                  </p:txBody>
                </p:sp>
              </mc:Choice>
              <mc:Fallback xmlns="">
                <p:sp>
                  <p:nvSpPr>
                    <p:cNvPr id="60" name="テキスト ボックス 59">
                      <a:extLst>
                        <a:ext uri="{FF2B5EF4-FFF2-40B4-BE49-F238E27FC236}">
                          <a16:creationId xmlns:a16="http://schemas.microsoft.com/office/drawing/2014/main" id="{25D68D67-6AF6-4589-9860-5217804110D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13670" y="4889284"/>
                      <a:ext cx="862737" cy="33855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" name="フリーフォーム: 図形 9">
                <a:extLst>
                  <a:ext uri="{FF2B5EF4-FFF2-40B4-BE49-F238E27FC236}">
                    <a16:creationId xmlns:a16="http://schemas.microsoft.com/office/drawing/2014/main" id="{A08B95C2-D156-449F-82EE-F3EDD1B8BFB6}"/>
                  </a:ext>
                </a:extLst>
              </p:cNvPr>
              <p:cNvSpPr/>
              <p:nvPr/>
            </p:nvSpPr>
            <p:spPr>
              <a:xfrm>
                <a:off x="1196340" y="2263139"/>
                <a:ext cx="1447800" cy="1440181"/>
              </a:xfrm>
              <a:custGeom>
                <a:avLst/>
                <a:gdLst>
                  <a:gd name="connsiteX0" fmla="*/ 0 w 1447800"/>
                  <a:gd name="connsiteY0" fmla="*/ 1432561 h 1440181"/>
                  <a:gd name="connsiteX1" fmla="*/ 762000 w 1447800"/>
                  <a:gd name="connsiteY1" fmla="*/ 1 h 1440181"/>
                  <a:gd name="connsiteX2" fmla="*/ 1447800 w 1447800"/>
                  <a:gd name="connsiteY2" fmla="*/ 1440181 h 1440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447800" h="1440181">
                    <a:moveTo>
                      <a:pt x="0" y="1432561"/>
                    </a:moveTo>
                    <a:cubicBezTo>
                      <a:pt x="260350" y="715646"/>
                      <a:pt x="520700" y="-1269"/>
                      <a:pt x="762000" y="1"/>
                    </a:cubicBezTo>
                    <a:cubicBezTo>
                      <a:pt x="1003300" y="1271"/>
                      <a:pt x="1225550" y="720726"/>
                      <a:pt x="1447800" y="1440181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フリーフォーム: 図形 10">
                <a:extLst>
                  <a:ext uri="{FF2B5EF4-FFF2-40B4-BE49-F238E27FC236}">
                    <a16:creationId xmlns:a16="http://schemas.microsoft.com/office/drawing/2014/main" id="{7D339916-0564-4959-9143-B9AA191A50DF}"/>
                  </a:ext>
                </a:extLst>
              </p:cNvPr>
              <p:cNvSpPr/>
              <p:nvPr/>
            </p:nvSpPr>
            <p:spPr>
              <a:xfrm rot="10800000">
                <a:off x="2641759" y="3696706"/>
                <a:ext cx="1447800" cy="1440181"/>
              </a:xfrm>
              <a:custGeom>
                <a:avLst/>
                <a:gdLst>
                  <a:gd name="connsiteX0" fmla="*/ 0 w 1447800"/>
                  <a:gd name="connsiteY0" fmla="*/ 1432561 h 1440181"/>
                  <a:gd name="connsiteX1" fmla="*/ 762000 w 1447800"/>
                  <a:gd name="connsiteY1" fmla="*/ 1 h 1440181"/>
                  <a:gd name="connsiteX2" fmla="*/ 1447800 w 1447800"/>
                  <a:gd name="connsiteY2" fmla="*/ 1440181 h 1440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447800" h="1440181">
                    <a:moveTo>
                      <a:pt x="0" y="1432561"/>
                    </a:moveTo>
                    <a:cubicBezTo>
                      <a:pt x="260350" y="715646"/>
                      <a:pt x="520700" y="-1269"/>
                      <a:pt x="762000" y="1"/>
                    </a:cubicBezTo>
                    <a:cubicBezTo>
                      <a:pt x="1003300" y="1271"/>
                      <a:pt x="1225550" y="720726"/>
                      <a:pt x="1447800" y="1440181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フリーフォーム: 図形 11">
                <a:extLst>
                  <a:ext uri="{FF2B5EF4-FFF2-40B4-BE49-F238E27FC236}">
                    <a16:creationId xmlns:a16="http://schemas.microsoft.com/office/drawing/2014/main" id="{5CA69529-950C-4696-9934-994C7C9E2946}"/>
                  </a:ext>
                </a:extLst>
              </p:cNvPr>
              <p:cNvSpPr/>
              <p:nvPr/>
            </p:nvSpPr>
            <p:spPr>
              <a:xfrm>
                <a:off x="4090036" y="2269991"/>
                <a:ext cx="1447800" cy="1440181"/>
              </a:xfrm>
              <a:custGeom>
                <a:avLst/>
                <a:gdLst>
                  <a:gd name="connsiteX0" fmla="*/ 0 w 1447800"/>
                  <a:gd name="connsiteY0" fmla="*/ 1432561 h 1440181"/>
                  <a:gd name="connsiteX1" fmla="*/ 762000 w 1447800"/>
                  <a:gd name="connsiteY1" fmla="*/ 1 h 1440181"/>
                  <a:gd name="connsiteX2" fmla="*/ 1447800 w 1447800"/>
                  <a:gd name="connsiteY2" fmla="*/ 1440181 h 1440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447800" h="1440181">
                    <a:moveTo>
                      <a:pt x="0" y="1432561"/>
                    </a:moveTo>
                    <a:cubicBezTo>
                      <a:pt x="260350" y="715646"/>
                      <a:pt x="520700" y="-1269"/>
                      <a:pt x="762000" y="1"/>
                    </a:cubicBezTo>
                    <a:cubicBezTo>
                      <a:pt x="1003300" y="1271"/>
                      <a:pt x="1225550" y="720726"/>
                      <a:pt x="1447800" y="1440181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8" name="フリーフォーム: 図形 7">
              <a:extLst>
                <a:ext uri="{FF2B5EF4-FFF2-40B4-BE49-F238E27FC236}">
                  <a16:creationId xmlns:a16="http://schemas.microsoft.com/office/drawing/2014/main" id="{ECEBB2D6-A686-4367-8812-CB3AFBB5A211}"/>
                </a:ext>
              </a:extLst>
            </p:cNvPr>
            <p:cNvSpPr/>
            <p:nvPr/>
          </p:nvSpPr>
          <p:spPr>
            <a:xfrm rot="10800000">
              <a:off x="5535455" y="3702017"/>
              <a:ext cx="1447800" cy="1440181"/>
            </a:xfrm>
            <a:custGeom>
              <a:avLst/>
              <a:gdLst>
                <a:gd name="connsiteX0" fmla="*/ 0 w 1447800"/>
                <a:gd name="connsiteY0" fmla="*/ 1432561 h 1440181"/>
                <a:gd name="connsiteX1" fmla="*/ 762000 w 1447800"/>
                <a:gd name="connsiteY1" fmla="*/ 1 h 1440181"/>
                <a:gd name="connsiteX2" fmla="*/ 1447800 w 1447800"/>
                <a:gd name="connsiteY2" fmla="*/ 1440181 h 1440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7800" h="1440181">
                  <a:moveTo>
                    <a:pt x="0" y="1432561"/>
                  </a:moveTo>
                  <a:cubicBezTo>
                    <a:pt x="260350" y="715646"/>
                    <a:pt x="520700" y="-1269"/>
                    <a:pt x="762000" y="1"/>
                  </a:cubicBezTo>
                  <a:cubicBezTo>
                    <a:pt x="1003300" y="1271"/>
                    <a:pt x="1225550" y="720726"/>
                    <a:pt x="1447800" y="1440181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3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今回は上下に移動する床を作ります。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9B3E5A0-68A3-49CB-A804-6339F5BE7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5545659" cy="4385782"/>
          </a:xfrm>
          <a:prstGeom prst="rect">
            <a:avLst/>
          </a:prstGeom>
        </p:spPr>
      </p:pic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FEBC7B95-6C61-4751-A7A5-80B8BA500B91}"/>
              </a:ext>
            </a:extLst>
          </p:cNvPr>
          <p:cNvCxnSpPr>
            <a:cxnSpLocks/>
          </p:cNvCxnSpPr>
          <p:nvPr/>
        </p:nvCxnSpPr>
        <p:spPr>
          <a:xfrm>
            <a:off x="5020235" y="2850776"/>
            <a:ext cx="0" cy="259080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7091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3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プログラムで</a:t>
            </a:r>
            <a:r>
              <a:rPr kumimoji="1" lang="en-US" altLang="ja-JP" sz="2400" dirty="0"/>
              <a:t>Sin</a:t>
            </a:r>
            <a:r>
              <a:rPr kumimoji="1" lang="ja-JP" altLang="en-US" sz="2400" dirty="0"/>
              <a:t>関数を使う場合は、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sinf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を使います。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■関数仕様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solidFill>
                  <a:srgbClr val="0070C0"/>
                </a:solidFill>
              </a:rPr>
              <a:t>float</a:t>
            </a:r>
            <a:r>
              <a:rPr lang="ja-JP" altLang="en-US" sz="2400" dirty="0"/>
              <a:t> </a:t>
            </a:r>
            <a:r>
              <a:rPr lang="en-US" altLang="ja-JP" sz="2400" dirty="0" err="1"/>
              <a:t>sinf</a:t>
            </a:r>
            <a:r>
              <a:rPr lang="en-US" altLang="ja-JP" sz="2400" dirty="0"/>
              <a:t>(</a:t>
            </a:r>
            <a:r>
              <a:rPr lang="en-US" altLang="ja-JP" sz="2400" dirty="0">
                <a:solidFill>
                  <a:srgbClr val="0070C0"/>
                </a:solidFill>
              </a:rPr>
              <a:t>float</a:t>
            </a:r>
            <a:r>
              <a:rPr lang="en-US" altLang="ja-JP" sz="2400" dirty="0"/>
              <a:t> _X);</a:t>
            </a:r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引　数・・・角度（単位：ラジアン）</a:t>
            </a:r>
            <a:endParaRPr kumimoji="1" lang="en-US" altLang="ja-JP" sz="2400" dirty="0"/>
          </a:p>
          <a:p>
            <a:r>
              <a:rPr lang="ja-JP" altLang="en-US" sz="2400" dirty="0"/>
              <a:t>戻り値・・・引数の角度に対応した</a:t>
            </a:r>
            <a:r>
              <a:rPr lang="en-US" altLang="ja-JP" sz="2400" dirty="0"/>
              <a:t>Sin</a:t>
            </a:r>
            <a:r>
              <a:rPr lang="ja-JP" altLang="en-US" sz="2400" dirty="0"/>
              <a:t>値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引数の角度を増やしていくと、波形の値が取得できます。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9528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3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359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MoveBlock.cpp</a:t>
            </a:r>
            <a:r>
              <a:rPr kumimoji="1" lang="ja-JP" altLang="en-US" sz="2400" dirty="0"/>
              <a:t>を開きましょう。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922EB1-B2C0-4477-B0CE-56816EFC1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81258" cy="477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27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3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870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sinf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に渡す角度を用意します</a:t>
            </a:r>
            <a:r>
              <a:rPr lang="ja-JP" altLang="en-US" sz="2400" dirty="0"/>
              <a:t>。</a:t>
            </a:r>
            <a:endParaRPr lang="en-US" altLang="ja-JP" sz="2400" dirty="0"/>
          </a:p>
          <a:p>
            <a:r>
              <a:rPr lang="ja-JP" altLang="en-US" sz="2400" dirty="0"/>
              <a:t>角度は  </a:t>
            </a:r>
            <a:r>
              <a:rPr lang="en-US" altLang="ja-JP" sz="2400" dirty="0"/>
              <a:t>0</a:t>
            </a:r>
            <a:r>
              <a:rPr lang="ja-JP" altLang="en-US" sz="2400" dirty="0"/>
              <a:t>～</a:t>
            </a:r>
            <a:r>
              <a:rPr lang="en-US" altLang="ja-JP" sz="2400" dirty="0"/>
              <a:t>360°</a:t>
            </a:r>
            <a:r>
              <a:rPr lang="ja-JP" altLang="en-US" sz="2400" dirty="0"/>
              <a:t>に収まるようにしましょう。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8BF334D-3186-40CB-AFF5-C38A8FB14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179370" cy="338394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15CB8B-64CE-46A3-B718-E8F05BC5C0EE}"/>
              </a:ext>
            </a:extLst>
          </p:cNvPr>
          <p:cNvSpPr txBox="1"/>
          <p:nvPr/>
        </p:nvSpPr>
        <p:spPr>
          <a:xfrm>
            <a:off x="567542" y="5710767"/>
            <a:ext cx="67425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単位はラジアン</a:t>
            </a:r>
            <a:r>
              <a:rPr kumimoji="1" lang="ja-JP" altLang="en-US" sz="2400" dirty="0"/>
              <a:t>なので気を付けましょう</a:t>
            </a:r>
            <a:endParaRPr kumimoji="1" lang="en-US" altLang="ja-JP" sz="2400" dirty="0"/>
          </a:p>
          <a:p>
            <a:r>
              <a:rPr lang="en-US" altLang="ja-JP" sz="2400" dirty="0"/>
              <a:t>※2π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7030A0"/>
                </a:solidFill>
              </a:rPr>
              <a:t>DX_TWO_PI_F</a:t>
            </a:r>
            <a:r>
              <a:rPr lang="ja-JP" altLang="en-US" sz="2400" dirty="0"/>
              <a:t>を使えば問題ありません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0751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3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765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sinf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で波の値を取得します。</a:t>
            </a:r>
            <a:endParaRPr kumimoji="1" lang="en-US" altLang="ja-JP" sz="2400" dirty="0"/>
          </a:p>
          <a:p>
            <a:r>
              <a:rPr lang="ja-JP" altLang="en-US" sz="2400" dirty="0"/>
              <a:t>波の値はー</a:t>
            </a:r>
            <a:r>
              <a:rPr lang="en-US" altLang="ja-JP" sz="2400" dirty="0"/>
              <a:t>1</a:t>
            </a:r>
            <a:r>
              <a:rPr lang="ja-JP" altLang="en-US" sz="2400" dirty="0"/>
              <a:t>～</a:t>
            </a:r>
            <a:r>
              <a:rPr lang="en-US" altLang="ja-JP" sz="2400" dirty="0"/>
              <a:t>1</a:t>
            </a:r>
            <a:r>
              <a:rPr lang="ja-JP" altLang="en-US" sz="2400" dirty="0"/>
              <a:t>なので、掛け算をして範囲を大きくする必要があります。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15CB8B-64CE-46A3-B718-E8F05BC5C0EE}"/>
              </a:ext>
            </a:extLst>
          </p:cNvPr>
          <p:cNvSpPr txBox="1"/>
          <p:nvPr/>
        </p:nvSpPr>
        <p:spPr>
          <a:xfrm>
            <a:off x="567542" y="476250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動作確認してみましょう。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BC9260C-13CF-42D5-860E-0D1F5BE10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625031" cy="243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01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39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Sin</a:t>
            </a:r>
            <a:r>
              <a:rPr kumimoji="1" lang="ja-JP" altLang="en-US" sz="3200" b="1" u="sng" dirty="0"/>
              <a:t>波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716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ブロックが４秒で１ループするように、</a:t>
            </a:r>
            <a:r>
              <a:rPr lang="ja-JP" altLang="en-US" sz="2400" dirty="0"/>
              <a:t>定数</a:t>
            </a:r>
            <a:r>
              <a:rPr lang="en-US" altLang="ja-JP" sz="2400" b="1" dirty="0">
                <a:solidFill>
                  <a:srgbClr val="7030A0"/>
                </a:solidFill>
              </a:rPr>
              <a:t>MOVE_SPEED</a:t>
            </a:r>
            <a:r>
              <a:rPr lang="ja-JP" altLang="en-US" sz="2400" dirty="0"/>
              <a:t>を変更しましょう。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BC34D77-84A3-4A4B-8F48-CB050C969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44324" cy="172426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2C5C710-12D8-4C03-871A-4BEDB5AEB452}"/>
              </a:ext>
            </a:extLst>
          </p:cNvPr>
          <p:cNvSpPr txBox="1"/>
          <p:nvPr/>
        </p:nvSpPr>
        <p:spPr>
          <a:xfrm>
            <a:off x="567542" y="3681760"/>
            <a:ext cx="107837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MoveBlock.cpp</a:t>
            </a:r>
            <a:r>
              <a:rPr kumimoji="1" lang="ja-JP" altLang="en-US" sz="2400" dirty="0"/>
              <a:t>をよく読んで、どのようなプログラムか把握しましょう。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94548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255</Words>
  <Application>Microsoft Office PowerPoint</Application>
  <PresentationFormat>ワイド画面</PresentationFormat>
  <Paragraphs>36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15</cp:revision>
  <dcterms:created xsi:type="dcterms:W3CDTF">2024-08-27T02:15:54Z</dcterms:created>
  <dcterms:modified xsi:type="dcterms:W3CDTF">2026-02-19T02:59:01Z</dcterms:modified>
</cp:coreProperties>
</file>