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直線には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傾き（勾配）</a:t>
            </a:r>
            <a:r>
              <a:rPr kumimoji="1" lang="ja-JP" altLang="en-US" sz="2400" dirty="0"/>
              <a:t>という要素があります。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その名の通り、直線の傾き具合を表す要素となります。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以下のような坂道をイメージしてみましょう。</a:t>
            </a:r>
            <a:endParaRPr kumimoji="1"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52495587-AADD-4EBA-A21A-B4CE850BAB86}"/>
              </a:ext>
            </a:extLst>
          </p:cNvPr>
          <p:cNvGrpSpPr/>
          <p:nvPr/>
        </p:nvGrpSpPr>
        <p:grpSpPr>
          <a:xfrm>
            <a:off x="567542" y="3311740"/>
            <a:ext cx="4486461" cy="2259006"/>
            <a:chOff x="1233182" y="3479334"/>
            <a:chExt cx="4486461" cy="2259006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994CEB73-AE8D-4459-9FE8-659D082E365C}"/>
                </a:ext>
              </a:extLst>
            </p:cNvPr>
            <p:cNvCxnSpPr/>
            <p:nvPr/>
          </p:nvCxnSpPr>
          <p:spPr>
            <a:xfrm>
              <a:off x="1233182" y="5276675"/>
              <a:ext cx="36000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4ED73C76-9841-41D9-AEA2-57D524CEC188}"/>
                </a:ext>
              </a:extLst>
            </p:cNvPr>
            <p:cNvCxnSpPr/>
            <p:nvPr/>
          </p:nvCxnSpPr>
          <p:spPr>
            <a:xfrm>
              <a:off x="4830966" y="3479334"/>
              <a:ext cx="0" cy="1800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884C3ED1-C731-4AA1-BF42-B42BCE4DB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3182" y="3479334"/>
              <a:ext cx="3597784" cy="1797341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8C30DB2-DA48-4BD3-8C71-08E48C19D12E}"/>
                    </a:ext>
                  </a:extLst>
                </p:cNvPr>
                <p:cNvSpPr txBox="1"/>
                <p:nvPr/>
              </p:nvSpPr>
              <p:spPr>
                <a:xfrm>
                  <a:off x="2509110" y="5276675"/>
                  <a:ext cx="104592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8C30DB2-DA48-4BD3-8C71-08E48C19D1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9110" y="5276675"/>
                  <a:ext cx="1045927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001B6FBA-96D6-4207-9F96-6D546772FDE0}"/>
                    </a:ext>
                  </a:extLst>
                </p:cNvPr>
                <p:cNvSpPr txBox="1"/>
                <p:nvPr/>
              </p:nvSpPr>
              <p:spPr>
                <a:xfrm>
                  <a:off x="4843634" y="4210410"/>
                  <a:ext cx="87600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001B6FBA-96D6-4207-9F96-6D546772FD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3634" y="4210410"/>
                  <a:ext cx="876009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7278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傾きは</a:t>
            </a:r>
            <a:r>
              <a:rPr lang="ja-JP" altLang="en-US" sz="2400" b="1" dirty="0">
                <a:solidFill>
                  <a:srgbClr val="FF0000"/>
                </a:solidFill>
              </a:rPr>
              <a:t>水平距離の増加量に対する上昇距離の増加量の割合</a:t>
            </a:r>
            <a:r>
              <a:rPr lang="ja-JP" altLang="en-US" sz="2400" dirty="0"/>
              <a:t>で計算します。</a:t>
            </a:r>
            <a:endParaRPr lang="en-US" altLang="ja-JP" sz="2400" dirty="0"/>
          </a:p>
          <a:p>
            <a:r>
              <a:rPr kumimoji="1" lang="ja-JP" altLang="en-US" sz="2400" dirty="0"/>
              <a:t>下の坂道だと、水平に</a:t>
            </a:r>
            <a:r>
              <a:rPr kumimoji="1" lang="en-US" altLang="ja-JP" sz="2400" dirty="0"/>
              <a:t>100m</a:t>
            </a:r>
            <a:r>
              <a:rPr kumimoji="1" lang="ja-JP" altLang="en-US" sz="2400" dirty="0"/>
              <a:t>増加すると鉛直に</a:t>
            </a:r>
            <a:r>
              <a:rPr kumimoji="1" lang="en-US" altLang="ja-JP" sz="2400" dirty="0"/>
              <a:t>50m</a:t>
            </a:r>
            <a:r>
              <a:rPr kumimoji="1" lang="ja-JP" altLang="en-US" sz="2400" dirty="0"/>
              <a:t>上昇していることがわかります。</a:t>
            </a:r>
            <a:endParaRPr kumimoji="1"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52495587-AADD-4EBA-A21A-B4CE850BAB86}"/>
              </a:ext>
            </a:extLst>
          </p:cNvPr>
          <p:cNvGrpSpPr/>
          <p:nvPr/>
        </p:nvGrpSpPr>
        <p:grpSpPr>
          <a:xfrm>
            <a:off x="567542" y="3311740"/>
            <a:ext cx="4486461" cy="2259006"/>
            <a:chOff x="1233182" y="3479334"/>
            <a:chExt cx="4486461" cy="2259006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994CEB73-AE8D-4459-9FE8-659D082E365C}"/>
                </a:ext>
              </a:extLst>
            </p:cNvPr>
            <p:cNvCxnSpPr/>
            <p:nvPr/>
          </p:nvCxnSpPr>
          <p:spPr>
            <a:xfrm>
              <a:off x="1233182" y="5276675"/>
              <a:ext cx="3600000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4ED73C76-9841-41D9-AEA2-57D524CEC188}"/>
                </a:ext>
              </a:extLst>
            </p:cNvPr>
            <p:cNvCxnSpPr/>
            <p:nvPr/>
          </p:nvCxnSpPr>
          <p:spPr>
            <a:xfrm>
              <a:off x="4830966" y="3479334"/>
              <a:ext cx="0" cy="1800000"/>
            </a:xfrm>
            <a:prstGeom prst="line">
              <a:avLst/>
            </a:prstGeom>
            <a:ln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884C3ED1-C731-4AA1-BF42-B42BCE4DB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3182" y="3479334"/>
              <a:ext cx="3597784" cy="1797341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8C30DB2-DA48-4BD3-8C71-08E48C19D12E}"/>
                    </a:ext>
                  </a:extLst>
                </p:cNvPr>
                <p:cNvSpPr txBox="1"/>
                <p:nvPr/>
              </p:nvSpPr>
              <p:spPr>
                <a:xfrm>
                  <a:off x="2509110" y="5276675"/>
                  <a:ext cx="104592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8C30DB2-DA48-4BD3-8C71-08E48C19D1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9110" y="5276675"/>
                  <a:ext cx="1045927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001B6FBA-96D6-4207-9F96-6D546772FDE0}"/>
                    </a:ext>
                  </a:extLst>
                </p:cNvPr>
                <p:cNvSpPr txBox="1"/>
                <p:nvPr/>
              </p:nvSpPr>
              <p:spPr>
                <a:xfrm>
                  <a:off x="4843634" y="4210410"/>
                  <a:ext cx="87600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001B6FBA-96D6-4207-9F96-6D546772FD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3634" y="4210410"/>
                  <a:ext cx="876009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46821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傾きとは</a:t>
            </a:r>
            <a:r>
              <a:rPr lang="ja-JP" altLang="en-US" sz="2400" b="1" dirty="0">
                <a:solidFill>
                  <a:srgbClr val="FF0000"/>
                </a:solidFill>
              </a:rPr>
              <a:t>水平距離の増加量に対する上昇距離の増加量の割合</a:t>
            </a:r>
            <a:r>
              <a:rPr lang="ja-JP" altLang="en-US" sz="2400" dirty="0"/>
              <a:t>ですので、</a:t>
            </a:r>
            <a:endParaRPr lang="en-US" altLang="ja-JP" sz="2400" dirty="0"/>
          </a:p>
          <a:p>
            <a:r>
              <a:rPr kumimoji="1" lang="ja-JP" altLang="en-US" sz="2400" dirty="0"/>
              <a:t>水平</a:t>
            </a:r>
            <a:r>
              <a:rPr kumimoji="1" lang="en-US" altLang="ja-JP" sz="2400" dirty="0"/>
              <a:t>100m</a:t>
            </a:r>
            <a:r>
              <a:rPr kumimoji="1" lang="ja-JP" altLang="en-US" sz="2400" dirty="0"/>
              <a:t>に対する上昇</a:t>
            </a:r>
            <a:r>
              <a:rPr kumimoji="1" lang="en-US" altLang="ja-JP" sz="2400" dirty="0"/>
              <a:t>50m</a:t>
            </a:r>
            <a:r>
              <a:rPr kumimoji="1" lang="ja-JP" altLang="en-US" sz="2400" dirty="0"/>
              <a:t>の割合となります。</a:t>
            </a:r>
            <a:endParaRPr kumimoji="1" lang="en-US" altLang="ja-JP" sz="2400" dirty="0"/>
          </a:p>
          <a:p>
            <a:r>
              <a:rPr lang="ja-JP" altLang="en-US" sz="2400" dirty="0"/>
              <a:t>つまり計算方法は以下の通りです。</a:t>
            </a:r>
            <a:endParaRPr kumimoji="1"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52495587-AADD-4EBA-A21A-B4CE850BAB86}"/>
              </a:ext>
            </a:extLst>
          </p:cNvPr>
          <p:cNvGrpSpPr/>
          <p:nvPr/>
        </p:nvGrpSpPr>
        <p:grpSpPr>
          <a:xfrm>
            <a:off x="567542" y="3311740"/>
            <a:ext cx="4486461" cy="2259006"/>
            <a:chOff x="1233182" y="3479334"/>
            <a:chExt cx="4486461" cy="2259006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994CEB73-AE8D-4459-9FE8-659D082E365C}"/>
                </a:ext>
              </a:extLst>
            </p:cNvPr>
            <p:cNvCxnSpPr/>
            <p:nvPr/>
          </p:nvCxnSpPr>
          <p:spPr>
            <a:xfrm>
              <a:off x="1233182" y="5276675"/>
              <a:ext cx="3600000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4ED73C76-9841-41D9-AEA2-57D524CEC188}"/>
                </a:ext>
              </a:extLst>
            </p:cNvPr>
            <p:cNvCxnSpPr/>
            <p:nvPr/>
          </p:nvCxnSpPr>
          <p:spPr>
            <a:xfrm>
              <a:off x="4830966" y="3479334"/>
              <a:ext cx="0" cy="1800000"/>
            </a:xfrm>
            <a:prstGeom prst="line">
              <a:avLst/>
            </a:prstGeom>
            <a:ln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884C3ED1-C731-4AA1-BF42-B42BCE4DB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3182" y="3479334"/>
              <a:ext cx="3597784" cy="1797341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8C30DB2-DA48-4BD3-8C71-08E48C19D12E}"/>
                    </a:ext>
                  </a:extLst>
                </p:cNvPr>
                <p:cNvSpPr txBox="1"/>
                <p:nvPr/>
              </p:nvSpPr>
              <p:spPr>
                <a:xfrm>
                  <a:off x="2509110" y="5276675"/>
                  <a:ext cx="104592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8C30DB2-DA48-4BD3-8C71-08E48C19D1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9110" y="5276675"/>
                  <a:ext cx="1045927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001B6FBA-96D6-4207-9F96-6D546772FDE0}"/>
                    </a:ext>
                  </a:extLst>
                </p:cNvPr>
                <p:cNvSpPr txBox="1"/>
                <p:nvPr/>
              </p:nvSpPr>
              <p:spPr>
                <a:xfrm>
                  <a:off x="4843634" y="4210410"/>
                  <a:ext cx="87600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001B6FBA-96D6-4207-9F96-6D546772FD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3634" y="4210410"/>
                  <a:ext cx="876009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1E0C1AA-76EF-402B-AD8D-6CEDF0D6A845}"/>
                  </a:ext>
                </a:extLst>
              </p:cNvPr>
              <p:cNvSpPr txBox="1"/>
              <p:nvPr/>
            </p:nvSpPr>
            <p:spPr>
              <a:xfrm>
                <a:off x="5319046" y="3407562"/>
                <a:ext cx="6032421" cy="1605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ja-JP" alt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傾き</m:t>
                      </m:r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鉛直</m:t>
                          </m:r>
                          <m:r>
                            <a:rPr lang="ja-JP" alt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の</m:t>
                          </m:r>
                          <m:r>
                            <a:rPr lang="ja-JP" alt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増加量</m:t>
                          </m:r>
                        </m:num>
                        <m:den>
                          <m:r>
                            <a:rPr lang="ja-JP" alt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水平</m:t>
                          </m:r>
                          <m:r>
                            <a:rPr lang="ja-JP" alt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の</m:t>
                          </m:r>
                          <m:r>
                            <a:rPr lang="ja-JP" alt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増加量</m:t>
                          </m:r>
                        </m:den>
                      </m:f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𝟓𝟎</m:t>
                          </m:r>
                        </m:num>
                        <m:den>
                          <m: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kumimoji="1" lang="en-US" altLang="ja-JP" sz="2400" dirty="0"/>
              </a:p>
              <a:p>
                <a:r>
                  <a:rPr lang="ja-JP" altLang="en-US" sz="2400" dirty="0"/>
                  <a:t>これが直線の傾きの計算方法となります。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1E0C1AA-76EF-402B-AD8D-6CEDF0D6A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046" y="3407562"/>
                <a:ext cx="6032421" cy="1605696"/>
              </a:xfrm>
              <a:prstGeom prst="rect">
                <a:avLst/>
              </a:prstGeom>
              <a:blipFill>
                <a:blip r:embed="rId4"/>
                <a:stretch>
                  <a:fillRect l="-1618" r="-607" b="-79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6264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968790D-768D-48E3-82E6-279343CA021C}"/>
              </a:ext>
            </a:extLst>
          </p:cNvPr>
          <p:cNvSpPr/>
          <p:nvPr/>
        </p:nvSpPr>
        <p:spPr>
          <a:xfrm>
            <a:off x="338390" y="1754063"/>
            <a:ext cx="9542210" cy="395247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417963" cy="50582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改めて、直線の傾きを計算する公式です。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■直線の傾き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ja-JP" altLang="en-US" sz="2400" dirty="0">
                    <a:solidFill>
                      <a:schemeClr val="tx1"/>
                    </a:solidFill>
                  </a:rPr>
                  <a:t>２点間</a:t>
                </a:r>
                <a:r>
                  <a:rPr kumimoji="1" lang="en-US" altLang="ja-JP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)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と</a:t>
                </a:r>
                <a:r>
                  <a:rPr lang="en-US" altLang="ja-JP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)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を通る直線があった時、以下が成り立つ。</a:t>
                </a:r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⊿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⊿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・・・傾き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・・・鉛直の増加量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・・・水平の増加量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en-US" altLang="ja-JP" sz="2400" dirty="0"/>
                  <a:t>※</a:t>
                </a:r>
                <a:r>
                  <a:rPr kumimoji="1" lang="ja-JP" altLang="en-US" sz="2400" dirty="0"/>
                  <a:t>それぞれの増加量は２点間の座標を引き算すれば求められます。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417963" cy="5058244"/>
              </a:xfrm>
              <a:prstGeom prst="rect">
                <a:avLst/>
              </a:prstGeom>
              <a:blipFill>
                <a:blip r:embed="rId2"/>
                <a:stretch>
                  <a:fillRect l="-971" t="-965" r="-65" b="-19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221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 例題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031092" cy="33404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点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(1,  5)</m:t>
                    </m:r>
                  </m:oMath>
                </a14:m>
                <a:r>
                  <a:rPr kumimoji="1"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−2, 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を通る直線の傾きを求めなさい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⊿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⊿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ja-JP" altLang="en-US" sz="2400" i="1">
                          <a:latin typeface="Cambria Math" panose="02040503050406030204" pitchFamily="18" charset="0"/>
                        </a:rPr>
                        <m:t>より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⊿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⊿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4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−2−</m:t>
                          </m:r>
                          <m:r>
                            <a:rPr lang="en-US" altLang="ja-JP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031092" cy="3340402"/>
              </a:xfrm>
              <a:prstGeom prst="rect">
                <a:avLst/>
              </a:prstGeom>
              <a:blipFill>
                <a:blip r:embed="rId2"/>
                <a:stretch>
                  <a:fillRect l="-1301" t="-1460" r="-43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587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9075708-E788-4750-B2BB-3F18F5316EA4}"/>
              </a:ext>
            </a:extLst>
          </p:cNvPr>
          <p:cNvSpPr/>
          <p:nvPr/>
        </p:nvSpPr>
        <p:spPr>
          <a:xfrm>
            <a:off x="338390" y="1754063"/>
            <a:ext cx="9542210" cy="22930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649069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傾きを理解したうえで、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傾き切片型</a:t>
                </a:r>
                <a:r>
                  <a:rPr kumimoji="1" lang="ja-JP" altLang="en-US" sz="2400" dirty="0"/>
                  <a:t>の直線の方程式についてみていきます。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■傾き切片型の直線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・・・傾き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・・・切片（原点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(0, 0)</m:t>
                    </m:r>
                  </m:oMath>
                </a14:m>
                <a:r>
                  <a:rPr lang="ja-JP" altLang="en-US" sz="2400" dirty="0"/>
                  <a:t>からどれだけ離れているか）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ゲームプログラムではこちらの式を使います。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実際にゲームにたとえた例題を見てみましょう。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649069" cy="3785652"/>
              </a:xfrm>
              <a:prstGeom prst="rect">
                <a:avLst/>
              </a:prstGeom>
              <a:blipFill>
                <a:blip r:embed="rId2"/>
                <a:stretch>
                  <a:fillRect l="-859" t="-1288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7650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 例題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63527" cy="30021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ゲーム中にある座標２点を通る坂道がありました。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２点の座標が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(50, 200)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(150, 400)</m:t>
                    </m:r>
                  </m:oMath>
                </a14:m>
                <a:r>
                  <a:rPr lang="ja-JP" altLang="en-US" sz="2400" dirty="0"/>
                  <a:t>を通る場合、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この坂道に沿う直線の方程式を求めなさい。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２点の座標より傾きが計算できる。</a:t>
                </a:r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400−200</m:t>
                          </m:r>
                        </m:num>
                        <m:den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150−50</m:t>
                          </m:r>
                        </m:den>
                      </m:f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num>
                        <m:den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63527" cy="3002169"/>
              </a:xfrm>
              <a:prstGeom prst="rect">
                <a:avLst/>
              </a:prstGeom>
              <a:blipFill>
                <a:blip r:embed="rId2"/>
                <a:stretch>
                  <a:fillRect l="-1258" t="-1626" r="-3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972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 例題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685280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ゲーム中にある座標２点を通る坂道がありました。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２点の座標が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(50, 200)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(150, 400)</m:t>
                    </m:r>
                  </m:oMath>
                </a14:m>
                <a:r>
                  <a:rPr lang="ja-JP" altLang="en-US" sz="2400" dirty="0"/>
                  <a:t>を通る場合、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この坂道に沿う直線の方程式を求めなさい。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sz="2400" dirty="0"/>
                  <a:t>に、傾き</a:t>
                </a:r>
                <a:r>
                  <a:rPr lang="en-US" altLang="ja-JP" sz="24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)</a:t>
                </a:r>
                <a:r>
                  <a:rPr lang="ja-JP" altLang="en-US" sz="2400" dirty="0"/>
                  <a:t>と点</a:t>
                </a:r>
                <a:r>
                  <a:rPr lang="en-US" altLang="ja-JP" sz="2400" dirty="0"/>
                  <a:t>A</a:t>
                </a:r>
                <a:r>
                  <a:rPr lang="ja-JP" altLang="en-US" sz="2400" dirty="0"/>
                  <a:t>の座標を代入すると切片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sz="2400" dirty="0"/>
                  <a:t>を求められる</a:t>
                </a:r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200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50+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ja-JP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i="1" dirty="0" smtClean="0">
                          <a:latin typeface="Cambria Math" panose="02040503050406030204" pitchFamily="18" charset="0"/>
                        </a:rPr>
                        <m:t>200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=100+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ja-JP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i="1" dirty="0" smtClean="0">
                          <a:latin typeface="Cambria Math" panose="02040503050406030204" pitchFamily="18" charset="0"/>
                        </a:rPr>
                        <m:t>200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−100=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ja-JP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00=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ja-JP" sz="2400" b="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685280" cy="3785652"/>
              </a:xfrm>
              <a:prstGeom prst="rect">
                <a:avLst/>
              </a:prstGeom>
              <a:blipFill>
                <a:blip r:embed="rId2"/>
                <a:stretch>
                  <a:fillRect l="-944" t="-12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986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 例題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63527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ゲーム中にある座標２点を通る坂道がありました。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２点の座標が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(50, 200)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(150, 400)</m:t>
                    </m:r>
                  </m:oMath>
                </a14:m>
                <a:r>
                  <a:rPr lang="ja-JP" altLang="en-US" sz="2400" dirty="0"/>
                  <a:t>を通る場合、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この坂道に沿う直線の方程式を求めなさい。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=2,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ja-JP" altLang="en-US" sz="2400" b="0" dirty="0"/>
                  <a:t>から、</a:t>
                </a:r>
                <a:endParaRPr lang="en-US" altLang="ja-JP" sz="2400" b="0" dirty="0"/>
              </a:p>
              <a:p>
                <a:r>
                  <a:rPr lang="ja-JP" altLang="en-US" sz="2400" b="0" dirty="0"/>
                  <a:t>方程式は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となる</m:t>
                    </m:r>
                  </m:oMath>
                </a14:m>
                <a:r>
                  <a:rPr lang="ja-JP" altLang="en-US" sz="2400" b="0" dirty="0"/>
                  <a:t>。</a:t>
                </a:r>
                <a:endParaRPr lang="en-US" altLang="ja-JP" sz="2400" b="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63527" cy="2677656"/>
              </a:xfrm>
              <a:prstGeom prst="rect">
                <a:avLst/>
              </a:prstGeom>
              <a:blipFill>
                <a:blip r:embed="rId2"/>
                <a:stretch>
                  <a:fillRect l="-1258" t="-1822" r="-336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5722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坂に沿った直線の方程式が分かれば、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坂に沿ってキャラクターを移動させる</a:t>
            </a:r>
            <a:r>
              <a:rPr lang="ja-JP" altLang="en-US" sz="2400" b="0" dirty="0"/>
              <a:t>ことができます。</a:t>
            </a:r>
            <a:endParaRPr lang="en-US" altLang="ja-JP" sz="2400" b="0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096D16D-D35A-40B0-BEE0-CEACDABE1728}"/>
              </a:ext>
            </a:extLst>
          </p:cNvPr>
          <p:cNvGrpSpPr/>
          <p:nvPr/>
        </p:nvGrpSpPr>
        <p:grpSpPr>
          <a:xfrm>
            <a:off x="567542" y="2851135"/>
            <a:ext cx="10217792" cy="3600000"/>
            <a:chOff x="1602296" y="2322628"/>
            <a:chExt cx="1800000" cy="3600000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82C5A7FE-75D9-46B3-AD20-5BCE136B4A72}"/>
                </a:ext>
              </a:extLst>
            </p:cNvPr>
            <p:cNvCxnSpPr/>
            <p:nvPr/>
          </p:nvCxnSpPr>
          <p:spPr>
            <a:xfrm>
              <a:off x="1602296" y="5922628"/>
              <a:ext cx="18000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ABE78F98-B5DA-4F0D-B55F-9413AFD38F83}"/>
                </a:ext>
              </a:extLst>
            </p:cNvPr>
            <p:cNvCxnSpPr/>
            <p:nvPr/>
          </p:nvCxnSpPr>
          <p:spPr>
            <a:xfrm>
              <a:off x="3402296" y="2322628"/>
              <a:ext cx="0" cy="3600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9F30D12A-E549-4636-BA53-835C1BD477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2296" y="2322628"/>
              <a:ext cx="1800000" cy="36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スマイル 10">
            <a:extLst>
              <a:ext uri="{FF2B5EF4-FFF2-40B4-BE49-F238E27FC236}">
                <a16:creationId xmlns:a16="http://schemas.microsoft.com/office/drawing/2014/main" id="{FD822EAA-9E60-4820-A345-85DC2BEF45D6}"/>
              </a:ext>
            </a:extLst>
          </p:cNvPr>
          <p:cNvSpPr/>
          <p:nvPr/>
        </p:nvSpPr>
        <p:spPr>
          <a:xfrm>
            <a:off x="4136091" y="6140742"/>
            <a:ext cx="302004" cy="310392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74C7ED9A-17A8-4F97-BE11-7265DF943EE2}"/>
                  </a:ext>
                </a:extLst>
              </p:cNvPr>
              <p:cNvSpPr txBox="1"/>
              <p:nvPr/>
            </p:nvSpPr>
            <p:spPr>
              <a:xfrm>
                <a:off x="6171500" y="5284822"/>
                <a:ext cx="21084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ja-JP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18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ja-JP" altLang="en-US" b="1" dirty="0">
                    <a:solidFill>
                      <a:schemeClr val="tx1"/>
                    </a:solidFill>
                  </a:rPr>
                  <a:t>の坂</a:t>
                </a: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74C7ED9A-17A8-4F97-BE11-7265DF943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1500" y="5284822"/>
                <a:ext cx="2108433" cy="369332"/>
              </a:xfrm>
              <a:prstGeom prst="rect">
                <a:avLst/>
              </a:prstGeom>
              <a:blipFill>
                <a:blip r:embed="rId2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58F0484-54E3-4693-8477-3937AA7F683F}"/>
              </a:ext>
            </a:extLst>
          </p:cNvPr>
          <p:cNvSpPr txBox="1"/>
          <p:nvPr/>
        </p:nvSpPr>
        <p:spPr>
          <a:xfrm>
            <a:off x="4368072" y="6140742"/>
            <a:ext cx="23920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/>
              <a:t>もし</a:t>
            </a:r>
            <a:r>
              <a:rPr lang="en-US" altLang="ja-JP" sz="1600" b="1" dirty="0">
                <a:solidFill>
                  <a:srgbClr val="FF0000"/>
                </a:solidFill>
              </a:rPr>
              <a:t>X</a:t>
            </a:r>
            <a:r>
              <a:rPr lang="ja-JP" altLang="en-US" sz="1600" b="1" dirty="0">
                <a:solidFill>
                  <a:srgbClr val="FF0000"/>
                </a:solidFill>
              </a:rPr>
              <a:t>座標</a:t>
            </a:r>
            <a:r>
              <a:rPr lang="ja-JP" altLang="en-US" sz="1600" b="1" dirty="0"/>
              <a:t>が</a:t>
            </a:r>
            <a:r>
              <a:rPr lang="en-US" altLang="ja-JP" sz="1600" b="1" dirty="0"/>
              <a:t>70</a:t>
            </a:r>
            <a:r>
              <a:rPr lang="ja-JP" altLang="en-US" sz="1600" b="1" dirty="0"/>
              <a:t>だったら</a:t>
            </a:r>
            <a:endParaRPr lang="en-US" altLang="ja-JP" sz="1600" b="1" dirty="0"/>
          </a:p>
        </p:txBody>
      </p:sp>
      <p:sp>
        <p:nvSpPr>
          <p:cNvPr id="16" name="スマイル 15">
            <a:extLst>
              <a:ext uri="{FF2B5EF4-FFF2-40B4-BE49-F238E27FC236}">
                <a16:creationId xmlns:a16="http://schemas.microsoft.com/office/drawing/2014/main" id="{CAAB52E8-2F79-44D9-A9F8-0D03D52CE51C}"/>
              </a:ext>
            </a:extLst>
          </p:cNvPr>
          <p:cNvSpPr/>
          <p:nvPr/>
        </p:nvSpPr>
        <p:spPr>
          <a:xfrm>
            <a:off x="4137489" y="4816678"/>
            <a:ext cx="302004" cy="310392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5A781AF-6F28-43BF-BEB0-AF0CAC8935B3}"/>
              </a:ext>
            </a:extLst>
          </p:cNvPr>
          <p:cNvSpPr txBox="1"/>
          <p:nvPr/>
        </p:nvSpPr>
        <p:spPr>
          <a:xfrm>
            <a:off x="3003756" y="4349471"/>
            <a:ext cx="2728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00B050"/>
                </a:solidFill>
              </a:rPr>
              <a:t>Y</a:t>
            </a:r>
            <a:r>
              <a:rPr lang="ja-JP" altLang="en-US" sz="1600" b="1" dirty="0">
                <a:solidFill>
                  <a:srgbClr val="00B050"/>
                </a:solidFill>
              </a:rPr>
              <a:t>座標</a:t>
            </a:r>
            <a:r>
              <a:rPr lang="ja-JP" altLang="en-US" sz="1600" b="1" dirty="0"/>
              <a:t>を</a:t>
            </a:r>
            <a:r>
              <a:rPr lang="en-US" altLang="ja-JP" sz="1600" b="1" dirty="0"/>
              <a:t>240</a:t>
            </a:r>
            <a:r>
              <a:rPr lang="ja-JP" altLang="en-US" sz="1600" b="1" dirty="0"/>
              <a:t>まで押し上げる</a:t>
            </a:r>
            <a:endParaRPr lang="en-US" altLang="ja-JP" sz="1600" b="1" dirty="0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E8E2A0FD-83F6-4F6D-88B5-273C90430219}"/>
              </a:ext>
            </a:extLst>
          </p:cNvPr>
          <p:cNvCxnSpPr>
            <a:cxnSpLocks/>
            <a:stCxn id="11" idx="0"/>
            <a:endCxn id="16" idx="4"/>
          </p:cNvCxnSpPr>
          <p:nvPr/>
        </p:nvCxnSpPr>
        <p:spPr>
          <a:xfrm flipV="1">
            <a:off x="4287093" y="5127070"/>
            <a:ext cx="1398" cy="10136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843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 練習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647974" cy="43058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■次の２点間を通る直線の傾きを求めなさい</a:t>
                </a:r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(0, 10)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(5, 0)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(3, 5)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(1, 9)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(2, −1)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(6, 1)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(−2, −5)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(1, 4)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(−3, 5)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(−4,</m:t>
                    </m:r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■次の２点間を通る直線の方程式を求めなさい</a:t>
                </a:r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(0, 10)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(5, 0)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(3, 5)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(1, 9)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(2, −1)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(6, 1)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647974" cy="4305859"/>
              </a:xfrm>
              <a:prstGeom prst="rect">
                <a:avLst/>
              </a:prstGeom>
              <a:blipFill>
                <a:blip r:embed="rId2"/>
                <a:stretch>
                  <a:fillRect l="-1558" t="-1133" r="-458" b="-28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5393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745</Words>
  <Application>Microsoft Office PowerPoint</Application>
  <PresentationFormat>ワイド画面</PresentationFormat>
  <Paragraphs>94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38</cp:revision>
  <dcterms:created xsi:type="dcterms:W3CDTF">2024-08-27T02:15:54Z</dcterms:created>
  <dcterms:modified xsi:type="dcterms:W3CDTF">2025-06-10T05:20:50Z</dcterms:modified>
</cp:coreProperties>
</file>