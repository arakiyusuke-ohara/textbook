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0906918C-4120-4C09-99FB-7A3A1F9E8E51}"/>
              </a:ext>
            </a:extLst>
          </p:cNvPr>
          <p:cNvSpPr/>
          <p:nvPr/>
        </p:nvSpPr>
        <p:spPr>
          <a:xfrm>
            <a:off x="372688" y="2167467"/>
            <a:ext cx="7518245" cy="14732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ベクトルの外積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879080" cy="5262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ベクトルの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外積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もベクトル同士の掛け算になりますが、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dirty="0"/>
                  <a:t>内積とは計算方法が変わります。</a:t>
                </a:r>
                <a:endParaRPr lang="en-US" altLang="ja-JP" sz="2400" dirty="0"/>
              </a:p>
              <a:p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■ベクトルの外積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(2D)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としたとき、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記号に</a:t>
                </a:r>
                <a:r>
                  <a:rPr lang="en-US" altLang="ja-JP" sz="2400" dirty="0">
                    <a:solidFill>
                      <a:schemeClr val="tx1"/>
                    </a:solidFill>
                  </a:rPr>
                  <a:t>×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が使われることから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クロス積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とも呼ばれます。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00B050"/>
                    </a:solidFill>
                  </a:rPr>
                  <a:t>■イメージ</a:t>
                </a:r>
                <a:endParaRPr lang="en-US" altLang="ja-JP" sz="2400" b="1" dirty="0">
                  <a:solidFill>
                    <a:srgbClr val="00B050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ja-JP" altLang="en-US" sz="2400" dirty="0"/>
                  <a:t>クロスに掛け算した結果を引き算する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879080" cy="5262979"/>
              </a:xfrm>
              <a:prstGeom prst="rect">
                <a:avLst/>
              </a:prstGeom>
              <a:blipFill>
                <a:blip r:embed="rId2"/>
                <a:stretch>
                  <a:fillRect l="-1160" t="-927" r="-232" b="-1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22C013A9-1CD9-43BA-80FC-8792A02EA44F}"/>
              </a:ext>
            </a:extLst>
          </p:cNvPr>
          <p:cNvCxnSpPr/>
          <p:nvPr/>
        </p:nvCxnSpPr>
        <p:spPr>
          <a:xfrm>
            <a:off x="973123" y="5343787"/>
            <a:ext cx="293615" cy="4026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55100B78-5A6D-449F-952A-9C2A721DA83F}"/>
              </a:ext>
            </a:extLst>
          </p:cNvPr>
          <p:cNvCxnSpPr>
            <a:cxnSpLocks/>
          </p:cNvCxnSpPr>
          <p:nvPr/>
        </p:nvCxnSpPr>
        <p:spPr>
          <a:xfrm flipH="1">
            <a:off x="897622" y="5343787"/>
            <a:ext cx="369116" cy="40267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89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ベクトルの外積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94633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10, −3</m:t>
                        </m:r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の外積を求めなさい。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■解答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5−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=50−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(+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=44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内積と比べると少し複雑ですが、</a:t>
                </a:r>
                <a:r>
                  <a:rPr lang="ja-JP" altLang="en-US" sz="2400" dirty="0"/>
                  <a:t>慣れてしまえば簡単です。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94633" cy="2308324"/>
              </a:xfrm>
              <a:prstGeom prst="rect">
                <a:avLst/>
              </a:prstGeom>
              <a:blipFill>
                <a:blip r:embed="rId2"/>
                <a:stretch>
                  <a:fillRect l="-1076" t="-2116" r="-143" b="-52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9834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ベクトルの外積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9354851-3590-4A3A-BB61-5AB9B63DF2DE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5631735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次のベクトル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の外積を求めなさい。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1, 3</m:t>
                        </m:r>
                      </m:e>
                    </m:d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−1, 3</m:t>
                        </m:r>
                      </m:e>
                    </m:d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−5</m:t>
                        </m:r>
                      </m:e>
                    </m:d>
                  </m:oMath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10, 0</m:t>
                        </m:r>
                      </m:e>
                    </m:d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−20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−2.5</m:t>
                        </m:r>
                      </m:e>
                    </m:d>
                  </m:oMath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9354851-3590-4A3A-BB61-5AB9B63DF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5631735" cy="1938992"/>
              </a:xfrm>
              <a:prstGeom prst="rect">
                <a:avLst/>
              </a:prstGeom>
              <a:blipFill>
                <a:blip r:embed="rId2"/>
                <a:stretch>
                  <a:fillRect l="-1840" t="-2516" r="-758" b="-72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998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F31EF662-1D9A-4935-A102-505EBC6D0A53}"/>
              </a:ext>
            </a:extLst>
          </p:cNvPr>
          <p:cNvSpPr/>
          <p:nvPr/>
        </p:nvSpPr>
        <p:spPr>
          <a:xfrm>
            <a:off x="332781" y="1891951"/>
            <a:ext cx="7518245" cy="136771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ベクトルの外積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048724" cy="5262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外積は</a:t>
                </a:r>
                <a:r>
                  <a:rPr lang="ja-JP" altLang="en-US" sz="2400" dirty="0"/>
                  <a:t>ベクトルが</a:t>
                </a:r>
                <a:r>
                  <a:rPr lang="en-US" altLang="ja-JP" sz="2400" dirty="0"/>
                  <a:t>3D</a:t>
                </a:r>
                <a:r>
                  <a:rPr lang="ja-JP" altLang="en-US" sz="2400" dirty="0"/>
                  <a:t>だと計算方法が変わります。</a:t>
                </a:r>
                <a:endParaRPr lang="en-US" altLang="ja-JP" sz="2400" dirty="0"/>
              </a:p>
              <a:p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■ベクトルの外積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(3D)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としたとき、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00B050"/>
                    </a:solidFill>
                  </a:rPr>
                  <a:t>■イメージ</a:t>
                </a:r>
                <a:endParaRPr lang="en-US" altLang="ja-JP" sz="2400" b="1" dirty="0">
                  <a:solidFill>
                    <a:srgbClr val="00B050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/>
                  <a:t> 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  <a:p>
                <a:r>
                  <a:rPr lang="en-US" altLang="ja-JP" sz="2400" dirty="0">
                    <a:solidFill>
                      <a:schemeClr val="tx1"/>
                    </a:solidFill>
                  </a:rPr>
                  <a:t>	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/>
                  <a:t> 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en-US" altLang="ja-JP" sz="2400" dirty="0"/>
                  <a:t>2D</a:t>
                </a:r>
                <a:r>
                  <a:rPr lang="ja-JP" altLang="en-US" sz="2400" dirty="0"/>
                  <a:t>の外積を３回計算して各成分にあてはめます。</a:t>
                </a:r>
                <a:endParaRPr lang="en-US" altLang="ja-JP" sz="2400" dirty="0"/>
              </a:p>
              <a:p>
                <a:r>
                  <a:rPr lang="en-US" altLang="ja-JP" sz="2400" dirty="0">
                    <a:solidFill>
                      <a:schemeClr val="tx1"/>
                    </a:solidFill>
                  </a:rPr>
                  <a:t>2D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と違い、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計算結果はベクトル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となります。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048724" cy="5262979"/>
              </a:xfrm>
              <a:prstGeom prst="rect">
                <a:avLst/>
              </a:prstGeom>
              <a:blipFill>
                <a:blip r:embed="rId2"/>
                <a:stretch>
                  <a:fillRect l="-1298" t="-927" r="-433" b="-1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22C013A9-1CD9-43BA-80FC-8792A02EA44F}"/>
              </a:ext>
            </a:extLst>
          </p:cNvPr>
          <p:cNvCxnSpPr/>
          <p:nvPr/>
        </p:nvCxnSpPr>
        <p:spPr>
          <a:xfrm>
            <a:off x="1392572" y="4236440"/>
            <a:ext cx="293615" cy="4026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55100B78-5A6D-449F-952A-9C2A721DA83F}"/>
              </a:ext>
            </a:extLst>
          </p:cNvPr>
          <p:cNvCxnSpPr>
            <a:cxnSpLocks/>
          </p:cNvCxnSpPr>
          <p:nvPr/>
        </p:nvCxnSpPr>
        <p:spPr>
          <a:xfrm flipH="1">
            <a:off x="1317071" y="4236440"/>
            <a:ext cx="369116" cy="4026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7E1ED92C-4743-485A-82DB-00972A143406}"/>
              </a:ext>
            </a:extLst>
          </p:cNvPr>
          <p:cNvCxnSpPr>
            <a:cxnSpLocks/>
          </p:cNvCxnSpPr>
          <p:nvPr/>
        </p:nvCxnSpPr>
        <p:spPr>
          <a:xfrm>
            <a:off x="2778899" y="4229449"/>
            <a:ext cx="710921" cy="40966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460A7202-AE18-44D2-86B4-A93E820F8A6B}"/>
              </a:ext>
            </a:extLst>
          </p:cNvPr>
          <p:cNvCxnSpPr>
            <a:cxnSpLocks/>
          </p:cNvCxnSpPr>
          <p:nvPr/>
        </p:nvCxnSpPr>
        <p:spPr>
          <a:xfrm flipH="1">
            <a:off x="2778899" y="4236440"/>
            <a:ext cx="718470" cy="40267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BE1CC3C9-B60B-4F38-B620-1686A7815C46}"/>
              </a:ext>
            </a:extLst>
          </p:cNvPr>
          <p:cNvCxnSpPr>
            <a:cxnSpLocks/>
          </p:cNvCxnSpPr>
          <p:nvPr/>
        </p:nvCxnSpPr>
        <p:spPr>
          <a:xfrm>
            <a:off x="4582532" y="4229449"/>
            <a:ext cx="435483" cy="41665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2224D01A-EC6A-4495-93D9-67B3EA0C44FD}"/>
              </a:ext>
            </a:extLst>
          </p:cNvPr>
          <p:cNvCxnSpPr>
            <a:cxnSpLocks/>
          </p:cNvCxnSpPr>
          <p:nvPr/>
        </p:nvCxnSpPr>
        <p:spPr>
          <a:xfrm flipH="1">
            <a:off x="4521666" y="4229449"/>
            <a:ext cx="427840" cy="40966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622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ベクトルの外積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144089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=[5, −6, 0]</m:t>
                    </m:r>
                  </m:oMath>
                </a14:m>
                <a:r>
                  <a:rPr lang="ja-JP" altLang="en-US" sz="2400" dirty="0"/>
                  <a:t>と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ja-JP" altLang="en-US" sz="2400" dirty="0"/>
                  <a:t>の外積を求めなさい。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=[−6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−0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0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−5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5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−(−6)(1)]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=[−18−0, 0−15, 10−(−6)]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144089" cy="2308324"/>
              </a:xfrm>
              <a:prstGeom prst="rect">
                <a:avLst/>
              </a:prstGeom>
              <a:blipFill>
                <a:blip r:embed="rId2"/>
                <a:stretch>
                  <a:fillRect l="-1123" t="-2116" r="-225" b="-52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5762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ベクトルの外積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3733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=[2, −3, 5]</m:t>
                    </m:r>
                  </m:oMath>
                </a14:m>
                <a:r>
                  <a:rPr lang="ja-JP" altLang="en-US" sz="2400" dirty="0"/>
                  <a:t>と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=[−1, 0, 4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ja-JP" altLang="en-US" sz="2400" dirty="0"/>
                  <a:t>の外積を求めなさい。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373318" cy="461665"/>
              </a:xfrm>
              <a:prstGeom prst="rect">
                <a:avLst/>
              </a:prstGeom>
              <a:blipFill>
                <a:blip r:embed="rId2"/>
                <a:stretch>
                  <a:fillRect l="-1092" t="-10667" r="-146" b="-30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7293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ベクトルの外積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78617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/>
                  <a:t>3D</a:t>
                </a:r>
                <a:r>
                  <a:rPr lang="ja-JP" altLang="en-US" sz="2400" dirty="0"/>
                  <a:t>のベクトルの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外積の計算結果</a:t>
                </a:r>
                <a:r>
                  <a:rPr lang="ja-JP" altLang="en-US" sz="2400" dirty="0"/>
                  <a:t>は、</a:t>
                </a:r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２つのベクトルに対して垂直なベクトル</a:t>
                </a:r>
                <a:r>
                  <a:rPr lang="ja-JP" altLang="en-US" sz="2400" dirty="0"/>
                  <a:t>になります。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つまり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のなす面</a:t>
                </a:r>
                <a:r>
                  <a:rPr lang="ja-JP" altLang="en-US" sz="2400" dirty="0"/>
                  <a:t>に対して垂直になります。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786170" cy="1200329"/>
              </a:xfrm>
              <a:prstGeom prst="rect">
                <a:avLst/>
              </a:prstGeom>
              <a:blipFill>
                <a:blip r:embed="rId2"/>
                <a:stretch>
                  <a:fillRect l="-1175" t="-4082" r="-548" b="-112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D7291641-6722-47FB-8E4C-894D4F390F2D}"/>
              </a:ext>
            </a:extLst>
          </p:cNvPr>
          <p:cNvGrpSpPr/>
          <p:nvPr/>
        </p:nvGrpSpPr>
        <p:grpSpPr>
          <a:xfrm>
            <a:off x="567542" y="2975690"/>
            <a:ext cx="4743682" cy="3143266"/>
            <a:chOff x="567542" y="3093136"/>
            <a:chExt cx="4743682" cy="3143266"/>
          </a:xfrm>
        </p:grpSpPr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558C5BAB-B13C-47C0-988F-2C4114CEDD01}"/>
                </a:ext>
              </a:extLst>
            </p:cNvPr>
            <p:cNvGrpSpPr/>
            <p:nvPr/>
          </p:nvGrpSpPr>
          <p:grpSpPr>
            <a:xfrm>
              <a:off x="567542" y="3093136"/>
              <a:ext cx="3677287" cy="3143266"/>
              <a:chOff x="635107" y="3363985"/>
              <a:chExt cx="3677287" cy="3143266"/>
            </a:xfrm>
          </p:grpSpPr>
          <p:grpSp>
            <p:nvGrpSpPr>
              <p:cNvPr id="19" name="グループ化 18">
                <a:extLst>
                  <a:ext uri="{FF2B5EF4-FFF2-40B4-BE49-F238E27FC236}">
                    <a16:creationId xmlns:a16="http://schemas.microsoft.com/office/drawing/2014/main" id="{03214DD6-EB19-4527-8A23-413725D67B8F}"/>
                  </a:ext>
                </a:extLst>
              </p:cNvPr>
              <p:cNvGrpSpPr/>
              <p:nvPr/>
            </p:nvGrpSpPr>
            <p:grpSpPr>
              <a:xfrm>
                <a:off x="635107" y="3363985"/>
                <a:ext cx="3677287" cy="3143266"/>
                <a:chOff x="459847" y="3402085"/>
                <a:chExt cx="3677287" cy="3143266"/>
              </a:xfrm>
            </p:grpSpPr>
            <p:grpSp>
              <p:nvGrpSpPr>
                <p:cNvPr id="15" name="グループ化 14">
                  <a:extLst>
                    <a:ext uri="{FF2B5EF4-FFF2-40B4-BE49-F238E27FC236}">
                      <a16:creationId xmlns:a16="http://schemas.microsoft.com/office/drawing/2014/main" id="{C381FD82-1743-4ACA-AC83-7DD3D72291DA}"/>
                    </a:ext>
                  </a:extLst>
                </p:cNvPr>
                <p:cNvGrpSpPr/>
                <p:nvPr/>
              </p:nvGrpSpPr>
              <p:grpSpPr>
                <a:xfrm>
                  <a:off x="1482090" y="3402085"/>
                  <a:ext cx="2655044" cy="2654765"/>
                  <a:chOff x="1482090" y="4233088"/>
                  <a:chExt cx="1866322" cy="1823763"/>
                </a:xfrm>
              </p:grpSpPr>
              <p:cxnSp>
                <p:nvCxnSpPr>
                  <p:cNvPr id="5" name="直線矢印コネクタ 4">
                    <a:extLst>
                      <a:ext uri="{FF2B5EF4-FFF2-40B4-BE49-F238E27FC236}">
                        <a16:creationId xmlns:a16="http://schemas.microsoft.com/office/drawing/2014/main" id="{900D0C58-2F8D-4485-8C15-4D36DCAD26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93240" y="6048461"/>
                    <a:ext cx="1855172" cy="839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" name="直線矢印コネクタ 6">
                    <a:extLst>
                      <a:ext uri="{FF2B5EF4-FFF2-40B4-BE49-F238E27FC236}">
                        <a16:creationId xmlns:a16="http://schemas.microsoft.com/office/drawing/2014/main" id="{5169C87D-86D9-40D6-BDB1-0DD3912771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82090" y="5251509"/>
                    <a:ext cx="775107" cy="805342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直線矢印コネクタ 13">
                    <a:extLst>
                      <a:ext uri="{FF2B5EF4-FFF2-40B4-BE49-F238E27FC236}">
                        <a16:creationId xmlns:a16="http://schemas.microsoft.com/office/drawing/2014/main" id="{AB4CC248-CC34-4E80-AB4D-43872FDBE20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82090" y="4233088"/>
                    <a:ext cx="0" cy="1815373"/>
                  </a:xfrm>
                  <a:prstGeom prst="straightConnector1">
                    <a:avLst/>
                  </a:prstGeom>
                  <a:ln w="38100">
                    <a:solidFill>
                      <a:srgbClr val="00B05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テキスト ボックス 15">
                      <a:extLst>
                        <a:ext uri="{FF2B5EF4-FFF2-40B4-BE49-F238E27FC236}">
                          <a16:creationId xmlns:a16="http://schemas.microsoft.com/office/drawing/2014/main" id="{31021441-0A5A-4361-A0BC-A173C2D164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0195" y="6083686"/>
                      <a:ext cx="47141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oMath>
                        </m:oMathPara>
                      </a14:m>
                      <a:endParaRPr lang="en-US" altLang="ja-JP" sz="2400" dirty="0"/>
                    </a:p>
                  </p:txBody>
                </p:sp>
              </mc:Choice>
              <mc:Fallback xmlns="">
                <p:sp>
                  <p:nvSpPr>
                    <p:cNvPr id="16" name="テキスト ボックス 15">
                      <a:extLst>
                        <a:ext uri="{FF2B5EF4-FFF2-40B4-BE49-F238E27FC236}">
                          <a16:creationId xmlns:a16="http://schemas.microsoft.com/office/drawing/2014/main" id="{31021441-0A5A-4361-A0BC-A173C2D1642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20195" y="6083686"/>
                      <a:ext cx="471411" cy="46166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AED14320-5DE2-4B15-A81D-E5C721A5376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63088" y="4989482"/>
                      <a:ext cx="48308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oMath>
                        </m:oMathPara>
                      </a14:m>
                      <a:endParaRPr lang="en-US" altLang="ja-JP" sz="2400" dirty="0"/>
                    </a:p>
                  </p:txBody>
                </p:sp>
              </mc:Choice>
              <mc:Fallback xmlns="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AED14320-5DE2-4B15-A81D-E5C721A5376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63088" y="4989482"/>
                      <a:ext cx="483081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テキスト ボックス 17">
                      <a:extLst>
                        <a:ext uri="{FF2B5EF4-FFF2-40B4-BE49-F238E27FC236}">
                          <a16:creationId xmlns:a16="http://schemas.microsoft.com/office/drawing/2014/main" id="{12711441-5423-4E13-AAE9-66C55B4D019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9847" y="4410674"/>
                      <a:ext cx="1038105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oMath>
                        </m:oMathPara>
                      </a14:m>
                      <a:endParaRPr lang="en-US" altLang="ja-JP" sz="2400" dirty="0"/>
                    </a:p>
                  </p:txBody>
                </p:sp>
              </mc:Choice>
              <mc:Fallback xmlns="">
                <p:sp>
                  <p:nvSpPr>
                    <p:cNvPr id="18" name="テキスト ボックス 17">
                      <a:extLst>
                        <a:ext uri="{FF2B5EF4-FFF2-40B4-BE49-F238E27FC236}">
                          <a16:creationId xmlns:a16="http://schemas.microsoft.com/office/drawing/2014/main" id="{12711441-5423-4E13-AAE9-66C55B4D019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847" y="4410674"/>
                      <a:ext cx="1038105" cy="46166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1" name="直線コネクタ 20">
                <a:extLst>
                  <a:ext uri="{FF2B5EF4-FFF2-40B4-BE49-F238E27FC236}">
                    <a16:creationId xmlns:a16="http://schemas.microsoft.com/office/drawing/2014/main" id="{497EF72D-E19A-4710-8947-C44BD6DF74E8}"/>
                  </a:ext>
                </a:extLst>
              </p:cNvPr>
              <p:cNvCxnSpPr/>
              <p:nvPr/>
            </p:nvCxnSpPr>
            <p:spPr>
              <a:xfrm flipV="1">
                <a:off x="1665281" y="5432602"/>
                <a:ext cx="148279" cy="17086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コネクタ 21">
                <a:extLst>
                  <a:ext uri="{FF2B5EF4-FFF2-40B4-BE49-F238E27FC236}">
                    <a16:creationId xmlns:a16="http://schemas.microsoft.com/office/drawing/2014/main" id="{83B31D7A-F1FB-4034-9F6E-08AEF0EB1D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13560" y="5432602"/>
                <a:ext cx="1" cy="4014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線コネクタ 24">
                <a:extLst>
                  <a:ext uri="{FF2B5EF4-FFF2-40B4-BE49-F238E27FC236}">
                    <a16:creationId xmlns:a16="http://schemas.microsoft.com/office/drawing/2014/main" id="{D6E09007-ADB7-471A-977B-80E239448F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3212" y="5767427"/>
                <a:ext cx="222472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線コネクタ 26">
                <a:extLst>
                  <a:ext uri="{FF2B5EF4-FFF2-40B4-BE49-F238E27FC236}">
                    <a16:creationId xmlns:a16="http://schemas.microsoft.com/office/drawing/2014/main" id="{D7361C89-DF28-46D3-91F1-C37B6B8CD1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1070" y="5761320"/>
                <a:ext cx="1281" cy="24521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80D8460A-25BF-42A5-A981-6ACA3757DE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8551" y="4568612"/>
              <a:ext cx="1102673" cy="1172298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C4122FA1-820E-4E39-91D3-4FA6F332F8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458" y="4563390"/>
              <a:ext cx="2602904" cy="12213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1FC9B56A-4EF5-45C3-8EDB-F0DAE04F9DF9}"/>
                    </a:ext>
                  </a:extLst>
                </p:cNvPr>
                <p:cNvSpPr txBox="1"/>
                <p:nvPr/>
              </p:nvSpPr>
              <p:spPr>
                <a:xfrm>
                  <a:off x="2612029" y="4995920"/>
                  <a:ext cx="14949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の</m:t>
                      </m:r>
                    </m:oMath>
                  </a14:m>
                  <a:r>
                    <a:rPr lang="ja-JP" altLang="en-US" dirty="0"/>
                    <a:t>なす面</a:t>
                  </a:r>
                  <a:endParaRPr lang="en-US" altLang="ja-JP" dirty="0"/>
                </a:p>
              </p:txBody>
            </p:sp>
          </mc:Choice>
          <mc:Fallback xmlns="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1FC9B56A-4EF5-45C3-8EDB-F0DAE04F9D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2029" y="4995920"/>
                  <a:ext cx="1494961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6557" r="-2846" b="-2623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76143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E2630A06-2991-46E8-BD18-697A37285627}"/>
              </a:ext>
            </a:extLst>
          </p:cNvPr>
          <p:cNvSpPr/>
          <p:nvPr/>
        </p:nvSpPr>
        <p:spPr>
          <a:xfrm>
            <a:off x="500430" y="2508775"/>
            <a:ext cx="6636970" cy="13015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ベクトルの外積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033516" cy="25105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ゲームでは外積で得られる面に対して垂直なベクトルをよく使います。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このベクトルのことを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面法線</a:t>
                </a:r>
                <a:r>
                  <a:rPr lang="ja-JP" altLang="en-US" sz="2400" dirty="0"/>
                  <a:t>または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法線</a:t>
                </a:r>
                <a:r>
                  <a:rPr lang="ja-JP" altLang="en-US" sz="2400" dirty="0"/>
                  <a:t>と呼びます。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ただし、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法線は基本的に長さ１の正規化されたベクトル</a:t>
                </a:r>
                <a:r>
                  <a:rPr lang="ja-JP" altLang="en-US" sz="2400" dirty="0"/>
                  <a:t>になります。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■２つのベクトル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A,B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からなる面法線の計算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面法線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||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033516" cy="2510559"/>
              </a:xfrm>
              <a:prstGeom prst="rect">
                <a:avLst/>
              </a:prstGeom>
              <a:blipFill>
                <a:blip r:embed="rId2"/>
                <a:stretch>
                  <a:fillRect l="-911" t="-194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D7291641-6722-47FB-8E4C-894D4F390F2D}"/>
              </a:ext>
            </a:extLst>
          </p:cNvPr>
          <p:cNvGrpSpPr/>
          <p:nvPr/>
        </p:nvGrpSpPr>
        <p:grpSpPr>
          <a:xfrm>
            <a:off x="500430" y="4494673"/>
            <a:ext cx="4591180" cy="1673012"/>
            <a:chOff x="720044" y="4563390"/>
            <a:chExt cx="4591180" cy="1673012"/>
          </a:xfrm>
        </p:grpSpPr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558C5BAB-B13C-47C0-988F-2C4114CEDD01}"/>
                </a:ext>
              </a:extLst>
            </p:cNvPr>
            <p:cNvGrpSpPr/>
            <p:nvPr/>
          </p:nvGrpSpPr>
          <p:grpSpPr>
            <a:xfrm>
              <a:off x="720044" y="4575603"/>
              <a:ext cx="3524785" cy="1660799"/>
              <a:chOff x="787609" y="4846452"/>
              <a:chExt cx="3524785" cy="1660799"/>
            </a:xfrm>
          </p:grpSpPr>
          <p:grpSp>
            <p:nvGrpSpPr>
              <p:cNvPr id="19" name="グループ化 18">
                <a:extLst>
                  <a:ext uri="{FF2B5EF4-FFF2-40B4-BE49-F238E27FC236}">
                    <a16:creationId xmlns:a16="http://schemas.microsoft.com/office/drawing/2014/main" id="{03214DD6-EB19-4527-8A23-413725D67B8F}"/>
                  </a:ext>
                </a:extLst>
              </p:cNvPr>
              <p:cNvGrpSpPr/>
              <p:nvPr/>
            </p:nvGrpSpPr>
            <p:grpSpPr>
              <a:xfrm>
                <a:off x="787609" y="4846452"/>
                <a:ext cx="3524785" cy="1660799"/>
                <a:chOff x="612349" y="4884552"/>
                <a:chExt cx="3524785" cy="1660799"/>
              </a:xfrm>
            </p:grpSpPr>
            <p:grpSp>
              <p:nvGrpSpPr>
                <p:cNvPr id="15" name="グループ化 14">
                  <a:extLst>
                    <a:ext uri="{FF2B5EF4-FFF2-40B4-BE49-F238E27FC236}">
                      <a16:creationId xmlns:a16="http://schemas.microsoft.com/office/drawing/2014/main" id="{C381FD82-1743-4ACA-AC83-7DD3D72291DA}"/>
                    </a:ext>
                  </a:extLst>
                </p:cNvPr>
                <p:cNvGrpSpPr/>
                <p:nvPr/>
              </p:nvGrpSpPr>
              <p:grpSpPr>
                <a:xfrm>
                  <a:off x="1482090" y="4884552"/>
                  <a:ext cx="2655044" cy="1172298"/>
                  <a:chOff x="1482090" y="5251509"/>
                  <a:chExt cx="1866322" cy="805342"/>
                </a:xfrm>
              </p:grpSpPr>
              <p:cxnSp>
                <p:nvCxnSpPr>
                  <p:cNvPr id="5" name="直線矢印コネクタ 4">
                    <a:extLst>
                      <a:ext uri="{FF2B5EF4-FFF2-40B4-BE49-F238E27FC236}">
                        <a16:creationId xmlns:a16="http://schemas.microsoft.com/office/drawing/2014/main" id="{900D0C58-2F8D-4485-8C15-4D36DCAD26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93240" y="6048461"/>
                    <a:ext cx="1855172" cy="839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" name="直線矢印コネクタ 6">
                    <a:extLst>
                      <a:ext uri="{FF2B5EF4-FFF2-40B4-BE49-F238E27FC236}">
                        <a16:creationId xmlns:a16="http://schemas.microsoft.com/office/drawing/2014/main" id="{5169C87D-86D9-40D6-BDB1-0DD3912771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82090" y="5251509"/>
                    <a:ext cx="775107" cy="805342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直線矢印コネクタ 13">
                    <a:extLst>
                      <a:ext uri="{FF2B5EF4-FFF2-40B4-BE49-F238E27FC236}">
                        <a16:creationId xmlns:a16="http://schemas.microsoft.com/office/drawing/2014/main" id="{AB4CC248-CC34-4E80-AB4D-43872FDBE20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82090" y="5640747"/>
                    <a:ext cx="5575" cy="407714"/>
                  </a:xfrm>
                  <a:prstGeom prst="straightConnector1">
                    <a:avLst/>
                  </a:prstGeom>
                  <a:ln w="38100">
                    <a:solidFill>
                      <a:srgbClr val="00B05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テキスト ボックス 15">
                      <a:extLst>
                        <a:ext uri="{FF2B5EF4-FFF2-40B4-BE49-F238E27FC236}">
                          <a16:creationId xmlns:a16="http://schemas.microsoft.com/office/drawing/2014/main" id="{31021441-0A5A-4361-A0BC-A173C2D164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0195" y="6083686"/>
                      <a:ext cx="47141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oMath>
                        </m:oMathPara>
                      </a14:m>
                      <a:endParaRPr lang="en-US" altLang="ja-JP" sz="2400" dirty="0"/>
                    </a:p>
                  </p:txBody>
                </p:sp>
              </mc:Choice>
              <mc:Fallback xmlns="">
                <p:sp>
                  <p:nvSpPr>
                    <p:cNvPr id="16" name="テキスト ボックス 15">
                      <a:extLst>
                        <a:ext uri="{FF2B5EF4-FFF2-40B4-BE49-F238E27FC236}">
                          <a16:creationId xmlns:a16="http://schemas.microsoft.com/office/drawing/2014/main" id="{31021441-0A5A-4361-A0BC-A173C2D1642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20195" y="6083686"/>
                      <a:ext cx="471411" cy="46166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AED14320-5DE2-4B15-A81D-E5C721A5376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63088" y="4989482"/>
                      <a:ext cx="48308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oMath>
                        </m:oMathPara>
                      </a14:m>
                      <a:endParaRPr lang="en-US" altLang="ja-JP" sz="2400" dirty="0"/>
                    </a:p>
                  </p:txBody>
                </p:sp>
              </mc:Choice>
              <mc:Fallback xmlns="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AED14320-5DE2-4B15-A81D-E5C721A5376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63088" y="4989482"/>
                      <a:ext cx="483081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テキスト ボックス 17">
                      <a:extLst>
                        <a:ext uri="{FF2B5EF4-FFF2-40B4-BE49-F238E27FC236}">
                          <a16:creationId xmlns:a16="http://schemas.microsoft.com/office/drawing/2014/main" id="{12711441-5423-4E13-AAE9-66C55B4D019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2349" y="5554053"/>
                      <a:ext cx="957313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  <a:p>
                      <a:r>
                        <a:rPr lang="en-US" altLang="ja-JP" sz="1600" dirty="0"/>
                        <a:t>(</a:t>
                      </a:r>
                      <a:r>
                        <a:rPr lang="ja-JP" altLang="en-US" sz="1600" dirty="0"/>
                        <a:t>面法線</a:t>
                      </a:r>
                      <a:r>
                        <a:rPr lang="en-US" altLang="ja-JP" sz="1600" dirty="0"/>
                        <a:t>)</a:t>
                      </a:r>
                    </a:p>
                  </p:txBody>
                </p:sp>
              </mc:Choice>
              <mc:Fallback xmlns="">
                <p:sp>
                  <p:nvSpPr>
                    <p:cNvPr id="18" name="テキスト ボックス 17">
                      <a:extLst>
                        <a:ext uri="{FF2B5EF4-FFF2-40B4-BE49-F238E27FC236}">
                          <a16:creationId xmlns:a16="http://schemas.microsoft.com/office/drawing/2014/main" id="{12711441-5423-4E13-AAE9-66C55B4D019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2349" y="5554053"/>
                      <a:ext cx="957313" cy="58477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3185" r="-2548" b="-12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1" name="直線コネクタ 20">
                <a:extLst>
                  <a:ext uri="{FF2B5EF4-FFF2-40B4-BE49-F238E27FC236}">
                    <a16:creationId xmlns:a16="http://schemas.microsoft.com/office/drawing/2014/main" id="{497EF72D-E19A-4710-8947-C44BD6DF74E8}"/>
                  </a:ext>
                </a:extLst>
              </p:cNvPr>
              <p:cNvCxnSpPr/>
              <p:nvPr/>
            </p:nvCxnSpPr>
            <p:spPr>
              <a:xfrm flipV="1">
                <a:off x="1665281" y="5432602"/>
                <a:ext cx="148279" cy="17086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コネクタ 21">
                <a:extLst>
                  <a:ext uri="{FF2B5EF4-FFF2-40B4-BE49-F238E27FC236}">
                    <a16:creationId xmlns:a16="http://schemas.microsoft.com/office/drawing/2014/main" id="{83B31D7A-F1FB-4034-9F6E-08AEF0EB1D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13560" y="5432602"/>
                <a:ext cx="1" cy="4014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線コネクタ 24">
                <a:extLst>
                  <a:ext uri="{FF2B5EF4-FFF2-40B4-BE49-F238E27FC236}">
                    <a16:creationId xmlns:a16="http://schemas.microsoft.com/office/drawing/2014/main" id="{D6E09007-ADB7-471A-977B-80E239448F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3212" y="5767427"/>
                <a:ext cx="222472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線コネクタ 26">
                <a:extLst>
                  <a:ext uri="{FF2B5EF4-FFF2-40B4-BE49-F238E27FC236}">
                    <a16:creationId xmlns:a16="http://schemas.microsoft.com/office/drawing/2014/main" id="{D7361C89-DF28-46D3-91F1-C37B6B8CD1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1070" y="5761320"/>
                <a:ext cx="1281" cy="24521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80D8460A-25BF-42A5-A981-6ACA3757DE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8551" y="4568612"/>
              <a:ext cx="1102673" cy="1172298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C4122FA1-820E-4E39-91D3-4FA6F332F8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458" y="4563390"/>
              <a:ext cx="2602904" cy="12213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1FC9B56A-4EF5-45C3-8EDB-F0DAE04F9DF9}"/>
                    </a:ext>
                  </a:extLst>
                </p:cNvPr>
                <p:cNvSpPr txBox="1"/>
                <p:nvPr/>
              </p:nvSpPr>
              <p:spPr>
                <a:xfrm>
                  <a:off x="2612029" y="4995920"/>
                  <a:ext cx="14949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の</m:t>
                      </m:r>
                    </m:oMath>
                  </a14:m>
                  <a:r>
                    <a:rPr lang="ja-JP" altLang="en-US" dirty="0"/>
                    <a:t>なす面</a:t>
                  </a:r>
                  <a:endParaRPr lang="en-US" altLang="ja-JP" dirty="0"/>
                </a:p>
              </p:txBody>
            </p:sp>
          </mc:Choice>
          <mc:Fallback xmlns="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1FC9B56A-4EF5-45C3-8EDB-F0DAE04F9D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2029" y="4995920"/>
                  <a:ext cx="1494961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6557" r="-2846" b="-2623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79227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ベクトルの外積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774727" cy="46179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5, −2, 0</m:t>
                        </m:r>
                      </m:e>
                    </m:d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ja-JP" sz="24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=[1, 2, 3]</m:t>
                    </m:r>
                  </m:oMath>
                </a14:m>
                <a:r>
                  <a:rPr lang="ja-JP" altLang="en-US" sz="2400" dirty="0"/>
                  <a:t>からなる面の面法線を求めなさい。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</a:t>
                </a:r>
                <a:endParaRPr lang="en-US" altLang="ja-JP" sz="2400" dirty="0"/>
              </a:p>
              <a:p>
                <a:r>
                  <a:rPr lang="ja-JP" altLang="en-US" sz="2400" dirty="0"/>
                  <a:t>外積を計算して面に対して垂直なベクトルを計算する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=[−2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−0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0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−5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5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−(−2)(1)]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=[−6−0, 0−15, 10−(−2)]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=[−6, −15, 12]</m:t>
                    </m:r>
                  </m:oMath>
                </a14:m>
                <a:r>
                  <a:rPr lang="en-US" altLang="ja-JP" sz="2400" dirty="0"/>
                  <a:t> 	</a:t>
                </a:r>
                <a:r>
                  <a:rPr lang="ja-JP" altLang="en-US" sz="2400" dirty="0"/>
                  <a:t>・・・①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①のベクトルを正規化したものが面法線となる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||=</m:t>
                    </m:r>
                    <m:rad>
                      <m:radPr>
                        <m:degHide m:val="on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4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225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144</m:t>
                        </m:r>
                      </m:e>
                    </m:ra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405</m:t>
                        </m:r>
                      </m:e>
                    </m:rad>
                  </m:oMath>
                </a14:m>
                <a:r>
                  <a:rPr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[−</m:t>
                    </m:r>
                    <m:f>
                      <m:fPr>
                        <m:ctrlP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𝟒𝟎𝟓</m:t>
                            </m:r>
                          </m:e>
                        </m:rad>
                      </m:den>
                    </m:f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,−</m:t>
                    </m:r>
                    <m:f>
                      <m:fPr>
                        <m:ctrlP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𝟒𝟎𝟓</m:t>
                            </m:r>
                          </m:e>
                        </m:rad>
                      </m:den>
                    </m:f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𝟒𝟎𝟓</m:t>
                            </m:r>
                          </m:e>
                        </m:rad>
                      </m:den>
                    </m:f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b="1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774727" cy="4617931"/>
              </a:xfrm>
              <a:prstGeom prst="rect">
                <a:avLst/>
              </a:prstGeom>
              <a:blipFill>
                <a:blip r:embed="rId2"/>
                <a:stretch>
                  <a:fillRect l="-935" t="-10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2591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ベクトルの外積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2206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=[2, −3, 5]</m:t>
                    </m:r>
                  </m:oMath>
                </a14:m>
                <a:r>
                  <a:rPr lang="ja-JP" altLang="en-US" sz="2400" dirty="0"/>
                  <a:t>と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ja-JP" altLang="en-US" sz="2400" dirty="0"/>
                  <a:t>からなる面の面法線を求めなさい。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220618" cy="461665"/>
              </a:xfrm>
              <a:prstGeom prst="rect">
                <a:avLst/>
              </a:prstGeom>
              <a:blipFill>
                <a:blip r:embed="rId2"/>
                <a:stretch>
                  <a:fillRect l="-894" t="-10667" b="-30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9815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5C5135E-2C39-4D0B-9825-BB7FC45CD543}"/>
              </a:ext>
            </a:extLst>
          </p:cNvPr>
          <p:cNvSpPr/>
          <p:nvPr/>
        </p:nvSpPr>
        <p:spPr>
          <a:xfrm>
            <a:off x="332781" y="1891951"/>
            <a:ext cx="7518245" cy="135078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ベクトルの外積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742043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最後に</a:t>
                </a:r>
                <a:r>
                  <a:rPr lang="en-US" altLang="ja-JP" sz="2400" dirty="0"/>
                  <a:t>3D</a:t>
                </a:r>
                <a:r>
                  <a:rPr lang="ja-JP" altLang="en-US" sz="2400" dirty="0"/>
                  <a:t>ベクトルの外積は交換が成り立たないことを覚えておきましょう。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3D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外積は交換不可能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r>
                  <a:rPr lang="ja-JP" altLang="en-US" sz="2400" dirty="0"/>
                  <a:t>一般に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dirty="0"/>
                  <a:t>である。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交換すると法線の向きが逆向きになります。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覚えておきましょう。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742043" cy="3046988"/>
              </a:xfrm>
              <a:prstGeom prst="rect">
                <a:avLst/>
              </a:prstGeom>
              <a:blipFill>
                <a:blip r:embed="rId2"/>
                <a:stretch>
                  <a:fillRect l="-851" t="-1603" b="-38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6398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2192</TotalTime>
  <Words>712</Words>
  <Application>Microsoft Office PowerPoint</Application>
  <PresentationFormat>ワイド画面</PresentationFormat>
  <Paragraphs>95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152</cp:revision>
  <dcterms:created xsi:type="dcterms:W3CDTF">2024-08-27T02:15:54Z</dcterms:created>
  <dcterms:modified xsi:type="dcterms:W3CDTF">2025-07-08T05:08:39Z</dcterms:modified>
</cp:coreProperties>
</file>