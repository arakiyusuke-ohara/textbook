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ベクトル同士で</a:t>
            </a:r>
            <a:r>
              <a:rPr lang="ja-JP" altLang="en-US" sz="2400" b="1" dirty="0">
                <a:solidFill>
                  <a:srgbClr val="FF0000"/>
                </a:solidFill>
              </a:rPr>
              <a:t>足し算（加法）</a:t>
            </a:r>
            <a:r>
              <a:rPr lang="ja-JP" altLang="en-US" sz="2400" dirty="0">
                <a:solidFill>
                  <a:schemeClr val="tx1"/>
                </a:solidFill>
              </a:rPr>
              <a:t>や</a:t>
            </a:r>
            <a:r>
              <a:rPr lang="ja-JP" altLang="en-US" sz="2400" b="1" dirty="0">
                <a:solidFill>
                  <a:srgbClr val="FF0000"/>
                </a:solidFill>
              </a:rPr>
              <a:t>引き算（減法）</a:t>
            </a:r>
            <a:r>
              <a:rPr lang="ja-JP" altLang="en-US" sz="2400" dirty="0">
                <a:solidFill>
                  <a:schemeClr val="tx1"/>
                </a:solidFill>
              </a:rPr>
              <a:t>ができます。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計算の前に、計算結果がどうなるのか、図を見てみます。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DBBAA6D-893B-4914-8221-99031BEAE8F2}"/>
              </a:ext>
            </a:extLst>
          </p:cNvPr>
          <p:cNvCxnSpPr>
            <a:cxnSpLocks/>
          </p:cNvCxnSpPr>
          <p:nvPr/>
        </p:nvCxnSpPr>
        <p:spPr>
          <a:xfrm flipV="1">
            <a:off x="906012" y="3540155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0CC1E92-FE9A-471B-A811-8304E32160F6}"/>
              </a:ext>
            </a:extLst>
          </p:cNvPr>
          <p:cNvCxnSpPr>
            <a:cxnSpLocks/>
          </p:cNvCxnSpPr>
          <p:nvPr/>
        </p:nvCxnSpPr>
        <p:spPr>
          <a:xfrm>
            <a:off x="4616809" y="3682767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B117060-7A2C-40DB-A208-08480F8951B2}"/>
                  </a:ext>
                </a:extLst>
              </p:cNvPr>
              <p:cNvSpPr txBox="1"/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B117060-7A2C-40DB-A208-08480F895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474A5D1-181D-4B2B-B644-11DB6DC9CB03}"/>
                  </a:ext>
                </a:extLst>
              </p:cNvPr>
              <p:cNvSpPr txBox="1"/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474A5D1-181D-4B2B-B644-11DB6DC9C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FA7E162-B241-477F-815C-22EDEBAAF7D9}"/>
              </a:ext>
            </a:extLst>
          </p:cNvPr>
          <p:cNvSpPr txBox="1"/>
          <p:nvPr/>
        </p:nvSpPr>
        <p:spPr>
          <a:xfrm>
            <a:off x="3192223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＋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D444F85-3A02-4F0D-89E8-700B42F89296}"/>
              </a:ext>
            </a:extLst>
          </p:cNvPr>
          <p:cNvSpPr txBox="1"/>
          <p:nvPr/>
        </p:nvSpPr>
        <p:spPr>
          <a:xfrm>
            <a:off x="6395209" y="4081108"/>
            <a:ext cx="1963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＝  ？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4711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ベクトルの足し算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の計算結果は、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の終点に</a:t>
                </a:r>
                <a14:m>
                  <m:oMath xmlns:m="http://schemas.openxmlformats.org/officeDocument/2006/math"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の始点を合わせて、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の始点と</a:t>
                </a:r>
                <a14:m>
                  <m:oMath xmlns:m="http://schemas.openxmlformats.org/officeDocument/2006/math"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の終点を結ぶベクトル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47118" cy="830997"/>
              </a:xfrm>
              <a:prstGeom prst="rect">
                <a:avLst/>
              </a:prstGeom>
              <a:blipFill>
                <a:blip r:embed="rId2"/>
                <a:stretch>
                  <a:fillRect l="-813" t="-5882" r="-163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94414A67-2B15-44E8-BDF5-DE1BC932B9D1}"/>
              </a:ext>
            </a:extLst>
          </p:cNvPr>
          <p:cNvCxnSpPr>
            <a:cxnSpLocks/>
          </p:cNvCxnSpPr>
          <p:nvPr/>
        </p:nvCxnSpPr>
        <p:spPr>
          <a:xfrm flipV="1">
            <a:off x="906012" y="3540155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BA8C0C8-7BDB-49E9-BA4F-17634E6A2EC8}"/>
              </a:ext>
            </a:extLst>
          </p:cNvPr>
          <p:cNvCxnSpPr>
            <a:cxnSpLocks/>
          </p:cNvCxnSpPr>
          <p:nvPr/>
        </p:nvCxnSpPr>
        <p:spPr>
          <a:xfrm>
            <a:off x="4616809" y="3682767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625060B-4573-46F2-B8E0-776FA087FF26}"/>
                  </a:ext>
                </a:extLst>
              </p:cNvPr>
              <p:cNvSpPr txBox="1"/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625060B-4573-46F2-B8E0-776FA087F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46031F-56F2-4F42-9237-38E9B582648A}"/>
                  </a:ext>
                </a:extLst>
              </p:cNvPr>
              <p:cNvSpPr txBox="1"/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46031F-56F2-4F42-9237-38E9B5826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BB6D60-150A-419B-A59D-CB80129F9DCC}"/>
              </a:ext>
            </a:extLst>
          </p:cNvPr>
          <p:cNvSpPr txBox="1"/>
          <p:nvPr/>
        </p:nvSpPr>
        <p:spPr>
          <a:xfrm>
            <a:off x="3192223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＋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745386-F681-40BB-8892-87662434F355}"/>
              </a:ext>
            </a:extLst>
          </p:cNvPr>
          <p:cNvSpPr txBox="1"/>
          <p:nvPr/>
        </p:nvSpPr>
        <p:spPr>
          <a:xfrm>
            <a:off x="6395209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＝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0E25733-0DE6-4C15-9E06-E58DFF9E185D}"/>
              </a:ext>
            </a:extLst>
          </p:cNvPr>
          <p:cNvCxnSpPr>
            <a:cxnSpLocks/>
          </p:cNvCxnSpPr>
          <p:nvPr/>
        </p:nvCxnSpPr>
        <p:spPr>
          <a:xfrm flipV="1">
            <a:off x="7272372" y="3399129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2149044-34FA-4094-B962-E7C825C8995A}"/>
              </a:ext>
            </a:extLst>
          </p:cNvPr>
          <p:cNvCxnSpPr>
            <a:cxnSpLocks/>
          </p:cNvCxnSpPr>
          <p:nvPr/>
        </p:nvCxnSpPr>
        <p:spPr>
          <a:xfrm>
            <a:off x="9403175" y="3432684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5F4D8A-F940-4E6E-8E67-65A62A6E1A11}"/>
                  </a:ext>
                </a:extLst>
              </p:cNvPr>
              <p:cNvSpPr txBox="1"/>
              <p:nvPr/>
            </p:nvSpPr>
            <p:spPr>
              <a:xfrm>
                <a:off x="7927596" y="3860251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5F4D8A-F940-4E6E-8E67-65A62A6E1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596" y="3860251"/>
                <a:ext cx="47141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1E27225-E4FB-4D58-9679-A879A199AAC2}"/>
                  </a:ext>
                </a:extLst>
              </p:cNvPr>
              <p:cNvSpPr txBox="1"/>
              <p:nvPr/>
            </p:nvSpPr>
            <p:spPr>
              <a:xfrm>
                <a:off x="10031866" y="3682766"/>
                <a:ext cx="4830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1E27225-E4FB-4D58-9679-A879A199A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866" y="3682766"/>
                <a:ext cx="483081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8DEFA23-A1CB-470C-80DA-176E0365F3C7}"/>
              </a:ext>
            </a:extLst>
          </p:cNvPr>
          <p:cNvCxnSpPr/>
          <p:nvPr/>
        </p:nvCxnSpPr>
        <p:spPr>
          <a:xfrm flipV="1">
            <a:off x="7272372" y="4691033"/>
            <a:ext cx="3310787" cy="9060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825DA2F-CE4E-4E51-9EC3-9DA8AC44CF27}"/>
                  </a:ext>
                </a:extLst>
              </p:cNvPr>
              <p:cNvSpPr txBox="1"/>
              <p:nvPr/>
            </p:nvSpPr>
            <p:spPr>
              <a:xfrm>
                <a:off x="8549779" y="5255296"/>
                <a:ext cx="1047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825DA2F-CE4E-4E51-9EC3-9DA8AC44C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9779" y="5255296"/>
                <a:ext cx="104772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144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223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ベクトルの引き算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は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と同じなので以下のようになります。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22350" cy="461665"/>
              </a:xfrm>
              <a:prstGeom prst="rect">
                <a:avLst/>
              </a:prstGeom>
              <a:blipFill>
                <a:blip r:embed="rId2"/>
                <a:stretch>
                  <a:fillRect l="-894" t="-10667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94414A67-2B15-44E8-BDF5-DE1BC932B9D1}"/>
              </a:ext>
            </a:extLst>
          </p:cNvPr>
          <p:cNvCxnSpPr>
            <a:cxnSpLocks/>
          </p:cNvCxnSpPr>
          <p:nvPr/>
        </p:nvCxnSpPr>
        <p:spPr>
          <a:xfrm flipV="1">
            <a:off x="906012" y="3540155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BA8C0C8-7BDB-49E9-BA4F-17634E6A2EC8}"/>
              </a:ext>
            </a:extLst>
          </p:cNvPr>
          <p:cNvCxnSpPr>
            <a:cxnSpLocks/>
          </p:cNvCxnSpPr>
          <p:nvPr/>
        </p:nvCxnSpPr>
        <p:spPr>
          <a:xfrm>
            <a:off x="4616809" y="3682767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625060B-4573-46F2-B8E0-776FA087FF26}"/>
                  </a:ext>
                </a:extLst>
              </p:cNvPr>
              <p:cNvSpPr txBox="1"/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625060B-4573-46F2-B8E0-776FA087F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002" y="4177447"/>
                <a:ext cx="47141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46031F-56F2-4F42-9237-38E9B582648A}"/>
                  </a:ext>
                </a:extLst>
              </p:cNvPr>
              <p:cNvSpPr txBox="1"/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D46031F-56F2-4F42-9237-38E9B5826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277" y="3850276"/>
                <a:ext cx="4830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BB6D60-150A-419B-A59D-CB80129F9DCC}"/>
              </a:ext>
            </a:extLst>
          </p:cNvPr>
          <p:cNvSpPr txBox="1"/>
          <p:nvPr/>
        </p:nvSpPr>
        <p:spPr>
          <a:xfrm>
            <a:off x="3192223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－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745386-F681-40BB-8892-87662434F355}"/>
              </a:ext>
            </a:extLst>
          </p:cNvPr>
          <p:cNvSpPr txBox="1"/>
          <p:nvPr/>
        </p:nvSpPr>
        <p:spPr>
          <a:xfrm>
            <a:off x="6395209" y="4081108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5400" dirty="0">
                <a:solidFill>
                  <a:schemeClr val="tx1"/>
                </a:solidFill>
              </a:rPr>
              <a:t>＝</a:t>
            </a:r>
            <a:endParaRPr lang="en-US" altLang="ja-JP" sz="5400" dirty="0">
              <a:solidFill>
                <a:schemeClr val="tx1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0E25733-0DE6-4C15-9E06-E58DFF9E185D}"/>
              </a:ext>
            </a:extLst>
          </p:cNvPr>
          <p:cNvCxnSpPr>
            <a:cxnSpLocks/>
          </p:cNvCxnSpPr>
          <p:nvPr/>
        </p:nvCxnSpPr>
        <p:spPr>
          <a:xfrm flipV="1">
            <a:off x="7272372" y="3399129"/>
            <a:ext cx="2130803" cy="21979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2149044-34FA-4094-B962-E7C825C8995A}"/>
              </a:ext>
            </a:extLst>
          </p:cNvPr>
          <p:cNvCxnSpPr>
            <a:cxnSpLocks/>
          </p:cNvCxnSpPr>
          <p:nvPr/>
        </p:nvCxnSpPr>
        <p:spPr>
          <a:xfrm>
            <a:off x="8163301" y="2139216"/>
            <a:ext cx="1179984" cy="1258349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5F4D8A-F940-4E6E-8E67-65A62A6E1A11}"/>
                  </a:ext>
                </a:extLst>
              </p:cNvPr>
              <p:cNvSpPr txBox="1"/>
              <p:nvPr/>
            </p:nvSpPr>
            <p:spPr>
              <a:xfrm>
                <a:off x="8353667" y="4267253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15F4D8A-F940-4E6E-8E67-65A62A6E1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667" y="4267253"/>
                <a:ext cx="47141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1E27225-E4FB-4D58-9679-A879A199AAC2}"/>
                  </a:ext>
                </a:extLst>
              </p:cNvPr>
              <p:cNvSpPr txBox="1"/>
              <p:nvPr/>
            </p:nvSpPr>
            <p:spPr>
              <a:xfrm>
                <a:off x="8860204" y="2467558"/>
                <a:ext cx="7123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1E27225-E4FB-4D58-9679-A879A199A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0204" y="2467558"/>
                <a:ext cx="712311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8DEFA23-A1CB-470C-80DA-176E0365F3C7}"/>
              </a:ext>
            </a:extLst>
          </p:cNvPr>
          <p:cNvCxnSpPr>
            <a:cxnSpLocks/>
          </p:cNvCxnSpPr>
          <p:nvPr/>
        </p:nvCxnSpPr>
        <p:spPr>
          <a:xfrm flipV="1">
            <a:off x="7272372" y="2156119"/>
            <a:ext cx="890929" cy="3440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825DA2F-CE4E-4E51-9EC3-9DA8AC44CF27}"/>
                  </a:ext>
                </a:extLst>
              </p:cNvPr>
              <p:cNvSpPr txBox="1"/>
              <p:nvPr/>
            </p:nvSpPr>
            <p:spPr>
              <a:xfrm>
                <a:off x="6833790" y="3078490"/>
                <a:ext cx="10477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825DA2F-CE4E-4E51-9EC3-9DA8AC44C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790" y="3078490"/>
                <a:ext cx="104772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819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4709C83-8B3E-46C2-9376-481A4056C573}"/>
              </a:ext>
            </a:extLst>
          </p:cNvPr>
          <p:cNvSpPr/>
          <p:nvPr/>
        </p:nvSpPr>
        <p:spPr>
          <a:xfrm>
            <a:off x="330200" y="1710267"/>
            <a:ext cx="8407399" cy="465577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75426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計算方法は非常に簡単です。</a:t>
                </a:r>
                <a:endParaRPr lang="en-US" altLang="ja-JP" sz="2400" dirty="0"/>
              </a:p>
              <a:p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■ベクトルの加法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となる。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■ベクトルの減法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となる。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■ベクトルの加法の交換法則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２つのベクトル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において、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が成り立つ。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75426" cy="4893647"/>
              </a:xfrm>
              <a:prstGeom prst="rect">
                <a:avLst/>
              </a:prstGeom>
              <a:blipFill>
                <a:blip r:embed="rId2"/>
                <a:stretch>
                  <a:fillRect l="-1161" t="-998" r="-232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866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04847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において、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=[8, 3]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=[5, 12]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8+5, 3+12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8−5, 3−12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各成分同士を計算するだけです。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04847" cy="3785652"/>
              </a:xfrm>
              <a:prstGeom prst="rect">
                <a:avLst/>
              </a:prstGeom>
              <a:blipFill>
                <a:blip r:embed="rId2"/>
                <a:stretch>
                  <a:fillRect l="-1128" t="-1288" r="-226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4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04847" cy="22543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において、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=[12, 9]</m:t>
                    </m:r>
                  </m:oMath>
                </a14:m>
                <a:r>
                  <a:rPr lang="en-US" altLang="ja-JP" sz="2400" dirty="0"/>
                  <a:t> ,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=[−3, −32]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=[0, 0]</m:t>
                    </m:r>
                  </m:oMath>
                </a14:m>
                <a:r>
                  <a:rPr lang="en-US" altLang="ja-JP" sz="2400" dirty="0"/>
                  <a:t> ,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=[100, 200]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=[100, 200]</m:t>
                    </m:r>
                  </m:oMath>
                </a14:m>
                <a:r>
                  <a:rPr lang="en-US" altLang="ja-JP" sz="2400" dirty="0"/>
                  <a:t> ,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=[−20, 30]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04847" cy="2254335"/>
              </a:xfrm>
              <a:prstGeom prst="rect">
                <a:avLst/>
              </a:prstGeom>
              <a:blipFill>
                <a:blip r:embed="rId2"/>
                <a:stretch>
                  <a:fillRect l="-1278" t="-2168" r="-226" b="-65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96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ベクトルの加法と減法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763681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ベクトルが</a:t>
                </a:r>
                <a:r>
                  <a:rPr lang="en-US" altLang="ja-JP" sz="2400" dirty="0"/>
                  <a:t>3D</a:t>
                </a:r>
                <a:r>
                  <a:rPr lang="ja-JP" altLang="en-US" sz="2400" dirty="0"/>
                  <a:t>の場合は</a:t>
                </a:r>
                <a:r>
                  <a:rPr lang="en-US" altLang="ja-JP" sz="2400" dirty="0"/>
                  <a:t>Z</a:t>
                </a:r>
                <a:r>
                  <a:rPr lang="ja-JP" altLang="en-US" sz="2400" dirty="0"/>
                  <a:t>成分が追加されるだけです。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■ベクトルの加法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:r>
                  <a:rPr lang="ja-JP" altLang="en-US" sz="2400" b="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2 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としたとき、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>
                    <a:solidFill>
                      <a:schemeClr val="tx1"/>
                    </a:solidFill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となる。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■ベクトルの減法</a:t>
                </a:r>
                <a:r>
                  <a:rPr lang="en-US" altLang="ja-JP" sz="2400" b="1">
                    <a:solidFill>
                      <a:srgbClr val="FF0000"/>
                    </a:solidFill>
                  </a:rPr>
                  <a:t>(3D)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ベクトル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2 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2 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763681" cy="3416320"/>
              </a:xfrm>
              <a:prstGeom prst="rect">
                <a:avLst/>
              </a:prstGeom>
              <a:blipFill>
                <a:blip r:embed="rId2"/>
                <a:stretch>
                  <a:fillRect l="-1043" t="-1429" r="-13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8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469</Words>
  <Application>Microsoft Office PowerPoint</Application>
  <PresentationFormat>ワイド画面</PresentationFormat>
  <Paragraphs>67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121</cp:revision>
  <dcterms:created xsi:type="dcterms:W3CDTF">2024-08-27T02:15:54Z</dcterms:created>
  <dcterms:modified xsi:type="dcterms:W3CDTF">2025-06-26T01:09:21Z</dcterms:modified>
</cp:coreProperties>
</file>