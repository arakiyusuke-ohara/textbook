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2025/6/10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2FE27B84-D860-4B67-9212-1796899F54EB}"/>
              </a:ext>
            </a:extLst>
          </p:cNvPr>
          <p:cNvSpPr/>
          <p:nvPr/>
        </p:nvSpPr>
        <p:spPr>
          <a:xfrm>
            <a:off x="439991" y="2150920"/>
            <a:ext cx="8043608" cy="13712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点に続いては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直線</a:t>
                </a:r>
                <a:r>
                  <a:rPr lang="ja-JP" altLang="en-US" sz="2400" dirty="0"/>
                  <a:t>について定義していきます。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点は２つの数値で定義しましたが、</a:t>
                </a:r>
                <a:r>
                  <a:rPr lang="ja-JP" altLang="en-US" sz="2400" dirty="0"/>
                  <a:t>直線は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方程式</a:t>
                </a:r>
                <a:r>
                  <a:rPr lang="ja-JP" altLang="en-US" sz="2400" dirty="0"/>
                  <a:t>によって定義されています。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■直線の方程式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en-US" altLang="ja-JP" sz="2400" dirty="0"/>
              </a:p>
              <a:p>
                <a:r>
                  <a:rPr kumimoji="1" lang="ja-JP" altLang="en-US" sz="2400" dirty="0"/>
                  <a:t>ただし、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と</a:t>
                </a:r>
                <a:r>
                  <a:rPr kumimoji="1" lang="en-US" altLang="ja-JP" sz="2400" dirty="0"/>
                  <a:t>B</a:t>
                </a:r>
                <a:r>
                  <a:rPr kumimoji="1" lang="ja-JP" altLang="en-US" sz="2400" dirty="0"/>
                  <a:t>の少なくとも一方は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ではない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lang="en-US" altLang="ja-JP" sz="2400" dirty="0"/>
                  <a:t>A,B,C</a:t>
                </a:r>
                <a:r>
                  <a:rPr lang="ja-JP" altLang="en-US" sz="2400" dirty="0"/>
                  <a:t>に数値を与えると何かしらの直線として表現することができます。</a:t>
                </a:r>
                <a:endParaRPr lang="en-US" altLang="ja-JP" sz="2400" dirty="0"/>
              </a:p>
              <a:p>
                <a:r>
                  <a:rPr kumimoji="1" lang="ja-JP" altLang="en-US" sz="2400" dirty="0"/>
                  <a:t>実際に例題を見てみましょう。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956846" cy="3416320"/>
              </a:xfrm>
              <a:prstGeom prst="rect">
                <a:avLst/>
              </a:prstGeom>
              <a:blipFill>
                <a:blip r:embed="rId2"/>
                <a:stretch>
                  <a:fillRect l="-835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564798" cy="319997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与えられた式を 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の形に変形すると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=−3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+8</m:t>
                    </m:r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sz="2400" dirty="0"/>
                  <a:t>を右辺に移項（両辺に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ja-JP" altLang="en-US" sz="2400" dirty="0"/>
                  <a:t>を加算）</a:t>
                </a:r>
                <a:endParaRPr kumimoji="1"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		</a:t>
                </a:r>
                <a:r>
                  <a:rPr kumimoji="1" lang="ja-JP" altLang="en-US" sz="2400" dirty="0"/>
                  <a:t>・・・両辺を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kumimoji="1" lang="ja-JP" altLang="en-US" sz="2400" dirty="0"/>
                  <a:t>で割る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このように、まずは式を 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の形に変形</a:t>
                </a:r>
                <a:r>
                  <a:rPr kumimoji="1" lang="ja-JP" altLang="en-US" sz="2400" dirty="0"/>
                  <a:t>します。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564798" cy="3199979"/>
              </a:xfrm>
              <a:prstGeom prst="rect">
                <a:avLst/>
              </a:prstGeom>
              <a:blipFill>
                <a:blip r:embed="rId2"/>
                <a:stretch>
                  <a:fillRect l="-956" t="-1527" b="-36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56268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この式で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とすると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0−4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=−4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の時、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ということがわかる。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これはこの直線が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を通る</a:t>
                </a:r>
                <a:r>
                  <a:rPr lang="ja-JP" altLang="en-US" sz="2400" dirty="0"/>
                  <a:t>ことを表している。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blipFill>
                <a:blip r:embed="rId2"/>
                <a:stretch>
                  <a:fillRect l="-1256" t="-1192" r="-754" b="-2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583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この式で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とすると</a:t>
                </a:r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kumimoji="1" lang="en-US" altLang="ja-JP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×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2−4</m:t>
                    </m:r>
                  </m:oMath>
                </a14:m>
                <a:r>
                  <a:rPr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つまり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の時、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ということがわかる。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これはこの直線が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ja-JP" altLang="en-US" sz="2400" b="1" dirty="0">
                    <a:solidFill>
                      <a:srgbClr val="FF0000"/>
                    </a:solidFill>
                  </a:rPr>
                  <a:t>を通る</a:t>
                </a:r>
                <a:r>
                  <a:rPr lang="ja-JP" altLang="en-US" sz="2400" dirty="0"/>
                  <a:t>ことを表している。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9557" cy="4091633"/>
              </a:xfrm>
              <a:prstGeom prst="rect">
                <a:avLst/>
              </a:prstGeom>
              <a:blipFill>
                <a:blip r:embed="rId2"/>
                <a:stretch>
                  <a:fillRect l="-1256" t="-1192" r="-754" b="-253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827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例題</a:t>
            </a:r>
            <a:endParaRPr kumimoji="1" lang="ja-JP" altLang="en-US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571303" cy="15696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r>
                  <a:rPr kumimoji="1" lang="ja-JP" altLang="en-US" sz="2400" dirty="0"/>
                  <a:t> の直線をグラフに書きなさい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dirty="0"/>
                  <a:t>通過する２点が分かればグラフに書くことができる。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571303" cy="1569660"/>
              </a:xfrm>
              <a:prstGeom prst="rect">
                <a:avLst/>
              </a:prstGeom>
              <a:blipFill>
                <a:blip r:embed="rId2"/>
                <a:stretch>
                  <a:fillRect l="-1208" t="-3113" r="-322" b="-817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2" name="グループ化 51">
            <a:extLst>
              <a:ext uri="{FF2B5EF4-FFF2-40B4-BE49-F238E27FC236}">
                <a16:creationId xmlns:a16="http://schemas.microsoft.com/office/drawing/2014/main" id="{277DE697-99AD-44A8-A7DC-432BA60282E3}"/>
              </a:ext>
            </a:extLst>
          </p:cNvPr>
          <p:cNvGrpSpPr/>
          <p:nvPr/>
        </p:nvGrpSpPr>
        <p:grpSpPr>
          <a:xfrm>
            <a:off x="567542" y="3070370"/>
            <a:ext cx="3828289" cy="3643421"/>
            <a:chOff x="567542" y="3070370"/>
            <a:chExt cx="3828289" cy="3643421"/>
          </a:xfrm>
        </p:grpSpPr>
        <p:grpSp>
          <p:nvGrpSpPr>
            <p:cNvPr id="5" name="グループ化 4">
              <a:extLst>
                <a:ext uri="{FF2B5EF4-FFF2-40B4-BE49-F238E27FC236}">
                  <a16:creationId xmlns:a16="http://schemas.microsoft.com/office/drawing/2014/main" id="{2FBE5C15-1C47-4298-B14F-1DFEE4006E44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567542" y="2398054"/>
              <a:chExt cx="4278806" cy="3967992"/>
            </a:xfrm>
          </p:grpSpPr>
          <p:grpSp>
            <p:nvGrpSpPr>
              <p:cNvPr id="7" name="グループ化 6">
                <a:extLst>
                  <a:ext uri="{FF2B5EF4-FFF2-40B4-BE49-F238E27FC236}">
                    <a16:creationId xmlns:a16="http://schemas.microsoft.com/office/drawing/2014/main" id="{09FCF38F-34D1-4C56-A857-7188EC2F56D2}"/>
                  </a:ext>
                </a:extLst>
              </p:cNvPr>
              <p:cNvGrpSpPr/>
              <p:nvPr/>
            </p:nvGrpSpPr>
            <p:grpSpPr>
              <a:xfrm>
                <a:off x="567542" y="2398054"/>
                <a:ext cx="4278806" cy="3967992"/>
                <a:chOff x="704674" y="2060686"/>
                <a:chExt cx="4278806" cy="3967992"/>
              </a:xfrm>
            </p:grpSpPr>
            <p:grpSp>
              <p:nvGrpSpPr>
                <p:cNvPr id="9" name="グループ化 8">
                  <a:extLst>
                    <a:ext uri="{FF2B5EF4-FFF2-40B4-BE49-F238E27FC236}">
                      <a16:creationId xmlns:a16="http://schemas.microsoft.com/office/drawing/2014/main" id="{BD45E2FA-3B8E-4056-8F45-BD21D6FE6917}"/>
                    </a:ext>
                  </a:extLst>
                </p:cNvPr>
                <p:cNvGrpSpPr/>
                <p:nvPr/>
              </p:nvGrpSpPr>
              <p:grpSpPr>
                <a:xfrm>
                  <a:off x="704674" y="2060686"/>
                  <a:ext cx="4278806" cy="3967992"/>
                  <a:chOff x="704674" y="2060686"/>
                  <a:chExt cx="4278806" cy="3967992"/>
                </a:xfrm>
              </p:grpSpPr>
              <p:cxnSp>
                <p:nvCxnSpPr>
                  <p:cNvPr id="13" name="直線矢印コネクタ 12">
                    <a:extLst>
                      <a:ext uri="{FF2B5EF4-FFF2-40B4-BE49-F238E27FC236}">
                        <a16:creationId xmlns:a16="http://schemas.microsoft.com/office/drawing/2014/main" id="{0F829DDD-3FBF-4A0D-A5A9-F78DD9DA2E5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04674" y="3976382"/>
                    <a:ext cx="4278806" cy="0"/>
                  </a:xfrm>
                  <a:prstGeom prst="straightConnector1">
                    <a:avLst/>
                  </a:prstGeom>
                  <a:ln w="38100">
                    <a:solidFill>
                      <a:srgbClr val="FF000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" name="直線矢印コネクタ 13">
                    <a:extLst>
                      <a:ext uri="{FF2B5EF4-FFF2-40B4-BE49-F238E27FC236}">
                        <a16:creationId xmlns:a16="http://schemas.microsoft.com/office/drawing/2014/main" id="{005859F7-2D47-4069-9543-B2BF031017C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848692" y="2060686"/>
                    <a:ext cx="0" cy="3967992"/>
                  </a:xfrm>
                  <a:prstGeom prst="straightConnector1">
                    <a:avLst/>
                  </a:prstGeom>
                  <a:ln w="38100">
                    <a:solidFill>
                      <a:srgbClr val="00B050"/>
                    </a:solidFill>
                    <a:headEnd type="none" w="med" len="med"/>
                    <a:tailEnd type="arrow" w="med" len="med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5" name="直線コネクタ 14">
                    <a:extLst>
                      <a:ext uri="{FF2B5EF4-FFF2-40B4-BE49-F238E27FC236}">
                        <a16:creationId xmlns:a16="http://schemas.microsoft.com/office/drawing/2014/main" id="{A6E86259-9C24-420A-8C9F-3A58B5B8BAC8}"/>
                      </a:ext>
                    </a:extLst>
                  </p:cNvPr>
                  <p:cNvCxnSpPr/>
                  <p:nvPr/>
                </p:nvCxnSpPr>
                <p:spPr>
                  <a:xfrm>
                    <a:off x="3038475" y="388937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6" name="直線コネクタ 15">
                    <a:extLst>
                      <a:ext uri="{FF2B5EF4-FFF2-40B4-BE49-F238E27FC236}">
                        <a16:creationId xmlns:a16="http://schemas.microsoft.com/office/drawing/2014/main" id="{D47C5B40-0E64-452E-9A48-8C09270C9D65}"/>
                      </a:ext>
                    </a:extLst>
                  </p:cNvPr>
                  <p:cNvCxnSpPr/>
                  <p:nvPr/>
                </p:nvCxnSpPr>
                <p:spPr>
                  <a:xfrm>
                    <a:off x="3190875" y="3895725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7" name="直線コネクタ 16">
                    <a:extLst>
                      <a:ext uri="{FF2B5EF4-FFF2-40B4-BE49-F238E27FC236}">
                        <a16:creationId xmlns:a16="http://schemas.microsoft.com/office/drawing/2014/main" id="{FE4DBDF9-F176-4DF6-8510-21A38A660C84}"/>
                      </a:ext>
                    </a:extLst>
                  </p:cNvPr>
                  <p:cNvCxnSpPr/>
                  <p:nvPr/>
                </p:nvCxnSpPr>
                <p:spPr>
                  <a:xfrm>
                    <a:off x="3343275" y="3898900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直線コネクタ 17">
                    <a:extLst>
                      <a:ext uri="{FF2B5EF4-FFF2-40B4-BE49-F238E27FC236}">
                        <a16:creationId xmlns:a16="http://schemas.microsoft.com/office/drawing/2014/main" id="{DF94B610-B9F9-427C-B8F9-180731E346C4}"/>
                      </a:ext>
                    </a:extLst>
                  </p:cNvPr>
                  <p:cNvCxnSpPr/>
                  <p:nvPr/>
                </p:nvCxnSpPr>
                <p:spPr>
                  <a:xfrm>
                    <a:off x="3495675" y="389969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直線コネクタ 18">
                    <a:extLst>
                      <a:ext uri="{FF2B5EF4-FFF2-40B4-BE49-F238E27FC236}">
                        <a16:creationId xmlns:a16="http://schemas.microsoft.com/office/drawing/2014/main" id="{029B93C9-E5F0-4753-8CC3-7E7ADE8BDC8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3648075" y="3857625"/>
                    <a:ext cx="0" cy="25479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直線コネクタ 19">
                    <a:extLst>
                      <a:ext uri="{FF2B5EF4-FFF2-40B4-BE49-F238E27FC236}">
                        <a16:creationId xmlns:a16="http://schemas.microsoft.com/office/drawing/2014/main" id="{4B3383E0-1A48-463D-A703-EAF67D43ADF0}"/>
                      </a:ext>
                    </a:extLst>
                  </p:cNvPr>
                  <p:cNvCxnSpPr/>
                  <p:nvPr/>
                </p:nvCxnSpPr>
                <p:spPr>
                  <a:xfrm>
                    <a:off x="3800475" y="3906834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" name="直線コネクタ 20">
                    <a:extLst>
                      <a:ext uri="{FF2B5EF4-FFF2-40B4-BE49-F238E27FC236}">
                        <a16:creationId xmlns:a16="http://schemas.microsoft.com/office/drawing/2014/main" id="{2C2E0011-302E-463E-ACDB-A78CCEEC79FD}"/>
                      </a:ext>
                    </a:extLst>
                  </p:cNvPr>
                  <p:cNvCxnSpPr/>
                  <p:nvPr/>
                </p:nvCxnSpPr>
                <p:spPr>
                  <a:xfrm>
                    <a:off x="3952875" y="3911593"/>
                    <a:ext cx="0" cy="1651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22" name="グループ化 21">
                    <a:extLst>
                      <a:ext uri="{FF2B5EF4-FFF2-40B4-BE49-F238E27FC236}">
                        <a16:creationId xmlns:a16="http://schemas.microsoft.com/office/drawing/2014/main" id="{6A697506-F494-445F-9B0F-43AA3BD8E225}"/>
                      </a:ext>
                    </a:extLst>
                  </p:cNvPr>
                  <p:cNvGrpSpPr/>
                  <p:nvPr/>
                </p:nvGrpSpPr>
                <p:grpSpPr>
                  <a:xfrm rot="10800000">
                    <a:off x="1749425" y="3844925"/>
                    <a:ext cx="914400" cy="254794"/>
                    <a:chOff x="1749425" y="3844925"/>
                    <a:chExt cx="914400" cy="254794"/>
                  </a:xfrm>
                </p:grpSpPr>
                <p:cxnSp>
                  <p:nvCxnSpPr>
                    <p:cNvPr id="39" name="直線コネクタ 38">
                      <a:extLst>
                        <a:ext uri="{FF2B5EF4-FFF2-40B4-BE49-F238E27FC236}">
                          <a16:creationId xmlns:a16="http://schemas.microsoft.com/office/drawing/2014/main" id="{EAD36388-C3A4-4C1C-8C85-E0F58510AFB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749425" y="387667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0" name="直線コネクタ 39">
                      <a:extLst>
                        <a:ext uri="{FF2B5EF4-FFF2-40B4-BE49-F238E27FC236}">
                          <a16:creationId xmlns:a16="http://schemas.microsoft.com/office/drawing/2014/main" id="{C6DDAB69-BDF6-4FAA-BFDD-9EFEAE34197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901825" y="38830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1" name="直線コネクタ 40">
                      <a:extLst>
                        <a:ext uri="{FF2B5EF4-FFF2-40B4-BE49-F238E27FC236}">
                          <a16:creationId xmlns:a16="http://schemas.microsoft.com/office/drawing/2014/main" id="{8C491408-64FC-4C07-8290-5D7DA6EC7AF9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054225" y="388620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2" name="直線コネクタ 41">
                      <a:extLst>
                        <a:ext uri="{FF2B5EF4-FFF2-40B4-BE49-F238E27FC236}">
                          <a16:creationId xmlns:a16="http://schemas.microsoft.com/office/drawing/2014/main" id="{BD37AD2C-02A0-4A08-BDFD-70C1EE1314A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206625" y="388699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3" name="直線コネクタ 42">
                      <a:extLst>
                        <a:ext uri="{FF2B5EF4-FFF2-40B4-BE49-F238E27FC236}">
                          <a16:creationId xmlns:a16="http://schemas.microsoft.com/office/drawing/2014/main" id="{05367C2C-337B-4B9E-87BA-117AB307B71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2359025" y="38449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4" name="直線コネクタ 43">
                      <a:extLst>
                        <a:ext uri="{FF2B5EF4-FFF2-40B4-BE49-F238E27FC236}">
                          <a16:creationId xmlns:a16="http://schemas.microsoft.com/office/drawing/2014/main" id="{A3F591FB-7277-46AB-B979-529D62634F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511425" y="389413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" name="直線コネクタ 44">
                      <a:extLst>
                        <a:ext uri="{FF2B5EF4-FFF2-40B4-BE49-F238E27FC236}">
                          <a16:creationId xmlns:a16="http://schemas.microsoft.com/office/drawing/2014/main" id="{E2C6CD90-529D-4D70-B45E-2B1CD7589BE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663825" y="3898893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" name="グループ化 22">
                    <a:extLst>
                      <a:ext uri="{FF2B5EF4-FFF2-40B4-BE49-F238E27FC236}">
                        <a16:creationId xmlns:a16="http://schemas.microsoft.com/office/drawing/2014/main" id="{5A3C5DB2-A629-4894-A167-B72FFFD15E81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2409825" y="3216275"/>
                    <a:ext cx="914400" cy="254794"/>
                    <a:chOff x="3190875" y="4010025"/>
                    <a:chExt cx="914400" cy="254794"/>
                  </a:xfrm>
                </p:grpSpPr>
                <p:cxnSp>
                  <p:nvCxnSpPr>
                    <p:cNvPr id="32" name="直線コネクタ 31">
                      <a:extLst>
                        <a:ext uri="{FF2B5EF4-FFF2-40B4-BE49-F238E27FC236}">
                          <a16:creationId xmlns:a16="http://schemas.microsoft.com/office/drawing/2014/main" id="{2BEBC85E-157E-4B42-A50F-EB995932B4C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190875" y="404177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3" name="直線コネクタ 32">
                      <a:extLst>
                        <a:ext uri="{FF2B5EF4-FFF2-40B4-BE49-F238E27FC236}">
                          <a16:creationId xmlns:a16="http://schemas.microsoft.com/office/drawing/2014/main" id="{F0D67B6B-E9F8-49DB-8F0F-34B824B400F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43275" y="40481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4" name="直線コネクタ 33">
                      <a:extLst>
                        <a:ext uri="{FF2B5EF4-FFF2-40B4-BE49-F238E27FC236}">
                          <a16:creationId xmlns:a16="http://schemas.microsoft.com/office/drawing/2014/main" id="{23743E0C-60E1-421E-912E-28BB6711E51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95675" y="4044157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5" name="直線コネクタ 34">
                      <a:extLst>
                        <a:ext uri="{FF2B5EF4-FFF2-40B4-BE49-F238E27FC236}">
                          <a16:creationId xmlns:a16="http://schemas.microsoft.com/office/drawing/2014/main" id="{81BE0252-74C2-4BAE-9C81-B6519B4D1C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648075" y="404257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" name="直線コネクタ 35">
                      <a:extLst>
                        <a:ext uri="{FF2B5EF4-FFF2-40B4-BE49-F238E27FC236}">
                          <a16:creationId xmlns:a16="http://schemas.microsoft.com/office/drawing/2014/main" id="{7B4808B1-AAA0-419A-B238-4A27D25600F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00475" y="40100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7" name="直線コネクタ 36">
                      <a:extLst>
                        <a:ext uri="{FF2B5EF4-FFF2-40B4-BE49-F238E27FC236}">
                          <a16:creationId xmlns:a16="http://schemas.microsoft.com/office/drawing/2014/main" id="{A64DD960-0D1B-4538-BEC3-B0490E98B29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952875" y="404256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8" name="直線コネクタ 37">
                      <a:extLst>
                        <a:ext uri="{FF2B5EF4-FFF2-40B4-BE49-F238E27FC236}">
                          <a16:creationId xmlns:a16="http://schemas.microsoft.com/office/drawing/2014/main" id="{68879EB5-2881-4812-84BD-C9D0AA063D0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5275" y="404494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" name="グループ化 23">
                    <a:extLst>
                      <a:ext uri="{FF2B5EF4-FFF2-40B4-BE49-F238E27FC236}">
                        <a16:creationId xmlns:a16="http://schemas.microsoft.com/office/drawing/2014/main" id="{4E9B2147-7F1B-4E49-AB0B-3D78569D839E}"/>
                      </a:ext>
                    </a:extLst>
                  </p:cNvPr>
                  <p:cNvGrpSpPr/>
                  <p:nvPr/>
                </p:nvGrpSpPr>
                <p:grpSpPr>
                  <a:xfrm rot="5400000">
                    <a:off x="2391568" y="4518025"/>
                    <a:ext cx="914400" cy="254794"/>
                    <a:chOff x="3190875" y="4010025"/>
                    <a:chExt cx="914400" cy="254794"/>
                  </a:xfrm>
                </p:grpSpPr>
                <p:cxnSp>
                  <p:nvCxnSpPr>
                    <p:cNvPr id="25" name="直線コネクタ 24">
                      <a:extLst>
                        <a:ext uri="{FF2B5EF4-FFF2-40B4-BE49-F238E27FC236}">
                          <a16:creationId xmlns:a16="http://schemas.microsoft.com/office/drawing/2014/main" id="{F8747EAB-FFB2-4323-AE44-03DA1E3B1F32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190875" y="4046537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" name="直線コネクタ 25">
                      <a:extLst>
                        <a:ext uri="{FF2B5EF4-FFF2-40B4-BE49-F238E27FC236}">
                          <a16:creationId xmlns:a16="http://schemas.microsoft.com/office/drawing/2014/main" id="{184C2BDA-B25D-44C2-8ABB-DC35B0A40B25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343275" y="4048125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" name="直線コネクタ 26">
                      <a:extLst>
                        <a:ext uri="{FF2B5EF4-FFF2-40B4-BE49-F238E27FC236}">
                          <a16:creationId xmlns:a16="http://schemas.microsoft.com/office/drawing/2014/main" id="{7B9FD2C5-B5DF-47E4-BC52-AA0DCE59FDC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95675" y="4051300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8" name="直線コネクタ 27">
                      <a:extLst>
                        <a:ext uri="{FF2B5EF4-FFF2-40B4-BE49-F238E27FC236}">
                          <a16:creationId xmlns:a16="http://schemas.microsoft.com/office/drawing/2014/main" id="{DB730581-F174-469E-AAB0-B389DD18976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648075" y="405209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" name="直線コネクタ 28">
                      <a:extLst>
                        <a:ext uri="{FF2B5EF4-FFF2-40B4-BE49-F238E27FC236}">
                          <a16:creationId xmlns:a16="http://schemas.microsoft.com/office/drawing/2014/main" id="{F8203960-1F3D-4C84-B976-D6B9D178DBF1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800475" y="4010025"/>
                      <a:ext cx="0" cy="254794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0" name="直線コネクタ 29">
                      <a:extLst>
                        <a:ext uri="{FF2B5EF4-FFF2-40B4-BE49-F238E27FC236}">
                          <a16:creationId xmlns:a16="http://schemas.microsoft.com/office/drawing/2014/main" id="{8194066D-80FF-49FD-8D81-B071405F766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952875" y="4059234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1" name="直線コネクタ 30">
                      <a:extLst>
                        <a:ext uri="{FF2B5EF4-FFF2-40B4-BE49-F238E27FC236}">
                          <a16:creationId xmlns:a16="http://schemas.microsoft.com/office/drawing/2014/main" id="{71EFB129-4B78-4B3A-ADBA-C89871F168D3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4105275" y="4063993"/>
                      <a:ext cx="0" cy="165100"/>
                    </a:xfrm>
                    <a:prstGeom prst="line">
                      <a:avLst/>
                    </a:prstGeom>
                    <a:ln w="12700"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0" name="楕円 9">
                  <a:extLst>
                    <a:ext uri="{FF2B5EF4-FFF2-40B4-BE49-F238E27FC236}">
                      <a16:creationId xmlns:a16="http://schemas.microsoft.com/office/drawing/2014/main" id="{59E13C29-303F-437B-A52B-D6D4D90EFA7A}"/>
                    </a:ext>
                  </a:extLst>
                </p:cNvPr>
                <p:cNvSpPr/>
                <p:nvPr/>
              </p:nvSpPr>
              <p:spPr>
                <a:xfrm>
                  <a:off x="2828760" y="4624370"/>
                  <a:ext cx="45719" cy="45719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13FFEE3B-F9EF-4BDC-AE73-39D74EE7238C}"/>
                      </a:ext>
                    </a:extLst>
                  </p:cNvPr>
                  <p:cNvSpPr txBox="1"/>
                  <p:nvPr/>
                </p:nvSpPr>
                <p:spPr>
                  <a:xfrm>
                    <a:off x="1827317" y="4812726"/>
                    <a:ext cx="875900" cy="36234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ja-JP" sz="1400" i="1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</a:rPr>
                            <m:t>, −4)</m:t>
                          </m:r>
                        </m:oMath>
                      </m:oMathPara>
                    </a14:m>
                    <a:endParaRPr kumimoji="1" lang="en-US" altLang="ja-JP" sz="1400" dirty="0"/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13FFEE3B-F9EF-4BDC-AE73-39D74EE723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7317" y="4812726"/>
                    <a:ext cx="875900" cy="36234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88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6" name="楕円 45">
              <a:extLst>
                <a:ext uri="{FF2B5EF4-FFF2-40B4-BE49-F238E27FC236}">
                  <a16:creationId xmlns:a16="http://schemas.microsoft.com/office/drawing/2014/main" id="{8751AAA3-1666-4BF7-972E-855185B8B2A0}"/>
                </a:ext>
              </a:extLst>
            </p:cNvPr>
            <p:cNvSpPr/>
            <p:nvPr/>
          </p:nvSpPr>
          <p:spPr>
            <a:xfrm>
              <a:off x="2771883" y="4860236"/>
              <a:ext cx="40905" cy="3883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B076A0EB-CA62-4934-A171-A0787D19CEA1}"/>
                    </a:ext>
                  </a:extLst>
                </p:cNvPr>
                <p:cNvSpPr txBox="1"/>
                <p:nvPr/>
              </p:nvSpPr>
              <p:spPr>
                <a:xfrm>
                  <a:off x="2693627" y="4883635"/>
                  <a:ext cx="783676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kumimoji="1" lang="en-US" altLang="ja-JP" sz="1400" b="0" i="1" smtClean="0">
                            <a:latin typeface="Cambria Math" panose="02040503050406030204" pitchFamily="18" charset="0"/>
                          </a:rPr>
                          <m:t>, −1)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B076A0EB-CA62-4934-A171-A0787D19CE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627" y="4883635"/>
                  <a:ext cx="783676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588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" name="直線コネクタ 2">
              <a:extLst>
                <a:ext uri="{FF2B5EF4-FFF2-40B4-BE49-F238E27FC236}">
                  <a16:creationId xmlns:a16="http://schemas.microsoft.com/office/drawing/2014/main" id="{94DF1401-BFDC-451E-9D12-F84EA5F2D4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1179" y="3634740"/>
              <a:ext cx="2056901" cy="2806035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DE3F49B0-031B-4E2F-B840-028C26F7F434}"/>
                    </a:ext>
                  </a:extLst>
                </p:cNvPr>
                <p:cNvSpPr txBox="1"/>
                <p:nvPr/>
              </p:nvSpPr>
              <p:spPr>
                <a:xfrm>
                  <a:off x="946686" y="6406014"/>
                  <a:ext cx="1173590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1400" i="1" dirty="0">
                            <a:latin typeface="Cambria Math" panose="02040503050406030204" pitchFamily="18" charset="0"/>
                          </a:rPr>
                          <m:t>=8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DE3F49B0-031B-4E2F-B840-028C26F7F4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6686" y="6406014"/>
                  <a:ext cx="1173590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6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541882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</a:t>
            </a:r>
            <a:r>
              <a:rPr lang="ja-JP" altLang="en-US" sz="3200" b="1" u="sng" dirty="0"/>
              <a:t>練習</a:t>
            </a:r>
            <a:endParaRPr kumimoji="1" lang="ja-JP" alt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63527" cy="19389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次の方程式で定義された直線をグラフに書きなさい</a:t>
                </a:r>
              </a:p>
              <a:p>
                <a:endParaRPr kumimoji="1" lang="en-US" altLang="ja-JP" sz="2400" b="0" i="1" dirty="0">
                  <a:latin typeface="Cambria Math" panose="02040503050406030204" pitchFamily="18" charset="0"/>
                </a:endParaRPr>
              </a:p>
              <a:p>
                <a:r>
                  <a:rPr kumimoji="1" lang="ja-JP" altLang="en-US" sz="2400" b="0" dirty="0"/>
                  <a:t>①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r>
                  <a:rPr kumimoji="1" lang="ja-JP" altLang="en-US" sz="2400" b="0" dirty="0"/>
                  <a:t>② 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endParaRPr lang="en-US" altLang="ja-JP" sz="2400" dirty="0"/>
              </a:p>
              <a:p>
                <a:r>
                  <a:rPr kumimoji="1" lang="ja-JP" altLang="en-US" sz="2400" b="0" dirty="0"/>
                  <a:t>③ </a:t>
                </a:r>
                <a14:m>
                  <m:oMath xmlns:m="http://schemas.openxmlformats.org/officeDocument/2006/math">
                    <m:r>
                      <a:rPr kumimoji="1" lang="en-US" altLang="ja-JP" sz="2400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−8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=8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63527" cy="1938992"/>
              </a:xfrm>
              <a:prstGeom prst="rect">
                <a:avLst/>
              </a:prstGeom>
              <a:blipFill>
                <a:blip r:embed="rId2"/>
                <a:stretch>
                  <a:fillRect l="-1258" t="-2516" r="-336" b="-62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00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E833871-BDE8-461D-910E-7B0FA33DD442}"/>
              </a:ext>
            </a:extLst>
          </p:cNvPr>
          <p:cNvSpPr/>
          <p:nvPr/>
        </p:nvSpPr>
        <p:spPr>
          <a:xfrm>
            <a:off x="304524" y="1076729"/>
            <a:ext cx="8043608" cy="137121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04931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■直線の方程式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Ax</m:t>
                      </m:r>
                      <m:r>
                        <a:rPr kumimoji="1" lang="en-US" altLang="ja-JP" sz="2400" i="1" dirty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𝐵𝑦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2400" b="0" i="1" dirty="0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kumimoji="1" lang="en-US" altLang="ja-JP" sz="2400" dirty="0"/>
              </a:p>
              <a:p>
                <a:r>
                  <a:rPr kumimoji="1" lang="ja-JP" altLang="en-US" sz="2400" dirty="0"/>
                  <a:t>ただし、</a:t>
                </a:r>
                <a:r>
                  <a:rPr kumimoji="1" lang="en-US" altLang="ja-JP" sz="2400" dirty="0"/>
                  <a:t>A</a:t>
                </a:r>
                <a:r>
                  <a:rPr kumimoji="1" lang="ja-JP" altLang="en-US" sz="2400" dirty="0"/>
                  <a:t>と</a:t>
                </a:r>
                <a:r>
                  <a:rPr kumimoji="1" lang="en-US" altLang="ja-JP" sz="2400" dirty="0"/>
                  <a:t>B</a:t>
                </a:r>
                <a:r>
                  <a:rPr kumimoji="1" lang="ja-JP" altLang="en-US" sz="2400" dirty="0"/>
                  <a:t>の少なくとも一方は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ではない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上は冒頭の直線の定義ですが、</a:t>
                </a:r>
                <a:endParaRPr kumimoji="1" lang="en-US" altLang="ja-JP" sz="2400" dirty="0"/>
              </a:p>
              <a:p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A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もしくは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B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が</a:t>
                </a:r>
                <a:r>
                  <a:rPr kumimoji="1" lang="en-US" altLang="ja-JP" sz="2400" b="1" dirty="0">
                    <a:solidFill>
                      <a:srgbClr val="FF0000"/>
                    </a:solidFill>
                  </a:rPr>
                  <a:t>0</a:t>
                </a:r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の時</a:t>
                </a:r>
                <a:r>
                  <a:rPr kumimoji="1" lang="ja-JP" altLang="en-US" sz="2400" dirty="0"/>
                  <a:t>を考えてみましょう。</a:t>
                </a:r>
                <a:endParaRPr kumimoji="1"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04931" cy="2308324"/>
              </a:xfrm>
              <a:prstGeom prst="rect">
                <a:avLst/>
              </a:prstGeom>
              <a:blipFill>
                <a:blip r:embed="rId2"/>
                <a:stretch>
                  <a:fillRect l="-1451" t="-2116" r="-580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5203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276351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Ax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において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の場合、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i="1" dirty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となる。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dirty="0"/>
                  <a:t>このように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kumimoji="1" lang="ja-JP" altLang="en-US" sz="2400" dirty="0"/>
                  <a:t>が</a:t>
                </a:r>
                <a:r>
                  <a:rPr kumimoji="1" lang="en-US" altLang="ja-JP" sz="2400" dirty="0"/>
                  <a:t>0</a:t>
                </a:r>
                <a:r>
                  <a:rPr kumimoji="1" lang="ja-JP" altLang="en-US" sz="2400" dirty="0"/>
                  <a:t>で掛け算されて消えてしまいます。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この状態で</a:t>
                </a:r>
                <a:r>
                  <a:rPr lang="en-US" altLang="ja-JP" sz="2400" dirty="0"/>
                  <a:t>B,C</a:t>
                </a:r>
                <a:r>
                  <a:rPr lang="ja-JP" altLang="en-US" sz="2400" dirty="0"/>
                  <a:t>に値を適当にあてはめてみます。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=1, 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とすると、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276351" cy="3416320"/>
              </a:xfrm>
              <a:prstGeom prst="rect">
                <a:avLst/>
              </a:prstGeom>
              <a:blipFill>
                <a:blip r:embed="rId2"/>
                <a:stretch>
                  <a:fillRect l="-1256" t="-1429" r="-335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838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459193" cy="12003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4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1" lang="en-US" altLang="ja-JP" sz="2400" dirty="0"/>
                  <a:t> </a:t>
                </a:r>
                <a:r>
                  <a:rPr kumimoji="1" lang="ja-JP" altLang="en-US" sz="2400" dirty="0"/>
                  <a:t>は一見、直線の式には見えませんが、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これは </a:t>
                </a:r>
                <a14:m>
                  <m:oMath xmlns:m="http://schemas.openxmlformats.org/officeDocument/2006/math">
                    <m:r>
                      <a:rPr kumimoji="1"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がいくつであろうとも、</a:t>
                </a:r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r>
                  <a:rPr lang="en-US" altLang="ja-JP" sz="2400" b="1" dirty="0">
                    <a:solidFill>
                      <a:srgbClr val="FF0000"/>
                    </a:solidFill>
                  </a:rPr>
                  <a:t> </a:t>
                </a:r>
                <a:r>
                  <a:rPr lang="ja-JP" altLang="en-US" sz="2400" dirty="0"/>
                  <a:t>ということを意味します。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グラフに書くと以下の通りです。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459193" cy="1200329"/>
              </a:xfrm>
              <a:prstGeom prst="rect">
                <a:avLst/>
              </a:prstGeom>
              <a:blipFill>
                <a:blip r:embed="rId2"/>
                <a:stretch>
                  <a:fillRect l="-966" t="-4082" r="-322" b="-112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E88DD6-500D-4A71-8427-94D28611624D}"/>
              </a:ext>
            </a:extLst>
          </p:cNvPr>
          <p:cNvGrpSpPr/>
          <p:nvPr/>
        </p:nvGrpSpPr>
        <p:grpSpPr>
          <a:xfrm>
            <a:off x="567542" y="2556458"/>
            <a:ext cx="4437062" cy="3370405"/>
            <a:chOff x="567542" y="3070370"/>
            <a:chExt cx="4437062" cy="3370405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EFAA77-2123-4CD6-855F-F43BA3C49121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704674" y="2060686"/>
              <a:chExt cx="4278806" cy="3967992"/>
            </a:xfrm>
          </p:grpSpPr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8CEB023-0045-4F4C-91F1-F5F2B092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74" y="3976382"/>
                <a:ext cx="4278806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E6010284-A07B-47DE-8487-99C9C3495C1F}"/>
                  </a:ext>
                </a:extLst>
              </p:cNvPr>
              <p:cNvCxnSpPr/>
              <p:nvPr/>
            </p:nvCxnSpPr>
            <p:spPr>
              <a:xfrm flipV="1">
                <a:off x="2848692" y="2060686"/>
                <a:ext cx="0" cy="3967992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52CC515-78D1-49B0-8C44-041314B72DF0}"/>
                  </a:ext>
                </a:extLst>
              </p:cNvPr>
              <p:cNvCxnSpPr/>
              <p:nvPr/>
            </p:nvCxnSpPr>
            <p:spPr>
              <a:xfrm>
                <a:off x="3038475" y="388937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0472B710-98C8-4112-A3F5-570BDE89C2B0}"/>
                  </a:ext>
                </a:extLst>
              </p:cNvPr>
              <p:cNvCxnSpPr/>
              <p:nvPr/>
            </p:nvCxnSpPr>
            <p:spPr>
              <a:xfrm>
                <a:off x="3190875" y="389572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C54BE837-5141-4A2D-B491-2C32D353D604}"/>
                  </a:ext>
                </a:extLst>
              </p:cNvPr>
              <p:cNvCxnSpPr/>
              <p:nvPr/>
            </p:nvCxnSpPr>
            <p:spPr>
              <a:xfrm>
                <a:off x="3343275" y="3898900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BEB7EC8A-C194-4285-BDE4-637C000198F2}"/>
                  </a:ext>
                </a:extLst>
              </p:cNvPr>
              <p:cNvCxnSpPr/>
              <p:nvPr/>
            </p:nvCxnSpPr>
            <p:spPr>
              <a:xfrm>
                <a:off x="3495675" y="389969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6F7EBD4B-B9A4-45E0-84F4-3F6C1271E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8075" y="3857625"/>
                <a:ext cx="0" cy="2547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5D692FC6-F707-4F01-B60E-DB1639504B29}"/>
                  </a:ext>
                </a:extLst>
              </p:cNvPr>
              <p:cNvCxnSpPr/>
              <p:nvPr/>
            </p:nvCxnSpPr>
            <p:spPr>
              <a:xfrm>
                <a:off x="3800475" y="390683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1B40132B-645B-4352-B78D-84B1931AB39F}"/>
                  </a:ext>
                </a:extLst>
              </p:cNvPr>
              <p:cNvCxnSpPr/>
              <p:nvPr/>
            </p:nvCxnSpPr>
            <p:spPr>
              <a:xfrm>
                <a:off x="3952875" y="3911593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62100F3E-42FF-4EB6-BF9E-2DA9F56DDF2E}"/>
                  </a:ext>
                </a:extLst>
              </p:cNvPr>
              <p:cNvGrpSpPr/>
              <p:nvPr/>
            </p:nvGrpSpPr>
            <p:grpSpPr>
              <a:xfrm rot="10800000">
                <a:off x="1749425" y="3844925"/>
                <a:ext cx="914400" cy="254794"/>
                <a:chOff x="1749425" y="3844925"/>
                <a:chExt cx="914400" cy="254794"/>
              </a:xfrm>
            </p:grpSpPr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24D89390-2B5D-4CA5-BE3C-5B95F350C3B4}"/>
                    </a:ext>
                  </a:extLst>
                </p:cNvPr>
                <p:cNvCxnSpPr/>
                <p:nvPr/>
              </p:nvCxnSpPr>
              <p:spPr>
                <a:xfrm>
                  <a:off x="1749425" y="38766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コネクタ 42">
                  <a:extLst>
                    <a:ext uri="{FF2B5EF4-FFF2-40B4-BE49-F238E27FC236}">
                      <a16:creationId xmlns:a16="http://schemas.microsoft.com/office/drawing/2014/main" id="{2A8B1227-6A06-462D-999B-41A615AEB97D}"/>
                    </a:ext>
                  </a:extLst>
                </p:cNvPr>
                <p:cNvCxnSpPr/>
                <p:nvPr/>
              </p:nvCxnSpPr>
              <p:spPr>
                <a:xfrm>
                  <a:off x="1901825" y="38830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4F5873EF-391A-44CC-B8D1-62DD603F0767}"/>
                    </a:ext>
                  </a:extLst>
                </p:cNvPr>
                <p:cNvCxnSpPr/>
                <p:nvPr/>
              </p:nvCxnSpPr>
              <p:spPr>
                <a:xfrm>
                  <a:off x="2054225" y="38862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1D3E54EE-4856-4335-8667-5092B183C2C1}"/>
                    </a:ext>
                  </a:extLst>
                </p:cNvPr>
                <p:cNvCxnSpPr/>
                <p:nvPr/>
              </p:nvCxnSpPr>
              <p:spPr>
                <a:xfrm>
                  <a:off x="2206625" y="38869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30A7A40-AC96-46F6-8D18-F56CFE33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9025" y="38449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8D087793-F63E-4680-A8B2-8E52FC08A82C}"/>
                    </a:ext>
                  </a:extLst>
                </p:cNvPr>
                <p:cNvCxnSpPr/>
                <p:nvPr/>
              </p:nvCxnSpPr>
              <p:spPr>
                <a:xfrm>
                  <a:off x="2511425" y="38941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6FE1C17F-E6F3-4A15-9962-E6D654F9A5F7}"/>
                    </a:ext>
                  </a:extLst>
                </p:cNvPr>
                <p:cNvCxnSpPr/>
                <p:nvPr/>
              </p:nvCxnSpPr>
              <p:spPr>
                <a:xfrm>
                  <a:off x="2663825" y="38988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6B6067BD-B4C1-4729-9AB3-71343E114BB4}"/>
                  </a:ext>
                </a:extLst>
              </p:cNvPr>
              <p:cNvGrpSpPr/>
              <p:nvPr/>
            </p:nvGrpSpPr>
            <p:grpSpPr>
              <a:xfrm rot="16200000">
                <a:off x="2409825" y="321627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980230B-54A7-404E-9844-ED57325FE2CD}"/>
                    </a:ext>
                  </a:extLst>
                </p:cNvPr>
                <p:cNvCxnSpPr/>
                <p:nvPr/>
              </p:nvCxnSpPr>
              <p:spPr>
                <a:xfrm>
                  <a:off x="3190875" y="40417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2241E0D3-07CE-4869-A244-4CB869CD3C11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95A842-1FF7-4426-AE86-5EB591B54713}"/>
                    </a:ext>
                  </a:extLst>
                </p:cNvPr>
                <p:cNvCxnSpPr/>
                <p:nvPr/>
              </p:nvCxnSpPr>
              <p:spPr>
                <a:xfrm>
                  <a:off x="3495675" y="404415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C24B007F-CB96-4BE4-96E1-97A29C8E1982}"/>
                    </a:ext>
                  </a:extLst>
                </p:cNvPr>
                <p:cNvCxnSpPr/>
                <p:nvPr/>
              </p:nvCxnSpPr>
              <p:spPr>
                <a:xfrm>
                  <a:off x="3648075" y="404257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コネクタ 38">
                  <a:extLst>
                    <a:ext uri="{FF2B5EF4-FFF2-40B4-BE49-F238E27FC236}">
                      <a16:creationId xmlns:a16="http://schemas.microsoft.com/office/drawing/2014/main" id="{F0C8198F-E237-4B7C-A2E6-605358CA6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コネクタ 39">
                  <a:extLst>
                    <a:ext uri="{FF2B5EF4-FFF2-40B4-BE49-F238E27FC236}">
                      <a16:creationId xmlns:a16="http://schemas.microsoft.com/office/drawing/2014/main" id="{E4B51F7E-4474-4DE8-8A50-09D1982E8B0A}"/>
                    </a:ext>
                  </a:extLst>
                </p:cNvPr>
                <p:cNvCxnSpPr/>
                <p:nvPr/>
              </p:nvCxnSpPr>
              <p:spPr>
                <a:xfrm>
                  <a:off x="3952875" y="404256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コネクタ 40">
                  <a:extLst>
                    <a:ext uri="{FF2B5EF4-FFF2-40B4-BE49-F238E27FC236}">
                      <a16:creationId xmlns:a16="http://schemas.microsoft.com/office/drawing/2014/main" id="{B8539103-8194-40B3-999D-1423AD905509}"/>
                    </a:ext>
                  </a:extLst>
                </p:cNvPr>
                <p:cNvCxnSpPr/>
                <p:nvPr/>
              </p:nvCxnSpPr>
              <p:spPr>
                <a:xfrm>
                  <a:off x="4105275" y="404494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9226BA55-B0EE-48A3-89C8-58CF8CA3AB40}"/>
                  </a:ext>
                </a:extLst>
              </p:cNvPr>
              <p:cNvGrpSpPr/>
              <p:nvPr/>
            </p:nvGrpSpPr>
            <p:grpSpPr>
              <a:xfrm rot="5400000">
                <a:off x="2391568" y="451802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532DBCE7-B406-4046-B2A0-9654272364D7}"/>
                    </a:ext>
                  </a:extLst>
                </p:cNvPr>
                <p:cNvCxnSpPr/>
                <p:nvPr/>
              </p:nvCxnSpPr>
              <p:spPr>
                <a:xfrm>
                  <a:off x="3190875" y="404653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C758BD08-17C1-474E-91BF-A8743DD260B2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2F10737D-6AFB-4EB2-A7CF-6F12C47DFE83}"/>
                    </a:ext>
                  </a:extLst>
                </p:cNvPr>
                <p:cNvCxnSpPr/>
                <p:nvPr/>
              </p:nvCxnSpPr>
              <p:spPr>
                <a:xfrm>
                  <a:off x="3495675" y="40513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線コネクタ 30">
                  <a:extLst>
                    <a:ext uri="{FF2B5EF4-FFF2-40B4-BE49-F238E27FC236}">
                      <a16:creationId xmlns:a16="http://schemas.microsoft.com/office/drawing/2014/main" id="{DBF3F445-4BDD-44AB-83FE-A52F4B37D65F}"/>
                    </a:ext>
                  </a:extLst>
                </p:cNvPr>
                <p:cNvCxnSpPr/>
                <p:nvPr/>
              </p:nvCxnSpPr>
              <p:spPr>
                <a:xfrm>
                  <a:off x="3648075" y="40520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F61789EA-5C9E-4287-A3D0-3EE7AA016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B2A5E40F-20CA-4D79-B4BC-B3DFBE5EFC1F}"/>
                    </a:ext>
                  </a:extLst>
                </p:cNvPr>
                <p:cNvCxnSpPr/>
                <p:nvPr/>
              </p:nvCxnSpPr>
              <p:spPr>
                <a:xfrm>
                  <a:off x="3952875" y="40592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0FC1B934-BF3E-408C-9118-5B343AF233F6}"/>
                    </a:ext>
                  </a:extLst>
                </p:cNvPr>
                <p:cNvCxnSpPr/>
                <p:nvPr/>
              </p:nvCxnSpPr>
              <p:spPr>
                <a:xfrm>
                  <a:off x="4105275" y="40639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903C2FE1-9BFC-4290-8506-E9E00376A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542" y="4153613"/>
              <a:ext cx="3768238" cy="11940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/>
                <p:nvPr/>
              </p:nvSpPr>
              <p:spPr>
                <a:xfrm>
                  <a:off x="4330765" y="4006247"/>
                  <a:ext cx="673839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0765" y="4006247"/>
                  <a:ext cx="673839" cy="307777"/>
                </a:xfrm>
                <a:prstGeom prst="rect">
                  <a:avLst/>
                </a:prstGeom>
                <a:blipFill>
                  <a:blip r:embed="rId3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9E1567A-8439-4A9B-87F0-ECB89E94817B}"/>
                  </a:ext>
                </a:extLst>
              </p:cNvPr>
              <p:cNvSpPr txBox="1"/>
              <p:nvPr/>
            </p:nvSpPr>
            <p:spPr>
              <a:xfrm>
                <a:off x="567542" y="6106798"/>
                <a:ext cx="596592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つまり</a:t>
                </a:r>
                <a14:m>
                  <m:oMath xmlns:m="http://schemas.openxmlformats.org/officeDocument/2006/math"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kumimoji="1" lang="en-US" altLang="ja-JP" sz="2400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の直線は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水平線</a:t>
                </a:r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59E1567A-8439-4A9B-87F0-ECB89E9481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6106798"/>
                <a:ext cx="5965929" cy="461665"/>
              </a:xfrm>
              <a:prstGeom prst="rect">
                <a:avLst/>
              </a:prstGeom>
              <a:blipFill>
                <a:blip r:embed="rId4"/>
                <a:stretch>
                  <a:fillRect l="-1532" t="-10526" r="-61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094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816388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i="1" dirty="0" smtClean="0">
                        <a:latin typeface="Cambria Math" panose="02040503050406030204" pitchFamily="18" charset="0"/>
                      </a:rPr>
                      <m:t>同様に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𝑩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だと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が消えるので </a:t>
                </a:r>
                <a14:m>
                  <m:oMath xmlns:m="http://schemas.openxmlformats.org/officeDocument/2006/math"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ja-JP" sz="24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𝑪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という式になります。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これは</a:t>
                </a:r>
                <a:r>
                  <a:rPr lang="ja-JP" altLang="en-US" sz="2400" b="1" dirty="0">
                    <a:solidFill>
                      <a:srgbClr val="FF0000"/>
                    </a:solidFill>
                  </a:rPr>
                  <a:t>鉛直線</a:t>
                </a:r>
                <a:r>
                  <a:rPr lang="ja-JP" altLang="en-US" sz="2400" dirty="0"/>
                  <a:t>を表すことになります。</a:t>
                </a:r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816388" cy="830997"/>
              </a:xfrm>
              <a:prstGeom prst="rect">
                <a:avLst/>
              </a:prstGeom>
              <a:blipFill>
                <a:blip r:embed="rId2"/>
                <a:stretch>
                  <a:fillRect l="-1037" t="-5147" r="-484" b="-1617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7EE88DD6-500D-4A71-8427-94D28611624D}"/>
              </a:ext>
            </a:extLst>
          </p:cNvPr>
          <p:cNvGrpSpPr/>
          <p:nvPr/>
        </p:nvGrpSpPr>
        <p:grpSpPr>
          <a:xfrm>
            <a:off x="567542" y="2267083"/>
            <a:ext cx="3828289" cy="3659780"/>
            <a:chOff x="567542" y="2780995"/>
            <a:chExt cx="3828289" cy="3659780"/>
          </a:xfrm>
        </p:grpSpPr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9AEFAA77-2123-4CD6-855F-F43BA3C49121}"/>
                </a:ext>
              </a:extLst>
            </p:cNvPr>
            <p:cNvGrpSpPr/>
            <p:nvPr/>
          </p:nvGrpSpPr>
          <p:grpSpPr>
            <a:xfrm>
              <a:off x="567542" y="3070370"/>
              <a:ext cx="3828289" cy="3370405"/>
              <a:chOff x="704674" y="2060686"/>
              <a:chExt cx="4278806" cy="3967992"/>
            </a:xfrm>
          </p:grpSpPr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8CEB023-0045-4F4C-91F1-F5F2B09202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4674" y="3976382"/>
                <a:ext cx="4278806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矢印コネクタ 16">
                <a:extLst>
                  <a:ext uri="{FF2B5EF4-FFF2-40B4-BE49-F238E27FC236}">
                    <a16:creationId xmlns:a16="http://schemas.microsoft.com/office/drawing/2014/main" id="{E6010284-A07B-47DE-8487-99C9C3495C1F}"/>
                  </a:ext>
                </a:extLst>
              </p:cNvPr>
              <p:cNvCxnSpPr/>
              <p:nvPr/>
            </p:nvCxnSpPr>
            <p:spPr>
              <a:xfrm flipV="1">
                <a:off x="2848692" y="2060686"/>
                <a:ext cx="0" cy="3967992"/>
              </a:xfrm>
              <a:prstGeom prst="straightConnector1">
                <a:avLst/>
              </a:prstGeom>
              <a:ln w="38100">
                <a:solidFill>
                  <a:srgbClr val="00B050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コネクタ 17">
                <a:extLst>
                  <a:ext uri="{FF2B5EF4-FFF2-40B4-BE49-F238E27FC236}">
                    <a16:creationId xmlns:a16="http://schemas.microsoft.com/office/drawing/2014/main" id="{F52CC515-78D1-49B0-8C44-041314B72DF0}"/>
                  </a:ext>
                </a:extLst>
              </p:cNvPr>
              <p:cNvCxnSpPr/>
              <p:nvPr/>
            </p:nvCxnSpPr>
            <p:spPr>
              <a:xfrm>
                <a:off x="3038475" y="388937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コネクタ 18">
                <a:extLst>
                  <a:ext uri="{FF2B5EF4-FFF2-40B4-BE49-F238E27FC236}">
                    <a16:creationId xmlns:a16="http://schemas.microsoft.com/office/drawing/2014/main" id="{0472B710-98C8-4112-A3F5-570BDE89C2B0}"/>
                  </a:ext>
                </a:extLst>
              </p:cNvPr>
              <p:cNvCxnSpPr/>
              <p:nvPr/>
            </p:nvCxnSpPr>
            <p:spPr>
              <a:xfrm>
                <a:off x="3190875" y="3895725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コネクタ 19">
                <a:extLst>
                  <a:ext uri="{FF2B5EF4-FFF2-40B4-BE49-F238E27FC236}">
                    <a16:creationId xmlns:a16="http://schemas.microsoft.com/office/drawing/2014/main" id="{C54BE837-5141-4A2D-B491-2C32D353D604}"/>
                  </a:ext>
                </a:extLst>
              </p:cNvPr>
              <p:cNvCxnSpPr/>
              <p:nvPr/>
            </p:nvCxnSpPr>
            <p:spPr>
              <a:xfrm>
                <a:off x="3343275" y="3898900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BEB7EC8A-C194-4285-BDE4-637C000198F2}"/>
                  </a:ext>
                </a:extLst>
              </p:cNvPr>
              <p:cNvCxnSpPr/>
              <p:nvPr/>
            </p:nvCxnSpPr>
            <p:spPr>
              <a:xfrm>
                <a:off x="3495675" y="389969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6F7EBD4B-B9A4-45E0-84F4-3F6C1271EF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48075" y="3857625"/>
                <a:ext cx="0" cy="254794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線コネクタ 22">
                <a:extLst>
                  <a:ext uri="{FF2B5EF4-FFF2-40B4-BE49-F238E27FC236}">
                    <a16:creationId xmlns:a16="http://schemas.microsoft.com/office/drawing/2014/main" id="{5D692FC6-F707-4F01-B60E-DB1639504B29}"/>
                  </a:ext>
                </a:extLst>
              </p:cNvPr>
              <p:cNvCxnSpPr/>
              <p:nvPr/>
            </p:nvCxnSpPr>
            <p:spPr>
              <a:xfrm>
                <a:off x="3800475" y="3906834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1B40132B-645B-4352-B78D-84B1931AB39F}"/>
                  </a:ext>
                </a:extLst>
              </p:cNvPr>
              <p:cNvCxnSpPr/>
              <p:nvPr/>
            </p:nvCxnSpPr>
            <p:spPr>
              <a:xfrm>
                <a:off x="3952875" y="3911593"/>
                <a:ext cx="0" cy="16510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62100F3E-42FF-4EB6-BF9E-2DA9F56DDF2E}"/>
                  </a:ext>
                </a:extLst>
              </p:cNvPr>
              <p:cNvGrpSpPr/>
              <p:nvPr/>
            </p:nvGrpSpPr>
            <p:grpSpPr>
              <a:xfrm rot="10800000">
                <a:off x="1749425" y="3844925"/>
                <a:ext cx="914400" cy="254794"/>
                <a:chOff x="1749425" y="3844925"/>
                <a:chExt cx="914400" cy="254794"/>
              </a:xfrm>
            </p:grpSpPr>
            <p:cxnSp>
              <p:nvCxnSpPr>
                <p:cNvPr id="42" name="直線コネクタ 41">
                  <a:extLst>
                    <a:ext uri="{FF2B5EF4-FFF2-40B4-BE49-F238E27FC236}">
                      <a16:creationId xmlns:a16="http://schemas.microsoft.com/office/drawing/2014/main" id="{24D89390-2B5D-4CA5-BE3C-5B95F350C3B4}"/>
                    </a:ext>
                  </a:extLst>
                </p:cNvPr>
                <p:cNvCxnSpPr/>
                <p:nvPr/>
              </p:nvCxnSpPr>
              <p:spPr>
                <a:xfrm>
                  <a:off x="1749425" y="38766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直線コネクタ 42">
                  <a:extLst>
                    <a:ext uri="{FF2B5EF4-FFF2-40B4-BE49-F238E27FC236}">
                      <a16:creationId xmlns:a16="http://schemas.microsoft.com/office/drawing/2014/main" id="{2A8B1227-6A06-462D-999B-41A615AEB97D}"/>
                    </a:ext>
                  </a:extLst>
                </p:cNvPr>
                <p:cNvCxnSpPr/>
                <p:nvPr/>
              </p:nvCxnSpPr>
              <p:spPr>
                <a:xfrm>
                  <a:off x="1901825" y="38830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直線コネクタ 43">
                  <a:extLst>
                    <a:ext uri="{FF2B5EF4-FFF2-40B4-BE49-F238E27FC236}">
                      <a16:creationId xmlns:a16="http://schemas.microsoft.com/office/drawing/2014/main" id="{4F5873EF-391A-44CC-B8D1-62DD603F0767}"/>
                    </a:ext>
                  </a:extLst>
                </p:cNvPr>
                <p:cNvCxnSpPr/>
                <p:nvPr/>
              </p:nvCxnSpPr>
              <p:spPr>
                <a:xfrm>
                  <a:off x="2054225" y="38862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直線コネクタ 44">
                  <a:extLst>
                    <a:ext uri="{FF2B5EF4-FFF2-40B4-BE49-F238E27FC236}">
                      <a16:creationId xmlns:a16="http://schemas.microsoft.com/office/drawing/2014/main" id="{1D3E54EE-4856-4335-8667-5092B183C2C1}"/>
                    </a:ext>
                  </a:extLst>
                </p:cNvPr>
                <p:cNvCxnSpPr/>
                <p:nvPr/>
              </p:nvCxnSpPr>
              <p:spPr>
                <a:xfrm>
                  <a:off x="2206625" y="38869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直線コネクタ 45">
                  <a:extLst>
                    <a:ext uri="{FF2B5EF4-FFF2-40B4-BE49-F238E27FC236}">
                      <a16:creationId xmlns:a16="http://schemas.microsoft.com/office/drawing/2014/main" id="{530A7A40-AC96-46F6-8D18-F56CFE33B5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359025" y="38449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線コネクタ 46">
                  <a:extLst>
                    <a:ext uri="{FF2B5EF4-FFF2-40B4-BE49-F238E27FC236}">
                      <a16:creationId xmlns:a16="http://schemas.microsoft.com/office/drawing/2014/main" id="{8D087793-F63E-4680-A8B2-8E52FC08A82C}"/>
                    </a:ext>
                  </a:extLst>
                </p:cNvPr>
                <p:cNvCxnSpPr/>
                <p:nvPr/>
              </p:nvCxnSpPr>
              <p:spPr>
                <a:xfrm>
                  <a:off x="2511425" y="38941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線コネクタ 47">
                  <a:extLst>
                    <a:ext uri="{FF2B5EF4-FFF2-40B4-BE49-F238E27FC236}">
                      <a16:creationId xmlns:a16="http://schemas.microsoft.com/office/drawing/2014/main" id="{6FE1C17F-E6F3-4A15-9962-E6D654F9A5F7}"/>
                    </a:ext>
                  </a:extLst>
                </p:cNvPr>
                <p:cNvCxnSpPr/>
                <p:nvPr/>
              </p:nvCxnSpPr>
              <p:spPr>
                <a:xfrm>
                  <a:off x="2663825" y="38988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" name="グループ化 25">
                <a:extLst>
                  <a:ext uri="{FF2B5EF4-FFF2-40B4-BE49-F238E27FC236}">
                    <a16:creationId xmlns:a16="http://schemas.microsoft.com/office/drawing/2014/main" id="{6B6067BD-B4C1-4729-9AB3-71343E114BB4}"/>
                  </a:ext>
                </a:extLst>
              </p:cNvPr>
              <p:cNvGrpSpPr/>
              <p:nvPr/>
            </p:nvGrpSpPr>
            <p:grpSpPr>
              <a:xfrm rot="16200000">
                <a:off x="2409825" y="321627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35" name="直線コネクタ 34">
                  <a:extLst>
                    <a:ext uri="{FF2B5EF4-FFF2-40B4-BE49-F238E27FC236}">
                      <a16:creationId xmlns:a16="http://schemas.microsoft.com/office/drawing/2014/main" id="{A980230B-54A7-404E-9844-ED57325FE2CD}"/>
                    </a:ext>
                  </a:extLst>
                </p:cNvPr>
                <p:cNvCxnSpPr/>
                <p:nvPr/>
              </p:nvCxnSpPr>
              <p:spPr>
                <a:xfrm>
                  <a:off x="3190875" y="404177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" name="直線コネクタ 35">
                  <a:extLst>
                    <a:ext uri="{FF2B5EF4-FFF2-40B4-BE49-F238E27FC236}">
                      <a16:creationId xmlns:a16="http://schemas.microsoft.com/office/drawing/2014/main" id="{2241E0D3-07CE-4869-A244-4CB869CD3C11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直線コネクタ 36">
                  <a:extLst>
                    <a:ext uri="{FF2B5EF4-FFF2-40B4-BE49-F238E27FC236}">
                      <a16:creationId xmlns:a16="http://schemas.microsoft.com/office/drawing/2014/main" id="{B795A842-1FF7-4426-AE86-5EB591B54713}"/>
                    </a:ext>
                  </a:extLst>
                </p:cNvPr>
                <p:cNvCxnSpPr/>
                <p:nvPr/>
              </p:nvCxnSpPr>
              <p:spPr>
                <a:xfrm>
                  <a:off x="3495675" y="404415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線コネクタ 37">
                  <a:extLst>
                    <a:ext uri="{FF2B5EF4-FFF2-40B4-BE49-F238E27FC236}">
                      <a16:creationId xmlns:a16="http://schemas.microsoft.com/office/drawing/2014/main" id="{C24B007F-CB96-4BE4-96E1-97A29C8E1982}"/>
                    </a:ext>
                  </a:extLst>
                </p:cNvPr>
                <p:cNvCxnSpPr/>
                <p:nvPr/>
              </p:nvCxnSpPr>
              <p:spPr>
                <a:xfrm>
                  <a:off x="3648075" y="404257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" name="直線コネクタ 38">
                  <a:extLst>
                    <a:ext uri="{FF2B5EF4-FFF2-40B4-BE49-F238E27FC236}">
                      <a16:creationId xmlns:a16="http://schemas.microsoft.com/office/drawing/2014/main" id="{F0C8198F-E237-4B7C-A2E6-605358CA6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直線コネクタ 39">
                  <a:extLst>
                    <a:ext uri="{FF2B5EF4-FFF2-40B4-BE49-F238E27FC236}">
                      <a16:creationId xmlns:a16="http://schemas.microsoft.com/office/drawing/2014/main" id="{E4B51F7E-4474-4DE8-8A50-09D1982E8B0A}"/>
                    </a:ext>
                  </a:extLst>
                </p:cNvPr>
                <p:cNvCxnSpPr/>
                <p:nvPr/>
              </p:nvCxnSpPr>
              <p:spPr>
                <a:xfrm>
                  <a:off x="3952875" y="404256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直線コネクタ 40">
                  <a:extLst>
                    <a:ext uri="{FF2B5EF4-FFF2-40B4-BE49-F238E27FC236}">
                      <a16:creationId xmlns:a16="http://schemas.microsoft.com/office/drawing/2014/main" id="{B8539103-8194-40B3-999D-1423AD905509}"/>
                    </a:ext>
                  </a:extLst>
                </p:cNvPr>
                <p:cNvCxnSpPr/>
                <p:nvPr/>
              </p:nvCxnSpPr>
              <p:spPr>
                <a:xfrm>
                  <a:off x="4105275" y="404494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7" name="グループ化 26">
                <a:extLst>
                  <a:ext uri="{FF2B5EF4-FFF2-40B4-BE49-F238E27FC236}">
                    <a16:creationId xmlns:a16="http://schemas.microsoft.com/office/drawing/2014/main" id="{9226BA55-B0EE-48A3-89C8-58CF8CA3AB40}"/>
                  </a:ext>
                </a:extLst>
              </p:cNvPr>
              <p:cNvGrpSpPr/>
              <p:nvPr/>
            </p:nvGrpSpPr>
            <p:grpSpPr>
              <a:xfrm rot="5400000">
                <a:off x="2391568" y="4518025"/>
                <a:ext cx="914400" cy="254794"/>
                <a:chOff x="3190875" y="4010025"/>
                <a:chExt cx="914400" cy="254794"/>
              </a:xfrm>
            </p:grpSpPr>
            <p:cxnSp>
              <p:nvCxnSpPr>
                <p:cNvPr id="28" name="直線コネクタ 27">
                  <a:extLst>
                    <a:ext uri="{FF2B5EF4-FFF2-40B4-BE49-F238E27FC236}">
                      <a16:creationId xmlns:a16="http://schemas.microsoft.com/office/drawing/2014/main" id="{532DBCE7-B406-4046-B2A0-9654272364D7}"/>
                    </a:ext>
                  </a:extLst>
                </p:cNvPr>
                <p:cNvCxnSpPr/>
                <p:nvPr/>
              </p:nvCxnSpPr>
              <p:spPr>
                <a:xfrm>
                  <a:off x="3190875" y="4046537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コネクタ 28">
                  <a:extLst>
                    <a:ext uri="{FF2B5EF4-FFF2-40B4-BE49-F238E27FC236}">
                      <a16:creationId xmlns:a16="http://schemas.microsoft.com/office/drawing/2014/main" id="{C758BD08-17C1-474E-91BF-A8743DD260B2}"/>
                    </a:ext>
                  </a:extLst>
                </p:cNvPr>
                <p:cNvCxnSpPr/>
                <p:nvPr/>
              </p:nvCxnSpPr>
              <p:spPr>
                <a:xfrm>
                  <a:off x="3343275" y="4048125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" name="直線コネクタ 29">
                  <a:extLst>
                    <a:ext uri="{FF2B5EF4-FFF2-40B4-BE49-F238E27FC236}">
                      <a16:creationId xmlns:a16="http://schemas.microsoft.com/office/drawing/2014/main" id="{2F10737D-6AFB-4EB2-A7CF-6F12C47DFE83}"/>
                    </a:ext>
                  </a:extLst>
                </p:cNvPr>
                <p:cNvCxnSpPr/>
                <p:nvPr/>
              </p:nvCxnSpPr>
              <p:spPr>
                <a:xfrm>
                  <a:off x="3495675" y="4051300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線コネクタ 30">
                  <a:extLst>
                    <a:ext uri="{FF2B5EF4-FFF2-40B4-BE49-F238E27FC236}">
                      <a16:creationId xmlns:a16="http://schemas.microsoft.com/office/drawing/2014/main" id="{DBF3F445-4BDD-44AB-83FE-A52F4B37D65F}"/>
                    </a:ext>
                  </a:extLst>
                </p:cNvPr>
                <p:cNvCxnSpPr/>
                <p:nvPr/>
              </p:nvCxnSpPr>
              <p:spPr>
                <a:xfrm>
                  <a:off x="3648075" y="405209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直線コネクタ 31">
                  <a:extLst>
                    <a:ext uri="{FF2B5EF4-FFF2-40B4-BE49-F238E27FC236}">
                      <a16:creationId xmlns:a16="http://schemas.microsoft.com/office/drawing/2014/main" id="{F61789EA-5C9E-4287-A3D0-3EE7AA0163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800475" y="4010025"/>
                  <a:ext cx="0" cy="25479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直線コネクタ 32">
                  <a:extLst>
                    <a:ext uri="{FF2B5EF4-FFF2-40B4-BE49-F238E27FC236}">
                      <a16:creationId xmlns:a16="http://schemas.microsoft.com/office/drawing/2014/main" id="{B2A5E40F-20CA-4D79-B4BC-B3DFBE5EFC1F}"/>
                    </a:ext>
                  </a:extLst>
                </p:cNvPr>
                <p:cNvCxnSpPr/>
                <p:nvPr/>
              </p:nvCxnSpPr>
              <p:spPr>
                <a:xfrm>
                  <a:off x="3952875" y="4059234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直線コネクタ 33">
                  <a:extLst>
                    <a:ext uri="{FF2B5EF4-FFF2-40B4-BE49-F238E27FC236}">
                      <a16:creationId xmlns:a16="http://schemas.microsoft.com/office/drawing/2014/main" id="{0FC1B934-BF3E-408C-9118-5B343AF233F6}"/>
                    </a:ext>
                  </a:extLst>
                </p:cNvPr>
                <p:cNvCxnSpPr/>
                <p:nvPr/>
              </p:nvCxnSpPr>
              <p:spPr>
                <a:xfrm>
                  <a:off x="4105275" y="4063993"/>
                  <a:ext cx="0" cy="1651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903C2FE1-9BFC-4290-8506-E9E00376A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56289" y="3070371"/>
              <a:ext cx="0" cy="3370404"/>
            </a:xfrm>
            <a:prstGeom prst="line">
              <a:avLst/>
            </a:prstGeom>
            <a:ln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/>
                <p:nvPr/>
              </p:nvSpPr>
              <p:spPr>
                <a:xfrm>
                  <a:off x="2727758" y="2780995"/>
                  <a:ext cx="671402" cy="30777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1400" b="0" i="1" dirty="0" smtClean="0">
                            <a:latin typeface="Cambria Math" panose="02040503050406030204" pitchFamily="18" charset="0"/>
                          </a:rPr>
                          <m:t>=4</m:t>
                        </m:r>
                      </m:oMath>
                    </m:oMathPara>
                  </a14:m>
                  <a:endParaRPr kumimoji="1" lang="en-US" altLang="ja-JP" sz="1400" dirty="0"/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4D644903-5416-4E44-8AA4-6987CE6750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27758" y="2780995"/>
                  <a:ext cx="671402" cy="30777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66056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直線</a:t>
            </a:r>
            <a:r>
              <a:rPr kumimoji="1" lang="ja-JP" altLang="en-US" sz="3200" b="1" u="sng" dirty="0"/>
              <a:t>の定義 練習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955750" cy="23975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ja-JP" altLang="en-US" sz="2400" i="1" dirty="0" smtClean="0">
                        <a:latin typeface="Cambria Math" panose="02040503050406030204" pitchFamily="18" charset="0"/>
                      </a:rPr>
                      <m:t>以下の</m:t>
                    </m:r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式が</m:t>
                    </m:r>
                  </m:oMath>
                </a14:m>
                <a:r>
                  <a:rPr lang="ja-JP" altLang="en-US" sz="2400" dirty="0"/>
                  <a:t>直線で定義できるかどうか答えなさい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endParaRPr lang="en-US" altLang="ja-JP" sz="2400" dirty="0"/>
              </a:p>
              <a:p>
                <a:r>
                  <a:rPr lang="ja-JP" altLang="en-US" sz="2400" dirty="0"/>
                  <a:t>④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955750" cy="2397516"/>
              </a:xfrm>
              <a:prstGeom prst="rect">
                <a:avLst/>
              </a:prstGeom>
              <a:blipFill>
                <a:blip r:embed="rId2"/>
                <a:stretch>
                  <a:fillRect l="-1315" t="-2036" r="-438" b="-152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81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</TotalTime>
  <Words>675</Words>
  <Application>Microsoft Office PowerPoint</Application>
  <PresentationFormat>ワイド画面</PresentationFormat>
  <Paragraphs>89</Paragraphs>
  <Slides>11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6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情報北九州校 倉掛</cp:lastModifiedBy>
  <cp:revision>29</cp:revision>
  <dcterms:created xsi:type="dcterms:W3CDTF">2024-08-27T02:15:54Z</dcterms:created>
  <dcterms:modified xsi:type="dcterms:W3CDTF">2025-06-10T02:48:25Z</dcterms:modified>
</cp:coreProperties>
</file>