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95575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円</a:t>
                </a:r>
                <a:r>
                  <a:rPr kumimoji="1" lang="ja-JP" altLang="en-US" sz="2400" dirty="0"/>
                  <a:t>においても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方程式で定義</a:t>
                </a:r>
                <a:r>
                  <a:rPr kumimoji="1" lang="ja-JP" altLang="en-US" sz="2400" dirty="0"/>
                  <a:t>することができます。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■円の方程式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kumimoji="1" lang="ja-JP" altLang="en-US" sz="2400" dirty="0"/>
                  <a:t>このとき円の中心座標は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、半径は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00B050"/>
                    </a:solidFill>
                  </a:rPr>
                  <a:t>MEMO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:r>
                  <a:rPr kumimoji="1"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の円は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955750" cy="3416320"/>
              </a:xfrm>
              <a:prstGeom prst="rect">
                <a:avLst/>
              </a:prstGeom>
              <a:blipFill>
                <a:blip r:embed="rId2"/>
                <a:stretch>
                  <a:fillRect l="-1315" t="-1429" r="-438" b="-3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42072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kumimoji="1" lang="ja-JP" altLang="en-US" sz="2400" dirty="0"/>
                  <a:t>の中心座標と半径を求めなさい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より、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中心座標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kumimoji="1" lang="ja-JP" altLang="en-US" sz="2400" dirty="0"/>
                  <a:t>また半径は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kumimoji="1" lang="ja-JP" altLang="en-US" sz="2400" dirty="0"/>
                  <a:t>となるので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rad>
                  </m:oMath>
                </a14:m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放物線と同様に座標のプラスマイナスに気をつけましょう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半径を求める際に平方根を忘れないようにしましょう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4207242"/>
              </a:xfrm>
              <a:prstGeom prst="rect">
                <a:avLst/>
              </a:prstGeom>
              <a:blipFill>
                <a:blip r:embed="rId2"/>
                <a:stretch>
                  <a:fillRect l="-1076" t="-1014" r="-143" b="-24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16EE33E-7227-4354-956A-02BDEE19B5CB}"/>
              </a:ext>
            </a:extLst>
          </p:cNvPr>
          <p:cNvGrpSpPr/>
          <p:nvPr/>
        </p:nvGrpSpPr>
        <p:grpSpPr>
          <a:xfrm>
            <a:off x="7686380" y="1711355"/>
            <a:ext cx="2533475" cy="2499919"/>
            <a:chOff x="7795437" y="1610686"/>
            <a:chExt cx="2533475" cy="2499919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4A81BF23-E7B8-4DCE-A0CC-36473D3662DE}"/>
                </a:ext>
              </a:extLst>
            </p:cNvPr>
            <p:cNvSpPr/>
            <p:nvPr/>
          </p:nvSpPr>
          <p:spPr>
            <a:xfrm>
              <a:off x="7795437" y="1610686"/>
              <a:ext cx="2533475" cy="249991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AAA8EABB-5FF2-42B9-A8AA-3EA98832387E}"/>
                </a:ext>
              </a:extLst>
            </p:cNvPr>
            <p:cNvSpPr/>
            <p:nvPr/>
          </p:nvSpPr>
          <p:spPr>
            <a:xfrm>
              <a:off x="9027585" y="2827026"/>
              <a:ext cx="69177" cy="672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2ED17A0B-07A8-4EFF-8AC3-A38F4F33D52A}"/>
                    </a:ext>
                  </a:extLst>
                </p:cNvPr>
                <p:cNvSpPr txBox="1"/>
                <p:nvPr/>
              </p:nvSpPr>
              <p:spPr>
                <a:xfrm>
                  <a:off x="8140294" y="2457694"/>
                  <a:ext cx="9581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2ED17A0B-07A8-4EFF-8AC3-A38F4F33D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0294" y="2457694"/>
                  <a:ext cx="95814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F850C14B-74FD-4077-9837-F1ECD4E7C646}"/>
                </a:ext>
              </a:extLst>
            </p:cNvPr>
            <p:cNvCxnSpPr>
              <a:cxnSpLocks/>
              <a:endCxn id="2" idx="6"/>
            </p:cNvCxnSpPr>
            <p:nvPr/>
          </p:nvCxnSpPr>
          <p:spPr>
            <a:xfrm>
              <a:off x="9096762" y="2860644"/>
              <a:ext cx="1232150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D76278C-822C-4F60-B183-EF42A76BFC38}"/>
                    </a:ext>
                  </a:extLst>
                </p:cNvPr>
                <p:cNvSpPr txBox="1"/>
                <p:nvPr/>
              </p:nvSpPr>
              <p:spPr>
                <a:xfrm>
                  <a:off x="9488935" y="2860644"/>
                  <a:ext cx="3786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en-US" altLang="ja-JP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D76278C-822C-4F60-B183-EF42A76BF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8935" y="2860644"/>
                  <a:ext cx="37862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297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416868" cy="22526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次の円の中心座標と半径を求めなさい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−30)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ja-JP" sz="2400" b="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kumimoji="1" lang="en-US" altLang="ja-JP" sz="2400" dirty="0"/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416868" cy="2252668"/>
              </a:xfrm>
              <a:prstGeom prst="rect">
                <a:avLst/>
              </a:prstGeom>
              <a:blipFill>
                <a:blip r:embed="rId2"/>
                <a:stretch>
                  <a:fillRect l="-1912" t="-2168" r="-787" b="-65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80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２点間の距離の計算ができるようになったので、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円の中心座標と円上の１点の座標</a:t>
            </a:r>
            <a:r>
              <a:rPr lang="ja-JP" altLang="en-US" sz="2400" dirty="0"/>
              <a:t>から</a:t>
            </a:r>
            <a:r>
              <a:rPr lang="ja-JP" altLang="en-US" sz="2400" b="1" dirty="0">
                <a:solidFill>
                  <a:srgbClr val="FF0000"/>
                </a:solidFill>
              </a:rPr>
              <a:t>円の方程式</a:t>
            </a:r>
            <a:r>
              <a:rPr lang="ja-JP" altLang="en-US" sz="2400" dirty="0"/>
              <a:t>を求められます。</a:t>
            </a:r>
            <a:endParaRPr lang="en-US" altLang="ja-JP" sz="2400" dirty="0"/>
          </a:p>
          <a:p>
            <a:r>
              <a:rPr lang="ja-JP" altLang="en-US" sz="2400" dirty="0"/>
              <a:t>以下のような場合の例題を見ていきましょう。</a:t>
            </a:r>
            <a:endParaRPr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C68CF63-DCFE-448F-AF1A-C8DABE0C6F40}"/>
              </a:ext>
            </a:extLst>
          </p:cNvPr>
          <p:cNvGrpSpPr/>
          <p:nvPr/>
        </p:nvGrpSpPr>
        <p:grpSpPr>
          <a:xfrm>
            <a:off x="567542" y="2788117"/>
            <a:ext cx="3790295" cy="2910979"/>
            <a:chOff x="567542" y="2788117"/>
            <a:chExt cx="3790295" cy="2910979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C87B8273-ADCA-4B52-8382-F9108228DBEE}"/>
                </a:ext>
              </a:extLst>
            </p:cNvPr>
            <p:cNvSpPr/>
            <p:nvPr/>
          </p:nvSpPr>
          <p:spPr>
            <a:xfrm>
              <a:off x="567542" y="2788117"/>
              <a:ext cx="2978091" cy="291097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8B742792-3758-440B-8A47-6FC6AF23B05D}"/>
                </a:ext>
              </a:extLst>
            </p:cNvPr>
            <p:cNvSpPr/>
            <p:nvPr/>
          </p:nvSpPr>
          <p:spPr>
            <a:xfrm>
              <a:off x="2023031" y="4193272"/>
              <a:ext cx="117446" cy="1006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311FD50-CFF3-4E25-A534-925309267B0A}"/>
                </a:ext>
              </a:extLst>
            </p:cNvPr>
            <p:cNvSpPr/>
            <p:nvPr/>
          </p:nvSpPr>
          <p:spPr>
            <a:xfrm>
              <a:off x="3257610" y="3422883"/>
              <a:ext cx="117446" cy="1006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E0463B3D-3CDB-41A9-97F5-DD1FF36ED7B7}"/>
                    </a:ext>
                  </a:extLst>
                </p:cNvPr>
                <p:cNvSpPr txBox="1"/>
                <p:nvPr/>
              </p:nvSpPr>
              <p:spPr>
                <a:xfrm>
                  <a:off x="1275428" y="4293940"/>
                  <a:ext cx="10415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E0463B3D-3CDB-41A9-97F5-DD1FF36ED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5428" y="4293940"/>
                  <a:ext cx="104150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A0629ED6-A209-435D-A99E-5B900D8EDE50}"/>
                    </a:ext>
                  </a:extLst>
                </p:cNvPr>
                <p:cNvSpPr txBox="1"/>
                <p:nvPr/>
              </p:nvSpPr>
              <p:spPr>
                <a:xfrm>
                  <a:off x="3316333" y="3238217"/>
                  <a:ext cx="10415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A0629ED6-A209-435D-A99E-5B900D8ED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333" y="3238217"/>
                  <a:ext cx="104150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31362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008783" cy="2160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ja-JP" altLang="en-US" sz="2400" dirty="0"/>
                  <a:t>で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</m:d>
                  </m:oMath>
                </a14:m>
                <a:r>
                  <a:rPr lang="ja-JP" altLang="en-US" sz="2400" dirty="0"/>
                  <a:t>を通過する円の方程式を求めなさい。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円の半径は中心座標から円上の座標となるため、２点間の距離の公式から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60−20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80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1600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2500</m:t>
                        </m:r>
                      </m:e>
                    </m:ra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008783" cy="2160656"/>
              </a:xfrm>
              <a:prstGeom prst="rect">
                <a:avLst/>
              </a:prstGeom>
              <a:blipFill>
                <a:blip r:embed="rId2"/>
                <a:stretch>
                  <a:fillRect l="-831" t="-2260" b="-56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D606F5E-F6E1-4368-BC77-53C8634A90C7}"/>
              </a:ext>
            </a:extLst>
          </p:cNvPr>
          <p:cNvGrpSpPr/>
          <p:nvPr/>
        </p:nvGrpSpPr>
        <p:grpSpPr>
          <a:xfrm>
            <a:off x="567542" y="3708563"/>
            <a:ext cx="3790295" cy="2910979"/>
            <a:chOff x="567542" y="2788117"/>
            <a:chExt cx="3790295" cy="2910979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07CF1612-33A8-4B1A-8181-9DA55884045E}"/>
                </a:ext>
              </a:extLst>
            </p:cNvPr>
            <p:cNvSpPr/>
            <p:nvPr/>
          </p:nvSpPr>
          <p:spPr>
            <a:xfrm>
              <a:off x="567542" y="2788117"/>
              <a:ext cx="2978091" cy="291097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0B40F0A-E0AB-4774-B138-F44EDE99D831}"/>
                </a:ext>
              </a:extLst>
            </p:cNvPr>
            <p:cNvSpPr/>
            <p:nvPr/>
          </p:nvSpPr>
          <p:spPr>
            <a:xfrm>
              <a:off x="2023031" y="4193272"/>
              <a:ext cx="117446" cy="1006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00D7C04-502F-4179-AF66-4245E5032C90}"/>
                </a:ext>
              </a:extLst>
            </p:cNvPr>
            <p:cNvSpPr/>
            <p:nvPr/>
          </p:nvSpPr>
          <p:spPr>
            <a:xfrm>
              <a:off x="3257610" y="3422883"/>
              <a:ext cx="117446" cy="1006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8EF0469E-1413-43EC-B6BB-994725CA618B}"/>
                    </a:ext>
                  </a:extLst>
                </p:cNvPr>
                <p:cNvSpPr txBox="1"/>
                <p:nvPr/>
              </p:nvSpPr>
              <p:spPr>
                <a:xfrm>
                  <a:off x="1275428" y="4293940"/>
                  <a:ext cx="10415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8EF0469E-1413-43EC-B6BB-994725CA6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5428" y="4293940"/>
                  <a:ext cx="104150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21E7F690-1CBC-47E1-BFB3-1F501C92B66C}"/>
                    </a:ext>
                  </a:extLst>
                </p:cNvPr>
                <p:cNvSpPr txBox="1"/>
                <p:nvPr/>
              </p:nvSpPr>
              <p:spPr>
                <a:xfrm>
                  <a:off x="3316333" y="3238217"/>
                  <a:ext cx="10415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21E7F690-1CBC-47E1-BFB3-1F501C92B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333" y="3238217"/>
                  <a:ext cx="104150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4C47F27-934F-4C10-AF6F-E30DA6268C79}"/>
              </a:ext>
            </a:extLst>
          </p:cNvPr>
          <p:cNvCxnSpPr>
            <a:stCxn id="12" idx="7"/>
            <a:endCxn id="13" idx="3"/>
          </p:cNvCxnSpPr>
          <p:nvPr/>
        </p:nvCxnSpPr>
        <p:spPr>
          <a:xfrm flipV="1">
            <a:off x="2123277" y="4429255"/>
            <a:ext cx="1151533" cy="699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3A8D6E8-A644-4D78-B64D-AB2F3CDA429D}"/>
                  </a:ext>
                </a:extLst>
              </p:cNvPr>
              <p:cNvSpPr txBox="1"/>
              <p:nvPr/>
            </p:nvSpPr>
            <p:spPr>
              <a:xfrm>
                <a:off x="1957570" y="4363939"/>
                <a:ext cx="914930" cy="407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ja-JP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2500</m:t>
                          </m:r>
                        </m:e>
                      </m:rad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3A8D6E8-A644-4D78-B64D-AB2F3CDA4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570" y="4363939"/>
                <a:ext cx="914930" cy="407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72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61409" cy="41935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ja-JP" altLang="en-US" sz="2400" dirty="0"/>
                  <a:t>で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</m:d>
                  </m:oMath>
                </a14:m>
                <a:r>
                  <a:rPr lang="ja-JP" altLang="en-US" sz="2400" dirty="0"/>
                  <a:t>を通過する円の方程式を求めなさい。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■解答（つづき）</a:t>
                </a:r>
                <a:endParaRPr lang="en-US" altLang="ja-JP" sz="2400" dirty="0"/>
              </a:p>
              <a:p>
                <a:r>
                  <a:rPr lang="ja-JP" altLang="en-US" sz="2400" dirty="0"/>
                  <a:t>中心座標は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ja-JP" altLang="en-US" sz="2400" dirty="0"/>
                  <a:t>のため円の方程式に代入すると、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−20)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また半径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ja-JP" altLang="en-US" sz="2400" dirty="0"/>
                  <a:t>が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2500</m:t>
                        </m:r>
                      </m:e>
                    </m:rad>
                  </m:oMath>
                </a14:m>
                <a:r>
                  <a:rPr kumimoji="1" lang="ja-JP" altLang="en-US" sz="2400" dirty="0"/>
                  <a:t>のため</a:t>
                </a:r>
                <a:r>
                  <a:rPr kumimoji="1"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2500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よって円の方程式は、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𝟐𝟓𝟎𝟎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61409" cy="4193520"/>
              </a:xfrm>
              <a:prstGeom prst="rect">
                <a:avLst/>
              </a:prstGeom>
              <a:blipFill>
                <a:blip r:embed="rId2"/>
                <a:stretch>
                  <a:fillRect l="-977" t="-1164" b="-27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07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592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−10, 40)</m:t>
                    </m:r>
                  </m:oMath>
                </a14:m>
                <a:r>
                  <a:rPr lang="ja-JP" altLang="en-US" sz="2400" dirty="0"/>
                  <a:t>で座標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を通る円の方程式を求めなさい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592691" cy="461665"/>
              </a:xfrm>
              <a:prstGeom prst="rect">
                <a:avLst/>
              </a:prstGeom>
              <a:blipFill>
                <a:blip r:embed="rId2"/>
                <a:stretch>
                  <a:fillRect l="-953" t="-10667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93A722B-0D65-4F20-8FA8-3A49D7354D4D}"/>
              </a:ext>
            </a:extLst>
          </p:cNvPr>
          <p:cNvGrpSpPr/>
          <p:nvPr/>
        </p:nvGrpSpPr>
        <p:grpSpPr>
          <a:xfrm>
            <a:off x="674222" y="2369017"/>
            <a:ext cx="3790295" cy="2910979"/>
            <a:chOff x="567542" y="2788117"/>
            <a:chExt cx="3790295" cy="2910979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2969F4B5-07AC-4168-B9D6-235DA93F2390}"/>
                </a:ext>
              </a:extLst>
            </p:cNvPr>
            <p:cNvSpPr/>
            <p:nvPr/>
          </p:nvSpPr>
          <p:spPr>
            <a:xfrm>
              <a:off x="567542" y="2788117"/>
              <a:ext cx="2978091" cy="291097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A78D3A8B-3669-4C7D-A950-13C7799E029B}"/>
                </a:ext>
              </a:extLst>
            </p:cNvPr>
            <p:cNvSpPr/>
            <p:nvPr/>
          </p:nvSpPr>
          <p:spPr>
            <a:xfrm>
              <a:off x="2023031" y="4193272"/>
              <a:ext cx="117446" cy="1006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A0370DF-0881-4155-A479-55CE0090C758}"/>
                </a:ext>
              </a:extLst>
            </p:cNvPr>
            <p:cNvSpPr/>
            <p:nvPr/>
          </p:nvSpPr>
          <p:spPr>
            <a:xfrm>
              <a:off x="3257610" y="3422883"/>
              <a:ext cx="117446" cy="1006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2365D092-1289-4A19-ABE4-2B110A662950}"/>
                    </a:ext>
                  </a:extLst>
                </p:cNvPr>
                <p:cNvSpPr txBox="1"/>
                <p:nvPr/>
              </p:nvSpPr>
              <p:spPr>
                <a:xfrm>
                  <a:off x="1275428" y="4293940"/>
                  <a:ext cx="12146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2365D092-1289-4A19-ABE4-2B110A662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5428" y="4293940"/>
                  <a:ext cx="121462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EA3253E5-6437-4724-AF4C-9AEEDCAE7299}"/>
                    </a:ext>
                  </a:extLst>
                </p:cNvPr>
                <p:cNvSpPr txBox="1"/>
                <p:nvPr/>
              </p:nvSpPr>
              <p:spPr>
                <a:xfrm>
                  <a:off x="3316333" y="3238217"/>
                  <a:ext cx="10415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altLang="ja-JP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oMath>
                    </m:oMathPara>
                  </a14:m>
                  <a:endParaRPr kumimoji="1"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EA3253E5-6437-4724-AF4C-9AEEDCAE7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333" y="3238217"/>
                  <a:ext cx="104150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669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円と球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4B72C58-5BCD-4D76-BE38-BC1D0000537C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17248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球</a:t>
                </a:r>
                <a:r>
                  <a:rPr lang="ja-JP" altLang="en-US" sz="2400" dirty="0"/>
                  <a:t>は</a:t>
                </a:r>
                <a:r>
                  <a:rPr kumimoji="1" lang="ja-JP" altLang="en-US" sz="2400" dirty="0"/>
                  <a:t>円を</a:t>
                </a:r>
                <a:r>
                  <a:rPr kumimoji="1" lang="en-US" altLang="ja-JP" sz="2400" dirty="0"/>
                  <a:t>3D</a:t>
                </a:r>
                <a:r>
                  <a:rPr kumimoji="1" lang="ja-JP" altLang="en-US" sz="2400" dirty="0"/>
                  <a:t>にしたものです。方程式も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軸が追加されたものになります。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■球の方程式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kumimoji="1" lang="ja-JP" altLang="en-US" sz="2400" dirty="0"/>
                  <a:t>このとき円の中心座標は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、半径は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ja-JP" altLang="en-US" sz="2400" dirty="0"/>
                  <a:t>となる</a:t>
                </a:r>
              </a:p>
              <a:p>
                <a:pPr>
                  <a:lnSpc>
                    <a:spcPct val="150000"/>
                  </a:lnSpc>
                </a:pPr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00B050"/>
                    </a:solidFill>
                  </a:rPr>
                  <a:t>MEMO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:r>
                  <a:rPr kumimoji="1"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の球は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4B72C58-5BCD-4D76-BE38-BC1D00005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17248" cy="3416320"/>
              </a:xfrm>
              <a:prstGeom prst="rect">
                <a:avLst/>
              </a:prstGeom>
              <a:blipFill>
                <a:blip r:embed="rId2"/>
                <a:stretch>
                  <a:fillRect l="-886" t="-1429" b="-3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97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454</Words>
  <Application>Microsoft Office PowerPoint</Application>
  <PresentationFormat>ワイド画面</PresentationFormat>
  <Paragraphs>68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60</cp:revision>
  <dcterms:created xsi:type="dcterms:W3CDTF">2024-08-27T02:15:54Z</dcterms:created>
  <dcterms:modified xsi:type="dcterms:W3CDTF">2024-10-03T06:57:25Z</dcterms:modified>
</cp:coreProperties>
</file>