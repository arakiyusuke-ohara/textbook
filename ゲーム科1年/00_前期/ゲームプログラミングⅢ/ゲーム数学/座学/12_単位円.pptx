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3" r:id="rId7"/>
    <p:sldId id="264"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9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2025/6/26</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2025/6/26</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2025/6/26</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2025/6/26</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2025/6/26</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2025/6/26</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2025/6/26</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2025/6/26</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2025/6/26</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2025/6/26</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2025/6/26</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2025/6/26</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単位円</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263527" cy="461665"/>
          </a:xfrm>
          <a:prstGeom prst="rect">
            <a:avLst/>
          </a:prstGeom>
          <a:noFill/>
        </p:spPr>
        <p:txBody>
          <a:bodyPr wrap="none" rtlCol="0">
            <a:spAutoFit/>
          </a:bodyPr>
          <a:lstStyle/>
          <a:p>
            <a:r>
              <a:rPr lang="ja-JP" altLang="en-US" sz="2400" b="1" dirty="0">
                <a:solidFill>
                  <a:srgbClr val="FF0000"/>
                </a:solidFill>
              </a:rPr>
              <a:t>単位円</a:t>
            </a:r>
            <a:r>
              <a:rPr lang="ja-JP" altLang="en-US" sz="2400" dirty="0"/>
              <a:t>とは</a:t>
            </a:r>
            <a:r>
              <a:rPr lang="ja-JP" altLang="en-US" sz="2400" b="1" dirty="0">
                <a:solidFill>
                  <a:srgbClr val="FF0000"/>
                </a:solidFill>
              </a:rPr>
              <a:t>半径の長さが１の円</a:t>
            </a:r>
            <a:r>
              <a:rPr lang="ja-JP" altLang="en-US" sz="2400" dirty="0"/>
              <a:t>のことを言います。</a:t>
            </a:r>
            <a:endParaRPr lang="en-US" altLang="ja-JP" sz="2400" dirty="0"/>
          </a:p>
        </p:txBody>
      </p:sp>
      <p:grpSp>
        <p:nvGrpSpPr>
          <p:cNvPr id="9" name="グループ化 8">
            <a:extLst>
              <a:ext uri="{FF2B5EF4-FFF2-40B4-BE49-F238E27FC236}">
                <a16:creationId xmlns:a16="http://schemas.microsoft.com/office/drawing/2014/main" id="{270E4431-B0D5-47AB-8409-E6C3D596DE46}"/>
              </a:ext>
            </a:extLst>
          </p:cNvPr>
          <p:cNvGrpSpPr/>
          <p:nvPr/>
        </p:nvGrpSpPr>
        <p:grpSpPr>
          <a:xfrm>
            <a:off x="567542" y="1817794"/>
            <a:ext cx="3240000" cy="3240000"/>
            <a:chOff x="567542" y="1817794"/>
            <a:chExt cx="3240000" cy="3240000"/>
          </a:xfrm>
        </p:grpSpPr>
        <p:sp>
          <p:nvSpPr>
            <p:cNvPr id="2" name="楕円 1">
              <a:extLst>
                <a:ext uri="{FF2B5EF4-FFF2-40B4-BE49-F238E27FC236}">
                  <a16:creationId xmlns:a16="http://schemas.microsoft.com/office/drawing/2014/main" id="{AAED7805-C5C0-493E-B09A-1C8E588B73CE}"/>
                </a:ext>
              </a:extLst>
            </p:cNvPr>
            <p:cNvSpPr/>
            <p:nvPr/>
          </p:nvSpPr>
          <p:spPr>
            <a:xfrm>
              <a:off x="567542" y="1817794"/>
              <a:ext cx="3240000" cy="324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直線コネクタ 4">
              <a:extLst>
                <a:ext uri="{FF2B5EF4-FFF2-40B4-BE49-F238E27FC236}">
                  <a16:creationId xmlns:a16="http://schemas.microsoft.com/office/drawing/2014/main" id="{B81B389E-8653-4834-A014-04076D3C5B45}"/>
                </a:ext>
              </a:extLst>
            </p:cNvPr>
            <p:cNvCxnSpPr>
              <a:cxnSpLocks/>
              <a:stCxn id="2" idx="7"/>
            </p:cNvCxnSpPr>
            <p:nvPr/>
          </p:nvCxnSpPr>
          <p:spPr>
            <a:xfrm flipH="1">
              <a:off x="2187543" y="2292281"/>
              <a:ext cx="1145512" cy="1145512"/>
            </a:xfrm>
            <a:prstGeom prst="line">
              <a:avLst/>
            </a:prstGeom>
          </p:spPr>
          <p:style>
            <a:lnRef idx="1">
              <a:schemeClr val="accent1"/>
            </a:lnRef>
            <a:fillRef idx="0">
              <a:schemeClr val="accent1"/>
            </a:fillRef>
            <a:effectRef idx="0">
              <a:schemeClr val="accent1"/>
            </a:effectRef>
            <a:fontRef idx="minor">
              <a:schemeClr val="tx1"/>
            </a:fontRef>
          </p:style>
        </p:cxnSp>
        <p:sp>
          <p:nvSpPr>
            <p:cNvPr id="8" name="楕円 7">
              <a:extLst>
                <a:ext uri="{FF2B5EF4-FFF2-40B4-BE49-F238E27FC236}">
                  <a16:creationId xmlns:a16="http://schemas.microsoft.com/office/drawing/2014/main" id="{D8D2922A-0C39-41FB-98BF-160D9E8378FD}"/>
                </a:ext>
              </a:extLst>
            </p:cNvPr>
            <p:cNvSpPr/>
            <p:nvPr/>
          </p:nvSpPr>
          <p:spPr>
            <a:xfrm>
              <a:off x="2172745" y="3389152"/>
              <a:ext cx="72000" cy="7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E2965345-A580-4492-B240-B599CD8149F4}"/>
                    </a:ext>
                  </a:extLst>
                </p:cNvPr>
                <p:cNvSpPr txBox="1"/>
                <p:nvPr/>
              </p:nvSpPr>
              <p:spPr>
                <a:xfrm>
                  <a:off x="2506797" y="2495705"/>
                  <a:ext cx="3786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1</m:t>
                        </m:r>
                      </m:oMath>
                    </m:oMathPara>
                  </a14:m>
                  <a:endParaRPr lang="en-US" altLang="ja-JP" sz="2400" b="0" dirty="0"/>
                </a:p>
              </p:txBody>
            </p:sp>
          </mc:Choice>
          <mc:Fallback xmlns="">
            <p:sp>
              <p:nvSpPr>
                <p:cNvPr id="28" name="テキスト ボックス 27">
                  <a:extLst>
                    <a:ext uri="{FF2B5EF4-FFF2-40B4-BE49-F238E27FC236}">
                      <a16:creationId xmlns:a16="http://schemas.microsoft.com/office/drawing/2014/main" id="{E2965345-A580-4492-B240-B599CD8149F4}"/>
                    </a:ext>
                  </a:extLst>
                </p:cNvPr>
                <p:cNvSpPr txBox="1">
                  <a:spLocks noRot="1" noChangeAspect="1" noMove="1" noResize="1" noEditPoints="1" noAdjustHandles="1" noChangeArrowheads="1" noChangeShapeType="1" noTextEdit="1"/>
                </p:cNvSpPr>
                <p:nvPr/>
              </p:nvSpPr>
              <p:spPr>
                <a:xfrm>
                  <a:off x="2506797" y="2495705"/>
                  <a:ext cx="378630" cy="369332"/>
                </a:xfrm>
                <a:prstGeom prst="rect">
                  <a:avLst/>
                </a:prstGeom>
                <a:blipFill>
                  <a:blip r:embed="rId2"/>
                  <a:stretch>
                    <a:fillRect/>
                  </a:stretch>
                </a:blipFill>
              </p:spPr>
              <p:txBody>
                <a:bodyPr/>
                <a:lstStyle/>
                <a:p>
                  <a:r>
                    <a:rPr lang="ja-JP" altLang="en-US">
                      <a:noFill/>
                    </a:rPr>
                    <a:t> </a:t>
                  </a:r>
                </a:p>
              </p:txBody>
            </p:sp>
          </mc:Fallback>
        </mc:AlternateContent>
      </p:grpSp>
      <p:sp>
        <p:nvSpPr>
          <p:cNvPr id="30" name="テキスト ボックス 29">
            <a:extLst>
              <a:ext uri="{FF2B5EF4-FFF2-40B4-BE49-F238E27FC236}">
                <a16:creationId xmlns:a16="http://schemas.microsoft.com/office/drawing/2014/main" id="{A06ADE47-39AD-4ECB-AB16-26703C1ACA17}"/>
              </a:ext>
            </a:extLst>
          </p:cNvPr>
          <p:cNvSpPr txBox="1"/>
          <p:nvPr/>
        </p:nvSpPr>
        <p:spPr>
          <a:xfrm>
            <a:off x="567541" y="5202848"/>
            <a:ext cx="10033516" cy="461665"/>
          </a:xfrm>
          <a:prstGeom prst="rect">
            <a:avLst/>
          </a:prstGeom>
          <a:noFill/>
        </p:spPr>
        <p:txBody>
          <a:bodyPr wrap="none" rtlCol="0">
            <a:spAutoFit/>
          </a:bodyPr>
          <a:lstStyle/>
          <a:p>
            <a:r>
              <a:rPr lang="ja-JP" altLang="en-US" sz="2400" dirty="0"/>
              <a:t>単位円について詳しく見ていくと、</a:t>
            </a:r>
            <a:r>
              <a:rPr lang="ja-JP" altLang="en-US" sz="2400" b="1" dirty="0">
                <a:solidFill>
                  <a:srgbClr val="FF0000"/>
                </a:solidFill>
              </a:rPr>
              <a:t>円上の座標を簡単に計算</a:t>
            </a:r>
            <a:r>
              <a:rPr lang="ja-JP" altLang="en-US" sz="2400" dirty="0"/>
              <a:t>できます。</a:t>
            </a:r>
            <a:endParaRPr lang="en-US" altLang="ja-JP" sz="2400" dirty="0"/>
          </a:p>
        </p:txBody>
      </p:sp>
    </p:spTree>
    <p:extLst>
      <p:ext uri="{BB962C8B-B14F-4D97-AF65-F5344CB8AC3E}">
        <p14:creationId xmlns:p14="http://schemas.microsoft.com/office/powerpoint/2010/main" val="2683660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単位円</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918334" cy="461665"/>
              </a:xfrm>
              <a:prstGeom prst="rect">
                <a:avLst/>
              </a:prstGeom>
              <a:noFill/>
            </p:spPr>
            <p:txBody>
              <a:bodyPr wrap="none" rtlCol="0">
                <a:spAutoFit/>
              </a:bodyPr>
              <a:lstStyle/>
              <a:p>
                <a:r>
                  <a:rPr lang="ja-JP" altLang="en-US" sz="2400" dirty="0">
                    <a:solidFill>
                      <a:schemeClr val="tx1"/>
                    </a:solidFill>
                  </a:rPr>
                  <a:t>ある円上の１点を</a:t>
                </a:r>
                <a14:m>
                  <m:oMath xmlns:m="http://schemas.openxmlformats.org/officeDocument/2006/math">
                    <m:r>
                      <a:rPr lang="en-US" altLang="ja-JP" sz="2400" b="0" i="1" smtClean="0">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𝑥</m:t>
                    </m:r>
                    <m:r>
                      <a:rPr lang="en-US" altLang="ja-JP" sz="2400" b="0" i="1" smtClean="0">
                        <a:solidFill>
                          <a:schemeClr val="tx1"/>
                        </a:solidFill>
                        <a:latin typeface="Cambria Math" panose="02040503050406030204" pitchFamily="18" charset="0"/>
                      </a:rPr>
                      <m:t>, </m:t>
                    </m:r>
                    <m:r>
                      <a:rPr lang="en-US" altLang="ja-JP" sz="2400" b="0" i="1" smtClean="0">
                        <a:solidFill>
                          <a:schemeClr val="tx1"/>
                        </a:solidFill>
                        <a:latin typeface="Cambria Math" panose="02040503050406030204" pitchFamily="18" charset="0"/>
                      </a:rPr>
                      <m:t>𝑦</m:t>
                    </m:r>
                    <m:r>
                      <a:rPr lang="en-US" altLang="ja-JP" sz="2400" b="0" i="1" smtClean="0">
                        <a:solidFill>
                          <a:schemeClr val="tx1"/>
                        </a:solidFill>
                        <a:latin typeface="Cambria Math" panose="02040503050406030204" pitchFamily="18" charset="0"/>
                      </a:rPr>
                      <m:t>)</m:t>
                    </m:r>
                  </m:oMath>
                </a14:m>
                <a:r>
                  <a:rPr lang="ja-JP" altLang="en-US" sz="2400" dirty="0">
                    <a:solidFill>
                      <a:schemeClr val="tx1"/>
                    </a:solidFill>
                  </a:rPr>
                  <a:t>とします。</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4918334" cy="461665"/>
              </a:xfrm>
              <a:prstGeom prst="rect">
                <a:avLst/>
              </a:prstGeom>
              <a:blipFill>
                <a:blip r:embed="rId2"/>
                <a:stretch>
                  <a:fillRect l="-1859" t="-10667" r="-743" b="-30667"/>
                </a:stretch>
              </a:blipFill>
            </p:spPr>
            <p:txBody>
              <a:bodyPr/>
              <a:lstStyle/>
              <a:p>
                <a:r>
                  <a:rPr lang="ja-JP" altLang="en-US">
                    <a:noFill/>
                  </a:rPr>
                  <a:t> </a:t>
                </a:r>
              </a:p>
            </p:txBody>
          </p:sp>
        </mc:Fallback>
      </mc:AlternateContent>
      <p:grpSp>
        <p:nvGrpSpPr>
          <p:cNvPr id="9" name="グループ化 8">
            <a:extLst>
              <a:ext uri="{FF2B5EF4-FFF2-40B4-BE49-F238E27FC236}">
                <a16:creationId xmlns:a16="http://schemas.microsoft.com/office/drawing/2014/main" id="{270E4431-B0D5-47AB-8409-E6C3D596DE46}"/>
              </a:ext>
            </a:extLst>
          </p:cNvPr>
          <p:cNvGrpSpPr/>
          <p:nvPr/>
        </p:nvGrpSpPr>
        <p:grpSpPr>
          <a:xfrm>
            <a:off x="567542" y="1817794"/>
            <a:ext cx="3240000" cy="3240000"/>
            <a:chOff x="567542" y="1817794"/>
            <a:chExt cx="3240000" cy="3240000"/>
          </a:xfrm>
        </p:grpSpPr>
        <p:sp>
          <p:nvSpPr>
            <p:cNvPr id="2" name="楕円 1">
              <a:extLst>
                <a:ext uri="{FF2B5EF4-FFF2-40B4-BE49-F238E27FC236}">
                  <a16:creationId xmlns:a16="http://schemas.microsoft.com/office/drawing/2014/main" id="{AAED7805-C5C0-493E-B09A-1C8E588B73CE}"/>
                </a:ext>
              </a:extLst>
            </p:cNvPr>
            <p:cNvSpPr/>
            <p:nvPr/>
          </p:nvSpPr>
          <p:spPr>
            <a:xfrm>
              <a:off x="567542" y="1817794"/>
              <a:ext cx="3240000" cy="324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直線コネクタ 4">
              <a:extLst>
                <a:ext uri="{FF2B5EF4-FFF2-40B4-BE49-F238E27FC236}">
                  <a16:creationId xmlns:a16="http://schemas.microsoft.com/office/drawing/2014/main" id="{B81B389E-8653-4834-A014-04076D3C5B45}"/>
                </a:ext>
              </a:extLst>
            </p:cNvPr>
            <p:cNvCxnSpPr>
              <a:cxnSpLocks/>
              <a:stCxn id="2" idx="7"/>
            </p:cNvCxnSpPr>
            <p:nvPr/>
          </p:nvCxnSpPr>
          <p:spPr>
            <a:xfrm flipH="1">
              <a:off x="2187543" y="2292281"/>
              <a:ext cx="1145512" cy="1145512"/>
            </a:xfrm>
            <a:prstGeom prst="line">
              <a:avLst/>
            </a:prstGeom>
          </p:spPr>
          <p:style>
            <a:lnRef idx="1">
              <a:schemeClr val="accent1"/>
            </a:lnRef>
            <a:fillRef idx="0">
              <a:schemeClr val="accent1"/>
            </a:fillRef>
            <a:effectRef idx="0">
              <a:schemeClr val="accent1"/>
            </a:effectRef>
            <a:fontRef idx="minor">
              <a:schemeClr val="tx1"/>
            </a:fontRef>
          </p:style>
        </p:cxnSp>
        <p:sp>
          <p:nvSpPr>
            <p:cNvPr id="8" name="楕円 7">
              <a:extLst>
                <a:ext uri="{FF2B5EF4-FFF2-40B4-BE49-F238E27FC236}">
                  <a16:creationId xmlns:a16="http://schemas.microsoft.com/office/drawing/2014/main" id="{D8D2922A-0C39-41FB-98BF-160D9E8378FD}"/>
                </a:ext>
              </a:extLst>
            </p:cNvPr>
            <p:cNvSpPr/>
            <p:nvPr/>
          </p:nvSpPr>
          <p:spPr>
            <a:xfrm>
              <a:off x="2172745" y="3389152"/>
              <a:ext cx="72000" cy="7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E2965345-A580-4492-B240-B599CD8149F4}"/>
                    </a:ext>
                  </a:extLst>
                </p:cNvPr>
                <p:cNvSpPr txBox="1"/>
                <p:nvPr/>
              </p:nvSpPr>
              <p:spPr>
                <a:xfrm>
                  <a:off x="2506797" y="2495705"/>
                  <a:ext cx="3786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1</m:t>
                        </m:r>
                      </m:oMath>
                    </m:oMathPara>
                  </a14:m>
                  <a:endParaRPr lang="en-US" altLang="ja-JP" sz="2400" b="0" dirty="0"/>
                </a:p>
              </p:txBody>
            </p:sp>
          </mc:Choice>
          <mc:Fallback xmlns="">
            <p:sp>
              <p:nvSpPr>
                <p:cNvPr id="28" name="テキスト ボックス 27">
                  <a:extLst>
                    <a:ext uri="{FF2B5EF4-FFF2-40B4-BE49-F238E27FC236}">
                      <a16:creationId xmlns:a16="http://schemas.microsoft.com/office/drawing/2014/main" id="{E2965345-A580-4492-B240-B599CD8149F4}"/>
                    </a:ext>
                  </a:extLst>
                </p:cNvPr>
                <p:cNvSpPr txBox="1">
                  <a:spLocks noRot="1" noChangeAspect="1" noMove="1" noResize="1" noEditPoints="1" noAdjustHandles="1" noChangeArrowheads="1" noChangeShapeType="1" noTextEdit="1"/>
                </p:cNvSpPr>
                <p:nvPr/>
              </p:nvSpPr>
              <p:spPr>
                <a:xfrm>
                  <a:off x="2506797" y="2495705"/>
                  <a:ext cx="378630" cy="369332"/>
                </a:xfrm>
                <a:prstGeom prst="rect">
                  <a:avLst/>
                </a:prstGeom>
                <a:blipFill>
                  <a:blip r:embed="rId3"/>
                  <a:stretch>
                    <a:fillRect/>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B7E18FA8-B5E0-49F3-A26E-AB98111E0604}"/>
                  </a:ext>
                </a:extLst>
              </p:cNvPr>
              <p:cNvSpPr txBox="1"/>
              <p:nvPr/>
            </p:nvSpPr>
            <p:spPr>
              <a:xfrm>
                <a:off x="3211472" y="1830616"/>
                <a:ext cx="99270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sz="2400" b="0" i="1" smtClean="0">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𝑥</m:t>
                      </m:r>
                      <m:r>
                        <a:rPr lang="en-US" altLang="ja-JP" sz="2400" b="0" i="1" smtClean="0">
                          <a:solidFill>
                            <a:schemeClr val="tx1"/>
                          </a:solidFill>
                          <a:latin typeface="Cambria Math" panose="02040503050406030204" pitchFamily="18" charset="0"/>
                        </a:rPr>
                        <m:t>, </m:t>
                      </m:r>
                      <m:r>
                        <a:rPr lang="en-US" altLang="ja-JP" sz="2400" b="0" i="1" smtClean="0">
                          <a:solidFill>
                            <a:schemeClr val="tx1"/>
                          </a:solidFill>
                          <a:latin typeface="Cambria Math" panose="02040503050406030204" pitchFamily="18" charset="0"/>
                        </a:rPr>
                        <m:t>𝑦</m:t>
                      </m:r>
                      <m:r>
                        <a:rPr lang="en-US" altLang="ja-JP" sz="2400" b="0" i="1" smtClean="0">
                          <a:solidFill>
                            <a:schemeClr val="tx1"/>
                          </a:solidFill>
                          <a:latin typeface="Cambria Math" panose="02040503050406030204" pitchFamily="18" charset="0"/>
                        </a:rPr>
                        <m:t>)</m:t>
                      </m:r>
                    </m:oMath>
                  </m:oMathPara>
                </a14:m>
                <a:endParaRPr lang="en-US" altLang="ja-JP" sz="2400" dirty="0"/>
              </a:p>
            </p:txBody>
          </p:sp>
        </mc:Choice>
        <mc:Fallback xmlns="">
          <p:sp>
            <p:nvSpPr>
              <p:cNvPr id="10" name="テキスト ボックス 9">
                <a:extLst>
                  <a:ext uri="{FF2B5EF4-FFF2-40B4-BE49-F238E27FC236}">
                    <a16:creationId xmlns:a16="http://schemas.microsoft.com/office/drawing/2014/main" id="{B7E18FA8-B5E0-49F3-A26E-AB98111E0604}"/>
                  </a:ext>
                </a:extLst>
              </p:cNvPr>
              <p:cNvSpPr txBox="1">
                <a:spLocks noRot="1" noChangeAspect="1" noMove="1" noResize="1" noEditPoints="1" noAdjustHandles="1" noChangeArrowheads="1" noChangeShapeType="1" noTextEdit="1"/>
              </p:cNvSpPr>
              <p:nvPr/>
            </p:nvSpPr>
            <p:spPr>
              <a:xfrm>
                <a:off x="3211472" y="1830616"/>
                <a:ext cx="992708" cy="461665"/>
              </a:xfrm>
              <a:prstGeom prst="rect">
                <a:avLst/>
              </a:prstGeom>
              <a:blipFill>
                <a:blip r:embed="rId4"/>
                <a:stretch>
                  <a:fillRect l="-613" b="-15789"/>
                </a:stretch>
              </a:blipFill>
            </p:spPr>
            <p:txBody>
              <a:bodyPr/>
              <a:lstStyle/>
              <a:p>
                <a:r>
                  <a:rPr lang="ja-JP" altLang="en-US">
                    <a:noFill/>
                  </a:rPr>
                  <a:t> </a:t>
                </a:r>
              </a:p>
            </p:txBody>
          </p:sp>
        </mc:Fallback>
      </mc:AlternateContent>
      <p:sp>
        <p:nvSpPr>
          <p:cNvPr id="3" name="楕円 2">
            <a:extLst>
              <a:ext uri="{FF2B5EF4-FFF2-40B4-BE49-F238E27FC236}">
                <a16:creationId xmlns:a16="http://schemas.microsoft.com/office/drawing/2014/main" id="{55A16614-6E84-4C44-8FD5-C48B7DBB0175}"/>
              </a:ext>
            </a:extLst>
          </p:cNvPr>
          <p:cNvSpPr/>
          <p:nvPr/>
        </p:nvSpPr>
        <p:spPr>
          <a:xfrm>
            <a:off x="3288482" y="2256638"/>
            <a:ext cx="72000" cy="7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32056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単位円</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830063" cy="461665"/>
              </a:xfrm>
              <a:prstGeom prst="rect">
                <a:avLst/>
              </a:prstGeom>
              <a:noFill/>
            </p:spPr>
            <p:txBody>
              <a:bodyPr wrap="none" rtlCol="0">
                <a:spAutoFit/>
              </a:bodyPr>
              <a:lstStyle/>
              <a:p>
                <a:r>
                  <a:rPr lang="ja-JP" altLang="en-US" sz="2400" b="1" dirty="0">
                    <a:solidFill>
                      <a:srgbClr val="FF0000"/>
                    </a:solidFill>
                  </a:rPr>
                  <a:t>円の中心から</a:t>
                </a:r>
                <a14:m>
                  <m:oMath xmlns:m="http://schemas.openxmlformats.org/officeDocument/2006/math">
                    <m:r>
                      <a:rPr lang="en-US" altLang="ja-JP" sz="2400" b="1" i="1" smtClean="0">
                        <a:solidFill>
                          <a:srgbClr val="FF0000"/>
                        </a:solidFill>
                        <a:latin typeface="Cambria Math" panose="02040503050406030204" pitchFamily="18" charset="0"/>
                      </a:rPr>
                      <m:t>(</m:t>
                    </m:r>
                    <m:r>
                      <a:rPr lang="en-US" altLang="ja-JP" sz="2400" b="1" i="1" smtClean="0">
                        <a:solidFill>
                          <a:srgbClr val="FF0000"/>
                        </a:solidFill>
                        <a:latin typeface="Cambria Math" panose="02040503050406030204" pitchFamily="18" charset="0"/>
                      </a:rPr>
                      <m:t>𝒙</m:t>
                    </m:r>
                    <m:r>
                      <a:rPr lang="en-US" altLang="ja-JP" sz="2400" b="1" i="1" smtClean="0">
                        <a:solidFill>
                          <a:srgbClr val="FF0000"/>
                        </a:solidFill>
                        <a:latin typeface="Cambria Math" panose="02040503050406030204" pitchFamily="18" charset="0"/>
                      </a:rPr>
                      <m:t>, </m:t>
                    </m:r>
                    <m:r>
                      <a:rPr lang="en-US" altLang="ja-JP" sz="2400" b="1" i="1" smtClean="0">
                        <a:solidFill>
                          <a:srgbClr val="FF0000"/>
                        </a:solidFill>
                        <a:latin typeface="Cambria Math" panose="02040503050406030204" pitchFamily="18" charset="0"/>
                      </a:rPr>
                      <m:t>𝒚</m:t>
                    </m:r>
                    <m:r>
                      <a:rPr lang="en-US" altLang="ja-JP" sz="2400" b="1" i="1" smtClean="0">
                        <a:solidFill>
                          <a:srgbClr val="FF0000"/>
                        </a:solidFill>
                        <a:latin typeface="Cambria Math" panose="02040503050406030204" pitchFamily="18" charset="0"/>
                      </a:rPr>
                      <m:t>)</m:t>
                    </m:r>
                  </m:oMath>
                </a14:m>
                <a:r>
                  <a:rPr lang="ja-JP" altLang="en-US" sz="2400" b="1" dirty="0">
                    <a:solidFill>
                      <a:srgbClr val="FF0000"/>
                    </a:solidFill>
                  </a:rPr>
                  <a:t>まで引いた線を斜辺</a:t>
                </a:r>
                <a:r>
                  <a:rPr lang="ja-JP" altLang="en-US" sz="2400" dirty="0"/>
                  <a:t>とした直角三角形が作れます。</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9830063" cy="461665"/>
              </a:xfrm>
              <a:prstGeom prst="rect">
                <a:avLst/>
              </a:prstGeom>
              <a:blipFill>
                <a:blip r:embed="rId2"/>
                <a:stretch>
                  <a:fillRect l="-930" t="-10667" r="-124" b="-30667"/>
                </a:stretch>
              </a:blipFill>
            </p:spPr>
            <p:txBody>
              <a:bodyPr/>
              <a:lstStyle/>
              <a:p>
                <a:r>
                  <a:rPr lang="ja-JP" altLang="en-US">
                    <a:noFill/>
                  </a:rPr>
                  <a:t> </a:t>
                </a:r>
              </a:p>
            </p:txBody>
          </p:sp>
        </mc:Fallback>
      </mc:AlternateContent>
      <p:grpSp>
        <p:nvGrpSpPr>
          <p:cNvPr id="9" name="グループ化 8">
            <a:extLst>
              <a:ext uri="{FF2B5EF4-FFF2-40B4-BE49-F238E27FC236}">
                <a16:creationId xmlns:a16="http://schemas.microsoft.com/office/drawing/2014/main" id="{270E4431-B0D5-47AB-8409-E6C3D596DE46}"/>
              </a:ext>
            </a:extLst>
          </p:cNvPr>
          <p:cNvGrpSpPr/>
          <p:nvPr/>
        </p:nvGrpSpPr>
        <p:grpSpPr>
          <a:xfrm>
            <a:off x="567542" y="1817794"/>
            <a:ext cx="3240000" cy="3240000"/>
            <a:chOff x="567542" y="1817794"/>
            <a:chExt cx="3240000" cy="3240000"/>
          </a:xfrm>
        </p:grpSpPr>
        <p:sp>
          <p:nvSpPr>
            <p:cNvPr id="2" name="楕円 1">
              <a:extLst>
                <a:ext uri="{FF2B5EF4-FFF2-40B4-BE49-F238E27FC236}">
                  <a16:creationId xmlns:a16="http://schemas.microsoft.com/office/drawing/2014/main" id="{AAED7805-C5C0-493E-B09A-1C8E588B73CE}"/>
                </a:ext>
              </a:extLst>
            </p:cNvPr>
            <p:cNvSpPr/>
            <p:nvPr/>
          </p:nvSpPr>
          <p:spPr>
            <a:xfrm>
              <a:off x="567542" y="1817794"/>
              <a:ext cx="3240000" cy="324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直線コネクタ 4">
              <a:extLst>
                <a:ext uri="{FF2B5EF4-FFF2-40B4-BE49-F238E27FC236}">
                  <a16:creationId xmlns:a16="http://schemas.microsoft.com/office/drawing/2014/main" id="{B81B389E-8653-4834-A014-04076D3C5B45}"/>
                </a:ext>
              </a:extLst>
            </p:cNvPr>
            <p:cNvCxnSpPr>
              <a:cxnSpLocks/>
              <a:stCxn id="2" idx="7"/>
            </p:cNvCxnSpPr>
            <p:nvPr/>
          </p:nvCxnSpPr>
          <p:spPr>
            <a:xfrm flipH="1">
              <a:off x="2187543" y="2292281"/>
              <a:ext cx="1145512" cy="1145512"/>
            </a:xfrm>
            <a:prstGeom prst="line">
              <a:avLst/>
            </a:prstGeom>
          </p:spPr>
          <p:style>
            <a:lnRef idx="1">
              <a:schemeClr val="accent1"/>
            </a:lnRef>
            <a:fillRef idx="0">
              <a:schemeClr val="accent1"/>
            </a:fillRef>
            <a:effectRef idx="0">
              <a:schemeClr val="accent1"/>
            </a:effectRef>
            <a:fontRef idx="minor">
              <a:schemeClr val="tx1"/>
            </a:fontRef>
          </p:style>
        </p:cxnSp>
        <p:sp>
          <p:nvSpPr>
            <p:cNvPr id="8" name="楕円 7">
              <a:extLst>
                <a:ext uri="{FF2B5EF4-FFF2-40B4-BE49-F238E27FC236}">
                  <a16:creationId xmlns:a16="http://schemas.microsoft.com/office/drawing/2014/main" id="{D8D2922A-0C39-41FB-98BF-160D9E8378FD}"/>
                </a:ext>
              </a:extLst>
            </p:cNvPr>
            <p:cNvSpPr/>
            <p:nvPr/>
          </p:nvSpPr>
          <p:spPr>
            <a:xfrm>
              <a:off x="2172745" y="3389152"/>
              <a:ext cx="72000" cy="7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E2965345-A580-4492-B240-B599CD8149F4}"/>
                    </a:ext>
                  </a:extLst>
                </p:cNvPr>
                <p:cNvSpPr txBox="1"/>
                <p:nvPr/>
              </p:nvSpPr>
              <p:spPr>
                <a:xfrm>
                  <a:off x="2506797" y="2495705"/>
                  <a:ext cx="3786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1</m:t>
                        </m:r>
                      </m:oMath>
                    </m:oMathPara>
                  </a14:m>
                  <a:endParaRPr lang="en-US" altLang="ja-JP" sz="2400" b="0" dirty="0"/>
                </a:p>
              </p:txBody>
            </p:sp>
          </mc:Choice>
          <mc:Fallback xmlns="">
            <p:sp>
              <p:nvSpPr>
                <p:cNvPr id="28" name="テキスト ボックス 27">
                  <a:extLst>
                    <a:ext uri="{FF2B5EF4-FFF2-40B4-BE49-F238E27FC236}">
                      <a16:creationId xmlns:a16="http://schemas.microsoft.com/office/drawing/2014/main" id="{E2965345-A580-4492-B240-B599CD8149F4}"/>
                    </a:ext>
                  </a:extLst>
                </p:cNvPr>
                <p:cNvSpPr txBox="1">
                  <a:spLocks noRot="1" noChangeAspect="1" noMove="1" noResize="1" noEditPoints="1" noAdjustHandles="1" noChangeArrowheads="1" noChangeShapeType="1" noTextEdit="1"/>
                </p:cNvSpPr>
                <p:nvPr/>
              </p:nvSpPr>
              <p:spPr>
                <a:xfrm>
                  <a:off x="2506797" y="2495705"/>
                  <a:ext cx="378630" cy="369332"/>
                </a:xfrm>
                <a:prstGeom prst="rect">
                  <a:avLst/>
                </a:prstGeom>
                <a:blipFill>
                  <a:blip r:embed="rId3"/>
                  <a:stretch>
                    <a:fillRect/>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B7E18FA8-B5E0-49F3-A26E-AB98111E0604}"/>
                  </a:ext>
                </a:extLst>
              </p:cNvPr>
              <p:cNvSpPr txBox="1"/>
              <p:nvPr/>
            </p:nvSpPr>
            <p:spPr>
              <a:xfrm>
                <a:off x="3211472" y="1830616"/>
                <a:ext cx="99270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sz="2400" b="0" i="1" smtClean="0">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𝑥</m:t>
                      </m:r>
                      <m:r>
                        <a:rPr lang="en-US" altLang="ja-JP" sz="2400" b="0" i="1" smtClean="0">
                          <a:solidFill>
                            <a:schemeClr val="tx1"/>
                          </a:solidFill>
                          <a:latin typeface="Cambria Math" panose="02040503050406030204" pitchFamily="18" charset="0"/>
                        </a:rPr>
                        <m:t>, </m:t>
                      </m:r>
                      <m:r>
                        <a:rPr lang="en-US" altLang="ja-JP" sz="2400" b="0" i="1" smtClean="0">
                          <a:solidFill>
                            <a:schemeClr val="tx1"/>
                          </a:solidFill>
                          <a:latin typeface="Cambria Math" panose="02040503050406030204" pitchFamily="18" charset="0"/>
                        </a:rPr>
                        <m:t>𝑦</m:t>
                      </m:r>
                      <m:r>
                        <a:rPr lang="en-US" altLang="ja-JP" sz="2400" b="0" i="1" smtClean="0">
                          <a:solidFill>
                            <a:schemeClr val="tx1"/>
                          </a:solidFill>
                          <a:latin typeface="Cambria Math" panose="02040503050406030204" pitchFamily="18" charset="0"/>
                        </a:rPr>
                        <m:t>)</m:t>
                      </m:r>
                    </m:oMath>
                  </m:oMathPara>
                </a14:m>
                <a:endParaRPr lang="en-US" altLang="ja-JP" sz="2400" dirty="0"/>
              </a:p>
            </p:txBody>
          </p:sp>
        </mc:Choice>
        <mc:Fallback xmlns="">
          <p:sp>
            <p:nvSpPr>
              <p:cNvPr id="10" name="テキスト ボックス 9">
                <a:extLst>
                  <a:ext uri="{FF2B5EF4-FFF2-40B4-BE49-F238E27FC236}">
                    <a16:creationId xmlns:a16="http://schemas.microsoft.com/office/drawing/2014/main" id="{B7E18FA8-B5E0-49F3-A26E-AB98111E0604}"/>
                  </a:ext>
                </a:extLst>
              </p:cNvPr>
              <p:cNvSpPr txBox="1">
                <a:spLocks noRot="1" noChangeAspect="1" noMove="1" noResize="1" noEditPoints="1" noAdjustHandles="1" noChangeArrowheads="1" noChangeShapeType="1" noTextEdit="1"/>
              </p:cNvSpPr>
              <p:nvPr/>
            </p:nvSpPr>
            <p:spPr>
              <a:xfrm>
                <a:off x="3211472" y="1830616"/>
                <a:ext cx="992708" cy="461665"/>
              </a:xfrm>
              <a:prstGeom prst="rect">
                <a:avLst/>
              </a:prstGeom>
              <a:blipFill>
                <a:blip r:embed="rId4"/>
                <a:stretch>
                  <a:fillRect l="-613" b="-15789"/>
                </a:stretch>
              </a:blipFill>
            </p:spPr>
            <p:txBody>
              <a:bodyPr/>
              <a:lstStyle/>
              <a:p>
                <a:r>
                  <a:rPr lang="ja-JP" altLang="en-US">
                    <a:noFill/>
                  </a:rPr>
                  <a:t> </a:t>
                </a:r>
              </a:p>
            </p:txBody>
          </p:sp>
        </mc:Fallback>
      </mc:AlternateContent>
      <p:sp>
        <p:nvSpPr>
          <p:cNvPr id="3" name="楕円 2">
            <a:extLst>
              <a:ext uri="{FF2B5EF4-FFF2-40B4-BE49-F238E27FC236}">
                <a16:creationId xmlns:a16="http://schemas.microsoft.com/office/drawing/2014/main" id="{55A16614-6E84-4C44-8FD5-C48B7DBB0175}"/>
              </a:ext>
            </a:extLst>
          </p:cNvPr>
          <p:cNvSpPr/>
          <p:nvPr/>
        </p:nvSpPr>
        <p:spPr>
          <a:xfrm>
            <a:off x="3288482" y="2256638"/>
            <a:ext cx="72000" cy="7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D2B2B190-742C-470E-9768-AE739203DE5C}"/>
              </a:ext>
            </a:extLst>
          </p:cNvPr>
          <p:cNvCxnSpPr>
            <a:cxnSpLocks/>
            <a:stCxn id="2" idx="6"/>
          </p:cNvCxnSpPr>
          <p:nvPr/>
        </p:nvCxnSpPr>
        <p:spPr>
          <a:xfrm flipH="1" flipV="1">
            <a:off x="2244746" y="3429000"/>
            <a:ext cx="1562796" cy="879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5233A3FF-4C18-41AE-AA89-9316C601A4E6}"/>
              </a:ext>
            </a:extLst>
          </p:cNvPr>
          <p:cNvCxnSpPr>
            <a:cxnSpLocks/>
            <a:stCxn id="3" idx="4"/>
          </p:cNvCxnSpPr>
          <p:nvPr/>
        </p:nvCxnSpPr>
        <p:spPr>
          <a:xfrm>
            <a:off x="3324482" y="2328638"/>
            <a:ext cx="8573" cy="11047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04EB3287-2436-4F2E-B81C-1F469AC85381}"/>
              </a:ext>
            </a:extLst>
          </p:cNvPr>
          <p:cNvCxnSpPr>
            <a:cxnSpLocks/>
          </p:cNvCxnSpPr>
          <p:nvPr/>
        </p:nvCxnSpPr>
        <p:spPr>
          <a:xfrm>
            <a:off x="3211472" y="3345656"/>
            <a:ext cx="0" cy="877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DE8AEE79-67FC-4421-B0B7-20870D291061}"/>
              </a:ext>
            </a:extLst>
          </p:cNvPr>
          <p:cNvCxnSpPr>
            <a:cxnSpLocks/>
          </p:cNvCxnSpPr>
          <p:nvPr/>
        </p:nvCxnSpPr>
        <p:spPr>
          <a:xfrm>
            <a:off x="3211472" y="3345656"/>
            <a:ext cx="1215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円弧 22">
            <a:extLst>
              <a:ext uri="{FF2B5EF4-FFF2-40B4-BE49-F238E27FC236}">
                <a16:creationId xmlns:a16="http://schemas.microsoft.com/office/drawing/2014/main" id="{D1FF4381-7DBB-4DED-96BA-FBC62EE46B25}"/>
              </a:ext>
            </a:extLst>
          </p:cNvPr>
          <p:cNvSpPr/>
          <p:nvPr/>
        </p:nvSpPr>
        <p:spPr>
          <a:xfrm>
            <a:off x="2221842" y="3283015"/>
            <a:ext cx="211940" cy="272651"/>
          </a:xfrm>
          <a:prstGeom prst="arc">
            <a:avLst>
              <a:gd name="adj1" fmla="val 16602575"/>
              <a:gd name="adj2" fmla="val 231423"/>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4563FA22-CCB1-4600-9623-E7535162E5D1}"/>
                  </a:ext>
                </a:extLst>
              </p:cNvPr>
              <p:cNvSpPr txBox="1"/>
              <p:nvPr/>
            </p:nvSpPr>
            <p:spPr>
              <a:xfrm>
                <a:off x="2325969" y="3127398"/>
                <a:ext cx="3770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ja-JP" i="1">
                          <a:latin typeface="Cambria Math" panose="02040503050406030204" pitchFamily="18" charset="0"/>
                        </a:rPr>
                        <m:t>θ</m:t>
                      </m:r>
                    </m:oMath>
                  </m:oMathPara>
                </a14:m>
                <a:endParaRPr lang="en-US" altLang="ja-JP" sz="2400" b="0" dirty="0"/>
              </a:p>
            </p:txBody>
          </p:sp>
        </mc:Choice>
        <mc:Fallback xmlns="">
          <p:sp>
            <p:nvSpPr>
              <p:cNvPr id="25" name="テキスト ボックス 24">
                <a:extLst>
                  <a:ext uri="{FF2B5EF4-FFF2-40B4-BE49-F238E27FC236}">
                    <a16:creationId xmlns:a16="http://schemas.microsoft.com/office/drawing/2014/main" id="{4563FA22-CCB1-4600-9623-E7535162E5D1}"/>
                  </a:ext>
                </a:extLst>
              </p:cNvPr>
              <p:cNvSpPr txBox="1">
                <a:spLocks noRot="1" noChangeAspect="1" noMove="1" noResize="1" noEditPoints="1" noAdjustHandles="1" noChangeArrowheads="1" noChangeShapeType="1" noTextEdit="1"/>
              </p:cNvSpPr>
              <p:nvPr/>
            </p:nvSpPr>
            <p:spPr>
              <a:xfrm>
                <a:off x="2325969" y="3127398"/>
                <a:ext cx="377026" cy="369332"/>
              </a:xfrm>
              <a:prstGeom prst="rect">
                <a:avLst/>
              </a:prstGeom>
              <a:blipFill>
                <a:blip r:embed="rId5"/>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924720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8BA9E264-0993-43D5-B610-325443A2B34B}"/>
              </a:ext>
            </a:extLst>
          </p:cNvPr>
          <p:cNvSpPr/>
          <p:nvPr/>
        </p:nvSpPr>
        <p:spPr>
          <a:xfrm>
            <a:off x="316021" y="1678093"/>
            <a:ext cx="10311099" cy="3638973"/>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単位円</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83099" cy="461665"/>
              </a:xfrm>
              <a:prstGeom prst="rect">
                <a:avLst/>
              </a:prstGeom>
              <a:noFill/>
            </p:spPr>
            <p:txBody>
              <a:bodyPr wrap="none" rtlCol="0">
                <a:spAutoFit/>
              </a:bodyPr>
              <a:lstStyle/>
              <a:p>
                <a:r>
                  <a:rPr lang="ja-JP" altLang="en-US" sz="2400" dirty="0"/>
                  <a:t>この直角三角形の</a:t>
                </a:r>
                <a:r>
                  <a:rPr lang="ja-JP" altLang="en-US" sz="2400" b="1" dirty="0">
                    <a:solidFill>
                      <a:srgbClr val="FF0000"/>
                    </a:solidFill>
                  </a:rPr>
                  <a:t>底辺が</a:t>
                </a:r>
                <a14:m>
                  <m:oMath xmlns:m="http://schemas.openxmlformats.org/officeDocument/2006/math">
                    <m:r>
                      <a:rPr lang="en-US" altLang="ja-JP" sz="2400" b="1" i="1" smtClean="0">
                        <a:solidFill>
                          <a:srgbClr val="FF0000"/>
                        </a:solidFill>
                        <a:latin typeface="Cambria Math" panose="02040503050406030204" pitchFamily="18" charset="0"/>
                      </a:rPr>
                      <m:t>𝒙</m:t>
                    </m:r>
                  </m:oMath>
                </a14:m>
                <a:r>
                  <a:rPr lang="ja-JP" altLang="en-US" sz="2400" b="1" dirty="0">
                    <a:solidFill>
                      <a:srgbClr val="FF0000"/>
                    </a:solidFill>
                  </a:rPr>
                  <a:t>座標</a:t>
                </a:r>
                <a:r>
                  <a:rPr lang="ja-JP" altLang="en-US" sz="2400" dirty="0"/>
                  <a:t>、</a:t>
                </a:r>
                <a:r>
                  <a:rPr lang="ja-JP" altLang="en-US" sz="2400" b="1" dirty="0">
                    <a:solidFill>
                      <a:srgbClr val="00B050"/>
                    </a:solidFill>
                  </a:rPr>
                  <a:t>高さが</a:t>
                </a:r>
                <a14:m>
                  <m:oMath xmlns:m="http://schemas.openxmlformats.org/officeDocument/2006/math">
                    <m:r>
                      <a:rPr lang="en-US" altLang="ja-JP" sz="2400" b="1" i="1" smtClean="0">
                        <a:solidFill>
                          <a:srgbClr val="00B050"/>
                        </a:solidFill>
                        <a:latin typeface="Cambria Math" panose="02040503050406030204" pitchFamily="18" charset="0"/>
                      </a:rPr>
                      <m:t>𝒚</m:t>
                    </m:r>
                  </m:oMath>
                </a14:m>
                <a:r>
                  <a:rPr lang="ja-JP" altLang="en-US" sz="2400" b="1" dirty="0">
                    <a:solidFill>
                      <a:srgbClr val="00B050"/>
                    </a:solidFill>
                  </a:rPr>
                  <a:t>座標</a:t>
                </a:r>
                <a:r>
                  <a:rPr lang="ja-JP" altLang="en-US" sz="2400" dirty="0"/>
                  <a:t>だということが分かります。</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383099" cy="461665"/>
              </a:xfrm>
              <a:prstGeom prst="rect">
                <a:avLst/>
              </a:prstGeom>
              <a:blipFill>
                <a:blip r:embed="rId2"/>
                <a:stretch>
                  <a:fillRect l="-881" t="-10667" r="-117" b="-30667"/>
                </a:stretch>
              </a:blipFill>
            </p:spPr>
            <p:txBody>
              <a:bodyPr/>
              <a:lstStyle/>
              <a:p>
                <a:r>
                  <a:rPr lang="ja-JP" altLang="en-US">
                    <a:noFill/>
                  </a:rPr>
                  <a:t> </a:t>
                </a:r>
              </a:p>
            </p:txBody>
          </p:sp>
        </mc:Fallback>
      </mc:AlternateContent>
      <p:grpSp>
        <p:nvGrpSpPr>
          <p:cNvPr id="9" name="グループ化 8">
            <a:extLst>
              <a:ext uri="{FF2B5EF4-FFF2-40B4-BE49-F238E27FC236}">
                <a16:creationId xmlns:a16="http://schemas.microsoft.com/office/drawing/2014/main" id="{270E4431-B0D5-47AB-8409-E6C3D596DE46}"/>
              </a:ext>
            </a:extLst>
          </p:cNvPr>
          <p:cNvGrpSpPr/>
          <p:nvPr/>
        </p:nvGrpSpPr>
        <p:grpSpPr>
          <a:xfrm>
            <a:off x="567542" y="1817794"/>
            <a:ext cx="3240000" cy="3240000"/>
            <a:chOff x="567542" y="1817794"/>
            <a:chExt cx="3240000" cy="3240000"/>
          </a:xfrm>
        </p:grpSpPr>
        <p:sp>
          <p:nvSpPr>
            <p:cNvPr id="2" name="楕円 1">
              <a:extLst>
                <a:ext uri="{FF2B5EF4-FFF2-40B4-BE49-F238E27FC236}">
                  <a16:creationId xmlns:a16="http://schemas.microsoft.com/office/drawing/2014/main" id="{AAED7805-C5C0-493E-B09A-1C8E588B73CE}"/>
                </a:ext>
              </a:extLst>
            </p:cNvPr>
            <p:cNvSpPr/>
            <p:nvPr/>
          </p:nvSpPr>
          <p:spPr>
            <a:xfrm>
              <a:off x="567542" y="1817794"/>
              <a:ext cx="3240000" cy="324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直線コネクタ 4">
              <a:extLst>
                <a:ext uri="{FF2B5EF4-FFF2-40B4-BE49-F238E27FC236}">
                  <a16:creationId xmlns:a16="http://schemas.microsoft.com/office/drawing/2014/main" id="{B81B389E-8653-4834-A014-04076D3C5B45}"/>
                </a:ext>
              </a:extLst>
            </p:cNvPr>
            <p:cNvCxnSpPr>
              <a:cxnSpLocks/>
              <a:stCxn id="2" idx="7"/>
            </p:cNvCxnSpPr>
            <p:nvPr/>
          </p:nvCxnSpPr>
          <p:spPr>
            <a:xfrm flipH="1">
              <a:off x="2187543" y="2292281"/>
              <a:ext cx="1145512" cy="1145512"/>
            </a:xfrm>
            <a:prstGeom prst="line">
              <a:avLst/>
            </a:prstGeom>
          </p:spPr>
          <p:style>
            <a:lnRef idx="1">
              <a:schemeClr val="accent1"/>
            </a:lnRef>
            <a:fillRef idx="0">
              <a:schemeClr val="accent1"/>
            </a:fillRef>
            <a:effectRef idx="0">
              <a:schemeClr val="accent1"/>
            </a:effectRef>
            <a:fontRef idx="minor">
              <a:schemeClr val="tx1"/>
            </a:fontRef>
          </p:style>
        </p:cxnSp>
        <p:sp>
          <p:nvSpPr>
            <p:cNvPr id="8" name="楕円 7">
              <a:extLst>
                <a:ext uri="{FF2B5EF4-FFF2-40B4-BE49-F238E27FC236}">
                  <a16:creationId xmlns:a16="http://schemas.microsoft.com/office/drawing/2014/main" id="{D8D2922A-0C39-41FB-98BF-160D9E8378FD}"/>
                </a:ext>
              </a:extLst>
            </p:cNvPr>
            <p:cNvSpPr/>
            <p:nvPr/>
          </p:nvSpPr>
          <p:spPr>
            <a:xfrm>
              <a:off x="2172745" y="3389152"/>
              <a:ext cx="72000" cy="7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E2965345-A580-4492-B240-B599CD8149F4}"/>
                    </a:ext>
                  </a:extLst>
                </p:cNvPr>
                <p:cNvSpPr txBox="1"/>
                <p:nvPr/>
              </p:nvSpPr>
              <p:spPr>
                <a:xfrm>
                  <a:off x="2506797" y="2495705"/>
                  <a:ext cx="3786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1</m:t>
                        </m:r>
                      </m:oMath>
                    </m:oMathPara>
                  </a14:m>
                  <a:endParaRPr lang="en-US" altLang="ja-JP" sz="2400" b="0" dirty="0"/>
                </a:p>
              </p:txBody>
            </p:sp>
          </mc:Choice>
          <mc:Fallback xmlns="">
            <p:sp>
              <p:nvSpPr>
                <p:cNvPr id="28" name="テキスト ボックス 27">
                  <a:extLst>
                    <a:ext uri="{FF2B5EF4-FFF2-40B4-BE49-F238E27FC236}">
                      <a16:creationId xmlns:a16="http://schemas.microsoft.com/office/drawing/2014/main" id="{E2965345-A580-4492-B240-B599CD8149F4}"/>
                    </a:ext>
                  </a:extLst>
                </p:cNvPr>
                <p:cNvSpPr txBox="1">
                  <a:spLocks noRot="1" noChangeAspect="1" noMove="1" noResize="1" noEditPoints="1" noAdjustHandles="1" noChangeArrowheads="1" noChangeShapeType="1" noTextEdit="1"/>
                </p:cNvSpPr>
                <p:nvPr/>
              </p:nvSpPr>
              <p:spPr>
                <a:xfrm>
                  <a:off x="2506797" y="2495705"/>
                  <a:ext cx="378630" cy="369332"/>
                </a:xfrm>
                <a:prstGeom prst="rect">
                  <a:avLst/>
                </a:prstGeom>
                <a:blipFill>
                  <a:blip r:embed="rId3"/>
                  <a:stretch>
                    <a:fillRect/>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B7E18FA8-B5E0-49F3-A26E-AB98111E0604}"/>
                  </a:ext>
                </a:extLst>
              </p:cNvPr>
              <p:cNvSpPr txBox="1"/>
              <p:nvPr/>
            </p:nvSpPr>
            <p:spPr>
              <a:xfrm>
                <a:off x="3241830" y="1976879"/>
                <a:ext cx="2162067"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sz="1600" b="1" i="1" smtClean="0">
                          <a:solidFill>
                            <a:srgbClr val="FF0000"/>
                          </a:solidFill>
                          <a:latin typeface="Cambria Math" panose="02040503050406030204" pitchFamily="18" charset="0"/>
                        </a:rPr>
                        <m:t>(</m:t>
                      </m:r>
                      <m:r>
                        <a:rPr lang="en-US" altLang="ja-JP" sz="1600" b="1" i="1" smtClean="0">
                          <a:solidFill>
                            <a:srgbClr val="FF0000"/>
                          </a:solidFill>
                          <a:latin typeface="Cambria Math" panose="02040503050406030204" pitchFamily="18" charset="0"/>
                        </a:rPr>
                        <m:t>𝒙</m:t>
                      </m:r>
                      <m:r>
                        <a:rPr lang="en-US" altLang="ja-JP" sz="1600" b="1" i="1" smtClean="0">
                          <a:solidFill>
                            <a:srgbClr val="FF0000"/>
                          </a:solidFill>
                          <a:latin typeface="Cambria Math" panose="02040503050406030204" pitchFamily="18" charset="0"/>
                        </a:rPr>
                        <m:t>=</m:t>
                      </m:r>
                      <m:r>
                        <a:rPr lang="en-US" altLang="ja-JP" sz="1600" b="1" i="1" smtClean="0">
                          <a:solidFill>
                            <a:srgbClr val="FF0000"/>
                          </a:solidFill>
                          <a:latin typeface="Cambria Math" panose="02040503050406030204" pitchFamily="18" charset="0"/>
                        </a:rPr>
                        <m:t>𝒄𝒐𝒔</m:t>
                      </m:r>
                      <m:r>
                        <a:rPr lang="en-US" altLang="ja-JP" sz="1600" b="1" i="1">
                          <a:solidFill>
                            <a:srgbClr val="FF0000"/>
                          </a:solidFill>
                          <a:latin typeface="Cambria Math" panose="02040503050406030204" pitchFamily="18" charset="0"/>
                        </a:rPr>
                        <m:t>𝜽</m:t>
                      </m:r>
                      <m:r>
                        <a:rPr lang="en-US" altLang="ja-JP" sz="1600" b="1" i="1" smtClean="0">
                          <a:solidFill>
                            <a:srgbClr val="FF0000"/>
                          </a:solidFill>
                          <a:latin typeface="Cambria Math" panose="02040503050406030204" pitchFamily="18" charset="0"/>
                        </a:rPr>
                        <m:t>, </m:t>
                      </m:r>
                      <m:r>
                        <a:rPr lang="en-US" altLang="ja-JP" sz="1600" b="1" i="1" smtClean="0">
                          <a:solidFill>
                            <a:srgbClr val="FF0000"/>
                          </a:solidFill>
                          <a:latin typeface="Cambria Math" panose="02040503050406030204" pitchFamily="18" charset="0"/>
                        </a:rPr>
                        <m:t>𝒚</m:t>
                      </m:r>
                      <m:r>
                        <a:rPr lang="en-US" altLang="ja-JP" sz="1600" b="1" i="1" smtClean="0">
                          <a:solidFill>
                            <a:srgbClr val="FF0000"/>
                          </a:solidFill>
                          <a:latin typeface="Cambria Math" panose="02040503050406030204" pitchFamily="18" charset="0"/>
                        </a:rPr>
                        <m:t>=</m:t>
                      </m:r>
                      <m:r>
                        <a:rPr lang="en-US" altLang="ja-JP" sz="1600" b="1" i="1" smtClean="0">
                          <a:solidFill>
                            <a:srgbClr val="FF0000"/>
                          </a:solidFill>
                          <a:latin typeface="Cambria Math" panose="02040503050406030204" pitchFamily="18" charset="0"/>
                        </a:rPr>
                        <m:t>𝒔𝒊𝒏</m:t>
                      </m:r>
                      <m:r>
                        <a:rPr lang="en-US" altLang="ja-JP" sz="1600" b="1" i="1">
                          <a:solidFill>
                            <a:srgbClr val="FF0000"/>
                          </a:solidFill>
                          <a:latin typeface="Cambria Math" panose="02040503050406030204" pitchFamily="18" charset="0"/>
                        </a:rPr>
                        <m:t>𝜽</m:t>
                      </m:r>
                      <m:r>
                        <a:rPr lang="en-US" altLang="ja-JP" sz="1600" b="1" i="1" smtClean="0">
                          <a:solidFill>
                            <a:srgbClr val="FF0000"/>
                          </a:solidFill>
                          <a:latin typeface="Cambria Math" panose="02040503050406030204" pitchFamily="18" charset="0"/>
                        </a:rPr>
                        <m:t>)</m:t>
                      </m:r>
                    </m:oMath>
                  </m:oMathPara>
                </a14:m>
                <a:endParaRPr lang="en-US" altLang="ja-JP" sz="2400" b="1" dirty="0">
                  <a:solidFill>
                    <a:srgbClr val="FF0000"/>
                  </a:solidFill>
                </a:endParaRPr>
              </a:p>
            </p:txBody>
          </p:sp>
        </mc:Choice>
        <mc:Fallback xmlns="">
          <p:sp>
            <p:nvSpPr>
              <p:cNvPr id="10" name="テキスト ボックス 9">
                <a:extLst>
                  <a:ext uri="{FF2B5EF4-FFF2-40B4-BE49-F238E27FC236}">
                    <a16:creationId xmlns:a16="http://schemas.microsoft.com/office/drawing/2014/main" id="{B7E18FA8-B5E0-49F3-A26E-AB98111E0604}"/>
                  </a:ext>
                </a:extLst>
              </p:cNvPr>
              <p:cNvSpPr txBox="1">
                <a:spLocks noRot="1" noChangeAspect="1" noMove="1" noResize="1" noEditPoints="1" noAdjustHandles="1" noChangeArrowheads="1" noChangeShapeType="1" noTextEdit="1"/>
              </p:cNvSpPr>
              <p:nvPr/>
            </p:nvSpPr>
            <p:spPr>
              <a:xfrm>
                <a:off x="3241830" y="1976879"/>
                <a:ext cx="2162067" cy="338554"/>
              </a:xfrm>
              <a:prstGeom prst="rect">
                <a:avLst/>
              </a:prstGeom>
              <a:blipFill>
                <a:blip r:embed="rId4"/>
                <a:stretch>
                  <a:fillRect b="-8929"/>
                </a:stretch>
              </a:blipFill>
            </p:spPr>
            <p:txBody>
              <a:bodyPr/>
              <a:lstStyle/>
              <a:p>
                <a:r>
                  <a:rPr lang="ja-JP" altLang="en-US">
                    <a:noFill/>
                  </a:rPr>
                  <a:t> </a:t>
                </a:r>
              </a:p>
            </p:txBody>
          </p:sp>
        </mc:Fallback>
      </mc:AlternateContent>
      <p:sp>
        <p:nvSpPr>
          <p:cNvPr id="3" name="楕円 2">
            <a:extLst>
              <a:ext uri="{FF2B5EF4-FFF2-40B4-BE49-F238E27FC236}">
                <a16:creationId xmlns:a16="http://schemas.microsoft.com/office/drawing/2014/main" id="{55A16614-6E84-4C44-8FD5-C48B7DBB0175}"/>
              </a:ext>
            </a:extLst>
          </p:cNvPr>
          <p:cNvSpPr/>
          <p:nvPr/>
        </p:nvSpPr>
        <p:spPr>
          <a:xfrm>
            <a:off x="3288482" y="2256638"/>
            <a:ext cx="72000" cy="7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D2B2B190-742C-470E-9768-AE739203DE5C}"/>
              </a:ext>
            </a:extLst>
          </p:cNvPr>
          <p:cNvCxnSpPr>
            <a:cxnSpLocks/>
            <a:stCxn id="2" idx="6"/>
          </p:cNvCxnSpPr>
          <p:nvPr/>
        </p:nvCxnSpPr>
        <p:spPr>
          <a:xfrm flipH="1" flipV="1">
            <a:off x="2244746" y="3429000"/>
            <a:ext cx="1562796" cy="879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5233A3FF-4C18-41AE-AA89-9316C601A4E6}"/>
              </a:ext>
            </a:extLst>
          </p:cNvPr>
          <p:cNvCxnSpPr>
            <a:cxnSpLocks/>
            <a:stCxn id="3" idx="4"/>
          </p:cNvCxnSpPr>
          <p:nvPr/>
        </p:nvCxnSpPr>
        <p:spPr>
          <a:xfrm>
            <a:off x="3324482" y="2328638"/>
            <a:ext cx="8573" cy="11047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04EB3287-2436-4F2E-B81C-1F469AC85381}"/>
              </a:ext>
            </a:extLst>
          </p:cNvPr>
          <p:cNvCxnSpPr>
            <a:cxnSpLocks/>
          </p:cNvCxnSpPr>
          <p:nvPr/>
        </p:nvCxnSpPr>
        <p:spPr>
          <a:xfrm>
            <a:off x="3211472" y="3345656"/>
            <a:ext cx="0" cy="877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DE8AEE79-67FC-4421-B0B7-20870D291061}"/>
              </a:ext>
            </a:extLst>
          </p:cNvPr>
          <p:cNvCxnSpPr>
            <a:cxnSpLocks/>
          </p:cNvCxnSpPr>
          <p:nvPr/>
        </p:nvCxnSpPr>
        <p:spPr>
          <a:xfrm>
            <a:off x="3211472" y="3345656"/>
            <a:ext cx="1215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円弧 22">
            <a:extLst>
              <a:ext uri="{FF2B5EF4-FFF2-40B4-BE49-F238E27FC236}">
                <a16:creationId xmlns:a16="http://schemas.microsoft.com/office/drawing/2014/main" id="{D1FF4381-7DBB-4DED-96BA-FBC62EE46B25}"/>
              </a:ext>
            </a:extLst>
          </p:cNvPr>
          <p:cNvSpPr/>
          <p:nvPr/>
        </p:nvSpPr>
        <p:spPr>
          <a:xfrm>
            <a:off x="2221842" y="3283015"/>
            <a:ext cx="211940" cy="272651"/>
          </a:xfrm>
          <a:prstGeom prst="arc">
            <a:avLst>
              <a:gd name="adj1" fmla="val 16602575"/>
              <a:gd name="adj2" fmla="val 231423"/>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4563FA22-CCB1-4600-9623-E7535162E5D1}"/>
                  </a:ext>
                </a:extLst>
              </p:cNvPr>
              <p:cNvSpPr txBox="1"/>
              <p:nvPr/>
            </p:nvSpPr>
            <p:spPr>
              <a:xfrm>
                <a:off x="2325969" y="3127398"/>
                <a:ext cx="3770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ja-JP" i="1">
                          <a:latin typeface="Cambria Math" panose="02040503050406030204" pitchFamily="18" charset="0"/>
                        </a:rPr>
                        <m:t>θ</m:t>
                      </m:r>
                    </m:oMath>
                  </m:oMathPara>
                </a14:m>
                <a:endParaRPr lang="en-US" altLang="ja-JP" sz="2400" b="0" dirty="0"/>
              </a:p>
            </p:txBody>
          </p:sp>
        </mc:Choice>
        <mc:Fallback xmlns="">
          <p:sp>
            <p:nvSpPr>
              <p:cNvPr id="25" name="テキスト ボックス 24">
                <a:extLst>
                  <a:ext uri="{FF2B5EF4-FFF2-40B4-BE49-F238E27FC236}">
                    <a16:creationId xmlns:a16="http://schemas.microsoft.com/office/drawing/2014/main" id="{4563FA22-CCB1-4600-9623-E7535162E5D1}"/>
                  </a:ext>
                </a:extLst>
              </p:cNvPr>
              <p:cNvSpPr txBox="1">
                <a:spLocks noRot="1" noChangeAspect="1" noMove="1" noResize="1" noEditPoints="1" noAdjustHandles="1" noChangeArrowheads="1" noChangeShapeType="1" noTextEdit="1"/>
              </p:cNvSpPr>
              <p:nvPr/>
            </p:nvSpPr>
            <p:spPr>
              <a:xfrm>
                <a:off x="2325969" y="3127398"/>
                <a:ext cx="377026" cy="369332"/>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3A96A0C8-C8DF-453F-A958-FD701E27ED4C}"/>
                  </a:ext>
                </a:extLst>
              </p:cNvPr>
              <p:cNvSpPr txBox="1"/>
              <p:nvPr/>
            </p:nvSpPr>
            <p:spPr>
              <a:xfrm>
                <a:off x="2615547" y="3389152"/>
                <a:ext cx="359201"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sz="1600" b="0" i="1" smtClean="0">
                          <a:solidFill>
                            <a:schemeClr val="tx1"/>
                          </a:solidFill>
                          <a:latin typeface="Cambria Math" panose="02040503050406030204" pitchFamily="18" charset="0"/>
                        </a:rPr>
                        <m:t>𝑥</m:t>
                      </m:r>
                    </m:oMath>
                  </m:oMathPara>
                </a14:m>
                <a:endParaRPr lang="en-US" altLang="ja-JP" sz="1600" dirty="0"/>
              </a:p>
            </p:txBody>
          </p:sp>
        </mc:Choice>
        <mc:Fallback xmlns="">
          <p:sp>
            <p:nvSpPr>
              <p:cNvPr id="18" name="テキスト ボックス 17">
                <a:extLst>
                  <a:ext uri="{FF2B5EF4-FFF2-40B4-BE49-F238E27FC236}">
                    <a16:creationId xmlns:a16="http://schemas.microsoft.com/office/drawing/2014/main" id="{3A96A0C8-C8DF-453F-A958-FD701E27ED4C}"/>
                  </a:ext>
                </a:extLst>
              </p:cNvPr>
              <p:cNvSpPr txBox="1">
                <a:spLocks noRot="1" noChangeAspect="1" noMove="1" noResize="1" noEditPoints="1" noAdjustHandles="1" noChangeArrowheads="1" noChangeShapeType="1" noTextEdit="1"/>
              </p:cNvSpPr>
              <p:nvPr/>
            </p:nvSpPr>
            <p:spPr>
              <a:xfrm>
                <a:off x="2615547" y="3389152"/>
                <a:ext cx="359201" cy="338554"/>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725F24E6-3960-4105-B616-5C3CF3EE0E20}"/>
                  </a:ext>
                </a:extLst>
              </p:cNvPr>
              <p:cNvSpPr txBox="1"/>
              <p:nvPr/>
            </p:nvSpPr>
            <p:spPr>
              <a:xfrm>
                <a:off x="3280172" y="2778456"/>
                <a:ext cx="362920"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sz="1600" b="0" i="1" smtClean="0">
                          <a:latin typeface="Cambria Math" panose="02040503050406030204" pitchFamily="18" charset="0"/>
                        </a:rPr>
                        <m:t>𝑦</m:t>
                      </m:r>
                    </m:oMath>
                  </m:oMathPara>
                </a14:m>
                <a:endParaRPr lang="en-US" altLang="ja-JP" sz="1600" dirty="0"/>
              </a:p>
            </p:txBody>
          </p:sp>
        </mc:Choice>
        <mc:Fallback xmlns="">
          <p:sp>
            <p:nvSpPr>
              <p:cNvPr id="19" name="テキスト ボックス 18">
                <a:extLst>
                  <a:ext uri="{FF2B5EF4-FFF2-40B4-BE49-F238E27FC236}">
                    <a16:creationId xmlns:a16="http://schemas.microsoft.com/office/drawing/2014/main" id="{725F24E6-3960-4105-B616-5C3CF3EE0E20}"/>
                  </a:ext>
                </a:extLst>
              </p:cNvPr>
              <p:cNvSpPr txBox="1">
                <a:spLocks noRot="1" noChangeAspect="1" noMove="1" noResize="1" noEditPoints="1" noAdjustHandles="1" noChangeArrowheads="1" noChangeShapeType="1" noTextEdit="1"/>
              </p:cNvSpPr>
              <p:nvPr/>
            </p:nvSpPr>
            <p:spPr>
              <a:xfrm>
                <a:off x="3280172" y="2778456"/>
                <a:ext cx="362920" cy="338554"/>
              </a:xfrm>
              <a:prstGeom prst="rect">
                <a:avLst/>
              </a:prstGeom>
              <a:blipFill>
                <a:blip r:embed="rId7"/>
                <a:stretch>
                  <a:fillRect b="-363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D412D964-4AC8-4791-9FF0-2208F89B8BAC}"/>
                  </a:ext>
                </a:extLst>
              </p:cNvPr>
              <p:cNvSpPr txBox="1"/>
              <p:nvPr/>
            </p:nvSpPr>
            <p:spPr>
              <a:xfrm>
                <a:off x="4735721" y="2778456"/>
                <a:ext cx="5586786" cy="1938992"/>
              </a:xfrm>
              <a:prstGeom prst="rect">
                <a:avLst/>
              </a:prstGeom>
              <a:noFill/>
            </p:spPr>
            <p:txBody>
              <a:bodyPr wrap="none" rtlCol="0">
                <a:spAutoFit/>
              </a:bodyPr>
              <a:lstStyle/>
              <a:p>
                <a:r>
                  <a:rPr lang="ja-JP" altLang="en-US" sz="2400" dirty="0"/>
                  <a:t>三角関数の公式から</a:t>
                </a:r>
                <a:endParaRPr lang="en-US" altLang="ja-JP" sz="2400" dirty="0"/>
              </a:p>
              <a:p>
                <a14:m>
                  <m:oMath xmlns:m="http://schemas.openxmlformats.org/officeDocument/2006/math">
                    <m:r>
                      <a:rPr lang="en-US" altLang="ja-JP" sz="2400" b="0" i="1" smtClean="0">
                        <a:solidFill>
                          <a:srgbClr val="FF0000"/>
                        </a:solidFill>
                        <a:latin typeface="Cambria Math" panose="02040503050406030204" pitchFamily="18" charset="0"/>
                      </a:rPr>
                      <m:t>𝑥</m:t>
                    </m:r>
                    <m:r>
                      <a:rPr lang="en-US" altLang="ja-JP" sz="2400" b="0" i="1" smtClean="0">
                        <a:solidFill>
                          <a:srgbClr val="FF0000"/>
                        </a:solidFill>
                        <a:latin typeface="Cambria Math" panose="02040503050406030204" pitchFamily="18" charset="0"/>
                      </a:rPr>
                      <m:t>=1×</m:t>
                    </m:r>
                    <m:r>
                      <a:rPr lang="en-US" altLang="ja-JP" sz="2400" b="0" i="1" smtClean="0">
                        <a:solidFill>
                          <a:srgbClr val="FF0000"/>
                        </a:solidFill>
                        <a:latin typeface="Cambria Math" panose="02040503050406030204" pitchFamily="18" charset="0"/>
                      </a:rPr>
                      <m:t>𝑐𝑜𝑠</m:t>
                    </m:r>
                    <m:r>
                      <a:rPr lang="en-US" altLang="ja-JP" sz="2400" b="0" i="1">
                        <a:solidFill>
                          <a:srgbClr val="FF0000"/>
                        </a:solidFill>
                        <a:latin typeface="Cambria Math" panose="02040503050406030204" pitchFamily="18" charset="0"/>
                      </a:rPr>
                      <m:t>𝜃</m:t>
                    </m:r>
                  </m:oMath>
                </a14:m>
                <a:r>
                  <a:rPr lang="en-US" altLang="ja-JP" sz="2400" dirty="0">
                    <a:solidFill>
                      <a:srgbClr val="FF0000"/>
                    </a:solidFill>
                  </a:rPr>
                  <a:t> </a:t>
                </a:r>
              </a:p>
              <a:p>
                <a14:m>
                  <m:oMath xmlns:m="http://schemas.openxmlformats.org/officeDocument/2006/math">
                    <m:r>
                      <a:rPr lang="en-US" altLang="ja-JP" sz="2400" b="0" i="1" smtClean="0">
                        <a:solidFill>
                          <a:srgbClr val="00B050"/>
                        </a:solidFill>
                        <a:latin typeface="Cambria Math" panose="02040503050406030204" pitchFamily="18" charset="0"/>
                      </a:rPr>
                      <m:t>𝑦</m:t>
                    </m:r>
                    <m:r>
                      <a:rPr lang="en-US" altLang="ja-JP" sz="2400" b="0" i="1" smtClean="0">
                        <a:solidFill>
                          <a:srgbClr val="00B050"/>
                        </a:solidFill>
                        <a:latin typeface="Cambria Math" panose="02040503050406030204" pitchFamily="18" charset="0"/>
                      </a:rPr>
                      <m:t>=1×</m:t>
                    </m:r>
                    <m:r>
                      <a:rPr lang="en-US" altLang="ja-JP" sz="2400" b="0" i="1" smtClean="0">
                        <a:solidFill>
                          <a:srgbClr val="00B050"/>
                        </a:solidFill>
                        <a:latin typeface="Cambria Math" panose="02040503050406030204" pitchFamily="18" charset="0"/>
                      </a:rPr>
                      <m:t>𝑠𝑖𝑛</m:t>
                    </m:r>
                    <m:r>
                      <a:rPr lang="en-US" altLang="ja-JP" sz="2400" b="0" i="1">
                        <a:solidFill>
                          <a:srgbClr val="00B050"/>
                        </a:solidFill>
                        <a:latin typeface="Cambria Math" panose="02040503050406030204" pitchFamily="18" charset="0"/>
                      </a:rPr>
                      <m:t>𝜃</m:t>
                    </m:r>
                  </m:oMath>
                </a14:m>
                <a:r>
                  <a:rPr lang="en-US" altLang="ja-JP" sz="2400" dirty="0">
                    <a:solidFill>
                      <a:srgbClr val="00B050"/>
                    </a:solidFill>
                  </a:rPr>
                  <a:t> </a:t>
                </a:r>
              </a:p>
              <a:p>
                <a:r>
                  <a:rPr lang="ja-JP" altLang="en-US" sz="2400" dirty="0"/>
                  <a:t>となるので、</a:t>
                </a:r>
                <a:endParaRPr lang="en-US" altLang="ja-JP" sz="2400" dirty="0"/>
              </a:p>
              <a:p>
                <a:r>
                  <a:rPr lang="ja-JP" altLang="en-US" sz="2400" dirty="0"/>
                  <a:t>円上の座標は</a:t>
                </a:r>
                <a14:m>
                  <m:oMath xmlns:m="http://schemas.openxmlformats.org/officeDocument/2006/math">
                    <m:r>
                      <a:rPr lang="en-US" altLang="ja-JP" sz="2400" b="1" i="1" smtClean="0">
                        <a:solidFill>
                          <a:srgbClr val="FF0000"/>
                        </a:solidFill>
                        <a:latin typeface="Cambria Math" panose="02040503050406030204" pitchFamily="18" charset="0"/>
                      </a:rPr>
                      <m:t>(</m:t>
                    </m:r>
                    <m:r>
                      <a:rPr lang="en-US" altLang="ja-JP" sz="2400" b="1" i="1" smtClean="0">
                        <a:solidFill>
                          <a:srgbClr val="FF0000"/>
                        </a:solidFill>
                        <a:latin typeface="Cambria Math" panose="02040503050406030204" pitchFamily="18" charset="0"/>
                      </a:rPr>
                      <m:t>𝒄𝒐𝒔</m:t>
                    </m:r>
                    <m:r>
                      <a:rPr lang="en-US" altLang="ja-JP" sz="2400" b="1" i="1">
                        <a:solidFill>
                          <a:srgbClr val="FF0000"/>
                        </a:solidFill>
                        <a:latin typeface="Cambria Math" panose="02040503050406030204" pitchFamily="18" charset="0"/>
                      </a:rPr>
                      <m:t>𝜽</m:t>
                    </m:r>
                    <m:r>
                      <a:rPr lang="en-US" altLang="ja-JP" sz="2400" b="1" i="1">
                        <a:solidFill>
                          <a:srgbClr val="FF0000"/>
                        </a:solidFill>
                        <a:latin typeface="Cambria Math" panose="02040503050406030204" pitchFamily="18" charset="0"/>
                      </a:rPr>
                      <m:t>,</m:t>
                    </m:r>
                    <m:r>
                      <a:rPr lang="en-US" altLang="ja-JP" sz="2400" b="1" i="1" smtClean="0">
                        <a:solidFill>
                          <a:srgbClr val="FF0000"/>
                        </a:solidFill>
                        <a:latin typeface="Cambria Math" panose="02040503050406030204" pitchFamily="18" charset="0"/>
                      </a:rPr>
                      <m:t>𝒔𝒊𝒏</m:t>
                    </m:r>
                    <m:r>
                      <a:rPr lang="en-US" altLang="ja-JP" sz="2400" b="1" i="1">
                        <a:solidFill>
                          <a:srgbClr val="FF0000"/>
                        </a:solidFill>
                        <a:latin typeface="Cambria Math" panose="02040503050406030204" pitchFamily="18" charset="0"/>
                      </a:rPr>
                      <m:t>𝜽</m:t>
                    </m:r>
                    <m:r>
                      <a:rPr lang="en-US" altLang="ja-JP" sz="2400" b="1" i="1" smtClean="0">
                        <a:solidFill>
                          <a:srgbClr val="FF0000"/>
                        </a:solidFill>
                        <a:latin typeface="Cambria Math" panose="02040503050406030204" pitchFamily="18" charset="0"/>
                      </a:rPr>
                      <m:t>)</m:t>
                    </m:r>
                  </m:oMath>
                </a14:m>
                <a:r>
                  <a:rPr lang="ja-JP" altLang="en-US" sz="2400" dirty="0"/>
                  <a:t>となります。</a:t>
                </a:r>
                <a:endParaRPr lang="en-US" altLang="ja-JP" sz="2400" dirty="0"/>
              </a:p>
            </p:txBody>
          </p:sp>
        </mc:Choice>
        <mc:Fallback xmlns="">
          <p:sp>
            <p:nvSpPr>
              <p:cNvPr id="20" name="テキスト ボックス 19">
                <a:extLst>
                  <a:ext uri="{FF2B5EF4-FFF2-40B4-BE49-F238E27FC236}">
                    <a16:creationId xmlns:a16="http://schemas.microsoft.com/office/drawing/2014/main" id="{D412D964-4AC8-4791-9FF0-2208F89B8BAC}"/>
                  </a:ext>
                </a:extLst>
              </p:cNvPr>
              <p:cNvSpPr txBox="1">
                <a:spLocks noRot="1" noChangeAspect="1" noMove="1" noResize="1" noEditPoints="1" noAdjustHandles="1" noChangeArrowheads="1" noChangeShapeType="1" noTextEdit="1"/>
              </p:cNvSpPr>
              <p:nvPr/>
            </p:nvSpPr>
            <p:spPr>
              <a:xfrm>
                <a:off x="4735721" y="2778456"/>
                <a:ext cx="5586786" cy="1938992"/>
              </a:xfrm>
              <a:prstGeom prst="rect">
                <a:avLst/>
              </a:prstGeom>
              <a:blipFill>
                <a:blip r:embed="rId8"/>
                <a:stretch>
                  <a:fillRect l="-1747" t="-2516" r="-764" b="-628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528752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単位円</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461665"/>
          </a:xfrm>
          <a:prstGeom prst="rect">
            <a:avLst/>
          </a:prstGeom>
          <a:noFill/>
        </p:spPr>
        <p:txBody>
          <a:bodyPr wrap="none" rtlCol="0">
            <a:spAutoFit/>
          </a:bodyPr>
          <a:lstStyle/>
          <a:p>
            <a:r>
              <a:rPr lang="ja-JP" altLang="en-US" sz="2400" dirty="0"/>
              <a:t>このことから円の半径が長くなっても計算が簡単なことが分かります。</a:t>
            </a:r>
            <a:endParaRPr lang="en-US" altLang="ja-JP" sz="2400" dirty="0"/>
          </a:p>
        </p:txBody>
      </p:sp>
      <p:grpSp>
        <p:nvGrpSpPr>
          <p:cNvPr id="9" name="グループ化 8">
            <a:extLst>
              <a:ext uri="{FF2B5EF4-FFF2-40B4-BE49-F238E27FC236}">
                <a16:creationId xmlns:a16="http://schemas.microsoft.com/office/drawing/2014/main" id="{270E4431-B0D5-47AB-8409-E6C3D596DE46}"/>
              </a:ext>
            </a:extLst>
          </p:cNvPr>
          <p:cNvGrpSpPr/>
          <p:nvPr/>
        </p:nvGrpSpPr>
        <p:grpSpPr>
          <a:xfrm>
            <a:off x="567542" y="1817794"/>
            <a:ext cx="3240000" cy="3240000"/>
            <a:chOff x="567542" y="1817794"/>
            <a:chExt cx="3240000" cy="3240000"/>
          </a:xfrm>
        </p:grpSpPr>
        <p:sp>
          <p:nvSpPr>
            <p:cNvPr id="2" name="楕円 1">
              <a:extLst>
                <a:ext uri="{FF2B5EF4-FFF2-40B4-BE49-F238E27FC236}">
                  <a16:creationId xmlns:a16="http://schemas.microsoft.com/office/drawing/2014/main" id="{AAED7805-C5C0-493E-B09A-1C8E588B73CE}"/>
                </a:ext>
              </a:extLst>
            </p:cNvPr>
            <p:cNvSpPr/>
            <p:nvPr/>
          </p:nvSpPr>
          <p:spPr>
            <a:xfrm>
              <a:off x="567542" y="1817794"/>
              <a:ext cx="3240000" cy="324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直線コネクタ 4">
              <a:extLst>
                <a:ext uri="{FF2B5EF4-FFF2-40B4-BE49-F238E27FC236}">
                  <a16:creationId xmlns:a16="http://schemas.microsoft.com/office/drawing/2014/main" id="{B81B389E-8653-4834-A014-04076D3C5B45}"/>
                </a:ext>
              </a:extLst>
            </p:cNvPr>
            <p:cNvCxnSpPr>
              <a:cxnSpLocks/>
              <a:stCxn id="2" idx="7"/>
            </p:cNvCxnSpPr>
            <p:nvPr/>
          </p:nvCxnSpPr>
          <p:spPr>
            <a:xfrm flipH="1">
              <a:off x="2187543" y="2292281"/>
              <a:ext cx="1145512" cy="1145512"/>
            </a:xfrm>
            <a:prstGeom prst="line">
              <a:avLst/>
            </a:prstGeom>
          </p:spPr>
          <p:style>
            <a:lnRef idx="1">
              <a:schemeClr val="accent1"/>
            </a:lnRef>
            <a:fillRef idx="0">
              <a:schemeClr val="accent1"/>
            </a:fillRef>
            <a:effectRef idx="0">
              <a:schemeClr val="accent1"/>
            </a:effectRef>
            <a:fontRef idx="minor">
              <a:schemeClr val="tx1"/>
            </a:fontRef>
          </p:style>
        </p:cxnSp>
        <p:sp>
          <p:nvSpPr>
            <p:cNvPr id="8" name="楕円 7">
              <a:extLst>
                <a:ext uri="{FF2B5EF4-FFF2-40B4-BE49-F238E27FC236}">
                  <a16:creationId xmlns:a16="http://schemas.microsoft.com/office/drawing/2014/main" id="{D8D2922A-0C39-41FB-98BF-160D9E8378FD}"/>
                </a:ext>
              </a:extLst>
            </p:cNvPr>
            <p:cNvSpPr/>
            <p:nvPr/>
          </p:nvSpPr>
          <p:spPr>
            <a:xfrm>
              <a:off x="2172745" y="3389152"/>
              <a:ext cx="72000" cy="7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E2965345-A580-4492-B240-B599CD8149F4}"/>
                    </a:ext>
                  </a:extLst>
                </p:cNvPr>
                <p:cNvSpPr txBox="1"/>
                <p:nvPr/>
              </p:nvSpPr>
              <p:spPr>
                <a:xfrm>
                  <a:off x="2506797" y="2495705"/>
                  <a:ext cx="50687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30</m:t>
                        </m:r>
                      </m:oMath>
                    </m:oMathPara>
                  </a14:m>
                  <a:endParaRPr lang="en-US" altLang="ja-JP" sz="2400" b="0" dirty="0"/>
                </a:p>
              </p:txBody>
            </p:sp>
          </mc:Choice>
          <mc:Fallback xmlns="">
            <p:sp>
              <p:nvSpPr>
                <p:cNvPr id="28" name="テキスト ボックス 27">
                  <a:extLst>
                    <a:ext uri="{FF2B5EF4-FFF2-40B4-BE49-F238E27FC236}">
                      <a16:creationId xmlns:a16="http://schemas.microsoft.com/office/drawing/2014/main" id="{E2965345-A580-4492-B240-B599CD8149F4}"/>
                    </a:ext>
                  </a:extLst>
                </p:cNvPr>
                <p:cNvSpPr txBox="1">
                  <a:spLocks noRot="1" noChangeAspect="1" noMove="1" noResize="1" noEditPoints="1" noAdjustHandles="1" noChangeArrowheads="1" noChangeShapeType="1" noTextEdit="1"/>
                </p:cNvSpPr>
                <p:nvPr/>
              </p:nvSpPr>
              <p:spPr>
                <a:xfrm>
                  <a:off x="2506797" y="2495705"/>
                  <a:ext cx="506870" cy="369332"/>
                </a:xfrm>
                <a:prstGeom prst="rect">
                  <a:avLst/>
                </a:prstGeom>
                <a:blipFill>
                  <a:blip r:embed="rId2"/>
                  <a:stretch>
                    <a:fillRect/>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B7E18FA8-B5E0-49F3-A26E-AB98111E0604}"/>
                  </a:ext>
                </a:extLst>
              </p:cNvPr>
              <p:cNvSpPr txBox="1"/>
              <p:nvPr/>
            </p:nvSpPr>
            <p:spPr>
              <a:xfrm>
                <a:off x="3241830" y="1976879"/>
                <a:ext cx="2617320"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sz="1600" b="1" i="1" smtClean="0">
                          <a:solidFill>
                            <a:srgbClr val="FF0000"/>
                          </a:solidFill>
                          <a:latin typeface="Cambria Math" panose="02040503050406030204" pitchFamily="18" charset="0"/>
                        </a:rPr>
                        <m:t>(</m:t>
                      </m:r>
                      <m:r>
                        <a:rPr lang="en-US" altLang="ja-JP" sz="1600" b="1" i="1" smtClean="0">
                          <a:solidFill>
                            <a:srgbClr val="FF0000"/>
                          </a:solidFill>
                          <a:latin typeface="Cambria Math" panose="02040503050406030204" pitchFamily="18" charset="0"/>
                        </a:rPr>
                        <m:t>𝒙</m:t>
                      </m:r>
                      <m:r>
                        <a:rPr lang="en-US" altLang="ja-JP" sz="1600" b="1" i="1" smtClean="0">
                          <a:solidFill>
                            <a:srgbClr val="FF0000"/>
                          </a:solidFill>
                          <a:latin typeface="Cambria Math" panose="02040503050406030204" pitchFamily="18" charset="0"/>
                        </a:rPr>
                        <m:t>=30</m:t>
                      </m:r>
                      <m:r>
                        <a:rPr lang="en-US" altLang="ja-JP" sz="1600" b="1" i="1" smtClean="0">
                          <a:solidFill>
                            <a:srgbClr val="FF0000"/>
                          </a:solidFill>
                          <a:latin typeface="Cambria Math" panose="02040503050406030204" pitchFamily="18" charset="0"/>
                        </a:rPr>
                        <m:t>𝒄𝒐𝒔</m:t>
                      </m:r>
                      <m:r>
                        <a:rPr lang="en-US" altLang="ja-JP" sz="1600" b="1" i="1">
                          <a:solidFill>
                            <a:srgbClr val="FF0000"/>
                          </a:solidFill>
                          <a:latin typeface="Cambria Math" panose="02040503050406030204" pitchFamily="18" charset="0"/>
                        </a:rPr>
                        <m:t>𝜽</m:t>
                      </m:r>
                      <m:r>
                        <a:rPr lang="en-US" altLang="ja-JP" sz="1600" b="1" i="1" smtClean="0">
                          <a:solidFill>
                            <a:srgbClr val="FF0000"/>
                          </a:solidFill>
                          <a:latin typeface="Cambria Math" panose="02040503050406030204" pitchFamily="18" charset="0"/>
                        </a:rPr>
                        <m:t>, </m:t>
                      </m:r>
                      <m:r>
                        <a:rPr lang="en-US" altLang="ja-JP" sz="1600" b="1" i="1" smtClean="0">
                          <a:solidFill>
                            <a:srgbClr val="FF0000"/>
                          </a:solidFill>
                          <a:latin typeface="Cambria Math" panose="02040503050406030204" pitchFamily="18" charset="0"/>
                        </a:rPr>
                        <m:t>𝒚</m:t>
                      </m:r>
                      <m:r>
                        <a:rPr lang="en-US" altLang="ja-JP" sz="1600" b="1" i="1" smtClean="0">
                          <a:solidFill>
                            <a:srgbClr val="FF0000"/>
                          </a:solidFill>
                          <a:latin typeface="Cambria Math" panose="02040503050406030204" pitchFamily="18" charset="0"/>
                        </a:rPr>
                        <m:t>=30</m:t>
                      </m:r>
                      <m:r>
                        <a:rPr lang="en-US" altLang="ja-JP" sz="1600" b="1" i="1" smtClean="0">
                          <a:solidFill>
                            <a:srgbClr val="FF0000"/>
                          </a:solidFill>
                          <a:latin typeface="Cambria Math" panose="02040503050406030204" pitchFamily="18" charset="0"/>
                        </a:rPr>
                        <m:t>𝒔𝒊𝒏</m:t>
                      </m:r>
                      <m:r>
                        <a:rPr lang="en-US" altLang="ja-JP" sz="1600" b="1" i="1">
                          <a:solidFill>
                            <a:srgbClr val="FF0000"/>
                          </a:solidFill>
                          <a:latin typeface="Cambria Math" panose="02040503050406030204" pitchFamily="18" charset="0"/>
                        </a:rPr>
                        <m:t>𝜽</m:t>
                      </m:r>
                      <m:r>
                        <a:rPr lang="en-US" altLang="ja-JP" sz="1600" b="1" i="1" smtClean="0">
                          <a:solidFill>
                            <a:srgbClr val="FF0000"/>
                          </a:solidFill>
                          <a:latin typeface="Cambria Math" panose="02040503050406030204" pitchFamily="18" charset="0"/>
                        </a:rPr>
                        <m:t>)</m:t>
                      </m:r>
                    </m:oMath>
                  </m:oMathPara>
                </a14:m>
                <a:endParaRPr lang="en-US" altLang="ja-JP" sz="2400" b="1" dirty="0">
                  <a:solidFill>
                    <a:srgbClr val="FF0000"/>
                  </a:solidFill>
                </a:endParaRPr>
              </a:p>
            </p:txBody>
          </p:sp>
        </mc:Choice>
        <mc:Fallback xmlns="">
          <p:sp>
            <p:nvSpPr>
              <p:cNvPr id="10" name="テキスト ボックス 9">
                <a:extLst>
                  <a:ext uri="{FF2B5EF4-FFF2-40B4-BE49-F238E27FC236}">
                    <a16:creationId xmlns:a16="http://schemas.microsoft.com/office/drawing/2014/main" id="{B7E18FA8-B5E0-49F3-A26E-AB98111E0604}"/>
                  </a:ext>
                </a:extLst>
              </p:cNvPr>
              <p:cNvSpPr txBox="1">
                <a:spLocks noRot="1" noChangeAspect="1" noMove="1" noResize="1" noEditPoints="1" noAdjustHandles="1" noChangeArrowheads="1" noChangeShapeType="1" noTextEdit="1"/>
              </p:cNvSpPr>
              <p:nvPr/>
            </p:nvSpPr>
            <p:spPr>
              <a:xfrm>
                <a:off x="3241830" y="1976879"/>
                <a:ext cx="2617320" cy="338554"/>
              </a:xfrm>
              <a:prstGeom prst="rect">
                <a:avLst/>
              </a:prstGeom>
              <a:blipFill>
                <a:blip r:embed="rId3"/>
                <a:stretch>
                  <a:fillRect b="-8929"/>
                </a:stretch>
              </a:blipFill>
            </p:spPr>
            <p:txBody>
              <a:bodyPr/>
              <a:lstStyle/>
              <a:p>
                <a:r>
                  <a:rPr lang="ja-JP" altLang="en-US">
                    <a:noFill/>
                  </a:rPr>
                  <a:t> </a:t>
                </a:r>
              </a:p>
            </p:txBody>
          </p:sp>
        </mc:Fallback>
      </mc:AlternateContent>
      <p:sp>
        <p:nvSpPr>
          <p:cNvPr id="3" name="楕円 2">
            <a:extLst>
              <a:ext uri="{FF2B5EF4-FFF2-40B4-BE49-F238E27FC236}">
                <a16:creationId xmlns:a16="http://schemas.microsoft.com/office/drawing/2014/main" id="{55A16614-6E84-4C44-8FD5-C48B7DBB0175}"/>
              </a:ext>
            </a:extLst>
          </p:cNvPr>
          <p:cNvSpPr/>
          <p:nvPr/>
        </p:nvSpPr>
        <p:spPr>
          <a:xfrm>
            <a:off x="3288482" y="2256638"/>
            <a:ext cx="72000" cy="7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D2B2B190-742C-470E-9768-AE739203DE5C}"/>
              </a:ext>
            </a:extLst>
          </p:cNvPr>
          <p:cNvCxnSpPr>
            <a:cxnSpLocks/>
            <a:stCxn id="2" idx="6"/>
          </p:cNvCxnSpPr>
          <p:nvPr/>
        </p:nvCxnSpPr>
        <p:spPr>
          <a:xfrm flipH="1" flipV="1">
            <a:off x="2244746" y="3429000"/>
            <a:ext cx="1562796" cy="879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5233A3FF-4C18-41AE-AA89-9316C601A4E6}"/>
              </a:ext>
            </a:extLst>
          </p:cNvPr>
          <p:cNvCxnSpPr>
            <a:cxnSpLocks/>
            <a:stCxn id="3" idx="4"/>
          </p:cNvCxnSpPr>
          <p:nvPr/>
        </p:nvCxnSpPr>
        <p:spPr>
          <a:xfrm>
            <a:off x="3324482" y="2328638"/>
            <a:ext cx="8573" cy="11047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04EB3287-2436-4F2E-B81C-1F469AC85381}"/>
              </a:ext>
            </a:extLst>
          </p:cNvPr>
          <p:cNvCxnSpPr>
            <a:cxnSpLocks/>
          </p:cNvCxnSpPr>
          <p:nvPr/>
        </p:nvCxnSpPr>
        <p:spPr>
          <a:xfrm>
            <a:off x="3211472" y="3345656"/>
            <a:ext cx="0" cy="877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DE8AEE79-67FC-4421-B0B7-20870D291061}"/>
              </a:ext>
            </a:extLst>
          </p:cNvPr>
          <p:cNvCxnSpPr>
            <a:cxnSpLocks/>
          </p:cNvCxnSpPr>
          <p:nvPr/>
        </p:nvCxnSpPr>
        <p:spPr>
          <a:xfrm>
            <a:off x="3211472" y="3345656"/>
            <a:ext cx="1215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円弧 22">
            <a:extLst>
              <a:ext uri="{FF2B5EF4-FFF2-40B4-BE49-F238E27FC236}">
                <a16:creationId xmlns:a16="http://schemas.microsoft.com/office/drawing/2014/main" id="{D1FF4381-7DBB-4DED-96BA-FBC62EE46B25}"/>
              </a:ext>
            </a:extLst>
          </p:cNvPr>
          <p:cNvSpPr/>
          <p:nvPr/>
        </p:nvSpPr>
        <p:spPr>
          <a:xfrm>
            <a:off x="2221842" y="3283015"/>
            <a:ext cx="211940" cy="272651"/>
          </a:xfrm>
          <a:prstGeom prst="arc">
            <a:avLst>
              <a:gd name="adj1" fmla="val 16602575"/>
              <a:gd name="adj2" fmla="val 231423"/>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4563FA22-CCB1-4600-9623-E7535162E5D1}"/>
                  </a:ext>
                </a:extLst>
              </p:cNvPr>
              <p:cNvSpPr txBox="1"/>
              <p:nvPr/>
            </p:nvSpPr>
            <p:spPr>
              <a:xfrm>
                <a:off x="2325969" y="3127398"/>
                <a:ext cx="3770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ja-JP" i="1">
                          <a:latin typeface="Cambria Math" panose="02040503050406030204" pitchFamily="18" charset="0"/>
                        </a:rPr>
                        <m:t>θ</m:t>
                      </m:r>
                    </m:oMath>
                  </m:oMathPara>
                </a14:m>
                <a:endParaRPr lang="en-US" altLang="ja-JP" sz="2400" b="0" dirty="0"/>
              </a:p>
            </p:txBody>
          </p:sp>
        </mc:Choice>
        <mc:Fallback xmlns="">
          <p:sp>
            <p:nvSpPr>
              <p:cNvPr id="25" name="テキスト ボックス 24">
                <a:extLst>
                  <a:ext uri="{FF2B5EF4-FFF2-40B4-BE49-F238E27FC236}">
                    <a16:creationId xmlns:a16="http://schemas.microsoft.com/office/drawing/2014/main" id="{4563FA22-CCB1-4600-9623-E7535162E5D1}"/>
                  </a:ext>
                </a:extLst>
              </p:cNvPr>
              <p:cNvSpPr txBox="1">
                <a:spLocks noRot="1" noChangeAspect="1" noMove="1" noResize="1" noEditPoints="1" noAdjustHandles="1" noChangeArrowheads="1" noChangeShapeType="1" noTextEdit="1"/>
              </p:cNvSpPr>
              <p:nvPr/>
            </p:nvSpPr>
            <p:spPr>
              <a:xfrm>
                <a:off x="2325969" y="3127398"/>
                <a:ext cx="377026" cy="369332"/>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3A96A0C8-C8DF-453F-A958-FD701E27ED4C}"/>
                  </a:ext>
                </a:extLst>
              </p:cNvPr>
              <p:cNvSpPr txBox="1"/>
              <p:nvPr/>
            </p:nvSpPr>
            <p:spPr>
              <a:xfrm>
                <a:off x="2615547" y="3389152"/>
                <a:ext cx="359201"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sz="1600" b="0" i="1" smtClean="0">
                          <a:solidFill>
                            <a:schemeClr val="tx1"/>
                          </a:solidFill>
                          <a:latin typeface="Cambria Math" panose="02040503050406030204" pitchFamily="18" charset="0"/>
                        </a:rPr>
                        <m:t>𝑥</m:t>
                      </m:r>
                    </m:oMath>
                  </m:oMathPara>
                </a14:m>
                <a:endParaRPr lang="en-US" altLang="ja-JP" sz="1600" dirty="0"/>
              </a:p>
            </p:txBody>
          </p:sp>
        </mc:Choice>
        <mc:Fallback xmlns="">
          <p:sp>
            <p:nvSpPr>
              <p:cNvPr id="18" name="テキスト ボックス 17">
                <a:extLst>
                  <a:ext uri="{FF2B5EF4-FFF2-40B4-BE49-F238E27FC236}">
                    <a16:creationId xmlns:a16="http://schemas.microsoft.com/office/drawing/2014/main" id="{3A96A0C8-C8DF-453F-A958-FD701E27ED4C}"/>
                  </a:ext>
                </a:extLst>
              </p:cNvPr>
              <p:cNvSpPr txBox="1">
                <a:spLocks noRot="1" noChangeAspect="1" noMove="1" noResize="1" noEditPoints="1" noAdjustHandles="1" noChangeArrowheads="1" noChangeShapeType="1" noTextEdit="1"/>
              </p:cNvSpPr>
              <p:nvPr/>
            </p:nvSpPr>
            <p:spPr>
              <a:xfrm>
                <a:off x="2615547" y="3389152"/>
                <a:ext cx="359201" cy="338554"/>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725F24E6-3960-4105-B616-5C3CF3EE0E20}"/>
                  </a:ext>
                </a:extLst>
              </p:cNvPr>
              <p:cNvSpPr txBox="1"/>
              <p:nvPr/>
            </p:nvSpPr>
            <p:spPr>
              <a:xfrm>
                <a:off x="3280172" y="2778456"/>
                <a:ext cx="362920"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sz="1600" b="0" i="1" smtClean="0">
                          <a:latin typeface="Cambria Math" panose="02040503050406030204" pitchFamily="18" charset="0"/>
                        </a:rPr>
                        <m:t>𝑦</m:t>
                      </m:r>
                    </m:oMath>
                  </m:oMathPara>
                </a14:m>
                <a:endParaRPr lang="en-US" altLang="ja-JP" sz="1600" dirty="0"/>
              </a:p>
            </p:txBody>
          </p:sp>
        </mc:Choice>
        <mc:Fallback xmlns="">
          <p:sp>
            <p:nvSpPr>
              <p:cNvPr id="19" name="テキスト ボックス 18">
                <a:extLst>
                  <a:ext uri="{FF2B5EF4-FFF2-40B4-BE49-F238E27FC236}">
                    <a16:creationId xmlns:a16="http://schemas.microsoft.com/office/drawing/2014/main" id="{725F24E6-3960-4105-B616-5C3CF3EE0E20}"/>
                  </a:ext>
                </a:extLst>
              </p:cNvPr>
              <p:cNvSpPr txBox="1">
                <a:spLocks noRot="1" noChangeAspect="1" noMove="1" noResize="1" noEditPoints="1" noAdjustHandles="1" noChangeArrowheads="1" noChangeShapeType="1" noTextEdit="1"/>
              </p:cNvSpPr>
              <p:nvPr/>
            </p:nvSpPr>
            <p:spPr>
              <a:xfrm>
                <a:off x="3280172" y="2778456"/>
                <a:ext cx="362920" cy="338554"/>
              </a:xfrm>
              <a:prstGeom prst="rect">
                <a:avLst/>
              </a:prstGeom>
              <a:blipFill>
                <a:blip r:embed="rId6"/>
                <a:stretch>
                  <a:fillRect b="-363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D412D964-4AC8-4791-9FF0-2208F89B8BAC}"/>
                  </a:ext>
                </a:extLst>
              </p:cNvPr>
              <p:cNvSpPr txBox="1"/>
              <p:nvPr/>
            </p:nvSpPr>
            <p:spPr>
              <a:xfrm>
                <a:off x="4735721" y="2778456"/>
                <a:ext cx="6266459" cy="1938992"/>
              </a:xfrm>
              <a:prstGeom prst="rect">
                <a:avLst/>
              </a:prstGeom>
              <a:noFill/>
            </p:spPr>
            <p:txBody>
              <a:bodyPr wrap="none" rtlCol="0">
                <a:spAutoFit/>
              </a:bodyPr>
              <a:lstStyle/>
              <a:p>
                <a:r>
                  <a:rPr lang="ja-JP" altLang="en-US" sz="2400" dirty="0"/>
                  <a:t>三角関数の公式から</a:t>
                </a:r>
                <a:endParaRPr lang="en-US" altLang="ja-JP" sz="2400" dirty="0"/>
              </a:p>
              <a:p>
                <a14:m>
                  <m:oMath xmlns:m="http://schemas.openxmlformats.org/officeDocument/2006/math">
                    <m:r>
                      <a:rPr lang="en-US" altLang="ja-JP" sz="2400" b="0" i="1" smtClean="0">
                        <a:solidFill>
                          <a:srgbClr val="FF0000"/>
                        </a:solidFill>
                        <a:latin typeface="Cambria Math" panose="02040503050406030204" pitchFamily="18" charset="0"/>
                      </a:rPr>
                      <m:t>𝑥</m:t>
                    </m:r>
                    <m:r>
                      <a:rPr lang="en-US" altLang="ja-JP" sz="2400" b="0" i="1" smtClean="0">
                        <a:solidFill>
                          <a:srgbClr val="FF0000"/>
                        </a:solidFill>
                        <a:latin typeface="Cambria Math" panose="02040503050406030204" pitchFamily="18" charset="0"/>
                      </a:rPr>
                      <m:t>=30×</m:t>
                    </m:r>
                    <m:r>
                      <a:rPr lang="en-US" altLang="ja-JP" sz="2400" b="0" i="1" smtClean="0">
                        <a:solidFill>
                          <a:srgbClr val="FF0000"/>
                        </a:solidFill>
                        <a:latin typeface="Cambria Math" panose="02040503050406030204" pitchFamily="18" charset="0"/>
                      </a:rPr>
                      <m:t>𝑐𝑜𝑠</m:t>
                    </m:r>
                    <m:r>
                      <a:rPr lang="en-US" altLang="ja-JP" sz="2400" b="0" i="1">
                        <a:solidFill>
                          <a:srgbClr val="FF0000"/>
                        </a:solidFill>
                        <a:latin typeface="Cambria Math" panose="02040503050406030204" pitchFamily="18" charset="0"/>
                      </a:rPr>
                      <m:t>𝜃</m:t>
                    </m:r>
                  </m:oMath>
                </a14:m>
                <a:r>
                  <a:rPr lang="en-US" altLang="ja-JP" sz="2400" dirty="0">
                    <a:solidFill>
                      <a:srgbClr val="FF0000"/>
                    </a:solidFill>
                  </a:rPr>
                  <a:t> </a:t>
                </a:r>
              </a:p>
              <a:p>
                <a14:m>
                  <m:oMath xmlns:m="http://schemas.openxmlformats.org/officeDocument/2006/math">
                    <m:r>
                      <a:rPr lang="en-US" altLang="ja-JP" sz="2400" b="0" i="1" smtClean="0">
                        <a:solidFill>
                          <a:srgbClr val="00B050"/>
                        </a:solidFill>
                        <a:latin typeface="Cambria Math" panose="02040503050406030204" pitchFamily="18" charset="0"/>
                      </a:rPr>
                      <m:t>𝑦</m:t>
                    </m:r>
                    <m:r>
                      <a:rPr lang="en-US" altLang="ja-JP" sz="2400" b="0" i="1" smtClean="0">
                        <a:solidFill>
                          <a:srgbClr val="00B050"/>
                        </a:solidFill>
                        <a:latin typeface="Cambria Math" panose="02040503050406030204" pitchFamily="18" charset="0"/>
                      </a:rPr>
                      <m:t>=30×</m:t>
                    </m:r>
                    <m:r>
                      <a:rPr lang="en-US" altLang="ja-JP" sz="2400" b="0" i="1" smtClean="0">
                        <a:solidFill>
                          <a:srgbClr val="00B050"/>
                        </a:solidFill>
                        <a:latin typeface="Cambria Math" panose="02040503050406030204" pitchFamily="18" charset="0"/>
                      </a:rPr>
                      <m:t>𝑠𝑖𝑛</m:t>
                    </m:r>
                    <m:r>
                      <a:rPr lang="en-US" altLang="ja-JP" sz="2400" b="0" i="1">
                        <a:solidFill>
                          <a:srgbClr val="00B050"/>
                        </a:solidFill>
                        <a:latin typeface="Cambria Math" panose="02040503050406030204" pitchFamily="18" charset="0"/>
                      </a:rPr>
                      <m:t>𝜃</m:t>
                    </m:r>
                  </m:oMath>
                </a14:m>
                <a:r>
                  <a:rPr lang="en-US" altLang="ja-JP" sz="2400" dirty="0">
                    <a:solidFill>
                      <a:srgbClr val="00B050"/>
                    </a:solidFill>
                  </a:rPr>
                  <a:t> </a:t>
                </a:r>
              </a:p>
              <a:p>
                <a:r>
                  <a:rPr lang="ja-JP" altLang="en-US" sz="2400" dirty="0"/>
                  <a:t>となるので、</a:t>
                </a:r>
                <a:endParaRPr lang="en-US" altLang="ja-JP" sz="2400" dirty="0"/>
              </a:p>
              <a:p>
                <a:r>
                  <a:rPr lang="ja-JP" altLang="en-US" sz="2400" dirty="0"/>
                  <a:t>円上の座標は</a:t>
                </a:r>
                <a14:m>
                  <m:oMath xmlns:m="http://schemas.openxmlformats.org/officeDocument/2006/math">
                    <m:r>
                      <a:rPr lang="en-US" altLang="ja-JP" sz="2400" b="1" i="1" smtClean="0">
                        <a:solidFill>
                          <a:srgbClr val="FF0000"/>
                        </a:solidFill>
                        <a:latin typeface="Cambria Math" panose="02040503050406030204" pitchFamily="18" charset="0"/>
                      </a:rPr>
                      <m:t>(</m:t>
                    </m:r>
                    <m:r>
                      <a:rPr lang="en-US" altLang="ja-JP" sz="2400" b="1" i="1">
                        <a:solidFill>
                          <a:srgbClr val="FF0000"/>
                        </a:solidFill>
                        <a:latin typeface="Cambria Math" panose="02040503050406030204" pitchFamily="18" charset="0"/>
                      </a:rPr>
                      <m:t>30</m:t>
                    </m:r>
                    <m:r>
                      <a:rPr lang="en-US" altLang="ja-JP" sz="2400" b="1" i="1" smtClean="0">
                        <a:solidFill>
                          <a:srgbClr val="FF0000"/>
                        </a:solidFill>
                        <a:latin typeface="Cambria Math" panose="02040503050406030204" pitchFamily="18" charset="0"/>
                      </a:rPr>
                      <m:t>𝒄𝒐𝒔</m:t>
                    </m:r>
                    <m:r>
                      <a:rPr lang="en-US" altLang="ja-JP" sz="2400" b="1" i="1">
                        <a:solidFill>
                          <a:srgbClr val="FF0000"/>
                        </a:solidFill>
                        <a:latin typeface="Cambria Math" panose="02040503050406030204" pitchFamily="18" charset="0"/>
                      </a:rPr>
                      <m:t>𝜽</m:t>
                    </m:r>
                    <m:r>
                      <a:rPr lang="en-US" altLang="ja-JP" sz="2400" b="1" i="1">
                        <a:solidFill>
                          <a:srgbClr val="FF0000"/>
                        </a:solidFill>
                        <a:latin typeface="Cambria Math" panose="02040503050406030204" pitchFamily="18" charset="0"/>
                      </a:rPr>
                      <m:t>,30</m:t>
                    </m:r>
                    <m:r>
                      <a:rPr lang="en-US" altLang="ja-JP" sz="2400" b="1" i="1" smtClean="0">
                        <a:solidFill>
                          <a:srgbClr val="FF0000"/>
                        </a:solidFill>
                        <a:latin typeface="Cambria Math" panose="02040503050406030204" pitchFamily="18" charset="0"/>
                      </a:rPr>
                      <m:t>𝒔𝒊𝒏</m:t>
                    </m:r>
                    <m:r>
                      <a:rPr lang="en-US" altLang="ja-JP" sz="2400" b="1" i="1">
                        <a:solidFill>
                          <a:srgbClr val="FF0000"/>
                        </a:solidFill>
                        <a:latin typeface="Cambria Math" panose="02040503050406030204" pitchFamily="18" charset="0"/>
                      </a:rPr>
                      <m:t>𝜽</m:t>
                    </m:r>
                    <m:r>
                      <a:rPr lang="en-US" altLang="ja-JP" sz="2400" b="1" i="1" smtClean="0">
                        <a:solidFill>
                          <a:srgbClr val="FF0000"/>
                        </a:solidFill>
                        <a:latin typeface="Cambria Math" panose="02040503050406030204" pitchFamily="18" charset="0"/>
                      </a:rPr>
                      <m:t>)</m:t>
                    </m:r>
                  </m:oMath>
                </a14:m>
                <a:r>
                  <a:rPr lang="ja-JP" altLang="en-US" sz="2400" dirty="0"/>
                  <a:t>となります。</a:t>
                </a:r>
                <a:endParaRPr lang="en-US" altLang="ja-JP" sz="2400" dirty="0"/>
              </a:p>
            </p:txBody>
          </p:sp>
        </mc:Choice>
        <mc:Fallback xmlns="">
          <p:sp>
            <p:nvSpPr>
              <p:cNvPr id="20" name="テキスト ボックス 19">
                <a:extLst>
                  <a:ext uri="{FF2B5EF4-FFF2-40B4-BE49-F238E27FC236}">
                    <a16:creationId xmlns:a16="http://schemas.microsoft.com/office/drawing/2014/main" id="{D412D964-4AC8-4791-9FF0-2208F89B8BAC}"/>
                  </a:ext>
                </a:extLst>
              </p:cNvPr>
              <p:cNvSpPr txBox="1">
                <a:spLocks noRot="1" noChangeAspect="1" noMove="1" noResize="1" noEditPoints="1" noAdjustHandles="1" noChangeArrowheads="1" noChangeShapeType="1" noTextEdit="1"/>
              </p:cNvSpPr>
              <p:nvPr/>
            </p:nvSpPr>
            <p:spPr>
              <a:xfrm>
                <a:off x="4735721" y="2778456"/>
                <a:ext cx="6266459" cy="1938992"/>
              </a:xfrm>
              <a:prstGeom prst="rect">
                <a:avLst/>
              </a:prstGeom>
              <a:blipFill>
                <a:blip r:embed="rId7"/>
                <a:stretch>
                  <a:fillRect l="-1556" t="-2516" r="-486" b="-6289"/>
                </a:stretch>
              </a:blipFill>
            </p:spPr>
            <p:txBody>
              <a:bodyPr/>
              <a:lstStyle/>
              <a:p>
                <a:r>
                  <a:rPr lang="ja-JP" altLang="en-US">
                    <a:noFill/>
                  </a:rPr>
                  <a:t> </a:t>
                </a:r>
              </a:p>
            </p:txBody>
          </p:sp>
        </mc:Fallback>
      </mc:AlternateContent>
      <p:sp>
        <p:nvSpPr>
          <p:cNvPr id="22" name="テキスト ボックス 21">
            <a:extLst>
              <a:ext uri="{FF2B5EF4-FFF2-40B4-BE49-F238E27FC236}">
                <a16:creationId xmlns:a16="http://schemas.microsoft.com/office/drawing/2014/main" id="{BD123889-CD64-4881-A7F3-7592C90559B2}"/>
              </a:ext>
            </a:extLst>
          </p:cNvPr>
          <p:cNvSpPr txBox="1"/>
          <p:nvPr/>
        </p:nvSpPr>
        <p:spPr>
          <a:xfrm>
            <a:off x="567542" y="5303961"/>
            <a:ext cx="8186857" cy="830997"/>
          </a:xfrm>
          <a:prstGeom prst="rect">
            <a:avLst/>
          </a:prstGeom>
          <a:noFill/>
        </p:spPr>
        <p:txBody>
          <a:bodyPr wrap="none" rtlCol="0">
            <a:spAutoFit/>
          </a:bodyPr>
          <a:lstStyle/>
          <a:p>
            <a:r>
              <a:rPr lang="ja-JP" altLang="en-US" sz="2400" dirty="0"/>
              <a:t>つまり、</a:t>
            </a:r>
            <a:r>
              <a:rPr lang="ja-JP" altLang="en-US" sz="2400" b="1" dirty="0">
                <a:solidFill>
                  <a:srgbClr val="FF0000"/>
                </a:solidFill>
              </a:rPr>
              <a:t>角度を指定</a:t>
            </a:r>
            <a:r>
              <a:rPr lang="ja-JP" altLang="en-US" sz="2400" dirty="0"/>
              <a:t>すれば、</a:t>
            </a:r>
            <a:endParaRPr lang="en-US" altLang="ja-JP" sz="2400" dirty="0"/>
          </a:p>
          <a:p>
            <a:r>
              <a:rPr lang="ja-JP" altLang="en-US" sz="2400" b="1" dirty="0">
                <a:solidFill>
                  <a:srgbClr val="FF0000"/>
                </a:solidFill>
              </a:rPr>
              <a:t>その方向に進んだ時の座標</a:t>
            </a:r>
            <a:r>
              <a:rPr lang="ja-JP" altLang="en-US" sz="2400" dirty="0"/>
              <a:t>が計算できるということです。</a:t>
            </a:r>
            <a:endParaRPr lang="en-US" altLang="ja-JP" sz="2400" dirty="0"/>
          </a:p>
        </p:txBody>
      </p:sp>
    </p:spTree>
    <p:extLst>
      <p:ext uri="{BB962C8B-B14F-4D97-AF65-F5344CB8AC3E}">
        <p14:creationId xmlns:p14="http://schemas.microsoft.com/office/powerpoint/2010/main" val="2837393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353529" cy="584775"/>
          </a:xfrm>
          <a:prstGeom prst="rect">
            <a:avLst/>
          </a:prstGeom>
          <a:noFill/>
        </p:spPr>
        <p:txBody>
          <a:bodyPr wrap="none" rtlCol="0">
            <a:spAutoFit/>
          </a:bodyPr>
          <a:lstStyle/>
          <a:p>
            <a:r>
              <a:rPr kumimoji="1" lang="ja-JP" altLang="en-US" sz="3200" b="1" u="sng" dirty="0"/>
              <a:t>単位円 例題</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961107" cy="4524315"/>
              </a:xfrm>
              <a:prstGeom prst="rect">
                <a:avLst/>
              </a:prstGeom>
              <a:noFill/>
            </p:spPr>
            <p:txBody>
              <a:bodyPr wrap="none" rtlCol="0">
                <a:spAutoFit/>
              </a:bodyPr>
              <a:lstStyle/>
              <a:p>
                <a:r>
                  <a:rPr lang="ja-JP" altLang="en-US" sz="2400" dirty="0"/>
                  <a:t>ゲームのキャラクターを</a:t>
                </a:r>
                <a14:m>
                  <m:oMath xmlns:m="http://schemas.openxmlformats.org/officeDocument/2006/math">
                    <m:r>
                      <a:rPr lang="en-US" altLang="ja-JP" sz="2400" i="1" dirty="0">
                        <a:latin typeface="Cambria Math" panose="02040503050406030204" pitchFamily="18" charset="0"/>
                      </a:rPr>
                      <m:t>60</m:t>
                    </m:r>
                    <m:r>
                      <a:rPr lang="en-US" altLang="ja-JP" sz="2400" i="1" dirty="0" smtClean="0">
                        <a:latin typeface="Cambria Math" panose="02040503050406030204" pitchFamily="18" charset="0"/>
                      </a:rPr>
                      <m:t>°</m:t>
                    </m:r>
                  </m:oMath>
                </a14:m>
                <a:r>
                  <a:rPr lang="ja-JP" altLang="en-US" sz="2400" dirty="0"/>
                  <a:t>の方向に</a:t>
                </a:r>
                <a14:m>
                  <m:oMath xmlns:m="http://schemas.openxmlformats.org/officeDocument/2006/math">
                    <m:r>
                      <a:rPr lang="en-US" altLang="ja-JP" sz="2400" b="0" i="1" dirty="0" smtClean="0">
                        <a:latin typeface="Cambria Math" panose="02040503050406030204" pitchFamily="18" charset="0"/>
                      </a:rPr>
                      <m:t>20</m:t>
                    </m:r>
                    <m:r>
                      <a:rPr lang="en-US" altLang="ja-JP" sz="2400" b="0" i="1" dirty="0" smtClean="0">
                        <a:latin typeface="Cambria Math" panose="02040503050406030204" pitchFamily="18" charset="0"/>
                      </a:rPr>
                      <m:t>𝑝𝑥</m:t>
                    </m:r>
                  </m:oMath>
                </a14:m>
                <a:r>
                  <a:rPr lang="ja-JP" altLang="en-US" sz="2400" dirty="0"/>
                  <a:t>移動させたい。</a:t>
                </a:r>
                <a:endParaRPr lang="en-US" altLang="ja-JP" sz="2400" dirty="0"/>
              </a:p>
              <a:p>
                <a:r>
                  <a:rPr lang="ja-JP" altLang="en-US" sz="2400" dirty="0"/>
                  <a:t>移動前の座標が</a:t>
                </a:r>
                <a14:m>
                  <m:oMath xmlns:m="http://schemas.openxmlformats.org/officeDocument/2006/math">
                    <m:r>
                      <a:rPr lang="en-US" altLang="ja-JP" sz="2400" b="0" i="1" dirty="0" smtClean="0">
                        <a:latin typeface="Cambria Math" panose="02040503050406030204" pitchFamily="18" charset="0"/>
                      </a:rPr>
                      <m:t>(120, 300)</m:t>
                    </m:r>
                  </m:oMath>
                </a14:m>
                <a:r>
                  <a:rPr lang="ja-JP" altLang="en-US" sz="2400" dirty="0"/>
                  <a:t>のとき、移動後の座標を求めなさい。</a:t>
                </a:r>
                <a:endParaRPr lang="en-US" altLang="ja-JP" sz="2400" dirty="0"/>
              </a:p>
              <a:p>
                <a:r>
                  <a:rPr lang="ja-JP" altLang="en-US" sz="2400" dirty="0"/>
                  <a:t>ただし</a:t>
                </a:r>
                <a14:m>
                  <m:oMath xmlns:m="http://schemas.openxmlformats.org/officeDocument/2006/math">
                    <m:r>
                      <a:rPr lang="en-US" altLang="ja-JP" sz="2400" b="0" i="1" dirty="0" smtClean="0">
                        <a:latin typeface="Cambria Math" panose="02040503050406030204" pitchFamily="18" charset="0"/>
                      </a:rPr>
                      <m:t>𝑠𝑖𝑛</m:t>
                    </m:r>
                    <m:r>
                      <a:rPr lang="en-US" altLang="ja-JP" sz="2400" b="0" i="1" dirty="0" smtClean="0">
                        <a:latin typeface="Cambria Math" panose="02040503050406030204" pitchFamily="18" charset="0"/>
                      </a:rPr>
                      <m:t>60°=0.8, </m:t>
                    </m:r>
                    <m:r>
                      <a:rPr lang="en-US" altLang="ja-JP" sz="2400" b="0" i="1" dirty="0" smtClean="0">
                        <a:latin typeface="Cambria Math" panose="02040503050406030204" pitchFamily="18" charset="0"/>
                      </a:rPr>
                      <m:t>𝑐𝑜𝑠</m:t>
                    </m:r>
                    <m:r>
                      <a:rPr lang="en-US" altLang="ja-JP" sz="2400" b="0" i="1" dirty="0" smtClean="0">
                        <a:latin typeface="Cambria Math" panose="02040503050406030204" pitchFamily="18" charset="0"/>
                      </a:rPr>
                      <m:t>60°=0.5</m:t>
                    </m:r>
                  </m:oMath>
                </a14:m>
                <a:r>
                  <a:rPr lang="ja-JP" altLang="en-US" sz="2400" dirty="0"/>
                  <a:t>とする。</a:t>
                </a:r>
                <a:endParaRPr lang="en-US" altLang="ja-JP" sz="2400" dirty="0"/>
              </a:p>
              <a:p>
                <a:endParaRPr lang="en-US" altLang="ja-JP" sz="2400" dirty="0"/>
              </a:p>
              <a:p>
                <a:r>
                  <a:rPr lang="ja-JP" altLang="en-US" sz="2400" dirty="0"/>
                  <a:t>■解答</a:t>
                </a:r>
                <a:endParaRPr lang="en-US" altLang="ja-JP" sz="2400" dirty="0"/>
              </a:p>
              <a:p>
                <a14:m>
                  <m:oMath xmlns:m="http://schemas.openxmlformats.org/officeDocument/2006/math">
                    <m:r>
                      <a:rPr lang="en-US" altLang="ja-JP" sz="2400" i="1" dirty="0" smtClean="0">
                        <a:latin typeface="Cambria Math" panose="02040503050406030204" pitchFamily="18" charset="0"/>
                      </a:rPr>
                      <m:t>60°</m:t>
                    </m:r>
                  </m:oMath>
                </a14:m>
                <a:r>
                  <a:rPr lang="ja-JP" altLang="en-US" sz="2400" dirty="0"/>
                  <a:t>の方向に</a:t>
                </a:r>
                <a14:m>
                  <m:oMath xmlns:m="http://schemas.openxmlformats.org/officeDocument/2006/math">
                    <m:r>
                      <a:rPr lang="en-US" altLang="ja-JP" sz="2400" i="1" dirty="0">
                        <a:latin typeface="Cambria Math" panose="02040503050406030204" pitchFamily="18" charset="0"/>
                      </a:rPr>
                      <m:t>20</m:t>
                    </m:r>
                    <m:r>
                      <a:rPr lang="en-US" altLang="ja-JP" sz="2400" b="0" i="1" dirty="0" smtClean="0">
                        <a:latin typeface="Cambria Math" panose="02040503050406030204" pitchFamily="18" charset="0"/>
                      </a:rPr>
                      <m:t>𝑝𝑥</m:t>
                    </m:r>
                  </m:oMath>
                </a14:m>
                <a:r>
                  <a:rPr lang="ja-JP" altLang="en-US" sz="2400" dirty="0"/>
                  <a:t>移動する場合の移動量は、</a:t>
                </a:r>
                <a:endParaRPr lang="en-US" altLang="ja-JP" sz="2400" dirty="0"/>
              </a:p>
              <a:p>
                <a14:m>
                  <m:oMath xmlns:m="http://schemas.openxmlformats.org/officeDocument/2006/math">
                    <m:r>
                      <a:rPr lang="en-US" altLang="ja-JP" sz="2400" b="0" i="1" dirty="0" smtClean="0">
                        <a:latin typeface="Cambria Math" panose="02040503050406030204" pitchFamily="18" charset="0"/>
                      </a:rPr>
                      <m:t>𝑥</m:t>
                    </m:r>
                    <m:r>
                      <a:rPr lang="en-US" altLang="ja-JP" sz="2400" b="0" i="1" dirty="0" smtClean="0">
                        <a:latin typeface="Cambria Math" panose="02040503050406030204" pitchFamily="18" charset="0"/>
                      </a:rPr>
                      <m:t>=20×</m:t>
                    </m:r>
                    <m:r>
                      <a:rPr lang="en-US" altLang="ja-JP" sz="2400" b="0" i="1" dirty="0" smtClean="0">
                        <a:latin typeface="Cambria Math" panose="02040503050406030204" pitchFamily="18" charset="0"/>
                      </a:rPr>
                      <m:t>𝑐𝑜𝑠</m:t>
                    </m:r>
                    <m:r>
                      <a:rPr lang="en-US" altLang="ja-JP" sz="2400" b="0" i="1" dirty="0" smtClean="0">
                        <a:latin typeface="Cambria Math" panose="02040503050406030204" pitchFamily="18" charset="0"/>
                      </a:rPr>
                      <m:t>60°=20×0.5=10</m:t>
                    </m:r>
                  </m:oMath>
                </a14:m>
                <a:r>
                  <a:rPr lang="en-US" altLang="ja-JP" sz="2400" dirty="0"/>
                  <a:t> </a:t>
                </a:r>
              </a:p>
              <a:p>
                <a14:m>
                  <m:oMath xmlns:m="http://schemas.openxmlformats.org/officeDocument/2006/math">
                    <m:r>
                      <a:rPr lang="en-US" altLang="ja-JP" sz="2400" b="0" i="1" dirty="0" smtClean="0">
                        <a:latin typeface="Cambria Math" panose="02040503050406030204" pitchFamily="18" charset="0"/>
                      </a:rPr>
                      <m:t>𝑦</m:t>
                    </m:r>
                    <m:r>
                      <a:rPr lang="en-US" altLang="ja-JP" sz="2400" b="0" i="1" dirty="0" smtClean="0">
                        <a:latin typeface="Cambria Math" panose="02040503050406030204" pitchFamily="18" charset="0"/>
                      </a:rPr>
                      <m:t>=20×</m:t>
                    </m:r>
                    <m:r>
                      <a:rPr lang="en-US" altLang="ja-JP" sz="2400" b="0" i="1" dirty="0" smtClean="0">
                        <a:latin typeface="Cambria Math" panose="02040503050406030204" pitchFamily="18" charset="0"/>
                      </a:rPr>
                      <m:t>𝑠𝑖𝑛</m:t>
                    </m:r>
                    <m:r>
                      <a:rPr lang="en-US" altLang="ja-JP" sz="2400" b="0" i="1" dirty="0" smtClean="0">
                        <a:latin typeface="Cambria Math" panose="02040503050406030204" pitchFamily="18" charset="0"/>
                      </a:rPr>
                      <m:t>60°=20×0.8=16</m:t>
                    </m:r>
                  </m:oMath>
                </a14:m>
                <a:r>
                  <a:rPr lang="en-US" altLang="ja-JP" sz="2400" dirty="0"/>
                  <a:t> </a:t>
                </a:r>
              </a:p>
              <a:p>
                <a:r>
                  <a:rPr lang="ja-JP" altLang="en-US" sz="2400" dirty="0"/>
                  <a:t>つまり、</a:t>
                </a:r>
                <a:r>
                  <a:rPr lang="en-US" altLang="ja-JP" sz="2400" b="0" dirty="0"/>
                  <a:t> </a:t>
                </a:r>
                <a14:m>
                  <m:oMath xmlns:m="http://schemas.openxmlformats.org/officeDocument/2006/math">
                    <m:r>
                      <a:rPr lang="en-US" altLang="ja-JP" sz="2400" b="0" i="1" dirty="0" smtClean="0">
                        <a:latin typeface="Cambria Math" panose="02040503050406030204" pitchFamily="18" charset="0"/>
                      </a:rPr>
                      <m:t>𝑥</m:t>
                    </m:r>
                  </m:oMath>
                </a14:m>
                <a:r>
                  <a:rPr lang="ja-JP" altLang="en-US" sz="2400" dirty="0"/>
                  <a:t>軸に</a:t>
                </a:r>
                <a14:m>
                  <m:oMath xmlns:m="http://schemas.openxmlformats.org/officeDocument/2006/math">
                    <m:r>
                      <a:rPr lang="en-US" altLang="ja-JP" sz="2400" b="0" i="1" dirty="0">
                        <a:latin typeface="Cambria Math" panose="02040503050406030204" pitchFamily="18" charset="0"/>
                      </a:rPr>
                      <m:t>10</m:t>
                    </m:r>
                  </m:oMath>
                </a14:m>
                <a:r>
                  <a:rPr lang="ja-JP" altLang="en-US" sz="2400" b="0" dirty="0"/>
                  <a:t>、</a:t>
                </a:r>
                <a14:m>
                  <m:oMath xmlns:m="http://schemas.openxmlformats.org/officeDocument/2006/math">
                    <m:r>
                      <a:rPr lang="en-US" altLang="ja-JP" sz="2400" b="0" i="1" dirty="0" smtClean="0">
                        <a:latin typeface="Cambria Math" panose="02040503050406030204" pitchFamily="18" charset="0"/>
                      </a:rPr>
                      <m:t>𝑦</m:t>
                    </m:r>
                  </m:oMath>
                </a14:m>
                <a:r>
                  <a:rPr lang="ja-JP" altLang="en-US" sz="2400" dirty="0"/>
                  <a:t>軸に</a:t>
                </a:r>
                <a14:m>
                  <m:oMath xmlns:m="http://schemas.openxmlformats.org/officeDocument/2006/math">
                    <m:r>
                      <a:rPr lang="en-US" altLang="ja-JP" sz="2400" b="0" i="1" dirty="0">
                        <a:latin typeface="Cambria Math" panose="02040503050406030204" pitchFamily="18" charset="0"/>
                      </a:rPr>
                      <m:t>16</m:t>
                    </m:r>
                  </m:oMath>
                </a14:m>
                <a:r>
                  <a:rPr lang="ja-JP" altLang="en-US" sz="2400" b="0" dirty="0"/>
                  <a:t>移動する。</a:t>
                </a:r>
                <a:endParaRPr lang="en-US" altLang="ja-JP" sz="2400" b="0" dirty="0"/>
              </a:p>
              <a:p>
                <a:endParaRPr lang="en-US" altLang="ja-JP" sz="2400" dirty="0"/>
              </a:p>
              <a:p>
                <a:r>
                  <a:rPr lang="ja-JP" altLang="en-US" sz="2400" b="0" dirty="0"/>
                  <a:t>移動前の座標は</a:t>
                </a:r>
                <a14:m>
                  <m:oMath xmlns:m="http://schemas.openxmlformats.org/officeDocument/2006/math">
                    <m:r>
                      <a:rPr lang="en-US" altLang="ja-JP" sz="2400" b="0" i="1" dirty="0" smtClean="0">
                        <a:latin typeface="Cambria Math" panose="02040503050406030204" pitchFamily="18" charset="0"/>
                      </a:rPr>
                      <m:t>(120, 300)</m:t>
                    </m:r>
                  </m:oMath>
                </a14:m>
                <a:r>
                  <a:rPr lang="ja-JP" altLang="en-US" sz="2400" b="0" dirty="0"/>
                  <a:t>なので、移動後の座標は</a:t>
                </a:r>
                <a:endParaRPr lang="en-US" altLang="ja-JP" sz="2400" b="0" dirty="0"/>
              </a:p>
              <a:p>
                <a14:m>
                  <m:oMath xmlns:m="http://schemas.openxmlformats.org/officeDocument/2006/math">
                    <m:d>
                      <m:dPr>
                        <m:ctrlPr>
                          <a:rPr lang="en-US" altLang="ja-JP" sz="2400" b="0" i="1" dirty="0" smtClean="0">
                            <a:latin typeface="Cambria Math" panose="02040503050406030204" pitchFamily="18" charset="0"/>
                          </a:rPr>
                        </m:ctrlPr>
                      </m:dPr>
                      <m:e>
                        <m:r>
                          <a:rPr lang="en-US" altLang="ja-JP" sz="2400" b="0" i="1" dirty="0" smtClean="0">
                            <a:latin typeface="Cambria Math" panose="02040503050406030204" pitchFamily="18" charset="0"/>
                          </a:rPr>
                          <m:t>120+</m:t>
                        </m:r>
                        <m:r>
                          <a:rPr lang="en-US" altLang="ja-JP" sz="2400" i="1" dirty="0">
                            <a:latin typeface="Cambria Math" panose="02040503050406030204" pitchFamily="18" charset="0"/>
                          </a:rPr>
                          <m:t>10</m:t>
                        </m:r>
                        <m:r>
                          <a:rPr lang="en-US" altLang="ja-JP" sz="2400" b="0" i="1" dirty="0" smtClean="0">
                            <a:latin typeface="Cambria Math" panose="02040503050406030204" pitchFamily="18" charset="0"/>
                          </a:rPr>
                          <m:t>, 300+</m:t>
                        </m:r>
                        <m:r>
                          <a:rPr lang="en-US" altLang="ja-JP" sz="2400" i="1" dirty="0">
                            <a:latin typeface="Cambria Math" panose="02040503050406030204" pitchFamily="18" charset="0"/>
                          </a:rPr>
                          <m:t>16</m:t>
                        </m:r>
                      </m:e>
                    </m:d>
                    <m:r>
                      <a:rPr lang="en-US" altLang="ja-JP" sz="2400" b="0" i="1" dirty="0" smtClean="0">
                        <a:latin typeface="Cambria Math" panose="02040503050406030204" pitchFamily="18" charset="0"/>
                      </a:rPr>
                      <m:t>=</m:t>
                    </m:r>
                    <m:r>
                      <a:rPr lang="en-US" altLang="ja-JP" sz="2400" b="1" i="1" dirty="0" smtClean="0">
                        <a:solidFill>
                          <a:srgbClr val="FF0000"/>
                        </a:solidFill>
                        <a:latin typeface="Cambria Math" panose="02040503050406030204" pitchFamily="18" charset="0"/>
                      </a:rPr>
                      <m:t>(</m:t>
                    </m:r>
                    <m:r>
                      <a:rPr lang="en-US" altLang="ja-JP" sz="2400" b="1" i="1" dirty="0" smtClean="0">
                        <a:solidFill>
                          <a:srgbClr val="FF0000"/>
                        </a:solidFill>
                        <a:latin typeface="Cambria Math" panose="02040503050406030204" pitchFamily="18" charset="0"/>
                      </a:rPr>
                      <m:t>𝟏𝟑</m:t>
                    </m:r>
                    <m:r>
                      <a:rPr lang="en-US" altLang="ja-JP" sz="2400" b="1" i="1" dirty="0">
                        <a:solidFill>
                          <a:srgbClr val="FF0000"/>
                        </a:solidFill>
                        <a:latin typeface="Cambria Math" panose="02040503050406030204" pitchFamily="18" charset="0"/>
                      </a:rPr>
                      <m:t>𝟎</m:t>
                    </m:r>
                    <m:r>
                      <a:rPr lang="en-US" altLang="ja-JP" sz="2400" b="1" i="1" dirty="0" smtClean="0">
                        <a:solidFill>
                          <a:srgbClr val="FF0000"/>
                        </a:solidFill>
                        <a:latin typeface="Cambria Math" panose="02040503050406030204" pitchFamily="18" charset="0"/>
                      </a:rPr>
                      <m:t>, </m:t>
                    </m:r>
                    <m:r>
                      <a:rPr lang="en-US" altLang="ja-JP" sz="2400" b="1" i="1" dirty="0" smtClean="0">
                        <a:solidFill>
                          <a:srgbClr val="FF0000"/>
                        </a:solidFill>
                        <a:latin typeface="Cambria Math" panose="02040503050406030204" pitchFamily="18" charset="0"/>
                      </a:rPr>
                      <m:t>𝟑𝟏𝟔</m:t>
                    </m:r>
                    <m:r>
                      <a:rPr lang="en-US" altLang="ja-JP" sz="2400" b="1" i="1" dirty="0" smtClean="0">
                        <a:solidFill>
                          <a:srgbClr val="FF0000"/>
                        </a:solidFill>
                        <a:latin typeface="Cambria Math" panose="02040503050406030204" pitchFamily="18" charset="0"/>
                      </a:rPr>
                      <m:t>)</m:t>
                    </m:r>
                  </m:oMath>
                </a14:m>
                <a:r>
                  <a:rPr lang="ja-JP" altLang="en-US" sz="2400" b="0" dirty="0"/>
                  <a:t>となる。</a:t>
                </a:r>
                <a:endParaRPr lang="en-US" altLang="ja-JP" sz="2400" b="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8961107" cy="4524315"/>
              </a:xfrm>
              <a:prstGeom prst="rect">
                <a:avLst/>
              </a:prstGeom>
              <a:blipFill>
                <a:blip r:embed="rId2"/>
                <a:stretch>
                  <a:fillRect l="-1020" t="-1078" r="-136" b="-2156"/>
                </a:stretch>
              </a:blipFill>
            </p:spPr>
            <p:txBody>
              <a:bodyPr/>
              <a:lstStyle/>
              <a:p>
                <a:r>
                  <a:rPr lang="ja-JP" altLang="en-US">
                    <a:noFill/>
                  </a:rPr>
                  <a:t> </a:t>
                </a:r>
              </a:p>
            </p:txBody>
          </p:sp>
        </mc:Fallback>
      </mc:AlternateContent>
      <p:grpSp>
        <p:nvGrpSpPr>
          <p:cNvPr id="24" name="グループ化 23">
            <a:extLst>
              <a:ext uri="{FF2B5EF4-FFF2-40B4-BE49-F238E27FC236}">
                <a16:creationId xmlns:a16="http://schemas.microsoft.com/office/drawing/2014/main" id="{6077A588-1F6D-4639-9EE3-A9286E33E343}"/>
              </a:ext>
            </a:extLst>
          </p:cNvPr>
          <p:cNvGrpSpPr/>
          <p:nvPr/>
        </p:nvGrpSpPr>
        <p:grpSpPr>
          <a:xfrm>
            <a:off x="8050522" y="2500744"/>
            <a:ext cx="3240000" cy="3240000"/>
            <a:chOff x="567542" y="1817794"/>
            <a:chExt cx="3240000" cy="3240000"/>
          </a:xfrm>
        </p:grpSpPr>
        <p:sp>
          <p:nvSpPr>
            <p:cNvPr id="26" name="楕円 25">
              <a:extLst>
                <a:ext uri="{FF2B5EF4-FFF2-40B4-BE49-F238E27FC236}">
                  <a16:creationId xmlns:a16="http://schemas.microsoft.com/office/drawing/2014/main" id="{77177DDF-8169-4FBA-821B-96CAD983C578}"/>
                </a:ext>
              </a:extLst>
            </p:cNvPr>
            <p:cNvSpPr/>
            <p:nvPr/>
          </p:nvSpPr>
          <p:spPr>
            <a:xfrm>
              <a:off x="567542" y="1817794"/>
              <a:ext cx="3240000" cy="324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7" name="直線コネクタ 26">
              <a:extLst>
                <a:ext uri="{FF2B5EF4-FFF2-40B4-BE49-F238E27FC236}">
                  <a16:creationId xmlns:a16="http://schemas.microsoft.com/office/drawing/2014/main" id="{F76296ED-52C3-4F98-883B-A59AAC2C1E90}"/>
                </a:ext>
              </a:extLst>
            </p:cNvPr>
            <p:cNvCxnSpPr>
              <a:cxnSpLocks/>
              <a:stCxn id="26" idx="7"/>
            </p:cNvCxnSpPr>
            <p:nvPr/>
          </p:nvCxnSpPr>
          <p:spPr>
            <a:xfrm flipH="1">
              <a:off x="2187543" y="2292281"/>
              <a:ext cx="1145512" cy="1145512"/>
            </a:xfrm>
            <a:prstGeom prst="line">
              <a:avLst/>
            </a:prstGeom>
          </p:spPr>
          <p:style>
            <a:lnRef idx="1">
              <a:schemeClr val="accent1"/>
            </a:lnRef>
            <a:fillRef idx="0">
              <a:schemeClr val="accent1"/>
            </a:fillRef>
            <a:effectRef idx="0">
              <a:schemeClr val="accent1"/>
            </a:effectRef>
            <a:fontRef idx="minor">
              <a:schemeClr val="tx1"/>
            </a:fontRef>
          </p:style>
        </p:cxnSp>
        <p:sp>
          <p:nvSpPr>
            <p:cNvPr id="29" name="楕円 28">
              <a:extLst>
                <a:ext uri="{FF2B5EF4-FFF2-40B4-BE49-F238E27FC236}">
                  <a16:creationId xmlns:a16="http://schemas.microsoft.com/office/drawing/2014/main" id="{E75081F9-2144-4B51-BBE3-DCE63DC88143}"/>
                </a:ext>
              </a:extLst>
            </p:cNvPr>
            <p:cNvSpPr/>
            <p:nvPr/>
          </p:nvSpPr>
          <p:spPr>
            <a:xfrm>
              <a:off x="2172745" y="3389152"/>
              <a:ext cx="72000" cy="7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20F62DDD-C3F6-4ECD-8427-977931DAFC51}"/>
                    </a:ext>
                  </a:extLst>
                </p:cNvPr>
                <p:cNvSpPr txBox="1"/>
                <p:nvPr/>
              </p:nvSpPr>
              <p:spPr>
                <a:xfrm>
                  <a:off x="2506797" y="2495705"/>
                  <a:ext cx="50687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i="1" smtClean="0">
                            <a:latin typeface="Cambria Math" panose="02040503050406030204" pitchFamily="18" charset="0"/>
                          </a:rPr>
                          <m:t>20</m:t>
                        </m:r>
                      </m:oMath>
                    </m:oMathPara>
                  </a14:m>
                  <a:endParaRPr lang="en-US" altLang="ja-JP" sz="2400" b="0" dirty="0"/>
                </a:p>
              </p:txBody>
            </p:sp>
          </mc:Choice>
          <mc:Fallback xmlns="">
            <p:sp>
              <p:nvSpPr>
                <p:cNvPr id="30" name="テキスト ボックス 29">
                  <a:extLst>
                    <a:ext uri="{FF2B5EF4-FFF2-40B4-BE49-F238E27FC236}">
                      <a16:creationId xmlns:a16="http://schemas.microsoft.com/office/drawing/2014/main" id="{20F62DDD-C3F6-4ECD-8427-977931DAFC51}"/>
                    </a:ext>
                  </a:extLst>
                </p:cNvPr>
                <p:cNvSpPr txBox="1">
                  <a:spLocks noRot="1" noChangeAspect="1" noMove="1" noResize="1" noEditPoints="1" noAdjustHandles="1" noChangeArrowheads="1" noChangeShapeType="1" noTextEdit="1"/>
                </p:cNvSpPr>
                <p:nvPr/>
              </p:nvSpPr>
              <p:spPr>
                <a:xfrm>
                  <a:off x="2506797" y="2495705"/>
                  <a:ext cx="506870" cy="369332"/>
                </a:xfrm>
                <a:prstGeom prst="rect">
                  <a:avLst/>
                </a:prstGeom>
                <a:blipFill>
                  <a:blip r:embed="rId3"/>
                  <a:stretch>
                    <a:fillRect/>
                  </a:stretch>
                </a:blipFill>
              </p:spPr>
              <p:txBody>
                <a:bodyPr/>
                <a:lstStyle/>
                <a:p>
                  <a:r>
                    <a:rPr lang="ja-JP" altLang="en-US">
                      <a:noFill/>
                    </a:rPr>
                    <a:t> </a:t>
                  </a:r>
                </a:p>
              </p:txBody>
            </p:sp>
          </mc:Fallback>
        </mc:AlternateContent>
      </p:grpSp>
      <p:sp>
        <p:nvSpPr>
          <p:cNvPr id="31" name="楕円 30">
            <a:extLst>
              <a:ext uri="{FF2B5EF4-FFF2-40B4-BE49-F238E27FC236}">
                <a16:creationId xmlns:a16="http://schemas.microsoft.com/office/drawing/2014/main" id="{3A81B483-C4CB-4FC8-A97D-88A393495D61}"/>
              </a:ext>
            </a:extLst>
          </p:cNvPr>
          <p:cNvSpPr/>
          <p:nvPr/>
        </p:nvSpPr>
        <p:spPr>
          <a:xfrm>
            <a:off x="10771462" y="2939588"/>
            <a:ext cx="72000" cy="7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a:extLst>
              <a:ext uri="{FF2B5EF4-FFF2-40B4-BE49-F238E27FC236}">
                <a16:creationId xmlns:a16="http://schemas.microsoft.com/office/drawing/2014/main" id="{AC500DFB-4899-4F47-9A55-07840011D25F}"/>
              </a:ext>
            </a:extLst>
          </p:cNvPr>
          <p:cNvCxnSpPr>
            <a:cxnSpLocks/>
            <a:stCxn id="26" idx="6"/>
          </p:cNvCxnSpPr>
          <p:nvPr/>
        </p:nvCxnSpPr>
        <p:spPr>
          <a:xfrm flipH="1" flipV="1">
            <a:off x="9727726" y="4111950"/>
            <a:ext cx="1562796" cy="879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EF8778EF-A347-4EC6-866A-D8E78E245537}"/>
              </a:ext>
            </a:extLst>
          </p:cNvPr>
          <p:cNvCxnSpPr>
            <a:cxnSpLocks/>
            <a:stCxn id="31" idx="4"/>
          </p:cNvCxnSpPr>
          <p:nvPr/>
        </p:nvCxnSpPr>
        <p:spPr>
          <a:xfrm>
            <a:off x="10807462" y="3011588"/>
            <a:ext cx="8573" cy="11047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C470D2DD-8A9B-4458-AB12-DE89D6A77973}"/>
              </a:ext>
            </a:extLst>
          </p:cNvPr>
          <p:cNvCxnSpPr>
            <a:cxnSpLocks/>
          </p:cNvCxnSpPr>
          <p:nvPr/>
        </p:nvCxnSpPr>
        <p:spPr>
          <a:xfrm>
            <a:off x="10694452" y="4028606"/>
            <a:ext cx="0" cy="877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DF84E860-E89E-4FDD-A368-79052E01AA64}"/>
              </a:ext>
            </a:extLst>
          </p:cNvPr>
          <p:cNvCxnSpPr>
            <a:cxnSpLocks/>
          </p:cNvCxnSpPr>
          <p:nvPr/>
        </p:nvCxnSpPr>
        <p:spPr>
          <a:xfrm>
            <a:off x="10694452" y="4028606"/>
            <a:ext cx="1215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円弧 35">
            <a:extLst>
              <a:ext uri="{FF2B5EF4-FFF2-40B4-BE49-F238E27FC236}">
                <a16:creationId xmlns:a16="http://schemas.microsoft.com/office/drawing/2014/main" id="{E715F79B-564D-41D8-AE65-3645E451CAFB}"/>
              </a:ext>
            </a:extLst>
          </p:cNvPr>
          <p:cNvSpPr/>
          <p:nvPr/>
        </p:nvSpPr>
        <p:spPr>
          <a:xfrm>
            <a:off x="9704822" y="3965965"/>
            <a:ext cx="211940" cy="272651"/>
          </a:xfrm>
          <a:prstGeom prst="arc">
            <a:avLst>
              <a:gd name="adj1" fmla="val 16602575"/>
              <a:gd name="adj2" fmla="val 231423"/>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63BE5795-034A-4027-B3EF-5CB1310E93B8}"/>
                  </a:ext>
                </a:extLst>
              </p:cNvPr>
              <p:cNvSpPr txBox="1"/>
              <p:nvPr/>
            </p:nvSpPr>
            <p:spPr>
              <a:xfrm>
                <a:off x="9808949" y="3810348"/>
                <a:ext cx="59343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60</m:t>
                      </m:r>
                      <m:r>
                        <a:rPr lang="en-US" altLang="ja-JP" i="1">
                          <a:latin typeface="Cambria Math" panose="02040503050406030204" pitchFamily="18" charset="0"/>
                        </a:rPr>
                        <m:t>°</m:t>
                      </m:r>
                    </m:oMath>
                  </m:oMathPara>
                </a14:m>
                <a:endParaRPr lang="en-US" altLang="ja-JP" sz="2400" b="0" dirty="0"/>
              </a:p>
            </p:txBody>
          </p:sp>
        </mc:Choice>
        <mc:Fallback xmlns="">
          <p:sp>
            <p:nvSpPr>
              <p:cNvPr id="37" name="テキスト ボックス 36">
                <a:extLst>
                  <a:ext uri="{FF2B5EF4-FFF2-40B4-BE49-F238E27FC236}">
                    <a16:creationId xmlns:a16="http://schemas.microsoft.com/office/drawing/2014/main" id="{63BE5795-034A-4027-B3EF-5CB1310E93B8}"/>
                  </a:ext>
                </a:extLst>
              </p:cNvPr>
              <p:cNvSpPr txBox="1">
                <a:spLocks noRot="1" noChangeAspect="1" noMove="1" noResize="1" noEditPoints="1" noAdjustHandles="1" noChangeArrowheads="1" noChangeShapeType="1" noTextEdit="1"/>
              </p:cNvSpPr>
              <p:nvPr/>
            </p:nvSpPr>
            <p:spPr>
              <a:xfrm>
                <a:off x="9808949" y="3810348"/>
                <a:ext cx="593431" cy="369332"/>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0" name="テキスト ボックス 39">
                <a:extLst>
                  <a:ext uri="{FF2B5EF4-FFF2-40B4-BE49-F238E27FC236}">
                    <a16:creationId xmlns:a16="http://schemas.microsoft.com/office/drawing/2014/main" id="{C4067683-9037-45B2-BF56-80801A4FD8FB}"/>
                  </a:ext>
                </a:extLst>
              </p:cNvPr>
              <p:cNvSpPr txBox="1"/>
              <p:nvPr/>
            </p:nvSpPr>
            <p:spPr>
              <a:xfrm>
                <a:off x="9055445" y="4150631"/>
                <a:ext cx="129875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(120, 300)</m:t>
                      </m:r>
                    </m:oMath>
                  </m:oMathPara>
                </a14:m>
                <a:endParaRPr lang="en-US" altLang="ja-JP" sz="2400" b="0" dirty="0"/>
              </a:p>
            </p:txBody>
          </p:sp>
        </mc:Choice>
        <mc:Fallback xmlns="">
          <p:sp>
            <p:nvSpPr>
              <p:cNvPr id="40" name="テキスト ボックス 39">
                <a:extLst>
                  <a:ext uri="{FF2B5EF4-FFF2-40B4-BE49-F238E27FC236}">
                    <a16:creationId xmlns:a16="http://schemas.microsoft.com/office/drawing/2014/main" id="{C4067683-9037-45B2-BF56-80801A4FD8FB}"/>
                  </a:ext>
                </a:extLst>
              </p:cNvPr>
              <p:cNvSpPr txBox="1">
                <a:spLocks noRot="1" noChangeAspect="1" noMove="1" noResize="1" noEditPoints="1" noAdjustHandles="1" noChangeArrowheads="1" noChangeShapeType="1" noTextEdit="1"/>
              </p:cNvSpPr>
              <p:nvPr/>
            </p:nvSpPr>
            <p:spPr>
              <a:xfrm>
                <a:off x="9055445" y="4150631"/>
                <a:ext cx="1298753" cy="369332"/>
              </a:xfrm>
              <a:prstGeom prst="rect">
                <a:avLst/>
              </a:prstGeom>
              <a:blipFill>
                <a:blip r:embed="rId5"/>
                <a:stretch>
                  <a:fillRect b="-13333"/>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1" name="テキスト ボックス 40">
                <a:extLst>
                  <a:ext uri="{FF2B5EF4-FFF2-40B4-BE49-F238E27FC236}">
                    <a16:creationId xmlns:a16="http://schemas.microsoft.com/office/drawing/2014/main" id="{C9E0F24B-2B0B-42F4-AE07-CABC97333FFD}"/>
                  </a:ext>
                </a:extLst>
              </p:cNvPr>
              <p:cNvSpPr txBox="1"/>
              <p:nvPr/>
            </p:nvSpPr>
            <p:spPr>
              <a:xfrm>
                <a:off x="10655943" y="2600584"/>
                <a:ext cx="129875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b="0" i="1" smtClean="0">
                          <a:solidFill>
                            <a:srgbClr val="FF0000"/>
                          </a:solidFill>
                          <a:latin typeface="Cambria Math" panose="02040503050406030204" pitchFamily="18" charset="0"/>
                        </a:rPr>
                        <m:t>(1</m:t>
                      </m:r>
                      <m:r>
                        <a:rPr lang="en-US" altLang="ja-JP" i="1">
                          <a:solidFill>
                            <a:srgbClr val="FF0000"/>
                          </a:solidFill>
                          <a:latin typeface="Cambria Math" panose="02040503050406030204" pitchFamily="18" charset="0"/>
                        </a:rPr>
                        <m:t>30</m:t>
                      </m:r>
                      <m:r>
                        <a:rPr lang="en-US" altLang="ja-JP" b="0" i="1" smtClean="0">
                          <a:solidFill>
                            <a:srgbClr val="FF0000"/>
                          </a:solidFill>
                          <a:latin typeface="Cambria Math" panose="02040503050406030204" pitchFamily="18" charset="0"/>
                        </a:rPr>
                        <m:t>, 3</m:t>
                      </m:r>
                      <m:r>
                        <a:rPr lang="en-US" altLang="ja-JP" i="1">
                          <a:solidFill>
                            <a:srgbClr val="FF0000"/>
                          </a:solidFill>
                          <a:latin typeface="Cambria Math" panose="02040503050406030204" pitchFamily="18" charset="0"/>
                        </a:rPr>
                        <m:t>16</m:t>
                      </m:r>
                      <m:r>
                        <a:rPr lang="en-US" altLang="ja-JP" b="0" i="1" smtClean="0">
                          <a:solidFill>
                            <a:srgbClr val="FF0000"/>
                          </a:solidFill>
                          <a:latin typeface="Cambria Math" panose="02040503050406030204" pitchFamily="18" charset="0"/>
                        </a:rPr>
                        <m:t>)</m:t>
                      </m:r>
                    </m:oMath>
                  </m:oMathPara>
                </a14:m>
                <a:endParaRPr lang="en-US" altLang="ja-JP" sz="2400" b="0" dirty="0">
                  <a:solidFill>
                    <a:srgbClr val="FF0000"/>
                  </a:solidFill>
                </a:endParaRPr>
              </a:p>
            </p:txBody>
          </p:sp>
        </mc:Choice>
        <mc:Fallback>
          <p:sp>
            <p:nvSpPr>
              <p:cNvPr id="41" name="テキスト ボックス 40">
                <a:extLst>
                  <a:ext uri="{FF2B5EF4-FFF2-40B4-BE49-F238E27FC236}">
                    <a16:creationId xmlns:a16="http://schemas.microsoft.com/office/drawing/2014/main" id="{C9E0F24B-2B0B-42F4-AE07-CABC97333FFD}"/>
                  </a:ext>
                </a:extLst>
              </p:cNvPr>
              <p:cNvSpPr txBox="1">
                <a:spLocks noRot="1" noChangeAspect="1" noMove="1" noResize="1" noEditPoints="1" noAdjustHandles="1" noChangeArrowheads="1" noChangeShapeType="1" noTextEdit="1"/>
              </p:cNvSpPr>
              <p:nvPr/>
            </p:nvSpPr>
            <p:spPr>
              <a:xfrm>
                <a:off x="10655943" y="2600584"/>
                <a:ext cx="1298753" cy="369332"/>
              </a:xfrm>
              <a:prstGeom prst="rect">
                <a:avLst/>
              </a:prstGeom>
              <a:blipFill>
                <a:blip r:embed="rId6"/>
                <a:stretch>
                  <a:fillRect b="-1333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137372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353529" cy="584775"/>
          </a:xfrm>
          <a:prstGeom prst="rect">
            <a:avLst/>
          </a:prstGeom>
          <a:noFill/>
        </p:spPr>
        <p:txBody>
          <a:bodyPr wrap="none" rtlCol="0">
            <a:spAutoFit/>
          </a:bodyPr>
          <a:lstStyle/>
          <a:p>
            <a:r>
              <a:rPr kumimoji="1" lang="ja-JP" altLang="en-US" sz="3200" b="1" u="sng" dirty="0"/>
              <a:t>単位円 練習</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41293" cy="1938992"/>
              </a:xfrm>
              <a:prstGeom prst="rect">
                <a:avLst/>
              </a:prstGeom>
              <a:noFill/>
            </p:spPr>
            <p:txBody>
              <a:bodyPr wrap="none" rtlCol="0">
                <a:spAutoFit/>
              </a:bodyPr>
              <a:lstStyle/>
              <a:p>
                <a:r>
                  <a:rPr lang="ja-JP" altLang="en-US" sz="2400" dirty="0"/>
                  <a:t>ゲームのキャラクターを</a:t>
                </a:r>
                <a14:m>
                  <m:oMath xmlns:m="http://schemas.openxmlformats.org/officeDocument/2006/math">
                    <m:r>
                      <a:rPr lang="en-US" altLang="ja-JP" sz="2400" b="0" i="1" dirty="0" smtClean="0">
                        <a:latin typeface="Cambria Math" panose="02040503050406030204" pitchFamily="18" charset="0"/>
                      </a:rPr>
                      <m:t>210</m:t>
                    </m:r>
                    <m:r>
                      <a:rPr lang="en-US" altLang="ja-JP" sz="2400" i="1" dirty="0" smtClean="0">
                        <a:latin typeface="Cambria Math" panose="02040503050406030204" pitchFamily="18" charset="0"/>
                      </a:rPr>
                      <m:t>°</m:t>
                    </m:r>
                  </m:oMath>
                </a14:m>
                <a:r>
                  <a:rPr lang="ja-JP" altLang="en-US" sz="2400" dirty="0"/>
                  <a:t>の方向に</a:t>
                </a:r>
                <a14:m>
                  <m:oMath xmlns:m="http://schemas.openxmlformats.org/officeDocument/2006/math">
                    <m:r>
                      <a:rPr lang="en-US" altLang="ja-JP" sz="2400" b="0" i="1" dirty="0" smtClean="0">
                        <a:latin typeface="Cambria Math" panose="02040503050406030204" pitchFamily="18" charset="0"/>
                      </a:rPr>
                      <m:t>30</m:t>
                    </m:r>
                    <m:r>
                      <a:rPr lang="en-US" altLang="ja-JP" sz="2400" b="0" i="1" dirty="0" smtClean="0">
                        <a:latin typeface="Cambria Math" panose="02040503050406030204" pitchFamily="18" charset="0"/>
                      </a:rPr>
                      <m:t>𝑝𝑥</m:t>
                    </m:r>
                  </m:oMath>
                </a14:m>
                <a:r>
                  <a:rPr lang="ja-JP" altLang="en-US" sz="2400" dirty="0"/>
                  <a:t>移動させたい。</a:t>
                </a:r>
                <a:endParaRPr lang="en-US" altLang="ja-JP" sz="2400" dirty="0"/>
              </a:p>
              <a:p>
                <a:r>
                  <a:rPr lang="ja-JP" altLang="en-US" sz="2400" dirty="0"/>
                  <a:t>移動前の座標が</a:t>
                </a:r>
                <a14:m>
                  <m:oMath xmlns:m="http://schemas.openxmlformats.org/officeDocument/2006/math">
                    <m:r>
                      <a:rPr lang="en-US" altLang="ja-JP" sz="2400" b="0" i="1" dirty="0" smtClean="0">
                        <a:latin typeface="Cambria Math" panose="02040503050406030204" pitchFamily="18" charset="0"/>
                      </a:rPr>
                      <m:t>(40,  180)</m:t>
                    </m:r>
                  </m:oMath>
                </a14:m>
                <a:r>
                  <a:rPr lang="ja-JP" altLang="en-US" sz="2400" dirty="0"/>
                  <a:t>のとき、移動後の座標を求めなさい。</a:t>
                </a:r>
                <a:endParaRPr lang="en-US" altLang="ja-JP" sz="2400" dirty="0"/>
              </a:p>
              <a:p>
                <a:r>
                  <a:rPr lang="ja-JP" altLang="en-US" sz="2400" dirty="0"/>
                  <a:t>ただし</a:t>
                </a:r>
                <a14:m>
                  <m:oMath xmlns:m="http://schemas.openxmlformats.org/officeDocument/2006/math">
                    <m:r>
                      <a:rPr lang="en-US" altLang="ja-JP" sz="2400" b="0" i="1" dirty="0" smtClean="0">
                        <a:latin typeface="Cambria Math" panose="02040503050406030204" pitchFamily="18" charset="0"/>
                      </a:rPr>
                      <m:t>𝑠𝑖𝑛</m:t>
                    </m:r>
                    <m:r>
                      <a:rPr lang="en-US" altLang="ja-JP" sz="2400" b="0" i="1" dirty="0" smtClean="0">
                        <a:latin typeface="Cambria Math" panose="02040503050406030204" pitchFamily="18" charset="0"/>
                      </a:rPr>
                      <m:t>210°=−0.5, </m:t>
                    </m:r>
                    <m:r>
                      <a:rPr lang="en-US" altLang="ja-JP" sz="2400" b="0" i="1" dirty="0" smtClean="0">
                        <a:latin typeface="Cambria Math" panose="02040503050406030204" pitchFamily="18" charset="0"/>
                      </a:rPr>
                      <m:t>𝑐𝑜𝑠</m:t>
                    </m:r>
                    <m:r>
                      <a:rPr lang="en-US" altLang="ja-JP" sz="2400" i="1" dirty="0">
                        <a:latin typeface="Cambria Math" panose="02040503050406030204" pitchFamily="18" charset="0"/>
                      </a:rPr>
                      <m:t>210°</m:t>
                    </m:r>
                    <m:r>
                      <a:rPr lang="en-US" altLang="ja-JP" sz="2400" b="0" i="1" dirty="0" smtClean="0">
                        <a:latin typeface="Cambria Math" panose="02040503050406030204" pitchFamily="18" charset="0"/>
                      </a:rPr>
                      <m:t>=−0.8</m:t>
                    </m:r>
                  </m:oMath>
                </a14:m>
                <a:r>
                  <a:rPr lang="ja-JP" altLang="en-US" sz="2400" dirty="0"/>
                  <a:t>とする。</a:t>
                </a:r>
                <a:endParaRPr lang="en-US" altLang="ja-JP" sz="2400" dirty="0"/>
              </a:p>
              <a:p>
                <a:endParaRPr lang="en-US" altLang="ja-JP" sz="2400" dirty="0"/>
              </a:p>
              <a:p>
                <a:r>
                  <a:rPr lang="en-US" altLang="ja-JP" sz="2400" b="1" dirty="0">
                    <a:solidFill>
                      <a:srgbClr val="FF0000"/>
                    </a:solidFill>
                  </a:rPr>
                  <a:t>※</a:t>
                </a:r>
                <a:r>
                  <a:rPr lang="ja-JP" altLang="en-US" sz="2400" b="1" dirty="0">
                    <a:solidFill>
                      <a:srgbClr val="FF0000"/>
                    </a:solidFill>
                  </a:rPr>
                  <a:t>難しい場合は図に書いてみて、これまでの資料と照らし合わせましょう</a:t>
                </a:r>
                <a:endParaRPr lang="en-US" altLang="ja-JP" sz="2400" b="1" dirty="0">
                  <a:solidFill>
                    <a:srgbClr val="FF0000"/>
                  </a:solidFill>
                </a:endParaRPr>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341293" cy="1938992"/>
              </a:xfrm>
              <a:prstGeom prst="rect">
                <a:avLst/>
              </a:prstGeom>
              <a:blipFill>
                <a:blip r:embed="rId2"/>
                <a:stretch>
                  <a:fillRect l="-884" t="-2516" b="-628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3108096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1367</TotalTime>
  <Words>441</Words>
  <Application>Microsoft Office PowerPoint</Application>
  <PresentationFormat>ワイド画面</PresentationFormat>
  <Paragraphs>62</Paragraphs>
  <Slides>7</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7</vt:i4>
      </vt:variant>
    </vt:vector>
  </HeadingPairs>
  <TitlesOfParts>
    <vt:vector size="12" baseType="lpstr">
      <vt:lpstr>游ゴシック</vt:lpstr>
      <vt:lpstr>游ゴシック Light</vt:lpstr>
      <vt:lpstr>Arial</vt:lpstr>
      <vt:lpstr>Cambria Math</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情報北九州校 倉掛</cp:lastModifiedBy>
  <cp:revision>105</cp:revision>
  <dcterms:created xsi:type="dcterms:W3CDTF">2024-08-27T02:15:54Z</dcterms:created>
  <dcterms:modified xsi:type="dcterms:W3CDTF">2025-06-26T00:56:55Z</dcterms:modified>
</cp:coreProperties>
</file>