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三角関数</a:t>
            </a:r>
            <a:r>
              <a:rPr kumimoji="1" lang="ja-JP" altLang="en-US" sz="2400" dirty="0"/>
              <a:t>はゲームプログラミングではとても良く使います。</a:t>
            </a:r>
            <a:endParaRPr kumimoji="1" lang="en-US" altLang="ja-JP" sz="2400" dirty="0"/>
          </a:p>
          <a:p>
            <a:r>
              <a:rPr lang="ja-JP" altLang="en-US" sz="2400" dirty="0"/>
              <a:t>また、この後に学ぶベクトルにも深くかかわります。</a:t>
            </a:r>
            <a:endParaRPr kumimoji="1" lang="en-US" altLang="ja-JP" sz="2400" dirty="0"/>
          </a:p>
          <a:p>
            <a:r>
              <a:rPr lang="ja-JP" altLang="en-US" sz="2400" dirty="0"/>
              <a:t>まずは定義からきちんと学びましょう。</a:t>
            </a:r>
            <a:endParaRPr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4848049-0A16-4A57-BE95-CF4D35CB365D}"/>
              </a:ext>
            </a:extLst>
          </p:cNvPr>
          <p:cNvGrpSpPr/>
          <p:nvPr/>
        </p:nvGrpSpPr>
        <p:grpSpPr>
          <a:xfrm>
            <a:off x="504066" y="3011947"/>
            <a:ext cx="4310792" cy="3354099"/>
            <a:chOff x="567544" y="3313651"/>
            <a:chExt cx="4310792" cy="3354099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158B10F9-ABB5-44F9-B21D-F9EC20886CC8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2" name="直角三角形 1">
                <a:extLst>
                  <a:ext uri="{FF2B5EF4-FFF2-40B4-BE49-F238E27FC236}">
                    <a16:creationId xmlns:a16="http://schemas.microsoft.com/office/drawing/2014/main" id="{1ED50A6C-E689-44DF-B80B-32AE33D12BDA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DBB21DB-6978-4ADD-8A4A-0D1C6AE8F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8282AE3E-2FE1-4F1C-B03F-61A4085DC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4AF89AD5-4241-45A1-8B4B-FB51E8E27D71}"/>
                    </a:ext>
                  </a:extLst>
                </p:cNvPr>
                <p:cNvSpPr txBox="1"/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4AF89AD5-4241-45A1-8B4B-FB51E8E27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2E7C9E33-5ACE-43CA-930A-F964F0A2A314}"/>
                    </a:ext>
                  </a:extLst>
                </p:cNvPr>
                <p:cNvSpPr txBox="1"/>
                <p:nvPr/>
              </p:nvSpPr>
              <p:spPr>
                <a:xfrm>
                  <a:off x="4426482" y="4614404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2E7C9E33-5ACE-43CA-930A-F964F0A2A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6482" y="4614404"/>
                  <a:ext cx="45185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1467F9A-5FF8-452B-A6DB-51D87D5EBC55}"/>
                    </a:ext>
                  </a:extLst>
                </p:cNvPr>
                <p:cNvSpPr txBox="1"/>
                <p:nvPr/>
              </p:nvSpPr>
              <p:spPr>
                <a:xfrm>
                  <a:off x="2393683" y="3984731"/>
                  <a:ext cx="42364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1467F9A-5FF8-452B-A6DB-51D87D5EB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3984731"/>
                  <a:ext cx="42364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円弧 19">
              <a:extLst>
                <a:ext uri="{FF2B5EF4-FFF2-40B4-BE49-F238E27FC236}">
                  <a16:creationId xmlns:a16="http://schemas.microsoft.com/office/drawing/2014/main" id="{CBC6DE40-7BAE-414F-86A2-066F130FD0E6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9B9E9940-C534-4FDD-96E6-30BFAAC6A6AE}"/>
                    </a:ext>
                  </a:extLst>
                </p:cNvPr>
                <p:cNvSpPr txBox="1"/>
                <p:nvPr/>
              </p:nvSpPr>
              <p:spPr>
                <a:xfrm>
                  <a:off x="1254685" y="5673548"/>
                  <a:ext cx="4411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9B9E9940-C534-4FDD-96E6-30BFAAC6A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4685" y="5673548"/>
                  <a:ext cx="441146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三角関数とは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直角三角形の鋭角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θ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に対する各辺の長さの比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各辺の組み合わせごとに</a:t>
            </a:r>
            <a:r>
              <a:rPr lang="en-US" altLang="ja-JP" sz="2400" dirty="0"/>
              <a:t>3</a:t>
            </a:r>
            <a:r>
              <a:rPr lang="ja-JP" altLang="en-US" sz="2400" dirty="0"/>
              <a:t>種類の関数が存在します。</a:t>
            </a:r>
            <a:endParaRPr lang="en-US" altLang="ja-JP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221DEB9-159D-4AD8-8764-57006857CA1F}"/>
                  </a:ext>
                </a:extLst>
              </p:cNvPr>
              <p:cNvSpPr txBox="1"/>
              <p:nvPr/>
            </p:nvSpPr>
            <p:spPr>
              <a:xfrm>
                <a:off x="5113622" y="2769374"/>
                <a:ext cx="6032421" cy="2466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三角関数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・・・サイン（正弦）</a:t>
                </a:r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・・・コサイン（余弦）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・・・タンジェント（正接）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221DEB9-159D-4AD8-8764-57006857C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622" y="2769374"/>
                <a:ext cx="6032421" cy="2466381"/>
              </a:xfrm>
              <a:prstGeom prst="rect">
                <a:avLst/>
              </a:prstGeom>
              <a:blipFill>
                <a:blip r:embed="rId2"/>
                <a:stretch>
                  <a:fillRect l="-1618" t="-1975" r="-607" b="-17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8A7D366-992A-47FD-98AA-BC4319A20797}"/>
              </a:ext>
            </a:extLst>
          </p:cNvPr>
          <p:cNvGrpSpPr/>
          <p:nvPr/>
        </p:nvGrpSpPr>
        <p:grpSpPr>
          <a:xfrm>
            <a:off x="567542" y="2769374"/>
            <a:ext cx="4310792" cy="3354099"/>
            <a:chOff x="567544" y="3313651"/>
            <a:chExt cx="4310792" cy="3354099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FD7D406A-A0C1-4D2B-B65D-57B527D8EFFC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30" name="直角三角形 29">
                <a:extLst>
                  <a:ext uri="{FF2B5EF4-FFF2-40B4-BE49-F238E27FC236}">
                    <a16:creationId xmlns:a16="http://schemas.microsoft.com/office/drawing/2014/main" id="{C6C7AA54-BA3E-4ACD-91CE-CFFF05C5F5B8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E1943ED1-4F0B-4561-A6DE-340157CB0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56BE7A5C-CDAB-4A3D-AD44-947973C7B1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テキスト ボックス 24">
                  <a:extLst>
                    <a:ext uri="{FF2B5EF4-FFF2-40B4-BE49-F238E27FC236}">
                      <a16:creationId xmlns:a16="http://schemas.microsoft.com/office/drawing/2014/main" id="{5F76C29F-E973-4C61-A9F7-D4986DED7AE6}"/>
                    </a:ext>
                  </a:extLst>
                </p:cNvPr>
                <p:cNvSpPr txBox="1"/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4AF89AD5-4241-45A1-8B4B-FB51E8E27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A6A7A791-DD5D-43CB-92DC-9ECBA1B8AE43}"/>
                    </a:ext>
                  </a:extLst>
                </p:cNvPr>
                <p:cNvSpPr txBox="1"/>
                <p:nvPr/>
              </p:nvSpPr>
              <p:spPr>
                <a:xfrm>
                  <a:off x="4426482" y="4614404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2E7C9E33-5ACE-43CA-930A-F964F0A2A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6482" y="4614404"/>
                  <a:ext cx="45185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9AFB81FF-CA3F-41B8-8949-E0807D435953}"/>
                    </a:ext>
                  </a:extLst>
                </p:cNvPr>
                <p:cNvSpPr txBox="1"/>
                <p:nvPr/>
              </p:nvSpPr>
              <p:spPr>
                <a:xfrm>
                  <a:off x="2393683" y="3984731"/>
                  <a:ext cx="42364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1467F9A-5FF8-452B-A6DB-51D87D5EB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3984731"/>
                  <a:ext cx="423641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円弧 27">
              <a:extLst>
                <a:ext uri="{FF2B5EF4-FFF2-40B4-BE49-F238E27FC236}">
                  <a16:creationId xmlns:a16="http://schemas.microsoft.com/office/drawing/2014/main" id="{0EBEA169-0EA1-4C57-A19F-727EAF5A5892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BB082221-4161-4111-BE81-8E00BA9C1132}"/>
                    </a:ext>
                  </a:extLst>
                </p:cNvPr>
                <p:cNvSpPr txBox="1"/>
                <p:nvPr/>
              </p:nvSpPr>
              <p:spPr>
                <a:xfrm>
                  <a:off x="1254685" y="5673548"/>
                  <a:ext cx="4411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9B9E9940-C534-4FDD-96E6-30BFAAC6A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4685" y="5673548"/>
                  <a:ext cx="44114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6234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例題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以下の直角三角形の各三角関数の値を答えなさい。</a:t>
            </a:r>
            <a:endParaRPr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4848049-0A16-4A57-BE95-CF4D35CB365D}"/>
              </a:ext>
            </a:extLst>
          </p:cNvPr>
          <p:cNvGrpSpPr/>
          <p:nvPr/>
        </p:nvGrpSpPr>
        <p:grpSpPr>
          <a:xfrm>
            <a:off x="567542" y="3066863"/>
            <a:ext cx="4877056" cy="1996817"/>
            <a:chOff x="567544" y="3313651"/>
            <a:chExt cx="4877056" cy="3840956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158B10F9-ABB5-44F9-B21D-F9EC20886CC8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2" name="直角三角形 1">
                <a:extLst>
                  <a:ext uri="{FF2B5EF4-FFF2-40B4-BE49-F238E27FC236}">
                    <a16:creationId xmlns:a16="http://schemas.microsoft.com/office/drawing/2014/main" id="{1ED50A6C-E689-44DF-B80B-32AE33D12BDA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DBB21DB-6978-4ADD-8A4A-0D1C6AE8F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8282AE3E-2FE1-4F1C-B03F-61A4085DC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4AF89AD5-4241-45A1-8B4B-FB51E8E27D71}"/>
                    </a:ext>
                  </a:extLst>
                </p:cNvPr>
                <p:cNvSpPr txBox="1"/>
                <p:nvPr/>
              </p:nvSpPr>
              <p:spPr>
                <a:xfrm>
                  <a:off x="2150406" y="6266576"/>
                  <a:ext cx="1191865" cy="8880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=12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4AF89AD5-4241-45A1-8B4B-FB51E8E27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0406" y="6266576"/>
                  <a:ext cx="1191865" cy="88803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2E7C9E33-5ACE-43CA-930A-F964F0A2A314}"/>
                    </a:ext>
                  </a:extLst>
                </p:cNvPr>
                <p:cNvSpPr txBox="1"/>
                <p:nvPr/>
              </p:nvSpPr>
              <p:spPr>
                <a:xfrm>
                  <a:off x="4428232" y="4461377"/>
                  <a:ext cx="1016368" cy="8880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2E7C9E33-5ACE-43CA-930A-F964F0A2A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232" y="4461377"/>
                  <a:ext cx="1016368" cy="8880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1467F9A-5FF8-452B-A6DB-51D87D5EBC55}"/>
                    </a:ext>
                  </a:extLst>
                </p:cNvPr>
                <p:cNvSpPr txBox="1"/>
                <p:nvPr/>
              </p:nvSpPr>
              <p:spPr>
                <a:xfrm>
                  <a:off x="1915187" y="3566219"/>
                  <a:ext cx="1163652" cy="8880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=13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81467F9A-5FF8-452B-A6DB-51D87D5EB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187" y="3566219"/>
                  <a:ext cx="1163652" cy="8880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円弧 19">
              <a:extLst>
                <a:ext uri="{FF2B5EF4-FFF2-40B4-BE49-F238E27FC236}">
                  <a16:creationId xmlns:a16="http://schemas.microsoft.com/office/drawing/2014/main" id="{CBC6DE40-7BAE-414F-86A2-066F130FD0E6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9B9E9940-C534-4FDD-96E6-30BFAAC6A6AE}"/>
                    </a:ext>
                  </a:extLst>
                </p:cNvPr>
                <p:cNvSpPr txBox="1"/>
                <p:nvPr/>
              </p:nvSpPr>
              <p:spPr>
                <a:xfrm>
                  <a:off x="1262455" y="5431202"/>
                  <a:ext cx="4411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9B9E9940-C534-4FDD-96E6-30BFAAC6A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2455" y="5431202"/>
                  <a:ext cx="441146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820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221DEB9-159D-4AD8-8764-57006857CA1F}"/>
                  </a:ext>
                </a:extLst>
              </p:cNvPr>
              <p:cNvSpPr txBox="1"/>
              <p:nvPr/>
            </p:nvSpPr>
            <p:spPr>
              <a:xfrm>
                <a:off x="6096000" y="2769374"/>
                <a:ext cx="2339102" cy="2880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三角関数より、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221DEB9-159D-4AD8-8764-57006857C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69374"/>
                <a:ext cx="2339102" cy="2880660"/>
              </a:xfrm>
              <a:prstGeom prst="rect">
                <a:avLst/>
              </a:prstGeom>
              <a:blipFill>
                <a:blip r:embed="rId6"/>
                <a:stretch>
                  <a:fillRect l="-3906" t="-1691" r="-28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01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4083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三角関数の式を変形すると、各辺の長さを求める式にすることができます。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■三角関数の変形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の両辺に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を掛けた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ja-JP" altLang="en-US" sz="2400" dirty="0"/>
                  <a:t>の両辺に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を掛けた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sz="2400" dirty="0"/>
                  <a:t>は１つめの式で求められるので基本使わない。。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1" dirty="0">
                    <a:solidFill>
                      <a:srgbClr val="FF0000"/>
                    </a:solidFill>
                  </a:rPr>
                  <a:t>これらの式が今後、非常によく出てきます。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4083875"/>
              </a:xfrm>
              <a:prstGeom prst="rect">
                <a:avLst/>
              </a:prstGeom>
              <a:blipFill>
                <a:blip r:embed="rId2"/>
                <a:stretch>
                  <a:fillRect l="-859" t="-1196" b="-25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19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8269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以下の直角三角形の底辺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dirty="0"/>
                  <a:t>の長さを求めなさい。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ただし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60°=0.5</m:t>
                    </m:r>
                  </m:oMath>
                </a14:m>
                <a:r>
                  <a:rPr kumimoji="1" lang="ja-JP" altLang="en-US" sz="2400" dirty="0"/>
                  <a:t>とする。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826997" cy="830997"/>
              </a:xfrm>
              <a:prstGeom prst="rect">
                <a:avLst/>
              </a:prstGeom>
              <a:blipFill>
                <a:blip r:embed="rId2"/>
                <a:stretch>
                  <a:fillRect l="-1339" t="-5882" r="-446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8113C41-678A-4800-8522-594557624E34}"/>
              </a:ext>
            </a:extLst>
          </p:cNvPr>
          <p:cNvGrpSpPr/>
          <p:nvPr/>
        </p:nvGrpSpPr>
        <p:grpSpPr>
          <a:xfrm>
            <a:off x="1213493" y="2633916"/>
            <a:ext cx="2410550" cy="3354099"/>
            <a:chOff x="567544" y="3313651"/>
            <a:chExt cx="3858938" cy="3354099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EA933BD6-6B4A-4079-AB53-3B6A11B948D9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13" name="直角三角形 12">
                <a:extLst>
                  <a:ext uri="{FF2B5EF4-FFF2-40B4-BE49-F238E27FC236}">
                    <a16:creationId xmlns:a16="http://schemas.microsoft.com/office/drawing/2014/main" id="{02BF1907-E01C-400D-928B-3632664E116C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226BADAA-A714-4A3E-82FF-4A9A81ECE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9949B0FB-95DD-466E-B04C-1B68E895E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5C9B223-F6AE-4226-B763-4567CEF07F96}"/>
                    </a:ext>
                  </a:extLst>
                </p:cNvPr>
                <p:cNvSpPr txBox="1"/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5C9B223-F6AE-4226-B763-4567CEF07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6135213"/>
                  <a:ext cx="451854" cy="461665"/>
                </a:xfrm>
                <a:prstGeom prst="rect">
                  <a:avLst/>
                </a:prstGeom>
                <a:blipFill>
                  <a:blip r:embed="rId3"/>
                  <a:stretch>
                    <a:fillRect r="-2173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8160AC9B-28CE-41F1-A736-71640B885AC4}"/>
                    </a:ext>
                  </a:extLst>
                </p:cNvPr>
                <p:cNvSpPr txBox="1"/>
                <p:nvPr/>
              </p:nvSpPr>
              <p:spPr>
                <a:xfrm>
                  <a:off x="2190678" y="3951175"/>
                  <a:ext cx="61266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50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8160AC9B-28CE-41F1-A736-71640B885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678" y="3951175"/>
                  <a:ext cx="612668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62" r="-428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円弧 10">
              <a:extLst>
                <a:ext uri="{FF2B5EF4-FFF2-40B4-BE49-F238E27FC236}">
                  <a16:creationId xmlns:a16="http://schemas.microsoft.com/office/drawing/2014/main" id="{0FC67A0D-2957-4811-8F9B-45AE7F9D42A9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68A0E2E3-3F81-4E80-AC09-D385F78C85EA}"/>
                    </a:ext>
                  </a:extLst>
                </p:cNvPr>
                <p:cNvSpPr txBox="1"/>
                <p:nvPr/>
              </p:nvSpPr>
              <p:spPr>
                <a:xfrm>
                  <a:off x="1254685" y="5673548"/>
                  <a:ext cx="7280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68A0E2E3-3F81-4E80-AC09-D385F78C8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4685" y="5673548"/>
                  <a:ext cx="728084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667" r="-4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FBA65A7-ADF4-4E25-B2E4-89C20DF09B08}"/>
                  </a:ext>
                </a:extLst>
              </p:cNvPr>
              <p:cNvSpPr txBox="1"/>
              <p:nvPr/>
            </p:nvSpPr>
            <p:spPr>
              <a:xfrm>
                <a:off x="4797462" y="2633916"/>
                <a:ext cx="318510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60°=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より、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0.5=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FBA65A7-ADF4-4E25-B2E4-89C20DF0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462" y="2633916"/>
                <a:ext cx="3185103" cy="1569660"/>
              </a:xfrm>
              <a:prstGeom prst="rect">
                <a:avLst/>
              </a:prstGeom>
              <a:blipFill>
                <a:blip r:embed="rId6"/>
                <a:stretch>
                  <a:fillRect l="-3065" t="-3101" r="-19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57D322-8092-4D1F-B878-5F1DC1370495}"/>
              </a:ext>
            </a:extLst>
          </p:cNvPr>
          <p:cNvSpPr txBox="1"/>
          <p:nvPr/>
        </p:nvSpPr>
        <p:spPr>
          <a:xfrm>
            <a:off x="4797462" y="5224645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公式さえ知っていれば難しくありません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1773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練習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以下の直角三角形の各三角関数の値を求めなさい</a:t>
            </a:r>
            <a:endParaRPr kumimoji="1" lang="en-US" altLang="ja-JP" sz="24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E0494148-702A-4A61-B52E-2AC2E66990AD}"/>
              </a:ext>
            </a:extLst>
          </p:cNvPr>
          <p:cNvGrpSpPr/>
          <p:nvPr/>
        </p:nvGrpSpPr>
        <p:grpSpPr>
          <a:xfrm>
            <a:off x="567542" y="1817795"/>
            <a:ext cx="2788370" cy="2094046"/>
            <a:chOff x="567544" y="3313651"/>
            <a:chExt cx="4587336" cy="3619547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3D76E23-ECEB-494A-A946-F36AD960752E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25" name="直角三角形 24">
                <a:extLst>
                  <a:ext uri="{FF2B5EF4-FFF2-40B4-BE49-F238E27FC236}">
                    <a16:creationId xmlns:a16="http://schemas.microsoft.com/office/drawing/2014/main" id="{1FFD3A53-5F83-48F7-A2B8-EE915784773D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67907F00-E08E-4DB5-89D1-D4EAB0A20C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6931486A-DF14-4052-9553-7520561593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27DB3B6-620B-48BC-AEEA-678145CD0219}"/>
                    </a:ext>
                  </a:extLst>
                </p:cNvPr>
                <p:cNvSpPr txBox="1"/>
                <p:nvPr/>
              </p:nvSpPr>
              <p:spPr>
                <a:xfrm>
                  <a:off x="2393684" y="6135213"/>
                  <a:ext cx="728398" cy="797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B27DB3B6-620B-48BC-AEEA-678145CD0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4" y="6135213"/>
                  <a:ext cx="728398" cy="79798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8C5BD81-8504-4D66-9611-A32923B027D7}"/>
                    </a:ext>
                  </a:extLst>
                </p:cNvPr>
                <p:cNvSpPr txBox="1"/>
                <p:nvPr/>
              </p:nvSpPr>
              <p:spPr>
                <a:xfrm>
                  <a:off x="4426482" y="4614404"/>
                  <a:ext cx="728398" cy="797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F8C5BD81-8504-4D66-9611-A32923B027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6482" y="4614404"/>
                  <a:ext cx="728398" cy="79798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138883B4-BA90-475C-8328-0073CFE650E6}"/>
                    </a:ext>
                  </a:extLst>
                </p:cNvPr>
                <p:cNvSpPr txBox="1"/>
                <p:nvPr/>
              </p:nvSpPr>
              <p:spPr>
                <a:xfrm>
                  <a:off x="2393683" y="3651223"/>
                  <a:ext cx="728398" cy="797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138883B4-BA90-475C-8328-0073CFE65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683" y="3651223"/>
                  <a:ext cx="728398" cy="7979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円弧 22">
              <a:extLst>
                <a:ext uri="{FF2B5EF4-FFF2-40B4-BE49-F238E27FC236}">
                  <a16:creationId xmlns:a16="http://schemas.microsoft.com/office/drawing/2014/main" id="{9CA2DA89-1745-42D5-99E2-CBF03B6D8DAC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61F91CF7-E0E3-47DB-88F5-432DD3C9B346}"/>
                    </a:ext>
                  </a:extLst>
                </p:cNvPr>
                <p:cNvSpPr txBox="1"/>
                <p:nvPr/>
              </p:nvSpPr>
              <p:spPr>
                <a:xfrm>
                  <a:off x="1233541" y="5578971"/>
                  <a:ext cx="4411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61F91CF7-E0E3-47DB-88F5-432DD3C9B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541" y="5578971"/>
                  <a:ext cx="44114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6977" r="-39535" b="-6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8B8DB94D-045B-48FB-990F-C2BDCFA72F3D}"/>
                  </a:ext>
                </a:extLst>
              </p:cNvPr>
              <p:cNvSpPr txBox="1"/>
              <p:nvPr/>
            </p:nvSpPr>
            <p:spPr>
              <a:xfrm>
                <a:off x="567542" y="3903955"/>
                <a:ext cx="757130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以下の直角三角形の底辺と高さの長さを求めなさい。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ただし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30=0.5,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30=0.8</m:t>
                    </m:r>
                  </m:oMath>
                </a14:m>
                <a:r>
                  <a:rPr kumimoji="1" lang="ja-JP" altLang="en-US" sz="2400" dirty="0"/>
                  <a:t>とする。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8B8DB94D-045B-48FB-990F-C2BDCFA7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3903955"/>
                <a:ext cx="7571303" cy="830997"/>
              </a:xfrm>
              <a:prstGeom prst="rect">
                <a:avLst/>
              </a:prstGeom>
              <a:blipFill>
                <a:blip r:embed="rId6"/>
                <a:stretch>
                  <a:fillRect l="-1208" t="-5839" r="-322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6E507-581C-420E-AA6E-816A1E71400C}"/>
              </a:ext>
            </a:extLst>
          </p:cNvPr>
          <p:cNvGrpSpPr/>
          <p:nvPr/>
        </p:nvGrpSpPr>
        <p:grpSpPr>
          <a:xfrm>
            <a:off x="555306" y="4817337"/>
            <a:ext cx="2345620" cy="1940474"/>
            <a:chOff x="567544" y="3313651"/>
            <a:chExt cx="3858938" cy="3354099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81BD25FE-ECA4-401A-B529-31ED5109EBDD}"/>
                </a:ext>
              </a:extLst>
            </p:cNvPr>
            <p:cNvGrpSpPr/>
            <p:nvPr/>
          </p:nvGrpSpPr>
          <p:grpSpPr>
            <a:xfrm>
              <a:off x="567544" y="3313651"/>
              <a:ext cx="3858938" cy="2919370"/>
              <a:chOff x="567544" y="3313651"/>
              <a:chExt cx="3858938" cy="2919370"/>
            </a:xfrm>
          </p:grpSpPr>
          <p:sp>
            <p:nvSpPr>
              <p:cNvPr id="36" name="直角三角形 35">
                <a:extLst>
                  <a:ext uri="{FF2B5EF4-FFF2-40B4-BE49-F238E27FC236}">
                    <a16:creationId xmlns:a16="http://schemas.microsoft.com/office/drawing/2014/main" id="{EDB23C8D-1997-4E26-988E-14AF04999075}"/>
                  </a:ext>
                </a:extLst>
              </p:cNvPr>
              <p:cNvSpPr/>
              <p:nvPr/>
            </p:nvSpPr>
            <p:spPr>
              <a:xfrm rot="16200000">
                <a:off x="1037328" y="2843867"/>
                <a:ext cx="2919370" cy="3858938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B3B57B2B-DC6B-44D2-ADD8-51B6BE8CE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0" cy="26006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6C39E3FD-EBA1-4485-AE4C-333A7A41DF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496" y="5972961"/>
                <a:ext cx="23198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B2454B04-FABD-4795-8808-3B18F719B48C}"/>
                    </a:ext>
                  </a:extLst>
                </p:cNvPr>
                <p:cNvSpPr txBox="1"/>
                <p:nvPr/>
              </p:nvSpPr>
              <p:spPr>
                <a:xfrm>
                  <a:off x="1814903" y="3747913"/>
                  <a:ext cx="1287487" cy="797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270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B2454B04-FABD-4795-8808-3B18F719B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903" y="3747913"/>
                  <a:ext cx="1287487" cy="79798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円弧 33">
              <a:extLst>
                <a:ext uri="{FF2B5EF4-FFF2-40B4-BE49-F238E27FC236}">
                  <a16:creationId xmlns:a16="http://schemas.microsoft.com/office/drawing/2014/main" id="{1FC0BF91-A58E-4A41-ABE0-62A54032C781}"/>
                </a:ext>
              </a:extLst>
            </p:cNvPr>
            <p:cNvSpPr/>
            <p:nvPr/>
          </p:nvSpPr>
          <p:spPr>
            <a:xfrm>
              <a:off x="752721" y="5865403"/>
              <a:ext cx="516217" cy="802347"/>
            </a:xfrm>
            <a:prstGeom prst="arc">
              <a:avLst>
                <a:gd name="adj1" fmla="val 16567305"/>
                <a:gd name="adj2" fmla="val 212321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10EAB68-B8B2-4051-9FDA-4A49792BCB56}"/>
                    </a:ext>
                  </a:extLst>
                </p:cNvPr>
                <p:cNvSpPr txBox="1"/>
                <p:nvPr/>
              </p:nvSpPr>
              <p:spPr>
                <a:xfrm>
                  <a:off x="1215993" y="5557686"/>
                  <a:ext cx="1197820" cy="7979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110EAB68-B8B2-4051-9FDA-4A49792BC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993" y="5557686"/>
                  <a:ext cx="1197820" cy="79798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383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4350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実はほかにも三角関数があったりします。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</a:t>
                </a:r>
                <a:r>
                  <a:rPr lang="ja-JP" altLang="en-US" sz="2400" dirty="0"/>
                  <a:t>三角関数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𝑐𝑠𝑐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・・・コセカント（余割）</a:t>
                </a:r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・・・セカント（正割）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𝑐𝑜𝑡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𝑡𝑎𝑛</m:t>
                        </m:r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lang="en-US" altLang="ja-JP" sz="2400" dirty="0"/>
                  <a:t> 	</a:t>
                </a:r>
                <a:r>
                  <a:rPr lang="ja-JP" altLang="en-US" sz="2400" dirty="0"/>
                  <a:t>・・・コタンジェント（余接）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おまけ程度に。。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4350806"/>
              </a:xfrm>
              <a:prstGeom prst="rect">
                <a:avLst/>
              </a:prstGeom>
              <a:blipFill>
                <a:blip r:embed="rId2"/>
                <a:stretch>
                  <a:fillRect l="-1442" t="-1122" r="-577" b="-23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75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三角関数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これまでの三角関数は角度から辺の長さを求めていましたが、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辺の長さから角度を求める関数</a:t>
            </a:r>
            <a:r>
              <a:rPr lang="ja-JP" altLang="en-US" sz="2400" dirty="0"/>
              <a:t>もあります。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2065153-ACCE-46CC-93D6-D5EC06109505}"/>
              </a:ext>
            </a:extLst>
          </p:cNvPr>
          <p:cNvGrpSpPr/>
          <p:nvPr/>
        </p:nvGrpSpPr>
        <p:grpSpPr>
          <a:xfrm>
            <a:off x="567542" y="2522472"/>
            <a:ext cx="2741959" cy="3354099"/>
            <a:chOff x="567542" y="2522472"/>
            <a:chExt cx="2741959" cy="3354099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B71F115D-0432-4E63-9147-38E6278EA6D6}"/>
                </a:ext>
              </a:extLst>
            </p:cNvPr>
            <p:cNvGrpSpPr/>
            <p:nvPr/>
          </p:nvGrpSpPr>
          <p:grpSpPr>
            <a:xfrm>
              <a:off x="567542" y="2522472"/>
              <a:ext cx="2741959" cy="3354099"/>
              <a:chOff x="567544" y="3313651"/>
              <a:chExt cx="5400227" cy="3354099"/>
            </a:xfrm>
          </p:grpSpPr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A272B92C-DFED-40BE-916A-A24785DF88CD}"/>
                  </a:ext>
                </a:extLst>
              </p:cNvPr>
              <p:cNvGrpSpPr/>
              <p:nvPr/>
            </p:nvGrpSpPr>
            <p:grpSpPr>
              <a:xfrm>
                <a:off x="567544" y="3313651"/>
                <a:ext cx="3858938" cy="2919370"/>
                <a:chOff x="567544" y="3313651"/>
                <a:chExt cx="3858938" cy="2919370"/>
              </a:xfrm>
            </p:grpSpPr>
            <p:sp>
              <p:nvSpPr>
                <p:cNvPr id="13" name="直角三角形 12">
                  <a:extLst>
                    <a:ext uri="{FF2B5EF4-FFF2-40B4-BE49-F238E27FC236}">
                      <a16:creationId xmlns:a16="http://schemas.microsoft.com/office/drawing/2014/main" id="{B4F5311B-9235-46E5-9DF3-2FABF4F7ABA9}"/>
                    </a:ext>
                  </a:extLst>
                </p:cNvPr>
                <p:cNvSpPr/>
                <p:nvPr/>
              </p:nvSpPr>
              <p:spPr>
                <a:xfrm rot="16200000">
                  <a:off x="1037328" y="2843867"/>
                  <a:ext cx="2919370" cy="3858938"/>
                </a:xfrm>
                <a:prstGeom prst="rt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90919EBC-FF58-40E6-9FFA-33CA118FA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4496" y="5972961"/>
                  <a:ext cx="0" cy="26006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C108B953-704B-47E4-BD55-646FFCB9FF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4496" y="5972961"/>
                  <a:ext cx="23198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CE7B7D6-D04A-4049-B291-40894CE0C4D1}"/>
                      </a:ext>
                    </a:extLst>
                  </p:cNvPr>
                  <p:cNvSpPr txBox="1"/>
                  <p:nvPr/>
                </p:nvSpPr>
                <p:spPr>
                  <a:xfrm>
                    <a:off x="1726369" y="6206085"/>
                    <a:ext cx="15412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100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CE7B7D6-D04A-4049-B291-40894CE0C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6369" y="6206085"/>
                    <a:ext cx="1541288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F72CC24-80CC-4F39-B8D5-1740F42791BA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483" y="4614404"/>
                    <a:ext cx="15412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</m:oMath>
                      </m:oMathPara>
                    </a14:m>
                    <a:endParaRPr lang="en-US" altLang="ja-JP" sz="2400" dirty="0"/>
                  </a:p>
                </p:txBody>
              </p:sp>
            </mc:Choice>
            <mc:Fallback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F72CC24-80CC-4F39-B8D5-1740F42791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26483" y="4614404"/>
                    <a:ext cx="1541288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0F50DAB6-1902-4A92-AB2F-D586F9F8AD52}"/>
                  </a:ext>
                </a:extLst>
              </p:cNvPr>
              <p:cNvSpPr/>
              <p:nvPr/>
            </p:nvSpPr>
            <p:spPr>
              <a:xfrm>
                <a:off x="752721" y="5865403"/>
                <a:ext cx="516217" cy="802347"/>
              </a:xfrm>
              <a:prstGeom prst="arc">
                <a:avLst>
                  <a:gd name="adj1" fmla="val 16191176"/>
                  <a:gd name="adj2" fmla="val 21232141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AB86F2E-C0FE-4EB7-B6A9-6263C9377E79}"/>
                    </a:ext>
                  </a:extLst>
                </p:cNvPr>
                <p:cNvSpPr txBox="1"/>
                <p:nvPr/>
              </p:nvSpPr>
              <p:spPr>
                <a:xfrm>
                  <a:off x="819231" y="4927359"/>
                  <a:ext cx="4411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θ</m:t>
                        </m:r>
                      </m:oMath>
                    </m:oMathPara>
                  </a14:m>
                  <a:endParaRPr lang="en-US" altLang="ja-JP" sz="2400" dirty="0"/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CAB86F2E-C0FE-4EB7-B6A9-6263C9377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31" y="4927359"/>
                  <a:ext cx="441146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D29EDAF-4469-4D74-8781-65DDB166469D}"/>
                  </a:ext>
                </a:extLst>
              </p:cNvPr>
              <p:cNvSpPr txBox="1"/>
              <p:nvPr/>
            </p:nvSpPr>
            <p:spPr>
              <a:xfrm>
                <a:off x="3796011" y="2442704"/>
                <a:ext cx="4801314" cy="32022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■アークタンジェント（逆正接）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𝒕𝒂𝒏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=75.963…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>
                    <a:solidFill>
                      <a:srgbClr val="FF0000"/>
                    </a:solidFill>
                  </a:rPr>
                  <a:t>おおよそ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a:rPr lang="en-US" altLang="ja-JP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たまにゲームでも使用します。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CD29EDAF-4469-4D74-8781-65DDB1664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011" y="2442704"/>
                <a:ext cx="4801314" cy="3202287"/>
              </a:xfrm>
              <a:prstGeom prst="rect">
                <a:avLst/>
              </a:prstGeom>
              <a:blipFill>
                <a:blip r:embed="rId5"/>
                <a:stretch>
                  <a:fillRect l="-2033" t="-1524" r="-1017" b="-38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994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477</Words>
  <Application>Microsoft Office PowerPoint</Application>
  <PresentationFormat>ワイド画面</PresentationFormat>
  <Paragraphs>82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87</cp:revision>
  <dcterms:created xsi:type="dcterms:W3CDTF">2024-08-27T02:15:54Z</dcterms:created>
  <dcterms:modified xsi:type="dcterms:W3CDTF">2024-10-09T07:10:46Z</dcterms:modified>
</cp:coreProperties>
</file>