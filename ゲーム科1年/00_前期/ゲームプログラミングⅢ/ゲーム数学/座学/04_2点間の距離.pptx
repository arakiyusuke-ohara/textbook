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D00A4C7-0BD9-4A08-ACE7-703534033EA6}"/>
              </a:ext>
            </a:extLst>
          </p:cNvPr>
          <p:cNvSpPr/>
          <p:nvPr/>
        </p:nvSpPr>
        <p:spPr>
          <a:xfrm>
            <a:off x="341614" y="2058332"/>
            <a:ext cx="10529586" cy="414773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ゲームでは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２点間の距離</a:t>
                </a:r>
                <a:r>
                  <a:rPr kumimoji="1" lang="ja-JP" altLang="en-US" sz="2400" dirty="0"/>
                  <a:t>を計算することは非常によくあります。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２点間の距離を計算するには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ピタゴラスの定理（三平方の定理）</a:t>
                </a:r>
                <a:r>
                  <a:rPr lang="ja-JP" altLang="en-US" sz="2400" dirty="0"/>
                  <a:t>を使います。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■ピタゴラスの定理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・・・直角三角形の底辺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・・・直角三角形の高さ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・・・直角三角形の斜辺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3416320"/>
              </a:xfrm>
              <a:prstGeom prst="rect">
                <a:avLst/>
              </a:prstGeom>
              <a:blipFill>
                <a:blip r:embed="rId2"/>
                <a:stretch>
                  <a:fillRect l="-835" t="-142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直角三角形 1">
            <a:extLst>
              <a:ext uri="{FF2B5EF4-FFF2-40B4-BE49-F238E27FC236}">
                <a16:creationId xmlns:a16="http://schemas.microsoft.com/office/drawing/2014/main" id="{88BB7444-A520-42F2-A842-E0F5517B1CE8}"/>
              </a:ext>
            </a:extLst>
          </p:cNvPr>
          <p:cNvSpPr/>
          <p:nvPr/>
        </p:nvSpPr>
        <p:spPr>
          <a:xfrm rot="16200000">
            <a:off x="6290174" y="2052657"/>
            <a:ext cx="3204595" cy="3973233"/>
          </a:xfrm>
          <a:prstGeom prst="rt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4D9D7BF-5E49-414B-AC04-041C1E6A6A53}"/>
              </a:ext>
            </a:extLst>
          </p:cNvPr>
          <p:cNvCxnSpPr/>
          <p:nvPr/>
        </p:nvCxnSpPr>
        <p:spPr>
          <a:xfrm>
            <a:off x="9630561" y="5385732"/>
            <a:ext cx="0" cy="2558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53B659C-9219-482F-B046-9D69EFE33A71}"/>
              </a:ext>
            </a:extLst>
          </p:cNvPr>
          <p:cNvCxnSpPr>
            <a:cxnSpLocks/>
          </p:cNvCxnSpPr>
          <p:nvPr/>
        </p:nvCxnSpPr>
        <p:spPr>
          <a:xfrm flipH="1">
            <a:off x="9630562" y="5385732"/>
            <a:ext cx="2485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D8F21B9-5A2A-4FE7-BACB-4B0F35646D33}"/>
                  </a:ext>
                </a:extLst>
              </p:cNvPr>
              <p:cNvSpPr txBox="1"/>
              <p:nvPr/>
            </p:nvSpPr>
            <p:spPr>
              <a:xfrm>
                <a:off x="7759333" y="5641571"/>
                <a:ext cx="451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D8F21B9-5A2A-4FE7-BACB-4B0F35646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333" y="5641571"/>
                <a:ext cx="45185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CEED4C0-6CB7-4295-8C0C-9DFED3A89E67}"/>
                  </a:ext>
                </a:extLst>
              </p:cNvPr>
              <p:cNvSpPr txBox="1"/>
              <p:nvPr/>
            </p:nvSpPr>
            <p:spPr>
              <a:xfrm>
                <a:off x="10032324" y="4039273"/>
                <a:ext cx="4462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CEED4C0-6CB7-4295-8C0C-9DFED3A89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324" y="4039273"/>
                <a:ext cx="446276" cy="461665"/>
              </a:xfrm>
              <a:prstGeom prst="rect">
                <a:avLst/>
              </a:prstGeom>
              <a:blipFill>
                <a:blip r:embed="rId4"/>
                <a:stretch>
                  <a:fillRect l="-411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BC90D561-540F-47E4-811A-C3A734E28647}"/>
                  </a:ext>
                </a:extLst>
              </p:cNvPr>
              <p:cNvSpPr txBox="1"/>
              <p:nvPr/>
            </p:nvSpPr>
            <p:spPr>
              <a:xfrm>
                <a:off x="7511509" y="3384974"/>
                <a:ext cx="4236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BC90D561-540F-47E4-811A-C3A734E28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509" y="3384974"/>
                <a:ext cx="42364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２点間の距離を計算する場合は、</a:t>
            </a:r>
            <a:endParaRPr kumimoji="1" lang="en-US" altLang="ja-JP" sz="2400" dirty="0"/>
          </a:p>
          <a:p>
            <a:r>
              <a:rPr kumimoji="1" lang="ja-JP" altLang="en-US" sz="2400" dirty="0"/>
              <a:t>その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２点を結ぶように直角三角形を配置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EAB780D-0B1F-42AB-8C68-8474BC107C11}"/>
              </a:ext>
            </a:extLst>
          </p:cNvPr>
          <p:cNvGrpSpPr/>
          <p:nvPr/>
        </p:nvGrpSpPr>
        <p:grpSpPr>
          <a:xfrm>
            <a:off x="1076680" y="2656051"/>
            <a:ext cx="3973233" cy="3204595"/>
            <a:chOff x="5905855" y="2436976"/>
            <a:chExt cx="3973233" cy="3204595"/>
          </a:xfrm>
        </p:grpSpPr>
        <p:sp>
          <p:nvSpPr>
            <p:cNvPr id="2" name="直角三角形 1">
              <a:extLst>
                <a:ext uri="{FF2B5EF4-FFF2-40B4-BE49-F238E27FC236}">
                  <a16:creationId xmlns:a16="http://schemas.microsoft.com/office/drawing/2014/main" id="{88BB7444-A520-42F2-A842-E0F5517B1CE8}"/>
                </a:ext>
              </a:extLst>
            </p:cNvPr>
            <p:cNvSpPr/>
            <p:nvPr/>
          </p:nvSpPr>
          <p:spPr>
            <a:xfrm rot="16200000">
              <a:off x="6290174" y="2052657"/>
              <a:ext cx="3204595" cy="3973233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24D9D7BF-5E49-414B-AC04-041C1E6A6A53}"/>
                </a:ext>
              </a:extLst>
            </p:cNvPr>
            <p:cNvCxnSpPr/>
            <p:nvPr/>
          </p:nvCxnSpPr>
          <p:spPr>
            <a:xfrm>
              <a:off x="9630561" y="5385732"/>
              <a:ext cx="0" cy="255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553B659C-9219-482F-B046-9D69EFE33A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0562" y="5385732"/>
              <a:ext cx="2485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25FE866-9669-469B-9552-569077125485}"/>
                  </a:ext>
                </a:extLst>
              </p:cNvPr>
              <p:cNvSpPr txBox="1"/>
              <p:nvPr/>
            </p:nvSpPr>
            <p:spPr>
              <a:xfrm>
                <a:off x="417685" y="5904381"/>
                <a:ext cx="1317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25FE866-9669-469B-9552-56907712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85" y="5904381"/>
                <a:ext cx="1317990" cy="461665"/>
              </a:xfrm>
              <a:prstGeom prst="rect">
                <a:avLst/>
              </a:prstGeom>
              <a:blipFill>
                <a:blip r:embed="rId2"/>
                <a:stretch>
                  <a:fillRect l="-463" r="-463" b="-17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楕円 4">
            <a:extLst>
              <a:ext uri="{FF2B5EF4-FFF2-40B4-BE49-F238E27FC236}">
                <a16:creationId xmlns:a16="http://schemas.microsoft.com/office/drawing/2014/main" id="{8A612D9D-E406-442E-9AEE-DBC3D3B77BCF}"/>
              </a:ext>
            </a:extLst>
          </p:cNvPr>
          <p:cNvSpPr/>
          <p:nvPr/>
        </p:nvSpPr>
        <p:spPr>
          <a:xfrm>
            <a:off x="992413" y="5789876"/>
            <a:ext cx="131892" cy="1326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8B7EF32-EDF0-4C7A-B686-F5953B3B184A}"/>
              </a:ext>
            </a:extLst>
          </p:cNvPr>
          <p:cNvSpPr/>
          <p:nvPr/>
        </p:nvSpPr>
        <p:spPr>
          <a:xfrm>
            <a:off x="4983090" y="2570325"/>
            <a:ext cx="131892" cy="1326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2512199-EA47-4CAE-8588-1F73C6E2F5C1}"/>
                  </a:ext>
                </a:extLst>
              </p:cNvPr>
              <p:cNvSpPr txBox="1"/>
              <p:nvPr/>
            </p:nvSpPr>
            <p:spPr>
              <a:xfrm>
                <a:off x="5134181" y="2472169"/>
                <a:ext cx="1317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2512199-EA47-4CAE-8588-1F73C6E2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181" y="2472169"/>
                <a:ext cx="1317990" cy="461665"/>
              </a:xfrm>
              <a:prstGeom prst="rect">
                <a:avLst/>
              </a:prstGeom>
              <a:blipFill>
                <a:blip r:embed="rId3"/>
                <a:stretch>
                  <a:fillRect r="-926" b="-17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9B759DE-4F96-42DC-BE53-0D0E6A365BBD}"/>
                  </a:ext>
                </a:extLst>
              </p:cNvPr>
              <p:cNvSpPr txBox="1"/>
              <p:nvPr/>
            </p:nvSpPr>
            <p:spPr>
              <a:xfrm>
                <a:off x="2896433" y="5789876"/>
                <a:ext cx="451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9B759DE-4F96-42DC-BE53-0D0E6A365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433" y="5789876"/>
                <a:ext cx="45185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ECB94F8-10C0-4202-974E-263DD91BBA51}"/>
                  </a:ext>
                </a:extLst>
              </p:cNvPr>
              <p:cNvSpPr txBox="1"/>
              <p:nvPr/>
            </p:nvSpPr>
            <p:spPr>
              <a:xfrm>
                <a:off x="5134181" y="4027515"/>
                <a:ext cx="451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ECB94F8-10C0-4202-974E-263DD91BB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181" y="4027515"/>
                <a:ext cx="451855" cy="461665"/>
              </a:xfrm>
              <a:prstGeom prst="rect">
                <a:avLst/>
              </a:prstGeom>
              <a:blipFill>
                <a:blip r:embed="rId5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6080406-71BD-4175-8812-B4DAD4E67604}"/>
                  </a:ext>
                </a:extLst>
              </p:cNvPr>
              <p:cNvSpPr txBox="1"/>
              <p:nvPr/>
            </p:nvSpPr>
            <p:spPr>
              <a:xfrm>
                <a:off x="2577728" y="3670625"/>
                <a:ext cx="4236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6080406-71BD-4175-8812-B4DAD4E6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728" y="3670625"/>
                <a:ext cx="42364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95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2315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求めたい距離に当たる部分は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また</a:t>
                </a:r>
                <a14:m>
                  <m:oMath xmlns:m="http://schemas.openxmlformats.org/officeDocument/2006/math"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と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は水平、鉛直の増加量</a:t>
                </a:r>
                <a:r>
                  <a:rPr kumimoji="1" lang="ja-JP" altLang="en-US" sz="2400" dirty="0"/>
                  <a:t>ということが分かります。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231549" cy="830997"/>
              </a:xfrm>
              <a:prstGeom prst="rect">
                <a:avLst/>
              </a:prstGeom>
              <a:blipFill>
                <a:blip r:embed="rId2"/>
                <a:stretch>
                  <a:fillRect l="-1111" t="-5882" r="-519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EAB780D-0B1F-42AB-8C68-8474BC107C11}"/>
              </a:ext>
            </a:extLst>
          </p:cNvPr>
          <p:cNvGrpSpPr/>
          <p:nvPr/>
        </p:nvGrpSpPr>
        <p:grpSpPr>
          <a:xfrm>
            <a:off x="1076680" y="2656051"/>
            <a:ext cx="3973233" cy="3204595"/>
            <a:chOff x="5905855" y="2436976"/>
            <a:chExt cx="3973233" cy="3204595"/>
          </a:xfrm>
        </p:grpSpPr>
        <p:sp>
          <p:nvSpPr>
            <p:cNvPr id="2" name="直角三角形 1">
              <a:extLst>
                <a:ext uri="{FF2B5EF4-FFF2-40B4-BE49-F238E27FC236}">
                  <a16:creationId xmlns:a16="http://schemas.microsoft.com/office/drawing/2014/main" id="{88BB7444-A520-42F2-A842-E0F5517B1CE8}"/>
                </a:ext>
              </a:extLst>
            </p:cNvPr>
            <p:cNvSpPr/>
            <p:nvPr/>
          </p:nvSpPr>
          <p:spPr>
            <a:xfrm rot="16200000">
              <a:off x="6290174" y="2052657"/>
              <a:ext cx="3204595" cy="3973233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24D9D7BF-5E49-414B-AC04-041C1E6A6A53}"/>
                </a:ext>
              </a:extLst>
            </p:cNvPr>
            <p:cNvCxnSpPr/>
            <p:nvPr/>
          </p:nvCxnSpPr>
          <p:spPr>
            <a:xfrm>
              <a:off x="9630561" y="5385732"/>
              <a:ext cx="0" cy="255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553B659C-9219-482F-B046-9D69EFE33A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0562" y="5385732"/>
              <a:ext cx="2485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25FE866-9669-469B-9552-569077125485}"/>
                  </a:ext>
                </a:extLst>
              </p:cNvPr>
              <p:cNvSpPr txBox="1"/>
              <p:nvPr/>
            </p:nvSpPr>
            <p:spPr>
              <a:xfrm>
                <a:off x="417685" y="5904381"/>
                <a:ext cx="12805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25FE866-9669-469B-9552-56907712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85" y="5904381"/>
                <a:ext cx="1280542" cy="461665"/>
              </a:xfrm>
              <a:prstGeom prst="rect">
                <a:avLst/>
              </a:prstGeom>
              <a:blipFill>
                <a:blip r:embed="rId3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楕円 4">
            <a:extLst>
              <a:ext uri="{FF2B5EF4-FFF2-40B4-BE49-F238E27FC236}">
                <a16:creationId xmlns:a16="http://schemas.microsoft.com/office/drawing/2014/main" id="{8A612D9D-E406-442E-9AEE-DBC3D3B77BCF}"/>
              </a:ext>
            </a:extLst>
          </p:cNvPr>
          <p:cNvSpPr/>
          <p:nvPr/>
        </p:nvSpPr>
        <p:spPr>
          <a:xfrm>
            <a:off x="992413" y="5789876"/>
            <a:ext cx="131892" cy="1326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8B7EF32-EDF0-4C7A-B686-F5953B3B184A}"/>
              </a:ext>
            </a:extLst>
          </p:cNvPr>
          <p:cNvSpPr/>
          <p:nvPr/>
        </p:nvSpPr>
        <p:spPr>
          <a:xfrm>
            <a:off x="4983090" y="2570325"/>
            <a:ext cx="131892" cy="1326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2512199-EA47-4CAE-8588-1F73C6E2F5C1}"/>
                  </a:ext>
                </a:extLst>
              </p:cNvPr>
              <p:cNvSpPr txBox="1"/>
              <p:nvPr/>
            </p:nvSpPr>
            <p:spPr>
              <a:xfrm>
                <a:off x="5134181" y="2472169"/>
                <a:ext cx="12510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2512199-EA47-4CAE-8588-1F73C6E2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181" y="2472169"/>
                <a:ext cx="1251047" cy="461665"/>
              </a:xfrm>
              <a:prstGeom prst="rect">
                <a:avLst/>
              </a:prstGeom>
              <a:blipFill>
                <a:blip r:embed="rId4"/>
                <a:stretch>
                  <a:fillRect r="-488" b="-17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9B759DE-4F96-42DC-BE53-0D0E6A365BBD}"/>
                  </a:ext>
                </a:extLst>
              </p:cNvPr>
              <p:cNvSpPr txBox="1"/>
              <p:nvPr/>
            </p:nvSpPr>
            <p:spPr>
              <a:xfrm>
                <a:off x="2420183" y="5904380"/>
                <a:ext cx="18849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9B759DE-4F96-42DC-BE53-0D0E6A365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183" y="5904380"/>
                <a:ext cx="188494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ECB94F8-10C0-4202-974E-263DD91BBA51}"/>
                  </a:ext>
                </a:extLst>
              </p:cNvPr>
              <p:cNvSpPr txBox="1"/>
              <p:nvPr/>
            </p:nvSpPr>
            <p:spPr>
              <a:xfrm>
                <a:off x="5134181" y="4027515"/>
                <a:ext cx="18221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ECB94F8-10C0-4202-974E-263DD91BB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181" y="4027515"/>
                <a:ext cx="1822165" cy="461665"/>
              </a:xfrm>
              <a:prstGeom prst="rect">
                <a:avLst/>
              </a:prstGeom>
              <a:blipFill>
                <a:blip r:embed="rId6"/>
                <a:stretch>
                  <a:fillRect l="-1003" b="-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6080406-71BD-4175-8812-B4DAD4E67604}"/>
                  </a:ext>
                </a:extLst>
              </p:cNvPr>
              <p:cNvSpPr txBox="1"/>
              <p:nvPr/>
            </p:nvSpPr>
            <p:spPr>
              <a:xfrm>
                <a:off x="2231061" y="3565850"/>
                <a:ext cx="11315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？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6080406-71BD-4175-8812-B4DAD4E6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061" y="3565850"/>
                <a:ext cx="113159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4434EB03-0556-4737-83FA-F0F60A9C9723}"/>
                  </a:ext>
                </a:extLst>
              </p:cNvPr>
              <p:cNvSpPr txBox="1"/>
              <p:nvPr/>
            </p:nvSpPr>
            <p:spPr>
              <a:xfrm>
                <a:off x="6956346" y="4766450"/>
                <a:ext cx="492955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b="1" dirty="0">
                    <a:solidFill>
                      <a:srgbClr val="00B050"/>
                    </a:solidFill>
                  </a:rPr>
                  <a:t>MEMO</a:t>
                </a:r>
              </a:p>
              <a:p>
                <a:r>
                  <a:rPr kumimoji="1" lang="ja-JP" altLang="en-US" dirty="0"/>
                  <a:t>ピタゴラスの定理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にあてはめると</a:t>
                </a:r>
                <a:endParaRPr kumimoji="1"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ja-JP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ja-JP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1" lang="en-US" altLang="ja-JP" b="1" dirty="0"/>
              </a:p>
              <a:p>
                <a:r>
                  <a:rPr lang="ja-JP" altLang="en-US" dirty="0"/>
                  <a:t>となる。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4434EB03-0556-4737-83FA-F0F60A9C9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346" y="4766450"/>
                <a:ext cx="4929555" cy="1200329"/>
              </a:xfrm>
              <a:prstGeom prst="rect">
                <a:avLst/>
              </a:prstGeom>
              <a:blipFill>
                <a:blip r:embed="rId8"/>
                <a:stretch>
                  <a:fillRect l="-989" t="-3046" r="-371" b="-76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3429A1C-D42D-47FF-8992-301258848F7C}"/>
                  </a:ext>
                </a:extLst>
              </p:cNvPr>
              <p:cNvSpPr txBox="1"/>
              <p:nvPr/>
            </p:nvSpPr>
            <p:spPr>
              <a:xfrm>
                <a:off x="6956345" y="2472169"/>
                <a:ext cx="4524893" cy="12715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b="1" dirty="0">
                    <a:solidFill>
                      <a:srgbClr val="00B050"/>
                    </a:solidFill>
                  </a:rPr>
                  <a:t>MEMO</a:t>
                </a:r>
              </a:p>
              <a:p>
                <a:r>
                  <a:rPr kumimoji="1" lang="ja-JP" altLang="en-US" dirty="0"/>
                  <a:t>ピタゴラスの定理は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なので</a:t>
                </a:r>
                <a:endParaRPr kumimoji="1" lang="en-US" altLang="ja-JP" dirty="0"/>
              </a:p>
              <a:p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ja-JP" dirty="0"/>
                  <a:t> </a:t>
                </a:r>
                <a:r>
                  <a:rPr kumimoji="1" lang="ja-JP" altLang="en-US" dirty="0"/>
                  <a:t>の形にするには平方根（√）が必要。</a:t>
                </a:r>
                <a:endParaRPr kumimoji="1"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altLang="ja-JP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kumimoji="1" lang="en-US" altLang="ja-JP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3429A1C-D42D-47FF-8992-301258848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345" y="2472169"/>
                <a:ext cx="4524893" cy="1271502"/>
              </a:xfrm>
              <a:prstGeom prst="rect">
                <a:avLst/>
              </a:prstGeom>
              <a:blipFill>
                <a:blip r:embed="rId9"/>
                <a:stretch>
                  <a:fillRect l="-1078" t="-2885" r="-6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680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7FE383B-49D2-4840-AA75-141E2333E4BB}"/>
              </a:ext>
            </a:extLst>
          </p:cNvPr>
          <p:cNvSpPr/>
          <p:nvPr/>
        </p:nvSpPr>
        <p:spPr>
          <a:xfrm>
            <a:off x="341614" y="1871133"/>
            <a:ext cx="7617053" cy="26488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3163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このことから２点間の距離の公式は以下のように定義できます。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■２点間の距離の公式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・・・２点間の距離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3163879"/>
              </a:xfrm>
              <a:prstGeom prst="rect">
                <a:avLst/>
              </a:prstGeom>
              <a:blipFill>
                <a:blip r:embed="rId2"/>
                <a:stretch>
                  <a:fillRect l="-1003" t="-1541" r="-67" b="-34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9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 例題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40131" cy="5268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ある２つの物体の中心座標が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(25, 80)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(55, 40)</m:t>
                    </m:r>
                  </m:oMath>
                </a14:m>
                <a:r>
                  <a:rPr kumimoji="1" lang="ja-JP" altLang="en-US" sz="2400" dirty="0"/>
                  <a:t>にある場合、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これらの中心間の距離を求めなさい。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にあてはめると、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900+</m:t>
                          </m:r>
                          <m: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</m:e>
                      </m:rad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𝟐𝟓𝟎𝟎</m:t>
                          </m:r>
                        </m:e>
                      </m:rad>
                    </m:oMath>
                  </m:oMathPara>
                </a14:m>
                <a:endParaRPr lang="en-US" altLang="ja-JP" sz="24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2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ja-JP" sz="2400" dirty="0"/>
                  <a:t>※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2500</m:t>
                        </m:r>
                      </m:e>
                    </m:rad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と簡単な数にしても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OK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40131" cy="5268109"/>
              </a:xfrm>
              <a:prstGeom prst="rect">
                <a:avLst/>
              </a:prstGeom>
              <a:blipFill>
                <a:blip r:embed="rId2"/>
                <a:stretch>
                  <a:fillRect l="-1083" t="-926" r="-144" b="-25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61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8E63127-75B0-421D-9802-87EFCFD8F79D}"/>
              </a:ext>
            </a:extLst>
          </p:cNvPr>
          <p:cNvSpPr/>
          <p:nvPr/>
        </p:nvSpPr>
        <p:spPr>
          <a:xfrm>
            <a:off x="395227" y="1777999"/>
            <a:ext cx="7617053" cy="27262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40578" cy="42718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/>
                  <a:t>3D</a:t>
                </a:r>
                <a:r>
                  <a:rPr lang="ja-JP" altLang="en-US" sz="2400" dirty="0"/>
                  <a:t>で２点間の距離を計算する場合は、</a:t>
                </a:r>
                <a:r>
                  <a:rPr kumimoji="1" lang="ja-JP" altLang="en-US" sz="2400" dirty="0"/>
                  <a:t>公式に</a:t>
                </a:r>
                <a:r>
                  <a:rPr kumimoji="1" lang="en-US" altLang="ja-JP" sz="2400" dirty="0"/>
                  <a:t>Z</a:t>
                </a:r>
                <a:r>
                  <a:rPr kumimoji="1" lang="ja-JP" altLang="en-US" sz="2400" dirty="0"/>
                  <a:t>軸の計算が追加されるだけです。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■２点間の距離の公式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・・・２点間の距離</a:t>
                </a:r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:r>
                  <a:rPr kumimoji="1" lang="en-US" altLang="ja-JP" sz="2400" dirty="0"/>
                  <a:t>※</a:t>
                </a:r>
                <a:r>
                  <a:rPr kumimoji="1" lang="ja-JP" altLang="en-US" sz="2400" dirty="0"/>
                  <a:t>このように</a:t>
                </a:r>
                <a:r>
                  <a:rPr kumimoji="1" lang="en-US" altLang="ja-JP" sz="2400" dirty="0"/>
                  <a:t>2D</a:t>
                </a:r>
                <a:r>
                  <a:rPr kumimoji="1" lang="ja-JP" altLang="en-US" sz="2400" dirty="0"/>
                  <a:t>で使用する計算のほとんどは</a:t>
                </a:r>
                <a:r>
                  <a:rPr kumimoji="1" lang="en-US" altLang="ja-JP" sz="2400" dirty="0"/>
                  <a:t>3D</a:t>
                </a:r>
                <a:r>
                  <a:rPr kumimoji="1" lang="ja-JP" altLang="en-US" sz="2400" dirty="0"/>
                  <a:t>に応用できます。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（一部例外あり）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40578" cy="4271875"/>
              </a:xfrm>
              <a:prstGeom prst="rect">
                <a:avLst/>
              </a:prstGeom>
              <a:blipFill>
                <a:blip r:embed="rId2"/>
                <a:stretch>
                  <a:fillRect l="-813" t="-1143" b="-2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0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 練習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2607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以下の２点間の距離を計算しましょう（答えは√付きで</a:t>
                </a:r>
                <a:r>
                  <a:rPr kumimoji="1" lang="en-US" altLang="ja-JP" sz="2400" dirty="0"/>
                  <a:t>OK</a:t>
                </a:r>
                <a:r>
                  <a:rPr kumimoji="1" lang="ja-JP" altLang="en-US" sz="2400" dirty="0"/>
                  <a:t>）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(30, 80)</m:t>
                    </m:r>
                  </m:oMath>
                </a14:m>
                <a:r>
                  <a:rPr lang="en-US" altLang="ja-JP" sz="2400" dirty="0"/>
                  <a:t>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130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(20, 50, −10)</m:t>
                    </m:r>
                  </m:oMath>
                </a14:m>
                <a:r>
                  <a:rPr lang="en-US" altLang="ja-JP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120, 40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26079" cy="1569660"/>
              </a:xfrm>
              <a:prstGeom prst="rect">
                <a:avLst/>
              </a:prstGeom>
              <a:blipFill>
                <a:blip r:embed="rId2"/>
                <a:stretch>
                  <a:fillRect l="-1201" t="-3113" r="-212" b="-93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80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517</Words>
  <Application>Microsoft Office PowerPoint</Application>
  <PresentationFormat>ワイド画面</PresentationFormat>
  <Paragraphs>72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48</cp:revision>
  <dcterms:created xsi:type="dcterms:W3CDTF">2024-08-27T02:15:54Z</dcterms:created>
  <dcterms:modified xsi:type="dcterms:W3CDTF">2025-06-12T02:39:17Z</dcterms:modified>
</cp:coreProperties>
</file>