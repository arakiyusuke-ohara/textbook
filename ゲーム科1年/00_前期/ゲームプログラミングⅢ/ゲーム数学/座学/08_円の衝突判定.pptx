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2025/6/24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円の衝突判定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円と円が衝突しているかどうか、いわゆる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円の当たり判定</a:t>
            </a:r>
            <a:r>
              <a:rPr kumimoji="1" lang="ja-JP" altLang="en-US" sz="2400" dirty="0"/>
              <a:t>は、</a:t>
            </a:r>
            <a:endParaRPr kumimoji="1" lang="en-US" altLang="ja-JP" sz="2400" dirty="0"/>
          </a:p>
          <a:p>
            <a:r>
              <a:rPr lang="ja-JP" altLang="en-US" sz="2400" dirty="0"/>
              <a:t>ゲームでもっとも使われる当たり判定です。</a:t>
            </a:r>
            <a:endParaRPr lang="en-US" altLang="ja-JP" sz="2400" dirty="0"/>
          </a:p>
          <a:p>
            <a:r>
              <a:rPr kumimoji="1" lang="ja-JP" altLang="en-US" sz="2400" dirty="0"/>
              <a:t>まずはどのように判定するのか見ていきましょう。</a:t>
            </a:r>
            <a:endParaRPr kumimoji="1" lang="en-US" altLang="ja-JP" sz="2400" dirty="0"/>
          </a:p>
        </p:txBody>
      </p:sp>
      <p:sp>
        <p:nvSpPr>
          <p:cNvPr id="2" name="楕円 1">
            <a:extLst>
              <a:ext uri="{FF2B5EF4-FFF2-40B4-BE49-F238E27FC236}">
                <a16:creationId xmlns:a16="http://schemas.microsoft.com/office/drawing/2014/main" id="{924141F0-BD58-4356-8465-161B5CFC5CEE}"/>
              </a:ext>
            </a:extLst>
          </p:cNvPr>
          <p:cNvSpPr/>
          <p:nvPr/>
        </p:nvSpPr>
        <p:spPr>
          <a:xfrm>
            <a:off x="567542" y="2866852"/>
            <a:ext cx="3322041" cy="32213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E09E0993-7A18-4CFA-A4E7-8DD26E7C9BCF}"/>
              </a:ext>
            </a:extLst>
          </p:cNvPr>
          <p:cNvSpPr/>
          <p:nvPr/>
        </p:nvSpPr>
        <p:spPr>
          <a:xfrm>
            <a:off x="3746971" y="2556458"/>
            <a:ext cx="2223082" cy="2090257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3660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円の衝突判定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衝突しているかどうかは、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お互いの中心間の距離</a:t>
            </a:r>
            <a:r>
              <a:rPr kumimoji="1" lang="ja-JP" altLang="en-US" sz="2400" dirty="0"/>
              <a:t>に注目します。</a:t>
            </a:r>
            <a:endParaRPr kumimoji="1" lang="en-US" altLang="ja-JP" sz="2400" dirty="0"/>
          </a:p>
        </p:txBody>
      </p:sp>
      <p:sp>
        <p:nvSpPr>
          <p:cNvPr id="2" name="楕円 1">
            <a:extLst>
              <a:ext uri="{FF2B5EF4-FFF2-40B4-BE49-F238E27FC236}">
                <a16:creationId xmlns:a16="http://schemas.microsoft.com/office/drawing/2014/main" id="{924141F0-BD58-4356-8465-161B5CFC5CEE}"/>
              </a:ext>
            </a:extLst>
          </p:cNvPr>
          <p:cNvSpPr/>
          <p:nvPr/>
        </p:nvSpPr>
        <p:spPr>
          <a:xfrm>
            <a:off x="567542" y="2866852"/>
            <a:ext cx="3322041" cy="32213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E09E0993-7A18-4CFA-A4E7-8DD26E7C9BCF}"/>
              </a:ext>
            </a:extLst>
          </p:cNvPr>
          <p:cNvSpPr/>
          <p:nvPr/>
        </p:nvSpPr>
        <p:spPr>
          <a:xfrm>
            <a:off x="3746971" y="2556458"/>
            <a:ext cx="2223082" cy="2090257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740B7B8F-D346-4DB5-92EC-BB6E1DACD46C}"/>
              </a:ext>
            </a:extLst>
          </p:cNvPr>
          <p:cNvSpPr/>
          <p:nvPr/>
        </p:nvSpPr>
        <p:spPr>
          <a:xfrm>
            <a:off x="2186617" y="4437875"/>
            <a:ext cx="83890" cy="793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9DBDEED1-E47D-4EEA-80D2-539B4CE1DC4B}"/>
              </a:ext>
            </a:extLst>
          </p:cNvPr>
          <p:cNvSpPr/>
          <p:nvPr/>
        </p:nvSpPr>
        <p:spPr>
          <a:xfrm>
            <a:off x="4816567" y="3561923"/>
            <a:ext cx="83890" cy="793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A5A614EF-5D0D-4EDE-A678-450196050BCD}"/>
              </a:ext>
            </a:extLst>
          </p:cNvPr>
          <p:cNvCxnSpPr>
            <a:cxnSpLocks/>
            <a:stCxn id="7" idx="3"/>
            <a:endCxn id="3" idx="6"/>
          </p:cNvCxnSpPr>
          <p:nvPr/>
        </p:nvCxnSpPr>
        <p:spPr>
          <a:xfrm flipH="1">
            <a:off x="2270507" y="3629631"/>
            <a:ext cx="2558345" cy="84790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46811A71-C851-43AE-BF73-13F1B670998D}"/>
                  </a:ext>
                </a:extLst>
              </p:cNvPr>
              <p:cNvSpPr txBox="1"/>
              <p:nvPr/>
            </p:nvSpPr>
            <p:spPr>
              <a:xfrm>
                <a:off x="3472160" y="4053584"/>
                <a:ext cx="4235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𝑫</m:t>
                      </m:r>
                    </m:oMath>
                  </m:oMathPara>
                </a14:m>
                <a:endParaRPr kumimoji="1" lang="en-US" altLang="ja-JP" sz="24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46811A71-C851-43AE-BF73-13F1B67099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2160" y="4053584"/>
                <a:ext cx="423513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6270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円の衝突判定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円がお互い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ぴったりに衝突</a:t>
            </a:r>
            <a:r>
              <a:rPr kumimoji="1" lang="ja-JP" altLang="en-US" sz="2400" dirty="0"/>
              <a:t>していた場合、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中心間の距離はお互いの半径の合計と等しくなります。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3EDFE5F4-7CFC-41E3-85B8-D1AD475E0477}"/>
              </a:ext>
            </a:extLst>
          </p:cNvPr>
          <p:cNvGrpSpPr/>
          <p:nvPr/>
        </p:nvGrpSpPr>
        <p:grpSpPr>
          <a:xfrm>
            <a:off x="567542" y="2556458"/>
            <a:ext cx="5402511" cy="3531766"/>
            <a:chOff x="567542" y="2556458"/>
            <a:chExt cx="5402511" cy="3531766"/>
          </a:xfrm>
        </p:grpSpPr>
        <p:sp>
          <p:nvSpPr>
            <p:cNvPr id="2" name="楕円 1">
              <a:extLst>
                <a:ext uri="{FF2B5EF4-FFF2-40B4-BE49-F238E27FC236}">
                  <a16:creationId xmlns:a16="http://schemas.microsoft.com/office/drawing/2014/main" id="{924141F0-BD58-4356-8465-161B5CFC5CEE}"/>
                </a:ext>
              </a:extLst>
            </p:cNvPr>
            <p:cNvSpPr/>
            <p:nvPr/>
          </p:nvSpPr>
          <p:spPr>
            <a:xfrm>
              <a:off x="567542" y="2866852"/>
              <a:ext cx="3322041" cy="322137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楕円 4">
              <a:extLst>
                <a:ext uri="{FF2B5EF4-FFF2-40B4-BE49-F238E27FC236}">
                  <a16:creationId xmlns:a16="http://schemas.microsoft.com/office/drawing/2014/main" id="{E09E0993-7A18-4CFA-A4E7-8DD26E7C9BCF}"/>
                </a:ext>
              </a:extLst>
            </p:cNvPr>
            <p:cNvSpPr/>
            <p:nvPr/>
          </p:nvSpPr>
          <p:spPr>
            <a:xfrm>
              <a:off x="3746971" y="2556458"/>
              <a:ext cx="2223082" cy="2090257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" name="楕円 2">
              <a:extLst>
                <a:ext uri="{FF2B5EF4-FFF2-40B4-BE49-F238E27FC236}">
                  <a16:creationId xmlns:a16="http://schemas.microsoft.com/office/drawing/2014/main" id="{740B7B8F-D346-4DB5-92EC-BB6E1DACD46C}"/>
                </a:ext>
              </a:extLst>
            </p:cNvPr>
            <p:cNvSpPr/>
            <p:nvPr/>
          </p:nvSpPr>
          <p:spPr>
            <a:xfrm>
              <a:off x="2186617" y="4437875"/>
              <a:ext cx="83890" cy="7932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9DBDEED1-E47D-4EEA-80D2-539B4CE1DC4B}"/>
                </a:ext>
              </a:extLst>
            </p:cNvPr>
            <p:cNvSpPr/>
            <p:nvPr/>
          </p:nvSpPr>
          <p:spPr>
            <a:xfrm>
              <a:off x="4816567" y="3561923"/>
              <a:ext cx="83890" cy="7932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9" name="直線コネクタ 8">
              <a:extLst>
                <a:ext uri="{FF2B5EF4-FFF2-40B4-BE49-F238E27FC236}">
                  <a16:creationId xmlns:a16="http://schemas.microsoft.com/office/drawing/2014/main" id="{A5A614EF-5D0D-4EDE-A678-450196050B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75269" y="3643917"/>
              <a:ext cx="2558345" cy="847907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コネクタ 9">
              <a:extLst>
                <a:ext uri="{FF2B5EF4-FFF2-40B4-BE49-F238E27FC236}">
                  <a16:creationId xmlns:a16="http://schemas.microsoft.com/office/drawing/2014/main" id="{74640613-FF40-4630-9DF2-0FF67BEFD2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69224" y="3943350"/>
              <a:ext cx="1533632" cy="507995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コネクタ 19">
              <a:extLst>
                <a:ext uri="{FF2B5EF4-FFF2-40B4-BE49-F238E27FC236}">
                  <a16:creationId xmlns:a16="http://schemas.microsoft.com/office/drawing/2014/main" id="{F9C1B3DE-7AD2-40AE-9C7B-CE058D78A3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07618" y="3610296"/>
              <a:ext cx="1007107" cy="330673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テキスト ボックス 21">
                  <a:extLst>
                    <a:ext uri="{FF2B5EF4-FFF2-40B4-BE49-F238E27FC236}">
                      <a16:creationId xmlns:a16="http://schemas.microsoft.com/office/drawing/2014/main" id="{238DB744-37DC-430E-B874-CA0BE66B3541}"/>
                    </a:ext>
                  </a:extLst>
                </p:cNvPr>
                <p:cNvSpPr txBox="1"/>
                <p:nvPr/>
              </p:nvSpPr>
              <p:spPr>
                <a:xfrm>
                  <a:off x="3472160" y="4053584"/>
                  <a:ext cx="42351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oMath>
                    </m:oMathPara>
                  </a14:m>
                  <a:endParaRPr kumimoji="1" lang="en-US" altLang="ja-JP" sz="2400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テキスト ボックス 21">
                  <a:extLst>
                    <a:ext uri="{FF2B5EF4-FFF2-40B4-BE49-F238E27FC236}">
                      <a16:creationId xmlns:a16="http://schemas.microsoft.com/office/drawing/2014/main" id="{238DB744-37DC-430E-B874-CA0BE66B35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72160" y="4053584"/>
                  <a:ext cx="423513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テキスト ボックス 22">
                  <a:extLst>
                    <a:ext uri="{FF2B5EF4-FFF2-40B4-BE49-F238E27FC236}">
                      <a16:creationId xmlns:a16="http://schemas.microsoft.com/office/drawing/2014/main" id="{84CFDC9E-6F78-43CC-A9A5-891A94159442}"/>
                    </a:ext>
                  </a:extLst>
                </p:cNvPr>
                <p:cNvSpPr txBox="1"/>
                <p:nvPr/>
              </p:nvSpPr>
              <p:spPr>
                <a:xfrm>
                  <a:off x="2766558" y="3777063"/>
                  <a:ext cx="48436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kumimoji="1" lang="en-US" altLang="ja-JP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en-US" altLang="ja-JP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テキスト ボックス 22">
                  <a:extLst>
                    <a:ext uri="{FF2B5EF4-FFF2-40B4-BE49-F238E27FC236}">
                      <a16:creationId xmlns:a16="http://schemas.microsoft.com/office/drawing/2014/main" id="{84CFDC9E-6F78-43CC-A9A5-891A941594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66558" y="3777063"/>
                  <a:ext cx="484363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21D04C30-4F63-4524-B549-3083185E84A4}"/>
                    </a:ext>
                  </a:extLst>
                </p:cNvPr>
                <p:cNvSpPr txBox="1"/>
                <p:nvPr/>
              </p:nvSpPr>
              <p:spPr>
                <a:xfrm>
                  <a:off x="4022719" y="3367079"/>
                  <a:ext cx="48436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kumimoji="1" lang="en-US" altLang="ja-JP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kumimoji="1" lang="en-US" altLang="ja-JP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21D04C30-4F63-4524-B549-3083185E84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2719" y="3367079"/>
                  <a:ext cx="484363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32588EF6-F21E-4B15-A642-77E7E998C46A}"/>
                  </a:ext>
                </a:extLst>
              </p:cNvPr>
              <p:cNvSpPr txBox="1"/>
              <p:nvPr/>
            </p:nvSpPr>
            <p:spPr>
              <a:xfrm>
                <a:off x="4264900" y="5038056"/>
                <a:ext cx="50609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ja-JP" altLang="en-US" sz="2400" dirty="0"/>
                  <a:t>だとぴったり当たってる</a:t>
                </a:r>
                <a:endParaRPr kumimoji="1" lang="en-US" altLang="ja-JP" sz="2400" dirty="0"/>
              </a:p>
            </p:txBody>
          </p:sp>
        </mc:Choice>
        <mc:Fallback xmlns="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32588EF6-F21E-4B15-A642-77E7E998C4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4900" y="5038056"/>
                <a:ext cx="5060937" cy="461665"/>
              </a:xfrm>
              <a:prstGeom prst="rect">
                <a:avLst/>
              </a:prstGeom>
              <a:blipFill>
                <a:blip r:embed="rId5"/>
                <a:stretch>
                  <a:fillRect l="-361" t="-10526" r="-843" b="-28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6760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円の衝突判定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円がめり込むほど衝突していると、</a:t>
            </a:r>
            <a:endParaRPr kumimoji="1"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中心間の距離はお互いの半径の合計よりも短くなります。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8FB4047B-8A72-42B3-86EA-645B2B1AE870}"/>
              </a:ext>
            </a:extLst>
          </p:cNvPr>
          <p:cNvGrpSpPr/>
          <p:nvPr/>
        </p:nvGrpSpPr>
        <p:grpSpPr>
          <a:xfrm>
            <a:off x="567542" y="2682678"/>
            <a:ext cx="4914666" cy="3405546"/>
            <a:chOff x="567542" y="2682678"/>
            <a:chExt cx="4914666" cy="3405546"/>
          </a:xfrm>
        </p:grpSpPr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FB9B3A6A-F569-4340-9A2C-0653243A581D}"/>
                </a:ext>
              </a:extLst>
            </p:cNvPr>
            <p:cNvSpPr/>
            <p:nvPr/>
          </p:nvSpPr>
          <p:spPr>
            <a:xfrm>
              <a:off x="567542" y="2866852"/>
              <a:ext cx="3322041" cy="322137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40F1A498-3575-4DB7-B17D-A5300C713FAE}"/>
                </a:ext>
              </a:extLst>
            </p:cNvPr>
            <p:cNvSpPr/>
            <p:nvPr/>
          </p:nvSpPr>
          <p:spPr>
            <a:xfrm>
              <a:off x="3259126" y="2682678"/>
              <a:ext cx="2223082" cy="2090257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915786FD-AF89-4C79-A3A1-0E13F1753A0E}"/>
                </a:ext>
              </a:extLst>
            </p:cNvPr>
            <p:cNvSpPr/>
            <p:nvPr/>
          </p:nvSpPr>
          <p:spPr>
            <a:xfrm>
              <a:off x="2186617" y="4437875"/>
              <a:ext cx="83890" cy="7932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楕円 14">
              <a:extLst>
                <a:ext uri="{FF2B5EF4-FFF2-40B4-BE49-F238E27FC236}">
                  <a16:creationId xmlns:a16="http://schemas.microsoft.com/office/drawing/2014/main" id="{3FCF8D5C-3BBC-4251-869F-F1ECD2D03EB8}"/>
                </a:ext>
              </a:extLst>
            </p:cNvPr>
            <p:cNvSpPr/>
            <p:nvPr/>
          </p:nvSpPr>
          <p:spPr>
            <a:xfrm>
              <a:off x="4328722" y="3688143"/>
              <a:ext cx="83890" cy="7932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6" name="直線コネクタ 15">
              <a:extLst>
                <a:ext uri="{FF2B5EF4-FFF2-40B4-BE49-F238E27FC236}">
                  <a16:creationId xmlns:a16="http://schemas.microsoft.com/office/drawing/2014/main" id="{02AFD2C8-4025-401F-B655-DD487C59CE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78713" y="3795713"/>
              <a:ext cx="2091954" cy="693365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コネクタ 16">
              <a:extLst>
                <a:ext uri="{FF2B5EF4-FFF2-40B4-BE49-F238E27FC236}">
                  <a16:creationId xmlns:a16="http://schemas.microsoft.com/office/drawing/2014/main" id="{A0BF2367-C5D0-4ADE-A4A8-64F7156262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69224" y="3943350"/>
              <a:ext cx="1533632" cy="507995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コネクタ 17">
              <a:extLst>
                <a:ext uri="{FF2B5EF4-FFF2-40B4-BE49-F238E27FC236}">
                  <a16:creationId xmlns:a16="http://schemas.microsoft.com/office/drawing/2014/main" id="{2474C66F-9DF1-4827-A0C2-F265C45353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9773" y="3736516"/>
              <a:ext cx="1007107" cy="330673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1BFA2A47-410A-4D11-9DFF-1D66D859AB8C}"/>
                    </a:ext>
                  </a:extLst>
                </p:cNvPr>
                <p:cNvSpPr txBox="1"/>
                <p:nvPr/>
              </p:nvSpPr>
              <p:spPr>
                <a:xfrm>
                  <a:off x="3472160" y="4053584"/>
                  <a:ext cx="42351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oMath>
                    </m:oMathPara>
                  </a14:m>
                  <a:endParaRPr kumimoji="1" lang="en-US" altLang="ja-JP" sz="2400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1BFA2A47-410A-4D11-9DFF-1D66D859AB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72160" y="4053584"/>
                  <a:ext cx="423513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テキスト ボックス 20">
                  <a:extLst>
                    <a:ext uri="{FF2B5EF4-FFF2-40B4-BE49-F238E27FC236}">
                      <a16:creationId xmlns:a16="http://schemas.microsoft.com/office/drawing/2014/main" id="{EF0BF690-32EF-4872-8633-205508661EC8}"/>
                    </a:ext>
                  </a:extLst>
                </p:cNvPr>
                <p:cNvSpPr txBox="1"/>
                <p:nvPr/>
              </p:nvSpPr>
              <p:spPr>
                <a:xfrm>
                  <a:off x="2766558" y="3777063"/>
                  <a:ext cx="48436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kumimoji="1" lang="en-US" altLang="ja-JP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en-US" altLang="ja-JP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テキスト ボックス 20">
                  <a:extLst>
                    <a:ext uri="{FF2B5EF4-FFF2-40B4-BE49-F238E27FC236}">
                      <a16:creationId xmlns:a16="http://schemas.microsoft.com/office/drawing/2014/main" id="{EF0BF690-32EF-4872-8633-205508661E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66558" y="3777063"/>
                  <a:ext cx="484363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テキスト ボックス 21">
                  <a:extLst>
                    <a:ext uri="{FF2B5EF4-FFF2-40B4-BE49-F238E27FC236}">
                      <a16:creationId xmlns:a16="http://schemas.microsoft.com/office/drawing/2014/main" id="{E6D099F0-E454-4508-981D-839FE11784F9}"/>
                    </a:ext>
                  </a:extLst>
                </p:cNvPr>
                <p:cNvSpPr txBox="1"/>
                <p:nvPr/>
              </p:nvSpPr>
              <p:spPr>
                <a:xfrm>
                  <a:off x="3534874" y="3493299"/>
                  <a:ext cx="48436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kumimoji="1" lang="en-US" altLang="ja-JP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kumimoji="1" lang="en-US" altLang="ja-JP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テキスト ボックス 21">
                  <a:extLst>
                    <a:ext uri="{FF2B5EF4-FFF2-40B4-BE49-F238E27FC236}">
                      <a16:creationId xmlns:a16="http://schemas.microsoft.com/office/drawing/2014/main" id="{E6D099F0-E454-4508-981D-839FE11784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4874" y="3493299"/>
                  <a:ext cx="484363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9EF10C2B-7D60-4F84-AC61-71DF9B3312B8}"/>
              </a:ext>
            </a:extLst>
          </p:cNvPr>
          <p:cNvCxnSpPr>
            <a:cxnSpLocks/>
          </p:cNvCxnSpPr>
          <p:nvPr/>
        </p:nvCxnSpPr>
        <p:spPr>
          <a:xfrm flipH="1">
            <a:off x="5767445" y="2956903"/>
            <a:ext cx="2091954" cy="69336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84A2F2A1-EAE5-4BA0-9180-397EB75F7B4F}"/>
              </a:ext>
            </a:extLst>
          </p:cNvPr>
          <p:cNvCxnSpPr>
            <a:cxnSpLocks/>
          </p:cNvCxnSpPr>
          <p:nvPr/>
        </p:nvCxnSpPr>
        <p:spPr>
          <a:xfrm flipV="1">
            <a:off x="5757956" y="3104540"/>
            <a:ext cx="1533632" cy="50799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0C35A113-370B-42CC-BC66-FA2DBF68B24C}"/>
              </a:ext>
            </a:extLst>
          </p:cNvPr>
          <p:cNvCxnSpPr>
            <a:cxnSpLocks/>
          </p:cNvCxnSpPr>
          <p:nvPr/>
        </p:nvCxnSpPr>
        <p:spPr>
          <a:xfrm flipV="1">
            <a:off x="7291588" y="2773867"/>
            <a:ext cx="1007107" cy="330673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38D93538-5C15-4212-83A2-13BF6011847C}"/>
                  </a:ext>
                </a:extLst>
              </p:cNvPr>
              <p:cNvSpPr txBox="1"/>
              <p:nvPr/>
            </p:nvSpPr>
            <p:spPr>
              <a:xfrm>
                <a:off x="4264900" y="5038056"/>
                <a:ext cx="444698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ja-JP" altLang="en-US" sz="2400" dirty="0"/>
                  <a:t>だとめり込んでいる</a:t>
                </a:r>
                <a:endParaRPr kumimoji="1" lang="en-US" altLang="ja-JP" sz="2400" dirty="0"/>
              </a:p>
            </p:txBody>
          </p:sp>
        </mc:Choice>
        <mc:Fallback xmlns="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38D93538-5C15-4212-83A2-13BF60118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4900" y="5038056"/>
                <a:ext cx="4446987" cy="461665"/>
              </a:xfrm>
              <a:prstGeom prst="rect">
                <a:avLst/>
              </a:prstGeom>
              <a:blipFill>
                <a:blip r:embed="rId5"/>
                <a:stretch>
                  <a:fillRect l="-412" t="-10526" r="-1097" b="-28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53506A73-FDD6-4639-8C71-131D9400FAF6}"/>
                  </a:ext>
                </a:extLst>
              </p:cNvPr>
              <p:cNvSpPr txBox="1"/>
              <p:nvPr/>
            </p:nvSpPr>
            <p:spPr>
              <a:xfrm>
                <a:off x="5591265" y="3792452"/>
                <a:ext cx="367280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ja-JP" altLang="en-US" sz="1600" b="0" i="1" smtClean="0">
                        <a:latin typeface="Cambria Math" panose="02040503050406030204" pitchFamily="18" charset="0"/>
                      </a:rPr>
                      <m:t>重なっている</m:t>
                    </m:r>
                  </m:oMath>
                </a14:m>
                <a:r>
                  <a:rPr kumimoji="1" lang="ja-JP" altLang="en-US" sz="1600" dirty="0"/>
                  <a:t>分だけ半径の合計が長い</a:t>
                </a:r>
                <a:endParaRPr kumimoji="1" lang="en-US" altLang="ja-JP" sz="1600" dirty="0"/>
              </a:p>
            </p:txBody>
          </p:sp>
        </mc:Choice>
        <mc:Fallback xmlns=""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53506A73-FDD6-4639-8C71-131D9400F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1265" y="3792452"/>
                <a:ext cx="3672800" cy="338554"/>
              </a:xfrm>
              <a:prstGeom prst="rect">
                <a:avLst/>
              </a:prstGeom>
              <a:blipFill>
                <a:blip r:embed="rId6"/>
                <a:stretch>
                  <a:fillRect t="-5357" b="-2142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5104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円の衝突判定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円が衝突していないと、</a:t>
            </a:r>
            <a:endParaRPr kumimoji="1"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中心間の距離はお互いの半径の合計よりも長くなります。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38D93538-5C15-4212-83A2-13BF6011847C}"/>
                  </a:ext>
                </a:extLst>
              </p:cNvPr>
              <p:cNvSpPr txBox="1"/>
              <p:nvPr/>
            </p:nvSpPr>
            <p:spPr>
              <a:xfrm>
                <a:off x="4264900" y="5038056"/>
                <a:ext cx="444698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ja-JP" altLang="en-US" sz="2400" dirty="0"/>
                  <a:t>だと衝突していない</a:t>
                </a:r>
                <a:endParaRPr kumimoji="1" lang="en-US" altLang="ja-JP" sz="2400" dirty="0"/>
              </a:p>
            </p:txBody>
          </p:sp>
        </mc:Choice>
        <mc:Fallback xmlns="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38D93538-5C15-4212-83A2-13BF60118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4900" y="5038056"/>
                <a:ext cx="4446987" cy="461665"/>
              </a:xfrm>
              <a:prstGeom prst="rect">
                <a:avLst/>
              </a:prstGeom>
              <a:blipFill>
                <a:blip r:embed="rId2"/>
                <a:stretch>
                  <a:fillRect l="-412" t="-10526" r="-1097" b="-28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1B160BA-8563-44A8-9ED3-C0DB6B8D0F1C}"/>
              </a:ext>
            </a:extLst>
          </p:cNvPr>
          <p:cNvGrpSpPr/>
          <p:nvPr/>
        </p:nvGrpSpPr>
        <p:grpSpPr>
          <a:xfrm>
            <a:off x="567542" y="2361088"/>
            <a:ext cx="5973799" cy="3727136"/>
            <a:chOff x="567542" y="2361088"/>
            <a:chExt cx="5973799" cy="3727136"/>
          </a:xfrm>
        </p:grpSpPr>
        <p:sp>
          <p:nvSpPr>
            <p:cNvPr id="23" name="楕円 22">
              <a:extLst>
                <a:ext uri="{FF2B5EF4-FFF2-40B4-BE49-F238E27FC236}">
                  <a16:creationId xmlns:a16="http://schemas.microsoft.com/office/drawing/2014/main" id="{ED5DEA9D-ACB6-41FE-82B2-80035E029211}"/>
                </a:ext>
              </a:extLst>
            </p:cNvPr>
            <p:cNvSpPr/>
            <p:nvPr/>
          </p:nvSpPr>
          <p:spPr>
            <a:xfrm>
              <a:off x="567542" y="2866852"/>
              <a:ext cx="3322041" cy="322137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楕円 23">
              <a:extLst>
                <a:ext uri="{FF2B5EF4-FFF2-40B4-BE49-F238E27FC236}">
                  <a16:creationId xmlns:a16="http://schemas.microsoft.com/office/drawing/2014/main" id="{BDC06E92-A78F-49C0-9EFC-26D954CDD120}"/>
                </a:ext>
              </a:extLst>
            </p:cNvPr>
            <p:cNvSpPr/>
            <p:nvPr/>
          </p:nvSpPr>
          <p:spPr>
            <a:xfrm>
              <a:off x="4318259" y="2361088"/>
              <a:ext cx="2223082" cy="2090257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楕円 24">
              <a:extLst>
                <a:ext uri="{FF2B5EF4-FFF2-40B4-BE49-F238E27FC236}">
                  <a16:creationId xmlns:a16="http://schemas.microsoft.com/office/drawing/2014/main" id="{E5176870-59E2-4A82-B051-F4A0EC4EFDEA}"/>
                </a:ext>
              </a:extLst>
            </p:cNvPr>
            <p:cNvSpPr/>
            <p:nvPr/>
          </p:nvSpPr>
          <p:spPr>
            <a:xfrm>
              <a:off x="2186617" y="4437875"/>
              <a:ext cx="83890" cy="7932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楕円 25">
              <a:extLst>
                <a:ext uri="{FF2B5EF4-FFF2-40B4-BE49-F238E27FC236}">
                  <a16:creationId xmlns:a16="http://schemas.microsoft.com/office/drawing/2014/main" id="{E454DF5C-A729-4D9F-B891-EEB86EB2B45F}"/>
                </a:ext>
              </a:extLst>
            </p:cNvPr>
            <p:cNvSpPr/>
            <p:nvPr/>
          </p:nvSpPr>
          <p:spPr>
            <a:xfrm>
              <a:off x="5387855" y="3366553"/>
              <a:ext cx="83890" cy="7932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27" name="直線コネクタ 26">
              <a:extLst>
                <a:ext uri="{FF2B5EF4-FFF2-40B4-BE49-F238E27FC236}">
                  <a16:creationId xmlns:a16="http://schemas.microsoft.com/office/drawing/2014/main" id="{0475FDB5-9AE1-415C-9892-EE3CC54BF8F6}"/>
                </a:ext>
              </a:extLst>
            </p:cNvPr>
            <p:cNvCxnSpPr>
              <a:cxnSpLocks/>
              <a:stCxn id="26" idx="4"/>
            </p:cNvCxnSpPr>
            <p:nvPr/>
          </p:nvCxnSpPr>
          <p:spPr>
            <a:xfrm flipH="1">
              <a:off x="2275270" y="3445878"/>
              <a:ext cx="3154530" cy="1045946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コネクタ 27">
              <a:extLst>
                <a:ext uri="{FF2B5EF4-FFF2-40B4-BE49-F238E27FC236}">
                  <a16:creationId xmlns:a16="http://schemas.microsoft.com/office/drawing/2014/main" id="{DD4B729A-9211-49B3-B798-B9C414CD7B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69224" y="3943350"/>
              <a:ext cx="1533632" cy="507995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コネクタ 28">
              <a:extLst>
                <a:ext uri="{FF2B5EF4-FFF2-40B4-BE49-F238E27FC236}">
                  <a16:creationId xmlns:a16="http://schemas.microsoft.com/office/drawing/2014/main" id="{DBCC0721-7692-4DDA-8131-2D519E552C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78906" y="3414926"/>
              <a:ext cx="1007107" cy="330673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テキスト ボックス 29">
                  <a:extLst>
                    <a:ext uri="{FF2B5EF4-FFF2-40B4-BE49-F238E27FC236}">
                      <a16:creationId xmlns:a16="http://schemas.microsoft.com/office/drawing/2014/main" id="{4562A105-FC29-4558-AD86-3ED18DE85C0F}"/>
                    </a:ext>
                  </a:extLst>
                </p:cNvPr>
                <p:cNvSpPr txBox="1"/>
                <p:nvPr/>
              </p:nvSpPr>
              <p:spPr>
                <a:xfrm>
                  <a:off x="3969808" y="3910035"/>
                  <a:ext cx="42351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oMath>
                    </m:oMathPara>
                  </a14:m>
                  <a:endParaRPr kumimoji="1" lang="en-US" altLang="ja-JP" sz="2400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テキスト ボックス 29">
                  <a:extLst>
                    <a:ext uri="{FF2B5EF4-FFF2-40B4-BE49-F238E27FC236}">
                      <a16:creationId xmlns:a16="http://schemas.microsoft.com/office/drawing/2014/main" id="{4562A105-FC29-4558-AD86-3ED18DE85C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9808" y="3910035"/>
                  <a:ext cx="423513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テキスト ボックス 30">
                  <a:extLst>
                    <a:ext uri="{FF2B5EF4-FFF2-40B4-BE49-F238E27FC236}">
                      <a16:creationId xmlns:a16="http://schemas.microsoft.com/office/drawing/2014/main" id="{521CAE62-5F3E-4009-B752-995F55FB1F67}"/>
                    </a:ext>
                  </a:extLst>
                </p:cNvPr>
                <p:cNvSpPr txBox="1"/>
                <p:nvPr/>
              </p:nvSpPr>
              <p:spPr>
                <a:xfrm>
                  <a:off x="2766558" y="3777063"/>
                  <a:ext cx="48436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kumimoji="1" lang="en-US" altLang="ja-JP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en-US" altLang="ja-JP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テキスト ボックス 30">
                  <a:extLst>
                    <a:ext uri="{FF2B5EF4-FFF2-40B4-BE49-F238E27FC236}">
                      <a16:creationId xmlns:a16="http://schemas.microsoft.com/office/drawing/2014/main" id="{521CAE62-5F3E-4009-B752-995F55FB1F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66558" y="3777063"/>
                  <a:ext cx="484363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テキスト ボックス 36">
                  <a:extLst>
                    <a:ext uri="{FF2B5EF4-FFF2-40B4-BE49-F238E27FC236}">
                      <a16:creationId xmlns:a16="http://schemas.microsoft.com/office/drawing/2014/main" id="{188B2554-45BF-4D8C-8206-15498682DD9D}"/>
                    </a:ext>
                  </a:extLst>
                </p:cNvPr>
                <p:cNvSpPr txBox="1"/>
                <p:nvPr/>
              </p:nvSpPr>
              <p:spPr>
                <a:xfrm>
                  <a:off x="4594007" y="3171709"/>
                  <a:ext cx="48436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kumimoji="1" lang="en-US" altLang="ja-JP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kumimoji="1" lang="en-US" altLang="ja-JP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テキスト ボックス 36">
                  <a:extLst>
                    <a:ext uri="{FF2B5EF4-FFF2-40B4-BE49-F238E27FC236}">
                      <a16:creationId xmlns:a16="http://schemas.microsoft.com/office/drawing/2014/main" id="{188B2554-45BF-4D8C-8206-15498682DD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4007" y="3171709"/>
                  <a:ext cx="484363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859573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4D9ED975-6208-4977-AB18-405C4895FE13}"/>
              </a:ext>
            </a:extLst>
          </p:cNvPr>
          <p:cNvSpPr/>
          <p:nvPr/>
        </p:nvSpPr>
        <p:spPr>
          <a:xfrm>
            <a:off x="347133" y="1794933"/>
            <a:ext cx="10583334" cy="31242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円の衝突判定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444334" cy="43497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以上のことから２つの円の当たり判定は以下のように計算できます。</a:t>
                </a:r>
                <a:endParaRPr kumimoji="1" lang="en-US" altLang="ja-JP" sz="2400" dirty="0"/>
              </a:p>
              <a:p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■２つの円の当たり判定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kumimoji="1" lang="ja-JP" altLang="en-US" sz="2400" b="0" dirty="0">
                    <a:solidFill>
                      <a:schemeClr val="tx1"/>
                    </a:solidFill>
                  </a:rPr>
                  <a:t>２つの円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kumimoji="1"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kumimoji="1"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ja-JP" altLang="en-US" sz="2400" dirty="0"/>
                  <a:t>および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ja-JP" altLang="en-US" sz="2400" dirty="0"/>
                  <a:t>のとき、</a:t>
                </a:r>
                <a:endParaRPr kumimoji="1" lang="en-US" altLang="ja-JP" sz="24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kumimoji="1"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altLang="ja-JP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ja-JP" altLang="en-US" sz="2400" i="1">
                        <a:latin typeface="Cambria Math" panose="02040503050406030204" pitchFamily="18" charset="0"/>
                      </a:rPr>
                      <m:t>≦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ja-JP" altLang="en-US" sz="2400" dirty="0"/>
                  <a:t>であれば衝突している。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kumimoji="1"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altLang="ja-JP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kumimoji="1" lang="en-US" altLang="ja-JP" sz="2400" dirty="0"/>
                  <a:t>	</a:t>
                </a:r>
                <a:r>
                  <a:rPr kumimoji="1" lang="ja-JP" altLang="en-US" sz="2400" dirty="0"/>
                  <a:t>・・・中心間の距離</a:t>
                </a:r>
                <a:endParaRPr kumimoji="1" lang="en-US" altLang="ja-JP" sz="24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ja-JP" sz="2400" dirty="0"/>
                  <a:t>			</a:t>
                </a:r>
                <a:r>
                  <a:rPr lang="ja-JP" altLang="en-US" sz="2400" dirty="0"/>
                  <a:t>・・・半径の合計</a:t>
                </a:r>
                <a:endParaRPr lang="en-US" altLang="ja-JP" sz="2400" dirty="0"/>
              </a:p>
              <a:p>
                <a:endParaRPr kumimoji="1" lang="en-US" altLang="ja-JP" sz="2400" dirty="0"/>
              </a:p>
              <a:p>
                <a:r>
                  <a:rPr lang="ja-JP" altLang="en-US" sz="2400" dirty="0"/>
                  <a:t>つまり、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中心間の距離≦半径の合計</a:t>
                </a:r>
                <a:r>
                  <a:rPr lang="ja-JP" altLang="en-US" sz="2400" dirty="0"/>
                  <a:t>であれば衝突しています。</a:t>
                </a:r>
                <a:endParaRPr kumimoji="1"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444334" cy="4349781"/>
              </a:xfrm>
              <a:prstGeom prst="rect">
                <a:avLst/>
              </a:prstGeom>
              <a:blipFill>
                <a:blip r:embed="rId2"/>
                <a:stretch>
                  <a:fillRect l="-876" t="-1122" b="-238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0811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円の衝突判定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790133" cy="43497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次の２つの円</a:t>
                </a:r>
                <a:r>
                  <a:rPr kumimoji="1" lang="en-US" altLang="ja-JP" sz="2400" dirty="0"/>
                  <a:t>A,B</a:t>
                </a:r>
                <a:r>
                  <a:rPr kumimoji="1" lang="ja-JP" altLang="en-US" sz="2400" dirty="0"/>
                  <a:t>が衝突しているか答えなさい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dirty="0"/>
                  <a:t>円</a:t>
                </a:r>
                <a:r>
                  <a:rPr kumimoji="1" lang="en-US" altLang="ja-JP" sz="2400" dirty="0"/>
                  <a:t>A</a:t>
                </a:r>
                <a:r>
                  <a:rPr kumimoji="1" lang="ja-JP" altLang="en-US" sz="2400" dirty="0"/>
                  <a:t>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−50)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=900</m:t>
                    </m:r>
                  </m:oMath>
                </a14:m>
                <a:endParaRPr kumimoji="1" lang="en-US" altLang="ja-JP" sz="2400" dirty="0"/>
              </a:p>
              <a:p>
                <a:r>
                  <a:rPr lang="ja-JP" altLang="en-US" sz="2400" dirty="0"/>
                  <a:t>円</a:t>
                </a:r>
                <a:r>
                  <a:rPr lang="en-US" altLang="ja-JP" sz="2400" dirty="0"/>
                  <a:t>B</a:t>
                </a:r>
                <a:r>
                  <a:rPr lang="ja-JP" altLang="en-US" sz="2400" dirty="0"/>
                  <a:t>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+10)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=400</m:t>
                    </m:r>
                  </m:oMath>
                </a14:m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dirty="0"/>
                  <a:t>■解答</a:t>
                </a:r>
                <a:endParaRPr kumimoji="1" lang="en-US" altLang="ja-JP" sz="2400" dirty="0"/>
              </a:p>
              <a:p>
                <a:r>
                  <a:rPr lang="ja-JP" altLang="en-US" sz="2400" dirty="0"/>
                  <a:t>互いの円の中心間の距離は、</a:t>
                </a:r>
                <a:endParaRPr lang="en-US" altLang="ja-JP" sz="24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(−10−50)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(10−20)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en-US" altLang="ja-JP" sz="24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(−10−50)</m:t>
                            </m:r>
                          </m:e>
                          <m:sup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(10−</m:t>
                            </m:r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20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(−</m:t>
                            </m:r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0)</m:t>
                            </m:r>
                          </m:e>
                          <m:sup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−10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3600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</m:ra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3700</m:t>
                        </m:r>
                      </m:e>
                    </m:rad>
                  </m:oMath>
                </a14:m>
                <a:r>
                  <a:rPr kumimoji="1" lang="en-US" altLang="ja-JP" sz="2400" dirty="0"/>
                  <a:t> </a:t>
                </a:r>
              </a:p>
              <a:p>
                <a:endParaRPr kumimoji="1"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790133" cy="4349781"/>
              </a:xfrm>
              <a:prstGeom prst="rect">
                <a:avLst/>
              </a:prstGeom>
              <a:blipFill>
                <a:blip r:embed="rId2"/>
                <a:stretch>
                  <a:fillRect l="-847" t="-112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7470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円の衝突判定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6521337" cy="54328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次の２つの円</a:t>
                </a:r>
                <a:r>
                  <a:rPr kumimoji="1" lang="en-US" altLang="ja-JP" sz="2400" dirty="0"/>
                  <a:t>A,B</a:t>
                </a:r>
                <a:r>
                  <a:rPr kumimoji="1" lang="ja-JP" altLang="en-US" sz="2400" dirty="0"/>
                  <a:t>が衝突しているか答えなさい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dirty="0"/>
                  <a:t>円</a:t>
                </a:r>
                <a:r>
                  <a:rPr kumimoji="1" lang="en-US" altLang="ja-JP" sz="2400" dirty="0"/>
                  <a:t>A</a:t>
                </a:r>
                <a:r>
                  <a:rPr kumimoji="1" lang="ja-JP" altLang="en-US" sz="2400" dirty="0"/>
                  <a:t>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−50)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=900</m:t>
                    </m:r>
                  </m:oMath>
                </a14:m>
                <a:endParaRPr kumimoji="1" lang="en-US" altLang="ja-JP" sz="2400" dirty="0"/>
              </a:p>
              <a:p>
                <a:r>
                  <a:rPr lang="ja-JP" altLang="en-US" sz="2400" dirty="0"/>
                  <a:t>円</a:t>
                </a:r>
                <a:r>
                  <a:rPr lang="en-US" altLang="ja-JP" sz="2400" dirty="0"/>
                  <a:t>B</a:t>
                </a:r>
                <a:r>
                  <a:rPr lang="ja-JP" altLang="en-US" sz="2400" dirty="0"/>
                  <a:t>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+10)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=400</m:t>
                    </m:r>
                  </m:oMath>
                </a14:m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dirty="0"/>
                  <a:t>■解答つづき</a:t>
                </a:r>
                <a:endParaRPr kumimoji="1" lang="en-US" altLang="ja-JP" sz="2400" dirty="0"/>
              </a:p>
              <a:p>
                <a:r>
                  <a:rPr kumimoji="1" lang="ja-JP" altLang="en-US" sz="2400" dirty="0"/>
                  <a:t>お互いの円の半径の合計は</a:t>
                </a:r>
                <a:endParaRPr kumimoji="1" lang="en-US" altLang="ja-JP" sz="24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kumimoji="1"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=900</m:t>
                    </m:r>
                  </m:oMath>
                </a14:m>
                <a:r>
                  <a:rPr kumimoji="1" lang="en-US" altLang="ja-JP" sz="24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900</m:t>
                        </m:r>
                      </m:e>
                    </m:rad>
                  </m:oMath>
                </a14:m>
                <a:r>
                  <a:rPr kumimoji="1" lang="en-US" altLang="ja-JP" sz="24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kumimoji="1"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=400</m:t>
                    </m:r>
                  </m:oMath>
                </a14:m>
                <a:r>
                  <a:rPr kumimoji="1" lang="en-US" altLang="ja-JP" sz="24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400</m:t>
                        </m:r>
                      </m:e>
                    </m:rad>
                  </m:oMath>
                </a14:m>
                <a:r>
                  <a:rPr kumimoji="1" lang="en-US" altLang="ja-JP" sz="24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900</m:t>
                        </m:r>
                      </m:e>
                    </m:ra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400</m:t>
                        </m:r>
                      </m:e>
                    </m:rad>
                  </m:oMath>
                </a14:m>
                <a:r>
                  <a:rPr kumimoji="1" lang="en-US" altLang="ja-JP" sz="2400" dirty="0"/>
                  <a:t> </a:t>
                </a: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6521337" cy="5432834"/>
              </a:xfrm>
              <a:prstGeom prst="rect">
                <a:avLst/>
              </a:prstGeom>
              <a:blipFill>
                <a:blip r:embed="rId2"/>
                <a:stretch>
                  <a:fillRect l="-1402" t="-898" r="-4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933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円の衝突判定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6647974" cy="40051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次の２つの円</a:t>
                </a:r>
                <a:r>
                  <a:rPr kumimoji="1" lang="en-US" altLang="ja-JP" sz="2400" dirty="0"/>
                  <a:t>A,B</a:t>
                </a:r>
                <a:r>
                  <a:rPr kumimoji="1" lang="ja-JP" altLang="en-US" sz="2400" dirty="0"/>
                  <a:t>が衝突しているか答えなさい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dirty="0"/>
                  <a:t>円</a:t>
                </a:r>
                <a:r>
                  <a:rPr kumimoji="1" lang="en-US" altLang="ja-JP" sz="2400" dirty="0"/>
                  <a:t>A</a:t>
                </a:r>
                <a:r>
                  <a:rPr kumimoji="1" lang="ja-JP" altLang="en-US" sz="2400" dirty="0"/>
                  <a:t>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−50)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=900</m:t>
                    </m:r>
                  </m:oMath>
                </a14:m>
                <a:endParaRPr kumimoji="1" lang="en-US" altLang="ja-JP" sz="2400" dirty="0"/>
              </a:p>
              <a:p>
                <a:r>
                  <a:rPr lang="ja-JP" altLang="en-US" sz="2400" dirty="0"/>
                  <a:t>円</a:t>
                </a:r>
                <a:r>
                  <a:rPr lang="en-US" altLang="ja-JP" sz="2400" dirty="0"/>
                  <a:t>B</a:t>
                </a:r>
                <a:r>
                  <a:rPr lang="ja-JP" altLang="en-US" sz="2400" dirty="0"/>
                  <a:t>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+10)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=400</m:t>
                    </m:r>
                  </m:oMath>
                </a14:m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dirty="0"/>
                  <a:t>■解答つづき</a:t>
                </a:r>
                <a:endParaRPr kumimoji="1" lang="en-US" altLang="ja-JP" sz="2400" dirty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3700</m:t>
                        </m:r>
                      </m:e>
                    </m:rad>
                    <m:r>
                      <a:rPr lang="ja-JP" altLang="en-US" sz="2400" i="1">
                        <a:latin typeface="Cambria Math" panose="02040503050406030204" pitchFamily="18" charset="0"/>
                      </a:rPr>
                      <m:t>≦</m:t>
                    </m:r>
                    <m:rad>
                      <m:radPr>
                        <m:degHide m:val="on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900</m:t>
                        </m:r>
                      </m:e>
                    </m:ra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400</m:t>
                        </m:r>
                      </m:e>
                    </m:rad>
                  </m:oMath>
                </a14:m>
                <a:r>
                  <a:rPr kumimoji="1" lang="en-US" altLang="ja-JP" sz="2400" dirty="0"/>
                  <a:t> </a:t>
                </a:r>
                <a:r>
                  <a:rPr kumimoji="1" lang="ja-JP" altLang="en-US" sz="2400" dirty="0"/>
                  <a:t>は成り立たないので、</a:t>
                </a:r>
                <a:endParaRPr kumimoji="1" lang="en-US" altLang="ja-JP" sz="2400" dirty="0"/>
              </a:p>
              <a:p>
                <a:pPr>
                  <a:lnSpc>
                    <a:spcPct val="150000"/>
                  </a:lnSpc>
                </a:pPr>
                <a:r>
                  <a:rPr lang="ja-JP" altLang="en-US" sz="2400" b="1" dirty="0">
                    <a:solidFill>
                      <a:srgbClr val="FF0000"/>
                    </a:solidFill>
                  </a:rPr>
                  <a:t>２つの円は衝突していない。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en-US" altLang="ja-JP" sz="2400" dirty="0"/>
                  <a:t>※</a:t>
                </a:r>
                <a:r>
                  <a:rPr lang="ja-JP" altLang="en-US" sz="2400" dirty="0"/>
                  <a:t>平方根の値は電卓で確認してみましょう。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6647974" cy="4005135"/>
              </a:xfrm>
              <a:prstGeom prst="rect">
                <a:avLst/>
              </a:prstGeom>
              <a:blipFill>
                <a:blip r:embed="rId2"/>
                <a:stretch>
                  <a:fillRect l="-1375" t="-1218" b="-258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5281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円の衝突判定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571303" cy="26776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円の衝突判定はもう少し簡単にすることができます。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dirty="0"/>
                  <a:t>先ほどの問題を一部抜粋してみます。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(−10−50)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(10−20)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ここで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sz="2400" dirty="0"/>
                  <a:t>を先に計算します。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3600+100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=3700</m:t>
                    </m:r>
                  </m:oMath>
                </a14:m>
                <a:r>
                  <a:rPr lang="en-US" altLang="ja-JP" sz="2400" dirty="0"/>
                  <a:t> </a:t>
                </a: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571303" cy="2677656"/>
              </a:xfrm>
              <a:prstGeom prst="rect">
                <a:avLst/>
              </a:prstGeom>
              <a:blipFill>
                <a:blip r:embed="rId2"/>
                <a:stretch>
                  <a:fillRect l="-1208" t="-1822" r="-32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5220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円の衝突判定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956846" cy="50524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円の衝突判定の判定式は、</a:t>
                </a:r>
                <a:endParaRPr kumimoji="1"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≦</m:t>
                    </m:r>
                    <m:sSub>
                      <m:sSub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この判定式は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両辺が２乗されていても大小関係は成り立つはず</a:t>
                </a:r>
                <a:r>
                  <a:rPr lang="ja-JP" altLang="en-US" sz="2400" dirty="0"/>
                  <a:t>です。つまり、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ja-JP" altLang="en-US" sz="2400" i="1">
                        <a:latin typeface="Cambria Math" panose="02040503050406030204" pitchFamily="18" charset="0"/>
                      </a:rPr>
                      <m:t>≦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ja-JP" sz="2400" dirty="0"/>
                  <a:t> </a:t>
                </a:r>
              </a:p>
              <a:p>
                <a:r>
                  <a:rPr lang="ja-JP" altLang="en-US" sz="2400" dirty="0"/>
                  <a:t>これでも当たり判定ができることが分かります。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先ほどの例題にあてはめると、</a:t>
                </a:r>
                <a:endParaRPr kumimoji="1" lang="en-US" altLang="ja-JP" sz="24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3700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kumimoji="1"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900</m:t>
                        </m:r>
                      </m:e>
                    </m:rad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=30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kumimoji="1"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400</m:t>
                        </m:r>
                      </m:e>
                    </m:rad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𝟑𝟕𝟎𝟎</m:t>
                    </m:r>
                    <m:r>
                      <a:rPr lang="ja-JP" alt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≦</m:t>
                    </m:r>
                    <m:sSup>
                      <m:sSupPr>
                        <m:ctrlPr>
                          <a:rPr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𝟑𝟎</m:t>
                        </m:r>
                        <m:r>
                          <a:rPr lang="en-US" altLang="ja-JP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ja-JP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𝟐𝟎</m:t>
                        </m:r>
                        <m:r>
                          <a:rPr lang="en-US" altLang="ja-JP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ja-JP" sz="2400" b="1" dirty="0">
                    <a:solidFill>
                      <a:srgbClr val="FF0000"/>
                    </a:solidFill>
                  </a:rPr>
                  <a:t> 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が成り立たないので衝突していない。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このように判定できます。（これで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ja-JP" altLang="en-US" sz="2400" dirty="0"/>
                  <a:t>に対して平方根を使わなくても良い）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956846" cy="5052473"/>
              </a:xfrm>
              <a:prstGeom prst="rect">
                <a:avLst/>
              </a:prstGeom>
              <a:blipFill>
                <a:blip r:embed="rId2"/>
                <a:stretch>
                  <a:fillRect l="-835" t="-966" b="-36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19365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066EBE70-4541-4A38-9B7C-CEDD5CCC3B65}"/>
              </a:ext>
            </a:extLst>
          </p:cNvPr>
          <p:cNvSpPr/>
          <p:nvPr/>
        </p:nvSpPr>
        <p:spPr>
          <a:xfrm>
            <a:off x="389466" y="1811866"/>
            <a:ext cx="10622410" cy="161713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円の衝突判定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444334" cy="24929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改めて、最適化された衝突判定になります。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■円の最適化衝突検知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kumimoji="1" lang="ja-JP" altLang="en-US" sz="2400" b="0" dirty="0">
                    <a:solidFill>
                      <a:schemeClr val="tx1"/>
                    </a:solidFill>
                  </a:rPr>
                  <a:t>２つの円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kumimoji="1"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kumimoji="1"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ja-JP" altLang="en-US" sz="2400" dirty="0"/>
                  <a:t>および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ja-JP" altLang="en-US" sz="2400" dirty="0"/>
                  <a:t>のとき、</a:t>
                </a:r>
                <a:endParaRPr kumimoji="1" lang="en-US" altLang="ja-JP" sz="24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ja-JP" altLang="en-US" sz="2400" i="1">
                        <a:latin typeface="Cambria Math" panose="02040503050406030204" pitchFamily="18" charset="0"/>
                      </a:rPr>
                      <m:t>≦</m:t>
                    </m:r>
                    <m:sSup>
                      <m:sSup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ja-JP" altLang="en-US" sz="2400" dirty="0"/>
                  <a:t>であれば衝突している。</a:t>
                </a:r>
                <a:endParaRPr lang="en-US" altLang="ja-JP" sz="2400" dirty="0"/>
              </a:p>
              <a:p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444334" cy="2492990"/>
              </a:xfrm>
              <a:prstGeom prst="rect">
                <a:avLst/>
              </a:prstGeom>
              <a:blipFill>
                <a:blip r:embed="rId2"/>
                <a:stretch>
                  <a:fillRect l="-876" t="-19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42816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円の衝突判定 練習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6829114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■次の</a:t>
                </a:r>
                <a:r>
                  <a:rPr lang="ja-JP" altLang="en-US" sz="2400" dirty="0"/>
                  <a:t>２つの円</a:t>
                </a:r>
                <a:r>
                  <a:rPr lang="en-US" altLang="ja-JP" sz="2400" dirty="0"/>
                  <a:t>A,B</a:t>
                </a:r>
                <a:r>
                  <a:rPr lang="ja-JP" altLang="en-US" sz="2400" dirty="0"/>
                  <a:t>が衝突しているか答えなさい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dirty="0"/>
                  <a:t>円</a:t>
                </a:r>
                <a:r>
                  <a:rPr kumimoji="1" lang="en-US" altLang="ja-JP" sz="2400" dirty="0"/>
                  <a:t>A</a:t>
                </a:r>
                <a:r>
                  <a:rPr kumimoji="1" lang="ja-JP" altLang="en-US" sz="2400" dirty="0"/>
                  <a:t>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−70)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=1600</m:t>
                    </m:r>
                  </m:oMath>
                </a14:m>
                <a:endParaRPr kumimoji="1" lang="en-US" altLang="ja-JP" sz="2400" dirty="0"/>
              </a:p>
              <a:p>
                <a:r>
                  <a:rPr lang="ja-JP" altLang="en-US" sz="2400" dirty="0"/>
                  <a:t>円</a:t>
                </a:r>
                <a:r>
                  <a:rPr lang="en-US" altLang="ja-JP" sz="2400" dirty="0"/>
                  <a:t>B</a:t>
                </a:r>
                <a:r>
                  <a:rPr lang="ja-JP" altLang="en-US" sz="2400" dirty="0"/>
                  <a:t>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−50)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=256</m:t>
                    </m:r>
                  </m:oMath>
                </a14:m>
                <a:endParaRPr kumimoji="1"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6829114" cy="1569660"/>
              </a:xfrm>
              <a:prstGeom prst="rect">
                <a:avLst/>
              </a:prstGeom>
              <a:blipFill>
                <a:blip r:embed="rId2"/>
                <a:stretch>
                  <a:fillRect l="-1339" t="-3113" r="-446" b="-856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766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5846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円の衝突判定 補足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618915" cy="2806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球の衝突判定は</a:t>
                </a:r>
                <a:r>
                  <a:rPr kumimoji="1" lang="en-US" altLang="ja-JP" sz="2400" dirty="0"/>
                  <a:t>Z</a:t>
                </a:r>
                <a:r>
                  <a:rPr kumimoji="1" lang="ja-JP" altLang="en-US" sz="2400" dirty="0"/>
                  <a:t>軸を追加されるだけになります。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■球の最適化衝突検知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２つの球である、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kumimoji="1"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kumimoji="1"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ja-JP" altLang="en-US" sz="2400" dirty="0"/>
                  <a:t>および</a:t>
                </a:r>
                <a:endParaRPr kumimoji="1" lang="en-US" altLang="ja-JP" sz="24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ja-JP" altLang="en-US" sz="2400" dirty="0"/>
                  <a:t>のとき、</a:t>
                </a:r>
                <a:endParaRPr kumimoji="1" lang="en-US" altLang="ja-JP" sz="24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ja-JP" altLang="en-US" sz="2400" i="1">
                        <a:latin typeface="Cambria Math" panose="02040503050406030204" pitchFamily="18" charset="0"/>
                      </a:rPr>
                      <m:t>≦</m:t>
                    </m:r>
                    <m:sSup>
                      <m:sSupPr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ja-JP" altLang="en-US" sz="2400" dirty="0"/>
                  <a:t>であれば衝突している。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618915" cy="2806666"/>
              </a:xfrm>
              <a:prstGeom prst="rect">
                <a:avLst/>
              </a:prstGeom>
              <a:blipFill>
                <a:blip r:embed="rId2"/>
                <a:stretch>
                  <a:fillRect l="-951" t="-1739" r="-63" b="-434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3883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1120</TotalTime>
  <Words>760</Words>
  <Application>Microsoft Office PowerPoint</Application>
  <PresentationFormat>ワイド画面</PresentationFormat>
  <Paragraphs>115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情報北九州校 倉掛</cp:lastModifiedBy>
  <cp:revision>76</cp:revision>
  <dcterms:created xsi:type="dcterms:W3CDTF">2024-08-27T02:15:54Z</dcterms:created>
  <dcterms:modified xsi:type="dcterms:W3CDTF">2025-06-24T01:30:36Z</dcterms:modified>
</cp:coreProperties>
</file>