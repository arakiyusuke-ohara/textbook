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点の定義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26462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ゲーム数学で最初に学ぶのは</a:t>
            </a:r>
            <a:r>
              <a:rPr lang="ja-JP" altLang="en-US" sz="2400" b="1" dirty="0">
                <a:solidFill>
                  <a:srgbClr val="FF0000"/>
                </a:solidFill>
              </a:rPr>
              <a:t>点</a:t>
            </a:r>
            <a:r>
              <a:rPr lang="ja-JP" altLang="en-US" sz="2400" dirty="0"/>
              <a:t>についてです。</a:t>
            </a:r>
            <a:endParaRPr lang="en-US" altLang="ja-JP" sz="2400" dirty="0"/>
          </a:p>
          <a:p>
            <a:r>
              <a:rPr kumimoji="1" lang="ja-JP" altLang="en-US" sz="2400" dirty="0"/>
              <a:t>ゲームでは画像を画面に表示するのですが、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画面のどこに表示するか</a:t>
            </a:r>
            <a:r>
              <a:rPr lang="ja-JP" altLang="en-US" sz="2400" dirty="0"/>
              <a:t>を画面中の１点に指定してあげなければいけません。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0D09969-0B37-4D4C-9F07-32DCAC9062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2556458"/>
            <a:ext cx="6570516" cy="3809588"/>
          </a:xfrm>
          <a:prstGeom prst="rect">
            <a:avLst/>
          </a:prstGeom>
        </p:spPr>
      </p:pic>
      <p:sp>
        <p:nvSpPr>
          <p:cNvPr id="5" name="矢印: 右 4">
            <a:extLst>
              <a:ext uri="{FF2B5EF4-FFF2-40B4-BE49-F238E27FC236}">
                <a16:creationId xmlns:a16="http://schemas.microsoft.com/office/drawing/2014/main" id="{F3E635C5-F208-471E-B5ED-83B9CE95EEAA}"/>
              </a:ext>
            </a:extLst>
          </p:cNvPr>
          <p:cNvSpPr/>
          <p:nvPr/>
        </p:nvSpPr>
        <p:spPr>
          <a:xfrm rot="8127135">
            <a:off x="1405989" y="3447828"/>
            <a:ext cx="354263" cy="28131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0AA66E4-E071-4F59-A8A5-613160230F28}"/>
              </a:ext>
            </a:extLst>
          </p:cNvPr>
          <p:cNvSpPr txBox="1"/>
          <p:nvPr/>
        </p:nvSpPr>
        <p:spPr>
          <a:xfrm>
            <a:off x="1808027" y="3063302"/>
            <a:ext cx="1107996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どこ？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点の定義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63527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点を数学で定義するには以下のように表記します。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■点の定義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kumimoji="1" lang="en-US" altLang="ja-JP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2400" dirty="0"/>
                  <a:t>：点の</a:t>
                </a:r>
                <a:r>
                  <a:rPr kumimoji="1" lang="en-US" altLang="ja-JP" sz="2400" dirty="0"/>
                  <a:t>X</a:t>
                </a:r>
                <a:r>
                  <a:rPr kumimoji="1" lang="ja-JP" altLang="en-US" sz="2400" dirty="0"/>
                  <a:t>軸上の座標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ja-JP" altLang="en-US" sz="2400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kumimoji="1" lang="ja-JP" altLang="en-US" sz="2400" dirty="0"/>
                  <a:t>点の</a:t>
                </a:r>
                <a:r>
                  <a:rPr kumimoji="1" lang="en-US" altLang="ja-JP" sz="2400" dirty="0"/>
                  <a:t>Y</a:t>
                </a:r>
                <a:r>
                  <a:rPr kumimoji="1" lang="ja-JP" altLang="en-US" sz="2400" dirty="0"/>
                  <a:t>軸上の座標</a:t>
                </a:r>
                <a:endParaRPr kumimoji="1" lang="en-US" altLang="ja-JP" sz="2400" dirty="0"/>
              </a:p>
              <a:p>
                <a:endParaRPr kumimoji="1" lang="en-US" altLang="ja-JP" sz="2400" dirty="0"/>
              </a:p>
              <a:p>
                <a:r>
                  <a:rPr kumimoji="1" lang="ja-JP" altLang="en-US" sz="2400" dirty="0"/>
                  <a:t>基本的に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X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軸は横軸</a:t>
                </a:r>
                <a:r>
                  <a:rPr lang="ja-JP" altLang="en-US" sz="2400" dirty="0"/>
                  <a:t>、</a:t>
                </a:r>
                <a:r>
                  <a:rPr lang="en-US" altLang="ja-JP" sz="2400" b="1" dirty="0">
                    <a:solidFill>
                      <a:srgbClr val="00B050"/>
                    </a:solidFill>
                  </a:rPr>
                  <a:t>Y</a:t>
                </a:r>
                <a:r>
                  <a:rPr lang="ja-JP" altLang="en-US" sz="2400" b="1" dirty="0">
                    <a:solidFill>
                      <a:srgbClr val="00B050"/>
                    </a:solidFill>
                  </a:rPr>
                  <a:t>軸は縦軸</a:t>
                </a:r>
                <a:r>
                  <a:rPr lang="ja-JP" altLang="en-US" sz="2400" dirty="0"/>
                  <a:t>を表します。</a:t>
                </a:r>
                <a:endParaRPr lang="en-US" altLang="ja-JP" sz="2400" dirty="0"/>
              </a:p>
              <a:p>
                <a:r>
                  <a:rPr kumimoji="1" lang="ja-JP" altLang="en-US" sz="2400" dirty="0"/>
                  <a:t>実際に図で見てみましょう。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63527" cy="3785652"/>
              </a:xfrm>
              <a:prstGeom prst="rect">
                <a:avLst/>
              </a:prstGeom>
              <a:blipFill>
                <a:blip r:embed="rId2"/>
                <a:stretch>
                  <a:fillRect l="-1258" t="-1288" r="-336" b="-2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57659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点の定義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0324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以下のグラフにある点について考えます。</a:t>
            </a:r>
            <a:endParaRPr kumimoji="1" lang="en-US" altLang="ja-JP" sz="2400" dirty="0"/>
          </a:p>
          <a:p>
            <a:r>
              <a:rPr lang="ja-JP" altLang="en-US" sz="2400" dirty="0"/>
              <a:t>点のある座標はいくつになるでしょう？</a:t>
            </a:r>
            <a:endParaRPr kumimoji="1" lang="en-US" altLang="ja-JP" sz="2400" dirty="0"/>
          </a:p>
        </p:txBody>
      </p: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BFF141FF-8BB8-4205-A89B-5DDE5D60F590}"/>
              </a:ext>
            </a:extLst>
          </p:cNvPr>
          <p:cNvGrpSpPr/>
          <p:nvPr/>
        </p:nvGrpSpPr>
        <p:grpSpPr>
          <a:xfrm>
            <a:off x="567542" y="2398054"/>
            <a:ext cx="4278806" cy="3967992"/>
            <a:chOff x="567542" y="2398054"/>
            <a:chExt cx="4278806" cy="3967992"/>
          </a:xfrm>
        </p:grpSpPr>
        <p:grpSp>
          <p:nvGrpSpPr>
            <p:cNvPr id="77" name="グループ化 76">
              <a:extLst>
                <a:ext uri="{FF2B5EF4-FFF2-40B4-BE49-F238E27FC236}">
                  <a16:creationId xmlns:a16="http://schemas.microsoft.com/office/drawing/2014/main" id="{884A8320-3B33-4E7C-A81F-863BE9D74CA0}"/>
                </a:ext>
              </a:extLst>
            </p:cNvPr>
            <p:cNvGrpSpPr/>
            <p:nvPr/>
          </p:nvGrpSpPr>
          <p:grpSpPr>
            <a:xfrm>
              <a:off x="567542" y="2398054"/>
              <a:ext cx="4278806" cy="3967992"/>
              <a:chOff x="704674" y="2060686"/>
              <a:chExt cx="4278806" cy="3967992"/>
            </a:xfrm>
          </p:grpSpPr>
          <p:grpSp>
            <p:nvGrpSpPr>
              <p:cNvPr id="66" name="グループ化 65">
                <a:extLst>
                  <a:ext uri="{FF2B5EF4-FFF2-40B4-BE49-F238E27FC236}">
                    <a16:creationId xmlns:a16="http://schemas.microsoft.com/office/drawing/2014/main" id="{EC39286A-5521-4CFA-913A-769C1734F716}"/>
                  </a:ext>
                </a:extLst>
              </p:cNvPr>
              <p:cNvGrpSpPr/>
              <p:nvPr/>
            </p:nvGrpSpPr>
            <p:grpSpPr>
              <a:xfrm>
                <a:off x="704674" y="2060686"/>
                <a:ext cx="4278806" cy="3967992"/>
                <a:chOff x="704674" y="2060686"/>
                <a:chExt cx="4278806" cy="3967992"/>
              </a:xfrm>
            </p:grpSpPr>
            <p:cxnSp>
              <p:nvCxnSpPr>
                <p:cNvPr id="3" name="直線矢印コネクタ 2">
                  <a:extLst>
                    <a:ext uri="{FF2B5EF4-FFF2-40B4-BE49-F238E27FC236}">
                      <a16:creationId xmlns:a16="http://schemas.microsoft.com/office/drawing/2014/main" id="{7B00073E-4CE2-4652-830E-445C806047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674" y="3976382"/>
                  <a:ext cx="4278806" cy="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" name="直線矢印コネクタ 6">
                  <a:extLst>
                    <a:ext uri="{FF2B5EF4-FFF2-40B4-BE49-F238E27FC236}">
                      <a16:creationId xmlns:a16="http://schemas.microsoft.com/office/drawing/2014/main" id="{1CB82120-1FC3-4D1E-B14E-39E84E3AF0D3}"/>
                    </a:ext>
                  </a:extLst>
                </p:cNvPr>
                <p:cNvCxnSpPr/>
                <p:nvPr/>
              </p:nvCxnSpPr>
              <p:spPr>
                <a:xfrm flipV="1">
                  <a:off x="2848692" y="2060686"/>
                  <a:ext cx="0" cy="3967992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コネクタ 22">
                  <a:extLst>
                    <a:ext uri="{FF2B5EF4-FFF2-40B4-BE49-F238E27FC236}">
                      <a16:creationId xmlns:a16="http://schemas.microsoft.com/office/drawing/2014/main" id="{1CEC9391-02D4-4FEE-BFC0-CEA8242210B6}"/>
                    </a:ext>
                  </a:extLst>
                </p:cNvPr>
                <p:cNvCxnSpPr/>
                <p:nvPr/>
              </p:nvCxnSpPr>
              <p:spPr>
                <a:xfrm>
                  <a:off x="3038475" y="38893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線コネクタ 23">
                  <a:extLst>
                    <a:ext uri="{FF2B5EF4-FFF2-40B4-BE49-F238E27FC236}">
                      <a16:creationId xmlns:a16="http://schemas.microsoft.com/office/drawing/2014/main" id="{A667497B-6C70-4D31-A4B2-D379B4BD0C2F}"/>
                    </a:ext>
                  </a:extLst>
                </p:cNvPr>
                <p:cNvCxnSpPr/>
                <p:nvPr/>
              </p:nvCxnSpPr>
              <p:spPr>
                <a:xfrm>
                  <a:off x="3190875" y="38957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線コネクタ 25">
                  <a:extLst>
                    <a:ext uri="{FF2B5EF4-FFF2-40B4-BE49-F238E27FC236}">
                      <a16:creationId xmlns:a16="http://schemas.microsoft.com/office/drawing/2014/main" id="{EC83FFE2-635F-4ED1-B33D-4B62B9854BF8}"/>
                    </a:ext>
                  </a:extLst>
                </p:cNvPr>
                <p:cNvCxnSpPr/>
                <p:nvPr/>
              </p:nvCxnSpPr>
              <p:spPr>
                <a:xfrm>
                  <a:off x="3343275" y="38989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線コネクタ 27">
                  <a:extLst>
                    <a:ext uri="{FF2B5EF4-FFF2-40B4-BE49-F238E27FC236}">
                      <a16:creationId xmlns:a16="http://schemas.microsoft.com/office/drawing/2014/main" id="{0C0D89AC-97AD-4883-95BE-E745217F346B}"/>
                    </a:ext>
                  </a:extLst>
                </p:cNvPr>
                <p:cNvCxnSpPr/>
                <p:nvPr/>
              </p:nvCxnSpPr>
              <p:spPr>
                <a:xfrm>
                  <a:off x="3495675" y="38996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" name="直線コネクタ 34">
                  <a:extLst>
                    <a:ext uri="{FF2B5EF4-FFF2-40B4-BE49-F238E27FC236}">
                      <a16:creationId xmlns:a16="http://schemas.microsoft.com/office/drawing/2014/main" id="{AA41B5FB-758A-4D90-9FD2-EBD2A32C43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48075" y="38576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線コネクタ 35">
                  <a:extLst>
                    <a:ext uri="{FF2B5EF4-FFF2-40B4-BE49-F238E27FC236}">
                      <a16:creationId xmlns:a16="http://schemas.microsoft.com/office/drawing/2014/main" id="{AD41E917-4D8E-4A80-8308-D58C60165A12}"/>
                    </a:ext>
                  </a:extLst>
                </p:cNvPr>
                <p:cNvCxnSpPr/>
                <p:nvPr/>
              </p:nvCxnSpPr>
              <p:spPr>
                <a:xfrm>
                  <a:off x="3800475" y="39068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線コネクタ 36">
                  <a:extLst>
                    <a:ext uri="{FF2B5EF4-FFF2-40B4-BE49-F238E27FC236}">
                      <a16:creationId xmlns:a16="http://schemas.microsoft.com/office/drawing/2014/main" id="{B781DB00-DD8E-4ACC-A770-EBE5F6FF1F4A}"/>
                    </a:ext>
                  </a:extLst>
                </p:cNvPr>
                <p:cNvCxnSpPr/>
                <p:nvPr/>
              </p:nvCxnSpPr>
              <p:spPr>
                <a:xfrm>
                  <a:off x="3952875" y="39115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7" name="グループ化 56">
                  <a:extLst>
                    <a:ext uri="{FF2B5EF4-FFF2-40B4-BE49-F238E27FC236}">
                      <a16:creationId xmlns:a16="http://schemas.microsoft.com/office/drawing/2014/main" id="{4F06FB92-3D07-4342-AE95-327259BD0B65}"/>
                    </a:ext>
                  </a:extLst>
                </p:cNvPr>
                <p:cNvGrpSpPr/>
                <p:nvPr/>
              </p:nvGrpSpPr>
              <p:grpSpPr>
                <a:xfrm rot="10800000">
                  <a:off x="1749425" y="3844925"/>
                  <a:ext cx="914400" cy="254794"/>
                  <a:chOff x="1749425" y="3844925"/>
                  <a:chExt cx="914400" cy="254794"/>
                </a:xfrm>
              </p:grpSpPr>
              <p:cxnSp>
                <p:nvCxnSpPr>
                  <p:cNvPr id="42" name="直線コネクタ 41">
                    <a:extLst>
                      <a:ext uri="{FF2B5EF4-FFF2-40B4-BE49-F238E27FC236}">
                        <a16:creationId xmlns:a16="http://schemas.microsoft.com/office/drawing/2014/main" id="{FA54464F-012B-43A6-B85F-1D582C8198E9}"/>
                      </a:ext>
                    </a:extLst>
                  </p:cNvPr>
                  <p:cNvCxnSpPr/>
                  <p:nvPr/>
                </p:nvCxnSpPr>
                <p:spPr>
                  <a:xfrm>
                    <a:off x="1749425" y="38766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直線コネクタ 42">
                    <a:extLst>
                      <a:ext uri="{FF2B5EF4-FFF2-40B4-BE49-F238E27FC236}">
                        <a16:creationId xmlns:a16="http://schemas.microsoft.com/office/drawing/2014/main" id="{650346D3-FA01-446A-BCF4-DDB6BC141618}"/>
                      </a:ext>
                    </a:extLst>
                  </p:cNvPr>
                  <p:cNvCxnSpPr/>
                  <p:nvPr/>
                </p:nvCxnSpPr>
                <p:spPr>
                  <a:xfrm>
                    <a:off x="1901825" y="38830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4" name="直線コネクタ 43">
                    <a:extLst>
                      <a:ext uri="{FF2B5EF4-FFF2-40B4-BE49-F238E27FC236}">
                        <a16:creationId xmlns:a16="http://schemas.microsoft.com/office/drawing/2014/main" id="{1C782DD8-2BC6-43C2-B0E0-5465B74B496F}"/>
                      </a:ext>
                    </a:extLst>
                  </p:cNvPr>
                  <p:cNvCxnSpPr/>
                  <p:nvPr/>
                </p:nvCxnSpPr>
                <p:spPr>
                  <a:xfrm>
                    <a:off x="2054225" y="38862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5" name="直線コネクタ 44">
                    <a:extLst>
                      <a:ext uri="{FF2B5EF4-FFF2-40B4-BE49-F238E27FC236}">
                        <a16:creationId xmlns:a16="http://schemas.microsoft.com/office/drawing/2014/main" id="{DD7493D7-4A1B-417E-AE02-BBA3E00C7B2A}"/>
                      </a:ext>
                    </a:extLst>
                  </p:cNvPr>
                  <p:cNvCxnSpPr/>
                  <p:nvPr/>
                </p:nvCxnSpPr>
                <p:spPr>
                  <a:xfrm>
                    <a:off x="2206625" y="38869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6" name="直線コネクタ 45">
                    <a:extLst>
                      <a:ext uri="{FF2B5EF4-FFF2-40B4-BE49-F238E27FC236}">
                        <a16:creationId xmlns:a16="http://schemas.microsoft.com/office/drawing/2014/main" id="{60D5C9BF-5FDA-451F-A44A-E2C188B1FD7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9025" y="38449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直線コネクタ 46">
                    <a:extLst>
                      <a:ext uri="{FF2B5EF4-FFF2-40B4-BE49-F238E27FC236}">
                        <a16:creationId xmlns:a16="http://schemas.microsoft.com/office/drawing/2014/main" id="{2E490E35-B2BF-4F05-A6FC-59A992A03658}"/>
                      </a:ext>
                    </a:extLst>
                  </p:cNvPr>
                  <p:cNvCxnSpPr/>
                  <p:nvPr/>
                </p:nvCxnSpPr>
                <p:spPr>
                  <a:xfrm>
                    <a:off x="2511425" y="38941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直線コネクタ 47">
                    <a:extLst>
                      <a:ext uri="{FF2B5EF4-FFF2-40B4-BE49-F238E27FC236}">
                        <a16:creationId xmlns:a16="http://schemas.microsoft.com/office/drawing/2014/main" id="{430A5819-B08A-49FD-9D43-0A697DC3E68B}"/>
                      </a:ext>
                    </a:extLst>
                  </p:cNvPr>
                  <p:cNvCxnSpPr/>
                  <p:nvPr/>
                </p:nvCxnSpPr>
                <p:spPr>
                  <a:xfrm>
                    <a:off x="2663825" y="38988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6" name="グループ化 55">
                  <a:extLst>
                    <a:ext uri="{FF2B5EF4-FFF2-40B4-BE49-F238E27FC236}">
                      <a16:creationId xmlns:a16="http://schemas.microsoft.com/office/drawing/2014/main" id="{72B9DE94-CB01-4652-A420-6FC6306C4FE3}"/>
                    </a:ext>
                  </a:extLst>
                </p:cNvPr>
                <p:cNvGrpSpPr/>
                <p:nvPr/>
              </p:nvGrpSpPr>
              <p:grpSpPr>
                <a:xfrm rot="16200000">
                  <a:off x="2409825" y="321627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49" name="直線コネクタ 48">
                    <a:extLst>
                      <a:ext uri="{FF2B5EF4-FFF2-40B4-BE49-F238E27FC236}">
                        <a16:creationId xmlns:a16="http://schemas.microsoft.com/office/drawing/2014/main" id="{8965299E-7224-4FFF-B832-F0EF285F872A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17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直線コネクタ 49">
                    <a:extLst>
                      <a:ext uri="{FF2B5EF4-FFF2-40B4-BE49-F238E27FC236}">
                        <a16:creationId xmlns:a16="http://schemas.microsoft.com/office/drawing/2014/main" id="{5B270781-98B6-4E7D-8C2A-D4E62B97091E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" name="直線コネクタ 50">
                    <a:extLst>
                      <a:ext uri="{FF2B5EF4-FFF2-40B4-BE49-F238E27FC236}">
                        <a16:creationId xmlns:a16="http://schemas.microsoft.com/office/drawing/2014/main" id="{07F8F003-39EB-488E-B1A3-0FC772885A4D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4415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" name="直線コネクタ 51">
                    <a:extLst>
                      <a:ext uri="{FF2B5EF4-FFF2-40B4-BE49-F238E27FC236}">
                        <a16:creationId xmlns:a16="http://schemas.microsoft.com/office/drawing/2014/main" id="{B00BCC43-AA3C-4CE8-9FF3-BD13BF597C45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4257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直線コネクタ 52">
                    <a:extLst>
                      <a:ext uri="{FF2B5EF4-FFF2-40B4-BE49-F238E27FC236}">
                        <a16:creationId xmlns:a16="http://schemas.microsoft.com/office/drawing/2014/main" id="{C6F01ED4-AC88-414D-951A-9475A308119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直線コネクタ 53">
                    <a:extLst>
                      <a:ext uri="{FF2B5EF4-FFF2-40B4-BE49-F238E27FC236}">
                        <a16:creationId xmlns:a16="http://schemas.microsoft.com/office/drawing/2014/main" id="{088A622C-7E9C-4549-B8AB-B7023205E92E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4256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直線コネクタ 54">
                    <a:extLst>
                      <a:ext uri="{FF2B5EF4-FFF2-40B4-BE49-F238E27FC236}">
                        <a16:creationId xmlns:a16="http://schemas.microsoft.com/office/drawing/2014/main" id="{FCE87BE0-47DF-46F0-A668-0DAFC554F1C3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4494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58" name="グループ化 57">
                  <a:extLst>
                    <a:ext uri="{FF2B5EF4-FFF2-40B4-BE49-F238E27FC236}">
                      <a16:creationId xmlns:a16="http://schemas.microsoft.com/office/drawing/2014/main" id="{6158EB4B-CCDE-4FF6-90BA-FDC0F2AAC209}"/>
                    </a:ext>
                  </a:extLst>
                </p:cNvPr>
                <p:cNvGrpSpPr/>
                <p:nvPr/>
              </p:nvGrpSpPr>
              <p:grpSpPr>
                <a:xfrm rot="5400000">
                  <a:off x="2391568" y="451802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59" name="直線コネクタ 58">
                    <a:extLst>
                      <a:ext uri="{FF2B5EF4-FFF2-40B4-BE49-F238E27FC236}">
                        <a16:creationId xmlns:a16="http://schemas.microsoft.com/office/drawing/2014/main" id="{06F988EB-A56E-4EEB-9449-48F0DCAA58B7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653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直線コネクタ 59">
                    <a:extLst>
                      <a:ext uri="{FF2B5EF4-FFF2-40B4-BE49-F238E27FC236}">
                        <a16:creationId xmlns:a16="http://schemas.microsoft.com/office/drawing/2014/main" id="{3B3C0E30-98B3-487E-AD62-D2A2383C06C9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直線コネクタ 60">
                    <a:extLst>
                      <a:ext uri="{FF2B5EF4-FFF2-40B4-BE49-F238E27FC236}">
                        <a16:creationId xmlns:a16="http://schemas.microsoft.com/office/drawing/2014/main" id="{872C53B0-4B6B-4220-94F4-198D024B2E02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513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直線コネクタ 61">
                    <a:extLst>
                      <a:ext uri="{FF2B5EF4-FFF2-40B4-BE49-F238E27FC236}">
                        <a16:creationId xmlns:a16="http://schemas.microsoft.com/office/drawing/2014/main" id="{F3D83BAA-49BF-4861-BD0C-146345DAB10F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520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直線コネクタ 62">
                    <a:extLst>
                      <a:ext uri="{FF2B5EF4-FFF2-40B4-BE49-F238E27FC236}">
                        <a16:creationId xmlns:a16="http://schemas.microsoft.com/office/drawing/2014/main" id="{97E32D75-522D-450D-8F8E-9554EB8EDD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4" name="直線コネクタ 63">
                    <a:extLst>
                      <a:ext uri="{FF2B5EF4-FFF2-40B4-BE49-F238E27FC236}">
                        <a16:creationId xmlns:a16="http://schemas.microsoft.com/office/drawing/2014/main" id="{28F36643-0A32-434D-9F49-2EA391AF3C15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592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5" name="直線コネクタ 64">
                    <a:extLst>
                      <a:ext uri="{FF2B5EF4-FFF2-40B4-BE49-F238E27FC236}">
                        <a16:creationId xmlns:a16="http://schemas.microsoft.com/office/drawing/2014/main" id="{F52B227A-F998-420A-882F-ADA40D9AF600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639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67" name="楕円 66">
                <a:extLst>
                  <a:ext uri="{FF2B5EF4-FFF2-40B4-BE49-F238E27FC236}">
                    <a16:creationId xmlns:a16="http://schemas.microsoft.com/office/drawing/2014/main" id="{7D386630-9A65-4A7A-AC37-9FE33F939CC9}"/>
                  </a:ext>
                </a:extLst>
              </p:cNvPr>
              <p:cNvSpPr/>
              <p:nvPr/>
            </p:nvSpPr>
            <p:spPr>
              <a:xfrm>
                <a:off x="3316960" y="332081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69" name="直線コネクタ 68">
                <a:extLst>
                  <a:ext uri="{FF2B5EF4-FFF2-40B4-BE49-F238E27FC236}">
                    <a16:creationId xmlns:a16="http://schemas.microsoft.com/office/drawing/2014/main" id="{883A21B0-5EAE-4CC7-B514-F7B8755A1F71}"/>
                  </a:ext>
                </a:extLst>
              </p:cNvPr>
              <p:cNvCxnSpPr>
                <a:cxnSpLocks/>
                <a:endCxn id="67" idx="2"/>
              </p:cNvCxnSpPr>
              <p:nvPr/>
            </p:nvCxnSpPr>
            <p:spPr>
              <a:xfrm>
                <a:off x="2934096" y="3343670"/>
                <a:ext cx="382864" cy="1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線コネクタ 73">
                <a:extLst>
                  <a:ext uri="{FF2B5EF4-FFF2-40B4-BE49-F238E27FC236}">
                    <a16:creationId xmlns:a16="http://schemas.microsoft.com/office/drawing/2014/main" id="{5AF75787-D33D-4F1B-9FE0-2DCE05C7E9B4}"/>
                  </a:ext>
                </a:extLst>
              </p:cNvPr>
              <p:cNvCxnSpPr>
                <a:cxnSpLocks/>
                <a:endCxn id="67" idx="4"/>
              </p:cNvCxnSpPr>
              <p:nvPr/>
            </p:nvCxnSpPr>
            <p:spPr>
              <a:xfrm flipV="1">
                <a:off x="3339820" y="3366530"/>
                <a:ext cx="0" cy="52858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テキスト ボックス 77">
                  <a:extLst>
                    <a:ext uri="{FF2B5EF4-FFF2-40B4-BE49-F238E27FC236}">
                      <a16:creationId xmlns:a16="http://schemas.microsoft.com/office/drawing/2014/main" id="{EC8897F7-7AEE-4E68-A4EC-56C670430BF5}"/>
                    </a:ext>
                  </a:extLst>
                </p:cNvPr>
                <p:cNvSpPr txBox="1"/>
                <p:nvPr/>
              </p:nvSpPr>
              <p:spPr>
                <a:xfrm>
                  <a:off x="3137403" y="3257964"/>
                  <a:ext cx="100540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(?, ?)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78" name="テキスト ボックス 77">
                  <a:extLst>
                    <a:ext uri="{FF2B5EF4-FFF2-40B4-BE49-F238E27FC236}">
                      <a16:creationId xmlns:a16="http://schemas.microsoft.com/office/drawing/2014/main" id="{EC8897F7-7AEE-4E68-A4EC-56C670430B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7403" y="3257964"/>
                  <a:ext cx="1005403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606" b="-157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7947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点の定義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実はこのままでは点を定義することはできません。</a:t>
            </a:r>
            <a:endParaRPr lang="en-US" altLang="ja-JP" sz="2400" dirty="0"/>
          </a:p>
          <a:p>
            <a:r>
              <a:rPr lang="ja-JP" altLang="en-US" sz="2400" dirty="0"/>
              <a:t>このグラフは</a:t>
            </a:r>
            <a:r>
              <a:rPr lang="ja-JP" altLang="en-US" sz="2400" b="1" dirty="0">
                <a:solidFill>
                  <a:srgbClr val="FF0000"/>
                </a:solidFill>
              </a:rPr>
              <a:t>どちらに進めばプラスなのか、マイナスなのか</a:t>
            </a:r>
            <a:r>
              <a:rPr lang="ja-JP" altLang="en-US" sz="2400" dirty="0"/>
              <a:t>が</a:t>
            </a:r>
            <a:endParaRPr lang="en-US" altLang="ja-JP" sz="2400" dirty="0"/>
          </a:p>
          <a:p>
            <a:r>
              <a:rPr kumimoji="1" lang="ja-JP" altLang="en-US" sz="2400" dirty="0"/>
              <a:t>わからないからです。</a:t>
            </a:r>
            <a:endParaRPr kumimoji="1" lang="en-US" altLang="ja-JP" sz="2400" dirty="0"/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5C3D3DA0-FD8A-415B-8C51-8C9E3F96E277}"/>
              </a:ext>
            </a:extLst>
          </p:cNvPr>
          <p:cNvGrpSpPr/>
          <p:nvPr/>
        </p:nvGrpSpPr>
        <p:grpSpPr>
          <a:xfrm>
            <a:off x="567542" y="2556458"/>
            <a:ext cx="4278806" cy="3967992"/>
            <a:chOff x="567542" y="2398054"/>
            <a:chExt cx="4278806" cy="3967992"/>
          </a:xfrm>
        </p:grpSpPr>
        <p:grpSp>
          <p:nvGrpSpPr>
            <p:cNvPr id="70" name="グループ化 69">
              <a:extLst>
                <a:ext uri="{FF2B5EF4-FFF2-40B4-BE49-F238E27FC236}">
                  <a16:creationId xmlns:a16="http://schemas.microsoft.com/office/drawing/2014/main" id="{2F2F7E21-8155-4AAE-86BB-C834C9CFB3DF}"/>
                </a:ext>
              </a:extLst>
            </p:cNvPr>
            <p:cNvGrpSpPr/>
            <p:nvPr/>
          </p:nvGrpSpPr>
          <p:grpSpPr>
            <a:xfrm>
              <a:off x="567542" y="2398054"/>
              <a:ext cx="4278806" cy="3967992"/>
              <a:chOff x="704674" y="2060686"/>
              <a:chExt cx="4278806" cy="3967992"/>
            </a:xfrm>
          </p:grpSpPr>
          <p:grpSp>
            <p:nvGrpSpPr>
              <p:cNvPr id="72" name="グループ化 71">
                <a:extLst>
                  <a:ext uri="{FF2B5EF4-FFF2-40B4-BE49-F238E27FC236}">
                    <a16:creationId xmlns:a16="http://schemas.microsoft.com/office/drawing/2014/main" id="{3FDDEA11-0B1C-4E0E-9190-50880DC16717}"/>
                  </a:ext>
                </a:extLst>
              </p:cNvPr>
              <p:cNvGrpSpPr/>
              <p:nvPr/>
            </p:nvGrpSpPr>
            <p:grpSpPr>
              <a:xfrm>
                <a:off x="704674" y="2060686"/>
                <a:ext cx="4278806" cy="3967992"/>
                <a:chOff x="704674" y="2060686"/>
                <a:chExt cx="4278806" cy="3967992"/>
              </a:xfrm>
            </p:grpSpPr>
            <p:cxnSp>
              <p:nvCxnSpPr>
                <p:cNvPr id="79" name="直線矢印コネクタ 78">
                  <a:extLst>
                    <a:ext uri="{FF2B5EF4-FFF2-40B4-BE49-F238E27FC236}">
                      <a16:creationId xmlns:a16="http://schemas.microsoft.com/office/drawing/2014/main" id="{BEC636F2-6A52-4B0A-AD6C-411D0FE536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674" y="3976382"/>
                  <a:ext cx="4278806" cy="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線矢印コネクタ 79">
                  <a:extLst>
                    <a:ext uri="{FF2B5EF4-FFF2-40B4-BE49-F238E27FC236}">
                      <a16:creationId xmlns:a16="http://schemas.microsoft.com/office/drawing/2014/main" id="{C9956B03-A6D0-403D-8FC4-2AF5DF30EFDC}"/>
                    </a:ext>
                  </a:extLst>
                </p:cNvPr>
                <p:cNvCxnSpPr/>
                <p:nvPr/>
              </p:nvCxnSpPr>
              <p:spPr>
                <a:xfrm flipV="1">
                  <a:off x="2848692" y="2060686"/>
                  <a:ext cx="0" cy="3967992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線コネクタ 80">
                  <a:extLst>
                    <a:ext uri="{FF2B5EF4-FFF2-40B4-BE49-F238E27FC236}">
                      <a16:creationId xmlns:a16="http://schemas.microsoft.com/office/drawing/2014/main" id="{F6528544-9C6B-4F2A-B09C-FAC5E1AE7399}"/>
                    </a:ext>
                  </a:extLst>
                </p:cNvPr>
                <p:cNvCxnSpPr/>
                <p:nvPr/>
              </p:nvCxnSpPr>
              <p:spPr>
                <a:xfrm>
                  <a:off x="3038475" y="38893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線コネクタ 81">
                  <a:extLst>
                    <a:ext uri="{FF2B5EF4-FFF2-40B4-BE49-F238E27FC236}">
                      <a16:creationId xmlns:a16="http://schemas.microsoft.com/office/drawing/2014/main" id="{85A32A73-3205-49B7-8EFF-6F6C371E59F6}"/>
                    </a:ext>
                  </a:extLst>
                </p:cNvPr>
                <p:cNvCxnSpPr/>
                <p:nvPr/>
              </p:nvCxnSpPr>
              <p:spPr>
                <a:xfrm>
                  <a:off x="3190875" y="38957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線コネクタ 82">
                  <a:extLst>
                    <a:ext uri="{FF2B5EF4-FFF2-40B4-BE49-F238E27FC236}">
                      <a16:creationId xmlns:a16="http://schemas.microsoft.com/office/drawing/2014/main" id="{544D5B71-3688-4E7C-80C7-F10DA0A39129}"/>
                    </a:ext>
                  </a:extLst>
                </p:cNvPr>
                <p:cNvCxnSpPr/>
                <p:nvPr/>
              </p:nvCxnSpPr>
              <p:spPr>
                <a:xfrm>
                  <a:off x="3343275" y="38989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線コネクタ 83">
                  <a:extLst>
                    <a:ext uri="{FF2B5EF4-FFF2-40B4-BE49-F238E27FC236}">
                      <a16:creationId xmlns:a16="http://schemas.microsoft.com/office/drawing/2014/main" id="{94EAE08C-A1BD-4120-934F-9E92CA6A1EDC}"/>
                    </a:ext>
                  </a:extLst>
                </p:cNvPr>
                <p:cNvCxnSpPr/>
                <p:nvPr/>
              </p:nvCxnSpPr>
              <p:spPr>
                <a:xfrm>
                  <a:off x="3495675" y="38996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線コネクタ 84">
                  <a:extLst>
                    <a:ext uri="{FF2B5EF4-FFF2-40B4-BE49-F238E27FC236}">
                      <a16:creationId xmlns:a16="http://schemas.microsoft.com/office/drawing/2014/main" id="{9359810F-AC2F-454F-B0C3-96AAEA64D3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48075" y="38576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線コネクタ 85">
                  <a:extLst>
                    <a:ext uri="{FF2B5EF4-FFF2-40B4-BE49-F238E27FC236}">
                      <a16:creationId xmlns:a16="http://schemas.microsoft.com/office/drawing/2014/main" id="{9637339A-AB14-44F1-A9EA-E910815BF4ED}"/>
                    </a:ext>
                  </a:extLst>
                </p:cNvPr>
                <p:cNvCxnSpPr/>
                <p:nvPr/>
              </p:nvCxnSpPr>
              <p:spPr>
                <a:xfrm>
                  <a:off x="3800475" y="39068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線コネクタ 86">
                  <a:extLst>
                    <a:ext uri="{FF2B5EF4-FFF2-40B4-BE49-F238E27FC236}">
                      <a16:creationId xmlns:a16="http://schemas.microsoft.com/office/drawing/2014/main" id="{E19F3A59-A442-4FFE-8D18-F0567D568D9D}"/>
                    </a:ext>
                  </a:extLst>
                </p:cNvPr>
                <p:cNvCxnSpPr/>
                <p:nvPr/>
              </p:nvCxnSpPr>
              <p:spPr>
                <a:xfrm>
                  <a:off x="3952875" y="39115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8" name="グループ化 87">
                  <a:extLst>
                    <a:ext uri="{FF2B5EF4-FFF2-40B4-BE49-F238E27FC236}">
                      <a16:creationId xmlns:a16="http://schemas.microsoft.com/office/drawing/2014/main" id="{CB691D7B-E5B3-48D2-A8E5-799A9D89D296}"/>
                    </a:ext>
                  </a:extLst>
                </p:cNvPr>
                <p:cNvGrpSpPr/>
                <p:nvPr/>
              </p:nvGrpSpPr>
              <p:grpSpPr>
                <a:xfrm rot="10800000">
                  <a:off x="1749425" y="3844925"/>
                  <a:ext cx="914400" cy="254794"/>
                  <a:chOff x="1749425" y="3844925"/>
                  <a:chExt cx="914400" cy="254794"/>
                </a:xfrm>
              </p:grpSpPr>
              <p:cxnSp>
                <p:nvCxnSpPr>
                  <p:cNvPr id="105" name="直線コネクタ 104">
                    <a:extLst>
                      <a:ext uri="{FF2B5EF4-FFF2-40B4-BE49-F238E27FC236}">
                        <a16:creationId xmlns:a16="http://schemas.microsoft.com/office/drawing/2014/main" id="{093BF495-4A87-4456-ADE0-271D1AD58F3F}"/>
                      </a:ext>
                    </a:extLst>
                  </p:cNvPr>
                  <p:cNvCxnSpPr/>
                  <p:nvPr/>
                </p:nvCxnSpPr>
                <p:spPr>
                  <a:xfrm>
                    <a:off x="1749425" y="38766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直線コネクタ 105">
                    <a:extLst>
                      <a:ext uri="{FF2B5EF4-FFF2-40B4-BE49-F238E27FC236}">
                        <a16:creationId xmlns:a16="http://schemas.microsoft.com/office/drawing/2014/main" id="{F16C428C-F3D0-4097-8211-EB6F7679A452}"/>
                      </a:ext>
                    </a:extLst>
                  </p:cNvPr>
                  <p:cNvCxnSpPr/>
                  <p:nvPr/>
                </p:nvCxnSpPr>
                <p:spPr>
                  <a:xfrm>
                    <a:off x="1901825" y="38830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直線コネクタ 106">
                    <a:extLst>
                      <a:ext uri="{FF2B5EF4-FFF2-40B4-BE49-F238E27FC236}">
                        <a16:creationId xmlns:a16="http://schemas.microsoft.com/office/drawing/2014/main" id="{815C2229-ACC4-4C75-A630-0DB5F94D37EE}"/>
                      </a:ext>
                    </a:extLst>
                  </p:cNvPr>
                  <p:cNvCxnSpPr/>
                  <p:nvPr/>
                </p:nvCxnSpPr>
                <p:spPr>
                  <a:xfrm>
                    <a:off x="2054225" y="38862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直線コネクタ 107">
                    <a:extLst>
                      <a:ext uri="{FF2B5EF4-FFF2-40B4-BE49-F238E27FC236}">
                        <a16:creationId xmlns:a16="http://schemas.microsoft.com/office/drawing/2014/main" id="{EE6D1861-7F6F-4503-9BF6-DDCF3A1FDF09}"/>
                      </a:ext>
                    </a:extLst>
                  </p:cNvPr>
                  <p:cNvCxnSpPr/>
                  <p:nvPr/>
                </p:nvCxnSpPr>
                <p:spPr>
                  <a:xfrm>
                    <a:off x="2206625" y="38869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直線コネクタ 108">
                    <a:extLst>
                      <a:ext uri="{FF2B5EF4-FFF2-40B4-BE49-F238E27FC236}">
                        <a16:creationId xmlns:a16="http://schemas.microsoft.com/office/drawing/2014/main" id="{37119986-028A-4C0A-9E59-A8341121EB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9025" y="38449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直線コネクタ 109">
                    <a:extLst>
                      <a:ext uri="{FF2B5EF4-FFF2-40B4-BE49-F238E27FC236}">
                        <a16:creationId xmlns:a16="http://schemas.microsoft.com/office/drawing/2014/main" id="{340EF4A9-C608-41A3-86BD-3DFE08B86839}"/>
                      </a:ext>
                    </a:extLst>
                  </p:cNvPr>
                  <p:cNvCxnSpPr/>
                  <p:nvPr/>
                </p:nvCxnSpPr>
                <p:spPr>
                  <a:xfrm>
                    <a:off x="2511425" y="38941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直線コネクタ 110">
                    <a:extLst>
                      <a:ext uri="{FF2B5EF4-FFF2-40B4-BE49-F238E27FC236}">
                        <a16:creationId xmlns:a16="http://schemas.microsoft.com/office/drawing/2014/main" id="{4299CADC-D11A-4894-A6A1-601A353059EB}"/>
                      </a:ext>
                    </a:extLst>
                  </p:cNvPr>
                  <p:cNvCxnSpPr/>
                  <p:nvPr/>
                </p:nvCxnSpPr>
                <p:spPr>
                  <a:xfrm>
                    <a:off x="2663825" y="38988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9" name="グループ化 88">
                  <a:extLst>
                    <a:ext uri="{FF2B5EF4-FFF2-40B4-BE49-F238E27FC236}">
                      <a16:creationId xmlns:a16="http://schemas.microsoft.com/office/drawing/2014/main" id="{614145C1-5147-4297-9B7E-591842E4CE56}"/>
                    </a:ext>
                  </a:extLst>
                </p:cNvPr>
                <p:cNvGrpSpPr/>
                <p:nvPr/>
              </p:nvGrpSpPr>
              <p:grpSpPr>
                <a:xfrm rot="16200000">
                  <a:off x="2409825" y="321627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8" name="直線コネクタ 97">
                    <a:extLst>
                      <a:ext uri="{FF2B5EF4-FFF2-40B4-BE49-F238E27FC236}">
                        <a16:creationId xmlns:a16="http://schemas.microsoft.com/office/drawing/2014/main" id="{22046541-72AE-48E0-82B6-13EDB8D8E405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17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直線コネクタ 98">
                    <a:extLst>
                      <a:ext uri="{FF2B5EF4-FFF2-40B4-BE49-F238E27FC236}">
                        <a16:creationId xmlns:a16="http://schemas.microsoft.com/office/drawing/2014/main" id="{B8F15AFC-F9EF-4C2C-A5DD-8622572E15D4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直線コネクタ 99">
                    <a:extLst>
                      <a:ext uri="{FF2B5EF4-FFF2-40B4-BE49-F238E27FC236}">
                        <a16:creationId xmlns:a16="http://schemas.microsoft.com/office/drawing/2014/main" id="{B4138B57-4B6F-436D-B93F-1EFDFE4F57C8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4415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直線コネクタ 100">
                    <a:extLst>
                      <a:ext uri="{FF2B5EF4-FFF2-40B4-BE49-F238E27FC236}">
                        <a16:creationId xmlns:a16="http://schemas.microsoft.com/office/drawing/2014/main" id="{F0D39DEC-6040-4DCC-9338-C9FFCED85069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4257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直線コネクタ 101">
                    <a:extLst>
                      <a:ext uri="{FF2B5EF4-FFF2-40B4-BE49-F238E27FC236}">
                        <a16:creationId xmlns:a16="http://schemas.microsoft.com/office/drawing/2014/main" id="{98CB9B64-4BE6-4E64-B566-9D3B9525B7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直線コネクタ 102">
                    <a:extLst>
                      <a:ext uri="{FF2B5EF4-FFF2-40B4-BE49-F238E27FC236}">
                        <a16:creationId xmlns:a16="http://schemas.microsoft.com/office/drawing/2014/main" id="{A9DD35AE-6FAA-476D-BF16-91FC931BB612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4256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直線コネクタ 103">
                    <a:extLst>
                      <a:ext uri="{FF2B5EF4-FFF2-40B4-BE49-F238E27FC236}">
                        <a16:creationId xmlns:a16="http://schemas.microsoft.com/office/drawing/2014/main" id="{6D557416-4B31-4DD7-9AE6-F6A018706ABD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4494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0" name="グループ化 89">
                  <a:extLst>
                    <a:ext uri="{FF2B5EF4-FFF2-40B4-BE49-F238E27FC236}">
                      <a16:creationId xmlns:a16="http://schemas.microsoft.com/office/drawing/2014/main" id="{0C549522-FFE1-47FD-9720-5ABDB6332173}"/>
                    </a:ext>
                  </a:extLst>
                </p:cNvPr>
                <p:cNvGrpSpPr/>
                <p:nvPr/>
              </p:nvGrpSpPr>
              <p:grpSpPr>
                <a:xfrm rot="5400000">
                  <a:off x="2391568" y="451802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1" name="直線コネクタ 90">
                    <a:extLst>
                      <a:ext uri="{FF2B5EF4-FFF2-40B4-BE49-F238E27FC236}">
                        <a16:creationId xmlns:a16="http://schemas.microsoft.com/office/drawing/2014/main" id="{40E2A205-14AD-4BCB-B629-BBAF818E91B8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653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直線コネクタ 91">
                    <a:extLst>
                      <a:ext uri="{FF2B5EF4-FFF2-40B4-BE49-F238E27FC236}">
                        <a16:creationId xmlns:a16="http://schemas.microsoft.com/office/drawing/2014/main" id="{088B18D0-FDAC-4BF1-A800-926E15F5484D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直線コネクタ 92">
                    <a:extLst>
                      <a:ext uri="{FF2B5EF4-FFF2-40B4-BE49-F238E27FC236}">
                        <a16:creationId xmlns:a16="http://schemas.microsoft.com/office/drawing/2014/main" id="{81A931E2-7154-4A72-BC9A-28A8DC2127E1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513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直線コネクタ 93">
                    <a:extLst>
                      <a:ext uri="{FF2B5EF4-FFF2-40B4-BE49-F238E27FC236}">
                        <a16:creationId xmlns:a16="http://schemas.microsoft.com/office/drawing/2014/main" id="{739BB7D1-5EB7-4DC2-A5D3-4A655E5211BE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520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直線コネクタ 94">
                    <a:extLst>
                      <a:ext uri="{FF2B5EF4-FFF2-40B4-BE49-F238E27FC236}">
                        <a16:creationId xmlns:a16="http://schemas.microsoft.com/office/drawing/2014/main" id="{5E6E720E-5ACA-4D7F-9082-A67133C1E2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直線コネクタ 95">
                    <a:extLst>
                      <a:ext uri="{FF2B5EF4-FFF2-40B4-BE49-F238E27FC236}">
                        <a16:creationId xmlns:a16="http://schemas.microsoft.com/office/drawing/2014/main" id="{A9BC68B8-98F3-47CD-B271-1C5AC7EF9AAA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592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直線コネクタ 96">
                    <a:extLst>
                      <a:ext uri="{FF2B5EF4-FFF2-40B4-BE49-F238E27FC236}">
                        <a16:creationId xmlns:a16="http://schemas.microsoft.com/office/drawing/2014/main" id="{276AACA3-D5AD-496C-A1DB-DF540A72D267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639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3" name="楕円 72">
                <a:extLst>
                  <a:ext uri="{FF2B5EF4-FFF2-40B4-BE49-F238E27FC236}">
                    <a16:creationId xmlns:a16="http://schemas.microsoft.com/office/drawing/2014/main" id="{667DE09F-42BD-40F5-8228-CFA9A124BCF1}"/>
                  </a:ext>
                </a:extLst>
              </p:cNvPr>
              <p:cNvSpPr/>
              <p:nvPr/>
            </p:nvSpPr>
            <p:spPr>
              <a:xfrm>
                <a:off x="3316960" y="332081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1D4E2A31-C621-47DC-B5EB-2A4BB7DAA6D6}"/>
                  </a:ext>
                </a:extLst>
              </p:cNvPr>
              <p:cNvCxnSpPr>
                <a:cxnSpLocks/>
                <a:endCxn id="73" idx="2"/>
              </p:cNvCxnSpPr>
              <p:nvPr/>
            </p:nvCxnSpPr>
            <p:spPr>
              <a:xfrm>
                <a:off x="2934096" y="3343670"/>
                <a:ext cx="382864" cy="1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コネクタ 75">
                <a:extLst>
                  <a:ext uri="{FF2B5EF4-FFF2-40B4-BE49-F238E27FC236}">
                    <a16:creationId xmlns:a16="http://schemas.microsoft.com/office/drawing/2014/main" id="{99193A69-616D-4E1B-8A2E-378B12E53C0C}"/>
                  </a:ext>
                </a:extLst>
              </p:cNvPr>
              <p:cNvCxnSpPr>
                <a:cxnSpLocks/>
                <a:endCxn id="73" idx="4"/>
              </p:cNvCxnSpPr>
              <p:nvPr/>
            </p:nvCxnSpPr>
            <p:spPr>
              <a:xfrm flipV="1">
                <a:off x="3339820" y="3366530"/>
                <a:ext cx="0" cy="52858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/>
                <p:nvPr/>
              </p:nvSpPr>
              <p:spPr>
                <a:xfrm>
                  <a:off x="3137403" y="3257964"/>
                  <a:ext cx="100540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(?, ?)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7403" y="3257964"/>
                  <a:ext cx="1005403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606" b="-157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691460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点の定義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41549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点を定義するためには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座標系</a:t>
            </a:r>
            <a:r>
              <a:rPr kumimoji="1" lang="ja-JP" altLang="en-US" sz="2400" dirty="0"/>
              <a:t>も定義する必要があります。</a:t>
            </a:r>
            <a:endParaRPr kumimoji="1" lang="en-US" altLang="ja-JP" sz="2400" dirty="0"/>
          </a:p>
          <a:p>
            <a:r>
              <a:rPr lang="en-US" altLang="ja-JP" sz="2400" dirty="0"/>
              <a:t>2D</a:t>
            </a:r>
            <a:r>
              <a:rPr lang="ja-JP" altLang="en-US" sz="2400" dirty="0"/>
              <a:t>は主に２つの座標系が存在します。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■デカルト座標系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右に行くほどプラス、上に行くほどプラスの座標系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■スクリーン座標系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右に行くほどプラス、</a:t>
            </a:r>
            <a:r>
              <a:rPr lang="ja-JP" altLang="en-US" sz="2400" b="1" dirty="0">
                <a:solidFill>
                  <a:srgbClr val="FF0000"/>
                </a:solidFill>
              </a:rPr>
              <a:t>下に行くほどプラス</a:t>
            </a:r>
            <a:r>
              <a:rPr lang="ja-JP" altLang="en-US" sz="2400" dirty="0"/>
              <a:t>の座標系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kumimoji="1" lang="ja-JP" altLang="en-US" sz="2400" dirty="0"/>
              <a:t>数学のグラフは主にデカルト座標系ですが、</a:t>
            </a:r>
            <a:endParaRPr kumimoji="1" lang="en-US" altLang="ja-JP" sz="2400" dirty="0"/>
          </a:p>
          <a:p>
            <a:r>
              <a:rPr lang="ja-JP" altLang="en-US" sz="2400" dirty="0"/>
              <a:t>ゲーム画面はスクリーン座標系になります。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347135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点の定義 例題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2360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デカルト座標系での点</a:t>
            </a:r>
            <a:r>
              <a:rPr lang="en-US" altLang="ja-JP" sz="2400" dirty="0"/>
              <a:t>P</a:t>
            </a:r>
            <a:r>
              <a:rPr lang="ja-JP" altLang="en-US" sz="2400" dirty="0"/>
              <a:t>の座標を求めなさい</a:t>
            </a:r>
            <a:endParaRPr kumimoji="1" lang="en-US" altLang="ja-JP" sz="2400" dirty="0"/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5C3D3DA0-FD8A-415B-8C51-8C9E3F96E277}"/>
              </a:ext>
            </a:extLst>
          </p:cNvPr>
          <p:cNvGrpSpPr/>
          <p:nvPr/>
        </p:nvGrpSpPr>
        <p:grpSpPr>
          <a:xfrm>
            <a:off x="567542" y="2556458"/>
            <a:ext cx="4278806" cy="3967992"/>
            <a:chOff x="567542" y="2398054"/>
            <a:chExt cx="4278806" cy="3967992"/>
          </a:xfrm>
        </p:grpSpPr>
        <p:grpSp>
          <p:nvGrpSpPr>
            <p:cNvPr id="70" name="グループ化 69">
              <a:extLst>
                <a:ext uri="{FF2B5EF4-FFF2-40B4-BE49-F238E27FC236}">
                  <a16:creationId xmlns:a16="http://schemas.microsoft.com/office/drawing/2014/main" id="{2F2F7E21-8155-4AAE-86BB-C834C9CFB3DF}"/>
                </a:ext>
              </a:extLst>
            </p:cNvPr>
            <p:cNvGrpSpPr/>
            <p:nvPr/>
          </p:nvGrpSpPr>
          <p:grpSpPr>
            <a:xfrm>
              <a:off x="567542" y="2398054"/>
              <a:ext cx="4278806" cy="3967992"/>
              <a:chOff x="704674" y="2060686"/>
              <a:chExt cx="4278806" cy="3967992"/>
            </a:xfrm>
          </p:grpSpPr>
          <p:grpSp>
            <p:nvGrpSpPr>
              <p:cNvPr id="72" name="グループ化 71">
                <a:extLst>
                  <a:ext uri="{FF2B5EF4-FFF2-40B4-BE49-F238E27FC236}">
                    <a16:creationId xmlns:a16="http://schemas.microsoft.com/office/drawing/2014/main" id="{3FDDEA11-0B1C-4E0E-9190-50880DC16717}"/>
                  </a:ext>
                </a:extLst>
              </p:cNvPr>
              <p:cNvGrpSpPr/>
              <p:nvPr/>
            </p:nvGrpSpPr>
            <p:grpSpPr>
              <a:xfrm>
                <a:off x="704674" y="2060686"/>
                <a:ext cx="4278806" cy="3967992"/>
                <a:chOff x="704674" y="2060686"/>
                <a:chExt cx="4278806" cy="3967992"/>
              </a:xfrm>
            </p:grpSpPr>
            <p:cxnSp>
              <p:nvCxnSpPr>
                <p:cNvPr id="79" name="直線矢印コネクタ 78">
                  <a:extLst>
                    <a:ext uri="{FF2B5EF4-FFF2-40B4-BE49-F238E27FC236}">
                      <a16:creationId xmlns:a16="http://schemas.microsoft.com/office/drawing/2014/main" id="{BEC636F2-6A52-4B0A-AD6C-411D0FE536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674" y="3976382"/>
                  <a:ext cx="4278806" cy="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線矢印コネクタ 79">
                  <a:extLst>
                    <a:ext uri="{FF2B5EF4-FFF2-40B4-BE49-F238E27FC236}">
                      <a16:creationId xmlns:a16="http://schemas.microsoft.com/office/drawing/2014/main" id="{C9956B03-A6D0-403D-8FC4-2AF5DF30EFDC}"/>
                    </a:ext>
                  </a:extLst>
                </p:cNvPr>
                <p:cNvCxnSpPr/>
                <p:nvPr/>
              </p:nvCxnSpPr>
              <p:spPr>
                <a:xfrm flipV="1">
                  <a:off x="2848692" y="2060686"/>
                  <a:ext cx="0" cy="3967992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線コネクタ 80">
                  <a:extLst>
                    <a:ext uri="{FF2B5EF4-FFF2-40B4-BE49-F238E27FC236}">
                      <a16:creationId xmlns:a16="http://schemas.microsoft.com/office/drawing/2014/main" id="{F6528544-9C6B-4F2A-B09C-FAC5E1AE7399}"/>
                    </a:ext>
                  </a:extLst>
                </p:cNvPr>
                <p:cNvCxnSpPr/>
                <p:nvPr/>
              </p:nvCxnSpPr>
              <p:spPr>
                <a:xfrm>
                  <a:off x="3038475" y="38893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線コネクタ 81">
                  <a:extLst>
                    <a:ext uri="{FF2B5EF4-FFF2-40B4-BE49-F238E27FC236}">
                      <a16:creationId xmlns:a16="http://schemas.microsoft.com/office/drawing/2014/main" id="{85A32A73-3205-49B7-8EFF-6F6C371E59F6}"/>
                    </a:ext>
                  </a:extLst>
                </p:cNvPr>
                <p:cNvCxnSpPr/>
                <p:nvPr/>
              </p:nvCxnSpPr>
              <p:spPr>
                <a:xfrm>
                  <a:off x="3190875" y="38957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線コネクタ 82">
                  <a:extLst>
                    <a:ext uri="{FF2B5EF4-FFF2-40B4-BE49-F238E27FC236}">
                      <a16:creationId xmlns:a16="http://schemas.microsoft.com/office/drawing/2014/main" id="{544D5B71-3688-4E7C-80C7-F10DA0A39129}"/>
                    </a:ext>
                  </a:extLst>
                </p:cNvPr>
                <p:cNvCxnSpPr/>
                <p:nvPr/>
              </p:nvCxnSpPr>
              <p:spPr>
                <a:xfrm>
                  <a:off x="3343275" y="38989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線コネクタ 83">
                  <a:extLst>
                    <a:ext uri="{FF2B5EF4-FFF2-40B4-BE49-F238E27FC236}">
                      <a16:creationId xmlns:a16="http://schemas.microsoft.com/office/drawing/2014/main" id="{94EAE08C-A1BD-4120-934F-9E92CA6A1EDC}"/>
                    </a:ext>
                  </a:extLst>
                </p:cNvPr>
                <p:cNvCxnSpPr/>
                <p:nvPr/>
              </p:nvCxnSpPr>
              <p:spPr>
                <a:xfrm>
                  <a:off x="3495675" y="38996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線コネクタ 84">
                  <a:extLst>
                    <a:ext uri="{FF2B5EF4-FFF2-40B4-BE49-F238E27FC236}">
                      <a16:creationId xmlns:a16="http://schemas.microsoft.com/office/drawing/2014/main" id="{9359810F-AC2F-454F-B0C3-96AAEA64D3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48075" y="38576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線コネクタ 85">
                  <a:extLst>
                    <a:ext uri="{FF2B5EF4-FFF2-40B4-BE49-F238E27FC236}">
                      <a16:creationId xmlns:a16="http://schemas.microsoft.com/office/drawing/2014/main" id="{9637339A-AB14-44F1-A9EA-E910815BF4ED}"/>
                    </a:ext>
                  </a:extLst>
                </p:cNvPr>
                <p:cNvCxnSpPr/>
                <p:nvPr/>
              </p:nvCxnSpPr>
              <p:spPr>
                <a:xfrm>
                  <a:off x="3800475" y="39068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線コネクタ 86">
                  <a:extLst>
                    <a:ext uri="{FF2B5EF4-FFF2-40B4-BE49-F238E27FC236}">
                      <a16:creationId xmlns:a16="http://schemas.microsoft.com/office/drawing/2014/main" id="{E19F3A59-A442-4FFE-8D18-F0567D568D9D}"/>
                    </a:ext>
                  </a:extLst>
                </p:cNvPr>
                <p:cNvCxnSpPr/>
                <p:nvPr/>
              </p:nvCxnSpPr>
              <p:spPr>
                <a:xfrm>
                  <a:off x="3952875" y="39115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8" name="グループ化 87">
                  <a:extLst>
                    <a:ext uri="{FF2B5EF4-FFF2-40B4-BE49-F238E27FC236}">
                      <a16:creationId xmlns:a16="http://schemas.microsoft.com/office/drawing/2014/main" id="{CB691D7B-E5B3-48D2-A8E5-799A9D89D296}"/>
                    </a:ext>
                  </a:extLst>
                </p:cNvPr>
                <p:cNvGrpSpPr/>
                <p:nvPr/>
              </p:nvGrpSpPr>
              <p:grpSpPr>
                <a:xfrm rot="10800000">
                  <a:off x="1749425" y="3844925"/>
                  <a:ext cx="914400" cy="254794"/>
                  <a:chOff x="1749425" y="3844925"/>
                  <a:chExt cx="914400" cy="254794"/>
                </a:xfrm>
              </p:grpSpPr>
              <p:cxnSp>
                <p:nvCxnSpPr>
                  <p:cNvPr id="105" name="直線コネクタ 104">
                    <a:extLst>
                      <a:ext uri="{FF2B5EF4-FFF2-40B4-BE49-F238E27FC236}">
                        <a16:creationId xmlns:a16="http://schemas.microsoft.com/office/drawing/2014/main" id="{093BF495-4A87-4456-ADE0-271D1AD58F3F}"/>
                      </a:ext>
                    </a:extLst>
                  </p:cNvPr>
                  <p:cNvCxnSpPr/>
                  <p:nvPr/>
                </p:nvCxnSpPr>
                <p:spPr>
                  <a:xfrm>
                    <a:off x="1749425" y="38766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直線コネクタ 105">
                    <a:extLst>
                      <a:ext uri="{FF2B5EF4-FFF2-40B4-BE49-F238E27FC236}">
                        <a16:creationId xmlns:a16="http://schemas.microsoft.com/office/drawing/2014/main" id="{F16C428C-F3D0-4097-8211-EB6F7679A452}"/>
                      </a:ext>
                    </a:extLst>
                  </p:cNvPr>
                  <p:cNvCxnSpPr/>
                  <p:nvPr/>
                </p:nvCxnSpPr>
                <p:spPr>
                  <a:xfrm>
                    <a:off x="1901825" y="38830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直線コネクタ 106">
                    <a:extLst>
                      <a:ext uri="{FF2B5EF4-FFF2-40B4-BE49-F238E27FC236}">
                        <a16:creationId xmlns:a16="http://schemas.microsoft.com/office/drawing/2014/main" id="{815C2229-ACC4-4C75-A630-0DB5F94D37EE}"/>
                      </a:ext>
                    </a:extLst>
                  </p:cNvPr>
                  <p:cNvCxnSpPr/>
                  <p:nvPr/>
                </p:nvCxnSpPr>
                <p:spPr>
                  <a:xfrm>
                    <a:off x="2054225" y="38862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直線コネクタ 107">
                    <a:extLst>
                      <a:ext uri="{FF2B5EF4-FFF2-40B4-BE49-F238E27FC236}">
                        <a16:creationId xmlns:a16="http://schemas.microsoft.com/office/drawing/2014/main" id="{EE6D1861-7F6F-4503-9BF6-DDCF3A1FDF09}"/>
                      </a:ext>
                    </a:extLst>
                  </p:cNvPr>
                  <p:cNvCxnSpPr/>
                  <p:nvPr/>
                </p:nvCxnSpPr>
                <p:spPr>
                  <a:xfrm>
                    <a:off x="2206625" y="38869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直線コネクタ 108">
                    <a:extLst>
                      <a:ext uri="{FF2B5EF4-FFF2-40B4-BE49-F238E27FC236}">
                        <a16:creationId xmlns:a16="http://schemas.microsoft.com/office/drawing/2014/main" id="{37119986-028A-4C0A-9E59-A8341121EB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9025" y="38449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直線コネクタ 109">
                    <a:extLst>
                      <a:ext uri="{FF2B5EF4-FFF2-40B4-BE49-F238E27FC236}">
                        <a16:creationId xmlns:a16="http://schemas.microsoft.com/office/drawing/2014/main" id="{340EF4A9-C608-41A3-86BD-3DFE08B86839}"/>
                      </a:ext>
                    </a:extLst>
                  </p:cNvPr>
                  <p:cNvCxnSpPr/>
                  <p:nvPr/>
                </p:nvCxnSpPr>
                <p:spPr>
                  <a:xfrm>
                    <a:off x="2511425" y="38941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直線コネクタ 110">
                    <a:extLst>
                      <a:ext uri="{FF2B5EF4-FFF2-40B4-BE49-F238E27FC236}">
                        <a16:creationId xmlns:a16="http://schemas.microsoft.com/office/drawing/2014/main" id="{4299CADC-D11A-4894-A6A1-601A353059EB}"/>
                      </a:ext>
                    </a:extLst>
                  </p:cNvPr>
                  <p:cNvCxnSpPr/>
                  <p:nvPr/>
                </p:nvCxnSpPr>
                <p:spPr>
                  <a:xfrm>
                    <a:off x="2663825" y="38988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9" name="グループ化 88">
                  <a:extLst>
                    <a:ext uri="{FF2B5EF4-FFF2-40B4-BE49-F238E27FC236}">
                      <a16:creationId xmlns:a16="http://schemas.microsoft.com/office/drawing/2014/main" id="{614145C1-5147-4297-9B7E-591842E4CE56}"/>
                    </a:ext>
                  </a:extLst>
                </p:cNvPr>
                <p:cNvGrpSpPr/>
                <p:nvPr/>
              </p:nvGrpSpPr>
              <p:grpSpPr>
                <a:xfrm rot="16200000">
                  <a:off x="2409825" y="321627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8" name="直線コネクタ 97">
                    <a:extLst>
                      <a:ext uri="{FF2B5EF4-FFF2-40B4-BE49-F238E27FC236}">
                        <a16:creationId xmlns:a16="http://schemas.microsoft.com/office/drawing/2014/main" id="{22046541-72AE-48E0-82B6-13EDB8D8E405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17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直線コネクタ 98">
                    <a:extLst>
                      <a:ext uri="{FF2B5EF4-FFF2-40B4-BE49-F238E27FC236}">
                        <a16:creationId xmlns:a16="http://schemas.microsoft.com/office/drawing/2014/main" id="{B8F15AFC-F9EF-4C2C-A5DD-8622572E15D4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直線コネクタ 99">
                    <a:extLst>
                      <a:ext uri="{FF2B5EF4-FFF2-40B4-BE49-F238E27FC236}">
                        <a16:creationId xmlns:a16="http://schemas.microsoft.com/office/drawing/2014/main" id="{B4138B57-4B6F-436D-B93F-1EFDFE4F57C8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4415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直線コネクタ 100">
                    <a:extLst>
                      <a:ext uri="{FF2B5EF4-FFF2-40B4-BE49-F238E27FC236}">
                        <a16:creationId xmlns:a16="http://schemas.microsoft.com/office/drawing/2014/main" id="{F0D39DEC-6040-4DCC-9338-C9FFCED85069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4257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直線コネクタ 101">
                    <a:extLst>
                      <a:ext uri="{FF2B5EF4-FFF2-40B4-BE49-F238E27FC236}">
                        <a16:creationId xmlns:a16="http://schemas.microsoft.com/office/drawing/2014/main" id="{98CB9B64-4BE6-4E64-B566-9D3B9525B7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直線コネクタ 102">
                    <a:extLst>
                      <a:ext uri="{FF2B5EF4-FFF2-40B4-BE49-F238E27FC236}">
                        <a16:creationId xmlns:a16="http://schemas.microsoft.com/office/drawing/2014/main" id="{A9DD35AE-6FAA-476D-BF16-91FC931BB612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4256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直線コネクタ 103">
                    <a:extLst>
                      <a:ext uri="{FF2B5EF4-FFF2-40B4-BE49-F238E27FC236}">
                        <a16:creationId xmlns:a16="http://schemas.microsoft.com/office/drawing/2014/main" id="{6D557416-4B31-4DD7-9AE6-F6A018706ABD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4494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0" name="グループ化 89">
                  <a:extLst>
                    <a:ext uri="{FF2B5EF4-FFF2-40B4-BE49-F238E27FC236}">
                      <a16:creationId xmlns:a16="http://schemas.microsoft.com/office/drawing/2014/main" id="{0C549522-FFE1-47FD-9720-5ABDB6332173}"/>
                    </a:ext>
                  </a:extLst>
                </p:cNvPr>
                <p:cNvGrpSpPr/>
                <p:nvPr/>
              </p:nvGrpSpPr>
              <p:grpSpPr>
                <a:xfrm rot="5400000">
                  <a:off x="2391568" y="451802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1" name="直線コネクタ 90">
                    <a:extLst>
                      <a:ext uri="{FF2B5EF4-FFF2-40B4-BE49-F238E27FC236}">
                        <a16:creationId xmlns:a16="http://schemas.microsoft.com/office/drawing/2014/main" id="{40E2A205-14AD-4BCB-B629-BBAF818E91B8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653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直線コネクタ 91">
                    <a:extLst>
                      <a:ext uri="{FF2B5EF4-FFF2-40B4-BE49-F238E27FC236}">
                        <a16:creationId xmlns:a16="http://schemas.microsoft.com/office/drawing/2014/main" id="{088B18D0-FDAC-4BF1-A800-926E15F5484D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直線コネクタ 92">
                    <a:extLst>
                      <a:ext uri="{FF2B5EF4-FFF2-40B4-BE49-F238E27FC236}">
                        <a16:creationId xmlns:a16="http://schemas.microsoft.com/office/drawing/2014/main" id="{81A931E2-7154-4A72-BC9A-28A8DC2127E1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513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直線コネクタ 93">
                    <a:extLst>
                      <a:ext uri="{FF2B5EF4-FFF2-40B4-BE49-F238E27FC236}">
                        <a16:creationId xmlns:a16="http://schemas.microsoft.com/office/drawing/2014/main" id="{739BB7D1-5EB7-4DC2-A5D3-4A655E5211BE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520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直線コネクタ 94">
                    <a:extLst>
                      <a:ext uri="{FF2B5EF4-FFF2-40B4-BE49-F238E27FC236}">
                        <a16:creationId xmlns:a16="http://schemas.microsoft.com/office/drawing/2014/main" id="{5E6E720E-5ACA-4D7F-9082-A67133C1E2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直線コネクタ 95">
                    <a:extLst>
                      <a:ext uri="{FF2B5EF4-FFF2-40B4-BE49-F238E27FC236}">
                        <a16:creationId xmlns:a16="http://schemas.microsoft.com/office/drawing/2014/main" id="{A9BC68B8-98F3-47CD-B271-1C5AC7EF9AAA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592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直線コネクタ 96">
                    <a:extLst>
                      <a:ext uri="{FF2B5EF4-FFF2-40B4-BE49-F238E27FC236}">
                        <a16:creationId xmlns:a16="http://schemas.microsoft.com/office/drawing/2014/main" id="{276AACA3-D5AD-496C-A1DB-DF540A72D267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639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3" name="楕円 72">
                <a:extLst>
                  <a:ext uri="{FF2B5EF4-FFF2-40B4-BE49-F238E27FC236}">
                    <a16:creationId xmlns:a16="http://schemas.microsoft.com/office/drawing/2014/main" id="{667DE09F-42BD-40F5-8228-CFA9A124BCF1}"/>
                  </a:ext>
                </a:extLst>
              </p:cNvPr>
              <p:cNvSpPr/>
              <p:nvPr/>
            </p:nvSpPr>
            <p:spPr>
              <a:xfrm>
                <a:off x="3316960" y="332081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1D4E2A31-C621-47DC-B5EB-2A4BB7DAA6D6}"/>
                  </a:ext>
                </a:extLst>
              </p:cNvPr>
              <p:cNvCxnSpPr>
                <a:cxnSpLocks/>
                <a:endCxn id="73" idx="2"/>
              </p:cNvCxnSpPr>
              <p:nvPr/>
            </p:nvCxnSpPr>
            <p:spPr>
              <a:xfrm>
                <a:off x="2934096" y="3343670"/>
                <a:ext cx="382864" cy="1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コネクタ 75">
                <a:extLst>
                  <a:ext uri="{FF2B5EF4-FFF2-40B4-BE49-F238E27FC236}">
                    <a16:creationId xmlns:a16="http://schemas.microsoft.com/office/drawing/2014/main" id="{99193A69-616D-4E1B-8A2E-378B12E53C0C}"/>
                  </a:ext>
                </a:extLst>
              </p:cNvPr>
              <p:cNvCxnSpPr>
                <a:cxnSpLocks/>
                <a:endCxn id="73" idx="4"/>
              </p:cNvCxnSpPr>
              <p:nvPr/>
            </p:nvCxnSpPr>
            <p:spPr>
              <a:xfrm flipV="1">
                <a:off x="3339820" y="3366530"/>
                <a:ext cx="0" cy="52858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/>
                <p:nvPr/>
              </p:nvSpPr>
              <p:spPr>
                <a:xfrm>
                  <a:off x="3137403" y="3257964"/>
                  <a:ext cx="120366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(?, ?)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7403" y="3257964"/>
                  <a:ext cx="1203663" cy="461665"/>
                </a:xfrm>
                <a:prstGeom prst="rect">
                  <a:avLst/>
                </a:prstGeom>
                <a:blipFill>
                  <a:blip r:embed="rId2"/>
                  <a:stretch>
                    <a:fillRect r="-508" b="-157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5234C9B6-E85B-467C-B65C-7EF46F2EDC0F}"/>
                  </a:ext>
                </a:extLst>
              </p:cNvPr>
              <p:cNvSpPr txBox="1"/>
              <p:nvPr/>
            </p:nvSpPr>
            <p:spPr>
              <a:xfrm>
                <a:off x="5098017" y="2404340"/>
                <a:ext cx="6340197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000" b="1" dirty="0">
                    <a:solidFill>
                      <a:srgbClr val="FF0000"/>
                    </a:solidFill>
                  </a:rPr>
                  <a:t>■回答</a:t>
                </a:r>
                <a:endParaRPr kumimoji="1" lang="en-US" altLang="ja-JP" sz="20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000" dirty="0"/>
                  <a:t>デカルト座標系なので、</a:t>
                </a:r>
                <a:endParaRPr kumimoji="1" lang="en-US" altLang="ja-JP" sz="2000" dirty="0"/>
              </a:p>
              <a:p>
                <a:r>
                  <a:rPr kumimoji="1" lang="ja-JP" altLang="en-US" sz="2000" dirty="0"/>
                  <a:t>右に行くほどプラス、上に行くほどプラスとなる。</a:t>
                </a:r>
                <a:endParaRPr kumimoji="1" lang="en-US" altLang="ja-JP" sz="2000" dirty="0"/>
              </a:p>
              <a:p>
                <a:endParaRPr lang="en-US" altLang="ja-JP" sz="2000" dirty="0"/>
              </a:p>
              <a:p>
                <a:r>
                  <a:rPr kumimoji="1" lang="ja-JP" altLang="en-US" sz="2000" dirty="0"/>
                  <a:t>点Ｐは右に３メモリ、上に４メモ</a:t>
                </a:r>
                <a:r>
                  <a:rPr lang="ja-JP" altLang="en-US" sz="2000" dirty="0"/>
                  <a:t>リの位置になるので</a:t>
                </a:r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ja-JP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(3, 4)</m:t>
                    </m:r>
                  </m:oMath>
                </a14:m>
                <a:r>
                  <a:rPr kumimoji="1" lang="ja-JP" altLang="en-US" sz="2000" dirty="0"/>
                  <a:t>となる。</a:t>
                </a:r>
                <a:endParaRPr kumimoji="1" lang="en-US" altLang="ja-JP" sz="2000" dirty="0"/>
              </a:p>
              <a:p>
                <a:endParaRPr kumimoji="1" lang="en-US" altLang="ja-JP" sz="2000" dirty="0"/>
              </a:p>
            </p:txBody>
          </p:sp>
        </mc:Choice>
        <mc:Fallback xmlns="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5234C9B6-E85B-467C-B65C-7EF46F2ED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017" y="2404340"/>
                <a:ext cx="6340197" cy="2246769"/>
              </a:xfrm>
              <a:prstGeom prst="rect">
                <a:avLst/>
              </a:prstGeom>
              <a:blipFill>
                <a:blip r:embed="rId3"/>
                <a:stretch>
                  <a:fillRect l="-962" t="-1355" r="-3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8621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点の定義 例題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65437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スクリーン座標系での点</a:t>
            </a:r>
            <a:r>
              <a:rPr lang="en-US" altLang="ja-JP" sz="2400" dirty="0"/>
              <a:t>P</a:t>
            </a:r>
            <a:r>
              <a:rPr lang="ja-JP" altLang="en-US" sz="2400" dirty="0"/>
              <a:t>の座標を求めなさい</a:t>
            </a:r>
            <a:endParaRPr kumimoji="1" lang="en-US" altLang="ja-JP" sz="2400" dirty="0"/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5C3D3DA0-FD8A-415B-8C51-8C9E3F96E277}"/>
              </a:ext>
            </a:extLst>
          </p:cNvPr>
          <p:cNvGrpSpPr/>
          <p:nvPr/>
        </p:nvGrpSpPr>
        <p:grpSpPr>
          <a:xfrm>
            <a:off x="567542" y="2556458"/>
            <a:ext cx="4278806" cy="3967992"/>
            <a:chOff x="567542" y="2398054"/>
            <a:chExt cx="4278806" cy="3967992"/>
          </a:xfrm>
        </p:grpSpPr>
        <p:grpSp>
          <p:nvGrpSpPr>
            <p:cNvPr id="70" name="グループ化 69">
              <a:extLst>
                <a:ext uri="{FF2B5EF4-FFF2-40B4-BE49-F238E27FC236}">
                  <a16:creationId xmlns:a16="http://schemas.microsoft.com/office/drawing/2014/main" id="{2F2F7E21-8155-4AAE-86BB-C834C9CFB3DF}"/>
                </a:ext>
              </a:extLst>
            </p:cNvPr>
            <p:cNvGrpSpPr/>
            <p:nvPr/>
          </p:nvGrpSpPr>
          <p:grpSpPr>
            <a:xfrm>
              <a:off x="567542" y="2398054"/>
              <a:ext cx="4278806" cy="3967992"/>
              <a:chOff x="704674" y="2060686"/>
              <a:chExt cx="4278806" cy="3967992"/>
            </a:xfrm>
          </p:grpSpPr>
          <p:grpSp>
            <p:nvGrpSpPr>
              <p:cNvPr id="72" name="グループ化 71">
                <a:extLst>
                  <a:ext uri="{FF2B5EF4-FFF2-40B4-BE49-F238E27FC236}">
                    <a16:creationId xmlns:a16="http://schemas.microsoft.com/office/drawing/2014/main" id="{3FDDEA11-0B1C-4E0E-9190-50880DC16717}"/>
                  </a:ext>
                </a:extLst>
              </p:cNvPr>
              <p:cNvGrpSpPr/>
              <p:nvPr/>
            </p:nvGrpSpPr>
            <p:grpSpPr>
              <a:xfrm>
                <a:off x="704674" y="2060686"/>
                <a:ext cx="4278806" cy="3967992"/>
                <a:chOff x="704674" y="2060686"/>
                <a:chExt cx="4278806" cy="3967992"/>
              </a:xfrm>
            </p:grpSpPr>
            <p:cxnSp>
              <p:nvCxnSpPr>
                <p:cNvPr id="79" name="直線矢印コネクタ 78">
                  <a:extLst>
                    <a:ext uri="{FF2B5EF4-FFF2-40B4-BE49-F238E27FC236}">
                      <a16:creationId xmlns:a16="http://schemas.microsoft.com/office/drawing/2014/main" id="{BEC636F2-6A52-4B0A-AD6C-411D0FE536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674" y="3976382"/>
                  <a:ext cx="4278806" cy="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線矢印コネクタ 79">
                  <a:extLst>
                    <a:ext uri="{FF2B5EF4-FFF2-40B4-BE49-F238E27FC236}">
                      <a16:creationId xmlns:a16="http://schemas.microsoft.com/office/drawing/2014/main" id="{C9956B03-A6D0-403D-8FC4-2AF5DF30EFDC}"/>
                    </a:ext>
                  </a:extLst>
                </p:cNvPr>
                <p:cNvCxnSpPr/>
                <p:nvPr/>
              </p:nvCxnSpPr>
              <p:spPr>
                <a:xfrm flipV="1">
                  <a:off x="2848692" y="2060686"/>
                  <a:ext cx="0" cy="3967992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線コネクタ 80">
                  <a:extLst>
                    <a:ext uri="{FF2B5EF4-FFF2-40B4-BE49-F238E27FC236}">
                      <a16:creationId xmlns:a16="http://schemas.microsoft.com/office/drawing/2014/main" id="{F6528544-9C6B-4F2A-B09C-FAC5E1AE7399}"/>
                    </a:ext>
                  </a:extLst>
                </p:cNvPr>
                <p:cNvCxnSpPr/>
                <p:nvPr/>
              </p:nvCxnSpPr>
              <p:spPr>
                <a:xfrm>
                  <a:off x="3038475" y="38893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線コネクタ 81">
                  <a:extLst>
                    <a:ext uri="{FF2B5EF4-FFF2-40B4-BE49-F238E27FC236}">
                      <a16:creationId xmlns:a16="http://schemas.microsoft.com/office/drawing/2014/main" id="{85A32A73-3205-49B7-8EFF-6F6C371E59F6}"/>
                    </a:ext>
                  </a:extLst>
                </p:cNvPr>
                <p:cNvCxnSpPr/>
                <p:nvPr/>
              </p:nvCxnSpPr>
              <p:spPr>
                <a:xfrm>
                  <a:off x="3190875" y="38957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線コネクタ 82">
                  <a:extLst>
                    <a:ext uri="{FF2B5EF4-FFF2-40B4-BE49-F238E27FC236}">
                      <a16:creationId xmlns:a16="http://schemas.microsoft.com/office/drawing/2014/main" id="{544D5B71-3688-4E7C-80C7-F10DA0A39129}"/>
                    </a:ext>
                  </a:extLst>
                </p:cNvPr>
                <p:cNvCxnSpPr/>
                <p:nvPr/>
              </p:nvCxnSpPr>
              <p:spPr>
                <a:xfrm>
                  <a:off x="3343275" y="38989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線コネクタ 83">
                  <a:extLst>
                    <a:ext uri="{FF2B5EF4-FFF2-40B4-BE49-F238E27FC236}">
                      <a16:creationId xmlns:a16="http://schemas.microsoft.com/office/drawing/2014/main" id="{94EAE08C-A1BD-4120-934F-9E92CA6A1EDC}"/>
                    </a:ext>
                  </a:extLst>
                </p:cNvPr>
                <p:cNvCxnSpPr/>
                <p:nvPr/>
              </p:nvCxnSpPr>
              <p:spPr>
                <a:xfrm>
                  <a:off x="3495675" y="38996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線コネクタ 84">
                  <a:extLst>
                    <a:ext uri="{FF2B5EF4-FFF2-40B4-BE49-F238E27FC236}">
                      <a16:creationId xmlns:a16="http://schemas.microsoft.com/office/drawing/2014/main" id="{9359810F-AC2F-454F-B0C3-96AAEA64D3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48075" y="38576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線コネクタ 85">
                  <a:extLst>
                    <a:ext uri="{FF2B5EF4-FFF2-40B4-BE49-F238E27FC236}">
                      <a16:creationId xmlns:a16="http://schemas.microsoft.com/office/drawing/2014/main" id="{9637339A-AB14-44F1-A9EA-E910815BF4ED}"/>
                    </a:ext>
                  </a:extLst>
                </p:cNvPr>
                <p:cNvCxnSpPr/>
                <p:nvPr/>
              </p:nvCxnSpPr>
              <p:spPr>
                <a:xfrm>
                  <a:off x="3800475" y="39068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線コネクタ 86">
                  <a:extLst>
                    <a:ext uri="{FF2B5EF4-FFF2-40B4-BE49-F238E27FC236}">
                      <a16:creationId xmlns:a16="http://schemas.microsoft.com/office/drawing/2014/main" id="{E19F3A59-A442-4FFE-8D18-F0567D568D9D}"/>
                    </a:ext>
                  </a:extLst>
                </p:cNvPr>
                <p:cNvCxnSpPr/>
                <p:nvPr/>
              </p:nvCxnSpPr>
              <p:spPr>
                <a:xfrm>
                  <a:off x="3952875" y="39115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8" name="グループ化 87">
                  <a:extLst>
                    <a:ext uri="{FF2B5EF4-FFF2-40B4-BE49-F238E27FC236}">
                      <a16:creationId xmlns:a16="http://schemas.microsoft.com/office/drawing/2014/main" id="{CB691D7B-E5B3-48D2-A8E5-799A9D89D296}"/>
                    </a:ext>
                  </a:extLst>
                </p:cNvPr>
                <p:cNvGrpSpPr/>
                <p:nvPr/>
              </p:nvGrpSpPr>
              <p:grpSpPr>
                <a:xfrm rot="10800000">
                  <a:off x="1749425" y="3844925"/>
                  <a:ext cx="914400" cy="254794"/>
                  <a:chOff x="1749425" y="3844925"/>
                  <a:chExt cx="914400" cy="254794"/>
                </a:xfrm>
              </p:grpSpPr>
              <p:cxnSp>
                <p:nvCxnSpPr>
                  <p:cNvPr id="105" name="直線コネクタ 104">
                    <a:extLst>
                      <a:ext uri="{FF2B5EF4-FFF2-40B4-BE49-F238E27FC236}">
                        <a16:creationId xmlns:a16="http://schemas.microsoft.com/office/drawing/2014/main" id="{093BF495-4A87-4456-ADE0-271D1AD58F3F}"/>
                      </a:ext>
                    </a:extLst>
                  </p:cNvPr>
                  <p:cNvCxnSpPr/>
                  <p:nvPr/>
                </p:nvCxnSpPr>
                <p:spPr>
                  <a:xfrm>
                    <a:off x="1749425" y="38766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直線コネクタ 105">
                    <a:extLst>
                      <a:ext uri="{FF2B5EF4-FFF2-40B4-BE49-F238E27FC236}">
                        <a16:creationId xmlns:a16="http://schemas.microsoft.com/office/drawing/2014/main" id="{F16C428C-F3D0-4097-8211-EB6F7679A452}"/>
                      </a:ext>
                    </a:extLst>
                  </p:cNvPr>
                  <p:cNvCxnSpPr/>
                  <p:nvPr/>
                </p:nvCxnSpPr>
                <p:spPr>
                  <a:xfrm>
                    <a:off x="1901825" y="38830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直線コネクタ 106">
                    <a:extLst>
                      <a:ext uri="{FF2B5EF4-FFF2-40B4-BE49-F238E27FC236}">
                        <a16:creationId xmlns:a16="http://schemas.microsoft.com/office/drawing/2014/main" id="{815C2229-ACC4-4C75-A630-0DB5F94D37EE}"/>
                      </a:ext>
                    </a:extLst>
                  </p:cNvPr>
                  <p:cNvCxnSpPr/>
                  <p:nvPr/>
                </p:nvCxnSpPr>
                <p:spPr>
                  <a:xfrm>
                    <a:off x="2054225" y="38862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直線コネクタ 107">
                    <a:extLst>
                      <a:ext uri="{FF2B5EF4-FFF2-40B4-BE49-F238E27FC236}">
                        <a16:creationId xmlns:a16="http://schemas.microsoft.com/office/drawing/2014/main" id="{EE6D1861-7F6F-4503-9BF6-DDCF3A1FDF09}"/>
                      </a:ext>
                    </a:extLst>
                  </p:cNvPr>
                  <p:cNvCxnSpPr/>
                  <p:nvPr/>
                </p:nvCxnSpPr>
                <p:spPr>
                  <a:xfrm>
                    <a:off x="2206625" y="38869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直線コネクタ 108">
                    <a:extLst>
                      <a:ext uri="{FF2B5EF4-FFF2-40B4-BE49-F238E27FC236}">
                        <a16:creationId xmlns:a16="http://schemas.microsoft.com/office/drawing/2014/main" id="{37119986-028A-4C0A-9E59-A8341121EB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9025" y="38449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直線コネクタ 109">
                    <a:extLst>
                      <a:ext uri="{FF2B5EF4-FFF2-40B4-BE49-F238E27FC236}">
                        <a16:creationId xmlns:a16="http://schemas.microsoft.com/office/drawing/2014/main" id="{340EF4A9-C608-41A3-86BD-3DFE08B86839}"/>
                      </a:ext>
                    </a:extLst>
                  </p:cNvPr>
                  <p:cNvCxnSpPr/>
                  <p:nvPr/>
                </p:nvCxnSpPr>
                <p:spPr>
                  <a:xfrm>
                    <a:off x="2511425" y="38941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直線コネクタ 110">
                    <a:extLst>
                      <a:ext uri="{FF2B5EF4-FFF2-40B4-BE49-F238E27FC236}">
                        <a16:creationId xmlns:a16="http://schemas.microsoft.com/office/drawing/2014/main" id="{4299CADC-D11A-4894-A6A1-601A353059EB}"/>
                      </a:ext>
                    </a:extLst>
                  </p:cNvPr>
                  <p:cNvCxnSpPr/>
                  <p:nvPr/>
                </p:nvCxnSpPr>
                <p:spPr>
                  <a:xfrm>
                    <a:off x="2663825" y="38988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9" name="グループ化 88">
                  <a:extLst>
                    <a:ext uri="{FF2B5EF4-FFF2-40B4-BE49-F238E27FC236}">
                      <a16:creationId xmlns:a16="http://schemas.microsoft.com/office/drawing/2014/main" id="{614145C1-5147-4297-9B7E-591842E4CE56}"/>
                    </a:ext>
                  </a:extLst>
                </p:cNvPr>
                <p:cNvGrpSpPr/>
                <p:nvPr/>
              </p:nvGrpSpPr>
              <p:grpSpPr>
                <a:xfrm rot="16200000">
                  <a:off x="2409825" y="321627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8" name="直線コネクタ 97">
                    <a:extLst>
                      <a:ext uri="{FF2B5EF4-FFF2-40B4-BE49-F238E27FC236}">
                        <a16:creationId xmlns:a16="http://schemas.microsoft.com/office/drawing/2014/main" id="{22046541-72AE-48E0-82B6-13EDB8D8E405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17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直線コネクタ 98">
                    <a:extLst>
                      <a:ext uri="{FF2B5EF4-FFF2-40B4-BE49-F238E27FC236}">
                        <a16:creationId xmlns:a16="http://schemas.microsoft.com/office/drawing/2014/main" id="{B8F15AFC-F9EF-4C2C-A5DD-8622572E15D4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直線コネクタ 99">
                    <a:extLst>
                      <a:ext uri="{FF2B5EF4-FFF2-40B4-BE49-F238E27FC236}">
                        <a16:creationId xmlns:a16="http://schemas.microsoft.com/office/drawing/2014/main" id="{B4138B57-4B6F-436D-B93F-1EFDFE4F57C8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4415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直線コネクタ 100">
                    <a:extLst>
                      <a:ext uri="{FF2B5EF4-FFF2-40B4-BE49-F238E27FC236}">
                        <a16:creationId xmlns:a16="http://schemas.microsoft.com/office/drawing/2014/main" id="{F0D39DEC-6040-4DCC-9338-C9FFCED85069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4257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直線コネクタ 101">
                    <a:extLst>
                      <a:ext uri="{FF2B5EF4-FFF2-40B4-BE49-F238E27FC236}">
                        <a16:creationId xmlns:a16="http://schemas.microsoft.com/office/drawing/2014/main" id="{98CB9B64-4BE6-4E64-B566-9D3B9525B7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直線コネクタ 102">
                    <a:extLst>
                      <a:ext uri="{FF2B5EF4-FFF2-40B4-BE49-F238E27FC236}">
                        <a16:creationId xmlns:a16="http://schemas.microsoft.com/office/drawing/2014/main" id="{A9DD35AE-6FAA-476D-BF16-91FC931BB612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4256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直線コネクタ 103">
                    <a:extLst>
                      <a:ext uri="{FF2B5EF4-FFF2-40B4-BE49-F238E27FC236}">
                        <a16:creationId xmlns:a16="http://schemas.microsoft.com/office/drawing/2014/main" id="{6D557416-4B31-4DD7-9AE6-F6A018706ABD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4494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0" name="グループ化 89">
                  <a:extLst>
                    <a:ext uri="{FF2B5EF4-FFF2-40B4-BE49-F238E27FC236}">
                      <a16:creationId xmlns:a16="http://schemas.microsoft.com/office/drawing/2014/main" id="{0C549522-FFE1-47FD-9720-5ABDB6332173}"/>
                    </a:ext>
                  </a:extLst>
                </p:cNvPr>
                <p:cNvGrpSpPr/>
                <p:nvPr/>
              </p:nvGrpSpPr>
              <p:grpSpPr>
                <a:xfrm rot="5400000">
                  <a:off x="2391568" y="451802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1" name="直線コネクタ 90">
                    <a:extLst>
                      <a:ext uri="{FF2B5EF4-FFF2-40B4-BE49-F238E27FC236}">
                        <a16:creationId xmlns:a16="http://schemas.microsoft.com/office/drawing/2014/main" id="{40E2A205-14AD-4BCB-B629-BBAF818E91B8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653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直線コネクタ 91">
                    <a:extLst>
                      <a:ext uri="{FF2B5EF4-FFF2-40B4-BE49-F238E27FC236}">
                        <a16:creationId xmlns:a16="http://schemas.microsoft.com/office/drawing/2014/main" id="{088B18D0-FDAC-4BF1-A800-926E15F5484D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直線コネクタ 92">
                    <a:extLst>
                      <a:ext uri="{FF2B5EF4-FFF2-40B4-BE49-F238E27FC236}">
                        <a16:creationId xmlns:a16="http://schemas.microsoft.com/office/drawing/2014/main" id="{81A931E2-7154-4A72-BC9A-28A8DC2127E1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513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直線コネクタ 93">
                    <a:extLst>
                      <a:ext uri="{FF2B5EF4-FFF2-40B4-BE49-F238E27FC236}">
                        <a16:creationId xmlns:a16="http://schemas.microsoft.com/office/drawing/2014/main" id="{739BB7D1-5EB7-4DC2-A5D3-4A655E5211BE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520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直線コネクタ 94">
                    <a:extLst>
                      <a:ext uri="{FF2B5EF4-FFF2-40B4-BE49-F238E27FC236}">
                        <a16:creationId xmlns:a16="http://schemas.microsoft.com/office/drawing/2014/main" id="{5E6E720E-5ACA-4D7F-9082-A67133C1E2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直線コネクタ 95">
                    <a:extLst>
                      <a:ext uri="{FF2B5EF4-FFF2-40B4-BE49-F238E27FC236}">
                        <a16:creationId xmlns:a16="http://schemas.microsoft.com/office/drawing/2014/main" id="{A9BC68B8-98F3-47CD-B271-1C5AC7EF9AAA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592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直線コネクタ 96">
                    <a:extLst>
                      <a:ext uri="{FF2B5EF4-FFF2-40B4-BE49-F238E27FC236}">
                        <a16:creationId xmlns:a16="http://schemas.microsoft.com/office/drawing/2014/main" id="{276AACA3-D5AD-496C-A1DB-DF540A72D267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639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3" name="楕円 72">
                <a:extLst>
                  <a:ext uri="{FF2B5EF4-FFF2-40B4-BE49-F238E27FC236}">
                    <a16:creationId xmlns:a16="http://schemas.microsoft.com/office/drawing/2014/main" id="{667DE09F-42BD-40F5-8228-CFA9A124BCF1}"/>
                  </a:ext>
                </a:extLst>
              </p:cNvPr>
              <p:cNvSpPr/>
              <p:nvPr/>
            </p:nvSpPr>
            <p:spPr>
              <a:xfrm>
                <a:off x="3316960" y="3320811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1D4E2A31-C621-47DC-B5EB-2A4BB7DAA6D6}"/>
                  </a:ext>
                </a:extLst>
              </p:cNvPr>
              <p:cNvCxnSpPr>
                <a:cxnSpLocks/>
                <a:endCxn id="73" idx="2"/>
              </p:cNvCxnSpPr>
              <p:nvPr/>
            </p:nvCxnSpPr>
            <p:spPr>
              <a:xfrm>
                <a:off x="2934096" y="3343670"/>
                <a:ext cx="382864" cy="1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コネクタ 75">
                <a:extLst>
                  <a:ext uri="{FF2B5EF4-FFF2-40B4-BE49-F238E27FC236}">
                    <a16:creationId xmlns:a16="http://schemas.microsoft.com/office/drawing/2014/main" id="{99193A69-616D-4E1B-8A2E-378B12E53C0C}"/>
                  </a:ext>
                </a:extLst>
              </p:cNvPr>
              <p:cNvCxnSpPr>
                <a:cxnSpLocks/>
                <a:endCxn id="73" idx="4"/>
              </p:cNvCxnSpPr>
              <p:nvPr/>
            </p:nvCxnSpPr>
            <p:spPr>
              <a:xfrm flipV="1">
                <a:off x="3339820" y="3366530"/>
                <a:ext cx="0" cy="528584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/>
                <p:nvPr/>
              </p:nvSpPr>
              <p:spPr>
                <a:xfrm>
                  <a:off x="3137403" y="3257964"/>
                  <a:ext cx="120366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kumimoji="1" lang="en-US" altLang="ja-JP" sz="2400" b="0" i="1" smtClean="0">
                            <a:latin typeface="Cambria Math" panose="02040503050406030204" pitchFamily="18" charset="0"/>
                          </a:rPr>
                          <m:t>(?, ?)</m:t>
                        </m:r>
                      </m:oMath>
                    </m:oMathPara>
                  </a14:m>
                  <a:endParaRPr kumimoji="1" lang="en-US" altLang="ja-JP" sz="2400" dirty="0"/>
                </a:p>
              </p:txBody>
            </p:sp>
          </mc:Choice>
          <mc:Fallback xmlns="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37403" y="3257964"/>
                  <a:ext cx="1203663" cy="461665"/>
                </a:xfrm>
                <a:prstGeom prst="rect">
                  <a:avLst/>
                </a:prstGeom>
                <a:blipFill>
                  <a:blip r:embed="rId2"/>
                  <a:stretch>
                    <a:fillRect r="-508" b="-1578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5234C9B6-E85B-467C-B65C-7EF46F2EDC0F}"/>
                  </a:ext>
                </a:extLst>
              </p:cNvPr>
              <p:cNvSpPr txBox="1"/>
              <p:nvPr/>
            </p:nvSpPr>
            <p:spPr>
              <a:xfrm>
                <a:off x="5098017" y="2404340"/>
                <a:ext cx="6340197" cy="255454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000" b="1" dirty="0">
                    <a:solidFill>
                      <a:srgbClr val="FF0000"/>
                    </a:solidFill>
                  </a:rPr>
                  <a:t>■回答</a:t>
                </a:r>
                <a:endParaRPr kumimoji="1" lang="en-US" altLang="ja-JP" sz="2000" b="1" dirty="0">
                  <a:solidFill>
                    <a:srgbClr val="FF0000"/>
                  </a:solidFill>
                </a:endParaRPr>
              </a:p>
              <a:p>
                <a:r>
                  <a:rPr kumimoji="1" lang="ja-JP" altLang="en-US" sz="2000" dirty="0"/>
                  <a:t>スクリーン座標系なので、</a:t>
                </a:r>
                <a:endParaRPr kumimoji="1" lang="en-US" altLang="ja-JP" sz="2000" dirty="0"/>
              </a:p>
              <a:p>
                <a:r>
                  <a:rPr kumimoji="1" lang="ja-JP" altLang="en-US" sz="2000" dirty="0"/>
                  <a:t>右に行くほどプラス、下に行くほどプラスとなる。</a:t>
                </a:r>
                <a:endParaRPr kumimoji="1" lang="en-US" altLang="ja-JP" sz="2000" dirty="0"/>
              </a:p>
              <a:p>
                <a:endParaRPr lang="en-US" altLang="ja-JP" sz="2000" dirty="0"/>
              </a:p>
              <a:p>
                <a:r>
                  <a:rPr kumimoji="1" lang="ja-JP" altLang="en-US" sz="2000" dirty="0"/>
                  <a:t>点Ｐは右に３メモリ、上に４メモ</a:t>
                </a:r>
                <a:r>
                  <a:rPr lang="ja-JP" altLang="en-US" sz="2000" dirty="0"/>
                  <a:t>リの位置になるので</a:t>
                </a:r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kumimoji="1" lang="en-US" altLang="ja-JP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(3, −4)</m:t>
                    </m:r>
                  </m:oMath>
                </a14:m>
                <a:r>
                  <a:rPr kumimoji="1" lang="ja-JP" altLang="en-US" sz="2000" dirty="0"/>
                  <a:t>となる。</a:t>
                </a:r>
                <a:endParaRPr kumimoji="1" lang="en-US" altLang="ja-JP" sz="2000" dirty="0"/>
              </a:p>
              <a:p>
                <a:endParaRPr kumimoji="1" lang="en-US" altLang="ja-JP" sz="2000" dirty="0"/>
              </a:p>
              <a:p>
                <a:r>
                  <a:rPr kumimoji="1" lang="en-US" altLang="ja-JP" sz="2000" b="1" dirty="0">
                    <a:solidFill>
                      <a:srgbClr val="FF0000"/>
                    </a:solidFill>
                  </a:rPr>
                  <a:t>※</a:t>
                </a:r>
                <a:r>
                  <a:rPr kumimoji="1" lang="ja-JP" altLang="en-US" sz="2000" b="1" dirty="0">
                    <a:solidFill>
                      <a:srgbClr val="FF0000"/>
                    </a:solidFill>
                  </a:rPr>
                  <a:t>プラスの方向の逆はマイナスとなります</a:t>
                </a:r>
                <a:endParaRPr kumimoji="1" lang="en-US" altLang="ja-JP" sz="20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テキスト ボックス 47">
                <a:extLst>
                  <a:ext uri="{FF2B5EF4-FFF2-40B4-BE49-F238E27FC236}">
                    <a16:creationId xmlns:a16="http://schemas.microsoft.com/office/drawing/2014/main" id="{5234C9B6-E85B-467C-B65C-7EF46F2ED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8017" y="2404340"/>
                <a:ext cx="6340197" cy="2554545"/>
              </a:xfrm>
              <a:prstGeom prst="rect">
                <a:avLst/>
              </a:prstGeom>
              <a:blipFill>
                <a:blip r:embed="rId3"/>
                <a:stretch>
                  <a:fillRect l="-962" t="-1193" r="-385" b="-33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20197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点の定義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366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デカルト座標系で以下の点</a:t>
            </a:r>
            <a:r>
              <a:rPr lang="en-US" altLang="ja-JP" sz="2400" dirty="0"/>
              <a:t>A</a:t>
            </a:r>
            <a:r>
              <a:rPr lang="ja-JP" altLang="en-US" sz="2400" dirty="0"/>
              <a:t>～</a:t>
            </a:r>
            <a:r>
              <a:rPr lang="en-US" altLang="ja-JP" sz="2400" dirty="0"/>
              <a:t>D</a:t>
            </a:r>
            <a:r>
              <a:rPr lang="ja-JP" altLang="en-US" sz="2400" dirty="0"/>
              <a:t>の座標を求めなさい</a:t>
            </a:r>
            <a:endParaRPr kumimoji="1" lang="en-US" altLang="ja-JP" sz="2400" dirty="0"/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5C3D3DA0-FD8A-415B-8C51-8C9E3F96E277}"/>
              </a:ext>
            </a:extLst>
          </p:cNvPr>
          <p:cNvGrpSpPr/>
          <p:nvPr/>
        </p:nvGrpSpPr>
        <p:grpSpPr>
          <a:xfrm>
            <a:off x="567542" y="2556458"/>
            <a:ext cx="4278806" cy="3967992"/>
            <a:chOff x="567542" y="2398054"/>
            <a:chExt cx="4278806" cy="3967992"/>
          </a:xfrm>
        </p:grpSpPr>
        <p:grpSp>
          <p:nvGrpSpPr>
            <p:cNvPr id="70" name="グループ化 69">
              <a:extLst>
                <a:ext uri="{FF2B5EF4-FFF2-40B4-BE49-F238E27FC236}">
                  <a16:creationId xmlns:a16="http://schemas.microsoft.com/office/drawing/2014/main" id="{2F2F7E21-8155-4AAE-86BB-C834C9CFB3DF}"/>
                </a:ext>
              </a:extLst>
            </p:cNvPr>
            <p:cNvGrpSpPr/>
            <p:nvPr/>
          </p:nvGrpSpPr>
          <p:grpSpPr>
            <a:xfrm>
              <a:off x="567542" y="2398054"/>
              <a:ext cx="4278806" cy="3967992"/>
              <a:chOff x="704674" y="2060686"/>
              <a:chExt cx="4278806" cy="3967992"/>
            </a:xfrm>
          </p:grpSpPr>
          <p:grpSp>
            <p:nvGrpSpPr>
              <p:cNvPr id="72" name="グループ化 71">
                <a:extLst>
                  <a:ext uri="{FF2B5EF4-FFF2-40B4-BE49-F238E27FC236}">
                    <a16:creationId xmlns:a16="http://schemas.microsoft.com/office/drawing/2014/main" id="{3FDDEA11-0B1C-4E0E-9190-50880DC16717}"/>
                  </a:ext>
                </a:extLst>
              </p:cNvPr>
              <p:cNvGrpSpPr/>
              <p:nvPr/>
            </p:nvGrpSpPr>
            <p:grpSpPr>
              <a:xfrm>
                <a:off x="704674" y="2060686"/>
                <a:ext cx="4278806" cy="3967992"/>
                <a:chOff x="704674" y="2060686"/>
                <a:chExt cx="4278806" cy="3967992"/>
              </a:xfrm>
            </p:grpSpPr>
            <p:cxnSp>
              <p:nvCxnSpPr>
                <p:cNvPr id="79" name="直線矢印コネクタ 78">
                  <a:extLst>
                    <a:ext uri="{FF2B5EF4-FFF2-40B4-BE49-F238E27FC236}">
                      <a16:creationId xmlns:a16="http://schemas.microsoft.com/office/drawing/2014/main" id="{BEC636F2-6A52-4B0A-AD6C-411D0FE536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674" y="3976382"/>
                  <a:ext cx="4278806" cy="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線矢印コネクタ 79">
                  <a:extLst>
                    <a:ext uri="{FF2B5EF4-FFF2-40B4-BE49-F238E27FC236}">
                      <a16:creationId xmlns:a16="http://schemas.microsoft.com/office/drawing/2014/main" id="{C9956B03-A6D0-403D-8FC4-2AF5DF30EFDC}"/>
                    </a:ext>
                  </a:extLst>
                </p:cNvPr>
                <p:cNvCxnSpPr/>
                <p:nvPr/>
              </p:nvCxnSpPr>
              <p:spPr>
                <a:xfrm flipV="1">
                  <a:off x="2848692" y="2060686"/>
                  <a:ext cx="0" cy="3967992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線コネクタ 80">
                  <a:extLst>
                    <a:ext uri="{FF2B5EF4-FFF2-40B4-BE49-F238E27FC236}">
                      <a16:creationId xmlns:a16="http://schemas.microsoft.com/office/drawing/2014/main" id="{F6528544-9C6B-4F2A-B09C-FAC5E1AE7399}"/>
                    </a:ext>
                  </a:extLst>
                </p:cNvPr>
                <p:cNvCxnSpPr/>
                <p:nvPr/>
              </p:nvCxnSpPr>
              <p:spPr>
                <a:xfrm>
                  <a:off x="3038475" y="38893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線コネクタ 81">
                  <a:extLst>
                    <a:ext uri="{FF2B5EF4-FFF2-40B4-BE49-F238E27FC236}">
                      <a16:creationId xmlns:a16="http://schemas.microsoft.com/office/drawing/2014/main" id="{85A32A73-3205-49B7-8EFF-6F6C371E59F6}"/>
                    </a:ext>
                  </a:extLst>
                </p:cNvPr>
                <p:cNvCxnSpPr/>
                <p:nvPr/>
              </p:nvCxnSpPr>
              <p:spPr>
                <a:xfrm>
                  <a:off x="3190875" y="38957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線コネクタ 82">
                  <a:extLst>
                    <a:ext uri="{FF2B5EF4-FFF2-40B4-BE49-F238E27FC236}">
                      <a16:creationId xmlns:a16="http://schemas.microsoft.com/office/drawing/2014/main" id="{544D5B71-3688-4E7C-80C7-F10DA0A39129}"/>
                    </a:ext>
                  </a:extLst>
                </p:cNvPr>
                <p:cNvCxnSpPr/>
                <p:nvPr/>
              </p:nvCxnSpPr>
              <p:spPr>
                <a:xfrm>
                  <a:off x="3343275" y="38989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線コネクタ 83">
                  <a:extLst>
                    <a:ext uri="{FF2B5EF4-FFF2-40B4-BE49-F238E27FC236}">
                      <a16:creationId xmlns:a16="http://schemas.microsoft.com/office/drawing/2014/main" id="{94EAE08C-A1BD-4120-934F-9E92CA6A1EDC}"/>
                    </a:ext>
                  </a:extLst>
                </p:cNvPr>
                <p:cNvCxnSpPr/>
                <p:nvPr/>
              </p:nvCxnSpPr>
              <p:spPr>
                <a:xfrm>
                  <a:off x="3495675" y="38996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線コネクタ 84">
                  <a:extLst>
                    <a:ext uri="{FF2B5EF4-FFF2-40B4-BE49-F238E27FC236}">
                      <a16:creationId xmlns:a16="http://schemas.microsoft.com/office/drawing/2014/main" id="{9359810F-AC2F-454F-B0C3-96AAEA64D3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48075" y="38576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線コネクタ 85">
                  <a:extLst>
                    <a:ext uri="{FF2B5EF4-FFF2-40B4-BE49-F238E27FC236}">
                      <a16:creationId xmlns:a16="http://schemas.microsoft.com/office/drawing/2014/main" id="{9637339A-AB14-44F1-A9EA-E910815BF4ED}"/>
                    </a:ext>
                  </a:extLst>
                </p:cNvPr>
                <p:cNvCxnSpPr/>
                <p:nvPr/>
              </p:nvCxnSpPr>
              <p:spPr>
                <a:xfrm>
                  <a:off x="3800475" y="39068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線コネクタ 86">
                  <a:extLst>
                    <a:ext uri="{FF2B5EF4-FFF2-40B4-BE49-F238E27FC236}">
                      <a16:creationId xmlns:a16="http://schemas.microsoft.com/office/drawing/2014/main" id="{E19F3A59-A442-4FFE-8D18-F0567D568D9D}"/>
                    </a:ext>
                  </a:extLst>
                </p:cNvPr>
                <p:cNvCxnSpPr/>
                <p:nvPr/>
              </p:nvCxnSpPr>
              <p:spPr>
                <a:xfrm>
                  <a:off x="3952875" y="39115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8" name="グループ化 87">
                  <a:extLst>
                    <a:ext uri="{FF2B5EF4-FFF2-40B4-BE49-F238E27FC236}">
                      <a16:creationId xmlns:a16="http://schemas.microsoft.com/office/drawing/2014/main" id="{CB691D7B-E5B3-48D2-A8E5-799A9D89D296}"/>
                    </a:ext>
                  </a:extLst>
                </p:cNvPr>
                <p:cNvGrpSpPr/>
                <p:nvPr/>
              </p:nvGrpSpPr>
              <p:grpSpPr>
                <a:xfrm rot="10800000">
                  <a:off x="1749425" y="3844925"/>
                  <a:ext cx="914400" cy="254794"/>
                  <a:chOff x="1749425" y="3844925"/>
                  <a:chExt cx="914400" cy="254794"/>
                </a:xfrm>
              </p:grpSpPr>
              <p:cxnSp>
                <p:nvCxnSpPr>
                  <p:cNvPr id="105" name="直線コネクタ 104">
                    <a:extLst>
                      <a:ext uri="{FF2B5EF4-FFF2-40B4-BE49-F238E27FC236}">
                        <a16:creationId xmlns:a16="http://schemas.microsoft.com/office/drawing/2014/main" id="{093BF495-4A87-4456-ADE0-271D1AD58F3F}"/>
                      </a:ext>
                    </a:extLst>
                  </p:cNvPr>
                  <p:cNvCxnSpPr/>
                  <p:nvPr/>
                </p:nvCxnSpPr>
                <p:spPr>
                  <a:xfrm>
                    <a:off x="1749425" y="38766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直線コネクタ 105">
                    <a:extLst>
                      <a:ext uri="{FF2B5EF4-FFF2-40B4-BE49-F238E27FC236}">
                        <a16:creationId xmlns:a16="http://schemas.microsoft.com/office/drawing/2014/main" id="{F16C428C-F3D0-4097-8211-EB6F7679A452}"/>
                      </a:ext>
                    </a:extLst>
                  </p:cNvPr>
                  <p:cNvCxnSpPr/>
                  <p:nvPr/>
                </p:nvCxnSpPr>
                <p:spPr>
                  <a:xfrm>
                    <a:off x="1901825" y="38830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直線コネクタ 106">
                    <a:extLst>
                      <a:ext uri="{FF2B5EF4-FFF2-40B4-BE49-F238E27FC236}">
                        <a16:creationId xmlns:a16="http://schemas.microsoft.com/office/drawing/2014/main" id="{815C2229-ACC4-4C75-A630-0DB5F94D37EE}"/>
                      </a:ext>
                    </a:extLst>
                  </p:cNvPr>
                  <p:cNvCxnSpPr/>
                  <p:nvPr/>
                </p:nvCxnSpPr>
                <p:spPr>
                  <a:xfrm>
                    <a:off x="2054225" y="38862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直線コネクタ 107">
                    <a:extLst>
                      <a:ext uri="{FF2B5EF4-FFF2-40B4-BE49-F238E27FC236}">
                        <a16:creationId xmlns:a16="http://schemas.microsoft.com/office/drawing/2014/main" id="{EE6D1861-7F6F-4503-9BF6-DDCF3A1FDF09}"/>
                      </a:ext>
                    </a:extLst>
                  </p:cNvPr>
                  <p:cNvCxnSpPr/>
                  <p:nvPr/>
                </p:nvCxnSpPr>
                <p:spPr>
                  <a:xfrm>
                    <a:off x="2206625" y="38869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直線コネクタ 108">
                    <a:extLst>
                      <a:ext uri="{FF2B5EF4-FFF2-40B4-BE49-F238E27FC236}">
                        <a16:creationId xmlns:a16="http://schemas.microsoft.com/office/drawing/2014/main" id="{37119986-028A-4C0A-9E59-A8341121EB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9025" y="38449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直線コネクタ 109">
                    <a:extLst>
                      <a:ext uri="{FF2B5EF4-FFF2-40B4-BE49-F238E27FC236}">
                        <a16:creationId xmlns:a16="http://schemas.microsoft.com/office/drawing/2014/main" id="{340EF4A9-C608-41A3-86BD-3DFE08B86839}"/>
                      </a:ext>
                    </a:extLst>
                  </p:cNvPr>
                  <p:cNvCxnSpPr/>
                  <p:nvPr/>
                </p:nvCxnSpPr>
                <p:spPr>
                  <a:xfrm>
                    <a:off x="2511425" y="38941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直線コネクタ 110">
                    <a:extLst>
                      <a:ext uri="{FF2B5EF4-FFF2-40B4-BE49-F238E27FC236}">
                        <a16:creationId xmlns:a16="http://schemas.microsoft.com/office/drawing/2014/main" id="{4299CADC-D11A-4894-A6A1-601A353059EB}"/>
                      </a:ext>
                    </a:extLst>
                  </p:cNvPr>
                  <p:cNvCxnSpPr/>
                  <p:nvPr/>
                </p:nvCxnSpPr>
                <p:spPr>
                  <a:xfrm>
                    <a:off x="2663825" y="38988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9" name="グループ化 88">
                  <a:extLst>
                    <a:ext uri="{FF2B5EF4-FFF2-40B4-BE49-F238E27FC236}">
                      <a16:creationId xmlns:a16="http://schemas.microsoft.com/office/drawing/2014/main" id="{614145C1-5147-4297-9B7E-591842E4CE56}"/>
                    </a:ext>
                  </a:extLst>
                </p:cNvPr>
                <p:cNvGrpSpPr/>
                <p:nvPr/>
              </p:nvGrpSpPr>
              <p:grpSpPr>
                <a:xfrm rot="16200000">
                  <a:off x="2409825" y="321627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8" name="直線コネクタ 97">
                    <a:extLst>
                      <a:ext uri="{FF2B5EF4-FFF2-40B4-BE49-F238E27FC236}">
                        <a16:creationId xmlns:a16="http://schemas.microsoft.com/office/drawing/2014/main" id="{22046541-72AE-48E0-82B6-13EDB8D8E405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17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直線コネクタ 98">
                    <a:extLst>
                      <a:ext uri="{FF2B5EF4-FFF2-40B4-BE49-F238E27FC236}">
                        <a16:creationId xmlns:a16="http://schemas.microsoft.com/office/drawing/2014/main" id="{B8F15AFC-F9EF-4C2C-A5DD-8622572E15D4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直線コネクタ 99">
                    <a:extLst>
                      <a:ext uri="{FF2B5EF4-FFF2-40B4-BE49-F238E27FC236}">
                        <a16:creationId xmlns:a16="http://schemas.microsoft.com/office/drawing/2014/main" id="{B4138B57-4B6F-436D-B93F-1EFDFE4F57C8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4415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直線コネクタ 100">
                    <a:extLst>
                      <a:ext uri="{FF2B5EF4-FFF2-40B4-BE49-F238E27FC236}">
                        <a16:creationId xmlns:a16="http://schemas.microsoft.com/office/drawing/2014/main" id="{F0D39DEC-6040-4DCC-9338-C9FFCED85069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4257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直線コネクタ 101">
                    <a:extLst>
                      <a:ext uri="{FF2B5EF4-FFF2-40B4-BE49-F238E27FC236}">
                        <a16:creationId xmlns:a16="http://schemas.microsoft.com/office/drawing/2014/main" id="{98CB9B64-4BE6-4E64-B566-9D3B9525B7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直線コネクタ 102">
                    <a:extLst>
                      <a:ext uri="{FF2B5EF4-FFF2-40B4-BE49-F238E27FC236}">
                        <a16:creationId xmlns:a16="http://schemas.microsoft.com/office/drawing/2014/main" id="{A9DD35AE-6FAA-476D-BF16-91FC931BB612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4256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直線コネクタ 103">
                    <a:extLst>
                      <a:ext uri="{FF2B5EF4-FFF2-40B4-BE49-F238E27FC236}">
                        <a16:creationId xmlns:a16="http://schemas.microsoft.com/office/drawing/2014/main" id="{6D557416-4B31-4DD7-9AE6-F6A018706ABD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4494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0" name="グループ化 89">
                  <a:extLst>
                    <a:ext uri="{FF2B5EF4-FFF2-40B4-BE49-F238E27FC236}">
                      <a16:creationId xmlns:a16="http://schemas.microsoft.com/office/drawing/2014/main" id="{0C549522-FFE1-47FD-9720-5ABDB6332173}"/>
                    </a:ext>
                  </a:extLst>
                </p:cNvPr>
                <p:cNvGrpSpPr/>
                <p:nvPr/>
              </p:nvGrpSpPr>
              <p:grpSpPr>
                <a:xfrm rot="5400000">
                  <a:off x="2391568" y="451802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1" name="直線コネクタ 90">
                    <a:extLst>
                      <a:ext uri="{FF2B5EF4-FFF2-40B4-BE49-F238E27FC236}">
                        <a16:creationId xmlns:a16="http://schemas.microsoft.com/office/drawing/2014/main" id="{40E2A205-14AD-4BCB-B629-BBAF818E91B8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653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直線コネクタ 91">
                    <a:extLst>
                      <a:ext uri="{FF2B5EF4-FFF2-40B4-BE49-F238E27FC236}">
                        <a16:creationId xmlns:a16="http://schemas.microsoft.com/office/drawing/2014/main" id="{088B18D0-FDAC-4BF1-A800-926E15F5484D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直線コネクタ 92">
                    <a:extLst>
                      <a:ext uri="{FF2B5EF4-FFF2-40B4-BE49-F238E27FC236}">
                        <a16:creationId xmlns:a16="http://schemas.microsoft.com/office/drawing/2014/main" id="{81A931E2-7154-4A72-BC9A-28A8DC2127E1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513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直線コネクタ 93">
                    <a:extLst>
                      <a:ext uri="{FF2B5EF4-FFF2-40B4-BE49-F238E27FC236}">
                        <a16:creationId xmlns:a16="http://schemas.microsoft.com/office/drawing/2014/main" id="{739BB7D1-5EB7-4DC2-A5D3-4A655E5211BE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520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直線コネクタ 94">
                    <a:extLst>
                      <a:ext uri="{FF2B5EF4-FFF2-40B4-BE49-F238E27FC236}">
                        <a16:creationId xmlns:a16="http://schemas.microsoft.com/office/drawing/2014/main" id="{5E6E720E-5ACA-4D7F-9082-A67133C1E2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直線コネクタ 95">
                    <a:extLst>
                      <a:ext uri="{FF2B5EF4-FFF2-40B4-BE49-F238E27FC236}">
                        <a16:creationId xmlns:a16="http://schemas.microsoft.com/office/drawing/2014/main" id="{A9BC68B8-98F3-47CD-B271-1C5AC7EF9AAA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592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直線コネクタ 96">
                    <a:extLst>
                      <a:ext uri="{FF2B5EF4-FFF2-40B4-BE49-F238E27FC236}">
                        <a16:creationId xmlns:a16="http://schemas.microsoft.com/office/drawing/2014/main" id="{276AACA3-D5AD-496C-A1DB-DF540A72D267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639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3" name="楕円 72">
                <a:extLst>
                  <a:ext uri="{FF2B5EF4-FFF2-40B4-BE49-F238E27FC236}">
                    <a16:creationId xmlns:a16="http://schemas.microsoft.com/office/drawing/2014/main" id="{667DE09F-42BD-40F5-8228-CFA9A124BCF1}"/>
                  </a:ext>
                </a:extLst>
              </p:cNvPr>
              <p:cNvSpPr/>
              <p:nvPr/>
            </p:nvSpPr>
            <p:spPr>
              <a:xfrm>
                <a:off x="3168015" y="4165917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1D4E2A31-C621-47DC-B5EB-2A4BB7DAA6D6}"/>
                  </a:ext>
                </a:extLst>
              </p:cNvPr>
              <p:cNvCxnSpPr>
                <a:cxnSpLocks/>
                <a:endCxn id="73" idx="2"/>
              </p:cNvCxnSpPr>
              <p:nvPr/>
            </p:nvCxnSpPr>
            <p:spPr>
              <a:xfrm>
                <a:off x="2929334" y="4188777"/>
                <a:ext cx="238681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コネクタ 75">
                <a:extLst>
                  <a:ext uri="{FF2B5EF4-FFF2-40B4-BE49-F238E27FC236}">
                    <a16:creationId xmlns:a16="http://schemas.microsoft.com/office/drawing/2014/main" id="{99193A69-616D-4E1B-8A2E-378B12E53C0C}"/>
                  </a:ext>
                </a:extLst>
              </p:cNvPr>
              <p:cNvCxnSpPr>
                <a:cxnSpLocks/>
                <a:endCxn id="73" idx="0"/>
              </p:cNvCxnSpPr>
              <p:nvPr/>
            </p:nvCxnSpPr>
            <p:spPr>
              <a:xfrm>
                <a:off x="3190875" y="3976382"/>
                <a:ext cx="0" cy="189535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/>
                <p:nvPr/>
              </p:nvSpPr>
              <p:spPr>
                <a:xfrm>
                  <a:off x="2888435" y="4493359"/>
                  <a:ext cx="86305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(?, ?)</m:t>
                        </m:r>
                      </m:oMath>
                    </m:oMathPara>
                  </a14:m>
                  <a:endParaRPr kumimoji="1" lang="en-US" altLang="ja-JP" sz="1600" dirty="0"/>
                </a:p>
              </p:txBody>
            </p:sp>
          </mc:Choice>
          <mc:Fallback xmlns="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8435" y="4493359"/>
                  <a:ext cx="863057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楕円 48">
            <a:extLst>
              <a:ext uri="{FF2B5EF4-FFF2-40B4-BE49-F238E27FC236}">
                <a16:creationId xmlns:a16="http://schemas.microsoft.com/office/drawing/2014/main" id="{A0C7D971-6CF8-4FFD-907F-D905A30650EA}"/>
              </a:ext>
            </a:extLst>
          </p:cNvPr>
          <p:cNvSpPr/>
          <p:nvPr/>
        </p:nvSpPr>
        <p:spPr>
          <a:xfrm>
            <a:off x="2352711" y="366418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B5970E43-A143-48B6-AAAC-8AB746EFC59D}"/>
              </a:ext>
            </a:extLst>
          </p:cNvPr>
          <p:cNvCxnSpPr>
            <a:cxnSpLocks/>
          </p:cNvCxnSpPr>
          <p:nvPr/>
        </p:nvCxnSpPr>
        <p:spPr>
          <a:xfrm flipH="1">
            <a:off x="2411003" y="3687043"/>
            <a:ext cx="30055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69C64E59-A40E-4AB9-A921-CB7959B07670}"/>
              </a:ext>
            </a:extLst>
          </p:cNvPr>
          <p:cNvCxnSpPr>
            <a:cxnSpLocks/>
            <a:endCxn id="49" idx="0"/>
          </p:cNvCxnSpPr>
          <p:nvPr/>
        </p:nvCxnSpPr>
        <p:spPr>
          <a:xfrm flipV="1">
            <a:off x="2375571" y="3664183"/>
            <a:ext cx="0" cy="80797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楕円 54">
            <a:extLst>
              <a:ext uri="{FF2B5EF4-FFF2-40B4-BE49-F238E27FC236}">
                <a16:creationId xmlns:a16="http://schemas.microsoft.com/office/drawing/2014/main" id="{B6FB4535-9F03-4B41-BBC2-54C8AFD57F9E}"/>
              </a:ext>
            </a:extLst>
          </p:cNvPr>
          <p:cNvSpPr/>
          <p:nvPr/>
        </p:nvSpPr>
        <p:spPr>
          <a:xfrm>
            <a:off x="2047564" y="480512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79AF66C1-54CF-4114-80ED-81108AF9F0D5}"/>
              </a:ext>
            </a:extLst>
          </p:cNvPr>
          <p:cNvCxnSpPr>
            <a:cxnSpLocks/>
            <a:endCxn id="55" idx="6"/>
          </p:cNvCxnSpPr>
          <p:nvPr/>
        </p:nvCxnSpPr>
        <p:spPr>
          <a:xfrm flipH="1" flipV="1">
            <a:off x="2093283" y="4827988"/>
            <a:ext cx="618277" cy="364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75BC10A6-6A95-4B7A-8285-A271DD2BFAA9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2070424" y="4481678"/>
            <a:ext cx="0" cy="3234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107D4957-25F9-47F7-82CE-295548D61D19}"/>
                  </a:ext>
                </a:extLst>
              </p:cNvPr>
              <p:cNvSpPr txBox="1"/>
              <p:nvPr/>
            </p:nvSpPr>
            <p:spPr>
              <a:xfrm>
                <a:off x="1606769" y="3327446"/>
                <a:ext cx="87139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(?, ?)</m:t>
                      </m:r>
                    </m:oMath>
                  </m:oMathPara>
                </a14:m>
                <a:endParaRPr kumimoji="1" lang="en-US" altLang="ja-JP" sz="1600" dirty="0"/>
              </a:p>
            </p:txBody>
          </p:sp>
        </mc:Choice>
        <mc:Fallback xmlns="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107D4957-25F9-47F7-82CE-295548D61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769" y="3327446"/>
                <a:ext cx="871392" cy="338554"/>
              </a:xfrm>
              <a:prstGeom prst="rect">
                <a:avLst/>
              </a:prstGeom>
              <a:blipFill>
                <a:blip r:embed="rId3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E1E98013-CCBE-4C07-9762-C57E3D08F11B}"/>
                  </a:ext>
                </a:extLst>
              </p:cNvPr>
              <p:cNvSpPr txBox="1"/>
              <p:nvPr/>
            </p:nvSpPr>
            <p:spPr>
              <a:xfrm>
                <a:off x="1634728" y="4836351"/>
                <a:ext cx="86209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(?, ?)</m:t>
                      </m:r>
                    </m:oMath>
                  </m:oMathPara>
                </a14:m>
                <a:endParaRPr kumimoji="1" lang="en-US" altLang="ja-JP" sz="1600" dirty="0"/>
              </a:p>
            </p:txBody>
          </p:sp>
        </mc:Choice>
        <mc:Fallback xmlns="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E1E98013-CCBE-4C07-9762-C57E3D08F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728" y="4836351"/>
                <a:ext cx="862095" cy="338554"/>
              </a:xfrm>
              <a:prstGeom prst="rect">
                <a:avLst/>
              </a:prstGeom>
              <a:blipFill>
                <a:blip r:embed="rId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楕円 51">
            <a:extLst>
              <a:ext uri="{FF2B5EF4-FFF2-40B4-BE49-F238E27FC236}">
                <a16:creationId xmlns:a16="http://schemas.microsoft.com/office/drawing/2014/main" id="{F8F0C49A-308C-473B-8F19-5812B02035CD}"/>
              </a:ext>
            </a:extLst>
          </p:cNvPr>
          <p:cNvSpPr/>
          <p:nvPr/>
        </p:nvSpPr>
        <p:spPr>
          <a:xfrm>
            <a:off x="2686005" y="542337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510A66A1-D95B-4796-A5F4-5176658656F8}"/>
                  </a:ext>
                </a:extLst>
              </p:cNvPr>
              <p:cNvSpPr txBox="1"/>
              <p:nvPr/>
            </p:nvSpPr>
            <p:spPr>
              <a:xfrm>
                <a:off x="2686005" y="5372960"/>
                <a:ext cx="8799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(?, ?)</m:t>
                      </m:r>
                    </m:oMath>
                  </m:oMathPara>
                </a14:m>
                <a:endParaRPr kumimoji="1" lang="en-US" altLang="ja-JP" sz="1600" dirty="0"/>
              </a:p>
            </p:txBody>
          </p:sp>
        </mc:Choice>
        <mc:Fallback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510A66A1-D95B-4796-A5F4-517665865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05" y="5372960"/>
                <a:ext cx="879921" cy="338554"/>
              </a:xfrm>
              <a:prstGeom prst="rect">
                <a:avLst/>
              </a:prstGeom>
              <a:blipFill>
                <a:blip r:embed="rId5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868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点の定義 練習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6738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スクリーン座標系で以下の点</a:t>
            </a:r>
            <a:r>
              <a:rPr lang="en-US" altLang="ja-JP" sz="2400" dirty="0"/>
              <a:t>A</a:t>
            </a:r>
            <a:r>
              <a:rPr lang="ja-JP" altLang="en-US" sz="2400" dirty="0"/>
              <a:t>～</a:t>
            </a:r>
            <a:r>
              <a:rPr lang="en-US" altLang="ja-JP" sz="2400" dirty="0"/>
              <a:t>D</a:t>
            </a:r>
            <a:r>
              <a:rPr lang="ja-JP" altLang="en-US" sz="2400" dirty="0"/>
              <a:t>の座標を求めなさい</a:t>
            </a:r>
            <a:endParaRPr kumimoji="1" lang="en-US" altLang="ja-JP" sz="2400" dirty="0"/>
          </a:p>
        </p:txBody>
      </p:sp>
      <p:grpSp>
        <p:nvGrpSpPr>
          <p:cNvPr id="68" name="グループ化 67">
            <a:extLst>
              <a:ext uri="{FF2B5EF4-FFF2-40B4-BE49-F238E27FC236}">
                <a16:creationId xmlns:a16="http://schemas.microsoft.com/office/drawing/2014/main" id="{5C3D3DA0-FD8A-415B-8C51-8C9E3F96E277}"/>
              </a:ext>
            </a:extLst>
          </p:cNvPr>
          <p:cNvGrpSpPr/>
          <p:nvPr/>
        </p:nvGrpSpPr>
        <p:grpSpPr>
          <a:xfrm>
            <a:off x="567542" y="2556458"/>
            <a:ext cx="4278806" cy="3967992"/>
            <a:chOff x="567542" y="2398054"/>
            <a:chExt cx="4278806" cy="3967992"/>
          </a:xfrm>
        </p:grpSpPr>
        <p:grpSp>
          <p:nvGrpSpPr>
            <p:cNvPr id="70" name="グループ化 69">
              <a:extLst>
                <a:ext uri="{FF2B5EF4-FFF2-40B4-BE49-F238E27FC236}">
                  <a16:creationId xmlns:a16="http://schemas.microsoft.com/office/drawing/2014/main" id="{2F2F7E21-8155-4AAE-86BB-C834C9CFB3DF}"/>
                </a:ext>
              </a:extLst>
            </p:cNvPr>
            <p:cNvGrpSpPr/>
            <p:nvPr/>
          </p:nvGrpSpPr>
          <p:grpSpPr>
            <a:xfrm>
              <a:off x="567542" y="2398054"/>
              <a:ext cx="4278806" cy="3967992"/>
              <a:chOff x="704674" y="2060686"/>
              <a:chExt cx="4278806" cy="3967992"/>
            </a:xfrm>
          </p:grpSpPr>
          <p:grpSp>
            <p:nvGrpSpPr>
              <p:cNvPr id="72" name="グループ化 71">
                <a:extLst>
                  <a:ext uri="{FF2B5EF4-FFF2-40B4-BE49-F238E27FC236}">
                    <a16:creationId xmlns:a16="http://schemas.microsoft.com/office/drawing/2014/main" id="{3FDDEA11-0B1C-4E0E-9190-50880DC16717}"/>
                  </a:ext>
                </a:extLst>
              </p:cNvPr>
              <p:cNvGrpSpPr/>
              <p:nvPr/>
            </p:nvGrpSpPr>
            <p:grpSpPr>
              <a:xfrm>
                <a:off x="704674" y="2060686"/>
                <a:ext cx="4278806" cy="3967992"/>
                <a:chOff x="704674" y="2060686"/>
                <a:chExt cx="4278806" cy="3967992"/>
              </a:xfrm>
            </p:grpSpPr>
            <p:cxnSp>
              <p:nvCxnSpPr>
                <p:cNvPr id="79" name="直線矢印コネクタ 78">
                  <a:extLst>
                    <a:ext uri="{FF2B5EF4-FFF2-40B4-BE49-F238E27FC236}">
                      <a16:creationId xmlns:a16="http://schemas.microsoft.com/office/drawing/2014/main" id="{BEC636F2-6A52-4B0A-AD6C-411D0FE536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04674" y="3976382"/>
                  <a:ext cx="4278806" cy="0"/>
                </a:xfrm>
                <a:prstGeom prst="straightConnector1">
                  <a:avLst/>
                </a:prstGeom>
                <a:ln w="38100">
                  <a:solidFill>
                    <a:srgbClr val="FF0000"/>
                  </a:solidFill>
                  <a:headEnd type="none" w="med" len="med"/>
                  <a:tailEnd type="arrow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線矢印コネクタ 79">
                  <a:extLst>
                    <a:ext uri="{FF2B5EF4-FFF2-40B4-BE49-F238E27FC236}">
                      <a16:creationId xmlns:a16="http://schemas.microsoft.com/office/drawing/2014/main" id="{C9956B03-A6D0-403D-8FC4-2AF5DF30EFDC}"/>
                    </a:ext>
                  </a:extLst>
                </p:cNvPr>
                <p:cNvCxnSpPr/>
                <p:nvPr/>
              </p:nvCxnSpPr>
              <p:spPr>
                <a:xfrm flipV="1">
                  <a:off x="2848692" y="2060686"/>
                  <a:ext cx="0" cy="3967992"/>
                </a:xfrm>
                <a:prstGeom prst="straightConnector1">
                  <a:avLst/>
                </a:prstGeom>
                <a:ln w="38100">
                  <a:solidFill>
                    <a:srgbClr val="00B050"/>
                  </a:solidFill>
                  <a:headEnd type="arrow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線コネクタ 80">
                  <a:extLst>
                    <a:ext uri="{FF2B5EF4-FFF2-40B4-BE49-F238E27FC236}">
                      <a16:creationId xmlns:a16="http://schemas.microsoft.com/office/drawing/2014/main" id="{F6528544-9C6B-4F2A-B09C-FAC5E1AE7399}"/>
                    </a:ext>
                  </a:extLst>
                </p:cNvPr>
                <p:cNvCxnSpPr/>
                <p:nvPr/>
              </p:nvCxnSpPr>
              <p:spPr>
                <a:xfrm>
                  <a:off x="3038475" y="38893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線コネクタ 81">
                  <a:extLst>
                    <a:ext uri="{FF2B5EF4-FFF2-40B4-BE49-F238E27FC236}">
                      <a16:creationId xmlns:a16="http://schemas.microsoft.com/office/drawing/2014/main" id="{85A32A73-3205-49B7-8EFF-6F6C371E59F6}"/>
                    </a:ext>
                  </a:extLst>
                </p:cNvPr>
                <p:cNvCxnSpPr/>
                <p:nvPr/>
              </p:nvCxnSpPr>
              <p:spPr>
                <a:xfrm>
                  <a:off x="3190875" y="38957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線コネクタ 82">
                  <a:extLst>
                    <a:ext uri="{FF2B5EF4-FFF2-40B4-BE49-F238E27FC236}">
                      <a16:creationId xmlns:a16="http://schemas.microsoft.com/office/drawing/2014/main" id="{544D5B71-3688-4E7C-80C7-F10DA0A39129}"/>
                    </a:ext>
                  </a:extLst>
                </p:cNvPr>
                <p:cNvCxnSpPr/>
                <p:nvPr/>
              </p:nvCxnSpPr>
              <p:spPr>
                <a:xfrm>
                  <a:off x="3343275" y="38989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線コネクタ 83">
                  <a:extLst>
                    <a:ext uri="{FF2B5EF4-FFF2-40B4-BE49-F238E27FC236}">
                      <a16:creationId xmlns:a16="http://schemas.microsoft.com/office/drawing/2014/main" id="{94EAE08C-A1BD-4120-934F-9E92CA6A1EDC}"/>
                    </a:ext>
                  </a:extLst>
                </p:cNvPr>
                <p:cNvCxnSpPr/>
                <p:nvPr/>
              </p:nvCxnSpPr>
              <p:spPr>
                <a:xfrm>
                  <a:off x="3495675" y="38996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線コネクタ 84">
                  <a:extLst>
                    <a:ext uri="{FF2B5EF4-FFF2-40B4-BE49-F238E27FC236}">
                      <a16:creationId xmlns:a16="http://schemas.microsoft.com/office/drawing/2014/main" id="{9359810F-AC2F-454F-B0C3-96AAEA64D3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648075" y="38576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線コネクタ 85">
                  <a:extLst>
                    <a:ext uri="{FF2B5EF4-FFF2-40B4-BE49-F238E27FC236}">
                      <a16:creationId xmlns:a16="http://schemas.microsoft.com/office/drawing/2014/main" id="{9637339A-AB14-44F1-A9EA-E910815BF4ED}"/>
                    </a:ext>
                  </a:extLst>
                </p:cNvPr>
                <p:cNvCxnSpPr/>
                <p:nvPr/>
              </p:nvCxnSpPr>
              <p:spPr>
                <a:xfrm>
                  <a:off x="3800475" y="39068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7" name="直線コネクタ 86">
                  <a:extLst>
                    <a:ext uri="{FF2B5EF4-FFF2-40B4-BE49-F238E27FC236}">
                      <a16:creationId xmlns:a16="http://schemas.microsoft.com/office/drawing/2014/main" id="{E19F3A59-A442-4FFE-8D18-F0567D568D9D}"/>
                    </a:ext>
                  </a:extLst>
                </p:cNvPr>
                <p:cNvCxnSpPr/>
                <p:nvPr/>
              </p:nvCxnSpPr>
              <p:spPr>
                <a:xfrm>
                  <a:off x="3952875" y="39115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8" name="グループ化 87">
                  <a:extLst>
                    <a:ext uri="{FF2B5EF4-FFF2-40B4-BE49-F238E27FC236}">
                      <a16:creationId xmlns:a16="http://schemas.microsoft.com/office/drawing/2014/main" id="{CB691D7B-E5B3-48D2-A8E5-799A9D89D296}"/>
                    </a:ext>
                  </a:extLst>
                </p:cNvPr>
                <p:cNvGrpSpPr/>
                <p:nvPr/>
              </p:nvGrpSpPr>
              <p:grpSpPr>
                <a:xfrm rot="10800000">
                  <a:off x="1749425" y="3844925"/>
                  <a:ext cx="914400" cy="254794"/>
                  <a:chOff x="1749425" y="3844925"/>
                  <a:chExt cx="914400" cy="254794"/>
                </a:xfrm>
              </p:grpSpPr>
              <p:cxnSp>
                <p:nvCxnSpPr>
                  <p:cNvPr id="105" name="直線コネクタ 104">
                    <a:extLst>
                      <a:ext uri="{FF2B5EF4-FFF2-40B4-BE49-F238E27FC236}">
                        <a16:creationId xmlns:a16="http://schemas.microsoft.com/office/drawing/2014/main" id="{093BF495-4A87-4456-ADE0-271D1AD58F3F}"/>
                      </a:ext>
                    </a:extLst>
                  </p:cNvPr>
                  <p:cNvCxnSpPr/>
                  <p:nvPr/>
                </p:nvCxnSpPr>
                <p:spPr>
                  <a:xfrm>
                    <a:off x="1749425" y="38766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直線コネクタ 105">
                    <a:extLst>
                      <a:ext uri="{FF2B5EF4-FFF2-40B4-BE49-F238E27FC236}">
                        <a16:creationId xmlns:a16="http://schemas.microsoft.com/office/drawing/2014/main" id="{F16C428C-F3D0-4097-8211-EB6F7679A452}"/>
                      </a:ext>
                    </a:extLst>
                  </p:cNvPr>
                  <p:cNvCxnSpPr/>
                  <p:nvPr/>
                </p:nvCxnSpPr>
                <p:spPr>
                  <a:xfrm>
                    <a:off x="1901825" y="38830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直線コネクタ 106">
                    <a:extLst>
                      <a:ext uri="{FF2B5EF4-FFF2-40B4-BE49-F238E27FC236}">
                        <a16:creationId xmlns:a16="http://schemas.microsoft.com/office/drawing/2014/main" id="{815C2229-ACC4-4C75-A630-0DB5F94D37EE}"/>
                      </a:ext>
                    </a:extLst>
                  </p:cNvPr>
                  <p:cNvCxnSpPr/>
                  <p:nvPr/>
                </p:nvCxnSpPr>
                <p:spPr>
                  <a:xfrm>
                    <a:off x="2054225" y="38862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8" name="直線コネクタ 107">
                    <a:extLst>
                      <a:ext uri="{FF2B5EF4-FFF2-40B4-BE49-F238E27FC236}">
                        <a16:creationId xmlns:a16="http://schemas.microsoft.com/office/drawing/2014/main" id="{EE6D1861-7F6F-4503-9BF6-DDCF3A1FDF09}"/>
                      </a:ext>
                    </a:extLst>
                  </p:cNvPr>
                  <p:cNvCxnSpPr/>
                  <p:nvPr/>
                </p:nvCxnSpPr>
                <p:spPr>
                  <a:xfrm>
                    <a:off x="2206625" y="38869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9" name="直線コネクタ 108">
                    <a:extLst>
                      <a:ext uri="{FF2B5EF4-FFF2-40B4-BE49-F238E27FC236}">
                        <a16:creationId xmlns:a16="http://schemas.microsoft.com/office/drawing/2014/main" id="{37119986-028A-4C0A-9E59-A8341121EBD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2359025" y="38449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0" name="直線コネクタ 109">
                    <a:extLst>
                      <a:ext uri="{FF2B5EF4-FFF2-40B4-BE49-F238E27FC236}">
                        <a16:creationId xmlns:a16="http://schemas.microsoft.com/office/drawing/2014/main" id="{340EF4A9-C608-41A3-86BD-3DFE08B86839}"/>
                      </a:ext>
                    </a:extLst>
                  </p:cNvPr>
                  <p:cNvCxnSpPr/>
                  <p:nvPr/>
                </p:nvCxnSpPr>
                <p:spPr>
                  <a:xfrm>
                    <a:off x="2511425" y="38941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11" name="直線コネクタ 110">
                    <a:extLst>
                      <a:ext uri="{FF2B5EF4-FFF2-40B4-BE49-F238E27FC236}">
                        <a16:creationId xmlns:a16="http://schemas.microsoft.com/office/drawing/2014/main" id="{4299CADC-D11A-4894-A6A1-601A353059EB}"/>
                      </a:ext>
                    </a:extLst>
                  </p:cNvPr>
                  <p:cNvCxnSpPr/>
                  <p:nvPr/>
                </p:nvCxnSpPr>
                <p:spPr>
                  <a:xfrm>
                    <a:off x="2663825" y="38988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89" name="グループ化 88">
                  <a:extLst>
                    <a:ext uri="{FF2B5EF4-FFF2-40B4-BE49-F238E27FC236}">
                      <a16:creationId xmlns:a16="http://schemas.microsoft.com/office/drawing/2014/main" id="{614145C1-5147-4297-9B7E-591842E4CE56}"/>
                    </a:ext>
                  </a:extLst>
                </p:cNvPr>
                <p:cNvGrpSpPr/>
                <p:nvPr/>
              </p:nvGrpSpPr>
              <p:grpSpPr>
                <a:xfrm rot="16200000">
                  <a:off x="2409825" y="321627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8" name="直線コネクタ 97">
                    <a:extLst>
                      <a:ext uri="{FF2B5EF4-FFF2-40B4-BE49-F238E27FC236}">
                        <a16:creationId xmlns:a16="http://schemas.microsoft.com/office/drawing/2014/main" id="{22046541-72AE-48E0-82B6-13EDB8D8E405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17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" name="直線コネクタ 98">
                    <a:extLst>
                      <a:ext uri="{FF2B5EF4-FFF2-40B4-BE49-F238E27FC236}">
                        <a16:creationId xmlns:a16="http://schemas.microsoft.com/office/drawing/2014/main" id="{B8F15AFC-F9EF-4C2C-A5DD-8622572E15D4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0" name="直線コネクタ 99">
                    <a:extLst>
                      <a:ext uri="{FF2B5EF4-FFF2-40B4-BE49-F238E27FC236}">
                        <a16:creationId xmlns:a16="http://schemas.microsoft.com/office/drawing/2014/main" id="{B4138B57-4B6F-436D-B93F-1EFDFE4F57C8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4415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1" name="直線コネクタ 100">
                    <a:extLst>
                      <a:ext uri="{FF2B5EF4-FFF2-40B4-BE49-F238E27FC236}">
                        <a16:creationId xmlns:a16="http://schemas.microsoft.com/office/drawing/2014/main" id="{F0D39DEC-6040-4DCC-9338-C9FFCED85069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4257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2" name="直線コネクタ 101">
                    <a:extLst>
                      <a:ext uri="{FF2B5EF4-FFF2-40B4-BE49-F238E27FC236}">
                        <a16:creationId xmlns:a16="http://schemas.microsoft.com/office/drawing/2014/main" id="{98CB9B64-4BE6-4E64-B566-9D3B9525B7F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3" name="直線コネクタ 102">
                    <a:extLst>
                      <a:ext uri="{FF2B5EF4-FFF2-40B4-BE49-F238E27FC236}">
                        <a16:creationId xmlns:a16="http://schemas.microsoft.com/office/drawing/2014/main" id="{A9DD35AE-6FAA-476D-BF16-91FC931BB612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4256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直線コネクタ 103">
                    <a:extLst>
                      <a:ext uri="{FF2B5EF4-FFF2-40B4-BE49-F238E27FC236}">
                        <a16:creationId xmlns:a16="http://schemas.microsoft.com/office/drawing/2014/main" id="{6D557416-4B31-4DD7-9AE6-F6A018706ABD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4494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0" name="グループ化 89">
                  <a:extLst>
                    <a:ext uri="{FF2B5EF4-FFF2-40B4-BE49-F238E27FC236}">
                      <a16:creationId xmlns:a16="http://schemas.microsoft.com/office/drawing/2014/main" id="{0C549522-FFE1-47FD-9720-5ABDB6332173}"/>
                    </a:ext>
                  </a:extLst>
                </p:cNvPr>
                <p:cNvGrpSpPr/>
                <p:nvPr/>
              </p:nvGrpSpPr>
              <p:grpSpPr>
                <a:xfrm rot="5400000">
                  <a:off x="2391568" y="4518025"/>
                  <a:ext cx="914400" cy="254794"/>
                  <a:chOff x="3190875" y="4010025"/>
                  <a:chExt cx="914400" cy="254794"/>
                </a:xfrm>
              </p:grpSpPr>
              <p:cxnSp>
                <p:nvCxnSpPr>
                  <p:cNvPr id="91" name="直線コネクタ 90">
                    <a:extLst>
                      <a:ext uri="{FF2B5EF4-FFF2-40B4-BE49-F238E27FC236}">
                        <a16:creationId xmlns:a16="http://schemas.microsoft.com/office/drawing/2014/main" id="{40E2A205-14AD-4BCB-B629-BBAF818E91B8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4046537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2" name="直線コネクタ 91">
                    <a:extLst>
                      <a:ext uri="{FF2B5EF4-FFF2-40B4-BE49-F238E27FC236}">
                        <a16:creationId xmlns:a16="http://schemas.microsoft.com/office/drawing/2014/main" id="{088B18D0-FDAC-4BF1-A800-926E15F5484D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40481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3" name="直線コネクタ 92">
                    <a:extLst>
                      <a:ext uri="{FF2B5EF4-FFF2-40B4-BE49-F238E27FC236}">
                        <a16:creationId xmlns:a16="http://schemas.microsoft.com/office/drawing/2014/main" id="{81A931E2-7154-4A72-BC9A-28A8DC2127E1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40513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4" name="直線コネクタ 93">
                    <a:extLst>
                      <a:ext uri="{FF2B5EF4-FFF2-40B4-BE49-F238E27FC236}">
                        <a16:creationId xmlns:a16="http://schemas.microsoft.com/office/drawing/2014/main" id="{739BB7D1-5EB7-4DC2-A5D3-4A655E5211BE}"/>
                      </a:ext>
                    </a:extLst>
                  </p:cNvPr>
                  <p:cNvCxnSpPr/>
                  <p:nvPr/>
                </p:nvCxnSpPr>
                <p:spPr>
                  <a:xfrm>
                    <a:off x="3648075" y="40520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5" name="直線コネクタ 94">
                    <a:extLst>
                      <a:ext uri="{FF2B5EF4-FFF2-40B4-BE49-F238E27FC236}">
                        <a16:creationId xmlns:a16="http://schemas.microsoft.com/office/drawing/2014/main" id="{5E6E720E-5ACA-4D7F-9082-A67133C1E22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800475" y="40100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6" name="直線コネクタ 95">
                    <a:extLst>
                      <a:ext uri="{FF2B5EF4-FFF2-40B4-BE49-F238E27FC236}">
                        <a16:creationId xmlns:a16="http://schemas.microsoft.com/office/drawing/2014/main" id="{A9BC68B8-98F3-47CD-B271-1C5AC7EF9AAA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40592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7" name="直線コネクタ 96">
                    <a:extLst>
                      <a:ext uri="{FF2B5EF4-FFF2-40B4-BE49-F238E27FC236}">
                        <a16:creationId xmlns:a16="http://schemas.microsoft.com/office/drawing/2014/main" id="{276AACA3-D5AD-496C-A1DB-DF540A72D267}"/>
                      </a:ext>
                    </a:extLst>
                  </p:cNvPr>
                  <p:cNvCxnSpPr/>
                  <p:nvPr/>
                </p:nvCxnSpPr>
                <p:spPr>
                  <a:xfrm>
                    <a:off x="4105275" y="40639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3" name="楕円 72">
                <a:extLst>
                  <a:ext uri="{FF2B5EF4-FFF2-40B4-BE49-F238E27FC236}">
                    <a16:creationId xmlns:a16="http://schemas.microsoft.com/office/drawing/2014/main" id="{667DE09F-42BD-40F5-8228-CFA9A124BCF1}"/>
                  </a:ext>
                </a:extLst>
              </p:cNvPr>
              <p:cNvSpPr/>
              <p:nvPr/>
            </p:nvSpPr>
            <p:spPr>
              <a:xfrm>
                <a:off x="3168015" y="4165917"/>
                <a:ext cx="45719" cy="45719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75" name="直線コネクタ 74">
                <a:extLst>
                  <a:ext uri="{FF2B5EF4-FFF2-40B4-BE49-F238E27FC236}">
                    <a16:creationId xmlns:a16="http://schemas.microsoft.com/office/drawing/2014/main" id="{1D4E2A31-C621-47DC-B5EB-2A4BB7DAA6D6}"/>
                  </a:ext>
                </a:extLst>
              </p:cNvPr>
              <p:cNvCxnSpPr>
                <a:cxnSpLocks/>
                <a:endCxn id="73" idx="2"/>
              </p:cNvCxnSpPr>
              <p:nvPr/>
            </p:nvCxnSpPr>
            <p:spPr>
              <a:xfrm>
                <a:off x="2929334" y="4188777"/>
                <a:ext cx="238681" cy="0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コネクタ 75">
                <a:extLst>
                  <a:ext uri="{FF2B5EF4-FFF2-40B4-BE49-F238E27FC236}">
                    <a16:creationId xmlns:a16="http://schemas.microsoft.com/office/drawing/2014/main" id="{99193A69-616D-4E1B-8A2E-378B12E53C0C}"/>
                  </a:ext>
                </a:extLst>
              </p:cNvPr>
              <p:cNvCxnSpPr>
                <a:cxnSpLocks/>
                <a:endCxn id="73" idx="0"/>
              </p:cNvCxnSpPr>
              <p:nvPr/>
            </p:nvCxnSpPr>
            <p:spPr>
              <a:xfrm>
                <a:off x="3190875" y="3976382"/>
                <a:ext cx="0" cy="189535"/>
              </a:xfrm>
              <a:prstGeom prst="line">
                <a:avLst/>
              </a:prstGeom>
              <a:ln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/>
                <p:nvPr/>
              </p:nvSpPr>
              <p:spPr>
                <a:xfrm>
                  <a:off x="2888435" y="4493359"/>
                  <a:ext cx="863057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(?, ?)</m:t>
                        </m:r>
                      </m:oMath>
                    </m:oMathPara>
                  </a14:m>
                  <a:endParaRPr kumimoji="1" lang="en-US" altLang="ja-JP" sz="1600" dirty="0"/>
                </a:p>
              </p:txBody>
            </p:sp>
          </mc:Choice>
          <mc:Fallback xmlns="">
            <p:sp>
              <p:nvSpPr>
                <p:cNvPr id="71" name="テキスト ボックス 70">
                  <a:extLst>
                    <a:ext uri="{FF2B5EF4-FFF2-40B4-BE49-F238E27FC236}">
                      <a16:creationId xmlns:a16="http://schemas.microsoft.com/office/drawing/2014/main" id="{9BE0C0E8-D1B5-44AE-BFCA-AFD44788AC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8435" y="4493359"/>
                  <a:ext cx="863057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89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9" name="楕円 48">
            <a:extLst>
              <a:ext uri="{FF2B5EF4-FFF2-40B4-BE49-F238E27FC236}">
                <a16:creationId xmlns:a16="http://schemas.microsoft.com/office/drawing/2014/main" id="{A0C7D971-6CF8-4FFD-907F-D905A30650EA}"/>
              </a:ext>
            </a:extLst>
          </p:cNvPr>
          <p:cNvSpPr/>
          <p:nvPr/>
        </p:nvSpPr>
        <p:spPr>
          <a:xfrm>
            <a:off x="2352711" y="3664183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B5970E43-A143-48B6-AAAC-8AB746EFC59D}"/>
              </a:ext>
            </a:extLst>
          </p:cNvPr>
          <p:cNvCxnSpPr>
            <a:cxnSpLocks/>
          </p:cNvCxnSpPr>
          <p:nvPr/>
        </p:nvCxnSpPr>
        <p:spPr>
          <a:xfrm flipH="1">
            <a:off x="2411003" y="3687043"/>
            <a:ext cx="300557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69C64E59-A40E-4AB9-A921-CB7959B07670}"/>
              </a:ext>
            </a:extLst>
          </p:cNvPr>
          <p:cNvCxnSpPr>
            <a:cxnSpLocks/>
            <a:endCxn id="49" idx="0"/>
          </p:cNvCxnSpPr>
          <p:nvPr/>
        </p:nvCxnSpPr>
        <p:spPr>
          <a:xfrm flipV="1">
            <a:off x="2375571" y="3664183"/>
            <a:ext cx="0" cy="80797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楕円 54">
            <a:extLst>
              <a:ext uri="{FF2B5EF4-FFF2-40B4-BE49-F238E27FC236}">
                <a16:creationId xmlns:a16="http://schemas.microsoft.com/office/drawing/2014/main" id="{B6FB4535-9F03-4B41-BBC2-54C8AFD57F9E}"/>
              </a:ext>
            </a:extLst>
          </p:cNvPr>
          <p:cNvSpPr/>
          <p:nvPr/>
        </p:nvSpPr>
        <p:spPr>
          <a:xfrm>
            <a:off x="2047564" y="4805128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79AF66C1-54CF-4114-80ED-81108AF9F0D5}"/>
              </a:ext>
            </a:extLst>
          </p:cNvPr>
          <p:cNvCxnSpPr>
            <a:cxnSpLocks/>
            <a:endCxn id="55" idx="6"/>
          </p:cNvCxnSpPr>
          <p:nvPr/>
        </p:nvCxnSpPr>
        <p:spPr>
          <a:xfrm flipH="1" flipV="1">
            <a:off x="2093283" y="4827988"/>
            <a:ext cx="618277" cy="3644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コネクタ 56">
            <a:extLst>
              <a:ext uri="{FF2B5EF4-FFF2-40B4-BE49-F238E27FC236}">
                <a16:creationId xmlns:a16="http://schemas.microsoft.com/office/drawing/2014/main" id="{75BC10A6-6A95-4B7A-8285-A271DD2BFAA9}"/>
              </a:ext>
            </a:extLst>
          </p:cNvPr>
          <p:cNvCxnSpPr>
            <a:cxnSpLocks/>
            <a:endCxn id="55" idx="0"/>
          </p:cNvCxnSpPr>
          <p:nvPr/>
        </p:nvCxnSpPr>
        <p:spPr>
          <a:xfrm>
            <a:off x="2070424" y="4481678"/>
            <a:ext cx="0" cy="32345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107D4957-25F9-47F7-82CE-295548D61D19}"/>
                  </a:ext>
                </a:extLst>
              </p:cNvPr>
              <p:cNvSpPr txBox="1"/>
              <p:nvPr/>
            </p:nvSpPr>
            <p:spPr>
              <a:xfrm>
                <a:off x="1606769" y="3327446"/>
                <a:ext cx="87139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(?, ?)</m:t>
                      </m:r>
                    </m:oMath>
                  </m:oMathPara>
                </a14:m>
                <a:endParaRPr kumimoji="1" lang="en-US" altLang="ja-JP" sz="1600" dirty="0"/>
              </a:p>
            </p:txBody>
          </p:sp>
        </mc:Choice>
        <mc:Fallback xmlns="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107D4957-25F9-47F7-82CE-295548D61D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769" y="3327446"/>
                <a:ext cx="871392" cy="338554"/>
              </a:xfrm>
              <a:prstGeom prst="rect">
                <a:avLst/>
              </a:prstGeom>
              <a:blipFill>
                <a:blip r:embed="rId3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E1E98013-CCBE-4C07-9762-C57E3D08F11B}"/>
                  </a:ext>
                </a:extLst>
              </p:cNvPr>
              <p:cNvSpPr txBox="1"/>
              <p:nvPr/>
            </p:nvSpPr>
            <p:spPr>
              <a:xfrm>
                <a:off x="1634728" y="4836351"/>
                <a:ext cx="862095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(?, ?)</m:t>
                      </m:r>
                    </m:oMath>
                  </m:oMathPara>
                </a14:m>
                <a:endParaRPr kumimoji="1" lang="en-US" altLang="ja-JP" sz="1600" dirty="0"/>
              </a:p>
            </p:txBody>
          </p:sp>
        </mc:Choice>
        <mc:Fallback xmlns="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E1E98013-CCBE-4C07-9762-C57E3D08F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728" y="4836351"/>
                <a:ext cx="862095" cy="338554"/>
              </a:xfrm>
              <a:prstGeom prst="rect">
                <a:avLst/>
              </a:prstGeom>
              <a:blipFill>
                <a:blip r:embed="rId4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2" name="楕円 51">
            <a:extLst>
              <a:ext uri="{FF2B5EF4-FFF2-40B4-BE49-F238E27FC236}">
                <a16:creationId xmlns:a16="http://schemas.microsoft.com/office/drawing/2014/main" id="{125733C3-D5C0-47BC-A394-2E5BAC69D45E}"/>
              </a:ext>
            </a:extLst>
          </p:cNvPr>
          <p:cNvSpPr/>
          <p:nvPr/>
        </p:nvSpPr>
        <p:spPr>
          <a:xfrm>
            <a:off x="2686005" y="5423370"/>
            <a:ext cx="45719" cy="45719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8A09B080-8996-429A-B6F6-25A372E37C06}"/>
                  </a:ext>
                </a:extLst>
              </p:cNvPr>
              <p:cNvSpPr txBox="1"/>
              <p:nvPr/>
            </p:nvSpPr>
            <p:spPr>
              <a:xfrm>
                <a:off x="2686005" y="5372960"/>
                <a:ext cx="879921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</a:rPr>
                        <m:t>(?, ?)</m:t>
                      </m:r>
                    </m:oMath>
                  </m:oMathPara>
                </a14:m>
                <a:endParaRPr kumimoji="1" lang="en-US" altLang="ja-JP" sz="1600" dirty="0"/>
              </a:p>
            </p:txBody>
          </p:sp>
        </mc:Choice>
        <mc:Fallback>
          <p:sp>
            <p:nvSpPr>
              <p:cNvPr id="53" name="テキスト ボックス 52">
                <a:extLst>
                  <a:ext uri="{FF2B5EF4-FFF2-40B4-BE49-F238E27FC236}">
                    <a16:creationId xmlns:a16="http://schemas.microsoft.com/office/drawing/2014/main" id="{8A09B080-8996-429A-B6F6-25A372E37C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05" y="5372960"/>
                <a:ext cx="879921" cy="338554"/>
              </a:xfrm>
              <a:prstGeom prst="rect">
                <a:avLst/>
              </a:prstGeom>
              <a:blipFill>
                <a:blip r:embed="rId5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53039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464</Words>
  <Application>Microsoft Office PowerPoint</Application>
  <PresentationFormat>ワイド画面</PresentationFormat>
  <Paragraphs>69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4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18</cp:revision>
  <dcterms:created xsi:type="dcterms:W3CDTF">2024-08-27T02:15:54Z</dcterms:created>
  <dcterms:modified xsi:type="dcterms:W3CDTF">2024-10-02T06:43:57Z</dcterms:modified>
</cp:coreProperties>
</file>