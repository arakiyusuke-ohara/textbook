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での２点間の距離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0498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3D</a:t>
            </a:r>
            <a:r>
              <a:rPr kumimoji="1" lang="ja-JP" altLang="en-US" sz="2400" dirty="0"/>
              <a:t>での２点間の距離は立方体（または直方体）から定義することができます。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ある２点</a:t>
            </a:r>
            <a:r>
              <a:rPr lang="en-US" altLang="ja-JP" sz="2400" dirty="0"/>
              <a:t>A,B</a:t>
            </a:r>
            <a:r>
              <a:rPr lang="ja-JP" altLang="en-US" sz="2400" dirty="0"/>
              <a:t>を端同士にしたキューブをイメージしましょう。</a:t>
            </a:r>
            <a:endParaRPr kumimoji="1" lang="en-US" altLang="ja-JP" sz="2400" dirty="0"/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E52A902D-BD26-4FD6-980F-EC36535DFBB9}"/>
              </a:ext>
            </a:extLst>
          </p:cNvPr>
          <p:cNvSpPr/>
          <p:nvPr/>
        </p:nvSpPr>
        <p:spPr>
          <a:xfrm>
            <a:off x="770372" y="2853266"/>
            <a:ext cx="3614991" cy="3234267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39CE76-390D-412C-A248-064D24869A89}"/>
              </a:ext>
            </a:extLst>
          </p:cNvPr>
          <p:cNvSpPr/>
          <p:nvPr/>
        </p:nvSpPr>
        <p:spPr>
          <a:xfrm>
            <a:off x="706872" y="6041230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3A6AE2A-81F8-4C8B-9CEA-4FDD462D3147}"/>
              </a:ext>
            </a:extLst>
          </p:cNvPr>
          <p:cNvSpPr/>
          <p:nvPr/>
        </p:nvSpPr>
        <p:spPr>
          <a:xfrm>
            <a:off x="4321863" y="2787781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F191C2-74F7-4AB2-950B-B7FBF5137D2E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815273" y="2899570"/>
            <a:ext cx="3525189" cy="316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3C44CF-F648-4FDB-AF93-E3CFD037786B}"/>
              </a:ext>
            </a:extLst>
          </p:cNvPr>
          <p:cNvSpPr txBox="1"/>
          <p:nvPr/>
        </p:nvSpPr>
        <p:spPr>
          <a:xfrm>
            <a:off x="430231" y="6106714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A97609-0023-4D55-BFC9-338C2C48F64F}"/>
              </a:ext>
            </a:extLst>
          </p:cNvPr>
          <p:cNvSpPr txBox="1"/>
          <p:nvPr/>
        </p:nvSpPr>
        <p:spPr>
          <a:xfrm>
            <a:off x="4395673" y="2457085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での２点間の距離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2470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キューブの横の長さを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sz="2400" dirty="0"/>
                  <a:t>, </a:t>
                </a:r>
                <a:r>
                  <a:rPr kumimoji="1" lang="ja-JP" altLang="en-US" sz="2400" dirty="0"/>
                  <a:t>縦の長さを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en-US" altLang="ja-JP" sz="2400" dirty="0"/>
                  <a:t>,</a:t>
                </a:r>
                <a:r>
                  <a:rPr lang="ja-JP" altLang="en-US" sz="2400" dirty="0"/>
                  <a:t>奥行きの長さを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sz="2400" dirty="0"/>
                  <a:t>とします。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247019" cy="461665"/>
              </a:xfrm>
              <a:prstGeom prst="rect">
                <a:avLst/>
              </a:prstGeom>
              <a:blipFill>
                <a:blip r:embed="rId2"/>
                <a:stretch>
                  <a:fillRect l="-989" t="-10667" r="-66" b="-3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直方体 1">
            <a:extLst>
              <a:ext uri="{FF2B5EF4-FFF2-40B4-BE49-F238E27FC236}">
                <a16:creationId xmlns:a16="http://schemas.microsoft.com/office/drawing/2014/main" id="{E52A902D-BD26-4FD6-980F-EC36535DFBB9}"/>
              </a:ext>
            </a:extLst>
          </p:cNvPr>
          <p:cNvSpPr/>
          <p:nvPr/>
        </p:nvSpPr>
        <p:spPr>
          <a:xfrm>
            <a:off x="770372" y="2853266"/>
            <a:ext cx="3614991" cy="3234267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39CE76-390D-412C-A248-064D24869A89}"/>
              </a:ext>
            </a:extLst>
          </p:cNvPr>
          <p:cNvSpPr/>
          <p:nvPr/>
        </p:nvSpPr>
        <p:spPr>
          <a:xfrm>
            <a:off x="706872" y="6041230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3A6AE2A-81F8-4C8B-9CEA-4FDD462D3147}"/>
              </a:ext>
            </a:extLst>
          </p:cNvPr>
          <p:cNvSpPr/>
          <p:nvPr/>
        </p:nvSpPr>
        <p:spPr>
          <a:xfrm>
            <a:off x="4321863" y="2787781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F191C2-74F7-4AB2-950B-B7FBF5137D2E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815273" y="2899570"/>
            <a:ext cx="3525189" cy="316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3C44CF-F648-4FDB-AF93-E3CFD037786B}"/>
              </a:ext>
            </a:extLst>
          </p:cNvPr>
          <p:cNvSpPr txBox="1"/>
          <p:nvPr/>
        </p:nvSpPr>
        <p:spPr>
          <a:xfrm>
            <a:off x="430231" y="6106714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A97609-0023-4D55-BFC9-338C2C48F64F}"/>
              </a:ext>
            </a:extLst>
          </p:cNvPr>
          <p:cNvSpPr txBox="1"/>
          <p:nvPr/>
        </p:nvSpPr>
        <p:spPr>
          <a:xfrm>
            <a:off x="4395673" y="2457085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0F024ED-0E2B-45B0-B2AF-851F3D4BC7DE}"/>
                  </a:ext>
                </a:extLst>
              </p:cNvPr>
              <p:cNvSpPr txBox="1"/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60F024ED-0E2B-45B0-B2AF-851F3D4BC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DC09D57-8DBE-49C0-9897-14998AA67240}"/>
                  </a:ext>
                </a:extLst>
              </p:cNvPr>
              <p:cNvSpPr txBox="1"/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DDC09D57-8DBE-49C0-9897-14998AA67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E8A1177-1AA8-43B8-8E59-A549776E8234}"/>
                  </a:ext>
                </a:extLst>
              </p:cNvPr>
              <p:cNvSpPr txBox="1"/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E8A1177-1AA8-43B8-8E59-A549776E8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5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での２点間の距離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72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AB</a:t>
            </a:r>
            <a:r>
              <a:rPr kumimoji="1" lang="ja-JP" altLang="en-US" sz="2400" dirty="0"/>
              <a:t>を斜辺とした直角三角形は以下のように作れます。</a:t>
            </a:r>
            <a:endParaRPr lang="en-US" altLang="ja-JP" sz="2400" dirty="0"/>
          </a:p>
          <a:p>
            <a:r>
              <a:rPr kumimoji="1" lang="ja-JP" altLang="en-US" sz="2400" dirty="0"/>
              <a:t>直角の座標を点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とします。</a:t>
            </a:r>
            <a:endParaRPr kumimoji="1" lang="en-US" altLang="ja-JP" sz="2400" dirty="0"/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E52A902D-BD26-4FD6-980F-EC36535DFBB9}"/>
              </a:ext>
            </a:extLst>
          </p:cNvPr>
          <p:cNvSpPr/>
          <p:nvPr/>
        </p:nvSpPr>
        <p:spPr>
          <a:xfrm>
            <a:off x="770372" y="2853266"/>
            <a:ext cx="3614991" cy="3234267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39CE76-390D-412C-A248-064D24869A89}"/>
              </a:ext>
            </a:extLst>
          </p:cNvPr>
          <p:cNvSpPr/>
          <p:nvPr/>
        </p:nvSpPr>
        <p:spPr>
          <a:xfrm>
            <a:off x="706872" y="6041230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3A6AE2A-81F8-4C8B-9CEA-4FDD462D3147}"/>
              </a:ext>
            </a:extLst>
          </p:cNvPr>
          <p:cNvSpPr/>
          <p:nvPr/>
        </p:nvSpPr>
        <p:spPr>
          <a:xfrm>
            <a:off x="4321863" y="2787781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F191C2-74F7-4AB2-950B-B7FBF5137D2E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815273" y="2899570"/>
            <a:ext cx="3525189" cy="316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3C44CF-F648-4FDB-AF93-E3CFD037786B}"/>
              </a:ext>
            </a:extLst>
          </p:cNvPr>
          <p:cNvSpPr txBox="1"/>
          <p:nvPr/>
        </p:nvSpPr>
        <p:spPr>
          <a:xfrm>
            <a:off x="430231" y="6106714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A97609-0023-4D55-BFC9-338C2C48F64F}"/>
              </a:ext>
            </a:extLst>
          </p:cNvPr>
          <p:cNvSpPr txBox="1"/>
          <p:nvPr/>
        </p:nvSpPr>
        <p:spPr>
          <a:xfrm>
            <a:off x="4395673" y="2457085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3773B30-796F-46A1-8625-07FC11ABA1BF}"/>
              </a:ext>
            </a:extLst>
          </p:cNvPr>
          <p:cNvCxnSpPr>
            <a:cxnSpLocks/>
          </p:cNvCxnSpPr>
          <p:nvPr/>
        </p:nvCxnSpPr>
        <p:spPr>
          <a:xfrm flipV="1">
            <a:off x="815273" y="5288280"/>
            <a:ext cx="3580400" cy="7721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20B73D7-2C8D-4D49-9362-0147373A16C8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4385363" y="2918750"/>
            <a:ext cx="10310" cy="2369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28FC9D-0530-4AC1-B1C7-37FB396D443D}"/>
              </a:ext>
            </a:extLst>
          </p:cNvPr>
          <p:cNvSpPr txBox="1"/>
          <p:nvPr/>
        </p:nvSpPr>
        <p:spPr>
          <a:xfrm>
            <a:off x="4321863" y="5188416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1A64594-1646-46DC-8E16-D78BB5F0E448}"/>
                  </a:ext>
                </a:extLst>
              </p:cNvPr>
              <p:cNvSpPr txBox="1"/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1A64594-1646-46DC-8E16-D78BB5F0E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CFFF652-670F-4C90-A191-E8A821946C0C}"/>
                  </a:ext>
                </a:extLst>
              </p:cNvPr>
              <p:cNvSpPr txBox="1"/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CFFF652-670F-4C90-A191-E8A821946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E6E7FBAB-276D-477F-B945-4E271FCDF0FA}"/>
                  </a:ext>
                </a:extLst>
              </p:cNvPr>
              <p:cNvSpPr txBox="1"/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E6E7FBAB-276D-477F-B945-4E271FCDF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08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での２点間の距離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816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ピタゴラスの定理を計算するには</a:t>
            </a:r>
            <a:r>
              <a:rPr lang="en-US" altLang="ja-JP" sz="2400" dirty="0"/>
              <a:t>AC</a:t>
            </a:r>
            <a:r>
              <a:rPr lang="ja-JP" altLang="en-US" sz="2400" dirty="0"/>
              <a:t>の長さが必要です。</a:t>
            </a:r>
            <a:endParaRPr lang="en-US" altLang="ja-JP" sz="2400" dirty="0"/>
          </a:p>
          <a:p>
            <a:r>
              <a:rPr kumimoji="1" lang="en-US" altLang="ja-JP" sz="2400" dirty="0"/>
              <a:t>AC</a:t>
            </a:r>
            <a:r>
              <a:rPr kumimoji="1" lang="ja-JP" altLang="en-US" sz="2400" dirty="0"/>
              <a:t>を求めるには緑色の直角三角形から計算します。</a:t>
            </a:r>
            <a:endParaRPr kumimoji="1" lang="en-US" altLang="ja-JP" sz="2400" dirty="0"/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E52A902D-BD26-4FD6-980F-EC36535DFBB9}"/>
              </a:ext>
            </a:extLst>
          </p:cNvPr>
          <p:cNvSpPr/>
          <p:nvPr/>
        </p:nvSpPr>
        <p:spPr>
          <a:xfrm>
            <a:off x="770372" y="2853266"/>
            <a:ext cx="3614991" cy="3234267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39CE76-390D-412C-A248-064D24869A89}"/>
              </a:ext>
            </a:extLst>
          </p:cNvPr>
          <p:cNvSpPr/>
          <p:nvPr/>
        </p:nvSpPr>
        <p:spPr>
          <a:xfrm>
            <a:off x="706872" y="6041230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3A6AE2A-81F8-4C8B-9CEA-4FDD462D3147}"/>
              </a:ext>
            </a:extLst>
          </p:cNvPr>
          <p:cNvSpPr/>
          <p:nvPr/>
        </p:nvSpPr>
        <p:spPr>
          <a:xfrm>
            <a:off x="4321863" y="2787781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F191C2-74F7-4AB2-950B-B7FBF5137D2E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815273" y="2899570"/>
            <a:ext cx="3525189" cy="316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3C44CF-F648-4FDB-AF93-E3CFD037786B}"/>
              </a:ext>
            </a:extLst>
          </p:cNvPr>
          <p:cNvSpPr txBox="1"/>
          <p:nvPr/>
        </p:nvSpPr>
        <p:spPr>
          <a:xfrm>
            <a:off x="430231" y="6106714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A97609-0023-4D55-BFC9-338C2C48F64F}"/>
              </a:ext>
            </a:extLst>
          </p:cNvPr>
          <p:cNvSpPr txBox="1"/>
          <p:nvPr/>
        </p:nvSpPr>
        <p:spPr>
          <a:xfrm>
            <a:off x="4395673" y="2457085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3773B30-796F-46A1-8625-07FC11ABA1BF}"/>
              </a:ext>
            </a:extLst>
          </p:cNvPr>
          <p:cNvCxnSpPr>
            <a:cxnSpLocks/>
          </p:cNvCxnSpPr>
          <p:nvPr/>
        </p:nvCxnSpPr>
        <p:spPr>
          <a:xfrm flipV="1">
            <a:off x="815273" y="5288280"/>
            <a:ext cx="3580400" cy="7721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20B73D7-2C8D-4D49-9362-0147373A16C8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4385363" y="2918750"/>
            <a:ext cx="10310" cy="2369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28FC9D-0530-4AC1-B1C7-37FB396D443D}"/>
              </a:ext>
            </a:extLst>
          </p:cNvPr>
          <p:cNvSpPr txBox="1"/>
          <p:nvPr/>
        </p:nvSpPr>
        <p:spPr>
          <a:xfrm>
            <a:off x="4321863" y="5188416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540FD3F-F6F1-400E-983C-30DB7222B29D}"/>
              </a:ext>
            </a:extLst>
          </p:cNvPr>
          <p:cNvCxnSpPr>
            <a:cxnSpLocks/>
          </p:cNvCxnSpPr>
          <p:nvPr/>
        </p:nvCxnSpPr>
        <p:spPr>
          <a:xfrm flipV="1">
            <a:off x="833872" y="6087533"/>
            <a:ext cx="2730595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1EAADE3-76E9-4320-81BF-80578BAB43AC}"/>
              </a:ext>
            </a:extLst>
          </p:cNvPr>
          <p:cNvCxnSpPr>
            <a:cxnSpLocks/>
          </p:cNvCxnSpPr>
          <p:nvPr/>
        </p:nvCxnSpPr>
        <p:spPr>
          <a:xfrm flipV="1">
            <a:off x="3564467" y="5288281"/>
            <a:ext cx="820896" cy="7992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AB262EF-87D5-43A9-8126-11E72126D3FE}"/>
                  </a:ext>
                </a:extLst>
              </p:cNvPr>
              <p:cNvSpPr txBox="1"/>
              <p:nvPr/>
            </p:nvSpPr>
            <p:spPr>
              <a:xfrm>
                <a:off x="5575115" y="2687917"/>
                <a:ext cx="227985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■計算式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AB262EF-87D5-43A9-8126-11E72126D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115" y="2687917"/>
                <a:ext cx="2279855" cy="830997"/>
              </a:xfrm>
              <a:prstGeom prst="rect">
                <a:avLst/>
              </a:prstGeom>
              <a:blipFill>
                <a:blip r:embed="rId2"/>
                <a:stretch>
                  <a:fillRect l="-4278" t="-5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249BDB4-C771-4BBF-9736-5FF3380B7BB0}"/>
                  </a:ext>
                </a:extLst>
              </p:cNvPr>
              <p:cNvSpPr txBox="1"/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249BDB4-C771-4BBF-9736-5FF3380B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E6B068B-6E59-4CEA-85B9-A3439A34B8AA}"/>
                  </a:ext>
                </a:extLst>
              </p:cNvPr>
              <p:cNvSpPr txBox="1"/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E6B068B-6E59-4CEA-85B9-A3439A34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F0116E8-D1D3-4BFE-9194-4A4C05AE0D96}"/>
                  </a:ext>
                </a:extLst>
              </p:cNvPr>
              <p:cNvSpPr txBox="1"/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F0116E8-D1D3-4BFE-9194-4A4C05AE0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314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020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3D</a:t>
            </a:r>
            <a:r>
              <a:rPr kumimoji="1" lang="ja-JP" altLang="en-US" sz="3200" b="1" u="sng" dirty="0"/>
              <a:t>での２点間の距離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956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AB</a:t>
            </a:r>
            <a:r>
              <a:rPr lang="ja-JP" altLang="en-US" sz="2400" dirty="0"/>
              <a:t>の長さを求めるピタゴラスの定理にこれを当てはめると、</a:t>
            </a:r>
            <a:endParaRPr lang="en-US" altLang="ja-JP" sz="2400" dirty="0"/>
          </a:p>
          <a:p>
            <a:r>
              <a:rPr kumimoji="1" lang="ja-JP" altLang="en-US" sz="2400" dirty="0"/>
              <a:t>３</a:t>
            </a:r>
            <a:r>
              <a:rPr kumimoji="1" lang="en-US" altLang="ja-JP" sz="2400" dirty="0"/>
              <a:t>D</a:t>
            </a:r>
            <a:r>
              <a:rPr kumimoji="1" lang="ja-JP" altLang="en-US" sz="2400" dirty="0"/>
              <a:t>の２点間の距離の公式となります。</a:t>
            </a:r>
            <a:endParaRPr kumimoji="1" lang="en-US" altLang="ja-JP" sz="2400" dirty="0"/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E52A902D-BD26-4FD6-980F-EC36535DFBB9}"/>
              </a:ext>
            </a:extLst>
          </p:cNvPr>
          <p:cNvSpPr/>
          <p:nvPr/>
        </p:nvSpPr>
        <p:spPr>
          <a:xfrm>
            <a:off x="770372" y="2853266"/>
            <a:ext cx="3614991" cy="3234267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A39CE76-390D-412C-A248-064D24869A89}"/>
              </a:ext>
            </a:extLst>
          </p:cNvPr>
          <p:cNvSpPr/>
          <p:nvPr/>
        </p:nvSpPr>
        <p:spPr>
          <a:xfrm>
            <a:off x="706872" y="6041230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3A6AE2A-81F8-4C8B-9CEA-4FDD462D3147}"/>
              </a:ext>
            </a:extLst>
          </p:cNvPr>
          <p:cNvSpPr/>
          <p:nvPr/>
        </p:nvSpPr>
        <p:spPr>
          <a:xfrm>
            <a:off x="4321863" y="2787781"/>
            <a:ext cx="127000" cy="13096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8F191C2-74F7-4AB2-950B-B7FBF5137D2E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815273" y="2899570"/>
            <a:ext cx="3525189" cy="31608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83C44CF-F648-4FDB-AF93-E3CFD037786B}"/>
              </a:ext>
            </a:extLst>
          </p:cNvPr>
          <p:cNvSpPr txBox="1"/>
          <p:nvPr/>
        </p:nvSpPr>
        <p:spPr>
          <a:xfrm>
            <a:off x="430231" y="6106714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AA97609-0023-4D55-BFC9-338C2C48F64F}"/>
              </a:ext>
            </a:extLst>
          </p:cNvPr>
          <p:cNvSpPr txBox="1"/>
          <p:nvPr/>
        </p:nvSpPr>
        <p:spPr>
          <a:xfrm>
            <a:off x="4395673" y="2457085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3773B30-796F-46A1-8625-07FC11ABA1BF}"/>
              </a:ext>
            </a:extLst>
          </p:cNvPr>
          <p:cNvCxnSpPr>
            <a:cxnSpLocks/>
          </p:cNvCxnSpPr>
          <p:nvPr/>
        </p:nvCxnSpPr>
        <p:spPr>
          <a:xfrm flipV="1">
            <a:off x="815273" y="5288280"/>
            <a:ext cx="3580400" cy="77213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20B73D7-2C8D-4D49-9362-0147373A16C8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4385363" y="2918750"/>
            <a:ext cx="10310" cy="23695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28FC9D-0530-4AC1-B1C7-37FB396D443D}"/>
              </a:ext>
            </a:extLst>
          </p:cNvPr>
          <p:cNvSpPr txBox="1"/>
          <p:nvPr/>
        </p:nvSpPr>
        <p:spPr>
          <a:xfrm>
            <a:off x="4321863" y="5188416"/>
            <a:ext cx="393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540FD3F-F6F1-400E-983C-30DB7222B29D}"/>
              </a:ext>
            </a:extLst>
          </p:cNvPr>
          <p:cNvCxnSpPr>
            <a:cxnSpLocks/>
          </p:cNvCxnSpPr>
          <p:nvPr/>
        </p:nvCxnSpPr>
        <p:spPr>
          <a:xfrm flipV="1">
            <a:off x="833872" y="6087533"/>
            <a:ext cx="2730595" cy="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1EAADE3-76E9-4320-81BF-80578BAB43AC}"/>
              </a:ext>
            </a:extLst>
          </p:cNvPr>
          <p:cNvCxnSpPr>
            <a:cxnSpLocks/>
          </p:cNvCxnSpPr>
          <p:nvPr/>
        </p:nvCxnSpPr>
        <p:spPr>
          <a:xfrm flipV="1">
            <a:off x="3564467" y="5288281"/>
            <a:ext cx="820896" cy="7992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AB262EF-87D5-43A9-8126-11E72126D3FE}"/>
                  </a:ext>
                </a:extLst>
              </p:cNvPr>
              <p:cNvSpPr txBox="1"/>
              <p:nvPr/>
            </p:nvSpPr>
            <p:spPr>
              <a:xfrm>
                <a:off x="5575115" y="2687917"/>
                <a:ext cx="550657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■計算式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𝐴𝐶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r>
                  <a:rPr lang="ja-JP" altLang="en-US" sz="2400" dirty="0"/>
                  <a:t>これに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𝐴𝐶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をあてはめると、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:r>
                  <a:rPr kumimoji="1" lang="ja-JP" altLang="en-US" sz="2400" dirty="0"/>
                  <a:t>足し算は交換可能なので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AB262EF-87D5-43A9-8126-11E72126D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115" y="2687917"/>
                <a:ext cx="5506572" cy="2677656"/>
              </a:xfrm>
              <a:prstGeom prst="rect">
                <a:avLst/>
              </a:prstGeom>
              <a:blipFill>
                <a:blip r:embed="rId2"/>
                <a:stretch>
                  <a:fillRect l="-1772" t="-1822" r="-775" b="-9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249BDB4-C771-4BBF-9736-5FF3380B7BB0}"/>
                  </a:ext>
                </a:extLst>
              </p:cNvPr>
              <p:cNvSpPr txBox="1"/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4249BDB4-C771-4BBF-9736-5FF3380B7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19" y="5941366"/>
                <a:ext cx="44563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E6B068B-6E59-4CEA-85B9-A3439A34B8AA}"/>
                  </a:ext>
                </a:extLst>
              </p:cNvPr>
              <p:cNvSpPr txBox="1"/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CE6B068B-6E59-4CEA-85B9-A3439A34B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19" y="4561299"/>
                <a:ext cx="449610" cy="461665"/>
              </a:xfrm>
              <a:prstGeom prst="rect">
                <a:avLst/>
              </a:prstGeom>
              <a:blipFill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F0116E8-D1D3-4BFE-9194-4A4C05AE0D96}"/>
                  </a:ext>
                </a:extLst>
              </p:cNvPr>
              <p:cNvSpPr txBox="1"/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AF0116E8-D1D3-4BFE-9194-4A4C05AE0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695" y="5485935"/>
                <a:ext cx="4271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918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241</Words>
  <Application>Microsoft Office PowerPoint</Application>
  <PresentationFormat>ワイド画面</PresentationFormat>
  <Paragraphs>48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21</cp:revision>
  <dcterms:created xsi:type="dcterms:W3CDTF">2024-08-27T02:15:54Z</dcterms:created>
  <dcterms:modified xsi:type="dcterms:W3CDTF">2024-12-16T01:58:52Z</dcterms:modified>
</cp:coreProperties>
</file>