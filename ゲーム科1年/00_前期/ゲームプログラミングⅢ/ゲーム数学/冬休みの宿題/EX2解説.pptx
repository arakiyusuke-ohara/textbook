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2024/12/16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ベクトルのイメージ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60364" cy="230832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ベクトルを頭の中でイメージすると、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三角関数の値が分からなくても、</a:t>
                </a:r>
                <a:endParaRPr lang="en-US" altLang="ja-JP" sz="2400" dirty="0"/>
              </a:p>
              <a:p>
                <a:r>
                  <a:rPr lang="ja-JP" altLang="en-US" sz="2400" dirty="0"/>
                  <a:t>極座標ベクトルを求めることができる場合があります。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■問題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30°=0.5</m:t>
                    </m:r>
                  </m:oMath>
                </a14:m>
                <a:r>
                  <a:rPr kumimoji="1" lang="en-US" altLang="ja-JP" sz="24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</m:t>
                    </m:r>
                  </m:oMath>
                </a14:m>
                <a:r>
                  <a:rPr kumimoji="1" lang="ja-JP" altLang="en-US" sz="2400" dirty="0"/>
                  <a:t>の場合</a:t>
                </a:r>
                <a:r>
                  <a:rPr lang="ja-JP" altLang="en-US" sz="2400" dirty="0"/>
                  <a:t>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@210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をデカルト座標に変換する。</a:t>
                </a:r>
                <a:endParaRPr lang="ja-JP" altLang="ja-JP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60364" cy="2308324"/>
              </a:xfrm>
              <a:prstGeom prst="rect">
                <a:avLst/>
              </a:prstGeom>
              <a:blipFill>
                <a:blip r:embed="rId2"/>
                <a:stretch>
                  <a:fillRect l="-874" t="-2116" b="-529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ベクトルのイメージ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60364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わかっているのは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ja-JP" altLang="en-US" sz="2400" dirty="0"/>
                  <a:t>の三角関数です。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ただし、求めたいベクトルは</a:t>
                </a:r>
                <a14:m>
                  <m:oMath xmlns:m="http://schemas.openxmlformats.org/officeDocument/2006/math">
                    <m:r>
                      <a:rPr kumimoji="1" lang="en-US" altLang="ja-JP" sz="2400" b="0" i="1" dirty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になりますが、</a:t>
                </a:r>
                <a:endParaRPr lang="en-US" altLang="ja-JP" sz="2400" dirty="0"/>
              </a:p>
              <a:p>
                <a:r>
                  <a:rPr kumimoji="1" lang="ja-JP" altLang="en-US" sz="2400" b="0" dirty="0"/>
                  <a:t>ここで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のベクトルと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のベクトルをイメージしてみます。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■問題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30°=0.5</m:t>
                    </m:r>
                  </m:oMath>
                </a14:m>
                <a:r>
                  <a:rPr kumimoji="1" lang="en-US" altLang="ja-JP" sz="24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</m:t>
                    </m:r>
                  </m:oMath>
                </a14:m>
                <a:r>
                  <a:rPr kumimoji="1" lang="ja-JP" altLang="en-US" sz="2400" dirty="0"/>
                  <a:t>の場合</a:t>
                </a:r>
                <a:r>
                  <a:rPr lang="ja-JP" altLang="en-US" sz="2400" dirty="0"/>
                  <a:t>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@210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をデカルト座標に変換する。</a:t>
                </a:r>
                <a:endParaRPr lang="en-US" altLang="ja-JP" sz="2400" dirty="0"/>
              </a:p>
              <a:p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のベクトルは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のベクトルを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180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回転させたものになるので、</a:t>
                </a:r>
                <a:endParaRPr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真後ろを向くベクトル</a:t>
                </a:r>
                <a:r>
                  <a:rPr lang="ja-JP" altLang="en-US" sz="2400" dirty="0"/>
                  <a:t>になるはず。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60364" cy="3416320"/>
              </a:xfrm>
              <a:prstGeom prst="rect">
                <a:avLst/>
              </a:prstGeom>
              <a:blipFill>
                <a:blip r:embed="rId2"/>
                <a:stretch>
                  <a:fillRect l="-874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A654B36C-C80E-4195-8CA2-85158238DEF5}"/>
              </a:ext>
            </a:extLst>
          </p:cNvPr>
          <p:cNvCxnSpPr>
            <a:cxnSpLocks/>
          </p:cNvCxnSpPr>
          <p:nvPr/>
        </p:nvCxnSpPr>
        <p:spPr>
          <a:xfrm flipV="1">
            <a:off x="2006600" y="4901313"/>
            <a:ext cx="1473200" cy="7450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97861A1-C6A7-42A4-AF47-3BDCBEC02F08}"/>
                  </a:ext>
                </a:extLst>
              </p:cNvPr>
              <p:cNvSpPr txBox="1"/>
              <p:nvPr/>
            </p:nvSpPr>
            <p:spPr>
              <a:xfrm>
                <a:off x="2313618" y="5415546"/>
                <a:ext cx="72808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30</m:t>
                      </m:r>
                      <m:r>
                        <a:rPr lang="en-US" altLang="ja-JP" sz="24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ja-JP" altLang="ja-JP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7" name="テキスト ボックス 6">
                <a:extLst>
                  <a:ext uri="{FF2B5EF4-FFF2-40B4-BE49-F238E27FC236}">
                    <a16:creationId xmlns:a16="http://schemas.microsoft.com/office/drawing/2014/main" id="{697861A1-C6A7-42A4-AF47-3BDCBEC02F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13618" y="5415546"/>
                <a:ext cx="728083" cy="461665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7A352D4-20D9-4FAC-A9F0-6C616E3B955D}"/>
              </a:ext>
            </a:extLst>
          </p:cNvPr>
          <p:cNvCxnSpPr>
            <a:cxnSpLocks/>
          </p:cNvCxnSpPr>
          <p:nvPr/>
        </p:nvCxnSpPr>
        <p:spPr>
          <a:xfrm flipH="1">
            <a:off x="694267" y="5646379"/>
            <a:ext cx="1312334" cy="719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円弧 13">
            <a:extLst>
              <a:ext uri="{FF2B5EF4-FFF2-40B4-BE49-F238E27FC236}">
                <a16:creationId xmlns:a16="http://schemas.microsoft.com/office/drawing/2014/main" id="{3A9E4A1B-B1D9-4A08-AA11-08121B5BF17E}"/>
              </a:ext>
            </a:extLst>
          </p:cNvPr>
          <p:cNvSpPr/>
          <p:nvPr/>
        </p:nvSpPr>
        <p:spPr>
          <a:xfrm>
            <a:off x="1824718" y="5415546"/>
            <a:ext cx="309034" cy="290100"/>
          </a:xfrm>
          <a:prstGeom prst="arc">
            <a:avLst>
              <a:gd name="adj1" fmla="val 7695326"/>
              <a:gd name="adj2" fmla="val 0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2D36A45E-1E8E-44A7-8E89-61AB83024F06}"/>
                  </a:ext>
                </a:extLst>
              </p:cNvPr>
              <p:cNvSpPr txBox="1"/>
              <p:nvPr/>
            </p:nvSpPr>
            <p:spPr>
              <a:xfrm>
                <a:off x="1466658" y="4989096"/>
                <a:ext cx="89800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180</m:t>
                      </m:r>
                      <m:r>
                        <a:rPr lang="en-US" altLang="ja-JP" sz="2400" i="1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°</m:t>
                      </m:r>
                    </m:oMath>
                  </m:oMathPara>
                </a14:m>
                <a:endParaRPr lang="ja-JP" altLang="ja-JP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5" name="テキスト ボックス 14">
                <a:extLst>
                  <a:ext uri="{FF2B5EF4-FFF2-40B4-BE49-F238E27FC236}">
                    <a16:creationId xmlns:a16="http://schemas.microsoft.com/office/drawing/2014/main" id="{2D36A45E-1E8E-44A7-8E89-61AB83024F0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66658" y="4989096"/>
                <a:ext cx="898003" cy="4616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2885948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ベクトルのイメージ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/>
              <p:nvPr/>
            </p:nvSpPr>
            <p:spPr>
              <a:xfrm>
                <a:off x="567542" y="1216429"/>
                <a:ext cx="10460364" cy="34163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わかっているのは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kumimoji="1" lang="ja-JP" altLang="en-US" sz="2400" dirty="0"/>
                  <a:t>の三角関数です。</a:t>
                </a:r>
                <a:endParaRPr kumimoji="1" lang="en-US" altLang="ja-JP" sz="2400" dirty="0"/>
              </a:p>
              <a:p>
                <a:r>
                  <a:rPr lang="ja-JP" altLang="en-US" sz="2400" dirty="0"/>
                  <a:t>ただし、求めたいベクトルは</a:t>
                </a:r>
                <a14:m>
                  <m:oMath xmlns:m="http://schemas.openxmlformats.org/officeDocument/2006/math">
                    <m:r>
                      <a:rPr kumimoji="1" lang="en-US" altLang="ja-JP" sz="2400" b="0" i="1" dirty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になりますが、</a:t>
                </a:r>
                <a:endParaRPr lang="en-US" altLang="ja-JP" sz="2400" dirty="0"/>
              </a:p>
              <a:p>
                <a:r>
                  <a:rPr kumimoji="1" lang="ja-JP" altLang="en-US" sz="2400" b="0" dirty="0"/>
                  <a:t>ここで</a:t>
                </a:r>
                <a14:m>
                  <m:oMath xmlns:m="http://schemas.openxmlformats.org/officeDocument/2006/math"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のベクトルと</a:t>
                </a:r>
                <a14:m>
                  <m:oMath xmlns:m="http://schemas.openxmlformats.org/officeDocument/2006/math"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のベクトルをイメージしてみます。</a:t>
                </a:r>
                <a:endParaRPr lang="en-US" altLang="ja-JP" sz="2400" dirty="0"/>
              </a:p>
              <a:p>
                <a:endParaRPr kumimoji="1" lang="en-US" altLang="ja-JP" sz="2400" dirty="0"/>
              </a:p>
              <a:p>
                <a:r>
                  <a:rPr lang="ja-JP" altLang="en-US" sz="2400" b="1" dirty="0">
                    <a:solidFill>
                      <a:srgbClr val="FF0000"/>
                    </a:solidFill>
                  </a:rPr>
                  <a:t>■問題</a:t>
                </a:r>
                <a:endParaRPr kumimoji="1" lang="en-US" altLang="ja-JP" sz="2400" b="1" dirty="0">
                  <a:solidFill>
                    <a:srgbClr val="FF0000"/>
                  </a:solidFill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30°=0.5</m:t>
                    </m:r>
                  </m:oMath>
                </a14:m>
                <a:r>
                  <a:rPr kumimoji="1" lang="en-US" altLang="ja-JP" sz="24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30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</m:t>
                    </m:r>
                  </m:oMath>
                </a14:m>
                <a:r>
                  <a:rPr kumimoji="1" lang="ja-JP" altLang="en-US" sz="2400" dirty="0"/>
                  <a:t>の場合</a:t>
                </a:r>
                <a:r>
                  <a:rPr lang="ja-JP" altLang="en-US" sz="2400" dirty="0"/>
                  <a:t>、</a:t>
                </a:r>
                <a:r>
                  <a:rPr lang="en-US" altLang="ja-JP" sz="2400" dirty="0"/>
                  <a:t> </a:t>
                </a:r>
                <a14:m>
                  <m:oMath xmlns:m="http://schemas.openxmlformats.org/officeDocument/2006/math">
                    <m:r>
                      <a:rPr lang="en-US" altLang="ja-JP" sz="2400" i="1" dirty="0" smtClean="0">
                        <a:latin typeface="Cambria Math" panose="02040503050406030204" pitchFamily="18" charset="0"/>
                      </a:rPr>
                      <m:t>20</m:t>
                    </m:r>
                    <m:r>
                      <a:rPr lang="en-US" altLang="ja-JP" sz="2400" b="0" i="1" dirty="0" smtClean="0">
                        <a:latin typeface="Cambria Math" panose="02040503050406030204" pitchFamily="18" charset="0"/>
                      </a:rPr>
                      <m:t>@210</m:t>
                    </m:r>
                    <m:r>
                      <a:rPr lang="en-US" altLang="ja-JP" sz="2400" i="1" dirty="0">
                        <a:latin typeface="Cambria Math" panose="02040503050406030204" pitchFamily="18" charset="0"/>
                      </a:rPr>
                      <m:t>°</m:t>
                    </m:r>
                  </m:oMath>
                </a14:m>
                <a:r>
                  <a:rPr lang="ja-JP" altLang="en-US" sz="2400" dirty="0"/>
                  <a:t>をデカルト座標に変換する。</a:t>
                </a:r>
                <a:endParaRPr lang="en-US" altLang="ja-JP" sz="2400" dirty="0"/>
              </a:p>
              <a:p>
                <a:endParaRPr lang="en-US" altLang="ja-JP" sz="2400" i="1" dirty="0">
                  <a:latin typeface="Cambria Math" panose="02040503050406030204" pitchFamily="18" charset="0"/>
                </a:endParaRPr>
              </a:p>
              <a:p>
                <a:r>
                  <a:rPr lang="ja-JP" altLang="en-US" sz="2400" dirty="0"/>
                  <a:t>真後ろということは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lang="ja-JP" altLang="en-US" sz="2400" dirty="0"/>
                  <a:t>の増加量が逆になるということです。</a:t>
                </a:r>
                <a:endParaRPr lang="en-US" altLang="ja-JP" sz="2400" dirty="0"/>
              </a:p>
              <a:p>
                <a:r>
                  <a:rPr lang="ja-JP" altLang="en-US" sz="2400" dirty="0"/>
                  <a:t>つまり、</a:t>
                </a:r>
                <a:r>
                  <a:rPr kumimoji="1" lang="en-US" altLang="ja-JP" sz="2400" b="0" dirty="0"/>
                  <a:t> </a:t>
                </a:r>
                <a14:m>
                  <m:oMath xmlns:m="http://schemas.openxmlformats.org/officeDocument/2006/math"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210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°=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400" b="0" i="1" smtClean="0"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kumimoji="1" lang="en-US" altLang="ja-JP" sz="2400" dirty="0"/>
                  <a:t>, </a:t>
                </a:r>
                <a14:m>
                  <m:oMath xmlns:m="http://schemas.openxmlformats.org/officeDocument/2006/math"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210</m:t>
                    </m:r>
                    <m:r>
                      <a:rPr lang="en-US" altLang="ja-JP" sz="2400" i="1" smtClean="0">
                        <a:latin typeface="Cambria Math" panose="02040503050406030204" pitchFamily="18" charset="0"/>
                      </a:rPr>
                      <m:t>°</m:t>
                    </m:r>
                    <m:r>
                      <a:rPr lang="en-US" altLang="ja-JP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altLang="ja-JP" sz="2400" b="0" i="1" smtClean="0">
                        <a:latin typeface="Cambria Math" panose="02040503050406030204" pitchFamily="18" charset="0"/>
                      </a:rPr>
                      <m:t>0.86</m:t>
                    </m:r>
                  </m:oMath>
                </a14:m>
                <a:r>
                  <a:rPr lang="en-US" altLang="ja-JP" sz="2400" dirty="0"/>
                  <a:t> </a:t>
                </a:r>
                <a:r>
                  <a:rPr lang="ja-JP" altLang="en-US" sz="2400" dirty="0"/>
                  <a:t>となることが分かります。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6" name="テキスト ボックス 5">
                <a:extLst>
                  <a:ext uri="{FF2B5EF4-FFF2-40B4-BE49-F238E27FC236}">
                    <a16:creationId xmlns:a16="http://schemas.microsoft.com/office/drawing/2014/main" id="{55830AD6-028B-4C4E-80BF-B70DFC1C3A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1216429"/>
                <a:ext cx="10460364" cy="3416320"/>
              </a:xfrm>
              <a:prstGeom prst="rect">
                <a:avLst/>
              </a:prstGeom>
              <a:blipFill>
                <a:blip r:embed="rId2"/>
                <a:stretch>
                  <a:fillRect l="-874" t="-1429" b="-321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直線矢印コネクタ 2">
            <a:extLst>
              <a:ext uri="{FF2B5EF4-FFF2-40B4-BE49-F238E27FC236}">
                <a16:creationId xmlns:a16="http://schemas.microsoft.com/office/drawing/2014/main" id="{A654B36C-C80E-4195-8CA2-85158238DEF5}"/>
              </a:ext>
            </a:extLst>
          </p:cNvPr>
          <p:cNvCxnSpPr>
            <a:cxnSpLocks/>
          </p:cNvCxnSpPr>
          <p:nvPr/>
        </p:nvCxnSpPr>
        <p:spPr>
          <a:xfrm flipV="1">
            <a:off x="2006600" y="4901313"/>
            <a:ext cx="1473200" cy="745067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線矢印コネクタ 7">
            <a:extLst>
              <a:ext uri="{FF2B5EF4-FFF2-40B4-BE49-F238E27FC236}">
                <a16:creationId xmlns:a16="http://schemas.microsoft.com/office/drawing/2014/main" id="{47A352D4-20D9-4FAC-A9F0-6C616E3B955D}"/>
              </a:ext>
            </a:extLst>
          </p:cNvPr>
          <p:cNvCxnSpPr>
            <a:cxnSpLocks/>
          </p:cNvCxnSpPr>
          <p:nvPr/>
        </p:nvCxnSpPr>
        <p:spPr>
          <a:xfrm flipH="1">
            <a:off x="694267" y="5646379"/>
            <a:ext cx="1312334" cy="719667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直線コネクタ 4">
            <a:extLst>
              <a:ext uri="{FF2B5EF4-FFF2-40B4-BE49-F238E27FC236}">
                <a16:creationId xmlns:a16="http://schemas.microsoft.com/office/drawing/2014/main" id="{3AD398D0-7084-4DDD-8E40-CE5B01127B42}"/>
              </a:ext>
            </a:extLst>
          </p:cNvPr>
          <p:cNvCxnSpPr/>
          <p:nvPr/>
        </p:nvCxnSpPr>
        <p:spPr>
          <a:xfrm>
            <a:off x="2006600" y="5646379"/>
            <a:ext cx="1473200" cy="0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線コネクタ 10">
            <a:extLst>
              <a:ext uri="{FF2B5EF4-FFF2-40B4-BE49-F238E27FC236}">
                <a16:creationId xmlns:a16="http://schemas.microsoft.com/office/drawing/2014/main" id="{E1CF7122-0035-482C-8D25-25BB42456627}"/>
              </a:ext>
            </a:extLst>
          </p:cNvPr>
          <p:cNvCxnSpPr>
            <a:cxnSpLocks/>
          </p:cNvCxnSpPr>
          <p:nvPr/>
        </p:nvCxnSpPr>
        <p:spPr>
          <a:xfrm>
            <a:off x="3462866" y="4906121"/>
            <a:ext cx="0" cy="740258"/>
          </a:xfrm>
          <a:prstGeom prst="line">
            <a:avLst/>
          </a:prstGeom>
          <a:ln w="3810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A4A8BDC-A0E1-473C-B76D-B47799BCA88E}"/>
                  </a:ext>
                </a:extLst>
              </p:cNvPr>
              <p:cNvSpPr txBox="1"/>
              <p:nvPr/>
            </p:nvSpPr>
            <p:spPr>
              <a:xfrm>
                <a:off x="2400502" y="5641571"/>
                <a:ext cx="68320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0.86</m:t>
                      </m:r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16" name="テキスト ボックス 15">
                <a:extLst>
                  <a:ext uri="{FF2B5EF4-FFF2-40B4-BE49-F238E27FC236}">
                    <a16:creationId xmlns:a16="http://schemas.microsoft.com/office/drawing/2014/main" id="{8A4A8BDC-A0E1-473C-B76D-B47799BCA8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00502" y="5641571"/>
                <a:ext cx="683200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2A1A38B-C175-49B2-8741-3349646EF677}"/>
                  </a:ext>
                </a:extLst>
              </p:cNvPr>
              <p:cNvSpPr txBox="1"/>
              <p:nvPr/>
            </p:nvSpPr>
            <p:spPr>
              <a:xfrm>
                <a:off x="3471333" y="5097190"/>
                <a:ext cx="55495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latin typeface="Cambria Math" panose="02040503050406030204" pitchFamily="18" charset="0"/>
                        </a:rPr>
                        <m:t>0.</m:t>
                      </m:r>
                      <m:r>
                        <a:rPr lang="en-US" altLang="ja-JP" i="1">
                          <a:latin typeface="Cambria Math" panose="02040503050406030204" pitchFamily="18" charset="0"/>
                        </a:rPr>
                        <m:t>5</m:t>
                      </m:r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17" name="テキスト ボックス 16">
                <a:extLst>
                  <a:ext uri="{FF2B5EF4-FFF2-40B4-BE49-F238E27FC236}">
                    <a16:creationId xmlns:a16="http://schemas.microsoft.com/office/drawing/2014/main" id="{82A1A38B-C175-49B2-8741-3349646EF6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71333" y="5097190"/>
                <a:ext cx="554959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8" name="直線コネクタ 17">
            <a:extLst>
              <a:ext uri="{FF2B5EF4-FFF2-40B4-BE49-F238E27FC236}">
                <a16:creationId xmlns:a16="http://schemas.microsoft.com/office/drawing/2014/main" id="{42254F21-48C6-45D7-95AD-44BF9142EFAE}"/>
              </a:ext>
            </a:extLst>
          </p:cNvPr>
          <p:cNvCxnSpPr>
            <a:cxnSpLocks/>
          </p:cNvCxnSpPr>
          <p:nvPr/>
        </p:nvCxnSpPr>
        <p:spPr>
          <a:xfrm>
            <a:off x="2006600" y="5641571"/>
            <a:ext cx="0" cy="740258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直線コネクタ 18">
            <a:extLst>
              <a:ext uri="{FF2B5EF4-FFF2-40B4-BE49-F238E27FC236}">
                <a16:creationId xmlns:a16="http://schemas.microsoft.com/office/drawing/2014/main" id="{043A5047-98F9-4BE8-A55E-B081DD13858B}"/>
              </a:ext>
            </a:extLst>
          </p:cNvPr>
          <p:cNvCxnSpPr>
            <a:cxnSpLocks/>
          </p:cNvCxnSpPr>
          <p:nvPr/>
        </p:nvCxnSpPr>
        <p:spPr>
          <a:xfrm flipV="1">
            <a:off x="694267" y="6347075"/>
            <a:ext cx="1312333" cy="18971"/>
          </a:xfrm>
          <a:prstGeom prst="line">
            <a:avLst/>
          </a:prstGeom>
          <a:ln w="38100">
            <a:solidFill>
              <a:srgbClr val="FF000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4442D3D3-52ED-4DBC-9E1B-C3A19BDA9C6D}"/>
                  </a:ext>
                </a:extLst>
              </p:cNvPr>
              <p:cNvSpPr txBox="1"/>
              <p:nvPr/>
            </p:nvSpPr>
            <p:spPr>
              <a:xfrm>
                <a:off x="1987871" y="5914944"/>
                <a:ext cx="72808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−0.5</m:t>
                      </m:r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20" name="テキスト ボックス 19">
                <a:extLst>
                  <a:ext uri="{FF2B5EF4-FFF2-40B4-BE49-F238E27FC236}">
                    <a16:creationId xmlns:a16="http://schemas.microsoft.com/office/drawing/2014/main" id="{4442D3D3-52ED-4DBC-9E1B-C3A19BDA9C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87871" y="5914944"/>
                <a:ext cx="728084" cy="36933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CD3A532E-2E67-40BE-BEAC-6E17D70962C2}"/>
                  </a:ext>
                </a:extLst>
              </p:cNvPr>
              <p:cNvSpPr txBox="1"/>
              <p:nvPr/>
            </p:nvSpPr>
            <p:spPr>
              <a:xfrm>
                <a:off x="986391" y="6381829"/>
                <a:ext cx="85632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−0.86</m:t>
                      </m:r>
                    </m:oMath>
                  </m:oMathPara>
                </a14:m>
                <a:endParaRPr lang="en-US" altLang="ja-JP" dirty="0"/>
              </a:p>
            </p:txBody>
          </p:sp>
        </mc:Choice>
        <mc:Fallback>
          <p:sp>
            <p:nvSpPr>
              <p:cNvPr id="21" name="テキスト ボックス 20">
                <a:extLst>
                  <a:ext uri="{FF2B5EF4-FFF2-40B4-BE49-F238E27FC236}">
                    <a16:creationId xmlns:a16="http://schemas.microsoft.com/office/drawing/2014/main" id="{CD3A532E-2E67-40BE-BEAC-6E17D7096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86391" y="6381829"/>
                <a:ext cx="856325" cy="36933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ED9D1DB-72D2-44E1-8956-FE655191BA08}"/>
                  </a:ext>
                </a:extLst>
              </p:cNvPr>
              <p:cNvSpPr txBox="1"/>
              <p:nvPr/>
            </p:nvSpPr>
            <p:spPr>
              <a:xfrm>
                <a:off x="4674220" y="5346295"/>
                <a:ext cx="6316153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kumimoji="1" lang="ja-JP" altLang="en-US" sz="2400" dirty="0"/>
                  <a:t>これで計算すると</a:t>
                </a:r>
                <a14:m>
                  <m:oMath xmlns:m="http://schemas.openxmlformats.org/officeDocument/2006/math"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[−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𝟏𝟕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.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𝟐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, −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𝟏𝟎</m:t>
                    </m:r>
                    <m:r>
                      <a:rPr lang="en-US" altLang="ja-JP" sz="2400" b="1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ja-JP" altLang="en-US" sz="2400" dirty="0"/>
                  <a:t>となります。</a:t>
                </a:r>
                <a:endParaRPr lang="en-US" altLang="ja-JP" sz="2400" dirty="0"/>
              </a:p>
            </p:txBody>
          </p:sp>
        </mc:Choice>
        <mc:Fallback>
          <p:sp>
            <p:nvSpPr>
              <p:cNvPr id="22" name="テキスト ボックス 21">
                <a:extLst>
                  <a:ext uri="{FF2B5EF4-FFF2-40B4-BE49-F238E27FC236}">
                    <a16:creationId xmlns:a16="http://schemas.microsoft.com/office/drawing/2014/main" id="{CED9D1DB-72D2-44E1-8956-FE655191BA0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74220" y="5346295"/>
                <a:ext cx="6316153" cy="461665"/>
              </a:xfrm>
              <a:prstGeom prst="rect">
                <a:avLst/>
              </a:prstGeom>
              <a:blipFill>
                <a:blip r:embed="rId7"/>
                <a:stretch>
                  <a:fillRect l="-1544" t="-10526" r="-483" b="-2894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420902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87798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ja-JP" altLang="en-US" sz="3200" b="1" u="sng" dirty="0"/>
              <a:t>ベクトルのイメージ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26352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また、有名な角度はベクトルでイメージできると、</a:t>
            </a:r>
            <a:endParaRPr lang="en-US" altLang="ja-JP" sz="2400" dirty="0"/>
          </a:p>
          <a:p>
            <a:r>
              <a:rPr lang="ja-JP" altLang="en-US" sz="2400" dirty="0"/>
              <a:t>効率よく計算できることが多いです。</a:t>
            </a:r>
            <a:endParaRPr lang="en-US" altLang="ja-JP" sz="2400" dirty="0"/>
          </a:p>
        </p:txBody>
      </p:sp>
      <p:cxnSp>
        <p:nvCxnSpPr>
          <p:cNvPr id="7" name="直線矢印コネクタ 6">
            <a:extLst>
              <a:ext uri="{FF2B5EF4-FFF2-40B4-BE49-F238E27FC236}">
                <a16:creationId xmlns:a16="http://schemas.microsoft.com/office/drawing/2014/main" id="{9FF37EC2-8807-418E-A826-A1126DE58732}"/>
              </a:ext>
            </a:extLst>
          </p:cNvPr>
          <p:cNvCxnSpPr/>
          <p:nvPr/>
        </p:nvCxnSpPr>
        <p:spPr>
          <a:xfrm>
            <a:off x="742787" y="3683000"/>
            <a:ext cx="17187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8A10DD4-CEBD-4756-B7DE-DB59BDD7C5CA}"/>
                  </a:ext>
                </a:extLst>
              </p:cNvPr>
              <p:cNvSpPr txBox="1"/>
              <p:nvPr/>
            </p:nvSpPr>
            <p:spPr>
              <a:xfrm>
                <a:off x="567542" y="3970867"/>
                <a:ext cx="2069221" cy="46166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1@0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°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=[1, 0]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23" name="テキスト ボックス 22">
                <a:extLst>
                  <a:ext uri="{FF2B5EF4-FFF2-40B4-BE49-F238E27FC236}">
                    <a16:creationId xmlns:a16="http://schemas.microsoft.com/office/drawing/2014/main" id="{D8A10DD4-CEBD-4756-B7DE-DB59BDD7C5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7542" y="3970867"/>
                <a:ext cx="2069221" cy="461665"/>
              </a:xfrm>
              <a:prstGeom prst="rect">
                <a:avLst/>
              </a:prstGeom>
              <a:blipFill>
                <a:blip r:embed="rId2"/>
                <a:stretch>
                  <a:fillRect r="-294"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4" name="直線矢印コネクタ 23">
            <a:extLst>
              <a:ext uri="{FF2B5EF4-FFF2-40B4-BE49-F238E27FC236}">
                <a16:creationId xmlns:a16="http://schemas.microsoft.com/office/drawing/2014/main" id="{86CBEC13-EB76-409D-9B93-39F0793E206B}"/>
              </a:ext>
            </a:extLst>
          </p:cNvPr>
          <p:cNvCxnSpPr>
            <a:cxnSpLocks/>
          </p:cNvCxnSpPr>
          <p:nvPr/>
        </p:nvCxnSpPr>
        <p:spPr>
          <a:xfrm flipV="1">
            <a:off x="4185162" y="2593526"/>
            <a:ext cx="0" cy="117837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421A583-6EED-4360-BBCA-AFE0D8274BAC}"/>
                  </a:ext>
                </a:extLst>
              </p:cNvPr>
              <p:cNvSpPr txBox="1"/>
              <p:nvPr/>
            </p:nvSpPr>
            <p:spPr>
              <a:xfrm>
                <a:off x="3072096" y="3970867"/>
                <a:ext cx="2247624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1@90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°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=[0, 1]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25" name="テキスト ボックス 24">
                <a:extLst>
                  <a:ext uri="{FF2B5EF4-FFF2-40B4-BE49-F238E27FC236}">
                    <a16:creationId xmlns:a16="http://schemas.microsoft.com/office/drawing/2014/main" id="{7421A583-6EED-4360-BBCA-AFE0D8274B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72096" y="3970867"/>
                <a:ext cx="2247624" cy="461665"/>
              </a:xfrm>
              <a:prstGeom prst="rect">
                <a:avLst/>
              </a:prstGeom>
              <a:blipFill>
                <a:blip r:embed="rId3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6" name="直線矢印コネクタ 25">
            <a:extLst>
              <a:ext uri="{FF2B5EF4-FFF2-40B4-BE49-F238E27FC236}">
                <a16:creationId xmlns:a16="http://schemas.microsoft.com/office/drawing/2014/main" id="{5CBF7A65-7611-413F-9C48-D56787372591}"/>
              </a:ext>
            </a:extLst>
          </p:cNvPr>
          <p:cNvCxnSpPr>
            <a:cxnSpLocks/>
          </p:cNvCxnSpPr>
          <p:nvPr/>
        </p:nvCxnSpPr>
        <p:spPr>
          <a:xfrm flipH="1">
            <a:off x="6096000" y="3683000"/>
            <a:ext cx="1718733" cy="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166D18B7-D55D-4DAC-A91C-46A21FB941C6}"/>
                  </a:ext>
                </a:extLst>
              </p:cNvPr>
              <p:cNvSpPr txBox="1"/>
              <p:nvPr/>
            </p:nvSpPr>
            <p:spPr>
              <a:xfrm>
                <a:off x="5755054" y="3975332"/>
                <a:ext cx="27200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1@180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°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=[−1, 0]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27" name="テキスト ボックス 26">
                <a:extLst>
                  <a:ext uri="{FF2B5EF4-FFF2-40B4-BE49-F238E27FC236}">
                    <a16:creationId xmlns:a16="http://schemas.microsoft.com/office/drawing/2014/main" id="{166D18B7-D55D-4DAC-A91C-46A21FB94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55054" y="3975332"/>
                <a:ext cx="2720079" cy="461665"/>
              </a:xfrm>
              <a:prstGeom prst="rect">
                <a:avLst/>
              </a:prstGeom>
              <a:blipFill>
                <a:blip r:embed="rId4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28" name="直線矢印コネクタ 27">
            <a:extLst>
              <a:ext uri="{FF2B5EF4-FFF2-40B4-BE49-F238E27FC236}">
                <a16:creationId xmlns:a16="http://schemas.microsoft.com/office/drawing/2014/main" id="{217DE48A-8F9C-460A-8BE0-24CD02AF1212}"/>
              </a:ext>
            </a:extLst>
          </p:cNvPr>
          <p:cNvCxnSpPr>
            <a:cxnSpLocks/>
          </p:cNvCxnSpPr>
          <p:nvPr/>
        </p:nvCxnSpPr>
        <p:spPr>
          <a:xfrm>
            <a:off x="9959080" y="2565632"/>
            <a:ext cx="1" cy="120626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4BC3118-F8C6-405F-91F3-D9FBDC400D28}"/>
                  </a:ext>
                </a:extLst>
              </p:cNvPr>
              <p:cNvSpPr txBox="1"/>
              <p:nvPr/>
            </p:nvSpPr>
            <p:spPr>
              <a:xfrm>
                <a:off x="8729134" y="3975332"/>
                <a:ext cx="2720079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1@</m:t>
                      </m:r>
                      <m:r>
                        <a:rPr lang="en-US" altLang="ja-JP" sz="2400" i="1">
                          <a:latin typeface="Cambria Math" panose="02040503050406030204" pitchFamily="18" charset="0"/>
                        </a:rPr>
                        <m:t>270°</m:t>
                      </m:r>
                      <m:r>
                        <a:rPr lang="en-US" altLang="ja-JP" sz="2400" b="0" i="1" smtClean="0">
                          <a:latin typeface="Cambria Math" panose="02040503050406030204" pitchFamily="18" charset="0"/>
                        </a:rPr>
                        <m:t>=[0, −1]</m:t>
                      </m:r>
                    </m:oMath>
                  </m:oMathPara>
                </a14:m>
                <a:endParaRPr lang="en-US" altLang="ja-JP" sz="2400" dirty="0"/>
              </a:p>
            </p:txBody>
          </p:sp>
        </mc:Choice>
        <mc:Fallback>
          <p:sp>
            <p:nvSpPr>
              <p:cNvPr id="29" name="テキスト ボックス 28">
                <a:extLst>
                  <a:ext uri="{FF2B5EF4-FFF2-40B4-BE49-F238E27FC236}">
                    <a16:creationId xmlns:a16="http://schemas.microsoft.com/office/drawing/2014/main" id="{F4BC3118-F8C6-405F-91F3-D9FBDC400D2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29134" y="3975332"/>
                <a:ext cx="2720079" cy="461665"/>
              </a:xfrm>
              <a:prstGeom prst="rect">
                <a:avLst/>
              </a:prstGeom>
              <a:blipFill>
                <a:blip r:embed="rId5"/>
                <a:stretch>
                  <a:fillRect b="-1578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541375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173</TotalTime>
  <Words>327</Words>
  <Application>Microsoft Office PowerPoint</Application>
  <PresentationFormat>ワイド画面</PresentationFormat>
  <Paragraphs>41</Paragraphs>
  <Slides>4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4</vt:i4>
      </vt:variant>
    </vt:vector>
  </HeadingPairs>
  <TitlesOfParts>
    <vt:vector size="9" baseType="lpstr"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荒木 優介</cp:lastModifiedBy>
  <cp:revision>25</cp:revision>
  <dcterms:created xsi:type="dcterms:W3CDTF">2024-08-27T02:15:54Z</dcterms:created>
  <dcterms:modified xsi:type="dcterms:W3CDTF">2024-12-16T02:29:58Z</dcterms:modified>
</cp:coreProperties>
</file>