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オリジナルゲーム制作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これまでの学習を生かしてオリジナルゲームを制作しましょう。</a:t>
            </a:r>
            <a:endParaRPr kumimoji="1" lang="en-US" altLang="ja-JP" sz="2400" dirty="0"/>
          </a:p>
          <a:p>
            <a:r>
              <a:rPr kumimoji="1" lang="ja-JP" altLang="en-US" sz="2400" dirty="0"/>
              <a:t>制作したゲームは今後いろいろなものに活用していきます。</a:t>
            </a:r>
            <a:endParaRPr kumimoji="1"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■ゲームの活用先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・就活のポートフォリオに記載</a:t>
            </a:r>
            <a:endParaRPr kumimoji="1" lang="en-US" altLang="ja-JP" sz="2400" dirty="0"/>
          </a:p>
          <a:p>
            <a:r>
              <a:rPr lang="ja-JP" altLang="en-US" sz="2400" dirty="0"/>
              <a:t>・制作展への展示</a:t>
            </a:r>
            <a:endParaRPr lang="en-US" altLang="ja-JP" sz="2400" dirty="0"/>
          </a:p>
          <a:p>
            <a:r>
              <a:rPr kumimoji="1" lang="ja-JP" altLang="en-US" sz="2400" dirty="0"/>
              <a:t>・効果測定の成績</a:t>
            </a:r>
            <a:endParaRPr kumimoji="1" lang="en-US" altLang="ja-JP" sz="2400" dirty="0"/>
          </a:p>
          <a:p>
            <a:r>
              <a:rPr lang="ja-JP" altLang="en-US" sz="2400" dirty="0"/>
              <a:t>・コンクールへの提出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１年生の集大成ともいえる作品になります。</a:t>
            </a:r>
            <a:endParaRPr lang="en-US" altLang="ja-JP" sz="2400" dirty="0"/>
          </a:p>
          <a:p>
            <a:r>
              <a:rPr kumimoji="1" lang="ja-JP" altLang="en-US" sz="2400" dirty="0"/>
              <a:t>悔いの残らないように取り組みましょう。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4572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オリジナルゲーム制作 企画と仕様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長期期間でのゲーム制作で重要なのは、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企画</a:t>
            </a:r>
            <a:r>
              <a:rPr lang="ja-JP" altLang="en-US" sz="2400" dirty="0"/>
              <a:t>と</a:t>
            </a:r>
            <a:r>
              <a:rPr lang="ja-JP" altLang="en-US" sz="2400" b="1" dirty="0">
                <a:solidFill>
                  <a:srgbClr val="FF0000"/>
                </a:solidFill>
              </a:rPr>
              <a:t>仕様</a:t>
            </a:r>
            <a:r>
              <a:rPr lang="ja-JP" altLang="en-US" sz="2400" dirty="0"/>
              <a:t>をあらかじめ明確にしておくことです。</a:t>
            </a:r>
            <a:endParaRPr kumimoji="1"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■企画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どんなゲームにするのか。</a:t>
            </a:r>
            <a:endParaRPr kumimoji="1" lang="en-US" altLang="ja-JP" sz="2400" dirty="0"/>
          </a:p>
          <a:p>
            <a:r>
              <a:rPr lang="ja-JP" altLang="en-US" sz="2400" dirty="0"/>
              <a:t>ゲームの詳細ではなく、</a:t>
            </a:r>
            <a:r>
              <a:rPr lang="ja-JP" altLang="en-US" sz="2400" b="1" dirty="0">
                <a:solidFill>
                  <a:srgbClr val="FF0000"/>
                </a:solidFill>
              </a:rPr>
              <a:t>何が面白いのか</a:t>
            </a:r>
            <a:r>
              <a:rPr lang="ja-JP" altLang="en-US" sz="2400" dirty="0"/>
              <a:t>を主に</a:t>
            </a:r>
            <a:r>
              <a:rPr lang="ja-JP" altLang="en-US" sz="2400" b="1" dirty="0">
                <a:solidFill>
                  <a:srgbClr val="FF0000"/>
                </a:solidFill>
              </a:rPr>
              <a:t>企画書</a:t>
            </a:r>
            <a:r>
              <a:rPr lang="ja-JP" altLang="en-US" sz="2400" dirty="0"/>
              <a:t>に書く。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■仕様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ゲームに必要なもの全て。</a:t>
            </a:r>
            <a:r>
              <a:rPr kumimoji="1" lang="ja-JP" altLang="en-US" sz="2400" dirty="0"/>
              <a:t>それらを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明確に仕様書</a:t>
            </a:r>
            <a:r>
              <a:rPr kumimoji="1" lang="ja-JP" altLang="en-US" sz="2400" dirty="0"/>
              <a:t>に書く。</a:t>
            </a:r>
            <a:endParaRPr kumimoji="1" lang="en-US" altLang="ja-JP" sz="2400" dirty="0"/>
          </a:p>
          <a:p>
            <a:r>
              <a:rPr lang="ja-JP" altLang="en-US" sz="2400" dirty="0"/>
              <a:t>読むだけで、どんなものを作れば良いかわかるものが理想的。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まずはこれらの資料を作成しましょう。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27511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76883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オリジナルゲーム制作 スケジュール管理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880175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仕様書を書けば、締め切りまでにどのように作業するか、</a:t>
            </a:r>
            <a:endParaRPr kumimoji="1" lang="en-US" altLang="ja-JP" sz="2400" dirty="0"/>
          </a:p>
          <a:p>
            <a:r>
              <a:rPr lang="ja-JP" altLang="en-US" sz="2400" dirty="0"/>
              <a:t>スケジュールを考えます。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仕様書に書かれているもの１つ１つに対して、</a:t>
            </a:r>
            <a:r>
              <a:rPr lang="ja-JP" altLang="en-US" sz="2400" b="1" dirty="0">
                <a:solidFill>
                  <a:srgbClr val="FF0000"/>
                </a:solidFill>
              </a:rPr>
              <a:t>どれだけ時間がかかるか（工数）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を予想し、それを守りながら作業を進めます。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■注意点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仕様を全て実装＝完成</a:t>
            </a:r>
            <a:r>
              <a:rPr lang="ja-JP" altLang="en-US" sz="2400" dirty="0"/>
              <a:t>ではありません。例えば、</a:t>
            </a:r>
            <a:endParaRPr lang="en-US" altLang="ja-JP" sz="2400" dirty="0"/>
          </a:p>
          <a:p>
            <a:r>
              <a:rPr kumimoji="1" lang="ja-JP" altLang="en-US" sz="2400" dirty="0"/>
              <a:t>・まだ面白くない</a:t>
            </a:r>
            <a:endParaRPr kumimoji="1" lang="en-US" altLang="ja-JP" sz="2400" dirty="0"/>
          </a:p>
          <a:p>
            <a:r>
              <a:rPr lang="ja-JP" altLang="en-US" sz="2400" dirty="0"/>
              <a:t>・不具合がでてる</a:t>
            </a:r>
            <a:endParaRPr lang="en-US" altLang="ja-JP" sz="2400" dirty="0"/>
          </a:p>
          <a:p>
            <a:r>
              <a:rPr lang="ja-JP" altLang="en-US" sz="2400" dirty="0"/>
              <a:t>など、作業中に他にやりたいことが常に増えていきます。</a:t>
            </a:r>
            <a:endParaRPr lang="en-US" altLang="ja-JP" sz="2400" dirty="0"/>
          </a:p>
          <a:p>
            <a:r>
              <a:rPr kumimoji="1" lang="ja-JP" altLang="en-US" sz="2400" dirty="0"/>
              <a:t>それらを想定しながら、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余裕（マージン）を持ったスケジュールを考えましょう。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en-US" altLang="ja-JP" sz="2400" dirty="0"/>
              <a:t>※</a:t>
            </a:r>
            <a:r>
              <a:rPr kumimoji="1" lang="ja-JP" altLang="en-US" sz="2400" dirty="0"/>
              <a:t>おおよそですが、締め切りの１か月前に全実装が現実的かと思います。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519445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76883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オリジナルゲーム制作 スケジュール管理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スケジュールを決めたら、よほどのことがない限り守りましょう。</a:t>
            </a:r>
            <a:endParaRPr kumimoji="1" lang="en-US" altLang="ja-JP" sz="2400" dirty="0"/>
          </a:p>
          <a:p>
            <a:r>
              <a:rPr lang="ja-JP" altLang="en-US" sz="2400" dirty="0"/>
              <a:t>授業の時間で間に合わなければ、放課後やお家で作業しましょう。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よほどのことが発生した場合は、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スケジュールを組みなおしましょう。（リスケジュール）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■よほどのこととは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・想定していたものよりずっと大規模だった</a:t>
            </a:r>
            <a:endParaRPr kumimoji="1" lang="en-US" altLang="ja-JP" sz="2400" dirty="0"/>
          </a:p>
          <a:p>
            <a:r>
              <a:rPr lang="ja-JP" altLang="en-US" sz="2400" dirty="0"/>
              <a:t>・不具合が出すぎて収集がつかなくなった</a:t>
            </a:r>
            <a:endParaRPr lang="en-US" altLang="ja-JP" sz="2400" dirty="0"/>
          </a:p>
          <a:p>
            <a:r>
              <a:rPr kumimoji="1" lang="ja-JP" altLang="en-US" sz="2400" dirty="0"/>
              <a:t>・想定していたものよりも実装難易度が高すぎた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判断がつきにくいと思いますので、こまめに先生に相談しましょう。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278967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76883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オリジナルゲーム制作 スケジュール管理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これらを踏まえたうえでの作業の流れです。</a:t>
            </a:r>
            <a:endParaRPr kumimoji="1" lang="en-US" altLang="ja-JP" sz="2400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C27C03E-0B0A-439C-9B96-BAC9BEF89C89}"/>
              </a:ext>
            </a:extLst>
          </p:cNvPr>
          <p:cNvSpPr/>
          <p:nvPr/>
        </p:nvSpPr>
        <p:spPr>
          <a:xfrm>
            <a:off x="767370" y="2836506"/>
            <a:ext cx="650883" cy="19701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>
            <a:normAutofit/>
          </a:bodyPr>
          <a:lstStyle/>
          <a:p>
            <a:pPr algn="ctr"/>
            <a:r>
              <a:rPr kumimoji="1" lang="ja-JP" altLang="en-US" b="1" dirty="0"/>
              <a:t>企画書作成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1B73BD5-A1FE-4B26-BA98-6AB06CA546AC}"/>
              </a:ext>
            </a:extLst>
          </p:cNvPr>
          <p:cNvSpPr/>
          <p:nvPr/>
        </p:nvSpPr>
        <p:spPr>
          <a:xfrm>
            <a:off x="3282673" y="2836506"/>
            <a:ext cx="650883" cy="19701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>
            <a:normAutofit/>
          </a:bodyPr>
          <a:lstStyle/>
          <a:p>
            <a:pPr algn="ctr"/>
            <a:r>
              <a:rPr kumimoji="1" lang="ja-JP" altLang="en-US" b="1" dirty="0"/>
              <a:t>仕様書作成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CD7446E-811B-4FE2-86CD-98546BC2E9B4}"/>
              </a:ext>
            </a:extLst>
          </p:cNvPr>
          <p:cNvSpPr/>
          <p:nvPr/>
        </p:nvSpPr>
        <p:spPr>
          <a:xfrm>
            <a:off x="5814934" y="2836506"/>
            <a:ext cx="650883" cy="19701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>
            <a:normAutofit/>
          </a:bodyPr>
          <a:lstStyle/>
          <a:p>
            <a:pPr algn="ctr"/>
            <a:r>
              <a:rPr kumimoji="1" lang="ja-JP" altLang="en-US" b="1" dirty="0"/>
              <a:t>スケジュール作成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59A2CB7-A53D-4218-A99D-AE7957FBE5F1}"/>
              </a:ext>
            </a:extLst>
          </p:cNvPr>
          <p:cNvSpPr/>
          <p:nvPr/>
        </p:nvSpPr>
        <p:spPr>
          <a:xfrm>
            <a:off x="8313279" y="2836505"/>
            <a:ext cx="650883" cy="19701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>
            <a:normAutofit/>
          </a:bodyPr>
          <a:lstStyle/>
          <a:p>
            <a:pPr algn="ctr"/>
            <a:r>
              <a:rPr kumimoji="1" lang="ja-JP" altLang="en-US" b="1" dirty="0"/>
              <a:t>制作作業</a:t>
            </a:r>
          </a:p>
        </p:txBody>
      </p:sp>
      <p:sp>
        <p:nvSpPr>
          <p:cNvPr id="3" name="矢印: 右 2">
            <a:extLst>
              <a:ext uri="{FF2B5EF4-FFF2-40B4-BE49-F238E27FC236}">
                <a16:creationId xmlns:a16="http://schemas.microsoft.com/office/drawing/2014/main" id="{BDE673A4-72AE-4E79-93D1-B47EC5DA5163}"/>
              </a:ext>
            </a:extLst>
          </p:cNvPr>
          <p:cNvSpPr/>
          <p:nvPr/>
        </p:nvSpPr>
        <p:spPr>
          <a:xfrm>
            <a:off x="1418253" y="3524429"/>
            <a:ext cx="1847462" cy="71195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チェック合格</a:t>
            </a:r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4513EE6E-6355-4232-A1D1-C57928301B85}"/>
              </a:ext>
            </a:extLst>
          </p:cNvPr>
          <p:cNvSpPr/>
          <p:nvPr/>
        </p:nvSpPr>
        <p:spPr>
          <a:xfrm>
            <a:off x="3950514" y="3524429"/>
            <a:ext cx="1847462" cy="71195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チェック合格</a:t>
            </a:r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D7871462-ED25-484E-9651-0561BDE55F35}"/>
              </a:ext>
            </a:extLst>
          </p:cNvPr>
          <p:cNvSpPr/>
          <p:nvPr/>
        </p:nvSpPr>
        <p:spPr>
          <a:xfrm>
            <a:off x="6465817" y="3524429"/>
            <a:ext cx="1847462" cy="71195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チェック合格</a:t>
            </a:r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965B5186-7708-4743-9E08-C7ABBEF63CAD}"/>
              </a:ext>
            </a:extLst>
          </p:cNvPr>
          <p:cNvSpPr/>
          <p:nvPr/>
        </p:nvSpPr>
        <p:spPr>
          <a:xfrm>
            <a:off x="8964162" y="2836505"/>
            <a:ext cx="1847462" cy="71195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/>
              <a:t>よほどのこと発生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88C6015-DD53-4870-9C6F-C73CE6F3FCDE}"/>
              </a:ext>
            </a:extLst>
          </p:cNvPr>
          <p:cNvSpPr/>
          <p:nvPr/>
        </p:nvSpPr>
        <p:spPr>
          <a:xfrm>
            <a:off x="10828582" y="2836504"/>
            <a:ext cx="650883" cy="19701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>
            <a:normAutofit/>
          </a:bodyPr>
          <a:lstStyle/>
          <a:p>
            <a:pPr algn="ctr"/>
            <a:r>
              <a:rPr kumimoji="1" lang="ja-JP" altLang="en-US" b="1" dirty="0"/>
              <a:t>リスケジュール</a:t>
            </a:r>
          </a:p>
        </p:txBody>
      </p:sp>
      <p:sp>
        <p:nvSpPr>
          <p:cNvPr id="13" name="矢印: 左 12">
            <a:extLst>
              <a:ext uri="{FF2B5EF4-FFF2-40B4-BE49-F238E27FC236}">
                <a16:creationId xmlns:a16="http://schemas.microsoft.com/office/drawing/2014/main" id="{7083C5D0-BD82-45BB-9AE9-10839F814524}"/>
              </a:ext>
            </a:extLst>
          </p:cNvPr>
          <p:cNvSpPr/>
          <p:nvPr/>
        </p:nvSpPr>
        <p:spPr>
          <a:xfrm>
            <a:off x="8981120" y="4004248"/>
            <a:ext cx="1847462" cy="637732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チェック合格</a:t>
            </a:r>
          </a:p>
        </p:txBody>
      </p:sp>
    </p:spTree>
    <p:extLst>
      <p:ext uri="{BB962C8B-B14F-4D97-AF65-F5344CB8AC3E}">
        <p14:creationId xmlns:p14="http://schemas.microsoft.com/office/powerpoint/2010/main" val="1611807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415</Words>
  <Application>Microsoft Office PowerPoint</Application>
  <PresentationFormat>ワイド画面</PresentationFormat>
  <Paragraphs>64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17</cp:revision>
  <dcterms:created xsi:type="dcterms:W3CDTF">2024-08-27T02:15:54Z</dcterms:created>
  <dcterms:modified xsi:type="dcterms:W3CDTF">2026-05-13T03:12:33Z</dcterms:modified>
</cp:coreProperties>
</file>