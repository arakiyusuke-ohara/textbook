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4" r:id="rId10"/>
    <p:sldId id="265" r:id="rId11"/>
    <p:sldId id="260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プレイヤーに合わせてスクロールする仕組みを実装します。</a:t>
            </a:r>
            <a:endParaRPr lang="en-US" altLang="ja-JP" sz="2400" dirty="0"/>
          </a:p>
          <a:p>
            <a:r>
              <a:rPr kumimoji="1" lang="ja-JP" altLang="en-US" sz="2400" dirty="0"/>
              <a:t>まずは仕組みを解説します。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8893513-89FE-41D1-9C71-0BECCE5F0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5735981" cy="423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まずはステージの全体図をイメージしてみましょう。</a:t>
            </a:r>
            <a:endParaRPr kumimoji="1" lang="en-US" altLang="ja-JP" sz="2400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DFF605B-4467-4C0E-822C-580D12E72899}"/>
              </a:ext>
            </a:extLst>
          </p:cNvPr>
          <p:cNvGrpSpPr/>
          <p:nvPr/>
        </p:nvGrpSpPr>
        <p:grpSpPr>
          <a:xfrm>
            <a:off x="567542" y="3647872"/>
            <a:ext cx="10953344" cy="1541542"/>
            <a:chOff x="619328" y="3784059"/>
            <a:chExt cx="10953344" cy="1541542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FF67ABAA-8940-4DE4-9C49-40D3AC534CA6}"/>
                </a:ext>
              </a:extLst>
            </p:cNvPr>
            <p:cNvSpPr/>
            <p:nvPr/>
          </p:nvSpPr>
          <p:spPr>
            <a:xfrm>
              <a:off x="619328" y="3784059"/>
              <a:ext cx="10953344" cy="153649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C50790B8-B9F8-4538-B709-F32A2A55097E}"/>
                </a:ext>
              </a:extLst>
            </p:cNvPr>
            <p:cNvSpPr/>
            <p:nvPr/>
          </p:nvSpPr>
          <p:spPr>
            <a:xfrm>
              <a:off x="1313234" y="4998043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17EECB8F-F0AC-4AFA-BEC9-B66E966159D8}"/>
                </a:ext>
              </a:extLst>
            </p:cNvPr>
            <p:cNvSpPr/>
            <p:nvPr/>
          </p:nvSpPr>
          <p:spPr>
            <a:xfrm>
              <a:off x="1465634" y="4867275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3B474A9-C9DC-4EE2-B564-40D52FD5BF3F}"/>
                </a:ext>
              </a:extLst>
            </p:cNvPr>
            <p:cNvSpPr/>
            <p:nvPr/>
          </p:nvSpPr>
          <p:spPr>
            <a:xfrm>
              <a:off x="1618034" y="5241131"/>
              <a:ext cx="145915" cy="681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3A438CC-9A88-4C15-A5A6-6EB797A0F6C8}"/>
                </a:ext>
              </a:extLst>
            </p:cNvPr>
            <p:cNvSpPr/>
            <p:nvPr/>
          </p:nvSpPr>
          <p:spPr>
            <a:xfrm>
              <a:off x="2080097" y="4867275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E48E38E6-7650-4585-A724-965A874035CC}"/>
                </a:ext>
              </a:extLst>
            </p:cNvPr>
            <p:cNvSpPr/>
            <p:nvPr/>
          </p:nvSpPr>
          <p:spPr>
            <a:xfrm>
              <a:off x="2873847" y="4610100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18D87319-C440-47EB-870E-3643DA3B0420}"/>
                </a:ext>
              </a:extLst>
            </p:cNvPr>
            <p:cNvSpPr/>
            <p:nvPr/>
          </p:nvSpPr>
          <p:spPr>
            <a:xfrm>
              <a:off x="4193566" y="4998043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E10146C-4610-42F2-81E8-E0B805A2D7A5}"/>
                </a:ext>
              </a:extLst>
            </p:cNvPr>
            <p:cNvSpPr/>
            <p:nvPr/>
          </p:nvSpPr>
          <p:spPr>
            <a:xfrm>
              <a:off x="5358317" y="4547947"/>
              <a:ext cx="459903" cy="319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A6364F1-6971-466B-A5C5-955FD3D11B17}"/>
                </a:ext>
              </a:extLst>
            </p:cNvPr>
            <p:cNvSpPr/>
            <p:nvPr/>
          </p:nvSpPr>
          <p:spPr>
            <a:xfrm>
              <a:off x="7738555" y="5007550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53E4EFC7-1925-4C04-B8E7-17190D22C454}"/>
                </a:ext>
              </a:extLst>
            </p:cNvPr>
            <p:cNvSpPr/>
            <p:nvPr/>
          </p:nvSpPr>
          <p:spPr>
            <a:xfrm>
              <a:off x="7890955" y="4876782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C629856-D0EC-4E05-A42D-4E172503BBB5}"/>
                </a:ext>
              </a:extLst>
            </p:cNvPr>
            <p:cNvSpPr/>
            <p:nvPr/>
          </p:nvSpPr>
          <p:spPr>
            <a:xfrm>
              <a:off x="9433498" y="5128811"/>
              <a:ext cx="800000" cy="196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8896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ゲーム画面はこのステージの一部分を表示することになります。</a:t>
            </a:r>
            <a:endParaRPr kumimoji="1" lang="en-US" altLang="ja-JP" sz="2400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DFF605B-4467-4C0E-822C-580D12E72899}"/>
              </a:ext>
            </a:extLst>
          </p:cNvPr>
          <p:cNvGrpSpPr/>
          <p:nvPr/>
        </p:nvGrpSpPr>
        <p:grpSpPr>
          <a:xfrm>
            <a:off x="567542" y="3647872"/>
            <a:ext cx="10953344" cy="1541542"/>
            <a:chOff x="619328" y="3784059"/>
            <a:chExt cx="10953344" cy="1541542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FF67ABAA-8940-4DE4-9C49-40D3AC534CA6}"/>
                </a:ext>
              </a:extLst>
            </p:cNvPr>
            <p:cNvSpPr/>
            <p:nvPr/>
          </p:nvSpPr>
          <p:spPr>
            <a:xfrm>
              <a:off x="619328" y="3784059"/>
              <a:ext cx="10953344" cy="153649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C50790B8-B9F8-4538-B709-F32A2A55097E}"/>
                </a:ext>
              </a:extLst>
            </p:cNvPr>
            <p:cNvSpPr/>
            <p:nvPr/>
          </p:nvSpPr>
          <p:spPr>
            <a:xfrm>
              <a:off x="1313234" y="4998043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17EECB8F-F0AC-4AFA-BEC9-B66E966159D8}"/>
                </a:ext>
              </a:extLst>
            </p:cNvPr>
            <p:cNvSpPr/>
            <p:nvPr/>
          </p:nvSpPr>
          <p:spPr>
            <a:xfrm>
              <a:off x="1465634" y="4867275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3B474A9-C9DC-4EE2-B564-40D52FD5BF3F}"/>
                </a:ext>
              </a:extLst>
            </p:cNvPr>
            <p:cNvSpPr/>
            <p:nvPr/>
          </p:nvSpPr>
          <p:spPr>
            <a:xfrm>
              <a:off x="1618034" y="5241131"/>
              <a:ext cx="145915" cy="681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3A438CC-9A88-4C15-A5A6-6EB797A0F6C8}"/>
                </a:ext>
              </a:extLst>
            </p:cNvPr>
            <p:cNvSpPr/>
            <p:nvPr/>
          </p:nvSpPr>
          <p:spPr>
            <a:xfrm>
              <a:off x="2080097" y="4867275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E48E38E6-7650-4585-A724-965A874035CC}"/>
                </a:ext>
              </a:extLst>
            </p:cNvPr>
            <p:cNvSpPr/>
            <p:nvPr/>
          </p:nvSpPr>
          <p:spPr>
            <a:xfrm>
              <a:off x="2873847" y="4610100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18D87319-C440-47EB-870E-3643DA3B0420}"/>
                </a:ext>
              </a:extLst>
            </p:cNvPr>
            <p:cNvSpPr/>
            <p:nvPr/>
          </p:nvSpPr>
          <p:spPr>
            <a:xfrm>
              <a:off x="4193566" y="4998043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E10146C-4610-42F2-81E8-E0B805A2D7A5}"/>
                </a:ext>
              </a:extLst>
            </p:cNvPr>
            <p:cNvSpPr/>
            <p:nvPr/>
          </p:nvSpPr>
          <p:spPr>
            <a:xfrm>
              <a:off x="5358317" y="4547947"/>
              <a:ext cx="459903" cy="319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A6364F1-6971-466B-A5C5-955FD3D11B17}"/>
                </a:ext>
              </a:extLst>
            </p:cNvPr>
            <p:cNvSpPr/>
            <p:nvPr/>
          </p:nvSpPr>
          <p:spPr>
            <a:xfrm>
              <a:off x="7738555" y="5007550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53E4EFC7-1925-4C04-B8E7-17190D22C454}"/>
                </a:ext>
              </a:extLst>
            </p:cNvPr>
            <p:cNvSpPr/>
            <p:nvPr/>
          </p:nvSpPr>
          <p:spPr>
            <a:xfrm>
              <a:off x="7890955" y="4876782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C629856-D0EC-4E05-A42D-4E172503BBB5}"/>
                </a:ext>
              </a:extLst>
            </p:cNvPr>
            <p:cNvSpPr/>
            <p:nvPr/>
          </p:nvSpPr>
          <p:spPr>
            <a:xfrm>
              <a:off x="9433498" y="5128811"/>
              <a:ext cx="800000" cy="196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663530D-355F-49E3-B20F-257C63F8DB45}"/>
              </a:ext>
            </a:extLst>
          </p:cNvPr>
          <p:cNvSpPr/>
          <p:nvPr/>
        </p:nvSpPr>
        <p:spPr>
          <a:xfrm>
            <a:off x="567542" y="3647872"/>
            <a:ext cx="2983054" cy="154154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4A1A3DE-313A-4E04-9CED-ED49EFB8E887}"/>
              </a:ext>
            </a:extLst>
          </p:cNvPr>
          <p:cNvSpPr txBox="1"/>
          <p:nvPr/>
        </p:nvSpPr>
        <p:spPr>
          <a:xfrm>
            <a:off x="1407363" y="304650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表示中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7647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このエリアを右にずらしていくとスクロールするはずです。</a:t>
            </a:r>
            <a:endParaRPr kumimoji="1" lang="en-US" altLang="ja-JP" sz="2400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DFF605B-4467-4C0E-822C-580D12E72899}"/>
              </a:ext>
            </a:extLst>
          </p:cNvPr>
          <p:cNvGrpSpPr/>
          <p:nvPr/>
        </p:nvGrpSpPr>
        <p:grpSpPr>
          <a:xfrm>
            <a:off x="567542" y="3647872"/>
            <a:ext cx="10953344" cy="1541542"/>
            <a:chOff x="619328" y="3784059"/>
            <a:chExt cx="10953344" cy="1541542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FF67ABAA-8940-4DE4-9C49-40D3AC534CA6}"/>
                </a:ext>
              </a:extLst>
            </p:cNvPr>
            <p:cNvSpPr/>
            <p:nvPr/>
          </p:nvSpPr>
          <p:spPr>
            <a:xfrm>
              <a:off x="619328" y="3784059"/>
              <a:ext cx="10953344" cy="153649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C50790B8-B9F8-4538-B709-F32A2A55097E}"/>
                </a:ext>
              </a:extLst>
            </p:cNvPr>
            <p:cNvSpPr/>
            <p:nvPr/>
          </p:nvSpPr>
          <p:spPr>
            <a:xfrm>
              <a:off x="1313234" y="4998043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17EECB8F-F0AC-4AFA-BEC9-B66E966159D8}"/>
                </a:ext>
              </a:extLst>
            </p:cNvPr>
            <p:cNvSpPr/>
            <p:nvPr/>
          </p:nvSpPr>
          <p:spPr>
            <a:xfrm>
              <a:off x="1465634" y="4867275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3B474A9-C9DC-4EE2-B564-40D52FD5BF3F}"/>
                </a:ext>
              </a:extLst>
            </p:cNvPr>
            <p:cNvSpPr/>
            <p:nvPr/>
          </p:nvSpPr>
          <p:spPr>
            <a:xfrm>
              <a:off x="1618034" y="5241131"/>
              <a:ext cx="145915" cy="681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3A438CC-9A88-4C15-A5A6-6EB797A0F6C8}"/>
                </a:ext>
              </a:extLst>
            </p:cNvPr>
            <p:cNvSpPr/>
            <p:nvPr/>
          </p:nvSpPr>
          <p:spPr>
            <a:xfrm>
              <a:off x="2080097" y="4867275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E48E38E6-7650-4585-A724-965A874035CC}"/>
                </a:ext>
              </a:extLst>
            </p:cNvPr>
            <p:cNvSpPr/>
            <p:nvPr/>
          </p:nvSpPr>
          <p:spPr>
            <a:xfrm>
              <a:off x="2873847" y="4610100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18D87319-C440-47EB-870E-3643DA3B0420}"/>
                </a:ext>
              </a:extLst>
            </p:cNvPr>
            <p:cNvSpPr/>
            <p:nvPr/>
          </p:nvSpPr>
          <p:spPr>
            <a:xfrm>
              <a:off x="4193566" y="4998043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E10146C-4610-42F2-81E8-E0B805A2D7A5}"/>
                </a:ext>
              </a:extLst>
            </p:cNvPr>
            <p:cNvSpPr/>
            <p:nvPr/>
          </p:nvSpPr>
          <p:spPr>
            <a:xfrm>
              <a:off x="5358317" y="4547947"/>
              <a:ext cx="459903" cy="319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A6364F1-6971-466B-A5C5-955FD3D11B17}"/>
                </a:ext>
              </a:extLst>
            </p:cNvPr>
            <p:cNvSpPr/>
            <p:nvPr/>
          </p:nvSpPr>
          <p:spPr>
            <a:xfrm>
              <a:off x="7738555" y="5007550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53E4EFC7-1925-4C04-B8E7-17190D22C454}"/>
                </a:ext>
              </a:extLst>
            </p:cNvPr>
            <p:cNvSpPr/>
            <p:nvPr/>
          </p:nvSpPr>
          <p:spPr>
            <a:xfrm>
              <a:off x="7890955" y="4876782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C629856-D0EC-4E05-A42D-4E172503BBB5}"/>
                </a:ext>
              </a:extLst>
            </p:cNvPr>
            <p:cNvSpPr/>
            <p:nvPr/>
          </p:nvSpPr>
          <p:spPr>
            <a:xfrm>
              <a:off x="9433498" y="5128811"/>
              <a:ext cx="800000" cy="196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663530D-355F-49E3-B20F-257C63F8DB45}"/>
              </a:ext>
            </a:extLst>
          </p:cNvPr>
          <p:cNvSpPr/>
          <p:nvPr/>
        </p:nvSpPr>
        <p:spPr>
          <a:xfrm>
            <a:off x="1550037" y="3647872"/>
            <a:ext cx="2983054" cy="154154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4A1A3DE-313A-4E04-9CED-ED49EFB8E887}"/>
              </a:ext>
            </a:extLst>
          </p:cNvPr>
          <p:cNvSpPr txBox="1"/>
          <p:nvPr/>
        </p:nvSpPr>
        <p:spPr>
          <a:xfrm>
            <a:off x="2467679" y="304650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表示中</a:t>
            </a:r>
            <a:endParaRPr kumimoji="1" lang="en-US" altLang="ja-JP" sz="2400" dirty="0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2E0667AA-4A66-4ED1-8DA7-33141A880A3C}"/>
              </a:ext>
            </a:extLst>
          </p:cNvPr>
          <p:cNvCxnSpPr>
            <a:cxnSpLocks/>
          </p:cNvCxnSpPr>
          <p:nvPr/>
        </p:nvCxnSpPr>
        <p:spPr>
          <a:xfrm>
            <a:off x="567542" y="3277339"/>
            <a:ext cx="919263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813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イメージとしては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カメラ</a:t>
            </a:r>
            <a:r>
              <a:rPr kumimoji="1" lang="ja-JP" altLang="en-US" sz="2400" dirty="0"/>
              <a:t>のようなものになります。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カメラを用意して右にずらしていく</a:t>
            </a:r>
            <a:r>
              <a:rPr kumimoji="1" lang="ja-JP" altLang="en-US" sz="2400" dirty="0"/>
              <a:t>ことにより、</a:t>
            </a:r>
            <a:r>
              <a:rPr lang="ja-JP" altLang="en-US" sz="2400" dirty="0"/>
              <a:t>スクロールは実現します。</a:t>
            </a:r>
            <a:endParaRPr lang="en-US" altLang="ja-JP" sz="2400" dirty="0"/>
          </a:p>
          <a:p>
            <a:r>
              <a:rPr kumimoji="1" lang="ja-JP" altLang="en-US" sz="2400" dirty="0"/>
              <a:t>（</a:t>
            </a:r>
            <a:r>
              <a:rPr kumimoji="1" lang="en-US" altLang="ja-JP" sz="2400" dirty="0"/>
              <a:t>2D</a:t>
            </a:r>
            <a:r>
              <a:rPr kumimoji="1" lang="ja-JP" altLang="en-US" sz="2400" dirty="0"/>
              <a:t>の場合、疑似的にこのような仕組みを実現していきます）</a:t>
            </a:r>
            <a:endParaRPr kumimoji="1" lang="en-US" altLang="ja-JP" sz="2400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DFF605B-4467-4C0E-822C-580D12E72899}"/>
              </a:ext>
            </a:extLst>
          </p:cNvPr>
          <p:cNvGrpSpPr/>
          <p:nvPr/>
        </p:nvGrpSpPr>
        <p:grpSpPr>
          <a:xfrm>
            <a:off x="567542" y="3647872"/>
            <a:ext cx="10953344" cy="1541542"/>
            <a:chOff x="619328" y="3784059"/>
            <a:chExt cx="10953344" cy="1541542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FF67ABAA-8940-4DE4-9C49-40D3AC534CA6}"/>
                </a:ext>
              </a:extLst>
            </p:cNvPr>
            <p:cNvSpPr/>
            <p:nvPr/>
          </p:nvSpPr>
          <p:spPr>
            <a:xfrm>
              <a:off x="619328" y="3784059"/>
              <a:ext cx="10953344" cy="153649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C50790B8-B9F8-4538-B709-F32A2A55097E}"/>
                </a:ext>
              </a:extLst>
            </p:cNvPr>
            <p:cNvSpPr/>
            <p:nvPr/>
          </p:nvSpPr>
          <p:spPr>
            <a:xfrm>
              <a:off x="1313234" y="4998043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17EECB8F-F0AC-4AFA-BEC9-B66E966159D8}"/>
                </a:ext>
              </a:extLst>
            </p:cNvPr>
            <p:cNvSpPr/>
            <p:nvPr/>
          </p:nvSpPr>
          <p:spPr>
            <a:xfrm>
              <a:off x="1465634" y="4867275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3B474A9-C9DC-4EE2-B564-40D52FD5BF3F}"/>
                </a:ext>
              </a:extLst>
            </p:cNvPr>
            <p:cNvSpPr/>
            <p:nvPr/>
          </p:nvSpPr>
          <p:spPr>
            <a:xfrm>
              <a:off x="1618034" y="5241131"/>
              <a:ext cx="145915" cy="681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3A438CC-9A88-4C15-A5A6-6EB797A0F6C8}"/>
                </a:ext>
              </a:extLst>
            </p:cNvPr>
            <p:cNvSpPr/>
            <p:nvPr/>
          </p:nvSpPr>
          <p:spPr>
            <a:xfrm>
              <a:off x="2080097" y="4867275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E48E38E6-7650-4585-A724-965A874035CC}"/>
                </a:ext>
              </a:extLst>
            </p:cNvPr>
            <p:cNvSpPr/>
            <p:nvPr/>
          </p:nvSpPr>
          <p:spPr>
            <a:xfrm>
              <a:off x="2873847" y="4610100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18D87319-C440-47EB-870E-3643DA3B0420}"/>
                </a:ext>
              </a:extLst>
            </p:cNvPr>
            <p:cNvSpPr/>
            <p:nvPr/>
          </p:nvSpPr>
          <p:spPr>
            <a:xfrm>
              <a:off x="4193566" y="4998043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E10146C-4610-42F2-81E8-E0B805A2D7A5}"/>
                </a:ext>
              </a:extLst>
            </p:cNvPr>
            <p:cNvSpPr/>
            <p:nvPr/>
          </p:nvSpPr>
          <p:spPr>
            <a:xfrm>
              <a:off x="5358317" y="4547947"/>
              <a:ext cx="459903" cy="319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A6364F1-6971-466B-A5C5-955FD3D11B17}"/>
                </a:ext>
              </a:extLst>
            </p:cNvPr>
            <p:cNvSpPr/>
            <p:nvPr/>
          </p:nvSpPr>
          <p:spPr>
            <a:xfrm>
              <a:off x="7738555" y="5007550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53E4EFC7-1925-4C04-B8E7-17190D22C454}"/>
                </a:ext>
              </a:extLst>
            </p:cNvPr>
            <p:cNvSpPr/>
            <p:nvPr/>
          </p:nvSpPr>
          <p:spPr>
            <a:xfrm>
              <a:off x="7890955" y="4876782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C629856-D0EC-4E05-A42D-4E172503BBB5}"/>
                </a:ext>
              </a:extLst>
            </p:cNvPr>
            <p:cNvSpPr/>
            <p:nvPr/>
          </p:nvSpPr>
          <p:spPr>
            <a:xfrm>
              <a:off x="9433498" y="5128811"/>
              <a:ext cx="800000" cy="196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663530D-355F-49E3-B20F-257C63F8DB45}"/>
              </a:ext>
            </a:extLst>
          </p:cNvPr>
          <p:cNvSpPr/>
          <p:nvPr/>
        </p:nvSpPr>
        <p:spPr>
          <a:xfrm>
            <a:off x="1550037" y="3647872"/>
            <a:ext cx="2983054" cy="154154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4A1A3DE-313A-4E04-9CED-ED49EFB8E887}"/>
              </a:ext>
            </a:extLst>
          </p:cNvPr>
          <p:cNvSpPr txBox="1"/>
          <p:nvPr/>
        </p:nvSpPr>
        <p:spPr>
          <a:xfrm>
            <a:off x="2467679" y="304650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表示中</a:t>
            </a:r>
            <a:endParaRPr kumimoji="1" lang="en-US" altLang="ja-JP" sz="2400" dirty="0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9FFF09F5-D748-40CC-8D51-4156BC29CA59}"/>
              </a:ext>
            </a:extLst>
          </p:cNvPr>
          <p:cNvGrpSpPr/>
          <p:nvPr/>
        </p:nvGrpSpPr>
        <p:grpSpPr>
          <a:xfrm>
            <a:off x="2813780" y="5746367"/>
            <a:ext cx="282602" cy="642387"/>
            <a:chOff x="2831789" y="5515222"/>
            <a:chExt cx="282602" cy="642387"/>
          </a:xfrm>
        </p:grpSpPr>
        <p:sp>
          <p:nvSpPr>
            <p:cNvPr id="20" name="二等辺三角形 19">
              <a:extLst>
                <a:ext uri="{FF2B5EF4-FFF2-40B4-BE49-F238E27FC236}">
                  <a16:creationId xmlns:a16="http://schemas.microsoft.com/office/drawing/2014/main" id="{4443E416-AFF1-4D7F-A3A3-E140EDD71468}"/>
                </a:ext>
              </a:extLst>
            </p:cNvPr>
            <p:cNvSpPr/>
            <p:nvPr/>
          </p:nvSpPr>
          <p:spPr>
            <a:xfrm rot="10800000">
              <a:off x="2831789" y="5515222"/>
              <a:ext cx="282602" cy="301919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四角形: 角を丸くする 20">
              <a:extLst>
                <a:ext uri="{FF2B5EF4-FFF2-40B4-BE49-F238E27FC236}">
                  <a16:creationId xmlns:a16="http://schemas.microsoft.com/office/drawing/2014/main" id="{CDEFB7A4-A5B0-492E-BDC4-222F6E33EEDA}"/>
                </a:ext>
              </a:extLst>
            </p:cNvPr>
            <p:cNvSpPr/>
            <p:nvPr/>
          </p:nvSpPr>
          <p:spPr>
            <a:xfrm>
              <a:off x="2841113" y="5671226"/>
              <a:ext cx="261607" cy="48638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502ADFF-F20B-414D-89F7-99543BA8D371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569260" y="6143243"/>
            <a:ext cx="2253844" cy="23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119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82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Camera.cpp/.h</a:t>
            </a:r>
            <a:r>
              <a:rPr kumimoji="1" lang="ja-JP" altLang="en-US" sz="2400" dirty="0"/>
              <a:t>を追加しましょう。</a:t>
            </a:r>
            <a:endParaRPr kumimoji="1" lang="en-US" altLang="ja-JP" sz="2400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E52A1DFB-FA5F-462E-B50E-B04539B41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3743092" cy="438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82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70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Camera.h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D1EDADE-8A50-48A7-8659-8C3B2D9A4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718162" cy="400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04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367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Camera.cpp</a:t>
            </a:r>
            <a:r>
              <a:rPr kumimoji="1" lang="ja-JP" altLang="en-US" sz="2400" dirty="0"/>
              <a:t>を書きます（その１）。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41852F8-35DF-4ADD-8D3C-5AFFA2F5C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3"/>
            <a:ext cx="6521373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74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367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Camera.cpp</a:t>
            </a:r>
            <a:r>
              <a:rPr kumimoji="1" lang="ja-JP" altLang="en-US" sz="2400" dirty="0"/>
              <a:t>を書きます。（その２）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9C8B9B9-FB08-472A-AD65-80A899911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9983227" cy="294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13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07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PlayScene.cpp</a:t>
            </a:r>
            <a:r>
              <a:rPr kumimoji="1" lang="ja-JP" altLang="en-US" sz="2400" dirty="0"/>
              <a:t>で対応する関数を呼びましょう。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2CA4086-E097-4D14-9DEE-7AE3BA1CC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185722" cy="312385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A8E020F-2F65-465B-9794-9849CB0A504C}"/>
              </a:ext>
            </a:extLst>
          </p:cNvPr>
          <p:cNvSpPr/>
          <p:nvPr/>
        </p:nvSpPr>
        <p:spPr>
          <a:xfrm>
            <a:off x="2033081" y="3949430"/>
            <a:ext cx="2441642" cy="787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3D14476-230C-4A56-AAC6-A13AF22670A4}"/>
              </a:ext>
            </a:extLst>
          </p:cNvPr>
          <p:cNvSpPr txBox="1"/>
          <p:nvPr/>
        </p:nvSpPr>
        <p:spPr>
          <a:xfrm>
            <a:off x="567542" y="5081351"/>
            <a:ext cx="4527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Step, Draw</a:t>
            </a:r>
            <a:r>
              <a:rPr lang="ja-JP" altLang="en-US" sz="2400" dirty="0"/>
              <a:t>も対応しましょう。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41811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プログラムではカメラの座標を右に移動していますが、</a:t>
            </a:r>
            <a:r>
              <a:rPr lang="ja-JP" altLang="en-US" sz="2400" dirty="0"/>
              <a:t>実際は</a:t>
            </a:r>
            <a:r>
              <a:rPr lang="ja-JP" altLang="en-US" sz="2400" b="1" dirty="0">
                <a:solidFill>
                  <a:srgbClr val="FF0000"/>
                </a:solidFill>
              </a:rPr>
              <a:t>カメラに合わせて、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ブロックやプレイヤーを左に移動させる</a:t>
            </a:r>
            <a:r>
              <a:rPr lang="ja-JP" altLang="en-US" sz="2400" dirty="0"/>
              <a:t>ことになります。</a:t>
            </a:r>
            <a:endParaRPr kumimoji="1" lang="en-US" altLang="ja-JP" sz="2400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F21F5F8E-5E9B-4DBB-ABFE-2E33AE0BA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64" y="2187126"/>
            <a:ext cx="4477375" cy="990738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D1CB2A4-4866-415B-9B9D-88C4E65E4EF5}"/>
              </a:ext>
            </a:extLst>
          </p:cNvPr>
          <p:cNvSpPr txBox="1"/>
          <p:nvPr/>
        </p:nvSpPr>
        <p:spPr>
          <a:xfrm>
            <a:off x="5042739" y="2586951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カメラの座標自体は右へ移動</a:t>
            </a:r>
            <a:endParaRPr kumimoji="1" lang="en-US" altLang="ja-JP" b="1" dirty="0">
              <a:solidFill>
                <a:srgbClr val="FF0000"/>
              </a:solidFill>
            </a:endParaRPr>
          </a:p>
        </p:txBody>
      </p: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0BD3B35E-E2FC-4202-88B6-5855CB285A50}"/>
              </a:ext>
            </a:extLst>
          </p:cNvPr>
          <p:cNvGrpSpPr/>
          <p:nvPr/>
        </p:nvGrpSpPr>
        <p:grpSpPr>
          <a:xfrm>
            <a:off x="567542" y="3647872"/>
            <a:ext cx="10953344" cy="2740882"/>
            <a:chOff x="567542" y="3647872"/>
            <a:chExt cx="10953344" cy="2740882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2224D8C6-6BA3-4640-95FE-DA7562D57FF4}"/>
                </a:ext>
              </a:extLst>
            </p:cNvPr>
            <p:cNvGrpSpPr/>
            <p:nvPr/>
          </p:nvGrpSpPr>
          <p:grpSpPr>
            <a:xfrm>
              <a:off x="567542" y="3647872"/>
              <a:ext cx="10953344" cy="1541542"/>
              <a:chOff x="619328" y="3784059"/>
              <a:chExt cx="10953344" cy="1541542"/>
            </a:xfrm>
          </p:grpSpPr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9C0292E6-E230-4391-8AC7-D6665EBFC743}"/>
                  </a:ext>
                </a:extLst>
              </p:cNvPr>
              <p:cNvSpPr/>
              <p:nvPr/>
            </p:nvSpPr>
            <p:spPr>
              <a:xfrm>
                <a:off x="619328" y="3784059"/>
                <a:ext cx="10953344" cy="1536498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9CBD6648-62B6-43AA-9860-D62A95B352CB}"/>
                  </a:ext>
                </a:extLst>
              </p:cNvPr>
              <p:cNvSpPr/>
              <p:nvPr/>
            </p:nvSpPr>
            <p:spPr>
              <a:xfrm>
                <a:off x="1313234" y="4998043"/>
                <a:ext cx="145915" cy="31128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242A9D48-4399-45DD-A243-1906CEF13295}"/>
                  </a:ext>
                </a:extLst>
              </p:cNvPr>
              <p:cNvSpPr/>
              <p:nvPr/>
            </p:nvSpPr>
            <p:spPr>
              <a:xfrm>
                <a:off x="1465634" y="4867275"/>
                <a:ext cx="145915" cy="4437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BDBF1DCF-42E0-4ACE-B424-25EA268ED0AE}"/>
                  </a:ext>
                </a:extLst>
              </p:cNvPr>
              <p:cNvSpPr/>
              <p:nvPr/>
            </p:nvSpPr>
            <p:spPr>
              <a:xfrm>
                <a:off x="1618034" y="5241131"/>
                <a:ext cx="145915" cy="6819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1BA7CBFB-9DBC-4E1E-9D9C-6F1BCF48A32D}"/>
                  </a:ext>
                </a:extLst>
              </p:cNvPr>
              <p:cNvSpPr/>
              <p:nvPr/>
            </p:nvSpPr>
            <p:spPr>
              <a:xfrm>
                <a:off x="2080097" y="4867275"/>
                <a:ext cx="459903" cy="13076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id="{A3CEA118-54AF-4294-A310-26E89FE2CB28}"/>
                  </a:ext>
                </a:extLst>
              </p:cNvPr>
              <p:cNvSpPr/>
              <p:nvPr/>
            </p:nvSpPr>
            <p:spPr>
              <a:xfrm>
                <a:off x="2873847" y="4610100"/>
                <a:ext cx="459903" cy="13076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D9D062D2-EE24-4A38-9369-8EBE8D6B4287}"/>
                  </a:ext>
                </a:extLst>
              </p:cNvPr>
              <p:cNvSpPr/>
              <p:nvPr/>
            </p:nvSpPr>
            <p:spPr>
              <a:xfrm>
                <a:off x="4193566" y="4998043"/>
                <a:ext cx="459903" cy="13076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FA0912C2-2AFA-4FE5-B255-ABC23E7D5042}"/>
                  </a:ext>
                </a:extLst>
              </p:cNvPr>
              <p:cNvSpPr/>
              <p:nvPr/>
            </p:nvSpPr>
            <p:spPr>
              <a:xfrm>
                <a:off x="5358317" y="4547947"/>
                <a:ext cx="459903" cy="3193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7" name="正方形/長方形 36">
                <a:extLst>
                  <a:ext uri="{FF2B5EF4-FFF2-40B4-BE49-F238E27FC236}">
                    <a16:creationId xmlns:a16="http://schemas.microsoft.com/office/drawing/2014/main" id="{66922FAC-5635-445F-9929-5AE77B7AF1C8}"/>
                  </a:ext>
                </a:extLst>
              </p:cNvPr>
              <p:cNvSpPr/>
              <p:nvPr/>
            </p:nvSpPr>
            <p:spPr>
              <a:xfrm>
                <a:off x="7738555" y="5007550"/>
                <a:ext cx="145915" cy="31128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8" name="正方形/長方形 37">
                <a:extLst>
                  <a:ext uri="{FF2B5EF4-FFF2-40B4-BE49-F238E27FC236}">
                    <a16:creationId xmlns:a16="http://schemas.microsoft.com/office/drawing/2014/main" id="{E4EF02EB-6255-471E-9FD4-E697A9E1EA7A}"/>
                  </a:ext>
                </a:extLst>
              </p:cNvPr>
              <p:cNvSpPr/>
              <p:nvPr/>
            </p:nvSpPr>
            <p:spPr>
              <a:xfrm>
                <a:off x="7890955" y="4876782"/>
                <a:ext cx="145915" cy="4437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BB660519-B526-4C47-B5C8-A64495A7FDC6}"/>
                  </a:ext>
                </a:extLst>
              </p:cNvPr>
              <p:cNvSpPr/>
              <p:nvPr/>
            </p:nvSpPr>
            <p:spPr>
              <a:xfrm>
                <a:off x="9433498" y="5128811"/>
                <a:ext cx="800000" cy="1967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5DECD1DC-B3D4-4D47-8B10-E10B1095FD7B}"/>
                </a:ext>
              </a:extLst>
            </p:cNvPr>
            <p:cNvSpPr/>
            <p:nvPr/>
          </p:nvSpPr>
          <p:spPr>
            <a:xfrm>
              <a:off x="1550037" y="3647872"/>
              <a:ext cx="2983054" cy="154154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D597138C-76B4-4FC2-A0F1-8062C4D41EA2}"/>
                </a:ext>
              </a:extLst>
            </p:cNvPr>
            <p:cNvGrpSpPr/>
            <p:nvPr/>
          </p:nvGrpSpPr>
          <p:grpSpPr>
            <a:xfrm>
              <a:off x="2813780" y="5746367"/>
              <a:ext cx="282602" cy="642387"/>
              <a:chOff x="2831789" y="5515222"/>
              <a:chExt cx="282602" cy="642387"/>
            </a:xfrm>
          </p:grpSpPr>
          <p:sp>
            <p:nvSpPr>
              <p:cNvPr id="43" name="二等辺三角形 42">
                <a:extLst>
                  <a:ext uri="{FF2B5EF4-FFF2-40B4-BE49-F238E27FC236}">
                    <a16:creationId xmlns:a16="http://schemas.microsoft.com/office/drawing/2014/main" id="{B0BC0EA9-138D-48A0-809B-5059927F67BD}"/>
                  </a:ext>
                </a:extLst>
              </p:cNvPr>
              <p:cNvSpPr/>
              <p:nvPr/>
            </p:nvSpPr>
            <p:spPr>
              <a:xfrm rot="10800000">
                <a:off x="2831789" y="5515222"/>
                <a:ext cx="282602" cy="301919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4" name="四角形: 角を丸くする 43">
                <a:extLst>
                  <a:ext uri="{FF2B5EF4-FFF2-40B4-BE49-F238E27FC236}">
                    <a16:creationId xmlns:a16="http://schemas.microsoft.com/office/drawing/2014/main" id="{9B7F6E7E-DFE2-415A-A9F7-44AE7E10EAB0}"/>
                  </a:ext>
                </a:extLst>
              </p:cNvPr>
              <p:cNvSpPr/>
              <p:nvPr/>
            </p:nvSpPr>
            <p:spPr>
              <a:xfrm>
                <a:off x="2841113" y="5671226"/>
                <a:ext cx="261607" cy="48638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45" name="直線矢印コネクタ 44">
              <a:extLst>
                <a:ext uri="{FF2B5EF4-FFF2-40B4-BE49-F238E27FC236}">
                  <a16:creationId xmlns:a16="http://schemas.microsoft.com/office/drawing/2014/main" id="{29B17B2A-A4EF-477C-BBB0-1190F851AB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01683" y="5355078"/>
              <a:ext cx="6919203" cy="0"/>
            </a:xfrm>
            <a:prstGeom prst="straightConnector1">
              <a:avLst/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5645751-39C4-48AA-A10E-BE68F4289E57}"/>
              </a:ext>
            </a:extLst>
          </p:cNvPr>
          <p:cNvSpPr txBox="1"/>
          <p:nvPr/>
        </p:nvSpPr>
        <p:spPr>
          <a:xfrm>
            <a:off x="4932978" y="5513298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実際にはカメラ以外のものを左に描画する。</a:t>
            </a:r>
            <a:endParaRPr kumimoji="1" lang="en-US" altLang="ja-JP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556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つまり、プレイヤーの描画の際に、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カメラが移動している分、プレイヤーを左に描画</a:t>
            </a:r>
            <a:r>
              <a:rPr lang="ja-JP" altLang="en-US" sz="2400" dirty="0"/>
              <a:t>します。</a:t>
            </a:r>
            <a:endParaRPr kumimoji="1" lang="en-US" altLang="ja-JP" sz="2400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A537C231-F051-4B06-BEE0-D2FD1D503A56}"/>
              </a:ext>
            </a:extLst>
          </p:cNvPr>
          <p:cNvGrpSpPr/>
          <p:nvPr/>
        </p:nvGrpSpPr>
        <p:grpSpPr>
          <a:xfrm>
            <a:off x="567541" y="2187126"/>
            <a:ext cx="10846681" cy="2284389"/>
            <a:chOff x="567541" y="2187126"/>
            <a:chExt cx="10846681" cy="2284389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42104273-48D7-42A1-849D-3EB10F272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541" y="2187126"/>
              <a:ext cx="10846681" cy="2284389"/>
            </a:xfrm>
            <a:prstGeom prst="rect">
              <a:avLst/>
            </a:prstGeom>
          </p:spPr>
        </p:pic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B7DECA9-AFF9-4643-AA99-DA40DFDD4DB0}"/>
                </a:ext>
              </a:extLst>
            </p:cNvPr>
            <p:cNvSpPr/>
            <p:nvPr/>
          </p:nvSpPr>
          <p:spPr>
            <a:xfrm>
              <a:off x="1587640" y="3074796"/>
              <a:ext cx="3255665" cy="49236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5FE7BFD4-00EF-430B-A689-511BD23A7EE9}"/>
                </a:ext>
              </a:extLst>
            </p:cNvPr>
            <p:cNvSpPr/>
            <p:nvPr/>
          </p:nvSpPr>
          <p:spPr>
            <a:xfrm>
              <a:off x="5305530" y="4208650"/>
              <a:ext cx="1346479" cy="2628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1D154FD4-0230-4695-BDA2-B8E25CD20907}"/>
                </a:ext>
              </a:extLst>
            </p:cNvPr>
            <p:cNvSpPr/>
            <p:nvPr/>
          </p:nvSpPr>
          <p:spPr>
            <a:xfrm>
              <a:off x="8191082" y="4208649"/>
              <a:ext cx="1346480" cy="2628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8372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ブロックも同様です。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D8F1377-63D3-4340-8077-C6232F002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0877531" cy="2734289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30D461E-B7FE-4769-966D-B8AA27943C7F}"/>
              </a:ext>
            </a:extLst>
          </p:cNvPr>
          <p:cNvSpPr/>
          <p:nvPr/>
        </p:nvSpPr>
        <p:spPr>
          <a:xfrm>
            <a:off x="1587640" y="2150347"/>
            <a:ext cx="3255665" cy="4923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503E8A7-C65B-414C-B693-B79A8A9A0671}"/>
              </a:ext>
            </a:extLst>
          </p:cNvPr>
          <p:cNvSpPr/>
          <p:nvPr/>
        </p:nvSpPr>
        <p:spPr>
          <a:xfrm>
            <a:off x="2280976" y="3667648"/>
            <a:ext cx="9343481" cy="321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743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722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</a:t>
            </a:r>
            <a:r>
              <a:rPr kumimoji="1" lang="ja-JP" altLang="en-US" sz="2400" dirty="0"/>
              <a:t>キーで右にスクロールします。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DAEEA41-0D67-459C-A75F-A5168CC65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669837" cy="438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05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560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>
                <a:solidFill>
                  <a:srgbClr val="0070C0"/>
                </a:solidFill>
              </a:rPr>
              <a:t>StepCamera</a:t>
            </a:r>
            <a:r>
              <a:rPr kumimoji="1" lang="ja-JP" altLang="en-US" sz="2400" dirty="0"/>
              <a:t>を修正して、プレイヤーについていくカメラを作りましょう。</a:t>
            </a:r>
            <a:endParaRPr kumimoji="1" lang="en-US" altLang="ja-JP" sz="2400" dirty="0"/>
          </a:p>
          <a:p>
            <a:r>
              <a:rPr kumimoji="1" lang="ja-JP" altLang="en-US" sz="2400" dirty="0"/>
              <a:t>プレイヤーの座標などは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PlayerData</a:t>
            </a:r>
            <a:r>
              <a:rPr kumimoji="1" lang="ja-JP" altLang="en-US" sz="2400" dirty="0"/>
              <a:t>の変数から参照しましょう。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E179B7D-2F5A-4C8B-BAF0-7B1F4022A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93040"/>
            <a:ext cx="5587449" cy="401320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E23CB8D-608A-4956-82CF-125B63327F77}"/>
              </a:ext>
            </a:extLst>
          </p:cNvPr>
          <p:cNvSpPr/>
          <p:nvPr/>
        </p:nvSpPr>
        <p:spPr>
          <a:xfrm>
            <a:off x="2023354" y="3297677"/>
            <a:ext cx="4902740" cy="25097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6047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284</Words>
  <Application>Microsoft Office PowerPoint</Application>
  <PresentationFormat>ワイド画面</PresentationFormat>
  <Paragraphs>42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21</cp:revision>
  <dcterms:created xsi:type="dcterms:W3CDTF">2024-08-27T02:15:54Z</dcterms:created>
  <dcterms:modified xsi:type="dcterms:W3CDTF">2024-12-04T00:58:16Z</dcterms:modified>
</cp:coreProperties>
</file>