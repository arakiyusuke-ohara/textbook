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3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1" d="100"/>
          <a:sy n="91" d="100"/>
        </p:scale>
        <p:origin x="43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2024/11/14</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2024/11/14</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2024/11/14</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2024/11/14</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2024/11/14</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2024/11/14</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2024/11/14</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2024/11/14</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2024/11/14</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2024/11/14</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2024/11/14</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2024/11/14</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kumimoji="1" lang="ja-JP" altLang="en-US" sz="3200" b="1" u="sng" dirty="0"/>
              <a:t>最小限のプログラム</a:t>
            </a:r>
          </a:p>
        </p:txBody>
      </p:sp>
      <p:pic>
        <p:nvPicPr>
          <p:cNvPr id="3" name="図 2">
            <a:extLst>
              <a:ext uri="{FF2B5EF4-FFF2-40B4-BE49-F238E27FC236}">
                <a16:creationId xmlns:a16="http://schemas.microsoft.com/office/drawing/2014/main" id="{E815B83C-739A-4E78-9698-07200F4AE3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1763258"/>
            <a:ext cx="7315756" cy="3812042"/>
          </a:xfrm>
          <a:prstGeom prst="rect">
            <a:avLst/>
          </a:prstGeom>
        </p:spPr>
      </p:pic>
      <p:sp>
        <p:nvSpPr>
          <p:cNvPr id="9" name="テキスト ボックス 8">
            <a:extLst>
              <a:ext uri="{FF2B5EF4-FFF2-40B4-BE49-F238E27FC236}">
                <a16:creationId xmlns:a16="http://schemas.microsoft.com/office/drawing/2014/main" id="{80F412F9-EC22-472D-8334-55F86CA5630B}"/>
              </a:ext>
            </a:extLst>
          </p:cNvPr>
          <p:cNvSpPr txBox="1"/>
          <p:nvPr/>
        </p:nvSpPr>
        <p:spPr>
          <a:xfrm>
            <a:off x="567542" y="1189161"/>
            <a:ext cx="7031092" cy="461665"/>
          </a:xfrm>
          <a:prstGeom prst="rect">
            <a:avLst/>
          </a:prstGeom>
          <a:noFill/>
        </p:spPr>
        <p:txBody>
          <a:bodyPr wrap="none" rtlCol="0">
            <a:spAutoFit/>
          </a:bodyPr>
          <a:lstStyle/>
          <a:p>
            <a:r>
              <a:rPr kumimoji="1" lang="ja-JP" altLang="en-US" sz="2400" dirty="0"/>
              <a:t>初めに、</a:t>
            </a:r>
            <a:r>
              <a:rPr kumimoji="1" lang="en-US" altLang="ja-JP" sz="2400" dirty="0"/>
              <a:t>Main.cpp</a:t>
            </a:r>
            <a:r>
              <a:rPr kumimoji="1" lang="ja-JP" altLang="en-US" sz="2400" dirty="0"/>
              <a:t>に以下を記入してみましょう。</a:t>
            </a:r>
            <a:endParaRPr kumimoji="1" lang="en-US" altLang="ja-JP" sz="2400" dirty="0"/>
          </a:p>
        </p:txBody>
      </p:sp>
      <p:sp>
        <p:nvSpPr>
          <p:cNvPr id="5" name="テキスト ボックス 4">
            <a:extLst>
              <a:ext uri="{FF2B5EF4-FFF2-40B4-BE49-F238E27FC236}">
                <a16:creationId xmlns:a16="http://schemas.microsoft.com/office/drawing/2014/main" id="{C75A068C-9A16-4E52-B076-53E99B8372B3}"/>
              </a:ext>
            </a:extLst>
          </p:cNvPr>
          <p:cNvSpPr txBox="1"/>
          <p:nvPr/>
        </p:nvSpPr>
        <p:spPr>
          <a:xfrm>
            <a:off x="567542" y="5687732"/>
            <a:ext cx="5109091" cy="461665"/>
          </a:xfrm>
          <a:prstGeom prst="rect">
            <a:avLst/>
          </a:prstGeom>
          <a:noFill/>
        </p:spPr>
        <p:txBody>
          <a:bodyPr wrap="none" rtlCol="0">
            <a:spAutoFit/>
          </a:bodyPr>
          <a:lstStyle/>
          <a:p>
            <a:r>
              <a:rPr lang="ja-JP" altLang="en-US" sz="2400" dirty="0"/>
              <a:t>続いて何を書いたかを解説します。</a:t>
            </a:r>
            <a:endParaRPr kumimoji="1" lang="en-US" altLang="ja-JP" sz="2400" dirty="0"/>
          </a:p>
        </p:txBody>
      </p:sp>
    </p:spTree>
    <p:extLst>
      <p:ext uri="{BB962C8B-B14F-4D97-AF65-F5344CB8AC3E}">
        <p14:creationId xmlns:p14="http://schemas.microsoft.com/office/powerpoint/2010/main" val="4044318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kumimoji="1" lang="ja-JP" altLang="en-US" sz="3200" b="1" u="sng" dirty="0"/>
              <a:t>最小限のプログラム</a:t>
            </a:r>
          </a:p>
        </p:txBody>
      </p:sp>
      <p:sp>
        <p:nvSpPr>
          <p:cNvPr id="9" name="テキスト ボックス 8">
            <a:extLst>
              <a:ext uri="{FF2B5EF4-FFF2-40B4-BE49-F238E27FC236}">
                <a16:creationId xmlns:a16="http://schemas.microsoft.com/office/drawing/2014/main" id="{80F412F9-EC22-472D-8334-55F86CA5630B}"/>
              </a:ext>
            </a:extLst>
          </p:cNvPr>
          <p:cNvSpPr txBox="1"/>
          <p:nvPr/>
        </p:nvSpPr>
        <p:spPr>
          <a:xfrm>
            <a:off x="567542" y="1189161"/>
            <a:ext cx="10341293" cy="3416320"/>
          </a:xfrm>
          <a:prstGeom prst="rect">
            <a:avLst/>
          </a:prstGeom>
          <a:noFill/>
        </p:spPr>
        <p:txBody>
          <a:bodyPr wrap="none" rtlCol="0">
            <a:spAutoFit/>
          </a:bodyPr>
          <a:lstStyle/>
          <a:p>
            <a:r>
              <a:rPr kumimoji="1" lang="en-US" altLang="ja-JP" sz="2400" b="1" dirty="0">
                <a:solidFill>
                  <a:srgbClr val="00B050"/>
                </a:solidFill>
              </a:rPr>
              <a:t>#include</a:t>
            </a:r>
            <a:r>
              <a:rPr kumimoji="1" lang="en-US" altLang="ja-JP" sz="2400" b="1" dirty="0"/>
              <a:t> </a:t>
            </a:r>
            <a:r>
              <a:rPr kumimoji="1" lang="en-US" altLang="ja-JP" sz="2400" b="1" dirty="0">
                <a:solidFill>
                  <a:srgbClr val="FF0000"/>
                </a:solidFill>
              </a:rPr>
              <a:t>&lt;</a:t>
            </a:r>
            <a:r>
              <a:rPr kumimoji="1" lang="ja-JP" altLang="en-US" sz="2400" b="1" dirty="0">
                <a:solidFill>
                  <a:srgbClr val="FF0000"/>
                </a:solidFill>
              </a:rPr>
              <a:t>〇〇</a:t>
            </a:r>
            <a:r>
              <a:rPr kumimoji="1" lang="en-US" altLang="ja-JP" sz="2400" b="1" dirty="0">
                <a:solidFill>
                  <a:srgbClr val="FF0000"/>
                </a:solidFill>
              </a:rPr>
              <a:t>&gt;</a:t>
            </a:r>
          </a:p>
          <a:p>
            <a:endParaRPr kumimoji="1" lang="en-US" altLang="ja-JP" sz="2400" dirty="0"/>
          </a:p>
          <a:p>
            <a:r>
              <a:rPr lang="ja-JP" altLang="en-US" sz="2400" dirty="0"/>
              <a:t>これは</a:t>
            </a:r>
            <a:r>
              <a:rPr lang="ja-JP" altLang="en-US" sz="2400" b="1" dirty="0">
                <a:solidFill>
                  <a:srgbClr val="FF0000"/>
                </a:solidFill>
              </a:rPr>
              <a:t>インクルード文</a:t>
            </a:r>
            <a:r>
              <a:rPr lang="ja-JP" altLang="en-US" sz="2400" dirty="0"/>
              <a:t>と言います。</a:t>
            </a:r>
            <a:endParaRPr lang="en-US" altLang="ja-JP" sz="2400" dirty="0"/>
          </a:p>
          <a:p>
            <a:r>
              <a:rPr kumimoji="1" lang="ja-JP" altLang="en-US" sz="2400" b="1" dirty="0">
                <a:solidFill>
                  <a:srgbClr val="FF0000"/>
                </a:solidFill>
              </a:rPr>
              <a:t>記載しているファイル以外のファイルにあるプログラムを使いたいとき</a:t>
            </a:r>
            <a:r>
              <a:rPr kumimoji="1" lang="ja-JP" altLang="en-US" sz="2400" dirty="0"/>
              <a:t>に</a:t>
            </a:r>
            <a:endParaRPr kumimoji="1" lang="en-US" altLang="ja-JP" sz="2400" dirty="0"/>
          </a:p>
          <a:p>
            <a:r>
              <a:rPr lang="ja-JP" altLang="en-US" sz="2400" dirty="0"/>
              <a:t>使用します。</a:t>
            </a:r>
            <a:endParaRPr lang="en-US" altLang="ja-JP" sz="2400" dirty="0"/>
          </a:p>
          <a:p>
            <a:endParaRPr kumimoji="1" lang="en-US" altLang="ja-JP" sz="2400" dirty="0"/>
          </a:p>
          <a:p>
            <a:r>
              <a:rPr lang="ja-JP" altLang="en-US" sz="2400" dirty="0"/>
              <a:t>実はプログラムは</a:t>
            </a:r>
            <a:endParaRPr lang="en-US" altLang="ja-JP" sz="2400" dirty="0"/>
          </a:p>
          <a:p>
            <a:r>
              <a:rPr lang="en-US" altLang="ja-JP" sz="2400" b="1" dirty="0">
                <a:solidFill>
                  <a:srgbClr val="FF0000"/>
                </a:solidFill>
              </a:rPr>
              <a:t>Microsoft</a:t>
            </a:r>
            <a:r>
              <a:rPr lang="ja-JP" altLang="en-US" sz="2400" b="1" dirty="0">
                <a:solidFill>
                  <a:srgbClr val="FF0000"/>
                </a:solidFill>
              </a:rPr>
              <a:t>があらかじめ書いてくれているものがたくさんあります。</a:t>
            </a:r>
            <a:endParaRPr lang="en-US" altLang="ja-JP" sz="2400" b="1" dirty="0">
              <a:solidFill>
                <a:srgbClr val="FF0000"/>
              </a:solidFill>
            </a:endParaRPr>
          </a:p>
          <a:p>
            <a:r>
              <a:rPr kumimoji="1" lang="ja-JP" altLang="en-US" sz="2400" dirty="0"/>
              <a:t>今回の「</a:t>
            </a:r>
            <a:r>
              <a:rPr kumimoji="1" lang="en-US" altLang="ja-JP" sz="2400" b="1" dirty="0" err="1">
                <a:solidFill>
                  <a:srgbClr val="FF0000"/>
                </a:solidFill>
              </a:rPr>
              <a:t>stdio.h</a:t>
            </a:r>
            <a:r>
              <a:rPr kumimoji="1" lang="ja-JP" altLang="en-US" sz="2400" dirty="0"/>
              <a:t>」というのもその一つです。</a:t>
            </a:r>
            <a:endParaRPr kumimoji="1" lang="en-US" altLang="ja-JP" sz="2400" dirty="0"/>
          </a:p>
        </p:txBody>
      </p:sp>
    </p:spTree>
    <p:extLst>
      <p:ext uri="{BB962C8B-B14F-4D97-AF65-F5344CB8AC3E}">
        <p14:creationId xmlns:p14="http://schemas.microsoft.com/office/powerpoint/2010/main" val="257245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kumimoji="1" lang="ja-JP" altLang="en-US" sz="3200" b="1" u="sng" dirty="0"/>
              <a:t>最小限のプログラム</a:t>
            </a:r>
          </a:p>
        </p:txBody>
      </p:sp>
      <p:sp>
        <p:nvSpPr>
          <p:cNvPr id="9" name="テキスト ボックス 8">
            <a:extLst>
              <a:ext uri="{FF2B5EF4-FFF2-40B4-BE49-F238E27FC236}">
                <a16:creationId xmlns:a16="http://schemas.microsoft.com/office/drawing/2014/main" id="{80F412F9-EC22-472D-8334-55F86CA5630B}"/>
              </a:ext>
            </a:extLst>
          </p:cNvPr>
          <p:cNvSpPr txBox="1"/>
          <p:nvPr/>
        </p:nvSpPr>
        <p:spPr>
          <a:xfrm>
            <a:off x="567542" y="1189161"/>
            <a:ext cx="7571303" cy="3785652"/>
          </a:xfrm>
          <a:prstGeom prst="rect">
            <a:avLst/>
          </a:prstGeom>
          <a:noFill/>
        </p:spPr>
        <p:txBody>
          <a:bodyPr wrap="none" rtlCol="0">
            <a:spAutoFit/>
          </a:bodyPr>
          <a:lstStyle/>
          <a:p>
            <a:r>
              <a:rPr kumimoji="1" lang="en-US" altLang="ja-JP" sz="2400" b="1" dirty="0">
                <a:solidFill>
                  <a:srgbClr val="0070C0"/>
                </a:solidFill>
              </a:rPr>
              <a:t>Int</a:t>
            </a:r>
            <a:r>
              <a:rPr kumimoji="1" lang="en-US" altLang="ja-JP" sz="2400" b="1" dirty="0">
                <a:solidFill>
                  <a:srgbClr val="00B050"/>
                </a:solidFill>
              </a:rPr>
              <a:t> </a:t>
            </a:r>
            <a:r>
              <a:rPr kumimoji="1" lang="en-US" altLang="ja-JP" sz="2400" b="1" dirty="0">
                <a:solidFill>
                  <a:schemeClr val="accent4">
                    <a:lumMod val="50000"/>
                  </a:schemeClr>
                </a:solidFill>
              </a:rPr>
              <a:t>main</a:t>
            </a:r>
            <a:r>
              <a:rPr kumimoji="1" lang="en-US" altLang="ja-JP" sz="2400" b="1" dirty="0"/>
              <a:t>(</a:t>
            </a:r>
            <a:r>
              <a:rPr kumimoji="1" lang="en-US" altLang="ja-JP" sz="2400" b="1" dirty="0">
                <a:solidFill>
                  <a:srgbClr val="0070C0"/>
                </a:solidFill>
              </a:rPr>
              <a:t>void</a:t>
            </a:r>
            <a:r>
              <a:rPr kumimoji="1" lang="en-US" altLang="ja-JP" sz="2400" b="1" dirty="0"/>
              <a:t>)</a:t>
            </a:r>
          </a:p>
          <a:p>
            <a:r>
              <a:rPr lang="en-US" altLang="ja-JP" sz="2400" b="1" dirty="0"/>
              <a:t>{</a:t>
            </a:r>
          </a:p>
          <a:p>
            <a:r>
              <a:rPr lang="ja-JP" altLang="en-US" sz="2400" b="1" dirty="0"/>
              <a:t>　・・・</a:t>
            </a:r>
            <a:endParaRPr lang="en-US" altLang="ja-JP" sz="2400" b="1" dirty="0"/>
          </a:p>
          <a:p>
            <a:r>
              <a:rPr lang="en-US" altLang="ja-JP" sz="2400" b="1" dirty="0"/>
              <a:t>}</a:t>
            </a:r>
            <a:endParaRPr kumimoji="1" lang="en-US" altLang="ja-JP" sz="2400" b="1" dirty="0"/>
          </a:p>
          <a:p>
            <a:endParaRPr kumimoji="1" lang="en-US" altLang="ja-JP" sz="2400" dirty="0"/>
          </a:p>
          <a:p>
            <a:r>
              <a:rPr lang="ja-JP" altLang="en-US" sz="2400" dirty="0"/>
              <a:t>これは</a:t>
            </a:r>
            <a:r>
              <a:rPr lang="ja-JP" altLang="en-US" sz="2400" b="1" dirty="0">
                <a:solidFill>
                  <a:srgbClr val="FF0000"/>
                </a:solidFill>
              </a:rPr>
              <a:t>メイン関数</a:t>
            </a:r>
            <a:r>
              <a:rPr lang="ja-JP" altLang="en-US" sz="2400" dirty="0"/>
              <a:t>と言います。</a:t>
            </a:r>
            <a:endParaRPr lang="en-US" altLang="ja-JP" sz="2400" dirty="0"/>
          </a:p>
          <a:p>
            <a:r>
              <a:rPr lang="ja-JP" altLang="en-US" sz="2400" dirty="0"/>
              <a:t>メイン関数は</a:t>
            </a:r>
            <a:r>
              <a:rPr lang="ja-JP" altLang="en-US" sz="2400" b="1" dirty="0">
                <a:solidFill>
                  <a:srgbClr val="FF0000"/>
                </a:solidFill>
              </a:rPr>
              <a:t>プログラムのスタート地点</a:t>
            </a:r>
            <a:r>
              <a:rPr lang="ja-JP" altLang="en-US" sz="2400" dirty="0"/>
              <a:t>になります。</a:t>
            </a:r>
            <a:endParaRPr lang="en-US" altLang="ja-JP" sz="2400" dirty="0"/>
          </a:p>
          <a:p>
            <a:r>
              <a:rPr lang="ja-JP" altLang="en-US" sz="2400" dirty="0"/>
              <a:t>どんなプログラムもメイン関数から始まります。</a:t>
            </a:r>
            <a:endParaRPr lang="en-US" altLang="ja-JP" sz="2400" dirty="0"/>
          </a:p>
          <a:p>
            <a:endParaRPr lang="en-US" altLang="ja-JP" sz="2400" dirty="0"/>
          </a:p>
          <a:p>
            <a:r>
              <a:rPr lang="ja-JP" altLang="en-US" sz="2400" dirty="0"/>
              <a:t>カッコ内に様々なプログラムを書き込んでいきます。</a:t>
            </a:r>
            <a:endParaRPr lang="en-US" altLang="ja-JP" sz="2400" dirty="0"/>
          </a:p>
        </p:txBody>
      </p:sp>
    </p:spTree>
    <p:extLst>
      <p:ext uri="{BB962C8B-B14F-4D97-AF65-F5344CB8AC3E}">
        <p14:creationId xmlns:p14="http://schemas.microsoft.com/office/powerpoint/2010/main" val="3239004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kumimoji="1" lang="ja-JP" altLang="en-US" sz="3200" b="1" u="sng" dirty="0"/>
              <a:t>最小限のプログラム</a:t>
            </a:r>
          </a:p>
        </p:txBody>
      </p:sp>
      <p:sp>
        <p:nvSpPr>
          <p:cNvPr id="9" name="テキスト ボックス 8">
            <a:extLst>
              <a:ext uri="{FF2B5EF4-FFF2-40B4-BE49-F238E27FC236}">
                <a16:creationId xmlns:a16="http://schemas.microsoft.com/office/drawing/2014/main" id="{80F412F9-EC22-472D-8334-55F86CA5630B}"/>
              </a:ext>
            </a:extLst>
          </p:cNvPr>
          <p:cNvSpPr txBox="1"/>
          <p:nvPr/>
        </p:nvSpPr>
        <p:spPr>
          <a:xfrm>
            <a:off x="567542" y="1189161"/>
            <a:ext cx="9627957" cy="4524315"/>
          </a:xfrm>
          <a:prstGeom prst="rect">
            <a:avLst/>
          </a:prstGeom>
          <a:noFill/>
        </p:spPr>
        <p:txBody>
          <a:bodyPr wrap="none" rtlCol="0">
            <a:spAutoFit/>
          </a:bodyPr>
          <a:lstStyle/>
          <a:p>
            <a:r>
              <a:rPr kumimoji="1" lang="en-US" altLang="ja-JP" sz="2400" b="1" dirty="0" err="1">
                <a:solidFill>
                  <a:schemeClr val="accent4">
                    <a:lumMod val="50000"/>
                  </a:schemeClr>
                </a:solidFill>
              </a:rPr>
              <a:t>printf_s</a:t>
            </a:r>
            <a:r>
              <a:rPr kumimoji="1" lang="en-US" altLang="ja-JP" sz="2400" b="1" dirty="0">
                <a:solidFill>
                  <a:srgbClr val="0070C0"/>
                </a:solidFill>
              </a:rPr>
              <a:t>(</a:t>
            </a:r>
            <a:r>
              <a:rPr kumimoji="1" lang="en-US" altLang="ja-JP" sz="2400" b="1" dirty="0">
                <a:solidFill>
                  <a:srgbClr val="FF0000"/>
                </a:solidFill>
              </a:rPr>
              <a:t>“</a:t>
            </a:r>
            <a:r>
              <a:rPr kumimoji="1" lang="ja-JP" altLang="en-US" sz="2400" b="1" dirty="0">
                <a:solidFill>
                  <a:srgbClr val="FF0000"/>
                </a:solidFill>
              </a:rPr>
              <a:t>こんにちは！</a:t>
            </a:r>
            <a:r>
              <a:rPr kumimoji="1" lang="en-US" altLang="ja-JP" sz="2400" b="1" dirty="0">
                <a:solidFill>
                  <a:srgbClr val="FF0000"/>
                </a:solidFill>
              </a:rPr>
              <a:t>”</a:t>
            </a:r>
            <a:r>
              <a:rPr kumimoji="1" lang="en-US" altLang="ja-JP" sz="2400" b="1" dirty="0">
                <a:solidFill>
                  <a:srgbClr val="0070C0"/>
                </a:solidFill>
              </a:rPr>
              <a:t>);</a:t>
            </a:r>
            <a:endParaRPr kumimoji="1" lang="en-US" altLang="ja-JP" sz="2400" b="1" dirty="0"/>
          </a:p>
          <a:p>
            <a:endParaRPr kumimoji="1" lang="en-US" altLang="ja-JP" sz="2400" dirty="0"/>
          </a:p>
          <a:p>
            <a:r>
              <a:rPr lang="ja-JP" altLang="en-US" sz="2400" dirty="0"/>
              <a:t>これは</a:t>
            </a:r>
            <a:r>
              <a:rPr lang="ja-JP" altLang="en-US" sz="2400" b="1" dirty="0">
                <a:solidFill>
                  <a:srgbClr val="FF0000"/>
                </a:solidFill>
              </a:rPr>
              <a:t>プリントエフエス関数</a:t>
            </a:r>
            <a:r>
              <a:rPr lang="ja-JP" altLang="en-US" sz="2400" dirty="0"/>
              <a:t>と言います。</a:t>
            </a:r>
            <a:endParaRPr lang="en-US" altLang="ja-JP" sz="2400" dirty="0"/>
          </a:p>
          <a:p>
            <a:r>
              <a:rPr lang="en-US" altLang="ja-JP" sz="2400" dirty="0"/>
              <a:t>s</a:t>
            </a:r>
            <a:r>
              <a:rPr lang="ja-JP" altLang="en-US" sz="2400" dirty="0"/>
              <a:t>は省略して</a:t>
            </a:r>
            <a:r>
              <a:rPr lang="ja-JP" altLang="en-US" sz="2400" b="1" dirty="0">
                <a:solidFill>
                  <a:srgbClr val="FF0000"/>
                </a:solidFill>
              </a:rPr>
              <a:t>プリントエフとも呼ばれます。</a:t>
            </a:r>
            <a:endParaRPr lang="en-US" altLang="ja-JP" sz="2400" b="1" dirty="0">
              <a:solidFill>
                <a:srgbClr val="FF0000"/>
              </a:solidFill>
            </a:endParaRPr>
          </a:p>
          <a:p>
            <a:endParaRPr lang="en-US" altLang="ja-JP" sz="2400" b="1" dirty="0">
              <a:solidFill>
                <a:srgbClr val="FF0000"/>
              </a:solidFill>
            </a:endParaRPr>
          </a:p>
          <a:p>
            <a:r>
              <a:rPr lang="en-US" altLang="ja-JP" sz="2400" b="1" dirty="0" err="1">
                <a:solidFill>
                  <a:srgbClr val="0070C0"/>
                </a:solidFill>
              </a:rPr>
              <a:t>printf_s</a:t>
            </a:r>
            <a:r>
              <a:rPr lang="ja-JP" altLang="en-US" sz="2400" dirty="0"/>
              <a:t>は</a:t>
            </a:r>
            <a:r>
              <a:rPr lang="ja-JP" altLang="en-US" sz="2400" b="1" dirty="0">
                <a:solidFill>
                  <a:srgbClr val="FF0000"/>
                </a:solidFill>
              </a:rPr>
              <a:t>カッコ内の文字をコンソール画面に表示します。</a:t>
            </a:r>
            <a:endParaRPr lang="en-US" altLang="ja-JP" sz="2400" b="1" dirty="0">
              <a:solidFill>
                <a:srgbClr val="FF0000"/>
              </a:solidFill>
            </a:endParaRPr>
          </a:p>
          <a:p>
            <a:r>
              <a:rPr lang="en-US" altLang="ja-JP" sz="2400" dirty="0"/>
              <a:t>C</a:t>
            </a:r>
            <a:r>
              <a:rPr lang="ja-JP" altLang="en-US" sz="2400" dirty="0"/>
              <a:t>言語では</a:t>
            </a:r>
            <a:r>
              <a:rPr lang="ja-JP" altLang="en-US" sz="2400" b="1" dirty="0">
                <a:solidFill>
                  <a:srgbClr val="FF0000"/>
                </a:solidFill>
              </a:rPr>
              <a:t>プログラムを実行した結果を表示したいとき</a:t>
            </a:r>
            <a:r>
              <a:rPr lang="ja-JP" altLang="en-US" sz="2400" dirty="0"/>
              <a:t>に使います。</a:t>
            </a:r>
            <a:endParaRPr lang="en-US" altLang="ja-JP" sz="2400" dirty="0"/>
          </a:p>
          <a:p>
            <a:endParaRPr lang="en-US" altLang="ja-JP" sz="2400" dirty="0"/>
          </a:p>
          <a:p>
            <a:r>
              <a:rPr lang="en-US" altLang="ja-JP" sz="2400" b="1" dirty="0" err="1">
                <a:solidFill>
                  <a:srgbClr val="0070C0"/>
                </a:solidFill>
              </a:rPr>
              <a:t>printf_s</a:t>
            </a:r>
            <a:r>
              <a:rPr lang="ja-JP" altLang="en-US" sz="2400" dirty="0"/>
              <a:t>は</a:t>
            </a:r>
            <a:r>
              <a:rPr lang="en-US" altLang="ja-JP" sz="2400" dirty="0"/>
              <a:t>Microsoft</a:t>
            </a:r>
            <a:r>
              <a:rPr lang="ja-JP" altLang="en-US" sz="2400" dirty="0"/>
              <a:t>があらかじめ作ってくれているもので、</a:t>
            </a:r>
            <a:endParaRPr lang="en-US" altLang="ja-JP" sz="2400" dirty="0"/>
          </a:p>
          <a:p>
            <a:r>
              <a:rPr lang="ja-JP" altLang="en-US" sz="2400" b="1" dirty="0">
                <a:solidFill>
                  <a:srgbClr val="FF0000"/>
                </a:solidFill>
              </a:rPr>
              <a:t>「</a:t>
            </a:r>
            <a:r>
              <a:rPr lang="en-US" altLang="ja-JP" sz="2400" b="1" dirty="0" err="1">
                <a:solidFill>
                  <a:srgbClr val="FF0000"/>
                </a:solidFill>
              </a:rPr>
              <a:t>stdio.h</a:t>
            </a:r>
            <a:r>
              <a:rPr lang="ja-JP" altLang="en-US" sz="2400" b="1" dirty="0">
                <a:solidFill>
                  <a:srgbClr val="FF0000"/>
                </a:solidFill>
              </a:rPr>
              <a:t>」がないと使うことができません。</a:t>
            </a:r>
            <a:endParaRPr lang="en-US" altLang="ja-JP" sz="2400" b="1" dirty="0">
              <a:solidFill>
                <a:srgbClr val="FF0000"/>
              </a:solidFill>
            </a:endParaRPr>
          </a:p>
          <a:p>
            <a:endParaRPr lang="en-US" altLang="ja-JP" sz="2400" dirty="0"/>
          </a:p>
          <a:p>
            <a:r>
              <a:rPr lang="ja-JP" altLang="en-US" sz="2400" dirty="0"/>
              <a:t>冒頭のインクルード文はそのためになります。</a:t>
            </a:r>
            <a:endParaRPr lang="en-US" altLang="ja-JP" sz="2400" dirty="0"/>
          </a:p>
        </p:txBody>
      </p:sp>
    </p:spTree>
    <p:extLst>
      <p:ext uri="{BB962C8B-B14F-4D97-AF65-F5344CB8AC3E}">
        <p14:creationId xmlns:p14="http://schemas.microsoft.com/office/powerpoint/2010/main" val="4284117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kumimoji="1" lang="ja-JP" altLang="en-US" sz="3200" b="1" u="sng" dirty="0"/>
              <a:t>最小限のプログラム</a:t>
            </a:r>
          </a:p>
        </p:txBody>
      </p:sp>
      <p:sp>
        <p:nvSpPr>
          <p:cNvPr id="9" name="テキスト ボックス 8">
            <a:extLst>
              <a:ext uri="{FF2B5EF4-FFF2-40B4-BE49-F238E27FC236}">
                <a16:creationId xmlns:a16="http://schemas.microsoft.com/office/drawing/2014/main" id="{80F412F9-EC22-472D-8334-55F86CA5630B}"/>
              </a:ext>
            </a:extLst>
          </p:cNvPr>
          <p:cNvSpPr txBox="1"/>
          <p:nvPr/>
        </p:nvSpPr>
        <p:spPr>
          <a:xfrm>
            <a:off x="567542" y="1189161"/>
            <a:ext cx="7571303" cy="2308324"/>
          </a:xfrm>
          <a:prstGeom prst="rect">
            <a:avLst/>
          </a:prstGeom>
          <a:noFill/>
        </p:spPr>
        <p:txBody>
          <a:bodyPr wrap="none" rtlCol="0">
            <a:spAutoFit/>
          </a:bodyPr>
          <a:lstStyle/>
          <a:p>
            <a:r>
              <a:rPr kumimoji="1" lang="en-US" altLang="ja-JP" sz="2400" b="1" dirty="0">
                <a:solidFill>
                  <a:srgbClr val="D437FF"/>
                </a:solidFill>
              </a:rPr>
              <a:t>return</a:t>
            </a:r>
            <a:r>
              <a:rPr kumimoji="1" lang="en-US" altLang="ja-JP" sz="2400" b="1" dirty="0">
                <a:solidFill>
                  <a:schemeClr val="accent4">
                    <a:lumMod val="50000"/>
                  </a:schemeClr>
                </a:solidFill>
              </a:rPr>
              <a:t> </a:t>
            </a:r>
            <a:r>
              <a:rPr kumimoji="1" lang="en-US" altLang="ja-JP" sz="2400" b="1" dirty="0"/>
              <a:t>0;</a:t>
            </a:r>
          </a:p>
          <a:p>
            <a:endParaRPr kumimoji="1" lang="en-US" altLang="ja-JP" sz="2400" dirty="0"/>
          </a:p>
          <a:p>
            <a:r>
              <a:rPr lang="ja-JP" altLang="en-US" sz="2400" dirty="0"/>
              <a:t>これは</a:t>
            </a:r>
            <a:r>
              <a:rPr lang="ja-JP" altLang="en-US" sz="2400" b="1" dirty="0">
                <a:solidFill>
                  <a:srgbClr val="FF0000"/>
                </a:solidFill>
              </a:rPr>
              <a:t>リターン文</a:t>
            </a:r>
            <a:r>
              <a:rPr lang="ja-JP" altLang="en-US" sz="2400" dirty="0"/>
              <a:t>と言います。</a:t>
            </a:r>
            <a:endParaRPr lang="en-US" altLang="ja-JP" sz="2400" dirty="0"/>
          </a:p>
          <a:p>
            <a:r>
              <a:rPr lang="ja-JP" altLang="en-US" sz="2400" b="1" dirty="0">
                <a:solidFill>
                  <a:srgbClr val="FF0000"/>
                </a:solidFill>
              </a:rPr>
              <a:t>メイン関数のゴール地点</a:t>
            </a:r>
            <a:r>
              <a:rPr lang="ja-JP" altLang="en-US" sz="2400" dirty="0"/>
              <a:t>になります。</a:t>
            </a:r>
            <a:endParaRPr lang="en-US" altLang="ja-JP" sz="2400" dirty="0"/>
          </a:p>
          <a:p>
            <a:endParaRPr lang="en-US" altLang="ja-JP" sz="2400" dirty="0"/>
          </a:p>
          <a:p>
            <a:r>
              <a:rPr lang="ja-JP" altLang="en-US" sz="2400" dirty="0"/>
              <a:t>プログラムがここまでたどり着くと終了となります。</a:t>
            </a:r>
            <a:endParaRPr lang="en-US" altLang="ja-JP" sz="2400" dirty="0"/>
          </a:p>
        </p:txBody>
      </p:sp>
    </p:spTree>
    <p:extLst>
      <p:ext uri="{BB962C8B-B14F-4D97-AF65-F5344CB8AC3E}">
        <p14:creationId xmlns:p14="http://schemas.microsoft.com/office/powerpoint/2010/main" val="3437708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kumimoji="1" lang="ja-JP" altLang="en-US" sz="3200" b="1" u="sng" dirty="0"/>
              <a:t>最小限のプログラム</a:t>
            </a:r>
          </a:p>
        </p:txBody>
      </p:sp>
      <p:pic>
        <p:nvPicPr>
          <p:cNvPr id="3" name="図 2">
            <a:extLst>
              <a:ext uri="{FF2B5EF4-FFF2-40B4-BE49-F238E27FC236}">
                <a16:creationId xmlns:a16="http://schemas.microsoft.com/office/drawing/2014/main" id="{E815B83C-739A-4E78-9698-07200F4AE3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1763258"/>
            <a:ext cx="5528458" cy="2880729"/>
          </a:xfrm>
          <a:prstGeom prst="rect">
            <a:avLst/>
          </a:prstGeom>
        </p:spPr>
      </p:pic>
      <p:sp>
        <p:nvSpPr>
          <p:cNvPr id="9" name="テキスト ボックス 8">
            <a:extLst>
              <a:ext uri="{FF2B5EF4-FFF2-40B4-BE49-F238E27FC236}">
                <a16:creationId xmlns:a16="http://schemas.microsoft.com/office/drawing/2014/main" id="{80F412F9-EC22-472D-8334-55F86CA5630B}"/>
              </a:ext>
            </a:extLst>
          </p:cNvPr>
          <p:cNvSpPr txBox="1"/>
          <p:nvPr/>
        </p:nvSpPr>
        <p:spPr>
          <a:xfrm>
            <a:off x="567542" y="1189161"/>
            <a:ext cx="6647974" cy="461665"/>
          </a:xfrm>
          <a:prstGeom prst="rect">
            <a:avLst/>
          </a:prstGeom>
          <a:noFill/>
        </p:spPr>
        <p:txBody>
          <a:bodyPr wrap="none" rtlCol="0">
            <a:spAutoFit/>
          </a:bodyPr>
          <a:lstStyle/>
          <a:p>
            <a:r>
              <a:rPr kumimoji="1" lang="ja-JP" altLang="en-US" sz="2400" dirty="0"/>
              <a:t>もう一度書いたプログラムを見てみましょう。</a:t>
            </a:r>
            <a:endParaRPr kumimoji="1" lang="en-US" altLang="ja-JP" sz="2400" dirty="0"/>
          </a:p>
        </p:txBody>
      </p:sp>
      <p:sp>
        <p:nvSpPr>
          <p:cNvPr id="5" name="テキスト ボックス 4">
            <a:extLst>
              <a:ext uri="{FF2B5EF4-FFF2-40B4-BE49-F238E27FC236}">
                <a16:creationId xmlns:a16="http://schemas.microsoft.com/office/drawing/2014/main" id="{C75A068C-9A16-4E52-B076-53E99B8372B3}"/>
              </a:ext>
            </a:extLst>
          </p:cNvPr>
          <p:cNvSpPr txBox="1"/>
          <p:nvPr/>
        </p:nvSpPr>
        <p:spPr>
          <a:xfrm>
            <a:off x="567542" y="4756419"/>
            <a:ext cx="10033516" cy="1200329"/>
          </a:xfrm>
          <a:prstGeom prst="rect">
            <a:avLst/>
          </a:prstGeom>
          <a:noFill/>
        </p:spPr>
        <p:txBody>
          <a:bodyPr wrap="none" rtlCol="0">
            <a:spAutoFit/>
          </a:bodyPr>
          <a:lstStyle/>
          <a:p>
            <a:r>
              <a:rPr kumimoji="1" lang="ja-JP" altLang="en-US" sz="2400" dirty="0"/>
              <a:t>つまりこのプログラムは、</a:t>
            </a:r>
            <a:endParaRPr kumimoji="1" lang="en-US" altLang="ja-JP" sz="2400" dirty="0"/>
          </a:p>
          <a:p>
            <a:r>
              <a:rPr lang="ja-JP" altLang="en-US" sz="2400" b="1" dirty="0">
                <a:solidFill>
                  <a:srgbClr val="FF0000"/>
                </a:solidFill>
              </a:rPr>
              <a:t>「こんにちは！」とコンソール画面に表示するプログラム</a:t>
            </a:r>
            <a:r>
              <a:rPr lang="ja-JP" altLang="en-US" sz="2400" dirty="0"/>
              <a:t>となります。</a:t>
            </a:r>
            <a:endParaRPr lang="en-US" altLang="ja-JP" sz="2400" dirty="0"/>
          </a:p>
          <a:p>
            <a:r>
              <a:rPr kumimoji="1" lang="ja-JP" altLang="en-US" sz="2400" dirty="0"/>
              <a:t>次のスライドでこのプログラムを実行してみます。</a:t>
            </a:r>
            <a:endParaRPr kumimoji="1" lang="en-US" altLang="ja-JP" sz="2400" dirty="0"/>
          </a:p>
        </p:txBody>
      </p:sp>
    </p:spTree>
    <p:extLst>
      <p:ext uri="{BB962C8B-B14F-4D97-AF65-F5344CB8AC3E}">
        <p14:creationId xmlns:p14="http://schemas.microsoft.com/office/powerpoint/2010/main" val="288131656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TotalTime>
  <Words>298</Words>
  <Application>Microsoft Office PowerPoint</Application>
  <PresentationFormat>ワイド画面</PresentationFormat>
  <Paragraphs>49</Paragraphs>
  <Slides>6</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6</vt:i4>
      </vt:variant>
    </vt:vector>
  </HeadingPairs>
  <TitlesOfParts>
    <vt:vector size="10"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9</cp:revision>
  <dcterms:created xsi:type="dcterms:W3CDTF">2024-08-27T02:15:54Z</dcterms:created>
  <dcterms:modified xsi:type="dcterms:W3CDTF">2024-11-14T02:25:34Z</dcterms:modified>
</cp:coreProperties>
</file>