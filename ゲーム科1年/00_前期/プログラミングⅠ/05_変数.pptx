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変数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プログラムで何かを作ろうとしたとき、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文字や数字を記憶しておきたい</a:t>
            </a:r>
            <a:r>
              <a:rPr lang="ja-JP" altLang="en-US" sz="2400" dirty="0"/>
              <a:t>ことが多々あります。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変数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494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例えば、電卓で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２つの数字を足し算</a:t>
            </a:r>
            <a:r>
              <a:rPr kumimoji="1" lang="ja-JP" altLang="en-US" sz="2400" dirty="0"/>
              <a:t>するとしましょう。</a:t>
            </a:r>
            <a:endParaRPr kumimoji="1" lang="en-US" altLang="ja-JP" sz="2400" dirty="0"/>
          </a:p>
          <a:p>
            <a:r>
              <a:rPr lang="ja-JP" altLang="en-US" sz="2400" dirty="0"/>
              <a:t>その場合、ボタンで入力された２つの数字を覚えておいて、</a:t>
            </a:r>
            <a:endParaRPr lang="en-US" altLang="ja-JP" sz="2400" dirty="0"/>
          </a:p>
          <a:p>
            <a:r>
              <a:rPr kumimoji="1" lang="ja-JP" altLang="en-US" sz="2400" dirty="0"/>
              <a:t>その２つを足し算しなければいけません。</a:t>
            </a:r>
            <a:endParaRPr kumimoji="1" lang="en-US" altLang="ja-JP" sz="2400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9697B42-542F-4E33-9D34-A8EFC1AE508D}"/>
              </a:ext>
            </a:extLst>
          </p:cNvPr>
          <p:cNvGrpSpPr/>
          <p:nvPr/>
        </p:nvGrpSpPr>
        <p:grpSpPr>
          <a:xfrm>
            <a:off x="567542" y="3525082"/>
            <a:ext cx="4902319" cy="461666"/>
            <a:chOff x="567542" y="2666487"/>
            <a:chExt cx="4902319" cy="461666"/>
          </a:xfrm>
        </p:grpSpPr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DE49A8D-6663-4B33-AD04-7C6BBC0EDCB0}"/>
                </a:ext>
              </a:extLst>
            </p:cNvPr>
            <p:cNvSpPr txBox="1"/>
            <p:nvPr/>
          </p:nvSpPr>
          <p:spPr>
            <a:xfrm>
              <a:off x="4669642" y="2666488"/>
              <a:ext cx="800219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/>
                <a:t>２０</a:t>
              </a:r>
              <a:endParaRPr kumimoji="1" lang="en-US" altLang="ja-JP" sz="2400" dirty="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4461EB55-6DC1-4D6F-B56B-FC3BFBF1922E}"/>
                </a:ext>
              </a:extLst>
            </p:cNvPr>
            <p:cNvSpPr txBox="1"/>
            <p:nvPr/>
          </p:nvSpPr>
          <p:spPr>
            <a:xfrm>
              <a:off x="567542" y="2666487"/>
              <a:ext cx="38779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/>
                <a:t>次に入力された数字・・・</a:t>
              </a:r>
              <a:endParaRPr kumimoji="1" lang="en-US" altLang="ja-JP" sz="2400" dirty="0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18171C3-3BD6-4ABB-874A-C03B67A242E9}"/>
              </a:ext>
            </a:extLst>
          </p:cNvPr>
          <p:cNvGrpSpPr/>
          <p:nvPr/>
        </p:nvGrpSpPr>
        <p:grpSpPr>
          <a:xfrm>
            <a:off x="567542" y="2667000"/>
            <a:ext cx="6154599" cy="723900"/>
            <a:chOff x="567542" y="2667000"/>
            <a:chExt cx="6154599" cy="723900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42F68172-922E-4B0E-BC1B-124DC42ACAD3}"/>
                </a:ext>
              </a:extLst>
            </p:cNvPr>
            <p:cNvGrpSpPr/>
            <p:nvPr/>
          </p:nvGrpSpPr>
          <p:grpSpPr>
            <a:xfrm>
              <a:off x="567542" y="2871253"/>
              <a:ext cx="4902319" cy="461666"/>
              <a:chOff x="567542" y="2666487"/>
              <a:chExt cx="4902319" cy="461666"/>
            </a:xfrm>
          </p:grpSpPr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71F92EE-1EBD-4CDF-83D0-DA89996EEE9B}"/>
                  </a:ext>
                </a:extLst>
              </p:cNvPr>
              <p:cNvSpPr txBox="1"/>
              <p:nvPr/>
            </p:nvSpPr>
            <p:spPr>
              <a:xfrm>
                <a:off x="4669642" y="2666488"/>
                <a:ext cx="800219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１０</a:t>
                </a:r>
                <a:endParaRPr kumimoji="1" lang="en-US" altLang="ja-JP" sz="2400" dirty="0"/>
              </a:p>
            </p:txBody>
          </p:sp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231E833-F496-4866-9D37-BD141045AF5B}"/>
                  </a:ext>
                </a:extLst>
              </p:cNvPr>
              <p:cNvSpPr txBox="1"/>
              <p:nvPr/>
            </p:nvSpPr>
            <p:spPr>
              <a:xfrm>
                <a:off x="567542" y="2666487"/>
                <a:ext cx="41857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最初に入力された数字・・・</a:t>
                </a:r>
                <a:endParaRPr kumimoji="1" lang="en-US" altLang="ja-JP" sz="2400" dirty="0"/>
              </a:p>
            </p:txBody>
          </p:sp>
        </p:grpSp>
        <p:sp>
          <p:nvSpPr>
            <p:cNvPr id="12" name="雲 11">
              <a:extLst>
                <a:ext uri="{FF2B5EF4-FFF2-40B4-BE49-F238E27FC236}">
                  <a16:creationId xmlns:a16="http://schemas.microsoft.com/office/drawing/2014/main" id="{61E33949-782F-4411-A815-CD455880D84C}"/>
                </a:ext>
              </a:extLst>
            </p:cNvPr>
            <p:cNvSpPr/>
            <p:nvPr/>
          </p:nvSpPr>
          <p:spPr>
            <a:xfrm>
              <a:off x="5469861" y="2667000"/>
              <a:ext cx="1252280" cy="723900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5C9538EE-9F03-46E6-AE11-66793B0989FB}"/>
                </a:ext>
              </a:extLst>
            </p:cNvPr>
            <p:cNvSpPr txBox="1"/>
            <p:nvPr/>
          </p:nvSpPr>
          <p:spPr>
            <a:xfrm>
              <a:off x="5695891" y="2805520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記憶</a:t>
              </a:r>
              <a:endParaRPr kumimoji="1" lang="en-US" altLang="ja-JP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6" name="雲 15">
            <a:extLst>
              <a:ext uri="{FF2B5EF4-FFF2-40B4-BE49-F238E27FC236}">
                <a16:creationId xmlns:a16="http://schemas.microsoft.com/office/drawing/2014/main" id="{5CEF3342-7F61-4006-88A7-86DD62EC3253}"/>
              </a:ext>
            </a:extLst>
          </p:cNvPr>
          <p:cNvSpPr/>
          <p:nvPr/>
        </p:nvSpPr>
        <p:spPr>
          <a:xfrm>
            <a:off x="5469860" y="3415120"/>
            <a:ext cx="1252280" cy="723900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4E420C4-6F9A-4A92-A535-272BE0B3E411}"/>
              </a:ext>
            </a:extLst>
          </p:cNvPr>
          <p:cNvSpPr txBox="1"/>
          <p:nvPr/>
        </p:nvSpPr>
        <p:spPr>
          <a:xfrm>
            <a:off x="5695890" y="355364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記憶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14091498-5200-45F0-9EAA-CF9DEA582FDD}"/>
              </a:ext>
            </a:extLst>
          </p:cNvPr>
          <p:cNvGrpSpPr/>
          <p:nvPr/>
        </p:nvGrpSpPr>
        <p:grpSpPr>
          <a:xfrm>
            <a:off x="644488" y="4809176"/>
            <a:ext cx="4108815" cy="461667"/>
            <a:chOff x="567542" y="4598452"/>
            <a:chExt cx="4108815" cy="461667"/>
          </a:xfrm>
        </p:grpSpPr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645CC3E2-CC99-485E-90F1-BD609CA9753D}"/>
                </a:ext>
              </a:extLst>
            </p:cNvPr>
            <p:cNvSpPr txBox="1"/>
            <p:nvPr/>
          </p:nvSpPr>
          <p:spPr>
            <a:xfrm>
              <a:off x="567542" y="4598454"/>
              <a:ext cx="800219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/>
                <a:t>１０</a:t>
              </a:r>
              <a:endParaRPr kumimoji="1" lang="en-US" altLang="ja-JP" sz="2400" dirty="0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6E264DBF-8E0C-4750-8614-BE2CA7091312}"/>
                </a:ext>
              </a:extLst>
            </p:cNvPr>
            <p:cNvSpPr txBox="1"/>
            <p:nvPr/>
          </p:nvSpPr>
          <p:spPr>
            <a:xfrm>
              <a:off x="2260312" y="4598454"/>
              <a:ext cx="800219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/>
                <a:t>２０</a:t>
              </a:r>
              <a:endParaRPr kumimoji="1" lang="en-US" altLang="ja-JP" sz="2400" dirty="0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36A48688-BACF-4ECB-BE2E-342815BB7603}"/>
                </a:ext>
              </a:extLst>
            </p:cNvPr>
            <p:cNvSpPr txBox="1"/>
            <p:nvPr/>
          </p:nvSpPr>
          <p:spPr>
            <a:xfrm>
              <a:off x="1567815" y="4598453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/>
                <a:t>＋</a:t>
              </a:r>
              <a:endParaRPr kumimoji="1" lang="en-US" altLang="ja-JP" sz="2400" dirty="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2CED2EBA-9936-41BB-AE5A-73B759144432}"/>
                </a:ext>
              </a:extLst>
            </p:cNvPr>
            <p:cNvSpPr txBox="1"/>
            <p:nvPr/>
          </p:nvSpPr>
          <p:spPr>
            <a:xfrm>
              <a:off x="3260585" y="4598452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/>
                <a:t>＝　３０</a:t>
              </a:r>
              <a:endParaRPr kumimoji="1" lang="en-US" altLang="ja-JP" sz="2400" dirty="0"/>
            </a:p>
          </p:txBody>
        </p:sp>
      </p:grp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57FB4B1-91B2-4D00-A6E7-8991E4E0880C}"/>
              </a:ext>
            </a:extLst>
          </p:cNvPr>
          <p:cNvSpPr txBox="1"/>
          <p:nvPr/>
        </p:nvSpPr>
        <p:spPr>
          <a:xfrm>
            <a:off x="591087" y="428254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足し算結果！！</a:t>
            </a:r>
            <a:endParaRPr kumimoji="1" lang="en-US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703860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変数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26352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プログラムでは、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文字や数字を覚える箱</a:t>
            </a:r>
            <a:r>
              <a:rPr kumimoji="1" lang="ja-JP" altLang="en-US" sz="2400" dirty="0"/>
              <a:t>を用意することができます。</a:t>
            </a:r>
            <a:endParaRPr kumimoji="1" lang="en-US" altLang="ja-JP" sz="2400" dirty="0"/>
          </a:p>
          <a:p>
            <a:r>
              <a:rPr lang="ja-JP" altLang="en-US" sz="2400" dirty="0"/>
              <a:t>その箱のことを</a:t>
            </a:r>
            <a:r>
              <a:rPr lang="ja-JP" altLang="en-US" sz="2400" b="1" dirty="0">
                <a:solidFill>
                  <a:srgbClr val="FF0000"/>
                </a:solidFill>
              </a:rPr>
              <a:t>変数</a:t>
            </a:r>
            <a:r>
              <a:rPr lang="ja-JP" altLang="en-US" sz="2400" dirty="0"/>
              <a:t>と呼びます。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まずは数字で練習します。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82817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788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変数 練習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以下の通りにプログラムを書いてみましょう。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936AD9F-3472-4ADA-BA77-7C9B2F54C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763257"/>
            <a:ext cx="5376058" cy="479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96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788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変数 練習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471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実行して以下のように表示されれば</a:t>
            </a:r>
            <a:r>
              <a:rPr lang="en-US" altLang="ja-JP" sz="2400" dirty="0"/>
              <a:t>OK</a:t>
            </a:r>
            <a:r>
              <a:rPr lang="ja-JP" altLang="en-US" sz="2400" dirty="0"/>
              <a:t>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661A72C-1D40-493E-BCBA-C615681BB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763257"/>
            <a:ext cx="7664335" cy="390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1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変数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596678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0070C0"/>
                </a:solidFill>
              </a:rPr>
              <a:t>int</a:t>
            </a:r>
            <a:r>
              <a:rPr lang="en-US" altLang="ja-JP" sz="2400" dirty="0"/>
              <a:t> </a:t>
            </a:r>
            <a:r>
              <a:rPr lang="en-US" altLang="ja-JP" sz="2400" dirty="0" err="1"/>
              <a:t>numberA</a:t>
            </a:r>
            <a:r>
              <a:rPr lang="en-US" altLang="ja-JP" sz="2400" dirty="0"/>
              <a:t> = 10;</a:t>
            </a:r>
          </a:p>
          <a:p>
            <a:endParaRPr kumimoji="1" lang="en-US" altLang="ja-JP" sz="2400" dirty="0"/>
          </a:p>
          <a:p>
            <a:r>
              <a:rPr lang="ja-JP" altLang="en-US" sz="2400" dirty="0"/>
              <a:t>変数の使い方は以下の通りです。</a:t>
            </a:r>
            <a:endParaRPr lang="en-US" altLang="ja-JP" sz="2400" dirty="0"/>
          </a:p>
          <a:p>
            <a:r>
              <a:rPr kumimoji="1" lang="ja-JP" altLang="en-US" sz="4000" b="1" dirty="0">
                <a:solidFill>
                  <a:srgbClr val="0070C0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型名</a:t>
            </a:r>
            <a:r>
              <a:rPr kumimoji="1" lang="ja-JP" altLang="en-US" sz="4000" b="1" dirty="0">
                <a:solidFill>
                  <a:srgbClr val="FF0000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　変数名　＝　</a:t>
            </a:r>
            <a:r>
              <a:rPr kumimoji="1" lang="ja-JP" altLang="en-US" sz="4000" b="1" dirty="0">
                <a:solidFill>
                  <a:srgbClr val="00B050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初期値</a:t>
            </a:r>
            <a:r>
              <a:rPr kumimoji="1" lang="en-US" altLang="ja-JP" sz="4000" b="1" dirty="0">
                <a:solidFill>
                  <a:srgbClr val="FF0000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;</a:t>
            </a:r>
          </a:p>
          <a:p>
            <a:endParaRPr lang="en-US" altLang="ja-JP" sz="2400" dirty="0"/>
          </a:p>
          <a:p>
            <a:r>
              <a:rPr lang="ja-JP" altLang="en-US" sz="2400" dirty="0"/>
              <a:t>今回だと、このようにあてはまります。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0070C0"/>
                </a:solidFill>
              </a:rPr>
              <a:t>型名　・・・</a:t>
            </a:r>
            <a:r>
              <a:rPr lang="en-US" altLang="ja-JP" sz="2400" b="1" dirty="0">
                <a:solidFill>
                  <a:srgbClr val="0070C0"/>
                </a:solidFill>
              </a:rPr>
              <a:t>int</a:t>
            </a:r>
          </a:p>
          <a:p>
            <a:r>
              <a:rPr lang="ja-JP" altLang="en-US" sz="2400" b="1" dirty="0">
                <a:solidFill>
                  <a:srgbClr val="FF0000"/>
                </a:solidFill>
              </a:rPr>
              <a:t>変数名・・・</a:t>
            </a:r>
            <a:r>
              <a:rPr lang="en-US" altLang="ja-JP" sz="2400" b="1" dirty="0" err="1">
                <a:solidFill>
                  <a:srgbClr val="FF0000"/>
                </a:solidFill>
              </a:rPr>
              <a:t>numberA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00B050"/>
                </a:solidFill>
              </a:rPr>
              <a:t>初期値・・・</a:t>
            </a:r>
            <a:r>
              <a:rPr lang="en-US" altLang="ja-JP" sz="2400" b="1" dirty="0">
                <a:solidFill>
                  <a:srgbClr val="00B050"/>
                </a:solidFill>
              </a:rPr>
              <a:t>10</a:t>
            </a:r>
          </a:p>
          <a:p>
            <a:endParaRPr lang="en-US" altLang="ja-JP" sz="2400" dirty="0"/>
          </a:p>
          <a:p>
            <a:r>
              <a:rPr lang="ja-JP" altLang="en-US" sz="2400" dirty="0"/>
              <a:t>一つずつ解説します。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44412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変数 型名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5713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変数の型名とは、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記憶しておきたいものの種類を表すもの</a:t>
            </a:r>
            <a:r>
              <a:rPr lang="ja-JP" altLang="en-US" sz="2400" dirty="0"/>
              <a:t>となります。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■代表的な型と記憶できるもの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07554175-A2D3-4992-9DAA-27128E0C8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847132"/>
              </p:ext>
            </p:extLst>
          </p:nvPr>
        </p:nvGraphicFramePr>
        <p:xfrm>
          <a:off x="567542" y="2872740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010772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00417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型名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記憶できるもの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746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int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数値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200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char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文字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303353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CB41413-EBE6-4D83-93E7-96036FE66C2A}"/>
              </a:ext>
            </a:extLst>
          </p:cNvPr>
          <p:cNvSpPr txBox="1"/>
          <p:nvPr/>
        </p:nvSpPr>
        <p:spPr>
          <a:xfrm>
            <a:off x="567542" y="4099179"/>
            <a:ext cx="76306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今回は数値を記憶したかったので</a:t>
            </a:r>
            <a:r>
              <a:rPr lang="en-US" altLang="ja-JP" sz="2400" b="1" dirty="0">
                <a:solidFill>
                  <a:srgbClr val="0070C0"/>
                </a:solidFill>
              </a:rPr>
              <a:t>int</a:t>
            </a:r>
            <a:r>
              <a:rPr lang="ja-JP" altLang="en-US" sz="2400" dirty="0"/>
              <a:t>型となりました。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型はほかにも様々あります！！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094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変数 変数名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49463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変数名</a:t>
            </a:r>
            <a:r>
              <a:rPr lang="ja-JP" altLang="en-US" sz="2400" dirty="0"/>
              <a:t>は、</a:t>
            </a:r>
            <a:r>
              <a:rPr lang="ja-JP" altLang="en-US" sz="2400" b="1" dirty="0">
                <a:solidFill>
                  <a:srgbClr val="FF0000"/>
                </a:solidFill>
              </a:rPr>
              <a:t>記憶する箱の名前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名前は一部を除いて自由につけることができます。</a:t>
            </a:r>
            <a:endParaRPr lang="en-US" altLang="ja-JP" sz="2400" dirty="0"/>
          </a:p>
          <a:p>
            <a:r>
              <a:rPr lang="ja-JP" altLang="en-US" sz="2400" dirty="0"/>
              <a:t>違和感のない名前をつけましょう。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■よい例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/>
              <a:t>number</a:t>
            </a:r>
          </a:p>
          <a:p>
            <a:r>
              <a:rPr lang="en-US" altLang="ja-JP" sz="2400" dirty="0"/>
              <a:t>name</a:t>
            </a:r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0070C0"/>
                </a:solidFill>
              </a:rPr>
              <a:t>■悪い例</a:t>
            </a:r>
            <a:endParaRPr lang="en-US" altLang="ja-JP" sz="2400" b="1" dirty="0">
              <a:solidFill>
                <a:srgbClr val="0070C0"/>
              </a:solidFill>
            </a:endParaRPr>
          </a:p>
          <a:p>
            <a:r>
              <a:rPr lang="en-US" altLang="ja-JP" sz="2400" dirty="0" err="1"/>
              <a:t>suuji</a:t>
            </a:r>
            <a:endParaRPr lang="en-US" altLang="ja-JP" sz="2400" dirty="0"/>
          </a:p>
          <a:p>
            <a:r>
              <a:rPr lang="en-US" altLang="ja-JP" sz="2400" dirty="0" err="1"/>
              <a:t>namae</a:t>
            </a:r>
            <a:endParaRPr lang="en-US" altLang="ja-JP" sz="2400" dirty="0"/>
          </a:p>
          <a:p>
            <a:r>
              <a:rPr lang="en-US" altLang="ja-JP" sz="2400" dirty="0" err="1"/>
              <a:t>abc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日本語のものや意味が伝わらないものは基本的にダメ！！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03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変数 初期値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67096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初期値</a:t>
            </a:r>
            <a:r>
              <a:rPr lang="ja-JP" altLang="en-US" sz="2400" dirty="0"/>
              <a:t>は、</a:t>
            </a:r>
            <a:r>
              <a:rPr lang="ja-JP" altLang="en-US" sz="2400" b="1" dirty="0">
                <a:solidFill>
                  <a:srgbClr val="FF0000"/>
                </a:solidFill>
              </a:rPr>
              <a:t>記憶する箱に最初に入る値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初期値がない場合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不定の変数</a:t>
            </a:r>
            <a:r>
              <a:rPr lang="ja-JP" altLang="en-US" sz="2400" dirty="0"/>
              <a:t>となり、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箱の中に何が入っているかわからない状態となります。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この場合、不具合の原因となりますので、</a:t>
            </a:r>
            <a:endParaRPr lang="en-US" altLang="ja-JP" sz="2400" dirty="0"/>
          </a:p>
          <a:p>
            <a:r>
              <a:rPr lang="ja-JP" altLang="en-US" sz="2400" dirty="0"/>
              <a:t>変数は必ず初期化しましょう。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ちなみに、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初期値が何でもいいときは、</a:t>
            </a:r>
            <a:r>
              <a:rPr lang="en-US" altLang="ja-JP" sz="2400" b="1" dirty="0">
                <a:solidFill>
                  <a:srgbClr val="FF0000"/>
                </a:solidFill>
              </a:rPr>
              <a:t>0</a:t>
            </a:r>
            <a:r>
              <a:rPr lang="ja-JP" altLang="en-US" sz="2400" b="1" dirty="0">
                <a:solidFill>
                  <a:srgbClr val="FF0000"/>
                </a:solidFill>
              </a:rPr>
              <a:t>で初期化する</a:t>
            </a:r>
            <a:r>
              <a:rPr lang="ja-JP" altLang="en-US" sz="2400" dirty="0"/>
              <a:t>のが一般的です。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25378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788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変数 練習</a:t>
            </a:r>
            <a:r>
              <a:rPr kumimoji="1" lang="en-US" altLang="ja-JP" sz="3200" b="1" u="sng" dirty="0"/>
              <a:t>2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978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練習</a:t>
            </a:r>
            <a:r>
              <a:rPr lang="en-US" altLang="ja-JP" sz="2400" dirty="0"/>
              <a:t>1</a:t>
            </a:r>
            <a:r>
              <a:rPr lang="ja-JP" altLang="en-US" sz="2400" dirty="0"/>
              <a:t>から初期値を削除して、動作するか確認してみましょう。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AF97A92-407E-4526-A0A5-DF2507748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763258"/>
            <a:ext cx="5337958" cy="469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164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788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変数 練習</a:t>
            </a:r>
            <a:r>
              <a:rPr kumimoji="1" lang="en-US" altLang="ja-JP" sz="3200" b="1" u="sng" dirty="0"/>
              <a:t>3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3922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char</a:t>
            </a:r>
            <a:r>
              <a:rPr lang="ja-JP" altLang="en-US" sz="2400" b="1" dirty="0">
                <a:solidFill>
                  <a:srgbClr val="0070C0"/>
                </a:solidFill>
              </a:rPr>
              <a:t>型</a:t>
            </a:r>
            <a:r>
              <a:rPr lang="ja-JP" altLang="en-US" sz="2400" dirty="0"/>
              <a:t>も練習しましょう。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2505A11-95EA-4C5C-AD7C-815BDD26F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763258"/>
            <a:ext cx="5772956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825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変数 補足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そのほかに初めて使用した部分を解説します。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47806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変数 補足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31376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printf_s</a:t>
            </a:r>
            <a:r>
              <a:rPr lang="en-US" altLang="ja-JP" sz="2400" dirty="0"/>
              <a:t>(“</a:t>
            </a:r>
            <a:r>
              <a:rPr lang="en-US" altLang="ja-JP" sz="2400" dirty="0" err="1"/>
              <a:t>numberA</a:t>
            </a:r>
            <a:r>
              <a:rPr lang="en-US" altLang="ja-JP" sz="2400" dirty="0"/>
              <a:t> = </a:t>
            </a:r>
            <a:r>
              <a:rPr lang="en-US" altLang="ja-JP" sz="2400" b="1" dirty="0">
                <a:solidFill>
                  <a:srgbClr val="FF0000"/>
                </a:solidFill>
              </a:rPr>
              <a:t>%d</a:t>
            </a:r>
            <a:r>
              <a:rPr lang="en-US" altLang="ja-JP" sz="2400" dirty="0"/>
              <a:t>”, </a:t>
            </a:r>
            <a:r>
              <a:rPr lang="en-US" altLang="ja-JP" sz="2400" dirty="0" err="1"/>
              <a:t>numberA</a:t>
            </a:r>
            <a:r>
              <a:rPr lang="en-US" altLang="ja-JP" sz="2400" dirty="0"/>
              <a:t>);</a:t>
            </a:r>
          </a:p>
          <a:p>
            <a:endParaRPr lang="en-US" altLang="ja-JP" sz="2400" dirty="0"/>
          </a:p>
          <a:p>
            <a:r>
              <a:rPr lang="en-US" altLang="ja-JP" sz="2400" b="1" dirty="0" err="1">
                <a:solidFill>
                  <a:srgbClr val="0070C0"/>
                </a:solidFill>
              </a:rPr>
              <a:t>printf_s</a:t>
            </a:r>
            <a:r>
              <a:rPr lang="ja-JP" altLang="en-US" sz="2400" dirty="0"/>
              <a:t>で変数の中身を画面に表示する場合は、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置き換え用の特殊文字</a:t>
            </a:r>
            <a:r>
              <a:rPr lang="ja-JP" altLang="en-US" sz="2400" dirty="0"/>
              <a:t>を使用します。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%d</a:t>
            </a:r>
            <a:r>
              <a:rPr lang="ja-JP" altLang="en-US" sz="2400" dirty="0"/>
              <a:t>と記載した部分に</a:t>
            </a:r>
            <a:r>
              <a:rPr lang="ja-JP" altLang="en-US" sz="2400" b="1" dirty="0">
                <a:solidFill>
                  <a:srgbClr val="FF0000"/>
                </a:solidFill>
              </a:rPr>
              <a:t>カンマ（</a:t>
            </a:r>
            <a:r>
              <a:rPr lang="en-US" altLang="ja-JP" sz="2400" b="1" dirty="0">
                <a:solidFill>
                  <a:srgbClr val="FF0000"/>
                </a:solidFill>
              </a:rPr>
              <a:t>,</a:t>
            </a:r>
            <a:r>
              <a:rPr lang="ja-JP" altLang="en-US" sz="2400" b="1" dirty="0">
                <a:solidFill>
                  <a:srgbClr val="FF0000"/>
                </a:solidFill>
              </a:rPr>
              <a:t>）の右側の変数が置き換わります。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文字</a:t>
            </a:r>
            <a:r>
              <a:rPr lang="ja-JP" altLang="en-US" sz="2400" dirty="0"/>
              <a:t>を表示する場合は</a:t>
            </a:r>
            <a:r>
              <a:rPr lang="en-US" altLang="ja-JP" sz="2400" b="1" dirty="0">
                <a:solidFill>
                  <a:srgbClr val="FF0000"/>
                </a:solidFill>
              </a:rPr>
              <a:t>%c</a:t>
            </a:r>
            <a:r>
              <a:rPr lang="ja-JP" altLang="en-US" sz="2400" dirty="0"/>
              <a:t>と書きます。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他の代表的な特殊文字には</a:t>
            </a:r>
            <a:r>
              <a:rPr lang="ja-JP" altLang="en-US" sz="2400" b="1" dirty="0">
                <a:solidFill>
                  <a:srgbClr val="FF0000"/>
                </a:solidFill>
              </a:rPr>
              <a:t>改行文字（</a:t>
            </a:r>
            <a:r>
              <a:rPr lang="en-US" altLang="ja-JP" sz="2400" b="1" dirty="0">
                <a:solidFill>
                  <a:srgbClr val="FF0000"/>
                </a:solidFill>
              </a:rPr>
              <a:t>\n</a:t>
            </a:r>
            <a:r>
              <a:rPr lang="ja-JP" altLang="en-US" sz="2400" b="1" dirty="0">
                <a:solidFill>
                  <a:srgbClr val="FF0000"/>
                </a:solidFill>
              </a:rPr>
              <a:t>）</a:t>
            </a:r>
            <a:r>
              <a:rPr lang="ja-JP" altLang="en-US" sz="2400" dirty="0"/>
              <a:t>もあります。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33862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変数 補足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33621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printf_s</a:t>
            </a:r>
            <a:r>
              <a:rPr lang="en-US" altLang="ja-JP" sz="2400" dirty="0"/>
              <a:t>(“</a:t>
            </a:r>
            <a:r>
              <a:rPr lang="en-US" altLang="ja-JP" sz="2400" dirty="0" err="1"/>
              <a:t>numberA</a:t>
            </a:r>
            <a:r>
              <a:rPr lang="en-US" altLang="ja-JP" sz="2400" dirty="0"/>
              <a:t> = </a:t>
            </a:r>
            <a:r>
              <a:rPr lang="en-US" altLang="ja-JP" sz="2400" b="1" dirty="0">
                <a:solidFill>
                  <a:srgbClr val="FF0000"/>
                </a:solidFill>
              </a:rPr>
              <a:t>%d</a:t>
            </a:r>
            <a:r>
              <a:rPr lang="ja-JP" altLang="en-US" sz="2400" b="1" dirty="0">
                <a:solidFill>
                  <a:srgbClr val="FF0000"/>
                </a:solidFill>
              </a:rPr>
              <a:t>　</a:t>
            </a:r>
            <a:r>
              <a:rPr lang="en-US" altLang="ja-JP" sz="2400" dirty="0" err="1"/>
              <a:t>numberB</a:t>
            </a:r>
            <a:r>
              <a:rPr lang="en-US" altLang="ja-JP" sz="2400" dirty="0"/>
              <a:t> = </a:t>
            </a:r>
            <a:r>
              <a:rPr lang="en-US" altLang="ja-JP" sz="2400" b="1" dirty="0">
                <a:solidFill>
                  <a:srgbClr val="FF0000"/>
                </a:solidFill>
              </a:rPr>
              <a:t>%d</a:t>
            </a:r>
            <a:r>
              <a:rPr lang="en-US" altLang="ja-JP" sz="2400" dirty="0"/>
              <a:t>”, </a:t>
            </a:r>
            <a:r>
              <a:rPr lang="en-US" altLang="ja-JP" sz="2400" dirty="0" err="1"/>
              <a:t>numberA</a:t>
            </a:r>
            <a:r>
              <a:rPr lang="en-US" altLang="ja-JP" sz="2400" dirty="0"/>
              <a:t>, </a:t>
            </a:r>
            <a:r>
              <a:rPr lang="en-US" altLang="ja-JP" sz="2400" dirty="0" err="1"/>
              <a:t>numberB</a:t>
            </a:r>
            <a:r>
              <a:rPr lang="en-US" altLang="ja-JP" sz="2400" dirty="0"/>
              <a:t>);</a:t>
            </a:r>
          </a:p>
          <a:p>
            <a:endParaRPr lang="en-US" altLang="ja-JP" sz="2400" dirty="0"/>
          </a:p>
          <a:p>
            <a:r>
              <a:rPr lang="ja-JP" altLang="en-US" sz="2400" dirty="0"/>
              <a:t>特殊文字の置き換えは複数使用できます。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複数ある場合は左から順番に置き換わります。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■実行結果</a:t>
            </a:r>
            <a:endParaRPr lang="en-US" altLang="ja-JP" sz="2400" dirty="0"/>
          </a:p>
          <a:p>
            <a:r>
              <a:rPr lang="en-US" altLang="ja-JP" sz="2400" dirty="0" err="1"/>
              <a:t>numberA</a:t>
            </a:r>
            <a:r>
              <a:rPr lang="en-US" altLang="ja-JP" sz="2400" dirty="0"/>
              <a:t> = 10  </a:t>
            </a:r>
            <a:r>
              <a:rPr lang="en-US" altLang="ja-JP" sz="2400" dirty="0" err="1"/>
              <a:t>numberB</a:t>
            </a:r>
            <a:r>
              <a:rPr lang="en-US" altLang="ja-JP" sz="2400" dirty="0"/>
              <a:t> = 20</a:t>
            </a:r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実際に書いて実行してみよう</a:t>
            </a:r>
            <a:endParaRPr lang="en-US" altLang="ja-JP" sz="24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0A4BC08-81D3-4E4F-8334-8E41B030CEDF}"/>
              </a:ext>
            </a:extLst>
          </p:cNvPr>
          <p:cNvSpPr/>
          <p:nvPr/>
        </p:nvSpPr>
        <p:spPr>
          <a:xfrm>
            <a:off x="6789683" y="1076729"/>
            <a:ext cx="1345324" cy="6679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コネクタ: カギ線 4">
            <a:extLst>
              <a:ext uri="{FF2B5EF4-FFF2-40B4-BE49-F238E27FC236}">
                <a16:creationId xmlns:a16="http://schemas.microsoft.com/office/drawing/2014/main" id="{A955B383-72E9-4198-8B36-9268452360E1}"/>
              </a:ext>
            </a:extLst>
          </p:cNvPr>
          <p:cNvCxnSpPr>
            <a:cxnSpLocks/>
            <a:stCxn id="2" idx="0"/>
          </p:cNvCxnSpPr>
          <p:nvPr/>
        </p:nvCxnSpPr>
        <p:spPr>
          <a:xfrm rot="16200000" flipH="1" flipV="1">
            <a:off x="5603605" y="-669579"/>
            <a:ext cx="112432" cy="3605048"/>
          </a:xfrm>
          <a:prstGeom prst="bentConnector4">
            <a:avLst>
              <a:gd name="adj1" fmla="val -203323"/>
              <a:gd name="adj2" fmla="val 10014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8FA09D9-2E5C-4640-9348-1D89E97527B0}"/>
              </a:ext>
            </a:extLst>
          </p:cNvPr>
          <p:cNvSpPr/>
          <p:nvPr/>
        </p:nvSpPr>
        <p:spPr>
          <a:xfrm>
            <a:off x="8222097" y="1071474"/>
            <a:ext cx="1345324" cy="66798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コネクタ: カギ線 24">
            <a:extLst>
              <a:ext uri="{FF2B5EF4-FFF2-40B4-BE49-F238E27FC236}">
                <a16:creationId xmlns:a16="http://schemas.microsoft.com/office/drawing/2014/main" id="{CB8153D3-A6D4-4E27-AF6C-642193D9A351}"/>
              </a:ext>
            </a:extLst>
          </p:cNvPr>
          <p:cNvCxnSpPr>
            <a:stCxn id="11" idx="2"/>
          </p:cNvCxnSpPr>
          <p:nvPr/>
        </p:nvCxnSpPr>
        <p:spPr>
          <a:xfrm rot="5400000" flipH="1">
            <a:off x="7582090" y="426793"/>
            <a:ext cx="78828" cy="2546511"/>
          </a:xfrm>
          <a:prstGeom prst="bentConnector4">
            <a:avLst>
              <a:gd name="adj1" fmla="val -289998"/>
              <a:gd name="adj2" fmla="val 100353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062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変数 補足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41796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// </a:t>
            </a:r>
            <a:r>
              <a:rPr lang="ja-JP" altLang="en-US" sz="2400" b="1" dirty="0">
                <a:solidFill>
                  <a:srgbClr val="00B050"/>
                </a:solidFill>
              </a:rPr>
              <a:t>コメント</a:t>
            </a:r>
            <a:endParaRPr lang="en-US" altLang="ja-JP" sz="2400" b="1" dirty="0">
              <a:solidFill>
                <a:srgbClr val="00B050"/>
              </a:solidFill>
            </a:endParaRPr>
          </a:p>
          <a:p>
            <a:endParaRPr lang="en-US" altLang="ja-JP" sz="2400" b="1" dirty="0">
              <a:solidFill>
                <a:srgbClr val="00B050"/>
              </a:solidFill>
            </a:endParaRPr>
          </a:p>
          <a:p>
            <a:r>
              <a:rPr lang="ja-JP" altLang="en-US" sz="2400" dirty="0"/>
              <a:t>「</a:t>
            </a:r>
            <a:r>
              <a:rPr lang="en-US" altLang="ja-JP" sz="2400" dirty="0"/>
              <a:t>//</a:t>
            </a:r>
            <a:r>
              <a:rPr lang="ja-JP" altLang="en-US" sz="2400" dirty="0"/>
              <a:t>」と記述すると、これより右側は</a:t>
            </a:r>
            <a:r>
              <a:rPr lang="ja-JP" altLang="en-US" sz="2400" b="1" dirty="0">
                <a:solidFill>
                  <a:srgbClr val="FF0000"/>
                </a:solidFill>
              </a:rPr>
              <a:t>コメント</a:t>
            </a:r>
            <a:r>
              <a:rPr lang="ja-JP" altLang="en-US" sz="2400" dirty="0"/>
              <a:t>として扱われます。</a:t>
            </a:r>
            <a:endParaRPr lang="en-US" altLang="ja-JP" sz="2400" dirty="0"/>
          </a:p>
          <a:p>
            <a:r>
              <a:rPr lang="ja-JP" altLang="en-US" sz="2400" dirty="0"/>
              <a:t>コメントには、</a:t>
            </a:r>
            <a:r>
              <a:rPr lang="ja-JP" altLang="en-US" sz="2400" b="1" dirty="0">
                <a:solidFill>
                  <a:srgbClr val="FF0000"/>
                </a:solidFill>
              </a:rPr>
              <a:t>プログラムの説明など</a:t>
            </a:r>
            <a:r>
              <a:rPr lang="ja-JP" altLang="en-US" sz="2400" dirty="0"/>
              <a:t>をよく書くことがあります。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初めのうちはメモの感覚で書いておくと復習するときに便利です。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47390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623</Words>
  <Application>Microsoft Office PowerPoint</Application>
  <PresentationFormat>ワイド画面</PresentationFormat>
  <Paragraphs>112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0" baseType="lpstr">
      <vt:lpstr>BIZ UD明朝 Medium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21</cp:revision>
  <dcterms:created xsi:type="dcterms:W3CDTF">2024-08-27T02:15:54Z</dcterms:created>
  <dcterms:modified xsi:type="dcterms:W3CDTF">2025-02-28T07:11:25Z</dcterms:modified>
</cp:coreProperties>
</file>