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プログラムの処理を</a:t>
            </a:r>
            <a:r>
              <a:rPr lang="ja-JP" altLang="en-US" sz="2400" b="1" dirty="0">
                <a:solidFill>
                  <a:srgbClr val="FF0000"/>
                </a:solidFill>
              </a:rPr>
              <a:t>条件付きで分岐</a:t>
            </a:r>
            <a:r>
              <a:rPr lang="ja-JP" altLang="en-US" sz="2400" dirty="0"/>
              <a:t>させることができます。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E8A687-2656-4C7D-A470-736F93AA7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6295713" cy="39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603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if</a:t>
            </a:r>
            <a:r>
              <a:rPr lang="ja-JP" altLang="en-US" sz="2400" dirty="0"/>
              <a:t>文は条件を書くことにより、処理を分岐させることができます。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66BB62A-0B13-44DD-BA5F-8D743414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7367833" cy="460278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46327D-FF29-468D-8B63-E13048F56DC2}"/>
              </a:ext>
            </a:extLst>
          </p:cNvPr>
          <p:cNvSpPr txBox="1"/>
          <p:nvPr/>
        </p:nvSpPr>
        <p:spPr>
          <a:xfrm>
            <a:off x="3168852" y="3791776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この条件が真（正しい）とカッコの中の処理へと進む</a:t>
            </a:r>
            <a:endParaRPr lang="en-US" altLang="ja-JP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57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6324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等しいかどうかを判定する演算子</a:t>
            </a:r>
            <a:r>
              <a:rPr lang="ja-JP" altLang="en-US" sz="2400" dirty="0"/>
              <a:t>には「</a:t>
            </a:r>
            <a:r>
              <a:rPr lang="en-US" altLang="ja-JP" sz="2400" b="1" dirty="0">
                <a:solidFill>
                  <a:srgbClr val="FF0000"/>
                </a:solidFill>
              </a:rPr>
              <a:t>==</a:t>
            </a:r>
            <a:r>
              <a:rPr lang="ja-JP" altLang="en-US" sz="2400" dirty="0"/>
              <a:t>」を使用します。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dirty="0"/>
              <a:t>=</a:t>
            </a:r>
            <a:r>
              <a:rPr lang="ja-JP" altLang="en-US" sz="2400" dirty="0"/>
              <a:t>」だと代入になるので間違えないようにしましょう。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A56D72-ACB0-4524-8D22-6EA85C058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2857405" cy="43193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EF2566-8645-43CB-812F-5205A44671CC}"/>
              </a:ext>
            </a:extLst>
          </p:cNvPr>
          <p:cNvSpPr txBox="1"/>
          <p:nvPr/>
        </p:nvSpPr>
        <p:spPr>
          <a:xfrm>
            <a:off x="567542" y="2676956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他にも条件を判定する演算子があるので練習します。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4960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5A3203-26E5-453B-A4EB-3A7F5B7DC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328009" cy="450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35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95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等しくないかどうか</a:t>
            </a:r>
            <a:r>
              <a:rPr lang="ja-JP" altLang="en-US" sz="2400" dirty="0"/>
              <a:t>判定する演算子は「</a:t>
            </a:r>
            <a:r>
              <a:rPr lang="en-US" altLang="ja-JP" sz="2400" b="1" dirty="0">
                <a:solidFill>
                  <a:srgbClr val="FF0000"/>
                </a:solidFill>
              </a:rPr>
              <a:t>!=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A92EBB7-C235-4A66-9067-0F890F555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4048690" cy="185763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F86A91A-9728-4C57-9B9C-F7A84F661DC1}"/>
              </a:ext>
            </a:extLst>
          </p:cNvPr>
          <p:cNvSpPr txBox="1"/>
          <p:nvPr/>
        </p:nvSpPr>
        <p:spPr>
          <a:xfrm>
            <a:off x="567542" y="3733324"/>
            <a:ext cx="89979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</a:t>
            </a:r>
            <a:r>
              <a:rPr lang="en-US" altLang="ja-JP" sz="2400" b="1" dirty="0">
                <a:solidFill>
                  <a:srgbClr val="0070C0"/>
                </a:solidFill>
              </a:rPr>
              <a:t>if</a:t>
            </a:r>
            <a:r>
              <a:rPr lang="ja-JP" altLang="en-US" sz="2400" dirty="0"/>
              <a:t>文に続けて</a:t>
            </a:r>
            <a:r>
              <a:rPr lang="en-US" altLang="ja-JP" sz="2400" b="1" dirty="0">
                <a:solidFill>
                  <a:srgbClr val="0070C0"/>
                </a:solidFill>
              </a:rPr>
              <a:t>else</a:t>
            </a:r>
            <a:r>
              <a:rPr lang="ja-JP" altLang="en-US" sz="2400" dirty="0"/>
              <a:t>文を書くと、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if</a:t>
            </a:r>
            <a:r>
              <a:rPr lang="ja-JP" altLang="en-US" sz="2400" b="1" dirty="0">
                <a:solidFill>
                  <a:srgbClr val="FF0000"/>
                </a:solidFill>
              </a:rPr>
              <a:t>文の条件が偽（正しくない）時の処理</a:t>
            </a:r>
            <a:r>
              <a:rPr lang="ja-JP" altLang="en-US" sz="2400" dirty="0"/>
              <a:t>を書くことができます。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3921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続けて以下のプログラムを書きます。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CD9B86A-6DB7-411E-B684-D2318B8DB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506218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1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演算子「</a:t>
            </a:r>
            <a:r>
              <a:rPr lang="ja-JP" altLang="en-US" sz="2400" b="1" dirty="0">
                <a:solidFill>
                  <a:srgbClr val="FF0000"/>
                </a:solidFill>
              </a:rPr>
              <a:t>＞</a:t>
            </a:r>
            <a:r>
              <a:rPr lang="ja-JP" altLang="en-US" sz="2400" dirty="0"/>
              <a:t>」や「</a:t>
            </a:r>
            <a:r>
              <a:rPr lang="ja-JP" altLang="en-US" sz="2400" b="1" dirty="0">
                <a:solidFill>
                  <a:srgbClr val="FF0000"/>
                </a:solidFill>
              </a:rPr>
              <a:t>＜</a:t>
            </a:r>
            <a:r>
              <a:rPr lang="ja-JP" altLang="en-US" sz="2400" dirty="0"/>
              <a:t>」を使うことにより、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数値が大きいか、小さいか</a:t>
            </a:r>
            <a:r>
              <a:rPr lang="ja-JP" altLang="en-US" sz="2400" dirty="0"/>
              <a:t>を比較することができます。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等しい数値は含まれない</a:t>
            </a:r>
            <a:r>
              <a:rPr lang="ja-JP" altLang="en-US" sz="2400" dirty="0"/>
              <a:t>ので気をつけましょう。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8F472CC-3B21-4E20-A9A4-63B6CD53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01922"/>
            <a:ext cx="4229690" cy="265784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4A33F6-F57F-4FBD-99F8-1666460F02D5}"/>
              </a:ext>
            </a:extLst>
          </p:cNvPr>
          <p:cNvSpPr txBox="1"/>
          <p:nvPr/>
        </p:nvSpPr>
        <p:spPr>
          <a:xfrm>
            <a:off x="567542" y="5272200"/>
            <a:ext cx="9656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また、</a:t>
            </a:r>
            <a:r>
              <a:rPr lang="en-US" altLang="ja-JP" sz="2400" b="1" dirty="0">
                <a:solidFill>
                  <a:srgbClr val="0070C0"/>
                </a:solidFill>
              </a:rPr>
              <a:t>else if</a:t>
            </a:r>
            <a:r>
              <a:rPr lang="ja-JP" altLang="en-US" sz="2400" dirty="0"/>
              <a:t>文を使えば、</a:t>
            </a:r>
            <a:r>
              <a:rPr lang="ja-JP" altLang="en-US" sz="2400" b="1" dirty="0">
                <a:solidFill>
                  <a:srgbClr val="FF0000"/>
                </a:solidFill>
              </a:rPr>
              <a:t>連続した条件分岐</a:t>
            </a:r>
            <a:r>
              <a:rPr lang="ja-JP" altLang="en-US" sz="2400" dirty="0"/>
              <a:t>を作ることができます。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83810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続いて以下のプログラムを書きます。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20ACE62-76FC-4FFF-A6B0-CD04BE2F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803982" cy="446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7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7193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演算子「</a:t>
            </a:r>
            <a:r>
              <a:rPr lang="en-US" altLang="ja-JP" sz="2400" b="1" dirty="0">
                <a:solidFill>
                  <a:srgbClr val="FF0000"/>
                </a:solidFill>
              </a:rPr>
              <a:t>&gt;=</a:t>
            </a:r>
            <a:r>
              <a:rPr lang="ja-JP" altLang="en-US" sz="2400" dirty="0"/>
              <a:t>」や「</a:t>
            </a:r>
            <a:r>
              <a:rPr lang="en-US" altLang="ja-JP" sz="2400" b="1" dirty="0">
                <a:solidFill>
                  <a:srgbClr val="FF0000"/>
                </a:solidFill>
              </a:rPr>
              <a:t>&lt;=</a:t>
            </a:r>
            <a:r>
              <a:rPr lang="ja-JP" altLang="en-US" sz="2400" dirty="0"/>
              <a:t>」で、</a:t>
            </a:r>
            <a:r>
              <a:rPr lang="ja-JP" altLang="en-US" sz="2400" b="1" dirty="0">
                <a:solidFill>
                  <a:srgbClr val="FF0000"/>
                </a:solidFill>
              </a:rPr>
              <a:t>数値以上か数値以下か</a:t>
            </a:r>
            <a:r>
              <a:rPr lang="ja-JP" altLang="en-US" sz="2400" dirty="0"/>
              <a:t>を判定できます。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数値が等しい場合も含む判定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2CE568A-0C25-4E28-A476-035EAB086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5119172" cy="270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2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続いて以下のプログラムを書きます。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FBA032F-865C-460E-9CA7-FC618B1B8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6610343" cy="39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2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866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つの条件を「</a:t>
            </a:r>
            <a:r>
              <a:rPr lang="ja-JP" altLang="en-US" sz="2400" b="1" dirty="0">
                <a:solidFill>
                  <a:srgbClr val="FF0000"/>
                </a:solidFill>
              </a:rPr>
              <a:t>＆＆</a:t>
            </a:r>
            <a:r>
              <a:rPr lang="ja-JP" altLang="en-US" sz="2400" dirty="0"/>
              <a:t>」で繋ぐと、</a:t>
            </a:r>
            <a:r>
              <a:rPr lang="ja-JP" altLang="en-US" sz="2400" b="1" dirty="0">
                <a:solidFill>
                  <a:srgbClr val="FF0000"/>
                </a:solidFill>
              </a:rPr>
              <a:t>論理積</a:t>
            </a:r>
            <a:r>
              <a:rPr lang="ja-JP" altLang="en-US" sz="2400" dirty="0"/>
              <a:t>で判定できます。（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A </a:t>
            </a:r>
            <a:r>
              <a:rPr lang="ja-JP" altLang="en-US" sz="2400" b="1" dirty="0">
                <a:solidFill>
                  <a:srgbClr val="FF0000"/>
                </a:solidFill>
              </a:rPr>
              <a:t>かつ </a:t>
            </a:r>
            <a:r>
              <a:rPr lang="en-US" altLang="ja-JP" sz="2400" b="1" dirty="0">
                <a:solidFill>
                  <a:srgbClr val="FF0000"/>
                </a:solidFill>
              </a:rPr>
              <a:t>B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2216B4-339E-4449-919D-8EE23800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482876" cy="203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5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続いて以下のプログラムを書きます。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CF45A2A-E63F-4E4D-902A-C698A1C4F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7192315" cy="469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66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829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つの条件を「</a:t>
            </a:r>
            <a:r>
              <a:rPr lang="en-US" altLang="ja-JP" sz="2400" b="1" dirty="0">
                <a:solidFill>
                  <a:srgbClr val="FF0000"/>
                </a:solidFill>
              </a:rPr>
              <a:t>||</a:t>
            </a:r>
            <a:r>
              <a:rPr lang="ja-JP" altLang="en-US" sz="2400" dirty="0"/>
              <a:t>」で繋ぐと、</a:t>
            </a:r>
            <a:r>
              <a:rPr lang="ja-JP" altLang="en-US" sz="2400" b="1" dirty="0">
                <a:solidFill>
                  <a:srgbClr val="FF0000"/>
                </a:solidFill>
              </a:rPr>
              <a:t>論理和</a:t>
            </a:r>
            <a:r>
              <a:rPr lang="ja-JP" altLang="en-US" sz="2400" dirty="0"/>
              <a:t>で判定できます。（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A </a:t>
            </a:r>
            <a:r>
              <a:rPr lang="ja-JP" altLang="en-US" sz="2400" b="1" dirty="0">
                <a:solidFill>
                  <a:srgbClr val="FF0000"/>
                </a:solidFill>
              </a:rPr>
              <a:t>または </a:t>
            </a:r>
            <a:r>
              <a:rPr lang="en-US" altLang="ja-JP" sz="2400" b="1" dirty="0">
                <a:solidFill>
                  <a:srgbClr val="FF0000"/>
                </a:solidFill>
              </a:rPr>
              <a:t>B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64E70-6229-452E-B3E9-68F026DBE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7379470" cy="46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0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330</Words>
  <Application>Microsoft Office PowerPoint</Application>
  <PresentationFormat>ワイド画面</PresentationFormat>
  <Paragraphs>36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34</cp:revision>
  <dcterms:created xsi:type="dcterms:W3CDTF">2024-08-27T02:15:54Z</dcterms:created>
  <dcterms:modified xsi:type="dcterms:W3CDTF">2025-02-28T07:16:52Z</dcterms:modified>
</cp:coreProperties>
</file>