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724644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プログラムには２種類の数があります。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■変数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いつでも変更のできる数。</a:t>
            </a:r>
            <a:endParaRPr lang="en-US" altLang="ja-JP" sz="2400" dirty="0"/>
          </a:p>
          <a:p>
            <a:r>
              <a:rPr lang="ja-JP" altLang="en-US" sz="2400" dirty="0"/>
              <a:t>計算したり、上書きしたりする。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■定数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初期値から変更のできない数。</a:t>
            </a:r>
            <a:endParaRPr lang="en-US" altLang="ja-JP" sz="2400" dirty="0"/>
          </a:p>
          <a:p>
            <a:r>
              <a:rPr lang="ja-JP" altLang="en-US" sz="2400" dirty="0"/>
              <a:t>あらかじめ定義しておきたい数など。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ja-JP" altLang="en-US" sz="2400" b="1" dirty="0">
                <a:solidFill>
                  <a:srgbClr val="FF0000"/>
                </a:solidFill>
              </a:rPr>
              <a:t>定数</a:t>
            </a:r>
            <a:r>
              <a:rPr lang="ja-JP" altLang="en-US" sz="2400" dirty="0"/>
              <a:t>について練習します。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31075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033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8531383-DAD2-4B41-A931-263B18F8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4874212" cy="4747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宣言時に</a:t>
            </a:r>
            <a:r>
              <a:rPr lang="en-US" altLang="ja-JP" sz="2400" b="1" dirty="0">
                <a:solidFill>
                  <a:srgbClr val="0070C0"/>
                </a:solidFill>
              </a:rPr>
              <a:t>const</a:t>
            </a:r>
            <a:r>
              <a:rPr lang="ja-JP" altLang="en-US" sz="2400" dirty="0"/>
              <a:t>と書くと</a:t>
            </a:r>
            <a:r>
              <a:rPr lang="ja-JP" altLang="en-US" sz="2400" b="1" dirty="0">
                <a:solidFill>
                  <a:srgbClr val="FF0000"/>
                </a:solidFill>
              </a:rPr>
              <a:t>定数</a:t>
            </a:r>
            <a:r>
              <a:rPr lang="ja-JP" altLang="en-US" sz="2400" dirty="0"/>
              <a:t>を宣言できます。</a:t>
            </a:r>
            <a:endParaRPr lang="en-US" altLang="ja-JP" sz="2400" dirty="0"/>
          </a:p>
          <a:p>
            <a:r>
              <a:rPr lang="ja-JP" altLang="en-US" sz="2400" dirty="0"/>
              <a:t>定数は</a:t>
            </a:r>
            <a:r>
              <a:rPr lang="ja-JP" altLang="en-US" sz="2400" b="1" dirty="0">
                <a:solidFill>
                  <a:srgbClr val="FF0000"/>
                </a:solidFill>
              </a:rPr>
              <a:t>宣言後に変更することができません。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DAD07C6-A414-48E9-AA70-8DA68F3A7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5941329" cy="260027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2B2177-7C5C-4CC6-9453-F5FB0E4EA91C}"/>
              </a:ext>
            </a:extLst>
          </p:cNvPr>
          <p:cNvSpPr txBox="1"/>
          <p:nvPr/>
        </p:nvSpPr>
        <p:spPr>
          <a:xfrm>
            <a:off x="567542" y="484529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ゲーム制作では初期座標など</a:t>
            </a:r>
            <a:r>
              <a:rPr lang="ja-JP" altLang="en-US" sz="2400" b="1" dirty="0">
                <a:solidFill>
                  <a:srgbClr val="FF0000"/>
                </a:solidFill>
              </a:rPr>
              <a:t>最初から決まっている数</a:t>
            </a:r>
            <a:r>
              <a:rPr lang="ja-JP" altLang="en-US" sz="2400" dirty="0"/>
              <a:t>に使いましょう。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en-US" altLang="ja-JP" sz="2400" b="1" dirty="0">
                <a:solidFill>
                  <a:srgbClr val="7030A0"/>
                </a:solidFill>
              </a:rPr>
              <a:t>#define</a:t>
            </a:r>
            <a:r>
              <a:rPr lang="ja-JP" altLang="en-US" sz="2400" dirty="0"/>
              <a:t>も定数の一種）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38710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803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別プロジェクトを作成し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FF9659CF-F8E3-45F0-B80A-502E2D13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685473" cy="478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504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703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ポインタ変数が</a:t>
            </a:r>
            <a:r>
              <a:rPr lang="en-US" altLang="ja-JP" sz="2400" b="1" dirty="0">
                <a:solidFill>
                  <a:srgbClr val="0070C0"/>
                </a:solidFill>
              </a:rPr>
              <a:t>const</a:t>
            </a:r>
            <a:r>
              <a:rPr lang="ja-JP" altLang="en-US" sz="2400" dirty="0"/>
              <a:t>だと、参照先が変更できなくなります。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27ED2A9-83B2-4F87-B99E-49F52AA63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8"/>
            <a:ext cx="7124543" cy="155567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577225F-CC1B-40AB-8BF0-8E4C6FC92AB0}"/>
              </a:ext>
            </a:extLst>
          </p:cNvPr>
          <p:cNvSpPr txBox="1"/>
          <p:nvPr/>
        </p:nvSpPr>
        <p:spPr>
          <a:xfrm>
            <a:off x="567542" y="3543623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参照先を見るだけに使用したい場合</a:t>
            </a:r>
            <a:r>
              <a:rPr lang="ja-JP" altLang="en-US" sz="2400" dirty="0"/>
              <a:t>に使用します。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95766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3471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参照先の変数自体は</a:t>
            </a:r>
            <a:r>
              <a:rPr lang="en-US" altLang="ja-JP" sz="2400" b="1" dirty="0">
                <a:solidFill>
                  <a:srgbClr val="0070C0"/>
                </a:solidFill>
              </a:rPr>
              <a:t>const</a:t>
            </a:r>
            <a:r>
              <a:rPr lang="ja-JP" altLang="en-US" sz="2400" dirty="0"/>
              <a:t>ではないので書き換えられます。</a:t>
            </a:r>
            <a:endParaRPr lang="en-US" altLang="ja-JP" sz="2400" dirty="0"/>
          </a:p>
          <a:p>
            <a:r>
              <a:rPr lang="ja-JP" altLang="en-US" sz="2400" dirty="0"/>
              <a:t>ポインタ自身も加算、減算で動かすことができます。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A999C17-8502-4577-93FB-CCB2EA32B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6918567" cy="165201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26A6247-AE19-4996-BCBF-65DBA6BE827E}"/>
              </a:ext>
            </a:extLst>
          </p:cNvPr>
          <p:cNvSpPr txBox="1"/>
          <p:nvPr/>
        </p:nvSpPr>
        <p:spPr>
          <a:xfrm>
            <a:off x="567541" y="3897032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最後に使用例を練習します。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12710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34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別プロジェクトを作成し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4209C7E-B74E-4027-A6A2-65051E6ED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8468907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772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A2DD969-CA28-4D8D-9038-31F56B998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763258"/>
            <a:ext cx="6798458" cy="4760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652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9568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関数の引数をポインタにする場合、</a:t>
            </a:r>
            <a:endParaRPr lang="en-US" altLang="ja-JP" sz="2400" dirty="0"/>
          </a:p>
          <a:p>
            <a:r>
              <a:rPr lang="ja-JP" altLang="en-US" sz="2400" dirty="0"/>
              <a:t>中身を書き換えてほしくない場合は</a:t>
            </a:r>
            <a:r>
              <a:rPr lang="en-US" altLang="ja-JP" sz="2400" b="1" dirty="0">
                <a:solidFill>
                  <a:srgbClr val="0070C0"/>
                </a:solidFill>
              </a:rPr>
              <a:t>const</a:t>
            </a:r>
            <a:r>
              <a:rPr lang="ja-JP" altLang="en-US" sz="2400" dirty="0"/>
              <a:t>を付けましょう。</a:t>
            </a:r>
            <a:endParaRPr lang="en-US" altLang="ja-JP" sz="2400" dirty="0"/>
          </a:p>
          <a:p>
            <a:r>
              <a:rPr lang="ja-JP" altLang="en-US" sz="2400" dirty="0"/>
              <a:t>これにより、</a:t>
            </a:r>
            <a:r>
              <a:rPr lang="ja-JP" altLang="en-US" sz="2400" b="1" dirty="0">
                <a:solidFill>
                  <a:srgbClr val="FF0000"/>
                </a:solidFill>
              </a:rPr>
              <a:t>引数の中身を書き換えてはいけないという意思表示</a:t>
            </a:r>
            <a:r>
              <a:rPr lang="ja-JP" altLang="en-US" sz="2400" dirty="0"/>
              <a:t>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C3D798E-87E7-4AE1-ABD9-F6FB8F14A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01922"/>
            <a:ext cx="9176516" cy="360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32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13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const</a:t>
            </a:r>
            <a:r>
              <a:rPr lang="ja-JP" altLang="en-US" sz="3200" b="1" u="sng" dirty="0"/>
              <a:t>修飾子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01080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const</a:t>
            </a:r>
            <a:r>
              <a:rPr lang="ja-JP" altLang="en-US" sz="2400" dirty="0"/>
              <a:t>はチーム制作をする中で、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他のメンバーに処理の仕様を伝えやすくする役割</a:t>
            </a:r>
            <a:r>
              <a:rPr lang="ja-JP" altLang="en-US" sz="2400" dirty="0"/>
              <a:t>もあります。</a:t>
            </a:r>
            <a:endParaRPr lang="en-US" altLang="ja-JP" sz="2400" dirty="0"/>
          </a:p>
          <a:p>
            <a:r>
              <a:rPr lang="ja-JP" altLang="en-US" sz="2400" dirty="0"/>
              <a:t>地味ですが非常に重要な役割です。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書き変わってはいけないものに</a:t>
            </a:r>
            <a:r>
              <a:rPr lang="en-US" altLang="ja-JP" sz="2400" b="1" dirty="0">
                <a:solidFill>
                  <a:srgbClr val="FF0000"/>
                </a:solidFill>
              </a:rPr>
              <a:t>const</a:t>
            </a:r>
            <a:r>
              <a:rPr lang="ja-JP" altLang="en-US" sz="2400" b="1" dirty="0">
                <a:solidFill>
                  <a:srgbClr val="FF0000"/>
                </a:solidFill>
              </a:rPr>
              <a:t>を付ける</a:t>
            </a:r>
            <a:r>
              <a:rPr lang="ja-JP" altLang="en-US" sz="2400" dirty="0"/>
              <a:t>ことを意識して、</a:t>
            </a:r>
            <a:endParaRPr lang="en-US" altLang="ja-JP" sz="2400" dirty="0"/>
          </a:p>
          <a:p>
            <a:r>
              <a:rPr lang="ja-JP" altLang="en-US" sz="2400" dirty="0"/>
              <a:t>プログラミングするようにしましょう。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きちんと使用するプログラマーはみんなに好かれます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14696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316</Words>
  <Application>Microsoft Office PowerPoint</Application>
  <PresentationFormat>ワイド画面</PresentationFormat>
  <Paragraphs>46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101</cp:revision>
  <dcterms:created xsi:type="dcterms:W3CDTF">2024-08-27T02:15:54Z</dcterms:created>
  <dcterms:modified xsi:type="dcterms:W3CDTF">2026-03-10T01:38:26Z</dcterms:modified>
</cp:coreProperties>
</file>