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普段何気なくプログラムを実行していますが、</a:t>
            </a:r>
            <a:endParaRPr lang="en-US" altLang="ja-JP" sz="2400" dirty="0"/>
          </a:p>
          <a:p>
            <a:r>
              <a:rPr lang="ja-JP" altLang="en-US" sz="2400" dirty="0"/>
              <a:t>プログラムを実行すると、メモリが以下の領域に分かれるようになります。</a:t>
            </a:r>
            <a:endParaRPr lang="en-US" altLang="ja-JP" sz="2400" dirty="0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10B5829C-197E-4130-8FF3-1E8D30E7A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40395"/>
              </p:ext>
            </p:extLst>
          </p:nvPr>
        </p:nvGraphicFramePr>
        <p:xfrm>
          <a:off x="567542" y="2132590"/>
          <a:ext cx="1054647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3238">
                  <a:extLst>
                    <a:ext uri="{9D8B030D-6E8A-4147-A177-3AD203B41FA5}">
                      <a16:colId xmlns:a16="http://schemas.microsoft.com/office/drawing/2014/main" val="1234594591"/>
                    </a:ext>
                  </a:extLst>
                </a:gridCol>
                <a:gridCol w="5273238">
                  <a:extLst>
                    <a:ext uri="{9D8B030D-6E8A-4147-A177-3AD203B41FA5}">
                      <a16:colId xmlns:a16="http://schemas.microsoft.com/office/drawing/2014/main" val="4007346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領域名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役割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4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コード領域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関数や実際の処理が保存されている領域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73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静的領域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static</a:t>
                      </a:r>
                      <a:r>
                        <a:rPr kumimoji="1" lang="ja-JP" altLang="en-US" dirty="0"/>
                        <a:t>やグローバル変数に使う領域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39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ヒープ領域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動的に使用される領域（</a:t>
                      </a:r>
                      <a:r>
                        <a:rPr kumimoji="1" lang="en-US" altLang="ja-JP" dirty="0"/>
                        <a:t>malloc</a:t>
                      </a:r>
                      <a:r>
                        <a:rPr kumimoji="1" lang="ja-JP" altLang="en-US" dirty="0"/>
                        <a:t>など）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10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スタック領域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ローカル変数に使う領域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569612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16F50C-B1C9-47E4-A708-C9301E8658F4}"/>
              </a:ext>
            </a:extLst>
          </p:cNvPr>
          <p:cNvSpPr txBox="1"/>
          <p:nvPr/>
        </p:nvSpPr>
        <p:spPr>
          <a:xfrm>
            <a:off x="567542" y="4099222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より本格的な制作には必要な知識ですが、</a:t>
            </a:r>
            <a:endParaRPr lang="en-US" altLang="ja-JP" sz="2400" dirty="0"/>
          </a:p>
          <a:p>
            <a:r>
              <a:rPr lang="ja-JP" altLang="en-US" sz="2400" dirty="0"/>
              <a:t>ここでは、</a:t>
            </a:r>
            <a:r>
              <a:rPr lang="ja-JP" altLang="en-US" sz="2400" b="1" dirty="0">
                <a:solidFill>
                  <a:srgbClr val="FF0000"/>
                </a:solidFill>
              </a:rPr>
              <a:t>作った関数もメモリのどこかにある</a:t>
            </a:r>
            <a:r>
              <a:rPr lang="ja-JP" altLang="en-US" sz="2400" dirty="0"/>
              <a:t>ということを知っておきましょう。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7823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メモリにあるということは、ポインタ変数で参照することができます。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C</a:t>
            </a:r>
            <a:r>
              <a:rPr lang="ja-JP" altLang="en-US" sz="2400" dirty="0"/>
              <a:t>言語には関数のアドレスを変数に格納する、</a:t>
            </a:r>
            <a:r>
              <a:rPr lang="ja-JP" altLang="en-US" sz="2400" b="1" dirty="0">
                <a:solidFill>
                  <a:srgbClr val="FF0000"/>
                </a:solidFill>
              </a:rPr>
              <a:t>関数ポインタ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■関数ポインタの宣言の書き方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格納する関数の戻り値の型</a:t>
            </a:r>
            <a:r>
              <a:rPr lang="ja-JP" altLang="en-US" sz="2400" dirty="0"/>
              <a:t> </a:t>
            </a:r>
            <a:r>
              <a:rPr lang="en-US" altLang="ja-JP" sz="2400" dirty="0"/>
              <a:t>(*</a:t>
            </a:r>
            <a:r>
              <a:rPr lang="ja-JP" altLang="en-US" sz="2400" dirty="0"/>
              <a:t>変数名</a:t>
            </a:r>
            <a:r>
              <a:rPr lang="en-US" altLang="ja-JP" sz="2400" dirty="0"/>
              <a:t>)(</a:t>
            </a:r>
            <a:r>
              <a:rPr lang="ja-JP" altLang="en-US" sz="2400" b="1" dirty="0">
                <a:solidFill>
                  <a:srgbClr val="0070C0"/>
                </a:solidFill>
              </a:rPr>
              <a:t>格納する関数の引数</a:t>
            </a:r>
            <a:r>
              <a:rPr lang="en-US" altLang="ja-JP" sz="2400" dirty="0"/>
              <a:t>)</a:t>
            </a:r>
          </a:p>
          <a:p>
            <a:endParaRPr lang="en-US" altLang="ja-JP" sz="2400" dirty="0"/>
          </a:p>
          <a:p>
            <a:r>
              <a:rPr lang="ja-JP" altLang="en-US" sz="2400" dirty="0"/>
              <a:t>簡単なプログラムで練習します。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233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6479ED2-4C37-4BD3-8938-07AEAB489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4" y="1763258"/>
            <a:ext cx="5734974" cy="467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36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関数ポインタ変数は</a:t>
            </a:r>
            <a:r>
              <a:rPr lang="en-US" altLang="ja-JP" sz="2400" b="1" dirty="0" err="1"/>
              <a:t>culc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en-US" altLang="ja-JP" sz="2400" b="1" dirty="0" err="1"/>
              <a:t>culc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0070C0"/>
                </a:solidFill>
              </a:rPr>
              <a:t>戻り値が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b="1" dirty="0">
                <a:solidFill>
                  <a:srgbClr val="0070C0"/>
                </a:solidFill>
              </a:rPr>
              <a:t>型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70C0"/>
                </a:solidFill>
              </a:rPr>
              <a:t>引数が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b="1" dirty="0">
                <a:solidFill>
                  <a:srgbClr val="0070C0"/>
                </a:solidFill>
              </a:rPr>
              <a:t>型</a:t>
            </a:r>
            <a:r>
              <a:rPr lang="en-US" altLang="ja-JP" sz="2400" b="1" dirty="0">
                <a:solidFill>
                  <a:srgbClr val="0070C0"/>
                </a:solidFill>
              </a:rPr>
              <a:t>2</a:t>
            </a:r>
            <a:r>
              <a:rPr lang="ja-JP" altLang="en-US" sz="2400" b="1" dirty="0">
                <a:solidFill>
                  <a:srgbClr val="0070C0"/>
                </a:solidFill>
              </a:rPr>
              <a:t>つ</a:t>
            </a:r>
            <a:r>
              <a:rPr lang="ja-JP" altLang="en-US" sz="2400" dirty="0"/>
              <a:t>の関数を参照することができます。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36D29EF-8A53-4F73-B28C-B6120255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8025323" cy="105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6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関数ポインタ変数が参照している関数を呼び出すことができます。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D2DE10-7BEB-4256-BE27-E3B6C3C6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7156837" cy="8190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11E3D1-6DB7-4E44-B0DF-D5B0739F73B6}"/>
              </a:ext>
            </a:extLst>
          </p:cNvPr>
          <p:cNvSpPr txBox="1"/>
          <p:nvPr/>
        </p:nvSpPr>
        <p:spPr>
          <a:xfrm>
            <a:off x="567542" y="2694763"/>
            <a:ext cx="106009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/>
              <a:t>culc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0070C0"/>
                </a:solidFill>
              </a:rPr>
              <a:t>Add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を参照しているので、ここでは</a:t>
            </a:r>
            <a:r>
              <a:rPr lang="en-US" altLang="ja-JP" sz="2400" b="1" dirty="0">
                <a:solidFill>
                  <a:srgbClr val="0070C0"/>
                </a:solidFill>
              </a:rPr>
              <a:t>Add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が呼び出されます。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※Add</a:t>
            </a:r>
            <a:r>
              <a:rPr lang="ja-JP" altLang="en-US" sz="2400" b="1" dirty="0">
                <a:solidFill>
                  <a:srgbClr val="FF0000"/>
                </a:solidFill>
              </a:rPr>
              <a:t>以外の関数を参照させて実行してみましょう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2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宣言された型に当てはまらない関数は参照できません。</a:t>
            </a:r>
            <a:endParaRPr lang="en-US" altLang="ja-JP" sz="2400" dirty="0"/>
          </a:p>
          <a:p>
            <a:r>
              <a:rPr lang="ja-JP" altLang="en-US" sz="2400" dirty="0"/>
              <a:t>計画的に使用する必要があります。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A1A124-31A4-4814-946C-D5617A3C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4910391" cy="413072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558E02-1A76-4303-BED2-AC7CF37E7BE2}"/>
              </a:ext>
            </a:extLst>
          </p:cNvPr>
          <p:cNvSpPr txBox="1"/>
          <p:nvPr/>
        </p:nvSpPr>
        <p:spPr>
          <a:xfrm>
            <a:off x="5992651" y="6032482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続いて別のケースを練習してみます。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9349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034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6DA339-34D0-4680-BEF5-D968FC4C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4786885" cy="434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7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2CA20E9-EF22-44FB-9256-C6CA5A4D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3838201" cy="494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7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19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関数ポインタは</a:t>
            </a:r>
            <a:r>
              <a:rPr lang="ja-JP" altLang="en-US" sz="2400" b="1" dirty="0">
                <a:solidFill>
                  <a:srgbClr val="FF0000"/>
                </a:solidFill>
              </a:rPr>
              <a:t>配列</a:t>
            </a:r>
            <a:r>
              <a:rPr lang="ja-JP" altLang="en-US" sz="2400" dirty="0"/>
              <a:t>にすることもできます。</a:t>
            </a:r>
            <a:endParaRPr lang="en-US" altLang="ja-JP" sz="2400" dirty="0"/>
          </a:p>
          <a:p>
            <a:r>
              <a:rPr lang="ja-JP" altLang="en-US" sz="2400" dirty="0"/>
              <a:t>関数ポインタ配列は</a:t>
            </a:r>
            <a:r>
              <a:rPr lang="ja-JP" altLang="en-US" sz="2400" b="1" dirty="0">
                <a:solidFill>
                  <a:srgbClr val="FF0000"/>
                </a:solidFill>
              </a:rPr>
              <a:t>長い</a:t>
            </a:r>
            <a:r>
              <a:rPr lang="en-US" altLang="ja-JP" sz="2400" b="1" dirty="0">
                <a:solidFill>
                  <a:srgbClr val="FF0000"/>
                </a:solidFill>
              </a:rPr>
              <a:t>switch</a:t>
            </a:r>
            <a:r>
              <a:rPr lang="ja-JP" altLang="en-US" sz="2400" b="1" dirty="0">
                <a:solidFill>
                  <a:srgbClr val="FF0000"/>
                </a:solidFill>
              </a:rPr>
              <a:t>文の短縮</a:t>
            </a:r>
            <a:r>
              <a:rPr lang="ja-JP" altLang="en-US" sz="2400" dirty="0"/>
              <a:t>に使われることが多いです。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15D68E-F79F-49F9-ACD7-9C241722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90"/>
            <a:ext cx="6872211" cy="830997"/>
          </a:xfrm>
          <a:prstGeom prst="rect">
            <a:avLst/>
          </a:prstGeom>
        </p:spPr>
      </p:pic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774F740B-FAF8-42A9-9488-6864A6569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56845"/>
              </p:ext>
            </p:extLst>
          </p:nvPr>
        </p:nvGraphicFramePr>
        <p:xfrm>
          <a:off x="1611417" y="3939827"/>
          <a:ext cx="34713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833">
                  <a:extLst>
                    <a:ext uri="{9D8B030D-6E8A-4147-A177-3AD203B41FA5}">
                      <a16:colId xmlns:a16="http://schemas.microsoft.com/office/drawing/2014/main" val="4018563762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1719156595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1792580912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25108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Init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Step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Draw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Fin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96389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E5C18E-ACBA-4776-9F16-0F1E05994905}"/>
              </a:ext>
            </a:extLst>
          </p:cNvPr>
          <p:cNvSpPr txBox="1"/>
          <p:nvPr/>
        </p:nvSpPr>
        <p:spPr>
          <a:xfrm>
            <a:off x="567541" y="3894414"/>
            <a:ext cx="104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func</a:t>
            </a:r>
            <a:r>
              <a:rPr lang="en-US" altLang="ja-JP" sz="2400" dirty="0"/>
              <a:t>[]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DB24E5-307E-4874-AD9C-F796D5CDF2F4}"/>
              </a:ext>
            </a:extLst>
          </p:cNvPr>
          <p:cNvSpPr txBox="1"/>
          <p:nvPr/>
        </p:nvSpPr>
        <p:spPr>
          <a:xfrm>
            <a:off x="1732865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93FF0B-8C85-45B7-B149-B652923C98C6}"/>
              </a:ext>
            </a:extLst>
          </p:cNvPr>
          <p:cNvSpPr txBox="1"/>
          <p:nvPr/>
        </p:nvSpPr>
        <p:spPr>
          <a:xfrm>
            <a:off x="2630331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E96957-8F10-4763-A932-7878EFD52083}"/>
              </a:ext>
            </a:extLst>
          </p:cNvPr>
          <p:cNvSpPr txBox="1"/>
          <p:nvPr/>
        </p:nvSpPr>
        <p:spPr>
          <a:xfrm>
            <a:off x="3527797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96FA753-FF35-4EEB-988A-8BE68B9C2A53}"/>
              </a:ext>
            </a:extLst>
          </p:cNvPr>
          <p:cNvSpPr txBox="1"/>
          <p:nvPr/>
        </p:nvSpPr>
        <p:spPr>
          <a:xfrm>
            <a:off x="4403543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052544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添え字に対応した関数を呼び出すことができます。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2714BBE-87A6-42F5-BA66-D7E0C91DA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477778" cy="929142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F27DC6D-2F85-422C-9957-15CCA778D0C9}"/>
              </a:ext>
            </a:extLst>
          </p:cNvPr>
          <p:cNvGrpSpPr/>
          <p:nvPr/>
        </p:nvGrpSpPr>
        <p:grpSpPr>
          <a:xfrm>
            <a:off x="567542" y="3429000"/>
            <a:ext cx="11624458" cy="3197286"/>
            <a:chOff x="567542" y="2804832"/>
            <a:chExt cx="11624458" cy="3197286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16A446D2-A37D-42E6-8BCE-45E46CB9E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542" y="2804832"/>
              <a:ext cx="4048690" cy="1991003"/>
            </a:xfrm>
            <a:prstGeom prst="rect">
              <a:avLst/>
            </a:prstGeom>
          </p:spPr>
        </p:pic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8F6494F-7922-432B-B7AA-3FCFAC724E68}"/>
                </a:ext>
              </a:extLst>
            </p:cNvPr>
            <p:cNvSpPr/>
            <p:nvPr/>
          </p:nvSpPr>
          <p:spPr>
            <a:xfrm>
              <a:off x="3598333" y="4460735"/>
              <a:ext cx="719667" cy="3520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FF135D2-F25E-4543-BCAC-9BACEFE49DC9}"/>
                </a:ext>
              </a:extLst>
            </p:cNvPr>
            <p:cNvSpPr txBox="1"/>
            <p:nvPr/>
          </p:nvSpPr>
          <p:spPr>
            <a:xfrm>
              <a:off x="4318000" y="4405919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ここを書き換えて動作確認してみよう</a:t>
              </a:r>
              <a:endParaRPr lang="en-US" altLang="ja-JP" sz="2400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554CD13-962A-49D5-881C-4AF1C23AE554}"/>
                </a:ext>
              </a:extLst>
            </p:cNvPr>
            <p:cNvSpPr txBox="1"/>
            <p:nvPr/>
          </p:nvSpPr>
          <p:spPr>
            <a:xfrm>
              <a:off x="7390686" y="5540453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続いて別のケースを練習します。</a:t>
              </a:r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653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034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DC889E-1C0D-494D-8E69-014F22E6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8747993" cy="37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2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F0DED95-D0BF-4EAA-B199-F0C8B71F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511939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9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構造体のメンバに関数ポインタを用意して、</a:t>
            </a:r>
            <a:endParaRPr lang="en-US" altLang="ja-JP" sz="2400" dirty="0"/>
          </a:p>
          <a:p>
            <a:r>
              <a:rPr lang="ja-JP" altLang="en-US" sz="2400" dirty="0"/>
              <a:t>何かのタイミングで呼び出すような仕組みを作ることができます。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52B02E-1F4A-4CEE-9E37-DB3901A7E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89"/>
            <a:ext cx="4914611" cy="211767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8080C5-628C-4C97-A86E-A62EA09BD8E6}"/>
              </a:ext>
            </a:extLst>
          </p:cNvPr>
          <p:cNvSpPr/>
          <p:nvPr/>
        </p:nvSpPr>
        <p:spPr>
          <a:xfrm>
            <a:off x="567541" y="3772570"/>
            <a:ext cx="4914611" cy="352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60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ゲームではよく当たり判定の処理などで使われます。</a:t>
            </a:r>
            <a:endParaRPr lang="en-US" altLang="ja-JP" sz="2400" dirty="0"/>
          </a:p>
          <a:p>
            <a:r>
              <a:rPr lang="ja-JP" altLang="en-US" sz="2400" dirty="0"/>
              <a:t>このような処理を</a:t>
            </a:r>
            <a:r>
              <a:rPr lang="ja-JP" altLang="en-US" sz="2400" b="1" dirty="0">
                <a:solidFill>
                  <a:srgbClr val="FF0000"/>
                </a:solidFill>
              </a:rPr>
              <a:t>イベント処理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95E0A3-22F9-4499-987F-63CCEE28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10165684" cy="22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2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関数ポインタは</a:t>
            </a:r>
            <a:r>
              <a:rPr lang="ja-JP" altLang="en-US" sz="2400" b="1" dirty="0">
                <a:solidFill>
                  <a:srgbClr val="FF0000"/>
                </a:solidFill>
              </a:rPr>
              <a:t>コードの質を上げるために重要なテクニック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まずは今日練習した内容をゲーム制作にも活かしていきましょう。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5741596-3742-4C16-8E72-338FA270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331176"/>
            <a:ext cx="6872211" cy="830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9BFF09-1383-4306-83EE-5E39245A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3690104"/>
            <a:ext cx="10165684" cy="22954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76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497</Words>
  <Application>Microsoft Office PowerPoint</Application>
  <PresentationFormat>ワイド画面</PresentationFormat>
  <Paragraphs>70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108</cp:revision>
  <dcterms:created xsi:type="dcterms:W3CDTF">2024-08-27T02:15:54Z</dcterms:created>
  <dcterms:modified xsi:type="dcterms:W3CDTF">2026-05-13T03:20:47Z</dcterms:modified>
</cp:coreProperties>
</file>