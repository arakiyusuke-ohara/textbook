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変数は</a:t>
            </a:r>
            <a:r>
              <a:rPr lang="ja-JP" altLang="en-US" sz="2400" b="1" dirty="0">
                <a:solidFill>
                  <a:srgbClr val="FF0000"/>
                </a:solidFill>
              </a:rPr>
              <a:t>配列</a:t>
            </a:r>
            <a:r>
              <a:rPr lang="ja-JP" altLang="en-US" sz="2400" dirty="0"/>
              <a:t>を使うことによって、</a:t>
            </a:r>
            <a:r>
              <a:rPr lang="ja-JP" altLang="en-US" sz="2400" b="1" dirty="0">
                <a:solidFill>
                  <a:srgbClr val="FF0000"/>
                </a:solidFill>
              </a:rPr>
              <a:t>複数をまとめて扱う</a:t>
            </a:r>
            <a:r>
              <a:rPr lang="ja-JP" altLang="en-US" sz="2400" dirty="0"/>
              <a:t>ことができます。</a:t>
            </a:r>
            <a:endParaRPr lang="en-US" altLang="ja-JP" sz="2400" dirty="0"/>
          </a:p>
          <a:p>
            <a:r>
              <a:rPr lang="ja-JP" altLang="en-US" sz="2400" dirty="0"/>
              <a:t>簡単な例で練習してみます。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3337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Main.cpp</a:t>
            </a:r>
            <a:r>
              <a:rPr lang="ja-JP" altLang="en-US" sz="2400" dirty="0"/>
              <a:t>を書きます。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C92AF9C-102F-4C6B-B397-52CD230AA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6563641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85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480131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配列の書き方は以下の通りです。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■配列の書き方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0070C0"/>
                </a:solidFill>
              </a:rPr>
              <a:t>型名</a:t>
            </a:r>
            <a:r>
              <a:rPr lang="ja-JP" altLang="en-US" sz="2400" dirty="0"/>
              <a:t> 変数名</a:t>
            </a:r>
            <a:r>
              <a:rPr lang="en-US" altLang="ja-JP" sz="2400" dirty="0"/>
              <a:t>[</a:t>
            </a:r>
            <a:r>
              <a:rPr lang="ja-JP" altLang="en-US" sz="2400" b="1" dirty="0">
                <a:solidFill>
                  <a:srgbClr val="00B050"/>
                </a:solidFill>
              </a:rPr>
              <a:t>要素数</a:t>
            </a:r>
            <a:r>
              <a:rPr lang="en-US" altLang="ja-JP" sz="2400" dirty="0"/>
              <a:t>];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D56A0D44-356D-43BC-85B6-C37D840E8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871252"/>
            <a:ext cx="5940099" cy="1227927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7A86E32-02C2-4E58-85BE-C6F199448229}"/>
              </a:ext>
            </a:extLst>
          </p:cNvPr>
          <p:cNvSpPr txBox="1"/>
          <p:nvPr/>
        </p:nvSpPr>
        <p:spPr>
          <a:xfrm>
            <a:off x="567542" y="4211610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以下のようにイメージしましょう。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C879A1A-A58E-443D-99E1-7BDCD7A498FF}"/>
              </a:ext>
            </a:extLst>
          </p:cNvPr>
          <p:cNvSpPr txBox="1"/>
          <p:nvPr/>
        </p:nvSpPr>
        <p:spPr>
          <a:xfrm>
            <a:off x="567542" y="4785706"/>
            <a:ext cx="1037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buffer</a:t>
            </a:r>
          </a:p>
        </p:txBody>
      </p:sp>
      <p:graphicFrame>
        <p:nvGraphicFramePr>
          <p:cNvPr id="8" name="表 13">
            <a:extLst>
              <a:ext uri="{FF2B5EF4-FFF2-40B4-BE49-F238E27FC236}">
                <a16:creationId xmlns:a16="http://schemas.microsoft.com/office/drawing/2014/main" id="{B041A5DD-A103-44F1-8ED2-BC0B82941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9172264"/>
              </p:ext>
            </p:extLst>
          </p:nvPr>
        </p:nvGraphicFramePr>
        <p:xfrm>
          <a:off x="1612633" y="4831118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5361182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0756449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36409998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667570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196340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9603273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4124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446129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47977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3007967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487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276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配列は</a:t>
            </a:r>
            <a:r>
              <a:rPr lang="ja-JP" altLang="en-US" sz="2400" b="1" dirty="0">
                <a:solidFill>
                  <a:srgbClr val="FF0000"/>
                </a:solidFill>
              </a:rPr>
              <a:t>添字（インデックス）</a:t>
            </a:r>
            <a:r>
              <a:rPr lang="ja-JP" altLang="en-US" sz="2400" dirty="0"/>
              <a:t>を使って要素にアクセスします。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添字は</a:t>
            </a:r>
            <a:r>
              <a:rPr lang="en-US" altLang="ja-JP" sz="2400" b="1" dirty="0">
                <a:solidFill>
                  <a:srgbClr val="FF0000"/>
                </a:solidFill>
              </a:rPr>
              <a:t>0</a:t>
            </a:r>
            <a:r>
              <a:rPr lang="ja-JP" altLang="en-US" sz="2400" b="1" dirty="0">
                <a:solidFill>
                  <a:srgbClr val="FF0000"/>
                </a:solidFill>
              </a:rPr>
              <a:t>から数えます</a:t>
            </a:r>
            <a:r>
              <a:rPr lang="ja-JP" altLang="en-US" sz="2400" dirty="0"/>
              <a:t>ので気をつけましょう。</a:t>
            </a:r>
            <a:endParaRPr lang="en-US" altLang="ja-JP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C879A1A-A58E-443D-99E1-7BDCD7A498FF}"/>
              </a:ext>
            </a:extLst>
          </p:cNvPr>
          <p:cNvSpPr txBox="1"/>
          <p:nvPr/>
        </p:nvSpPr>
        <p:spPr>
          <a:xfrm>
            <a:off x="567542" y="4785706"/>
            <a:ext cx="1037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buffer</a:t>
            </a:r>
          </a:p>
        </p:txBody>
      </p:sp>
      <p:graphicFrame>
        <p:nvGraphicFramePr>
          <p:cNvPr id="8" name="表 13">
            <a:extLst>
              <a:ext uri="{FF2B5EF4-FFF2-40B4-BE49-F238E27FC236}">
                <a16:creationId xmlns:a16="http://schemas.microsoft.com/office/drawing/2014/main" id="{B041A5DD-A103-44F1-8ED2-BC0B82941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333712"/>
              </p:ext>
            </p:extLst>
          </p:nvPr>
        </p:nvGraphicFramePr>
        <p:xfrm>
          <a:off x="1612633" y="4831118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5361182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0756449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36409998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667570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196340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9603273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4124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446129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47977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3007967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100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rgbClr val="FF0000"/>
                          </a:solidFill>
                        </a:rPr>
                        <a:t>35</a:t>
                      </a:r>
                      <a:endParaRPr kumimoji="1" lang="ja-JP" alt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487009"/>
                  </a:ext>
                </a:extLst>
              </a:tr>
            </a:tbl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24D8658-67D0-43CB-AB7B-8CD8A5C2A0F1}"/>
              </a:ext>
            </a:extLst>
          </p:cNvPr>
          <p:cNvSpPr txBox="1"/>
          <p:nvPr/>
        </p:nvSpPr>
        <p:spPr>
          <a:xfrm>
            <a:off x="1729592" y="5247371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[0]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3F1C881-2226-4E4C-B375-827BA2A49F4E}"/>
              </a:ext>
            </a:extLst>
          </p:cNvPr>
          <p:cNvSpPr txBox="1"/>
          <p:nvPr/>
        </p:nvSpPr>
        <p:spPr>
          <a:xfrm>
            <a:off x="2577317" y="5247371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[1]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9DBBDF3-200A-45B2-A24F-3DC33636BBD7}"/>
              </a:ext>
            </a:extLst>
          </p:cNvPr>
          <p:cNvSpPr txBox="1"/>
          <p:nvPr/>
        </p:nvSpPr>
        <p:spPr>
          <a:xfrm>
            <a:off x="3376341" y="5247371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[2]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27E9D4C-D0CD-4C1A-8E84-4C48E4B00785}"/>
              </a:ext>
            </a:extLst>
          </p:cNvPr>
          <p:cNvSpPr txBox="1"/>
          <p:nvPr/>
        </p:nvSpPr>
        <p:spPr>
          <a:xfrm>
            <a:off x="4163688" y="5247371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[3]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57F5244-2998-4C16-8251-5F7FE67A68FF}"/>
              </a:ext>
            </a:extLst>
          </p:cNvPr>
          <p:cNvSpPr txBox="1"/>
          <p:nvPr/>
        </p:nvSpPr>
        <p:spPr>
          <a:xfrm>
            <a:off x="4951035" y="5247371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[4]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12605F9-3CEC-43E3-B5C5-400FAC547ADA}"/>
              </a:ext>
            </a:extLst>
          </p:cNvPr>
          <p:cNvSpPr txBox="1"/>
          <p:nvPr/>
        </p:nvSpPr>
        <p:spPr>
          <a:xfrm>
            <a:off x="5738382" y="52473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[5]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36B9A98-B778-4E9E-AA2D-E968A52F1361}"/>
              </a:ext>
            </a:extLst>
          </p:cNvPr>
          <p:cNvSpPr txBox="1"/>
          <p:nvPr/>
        </p:nvSpPr>
        <p:spPr>
          <a:xfrm>
            <a:off x="6611023" y="524736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[6]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C8B04AD-76E7-404B-9362-53FFC4B6C970}"/>
              </a:ext>
            </a:extLst>
          </p:cNvPr>
          <p:cNvSpPr txBox="1"/>
          <p:nvPr/>
        </p:nvSpPr>
        <p:spPr>
          <a:xfrm>
            <a:off x="7398370" y="524736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[7]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2A14B69-1FFE-497F-9930-A6DB5508DAD7}"/>
              </a:ext>
            </a:extLst>
          </p:cNvPr>
          <p:cNvSpPr txBox="1"/>
          <p:nvPr/>
        </p:nvSpPr>
        <p:spPr>
          <a:xfrm>
            <a:off x="8257772" y="5247367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[8]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6BF0AD7-A6BF-44D1-8A8D-ACDCE77046FA}"/>
              </a:ext>
            </a:extLst>
          </p:cNvPr>
          <p:cNvSpPr txBox="1"/>
          <p:nvPr/>
        </p:nvSpPr>
        <p:spPr>
          <a:xfrm>
            <a:off x="9067841" y="524736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[9]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32E26D2-625D-448E-8DE9-29489CDCF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2132590"/>
            <a:ext cx="8957458" cy="162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900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18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配列の初期値は、カンマ区切りでそれぞれ設定できます。</a:t>
            </a:r>
            <a:endParaRPr lang="en-US" altLang="ja-JP" sz="24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C879A1A-A58E-443D-99E1-7BDCD7A498FF}"/>
              </a:ext>
            </a:extLst>
          </p:cNvPr>
          <p:cNvSpPr txBox="1"/>
          <p:nvPr/>
        </p:nvSpPr>
        <p:spPr>
          <a:xfrm>
            <a:off x="567542" y="4785706"/>
            <a:ext cx="1037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buffer</a:t>
            </a:r>
          </a:p>
        </p:txBody>
      </p:sp>
      <p:graphicFrame>
        <p:nvGraphicFramePr>
          <p:cNvPr id="8" name="表 13">
            <a:extLst>
              <a:ext uri="{FF2B5EF4-FFF2-40B4-BE49-F238E27FC236}">
                <a16:creationId xmlns:a16="http://schemas.microsoft.com/office/drawing/2014/main" id="{B041A5DD-A103-44F1-8ED2-BC0B82941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4295265"/>
              </p:ext>
            </p:extLst>
          </p:nvPr>
        </p:nvGraphicFramePr>
        <p:xfrm>
          <a:off x="1612633" y="4831118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2800">
                  <a:extLst>
                    <a:ext uri="{9D8B030D-6E8A-4147-A177-3AD203B41FA5}">
                      <a16:colId xmlns:a16="http://schemas.microsoft.com/office/drawing/2014/main" val="253611828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50756449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36409998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06675701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91963407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196032739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6412407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94461294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4247977973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13007967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6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9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10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487009"/>
                  </a:ext>
                </a:extLst>
              </a:tr>
            </a:tbl>
          </a:graphicData>
        </a:graphic>
      </p:graphicFrame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24D8658-67D0-43CB-AB7B-8CD8A5C2A0F1}"/>
              </a:ext>
            </a:extLst>
          </p:cNvPr>
          <p:cNvSpPr txBox="1"/>
          <p:nvPr/>
        </p:nvSpPr>
        <p:spPr>
          <a:xfrm>
            <a:off x="1729592" y="5247371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[0]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3F1C881-2226-4E4C-B375-827BA2A49F4E}"/>
              </a:ext>
            </a:extLst>
          </p:cNvPr>
          <p:cNvSpPr txBox="1"/>
          <p:nvPr/>
        </p:nvSpPr>
        <p:spPr>
          <a:xfrm>
            <a:off x="2577317" y="5247371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[1]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9DBBDF3-200A-45B2-A24F-3DC33636BBD7}"/>
              </a:ext>
            </a:extLst>
          </p:cNvPr>
          <p:cNvSpPr txBox="1"/>
          <p:nvPr/>
        </p:nvSpPr>
        <p:spPr>
          <a:xfrm>
            <a:off x="3376341" y="5247371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[2]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27E9D4C-D0CD-4C1A-8E84-4C48E4B00785}"/>
              </a:ext>
            </a:extLst>
          </p:cNvPr>
          <p:cNvSpPr txBox="1"/>
          <p:nvPr/>
        </p:nvSpPr>
        <p:spPr>
          <a:xfrm>
            <a:off x="4163688" y="5247371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[3]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57F5244-2998-4C16-8251-5F7FE67A68FF}"/>
              </a:ext>
            </a:extLst>
          </p:cNvPr>
          <p:cNvSpPr txBox="1"/>
          <p:nvPr/>
        </p:nvSpPr>
        <p:spPr>
          <a:xfrm>
            <a:off x="4951035" y="5247371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[4]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12605F9-3CEC-43E3-B5C5-400FAC547ADA}"/>
              </a:ext>
            </a:extLst>
          </p:cNvPr>
          <p:cNvSpPr txBox="1"/>
          <p:nvPr/>
        </p:nvSpPr>
        <p:spPr>
          <a:xfrm>
            <a:off x="5738382" y="5247370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[5]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36B9A98-B778-4E9E-AA2D-E968A52F1361}"/>
              </a:ext>
            </a:extLst>
          </p:cNvPr>
          <p:cNvSpPr txBox="1"/>
          <p:nvPr/>
        </p:nvSpPr>
        <p:spPr>
          <a:xfrm>
            <a:off x="6611023" y="524736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[6]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C8B04AD-76E7-404B-9362-53FFC4B6C970}"/>
              </a:ext>
            </a:extLst>
          </p:cNvPr>
          <p:cNvSpPr txBox="1"/>
          <p:nvPr/>
        </p:nvSpPr>
        <p:spPr>
          <a:xfrm>
            <a:off x="7398370" y="524736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[7]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2A14B69-1FFE-497F-9930-A6DB5508DAD7}"/>
              </a:ext>
            </a:extLst>
          </p:cNvPr>
          <p:cNvSpPr txBox="1"/>
          <p:nvPr/>
        </p:nvSpPr>
        <p:spPr>
          <a:xfrm>
            <a:off x="8257772" y="5247367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[8]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6BF0AD7-A6BF-44D1-8A8D-ACDCE77046FA}"/>
              </a:ext>
            </a:extLst>
          </p:cNvPr>
          <p:cNvSpPr txBox="1"/>
          <p:nvPr/>
        </p:nvSpPr>
        <p:spPr>
          <a:xfrm>
            <a:off x="9067841" y="524736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[9]</a:t>
            </a: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D728DD4F-CD60-4F79-9BF1-58F9C4CFD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6496957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10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0070C0"/>
                </a:solidFill>
              </a:rPr>
              <a:t>char</a:t>
            </a:r>
            <a:r>
              <a:rPr lang="ja-JP" altLang="en-US" sz="2400" dirty="0"/>
              <a:t>型を配列にすると</a:t>
            </a:r>
            <a:r>
              <a:rPr lang="ja-JP" altLang="en-US" sz="2400" b="1" dirty="0">
                <a:solidFill>
                  <a:srgbClr val="FF0000"/>
                </a:solidFill>
              </a:rPr>
              <a:t>文字列</a:t>
            </a:r>
            <a:r>
              <a:rPr lang="ja-JP" altLang="en-US" sz="2400" dirty="0"/>
              <a:t>として扱うことができます。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半角と全角でデータサイズが変わる</a:t>
            </a:r>
            <a:r>
              <a:rPr lang="ja-JP" altLang="en-US" sz="2400" dirty="0"/>
              <a:t>ので気をつけましょう。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A980831-5B75-49AB-AE66-FEB9A03F5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32590"/>
            <a:ext cx="7783011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796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文字列は</a:t>
            </a:r>
            <a:r>
              <a:rPr lang="ja-JP" altLang="en-US" sz="2400" b="1" dirty="0">
                <a:solidFill>
                  <a:srgbClr val="FF0000"/>
                </a:solidFill>
              </a:rPr>
              <a:t>初期化時であれば直接代入</a:t>
            </a:r>
            <a:r>
              <a:rPr lang="ja-JP" altLang="en-US" sz="2400" dirty="0"/>
              <a:t>できます。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2837ACB-1795-4D95-BC1A-1FCFA6C2E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763258"/>
            <a:ext cx="4974879" cy="2751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681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231</Words>
  <Application>Microsoft Office PowerPoint</Application>
  <PresentationFormat>ワイド画面</PresentationFormat>
  <Paragraphs>74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44</cp:revision>
  <dcterms:created xsi:type="dcterms:W3CDTF">2024-08-27T02:15:54Z</dcterms:created>
  <dcterms:modified xsi:type="dcterms:W3CDTF">2024-11-15T02:33:07Z</dcterms:modified>
</cp:coreProperties>
</file>