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これまで何度も使ってきた、</a:t>
            </a:r>
            <a:r>
              <a:rPr lang="ja-JP" altLang="en-US" sz="2400" b="1" dirty="0">
                <a:solidFill>
                  <a:srgbClr val="FF0000"/>
                </a:solidFill>
              </a:rPr>
              <a:t>データを入れる箱である変数</a:t>
            </a:r>
            <a:r>
              <a:rPr lang="ja-JP" altLang="en-US" sz="2400" dirty="0"/>
              <a:t>ですが、</a:t>
            </a:r>
            <a:endParaRPr lang="en-US" altLang="ja-JP" sz="2400" dirty="0"/>
          </a:p>
          <a:p>
            <a:r>
              <a:rPr lang="ja-JP" altLang="en-US" sz="2400" dirty="0"/>
              <a:t>この箱について詳しく学習します。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パソコンには</a:t>
            </a:r>
            <a:r>
              <a:rPr lang="ja-JP" altLang="en-US" sz="2400" b="1" dirty="0">
                <a:solidFill>
                  <a:srgbClr val="FF0000"/>
                </a:solidFill>
              </a:rPr>
              <a:t>メモリ</a:t>
            </a:r>
            <a:r>
              <a:rPr lang="ja-JP" altLang="en-US" sz="2400" dirty="0"/>
              <a:t>という</a:t>
            </a:r>
            <a:r>
              <a:rPr lang="ja-JP" altLang="en-US" sz="2400" b="1" dirty="0">
                <a:solidFill>
                  <a:srgbClr val="FF0000"/>
                </a:solidFill>
              </a:rPr>
              <a:t>データを一時的に保存するパーツ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変数を宣言するということは、</a:t>
            </a:r>
            <a:endParaRPr lang="en-US" altLang="ja-JP" sz="2400" dirty="0"/>
          </a:p>
          <a:p>
            <a:r>
              <a:rPr lang="ja-JP" altLang="en-US" sz="2400" dirty="0"/>
              <a:t>この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メモリのデータ領域を確保</a:t>
            </a:r>
            <a:r>
              <a:rPr lang="ja-JP" altLang="en-US" sz="2400" dirty="0"/>
              <a:t>することになります。</a:t>
            </a:r>
            <a:endParaRPr lang="en-US" altLang="ja-JP" sz="2400" dirty="0"/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5C21EADC-3E37-4F1A-A77D-D5873CB980D2}"/>
              </a:ext>
            </a:extLst>
          </p:cNvPr>
          <p:cNvSpPr/>
          <p:nvPr/>
        </p:nvSpPr>
        <p:spPr>
          <a:xfrm>
            <a:off x="567542" y="2963587"/>
            <a:ext cx="2511972" cy="3129455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E429A3-1C93-4DB3-93C8-711E80118D1C}"/>
              </a:ext>
            </a:extLst>
          </p:cNvPr>
          <p:cNvSpPr txBox="1"/>
          <p:nvPr/>
        </p:nvSpPr>
        <p:spPr>
          <a:xfrm>
            <a:off x="1269530" y="25019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メモリ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B8ECE2-EA96-4D42-A540-4A733F746509}"/>
              </a:ext>
            </a:extLst>
          </p:cNvPr>
          <p:cNvSpPr txBox="1"/>
          <p:nvPr/>
        </p:nvSpPr>
        <p:spPr>
          <a:xfrm>
            <a:off x="814977" y="3835817"/>
            <a:ext cx="58060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AE6EE7-D72E-4F6E-8486-DFA25DBF6C04}"/>
              </a:ext>
            </a:extLst>
          </p:cNvPr>
          <p:cNvSpPr txBox="1"/>
          <p:nvPr/>
        </p:nvSpPr>
        <p:spPr>
          <a:xfrm>
            <a:off x="814977" y="4361856"/>
            <a:ext cx="8675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float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BD8793-FBEB-4FE7-9F4F-0C1239BEE285}"/>
              </a:ext>
            </a:extLst>
          </p:cNvPr>
          <p:cNvSpPr txBox="1"/>
          <p:nvPr/>
        </p:nvSpPr>
        <p:spPr>
          <a:xfrm>
            <a:off x="814976" y="4938879"/>
            <a:ext cx="84510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0B579AA-84B3-45C0-B49F-0A49B91448A6}"/>
              </a:ext>
            </a:extLst>
          </p:cNvPr>
          <p:cNvSpPr txBox="1"/>
          <p:nvPr/>
        </p:nvSpPr>
        <p:spPr>
          <a:xfrm>
            <a:off x="3837142" y="2999887"/>
            <a:ext cx="726352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各変数それぞれ以下の容量のデータを確保します。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char			</a:t>
            </a:r>
            <a:r>
              <a:rPr lang="ja-JP" altLang="en-US" sz="2400" dirty="0"/>
              <a:t>・・・</a:t>
            </a:r>
            <a:r>
              <a:rPr lang="en-US" altLang="ja-JP" sz="2400" dirty="0"/>
              <a:t>1</a:t>
            </a:r>
            <a:r>
              <a:rPr lang="ja-JP" altLang="en-US" sz="2400" dirty="0"/>
              <a:t>バイト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short int		</a:t>
            </a:r>
            <a:r>
              <a:rPr lang="ja-JP" altLang="en-US" sz="2400" dirty="0"/>
              <a:t>・・・</a:t>
            </a:r>
            <a:r>
              <a:rPr lang="en-US" altLang="ja-JP" sz="2400" dirty="0"/>
              <a:t>2</a:t>
            </a:r>
            <a:r>
              <a:rPr lang="ja-JP" altLang="en-US" sz="2400" dirty="0"/>
              <a:t>バイト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int			</a:t>
            </a:r>
            <a:r>
              <a:rPr lang="ja-JP" altLang="en-US" sz="2400" dirty="0"/>
              <a:t>・・・</a:t>
            </a:r>
            <a:r>
              <a:rPr lang="en-US" altLang="ja-JP" sz="2400" dirty="0"/>
              <a:t>4</a:t>
            </a:r>
            <a:r>
              <a:rPr lang="ja-JP" altLang="en-US" sz="2400" dirty="0"/>
              <a:t>バイト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long </a:t>
            </a:r>
            <a:r>
              <a:rPr lang="en-US" altLang="ja-JP" sz="2400" b="1" dirty="0" err="1">
                <a:solidFill>
                  <a:srgbClr val="0070C0"/>
                </a:solidFill>
              </a:rPr>
              <a:t>long</a:t>
            </a:r>
            <a:r>
              <a:rPr lang="en-US" altLang="ja-JP" sz="2400" b="1" dirty="0">
                <a:solidFill>
                  <a:srgbClr val="0070C0"/>
                </a:solidFill>
              </a:rPr>
              <a:t> int	</a:t>
            </a:r>
            <a:r>
              <a:rPr lang="ja-JP" altLang="en-US" sz="2400" dirty="0"/>
              <a:t>・・・</a:t>
            </a:r>
            <a:r>
              <a:rPr lang="en-US" altLang="ja-JP" sz="2400" dirty="0"/>
              <a:t>8</a:t>
            </a:r>
            <a:r>
              <a:rPr lang="ja-JP" altLang="en-US" sz="2400" dirty="0"/>
              <a:t>バイト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float			</a:t>
            </a:r>
            <a:r>
              <a:rPr lang="ja-JP" altLang="en-US" sz="2400" dirty="0"/>
              <a:t>・・・</a:t>
            </a:r>
            <a:r>
              <a:rPr lang="en-US" altLang="ja-JP" sz="2400" dirty="0"/>
              <a:t>4</a:t>
            </a:r>
            <a:r>
              <a:rPr lang="ja-JP" altLang="en-US" sz="2400" dirty="0"/>
              <a:t>バイト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double		</a:t>
            </a:r>
            <a:r>
              <a:rPr lang="ja-JP" altLang="en-US" sz="2400" dirty="0"/>
              <a:t>・・・</a:t>
            </a:r>
            <a:r>
              <a:rPr lang="en-US" altLang="ja-JP" sz="2400" dirty="0"/>
              <a:t>8</a:t>
            </a:r>
            <a:r>
              <a:rPr lang="ja-JP" altLang="en-US" sz="2400" dirty="0"/>
              <a:t>バイト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1460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メモリの総容量は</a:t>
            </a:r>
            <a:r>
              <a:rPr lang="en-US" altLang="ja-JP" sz="2400" b="1" dirty="0">
                <a:solidFill>
                  <a:srgbClr val="FF0000"/>
                </a:solidFill>
              </a:rPr>
              <a:t>8</a:t>
            </a:r>
            <a:r>
              <a:rPr lang="ja-JP" altLang="en-US" sz="2400" b="1" dirty="0">
                <a:solidFill>
                  <a:srgbClr val="FF0000"/>
                </a:solidFill>
              </a:rPr>
              <a:t>ギガバイト～</a:t>
            </a:r>
            <a:r>
              <a:rPr lang="en-US" altLang="ja-JP" sz="2400" b="1" dirty="0">
                <a:solidFill>
                  <a:srgbClr val="FF0000"/>
                </a:solidFill>
              </a:rPr>
              <a:t>64</a:t>
            </a:r>
            <a:r>
              <a:rPr lang="ja-JP" altLang="en-US" sz="2400" b="1" dirty="0">
                <a:solidFill>
                  <a:srgbClr val="FF0000"/>
                </a:solidFill>
              </a:rPr>
              <a:t>ギガバイト</a:t>
            </a:r>
            <a:r>
              <a:rPr lang="ja-JP" altLang="en-US" sz="2400" dirty="0"/>
              <a:t>ほどあります。</a:t>
            </a:r>
            <a:endParaRPr lang="en-US" altLang="ja-JP" sz="2400" dirty="0"/>
          </a:p>
          <a:p>
            <a:r>
              <a:rPr lang="ja-JP" altLang="en-US" sz="2400" dirty="0"/>
              <a:t>そのなかで変数を宣言すると、メモリの中のどの場所に領域確保したかが</a:t>
            </a:r>
            <a:endParaRPr lang="en-US" altLang="ja-JP" sz="2400" dirty="0"/>
          </a:p>
          <a:p>
            <a:r>
              <a:rPr lang="ja-JP" altLang="en-US" sz="2400" dirty="0"/>
              <a:t>必要になることがあります。</a:t>
            </a:r>
            <a:endParaRPr lang="en-US" altLang="ja-JP" sz="2400" dirty="0"/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5C21EADC-3E37-4F1A-A77D-D5873CB980D2}"/>
              </a:ext>
            </a:extLst>
          </p:cNvPr>
          <p:cNvSpPr/>
          <p:nvPr/>
        </p:nvSpPr>
        <p:spPr>
          <a:xfrm>
            <a:off x="567542" y="2963587"/>
            <a:ext cx="2511972" cy="3129455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E429A3-1C93-4DB3-93C8-711E80118D1C}"/>
              </a:ext>
            </a:extLst>
          </p:cNvPr>
          <p:cNvSpPr txBox="1"/>
          <p:nvPr/>
        </p:nvSpPr>
        <p:spPr>
          <a:xfrm>
            <a:off x="1269530" y="25019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メモリ</a:t>
            </a:r>
            <a:endParaRPr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37B321A-12E7-464F-89F3-7A3CF5221521}"/>
              </a:ext>
            </a:extLst>
          </p:cNvPr>
          <p:cNvSpPr txBox="1"/>
          <p:nvPr/>
        </p:nvSpPr>
        <p:spPr>
          <a:xfrm>
            <a:off x="715532" y="486390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どこ？</a:t>
            </a:r>
            <a:endParaRPr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2DA264F-AB41-4947-8863-7A3FE02BF6F8}"/>
              </a:ext>
            </a:extLst>
          </p:cNvPr>
          <p:cNvSpPr txBox="1"/>
          <p:nvPr/>
        </p:nvSpPr>
        <p:spPr>
          <a:xfrm>
            <a:off x="3814393" y="5631377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特にゲーム制作では必要になることは多いです！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61F6A1-B765-4455-B9C6-DCACD4E8FDAE}"/>
              </a:ext>
            </a:extLst>
          </p:cNvPr>
          <p:cNvSpPr txBox="1"/>
          <p:nvPr/>
        </p:nvSpPr>
        <p:spPr>
          <a:xfrm>
            <a:off x="908777" y="5438006"/>
            <a:ext cx="58060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202675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変数の場所を記憶</a:t>
            </a:r>
            <a:r>
              <a:rPr lang="ja-JP" altLang="en-US" sz="2400" dirty="0"/>
              <a:t>するために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ポインタ変数</a:t>
            </a:r>
            <a:r>
              <a:rPr lang="ja-JP" altLang="en-US" sz="2400" dirty="0"/>
              <a:t>というものがあります。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変数の場所を覚えておくことで様々なテクニックが使える</a:t>
            </a:r>
            <a:r>
              <a:rPr lang="ja-JP" altLang="en-US" sz="2400" dirty="0"/>
              <a:t>ようになります。</a:t>
            </a:r>
            <a:endParaRPr lang="en-US" altLang="ja-JP" sz="2400" dirty="0"/>
          </a:p>
          <a:p>
            <a:r>
              <a:rPr lang="ja-JP" altLang="en-US" sz="2400" dirty="0"/>
              <a:t>まずはポインタ変数の使い方の基礎から学習します。</a:t>
            </a:r>
            <a:endParaRPr lang="en-US" altLang="ja-JP" sz="2400" dirty="0"/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5C21EADC-3E37-4F1A-A77D-D5873CB980D2}"/>
              </a:ext>
            </a:extLst>
          </p:cNvPr>
          <p:cNvSpPr/>
          <p:nvPr/>
        </p:nvSpPr>
        <p:spPr>
          <a:xfrm>
            <a:off x="567542" y="2963587"/>
            <a:ext cx="2511972" cy="3129455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E429A3-1C93-4DB3-93C8-711E80118D1C}"/>
              </a:ext>
            </a:extLst>
          </p:cNvPr>
          <p:cNvSpPr txBox="1"/>
          <p:nvPr/>
        </p:nvSpPr>
        <p:spPr>
          <a:xfrm>
            <a:off x="1269530" y="25019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メモリ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B8ECE2-EA96-4D42-A540-4A733F746509}"/>
              </a:ext>
            </a:extLst>
          </p:cNvPr>
          <p:cNvSpPr txBox="1"/>
          <p:nvPr/>
        </p:nvSpPr>
        <p:spPr>
          <a:xfrm>
            <a:off x="908777" y="5438006"/>
            <a:ext cx="58060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7EEE551-73CF-4B40-B106-B4317CF5039C}"/>
              </a:ext>
            </a:extLst>
          </p:cNvPr>
          <p:cNvSpPr txBox="1"/>
          <p:nvPr/>
        </p:nvSpPr>
        <p:spPr>
          <a:xfrm>
            <a:off x="695228" y="3835817"/>
            <a:ext cx="14157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ポインタ</a:t>
            </a:r>
            <a:endParaRPr lang="en-US" altLang="ja-JP" sz="2400" b="1" dirty="0">
              <a:solidFill>
                <a:srgbClr val="0070C0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1CE7F6B-C22F-4B86-9270-5F1827A7EB96}"/>
              </a:ext>
            </a:extLst>
          </p:cNvPr>
          <p:cNvCxnSpPr>
            <a:stCxn id="10" idx="2"/>
            <a:endCxn id="6" idx="0"/>
          </p:cNvCxnSpPr>
          <p:nvPr/>
        </p:nvCxnSpPr>
        <p:spPr>
          <a:xfrm flipH="1">
            <a:off x="1199081" y="4297482"/>
            <a:ext cx="204033" cy="11405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8E19052-5344-4307-8EEA-13EE7BB947CB}"/>
              </a:ext>
            </a:extLst>
          </p:cNvPr>
          <p:cNvSpPr txBox="1"/>
          <p:nvPr/>
        </p:nvSpPr>
        <p:spPr>
          <a:xfrm>
            <a:off x="1403114" y="475914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8882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337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E94A1C9-7606-4D4F-AF97-155834E8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8686375" cy="480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0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D1D43A9-EBB5-4872-A411-365AB97339FF}"/>
              </a:ext>
            </a:extLst>
          </p:cNvPr>
          <p:cNvSpPr/>
          <p:nvPr/>
        </p:nvSpPr>
        <p:spPr>
          <a:xfrm>
            <a:off x="567542" y="1828800"/>
            <a:ext cx="3195161" cy="93002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ポインタ変数の宣言は以下のように書きます。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■ポインタ変数の宣言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参照したい型</a:t>
            </a:r>
            <a:r>
              <a:rPr lang="en-US" altLang="ja-JP" sz="2400" dirty="0"/>
              <a:t>* </a:t>
            </a:r>
            <a:r>
              <a:rPr lang="ja-JP" altLang="en-US" sz="2400" dirty="0"/>
              <a:t>変数名</a:t>
            </a:r>
            <a:r>
              <a:rPr lang="en-US" altLang="ja-JP" sz="2400" dirty="0"/>
              <a:t>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1CC1E5-D0D6-4034-8308-0824FBE9B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895526"/>
            <a:ext cx="3449038" cy="77258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FDE813-55A4-4B8E-BE84-C7E5A9BC7BE8}"/>
              </a:ext>
            </a:extLst>
          </p:cNvPr>
          <p:cNvSpPr txBox="1"/>
          <p:nvPr/>
        </p:nvSpPr>
        <p:spPr>
          <a:xfrm>
            <a:off x="567542" y="3804815"/>
            <a:ext cx="7220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dirty="0"/>
              <a:t>型を参照したいので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en-US" altLang="ja-JP" sz="2400" dirty="0"/>
              <a:t>*</a:t>
            </a:r>
            <a:r>
              <a:rPr lang="ja-JP" altLang="en-US" sz="2400" dirty="0"/>
              <a:t>と書いています。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86330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254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ポインタ変数は</a:t>
            </a:r>
            <a:r>
              <a:rPr lang="ja-JP" altLang="en-US" sz="2400" b="1" dirty="0">
                <a:solidFill>
                  <a:srgbClr val="FF0000"/>
                </a:solidFill>
              </a:rPr>
              <a:t>変数がある場所（アドレス）</a:t>
            </a:r>
            <a:r>
              <a:rPr lang="ja-JP" altLang="en-US" sz="2400" dirty="0"/>
              <a:t>を格納できます。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&amp;</a:t>
            </a:r>
            <a:r>
              <a:rPr lang="ja-JP" altLang="en-US" sz="2400" b="1" dirty="0">
                <a:solidFill>
                  <a:srgbClr val="FF0000"/>
                </a:solidFill>
              </a:rPr>
              <a:t>変数名</a:t>
            </a:r>
            <a:r>
              <a:rPr lang="ja-JP" altLang="en-US" sz="2400" dirty="0"/>
              <a:t>」と書くと、</a:t>
            </a:r>
            <a:r>
              <a:rPr lang="ja-JP" altLang="en-US" sz="2400" b="1" dirty="0">
                <a:solidFill>
                  <a:srgbClr val="FF0000"/>
                </a:solidFill>
              </a:rPr>
              <a:t>その変数のアドレス</a:t>
            </a:r>
            <a:r>
              <a:rPr lang="ja-JP" altLang="en-US" sz="2400" dirty="0"/>
              <a:t>として扱うことができます。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1000E7A-E7CC-4CDC-9569-469A6C0D4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10051175" cy="129641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8F94455-8322-4265-9647-6EB3685DC611}"/>
              </a:ext>
            </a:extLst>
          </p:cNvPr>
          <p:cNvSpPr txBox="1"/>
          <p:nvPr/>
        </p:nvSpPr>
        <p:spPr>
          <a:xfrm>
            <a:off x="567542" y="3541432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アドレスの値</a:t>
            </a:r>
            <a:r>
              <a:rPr lang="ja-JP" altLang="en-US" sz="2400" dirty="0"/>
              <a:t>や、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ポインタにアドレスを示させる</a:t>
            </a:r>
            <a:r>
              <a:rPr lang="ja-JP" altLang="en-US" sz="2400" dirty="0"/>
              <a:t>ことを</a:t>
            </a:r>
            <a:r>
              <a:rPr lang="ja-JP" altLang="en-US" sz="2400" b="1" dirty="0">
                <a:solidFill>
                  <a:srgbClr val="FF0000"/>
                </a:solidFill>
              </a:rPr>
              <a:t>参照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dirty="0"/>
              <a:t>よく使う言葉なので覚えておきましょう。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9867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962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実行すると変数</a:t>
            </a:r>
            <a:r>
              <a:rPr lang="en-US" altLang="ja-JP" sz="2400" b="1" dirty="0">
                <a:solidFill>
                  <a:srgbClr val="0070C0"/>
                </a:solidFill>
              </a:rPr>
              <a:t>num</a:t>
            </a:r>
            <a:r>
              <a:rPr lang="ja-JP" altLang="en-US" sz="2400" dirty="0"/>
              <a:t>がある場所が表示されます。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0289EA-9523-4FD1-9ACA-19FCBCF7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181008" cy="12952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9DB7AD-EF1F-4F82-814F-431343DFACA8}"/>
              </a:ext>
            </a:extLst>
          </p:cNvPr>
          <p:cNvSpPr txBox="1"/>
          <p:nvPr/>
        </p:nvSpPr>
        <p:spPr>
          <a:xfrm>
            <a:off x="567542" y="319816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何度か実行して確認してみましょう。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9188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ポインタ変数は自身が示している変数の場所を知っています。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なので、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ポインタ変数が示している値を書き換える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lang="ja-JP" altLang="en-US" sz="2400" dirty="0"/>
              <a:t>以下を書いてみましょう。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6FF5D1B-AEF4-4438-8B57-415C7BF80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01922"/>
            <a:ext cx="5848872" cy="403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03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基礎編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*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ポインタ変数</a:t>
            </a:r>
            <a:r>
              <a:rPr lang="ja-JP" altLang="en-US" sz="2400" dirty="0"/>
              <a:t>」と書くことで、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ポインタが示している変数にアクセス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08BD020-50A9-4672-AC4F-56D905C08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6557323" cy="83099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837B220-877B-4C5B-AF8F-017FFC0D9D45}"/>
              </a:ext>
            </a:extLst>
          </p:cNvPr>
          <p:cNvSpPr txBox="1"/>
          <p:nvPr/>
        </p:nvSpPr>
        <p:spPr>
          <a:xfrm>
            <a:off x="567541" y="3083444"/>
            <a:ext cx="7047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pointer</a:t>
            </a:r>
            <a:r>
              <a:rPr lang="ja-JP" altLang="en-US" sz="2400" dirty="0"/>
              <a:t>が示している</a:t>
            </a:r>
            <a:r>
              <a:rPr lang="en-US" altLang="ja-JP" sz="2400" b="1" dirty="0">
                <a:solidFill>
                  <a:srgbClr val="0070C0"/>
                </a:solidFill>
              </a:rPr>
              <a:t>num</a:t>
            </a:r>
            <a:r>
              <a:rPr lang="ja-JP" altLang="en-US" sz="2400" dirty="0"/>
              <a:t>に</a:t>
            </a:r>
            <a:r>
              <a:rPr lang="en-US" altLang="ja-JP" sz="2400" dirty="0"/>
              <a:t>100</a:t>
            </a:r>
            <a:r>
              <a:rPr lang="ja-JP" altLang="en-US" sz="2400" dirty="0"/>
              <a:t>を代入している。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1699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456</Words>
  <Application>Microsoft Office PowerPoint</Application>
  <PresentationFormat>ワイド画面</PresentationFormat>
  <Paragraphs>58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58</cp:revision>
  <dcterms:created xsi:type="dcterms:W3CDTF">2024-08-27T02:15:54Z</dcterms:created>
  <dcterms:modified xsi:type="dcterms:W3CDTF">2024-11-15T06:02:56Z</dcterms:modified>
</cp:coreProperties>
</file>