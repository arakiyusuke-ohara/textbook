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595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</a:t>
            </a:r>
            <a:r>
              <a:rPr lang="en-US" altLang="ja-JP" sz="2400" b="1" dirty="0" err="1">
                <a:solidFill>
                  <a:srgbClr val="0070C0"/>
                </a:solidFill>
              </a:rPr>
              <a:t>printf</a:t>
            </a:r>
            <a:r>
              <a:rPr lang="ja-JP" altLang="en-US" sz="2400" dirty="0"/>
              <a:t>や</a:t>
            </a:r>
            <a:r>
              <a:rPr lang="en-US" altLang="ja-JP" sz="2400" b="1" dirty="0" err="1">
                <a:solidFill>
                  <a:srgbClr val="0070C0"/>
                </a:solidFill>
              </a:rPr>
              <a:t>scanf</a:t>
            </a:r>
            <a:r>
              <a:rPr lang="ja-JP" altLang="en-US" sz="2400" dirty="0"/>
              <a:t>など様々な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を使ってきましたが、</a:t>
            </a:r>
            <a:endParaRPr lang="en-US" altLang="ja-JP" sz="2400" dirty="0"/>
          </a:p>
          <a:p>
            <a:r>
              <a:rPr lang="ja-JP" altLang="en-US" sz="2400" dirty="0"/>
              <a:t>関数は自作することができます。</a:t>
            </a:r>
            <a:endParaRPr lang="en-US" altLang="ja-JP" sz="2400" dirty="0"/>
          </a:p>
          <a:p>
            <a:r>
              <a:rPr lang="ja-JP" altLang="en-US" sz="2400" dirty="0"/>
              <a:t>簡単な例で練習しましょう。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033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7C99EDF-48E8-4B21-88CE-527ABB23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763258"/>
            <a:ext cx="4361810" cy="481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関数を自作する場合は、</a:t>
            </a:r>
            <a:r>
              <a:rPr lang="ja-JP" altLang="en-US" sz="2400" b="1" dirty="0">
                <a:solidFill>
                  <a:srgbClr val="FF0000"/>
                </a:solidFill>
              </a:rPr>
              <a:t>プロトタイプ宣言</a:t>
            </a:r>
            <a:r>
              <a:rPr lang="ja-JP" altLang="en-US" sz="2400" dirty="0"/>
              <a:t>から書きます。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17BAFC1-AD65-413E-AA15-9B8EB4FE1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8525102" cy="93790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30B277-EBB1-4A13-BABB-6303F03B7C6B}"/>
              </a:ext>
            </a:extLst>
          </p:cNvPr>
          <p:cNvSpPr txBox="1"/>
          <p:nvPr/>
        </p:nvSpPr>
        <p:spPr>
          <a:xfrm>
            <a:off x="567541" y="2813589"/>
            <a:ext cx="66479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プロトタイプ宣言の書き方は以下の通りです。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■関数のプロトタイプ宣言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戻り値の型</a:t>
            </a:r>
            <a:r>
              <a:rPr lang="ja-JP" altLang="en-US" sz="2400" dirty="0"/>
              <a:t>　関数名（</a:t>
            </a:r>
            <a:r>
              <a:rPr lang="ja-JP" altLang="en-US" sz="2400" b="1" dirty="0">
                <a:solidFill>
                  <a:srgbClr val="0070C0"/>
                </a:solidFill>
              </a:rPr>
              <a:t>引数</a:t>
            </a:r>
            <a:r>
              <a:rPr lang="ja-JP" altLang="en-US" sz="2400" dirty="0"/>
              <a:t>）</a:t>
            </a:r>
            <a:r>
              <a:rPr lang="en-US" altLang="ja-JP" sz="2400" dirty="0"/>
              <a:t>;</a:t>
            </a:r>
          </a:p>
          <a:p>
            <a:endParaRPr lang="en-US" altLang="ja-JP" sz="2400" dirty="0"/>
          </a:p>
          <a:p>
            <a:r>
              <a:rPr lang="en-US" altLang="ja-JP" sz="2400" dirty="0"/>
              <a:t>1</a:t>
            </a:r>
            <a:r>
              <a:rPr lang="ja-JP" altLang="en-US" sz="2400" dirty="0"/>
              <a:t>つずつ見ていきます。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696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戻り値の型</a:t>
            </a:r>
            <a:r>
              <a:rPr lang="ja-JP" altLang="en-US" sz="2400" dirty="0"/>
              <a:t>は、</a:t>
            </a:r>
            <a:r>
              <a:rPr lang="ja-JP" altLang="en-US" sz="2400" b="1" dirty="0">
                <a:solidFill>
                  <a:srgbClr val="FF0000"/>
                </a:solidFill>
              </a:rPr>
              <a:t>関数を実行して結果を返す場合</a:t>
            </a:r>
            <a:r>
              <a:rPr lang="ja-JP" altLang="en-US" sz="2400" dirty="0"/>
              <a:t>に、</a:t>
            </a:r>
            <a:endParaRPr lang="en-US" altLang="ja-JP" sz="2400" dirty="0"/>
          </a:p>
          <a:p>
            <a:r>
              <a:rPr lang="ja-JP" altLang="en-US" sz="2400" dirty="0"/>
              <a:t>その</a:t>
            </a:r>
            <a:r>
              <a:rPr lang="ja-JP" altLang="en-US" sz="2400" b="1" dirty="0">
                <a:solidFill>
                  <a:srgbClr val="FF0000"/>
                </a:solidFill>
              </a:rPr>
              <a:t>結果の変数が何型になるか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30B277-EBB1-4A13-BABB-6303F03B7C6B}"/>
              </a:ext>
            </a:extLst>
          </p:cNvPr>
          <p:cNvSpPr txBox="1"/>
          <p:nvPr/>
        </p:nvSpPr>
        <p:spPr>
          <a:xfrm>
            <a:off x="567542" y="3182923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</a:t>
            </a:r>
            <a:r>
              <a:rPr lang="ja-JP" altLang="en-US" sz="2400" b="1" dirty="0">
                <a:solidFill>
                  <a:srgbClr val="FF0000"/>
                </a:solidFill>
              </a:rPr>
              <a:t>戻り値の型は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この関数は整数を結果として返却する</a:t>
            </a:r>
            <a:r>
              <a:rPr lang="ja-JP" altLang="en-US" sz="2400" dirty="0"/>
              <a:t>ことが分かります。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5612EF5-8D0D-43C7-AAD9-D4618B60F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8525102" cy="93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93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引数</a:t>
            </a:r>
            <a:r>
              <a:rPr lang="ja-JP" altLang="en-US" sz="2400" dirty="0"/>
              <a:t>は関数を呼び出すときに、何を渡すかを書きます。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30B277-EBB1-4A13-BABB-6303F03B7C6B}"/>
              </a:ext>
            </a:extLst>
          </p:cNvPr>
          <p:cNvSpPr txBox="1"/>
          <p:nvPr/>
        </p:nvSpPr>
        <p:spPr>
          <a:xfrm>
            <a:off x="567542" y="3182923"/>
            <a:ext cx="70375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今回の引数は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en-US" altLang="ja-JP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 err="1">
                <a:solidFill>
                  <a:srgbClr val="FF0000"/>
                </a:solidFill>
              </a:rPr>
              <a:t>numA</a:t>
            </a:r>
            <a:r>
              <a:rPr lang="en-US" altLang="ja-JP" sz="2400" b="1" dirty="0">
                <a:solidFill>
                  <a:srgbClr val="FF0000"/>
                </a:solidFill>
              </a:rPr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en-US" altLang="ja-JP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 err="1">
                <a:solidFill>
                  <a:srgbClr val="FF0000"/>
                </a:solidFill>
              </a:rPr>
              <a:t>numB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２つの整数を渡して</a:t>
            </a:r>
            <a:r>
              <a:rPr lang="en-US" altLang="ja-JP" sz="2400" b="1" dirty="0" err="1">
                <a:solidFill>
                  <a:srgbClr val="FF0000"/>
                </a:solidFill>
              </a:rPr>
              <a:t>numA</a:t>
            </a:r>
            <a:r>
              <a:rPr lang="en-US" altLang="ja-JP" sz="2400" b="1" dirty="0">
                <a:solidFill>
                  <a:srgbClr val="FF0000"/>
                </a:solidFill>
              </a:rPr>
              <a:t>, </a:t>
            </a:r>
            <a:r>
              <a:rPr lang="en-US" altLang="ja-JP" sz="2400" b="1" dirty="0" err="1">
                <a:solidFill>
                  <a:srgbClr val="FF0000"/>
                </a:solidFill>
              </a:rPr>
              <a:t>numB</a:t>
            </a:r>
            <a:r>
              <a:rPr lang="ja-JP" altLang="en-US" sz="2400" b="1" dirty="0">
                <a:solidFill>
                  <a:srgbClr val="FF0000"/>
                </a:solidFill>
              </a:rPr>
              <a:t>に格納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5612EF5-8D0D-43C7-AAD9-D4618B60F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8525102" cy="93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5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宣言の後に</a:t>
            </a:r>
            <a:r>
              <a:rPr lang="ja-JP" altLang="en-US" sz="2400" b="1" dirty="0">
                <a:solidFill>
                  <a:srgbClr val="FF0000"/>
                </a:solidFill>
              </a:rPr>
              <a:t>関数の定義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  <a:p>
            <a:r>
              <a:rPr lang="ja-JP" altLang="en-US" sz="2400" dirty="0"/>
              <a:t>定義はプロトタイプ宣言と同じ仕様を書いた後に、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実際に関数が呼ばれた時の処理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BF5F58-345B-45E8-BA4E-F8A9B96A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01922"/>
            <a:ext cx="7538804" cy="361509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4A11F1-9345-474D-8106-105ADA2FE324}"/>
              </a:ext>
            </a:extLst>
          </p:cNvPr>
          <p:cNvSpPr txBox="1"/>
          <p:nvPr/>
        </p:nvSpPr>
        <p:spPr>
          <a:xfrm>
            <a:off x="5912052" y="2756798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ここはプロトタイプ宣言と同じにすること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71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35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処理の最後に</a:t>
            </a:r>
            <a:r>
              <a:rPr lang="en-US" altLang="ja-JP" sz="2400" b="1" dirty="0">
                <a:solidFill>
                  <a:srgbClr val="0070C0"/>
                </a:solidFill>
              </a:rPr>
              <a:t>return</a:t>
            </a:r>
            <a:r>
              <a:rPr lang="ja-JP" altLang="en-US" sz="2400" dirty="0"/>
              <a:t>文を書いて、</a:t>
            </a:r>
            <a:r>
              <a:rPr lang="ja-JP" altLang="en-US" sz="2400" b="1" dirty="0">
                <a:solidFill>
                  <a:srgbClr val="FF0000"/>
                </a:solidFill>
              </a:rPr>
              <a:t>関数の処理の結果を返却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BF5F58-345B-45E8-BA4E-F8A9B96A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01922"/>
            <a:ext cx="7538804" cy="361509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4A11F1-9345-474D-8106-105ADA2FE324}"/>
              </a:ext>
            </a:extLst>
          </p:cNvPr>
          <p:cNvSpPr txBox="1"/>
          <p:nvPr/>
        </p:nvSpPr>
        <p:spPr>
          <a:xfrm>
            <a:off x="2412107" y="536443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結果を返却！！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66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関数を呼び出すことで処理が開始します。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74CA852-F6C7-46BA-93CD-DC9A3CFBC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2722194" cy="114455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A446A0-51F5-464A-9E2D-74C671CB8119}"/>
              </a:ext>
            </a:extLst>
          </p:cNvPr>
          <p:cNvSpPr txBox="1"/>
          <p:nvPr/>
        </p:nvSpPr>
        <p:spPr>
          <a:xfrm>
            <a:off x="3510455" y="2442213"/>
            <a:ext cx="5267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① 引数で</a:t>
            </a:r>
            <a:r>
              <a:rPr lang="en-US" altLang="ja-JP" sz="2400" dirty="0"/>
              <a:t>80</a:t>
            </a:r>
            <a:r>
              <a:rPr lang="ja-JP" altLang="en-US" sz="2400" dirty="0"/>
              <a:t>と</a:t>
            </a:r>
            <a:r>
              <a:rPr lang="en-US" altLang="ja-JP" sz="2400" dirty="0"/>
              <a:t>70</a:t>
            </a:r>
            <a:r>
              <a:rPr lang="ja-JP" altLang="en-US" sz="2400" dirty="0"/>
              <a:t>を渡して関数を呼ぶ</a:t>
            </a:r>
            <a:endParaRPr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FD93DB8-5964-48C5-81A0-F3D266D0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555691"/>
            <a:ext cx="2942913" cy="1634952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6CDD98-0421-4C8D-8A6B-5E18A33D65DD}"/>
              </a:ext>
            </a:extLst>
          </p:cNvPr>
          <p:cNvSpPr txBox="1"/>
          <p:nvPr/>
        </p:nvSpPr>
        <p:spPr>
          <a:xfrm>
            <a:off x="3583752" y="4618595"/>
            <a:ext cx="4567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② </a:t>
            </a:r>
            <a:r>
              <a:rPr lang="en-US" altLang="ja-JP" sz="2400" dirty="0"/>
              <a:t>80+70</a:t>
            </a:r>
            <a:r>
              <a:rPr lang="ja-JP" altLang="en-US" sz="2400" dirty="0"/>
              <a:t>が計算されて返却する</a:t>
            </a:r>
            <a:endParaRPr lang="en-US" altLang="ja-JP" sz="2400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647AB81-5B72-44EE-A9BD-C16D3BA12D1B}"/>
              </a:ext>
            </a:extLst>
          </p:cNvPr>
          <p:cNvCxnSpPr>
            <a:cxnSpLocks/>
          </p:cNvCxnSpPr>
          <p:nvPr/>
        </p:nvCxnSpPr>
        <p:spPr>
          <a:xfrm flipH="1">
            <a:off x="1760699" y="2956201"/>
            <a:ext cx="1" cy="5511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4335E2B0-7F56-430E-A238-4F5A9A83C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97" y="5724018"/>
            <a:ext cx="2942913" cy="686680"/>
          </a:xfrm>
          <a:prstGeom prst="rect">
            <a:avLst/>
          </a:prstGeom>
        </p:spPr>
      </p:pic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A3AA8F8-3192-4B19-95C7-285B3E9998D3}"/>
              </a:ext>
            </a:extLst>
          </p:cNvPr>
          <p:cNvCxnSpPr>
            <a:cxnSpLocks/>
          </p:cNvCxnSpPr>
          <p:nvPr/>
        </p:nvCxnSpPr>
        <p:spPr>
          <a:xfrm flipH="1">
            <a:off x="1760698" y="5172912"/>
            <a:ext cx="1" cy="5511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6B9CBB9-F682-4636-A2C2-6FB859EC6BB0}"/>
              </a:ext>
            </a:extLst>
          </p:cNvPr>
          <p:cNvSpPr txBox="1"/>
          <p:nvPr/>
        </p:nvSpPr>
        <p:spPr>
          <a:xfrm>
            <a:off x="3583752" y="5949033"/>
            <a:ext cx="6970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③ 計算された</a:t>
            </a:r>
            <a:r>
              <a:rPr lang="en-US" altLang="ja-JP" sz="2400" dirty="0"/>
              <a:t>150</a:t>
            </a:r>
            <a:r>
              <a:rPr lang="ja-JP" altLang="en-US" sz="2400" dirty="0"/>
              <a:t>が返却されて</a:t>
            </a:r>
            <a:r>
              <a:rPr lang="en-US" altLang="ja-JP" sz="2400" b="1" dirty="0">
                <a:solidFill>
                  <a:srgbClr val="0070C0"/>
                </a:solidFill>
              </a:rPr>
              <a:t>total</a:t>
            </a:r>
            <a:r>
              <a:rPr lang="ja-JP" altLang="en-US" sz="2400" dirty="0"/>
              <a:t>に代入される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2867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3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return</a:t>
            </a:r>
            <a:r>
              <a:rPr lang="ja-JP" altLang="en-US" sz="2400" dirty="0"/>
              <a:t>文は様々な書き方ができます。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CDDEB38-0ECA-4750-BA03-7B1B04969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5520219" cy="2398839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0B6910F-F1C1-4760-8A3B-F37A7421692A}"/>
              </a:ext>
            </a:extLst>
          </p:cNvPr>
          <p:cNvSpPr txBox="1"/>
          <p:nvPr/>
        </p:nvSpPr>
        <p:spPr>
          <a:xfrm>
            <a:off x="567541" y="42745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慣れてきたらシンプルに書けるようになりましょう。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4001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300</Words>
  <Application>Microsoft Office PowerPoint</Application>
  <PresentationFormat>ワイド画面</PresentationFormat>
  <Paragraphs>39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69</cp:revision>
  <dcterms:created xsi:type="dcterms:W3CDTF">2024-08-27T02:15:54Z</dcterms:created>
  <dcterms:modified xsi:type="dcterms:W3CDTF">2024-11-17T06:19:22Z</dcterms:modified>
</cp:coreProperties>
</file>