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3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スタイル (中間)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関数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859562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これまで</a:t>
            </a:r>
            <a:r>
              <a:rPr lang="en-US" altLang="ja-JP" sz="2400" b="1" dirty="0" err="1">
                <a:solidFill>
                  <a:srgbClr val="0070C0"/>
                </a:solidFill>
              </a:rPr>
              <a:t>printf</a:t>
            </a:r>
            <a:r>
              <a:rPr lang="ja-JP" altLang="en-US" sz="2400" dirty="0"/>
              <a:t>や</a:t>
            </a:r>
            <a:r>
              <a:rPr lang="en-US" altLang="ja-JP" sz="2400" b="1" dirty="0" err="1">
                <a:solidFill>
                  <a:srgbClr val="0070C0"/>
                </a:solidFill>
              </a:rPr>
              <a:t>scanf</a:t>
            </a:r>
            <a:r>
              <a:rPr lang="ja-JP" altLang="en-US" sz="2400" dirty="0"/>
              <a:t>など様々な</a:t>
            </a:r>
            <a:r>
              <a:rPr lang="ja-JP" altLang="en-US" sz="2400" b="1" dirty="0">
                <a:solidFill>
                  <a:srgbClr val="FF0000"/>
                </a:solidFill>
              </a:rPr>
              <a:t>関数</a:t>
            </a:r>
            <a:r>
              <a:rPr lang="ja-JP" altLang="en-US" sz="2400" dirty="0"/>
              <a:t>を使ってきましたが、</a:t>
            </a:r>
            <a:endParaRPr lang="en-US" altLang="ja-JP" sz="2400" dirty="0"/>
          </a:p>
          <a:p>
            <a:r>
              <a:rPr lang="ja-JP" altLang="en-US" sz="2400" dirty="0"/>
              <a:t>関数は自作することができます。</a:t>
            </a:r>
            <a:endParaRPr lang="en-US" altLang="ja-JP" sz="2400" dirty="0"/>
          </a:p>
          <a:p>
            <a:r>
              <a:rPr lang="ja-JP" altLang="en-US" sz="2400" dirty="0"/>
              <a:t>簡単な例で練習しましょう。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044318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関数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40334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を書きましょう。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7C99EDF-48E8-4B21-88CE-527ABB2315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3" y="1763258"/>
            <a:ext cx="4361810" cy="4813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719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関数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8494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関数を自作する場合は、</a:t>
            </a:r>
            <a:r>
              <a:rPr lang="ja-JP" altLang="en-US" sz="2400" b="1" dirty="0">
                <a:solidFill>
                  <a:srgbClr val="FF0000"/>
                </a:solidFill>
              </a:rPr>
              <a:t>プロトタイプ宣言</a:t>
            </a:r>
            <a:r>
              <a:rPr lang="ja-JP" altLang="en-US" sz="2400" dirty="0"/>
              <a:t>から書きます。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17BAFC1-AD65-413E-AA15-9B8EB4FE14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763257"/>
            <a:ext cx="8525102" cy="937901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330B277-EBB1-4A13-BABB-6303F03B7C6B}"/>
              </a:ext>
            </a:extLst>
          </p:cNvPr>
          <p:cNvSpPr txBox="1"/>
          <p:nvPr/>
        </p:nvSpPr>
        <p:spPr>
          <a:xfrm>
            <a:off x="567541" y="2813589"/>
            <a:ext cx="664797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プロトタイプ宣言の書き方は以下の通りです。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■関数のプロトタイプ宣言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0070C0"/>
                </a:solidFill>
              </a:rPr>
              <a:t>戻り値の型</a:t>
            </a:r>
            <a:r>
              <a:rPr lang="ja-JP" altLang="en-US" sz="2400" dirty="0"/>
              <a:t>　関数名（</a:t>
            </a:r>
            <a:r>
              <a:rPr lang="ja-JP" altLang="en-US" sz="2400" b="1" dirty="0">
                <a:solidFill>
                  <a:srgbClr val="0070C0"/>
                </a:solidFill>
              </a:rPr>
              <a:t>引数</a:t>
            </a:r>
            <a:r>
              <a:rPr lang="ja-JP" altLang="en-US" sz="2400" dirty="0"/>
              <a:t>）</a:t>
            </a:r>
            <a:r>
              <a:rPr lang="en-US" altLang="ja-JP" sz="2400" dirty="0"/>
              <a:t>;</a:t>
            </a:r>
          </a:p>
          <a:p>
            <a:endParaRPr lang="en-US" altLang="ja-JP" sz="2400" dirty="0"/>
          </a:p>
          <a:p>
            <a:r>
              <a:rPr lang="en-US" altLang="ja-JP" sz="2400" dirty="0"/>
              <a:t>1</a:t>
            </a:r>
            <a:r>
              <a:rPr lang="ja-JP" altLang="en-US" sz="2400" dirty="0"/>
              <a:t>つずつ見ていきます。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3696710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関数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726352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戻り値の型</a:t>
            </a:r>
            <a:r>
              <a:rPr lang="ja-JP" altLang="en-US" sz="2400" dirty="0"/>
              <a:t>は、</a:t>
            </a:r>
            <a:r>
              <a:rPr lang="ja-JP" altLang="en-US" sz="2400" b="1" dirty="0">
                <a:solidFill>
                  <a:srgbClr val="FF0000"/>
                </a:solidFill>
              </a:rPr>
              <a:t>関数を実行して結果を返す場合</a:t>
            </a:r>
            <a:r>
              <a:rPr lang="ja-JP" altLang="en-US" sz="2400" dirty="0"/>
              <a:t>に、</a:t>
            </a:r>
            <a:endParaRPr lang="en-US" altLang="ja-JP" sz="2400" dirty="0"/>
          </a:p>
          <a:p>
            <a:r>
              <a:rPr lang="ja-JP" altLang="en-US" sz="2400" dirty="0"/>
              <a:t>その</a:t>
            </a:r>
            <a:r>
              <a:rPr lang="ja-JP" altLang="en-US" sz="2400" b="1" dirty="0">
                <a:solidFill>
                  <a:srgbClr val="FF0000"/>
                </a:solidFill>
              </a:rPr>
              <a:t>結果の変数が何型になるか</a:t>
            </a:r>
            <a:r>
              <a:rPr lang="ja-JP" altLang="en-US" sz="2400" dirty="0"/>
              <a:t>を書きます。</a:t>
            </a:r>
            <a:endParaRPr lang="en-US" altLang="ja-JP" sz="2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330B277-EBB1-4A13-BABB-6303F03B7C6B}"/>
              </a:ext>
            </a:extLst>
          </p:cNvPr>
          <p:cNvSpPr txBox="1"/>
          <p:nvPr/>
        </p:nvSpPr>
        <p:spPr>
          <a:xfrm>
            <a:off x="567542" y="3182923"/>
            <a:ext cx="81868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今回の</a:t>
            </a:r>
            <a:r>
              <a:rPr lang="ja-JP" altLang="en-US" sz="2400" b="1" dirty="0">
                <a:solidFill>
                  <a:srgbClr val="FF0000"/>
                </a:solidFill>
              </a:rPr>
              <a:t>戻り値の型は</a:t>
            </a:r>
            <a:r>
              <a:rPr lang="en-US" altLang="ja-JP" sz="2400" b="1" dirty="0">
                <a:solidFill>
                  <a:srgbClr val="0070C0"/>
                </a:solidFill>
              </a:rPr>
              <a:t>int</a:t>
            </a:r>
            <a:r>
              <a:rPr lang="ja-JP" altLang="en-US" sz="2400" dirty="0"/>
              <a:t>なので、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この関数は整数を結果として返却する</a:t>
            </a:r>
            <a:r>
              <a:rPr lang="ja-JP" altLang="en-US" sz="2400" dirty="0"/>
              <a:t>ことが分かります。</a:t>
            </a:r>
            <a:endParaRPr lang="en-US" altLang="ja-JP" sz="2400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C5612EF5-8D0D-43C7-AAD9-D4618B60F7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32590"/>
            <a:ext cx="8525102" cy="937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9343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関数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78790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引数</a:t>
            </a:r>
            <a:r>
              <a:rPr lang="ja-JP" altLang="en-US" sz="2400" dirty="0"/>
              <a:t>は関数を呼び出すときに、何を渡すかを書きます。</a:t>
            </a:r>
            <a:endParaRPr lang="en-US" altLang="ja-JP" sz="2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330B277-EBB1-4A13-BABB-6303F03B7C6B}"/>
              </a:ext>
            </a:extLst>
          </p:cNvPr>
          <p:cNvSpPr txBox="1"/>
          <p:nvPr/>
        </p:nvSpPr>
        <p:spPr>
          <a:xfrm>
            <a:off x="567542" y="3182923"/>
            <a:ext cx="703750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今回の引数は</a:t>
            </a:r>
            <a:r>
              <a:rPr lang="ja-JP" altLang="en-US" sz="2400" b="1" dirty="0">
                <a:solidFill>
                  <a:srgbClr val="FF0000"/>
                </a:solidFill>
              </a:rPr>
              <a:t>（</a:t>
            </a:r>
            <a:r>
              <a:rPr lang="en-US" altLang="ja-JP" sz="2400" b="1" dirty="0">
                <a:solidFill>
                  <a:srgbClr val="0070C0"/>
                </a:solidFill>
              </a:rPr>
              <a:t>int</a:t>
            </a:r>
            <a:r>
              <a:rPr lang="en-US" altLang="ja-JP" sz="2400" b="1" dirty="0">
                <a:solidFill>
                  <a:srgbClr val="FF0000"/>
                </a:solidFill>
              </a:rPr>
              <a:t> </a:t>
            </a:r>
            <a:r>
              <a:rPr lang="en-US" altLang="ja-JP" sz="2400" b="1" dirty="0" err="1">
                <a:solidFill>
                  <a:srgbClr val="FF0000"/>
                </a:solidFill>
              </a:rPr>
              <a:t>numA</a:t>
            </a:r>
            <a:r>
              <a:rPr lang="en-US" altLang="ja-JP" sz="2400" b="1" dirty="0">
                <a:solidFill>
                  <a:srgbClr val="FF0000"/>
                </a:solidFill>
              </a:rPr>
              <a:t>, </a:t>
            </a:r>
            <a:r>
              <a:rPr lang="en-US" altLang="ja-JP" sz="2400" b="1" dirty="0">
                <a:solidFill>
                  <a:srgbClr val="0070C0"/>
                </a:solidFill>
              </a:rPr>
              <a:t>int</a:t>
            </a:r>
            <a:r>
              <a:rPr lang="en-US" altLang="ja-JP" sz="2400" b="1" dirty="0">
                <a:solidFill>
                  <a:srgbClr val="FF0000"/>
                </a:solidFill>
              </a:rPr>
              <a:t> </a:t>
            </a:r>
            <a:r>
              <a:rPr lang="en-US" altLang="ja-JP" sz="2400" b="1" dirty="0" err="1">
                <a:solidFill>
                  <a:srgbClr val="FF0000"/>
                </a:solidFill>
              </a:rPr>
              <a:t>numB</a:t>
            </a:r>
            <a:r>
              <a:rPr lang="ja-JP" altLang="en-US" sz="2400" b="1" dirty="0">
                <a:solidFill>
                  <a:srgbClr val="FF0000"/>
                </a:solidFill>
              </a:rPr>
              <a:t>）</a:t>
            </a:r>
            <a:r>
              <a:rPr lang="ja-JP" altLang="en-US" sz="2400" dirty="0"/>
              <a:t>なので、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２つの整数を渡して</a:t>
            </a:r>
            <a:r>
              <a:rPr lang="en-US" altLang="ja-JP" sz="2400" b="1" dirty="0" err="1">
                <a:solidFill>
                  <a:srgbClr val="FF0000"/>
                </a:solidFill>
              </a:rPr>
              <a:t>numA</a:t>
            </a:r>
            <a:r>
              <a:rPr lang="en-US" altLang="ja-JP" sz="2400" b="1" dirty="0">
                <a:solidFill>
                  <a:srgbClr val="FF0000"/>
                </a:solidFill>
              </a:rPr>
              <a:t>, </a:t>
            </a:r>
            <a:r>
              <a:rPr lang="en-US" altLang="ja-JP" sz="2400" b="1" dirty="0" err="1">
                <a:solidFill>
                  <a:srgbClr val="FF0000"/>
                </a:solidFill>
              </a:rPr>
              <a:t>numB</a:t>
            </a:r>
            <a:r>
              <a:rPr lang="ja-JP" altLang="en-US" sz="2400" b="1" dirty="0">
                <a:solidFill>
                  <a:srgbClr val="FF0000"/>
                </a:solidFill>
              </a:rPr>
              <a:t>に格納</a:t>
            </a:r>
            <a:r>
              <a:rPr lang="ja-JP" altLang="en-US" sz="2400" dirty="0"/>
              <a:t>します。</a:t>
            </a:r>
            <a:endParaRPr lang="en-US" altLang="ja-JP" sz="2400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C5612EF5-8D0D-43C7-AAD9-D4618B60F7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32590"/>
            <a:ext cx="8525102" cy="937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36557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関数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726352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宣言の後に</a:t>
            </a:r>
            <a:r>
              <a:rPr lang="ja-JP" altLang="en-US" sz="2400" b="1" dirty="0">
                <a:solidFill>
                  <a:srgbClr val="FF0000"/>
                </a:solidFill>
              </a:rPr>
              <a:t>関数の定義</a:t>
            </a:r>
            <a:r>
              <a:rPr lang="ja-JP" altLang="en-US" sz="2400" dirty="0"/>
              <a:t>を書きます。</a:t>
            </a:r>
            <a:endParaRPr lang="en-US" altLang="ja-JP" sz="2400" dirty="0"/>
          </a:p>
          <a:p>
            <a:r>
              <a:rPr lang="ja-JP" altLang="en-US" sz="2400" dirty="0"/>
              <a:t>定義はプロトタイプ宣言と同じ仕様を書いた後に、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実際に関数が呼ばれた時の処理</a:t>
            </a:r>
            <a:r>
              <a:rPr lang="ja-JP" altLang="en-US" sz="2400" dirty="0"/>
              <a:t>を書きます。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EEBF5F58-345B-45E8-BA4E-F8A9B96A8C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01922"/>
            <a:ext cx="7538804" cy="3615099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F4A11F1-9345-474D-8106-105ADA2FE324}"/>
              </a:ext>
            </a:extLst>
          </p:cNvPr>
          <p:cNvSpPr txBox="1"/>
          <p:nvPr/>
        </p:nvSpPr>
        <p:spPr>
          <a:xfrm>
            <a:off x="5912052" y="2756798"/>
            <a:ext cx="6032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ここはプロトタイプ宣言と同じにすること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087186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関数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93570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処理の最後に</a:t>
            </a:r>
            <a:r>
              <a:rPr lang="en-US" altLang="ja-JP" sz="2400" b="1" dirty="0">
                <a:solidFill>
                  <a:srgbClr val="0070C0"/>
                </a:solidFill>
              </a:rPr>
              <a:t>return</a:t>
            </a:r>
            <a:r>
              <a:rPr lang="ja-JP" altLang="en-US" sz="2400" dirty="0"/>
              <a:t>文を書いて、</a:t>
            </a:r>
            <a:r>
              <a:rPr lang="ja-JP" altLang="en-US" sz="2400" b="1" dirty="0">
                <a:solidFill>
                  <a:srgbClr val="FF0000"/>
                </a:solidFill>
              </a:rPr>
              <a:t>関数の処理の結果を返却</a:t>
            </a:r>
            <a:r>
              <a:rPr lang="ja-JP" altLang="en-US" sz="2400" dirty="0"/>
              <a:t>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EEBF5F58-345B-45E8-BA4E-F8A9B96A8C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01922"/>
            <a:ext cx="7538804" cy="3615099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F4A11F1-9345-474D-8106-105ADA2FE324}"/>
              </a:ext>
            </a:extLst>
          </p:cNvPr>
          <p:cNvSpPr txBox="1"/>
          <p:nvPr/>
        </p:nvSpPr>
        <p:spPr>
          <a:xfrm>
            <a:off x="2412107" y="5364433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結果を返却！！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876633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関数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6032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関数を呼び出すことで処理が開始します。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74CA852-F6C7-46BA-93CD-DC9A3CFBCE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763258"/>
            <a:ext cx="2722194" cy="1144559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BA446A0-51F5-464A-9E2D-74C671CB8119}"/>
              </a:ext>
            </a:extLst>
          </p:cNvPr>
          <p:cNvSpPr txBox="1"/>
          <p:nvPr/>
        </p:nvSpPr>
        <p:spPr>
          <a:xfrm>
            <a:off x="3510455" y="2442213"/>
            <a:ext cx="52677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① 引数で</a:t>
            </a:r>
            <a:r>
              <a:rPr lang="en-US" altLang="ja-JP" sz="2400" dirty="0"/>
              <a:t>80</a:t>
            </a:r>
            <a:r>
              <a:rPr lang="ja-JP" altLang="en-US" sz="2400" dirty="0"/>
              <a:t>と</a:t>
            </a:r>
            <a:r>
              <a:rPr lang="en-US" altLang="ja-JP" sz="2400" dirty="0"/>
              <a:t>70</a:t>
            </a:r>
            <a:r>
              <a:rPr lang="ja-JP" altLang="en-US" sz="2400" dirty="0"/>
              <a:t>を渡して関数を呼ぶ</a:t>
            </a:r>
            <a:endParaRPr lang="en-US" altLang="ja-JP" sz="2400" dirty="0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4FD93DB8-5964-48C5-81A0-F3D266D0ED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2" y="3555691"/>
            <a:ext cx="2942913" cy="1634952"/>
          </a:xfrm>
          <a:prstGeom prst="rect">
            <a:avLst/>
          </a:prstGeom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C66CDD98-0421-4C8D-8A6B-5E18A33D65DD}"/>
              </a:ext>
            </a:extLst>
          </p:cNvPr>
          <p:cNvSpPr txBox="1"/>
          <p:nvPr/>
        </p:nvSpPr>
        <p:spPr>
          <a:xfrm>
            <a:off x="3583752" y="4618595"/>
            <a:ext cx="45672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② </a:t>
            </a:r>
            <a:r>
              <a:rPr lang="en-US" altLang="ja-JP" sz="2400" dirty="0"/>
              <a:t>80+70</a:t>
            </a:r>
            <a:r>
              <a:rPr lang="ja-JP" altLang="en-US" sz="2400" dirty="0"/>
              <a:t>が計算されて返却する</a:t>
            </a:r>
            <a:endParaRPr lang="en-US" altLang="ja-JP" sz="2400" dirty="0"/>
          </a:p>
        </p:txBody>
      </p: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1647AB81-5B72-44EE-A9BD-C16D3BA12D1B}"/>
              </a:ext>
            </a:extLst>
          </p:cNvPr>
          <p:cNvCxnSpPr>
            <a:cxnSpLocks/>
          </p:cNvCxnSpPr>
          <p:nvPr/>
        </p:nvCxnSpPr>
        <p:spPr>
          <a:xfrm flipH="1">
            <a:off x="1760699" y="2956201"/>
            <a:ext cx="1" cy="55110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図 17">
            <a:extLst>
              <a:ext uri="{FF2B5EF4-FFF2-40B4-BE49-F238E27FC236}">
                <a16:creationId xmlns:a16="http://schemas.microsoft.com/office/drawing/2014/main" id="{4335E2B0-7F56-430E-A238-4F5A9A83CF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297" y="5724018"/>
            <a:ext cx="2942913" cy="686680"/>
          </a:xfrm>
          <a:prstGeom prst="rect">
            <a:avLst/>
          </a:prstGeom>
        </p:spPr>
      </p:pic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5A3AA8F8-3192-4B19-95C7-285B3E9998D3}"/>
              </a:ext>
            </a:extLst>
          </p:cNvPr>
          <p:cNvCxnSpPr>
            <a:cxnSpLocks/>
          </p:cNvCxnSpPr>
          <p:nvPr/>
        </p:nvCxnSpPr>
        <p:spPr>
          <a:xfrm flipH="1">
            <a:off x="1760698" y="5172912"/>
            <a:ext cx="1" cy="55110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66B9CBB9-F682-4636-A2C2-6FB859EC6BB0}"/>
              </a:ext>
            </a:extLst>
          </p:cNvPr>
          <p:cNvSpPr txBox="1"/>
          <p:nvPr/>
        </p:nvSpPr>
        <p:spPr>
          <a:xfrm>
            <a:off x="3583752" y="5949033"/>
            <a:ext cx="69701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③ 計算された</a:t>
            </a:r>
            <a:r>
              <a:rPr lang="en-US" altLang="ja-JP" sz="2400" dirty="0"/>
              <a:t>150</a:t>
            </a:r>
            <a:r>
              <a:rPr lang="ja-JP" altLang="en-US" sz="2400" dirty="0"/>
              <a:t>が返却されて</a:t>
            </a:r>
            <a:r>
              <a:rPr lang="en-US" altLang="ja-JP" sz="2400" b="1" dirty="0">
                <a:solidFill>
                  <a:srgbClr val="0070C0"/>
                </a:solidFill>
              </a:rPr>
              <a:t>total</a:t>
            </a:r>
            <a:r>
              <a:rPr lang="ja-JP" altLang="en-US" sz="2400" dirty="0"/>
              <a:t>に代入される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0286794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関数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54136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70C0"/>
                </a:solidFill>
              </a:rPr>
              <a:t>return</a:t>
            </a:r>
            <a:r>
              <a:rPr lang="ja-JP" altLang="en-US" sz="2400" dirty="0"/>
              <a:t>文は様々な書き方ができます。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CDDEB38-0ECA-4750-BA03-7B1B04969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763258"/>
            <a:ext cx="5520219" cy="2398839"/>
          </a:xfrm>
          <a:prstGeom prst="rect">
            <a:avLst/>
          </a:prstGeom>
        </p:spPr>
      </p:pic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70B6910F-F1C1-4760-8A3B-F37A7421692A}"/>
              </a:ext>
            </a:extLst>
          </p:cNvPr>
          <p:cNvSpPr txBox="1"/>
          <p:nvPr/>
        </p:nvSpPr>
        <p:spPr>
          <a:xfrm>
            <a:off x="567541" y="4274529"/>
            <a:ext cx="69557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なるべくシンプル</a:t>
            </a:r>
            <a:r>
              <a:rPr lang="ja-JP" altLang="en-US" sz="2400" dirty="0"/>
              <a:t>に書けるようになりましょう。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9400134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706</TotalTime>
  <Words>299</Words>
  <Application>Microsoft Office PowerPoint</Application>
  <PresentationFormat>ワイド画面</PresentationFormat>
  <Paragraphs>39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3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70</cp:revision>
  <dcterms:created xsi:type="dcterms:W3CDTF">2024-08-27T02:15:54Z</dcterms:created>
  <dcterms:modified xsi:type="dcterms:W3CDTF">2025-02-27T08:51:30Z</dcterms:modified>
</cp:coreProperties>
</file>