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ゲームを作っていると</a:t>
            </a:r>
            <a:r>
              <a:rPr lang="ja-JP" altLang="en-US" sz="2400" b="1" dirty="0">
                <a:solidFill>
                  <a:srgbClr val="FF0000"/>
                </a:solidFill>
              </a:rPr>
              <a:t>最大数分だけ配列を確保する</a:t>
            </a:r>
            <a:r>
              <a:rPr lang="ja-JP" altLang="en-US" sz="2400" dirty="0"/>
              <a:t>ことがよくあります。</a:t>
            </a:r>
            <a:endParaRPr lang="en-US" altLang="ja-JP" sz="2400" dirty="0"/>
          </a:p>
          <a:p>
            <a:r>
              <a:rPr lang="ja-JP" altLang="en-US" sz="2400" dirty="0"/>
              <a:t>例えば、ゲーム中に最大</a:t>
            </a:r>
            <a:r>
              <a:rPr lang="en-US" altLang="ja-JP" sz="2400" dirty="0"/>
              <a:t>30</a:t>
            </a:r>
            <a:r>
              <a:rPr lang="ja-JP" altLang="en-US" sz="2400" dirty="0"/>
              <a:t>体の敵が出るのであれば、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// </a:t>
            </a:r>
            <a:r>
              <a:rPr lang="ja-JP" altLang="en-US" sz="2400" b="1" dirty="0">
                <a:solidFill>
                  <a:srgbClr val="00B050"/>
                </a:solidFill>
              </a:rPr>
              <a:t>敵</a:t>
            </a:r>
            <a:r>
              <a:rPr lang="en-US" altLang="ja-JP" sz="2400" b="1" dirty="0">
                <a:solidFill>
                  <a:srgbClr val="00B050"/>
                </a:solidFill>
              </a:rPr>
              <a:t>30</a:t>
            </a:r>
            <a:r>
              <a:rPr lang="ja-JP" altLang="en-US" sz="2400" b="1" dirty="0">
                <a:solidFill>
                  <a:srgbClr val="00B050"/>
                </a:solidFill>
              </a:rPr>
              <a:t>体分の配列</a:t>
            </a:r>
            <a:endParaRPr lang="en-US" altLang="ja-JP" sz="2400" b="1" dirty="0">
              <a:solidFill>
                <a:srgbClr val="00B050"/>
              </a:solidFill>
            </a:endParaRPr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EnemyData</a:t>
            </a:r>
            <a:r>
              <a:rPr lang="en-US" altLang="ja-JP" sz="2400" dirty="0"/>
              <a:t> </a:t>
            </a:r>
            <a:r>
              <a:rPr lang="en-US" altLang="ja-JP" sz="2400" dirty="0" err="1"/>
              <a:t>g_Enemies</a:t>
            </a:r>
            <a:r>
              <a:rPr lang="en-US" altLang="ja-JP" sz="2400" dirty="0"/>
              <a:t>[</a:t>
            </a:r>
            <a:r>
              <a:rPr lang="en-US" altLang="ja-JP" sz="2400" b="1" dirty="0">
                <a:solidFill>
                  <a:srgbClr val="7030A0"/>
                </a:solidFill>
              </a:rPr>
              <a:t>30</a:t>
            </a:r>
            <a:r>
              <a:rPr lang="en-US" altLang="ja-JP" sz="2400" dirty="0"/>
              <a:t>];</a:t>
            </a:r>
          </a:p>
          <a:p>
            <a:endParaRPr lang="en-US" altLang="ja-JP" sz="2400" dirty="0"/>
          </a:p>
          <a:p>
            <a:r>
              <a:rPr lang="ja-JP" altLang="en-US" sz="2400" dirty="0"/>
              <a:t>みたいに書くと思います。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8790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作ってるゲームにはステージが３つあるとしましょう。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ステージ１には</a:t>
            </a:r>
            <a:r>
              <a:rPr lang="en-US" altLang="ja-JP" sz="2400" dirty="0"/>
              <a:t>10</a:t>
            </a:r>
            <a:r>
              <a:rPr lang="ja-JP" altLang="en-US" sz="2400" dirty="0"/>
              <a:t>体の敵が、</a:t>
            </a:r>
            <a:endParaRPr lang="en-US" altLang="ja-JP" sz="2400" dirty="0"/>
          </a:p>
          <a:p>
            <a:r>
              <a:rPr lang="ja-JP" altLang="en-US" sz="2400" dirty="0"/>
              <a:t>ステージ２には</a:t>
            </a:r>
            <a:r>
              <a:rPr lang="en-US" altLang="ja-JP" sz="2400" dirty="0"/>
              <a:t>30</a:t>
            </a:r>
            <a:r>
              <a:rPr lang="ja-JP" altLang="en-US" sz="2400" dirty="0"/>
              <a:t>体の敵が、</a:t>
            </a:r>
            <a:endParaRPr lang="en-US" altLang="ja-JP" sz="2400" dirty="0"/>
          </a:p>
          <a:p>
            <a:r>
              <a:rPr lang="ja-JP" altLang="en-US" sz="2400" dirty="0"/>
              <a:t>ステージ３には</a:t>
            </a:r>
            <a:r>
              <a:rPr lang="en-US" altLang="ja-JP" sz="2400" dirty="0"/>
              <a:t>5</a:t>
            </a:r>
            <a:r>
              <a:rPr lang="ja-JP" altLang="en-US" sz="2400" dirty="0"/>
              <a:t>体の敵が出てくるとします。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EDCCD2B-9C61-43E6-BA02-01DCAD803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3240585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63917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EnemyData</a:t>
            </a:r>
            <a:r>
              <a:rPr lang="en-US" altLang="ja-JP" sz="2400" dirty="0"/>
              <a:t> </a:t>
            </a:r>
            <a:r>
              <a:rPr lang="en-US" altLang="ja-JP" sz="2400" dirty="0" err="1"/>
              <a:t>g_Enemies</a:t>
            </a:r>
            <a:r>
              <a:rPr lang="en-US" altLang="ja-JP" sz="2400" dirty="0"/>
              <a:t>[</a:t>
            </a:r>
            <a:r>
              <a:rPr lang="en-US" altLang="ja-JP" sz="2400" b="1" dirty="0">
                <a:solidFill>
                  <a:srgbClr val="7030A0"/>
                </a:solidFill>
              </a:rPr>
              <a:t>30</a:t>
            </a:r>
            <a:r>
              <a:rPr lang="en-US" altLang="ja-JP" sz="2400" dirty="0"/>
              <a:t>];</a:t>
            </a:r>
          </a:p>
          <a:p>
            <a:endParaRPr lang="en-US" altLang="ja-JP" sz="2400" dirty="0"/>
          </a:p>
          <a:p>
            <a:r>
              <a:rPr lang="ja-JP" altLang="en-US" sz="2400" dirty="0"/>
              <a:t>こう書いてしまうとステージ３では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敵が</a:t>
            </a:r>
            <a:r>
              <a:rPr lang="en-US" altLang="ja-JP" sz="2400" b="1" dirty="0">
                <a:solidFill>
                  <a:srgbClr val="FF0000"/>
                </a:solidFill>
              </a:rPr>
              <a:t>5</a:t>
            </a:r>
            <a:r>
              <a:rPr lang="ja-JP" altLang="en-US" sz="2400" b="1" dirty="0">
                <a:solidFill>
                  <a:srgbClr val="FF0000"/>
                </a:solidFill>
              </a:rPr>
              <a:t>体しか出てこないのに、配列では</a:t>
            </a:r>
            <a:r>
              <a:rPr lang="en-US" altLang="ja-JP" sz="2400" b="1" dirty="0">
                <a:solidFill>
                  <a:srgbClr val="FF0000"/>
                </a:solidFill>
              </a:rPr>
              <a:t>30</a:t>
            </a:r>
            <a:r>
              <a:rPr lang="ja-JP" altLang="en-US" sz="2400" b="1" dirty="0">
                <a:solidFill>
                  <a:srgbClr val="FF0000"/>
                </a:solidFill>
              </a:rPr>
              <a:t>体分用意してしまいます。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固定長の配列</a:t>
            </a:r>
            <a:r>
              <a:rPr lang="ja-JP" altLang="en-US" sz="2400" dirty="0"/>
              <a:t>を使ってしまうと、</a:t>
            </a:r>
            <a:endParaRPr lang="en-US" altLang="ja-JP" sz="2400" dirty="0"/>
          </a:p>
          <a:p>
            <a:r>
              <a:rPr lang="ja-JP" altLang="en-US" sz="2400" dirty="0"/>
              <a:t>いずれ、</a:t>
            </a:r>
            <a:r>
              <a:rPr lang="ja-JP" altLang="en-US" sz="2400" b="1" dirty="0">
                <a:solidFill>
                  <a:srgbClr val="FF0000"/>
                </a:solidFill>
              </a:rPr>
              <a:t>もったいない場面</a:t>
            </a:r>
            <a:r>
              <a:rPr lang="ja-JP" altLang="en-US" sz="2400" dirty="0"/>
              <a:t>が発生してしまいます。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3347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64906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lang="ja-JP" altLang="en-US" sz="2400" dirty="0"/>
              <a:t>言語には</a:t>
            </a:r>
            <a:r>
              <a:rPr lang="ja-JP" altLang="en-US" sz="2400" b="1" dirty="0">
                <a:solidFill>
                  <a:srgbClr val="FF0000"/>
                </a:solidFill>
              </a:rPr>
              <a:t>動的メモリ管理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この機能を使えば、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状況に応じて配列の長さを変える</a:t>
            </a:r>
            <a:r>
              <a:rPr lang="ja-JP" altLang="en-US" sz="2400" dirty="0"/>
              <a:t>ようにメモリを管理することができます。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この機能を使えば、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ステージに登場する敵の数だけ配列を用意することができます。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どれほど違うかも含めて練習してみましょう。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24337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8663E5C-182D-4FB4-A98A-C7D49411F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352190" cy="48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3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実行するとデータの大きさが表示されます。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E66465-E702-4F9B-8E03-2A4AF9E7F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763258"/>
            <a:ext cx="6535990" cy="368125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7B18FC9-D248-4014-AB05-CE96AF252DF6}"/>
              </a:ext>
            </a:extLst>
          </p:cNvPr>
          <p:cNvSpPr txBox="1"/>
          <p:nvPr/>
        </p:nvSpPr>
        <p:spPr>
          <a:xfrm>
            <a:off x="567542" y="5556947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30</a:t>
            </a:r>
            <a:r>
              <a:rPr lang="ja-JP" altLang="en-US" sz="2400" dirty="0"/>
              <a:t>体分の固定長で実行した結果です。</a:t>
            </a:r>
            <a:endParaRPr lang="en-US" altLang="ja-JP" sz="2400" dirty="0"/>
          </a:p>
          <a:p>
            <a:r>
              <a:rPr lang="ja-JP" altLang="en-US" sz="2400" dirty="0"/>
              <a:t>続いて動的メモリ管理でプログラムを書いてみます。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64809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34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別のプロジェクトを作り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0A1A6CF-F061-44F5-8D9F-ACEC4E3BD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763258"/>
            <a:ext cx="3848808" cy="487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7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657571B-DD1F-4D90-B810-6AE94F2AE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7077858" cy="468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1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BB848C-CBA1-46FD-AC60-0EA3935EF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1074570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1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実行すると、ステージ番号に合わせて敵の配列が確保されます。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7A7A31E-E63B-427B-81B8-9005843EE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75" y="1763258"/>
            <a:ext cx="3126578" cy="89527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7D0D3AF-04C6-42F2-8054-27C99B36B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770965"/>
            <a:ext cx="7738967" cy="27747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F9E6616-CC05-4CDD-8B9E-1B9C1AE6BEEF}"/>
              </a:ext>
            </a:extLst>
          </p:cNvPr>
          <p:cNvSpPr txBox="1"/>
          <p:nvPr/>
        </p:nvSpPr>
        <p:spPr>
          <a:xfrm>
            <a:off x="567542" y="5820428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ほかのステージ番号でも確認してみましょう。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A3B0C6-3F2D-44B7-812D-F1666A7D3662}"/>
              </a:ext>
            </a:extLst>
          </p:cNvPr>
          <p:cNvSpPr txBox="1"/>
          <p:nvPr/>
        </p:nvSpPr>
        <p:spPr>
          <a:xfrm>
            <a:off x="6443409" y="3636612"/>
            <a:ext cx="4735592" cy="83099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30</a:t>
            </a:r>
            <a:r>
              <a:rPr lang="ja-JP" altLang="en-US" sz="2400" dirty="0"/>
              <a:t>体だと</a:t>
            </a:r>
            <a:r>
              <a:rPr lang="en-US" altLang="ja-JP" sz="2400" dirty="0"/>
              <a:t>960</a:t>
            </a:r>
            <a:r>
              <a:rPr lang="ja-JP" altLang="en-US" sz="2400" dirty="0"/>
              <a:t>バイトだったので、</a:t>
            </a:r>
            <a:endParaRPr lang="en-US" altLang="ja-JP" sz="2400" dirty="0"/>
          </a:p>
          <a:p>
            <a:r>
              <a:rPr lang="en-US" altLang="ja-JP" sz="2400" dirty="0"/>
              <a:t>800</a:t>
            </a:r>
            <a:r>
              <a:rPr lang="ja-JP" altLang="en-US" sz="2400" dirty="0"/>
              <a:t>バイトも節約できた！！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62044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1864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動的メモリ確保をするには</a:t>
            </a:r>
            <a:r>
              <a:rPr lang="en-US" altLang="ja-JP" sz="2400" b="1" dirty="0" err="1">
                <a:solidFill>
                  <a:srgbClr val="0070C0"/>
                </a:solidFill>
              </a:rPr>
              <a:t>calloc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calloc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戻り値：確保したメモリの先頭アドレス</a:t>
            </a:r>
            <a:endParaRPr lang="en-US" altLang="ja-JP" sz="2400" dirty="0"/>
          </a:p>
          <a:p>
            <a:r>
              <a:rPr lang="ja-JP" altLang="en-US" sz="2400" dirty="0"/>
              <a:t>引　数：確保する要素数と１件分のデータサイズ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A8D5DA-075D-4484-B824-D4E5872675F2}"/>
              </a:ext>
            </a:extLst>
          </p:cNvPr>
          <p:cNvSpPr txBox="1"/>
          <p:nvPr/>
        </p:nvSpPr>
        <p:spPr>
          <a:xfrm>
            <a:off x="567542" y="5344020"/>
            <a:ext cx="99886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戻り値は必ずキャストする必要があります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メモリの容量が足らない場合など</a:t>
            </a:r>
            <a:r>
              <a:rPr lang="en-US" altLang="ja-JP" sz="2400" b="1" dirty="0" err="1">
                <a:solidFill>
                  <a:srgbClr val="FF0000"/>
                </a:solidFill>
              </a:rPr>
              <a:t>calloc</a:t>
            </a:r>
            <a:r>
              <a:rPr lang="ja-JP" altLang="en-US" sz="2400" b="1" dirty="0">
                <a:solidFill>
                  <a:srgbClr val="FF0000"/>
                </a:solidFill>
              </a:rPr>
              <a:t>は失敗する可能性もあります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1D9ABBC-9309-4D1F-BEE7-530879A4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40585"/>
            <a:ext cx="6315956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6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確保した後は配列と使い方は変わりません。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A4C0818-9E92-4E9C-AFDE-CEF0E07E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9440592" cy="168616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8B39E2A-6424-4025-9BB0-080427F8E362}"/>
              </a:ext>
            </a:extLst>
          </p:cNvPr>
          <p:cNvSpPr txBox="1"/>
          <p:nvPr/>
        </p:nvSpPr>
        <p:spPr>
          <a:xfrm>
            <a:off x="567542" y="3561850"/>
            <a:ext cx="47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or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7708C5A-1373-427D-ADCB-3AFE5DC20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135947"/>
            <a:ext cx="8392696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7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72573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動的メモリ管理で確保したメモリは、必ず</a:t>
            </a:r>
            <a:r>
              <a:rPr lang="ja-JP" altLang="en-US" sz="2400" b="1" dirty="0">
                <a:solidFill>
                  <a:srgbClr val="FF0000"/>
                </a:solidFill>
              </a:rPr>
              <a:t>解放</a:t>
            </a:r>
            <a:r>
              <a:rPr lang="ja-JP" altLang="en-US" sz="2400" dirty="0"/>
              <a:t>する必要があります。</a:t>
            </a:r>
            <a:endParaRPr lang="en-US" altLang="ja-JP" sz="2400" dirty="0"/>
          </a:p>
          <a:p>
            <a:r>
              <a:rPr lang="ja-JP" altLang="en-US" sz="2400" dirty="0"/>
              <a:t>解放には</a:t>
            </a:r>
            <a:r>
              <a:rPr lang="en-US" altLang="ja-JP" sz="2400" b="1" dirty="0">
                <a:solidFill>
                  <a:srgbClr val="0070C0"/>
                </a:solidFill>
              </a:rPr>
              <a:t>free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free</a:t>
            </a:r>
            <a:r>
              <a:rPr lang="ja-JP" altLang="en-US" sz="2400" b="1" dirty="0">
                <a:solidFill>
                  <a:srgbClr val="FF0000"/>
                </a:solidFill>
              </a:rPr>
              <a:t>関数が呼ばれるまで、メモリに残り続けてしまいます。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free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戻り値：なし</a:t>
            </a:r>
            <a:endParaRPr lang="en-US" altLang="ja-JP" sz="2400" dirty="0"/>
          </a:p>
          <a:p>
            <a:r>
              <a:rPr lang="ja-JP" altLang="en-US" sz="2400" dirty="0"/>
              <a:t>引　数：確保したメモリの先頭アドレス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これを忘れてしまうと、</a:t>
            </a:r>
            <a:endParaRPr lang="en-US" altLang="ja-JP" sz="2400" dirty="0"/>
          </a:p>
          <a:p>
            <a:r>
              <a:rPr lang="ja-JP" altLang="en-US" sz="2400" dirty="0"/>
              <a:t>メモリに残り続けてしまう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が発生します。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E1098B-F471-483A-A904-000A254D2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5087245"/>
            <a:ext cx="6712833" cy="15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03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 まとめ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412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動的メモリ管理は、</a:t>
            </a:r>
            <a:r>
              <a:rPr lang="ja-JP" altLang="en-US" sz="2400" b="1" dirty="0">
                <a:solidFill>
                  <a:srgbClr val="FF0000"/>
                </a:solidFill>
              </a:rPr>
              <a:t>メモリの使用量を最小限に抑える</a:t>
            </a:r>
            <a:r>
              <a:rPr lang="ja-JP" altLang="en-US" sz="2400" dirty="0"/>
              <a:t>テクニックですが、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メモリリークというリスク</a:t>
            </a:r>
            <a:r>
              <a:rPr lang="ja-JP" altLang="en-US" sz="2400" dirty="0"/>
              <a:t>も同時に含まれています。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複雑なプログラムの中で使用する場合は特に気を付けましょう。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26846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 まとめ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03351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動的メモリ管理を使わなくても固定長配列でゲームは作れますが、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無駄をなくして節約する考え方</a:t>
            </a:r>
            <a:r>
              <a:rPr lang="ja-JP" altLang="en-US" sz="2400" dirty="0"/>
              <a:t>はゲームプログラミングには必要です。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はじめは難しいですが、ゲーム制作には積極的に取り入れていき、</a:t>
            </a:r>
            <a:endParaRPr lang="en-US" altLang="ja-JP" sz="2400" dirty="0"/>
          </a:p>
          <a:p>
            <a:r>
              <a:rPr lang="ja-JP" altLang="en-US" sz="2400" dirty="0"/>
              <a:t>制作を通じて使いこなせるようになりましょう。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またメモリリークは、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積み重なるとアプリを強制終了させる</a:t>
            </a:r>
            <a:r>
              <a:rPr lang="ja-JP" altLang="en-US" sz="2400" dirty="0"/>
              <a:t>ほど、大きな</a:t>
            </a:r>
            <a:r>
              <a:rPr lang="ja-JP" altLang="en-US" sz="2400" b="1" dirty="0">
                <a:solidFill>
                  <a:srgbClr val="FF0000"/>
                </a:solidFill>
              </a:rPr>
              <a:t>リスク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稀に市販のゲームで遊んでいるときに発生する、</a:t>
            </a:r>
            <a:endParaRPr lang="en-US" altLang="ja-JP" sz="2400" dirty="0"/>
          </a:p>
          <a:p>
            <a:r>
              <a:rPr lang="ja-JP" altLang="en-US" sz="2400" dirty="0"/>
              <a:t>強制終了する不具合もメモリリークの可能性が高いです。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en-US" altLang="ja-JP" sz="2400" b="1" dirty="0">
                <a:solidFill>
                  <a:srgbClr val="0070C0"/>
                </a:solidFill>
              </a:rPr>
              <a:t>free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を忘れないように書くことから心がけましょう。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3644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660</Words>
  <Application>Microsoft Office PowerPoint</Application>
  <PresentationFormat>ワイド画面</PresentationFormat>
  <Paragraphs>89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106</cp:revision>
  <dcterms:created xsi:type="dcterms:W3CDTF">2024-08-27T02:15:54Z</dcterms:created>
  <dcterms:modified xsi:type="dcterms:W3CDTF">2026-05-13T03:18:08Z</dcterms:modified>
</cp:coreProperties>
</file>