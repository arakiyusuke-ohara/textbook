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37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スタイル (中間)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2026/3/3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関数ポインタ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1064906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普段何気なくプログラムを実行していますが、</a:t>
            </a:r>
            <a:endParaRPr lang="en-US" altLang="ja-JP" sz="2400" dirty="0"/>
          </a:p>
          <a:p>
            <a:r>
              <a:rPr lang="ja-JP" altLang="en-US" sz="2400" dirty="0"/>
              <a:t>プログラムを実行すると、メモリが以下の領域に分かれるようになります。</a:t>
            </a:r>
            <a:endParaRPr lang="en-US" altLang="ja-JP" sz="2400" dirty="0"/>
          </a:p>
        </p:txBody>
      </p:sp>
      <p:graphicFrame>
        <p:nvGraphicFramePr>
          <p:cNvPr id="5" name="表 5">
            <a:extLst>
              <a:ext uri="{FF2B5EF4-FFF2-40B4-BE49-F238E27FC236}">
                <a16:creationId xmlns:a16="http://schemas.microsoft.com/office/drawing/2014/main" id="{10B5829C-197E-4130-8FF3-1E8D30E7A9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7440395"/>
              </p:ext>
            </p:extLst>
          </p:nvPr>
        </p:nvGraphicFramePr>
        <p:xfrm>
          <a:off x="567542" y="2132590"/>
          <a:ext cx="10546476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73238">
                  <a:extLst>
                    <a:ext uri="{9D8B030D-6E8A-4147-A177-3AD203B41FA5}">
                      <a16:colId xmlns:a16="http://schemas.microsoft.com/office/drawing/2014/main" val="1234594591"/>
                    </a:ext>
                  </a:extLst>
                </a:gridCol>
                <a:gridCol w="5273238">
                  <a:extLst>
                    <a:ext uri="{9D8B030D-6E8A-4147-A177-3AD203B41FA5}">
                      <a16:colId xmlns:a16="http://schemas.microsoft.com/office/drawing/2014/main" val="40073462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領域名</a:t>
                      </a:r>
                      <a:endParaRPr kumimoji="1" lang="en-US" altLang="ja-JP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役割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6458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b="1" dirty="0">
                          <a:solidFill>
                            <a:srgbClr val="FF0000"/>
                          </a:solidFill>
                        </a:rPr>
                        <a:t>コード領域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b="1" dirty="0">
                          <a:solidFill>
                            <a:srgbClr val="FF0000"/>
                          </a:solidFill>
                        </a:rPr>
                        <a:t>関数や実際の処理が保存されている領域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17396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静的領域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static</a:t>
                      </a:r>
                      <a:r>
                        <a:rPr kumimoji="1" lang="ja-JP" altLang="en-US" dirty="0"/>
                        <a:t>やグローバル変数に使う領域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73993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ヒープ領域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動的に使用される領域（</a:t>
                      </a:r>
                      <a:r>
                        <a:rPr kumimoji="1" lang="en-US" altLang="ja-JP" dirty="0"/>
                        <a:t>malloc</a:t>
                      </a:r>
                      <a:r>
                        <a:rPr kumimoji="1" lang="ja-JP" altLang="en-US" dirty="0"/>
                        <a:t>など）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91079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スタック領域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ローカル変数に使う領域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4569612"/>
                  </a:ext>
                </a:extLst>
              </a:tr>
            </a:tbl>
          </a:graphicData>
        </a:graphic>
      </p:graphicFrame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8616F50C-B1C9-47E4-A708-C9301E8658F4}"/>
              </a:ext>
            </a:extLst>
          </p:cNvPr>
          <p:cNvSpPr txBox="1"/>
          <p:nvPr/>
        </p:nvSpPr>
        <p:spPr>
          <a:xfrm>
            <a:off x="567542" y="4099222"/>
            <a:ext cx="1157239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より本格的な制作には必要な知識ですが、</a:t>
            </a:r>
            <a:endParaRPr lang="en-US" altLang="ja-JP" sz="2400" dirty="0"/>
          </a:p>
          <a:p>
            <a:r>
              <a:rPr lang="ja-JP" altLang="en-US" sz="2400" dirty="0"/>
              <a:t>ここでは、</a:t>
            </a:r>
            <a:r>
              <a:rPr lang="ja-JP" altLang="en-US" sz="2400" b="1" dirty="0">
                <a:solidFill>
                  <a:srgbClr val="FF0000"/>
                </a:solidFill>
              </a:rPr>
              <a:t>作った関数もメモリのどこかにある</a:t>
            </a:r>
            <a:r>
              <a:rPr lang="ja-JP" altLang="en-US" sz="2400" dirty="0"/>
              <a:t>ということを知っておきましょう。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0443181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関数ポインタ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11782393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メモリにあるということは、ポインタ変数で参照することができます。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en-US" altLang="ja-JP" sz="2400" dirty="0"/>
              <a:t>C</a:t>
            </a:r>
            <a:r>
              <a:rPr lang="ja-JP" altLang="en-US" sz="2400" dirty="0"/>
              <a:t>言語には関数のアドレスを変数に格納する、</a:t>
            </a:r>
            <a:r>
              <a:rPr lang="ja-JP" altLang="en-US" sz="2400" b="1" dirty="0">
                <a:solidFill>
                  <a:srgbClr val="FF0000"/>
                </a:solidFill>
              </a:rPr>
              <a:t>関数ポインタ</a:t>
            </a:r>
            <a:r>
              <a:rPr lang="ja-JP" altLang="en-US" sz="2400" dirty="0"/>
              <a:t>という機能があります。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■関数ポインタの宣言の書き方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b="1" dirty="0">
                <a:solidFill>
                  <a:srgbClr val="0070C0"/>
                </a:solidFill>
              </a:rPr>
              <a:t>格納する関数の戻り値の型</a:t>
            </a:r>
            <a:r>
              <a:rPr lang="ja-JP" altLang="en-US" sz="2400" dirty="0"/>
              <a:t> </a:t>
            </a:r>
            <a:r>
              <a:rPr lang="en-US" altLang="ja-JP" sz="2400" dirty="0"/>
              <a:t>(*</a:t>
            </a:r>
            <a:r>
              <a:rPr lang="ja-JP" altLang="en-US" sz="2400" dirty="0"/>
              <a:t>変数名</a:t>
            </a:r>
            <a:r>
              <a:rPr lang="en-US" altLang="ja-JP" sz="2400" dirty="0"/>
              <a:t>)(</a:t>
            </a:r>
            <a:r>
              <a:rPr lang="ja-JP" altLang="en-US" sz="2400" b="1" dirty="0">
                <a:solidFill>
                  <a:srgbClr val="0070C0"/>
                </a:solidFill>
              </a:rPr>
              <a:t>格納する関数の引数</a:t>
            </a:r>
            <a:r>
              <a:rPr lang="en-US" altLang="ja-JP" sz="2400" dirty="0"/>
              <a:t>)</a:t>
            </a:r>
          </a:p>
          <a:p>
            <a:endParaRPr lang="en-US" altLang="ja-JP" sz="2400" dirty="0"/>
          </a:p>
          <a:p>
            <a:r>
              <a:rPr lang="ja-JP" altLang="en-US" sz="2400" dirty="0"/>
              <a:t>簡単なプログラムで練習します。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5233114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関数ポインタ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34179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Main.cpp</a:t>
            </a:r>
            <a:r>
              <a:rPr lang="ja-JP" altLang="en-US" sz="2400" dirty="0"/>
              <a:t>を書きます。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76479ED2-4C37-4BD3-8938-07AEAB4896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494" y="1763258"/>
            <a:ext cx="5734974" cy="4679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3291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関数ポインタ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1033648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関数ポインタ変数は</a:t>
            </a:r>
            <a:r>
              <a:rPr lang="en-US" altLang="ja-JP" sz="2400" b="1" dirty="0" err="1"/>
              <a:t>culc</a:t>
            </a:r>
            <a:r>
              <a:rPr lang="ja-JP" altLang="en-US" sz="2400" dirty="0"/>
              <a:t>になります。</a:t>
            </a:r>
            <a:endParaRPr lang="en-US" altLang="ja-JP" sz="2400" dirty="0"/>
          </a:p>
          <a:p>
            <a:r>
              <a:rPr lang="en-US" altLang="ja-JP" sz="2400" b="1" dirty="0" err="1"/>
              <a:t>culc</a:t>
            </a:r>
            <a:r>
              <a:rPr lang="ja-JP" altLang="en-US" sz="2400" dirty="0"/>
              <a:t>は</a:t>
            </a:r>
            <a:r>
              <a:rPr lang="ja-JP" altLang="en-US" sz="2400" b="1" dirty="0">
                <a:solidFill>
                  <a:srgbClr val="0070C0"/>
                </a:solidFill>
              </a:rPr>
              <a:t>戻り値が</a:t>
            </a:r>
            <a:r>
              <a:rPr lang="en-US" altLang="ja-JP" sz="2400" b="1" dirty="0">
                <a:solidFill>
                  <a:srgbClr val="0070C0"/>
                </a:solidFill>
              </a:rPr>
              <a:t>int</a:t>
            </a:r>
            <a:r>
              <a:rPr lang="ja-JP" altLang="en-US" sz="2400" b="1" dirty="0">
                <a:solidFill>
                  <a:srgbClr val="0070C0"/>
                </a:solidFill>
              </a:rPr>
              <a:t>型</a:t>
            </a:r>
            <a:r>
              <a:rPr lang="ja-JP" altLang="en-US" sz="2400" dirty="0"/>
              <a:t>、</a:t>
            </a:r>
            <a:r>
              <a:rPr lang="ja-JP" altLang="en-US" sz="2400" b="1" dirty="0">
                <a:solidFill>
                  <a:srgbClr val="0070C0"/>
                </a:solidFill>
              </a:rPr>
              <a:t>引数が</a:t>
            </a:r>
            <a:r>
              <a:rPr lang="en-US" altLang="ja-JP" sz="2400" b="1" dirty="0">
                <a:solidFill>
                  <a:srgbClr val="0070C0"/>
                </a:solidFill>
              </a:rPr>
              <a:t>int</a:t>
            </a:r>
            <a:r>
              <a:rPr lang="ja-JP" altLang="en-US" sz="2400" b="1" dirty="0">
                <a:solidFill>
                  <a:srgbClr val="0070C0"/>
                </a:solidFill>
              </a:rPr>
              <a:t>型</a:t>
            </a:r>
            <a:r>
              <a:rPr lang="en-US" altLang="ja-JP" sz="2400" b="1" dirty="0">
                <a:solidFill>
                  <a:srgbClr val="0070C0"/>
                </a:solidFill>
              </a:rPr>
              <a:t>2</a:t>
            </a:r>
            <a:r>
              <a:rPr lang="ja-JP" altLang="en-US" sz="2400" b="1" dirty="0">
                <a:solidFill>
                  <a:srgbClr val="0070C0"/>
                </a:solidFill>
              </a:rPr>
              <a:t>つ</a:t>
            </a:r>
            <a:r>
              <a:rPr lang="ja-JP" altLang="en-US" sz="2400" dirty="0"/>
              <a:t>の関数を参照することができます。</a:t>
            </a:r>
            <a:endParaRPr lang="en-US" altLang="ja-JP" sz="24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D36D29EF-8A53-4F73-B28C-B6120255D1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32589"/>
            <a:ext cx="8025323" cy="1059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7696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関数ポインタ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94179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関数ポインタ変数が参照している関数を呼び出すことができます。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3ED2DE10-7BEB-4256-BE27-E3B6C3C61B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1763257"/>
            <a:ext cx="7156837" cy="819075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EB11E3D1-6DB7-4E44-B0DF-D5B0739F73B6}"/>
              </a:ext>
            </a:extLst>
          </p:cNvPr>
          <p:cNvSpPr txBox="1"/>
          <p:nvPr/>
        </p:nvSpPr>
        <p:spPr>
          <a:xfrm>
            <a:off x="567542" y="2694763"/>
            <a:ext cx="1060097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 err="1"/>
              <a:t>culc</a:t>
            </a:r>
            <a:r>
              <a:rPr lang="ja-JP" altLang="en-US" sz="2400" dirty="0"/>
              <a:t>は</a:t>
            </a:r>
            <a:r>
              <a:rPr lang="en-US" altLang="ja-JP" sz="2400" b="1" dirty="0">
                <a:solidFill>
                  <a:srgbClr val="0070C0"/>
                </a:solidFill>
              </a:rPr>
              <a:t>Add</a:t>
            </a:r>
            <a:r>
              <a:rPr lang="ja-JP" altLang="en-US" sz="2400" b="1" dirty="0">
                <a:solidFill>
                  <a:srgbClr val="0070C0"/>
                </a:solidFill>
              </a:rPr>
              <a:t>関数</a:t>
            </a:r>
            <a:r>
              <a:rPr lang="ja-JP" altLang="en-US" sz="2400" dirty="0"/>
              <a:t>を参照しているので、ここでは</a:t>
            </a:r>
            <a:r>
              <a:rPr lang="en-US" altLang="ja-JP" sz="2400" b="1" dirty="0">
                <a:solidFill>
                  <a:srgbClr val="0070C0"/>
                </a:solidFill>
              </a:rPr>
              <a:t>Add</a:t>
            </a:r>
            <a:r>
              <a:rPr lang="ja-JP" altLang="en-US" sz="2400" b="1" dirty="0">
                <a:solidFill>
                  <a:srgbClr val="0070C0"/>
                </a:solidFill>
              </a:rPr>
              <a:t>関数</a:t>
            </a:r>
            <a:r>
              <a:rPr lang="ja-JP" altLang="en-US" sz="2400" dirty="0"/>
              <a:t>が呼び出されます。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en-US" altLang="ja-JP" sz="2400" b="1" dirty="0">
                <a:solidFill>
                  <a:srgbClr val="FF0000"/>
                </a:solidFill>
              </a:rPr>
              <a:t>※Add</a:t>
            </a:r>
            <a:r>
              <a:rPr lang="ja-JP" altLang="en-US" sz="2400" b="1" dirty="0">
                <a:solidFill>
                  <a:srgbClr val="FF0000"/>
                </a:solidFill>
              </a:rPr>
              <a:t>以外の関数を参照させて実行してみましょう</a:t>
            </a:r>
            <a:endParaRPr lang="en-US" altLang="ja-JP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35277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関数ポインタ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787908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宣言された型に当てはまらない関数は参照できません。</a:t>
            </a:r>
            <a:endParaRPr lang="en-US" altLang="ja-JP" sz="2400" dirty="0"/>
          </a:p>
          <a:p>
            <a:r>
              <a:rPr lang="ja-JP" altLang="en-US" sz="2400" dirty="0"/>
              <a:t>計画的に使用する必要があります。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4FA1A124-31A4-4814-946C-D5617A3CE9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32590"/>
            <a:ext cx="4910391" cy="4130725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9C558E02-1A76-4303-BED2-AC7CF37E7BE2}"/>
              </a:ext>
            </a:extLst>
          </p:cNvPr>
          <p:cNvSpPr txBox="1"/>
          <p:nvPr/>
        </p:nvSpPr>
        <p:spPr>
          <a:xfrm>
            <a:off x="5992651" y="6032482"/>
            <a:ext cx="54168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続いて別のケースを練習してみます。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0934964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関数ポインタ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80345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別プロジェクトを作り</a:t>
            </a:r>
            <a:r>
              <a:rPr lang="en-US" altLang="ja-JP" sz="2400" b="1" dirty="0">
                <a:solidFill>
                  <a:srgbClr val="FF0000"/>
                </a:solidFill>
              </a:rPr>
              <a:t>Main.cpp</a:t>
            </a:r>
            <a:r>
              <a:rPr lang="ja-JP" altLang="en-US" sz="2400" dirty="0"/>
              <a:t>を書きます。（その１）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086DA339-34D0-4680-BEF5-D968FC4CBE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763257"/>
            <a:ext cx="4786885" cy="434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973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関数ポインタ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49568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Main.cpp</a:t>
            </a:r>
            <a:r>
              <a:rPr lang="ja-JP" altLang="en-US" sz="2400" dirty="0"/>
              <a:t>を書きます。（その２）</a:t>
            </a:r>
            <a:endParaRPr lang="en-US" altLang="ja-JP" sz="24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12CA20E9-EF22-44FB-9256-C6CA5A4DDD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763258"/>
            <a:ext cx="3838201" cy="4942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9798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関数ポインタ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1003191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関数ポインタは</a:t>
            </a:r>
            <a:r>
              <a:rPr lang="ja-JP" altLang="en-US" sz="2400" b="1" dirty="0">
                <a:solidFill>
                  <a:srgbClr val="FF0000"/>
                </a:solidFill>
              </a:rPr>
              <a:t>配列</a:t>
            </a:r>
            <a:r>
              <a:rPr lang="ja-JP" altLang="en-US" sz="2400" dirty="0"/>
              <a:t>にすることもできます。</a:t>
            </a:r>
            <a:endParaRPr lang="en-US" altLang="ja-JP" sz="2400" dirty="0"/>
          </a:p>
          <a:p>
            <a:r>
              <a:rPr lang="ja-JP" altLang="en-US" sz="2400" dirty="0"/>
              <a:t>関数ポインタ配列は</a:t>
            </a:r>
            <a:r>
              <a:rPr lang="ja-JP" altLang="en-US" sz="2400" b="1" dirty="0">
                <a:solidFill>
                  <a:srgbClr val="FF0000"/>
                </a:solidFill>
              </a:rPr>
              <a:t>長い</a:t>
            </a:r>
            <a:r>
              <a:rPr lang="en-US" altLang="ja-JP" sz="2400" b="1" dirty="0">
                <a:solidFill>
                  <a:srgbClr val="FF0000"/>
                </a:solidFill>
              </a:rPr>
              <a:t>switch</a:t>
            </a:r>
            <a:r>
              <a:rPr lang="ja-JP" altLang="en-US" sz="2400" b="1" dirty="0">
                <a:solidFill>
                  <a:srgbClr val="FF0000"/>
                </a:solidFill>
              </a:rPr>
              <a:t>分の短縮</a:t>
            </a:r>
            <a:r>
              <a:rPr lang="ja-JP" altLang="en-US" sz="2400" dirty="0"/>
              <a:t>に使われることが多いです。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3B15D68E-F79F-49F9-ACD7-9C241722ED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2132590"/>
            <a:ext cx="6872211" cy="830997"/>
          </a:xfrm>
          <a:prstGeom prst="rect">
            <a:avLst/>
          </a:prstGeom>
        </p:spPr>
      </p:pic>
      <p:graphicFrame>
        <p:nvGraphicFramePr>
          <p:cNvPr id="5" name="表 5">
            <a:extLst>
              <a:ext uri="{FF2B5EF4-FFF2-40B4-BE49-F238E27FC236}">
                <a16:creationId xmlns:a16="http://schemas.microsoft.com/office/drawing/2014/main" id="{774F740B-FAF8-42A9-9488-6864A65698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6956845"/>
              </p:ext>
            </p:extLst>
          </p:nvPr>
        </p:nvGraphicFramePr>
        <p:xfrm>
          <a:off x="1611417" y="3939827"/>
          <a:ext cx="347133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7833">
                  <a:extLst>
                    <a:ext uri="{9D8B030D-6E8A-4147-A177-3AD203B41FA5}">
                      <a16:colId xmlns:a16="http://schemas.microsoft.com/office/drawing/2014/main" val="4018563762"/>
                    </a:ext>
                  </a:extLst>
                </a:gridCol>
                <a:gridCol w="867833">
                  <a:extLst>
                    <a:ext uri="{9D8B030D-6E8A-4147-A177-3AD203B41FA5}">
                      <a16:colId xmlns:a16="http://schemas.microsoft.com/office/drawing/2014/main" val="1719156595"/>
                    </a:ext>
                  </a:extLst>
                </a:gridCol>
                <a:gridCol w="867833">
                  <a:extLst>
                    <a:ext uri="{9D8B030D-6E8A-4147-A177-3AD203B41FA5}">
                      <a16:colId xmlns:a16="http://schemas.microsoft.com/office/drawing/2014/main" val="1792580912"/>
                    </a:ext>
                  </a:extLst>
                </a:gridCol>
                <a:gridCol w="867833">
                  <a:extLst>
                    <a:ext uri="{9D8B030D-6E8A-4147-A177-3AD203B41FA5}">
                      <a16:colId xmlns:a16="http://schemas.microsoft.com/office/drawing/2014/main" val="25108921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Init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Step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Draw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Fin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1796389"/>
                  </a:ext>
                </a:extLst>
              </a:tr>
            </a:tbl>
          </a:graphicData>
        </a:graphic>
      </p:graphicFrame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00E5C18E-ACBA-4776-9F16-0F1E05994905}"/>
              </a:ext>
            </a:extLst>
          </p:cNvPr>
          <p:cNvSpPr txBox="1"/>
          <p:nvPr/>
        </p:nvSpPr>
        <p:spPr>
          <a:xfrm>
            <a:off x="567541" y="3894414"/>
            <a:ext cx="10438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 err="1"/>
              <a:t>func</a:t>
            </a:r>
            <a:r>
              <a:rPr lang="en-US" altLang="ja-JP" sz="2400" dirty="0"/>
              <a:t>[]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ADB24E5-307E-4874-AD9C-F796D5CDF2F4}"/>
              </a:ext>
            </a:extLst>
          </p:cNvPr>
          <p:cNvSpPr txBox="1"/>
          <p:nvPr/>
        </p:nvSpPr>
        <p:spPr>
          <a:xfrm>
            <a:off x="1732865" y="4356079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[0]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E893FF0B-8C85-45B7-B149-B652923C98C6}"/>
              </a:ext>
            </a:extLst>
          </p:cNvPr>
          <p:cNvSpPr txBox="1"/>
          <p:nvPr/>
        </p:nvSpPr>
        <p:spPr>
          <a:xfrm>
            <a:off x="2630331" y="4356079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[1]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DBE96957-8F10-4763-A932-7878EFD52083}"/>
              </a:ext>
            </a:extLst>
          </p:cNvPr>
          <p:cNvSpPr txBox="1"/>
          <p:nvPr/>
        </p:nvSpPr>
        <p:spPr>
          <a:xfrm>
            <a:off x="3527797" y="4356079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[2]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696FA753-FF35-4EEB-988A-8BE68B9C2A53}"/>
              </a:ext>
            </a:extLst>
          </p:cNvPr>
          <p:cNvSpPr txBox="1"/>
          <p:nvPr/>
        </p:nvSpPr>
        <p:spPr>
          <a:xfrm>
            <a:off x="4403543" y="4356079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[3]</a:t>
            </a:r>
          </a:p>
        </p:txBody>
      </p:sp>
    </p:spTree>
    <p:extLst>
      <p:ext uri="{BB962C8B-B14F-4D97-AF65-F5344CB8AC3E}">
        <p14:creationId xmlns:p14="http://schemas.microsoft.com/office/powerpoint/2010/main" val="30525448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関数ポインタ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72635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添え字に対応した関数を呼び出すことができます。</a:t>
            </a:r>
            <a:endParaRPr lang="en-US" altLang="ja-JP" sz="2400" dirty="0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D2714BBE-87A6-42F5-BA66-D7E0C91DAE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763258"/>
            <a:ext cx="5477778" cy="929142"/>
          </a:xfrm>
          <a:prstGeom prst="rect">
            <a:avLst/>
          </a:prstGeom>
        </p:spPr>
      </p:pic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CF27DC6D-2F85-422C-9957-15CCA778D0C9}"/>
              </a:ext>
            </a:extLst>
          </p:cNvPr>
          <p:cNvGrpSpPr/>
          <p:nvPr/>
        </p:nvGrpSpPr>
        <p:grpSpPr>
          <a:xfrm>
            <a:off x="567542" y="3429000"/>
            <a:ext cx="11624458" cy="3197286"/>
            <a:chOff x="567542" y="2804832"/>
            <a:chExt cx="11624458" cy="3197286"/>
          </a:xfrm>
        </p:grpSpPr>
        <p:pic>
          <p:nvPicPr>
            <p:cNvPr id="14" name="図 13">
              <a:extLst>
                <a:ext uri="{FF2B5EF4-FFF2-40B4-BE49-F238E27FC236}">
                  <a16:creationId xmlns:a16="http://schemas.microsoft.com/office/drawing/2014/main" id="{16A446D2-A37D-42E6-8BCE-45E46CB9E1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67542" y="2804832"/>
              <a:ext cx="4048690" cy="1991003"/>
            </a:xfrm>
            <a:prstGeom prst="rect">
              <a:avLst/>
            </a:prstGeom>
          </p:spPr>
        </p:pic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id="{78F6494F-7922-432B-B7AA-3FCFAC724E68}"/>
                </a:ext>
              </a:extLst>
            </p:cNvPr>
            <p:cNvSpPr/>
            <p:nvPr/>
          </p:nvSpPr>
          <p:spPr>
            <a:xfrm>
              <a:off x="3598333" y="4460735"/>
              <a:ext cx="719667" cy="352034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id="{3FF135D2-F25E-4543-BCAC-9BACEFE49DC9}"/>
                </a:ext>
              </a:extLst>
            </p:cNvPr>
            <p:cNvSpPr txBox="1"/>
            <p:nvPr/>
          </p:nvSpPr>
          <p:spPr>
            <a:xfrm>
              <a:off x="4318000" y="4405919"/>
              <a:ext cx="541686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sz="2400" dirty="0"/>
                <a:t>ここを書き換えて動作確認してみよう</a:t>
              </a:r>
              <a:endParaRPr lang="en-US" altLang="ja-JP" sz="2400" dirty="0"/>
            </a:p>
          </p:txBody>
        </p:sp>
        <p:sp>
          <p:nvSpPr>
            <p:cNvPr id="17" name="テキスト ボックス 16">
              <a:extLst>
                <a:ext uri="{FF2B5EF4-FFF2-40B4-BE49-F238E27FC236}">
                  <a16:creationId xmlns:a16="http://schemas.microsoft.com/office/drawing/2014/main" id="{D554CD13-962A-49D5-881C-4AF1C23AE554}"/>
                </a:ext>
              </a:extLst>
            </p:cNvPr>
            <p:cNvSpPr txBox="1"/>
            <p:nvPr/>
          </p:nvSpPr>
          <p:spPr>
            <a:xfrm>
              <a:off x="7390686" y="5540453"/>
              <a:ext cx="480131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sz="2400" dirty="0"/>
                <a:t>続いて別のケースを練習します。</a:t>
              </a:r>
              <a:endParaRPr lang="en-US" altLang="ja-JP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16665320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関数ポインタ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80345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別プロジェクトを作り</a:t>
            </a:r>
            <a:r>
              <a:rPr lang="en-US" altLang="ja-JP" sz="2400" b="1" dirty="0">
                <a:solidFill>
                  <a:srgbClr val="FF0000"/>
                </a:solidFill>
              </a:rPr>
              <a:t>Main.cpp</a:t>
            </a:r>
            <a:r>
              <a:rPr lang="ja-JP" altLang="en-US" sz="2400" dirty="0"/>
              <a:t>を書きます。（その１）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3DDC889E-1C0D-494D-8E69-014F22E63A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1763257"/>
            <a:ext cx="8747993" cy="3757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17279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関数ポインタ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49568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Main.cpp</a:t>
            </a:r>
            <a:r>
              <a:rPr lang="ja-JP" altLang="en-US" sz="2400" dirty="0"/>
              <a:t>を書きます。（その２）</a:t>
            </a:r>
            <a:endParaRPr lang="en-US" altLang="ja-JP" sz="24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5F0DED95-D0BF-4EAA-B199-F0C8B71F8B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763258"/>
            <a:ext cx="6511939" cy="4602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7983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関数ポインタ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941796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構造体のメンバに関数ポインタを用意して、</a:t>
            </a:r>
            <a:endParaRPr lang="en-US" altLang="ja-JP" sz="2400" dirty="0"/>
          </a:p>
          <a:p>
            <a:r>
              <a:rPr lang="ja-JP" altLang="en-US" sz="2400" dirty="0"/>
              <a:t>何かのタイミングで呼び出すような仕組みを作ることができます。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2F52B02E-1F4A-4CEE-9E37-DB3901A7EC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2132589"/>
            <a:ext cx="4914611" cy="2117677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48080C5-628C-4C97-A86E-A62EA09BD8E6}"/>
              </a:ext>
            </a:extLst>
          </p:cNvPr>
          <p:cNvSpPr/>
          <p:nvPr/>
        </p:nvSpPr>
        <p:spPr>
          <a:xfrm>
            <a:off x="567541" y="3772570"/>
            <a:ext cx="4914611" cy="35203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896098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関数ポインタ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75713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ゲームではよく当たり判定の処理などで使われます。</a:t>
            </a:r>
            <a:endParaRPr lang="en-US" altLang="ja-JP" sz="2400" dirty="0"/>
          </a:p>
          <a:p>
            <a:r>
              <a:rPr lang="ja-JP" altLang="en-US" sz="2400" dirty="0"/>
              <a:t>このような処理を</a:t>
            </a:r>
            <a:r>
              <a:rPr lang="ja-JP" altLang="en-US" sz="2400" b="1" dirty="0">
                <a:solidFill>
                  <a:srgbClr val="FF0000"/>
                </a:solidFill>
              </a:rPr>
              <a:t>イベント処理</a:t>
            </a:r>
            <a:r>
              <a:rPr lang="ja-JP" altLang="en-US" sz="2400" dirty="0"/>
              <a:t>と呼びます。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EA95E0A3-22F9-4499-987F-63CCEE28F2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32589"/>
            <a:ext cx="10165684" cy="2295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1264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関数ポインタ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941796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関数ポインタは</a:t>
            </a:r>
            <a:r>
              <a:rPr lang="ja-JP" altLang="en-US" sz="2400" b="1" dirty="0">
                <a:solidFill>
                  <a:srgbClr val="FF0000"/>
                </a:solidFill>
              </a:rPr>
              <a:t>コードの質を上げるために重要なテクニック</a:t>
            </a:r>
            <a:r>
              <a:rPr lang="ja-JP" altLang="en-US" sz="2400" dirty="0"/>
              <a:t>です。</a:t>
            </a:r>
            <a:endParaRPr lang="en-US" altLang="ja-JP" sz="2400" dirty="0"/>
          </a:p>
          <a:p>
            <a:r>
              <a:rPr lang="ja-JP" altLang="en-US" sz="2400" dirty="0"/>
              <a:t>まずは今日練習した内容をゲーム制作にも活かしていきましょう。</a:t>
            </a:r>
            <a:endParaRPr lang="en-US" altLang="ja-JP" sz="2400" dirty="0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65741596-3742-4C16-8E72-338FA270E4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2331176"/>
            <a:ext cx="6872211" cy="83099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BB9BFF09-1383-4306-83EE-5E39245AAD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541" y="3690104"/>
            <a:ext cx="10165684" cy="229547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07661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1004</TotalTime>
  <Words>497</Words>
  <Application>Microsoft Office PowerPoint</Application>
  <PresentationFormat>ワイド画面</PresentationFormat>
  <Paragraphs>70</Paragraphs>
  <Slides>15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15</vt:i4>
      </vt:variant>
    </vt:vector>
  </HeadingPairs>
  <TitlesOfParts>
    <vt:vector size="19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107</cp:revision>
  <dcterms:created xsi:type="dcterms:W3CDTF">2024-08-27T02:15:54Z</dcterms:created>
  <dcterms:modified xsi:type="dcterms:W3CDTF">2026-03-03T05:27:31Z</dcterms:modified>
</cp:coreProperties>
</file>