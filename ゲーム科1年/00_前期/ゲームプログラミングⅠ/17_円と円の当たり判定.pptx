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6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円と円の当たり判定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プレイヤーと水色エネミーの当たり判定を取ります。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1FE478E-616B-43C5-9D2B-3E914E0939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429657" cy="4341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円と円の当たり判定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円と円の当たり判定に必要な情報は以下の通りです。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■必要な情報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dirty="0"/>
              <a:t>・円</a:t>
            </a:r>
            <a:r>
              <a:rPr kumimoji="1" lang="en-US" altLang="ja-JP" sz="2400" dirty="0"/>
              <a:t>A</a:t>
            </a:r>
            <a:r>
              <a:rPr kumimoji="1" lang="ja-JP" altLang="en-US" sz="2400" dirty="0"/>
              <a:t>の中心座標</a:t>
            </a:r>
            <a:endParaRPr kumimoji="1" lang="en-US" altLang="ja-JP" sz="2400" dirty="0"/>
          </a:p>
          <a:p>
            <a:r>
              <a:rPr lang="ja-JP" altLang="en-US" sz="2400" dirty="0"/>
              <a:t>・円</a:t>
            </a:r>
            <a:r>
              <a:rPr lang="en-US" altLang="ja-JP" sz="2400" dirty="0"/>
              <a:t>A</a:t>
            </a:r>
            <a:r>
              <a:rPr lang="ja-JP" altLang="en-US" sz="2400" dirty="0"/>
              <a:t>の半径</a:t>
            </a:r>
            <a:endParaRPr lang="en-US" altLang="ja-JP" sz="2400" dirty="0"/>
          </a:p>
          <a:p>
            <a:r>
              <a:rPr kumimoji="1" lang="ja-JP" altLang="en-US" sz="2400" dirty="0"/>
              <a:t>・点</a:t>
            </a:r>
            <a:r>
              <a:rPr kumimoji="1" lang="en-US" altLang="ja-JP" sz="2400" dirty="0"/>
              <a:t>A</a:t>
            </a:r>
            <a:r>
              <a:rPr kumimoji="1" lang="ja-JP" altLang="en-US" sz="2400" dirty="0"/>
              <a:t>の座標</a:t>
            </a:r>
            <a:endParaRPr kumimoji="1" lang="en-US" altLang="ja-JP" sz="2400" dirty="0"/>
          </a:p>
          <a:p>
            <a:r>
              <a:rPr kumimoji="1" lang="ja-JP" altLang="en-US" sz="2400" dirty="0"/>
              <a:t>・円</a:t>
            </a:r>
            <a:r>
              <a:rPr kumimoji="1" lang="en-US" altLang="ja-JP" sz="2400" dirty="0"/>
              <a:t>B</a:t>
            </a:r>
            <a:r>
              <a:rPr kumimoji="1" lang="ja-JP" altLang="en-US" sz="2400" dirty="0"/>
              <a:t>の中心座標</a:t>
            </a:r>
            <a:endParaRPr kumimoji="1" lang="en-US" altLang="ja-JP" sz="2400" dirty="0"/>
          </a:p>
          <a:p>
            <a:r>
              <a:rPr lang="ja-JP" altLang="en-US" sz="2400" dirty="0"/>
              <a:t>・円</a:t>
            </a:r>
            <a:r>
              <a:rPr lang="en-US" altLang="ja-JP" sz="2400" dirty="0"/>
              <a:t>B</a:t>
            </a:r>
            <a:r>
              <a:rPr lang="ja-JP" altLang="en-US" sz="2400" dirty="0"/>
              <a:t>の半径</a:t>
            </a:r>
            <a:endParaRPr lang="en-US" altLang="ja-JP" sz="2400" dirty="0"/>
          </a:p>
          <a:p>
            <a:r>
              <a:rPr kumimoji="1" lang="ja-JP" altLang="en-US" sz="2400" dirty="0"/>
              <a:t>・点</a:t>
            </a:r>
            <a:r>
              <a:rPr lang="en-US" altLang="ja-JP" sz="2400" dirty="0"/>
              <a:t>B</a:t>
            </a:r>
            <a:r>
              <a:rPr kumimoji="1" lang="ja-JP" altLang="en-US" sz="2400" dirty="0"/>
              <a:t>の座標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左上ではなく中心座標ということに気をつけましょう。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6121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円と円の当たり判定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5790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Collision.h</a:t>
            </a:r>
            <a:r>
              <a:rPr lang="ja-JP" altLang="en-US" sz="2400" dirty="0"/>
              <a:t>に当たり判定の関数を追加します。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FF81280-7868-4605-AD7D-1A4A08E76A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3"/>
            <a:ext cx="11154559" cy="375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62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円と円の当たり判定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069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Collision.cpp</a:t>
            </a:r>
            <a:r>
              <a:rPr lang="ja-JP" altLang="en-US" sz="2400" dirty="0"/>
              <a:t>を実装していきます。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88F2B5C-C606-4D37-AD00-6F6905924A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868809" cy="3414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987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円と円の当たり判定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円と円の当たり判定は、</a:t>
            </a:r>
            <a:r>
              <a:rPr lang="ja-JP" altLang="en-US" sz="2400" b="1" dirty="0">
                <a:solidFill>
                  <a:srgbClr val="FF0000"/>
                </a:solidFill>
              </a:rPr>
              <a:t>円の中心間の距離</a:t>
            </a:r>
            <a:r>
              <a:rPr lang="ja-JP" altLang="en-US" sz="2400" dirty="0"/>
              <a:t>を計算します。</a:t>
            </a:r>
            <a:endParaRPr lang="en-US" altLang="ja-JP" sz="2400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C47C739E-5A3F-4CD1-9AC3-33CDA6512563}"/>
              </a:ext>
            </a:extLst>
          </p:cNvPr>
          <p:cNvSpPr/>
          <p:nvPr/>
        </p:nvSpPr>
        <p:spPr>
          <a:xfrm>
            <a:off x="5092700" y="3251200"/>
            <a:ext cx="3403600" cy="3149600"/>
          </a:xfrm>
          <a:prstGeom prst="ellipse">
            <a:avLst/>
          </a:prstGeom>
          <a:noFill/>
          <a:ln w="127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F0C1266C-83CA-4FE0-AD7C-03012A6CDDCC}"/>
              </a:ext>
            </a:extLst>
          </p:cNvPr>
          <p:cNvCxnSpPr>
            <a:cxnSpLocks/>
          </p:cNvCxnSpPr>
          <p:nvPr/>
        </p:nvCxnSpPr>
        <p:spPr>
          <a:xfrm>
            <a:off x="4229100" y="2552277"/>
            <a:ext cx="2565400" cy="2184823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楕円 6">
            <a:extLst>
              <a:ext uri="{FF2B5EF4-FFF2-40B4-BE49-F238E27FC236}">
                <a16:creationId xmlns:a16="http://schemas.microsoft.com/office/drawing/2014/main" id="{75AB0ABD-3DA1-4DDF-A6B2-D862C9A61670}"/>
              </a:ext>
            </a:extLst>
          </p:cNvPr>
          <p:cNvSpPr/>
          <p:nvPr/>
        </p:nvSpPr>
        <p:spPr>
          <a:xfrm>
            <a:off x="3600450" y="1898227"/>
            <a:ext cx="1257300" cy="1308100"/>
          </a:xfrm>
          <a:prstGeom prst="ellipse">
            <a:avLst/>
          </a:prstGeom>
          <a:noFill/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1254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円が当たっていないときは、距離が２つの円の半径の合計よりも長くなります。</a:t>
            </a:r>
            <a:endParaRPr lang="en-US" altLang="ja-JP" sz="2400" dirty="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04202A8A-EEA0-4C6C-B386-861182B3B9A9}"/>
              </a:ext>
            </a:extLst>
          </p:cNvPr>
          <p:cNvGrpSpPr/>
          <p:nvPr/>
        </p:nvGrpSpPr>
        <p:grpSpPr>
          <a:xfrm>
            <a:off x="567542" y="1863473"/>
            <a:ext cx="4895850" cy="4502573"/>
            <a:chOff x="3600450" y="1898227"/>
            <a:chExt cx="4895850" cy="4502573"/>
          </a:xfrm>
        </p:grpSpPr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FC7C1480-A291-42B6-B4E9-3E10623BBF00}"/>
                </a:ext>
              </a:extLst>
            </p:cNvPr>
            <p:cNvSpPr/>
            <p:nvPr/>
          </p:nvSpPr>
          <p:spPr>
            <a:xfrm>
              <a:off x="5092700" y="3251200"/>
              <a:ext cx="3403600" cy="3149600"/>
            </a:xfrm>
            <a:prstGeom prst="ellipse">
              <a:avLst/>
            </a:prstGeom>
            <a:noFill/>
            <a:ln w="127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4ECF2D55-2671-4F1B-99D1-0DEDF33527D5}"/>
                </a:ext>
              </a:extLst>
            </p:cNvPr>
            <p:cNvCxnSpPr>
              <a:cxnSpLocks/>
            </p:cNvCxnSpPr>
            <p:nvPr/>
          </p:nvCxnSpPr>
          <p:spPr>
            <a:xfrm>
              <a:off x="4229100" y="2552277"/>
              <a:ext cx="2565400" cy="2184823"/>
            </a:xfrm>
            <a:prstGeom prst="straightConnector1">
              <a:avLst/>
            </a:prstGeom>
            <a:ln w="762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楕円 11">
              <a:extLst>
                <a:ext uri="{FF2B5EF4-FFF2-40B4-BE49-F238E27FC236}">
                  <a16:creationId xmlns:a16="http://schemas.microsoft.com/office/drawing/2014/main" id="{5577DB98-30FD-4658-928E-D847503303DF}"/>
                </a:ext>
              </a:extLst>
            </p:cNvPr>
            <p:cNvSpPr/>
            <p:nvPr/>
          </p:nvSpPr>
          <p:spPr>
            <a:xfrm>
              <a:off x="3600450" y="1898227"/>
              <a:ext cx="1257300" cy="1308100"/>
            </a:xfrm>
            <a:prstGeom prst="ellipse">
              <a:avLst/>
            </a:prstGeom>
            <a:noFill/>
            <a:ln w="127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1A383E7E-BFAD-4924-B235-20CEB26EAE0D}"/>
                </a:ext>
              </a:extLst>
            </p:cNvPr>
            <p:cNvCxnSpPr>
              <a:cxnSpLocks/>
            </p:cNvCxnSpPr>
            <p:nvPr/>
          </p:nvCxnSpPr>
          <p:spPr>
            <a:xfrm>
              <a:off x="5591146" y="3712448"/>
              <a:ext cx="1203354" cy="102465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84B12E65-C582-486F-A65D-A38A62A01201}"/>
                </a:ext>
              </a:extLst>
            </p:cNvPr>
            <p:cNvSpPr txBox="1"/>
            <p:nvPr/>
          </p:nvSpPr>
          <p:spPr>
            <a:xfrm>
              <a:off x="4413777" y="2352443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b="1" dirty="0">
                  <a:solidFill>
                    <a:schemeClr val="accent6">
                      <a:lumMod val="75000"/>
                    </a:schemeClr>
                  </a:solidFill>
                </a:rPr>
                <a:t>半径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E31AC031-9E87-4283-B1CD-BD12C439169D}"/>
                </a:ext>
              </a:extLst>
            </p:cNvPr>
            <p:cNvCxnSpPr>
              <a:cxnSpLocks/>
            </p:cNvCxnSpPr>
            <p:nvPr/>
          </p:nvCxnSpPr>
          <p:spPr>
            <a:xfrm>
              <a:off x="4229100" y="2551325"/>
              <a:ext cx="504825" cy="430107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70ADA859-E218-4405-9F30-E6CF4033B946}"/>
                </a:ext>
              </a:extLst>
            </p:cNvPr>
            <p:cNvSpPr txBox="1"/>
            <p:nvPr/>
          </p:nvSpPr>
          <p:spPr>
            <a:xfrm>
              <a:off x="6192823" y="3826748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b="1" dirty="0">
                  <a:solidFill>
                    <a:srgbClr val="0070C0"/>
                  </a:solidFill>
                </a:rPr>
                <a:t>半径</a:t>
              </a:r>
              <a:endParaRPr lang="en-US" altLang="ja-JP" sz="2400" b="1" dirty="0">
                <a:solidFill>
                  <a:srgbClr val="0070C0"/>
                </a:solidFill>
              </a:endParaRPr>
            </a:p>
          </p:txBody>
        </p:sp>
      </p:grp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1786EE8-6FAA-4FA8-8890-5097066BEA62}"/>
              </a:ext>
            </a:extLst>
          </p:cNvPr>
          <p:cNvSpPr txBox="1"/>
          <p:nvPr/>
        </p:nvSpPr>
        <p:spPr>
          <a:xfrm>
            <a:off x="5863442" y="2086856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矢印の長さ</a:t>
            </a:r>
            <a:endParaRPr lang="en-US" altLang="ja-JP" sz="2400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648A68AB-B190-4992-85B8-63200DE2121E}"/>
              </a:ext>
            </a:extLst>
          </p:cNvPr>
          <p:cNvCxnSpPr>
            <a:cxnSpLocks/>
          </p:cNvCxnSpPr>
          <p:nvPr/>
        </p:nvCxnSpPr>
        <p:spPr>
          <a:xfrm>
            <a:off x="5961838" y="2585282"/>
            <a:ext cx="2565400" cy="2184823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9F5C3A52-E6FD-4AC7-A2AD-39EA3C95B385}"/>
              </a:ext>
            </a:extLst>
          </p:cNvPr>
          <p:cNvCxnSpPr>
            <a:cxnSpLocks/>
          </p:cNvCxnSpPr>
          <p:nvPr/>
        </p:nvCxnSpPr>
        <p:spPr>
          <a:xfrm>
            <a:off x="6221295" y="2503143"/>
            <a:ext cx="504825" cy="430107"/>
          </a:xfrm>
          <a:prstGeom prst="straightConnector1">
            <a:avLst/>
          </a:prstGeom>
          <a:ln w="76200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69E935AD-9CE5-4206-929B-87B6C38FF2E6}"/>
              </a:ext>
            </a:extLst>
          </p:cNvPr>
          <p:cNvCxnSpPr>
            <a:cxnSpLocks/>
          </p:cNvCxnSpPr>
          <p:nvPr/>
        </p:nvCxnSpPr>
        <p:spPr>
          <a:xfrm>
            <a:off x="6725216" y="2943383"/>
            <a:ext cx="1203354" cy="1024652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7E405CA-F025-46B9-A6D2-9014A2D8C2AA}"/>
              </a:ext>
            </a:extLst>
          </p:cNvPr>
          <p:cNvSpPr txBox="1"/>
          <p:nvPr/>
        </p:nvSpPr>
        <p:spPr>
          <a:xfrm>
            <a:off x="6096000" y="5180302"/>
            <a:ext cx="38779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赤矢印（中心間の距離）が</a:t>
            </a:r>
            <a:endParaRPr lang="en-US" altLang="ja-JP" sz="2400" b="1" dirty="0"/>
          </a:p>
          <a:p>
            <a:r>
              <a:rPr lang="ja-JP" altLang="en-US" sz="2400" b="1" dirty="0"/>
              <a:t>長いので当たってない</a:t>
            </a:r>
            <a:endParaRPr lang="en-US" altLang="ja-JP" sz="2400" b="1" dirty="0"/>
          </a:p>
        </p:txBody>
      </p:sp>
    </p:spTree>
    <p:extLst>
      <p:ext uri="{BB962C8B-B14F-4D97-AF65-F5344CB8AC3E}">
        <p14:creationId xmlns:p14="http://schemas.microsoft.com/office/powerpoint/2010/main" val="1718951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円が当たっていれば、半径の合計より短くなります。</a:t>
            </a:r>
            <a:endParaRPr lang="en-US" altLang="ja-JP" sz="2400" dirty="0"/>
          </a:p>
          <a:p>
            <a:r>
              <a:rPr lang="ja-JP" altLang="en-US" sz="2400" dirty="0"/>
              <a:t>このように、</a:t>
            </a:r>
            <a:r>
              <a:rPr lang="ja-JP" altLang="en-US" sz="2400" b="1" dirty="0">
                <a:solidFill>
                  <a:srgbClr val="FF0000"/>
                </a:solidFill>
              </a:rPr>
              <a:t>中心間の距離と半径の長さ</a:t>
            </a:r>
            <a:r>
              <a:rPr lang="ja-JP" altLang="en-US" sz="2400" dirty="0"/>
              <a:t>で判定します。</a:t>
            </a:r>
            <a:endParaRPr lang="en-US" altLang="ja-JP" sz="2400" dirty="0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AE46B6C-6F5F-4A00-9EC0-DBD2DA4DD2B5}"/>
              </a:ext>
            </a:extLst>
          </p:cNvPr>
          <p:cNvGrpSpPr/>
          <p:nvPr/>
        </p:nvGrpSpPr>
        <p:grpSpPr>
          <a:xfrm>
            <a:off x="819677" y="2317689"/>
            <a:ext cx="4082523" cy="4048357"/>
            <a:chOff x="4413777" y="2352443"/>
            <a:chExt cx="4082523" cy="4048357"/>
          </a:xfrm>
        </p:grpSpPr>
        <p:sp>
          <p:nvSpPr>
            <p:cNvPr id="13" name="楕円 12">
              <a:extLst>
                <a:ext uri="{FF2B5EF4-FFF2-40B4-BE49-F238E27FC236}">
                  <a16:creationId xmlns:a16="http://schemas.microsoft.com/office/drawing/2014/main" id="{6A1F1636-31FE-4EA1-B0DC-222118FEFADD}"/>
                </a:ext>
              </a:extLst>
            </p:cNvPr>
            <p:cNvSpPr/>
            <p:nvPr/>
          </p:nvSpPr>
          <p:spPr>
            <a:xfrm>
              <a:off x="5092700" y="3251200"/>
              <a:ext cx="3403600" cy="3149600"/>
            </a:xfrm>
            <a:prstGeom prst="ellipse">
              <a:avLst/>
            </a:prstGeom>
            <a:noFill/>
            <a:ln w="127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9D7B27CF-1E51-4707-8B28-854000D63A93}"/>
                </a:ext>
              </a:extLst>
            </p:cNvPr>
            <p:cNvCxnSpPr>
              <a:cxnSpLocks/>
            </p:cNvCxnSpPr>
            <p:nvPr/>
          </p:nvCxnSpPr>
          <p:spPr>
            <a:xfrm>
              <a:off x="5437391" y="3557402"/>
              <a:ext cx="1357109" cy="1179698"/>
            </a:xfrm>
            <a:prstGeom prst="straightConnector1">
              <a:avLst/>
            </a:prstGeom>
            <a:ln w="76200">
              <a:solidFill>
                <a:srgbClr val="FF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楕円 14">
              <a:extLst>
                <a:ext uri="{FF2B5EF4-FFF2-40B4-BE49-F238E27FC236}">
                  <a16:creationId xmlns:a16="http://schemas.microsoft.com/office/drawing/2014/main" id="{A89B685A-4B5F-4470-BAE1-1DE7889F37B4}"/>
                </a:ext>
              </a:extLst>
            </p:cNvPr>
            <p:cNvSpPr/>
            <p:nvPr/>
          </p:nvSpPr>
          <p:spPr>
            <a:xfrm>
              <a:off x="4813886" y="2852552"/>
              <a:ext cx="1257300" cy="1308100"/>
            </a:xfrm>
            <a:prstGeom prst="ellipse">
              <a:avLst/>
            </a:prstGeom>
            <a:noFill/>
            <a:ln w="127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1937433E-FF39-4602-937A-88EBB80A268F}"/>
                </a:ext>
              </a:extLst>
            </p:cNvPr>
            <p:cNvCxnSpPr>
              <a:cxnSpLocks/>
              <a:stCxn id="13" idx="1"/>
            </p:cNvCxnSpPr>
            <p:nvPr/>
          </p:nvCxnSpPr>
          <p:spPr>
            <a:xfrm>
              <a:off x="5591146" y="3712448"/>
              <a:ext cx="1203354" cy="1024652"/>
            </a:xfrm>
            <a:prstGeom prst="straightConnector1">
              <a:avLst/>
            </a:prstGeom>
            <a:ln w="3810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34707D8A-3912-4E47-AE2B-173615AC944C}"/>
                </a:ext>
              </a:extLst>
            </p:cNvPr>
            <p:cNvSpPr txBox="1"/>
            <p:nvPr/>
          </p:nvSpPr>
          <p:spPr>
            <a:xfrm>
              <a:off x="4413777" y="2352443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b="1" dirty="0">
                  <a:solidFill>
                    <a:schemeClr val="accent6">
                      <a:lumMod val="75000"/>
                    </a:schemeClr>
                  </a:solidFill>
                </a:rPr>
                <a:t>半径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14001272-D731-44AF-8EFE-5979940CE10B}"/>
                </a:ext>
              </a:extLst>
            </p:cNvPr>
            <p:cNvCxnSpPr>
              <a:cxnSpLocks/>
              <a:endCxn id="15" idx="5"/>
            </p:cNvCxnSpPr>
            <p:nvPr/>
          </p:nvCxnSpPr>
          <p:spPr>
            <a:xfrm>
              <a:off x="5437391" y="3557402"/>
              <a:ext cx="449668" cy="411683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90D72F9D-9AC0-455C-877A-3989C9F11C45}"/>
                </a:ext>
              </a:extLst>
            </p:cNvPr>
            <p:cNvSpPr txBox="1"/>
            <p:nvPr/>
          </p:nvSpPr>
          <p:spPr>
            <a:xfrm>
              <a:off x="6192823" y="3826748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sz="2400" b="1" dirty="0">
                  <a:solidFill>
                    <a:srgbClr val="0070C0"/>
                  </a:solidFill>
                </a:rPr>
                <a:t>半径</a:t>
              </a:r>
              <a:endParaRPr lang="en-US" altLang="ja-JP" sz="2400" b="1" dirty="0">
                <a:solidFill>
                  <a:srgbClr val="0070C0"/>
                </a:solidFill>
              </a:endParaRPr>
            </a:p>
          </p:txBody>
        </p:sp>
      </p:grp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2A258F43-0A60-41F7-8C11-90B4660AB0FB}"/>
              </a:ext>
            </a:extLst>
          </p:cNvPr>
          <p:cNvSpPr txBox="1"/>
          <p:nvPr/>
        </p:nvSpPr>
        <p:spPr>
          <a:xfrm>
            <a:off x="5892470" y="2412253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矢印の長さ</a:t>
            </a:r>
            <a:endParaRPr lang="en-US" altLang="ja-JP" sz="2400" b="1" dirty="0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37F530D-ED30-49AA-9D30-B4B2596C84B3}"/>
              </a:ext>
            </a:extLst>
          </p:cNvPr>
          <p:cNvSpPr txBox="1"/>
          <p:nvPr/>
        </p:nvSpPr>
        <p:spPr>
          <a:xfrm>
            <a:off x="6096000" y="5093216"/>
            <a:ext cx="38779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/>
              <a:t>赤矢印（中心間の距離）が</a:t>
            </a:r>
            <a:endParaRPr lang="en-US" altLang="ja-JP" sz="2400" b="1" dirty="0"/>
          </a:p>
          <a:p>
            <a:r>
              <a:rPr lang="ja-JP" altLang="en-US" sz="2400" b="1" dirty="0"/>
              <a:t>短いので当たっている</a:t>
            </a:r>
            <a:endParaRPr lang="en-US" altLang="ja-JP" sz="2400" b="1" dirty="0"/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DA6D8282-F5E9-4A05-A649-4D8DFEB9A78D}"/>
              </a:ext>
            </a:extLst>
          </p:cNvPr>
          <p:cNvCxnSpPr>
            <a:cxnSpLocks/>
          </p:cNvCxnSpPr>
          <p:nvPr/>
        </p:nvCxnSpPr>
        <p:spPr>
          <a:xfrm>
            <a:off x="5961721" y="2951994"/>
            <a:ext cx="1357109" cy="1179698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FBE882A4-75AF-4DAE-91A7-3B99B9C02B85}"/>
              </a:ext>
            </a:extLst>
          </p:cNvPr>
          <p:cNvCxnSpPr>
            <a:cxnSpLocks/>
          </p:cNvCxnSpPr>
          <p:nvPr/>
        </p:nvCxnSpPr>
        <p:spPr>
          <a:xfrm>
            <a:off x="6290777" y="2835331"/>
            <a:ext cx="449668" cy="411683"/>
          </a:xfrm>
          <a:prstGeom prst="straightConnector1">
            <a:avLst/>
          </a:prstGeom>
          <a:ln w="76200"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A9319441-7084-4899-8097-E0A321FD8F29}"/>
              </a:ext>
            </a:extLst>
          </p:cNvPr>
          <p:cNvCxnSpPr>
            <a:cxnSpLocks/>
          </p:cNvCxnSpPr>
          <p:nvPr/>
        </p:nvCxnSpPr>
        <p:spPr>
          <a:xfrm>
            <a:off x="6717153" y="3242071"/>
            <a:ext cx="1203354" cy="1024652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24635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28784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まずは円</a:t>
            </a:r>
            <a:r>
              <a:rPr lang="en-US" altLang="ja-JP" sz="2400" dirty="0"/>
              <a:t>A</a:t>
            </a:r>
            <a:r>
              <a:rPr lang="ja-JP" altLang="en-US" sz="2400" dirty="0"/>
              <a:t>の中心から円</a:t>
            </a:r>
            <a:r>
              <a:rPr lang="en-US" altLang="ja-JP" sz="2400" dirty="0"/>
              <a:t>B</a:t>
            </a:r>
            <a:r>
              <a:rPr lang="ja-JP" altLang="en-US" sz="2400" dirty="0"/>
              <a:t>の中心までの距離を計算します。</a:t>
            </a:r>
            <a:endParaRPr lang="en-US" altLang="ja-JP" sz="2400" dirty="0"/>
          </a:p>
          <a:p>
            <a:r>
              <a:rPr lang="ja-JP" altLang="en-US" sz="2400" dirty="0"/>
              <a:t>距離の求め方は以下の通りです。（前回とほぼ同じ）</a:t>
            </a:r>
            <a:endParaRPr lang="en-US" altLang="ja-JP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4364E1C6-5DEB-44F8-A1AE-D113AF732753}"/>
                  </a:ext>
                </a:extLst>
              </p:cNvPr>
              <p:cNvSpPr txBox="1"/>
              <p:nvPr/>
            </p:nvSpPr>
            <p:spPr>
              <a:xfrm>
                <a:off x="567542" y="2187126"/>
                <a:ext cx="5358711" cy="396890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kumimoji="1" lang="en-US" altLang="ja-JP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ja-JP" sz="2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r>
                                <a:rPr lang="en-US" altLang="ja-JP" sz="2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kumimoji="1" lang="en-US" altLang="ja-JP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ja-JP" sz="28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 −</m:t>
                              </m:r>
                              <m:r>
                                <a:rPr lang="en-US" altLang="ja-JP" sz="28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altLang="ja-JP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kumimoji="1" lang="en-US" altLang="ja-JP" sz="2800" dirty="0"/>
              </a:p>
              <a:p>
                <a:endParaRPr kumimoji="1" lang="en-US" altLang="ja-JP" sz="2800" dirty="0"/>
              </a:p>
              <a:p>
                <a:r>
                  <a:rPr lang="ja-JP" altLang="en-US" sz="2800" dirty="0"/>
                  <a:t>ｄ・・・求める距離</a:t>
                </a:r>
                <a:endParaRPr lang="en-US" altLang="ja-JP" sz="2800" dirty="0"/>
              </a:p>
              <a:p>
                <a:r>
                  <a:rPr lang="en-US" altLang="ja-JP" sz="2800" dirty="0"/>
                  <a:t>a</a:t>
                </a:r>
                <a:r>
                  <a:rPr kumimoji="1" lang="en-US" altLang="ja-JP" sz="2800" dirty="0"/>
                  <a:t>x</a:t>
                </a:r>
                <a:r>
                  <a:rPr kumimoji="1" lang="ja-JP" altLang="en-US" sz="2800" dirty="0"/>
                  <a:t>・・・円</a:t>
                </a:r>
                <a:r>
                  <a:rPr kumimoji="1" lang="en-US" altLang="ja-JP" sz="2800" dirty="0"/>
                  <a:t>A</a:t>
                </a:r>
                <a:r>
                  <a:rPr kumimoji="1" lang="ja-JP" altLang="en-US" sz="2800" dirty="0"/>
                  <a:t>の中心座標（Ｘ）</a:t>
                </a:r>
                <a:endParaRPr kumimoji="1" lang="en-US" altLang="ja-JP" sz="2800" dirty="0"/>
              </a:p>
              <a:p>
                <a:r>
                  <a:rPr lang="en-US" altLang="ja-JP" sz="2800" dirty="0"/>
                  <a:t>ay</a:t>
                </a:r>
                <a:r>
                  <a:rPr lang="ja-JP" altLang="en-US" sz="2800" dirty="0"/>
                  <a:t>・・・円</a:t>
                </a:r>
                <a:r>
                  <a:rPr lang="en-US" altLang="ja-JP" sz="2800" dirty="0"/>
                  <a:t>A</a:t>
                </a:r>
                <a:r>
                  <a:rPr lang="ja-JP" altLang="en-US" sz="2800" dirty="0"/>
                  <a:t>の中心座標（Ｙ）</a:t>
                </a:r>
                <a:endParaRPr lang="en-US" altLang="ja-JP" sz="2800" dirty="0"/>
              </a:p>
              <a:p>
                <a:r>
                  <a:rPr lang="en-US" altLang="ja-JP" sz="2800" dirty="0"/>
                  <a:t>b</a:t>
                </a:r>
                <a:r>
                  <a:rPr kumimoji="1" lang="en-US" altLang="ja-JP" sz="2800" dirty="0"/>
                  <a:t>x</a:t>
                </a:r>
                <a:r>
                  <a:rPr kumimoji="1" lang="ja-JP" altLang="en-US" sz="2800" dirty="0"/>
                  <a:t>・・・円</a:t>
                </a:r>
                <a:r>
                  <a:rPr kumimoji="1" lang="en-US" altLang="ja-JP" sz="2800" dirty="0"/>
                  <a:t>B</a:t>
                </a:r>
                <a:r>
                  <a:rPr kumimoji="1" lang="ja-JP" altLang="en-US" sz="2800" dirty="0"/>
                  <a:t>の中心座標（Ｘ）</a:t>
                </a:r>
                <a:endParaRPr kumimoji="1" lang="en-US" altLang="ja-JP" sz="2800" dirty="0"/>
              </a:p>
              <a:p>
                <a:r>
                  <a:rPr lang="en-US" altLang="ja-JP" sz="2800" dirty="0"/>
                  <a:t>by</a:t>
                </a:r>
                <a:r>
                  <a:rPr lang="ja-JP" altLang="en-US" sz="2800" dirty="0"/>
                  <a:t>・・・円</a:t>
                </a:r>
                <a:r>
                  <a:rPr lang="en-US" altLang="ja-JP" sz="2800" dirty="0"/>
                  <a:t>B</a:t>
                </a:r>
                <a:r>
                  <a:rPr lang="ja-JP" altLang="en-US" sz="2800" dirty="0"/>
                  <a:t>の中心座標（Ｙ）</a:t>
                </a:r>
                <a:endParaRPr lang="en-US" altLang="ja-JP" sz="2800" dirty="0"/>
              </a:p>
              <a:p>
                <a:endParaRPr kumimoji="1" lang="en-US" altLang="ja-JP" sz="2800" dirty="0"/>
              </a:p>
              <a:p>
                <a:r>
                  <a:rPr lang="ja-JP" altLang="en-US" sz="2800" dirty="0"/>
                  <a:t>詳しくはゲーム数学の時間で。。。</a:t>
                </a:r>
                <a:endParaRPr kumimoji="1" lang="en-US" altLang="ja-JP" sz="2800" dirty="0"/>
              </a:p>
            </p:txBody>
          </p:sp>
        </mc:Choice>
        <mc:Fallback>
          <p:sp>
            <p:nvSpPr>
              <p:cNvPr id="3" name="テキスト ボックス 2">
                <a:extLst>
                  <a:ext uri="{FF2B5EF4-FFF2-40B4-BE49-F238E27FC236}">
                    <a16:creationId xmlns:a16="http://schemas.microsoft.com/office/drawing/2014/main" id="{4364E1C6-5DEB-44F8-A1AE-D113AF732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2187126"/>
                <a:ext cx="5358711" cy="3968907"/>
              </a:xfrm>
              <a:prstGeom prst="rect">
                <a:avLst/>
              </a:prstGeom>
              <a:blipFill>
                <a:blip r:embed="rId2"/>
                <a:stretch>
                  <a:fillRect l="-3982" r="-10239" b="-445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54768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1308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ルートの計算は</a:t>
            </a:r>
            <a:r>
              <a:rPr lang="en-US" altLang="ja-JP" sz="2400" dirty="0" err="1"/>
              <a:t>Math.h</a:t>
            </a:r>
            <a:r>
              <a:rPr lang="ja-JP" altLang="en-US" sz="2400" dirty="0"/>
              <a:t>の</a:t>
            </a:r>
            <a:r>
              <a:rPr lang="en-US" altLang="ja-JP" sz="2400" b="1" dirty="0" err="1">
                <a:solidFill>
                  <a:srgbClr val="FF0000"/>
                </a:solidFill>
              </a:rPr>
              <a:t>sqrtf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を使います。</a:t>
            </a:r>
            <a:endParaRPr lang="en-US" altLang="ja-JP" sz="2400" dirty="0"/>
          </a:p>
          <a:p>
            <a:r>
              <a:rPr lang="ja-JP" altLang="en-US" sz="2400" dirty="0"/>
              <a:t>引数で渡した値のルートの値が返却されます。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■使い方</a:t>
            </a:r>
            <a:endParaRPr lang="en-US" altLang="ja-JP" sz="2400" dirty="0"/>
          </a:p>
          <a:p>
            <a:r>
              <a:rPr lang="ja-JP" altLang="en-US" sz="2400" dirty="0"/>
              <a:t>ルート　＝　</a:t>
            </a:r>
            <a:r>
              <a:rPr lang="en-US" altLang="ja-JP" sz="2400" dirty="0" err="1"/>
              <a:t>sqrtf</a:t>
            </a:r>
            <a:r>
              <a:rPr lang="en-US" altLang="ja-JP" sz="2400" dirty="0"/>
              <a:t>(</a:t>
            </a:r>
            <a:r>
              <a:rPr lang="ja-JP" altLang="en-US" sz="2400" dirty="0"/>
              <a:t>ルートを求めたい値</a:t>
            </a:r>
            <a:r>
              <a:rPr lang="en-US" altLang="ja-JP" sz="2400" dirty="0"/>
              <a:t>);</a:t>
            </a:r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en-US" altLang="ja-JP" sz="2400" b="1" dirty="0" err="1">
                <a:solidFill>
                  <a:srgbClr val="FF0000"/>
                </a:solidFill>
              </a:rPr>
              <a:t>Math.h</a:t>
            </a:r>
            <a:r>
              <a:rPr lang="ja-JP" altLang="en-US" sz="2400" b="1" dirty="0">
                <a:solidFill>
                  <a:srgbClr val="FF0000"/>
                </a:solidFill>
              </a:rPr>
              <a:t>をインクルードすること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9430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以上を踏まえてコメントの下に処理を書いてみましょう。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03CF6C95-A676-4159-B199-5DFF81449E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868809" cy="3414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165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円と点の当たり判定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判定ができたら当たり判定の関数で使ってみましょう。</a:t>
            </a:r>
            <a:endParaRPr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6617A76F-3964-4385-B445-E2D9E05E6F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9005669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580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482</TotalTime>
  <Words>428</Words>
  <Application>Microsoft Office PowerPoint</Application>
  <PresentationFormat>ワイド画面</PresentationFormat>
  <Paragraphs>58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33</cp:revision>
  <dcterms:created xsi:type="dcterms:W3CDTF">2024-08-27T02:15:54Z</dcterms:created>
  <dcterms:modified xsi:type="dcterms:W3CDTF">2024-09-30T00:48:23Z</dcterms:modified>
</cp:coreProperties>
</file>