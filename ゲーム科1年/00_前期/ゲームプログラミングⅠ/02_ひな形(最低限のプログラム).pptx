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0" r:id="rId3"/>
    <p:sldId id="261" r:id="rId4"/>
    <p:sldId id="262" r:id="rId5"/>
    <p:sldId id="263" r:id="rId6"/>
    <p:sldId id="264" r:id="rId7"/>
    <p:sldId id="265" r:id="rId8"/>
    <p:sldId id="272" r:id="rId9"/>
    <p:sldId id="266" r:id="rId10"/>
    <p:sldId id="267" r:id="rId11"/>
    <p:sldId id="268" r:id="rId12"/>
    <p:sldId id="269" r:id="rId13"/>
    <p:sldId id="270" r:id="rId14"/>
    <p:sldId id="273" r:id="rId15"/>
    <p:sldId id="271" r:id="rId16"/>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7" d="100"/>
          <a:sy n="107" d="100"/>
        </p:scale>
        <p:origin x="6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2026/6/22</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051383" cy="584775"/>
          </a:xfrm>
          <a:prstGeom prst="rect">
            <a:avLst/>
          </a:prstGeom>
          <a:noFill/>
        </p:spPr>
        <p:txBody>
          <a:bodyPr wrap="none" rtlCol="0">
            <a:spAutoFit/>
          </a:bodyPr>
          <a:lstStyle/>
          <a:p>
            <a:r>
              <a:rPr kumimoji="1" lang="ja-JP" altLang="en-US" sz="3200" b="1" u="sng" dirty="0"/>
              <a:t>最低限のプログラム 練習</a:t>
            </a:r>
            <a:r>
              <a:rPr kumimoji="1" lang="en-US" altLang="ja-JP" sz="3200" b="1" u="sng" dirty="0"/>
              <a:t>1</a:t>
            </a:r>
            <a:endParaRPr kumimoji="1" lang="ja-JP" altLang="en-US" sz="3200" b="1" u="sng" dirty="0"/>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932527" cy="461665"/>
          </a:xfrm>
          <a:prstGeom prst="rect">
            <a:avLst/>
          </a:prstGeom>
          <a:noFill/>
        </p:spPr>
        <p:txBody>
          <a:bodyPr wrap="none" rtlCol="0">
            <a:spAutoFit/>
          </a:bodyPr>
          <a:lstStyle/>
          <a:p>
            <a:r>
              <a:rPr lang="ja-JP" altLang="en-US" sz="2400" dirty="0"/>
              <a:t>まずは</a:t>
            </a:r>
            <a:r>
              <a:rPr lang="en-US" altLang="ja-JP" sz="2400" dirty="0" err="1"/>
              <a:t>DxLib</a:t>
            </a:r>
            <a:r>
              <a:rPr lang="ja-JP" altLang="en-US" sz="2400" dirty="0"/>
              <a:t>のひな形となる最低限のプログラムを書いてみましょう。</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C981263C-D049-4B9E-8C72-007D9742BA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9410700" cy="4650156"/>
          </a:xfrm>
          <a:prstGeom prst="rect">
            <a:avLst/>
          </a:prstGeom>
        </p:spPr>
      </p:pic>
    </p:spTree>
    <p:extLst>
      <p:ext uri="{BB962C8B-B14F-4D97-AF65-F5344CB8AC3E}">
        <p14:creationId xmlns:p14="http://schemas.microsoft.com/office/powerpoint/2010/main" val="410028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461665"/>
          </a:xfrm>
          <a:prstGeom prst="rect">
            <a:avLst/>
          </a:prstGeom>
          <a:noFill/>
        </p:spPr>
        <p:txBody>
          <a:bodyPr wrap="none" rtlCol="0">
            <a:spAutoFit/>
          </a:bodyPr>
          <a:lstStyle/>
          <a:p>
            <a:r>
              <a:rPr kumimoji="1" lang="ja-JP" altLang="en-US" sz="2400" dirty="0"/>
              <a:t>ゲームプログラムのメイン関数はこのような書き方になります。</a:t>
            </a:r>
            <a:endParaRPr kumimoji="1" lang="en-US" altLang="ja-JP" sz="2400" dirty="0"/>
          </a:p>
        </p:txBody>
      </p:sp>
      <p:pic>
        <p:nvPicPr>
          <p:cNvPr id="5" name="図 4">
            <a:extLst>
              <a:ext uri="{FF2B5EF4-FFF2-40B4-BE49-F238E27FC236}">
                <a16:creationId xmlns:a16="http://schemas.microsoft.com/office/drawing/2014/main" id="{BCE16838-9853-4E9D-BCB7-3D5B0209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11277600" cy="487505"/>
          </a:xfrm>
          <a:prstGeom prst="rect">
            <a:avLst/>
          </a:prstGeom>
        </p:spPr>
      </p:pic>
      <p:sp>
        <p:nvSpPr>
          <p:cNvPr id="7" name="テキスト ボックス 6">
            <a:extLst>
              <a:ext uri="{FF2B5EF4-FFF2-40B4-BE49-F238E27FC236}">
                <a16:creationId xmlns:a16="http://schemas.microsoft.com/office/drawing/2014/main" id="{64CE8772-D885-4032-B16D-57324EC0DEFC}"/>
              </a:ext>
            </a:extLst>
          </p:cNvPr>
          <p:cNvSpPr txBox="1"/>
          <p:nvPr/>
        </p:nvSpPr>
        <p:spPr>
          <a:xfrm>
            <a:off x="567542" y="2816629"/>
            <a:ext cx="9417963" cy="1938992"/>
          </a:xfrm>
          <a:prstGeom prst="rect">
            <a:avLst/>
          </a:prstGeom>
          <a:noFill/>
        </p:spPr>
        <p:txBody>
          <a:bodyPr wrap="none" rtlCol="0">
            <a:spAutoFit/>
          </a:bodyPr>
          <a:lstStyle/>
          <a:p>
            <a:r>
              <a:rPr kumimoji="1" lang="en-US" altLang="ja-JP" sz="2400" dirty="0"/>
              <a:t>Windows</a:t>
            </a:r>
            <a:r>
              <a:rPr kumimoji="1" lang="ja-JP" altLang="en-US" sz="2400" dirty="0"/>
              <a:t>で動作するアプリケーションではこのように書きます。</a:t>
            </a:r>
            <a:endParaRPr kumimoji="1" lang="en-US" altLang="ja-JP" sz="2400" dirty="0"/>
          </a:p>
          <a:p>
            <a:r>
              <a:rPr lang="ja-JP" altLang="en-US" sz="2400" dirty="0"/>
              <a:t>４つの引数は実行と同時に、渡されるものですが、</a:t>
            </a:r>
            <a:endParaRPr lang="en-US" altLang="ja-JP" sz="2400" dirty="0"/>
          </a:p>
          <a:p>
            <a:r>
              <a:rPr kumimoji="1" lang="ja-JP" altLang="en-US" sz="2400" dirty="0"/>
              <a:t>あまり使用することはないので詳細は割愛します。</a:t>
            </a:r>
            <a:endParaRPr kumimoji="1" lang="en-US" altLang="ja-JP" sz="2400" dirty="0"/>
          </a:p>
          <a:p>
            <a:endParaRPr lang="en-US" altLang="ja-JP" sz="2400" dirty="0"/>
          </a:p>
          <a:p>
            <a:r>
              <a:rPr kumimoji="1" lang="ja-JP" altLang="en-US" sz="2400" b="1" dirty="0">
                <a:solidFill>
                  <a:srgbClr val="FF0000"/>
                </a:solidFill>
              </a:rPr>
              <a:t>プログラムのスタート地点</a:t>
            </a:r>
            <a:r>
              <a:rPr kumimoji="1" lang="ja-JP" altLang="en-US" sz="2400" dirty="0"/>
              <a:t>となりますので、覚えておきましょう。</a:t>
            </a:r>
            <a:endParaRPr kumimoji="1" lang="en-US" altLang="ja-JP" sz="2400" dirty="0"/>
          </a:p>
        </p:txBody>
      </p:sp>
    </p:spTree>
    <p:extLst>
      <p:ext uri="{BB962C8B-B14F-4D97-AF65-F5344CB8AC3E}">
        <p14:creationId xmlns:p14="http://schemas.microsoft.com/office/powerpoint/2010/main" val="5159090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085868" cy="461665"/>
          </a:xfrm>
          <a:prstGeom prst="rect">
            <a:avLst/>
          </a:prstGeom>
          <a:noFill/>
        </p:spPr>
        <p:txBody>
          <a:bodyPr wrap="none" rtlCol="0">
            <a:spAutoFit/>
          </a:bodyPr>
          <a:lstStyle/>
          <a:p>
            <a:r>
              <a:rPr kumimoji="1" lang="ja-JP" altLang="en-US" sz="2400" dirty="0"/>
              <a:t>プログラムが開始したら、まずは</a:t>
            </a:r>
            <a:r>
              <a:rPr kumimoji="1" lang="en-US" altLang="ja-JP" sz="2400" b="1" dirty="0" err="1">
                <a:solidFill>
                  <a:srgbClr val="FF0000"/>
                </a:solidFill>
              </a:rPr>
              <a:t>DxLib</a:t>
            </a:r>
            <a:r>
              <a:rPr kumimoji="1" lang="ja-JP" altLang="en-US" sz="2400" b="1" dirty="0">
                <a:solidFill>
                  <a:srgbClr val="FF0000"/>
                </a:solidFill>
              </a:rPr>
              <a:t>を初期化</a:t>
            </a:r>
            <a:r>
              <a:rPr kumimoji="1" lang="ja-JP" altLang="en-US" sz="2400" dirty="0"/>
              <a:t>します。</a:t>
            </a:r>
            <a:endParaRPr kumimoji="1" lang="en-US" altLang="ja-JP" sz="2400" dirty="0"/>
          </a:p>
        </p:txBody>
      </p:sp>
      <p:pic>
        <p:nvPicPr>
          <p:cNvPr id="3" name="図 2">
            <a:extLst>
              <a:ext uri="{FF2B5EF4-FFF2-40B4-BE49-F238E27FC236}">
                <a16:creationId xmlns:a16="http://schemas.microsoft.com/office/drawing/2014/main" id="{3C35D80A-2438-494A-A32F-C39C5BFEB2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6315956" cy="1086002"/>
          </a:xfrm>
          <a:prstGeom prst="rect">
            <a:avLst/>
          </a:prstGeom>
        </p:spPr>
      </p:pic>
      <p:sp>
        <p:nvSpPr>
          <p:cNvPr id="8" name="テキスト ボックス 7">
            <a:extLst>
              <a:ext uri="{FF2B5EF4-FFF2-40B4-BE49-F238E27FC236}">
                <a16:creationId xmlns:a16="http://schemas.microsoft.com/office/drawing/2014/main" id="{9B3BE044-B847-4336-9FA2-AAABA1CF64AE}"/>
              </a:ext>
            </a:extLst>
          </p:cNvPr>
          <p:cNvSpPr txBox="1"/>
          <p:nvPr/>
        </p:nvSpPr>
        <p:spPr>
          <a:xfrm>
            <a:off x="567542" y="3198167"/>
            <a:ext cx="7879080" cy="1938992"/>
          </a:xfrm>
          <a:prstGeom prst="rect">
            <a:avLst/>
          </a:prstGeom>
          <a:noFill/>
        </p:spPr>
        <p:txBody>
          <a:bodyPr wrap="none" rtlCol="0">
            <a:spAutoFit/>
          </a:bodyPr>
          <a:lstStyle/>
          <a:p>
            <a:r>
              <a:rPr kumimoji="1" lang="en-US" altLang="ja-JP" sz="2400" b="1" dirty="0" err="1">
                <a:solidFill>
                  <a:srgbClr val="FF0000"/>
                </a:solidFill>
              </a:rPr>
              <a:t>DxLib_Init</a:t>
            </a:r>
            <a:r>
              <a:rPr kumimoji="1" lang="ja-JP" altLang="en-US" sz="2400" b="1" dirty="0">
                <a:solidFill>
                  <a:srgbClr val="FF0000"/>
                </a:solidFill>
              </a:rPr>
              <a:t>関数</a:t>
            </a:r>
            <a:r>
              <a:rPr kumimoji="1" lang="ja-JP" altLang="en-US" sz="2400" dirty="0"/>
              <a:t>が初期化関数となります。</a:t>
            </a:r>
            <a:endParaRPr kumimoji="1" lang="en-US" altLang="ja-JP" sz="2400" dirty="0"/>
          </a:p>
          <a:p>
            <a:r>
              <a:rPr lang="ja-JP" altLang="en-US" sz="2400" dirty="0"/>
              <a:t>初期化に失敗するとー１が返却されるので、</a:t>
            </a:r>
            <a:endParaRPr lang="en-US" altLang="ja-JP" sz="2400" dirty="0"/>
          </a:p>
          <a:p>
            <a:r>
              <a:rPr kumimoji="1" lang="ja-JP" altLang="en-US" sz="2400" dirty="0"/>
              <a:t>失敗したらその時点で終了とプログラムされています。</a:t>
            </a:r>
            <a:endParaRPr kumimoji="1" lang="en-US" altLang="ja-JP" sz="2400" dirty="0"/>
          </a:p>
          <a:p>
            <a:endParaRPr lang="en-US" altLang="ja-JP" sz="2400" dirty="0"/>
          </a:p>
          <a:p>
            <a:r>
              <a:rPr kumimoji="1" lang="en-US" altLang="ja-JP" sz="2400" dirty="0"/>
              <a:t>※</a:t>
            </a:r>
            <a:r>
              <a:rPr kumimoji="1" lang="ja-JP" altLang="en-US" sz="2400" dirty="0"/>
              <a:t>よほどのことがない限り失敗しません</a:t>
            </a:r>
            <a:endParaRPr kumimoji="1" lang="en-US" altLang="ja-JP" sz="2400" dirty="0"/>
          </a:p>
        </p:txBody>
      </p:sp>
    </p:spTree>
    <p:extLst>
      <p:ext uri="{BB962C8B-B14F-4D97-AF65-F5344CB8AC3E}">
        <p14:creationId xmlns:p14="http://schemas.microsoft.com/office/powerpoint/2010/main" val="2910687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416868" cy="461665"/>
          </a:xfrm>
          <a:prstGeom prst="rect">
            <a:avLst/>
          </a:prstGeom>
          <a:noFill/>
        </p:spPr>
        <p:txBody>
          <a:bodyPr wrap="none" rtlCol="0">
            <a:spAutoFit/>
          </a:bodyPr>
          <a:lstStyle/>
          <a:p>
            <a:r>
              <a:rPr kumimoji="1" lang="ja-JP" altLang="en-US" sz="2400" dirty="0"/>
              <a:t>続いて描画先を裏画面に設定します。</a:t>
            </a:r>
            <a:endParaRPr kumimoji="1" lang="en-US" altLang="ja-JP" sz="2400" dirty="0"/>
          </a:p>
        </p:txBody>
      </p:sp>
      <p:sp>
        <p:nvSpPr>
          <p:cNvPr id="8" name="テキスト ボックス 7">
            <a:extLst>
              <a:ext uri="{FF2B5EF4-FFF2-40B4-BE49-F238E27FC236}">
                <a16:creationId xmlns:a16="http://schemas.microsoft.com/office/drawing/2014/main" id="{9B3BE044-B847-4336-9FA2-AAABA1CF64AE}"/>
              </a:ext>
            </a:extLst>
          </p:cNvPr>
          <p:cNvSpPr txBox="1"/>
          <p:nvPr/>
        </p:nvSpPr>
        <p:spPr>
          <a:xfrm>
            <a:off x="567542" y="3198167"/>
            <a:ext cx="5724644" cy="830997"/>
          </a:xfrm>
          <a:prstGeom prst="rect">
            <a:avLst/>
          </a:prstGeom>
          <a:noFill/>
        </p:spPr>
        <p:txBody>
          <a:bodyPr wrap="none" rtlCol="0">
            <a:spAutoFit/>
          </a:bodyPr>
          <a:lstStyle/>
          <a:p>
            <a:r>
              <a:rPr kumimoji="1" lang="ja-JP" altLang="en-US" sz="2400" dirty="0"/>
              <a:t>そもそも裏画面って何でしょう？</a:t>
            </a:r>
            <a:endParaRPr kumimoji="1" lang="en-US" altLang="ja-JP" sz="2400" dirty="0"/>
          </a:p>
          <a:p>
            <a:r>
              <a:rPr kumimoji="1" lang="ja-JP" altLang="en-US" sz="2400" dirty="0"/>
              <a:t>まずは</a:t>
            </a:r>
            <a:r>
              <a:rPr kumimoji="1" lang="ja-JP" altLang="en-US" sz="2400" b="1" dirty="0">
                <a:solidFill>
                  <a:srgbClr val="FF0000"/>
                </a:solidFill>
              </a:rPr>
              <a:t>画面</a:t>
            </a:r>
            <a:r>
              <a:rPr kumimoji="1" lang="ja-JP" altLang="en-US" sz="2400" dirty="0"/>
              <a:t>や</a:t>
            </a:r>
            <a:r>
              <a:rPr kumimoji="1" lang="ja-JP" altLang="en-US" sz="2400" b="1" dirty="0">
                <a:solidFill>
                  <a:srgbClr val="FF0000"/>
                </a:solidFill>
              </a:rPr>
              <a:t>描画</a:t>
            </a:r>
            <a:r>
              <a:rPr kumimoji="1" lang="ja-JP" altLang="en-US" sz="2400" dirty="0"/>
              <a:t>について解説します。</a:t>
            </a:r>
            <a:endParaRPr kumimoji="1" lang="en-US" altLang="ja-JP" sz="2400" dirty="0"/>
          </a:p>
        </p:txBody>
      </p:sp>
      <p:pic>
        <p:nvPicPr>
          <p:cNvPr id="5" name="図 4">
            <a:extLst>
              <a:ext uri="{FF2B5EF4-FFF2-40B4-BE49-F238E27FC236}">
                <a16:creationId xmlns:a16="http://schemas.microsoft.com/office/drawing/2014/main" id="{594D5484-8359-4F32-9848-2F16BA87C0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4674052" cy="779008"/>
          </a:xfrm>
          <a:prstGeom prst="rect">
            <a:avLst/>
          </a:prstGeom>
        </p:spPr>
      </p:pic>
    </p:spTree>
    <p:extLst>
      <p:ext uri="{BB962C8B-B14F-4D97-AF65-F5344CB8AC3E}">
        <p14:creationId xmlns:p14="http://schemas.microsoft.com/office/powerpoint/2010/main" val="200888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1938992"/>
          </a:xfrm>
          <a:prstGeom prst="rect">
            <a:avLst/>
          </a:prstGeom>
          <a:noFill/>
        </p:spPr>
        <p:txBody>
          <a:bodyPr wrap="none" rtlCol="0">
            <a:spAutoFit/>
          </a:bodyPr>
          <a:lstStyle/>
          <a:p>
            <a:r>
              <a:rPr kumimoji="1" lang="ja-JP" altLang="en-US" sz="2400" dirty="0"/>
              <a:t>ここでいう画面というのは、</a:t>
            </a:r>
            <a:r>
              <a:rPr kumimoji="1" lang="ja-JP" altLang="en-US" sz="2400" b="1" dirty="0">
                <a:solidFill>
                  <a:srgbClr val="FF0000"/>
                </a:solidFill>
              </a:rPr>
              <a:t>ディスプレイに映すための板</a:t>
            </a:r>
            <a:r>
              <a:rPr kumimoji="1" lang="ja-JP" altLang="en-US" sz="2400" dirty="0"/>
              <a:t>を表しています。</a:t>
            </a:r>
            <a:endParaRPr kumimoji="1" lang="en-US" altLang="ja-JP" sz="2400" dirty="0"/>
          </a:p>
          <a:p>
            <a:endParaRPr kumimoji="1" lang="en-US" altLang="ja-JP" sz="2400" dirty="0"/>
          </a:p>
          <a:p>
            <a:r>
              <a:rPr kumimoji="1" lang="ja-JP" altLang="en-US" sz="2400" dirty="0"/>
              <a:t>そもそもゲーム画面というのは、</a:t>
            </a:r>
            <a:endParaRPr kumimoji="1" lang="en-US" altLang="ja-JP" sz="2400" dirty="0"/>
          </a:p>
          <a:p>
            <a:r>
              <a:rPr lang="ja-JP" altLang="en-US" sz="2400" dirty="0"/>
              <a:t>背景やキャラクター、</a:t>
            </a:r>
            <a:r>
              <a:rPr lang="en-US" altLang="ja-JP" sz="2400" dirty="0"/>
              <a:t>UI</a:t>
            </a:r>
            <a:r>
              <a:rPr lang="ja-JP" altLang="en-US" sz="2400" dirty="0"/>
              <a:t>などをこの１枚の板に</a:t>
            </a:r>
            <a:r>
              <a:rPr lang="ja-JP" altLang="en-US" sz="2400" b="1" dirty="0">
                <a:solidFill>
                  <a:srgbClr val="FF0000"/>
                </a:solidFill>
              </a:rPr>
              <a:t>描画</a:t>
            </a:r>
            <a:r>
              <a:rPr lang="ja-JP" altLang="en-US" sz="2400" dirty="0"/>
              <a:t>していき、</a:t>
            </a:r>
            <a:endParaRPr lang="en-US" altLang="ja-JP" sz="2400" dirty="0"/>
          </a:p>
          <a:p>
            <a:r>
              <a:rPr kumimoji="1" lang="ja-JP" altLang="en-US" sz="2400" b="1" dirty="0">
                <a:solidFill>
                  <a:srgbClr val="FF0000"/>
                </a:solidFill>
              </a:rPr>
              <a:t>最終的に板に描かれているものがディスプレイに表示されます。</a:t>
            </a:r>
            <a:endParaRPr kumimoji="1" lang="en-US" altLang="ja-JP" sz="2400" b="1" dirty="0">
              <a:solidFill>
                <a:srgbClr val="FF0000"/>
              </a:solidFill>
            </a:endParaRPr>
          </a:p>
        </p:txBody>
      </p:sp>
      <p:grpSp>
        <p:nvGrpSpPr>
          <p:cNvPr id="55" name="グループ化 54">
            <a:extLst>
              <a:ext uri="{FF2B5EF4-FFF2-40B4-BE49-F238E27FC236}">
                <a16:creationId xmlns:a16="http://schemas.microsoft.com/office/drawing/2014/main" id="{75E3723E-3F1B-4488-A176-ADF31F09953E}"/>
              </a:ext>
            </a:extLst>
          </p:cNvPr>
          <p:cNvGrpSpPr/>
          <p:nvPr/>
        </p:nvGrpSpPr>
        <p:grpSpPr>
          <a:xfrm>
            <a:off x="673100" y="3429000"/>
            <a:ext cx="6311900" cy="3200400"/>
            <a:chOff x="673100" y="3429000"/>
            <a:chExt cx="6311900" cy="3200400"/>
          </a:xfrm>
        </p:grpSpPr>
        <p:sp>
          <p:nvSpPr>
            <p:cNvPr id="2" name="正方形/長方形 1">
              <a:extLst>
                <a:ext uri="{FF2B5EF4-FFF2-40B4-BE49-F238E27FC236}">
                  <a16:creationId xmlns:a16="http://schemas.microsoft.com/office/drawing/2014/main" id="{5106DFCD-6D83-4CD1-AD93-F7FB06653DBA}"/>
                </a:ext>
              </a:extLst>
            </p:cNvPr>
            <p:cNvSpPr/>
            <p:nvPr/>
          </p:nvSpPr>
          <p:spPr>
            <a:xfrm>
              <a:off x="673100" y="3429000"/>
              <a:ext cx="6311900" cy="32004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EE0F357-E1D4-4E35-A84F-3CA732352941}"/>
                </a:ext>
              </a:extLst>
            </p:cNvPr>
            <p:cNvSpPr/>
            <p:nvPr/>
          </p:nvSpPr>
          <p:spPr>
            <a:xfrm>
              <a:off x="673100" y="5715000"/>
              <a:ext cx="6311900" cy="914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DE76D1D-39C6-4A9F-A3BC-EF2FDB0B63BB}"/>
                </a:ext>
              </a:extLst>
            </p:cNvPr>
            <p:cNvSpPr/>
            <p:nvPr/>
          </p:nvSpPr>
          <p:spPr>
            <a:xfrm>
              <a:off x="673100" y="5511800"/>
              <a:ext cx="6311900" cy="2032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4A67CBFB-7DE0-4076-BE94-9A6DD1E888E2}"/>
                </a:ext>
              </a:extLst>
            </p:cNvPr>
            <p:cNvGrpSpPr/>
            <p:nvPr/>
          </p:nvGrpSpPr>
          <p:grpSpPr>
            <a:xfrm>
              <a:off x="1333500" y="5133182"/>
              <a:ext cx="263525" cy="375179"/>
              <a:chOff x="1333500" y="5133182"/>
              <a:chExt cx="263525" cy="375179"/>
            </a:xfrm>
          </p:grpSpPr>
          <p:sp>
            <p:nvSpPr>
              <p:cNvPr id="12" name="二等辺三角形 11">
                <a:extLst>
                  <a:ext uri="{FF2B5EF4-FFF2-40B4-BE49-F238E27FC236}">
                    <a16:creationId xmlns:a16="http://schemas.microsoft.com/office/drawing/2014/main" id="{8D56EED5-6461-4ACC-B061-9F9E279C6D59}"/>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1" name="グループ化 10">
                <a:extLst>
                  <a:ext uri="{FF2B5EF4-FFF2-40B4-BE49-F238E27FC236}">
                    <a16:creationId xmlns:a16="http://schemas.microsoft.com/office/drawing/2014/main" id="{100B53FB-0E13-4280-8147-91D5912D221E}"/>
                  </a:ext>
                </a:extLst>
              </p:cNvPr>
              <p:cNvGrpSpPr/>
              <p:nvPr/>
            </p:nvGrpSpPr>
            <p:grpSpPr>
              <a:xfrm>
                <a:off x="1333500" y="5133182"/>
                <a:ext cx="234950" cy="375179"/>
                <a:chOff x="2470150" y="4146021"/>
                <a:chExt cx="234950" cy="375179"/>
              </a:xfrm>
            </p:grpSpPr>
            <p:sp>
              <p:nvSpPr>
                <p:cNvPr id="9" name="二等辺三角形 8">
                  <a:extLst>
                    <a:ext uri="{FF2B5EF4-FFF2-40B4-BE49-F238E27FC236}">
                      <a16:creationId xmlns:a16="http://schemas.microsoft.com/office/drawing/2014/main" id="{DE8DE0F3-93ED-41CB-80A6-B43CF59A998B}"/>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ECD20460-61A9-4368-B39A-20630FFB4E9D}"/>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16" name="グループ化 15">
              <a:extLst>
                <a:ext uri="{FF2B5EF4-FFF2-40B4-BE49-F238E27FC236}">
                  <a16:creationId xmlns:a16="http://schemas.microsoft.com/office/drawing/2014/main" id="{AA2D1481-9CE8-4592-8E17-5574A2229CE5}"/>
                </a:ext>
              </a:extLst>
            </p:cNvPr>
            <p:cNvGrpSpPr/>
            <p:nvPr/>
          </p:nvGrpSpPr>
          <p:grpSpPr>
            <a:xfrm>
              <a:off x="2651760" y="4234921"/>
              <a:ext cx="523240" cy="1276879"/>
              <a:chOff x="2457450" y="4234921"/>
              <a:chExt cx="717550" cy="1276879"/>
            </a:xfrm>
          </p:grpSpPr>
          <p:sp>
            <p:nvSpPr>
              <p:cNvPr id="14" name="正方形/長方形 13">
                <a:extLst>
                  <a:ext uri="{FF2B5EF4-FFF2-40B4-BE49-F238E27FC236}">
                    <a16:creationId xmlns:a16="http://schemas.microsoft.com/office/drawing/2014/main" id="{D994B387-AE06-4730-AC02-D6AD6E9D40CE}"/>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50BD2C48-DCC2-44C3-80B7-859B50200898}"/>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a:extLst>
                <a:ext uri="{FF2B5EF4-FFF2-40B4-BE49-F238E27FC236}">
                  <a16:creationId xmlns:a16="http://schemas.microsoft.com/office/drawing/2014/main" id="{23598566-4FE9-47D1-9449-AB2AD35BE2A3}"/>
                </a:ext>
              </a:extLst>
            </p:cNvPr>
            <p:cNvGrpSpPr/>
            <p:nvPr/>
          </p:nvGrpSpPr>
          <p:grpSpPr>
            <a:xfrm>
              <a:off x="2874963" y="4009038"/>
              <a:ext cx="717550" cy="1497280"/>
              <a:chOff x="2457450" y="4173273"/>
              <a:chExt cx="717550" cy="1338527"/>
            </a:xfrm>
          </p:grpSpPr>
          <p:sp>
            <p:nvSpPr>
              <p:cNvPr id="18" name="正方形/長方形 17">
                <a:extLst>
                  <a:ext uri="{FF2B5EF4-FFF2-40B4-BE49-F238E27FC236}">
                    <a16:creationId xmlns:a16="http://schemas.microsoft.com/office/drawing/2014/main" id="{B66FE567-90DE-4C3E-B807-91683F4B434E}"/>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450BE12A-44B2-4BEF-84E4-F7B89422AA30}"/>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 name="グループ化 19">
              <a:extLst>
                <a:ext uri="{FF2B5EF4-FFF2-40B4-BE49-F238E27FC236}">
                  <a16:creationId xmlns:a16="http://schemas.microsoft.com/office/drawing/2014/main" id="{E96AA774-23F0-43CE-97B1-6CD52A6CF66F}"/>
                </a:ext>
              </a:extLst>
            </p:cNvPr>
            <p:cNvGrpSpPr/>
            <p:nvPr/>
          </p:nvGrpSpPr>
          <p:grpSpPr>
            <a:xfrm>
              <a:off x="2710498" y="3759745"/>
              <a:ext cx="717550" cy="1741091"/>
              <a:chOff x="2457450" y="4173273"/>
              <a:chExt cx="717550" cy="1338527"/>
            </a:xfrm>
          </p:grpSpPr>
          <p:sp>
            <p:nvSpPr>
              <p:cNvPr id="21" name="正方形/長方形 20">
                <a:extLst>
                  <a:ext uri="{FF2B5EF4-FFF2-40B4-BE49-F238E27FC236}">
                    <a16:creationId xmlns:a16="http://schemas.microsoft.com/office/drawing/2014/main" id="{5CF671A5-0566-4999-9269-C94BC5797DDF}"/>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1314DEC-8917-40CA-BB37-A22FA6DE00DB}"/>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0126FDBE-F208-488C-85F5-E6EEE1CEC6ED}"/>
                </a:ext>
              </a:extLst>
            </p:cNvPr>
            <p:cNvGrpSpPr/>
            <p:nvPr/>
          </p:nvGrpSpPr>
          <p:grpSpPr>
            <a:xfrm>
              <a:off x="3285490" y="4223957"/>
              <a:ext cx="523240" cy="1276879"/>
              <a:chOff x="2457450" y="4234921"/>
              <a:chExt cx="717550" cy="1276879"/>
            </a:xfrm>
          </p:grpSpPr>
          <p:sp>
            <p:nvSpPr>
              <p:cNvPr id="24" name="正方形/長方形 23">
                <a:extLst>
                  <a:ext uri="{FF2B5EF4-FFF2-40B4-BE49-F238E27FC236}">
                    <a16:creationId xmlns:a16="http://schemas.microsoft.com/office/drawing/2014/main" id="{3DDCA115-4DA6-4779-87A8-83042E5D75F2}"/>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C49DD47F-5A85-49DB-9A52-E940F8EDCAF9}"/>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6" name="グループ化 25">
              <a:extLst>
                <a:ext uri="{FF2B5EF4-FFF2-40B4-BE49-F238E27FC236}">
                  <a16:creationId xmlns:a16="http://schemas.microsoft.com/office/drawing/2014/main" id="{45592827-B339-4AE8-878B-3E17CBA9EA4A}"/>
                </a:ext>
              </a:extLst>
            </p:cNvPr>
            <p:cNvGrpSpPr/>
            <p:nvPr/>
          </p:nvGrpSpPr>
          <p:grpSpPr>
            <a:xfrm>
              <a:off x="3508693" y="3998074"/>
              <a:ext cx="717550" cy="1497280"/>
              <a:chOff x="2457450" y="4173273"/>
              <a:chExt cx="717550" cy="1338527"/>
            </a:xfrm>
          </p:grpSpPr>
          <p:sp>
            <p:nvSpPr>
              <p:cNvPr id="27" name="正方形/長方形 26">
                <a:extLst>
                  <a:ext uri="{FF2B5EF4-FFF2-40B4-BE49-F238E27FC236}">
                    <a16:creationId xmlns:a16="http://schemas.microsoft.com/office/drawing/2014/main" id="{DD4395F5-929F-4332-BDFD-64636B1B3973}"/>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楕円 27">
                <a:extLst>
                  <a:ext uri="{FF2B5EF4-FFF2-40B4-BE49-F238E27FC236}">
                    <a16:creationId xmlns:a16="http://schemas.microsoft.com/office/drawing/2014/main" id="{51582CA0-AE4A-4508-B406-6CA103A7A75F}"/>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9" name="グループ化 28">
              <a:extLst>
                <a:ext uri="{FF2B5EF4-FFF2-40B4-BE49-F238E27FC236}">
                  <a16:creationId xmlns:a16="http://schemas.microsoft.com/office/drawing/2014/main" id="{1479B077-F91D-43F5-87F4-AE70A62D7B70}"/>
                </a:ext>
              </a:extLst>
            </p:cNvPr>
            <p:cNvGrpSpPr/>
            <p:nvPr/>
          </p:nvGrpSpPr>
          <p:grpSpPr>
            <a:xfrm>
              <a:off x="3359636" y="3770421"/>
              <a:ext cx="717550" cy="1741091"/>
              <a:chOff x="2457450" y="4173273"/>
              <a:chExt cx="717550" cy="1338527"/>
            </a:xfrm>
          </p:grpSpPr>
          <p:sp>
            <p:nvSpPr>
              <p:cNvPr id="30" name="正方形/長方形 29">
                <a:extLst>
                  <a:ext uri="{FF2B5EF4-FFF2-40B4-BE49-F238E27FC236}">
                    <a16:creationId xmlns:a16="http://schemas.microsoft.com/office/drawing/2014/main" id="{469B0EEE-7C1E-4611-AD0E-102D9D1CE017}"/>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9EA21755-10CF-4DC6-A15B-4D06013EDC31}"/>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2" name="グループ化 31">
              <a:extLst>
                <a:ext uri="{FF2B5EF4-FFF2-40B4-BE49-F238E27FC236}">
                  <a16:creationId xmlns:a16="http://schemas.microsoft.com/office/drawing/2014/main" id="{756B8BBE-2496-4AE2-998B-EE403A85FE2B}"/>
                </a:ext>
              </a:extLst>
            </p:cNvPr>
            <p:cNvGrpSpPr/>
            <p:nvPr/>
          </p:nvGrpSpPr>
          <p:grpSpPr>
            <a:xfrm>
              <a:off x="3820795" y="4234921"/>
              <a:ext cx="523240" cy="1276879"/>
              <a:chOff x="2457450" y="4234921"/>
              <a:chExt cx="717550" cy="1276879"/>
            </a:xfrm>
          </p:grpSpPr>
          <p:sp>
            <p:nvSpPr>
              <p:cNvPr id="33" name="正方形/長方形 32">
                <a:extLst>
                  <a:ext uri="{FF2B5EF4-FFF2-40B4-BE49-F238E27FC236}">
                    <a16:creationId xmlns:a16="http://schemas.microsoft.com/office/drawing/2014/main" id="{17B29E15-93F5-4C18-8A75-82E36F7D301B}"/>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4" name="楕円 33">
                <a:extLst>
                  <a:ext uri="{FF2B5EF4-FFF2-40B4-BE49-F238E27FC236}">
                    <a16:creationId xmlns:a16="http://schemas.microsoft.com/office/drawing/2014/main" id="{6666B3D1-7B12-4E03-827F-BCFAC867106F}"/>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DCD3167D-41E2-4C73-BF54-994B3D885A3C}"/>
                </a:ext>
              </a:extLst>
            </p:cNvPr>
            <p:cNvGrpSpPr/>
            <p:nvPr/>
          </p:nvGrpSpPr>
          <p:grpSpPr>
            <a:xfrm>
              <a:off x="4043998" y="4009038"/>
              <a:ext cx="717550" cy="1497280"/>
              <a:chOff x="2457450" y="4173273"/>
              <a:chExt cx="717550" cy="1338527"/>
            </a:xfrm>
          </p:grpSpPr>
          <p:sp>
            <p:nvSpPr>
              <p:cNvPr id="36" name="正方形/長方形 35">
                <a:extLst>
                  <a:ext uri="{FF2B5EF4-FFF2-40B4-BE49-F238E27FC236}">
                    <a16:creationId xmlns:a16="http://schemas.microsoft.com/office/drawing/2014/main" id="{00187A6B-FF13-4376-BA52-068E73AC615B}"/>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7" name="楕円 36">
                <a:extLst>
                  <a:ext uri="{FF2B5EF4-FFF2-40B4-BE49-F238E27FC236}">
                    <a16:creationId xmlns:a16="http://schemas.microsoft.com/office/drawing/2014/main" id="{4CD09571-B896-427B-9252-688CD4AECCB2}"/>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7E71B49D-BDE5-4650-AC86-2BB7489E1EA0}"/>
                </a:ext>
              </a:extLst>
            </p:cNvPr>
            <p:cNvGrpSpPr/>
            <p:nvPr/>
          </p:nvGrpSpPr>
          <p:grpSpPr>
            <a:xfrm>
              <a:off x="3879533" y="3759745"/>
              <a:ext cx="717550" cy="1741091"/>
              <a:chOff x="2457450" y="4173273"/>
              <a:chExt cx="717550" cy="1338527"/>
            </a:xfrm>
          </p:grpSpPr>
          <p:sp>
            <p:nvSpPr>
              <p:cNvPr id="39" name="正方形/長方形 38">
                <a:extLst>
                  <a:ext uri="{FF2B5EF4-FFF2-40B4-BE49-F238E27FC236}">
                    <a16:creationId xmlns:a16="http://schemas.microsoft.com/office/drawing/2014/main" id="{ED757F98-4A3C-4086-819C-0157B2AC5585}"/>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0" name="楕円 39">
                <a:extLst>
                  <a:ext uri="{FF2B5EF4-FFF2-40B4-BE49-F238E27FC236}">
                    <a16:creationId xmlns:a16="http://schemas.microsoft.com/office/drawing/2014/main" id="{47143C1E-5B16-4B20-8F8A-5184DCCCAE13}"/>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88CB86A9-8309-4F76-AC62-90E53AF9A7EC}"/>
                </a:ext>
              </a:extLst>
            </p:cNvPr>
            <p:cNvGrpSpPr/>
            <p:nvPr/>
          </p:nvGrpSpPr>
          <p:grpSpPr>
            <a:xfrm>
              <a:off x="839956" y="3567221"/>
              <a:ext cx="131763" cy="203200"/>
              <a:chOff x="1333500" y="5133182"/>
              <a:chExt cx="263525" cy="375179"/>
            </a:xfrm>
          </p:grpSpPr>
          <p:sp>
            <p:nvSpPr>
              <p:cNvPr id="42" name="二等辺三角形 41">
                <a:extLst>
                  <a:ext uri="{FF2B5EF4-FFF2-40B4-BE49-F238E27FC236}">
                    <a16:creationId xmlns:a16="http://schemas.microsoft.com/office/drawing/2014/main" id="{E26C12A5-F13A-4C6A-8F60-34FFDA3B66DA}"/>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3" name="グループ化 42">
                <a:extLst>
                  <a:ext uri="{FF2B5EF4-FFF2-40B4-BE49-F238E27FC236}">
                    <a16:creationId xmlns:a16="http://schemas.microsoft.com/office/drawing/2014/main" id="{851E2ADC-F87A-4B66-B34C-184A6E242891}"/>
                  </a:ext>
                </a:extLst>
              </p:cNvPr>
              <p:cNvGrpSpPr/>
              <p:nvPr/>
            </p:nvGrpSpPr>
            <p:grpSpPr>
              <a:xfrm>
                <a:off x="1333500" y="5133182"/>
                <a:ext cx="234950" cy="375179"/>
                <a:chOff x="2470150" y="4146021"/>
                <a:chExt cx="234950" cy="375179"/>
              </a:xfrm>
            </p:grpSpPr>
            <p:sp>
              <p:nvSpPr>
                <p:cNvPr id="44" name="二等辺三角形 43">
                  <a:extLst>
                    <a:ext uri="{FF2B5EF4-FFF2-40B4-BE49-F238E27FC236}">
                      <a16:creationId xmlns:a16="http://schemas.microsoft.com/office/drawing/2014/main" id="{C57FDBAC-5F1B-4C93-97D0-3C4D868511A2}"/>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楕円 44">
                  <a:extLst>
                    <a:ext uri="{FF2B5EF4-FFF2-40B4-BE49-F238E27FC236}">
                      <a16:creationId xmlns:a16="http://schemas.microsoft.com/office/drawing/2014/main" id="{7B8D6DF7-0AD7-45CB-8C13-05B5D03BF2C6}"/>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6" name="テキスト ボックス 45">
              <a:extLst>
                <a:ext uri="{FF2B5EF4-FFF2-40B4-BE49-F238E27FC236}">
                  <a16:creationId xmlns:a16="http://schemas.microsoft.com/office/drawing/2014/main" id="{6A1066CB-2591-402C-963A-B1A83656F515}"/>
                </a:ext>
              </a:extLst>
            </p:cNvPr>
            <p:cNvSpPr txBox="1"/>
            <p:nvPr/>
          </p:nvSpPr>
          <p:spPr>
            <a:xfrm>
              <a:off x="963923" y="3525195"/>
              <a:ext cx="399468" cy="338554"/>
            </a:xfrm>
            <a:prstGeom prst="rect">
              <a:avLst/>
            </a:prstGeom>
            <a:noFill/>
          </p:spPr>
          <p:txBody>
            <a:bodyPr wrap="none" rtlCol="0">
              <a:spAutoFit/>
            </a:bodyPr>
            <a:lstStyle/>
            <a:p>
              <a:r>
                <a:rPr kumimoji="1" lang="en-US" altLang="ja-JP" sz="1600" dirty="0"/>
                <a:t>x3</a:t>
              </a:r>
              <a:endParaRPr kumimoji="1" lang="en-US" altLang="ja-JP" sz="1600" b="1" dirty="0">
                <a:solidFill>
                  <a:srgbClr val="FF0000"/>
                </a:solidFill>
              </a:endParaRPr>
            </a:p>
          </p:txBody>
        </p:sp>
        <p:sp>
          <p:nvSpPr>
            <p:cNvPr id="48" name="四角形: 角度付き 47">
              <a:extLst>
                <a:ext uri="{FF2B5EF4-FFF2-40B4-BE49-F238E27FC236}">
                  <a16:creationId xmlns:a16="http://schemas.microsoft.com/office/drawing/2014/main" id="{4EBCFF4A-49BB-452F-9FD7-54844C14B0C2}"/>
                </a:ext>
              </a:extLst>
            </p:cNvPr>
            <p:cNvSpPr/>
            <p:nvPr/>
          </p:nvSpPr>
          <p:spPr>
            <a:xfrm>
              <a:off x="5045885" y="523822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四角形: 角度付き 48">
              <a:extLst>
                <a:ext uri="{FF2B5EF4-FFF2-40B4-BE49-F238E27FC236}">
                  <a16:creationId xmlns:a16="http://schemas.microsoft.com/office/drawing/2014/main" id="{31A4561E-F49C-48EB-AA14-4D2611845C0D}"/>
                </a:ext>
              </a:extLst>
            </p:cNvPr>
            <p:cNvSpPr/>
            <p:nvPr/>
          </p:nvSpPr>
          <p:spPr>
            <a:xfrm>
              <a:off x="5332746" y="5238539"/>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四角形: 角度付き 49">
              <a:extLst>
                <a:ext uri="{FF2B5EF4-FFF2-40B4-BE49-F238E27FC236}">
                  <a16:creationId xmlns:a16="http://schemas.microsoft.com/office/drawing/2014/main" id="{34397F1D-530C-4834-A34F-90901D8989AC}"/>
                </a:ext>
              </a:extLst>
            </p:cNvPr>
            <p:cNvSpPr/>
            <p:nvPr/>
          </p:nvSpPr>
          <p:spPr>
            <a:xfrm>
              <a:off x="5617392" y="523822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四角形: 角度付き 50">
              <a:extLst>
                <a:ext uri="{FF2B5EF4-FFF2-40B4-BE49-F238E27FC236}">
                  <a16:creationId xmlns:a16="http://schemas.microsoft.com/office/drawing/2014/main" id="{8421F6D9-D86B-43CA-AEFF-42F16EAEE725}"/>
                </a:ext>
              </a:extLst>
            </p:cNvPr>
            <p:cNvSpPr/>
            <p:nvPr/>
          </p:nvSpPr>
          <p:spPr>
            <a:xfrm>
              <a:off x="5904253" y="523854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2" name="四角形: 角度付き 51">
              <a:extLst>
                <a:ext uri="{FF2B5EF4-FFF2-40B4-BE49-F238E27FC236}">
                  <a16:creationId xmlns:a16="http://schemas.microsoft.com/office/drawing/2014/main" id="{A11261DB-F7DF-49B6-98D0-000E4654646F}"/>
                </a:ext>
              </a:extLst>
            </p:cNvPr>
            <p:cNvSpPr/>
            <p:nvPr/>
          </p:nvSpPr>
          <p:spPr>
            <a:xfrm>
              <a:off x="5617387" y="496199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3" name="四角形: 角度付き 52">
              <a:extLst>
                <a:ext uri="{FF2B5EF4-FFF2-40B4-BE49-F238E27FC236}">
                  <a16:creationId xmlns:a16="http://schemas.microsoft.com/office/drawing/2014/main" id="{B0569FD7-17D7-415D-A20B-714A902D9B6E}"/>
                </a:ext>
              </a:extLst>
            </p:cNvPr>
            <p:cNvSpPr/>
            <p:nvPr/>
          </p:nvSpPr>
          <p:spPr>
            <a:xfrm>
              <a:off x="5904248" y="496231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4" name="テキスト ボックス 53">
            <a:extLst>
              <a:ext uri="{FF2B5EF4-FFF2-40B4-BE49-F238E27FC236}">
                <a16:creationId xmlns:a16="http://schemas.microsoft.com/office/drawing/2014/main" id="{0E4031FB-441E-46CD-A403-1CD50882CF0D}"/>
              </a:ext>
            </a:extLst>
          </p:cNvPr>
          <p:cNvSpPr txBox="1"/>
          <p:nvPr/>
        </p:nvSpPr>
        <p:spPr>
          <a:xfrm>
            <a:off x="6985000" y="5613400"/>
            <a:ext cx="4544834" cy="1015663"/>
          </a:xfrm>
          <a:prstGeom prst="rect">
            <a:avLst/>
          </a:prstGeom>
          <a:noFill/>
        </p:spPr>
        <p:txBody>
          <a:bodyPr wrap="none" rtlCol="0">
            <a:spAutoFit/>
          </a:bodyPr>
          <a:lstStyle/>
          <a:p>
            <a:r>
              <a:rPr kumimoji="1" lang="ja-JP" altLang="en-US" sz="2000" b="1" dirty="0">
                <a:solidFill>
                  <a:srgbClr val="FF0000"/>
                </a:solidFill>
              </a:rPr>
              <a:t>重要なのは、</a:t>
            </a:r>
            <a:endParaRPr kumimoji="1" lang="en-US" altLang="ja-JP" sz="2000" b="1" dirty="0">
              <a:solidFill>
                <a:srgbClr val="FF0000"/>
              </a:solidFill>
            </a:endParaRPr>
          </a:p>
          <a:p>
            <a:r>
              <a:rPr kumimoji="1" lang="ja-JP" altLang="en-US" sz="2000" b="1" dirty="0">
                <a:solidFill>
                  <a:srgbClr val="FF0000"/>
                </a:solidFill>
              </a:rPr>
              <a:t>キャラや木、ブロックなどを</a:t>
            </a:r>
            <a:endParaRPr kumimoji="1" lang="en-US" altLang="ja-JP" sz="2000" b="1" dirty="0">
              <a:solidFill>
                <a:srgbClr val="FF0000"/>
              </a:solidFill>
            </a:endParaRPr>
          </a:p>
          <a:p>
            <a:r>
              <a:rPr kumimoji="1" lang="ja-JP" altLang="en-US" sz="2000" b="1" dirty="0">
                <a:solidFill>
                  <a:srgbClr val="FF0000"/>
                </a:solidFill>
              </a:rPr>
              <a:t>１つずつ板に描画していくということ</a:t>
            </a:r>
            <a:endParaRPr kumimoji="1" lang="en-US" altLang="ja-JP" sz="2000" b="1" dirty="0">
              <a:solidFill>
                <a:srgbClr val="FF0000"/>
              </a:solidFill>
            </a:endParaRPr>
          </a:p>
        </p:txBody>
      </p:sp>
    </p:spTree>
    <p:extLst>
      <p:ext uri="{BB962C8B-B14F-4D97-AF65-F5344CB8AC3E}">
        <p14:creationId xmlns:p14="http://schemas.microsoft.com/office/powerpoint/2010/main" val="372009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341293" cy="1200329"/>
          </a:xfrm>
          <a:prstGeom prst="rect">
            <a:avLst/>
          </a:prstGeom>
          <a:noFill/>
        </p:spPr>
        <p:txBody>
          <a:bodyPr wrap="none" rtlCol="0">
            <a:spAutoFit/>
          </a:bodyPr>
          <a:lstStyle/>
          <a:p>
            <a:r>
              <a:rPr kumimoji="1" lang="ja-JP" altLang="en-US" sz="2400" dirty="0"/>
              <a:t>この時、</a:t>
            </a:r>
            <a:r>
              <a:rPr kumimoji="1" lang="ja-JP" altLang="en-US" sz="2400" b="1" dirty="0">
                <a:solidFill>
                  <a:srgbClr val="FF0000"/>
                </a:solidFill>
              </a:rPr>
              <a:t>板の表側（ディスプレイに映る側）</a:t>
            </a:r>
            <a:r>
              <a:rPr kumimoji="1" lang="ja-JP" altLang="en-US" sz="2400" dirty="0"/>
              <a:t>に直接画像を描いていくと、</a:t>
            </a:r>
            <a:endParaRPr kumimoji="1" lang="en-US" altLang="ja-JP" sz="2400" dirty="0"/>
          </a:p>
          <a:p>
            <a:r>
              <a:rPr kumimoji="1" lang="ja-JP" altLang="en-US" sz="2400" b="1" dirty="0">
                <a:solidFill>
                  <a:srgbClr val="FF0000"/>
                </a:solidFill>
              </a:rPr>
              <a:t>描きかけのものがそのままディスプレイに映ってしまいます。</a:t>
            </a:r>
            <a:endParaRPr kumimoji="1" lang="en-US" altLang="ja-JP" sz="2400" b="1" dirty="0">
              <a:solidFill>
                <a:srgbClr val="FF0000"/>
              </a:solidFill>
            </a:endParaRPr>
          </a:p>
          <a:p>
            <a:r>
              <a:rPr lang="ja-JP" altLang="en-US" sz="2400" dirty="0"/>
              <a:t>結果的に画面にちらつきが発生してしまします。</a:t>
            </a:r>
            <a:endParaRPr lang="en-US" altLang="ja-JP" sz="2400" dirty="0"/>
          </a:p>
        </p:txBody>
      </p:sp>
      <p:sp>
        <p:nvSpPr>
          <p:cNvPr id="2" name="正方形/長方形 1">
            <a:extLst>
              <a:ext uri="{FF2B5EF4-FFF2-40B4-BE49-F238E27FC236}">
                <a16:creationId xmlns:a16="http://schemas.microsoft.com/office/drawing/2014/main" id="{5106DFCD-6D83-4CD1-AD93-F7FB06653DBA}"/>
              </a:ext>
            </a:extLst>
          </p:cNvPr>
          <p:cNvSpPr/>
          <p:nvPr/>
        </p:nvSpPr>
        <p:spPr>
          <a:xfrm>
            <a:off x="673100" y="3429000"/>
            <a:ext cx="6311900" cy="32004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EE0F357-E1D4-4E35-A84F-3CA732352941}"/>
              </a:ext>
            </a:extLst>
          </p:cNvPr>
          <p:cNvSpPr/>
          <p:nvPr/>
        </p:nvSpPr>
        <p:spPr>
          <a:xfrm>
            <a:off x="673100" y="5715000"/>
            <a:ext cx="6311900" cy="914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正方形/長方形 6">
            <a:extLst>
              <a:ext uri="{FF2B5EF4-FFF2-40B4-BE49-F238E27FC236}">
                <a16:creationId xmlns:a16="http://schemas.microsoft.com/office/drawing/2014/main" id="{6DE76D1D-39C6-4A9F-A3BC-EF2FDB0B63BB}"/>
              </a:ext>
            </a:extLst>
          </p:cNvPr>
          <p:cNvSpPr/>
          <p:nvPr/>
        </p:nvSpPr>
        <p:spPr>
          <a:xfrm>
            <a:off x="673100" y="5511800"/>
            <a:ext cx="6311900" cy="2032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6" name="グループ化 15">
            <a:extLst>
              <a:ext uri="{FF2B5EF4-FFF2-40B4-BE49-F238E27FC236}">
                <a16:creationId xmlns:a16="http://schemas.microsoft.com/office/drawing/2014/main" id="{AA2D1481-9CE8-4592-8E17-5574A2229CE5}"/>
              </a:ext>
            </a:extLst>
          </p:cNvPr>
          <p:cNvGrpSpPr/>
          <p:nvPr/>
        </p:nvGrpSpPr>
        <p:grpSpPr>
          <a:xfrm>
            <a:off x="2651760" y="4234921"/>
            <a:ext cx="523240" cy="1276879"/>
            <a:chOff x="2457450" y="4234921"/>
            <a:chExt cx="717550" cy="1276879"/>
          </a:xfrm>
        </p:grpSpPr>
        <p:sp>
          <p:nvSpPr>
            <p:cNvPr id="14" name="正方形/長方形 13">
              <a:extLst>
                <a:ext uri="{FF2B5EF4-FFF2-40B4-BE49-F238E27FC236}">
                  <a16:creationId xmlns:a16="http://schemas.microsoft.com/office/drawing/2014/main" id="{D994B387-AE06-4730-AC02-D6AD6E9D40CE}"/>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楕円 14">
              <a:extLst>
                <a:ext uri="{FF2B5EF4-FFF2-40B4-BE49-F238E27FC236}">
                  <a16:creationId xmlns:a16="http://schemas.microsoft.com/office/drawing/2014/main" id="{50BD2C48-DCC2-44C3-80B7-859B50200898}"/>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7" name="グループ化 16">
            <a:extLst>
              <a:ext uri="{FF2B5EF4-FFF2-40B4-BE49-F238E27FC236}">
                <a16:creationId xmlns:a16="http://schemas.microsoft.com/office/drawing/2014/main" id="{23598566-4FE9-47D1-9449-AB2AD35BE2A3}"/>
              </a:ext>
            </a:extLst>
          </p:cNvPr>
          <p:cNvGrpSpPr/>
          <p:nvPr/>
        </p:nvGrpSpPr>
        <p:grpSpPr>
          <a:xfrm>
            <a:off x="2874963" y="4009038"/>
            <a:ext cx="717550" cy="1497280"/>
            <a:chOff x="2457450" y="4173273"/>
            <a:chExt cx="717550" cy="1338527"/>
          </a:xfrm>
        </p:grpSpPr>
        <p:sp>
          <p:nvSpPr>
            <p:cNvPr id="18" name="正方形/長方形 17">
              <a:extLst>
                <a:ext uri="{FF2B5EF4-FFF2-40B4-BE49-F238E27FC236}">
                  <a16:creationId xmlns:a16="http://schemas.microsoft.com/office/drawing/2014/main" id="{B66FE567-90DE-4C3E-B807-91683F4B434E}"/>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楕円 18">
              <a:extLst>
                <a:ext uri="{FF2B5EF4-FFF2-40B4-BE49-F238E27FC236}">
                  <a16:creationId xmlns:a16="http://schemas.microsoft.com/office/drawing/2014/main" id="{450BE12A-44B2-4BEF-84E4-F7B89422AA30}"/>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0" name="グループ化 19">
            <a:extLst>
              <a:ext uri="{FF2B5EF4-FFF2-40B4-BE49-F238E27FC236}">
                <a16:creationId xmlns:a16="http://schemas.microsoft.com/office/drawing/2014/main" id="{E96AA774-23F0-43CE-97B1-6CD52A6CF66F}"/>
              </a:ext>
            </a:extLst>
          </p:cNvPr>
          <p:cNvGrpSpPr/>
          <p:nvPr/>
        </p:nvGrpSpPr>
        <p:grpSpPr>
          <a:xfrm>
            <a:off x="2710498" y="3759745"/>
            <a:ext cx="717550" cy="1741091"/>
            <a:chOff x="2457450" y="4173273"/>
            <a:chExt cx="717550" cy="1338527"/>
          </a:xfrm>
        </p:grpSpPr>
        <p:sp>
          <p:nvSpPr>
            <p:cNvPr id="21" name="正方形/長方形 20">
              <a:extLst>
                <a:ext uri="{FF2B5EF4-FFF2-40B4-BE49-F238E27FC236}">
                  <a16:creationId xmlns:a16="http://schemas.microsoft.com/office/drawing/2014/main" id="{5CF671A5-0566-4999-9269-C94BC5797DDF}"/>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楕円 21">
              <a:extLst>
                <a:ext uri="{FF2B5EF4-FFF2-40B4-BE49-F238E27FC236}">
                  <a16:creationId xmlns:a16="http://schemas.microsoft.com/office/drawing/2014/main" id="{31314DEC-8917-40CA-BB37-A22FA6DE00DB}"/>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3" name="グループ化 22">
            <a:extLst>
              <a:ext uri="{FF2B5EF4-FFF2-40B4-BE49-F238E27FC236}">
                <a16:creationId xmlns:a16="http://schemas.microsoft.com/office/drawing/2014/main" id="{0126FDBE-F208-488C-85F5-E6EEE1CEC6ED}"/>
              </a:ext>
            </a:extLst>
          </p:cNvPr>
          <p:cNvGrpSpPr/>
          <p:nvPr/>
        </p:nvGrpSpPr>
        <p:grpSpPr>
          <a:xfrm>
            <a:off x="3285490" y="4223957"/>
            <a:ext cx="523240" cy="1276879"/>
            <a:chOff x="2457450" y="4234921"/>
            <a:chExt cx="717550" cy="1276879"/>
          </a:xfrm>
        </p:grpSpPr>
        <p:sp>
          <p:nvSpPr>
            <p:cNvPr id="24" name="正方形/長方形 23">
              <a:extLst>
                <a:ext uri="{FF2B5EF4-FFF2-40B4-BE49-F238E27FC236}">
                  <a16:creationId xmlns:a16="http://schemas.microsoft.com/office/drawing/2014/main" id="{3DDCA115-4DA6-4779-87A8-83042E5D75F2}"/>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楕円 24">
              <a:extLst>
                <a:ext uri="{FF2B5EF4-FFF2-40B4-BE49-F238E27FC236}">
                  <a16:creationId xmlns:a16="http://schemas.microsoft.com/office/drawing/2014/main" id="{C49DD47F-5A85-49DB-9A52-E940F8EDCAF9}"/>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9" name="グループ化 28">
            <a:extLst>
              <a:ext uri="{FF2B5EF4-FFF2-40B4-BE49-F238E27FC236}">
                <a16:creationId xmlns:a16="http://schemas.microsoft.com/office/drawing/2014/main" id="{1479B077-F91D-43F5-87F4-AE70A62D7B70}"/>
              </a:ext>
            </a:extLst>
          </p:cNvPr>
          <p:cNvGrpSpPr/>
          <p:nvPr/>
        </p:nvGrpSpPr>
        <p:grpSpPr>
          <a:xfrm>
            <a:off x="3359636" y="3770421"/>
            <a:ext cx="717550" cy="1741091"/>
            <a:chOff x="2457450" y="4173273"/>
            <a:chExt cx="717550" cy="1338527"/>
          </a:xfrm>
        </p:grpSpPr>
        <p:sp>
          <p:nvSpPr>
            <p:cNvPr id="30" name="正方形/長方形 29">
              <a:extLst>
                <a:ext uri="{FF2B5EF4-FFF2-40B4-BE49-F238E27FC236}">
                  <a16:creationId xmlns:a16="http://schemas.microsoft.com/office/drawing/2014/main" id="{469B0EEE-7C1E-4611-AD0E-102D9D1CE017}"/>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楕円 30">
              <a:extLst>
                <a:ext uri="{FF2B5EF4-FFF2-40B4-BE49-F238E27FC236}">
                  <a16:creationId xmlns:a16="http://schemas.microsoft.com/office/drawing/2014/main" id="{9EA21755-10CF-4DC6-A15B-4D06013EDC31}"/>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6" name="テキスト ボックス 55">
            <a:extLst>
              <a:ext uri="{FF2B5EF4-FFF2-40B4-BE49-F238E27FC236}">
                <a16:creationId xmlns:a16="http://schemas.microsoft.com/office/drawing/2014/main" id="{7A52DD9B-313E-48AA-8153-5D16E1AD4F28}"/>
              </a:ext>
            </a:extLst>
          </p:cNvPr>
          <p:cNvSpPr txBox="1"/>
          <p:nvPr/>
        </p:nvSpPr>
        <p:spPr>
          <a:xfrm>
            <a:off x="6985000" y="6240254"/>
            <a:ext cx="3775393" cy="400110"/>
          </a:xfrm>
          <a:prstGeom prst="rect">
            <a:avLst/>
          </a:prstGeom>
          <a:noFill/>
        </p:spPr>
        <p:txBody>
          <a:bodyPr wrap="none" rtlCol="0">
            <a:spAutoFit/>
          </a:bodyPr>
          <a:lstStyle/>
          <a:p>
            <a:r>
              <a:rPr kumimoji="1" lang="ja-JP" altLang="en-US" sz="2000" b="1" dirty="0">
                <a:solidFill>
                  <a:srgbClr val="FF0000"/>
                </a:solidFill>
              </a:rPr>
              <a:t>まだ描きかけなんだけど。。。</a:t>
            </a:r>
            <a:endParaRPr kumimoji="1" lang="en-US" altLang="ja-JP" sz="2000" b="1" dirty="0">
              <a:solidFill>
                <a:srgbClr val="FF0000"/>
              </a:solidFill>
            </a:endParaRPr>
          </a:p>
        </p:txBody>
      </p:sp>
    </p:spTree>
    <p:extLst>
      <p:ext uri="{BB962C8B-B14F-4D97-AF65-F5344CB8AC3E}">
        <p14:creationId xmlns:p14="http://schemas.microsoft.com/office/powerpoint/2010/main" val="13598005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1569660"/>
          </a:xfrm>
          <a:prstGeom prst="rect">
            <a:avLst/>
          </a:prstGeom>
          <a:noFill/>
        </p:spPr>
        <p:txBody>
          <a:bodyPr wrap="none" rtlCol="0">
            <a:spAutoFit/>
          </a:bodyPr>
          <a:lstStyle/>
          <a:p>
            <a:r>
              <a:rPr kumimoji="1" lang="ja-JP" altLang="en-US" sz="2400"/>
              <a:t>この</a:t>
            </a:r>
            <a:r>
              <a:rPr kumimoji="1" lang="ja-JP" altLang="en-US" sz="2400" dirty="0"/>
              <a:t>対策として、まず</a:t>
            </a:r>
            <a:r>
              <a:rPr kumimoji="1" lang="ja-JP" altLang="en-US" sz="2400" b="1" dirty="0">
                <a:solidFill>
                  <a:srgbClr val="FF0000"/>
                </a:solidFill>
              </a:rPr>
              <a:t>板の裏側（ディスプレイに映らない側）</a:t>
            </a:r>
            <a:r>
              <a:rPr kumimoji="1" lang="ja-JP" altLang="en-US" sz="2400" dirty="0"/>
              <a:t>に</a:t>
            </a:r>
            <a:endParaRPr lang="en-US" altLang="ja-JP" sz="2400" dirty="0"/>
          </a:p>
          <a:p>
            <a:r>
              <a:rPr kumimoji="1" lang="ja-JP" altLang="en-US" sz="2400" dirty="0"/>
              <a:t>描画していきます。</a:t>
            </a:r>
            <a:endParaRPr kumimoji="1" lang="en-US" altLang="ja-JP" sz="2400" dirty="0"/>
          </a:p>
          <a:p>
            <a:r>
              <a:rPr lang="ja-JP" altLang="en-US" sz="2400" dirty="0"/>
              <a:t>そして</a:t>
            </a:r>
            <a:r>
              <a:rPr lang="ja-JP" altLang="en-US" sz="2400" b="1" dirty="0">
                <a:solidFill>
                  <a:srgbClr val="FF0000"/>
                </a:solidFill>
              </a:rPr>
              <a:t>必要なものを全て描いた後に、板を裏返します。</a:t>
            </a:r>
            <a:endParaRPr lang="en-US" altLang="ja-JP" sz="2400" b="1" dirty="0">
              <a:solidFill>
                <a:srgbClr val="FF0000"/>
              </a:solidFill>
            </a:endParaRPr>
          </a:p>
          <a:p>
            <a:r>
              <a:rPr kumimoji="1" lang="ja-JP" altLang="en-US" sz="2400" dirty="0"/>
              <a:t>そのため、最初に描画先を裏側に指定しているのです。</a:t>
            </a:r>
            <a:endParaRPr kumimoji="1" lang="en-US" altLang="ja-JP" sz="2400" dirty="0"/>
          </a:p>
        </p:txBody>
      </p:sp>
      <p:grpSp>
        <p:nvGrpSpPr>
          <p:cNvPr id="26" name="グループ化 25">
            <a:extLst>
              <a:ext uri="{FF2B5EF4-FFF2-40B4-BE49-F238E27FC236}">
                <a16:creationId xmlns:a16="http://schemas.microsoft.com/office/drawing/2014/main" id="{BE1DCCF8-EC03-47F9-8AEC-D92F29485CAE}"/>
              </a:ext>
            </a:extLst>
          </p:cNvPr>
          <p:cNvGrpSpPr/>
          <p:nvPr/>
        </p:nvGrpSpPr>
        <p:grpSpPr>
          <a:xfrm>
            <a:off x="673100" y="3429000"/>
            <a:ext cx="6311900" cy="3200400"/>
            <a:chOff x="673100" y="3429000"/>
            <a:chExt cx="6311900" cy="3200400"/>
          </a:xfrm>
        </p:grpSpPr>
        <p:sp>
          <p:nvSpPr>
            <p:cNvPr id="27" name="正方形/長方形 26">
              <a:extLst>
                <a:ext uri="{FF2B5EF4-FFF2-40B4-BE49-F238E27FC236}">
                  <a16:creationId xmlns:a16="http://schemas.microsoft.com/office/drawing/2014/main" id="{0F9EDAF3-1324-4E86-B1EE-095BECF00F0C}"/>
                </a:ext>
              </a:extLst>
            </p:cNvPr>
            <p:cNvSpPr/>
            <p:nvPr/>
          </p:nvSpPr>
          <p:spPr>
            <a:xfrm>
              <a:off x="673100" y="3429000"/>
              <a:ext cx="6311900" cy="32004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D5181914-3B6B-4043-BA35-E9AF32453D56}"/>
                </a:ext>
              </a:extLst>
            </p:cNvPr>
            <p:cNvSpPr/>
            <p:nvPr/>
          </p:nvSpPr>
          <p:spPr>
            <a:xfrm>
              <a:off x="673100" y="5715000"/>
              <a:ext cx="6311900" cy="914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ED12367-7E54-418C-AB1C-119E8540F208}"/>
                </a:ext>
              </a:extLst>
            </p:cNvPr>
            <p:cNvSpPr/>
            <p:nvPr/>
          </p:nvSpPr>
          <p:spPr>
            <a:xfrm>
              <a:off x="673100" y="5511800"/>
              <a:ext cx="6311900" cy="2032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0E07D0AA-6FCC-46CC-9040-0C1B213B4F84}"/>
                </a:ext>
              </a:extLst>
            </p:cNvPr>
            <p:cNvGrpSpPr/>
            <p:nvPr/>
          </p:nvGrpSpPr>
          <p:grpSpPr>
            <a:xfrm>
              <a:off x="1333500" y="5133182"/>
              <a:ext cx="263525" cy="375179"/>
              <a:chOff x="1333500" y="5133182"/>
              <a:chExt cx="263525" cy="375179"/>
            </a:xfrm>
          </p:grpSpPr>
          <p:sp>
            <p:nvSpPr>
              <p:cNvPr id="74" name="二等辺三角形 73">
                <a:extLst>
                  <a:ext uri="{FF2B5EF4-FFF2-40B4-BE49-F238E27FC236}">
                    <a16:creationId xmlns:a16="http://schemas.microsoft.com/office/drawing/2014/main" id="{4C285A94-1E31-468C-84A0-F3EF6D4554F8}"/>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5" name="グループ化 74">
                <a:extLst>
                  <a:ext uri="{FF2B5EF4-FFF2-40B4-BE49-F238E27FC236}">
                    <a16:creationId xmlns:a16="http://schemas.microsoft.com/office/drawing/2014/main" id="{E1EC1963-18C7-4A19-8455-7903E8FC2F0F}"/>
                  </a:ext>
                </a:extLst>
              </p:cNvPr>
              <p:cNvGrpSpPr/>
              <p:nvPr/>
            </p:nvGrpSpPr>
            <p:grpSpPr>
              <a:xfrm>
                <a:off x="1333500" y="5133182"/>
                <a:ext cx="234950" cy="375179"/>
                <a:chOff x="2470150" y="4146021"/>
                <a:chExt cx="234950" cy="375179"/>
              </a:xfrm>
            </p:grpSpPr>
            <p:sp>
              <p:nvSpPr>
                <p:cNvPr id="76" name="二等辺三角形 75">
                  <a:extLst>
                    <a:ext uri="{FF2B5EF4-FFF2-40B4-BE49-F238E27FC236}">
                      <a16:creationId xmlns:a16="http://schemas.microsoft.com/office/drawing/2014/main" id="{A99234B7-7ED5-4440-920B-ED5EF79EC756}"/>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C5E31C0E-CBD9-433F-9587-44082DA10C5B}"/>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4" name="グループ化 33">
              <a:extLst>
                <a:ext uri="{FF2B5EF4-FFF2-40B4-BE49-F238E27FC236}">
                  <a16:creationId xmlns:a16="http://schemas.microsoft.com/office/drawing/2014/main" id="{772489CB-4117-4489-96BD-5FF33B324616}"/>
                </a:ext>
              </a:extLst>
            </p:cNvPr>
            <p:cNvGrpSpPr/>
            <p:nvPr/>
          </p:nvGrpSpPr>
          <p:grpSpPr>
            <a:xfrm>
              <a:off x="2651760" y="4234921"/>
              <a:ext cx="523240" cy="1276879"/>
              <a:chOff x="2457450" y="4234921"/>
              <a:chExt cx="717550" cy="1276879"/>
            </a:xfrm>
          </p:grpSpPr>
          <p:sp>
            <p:nvSpPr>
              <p:cNvPr id="72" name="正方形/長方形 71">
                <a:extLst>
                  <a:ext uri="{FF2B5EF4-FFF2-40B4-BE49-F238E27FC236}">
                    <a16:creationId xmlns:a16="http://schemas.microsoft.com/office/drawing/2014/main" id="{01C8316E-2315-4F47-8FE6-C7D322424664}"/>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AAF0BCC2-720D-4A44-8A41-0CAA116E8723}"/>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32744834-9ACF-470D-9D90-0F67E844740A}"/>
                </a:ext>
              </a:extLst>
            </p:cNvPr>
            <p:cNvGrpSpPr/>
            <p:nvPr/>
          </p:nvGrpSpPr>
          <p:grpSpPr>
            <a:xfrm>
              <a:off x="2874963" y="4009038"/>
              <a:ext cx="717550" cy="1497280"/>
              <a:chOff x="2457450" y="4173273"/>
              <a:chExt cx="717550" cy="1338527"/>
            </a:xfrm>
          </p:grpSpPr>
          <p:sp>
            <p:nvSpPr>
              <p:cNvPr id="70" name="正方形/長方形 69">
                <a:extLst>
                  <a:ext uri="{FF2B5EF4-FFF2-40B4-BE49-F238E27FC236}">
                    <a16:creationId xmlns:a16="http://schemas.microsoft.com/office/drawing/2014/main" id="{0D5478ED-5A1D-4208-9FB6-E91C680A0C3A}"/>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楕円 70">
                <a:extLst>
                  <a:ext uri="{FF2B5EF4-FFF2-40B4-BE49-F238E27FC236}">
                    <a16:creationId xmlns:a16="http://schemas.microsoft.com/office/drawing/2014/main" id="{040A60E1-EADF-467E-9288-306901602178}"/>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F46E83AB-A3B4-4C2F-BA55-78A06F8F714D}"/>
                </a:ext>
              </a:extLst>
            </p:cNvPr>
            <p:cNvGrpSpPr/>
            <p:nvPr/>
          </p:nvGrpSpPr>
          <p:grpSpPr>
            <a:xfrm>
              <a:off x="2710498" y="3759745"/>
              <a:ext cx="717550" cy="1741091"/>
              <a:chOff x="2457450" y="4173273"/>
              <a:chExt cx="717550" cy="1338527"/>
            </a:xfrm>
          </p:grpSpPr>
          <p:sp>
            <p:nvSpPr>
              <p:cNvPr id="68" name="正方形/長方形 67">
                <a:extLst>
                  <a:ext uri="{FF2B5EF4-FFF2-40B4-BE49-F238E27FC236}">
                    <a16:creationId xmlns:a16="http://schemas.microsoft.com/office/drawing/2014/main" id="{FB26C45F-19E7-4784-87D9-DB716EA6614F}"/>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C9AB9D78-A3C9-47A2-826F-87CFC12CCE38}"/>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C8BB772D-A8C3-4553-A0D6-BA1162DE8A69}"/>
                </a:ext>
              </a:extLst>
            </p:cNvPr>
            <p:cNvGrpSpPr/>
            <p:nvPr/>
          </p:nvGrpSpPr>
          <p:grpSpPr>
            <a:xfrm>
              <a:off x="3285490" y="4223957"/>
              <a:ext cx="523240" cy="1276879"/>
              <a:chOff x="2457450" y="4234921"/>
              <a:chExt cx="717550" cy="1276879"/>
            </a:xfrm>
          </p:grpSpPr>
          <p:sp>
            <p:nvSpPr>
              <p:cNvPr id="66" name="正方形/長方形 65">
                <a:extLst>
                  <a:ext uri="{FF2B5EF4-FFF2-40B4-BE49-F238E27FC236}">
                    <a16:creationId xmlns:a16="http://schemas.microsoft.com/office/drawing/2014/main" id="{B604506A-492E-40B2-BAD9-95D3AAB52930}"/>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44305A5C-A462-4BC7-A849-4C2A7FEB88FE}"/>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05B3A651-B748-40C6-A09D-823EF47CED2B}"/>
                </a:ext>
              </a:extLst>
            </p:cNvPr>
            <p:cNvGrpSpPr/>
            <p:nvPr/>
          </p:nvGrpSpPr>
          <p:grpSpPr>
            <a:xfrm>
              <a:off x="3508693" y="3998074"/>
              <a:ext cx="717550" cy="1497280"/>
              <a:chOff x="2457450" y="4173273"/>
              <a:chExt cx="717550" cy="1338527"/>
            </a:xfrm>
          </p:grpSpPr>
          <p:sp>
            <p:nvSpPr>
              <p:cNvPr id="64" name="正方形/長方形 63">
                <a:extLst>
                  <a:ext uri="{FF2B5EF4-FFF2-40B4-BE49-F238E27FC236}">
                    <a16:creationId xmlns:a16="http://schemas.microsoft.com/office/drawing/2014/main" id="{4768C74C-B910-422B-8477-F2DF99C50D83}"/>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3F9492B5-F2D0-4AD8-B70C-10966E702819}"/>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9" name="グループ化 38">
              <a:extLst>
                <a:ext uri="{FF2B5EF4-FFF2-40B4-BE49-F238E27FC236}">
                  <a16:creationId xmlns:a16="http://schemas.microsoft.com/office/drawing/2014/main" id="{5ADC8DB4-388E-49C9-BEE1-4A25223DEFF0}"/>
                </a:ext>
              </a:extLst>
            </p:cNvPr>
            <p:cNvGrpSpPr/>
            <p:nvPr/>
          </p:nvGrpSpPr>
          <p:grpSpPr>
            <a:xfrm>
              <a:off x="3359636" y="3770421"/>
              <a:ext cx="717550" cy="1741091"/>
              <a:chOff x="2457450" y="4173273"/>
              <a:chExt cx="717550" cy="1338527"/>
            </a:xfrm>
          </p:grpSpPr>
          <p:sp>
            <p:nvSpPr>
              <p:cNvPr id="62" name="正方形/長方形 61">
                <a:extLst>
                  <a:ext uri="{FF2B5EF4-FFF2-40B4-BE49-F238E27FC236}">
                    <a16:creationId xmlns:a16="http://schemas.microsoft.com/office/drawing/2014/main" id="{922DD165-C2C7-41BA-8092-23C005907595}"/>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D28BBBF8-C968-481E-8067-9321627A3370}"/>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0" name="グループ化 39">
              <a:extLst>
                <a:ext uri="{FF2B5EF4-FFF2-40B4-BE49-F238E27FC236}">
                  <a16:creationId xmlns:a16="http://schemas.microsoft.com/office/drawing/2014/main" id="{D2D4F4FB-D4AA-47C1-94DD-BC407E0BA4FD}"/>
                </a:ext>
              </a:extLst>
            </p:cNvPr>
            <p:cNvGrpSpPr/>
            <p:nvPr/>
          </p:nvGrpSpPr>
          <p:grpSpPr>
            <a:xfrm>
              <a:off x="3820795" y="4234921"/>
              <a:ext cx="523240" cy="1276879"/>
              <a:chOff x="2457450" y="4234921"/>
              <a:chExt cx="717550" cy="1276879"/>
            </a:xfrm>
          </p:grpSpPr>
          <p:sp>
            <p:nvSpPr>
              <p:cNvPr id="60" name="正方形/長方形 59">
                <a:extLst>
                  <a:ext uri="{FF2B5EF4-FFF2-40B4-BE49-F238E27FC236}">
                    <a16:creationId xmlns:a16="http://schemas.microsoft.com/office/drawing/2014/main" id="{30C4B03B-7A60-4C92-8DFF-42612437A796}"/>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0F59AD7B-023C-476C-9FEA-DDF8DF797FA7}"/>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CF8413C4-D32B-4F76-8795-BE915B244B38}"/>
                </a:ext>
              </a:extLst>
            </p:cNvPr>
            <p:cNvGrpSpPr/>
            <p:nvPr/>
          </p:nvGrpSpPr>
          <p:grpSpPr>
            <a:xfrm>
              <a:off x="4043998" y="4009038"/>
              <a:ext cx="717550" cy="1497280"/>
              <a:chOff x="2457450" y="4173273"/>
              <a:chExt cx="717550" cy="1338527"/>
            </a:xfrm>
          </p:grpSpPr>
          <p:sp>
            <p:nvSpPr>
              <p:cNvPr id="58" name="正方形/長方形 57">
                <a:extLst>
                  <a:ext uri="{FF2B5EF4-FFF2-40B4-BE49-F238E27FC236}">
                    <a16:creationId xmlns:a16="http://schemas.microsoft.com/office/drawing/2014/main" id="{4BCFACB1-C37B-4CE2-93DE-F58624924656}"/>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92876836-4827-4FB8-A613-7C7EE0A6F922}"/>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2" name="グループ化 41">
              <a:extLst>
                <a:ext uri="{FF2B5EF4-FFF2-40B4-BE49-F238E27FC236}">
                  <a16:creationId xmlns:a16="http://schemas.microsoft.com/office/drawing/2014/main" id="{716AE391-BC6C-43EE-A979-373629F4E1A0}"/>
                </a:ext>
              </a:extLst>
            </p:cNvPr>
            <p:cNvGrpSpPr/>
            <p:nvPr/>
          </p:nvGrpSpPr>
          <p:grpSpPr>
            <a:xfrm>
              <a:off x="3879533" y="3759745"/>
              <a:ext cx="717550" cy="1741091"/>
              <a:chOff x="2457450" y="4173273"/>
              <a:chExt cx="717550" cy="1338527"/>
            </a:xfrm>
          </p:grpSpPr>
          <p:sp>
            <p:nvSpPr>
              <p:cNvPr id="55" name="正方形/長方形 54">
                <a:extLst>
                  <a:ext uri="{FF2B5EF4-FFF2-40B4-BE49-F238E27FC236}">
                    <a16:creationId xmlns:a16="http://schemas.microsoft.com/office/drawing/2014/main" id="{AB10D4F9-A905-46C0-B3FF-8725785F435C}"/>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0FF67D8F-4446-4B23-AFF7-C17E5D76C1F4}"/>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3" name="グループ化 42">
              <a:extLst>
                <a:ext uri="{FF2B5EF4-FFF2-40B4-BE49-F238E27FC236}">
                  <a16:creationId xmlns:a16="http://schemas.microsoft.com/office/drawing/2014/main" id="{A08A37CE-3657-48BA-ADA0-ABB877994D3A}"/>
                </a:ext>
              </a:extLst>
            </p:cNvPr>
            <p:cNvGrpSpPr/>
            <p:nvPr/>
          </p:nvGrpSpPr>
          <p:grpSpPr>
            <a:xfrm>
              <a:off x="839956" y="3567221"/>
              <a:ext cx="131763" cy="203200"/>
              <a:chOff x="1333500" y="5133182"/>
              <a:chExt cx="263525" cy="375179"/>
            </a:xfrm>
          </p:grpSpPr>
          <p:sp>
            <p:nvSpPr>
              <p:cNvPr id="51" name="二等辺三角形 50">
                <a:extLst>
                  <a:ext uri="{FF2B5EF4-FFF2-40B4-BE49-F238E27FC236}">
                    <a16:creationId xmlns:a16="http://schemas.microsoft.com/office/drawing/2014/main" id="{91655F79-219A-4E9D-9425-BF4B9ED43BDC}"/>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2" name="グループ化 51">
                <a:extLst>
                  <a:ext uri="{FF2B5EF4-FFF2-40B4-BE49-F238E27FC236}">
                    <a16:creationId xmlns:a16="http://schemas.microsoft.com/office/drawing/2014/main" id="{A18B4E79-4FA4-4DDC-89E0-81FDE1ADA809}"/>
                  </a:ext>
                </a:extLst>
              </p:cNvPr>
              <p:cNvGrpSpPr/>
              <p:nvPr/>
            </p:nvGrpSpPr>
            <p:grpSpPr>
              <a:xfrm>
                <a:off x="1333500" y="5133182"/>
                <a:ext cx="234950" cy="375179"/>
                <a:chOff x="2470150" y="4146021"/>
                <a:chExt cx="234950" cy="375179"/>
              </a:xfrm>
            </p:grpSpPr>
            <p:sp>
              <p:nvSpPr>
                <p:cNvPr id="53" name="二等辺三角形 52">
                  <a:extLst>
                    <a:ext uri="{FF2B5EF4-FFF2-40B4-BE49-F238E27FC236}">
                      <a16:creationId xmlns:a16="http://schemas.microsoft.com/office/drawing/2014/main" id="{230525B3-2343-4379-85D9-3AC229FA6060}"/>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4E34FE97-70E3-4452-B156-DACD93ABF60D}"/>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4" name="テキスト ボックス 43">
              <a:extLst>
                <a:ext uri="{FF2B5EF4-FFF2-40B4-BE49-F238E27FC236}">
                  <a16:creationId xmlns:a16="http://schemas.microsoft.com/office/drawing/2014/main" id="{03F942E3-EB57-4B48-BA20-D2B7C3261DF5}"/>
                </a:ext>
              </a:extLst>
            </p:cNvPr>
            <p:cNvSpPr txBox="1"/>
            <p:nvPr/>
          </p:nvSpPr>
          <p:spPr>
            <a:xfrm>
              <a:off x="963923" y="3525195"/>
              <a:ext cx="399468" cy="338554"/>
            </a:xfrm>
            <a:prstGeom prst="rect">
              <a:avLst/>
            </a:prstGeom>
            <a:noFill/>
          </p:spPr>
          <p:txBody>
            <a:bodyPr wrap="none" rtlCol="0">
              <a:spAutoFit/>
            </a:bodyPr>
            <a:lstStyle/>
            <a:p>
              <a:r>
                <a:rPr kumimoji="1" lang="en-US" altLang="ja-JP" sz="1600" dirty="0"/>
                <a:t>x3</a:t>
              </a:r>
              <a:endParaRPr kumimoji="1" lang="en-US" altLang="ja-JP" sz="1600" b="1" dirty="0">
                <a:solidFill>
                  <a:srgbClr val="FF0000"/>
                </a:solidFill>
              </a:endParaRPr>
            </a:p>
          </p:txBody>
        </p:sp>
        <p:sp>
          <p:nvSpPr>
            <p:cNvPr id="45" name="四角形: 角度付き 44">
              <a:extLst>
                <a:ext uri="{FF2B5EF4-FFF2-40B4-BE49-F238E27FC236}">
                  <a16:creationId xmlns:a16="http://schemas.microsoft.com/office/drawing/2014/main" id="{0578A5DD-19CC-45D4-AF5E-F85172979CB3}"/>
                </a:ext>
              </a:extLst>
            </p:cNvPr>
            <p:cNvSpPr/>
            <p:nvPr/>
          </p:nvSpPr>
          <p:spPr>
            <a:xfrm>
              <a:off x="5045885" y="523822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四角形: 角度付き 45">
              <a:extLst>
                <a:ext uri="{FF2B5EF4-FFF2-40B4-BE49-F238E27FC236}">
                  <a16:creationId xmlns:a16="http://schemas.microsoft.com/office/drawing/2014/main" id="{CC76B786-EF94-4B7B-9D15-0F887A958AC9}"/>
                </a:ext>
              </a:extLst>
            </p:cNvPr>
            <p:cNvSpPr/>
            <p:nvPr/>
          </p:nvSpPr>
          <p:spPr>
            <a:xfrm>
              <a:off x="5332746" y="5238539"/>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四角形: 角度付き 46">
              <a:extLst>
                <a:ext uri="{FF2B5EF4-FFF2-40B4-BE49-F238E27FC236}">
                  <a16:creationId xmlns:a16="http://schemas.microsoft.com/office/drawing/2014/main" id="{7F3FCF2B-2C3C-4C8B-96D8-8D84F120931F}"/>
                </a:ext>
              </a:extLst>
            </p:cNvPr>
            <p:cNvSpPr/>
            <p:nvPr/>
          </p:nvSpPr>
          <p:spPr>
            <a:xfrm>
              <a:off x="5617392" y="523822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 角度付き 47">
              <a:extLst>
                <a:ext uri="{FF2B5EF4-FFF2-40B4-BE49-F238E27FC236}">
                  <a16:creationId xmlns:a16="http://schemas.microsoft.com/office/drawing/2014/main" id="{A7AD0711-224D-488B-8C2E-8F32274A4004}"/>
                </a:ext>
              </a:extLst>
            </p:cNvPr>
            <p:cNvSpPr/>
            <p:nvPr/>
          </p:nvSpPr>
          <p:spPr>
            <a:xfrm>
              <a:off x="5904253" y="523854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四角形: 角度付き 48">
              <a:extLst>
                <a:ext uri="{FF2B5EF4-FFF2-40B4-BE49-F238E27FC236}">
                  <a16:creationId xmlns:a16="http://schemas.microsoft.com/office/drawing/2014/main" id="{B5C934BA-D34A-4B4C-8A76-63B9E194E99A}"/>
                </a:ext>
              </a:extLst>
            </p:cNvPr>
            <p:cNvSpPr/>
            <p:nvPr/>
          </p:nvSpPr>
          <p:spPr>
            <a:xfrm>
              <a:off x="5617387" y="496199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四角形: 角度付き 49">
              <a:extLst>
                <a:ext uri="{FF2B5EF4-FFF2-40B4-BE49-F238E27FC236}">
                  <a16:creationId xmlns:a16="http://schemas.microsoft.com/office/drawing/2014/main" id="{DB6D8B3A-CD99-436A-85B0-ED3D9890170A}"/>
                </a:ext>
              </a:extLst>
            </p:cNvPr>
            <p:cNvSpPr/>
            <p:nvPr/>
          </p:nvSpPr>
          <p:spPr>
            <a:xfrm>
              <a:off x="5904248" y="496231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8" name="テキスト ボックス 77">
            <a:extLst>
              <a:ext uri="{FF2B5EF4-FFF2-40B4-BE49-F238E27FC236}">
                <a16:creationId xmlns:a16="http://schemas.microsoft.com/office/drawing/2014/main" id="{3CF2F95C-CDEB-45B1-9F2A-54BEE0782C4B}"/>
              </a:ext>
            </a:extLst>
          </p:cNvPr>
          <p:cNvSpPr txBox="1"/>
          <p:nvPr/>
        </p:nvSpPr>
        <p:spPr>
          <a:xfrm>
            <a:off x="6096000" y="3539588"/>
            <a:ext cx="800219" cy="461665"/>
          </a:xfrm>
          <a:prstGeom prst="rect">
            <a:avLst/>
          </a:prstGeom>
          <a:noFill/>
        </p:spPr>
        <p:txBody>
          <a:bodyPr wrap="none" rtlCol="0">
            <a:spAutoFit/>
          </a:bodyPr>
          <a:lstStyle/>
          <a:p>
            <a:r>
              <a:rPr kumimoji="1" lang="ja-JP" altLang="en-US" sz="2400" b="1" dirty="0"/>
              <a:t>裏側</a:t>
            </a:r>
            <a:endParaRPr kumimoji="1" lang="en-US" altLang="ja-JP" sz="2400" b="1" dirty="0"/>
          </a:p>
        </p:txBody>
      </p:sp>
      <p:sp>
        <p:nvSpPr>
          <p:cNvPr id="79" name="テキスト ボックス 78">
            <a:extLst>
              <a:ext uri="{FF2B5EF4-FFF2-40B4-BE49-F238E27FC236}">
                <a16:creationId xmlns:a16="http://schemas.microsoft.com/office/drawing/2014/main" id="{38F4EC60-8298-40C6-A523-25466855FC38}"/>
              </a:ext>
            </a:extLst>
          </p:cNvPr>
          <p:cNvSpPr txBox="1"/>
          <p:nvPr/>
        </p:nvSpPr>
        <p:spPr>
          <a:xfrm>
            <a:off x="7080885" y="3429000"/>
            <a:ext cx="4801314" cy="1200329"/>
          </a:xfrm>
          <a:prstGeom prst="rect">
            <a:avLst/>
          </a:prstGeom>
          <a:noFill/>
        </p:spPr>
        <p:txBody>
          <a:bodyPr wrap="none" rtlCol="0">
            <a:spAutoFit/>
          </a:bodyPr>
          <a:lstStyle/>
          <a:p>
            <a:r>
              <a:rPr kumimoji="1" lang="ja-JP" altLang="en-US" sz="2400" b="1" dirty="0">
                <a:solidFill>
                  <a:srgbClr val="FF0000"/>
                </a:solidFill>
              </a:rPr>
              <a:t>全部描いたら</a:t>
            </a:r>
            <a:endParaRPr kumimoji="1" lang="en-US" altLang="ja-JP" sz="2400" b="1" dirty="0">
              <a:solidFill>
                <a:srgbClr val="FF0000"/>
              </a:solidFill>
            </a:endParaRPr>
          </a:p>
          <a:p>
            <a:r>
              <a:rPr kumimoji="1" lang="ja-JP" altLang="en-US" sz="2400" b="1" dirty="0">
                <a:solidFill>
                  <a:srgbClr val="FF0000"/>
                </a:solidFill>
              </a:rPr>
              <a:t>裏返してディスプレイに映す！</a:t>
            </a:r>
            <a:endParaRPr kumimoji="1" lang="en-US" altLang="ja-JP" sz="2400" b="1" dirty="0">
              <a:solidFill>
                <a:srgbClr val="FF0000"/>
              </a:solidFill>
            </a:endParaRPr>
          </a:p>
          <a:p>
            <a:r>
              <a:rPr lang="ja-JP" altLang="en-US" sz="2400" dirty="0"/>
              <a:t>（裏返すプログラムは後程。。）</a:t>
            </a:r>
            <a:endParaRPr lang="en-US" altLang="ja-JP" sz="2400" dirty="0"/>
          </a:p>
        </p:txBody>
      </p:sp>
    </p:spTree>
    <p:extLst>
      <p:ext uri="{BB962C8B-B14F-4D97-AF65-F5344CB8AC3E}">
        <p14:creationId xmlns:p14="http://schemas.microsoft.com/office/powerpoint/2010/main" val="1904371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956846" cy="1569660"/>
          </a:xfrm>
          <a:prstGeom prst="rect">
            <a:avLst/>
          </a:prstGeom>
          <a:noFill/>
        </p:spPr>
        <p:txBody>
          <a:bodyPr wrap="none" rtlCol="0">
            <a:spAutoFit/>
          </a:bodyPr>
          <a:lstStyle/>
          <a:p>
            <a:r>
              <a:rPr kumimoji="1" lang="ja-JP" altLang="en-US" sz="2400" dirty="0"/>
              <a:t>ゲームの画面は</a:t>
            </a:r>
            <a:endParaRPr kumimoji="1" lang="en-US" altLang="ja-JP" sz="2400" dirty="0"/>
          </a:p>
          <a:p>
            <a:r>
              <a:rPr kumimoji="1" lang="ja-JP" altLang="en-US" sz="2400" dirty="0"/>
              <a:t>「</a:t>
            </a:r>
            <a:r>
              <a:rPr kumimoji="1" lang="ja-JP" altLang="en-US" sz="2400" b="1" dirty="0">
                <a:solidFill>
                  <a:srgbClr val="FF0000"/>
                </a:solidFill>
              </a:rPr>
              <a:t>裏面描画→フリップ→裏面描画→フリップ</a:t>
            </a:r>
            <a:r>
              <a:rPr kumimoji="1" lang="ja-JP" altLang="en-US" sz="2400" dirty="0"/>
              <a:t>」の繰り返しを高速で行い、</a:t>
            </a:r>
            <a:endParaRPr kumimoji="1" lang="en-US" altLang="ja-JP" sz="2400" dirty="0"/>
          </a:p>
          <a:p>
            <a:r>
              <a:rPr lang="ja-JP" altLang="en-US" sz="2400" dirty="0"/>
              <a:t>パラパラ漫画の方法で動かします。</a:t>
            </a:r>
            <a:endParaRPr lang="en-US" altLang="ja-JP" sz="2400" dirty="0"/>
          </a:p>
          <a:p>
            <a:r>
              <a:rPr kumimoji="1" lang="ja-JP" altLang="en-US" sz="2400" dirty="0"/>
              <a:t>このように板の両面を使用した描画方法を、</a:t>
            </a:r>
            <a:r>
              <a:rPr lang="ja-JP" altLang="en-US" sz="2400" b="1" dirty="0">
                <a:solidFill>
                  <a:srgbClr val="FF0000"/>
                </a:solidFill>
              </a:rPr>
              <a:t>ダブルバッファリング</a:t>
            </a:r>
            <a:r>
              <a:rPr lang="ja-JP" altLang="en-US" sz="2400" dirty="0"/>
              <a:t>と言います</a:t>
            </a:r>
            <a:endParaRPr kumimoji="1" lang="en-US" altLang="ja-JP" sz="2400" dirty="0"/>
          </a:p>
        </p:txBody>
      </p:sp>
      <p:grpSp>
        <p:nvGrpSpPr>
          <p:cNvPr id="26" name="グループ化 25">
            <a:extLst>
              <a:ext uri="{FF2B5EF4-FFF2-40B4-BE49-F238E27FC236}">
                <a16:creationId xmlns:a16="http://schemas.microsoft.com/office/drawing/2014/main" id="{BE1DCCF8-EC03-47F9-8AEC-D92F29485CAE}"/>
              </a:ext>
            </a:extLst>
          </p:cNvPr>
          <p:cNvGrpSpPr/>
          <p:nvPr/>
        </p:nvGrpSpPr>
        <p:grpSpPr>
          <a:xfrm>
            <a:off x="583500" y="2938215"/>
            <a:ext cx="3153833" cy="2057400"/>
            <a:chOff x="673100" y="3429000"/>
            <a:chExt cx="6311900" cy="3200400"/>
          </a:xfrm>
        </p:grpSpPr>
        <p:sp>
          <p:nvSpPr>
            <p:cNvPr id="27" name="正方形/長方形 26">
              <a:extLst>
                <a:ext uri="{FF2B5EF4-FFF2-40B4-BE49-F238E27FC236}">
                  <a16:creationId xmlns:a16="http://schemas.microsoft.com/office/drawing/2014/main" id="{0F9EDAF3-1324-4E86-B1EE-095BECF00F0C}"/>
                </a:ext>
              </a:extLst>
            </p:cNvPr>
            <p:cNvSpPr/>
            <p:nvPr/>
          </p:nvSpPr>
          <p:spPr>
            <a:xfrm>
              <a:off x="673100" y="3429000"/>
              <a:ext cx="6311900" cy="32004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正方形/長方形 27">
              <a:extLst>
                <a:ext uri="{FF2B5EF4-FFF2-40B4-BE49-F238E27FC236}">
                  <a16:creationId xmlns:a16="http://schemas.microsoft.com/office/drawing/2014/main" id="{D5181914-3B6B-4043-BA35-E9AF32453D56}"/>
                </a:ext>
              </a:extLst>
            </p:cNvPr>
            <p:cNvSpPr/>
            <p:nvPr/>
          </p:nvSpPr>
          <p:spPr>
            <a:xfrm>
              <a:off x="673100" y="5715000"/>
              <a:ext cx="6311900" cy="914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正方形/長方形 31">
              <a:extLst>
                <a:ext uri="{FF2B5EF4-FFF2-40B4-BE49-F238E27FC236}">
                  <a16:creationId xmlns:a16="http://schemas.microsoft.com/office/drawing/2014/main" id="{1ED12367-7E54-418C-AB1C-119E8540F208}"/>
                </a:ext>
              </a:extLst>
            </p:cNvPr>
            <p:cNvSpPr/>
            <p:nvPr/>
          </p:nvSpPr>
          <p:spPr>
            <a:xfrm>
              <a:off x="673100" y="5511800"/>
              <a:ext cx="6311900" cy="2032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3" name="グループ化 32">
              <a:extLst>
                <a:ext uri="{FF2B5EF4-FFF2-40B4-BE49-F238E27FC236}">
                  <a16:creationId xmlns:a16="http://schemas.microsoft.com/office/drawing/2014/main" id="{0E07D0AA-6FCC-46CC-9040-0C1B213B4F84}"/>
                </a:ext>
              </a:extLst>
            </p:cNvPr>
            <p:cNvGrpSpPr/>
            <p:nvPr/>
          </p:nvGrpSpPr>
          <p:grpSpPr>
            <a:xfrm>
              <a:off x="1333500" y="5133182"/>
              <a:ext cx="263525" cy="375179"/>
              <a:chOff x="1333500" y="5133182"/>
              <a:chExt cx="263525" cy="375179"/>
            </a:xfrm>
          </p:grpSpPr>
          <p:sp>
            <p:nvSpPr>
              <p:cNvPr id="74" name="二等辺三角形 73">
                <a:extLst>
                  <a:ext uri="{FF2B5EF4-FFF2-40B4-BE49-F238E27FC236}">
                    <a16:creationId xmlns:a16="http://schemas.microsoft.com/office/drawing/2014/main" id="{4C285A94-1E31-468C-84A0-F3EF6D4554F8}"/>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75" name="グループ化 74">
                <a:extLst>
                  <a:ext uri="{FF2B5EF4-FFF2-40B4-BE49-F238E27FC236}">
                    <a16:creationId xmlns:a16="http://schemas.microsoft.com/office/drawing/2014/main" id="{E1EC1963-18C7-4A19-8455-7903E8FC2F0F}"/>
                  </a:ext>
                </a:extLst>
              </p:cNvPr>
              <p:cNvGrpSpPr/>
              <p:nvPr/>
            </p:nvGrpSpPr>
            <p:grpSpPr>
              <a:xfrm>
                <a:off x="1333500" y="5133182"/>
                <a:ext cx="234950" cy="375179"/>
                <a:chOff x="2470150" y="4146021"/>
                <a:chExt cx="234950" cy="375179"/>
              </a:xfrm>
            </p:grpSpPr>
            <p:sp>
              <p:nvSpPr>
                <p:cNvPr id="76" name="二等辺三角形 75">
                  <a:extLst>
                    <a:ext uri="{FF2B5EF4-FFF2-40B4-BE49-F238E27FC236}">
                      <a16:creationId xmlns:a16="http://schemas.microsoft.com/office/drawing/2014/main" id="{A99234B7-7ED5-4440-920B-ED5EF79EC756}"/>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楕円 76">
                  <a:extLst>
                    <a:ext uri="{FF2B5EF4-FFF2-40B4-BE49-F238E27FC236}">
                      <a16:creationId xmlns:a16="http://schemas.microsoft.com/office/drawing/2014/main" id="{C5E31C0E-CBD9-433F-9587-44082DA10C5B}"/>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34" name="グループ化 33">
              <a:extLst>
                <a:ext uri="{FF2B5EF4-FFF2-40B4-BE49-F238E27FC236}">
                  <a16:creationId xmlns:a16="http://schemas.microsoft.com/office/drawing/2014/main" id="{772489CB-4117-4489-96BD-5FF33B324616}"/>
                </a:ext>
              </a:extLst>
            </p:cNvPr>
            <p:cNvGrpSpPr/>
            <p:nvPr/>
          </p:nvGrpSpPr>
          <p:grpSpPr>
            <a:xfrm>
              <a:off x="2651760" y="4234921"/>
              <a:ext cx="523240" cy="1276879"/>
              <a:chOff x="2457450" y="4234921"/>
              <a:chExt cx="717550" cy="1276879"/>
            </a:xfrm>
          </p:grpSpPr>
          <p:sp>
            <p:nvSpPr>
              <p:cNvPr id="72" name="正方形/長方形 71">
                <a:extLst>
                  <a:ext uri="{FF2B5EF4-FFF2-40B4-BE49-F238E27FC236}">
                    <a16:creationId xmlns:a16="http://schemas.microsoft.com/office/drawing/2014/main" id="{01C8316E-2315-4F47-8FE6-C7D322424664}"/>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3" name="楕円 72">
                <a:extLst>
                  <a:ext uri="{FF2B5EF4-FFF2-40B4-BE49-F238E27FC236}">
                    <a16:creationId xmlns:a16="http://schemas.microsoft.com/office/drawing/2014/main" id="{AAF0BCC2-720D-4A44-8A41-0CAA116E8723}"/>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5" name="グループ化 34">
              <a:extLst>
                <a:ext uri="{FF2B5EF4-FFF2-40B4-BE49-F238E27FC236}">
                  <a16:creationId xmlns:a16="http://schemas.microsoft.com/office/drawing/2014/main" id="{32744834-9ACF-470D-9D90-0F67E844740A}"/>
                </a:ext>
              </a:extLst>
            </p:cNvPr>
            <p:cNvGrpSpPr/>
            <p:nvPr/>
          </p:nvGrpSpPr>
          <p:grpSpPr>
            <a:xfrm>
              <a:off x="2874963" y="4009038"/>
              <a:ext cx="717550" cy="1497280"/>
              <a:chOff x="2457450" y="4173273"/>
              <a:chExt cx="717550" cy="1338527"/>
            </a:xfrm>
          </p:grpSpPr>
          <p:sp>
            <p:nvSpPr>
              <p:cNvPr id="70" name="正方形/長方形 69">
                <a:extLst>
                  <a:ext uri="{FF2B5EF4-FFF2-40B4-BE49-F238E27FC236}">
                    <a16:creationId xmlns:a16="http://schemas.microsoft.com/office/drawing/2014/main" id="{0D5478ED-5A1D-4208-9FB6-E91C680A0C3A}"/>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1" name="楕円 70">
                <a:extLst>
                  <a:ext uri="{FF2B5EF4-FFF2-40B4-BE49-F238E27FC236}">
                    <a16:creationId xmlns:a16="http://schemas.microsoft.com/office/drawing/2014/main" id="{040A60E1-EADF-467E-9288-306901602178}"/>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6" name="グループ化 35">
              <a:extLst>
                <a:ext uri="{FF2B5EF4-FFF2-40B4-BE49-F238E27FC236}">
                  <a16:creationId xmlns:a16="http://schemas.microsoft.com/office/drawing/2014/main" id="{F46E83AB-A3B4-4C2F-BA55-78A06F8F714D}"/>
                </a:ext>
              </a:extLst>
            </p:cNvPr>
            <p:cNvGrpSpPr/>
            <p:nvPr/>
          </p:nvGrpSpPr>
          <p:grpSpPr>
            <a:xfrm>
              <a:off x="2710498" y="3759745"/>
              <a:ext cx="717550" cy="1741091"/>
              <a:chOff x="2457450" y="4173273"/>
              <a:chExt cx="717550" cy="1338527"/>
            </a:xfrm>
          </p:grpSpPr>
          <p:sp>
            <p:nvSpPr>
              <p:cNvPr id="68" name="正方形/長方形 67">
                <a:extLst>
                  <a:ext uri="{FF2B5EF4-FFF2-40B4-BE49-F238E27FC236}">
                    <a16:creationId xmlns:a16="http://schemas.microsoft.com/office/drawing/2014/main" id="{FB26C45F-19E7-4784-87D9-DB716EA6614F}"/>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9" name="楕円 68">
                <a:extLst>
                  <a:ext uri="{FF2B5EF4-FFF2-40B4-BE49-F238E27FC236}">
                    <a16:creationId xmlns:a16="http://schemas.microsoft.com/office/drawing/2014/main" id="{C9AB9D78-A3C9-47A2-826F-87CFC12CCE38}"/>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7" name="グループ化 36">
              <a:extLst>
                <a:ext uri="{FF2B5EF4-FFF2-40B4-BE49-F238E27FC236}">
                  <a16:creationId xmlns:a16="http://schemas.microsoft.com/office/drawing/2014/main" id="{C8BB772D-A8C3-4553-A0D6-BA1162DE8A69}"/>
                </a:ext>
              </a:extLst>
            </p:cNvPr>
            <p:cNvGrpSpPr/>
            <p:nvPr/>
          </p:nvGrpSpPr>
          <p:grpSpPr>
            <a:xfrm>
              <a:off x="3285490" y="4223957"/>
              <a:ext cx="523240" cy="1276879"/>
              <a:chOff x="2457450" y="4234921"/>
              <a:chExt cx="717550" cy="1276879"/>
            </a:xfrm>
          </p:grpSpPr>
          <p:sp>
            <p:nvSpPr>
              <p:cNvPr id="66" name="正方形/長方形 65">
                <a:extLst>
                  <a:ext uri="{FF2B5EF4-FFF2-40B4-BE49-F238E27FC236}">
                    <a16:creationId xmlns:a16="http://schemas.microsoft.com/office/drawing/2014/main" id="{B604506A-492E-40B2-BAD9-95D3AAB52930}"/>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7" name="楕円 66">
                <a:extLst>
                  <a:ext uri="{FF2B5EF4-FFF2-40B4-BE49-F238E27FC236}">
                    <a16:creationId xmlns:a16="http://schemas.microsoft.com/office/drawing/2014/main" id="{44305A5C-A462-4BC7-A849-4C2A7FEB88FE}"/>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8" name="グループ化 37">
              <a:extLst>
                <a:ext uri="{FF2B5EF4-FFF2-40B4-BE49-F238E27FC236}">
                  <a16:creationId xmlns:a16="http://schemas.microsoft.com/office/drawing/2014/main" id="{05B3A651-B748-40C6-A09D-823EF47CED2B}"/>
                </a:ext>
              </a:extLst>
            </p:cNvPr>
            <p:cNvGrpSpPr/>
            <p:nvPr/>
          </p:nvGrpSpPr>
          <p:grpSpPr>
            <a:xfrm>
              <a:off x="3508693" y="3998074"/>
              <a:ext cx="717550" cy="1497280"/>
              <a:chOff x="2457450" y="4173273"/>
              <a:chExt cx="717550" cy="1338527"/>
            </a:xfrm>
          </p:grpSpPr>
          <p:sp>
            <p:nvSpPr>
              <p:cNvPr id="64" name="正方形/長方形 63">
                <a:extLst>
                  <a:ext uri="{FF2B5EF4-FFF2-40B4-BE49-F238E27FC236}">
                    <a16:creationId xmlns:a16="http://schemas.microsoft.com/office/drawing/2014/main" id="{4768C74C-B910-422B-8477-F2DF99C50D83}"/>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楕円 64">
                <a:extLst>
                  <a:ext uri="{FF2B5EF4-FFF2-40B4-BE49-F238E27FC236}">
                    <a16:creationId xmlns:a16="http://schemas.microsoft.com/office/drawing/2014/main" id="{3F9492B5-F2D0-4AD8-B70C-10966E702819}"/>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39" name="グループ化 38">
              <a:extLst>
                <a:ext uri="{FF2B5EF4-FFF2-40B4-BE49-F238E27FC236}">
                  <a16:creationId xmlns:a16="http://schemas.microsoft.com/office/drawing/2014/main" id="{5ADC8DB4-388E-49C9-BEE1-4A25223DEFF0}"/>
                </a:ext>
              </a:extLst>
            </p:cNvPr>
            <p:cNvGrpSpPr/>
            <p:nvPr/>
          </p:nvGrpSpPr>
          <p:grpSpPr>
            <a:xfrm>
              <a:off x="3359636" y="3770421"/>
              <a:ext cx="717550" cy="1741091"/>
              <a:chOff x="2457450" y="4173273"/>
              <a:chExt cx="717550" cy="1338527"/>
            </a:xfrm>
          </p:grpSpPr>
          <p:sp>
            <p:nvSpPr>
              <p:cNvPr id="62" name="正方形/長方形 61">
                <a:extLst>
                  <a:ext uri="{FF2B5EF4-FFF2-40B4-BE49-F238E27FC236}">
                    <a16:creationId xmlns:a16="http://schemas.microsoft.com/office/drawing/2014/main" id="{922DD165-C2C7-41BA-8092-23C005907595}"/>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楕円 62">
                <a:extLst>
                  <a:ext uri="{FF2B5EF4-FFF2-40B4-BE49-F238E27FC236}">
                    <a16:creationId xmlns:a16="http://schemas.microsoft.com/office/drawing/2014/main" id="{D28BBBF8-C968-481E-8067-9321627A3370}"/>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0" name="グループ化 39">
              <a:extLst>
                <a:ext uri="{FF2B5EF4-FFF2-40B4-BE49-F238E27FC236}">
                  <a16:creationId xmlns:a16="http://schemas.microsoft.com/office/drawing/2014/main" id="{D2D4F4FB-D4AA-47C1-94DD-BC407E0BA4FD}"/>
                </a:ext>
              </a:extLst>
            </p:cNvPr>
            <p:cNvGrpSpPr/>
            <p:nvPr/>
          </p:nvGrpSpPr>
          <p:grpSpPr>
            <a:xfrm>
              <a:off x="3820795" y="4234921"/>
              <a:ext cx="523240" cy="1276879"/>
              <a:chOff x="2457450" y="4234921"/>
              <a:chExt cx="717550" cy="1276879"/>
            </a:xfrm>
          </p:grpSpPr>
          <p:sp>
            <p:nvSpPr>
              <p:cNvPr id="60" name="正方形/長方形 59">
                <a:extLst>
                  <a:ext uri="{FF2B5EF4-FFF2-40B4-BE49-F238E27FC236}">
                    <a16:creationId xmlns:a16="http://schemas.microsoft.com/office/drawing/2014/main" id="{30C4B03B-7A60-4C92-8DFF-42612437A796}"/>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楕円 60">
                <a:extLst>
                  <a:ext uri="{FF2B5EF4-FFF2-40B4-BE49-F238E27FC236}">
                    <a16:creationId xmlns:a16="http://schemas.microsoft.com/office/drawing/2014/main" id="{0F59AD7B-023C-476C-9FEA-DDF8DF797FA7}"/>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1" name="グループ化 40">
              <a:extLst>
                <a:ext uri="{FF2B5EF4-FFF2-40B4-BE49-F238E27FC236}">
                  <a16:creationId xmlns:a16="http://schemas.microsoft.com/office/drawing/2014/main" id="{CF8413C4-D32B-4F76-8795-BE915B244B38}"/>
                </a:ext>
              </a:extLst>
            </p:cNvPr>
            <p:cNvGrpSpPr/>
            <p:nvPr/>
          </p:nvGrpSpPr>
          <p:grpSpPr>
            <a:xfrm>
              <a:off x="4043998" y="4009038"/>
              <a:ext cx="717550" cy="1497280"/>
              <a:chOff x="2457450" y="4173273"/>
              <a:chExt cx="717550" cy="1338527"/>
            </a:xfrm>
          </p:grpSpPr>
          <p:sp>
            <p:nvSpPr>
              <p:cNvPr id="58" name="正方形/長方形 57">
                <a:extLst>
                  <a:ext uri="{FF2B5EF4-FFF2-40B4-BE49-F238E27FC236}">
                    <a16:creationId xmlns:a16="http://schemas.microsoft.com/office/drawing/2014/main" id="{4BCFACB1-C37B-4CE2-93DE-F58624924656}"/>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9" name="楕円 58">
                <a:extLst>
                  <a:ext uri="{FF2B5EF4-FFF2-40B4-BE49-F238E27FC236}">
                    <a16:creationId xmlns:a16="http://schemas.microsoft.com/office/drawing/2014/main" id="{92876836-4827-4FB8-A613-7C7EE0A6F922}"/>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2" name="グループ化 41">
              <a:extLst>
                <a:ext uri="{FF2B5EF4-FFF2-40B4-BE49-F238E27FC236}">
                  <a16:creationId xmlns:a16="http://schemas.microsoft.com/office/drawing/2014/main" id="{716AE391-BC6C-43EE-A979-373629F4E1A0}"/>
                </a:ext>
              </a:extLst>
            </p:cNvPr>
            <p:cNvGrpSpPr/>
            <p:nvPr/>
          </p:nvGrpSpPr>
          <p:grpSpPr>
            <a:xfrm>
              <a:off x="3879533" y="3759745"/>
              <a:ext cx="717550" cy="1741091"/>
              <a:chOff x="2457450" y="4173273"/>
              <a:chExt cx="717550" cy="1338527"/>
            </a:xfrm>
          </p:grpSpPr>
          <p:sp>
            <p:nvSpPr>
              <p:cNvPr id="55" name="正方形/長方形 54">
                <a:extLst>
                  <a:ext uri="{FF2B5EF4-FFF2-40B4-BE49-F238E27FC236}">
                    <a16:creationId xmlns:a16="http://schemas.microsoft.com/office/drawing/2014/main" id="{AB10D4F9-A905-46C0-B3FF-8725785F435C}"/>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7" name="楕円 56">
                <a:extLst>
                  <a:ext uri="{FF2B5EF4-FFF2-40B4-BE49-F238E27FC236}">
                    <a16:creationId xmlns:a16="http://schemas.microsoft.com/office/drawing/2014/main" id="{0FF67D8F-4446-4B23-AFF7-C17E5D76C1F4}"/>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3" name="グループ化 42">
              <a:extLst>
                <a:ext uri="{FF2B5EF4-FFF2-40B4-BE49-F238E27FC236}">
                  <a16:creationId xmlns:a16="http://schemas.microsoft.com/office/drawing/2014/main" id="{A08A37CE-3657-48BA-ADA0-ABB877994D3A}"/>
                </a:ext>
              </a:extLst>
            </p:cNvPr>
            <p:cNvGrpSpPr/>
            <p:nvPr/>
          </p:nvGrpSpPr>
          <p:grpSpPr>
            <a:xfrm>
              <a:off x="839956" y="3567221"/>
              <a:ext cx="131763" cy="203200"/>
              <a:chOff x="1333500" y="5133182"/>
              <a:chExt cx="263525" cy="375179"/>
            </a:xfrm>
          </p:grpSpPr>
          <p:sp>
            <p:nvSpPr>
              <p:cNvPr id="51" name="二等辺三角形 50">
                <a:extLst>
                  <a:ext uri="{FF2B5EF4-FFF2-40B4-BE49-F238E27FC236}">
                    <a16:creationId xmlns:a16="http://schemas.microsoft.com/office/drawing/2014/main" id="{91655F79-219A-4E9D-9425-BF4B9ED43BDC}"/>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2" name="グループ化 51">
                <a:extLst>
                  <a:ext uri="{FF2B5EF4-FFF2-40B4-BE49-F238E27FC236}">
                    <a16:creationId xmlns:a16="http://schemas.microsoft.com/office/drawing/2014/main" id="{A18B4E79-4FA4-4DDC-89E0-81FDE1ADA809}"/>
                  </a:ext>
                </a:extLst>
              </p:cNvPr>
              <p:cNvGrpSpPr/>
              <p:nvPr/>
            </p:nvGrpSpPr>
            <p:grpSpPr>
              <a:xfrm>
                <a:off x="1333500" y="5133182"/>
                <a:ext cx="234950" cy="375179"/>
                <a:chOff x="2470150" y="4146021"/>
                <a:chExt cx="234950" cy="375179"/>
              </a:xfrm>
            </p:grpSpPr>
            <p:sp>
              <p:nvSpPr>
                <p:cNvPr id="53" name="二等辺三角形 52">
                  <a:extLst>
                    <a:ext uri="{FF2B5EF4-FFF2-40B4-BE49-F238E27FC236}">
                      <a16:creationId xmlns:a16="http://schemas.microsoft.com/office/drawing/2014/main" id="{230525B3-2343-4379-85D9-3AC229FA6060}"/>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4" name="楕円 53">
                  <a:extLst>
                    <a:ext uri="{FF2B5EF4-FFF2-40B4-BE49-F238E27FC236}">
                      <a16:creationId xmlns:a16="http://schemas.microsoft.com/office/drawing/2014/main" id="{4E34FE97-70E3-4452-B156-DACD93ABF60D}"/>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44" name="テキスト ボックス 43">
              <a:extLst>
                <a:ext uri="{FF2B5EF4-FFF2-40B4-BE49-F238E27FC236}">
                  <a16:creationId xmlns:a16="http://schemas.microsoft.com/office/drawing/2014/main" id="{03F942E3-EB57-4B48-BA20-D2B7C3261DF5}"/>
                </a:ext>
              </a:extLst>
            </p:cNvPr>
            <p:cNvSpPr txBox="1"/>
            <p:nvPr/>
          </p:nvSpPr>
          <p:spPr>
            <a:xfrm>
              <a:off x="825666" y="3443440"/>
              <a:ext cx="399468" cy="338554"/>
            </a:xfrm>
            <a:prstGeom prst="rect">
              <a:avLst/>
            </a:prstGeom>
            <a:noFill/>
          </p:spPr>
          <p:txBody>
            <a:bodyPr wrap="none" rtlCol="0">
              <a:spAutoFit/>
            </a:bodyPr>
            <a:lstStyle/>
            <a:p>
              <a:r>
                <a:rPr kumimoji="1" lang="en-US" altLang="ja-JP" sz="1600" dirty="0"/>
                <a:t>x3</a:t>
              </a:r>
              <a:endParaRPr kumimoji="1" lang="en-US" altLang="ja-JP" sz="1600" b="1" dirty="0">
                <a:solidFill>
                  <a:srgbClr val="FF0000"/>
                </a:solidFill>
              </a:endParaRPr>
            </a:p>
          </p:txBody>
        </p:sp>
        <p:sp>
          <p:nvSpPr>
            <p:cNvPr id="45" name="四角形: 角度付き 44">
              <a:extLst>
                <a:ext uri="{FF2B5EF4-FFF2-40B4-BE49-F238E27FC236}">
                  <a16:creationId xmlns:a16="http://schemas.microsoft.com/office/drawing/2014/main" id="{0578A5DD-19CC-45D4-AF5E-F85172979CB3}"/>
                </a:ext>
              </a:extLst>
            </p:cNvPr>
            <p:cNvSpPr/>
            <p:nvPr/>
          </p:nvSpPr>
          <p:spPr>
            <a:xfrm>
              <a:off x="5045885" y="523822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四角形: 角度付き 45">
              <a:extLst>
                <a:ext uri="{FF2B5EF4-FFF2-40B4-BE49-F238E27FC236}">
                  <a16:creationId xmlns:a16="http://schemas.microsoft.com/office/drawing/2014/main" id="{CC76B786-EF94-4B7B-9D15-0F887A958AC9}"/>
                </a:ext>
              </a:extLst>
            </p:cNvPr>
            <p:cNvSpPr/>
            <p:nvPr/>
          </p:nvSpPr>
          <p:spPr>
            <a:xfrm>
              <a:off x="5332746" y="5238539"/>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 name="四角形: 角度付き 46">
              <a:extLst>
                <a:ext uri="{FF2B5EF4-FFF2-40B4-BE49-F238E27FC236}">
                  <a16:creationId xmlns:a16="http://schemas.microsoft.com/office/drawing/2014/main" id="{7F3FCF2B-2C3C-4C8B-96D8-8D84F120931F}"/>
                </a:ext>
              </a:extLst>
            </p:cNvPr>
            <p:cNvSpPr/>
            <p:nvPr/>
          </p:nvSpPr>
          <p:spPr>
            <a:xfrm>
              <a:off x="5617392" y="523822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四角形: 角度付き 47">
              <a:extLst>
                <a:ext uri="{FF2B5EF4-FFF2-40B4-BE49-F238E27FC236}">
                  <a16:creationId xmlns:a16="http://schemas.microsoft.com/office/drawing/2014/main" id="{A7AD0711-224D-488B-8C2E-8F32274A4004}"/>
                </a:ext>
              </a:extLst>
            </p:cNvPr>
            <p:cNvSpPr/>
            <p:nvPr/>
          </p:nvSpPr>
          <p:spPr>
            <a:xfrm>
              <a:off x="5904253" y="523854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9" name="四角形: 角度付き 48">
              <a:extLst>
                <a:ext uri="{FF2B5EF4-FFF2-40B4-BE49-F238E27FC236}">
                  <a16:creationId xmlns:a16="http://schemas.microsoft.com/office/drawing/2014/main" id="{B5C934BA-D34A-4B4C-8A76-63B9E194E99A}"/>
                </a:ext>
              </a:extLst>
            </p:cNvPr>
            <p:cNvSpPr/>
            <p:nvPr/>
          </p:nvSpPr>
          <p:spPr>
            <a:xfrm>
              <a:off x="5617387" y="496199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0" name="四角形: 角度付き 49">
              <a:extLst>
                <a:ext uri="{FF2B5EF4-FFF2-40B4-BE49-F238E27FC236}">
                  <a16:creationId xmlns:a16="http://schemas.microsoft.com/office/drawing/2014/main" id="{DB6D8B3A-CD99-436A-85B0-ED3D9890170A}"/>
                </a:ext>
              </a:extLst>
            </p:cNvPr>
            <p:cNvSpPr/>
            <p:nvPr/>
          </p:nvSpPr>
          <p:spPr>
            <a:xfrm>
              <a:off x="5904248" y="496231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78" name="テキスト ボックス 77">
            <a:extLst>
              <a:ext uri="{FF2B5EF4-FFF2-40B4-BE49-F238E27FC236}">
                <a16:creationId xmlns:a16="http://schemas.microsoft.com/office/drawing/2014/main" id="{3CF2F95C-CDEB-45B1-9F2A-54BEE0782C4B}"/>
              </a:ext>
            </a:extLst>
          </p:cNvPr>
          <p:cNvSpPr txBox="1"/>
          <p:nvPr/>
        </p:nvSpPr>
        <p:spPr>
          <a:xfrm>
            <a:off x="3244511" y="2926867"/>
            <a:ext cx="492443" cy="461665"/>
          </a:xfrm>
          <a:prstGeom prst="rect">
            <a:avLst/>
          </a:prstGeom>
          <a:noFill/>
        </p:spPr>
        <p:txBody>
          <a:bodyPr wrap="none" rtlCol="0">
            <a:spAutoFit/>
          </a:bodyPr>
          <a:lstStyle/>
          <a:p>
            <a:r>
              <a:rPr kumimoji="1" lang="ja-JP" altLang="en-US" sz="2400" b="1" dirty="0"/>
              <a:t>裏</a:t>
            </a:r>
            <a:endParaRPr kumimoji="1" lang="en-US" altLang="ja-JP" sz="2400" b="1" dirty="0"/>
          </a:p>
        </p:txBody>
      </p:sp>
      <p:sp>
        <p:nvSpPr>
          <p:cNvPr id="79" name="テキスト ボックス 78">
            <a:extLst>
              <a:ext uri="{FF2B5EF4-FFF2-40B4-BE49-F238E27FC236}">
                <a16:creationId xmlns:a16="http://schemas.microsoft.com/office/drawing/2014/main" id="{38F4EC60-8298-40C6-A523-25466855FC38}"/>
              </a:ext>
            </a:extLst>
          </p:cNvPr>
          <p:cNvSpPr txBox="1"/>
          <p:nvPr/>
        </p:nvSpPr>
        <p:spPr>
          <a:xfrm>
            <a:off x="567542" y="5204267"/>
            <a:ext cx="9592691" cy="1323439"/>
          </a:xfrm>
          <a:prstGeom prst="rect">
            <a:avLst/>
          </a:prstGeom>
          <a:noFill/>
        </p:spPr>
        <p:txBody>
          <a:bodyPr wrap="none" rtlCol="0">
            <a:spAutoFit/>
          </a:bodyPr>
          <a:lstStyle/>
          <a:p>
            <a:r>
              <a:rPr lang="en-US" altLang="ja-JP" sz="2000" b="1" dirty="0">
                <a:solidFill>
                  <a:srgbClr val="00B050"/>
                </a:solidFill>
              </a:rPr>
              <a:t>MEMO</a:t>
            </a:r>
          </a:p>
          <a:p>
            <a:r>
              <a:rPr kumimoji="1" lang="ja-JP" altLang="en-US" sz="2000" b="1" dirty="0">
                <a:solidFill>
                  <a:srgbClr val="FF0000"/>
                </a:solidFill>
              </a:rPr>
              <a:t>フリップ１回にかかる時間を１フレーム</a:t>
            </a:r>
            <a:r>
              <a:rPr kumimoji="1" lang="ja-JP" altLang="en-US" sz="2000" dirty="0"/>
              <a:t>と言います。</a:t>
            </a:r>
            <a:endParaRPr kumimoji="1" lang="en-US" altLang="ja-JP" sz="2000" dirty="0"/>
          </a:p>
          <a:p>
            <a:r>
              <a:rPr lang="ja-JP" altLang="en-US" sz="2000" dirty="0"/>
              <a:t>また</a:t>
            </a:r>
            <a:r>
              <a:rPr lang="ja-JP" altLang="en-US" sz="2000" b="1" dirty="0">
                <a:solidFill>
                  <a:srgbClr val="FF0000"/>
                </a:solidFill>
              </a:rPr>
              <a:t>１秒間中のフレーム数のことをフレームレート（</a:t>
            </a:r>
            <a:r>
              <a:rPr lang="en-US" altLang="ja-JP" sz="2000" b="1" dirty="0">
                <a:solidFill>
                  <a:srgbClr val="FF0000"/>
                </a:solidFill>
              </a:rPr>
              <a:t>FPS</a:t>
            </a:r>
            <a:r>
              <a:rPr lang="ja-JP" altLang="en-US" sz="2000" b="1" dirty="0">
                <a:solidFill>
                  <a:srgbClr val="FF0000"/>
                </a:solidFill>
              </a:rPr>
              <a:t>）</a:t>
            </a:r>
            <a:r>
              <a:rPr lang="ja-JP" altLang="en-US" sz="2000" dirty="0"/>
              <a:t>といい、</a:t>
            </a:r>
            <a:endParaRPr kumimoji="1" lang="en-US" altLang="ja-JP" sz="2000" dirty="0"/>
          </a:p>
          <a:p>
            <a:r>
              <a:rPr kumimoji="1" lang="ja-JP" altLang="en-US" sz="2000" dirty="0"/>
              <a:t>ゲームのフレームレートは</a:t>
            </a:r>
            <a:r>
              <a:rPr kumimoji="1" lang="en-US" altLang="ja-JP" sz="2000" dirty="0"/>
              <a:t>30</a:t>
            </a:r>
            <a:r>
              <a:rPr kumimoji="1" lang="ja-JP" altLang="en-US" sz="2000" dirty="0"/>
              <a:t>～</a:t>
            </a:r>
            <a:r>
              <a:rPr kumimoji="1" lang="en-US" altLang="ja-JP" sz="2000" dirty="0"/>
              <a:t>120FPS</a:t>
            </a:r>
            <a:r>
              <a:rPr kumimoji="1" lang="ja-JP" altLang="en-US" sz="2000" dirty="0"/>
              <a:t>で動作します。（特に</a:t>
            </a:r>
            <a:r>
              <a:rPr kumimoji="1" lang="en-US" altLang="ja-JP" sz="2000" dirty="0"/>
              <a:t>60FPS</a:t>
            </a:r>
            <a:r>
              <a:rPr kumimoji="1" lang="ja-JP" altLang="en-US" sz="2000" dirty="0"/>
              <a:t>が一般的）</a:t>
            </a:r>
            <a:endParaRPr lang="en-US" altLang="ja-JP" sz="2000" dirty="0"/>
          </a:p>
        </p:txBody>
      </p:sp>
      <p:grpSp>
        <p:nvGrpSpPr>
          <p:cNvPr id="56" name="グループ化 55">
            <a:extLst>
              <a:ext uri="{FF2B5EF4-FFF2-40B4-BE49-F238E27FC236}">
                <a16:creationId xmlns:a16="http://schemas.microsoft.com/office/drawing/2014/main" id="{4B83259E-6181-4D14-928B-0EF0B6D1D726}"/>
              </a:ext>
            </a:extLst>
          </p:cNvPr>
          <p:cNvGrpSpPr/>
          <p:nvPr/>
        </p:nvGrpSpPr>
        <p:grpSpPr>
          <a:xfrm>
            <a:off x="5055277" y="2932630"/>
            <a:ext cx="3153833" cy="2057400"/>
            <a:chOff x="673100" y="3429000"/>
            <a:chExt cx="6311900" cy="3200400"/>
          </a:xfrm>
        </p:grpSpPr>
        <p:sp>
          <p:nvSpPr>
            <p:cNvPr id="80" name="正方形/長方形 79">
              <a:extLst>
                <a:ext uri="{FF2B5EF4-FFF2-40B4-BE49-F238E27FC236}">
                  <a16:creationId xmlns:a16="http://schemas.microsoft.com/office/drawing/2014/main" id="{1633196F-DE98-4663-812C-2CBC6FE71776}"/>
                </a:ext>
              </a:extLst>
            </p:cNvPr>
            <p:cNvSpPr/>
            <p:nvPr/>
          </p:nvSpPr>
          <p:spPr>
            <a:xfrm>
              <a:off x="673100" y="3429000"/>
              <a:ext cx="6311900" cy="3200400"/>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1" name="正方形/長方形 80">
              <a:extLst>
                <a:ext uri="{FF2B5EF4-FFF2-40B4-BE49-F238E27FC236}">
                  <a16:creationId xmlns:a16="http://schemas.microsoft.com/office/drawing/2014/main" id="{C0CEE341-C7D0-4FF9-B2B8-C6D26C3A4900}"/>
                </a:ext>
              </a:extLst>
            </p:cNvPr>
            <p:cNvSpPr/>
            <p:nvPr/>
          </p:nvSpPr>
          <p:spPr>
            <a:xfrm>
              <a:off x="673100" y="5715000"/>
              <a:ext cx="6311900" cy="914400"/>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2" name="正方形/長方形 81">
              <a:extLst>
                <a:ext uri="{FF2B5EF4-FFF2-40B4-BE49-F238E27FC236}">
                  <a16:creationId xmlns:a16="http://schemas.microsoft.com/office/drawing/2014/main" id="{5DD54EFA-5EF0-4B52-9773-98D0CCC74C8E}"/>
                </a:ext>
              </a:extLst>
            </p:cNvPr>
            <p:cNvSpPr/>
            <p:nvPr/>
          </p:nvSpPr>
          <p:spPr>
            <a:xfrm>
              <a:off x="673100" y="5511800"/>
              <a:ext cx="6311900" cy="203200"/>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3" name="グループ化 82">
              <a:extLst>
                <a:ext uri="{FF2B5EF4-FFF2-40B4-BE49-F238E27FC236}">
                  <a16:creationId xmlns:a16="http://schemas.microsoft.com/office/drawing/2014/main" id="{3B61D716-B173-40EA-8D71-6189B5494480}"/>
                </a:ext>
              </a:extLst>
            </p:cNvPr>
            <p:cNvGrpSpPr/>
            <p:nvPr/>
          </p:nvGrpSpPr>
          <p:grpSpPr>
            <a:xfrm>
              <a:off x="1333500" y="5133182"/>
              <a:ext cx="263525" cy="375179"/>
              <a:chOff x="1333500" y="5133182"/>
              <a:chExt cx="263525" cy="375179"/>
            </a:xfrm>
          </p:grpSpPr>
          <p:sp>
            <p:nvSpPr>
              <p:cNvPr id="123" name="二等辺三角形 122">
                <a:extLst>
                  <a:ext uri="{FF2B5EF4-FFF2-40B4-BE49-F238E27FC236}">
                    <a16:creationId xmlns:a16="http://schemas.microsoft.com/office/drawing/2014/main" id="{BDA5838E-17F0-475A-BC1C-111AF0004A0C}"/>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24" name="グループ化 123">
                <a:extLst>
                  <a:ext uri="{FF2B5EF4-FFF2-40B4-BE49-F238E27FC236}">
                    <a16:creationId xmlns:a16="http://schemas.microsoft.com/office/drawing/2014/main" id="{0917D843-0CA4-4517-8E4D-E33AC17AC9B6}"/>
                  </a:ext>
                </a:extLst>
              </p:cNvPr>
              <p:cNvGrpSpPr/>
              <p:nvPr/>
            </p:nvGrpSpPr>
            <p:grpSpPr>
              <a:xfrm>
                <a:off x="1333500" y="5133182"/>
                <a:ext cx="234950" cy="375179"/>
                <a:chOff x="2470150" y="4146021"/>
                <a:chExt cx="234950" cy="375179"/>
              </a:xfrm>
            </p:grpSpPr>
            <p:sp>
              <p:nvSpPr>
                <p:cNvPr id="125" name="二等辺三角形 124">
                  <a:extLst>
                    <a:ext uri="{FF2B5EF4-FFF2-40B4-BE49-F238E27FC236}">
                      <a16:creationId xmlns:a16="http://schemas.microsoft.com/office/drawing/2014/main" id="{B415E6D2-FBE4-4F26-85B4-7B4021B5E581}"/>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6" name="楕円 125">
                  <a:extLst>
                    <a:ext uri="{FF2B5EF4-FFF2-40B4-BE49-F238E27FC236}">
                      <a16:creationId xmlns:a16="http://schemas.microsoft.com/office/drawing/2014/main" id="{9770BEB2-AF0B-4689-87A0-735C6D6AF48E}"/>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84" name="グループ化 83">
              <a:extLst>
                <a:ext uri="{FF2B5EF4-FFF2-40B4-BE49-F238E27FC236}">
                  <a16:creationId xmlns:a16="http://schemas.microsoft.com/office/drawing/2014/main" id="{BC82F7A1-FDB1-478E-B072-7E12E1289A9E}"/>
                </a:ext>
              </a:extLst>
            </p:cNvPr>
            <p:cNvGrpSpPr/>
            <p:nvPr/>
          </p:nvGrpSpPr>
          <p:grpSpPr>
            <a:xfrm>
              <a:off x="2651760" y="4234921"/>
              <a:ext cx="523240" cy="1276879"/>
              <a:chOff x="2457450" y="4234921"/>
              <a:chExt cx="717550" cy="1276879"/>
            </a:xfrm>
          </p:grpSpPr>
          <p:sp>
            <p:nvSpPr>
              <p:cNvPr id="121" name="正方形/長方形 120">
                <a:extLst>
                  <a:ext uri="{FF2B5EF4-FFF2-40B4-BE49-F238E27FC236}">
                    <a16:creationId xmlns:a16="http://schemas.microsoft.com/office/drawing/2014/main" id="{3B031256-06DC-43CE-90BD-EC24AE9A4E2C}"/>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楕円 121">
                <a:extLst>
                  <a:ext uri="{FF2B5EF4-FFF2-40B4-BE49-F238E27FC236}">
                    <a16:creationId xmlns:a16="http://schemas.microsoft.com/office/drawing/2014/main" id="{E3109902-E9EA-4D61-88FE-31E0BAB48CFA}"/>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5" name="グループ化 84">
              <a:extLst>
                <a:ext uri="{FF2B5EF4-FFF2-40B4-BE49-F238E27FC236}">
                  <a16:creationId xmlns:a16="http://schemas.microsoft.com/office/drawing/2014/main" id="{223DD4AF-6E4E-4DCB-A41E-3BBF528A8722}"/>
                </a:ext>
              </a:extLst>
            </p:cNvPr>
            <p:cNvGrpSpPr/>
            <p:nvPr/>
          </p:nvGrpSpPr>
          <p:grpSpPr>
            <a:xfrm>
              <a:off x="2874963" y="4009038"/>
              <a:ext cx="717550" cy="1497280"/>
              <a:chOff x="2457450" y="4173273"/>
              <a:chExt cx="717550" cy="1338527"/>
            </a:xfrm>
          </p:grpSpPr>
          <p:sp>
            <p:nvSpPr>
              <p:cNvPr id="119" name="正方形/長方形 118">
                <a:extLst>
                  <a:ext uri="{FF2B5EF4-FFF2-40B4-BE49-F238E27FC236}">
                    <a16:creationId xmlns:a16="http://schemas.microsoft.com/office/drawing/2014/main" id="{FE059C08-AAAA-42AB-B877-14C96CBD3200}"/>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0" name="楕円 119">
                <a:extLst>
                  <a:ext uri="{FF2B5EF4-FFF2-40B4-BE49-F238E27FC236}">
                    <a16:creationId xmlns:a16="http://schemas.microsoft.com/office/drawing/2014/main" id="{64411113-3956-4498-BE6F-97F8683B1982}"/>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6" name="グループ化 85">
              <a:extLst>
                <a:ext uri="{FF2B5EF4-FFF2-40B4-BE49-F238E27FC236}">
                  <a16:creationId xmlns:a16="http://schemas.microsoft.com/office/drawing/2014/main" id="{F5BB80B7-C7F7-457A-BA28-6F39E35EB9C7}"/>
                </a:ext>
              </a:extLst>
            </p:cNvPr>
            <p:cNvGrpSpPr/>
            <p:nvPr/>
          </p:nvGrpSpPr>
          <p:grpSpPr>
            <a:xfrm>
              <a:off x="2710498" y="3759745"/>
              <a:ext cx="717550" cy="1741091"/>
              <a:chOff x="2457450" y="4173273"/>
              <a:chExt cx="717550" cy="1338527"/>
            </a:xfrm>
          </p:grpSpPr>
          <p:sp>
            <p:nvSpPr>
              <p:cNvPr id="117" name="正方形/長方形 116">
                <a:extLst>
                  <a:ext uri="{FF2B5EF4-FFF2-40B4-BE49-F238E27FC236}">
                    <a16:creationId xmlns:a16="http://schemas.microsoft.com/office/drawing/2014/main" id="{D310D07E-7C65-424C-9394-5E27366A91E4}"/>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8" name="楕円 117">
                <a:extLst>
                  <a:ext uri="{FF2B5EF4-FFF2-40B4-BE49-F238E27FC236}">
                    <a16:creationId xmlns:a16="http://schemas.microsoft.com/office/drawing/2014/main" id="{D00276AB-1BA3-4600-969F-EC3F706EF5DA}"/>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7" name="グループ化 86">
              <a:extLst>
                <a:ext uri="{FF2B5EF4-FFF2-40B4-BE49-F238E27FC236}">
                  <a16:creationId xmlns:a16="http://schemas.microsoft.com/office/drawing/2014/main" id="{0DEA29D0-216E-4453-BB3D-84227E661726}"/>
                </a:ext>
              </a:extLst>
            </p:cNvPr>
            <p:cNvGrpSpPr/>
            <p:nvPr/>
          </p:nvGrpSpPr>
          <p:grpSpPr>
            <a:xfrm>
              <a:off x="3285490" y="4223957"/>
              <a:ext cx="523240" cy="1276879"/>
              <a:chOff x="2457450" y="4234921"/>
              <a:chExt cx="717550" cy="1276879"/>
            </a:xfrm>
          </p:grpSpPr>
          <p:sp>
            <p:nvSpPr>
              <p:cNvPr id="115" name="正方形/長方形 114">
                <a:extLst>
                  <a:ext uri="{FF2B5EF4-FFF2-40B4-BE49-F238E27FC236}">
                    <a16:creationId xmlns:a16="http://schemas.microsoft.com/office/drawing/2014/main" id="{8A1C25E1-61F6-4DEF-9B78-B5259CFD8853}"/>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6" name="楕円 115">
                <a:extLst>
                  <a:ext uri="{FF2B5EF4-FFF2-40B4-BE49-F238E27FC236}">
                    <a16:creationId xmlns:a16="http://schemas.microsoft.com/office/drawing/2014/main" id="{5AF568C7-612B-46E9-9D85-B0FC8FEB42A7}"/>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8" name="グループ化 87">
              <a:extLst>
                <a:ext uri="{FF2B5EF4-FFF2-40B4-BE49-F238E27FC236}">
                  <a16:creationId xmlns:a16="http://schemas.microsoft.com/office/drawing/2014/main" id="{1061E4C9-1B3F-4EBF-B966-315C85291497}"/>
                </a:ext>
              </a:extLst>
            </p:cNvPr>
            <p:cNvGrpSpPr/>
            <p:nvPr/>
          </p:nvGrpSpPr>
          <p:grpSpPr>
            <a:xfrm>
              <a:off x="3508693" y="3998074"/>
              <a:ext cx="717550" cy="1497280"/>
              <a:chOff x="2457450" y="4173273"/>
              <a:chExt cx="717550" cy="1338527"/>
            </a:xfrm>
          </p:grpSpPr>
          <p:sp>
            <p:nvSpPr>
              <p:cNvPr id="113" name="正方形/長方形 112">
                <a:extLst>
                  <a:ext uri="{FF2B5EF4-FFF2-40B4-BE49-F238E27FC236}">
                    <a16:creationId xmlns:a16="http://schemas.microsoft.com/office/drawing/2014/main" id="{025112C1-57E0-455C-9670-2E5F29BAACC3}"/>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4" name="楕円 113">
                <a:extLst>
                  <a:ext uri="{FF2B5EF4-FFF2-40B4-BE49-F238E27FC236}">
                    <a16:creationId xmlns:a16="http://schemas.microsoft.com/office/drawing/2014/main" id="{4B834CB4-9D33-4419-8853-5EEA3AAB3044}"/>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9" name="グループ化 88">
              <a:extLst>
                <a:ext uri="{FF2B5EF4-FFF2-40B4-BE49-F238E27FC236}">
                  <a16:creationId xmlns:a16="http://schemas.microsoft.com/office/drawing/2014/main" id="{570C5798-6FC7-454C-9195-5C24407BEF4F}"/>
                </a:ext>
              </a:extLst>
            </p:cNvPr>
            <p:cNvGrpSpPr/>
            <p:nvPr/>
          </p:nvGrpSpPr>
          <p:grpSpPr>
            <a:xfrm>
              <a:off x="3359636" y="3770421"/>
              <a:ext cx="717550" cy="1741091"/>
              <a:chOff x="2457450" y="4173273"/>
              <a:chExt cx="717550" cy="1338527"/>
            </a:xfrm>
          </p:grpSpPr>
          <p:sp>
            <p:nvSpPr>
              <p:cNvPr id="111" name="正方形/長方形 110">
                <a:extLst>
                  <a:ext uri="{FF2B5EF4-FFF2-40B4-BE49-F238E27FC236}">
                    <a16:creationId xmlns:a16="http://schemas.microsoft.com/office/drawing/2014/main" id="{CECB6DC3-5392-46B3-9A32-F66C8C9F7FB2}"/>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楕円 111">
                <a:extLst>
                  <a:ext uri="{FF2B5EF4-FFF2-40B4-BE49-F238E27FC236}">
                    <a16:creationId xmlns:a16="http://schemas.microsoft.com/office/drawing/2014/main" id="{5D299C06-14D9-4438-AD1B-001542482A62}"/>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0" name="グループ化 89">
              <a:extLst>
                <a:ext uri="{FF2B5EF4-FFF2-40B4-BE49-F238E27FC236}">
                  <a16:creationId xmlns:a16="http://schemas.microsoft.com/office/drawing/2014/main" id="{3A769AF1-A7DE-4DDC-8CB6-769C7D73D3F0}"/>
                </a:ext>
              </a:extLst>
            </p:cNvPr>
            <p:cNvGrpSpPr/>
            <p:nvPr/>
          </p:nvGrpSpPr>
          <p:grpSpPr>
            <a:xfrm>
              <a:off x="3820795" y="4234921"/>
              <a:ext cx="523240" cy="1276879"/>
              <a:chOff x="2457450" y="4234921"/>
              <a:chExt cx="717550" cy="1276879"/>
            </a:xfrm>
          </p:grpSpPr>
          <p:sp>
            <p:nvSpPr>
              <p:cNvPr id="109" name="正方形/長方形 108">
                <a:extLst>
                  <a:ext uri="{FF2B5EF4-FFF2-40B4-BE49-F238E27FC236}">
                    <a16:creationId xmlns:a16="http://schemas.microsoft.com/office/drawing/2014/main" id="{135E8D2E-5BC1-41A4-A67A-4C742C43DEEC}"/>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0" name="楕円 109">
                <a:extLst>
                  <a:ext uri="{FF2B5EF4-FFF2-40B4-BE49-F238E27FC236}">
                    <a16:creationId xmlns:a16="http://schemas.microsoft.com/office/drawing/2014/main" id="{317154C8-740E-4C53-A583-7EF29D7DE4C6}"/>
                  </a:ext>
                </a:extLst>
              </p:cNvPr>
              <p:cNvSpPr/>
              <p:nvPr/>
            </p:nvSpPr>
            <p:spPr>
              <a:xfrm>
                <a:off x="2457450" y="4234921"/>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1" name="グループ化 90">
              <a:extLst>
                <a:ext uri="{FF2B5EF4-FFF2-40B4-BE49-F238E27FC236}">
                  <a16:creationId xmlns:a16="http://schemas.microsoft.com/office/drawing/2014/main" id="{A75BBEAA-6AB8-4D8A-8AED-DE729AEA2009}"/>
                </a:ext>
              </a:extLst>
            </p:cNvPr>
            <p:cNvGrpSpPr/>
            <p:nvPr/>
          </p:nvGrpSpPr>
          <p:grpSpPr>
            <a:xfrm>
              <a:off x="4043998" y="4009038"/>
              <a:ext cx="717550" cy="1497280"/>
              <a:chOff x="2457450" y="4173273"/>
              <a:chExt cx="717550" cy="1338527"/>
            </a:xfrm>
          </p:grpSpPr>
          <p:sp>
            <p:nvSpPr>
              <p:cNvPr id="107" name="正方形/長方形 106">
                <a:extLst>
                  <a:ext uri="{FF2B5EF4-FFF2-40B4-BE49-F238E27FC236}">
                    <a16:creationId xmlns:a16="http://schemas.microsoft.com/office/drawing/2014/main" id="{D73E9F9A-8868-4304-938F-930D9314C52C}"/>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楕円 107">
                <a:extLst>
                  <a:ext uri="{FF2B5EF4-FFF2-40B4-BE49-F238E27FC236}">
                    <a16:creationId xmlns:a16="http://schemas.microsoft.com/office/drawing/2014/main" id="{A4DF2EFB-5119-4671-AB6F-818B4D7684F8}"/>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2" name="グループ化 91">
              <a:extLst>
                <a:ext uri="{FF2B5EF4-FFF2-40B4-BE49-F238E27FC236}">
                  <a16:creationId xmlns:a16="http://schemas.microsoft.com/office/drawing/2014/main" id="{D82644FF-0855-4E23-8F04-EDECEA372A1F}"/>
                </a:ext>
              </a:extLst>
            </p:cNvPr>
            <p:cNvGrpSpPr/>
            <p:nvPr/>
          </p:nvGrpSpPr>
          <p:grpSpPr>
            <a:xfrm>
              <a:off x="3879533" y="3759745"/>
              <a:ext cx="717550" cy="1741091"/>
              <a:chOff x="2457450" y="4173273"/>
              <a:chExt cx="717550" cy="1338527"/>
            </a:xfrm>
          </p:grpSpPr>
          <p:sp>
            <p:nvSpPr>
              <p:cNvPr id="105" name="正方形/長方形 104">
                <a:extLst>
                  <a:ext uri="{FF2B5EF4-FFF2-40B4-BE49-F238E27FC236}">
                    <a16:creationId xmlns:a16="http://schemas.microsoft.com/office/drawing/2014/main" id="{13591C23-BFB8-4404-A240-5DBE183F5805}"/>
                  </a:ext>
                </a:extLst>
              </p:cNvPr>
              <p:cNvSpPr/>
              <p:nvPr/>
            </p:nvSpPr>
            <p:spPr>
              <a:xfrm>
                <a:off x="2717800" y="4508500"/>
                <a:ext cx="196850" cy="1003300"/>
              </a:xfrm>
              <a:prstGeom prst="rect">
                <a:avLst/>
              </a:prstGeom>
              <a:solidFill>
                <a:schemeClr val="accent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6" name="楕円 105">
                <a:extLst>
                  <a:ext uri="{FF2B5EF4-FFF2-40B4-BE49-F238E27FC236}">
                    <a16:creationId xmlns:a16="http://schemas.microsoft.com/office/drawing/2014/main" id="{D5C59C4B-2DD8-4948-B66B-216C46516A19}"/>
                  </a:ext>
                </a:extLst>
              </p:cNvPr>
              <p:cNvSpPr/>
              <p:nvPr/>
            </p:nvSpPr>
            <p:spPr>
              <a:xfrm>
                <a:off x="2457450" y="4173273"/>
                <a:ext cx="717550" cy="670454"/>
              </a:xfrm>
              <a:prstGeom prst="ellipse">
                <a:avLst/>
              </a:prstGeom>
              <a:solidFill>
                <a:schemeClr val="accent6">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93" name="グループ化 92">
              <a:extLst>
                <a:ext uri="{FF2B5EF4-FFF2-40B4-BE49-F238E27FC236}">
                  <a16:creationId xmlns:a16="http://schemas.microsoft.com/office/drawing/2014/main" id="{29131A81-BADF-4B9D-86F9-5EBF50D11380}"/>
                </a:ext>
              </a:extLst>
            </p:cNvPr>
            <p:cNvGrpSpPr/>
            <p:nvPr/>
          </p:nvGrpSpPr>
          <p:grpSpPr>
            <a:xfrm>
              <a:off x="839956" y="3567221"/>
              <a:ext cx="131763" cy="203200"/>
              <a:chOff x="1333500" y="5133182"/>
              <a:chExt cx="263525" cy="375179"/>
            </a:xfrm>
          </p:grpSpPr>
          <p:sp>
            <p:nvSpPr>
              <p:cNvPr id="101" name="二等辺三角形 100">
                <a:extLst>
                  <a:ext uri="{FF2B5EF4-FFF2-40B4-BE49-F238E27FC236}">
                    <a16:creationId xmlns:a16="http://schemas.microsoft.com/office/drawing/2014/main" id="{5E8BF420-4F7A-4627-9202-0E7030EA120D}"/>
                  </a:ext>
                </a:extLst>
              </p:cNvPr>
              <p:cNvSpPr/>
              <p:nvPr/>
            </p:nvSpPr>
            <p:spPr>
              <a:xfrm rot="5400000">
                <a:off x="1534980" y="5222082"/>
                <a:ext cx="66940" cy="571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02" name="グループ化 101">
                <a:extLst>
                  <a:ext uri="{FF2B5EF4-FFF2-40B4-BE49-F238E27FC236}">
                    <a16:creationId xmlns:a16="http://schemas.microsoft.com/office/drawing/2014/main" id="{43EFACBD-E7B9-4053-99F0-059D2C7A3F3A}"/>
                  </a:ext>
                </a:extLst>
              </p:cNvPr>
              <p:cNvGrpSpPr/>
              <p:nvPr/>
            </p:nvGrpSpPr>
            <p:grpSpPr>
              <a:xfrm>
                <a:off x="1333500" y="5133182"/>
                <a:ext cx="234950" cy="375179"/>
                <a:chOff x="2470150" y="4146021"/>
                <a:chExt cx="234950" cy="375179"/>
              </a:xfrm>
            </p:grpSpPr>
            <p:sp>
              <p:nvSpPr>
                <p:cNvPr id="103" name="二等辺三角形 102">
                  <a:extLst>
                    <a:ext uri="{FF2B5EF4-FFF2-40B4-BE49-F238E27FC236}">
                      <a16:creationId xmlns:a16="http://schemas.microsoft.com/office/drawing/2014/main" id="{4F8C347F-55C0-4289-BF88-274102C2A700}"/>
                    </a:ext>
                  </a:extLst>
                </p:cNvPr>
                <p:cNvSpPr/>
                <p:nvPr/>
              </p:nvSpPr>
              <p:spPr>
                <a:xfrm>
                  <a:off x="2470150" y="4286250"/>
                  <a:ext cx="234950" cy="234950"/>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楕円 103">
                  <a:extLst>
                    <a:ext uri="{FF2B5EF4-FFF2-40B4-BE49-F238E27FC236}">
                      <a16:creationId xmlns:a16="http://schemas.microsoft.com/office/drawing/2014/main" id="{8C084254-469E-4467-99B9-B2BD78F0C373}"/>
                    </a:ext>
                  </a:extLst>
                </p:cNvPr>
                <p:cNvSpPr/>
                <p:nvPr/>
              </p:nvSpPr>
              <p:spPr>
                <a:xfrm>
                  <a:off x="2470150" y="4146021"/>
                  <a:ext cx="234950" cy="23495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94" name="テキスト ボックス 93">
              <a:extLst>
                <a:ext uri="{FF2B5EF4-FFF2-40B4-BE49-F238E27FC236}">
                  <a16:creationId xmlns:a16="http://schemas.microsoft.com/office/drawing/2014/main" id="{AF3CCF87-96E8-4DB1-A234-BEABA7E4BF55}"/>
                </a:ext>
              </a:extLst>
            </p:cNvPr>
            <p:cNvSpPr txBox="1"/>
            <p:nvPr/>
          </p:nvSpPr>
          <p:spPr>
            <a:xfrm>
              <a:off x="825666" y="3443440"/>
              <a:ext cx="399468" cy="338554"/>
            </a:xfrm>
            <a:prstGeom prst="rect">
              <a:avLst/>
            </a:prstGeom>
            <a:noFill/>
          </p:spPr>
          <p:txBody>
            <a:bodyPr wrap="none" rtlCol="0">
              <a:spAutoFit/>
            </a:bodyPr>
            <a:lstStyle/>
            <a:p>
              <a:r>
                <a:rPr kumimoji="1" lang="en-US" altLang="ja-JP" sz="1600" dirty="0"/>
                <a:t>x3</a:t>
              </a:r>
              <a:endParaRPr kumimoji="1" lang="en-US" altLang="ja-JP" sz="1600" b="1" dirty="0">
                <a:solidFill>
                  <a:srgbClr val="FF0000"/>
                </a:solidFill>
              </a:endParaRPr>
            </a:p>
          </p:txBody>
        </p:sp>
        <p:sp>
          <p:nvSpPr>
            <p:cNvPr id="95" name="四角形: 角度付き 94">
              <a:extLst>
                <a:ext uri="{FF2B5EF4-FFF2-40B4-BE49-F238E27FC236}">
                  <a16:creationId xmlns:a16="http://schemas.microsoft.com/office/drawing/2014/main" id="{FCA36158-B1E8-4A36-8940-CB5FAF1CC9DD}"/>
                </a:ext>
              </a:extLst>
            </p:cNvPr>
            <p:cNvSpPr/>
            <p:nvPr/>
          </p:nvSpPr>
          <p:spPr>
            <a:xfrm>
              <a:off x="5045885" y="523822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四角形: 角度付き 95">
              <a:extLst>
                <a:ext uri="{FF2B5EF4-FFF2-40B4-BE49-F238E27FC236}">
                  <a16:creationId xmlns:a16="http://schemas.microsoft.com/office/drawing/2014/main" id="{7878EC96-D673-4FF5-8004-2809A0870E04}"/>
                </a:ext>
              </a:extLst>
            </p:cNvPr>
            <p:cNvSpPr/>
            <p:nvPr/>
          </p:nvSpPr>
          <p:spPr>
            <a:xfrm>
              <a:off x="5332746" y="5238539"/>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7" name="四角形: 角度付き 96">
              <a:extLst>
                <a:ext uri="{FF2B5EF4-FFF2-40B4-BE49-F238E27FC236}">
                  <a16:creationId xmlns:a16="http://schemas.microsoft.com/office/drawing/2014/main" id="{B6BF1836-8C10-4387-9465-9619127AA55C}"/>
                </a:ext>
              </a:extLst>
            </p:cNvPr>
            <p:cNvSpPr/>
            <p:nvPr/>
          </p:nvSpPr>
          <p:spPr>
            <a:xfrm>
              <a:off x="5617392" y="523822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8" name="四角形: 角度付き 97">
              <a:extLst>
                <a:ext uri="{FF2B5EF4-FFF2-40B4-BE49-F238E27FC236}">
                  <a16:creationId xmlns:a16="http://schemas.microsoft.com/office/drawing/2014/main" id="{AB0EB1F7-A115-44C8-91CB-710026329121}"/>
                </a:ext>
              </a:extLst>
            </p:cNvPr>
            <p:cNvSpPr/>
            <p:nvPr/>
          </p:nvSpPr>
          <p:spPr>
            <a:xfrm>
              <a:off x="5904253" y="523854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9" name="四角形: 角度付き 98">
              <a:extLst>
                <a:ext uri="{FF2B5EF4-FFF2-40B4-BE49-F238E27FC236}">
                  <a16:creationId xmlns:a16="http://schemas.microsoft.com/office/drawing/2014/main" id="{7FA2D2C8-9C34-44CC-865A-DFC44B46621B}"/>
                </a:ext>
              </a:extLst>
            </p:cNvPr>
            <p:cNvSpPr/>
            <p:nvPr/>
          </p:nvSpPr>
          <p:spPr>
            <a:xfrm>
              <a:off x="5617387" y="4961993"/>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0" name="四角形: 角度付き 99">
              <a:extLst>
                <a:ext uri="{FF2B5EF4-FFF2-40B4-BE49-F238E27FC236}">
                  <a16:creationId xmlns:a16="http://schemas.microsoft.com/office/drawing/2014/main" id="{F0CA3883-A0B1-4C3C-A15D-D7A4BC0F9F1A}"/>
                </a:ext>
              </a:extLst>
            </p:cNvPr>
            <p:cNvSpPr/>
            <p:nvPr/>
          </p:nvSpPr>
          <p:spPr>
            <a:xfrm>
              <a:off x="5904248" y="4962311"/>
              <a:ext cx="273827" cy="265356"/>
            </a:xfrm>
            <a:prstGeom prst="bevel">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7" name="テキスト ボックス 126">
            <a:extLst>
              <a:ext uri="{FF2B5EF4-FFF2-40B4-BE49-F238E27FC236}">
                <a16:creationId xmlns:a16="http://schemas.microsoft.com/office/drawing/2014/main" id="{D15D42AD-9664-4227-BA51-35615B4021ED}"/>
              </a:ext>
            </a:extLst>
          </p:cNvPr>
          <p:cNvSpPr txBox="1"/>
          <p:nvPr/>
        </p:nvSpPr>
        <p:spPr>
          <a:xfrm>
            <a:off x="7738364" y="2925789"/>
            <a:ext cx="492443" cy="461665"/>
          </a:xfrm>
          <a:prstGeom prst="rect">
            <a:avLst/>
          </a:prstGeom>
          <a:noFill/>
        </p:spPr>
        <p:txBody>
          <a:bodyPr wrap="none" rtlCol="0">
            <a:spAutoFit/>
          </a:bodyPr>
          <a:lstStyle/>
          <a:p>
            <a:r>
              <a:rPr kumimoji="1" lang="ja-JP" altLang="en-US" sz="2400" b="1" dirty="0"/>
              <a:t>表</a:t>
            </a:r>
            <a:endParaRPr kumimoji="1" lang="en-US" altLang="ja-JP" sz="2400" b="1" dirty="0"/>
          </a:p>
        </p:txBody>
      </p:sp>
      <p:sp>
        <p:nvSpPr>
          <p:cNvPr id="2" name="矢印: 下カーブ 1">
            <a:extLst>
              <a:ext uri="{FF2B5EF4-FFF2-40B4-BE49-F238E27FC236}">
                <a16:creationId xmlns:a16="http://schemas.microsoft.com/office/drawing/2014/main" id="{69A32D5F-0139-4601-8F4C-9C253BA1FAC8}"/>
              </a:ext>
            </a:extLst>
          </p:cNvPr>
          <p:cNvSpPr/>
          <p:nvPr/>
        </p:nvSpPr>
        <p:spPr>
          <a:xfrm>
            <a:off x="3932889" y="3154883"/>
            <a:ext cx="1064354" cy="48212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128" name="矢印: 下カーブ 127">
            <a:extLst>
              <a:ext uri="{FF2B5EF4-FFF2-40B4-BE49-F238E27FC236}">
                <a16:creationId xmlns:a16="http://schemas.microsoft.com/office/drawing/2014/main" id="{16401D55-0EBB-4BE4-B60F-B5983F49FAC3}"/>
              </a:ext>
            </a:extLst>
          </p:cNvPr>
          <p:cNvSpPr/>
          <p:nvPr/>
        </p:nvSpPr>
        <p:spPr>
          <a:xfrm rot="10800000">
            <a:off x="3873211" y="4300741"/>
            <a:ext cx="1064354" cy="482125"/>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Tree>
    <p:extLst>
      <p:ext uri="{BB962C8B-B14F-4D97-AF65-F5344CB8AC3E}">
        <p14:creationId xmlns:p14="http://schemas.microsoft.com/office/powerpoint/2010/main" val="32961361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kumimoji="1" lang="ja-JP" altLang="en-US" sz="2400" dirty="0"/>
              <a:t>そしてゲームのメインループに入っていきます。</a:t>
            </a:r>
            <a:endParaRPr kumimoji="1" lang="en-US" altLang="ja-JP" sz="2400" dirty="0"/>
          </a:p>
        </p:txBody>
      </p:sp>
      <p:pic>
        <p:nvPicPr>
          <p:cNvPr id="3" name="図 2">
            <a:extLst>
              <a:ext uri="{FF2B5EF4-FFF2-40B4-BE49-F238E27FC236}">
                <a16:creationId xmlns:a16="http://schemas.microsoft.com/office/drawing/2014/main" id="{F2297376-ED37-45A6-AF99-0C2D7728A5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2" y="1817794"/>
            <a:ext cx="5039428" cy="2962688"/>
          </a:xfrm>
          <a:prstGeom prst="rect">
            <a:avLst/>
          </a:prstGeom>
        </p:spPr>
      </p:pic>
      <p:sp>
        <p:nvSpPr>
          <p:cNvPr id="9" name="テキスト ボックス 8">
            <a:extLst>
              <a:ext uri="{FF2B5EF4-FFF2-40B4-BE49-F238E27FC236}">
                <a16:creationId xmlns:a16="http://schemas.microsoft.com/office/drawing/2014/main" id="{0A8A7C29-2D4A-48C7-B6DD-9B2DA4547CB1}"/>
              </a:ext>
            </a:extLst>
          </p:cNvPr>
          <p:cNvSpPr txBox="1"/>
          <p:nvPr/>
        </p:nvSpPr>
        <p:spPr>
          <a:xfrm>
            <a:off x="567542" y="4921876"/>
            <a:ext cx="10649069" cy="461665"/>
          </a:xfrm>
          <a:prstGeom prst="rect">
            <a:avLst/>
          </a:prstGeom>
          <a:noFill/>
        </p:spPr>
        <p:txBody>
          <a:bodyPr wrap="none" rtlCol="0">
            <a:spAutoFit/>
          </a:bodyPr>
          <a:lstStyle/>
          <a:p>
            <a:r>
              <a:rPr lang="ja-JP" altLang="en-US" sz="2400" dirty="0"/>
              <a:t>ゲームのほとんどの処理は、このメインループの中に書くことになります。</a:t>
            </a:r>
            <a:endParaRPr kumimoji="1" lang="en-US" altLang="ja-JP" sz="2400" dirty="0"/>
          </a:p>
        </p:txBody>
      </p:sp>
    </p:spTree>
    <p:extLst>
      <p:ext uri="{BB962C8B-B14F-4D97-AF65-F5344CB8AC3E}">
        <p14:creationId xmlns:p14="http://schemas.microsoft.com/office/powerpoint/2010/main" val="13766428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262432" cy="461665"/>
          </a:xfrm>
          <a:prstGeom prst="rect">
            <a:avLst/>
          </a:prstGeom>
          <a:noFill/>
        </p:spPr>
        <p:txBody>
          <a:bodyPr wrap="none" rtlCol="0">
            <a:spAutoFit/>
          </a:bodyPr>
          <a:lstStyle/>
          <a:p>
            <a:r>
              <a:rPr lang="ja-JP" altLang="en-US" sz="2400" dirty="0"/>
              <a:t>ループ文になります。</a:t>
            </a:r>
            <a:endParaRPr kumimoji="1" lang="en-US" altLang="ja-JP" sz="2400" dirty="0"/>
          </a:p>
        </p:txBody>
      </p:sp>
      <p:pic>
        <p:nvPicPr>
          <p:cNvPr id="5" name="図 4">
            <a:extLst>
              <a:ext uri="{FF2B5EF4-FFF2-40B4-BE49-F238E27FC236}">
                <a16:creationId xmlns:a16="http://schemas.microsoft.com/office/drawing/2014/main" id="{566B14F4-A437-40DD-AB80-98211DA5A9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1817794"/>
            <a:ext cx="5361265" cy="1230206"/>
          </a:xfrm>
          <a:prstGeom prst="rect">
            <a:avLst/>
          </a:prstGeom>
        </p:spPr>
      </p:pic>
      <p:sp>
        <p:nvSpPr>
          <p:cNvPr id="8" name="テキスト ボックス 7">
            <a:extLst>
              <a:ext uri="{FF2B5EF4-FFF2-40B4-BE49-F238E27FC236}">
                <a16:creationId xmlns:a16="http://schemas.microsoft.com/office/drawing/2014/main" id="{F8D103E3-5102-42E0-9CDB-309B97844FA3}"/>
              </a:ext>
            </a:extLst>
          </p:cNvPr>
          <p:cNvSpPr txBox="1"/>
          <p:nvPr/>
        </p:nvSpPr>
        <p:spPr>
          <a:xfrm>
            <a:off x="567541" y="3187700"/>
            <a:ext cx="10722807" cy="3416320"/>
          </a:xfrm>
          <a:prstGeom prst="rect">
            <a:avLst/>
          </a:prstGeom>
          <a:noFill/>
        </p:spPr>
        <p:txBody>
          <a:bodyPr wrap="none" rtlCol="0">
            <a:spAutoFit/>
          </a:bodyPr>
          <a:lstStyle/>
          <a:p>
            <a:r>
              <a:rPr lang="en-US" altLang="ja-JP" sz="2400" b="1" dirty="0" err="1">
                <a:solidFill>
                  <a:srgbClr val="FF0000"/>
                </a:solidFill>
              </a:rPr>
              <a:t>ProcessMessage</a:t>
            </a:r>
            <a:r>
              <a:rPr lang="ja-JP" altLang="en-US" sz="2400" b="1" dirty="0">
                <a:solidFill>
                  <a:srgbClr val="FF0000"/>
                </a:solidFill>
              </a:rPr>
              <a:t>関数</a:t>
            </a:r>
            <a:r>
              <a:rPr lang="ja-JP" altLang="en-US" sz="2400" dirty="0"/>
              <a:t>は、ゲームが正常に動いているかを見張る関数です。</a:t>
            </a:r>
            <a:endParaRPr lang="en-US" altLang="ja-JP" sz="2400" dirty="0"/>
          </a:p>
          <a:p>
            <a:r>
              <a:rPr kumimoji="1" lang="en-US" altLang="ja-JP" sz="2400" dirty="0"/>
              <a:t>while</a:t>
            </a:r>
            <a:r>
              <a:rPr kumimoji="1" lang="ja-JP" altLang="en-US" sz="2400" dirty="0"/>
              <a:t>文の中に書かれているので、何度も呼ばれることになります。</a:t>
            </a:r>
            <a:endParaRPr kumimoji="1" lang="en-US" altLang="ja-JP" sz="2400" dirty="0"/>
          </a:p>
          <a:p>
            <a:endParaRPr kumimoji="1" lang="en-US" altLang="ja-JP" sz="2400" dirty="0"/>
          </a:p>
          <a:p>
            <a:r>
              <a:rPr kumimoji="1" lang="ja-JP" altLang="en-US" sz="2400" dirty="0"/>
              <a:t>何らかの原因で問題が発生した場合はこのループを抜けて、</a:t>
            </a:r>
            <a:endParaRPr kumimoji="1" lang="en-US" altLang="ja-JP" sz="2400" dirty="0"/>
          </a:p>
          <a:p>
            <a:r>
              <a:rPr lang="ja-JP" altLang="en-US" sz="2400" dirty="0"/>
              <a:t>ゲームが終了します。</a:t>
            </a:r>
            <a:endParaRPr kumimoji="1" lang="en-US" altLang="ja-JP" sz="2400" dirty="0"/>
          </a:p>
          <a:p>
            <a:r>
              <a:rPr lang="ja-JP" altLang="en-US" sz="2400" dirty="0"/>
              <a:t>逆に問題がなければ無限にループします。</a:t>
            </a:r>
            <a:endParaRPr lang="en-US" altLang="ja-JP" sz="2400" dirty="0"/>
          </a:p>
          <a:p>
            <a:endParaRPr kumimoji="1" lang="en-US" altLang="ja-JP" sz="2400" dirty="0"/>
          </a:p>
          <a:p>
            <a:r>
              <a:rPr kumimoji="1" lang="en-US" altLang="ja-JP" sz="2400" b="1" dirty="0">
                <a:solidFill>
                  <a:srgbClr val="00B050"/>
                </a:solidFill>
              </a:rPr>
              <a:t>MEMO</a:t>
            </a:r>
          </a:p>
          <a:p>
            <a:r>
              <a:rPr kumimoji="1" lang="ja-JP" altLang="en-US" sz="2400" dirty="0"/>
              <a:t>もともとゲームは無限ループの中で動いています。</a:t>
            </a:r>
            <a:endParaRPr kumimoji="1" lang="en-US" altLang="ja-JP" sz="2400" dirty="0"/>
          </a:p>
        </p:txBody>
      </p:sp>
    </p:spTree>
    <p:extLst>
      <p:ext uri="{BB962C8B-B14F-4D97-AF65-F5344CB8AC3E}">
        <p14:creationId xmlns:p14="http://schemas.microsoft.com/office/powerpoint/2010/main" val="1967729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描画先画面に描かれているものを消す関数です。</a:t>
            </a:r>
            <a:endParaRPr kumimoji="1" lang="en-US" altLang="ja-JP" sz="2400" dirty="0"/>
          </a:p>
        </p:txBody>
      </p:sp>
      <p:sp>
        <p:nvSpPr>
          <p:cNvPr id="8" name="テキスト ボックス 7">
            <a:extLst>
              <a:ext uri="{FF2B5EF4-FFF2-40B4-BE49-F238E27FC236}">
                <a16:creationId xmlns:a16="http://schemas.microsoft.com/office/drawing/2014/main" id="{F8D103E3-5102-42E0-9CDB-309B97844FA3}"/>
              </a:ext>
            </a:extLst>
          </p:cNvPr>
          <p:cNvSpPr txBox="1"/>
          <p:nvPr/>
        </p:nvSpPr>
        <p:spPr>
          <a:xfrm>
            <a:off x="567541" y="3187700"/>
            <a:ext cx="11126764" cy="1938992"/>
          </a:xfrm>
          <a:prstGeom prst="rect">
            <a:avLst/>
          </a:prstGeom>
          <a:noFill/>
        </p:spPr>
        <p:txBody>
          <a:bodyPr wrap="none" rtlCol="0">
            <a:spAutoFit/>
          </a:bodyPr>
          <a:lstStyle/>
          <a:p>
            <a:r>
              <a:rPr lang="en-US" altLang="ja-JP" sz="2400" b="1" dirty="0" err="1">
                <a:solidFill>
                  <a:srgbClr val="FF0000"/>
                </a:solidFill>
              </a:rPr>
              <a:t>ClearDrawScreen</a:t>
            </a:r>
            <a:r>
              <a:rPr lang="ja-JP" altLang="en-US" sz="2400" b="1" dirty="0">
                <a:solidFill>
                  <a:srgbClr val="FF0000"/>
                </a:solidFill>
              </a:rPr>
              <a:t>関数</a:t>
            </a:r>
            <a:r>
              <a:rPr lang="ja-JP" altLang="en-US" sz="2400" dirty="0"/>
              <a:t>は、描画先の画面に描かれているものを消す関数です。</a:t>
            </a:r>
            <a:endParaRPr lang="en-US" altLang="ja-JP" sz="2400" dirty="0"/>
          </a:p>
          <a:p>
            <a:r>
              <a:rPr kumimoji="1" lang="ja-JP" altLang="en-US" sz="2400" dirty="0"/>
              <a:t>描画先は裏画面となっているので、裏画面が消されます。</a:t>
            </a:r>
            <a:endParaRPr kumimoji="1" lang="en-US" altLang="ja-JP" sz="2400" dirty="0"/>
          </a:p>
          <a:p>
            <a:endParaRPr lang="en-US" altLang="ja-JP" sz="2400" dirty="0"/>
          </a:p>
          <a:p>
            <a:r>
              <a:rPr kumimoji="1" lang="ja-JP" altLang="en-US" sz="2400" dirty="0"/>
              <a:t>この関数を呼ばないと、次から次へと上書きされてしまうので、</a:t>
            </a:r>
            <a:endParaRPr kumimoji="1" lang="en-US" altLang="ja-JP" sz="2400" dirty="0"/>
          </a:p>
          <a:p>
            <a:r>
              <a:rPr kumimoji="1" lang="ja-JP" altLang="en-US" sz="2400" b="1" dirty="0">
                <a:solidFill>
                  <a:srgbClr val="FF0000"/>
                </a:solidFill>
              </a:rPr>
              <a:t>ループの頭に戻った時に、一度裏画面をきれいにしています。</a:t>
            </a:r>
            <a:endParaRPr kumimoji="1" lang="en-US" altLang="ja-JP" sz="2400" b="1" dirty="0">
              <a:solidFill>
                <a:srgbClr val="FF0000"/>
              </a:solidFill>
            </a:endParaRPr>
          </a:p>
        </p:txBody>
      </p:sp>
      <p:pic>
        <p:nvPicPr>
          <p:cNvPr id="3" name="図 2">
            <a:extLst>
              <a:ext uri="{FF2B5EF4-FFF2-40B4-BE49-F238E27FC236}">
                <a16:creationId xmlns:a16="http://schemas.microsoft.com/office/drawing/2014/main" id="{28CE7052-6304-4919-B707-236D89911C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0" y="1817794"/>
            <a:ext cx="3404419" cy="938106"/>
          </a:xfrm>
          <a:prstGeom prst="rect">
            <a:avLst/>
          </a:prstGeom>
        </p:spPr>
      </p:pic>
    </p:spTree>
    <p:extLst>
      <p:ext uri="{BB962C8B-B14F-4D97-AF65-F5344CB8AC3E}">
        <p14:creationId xmlns:p14="http://schemas.microsoft.com/office/powerpoint/2010/main" val="991515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3570208" cy="461665"/>
          </a:xfrm>
          <a:prstGeom prst="rect">
            <a:avLst/>
          </a:prstGeom>
          <a:noFill/>
        </p:spPr>
        <p:txBody>
          <a:bodyPr wrap="none" rtlCol="0">
            <a:spAutoFit/>
          </a:bodyPr>
          <a:lstStyle/>
          <a:p>
            <a:r>
              <a:rPr lang="ja-JP" altLang="en-US" sz="2400" dirty="0"/>
              <a:t>画面を裏返す関数です。</a:t>
            </a:r>
            <a:endParaRPr lang="en-US" altLang="ja-JP" sz="2400" dirty="0"/>
          </a:p>
        </p:txBody>
      </p:sp>
      <p:sp>
        <p:nvSpPr>
          <p:cNvPr id="8" name="テキスト ボックス 7">
            <a:extLst>
              <a:ext uri="{FF2B5EF4-FFF2-40B4-BE49-F238E27FC236}">
                <a16:creationId xmlns:a16="http://schemas.microsoft.com/office/drawing/2014/main" id="{F8D103E3-5102-42E0-9CDB-309B97844FA3}"/>
              </a:ext>
            </a:extLst>
          </p:cNvPr>
          <p:cNvSpPr txBox="1"/>
          <p:nvPr/>
        </p:nvSpPr>
        <p:spPr>
          <a:xfrm>
            <a:off x="567541" y="3187700"/>
            <a:ext cx="9725739" cy="830997"/>
          </a:xfrm>
          <a:prstGeom prst="rect">
            <a:avLst/>
          </a:prstGeom>
          <a:noFill/>
        </p:spPr>
        <p:txBody>
          <a:bodyPr wrap="none" rtlCol="0">
            <a:spAutoFit/>
          </a:bodyPr>
          <a:lstStyle/>
          <a:p>
            <a:r>
              <a:rPr lang="en-US" altLang="ja-JP" sz="2400" b="1" dirty="0" err="1">
                <a:solidFill>
                  <a:srgbClr val="FF0000"/>
                </a:solidFill>
              </a:rPr>
              <a:t>ScreenFlip</a:t>
            </a:r>
            <a:r>
              <a:rPr lang="ja-JP" altLang="en-US" sz="2400" b="1" dirty="0">
                <a:solidFill>
                  <a:srgbClr val="FF0000"/>
                </a:solidFill>
              </a:rPr>
              <a:t>関数</a:t>
            </a:r>
            <a:r>
              <a:rPr lang="ja-JP" altLang="en-US" sz="2400" dirty="0"/>
              <a:t>は、画面を裏返す関数です。</a:t>
            </a:r>
            <a:endParaRPr lang="en-US" altLang="ja-JP" sz="2400" dirty="0"/>
          </a:p>
          <a:p>
            <a:r>
              <a:rPr lang="ja-JP" altLang="en-US" sz="2400" dirty="0"/>
              <a:t>裏画面に全部描画した後はこの関数を使って画面を裏返しましょう。</a:t>
            </a:r>
            <a:endParaRPr lang="en-US" altLang="ja-JP" sz="2400" dirty="0"/>
          </a:p>
        </p:txBody>
      </p:sp>
      <p:pic>
        <p:nvPicPr>
          <p:cNvPr id="5" name="図 4">
            <a:extLst>
              <a:ext uri="{FF2B5EF4-FFF2-40B4-BE49-F238E27FC236}">
                <a16:creationId xmlns:a16="http://schemas.microsoft.com/office/drawing/2014/main" id="{77195ADB-7B86-4CBC-9551-3CB73D68C0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1817794"/>
            <a:ext cx="2810660" cy="796603"/>
          </a:xfrm>
          <a:prstGeom prst="rect">
            <a:avLst/>
          </a:prstGeom>
        </p:spPr>
      </p:pic>
    </p:spTree>
    <p:extLst>
      <p:ext uri="{BB962C8B-B14F-4D97-AF65-F5344CB8AC3E}">
        <p14:creationId xmlns:p14="http://schemas.microsoft.com/office/powerpoint/2010/main" val="25208066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815742" cy="584775"/>
          </a:xfrm>
          <a:prstGeom prst="rect">
            <a:avLst/>
          </a:prstGeom>
          <a:noFill/>
        </p:spPr>
        <p:txBody>
          <a:bodyPr wrap="none" rtlCol="0">
            <a:spAutoFit/>
          </a:bodyPr>
          <a:lstStyle/>
          <a:p>
            <a:r>
              <a:rPr kumimoji="1" lang="ja-JP" altLang="en-US" sz="3200" b="1" u="sng" dirty="0"/>
              <a:t>最低限のプログラム 解説</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461665"/>
          </a:xfrm>
          <a:prstGeom prst="rect">
            <a:avLst/>
          </a:prstGeom>
          <a:noFill/>
        </p:spPr>
        <p:txBody>
          <a:bodyPr wrap="none" rtlCol="0">
            <a:spAutoFit/>
          </a:bodyPr>
          <a:lstStyle/>
          <a:p>
            <a:r>
              <a:rPr lang="ja-JP" altLang="en-US" sz="2400" dirty="0"/>
              <a:t>メインループを抜けるとゲーム終了となります。</a:t>
            </a:r>
            <a:endParaRPr lang="en-US" altLang="ja-JP" sz="2400" dirty="0"/>
          </a:p>
        </p:txBody>
      </p:sp>
      <p:sp>
        <p:nvSpPr>
          <p:cNvPr id="8" name="テキスト ボックス 7">
            <a:extLst>
              <a:ext uri="{FF2B5EF4-FFF2-40B4-BE49-F238E27FC236}">
                <a16:creationId xmlns:a16="http://schemas.microsoft.com/office/drawing/2014/main" id="{F8D103E3-5102-42E0-9CDB-309B97844FA3}"/>
              </a:ext>
            </a:extLst>
          </p:cNvPr>
          <p:cNvSpPr txBox="1"/>
          <p:nvPr/>
        </p:nvSpPr>
        <p:spPr>
          <a:xfrm>
            <a:off x="567541" y="3187700"/>
            <a:ext cx="6918882" cy="830997"/>
          </a:xfrm>
          <a:prstGeom prst="rect">
            <a:avLst/>
          </a:prstGeom>
          <a:noFill/>
        </p:spPr>
        <p:txBody>
          <a:bodyPr wrap="none" rtlCol="0">
            <a:spAutoFit/>
          </a:bodyPr>
          <a:lstStyle/>
          <a:p>
            <a:r>
              <a:rPr lang="en-US" altLang="ja-JP" sz="2400" b="1" dirty="0" err="1">
                <a:solidFill>
                  <a:srgbClr val="FF0000"/>
                </a:solidFill>
              </a:rPr>
              <a:t>DxLib_End</a:t>
            </a:r>
            <a:r>
              <a:rPr lang="ja-JP" altLang="en-US" sz="2400" b="1" dirty="0">
                <a:solidFill>
                  <a:srgbClr val="FF0000"/>
                </a:solidFill>
              </a:rPr>
              <a:t>関数</a:t>
            </a:r>
            <a:r>
              <a:rPr lang="ja-JP" altLang="en-US" sz="2400" dirty="0"/>
              <a:t>は、</a:t>
            </a:r>
            <a:r>
              <a:rPr lang="en-US" altLang="ja-JP" sz="2400" dirty="0" err="1"/>
              <a:t>DxLib</a:t>
            </a:r>
            <a:r>
              <a:rPr lang="ja-JP" altLang="en-US" sz="2400" dirty="0"/>
              <a:t>を終了する関数です。</a:t>
            </a:r>
            <a:endParaRPr lang="en-US" altLang="ja-JP" sz="2400" dirty="0"/>
          </a:p>
          <a:p>
            <a:r>
              <a:rPr lang="en-US" altLang="ja-JP" sz="2400" dirty="0" err="1"/>
              <a:t>DxLib</a:t>
            </a:r>
            <a:r>
              <a:rPr lang="ja-JP" altLang="en-US" sz="2400" dirty="0"/>
              <a:t>側で処理したものの後片付けをします。</a:t>
            </a:r>
            <a:endParaRPr lang="en-US" altLang="ja-JP" sz="2400" dirty="0"/>
          </a:p>
        </p:txBody>
      </p:sp>
      <p:pic>
        <p:nvPicPr>
          <p:cNvPr id="3" name="図 2">
            <a:extLst>
              <a:ext uri="{FF2B5EF4-FFF2-40B4-BE49-F238E27FC236}">
                <a16:creationId xmlns:a16="http://schemas.microsoft.com/office/drawing/2014/main" id="{5785B779-CF2B-46A1-ADAB-144AFD8102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7541" y="1678093"/>
            <a:ext cx="9855586" cy="584775"/>
          </a:xfrm>
          <a:prstGeom prst="rect">
            <a:avLst/>
          </a:prstGeom>
        </p:spPr>
      </p:pic>
    </p:spTree>
    <p:extLst>
      <p:ext uri="{BB962C8B-B14F-4D97-AF65-F5344CB8AC3E}">
        <p14:creationId xmlns:p14="http://schemas.microsoft.com/office/powerpoint/2010/main" val="2401277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5226111" cy="584775"/>
          </a:xfrm>
          <a:prstGeom prst="rect">
            <a:avLst/>
          </a:prstGeom>
          <a:noFill/>
        </p:spPr>
        <p:txBody>
          <a:bodyPr wrap="none" rtlCol="0">
            <a:spAutoFit/>
          </a:bodyPr>
          <a:lstStyle/>
          <a:p>
            <a:r>
              <a:rPr kumimoji="1" lang="ja-JP" altLang="en-US" sz="3200" b="1" u="sng" dirty="0"/>
              <a:t>最低限のプログラム まとめ</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5724644" cy="461665"/>
          </a:xfrm>
          <a:prstGeom prst="rect">
            <a:avLst/>
          </a:prstGeom>
          <a:noFill/>
        </p:spPr>
        <p:txBody>
          <a:bodyPr wrap="none" rtlCol="0">
            <a:spAutoFit/>
          </a:bodyPr>
          <a:lstStyle/>
          <a:p>
            <a:r>
              <a:rPr lang="ja-JP" altLang="en-US" sz="2400" dirty="0"/>
              <a:t>ゲームのプログラムの流れになります。</a:t>
            </a:r>
            <a:endParaRPr lang="en-US" altLang="ja-JP" sz="2400" dirty="0"/>
          </a:p>
        </p:txBody>
      </p:sp>
      <p:grpSp>
        <p:nvGrpSpPr>
          <p:cNvPr id="26" name="グループ化 25">
            <a:extLst>
              <a:ext uri="{FF2B5EF4-FFF2-40B4-BE49-F238E27FC236}">
                <a16:creationId xmlns:a16="http://schemas.microsoft.com/office/drawing/2014/main" id="{18BF4D8E-B4D4-4E8D-9E69-88114544336F}"/>
              </a:ext>
            </a:extLst>
          </p:cNvPr>
          <p:cNvGrpSpPr/>
          <p:nvPr/>
        </p:nvGrpSpPr>
        <p:grpSpPr>
          <a:xfrm>
            <a:off x="567542" y="2345266"/>
            <a:ext cx="9643258" cy="2726268"/>
            <a:chOff x="567542" y="2260599"/>
            <a:chExt cx="8505262" cy="1608668"/>
          </a:xfrm>
        </p:grpSpPr>
        <p:sp>
          <p:nvSpPr>
            <p:cNvPr id="7" name="正方形/長方形 6">
              <a:extLst>
                <a:ext uri="{FF2B5EF4-FFF2-40B4-BE49-F238E27FC236}">
                  <a16:creationId xmlns:a16="http://schemas.microsoft.com/office/drawing/2014/main" id="{25A40E44-E042-41F7-B66B-7CB4AB7533FD}"/>
                </a:ext>
              </a:extLst>
            </p:cNvPr>
            <p:cNvSpPr/>
            <p:nvPr/>
          </p:nvSpPr>
          <p:spPr>
            <a:xfrm>
              <a:off x="2584379" y="3327399"/>
              <a:ext cx="1192436" cy="5418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b="1" dirty="0"/>
                <a:t>裏面消す</a:t>
              </a:r>
            </a:p>
          </p:txBody>
        </p:sp>
        <p:sp>
          <p:nvSpPr>
            <p:cNvPr id="9" name="正方形/長方形 8">
              <a:extLst>
                <a:ext uri="{FF2B5EF4-FFF2-40B4-BE49-F238E27FC236}">
                  <a16:creationId xmlns:a16="http://schemas.microsoft.com/office/drawing/2014/main" id="{0B6EE79A-623B-4B04-B8A9-21006527032C}"/>
                </a:ext>
              </a:extLst>
            </p:cNvPr>
            <p:cNvSpPr/>
            <p:nvPr/>
          </p:nvSpPr>
          <p:spPr>
            <a:xfrm>
              <a:off x="4129546" y="2260599"/>
              <a:ext cx="1192436" cy="5418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b="1" dirty="0"/>
                <a:t>裏面描く</a:t>
              </a:r>
            </a:p>
          </p:txBody>
        </p:sp>
        <p:sp>
          <p:nvSpPr>
            <p:cNvPr id="10" name="正方形/長方形 9">
              <a:extLst>
                <a:ext uri="{FF2B5EF4-FFF2-40B4-BE49-F238E27FC236}">
                  <a16:creationId xmlns:a16="http://schemas.microsoft.com/office/drawing/2014/main" id="{EFB735B8-DE41-4691-8CB9-98C619EEA417}"/>
                </a:ext>
              </a:extLst>
            </p:cNvPr>
            <p:cNvSpPr/>
            <p:nvPr/>
          </p:nvSpPr>
          <p:spPr>
            <a:xfrm>
              <a:off x="5602835" y="3327399"/>
              <a:ext cx="1192436" cy="541867"/>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ja-JP" altLang="en-US" b="1" dirty="0"/>
                <a:t>フリップ</a:t>
              </a:r>
            </a:p>
          </p:txBody>
        </p:sp>
        <p:sp>
          <p:nvSpPr>
            <p:cNvPr id="11" name="正方形/長方形 10">
              <a:extLst>
                <a:ext uri="{FF2B5EF4-FFF2-40B4-BE49-F238E27FC236}">
                  <a16:creationId xmlns:a16="http://schemas.microsoft.com/office/drawing/2014/main" id="{1DEB1432-6CC0-48D7-A0BD-05C78E046839}"/>
                </a:ext>
              </a:extLst>
            </p:cNvPr>
            <p:cNvSpPr/>
            <p:nvPr/>
          </p:nvSpPr>
          <p:spPr>
            <a:xfrm>
              <a:off x="7880368" y="3318932"/>
              <a:ext cx="1192436" cy="541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終了</a:t>
              </a:r>
            </a:p>
          </p:txBody>
        </p:sp>
        <p:sp>
          <p:nvSpPr>
            <p:cNvPr id="12" name="正方形/長方形 11">
              <a:extLst>
                <a:ext uri="{FF2B5EF4-FFF2-40B4-BE49-F238E27FC236}">
                  <a16:creationId xmlns:a16="http://schemas.microsoft.com/office/drawing/2014/main" id="{90711078-D57A-4718-9945-D82DB095FCB7}"/>
                </a:ext>
              </a:extLst>
            </p:cNvPr>
            <p:cNvSpPr/>
            <p:nvPr/>
          </p:nvSpPr>
          <p:spPr>
            <a:xfrm>
              <a:off x="567542" y="3327400"/>
              <a:ext cx="1192436" cy="5418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b="1" dirty="0"/>
                <a:t>初期化</a:t>
              </a:r>
            </a:p>
          </p:txBody>
        </p:sp>
        <p:cxnSp>
          <p:nvCxnSpPr>
            <p:cNvPr id="13" name="直線矢印コネクタ 12">
              <a:extLst>
                <a:ext uri="{FF2B5EF4-FFF2-40B4-BE49-F238E27FC236}">
                  <a16:creationId xmlns:a16="http://schemas.microsoft.com/office/drawing/2014/main" id="{123A7E4D-0912-4B72-A770-C9353BF3152F}"/>
                </a:ext>
              </a:extLst>
            </p:cNvPr>
            <p:cNvCxnSpPr>
              <a:stCxn id="12" idx="3"/>
              <a:endCxn id="7" idx="1"/>
            </p:cNvCxnSpPr>
            <p:nvPr/>
          </p:nvCxnSpPr>
          <p:spPr>
            <a:xfrm flipV="1">
              <a:off x="1759978" y="3598333"/>
              <a:ext cx="824401" cy="1"/>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線矢印コネクタ 13">
              <a:extLst>
                <a:ext uri="{FF2B5EF4-FFF2-40B4-BE49-F238E27FC236}">
                  <a16:creationId xmlns:a16="http://schemas.microsoft.com/office/drawing/2014/main" id="{FB97BE37-0BA6-47CC-8949-916AD7A20657}"/>
                </a:ext>
              </a:extLst>
            </p:cNvPr>
            <p:cNvCxnSpPr>
              <a:cxnSpLocks/>
              <a:stCxn id="7" idx="0"/>
              <a:endCxn id="9" idx="1"/>
            </p:cNvCxnSpPr>
            <p:nvPr/>
          </p:nvCxnSpPr>
          <p:spPr>
            <a:xfrm flipV="1">
              <a:off x="3180597" y="2531533"/>
              <a:ext cx="948949" cy="79586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線矢印コネクタ 16">
              <a:extLst>
                <a:ext uri="{FF2B5EF4-FFF2-40B4-BE49-F238E27FC236}">
                  <a16:creationId xmlns:a16="http://schemas.microsoft.com/office/drawing/2014/main" id="{E16230E4-B4A6-4231-9295-85D8B4C67AD4}"/>
                </a:ext>
              </a:extLst>
            </p:cNvPr>
            <p:cNvCxnSpPr>
              <a:cxnSpLocks/>
              <a:stCxn id="9" idx="3"/>
              <a:endCxn id="10" idx="0"/>
            </p:cNvCxnSpPr>
            <p:nvPr/>
          </p:nvCxnSpPr>
          <p:spPr>
            <a:xfrm>
              <a:off x="5321982" y="2531533"/>
              <a:ext cx="877071" cy="795866"/>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DEFF9E7-0DD4-4B84-A5C5-103D8FB08317}"/>
                </a:ext>
              </a:extLst>
            </p:cNvPr>
            <p:cNvCxnSpPr>
              <a:cxnSpLocks/>
              <a:stCxn id="10" idx="1"/>
              <a:endCxn id="7" idx="3"/>
            </p:cNvCxnSpPr>
            <p:nvPr/>
          </p:nvCxnSpPr>
          <p:spPr>
            <a:xfrm flipH="1">
              <a:off x="3776815" y="3598333"/>
              <a:ext cx="1826020" cy="0"/>
            </a:xfrm>
            <a:prstGeom prst="straightConnector1">
              <a:avLst/>
            </a:prstGeom>
            <a:ln w="381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線矢印コネクタ 22">
              <a:extLst>
                <a:ext uri="{FF2B5EF4-FFF2-40B4-BE49-F238E27FC236}">
                  <a16:creationId xmlns:a16="http://schemas.microsoft.com/office/drawing/2014/main" id="{AC304E6D-BDFF-4A69-8298-0F4A2478007C}"/>
                </a:ext>
              </a:extLst>
            </p:cNvPr>
            <p:cNvCxnSpPr>
              <a:cxnSpLocks/>
              <a:stCxn id="10" idx="3"/>
              <a:endCxn id="11" idx="1"/>
            </p:cNvCxnSpPr>
            <p:nvPr/>
          </p:nvCxnSpPr>
          <p:spPr>
            <a:xfrm flipV="1">
              <a:off x="6795271" y="3589866"/>
              <a:ext cx="1085097" cy="8467"/>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070412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877985" cy="584775"/>
          </a:xfrm>
          <a:prstGeom prst="rect">
            <a:avLst/>
          </a:prstGeom>
          <a:noFill/>
        </p:spPr>
        <p:txBody>
          <a:bodyPr wrap="none" rtlCol="0">
            <a:spAutoFit/>
          </a:bodyPr>
          <a:lstStyle/>
          <a:p>
            <a:r>
              <a:rPr kumimoji="1" lang="ja-JP" altLang="en-US" sz="3200" b="1" u="sng" dirty="0"/>
              <a:t>最低限のプログラム</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1200329"/>
          </a:xfrm>
          <a:prstGeom prst="rect">
            <a:avLst/>
          </a:prstGeom>
          <a:noFill/>
        </p:spPr>
        <p:txBody>
          <a:bodyPr wrap="none" rtlCol="0">
            <a:spAutoFit/>
          </a:bodyPr>
          <a:lstStyle/>
          <a:p>
            <a:r>
              <a:rPr lang="ja-JP" altLang="en-US" sz="2400" dirty="0"/>
              <a:t>実行すると真っ暗な画面が表示されます。</a:t>
            </a:r>
            <a:endParaRPr lang="en-US" altLang="ja-JP" sz="2400" dirty="0"/>
          </a:p>
          <a:p>
            <a:r>
              <a:rPr lang="ja-JP" altLang="en-US" sz="2400" dirty="0"/>
              <a:t>まだ何も描画していないのでこのようになります。</a:t>
            </a:r>
            <a:endParaRPr lang="en-US" altLang="ja-JP" sz="2400" dirty="0"/>
          </a:p>
          <a:p>
            <a:r>
              <a:rPr lang="ja-JP" altLang="en-US" sz="2400" dirty="0"/>
              <a:t>（エスケープキーで終了できます）</a:t>
            </a:r>
            <a:endParaRPr lang="en-US" altLang="ja-JP" sz="2400" dirty="0"/>
          </a:p>
        </p:txBody>
      </p:sp>
      <p:sp>
        <p:nvSpPr>
          <p:cNvPr id="2" name="正方形/長方形 1">
            <a:extLst>
              <a:ext uri="{FF2B5EF4-FFF2-40B4-BE49-F238E27FC236}">
                <a16:creationId xmlns:a16="http://schemas.microsoft.com/office/drawing/2014/main" id="{C9AF54A6-33F4-406D-8B85-C4E094D66015}"/>
              </a:ext>
            </a:extLst>
          </p:cNvPr>
          <p:cNvSpPr/>
          <p:nvPr/>
        </p:nvSpPr>
        <p:spPr>
          <a:xfrm>
            <a:off x="567542" y="2589306"/>
            <a:ext cx="6959600" cy="3318046"/>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774893122"/>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TotalTime>
  <Words>791</Words>
  <Application>Microsoft Office PowerPoint</Application>
  <PresentationFormat>ワイド画面</PresentationFormat>
  <Paragraphs>98</Paragraphs>
  <Slides>15</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15</vt:i4>
      </vt:variant>
    </vt:vector>
  </HeadingPairs>
  <TitlesOfParts>
    <vt:vector size="19" baseType="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北九州校　ゲーム</cp:lastModifiedBy>
  <cp:revision>29</cp:revision>
  <dcterms:created xsi:type="dcterms:W3CDTF">2024-08-27T02:15:54Z</dcterms:created>
  <dcterms:modified xsi:type="dcterms:W3CDTF">2026-06-22T00:49:17Z</dcterms:modified>
</cp:coreProperties>
</file>