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ゲームロジック（処理の流れ）は、</a:t>
            </a:r>
            <a:endParaRPr lang="en-US" altLang="ja-JP" sz="2400" dirty="0"/>
          </a:p>
          <a:p>
            <a:r>
              <a:rPr lang="ja-JP" altLang="en-US" sz="2400" dirty="0"/>
              <a:t>以下のように、ある程度決められたものがあります。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29297F4E-BE8C-4CB2-BC1C-7686A7308704}"/>
              </a:ext>
            </a:extLst>
          </p:cNvPr>
          <p:cNvGrpSpPr/>
          <p:nvPr/>
        </p:nvGrpSpPr>
        <p:grpSpPr>
          <a:xfrm>
            <a:off x="1111518" y="2187126"/>
            <a:ext cx="1600200" cy="4312270"/>
            <a:chOff x="654050" y="2441126"/>
            <a:chExt cx="1600200" cy="4312270"/>
          </a:xfrm>
        </p:grpSpPr>
        <p:sp>
          <p:nvSpPr>
            <p:cNvPr id="5" name="フローチャート: 判断 4">
              <a:extLst>
                <a:ext uri="{FF2B5EF4-FFF2-40B4-BE49-F238E27FC236}">
                  <a16:creationId xmlns:a16="http://schemas.microsoft.com/office/drawing/2014/main" id="{B51F93B0-D6A5-42BA-B5D5-0DA7621865D5}"/>
                </a:ext>
              </a:extLst>
            </p:cNvPr>
            <p:cNvSpPr/>
            <p:nvPr/>
          </p:nvSpPr>
          <p:spPr>
            <a:xfrm>
              <a:off x="654050" y="3273874"/>
              <a:ext cx="1600200" cy="830997"/>
            </a:xfrm>
            <a:prstGeom prst="flowChartDecis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/>
                <a:t>メインループ</a:t>
              </a:r>
            </a:p>
          </p:txBody>
        </p:sp>
        <p:sp>
          <p:nvSpPr>
            <p:cNvPr id="8" name="フローチャート: 処理 7">
              <a:extLst>
                <a:ext uri="{FF2B5EF4-FFF2-40B4-BE49-F238E27FC236}">
                  <a16:creationId xmlns:a16="http://schemas.microsoft.com/office/drawing/2014/main" id="{4CF56C0C-8D2D-4A4D-92CE-A67B8703F8EE}"/>
                </a:ext>
              </a:extLst>
            </p:cNvPr>
            <p:cNvSpPr/>
            <p:nvPr/>
          </p:nvSpPr>
          <p:spPr>
            <a:xfrm>
              <a:off x="825500" y="2441126"/>
              <a:ext cx="1257300" cy="571500"/>
            </a:xfrm>
            <a:prstGeom prst="flowChartProcess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初期化</a:t>
              </a:r>
            </a:p>
          </p:txBody>
        </p:sp>
        <p:sp>
          <p:nvSpPr>
            <p:cNvPr id="9" name="フローチャート: 処理 8">
              <a:extLst>
                <a:ext uri="{FF2B5EF4-FFF2-40B4-BE49-F238E27FC236}">
                  <a16:creationId xmlns:a16="http://schemas.microsoft.com/office/drawing/2014/main" id="{B56E4574-1DED-43B0-AED4-C5EAA7AF163A}"/>
                </a:ext>
              </a:extLst>
            </p:cNvPr>
            <p:cNvSpPr/>
            <p:nvPr/>
          </p:nvSpPr>
          <p:spPr>
            <a:xfrm>
              <a:off x="825500" y="4393392"/>
              <a:ext cx="1257300" cy="571500"/>
            </a:xfrm>
            <a:prstGeom prst="flowChartProcess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更新</a:t>
              </a:r>
            </a:p>
          </p:txBody>
        </p:sp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F5890DF2-1137-4EB1-9537-C0EDCF8130DD}"/>
                </a:ext>
              </a:extLst>
            </p:cNvPr>
            <p:cNvSpPr/>
            <p:nvPr/>
          </p:nvSpPr>
          <p:spPr>
            <a:xfrm>
              <a:off x="825500" y="5227160"/>
              <a:ext cx="1257300" cy="571500"/>
            </a:xfrm>
            <a:prstGeom prst="flowChartProcess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描画</a:t>
              </a:r>
            </a:p>
          </p:txBody>
        </p:sp>
        <p:sp>
          <p:nvSpPr>
            <p:cNvPr id="11" name="フローチャート: 処理 10">
              <a:extLst>
                <a:ext uri="{FF2B5EF4-FFF2-40B4-BE49-F238E27FC236}">
                  <a16:creationId xmlns:a16="http://schemas.microsoft.com/office/drawing/2014/main" id="{EA72AF45-2049-4BCB-A54A-F323499907EC}"/>
                </a:ext>
              </a:extLst>
            </p:cNvPr>
            <p:cNvSpPr/>
            <p:nvPr/>
          </p:nvSpPr>
          <p:spPr>
            <a:xfrm>
              <a:off x="825500" y="6181896"/>
              <a:ext cx="1257300" cy="571500"/>
            </a:xfrm>
            <a:prstGeom prst="flowChartProcess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終了</a:t>
              </a:r>
              <a:endParaRPr kumimoji="1" lang="ja-JP" altLang="en-US" dirty="0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87EB48CB-AB77-4E53-9F62-60710310831F}"/>
                </a:ext>
              </a:extLst>
            </p:cNvPr>
            <p:cNvCxnSpPr>
              <a:stCxn id="8" idx="2"/>
              <a:endCxn id="5" idx="0"/>
            </p:cNvCxnSpPr>
            <p:nvPr/>
          </p:nvCxnSpPr>
          <p:spPr>
            <a:xfrm>
              <a:off x="1454150" y="3012626"/>
              <a:ext cx="0" cy="2612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21C77B81-1C58-4A13-B1A2-722D9712BB83}"/>
                </a:ext>
              </a:extLst>
            </p:cNvPr>
            <p:cNvCxnSpPr>
              <a:stCxn id="5" idx="2"/>
              <a:endCxn id="9" idx="0"/>
            </p:cNvCxnSpPr>
            <p:nvPr/>
          </p:nvCxnSpPr>
          <p:spPr>
            <a:xfrm>
              <a:off x="1454150" y="4104871"/>
              <a:ext cx="0" cy="2885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55552990-3936-433C-A334-8FC24B6DB8F7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1454150" y="4964892"/>
              <a:ext cx="0" cy="262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コネクタ: カギ線 23">
              <a:extLst>
                <a:ext uri="{FF2B5EF4-FFF2-40B4-BE49-F238E27FC236}">
                  <a16:creationId xmlns:a16="http://schemas.microsoft.com/office/drawing/2014/main" id="{862B680E-3979-47B9-A7D3-3B6DA0CF3420}"/>
                </a:ext>
              </a:extLst>
            </p:cNvPr>
            <p:cNvCxnSpPr>
              <a:cxnSpLocks/>
              <a:stCxn id="5" idx="3"/>
              <a:endCxn id="11" idx="3"/>
            </p:cNvCxnSpPr>
            <p:nvPr/>
          </p:nvCxnSpPr>
          <p:spPr>
            <a:xfrm flipH="1">
              <a:off x="2082800" y="3689373"/>
              <a:ext cx="171450" cy="2778273"/>
            </a:xfrm>
            <a:prstGeom prst="bentConnector3">
              <a:avLst>
                <a:gd name="adj1" fmla="val -13333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3F4EBFB9-6BAC-437E-9606-40B24D5F3BF2}"/>
                </a:ext>
              </a:extLst>
            </p:cNvPr>
            <p:cNvCxnSpPr>
              <a:cxnSpLocks/>
              <a:stCxn id="10" idx="2"/>
              <a:endCxn id="5" idx="1"/>
            </p:cNvCxnSpPr>
            <p:nvPr/>
          </p:nvCxnSpPr>
          <p:spPr>
            <a:xfrm rot="5400000" flipH="1">
              <a:off x="-544" y="4343967"/>
              <a:ext cx="2109287" cy="800100"/>
            </a:xfrm>
            <a:prstGeom prst="bentConnector4">
              <a:avLst>
                <a:gd name="adj1" fmla="val -10838"/>
                <a:gd name="adj2" fmla="val 12857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AB91A29-F9B6-4DD0-B7F7-B9147E7E5406}"/>
              </a:ext>
            </a:extLst>
          </p:cNvPr>
          <p:cNvSpPr txBox="1"/>
          <p:nvPr/>
        </p:nvSpPr>
        <p:spPr>
          <a:xfrm>
            <a:off x="4353193" y="6037731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まずは流れだけ作ってみましょう！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初期化処理</a:t>
            </a:r>
            <a:r>
              <a:rPr lang="ja-JP" altLang="en-US" sz="2400" dirty="0"/>
              <a:t>とは、</a:t>
            </a:r>
            <a:r>
              <a:rPr lang="ja-JP" altLang="en-US" sz="2400" b="1" dirty="0">
                <a:solidFill>
                  <a:srgbClr val="FF0000"/>
                </a:solidFill>
              </a:rPr>
              <a:t>更新処理に入る前に一度だけ呼ばれる処理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kumimoji="1" lang="ja-JP" altLang="en-US" sz="2400" dirty="0"/>
              <a:t>主に、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ゲームが始まる前の準備をする処理</a:t>
            </a:r>
            <a:r>
              <a:rPr kumimoji="1" lang="ja-JP" altLang="en-US" sz="2400" dirty="0"/>
              <a:t>をします。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■主な初期化処理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・キャラクターの初期配置</a:t>
            </a:r>
            <a:endParaRPr kumimoji="1" lang="en-US" altLang="ja-JP" sz="2400" dirty="0"/>
          </a:p>
          <a:p>
            <a:r>
              <a:rPr lang="ja-JP" altLang="en-US" sz="2400" dirty="0"/>
              <a:t>・画像の読み込み（ロード）</a:t>
            </a:r>
            <a:endParaRPr lang="en-US" altLang="ja-JP" sz="2400" dirty="0"/>
          </a:p>
          <a:p>
            <a:r>
              <a:rPr kumimoji="1" lang="ja-JP" altLang="en-US" sz="2400" dirty="0"/>
              <a:t>・システムの初期化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92782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初期化用の関数を作っておくと、きれいに書くことができます。</a:t>
            </a:r>
            <a:endParaRPr kumimoji="1" lang="en-US" altLang="ja-JP" sz="2400" dirty="0"/>
          </a:p>
          <a:p>
            <a:r>
              <a:rPr lang="ja-JP" altLang="en-US" sz="2400" dirty="0"/>
              <a:t>初期化関数を作成して、ループに入る前に呼び出しましょう。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299FF29-69D5-4299-985E-DFBC6FD75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325524" cy="144507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7CF6949-6A5D-486A-BB00-5825BE37A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302025"/>
            <a:ext cx="4706007" cy="142894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4DB8C0-CD39-4CAF-A38B-F3E1EEC873C2}"/>
              </a:ext>
            </a:extLst>
          </p:cNvPr>
          <p:cNvSpPr txBox="1"/>
          <p:nvPr/>
        </p:nvSpPr>
        <p:spPr>
          <a:xfrm>
            <a:off x="567542" y="37719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・・・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31195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更新処理</a:t>
            </a:r>
            <a:r>
              <a:rPr lang="ja-JP" altLang="en-US" sz="2400" dirty="0"/>
              <a:t>とは、</a:t>
            </a:r>
            <a:r>
              <a:rPr lang="ja-JP" altLang="en-US" sz="2400" b="1" dirty="0">
                <a:solidFill>
                  <a:srgbClr val="FF0000"/>
                </a:solidFill>
              </a:rPr>
              <a:t>メインループ毎に毎回呼ばれる処理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主に</a:t>
            </a:r>
            <a:r>
              <a:rPr lang="ja-JP" altLang="en-US" sz="2400" b="1" dirty="0">
                <a:solidFill>
                  <a:srgbClr val="FF0000"/>
                </a:solidFill>
              </a:rPr>
              <a:t>ゲームの動きとなる処理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■主な更新処理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・キャラクターの移動</a:t>
            </a:r>
            <a:endParaRPr kumimoji="1" lang="en-US" altLang="ja-JP" sz="2400" dirty="0"/>
          </a:p>
          <a:p>
            <a:r>
              <a:rPr lang="ja-JP" altLang="en-US" sz="2400" dirty="0"/>
              <a:t>・アニメーション</a:t>
            </a:r>
            <a:endParaRPr lang="en-US" altLang="ja-JP" sz="2400" dirty="0"/>
          </a:p>
          <a:p>
            <a:r>
              <a:rPr kumimoji="1" lang="ja-JP" altLang="en-US" sz="2400" dirty="0"/>
              <a:t>・当たり判定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8021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 練習</a:t>
            </a:r>
            <a:r>
              <a:rPr kumimoji="1" lang="en-US" altLang="ja-JP" sz="3200" b="1" u="sng" dirty="0"/>
              <a:t>2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更新処理も関数にしておきましょう。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6190101-3008-4F78-A5E4-197FEB5AA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068007" cy="144800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432B9E7-42FB-4207-8428-3E89464F4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3808054"/>
            <a:ext cx="4639322" cy="188621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BA59C57-F900-4AFF-8D8C-6BEDCB3D1005}"/>
              </a:ext>
            </a:extLst>
          </p:cNvPr>
          <p:cNvSpPr txBox="1"/>
          <p:nvPr/>
        </p:nvSpPr>
        <p:spPr>
          <a:xfrm>
            <a:off x="567542" y="334833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・・・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D21890-0978-4DA8-B7F8-5DBA276DBAD1}"/>
              </a:ext>
            </a:extLst>
          </p:cNvPr>
          <p:cNvSpPr/>
          <p:nvPr/>
        </p:nvSpPr>
        <p:spPr>
          <a:xfrm>
            <a:off x="2298700" y="5003800"/>
            <a:ext cx="17145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421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描画処理</a:t>
            </a:r>
            <a:r>
              <a:rPr lang="ja-JP" altLang="en-US" sz="2400" dirty="0"/>
              <a:t>とは、</a:t>
            </a:r>
            <a:r>
              <a:rPr lang="ja-JP" altLang="en-US" sz="2400" b="1" dirty="0">
                <a:solidFill>
                  <a:srgbClr val="FF0000"/>
                </a:solidFill>
              </a:rPr>
              <a:t>画面に表示するものを描画する処理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基本的には描画する処理しか書きません。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5608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 練習</a:t>
            </a:r>
            <a:r>
              <a:rPr kumimoji="1" lang="en-US" altLang="ja-JP" sz="3200" b="1" u="sng" dirty="0"/>
              <a:t>3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描画処理も関数にしておきましょう。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276E68B-618A-41A3-B55E-FCE507A23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219899" cy="143847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D292F1D-071B-4D08-86F9-E2B6C1E9A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3601731"/>
            <a:ext cx="4677428" cy="262926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CC5F52-0009-423A-9F5F-367E051A2D00}"/>
              </a:ext>
            </a:extLst>
          </p:cNvPr>
          <p:cNvSpPr txBox="1"/>
          <p:nvPr/>
        </p:nvSpPr>
        <p:spPr>
          <a:xfrm>
            <a:off x="567542" y="31981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・・・</a:t>
            </a:r>
            <a:endParaRPr kumimoji="1" lang="en-US" altLang="ja-JP" sz="2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4E26038-E05A-41D0-AC55-5577D6118D78}"/>
              </a:ext>
            </a:extLst>
          </p:cNvPr>
          <p:cNvSpPr/>
          <p:nvPr/>
        </p:nvSpPr>
        <p:spPr>
          <a:xfrm>
            <a:off x="2298700" y="5641570"/>
            <a:ext cx="1714500" cy="7244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89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終了処理</a:t>
            </a:r>
            <a:r>
              <a:rPr lang="ja-JP" altLang="en-US" sz="2400" dirty="0"/>
              <a:t>とは、</a:t>
            </a:r>
            <a:r>
              <a:rPr lang="ja-JP" altLang="en-US" sz="2400" b="1" dirty="0">
                <a:solidFill>
                  <a:srgbClr val="FF0000"/>
                </a:solidFill>
              </a:rPr>
              <a:t>ゲームを終了するときの処理です。</a:t>
            </a:r>
            <a:endParaRPr lang="en-US" altLang="ja-JP" sz="2400" dirty="0"/>
          </a:p>
          <a:p>
            <a:r>
              <a:rPr lang="ja-JP" altLang="en-US" sz="2400" dirty="0"/>
              <a:t>後片付けが必要なものの処理などを書きます。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■主な終了処理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・使わなくなった画像を削除する</a:t>
            </a:r>
            <a:endParaRPr lang="en-US" altLang="ja-JP" sz="2400" dirty="0"/>
          </a:p>
          <a:p>
            <a:r>
              <a:rPr lang="ja-JP" altLang="en-US" sz="2400" dirty="0"/>
              <a:t>・使わなくなったメモリを解放する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今は後片付け程度のイメージで大丈夫です。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44561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 練習</a:t>
            </a:r>
            <a:r>
              <a:rPr kumimoji="1" lang="en-US" altLang="ja-JP" sz="3200" b="1" u="sng" dirty="0"/>
              <a:t>4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終了処理も関数にしておきましょう。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39696E9-966C-4028-BEF6-B99E8C680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763165" cy="139084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4C3F8A4-C9A5-4358-83B5-9B0863FC7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3941463"/>
            <a:ext cx="8087854" cy="2019582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2BA13BF-7544-44E5-B94C-29AE2836972E}"/>
              </a:ext>
            </a:extLst>
          </p:cNvPr>
          <p:cNvSpPr txBox="1"/>
          <p:nvPr/>
        </p:nvSpPr>
        <p:spPr>
          <a:xfrm>
            <a:off x="567542" y="334833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・・・</a:t>
            </a:r>
            <a:endParaRPr kumimoji="1" lang="en-US" altLang="ja-JP" sz="2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0E6F799-15EA-4E89-B729-AC39C0234BCF}"/>
              </a:ext>
            </a:extLst>
          </p:cNvPr>
          <p:cNvSpPr/>
          <p:nvPr/>
        </p:nvSpPr>
        <p:spPr>
          <a:xfrm>
            <a:off x="1943100" y="3810003"/>
            <a:ext cx="1498600" cy="732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3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ゲームロジックの基本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今回のロジックは必要最低限なもののみになります。</a:t>
            </a:r>
            <a:endParaRPr lang="en-US" altLang="ja-JP" sz="2400" dirty="0"/>
          </a:p>
          <a:p>
            <a:r>
              <a:rPr lang="ja-JP" altLang="en-US" sz="2400" dirty="0"/>
              <a:t>今後は細かく分かれたり、新しい処理が追加されたりします。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ja-JP" altLang="en-US" sz="2400" b="1" dirty="0">
                <a:solidFill>
                  <a:srgbClr val="FF0000"/>
                </a:solidFill>
              </a:rPr>
              <a:t>初期化　→　更新　→　描画　→　終了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この流れに慣れていきましょう。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13402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350</Words>
  <Application>Microsoft Office PowerPoint</Application>
  <PresentationFormat>ワイド画面</PresentationFormat>
  <Paragraphs>59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27</cp:revision>
  <dcterms:created xsi:type="dcterms:W3CDTF">2024-08-27T02:15:54Z</dcterms:created>
  <dcterms:modified xsi:type="dcterms:W3CDTF">2026-06-22T00:50:32Z</dcterms:modified>
</cp:coreProperties>
</file>