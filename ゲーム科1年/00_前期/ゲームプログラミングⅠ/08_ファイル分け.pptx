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4" r:id="rId10"/>
    <p:sldId id="263" r:id="rId11"/>
    <p:sldId id="265" r:id="rId12"/>
    <p:sldId id="266" r:id="rId13"/>
    <p:sldId id="267" r:id="rId1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2025/1/6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569975" cy="378565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これまでプログラムはすべて</a:t>
            </a:r>
            <a:r>
              <a:rPr kumimoji="1" lang="en-US" altLang="ja-JP" sz="2400" dirty="0"/>
              <a:t>Main.cpp</a:t>
            </a:r>
            <a:r>
              <a:rPr kumimoji="1" lang="ja-JP" altLang="en-US" sz="2400" dirty="0"/>
              <a:t>に書いていきました。</a:t>
            </a:r>
            <a:endParaRPr kumimoji="1" lang="en-US" altLang="ja-JP" sz="2400" dirty="0"/>
          </a:p>
          <a:p>
            <a:r>
              <a:rPr lang="ja-JP" altLang="en-US" sz="2400" dirty="0"/>
              <a:t>ただ、この後の実装のことを考えてみましょう。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プレイヤーや敵などのキャラクター、</a:t>
            </a:r>
            <a:endParaRPr kumimoji="1" lang="en-US" altLang="ja-JP" sz="2400" dirty="0"/>
          </a:p>
          <a:p>
            <a:r>
              <a:rPr lang="ja-JP" altLang="en-US" sz="2400" dirty="0"/>
              <a:t>ブロックなどのギミック、</a:t>
            </a:r>
            <a:endParaRPr lang="en-US" altLang="ja-JP" sz="2400" dirty="0"/>
          </a:p>
          <a:p>
            <a:r>
              <a:rPr kumimoji="1" lang="ja-JP" altLang="en-US" sz="2400" dirty="0"/>
              <a:t>アイテムなどを追加していくとなると、</a:t>
            </a:r>
            <a:endParaRPr kumimoji="1" lang="en-US" altLang="ja-JP" sz="2400" dirty="0"/>
          </a:p>
          <a:p>
            <a:r>
              <a:rPr lang="en-US" altLang="ja-JP" sz="2400" dirty="0"/>
              <a:t>Main.cpp</a:t>
            </a:r>
            <a:r>
              <a:rPr lang="ja-JP" altLang="en-US" sz="2400" dirty="0"/>
              <a:t>が膨大に膨れ上がってしまいます。</a:t>
            </a:r>
            <a:endParaRPr lang="en-US" altLang="ja-JP" sz="2400" dirty="0"/>
          </a:p>
          <a:p>
            <a:endParaRPr kumimoji="1" lang="en-US" altLang="ja-JP" sz="2400" dirty="0"/>
          </a:p>
          <a:p>
            <a:r>
              <a:rPr kumimoji="1" lang="ja-JP" altLang="en-US" sz="2400" dirty="0"/>
              <a:t>そうならないために今回は、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プログラムのファイル分け</a:t>
            </a:r>
            <a:r>
              <a:rPr lang="ja-JP" altLang="en-US" sz="2400" dirty="0"/>
              <a:t>を学びます。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4100289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753443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雲のプログラムをファイル分けします。</a:t>
            </a:r>
            <a:endParaRPr kumimoji="1" lang="en-US" altLang="ja-JP" sz="2400" dirty="0"/>
          </a:p>
          <a:p>
            <a:r>
              <a:rPr lang="ja-JP" altLang="en-US" sz="2400" dirty="0"/>
              <a:t>まずは</a:t>
            </a:r>
            <a:r>
              <a:rPr lang="en-US" altLang="ja-JP" sz="2400" b="1" dirty="0">
                <a:solidFill>
                  <a:srgbClr val="FF0000"/>
                </a:solidFill>
              </a:rPr>
              <a:t>CPP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ファイルと</a:t>
            </a:r>
            <a:r>
              <a:rPr lang="en-US" altLang="ja-JP" sz="2400" b="1" dirty="0">
                <a:solidFill>
                  <a:srgbClr val="FF0000"/>
                </a:solidFill>
              </a:rPr>
              <a:t>H</a:t>
            </a:r>
            <a:r>
              <a:rPr lang="ja-JP" altLang="en-US" sz="2400" b="1" dirty="0">
                <a:solidFill>
                  <a:srgbClr val="FF0000"/>
                </a:solidFill>
              </a:rPr>
              <a:t>ファイルを用意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  <a:p>
            <a:r>
              <a:rPr kumimoji="1" lang="ja-JP" altLang="en-US" sz="2400" dirty="0"/>
              <a:t>その際、フォルダわけも行います。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530121D7-6ADF-4026-94D3-6F7CA31E87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556458"/>
            <a:ext cx="4486791" cy="1884785"/>
          </a:xfrm>
          <a:prstGeom prst="rect">
            <a:avLst/>
          </a:prstGeom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BF38E91-887F-49B0-A774-DB8BC1C39422}"/>
              </a:ext>
            </a:extLst>
          </p:cNvPr>
          <p:cNvSpPr txBox="1"/>
          <p:nvPr/>
        </p:nvSpPr>
        <p:spPr>
          <a:xfrm>
            <a:off x="567541" y="3841078"/>
            <a:ext cx="4083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Cloud</a:t>
            </a:r>
            <a:r>
              <a:rPr kumimoji="1" lang="ja-JP" altLang="en-US" sz="2400" dirty="0"/>
              <a:t>フォルダを作成して、</a:t>
            </a:r>
            <a:endParaRPr kumimoji="1"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F1633FD3-34B4-4760-B755-910AFC51E5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0" y="4441242"/>
            <a:ext cx="4180925" cy="1924803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DDBF9DA-742A-4194-B38B-695DBD205701}"/>
              </a:ext>
            </a:extLst>
          </p:cNvPr>
          <p:cNvSpPr txBox="1"/>
          <p:nvPr/>
        </p:nvSpPr>
        <p:spPr>
          <a:xfrm>
            <a:off x="567540" y="5863723"/>
            <a:ext cx="38539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Cloud.cpp/.h</a:t>
            </a:r>
            <a:r>
              <a:rPr kumimoji="1" lang="ja-JP" altLang="en-US" sz="2400" dirty="0"/>
              <a:t>を作成する。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882432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2400" dirty="0"/>
              <a:t>Visual Studio</a:t>
            </a:r>
            <a:r>
              <a:rPr kumimoji="1" lang="ja-JP" altLang="en-US" sz="2400" dirty="0"/>
              <a:t>側に追加する際は、</a:t>
            </a:r>
            <a:endParaRPr kumimoji="1"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必ずフォルダ構成と同じになるように</a:t>
            </a:r>
            <a:r>
              <a:rPr lang="ja-JP" altLang="en-US" sz="2400" dirty="0"/>
              <a:t>フィルタを追加しましょう。</a:t>
            </a:r>
            <a:endParaRPr kumimoji="1"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B52326ED-4131-4389-A860-CABC50C8EC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3846653" cy="3454445"/>
          </a:xfrm>
          <a:prstGeom prst="rect">
            <a:avLst/>
          </a:prstGeom>
        </p:spPr>
      </p:pic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DB54F1F-B1C7-45E9-B4FD-A372FF748339}"/>
              </a:ext>
            </a:extLst>
          </p:cNvPr>
          <p:cNvSpPr txBox="1"/>
          <p:nvPr/>
        </p:nvSpPr>
        <p:spPr>
          <a:xfrm>
            <a:off x="567541" y="5781271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追加したら、まずはヘッダーファイルから書いていきます。</a:t>
            </a:r>
            <a:endParaRPr kumimoji="1"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293928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ヘッダーファイルを書きます。</a:t>
            </a:r>
            <a:endParaRPr kumimoji="1"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0D3F086E-4630-4DA9-BAA1-F31A32EC904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3" y="1817794"/>
            <a:ext cx="4768188" cy="454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190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372257" cy="415498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ヘッダーファイルには主に宣言を書きます。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■主に書くこと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・マクロ宣言（</a:t>
            </a:r>
            <a:r>
              <a:rPr lang="en-US" altLang="ja-JP" sz="2400" dirty="0"/>
              <a:t>#define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・関数のプロトタイプ宣言</a:t>
            </a:r>
            <a:endParaRPr kumimoji="1" lang="en-US" altLang="ja-JP" sz="2400" dirty="0"/>
          </a:p>
          <a:p>
            <a:r>
              <a:rPr lang="ja-JP" altLang="en-US" sz="2400" dirty="0"/>
              <a:t>・列挙型の宣言（</a:t>
            </a:r>
            <a:r>
              <a:rPr lang="en-US" altLang="ja-JP" sz="2400" dirty="0" err="1"/>
              <a:t>enum</a:t>
            </a:r>
            <a:r>
              <a:rPr lang="ja-JP" altLang="en-US" sz="2400" dirty="0"/>
              <a:t>）</a:t>
            </a:r>
            <a:endParaRPr lang="en-US" altLang="ja-JP" sz="2400" dirty="0"/>
          </a:p>
          <a:p>
            <a:r>
              <a:rPr kumimoji="1" lang="ja-JP" altLang="en-US" sz="2400" dirty="0"/>
              <a:t>・構造体の宣言（</a:t>
            </a:r>
            <a:r>
              <a:rPr kumimoji="1" lang="en-US" altLang="ja-JP" sz="2400" dirty="0"/>
              <a:t>struct</a:t>
            </a:r>
            <a:r>
              <a:rPr kumimoji="1" lang="ja-JP" altLang="en-US" sz="2400" dirty="0"/>
              <a:t>）</a:t>
            </a:r>
            <a:endParaRPr kumimoji="1" lang="en-US" altLang="ja-JP" sz="2400" dirty="0"/>
          </a:p>
          <a:p>
            <a:r>
              <a:rPr kumimoji="1" lang="ja-JP" altLang="en-US" sz="2400" dirty="0"/>
              <a:t>など</a:t>
            </a:r>
            <a:endParaRPr kumimoji="1" lang="en-US" altLang="ja-JP" sz="2400" dirty="0"/>
          </a:p>
          <a:p>
            <a:endParaRPr lang="en-US" altLang="ja-JP" sz="2400" dirty="0"/>
          </a:p>
          <a:p>
            <a:r>
              <a:rPr kumimoji="1" lang="ja-JP" altLang="en-US" sz="2400" dirty="0"/>
              <a:t>これで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インクルードした</a:t>
            </a:r>
            <a:r>
              <a:rPr kumimoji="1" lang="en-US" altLang="ja-JP" sz="2400" b="1" dirty="0">
                <a:solidFill>
                  <a:srgbClr val="FF0000"/>
                </a:solidFill>
              </a:rPr>
              <a:t>CPP</a:t>
            </a:r>
            <a:r>
              <a:rPr kumimoji="1" lang="ja-JP" altLang="en-US" sz="2400" b="1" dirty="0">
                <a:solidFill>
                  <a:srgbClr val="FF0000"/>
                </a:solidFill>
              </a:rPr>
              <a:t>ファイルでも、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宣言されたものを使うことができます。</a:t>
            </a:r>
            <a:endParaRPr kumimoji="1"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543209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6878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続いて</a:t>
            </a:r>
            <a:r>
              <a:rPr kumimoji="1" lang="en-US" altLang="ja-JP" sz="2400" dirty="0"/>
              <a:t>CPP</a:t>
            </a:r>
            <a:r>
              <a:rPr kumimoji="1" lang="ja-JP" altLang="en-US" sz="2400" dirty="0"/>
              <a:t>側を書いていきます。</a:t>
            </a:r>
            <a:endParaRPr kumimoji="1"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Init</a:t>
            </a:r>
            <a:r>
              <a:rPr lang="ja-JP" altLang="en-US" sz="2400" b="1" dirty="0">
                <a:solidFill>
                  <a:srgbClr val="FF0000"/>
                </a:solidFill>
              </a:rPr>
              <a:t>関数の処理は、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にある雲の初期化処理を移植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96F68CA4-66B5-4B09-BF07-86A0320E6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2187126"/>
            <a:ext cx="6132611" cy="4374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73435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08801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同様に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CloudUpdate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CloudDraw</a:t>
            </a:r>
            <a:r>
              <a:rPr lang="ja-JP" altLang="en-US" sz="2400" b="1" dirty="0">
                <a:solidFill>
                  <a:srgbClr val="FF0000"/>
                </a:solidFill>
              </a:rPr>
              <a:t>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CloudFin</a:t>
            </a:r>
            <a:r>
              <a:rPr lang="ja-JP" altLang="en-US" sz="2400" b="1" dirty="0">
                <a:solidFill>
                  <a:srgbClr val="FF0000"/>
                </a:solidFill>
              </a:rPr>
              <a:t>関数も移植しましょう。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コンパイルエラーが発生しますが、後程対応します。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移植したら、</a:t>
            </a:r>
            <a:endParaRPr lang="en-US" altLang="ja-JP" sz="2400" dirty="0"/>
          </a:p>
          <a:p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側で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をインクルード</a:t>
            </a:r>
            <a:r>
              <a:rPr lang="ja-JP" altLang="en-US" sz="2400" dirty="0"/>
              <a:t>して、</a:t>
            </a:r>
            <a:endParaRPr lang="en-US" altLang="ja-JP" sz="2400" dirty="0"/>
          </a:p>
          <a:p>
            <a:r>
              <a:rPr lang="ja-JP" altLang="en-US" sz="2400" dirty="0"/>
              <a:t>元々書いてあった場所で今回追加した関数を呼んであげましょう。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■</a:t>
            </a:r>
            <a:r>
              <a:rPr lang="en-US" altLang="ja-JP" sz="2400" dirty="0"/>
              <a:t>Init</a:t>
            </a:r>
            <a:r>
              <a:rPr lang="ja-JP" altLang="en-US" sz="2400" dirty="0"/>
              <a:t>の場合（</a:t>
            </a:r>
            <a:r>
              <a:rPr lang="en-US" altLang="ja-JP" sz="2400" dirty="0"/>
              <a:t>Main.cpp</a:t>
            </a:r>
            <a:r>
              <a:rPr lang="ja-JP" altLang="en-US" sz="2400" dirty="0"/>
              <a:t>）</a:t>
            </a:r>
            <a:endParaRPr lang="en-US" altLang="ja-JP" sz="2400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8A0853D9-A941-42B4-89F8-15EF98ED5B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542" y="4403117"/>
            <a:ext cx="4224591" cy="2079909"/>
          </a:xfrm>
          <a:prstGeom prst="rect">
            <a:avLst/>
          </a:prstGeom>
        </p:spPr>
      </p:pic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F451C31-46DB-4AE1-B3DC-B8EA0AD07718}"/>
              </a:ext>
            </a:extLst>
          </p:cNvPr>
          <p:cNvSpPr/>
          <p:nvPr/>
        </p:nvSpPr>
        <p:spPr>
          <a:xfrm>
            <a:off x="1377016" y="5925780"/>
            <a:ext cx="1151466" cy="491067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527226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70247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Update</a:t>
            </a:r>
            <a:r>
              <a:rPr lang="ja-JP" altLang="en-US" sz="2400" dirty="0"/>
              <a:t>関数で</a:t>
            </a:r>
            <a:r>
              <a:rPr lang="en-US" altLang="ja-JP" sz="2400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の定義がなく、</a:t>
            </a:r>
            <a:endParaRPr lang="en-US" altLang="ja-JP" sz="2400" dirty="0"/>
          </a:p>
          <a:p>
            <a:r>
              <a:rPr lang="ja-JP" altLang="en-US" sz="2400" dirty="0"/>
              <a:t>コンパイルエラーが発生しています。</a:t>
            </a:r>
            <a:endParaRPr lang="en-US" altLang="ja-JP" sz="2400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147F44A1-2276-48F9-A620-9F5A10A2F61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7656889" cy="14831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827437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59136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>
                <a:solidFill>
                  <a:srgbClr val="7030A0"/>
                </a:solidFill>
              </a:rPr>
              <a:t>SCREEN_WIDTH</a:t>
            </a:r>
            <a:r>
              <a:rPr lang="ja-JP" altLang="en-US" sz="2400" dirty="0"/>
              <a:t>は画面の幅であり、</a:t>
            </a:r>
            <a:r>
              <a:rPr lang="ja-JP" altLang="en-US" sz="2400" b="1" dirty="0">
                <a:solidFill>
                  <a:srgbClr val="FF0000"/>
                </a:solidFill>
              </a:rPr>
              <a:t>雲以外でも使用することがあります。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つまり、</a:t>
            </a:r>
            <a:r>
              <a:rPr lang="en-US" altLang="ja-JP" sz="2400" b="1" dirty="0" err="1">
                <a:solidFill>
                  <a:srgbClr val="FF0000"/>
                </a:solidFill>
              </a:rPr>
              <a:t>Cloud.h</a:t>
            </a:r>
            <a:r>
              <a:rPr lang="ja-JP" altLang="en-US" sz="2400" b="1" dirty="0">
                <a:solidFill>
                  <a:srgbClr val="FF0000"/>
                </a:solidFill>
              </a:rPr>
              <a:t>に宣言を書くことができません。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画面の幅はあらゆる場面で使用されることが想定されるので、</a:t>
            </a:r>
            <a:endParaRPr lang="en-US" altLang="ja-JP" sz="2400" dirty="0"/>
          </a:p>
          <a:p>
            <a:r>
              <a:rPr lang="ja-JP" altLang="en-US" sz="2400" dirty="0"/>
              <a:t>そのためのファイルを新たに追加します。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新たに</a:t>
            </a:r>
            <a:r>
              <a:rPr lang="en-US" altLang="ja-JP" sz="2400" b="1" dirty="0" err="1">
                <a:solidFill>
                  <a:srgbClr val="FF0000"/>
                </a:solidFill>
              </a:rPr>
              <a:t>GameSetting</a:t>
            </a:r>
            <a:r>
              <a:rPr lang="ja-JP" altLang="en-US" sz="2400" dirty="0"/>
              <a:t>とうフォルダを追加しましょう。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423F7F44-DCD0-40DB-A040-D3DFA7D228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4033785"/>
            <a:ext cx="5206519" cy="2240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8816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603242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今回必要なのはマクロの宣言だけなので、</a:t>
            </a:r>
            <a:endParaRPr lang="en-US" altLang="ja-JP" sz="2400" dirty="0"/>
          </a:p>
          <a:p>
            <a:r>
              <a:rPr lang="ja-JP" altLang="en-US" sz="2400" dirty="0"/>
              <a:t>ヘッダーファイルだけ作成します。</a:t>
            </a:r>
            <a:endParaRPr lang="en-US" altLang="ja-JP" sz="24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E1BB4BC1-3B64-49AF-B26A-E3D58E2E25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1" y="2187126"/>
            <a:ext cx="5629587" cy="2143574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85A5F692-4B75-433F-9FCB-391A4FCEAB69}"/>
              </a:ext>
            </a:extLst>
          </p:cNvPr>
          <p:cNvSpPr txBox="1"/>
          <p:nvPr/>
        </p:nvSpPr>
        <p:spPr>
          <a:xfrm>
            <a:off x="567542" y="3639403"/>
            <a:ext cx="84946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/>
              <a:t>Visual Studio</a:t>
            </a:r>
            <a:r>
              <a:rPr lang="ja-JP" altLang="en-US" sz="2400" dirty="0"/>
              <a:t>側にも追加しましょう。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（追加するときはフォルダ構成が同じになるように！！！）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603060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8202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練習</a:t>
            </a:r>
            <a:r>
              <a:rPr kumimoji="1" lang="en-US" altLang="ja-JP" sz="3200" b="1" u="sng" dirty="0"/>
              <a:t>1</a:t>
            </a:r>
            <a:endParaRPr kumimoji="1" lang="ja-JP" altLang="en-US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3075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GameSetting.h</a:t>
            </a:r>
            <a:r>
              <a:rPr lang="ja-JP" altLang="en-US" sz="2400" dirty="0"/>
              <a:t>にゲームの設定に関する宣言を書きます。</a:t>
            </a:r>
            <a:endParaRPr lang="en-US" altLang="ja-JP" sz="2400" dirty="0"/>
          </a:p>
          <a:p>
            <a:r>
              <a:rPr lang="ja-JP" altLang="en-US" sz="2400" dirty="0"/>
              <a:t>これらも、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から移植</a:t>
            </a:r>
            <a:r>
              <a:rPr lang="ja-JP" altLang="en-US" sz="2400" dirty="0"/>
              <a:t>しましょう。</a:t>
            </a:r>
            <a:endParaRPr lang="en-US" altLang="ja-JP" sz="2400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286FC9E-1062-41AD-AF88-35782A7626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2187126"/>
            <a:ext cx="10259933" cy="2398606"/>
          </a:xfrm>
          <a:prstGeom prst="rect">
            <a:avLst/>
          </a:prstGeom>
        </p:spPr>
      </p:pic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58F2AFF-65E8-4C05-BC94-DC13B2497659}"/>
              </a:ext>
            </a:extLst>
          </p:cNvPr>
          <p:cNvSpPr txBox="1"/>
          <p:nvPr/>
        </p:nvSpPr>
        <p:spPr>
          <a:xfrm>
            <a:off x="567542" y="4725432"/>
            <a:ext cx="9310562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 dirty="0" err="1"/>
              <a:t>GameSetting.h</a:t>
            </a:r>
            <a:r>
              <a:rPr lang="ja-JP" altLang="en-US" sz="2400" dirty="0"/>
              <a:t>を</a:t>
            </a:r>
            <a:r>
              <a:rPr lang="en-US" altLang="ja-JP" sz="2400" b="1" dirty="0">
                <a:solidFill>
                  <a:srgbClr val="FF0000"/>
                </a:solidFill>
              </a:rPr>
              <a:t>Cloud.cpp</a:t>
            </a:r>
            <a:r>
              <a:rPr lang="ja-JP" altLang="en-US" sz="2400" b="1" dirty="0">
                <a:solidFill>
                  <a:srgbClr val="FF0000"/>
                </a:solidFill>
              </a:rPr>
              <a:t>と</a:t>
            </a:r>
            <a:r>
              <a:rPr lang="en-US" altLang="ja-JP" sz="2400" b="1" dirty="0">
                <a:solidFill>
                  <a:srgbClr val="FF0000"/>
                </a:solidFill>
              </a:rPr>
              <a:t>Main.cpp</a:t>
            </a:r>
            <a:r>
              <a:rPr lang="ja-JP" altLang="en-US" sz="2400" b="1" dirty="0">
                <a:solidFill>
                  <a:srgbClr val="FF0000"/>
                </a:solidFill>
              </a:rPr>
              <a:t>でインクルード</a:t>
            </a:r>
            <a:r>
              <a:rPr lang="ja-JP" altLang="en-US" sz="2400" dirty="0"/>
              <a:t>すると、</a:t>
            </a:r>
            <a:endParaRPr lang="en-US" altLang="ja-JP" sz="2400" dirty="0"/>
          </a:p>
          <a:p>
            <a:r>
              <a:rPr lang="ja-JP" altLang="en-US" sz="2400" dirty="0"/>
              <a:t>コンパイルエラーが解消されます。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実行して、問題なく動作するか確認しましょう。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24833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341293" cy="19389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ヘッダーファイルの初めに書いてある</a:t>
            </a:r>
            <a:r>
              <a:rPr lang="en-US" altLang="ja-JP" sz="2400" b="1" dirty="0">
                <a:solidFill>
                  <a:srgbClr val="FF0000"/>
                </a:solidFill>
              </a:rPr>
              <a:t>#pragma once</a:t>
            </a:r>
            <a:r>
              <a:rPr lang="ja-JP" altLang="en-US" sz="2400" dirty="0"/>
              <a:t>ですが、</a:t>
            </a:r>
            <a:endParaRPr lang="en-US" altLang="ja-JP" sz="2400" dirty="0"/>
          </a:p>
          <a:p>
            <a:r>
              <a:rPr lang="ja-JP" altLang="en-US" sz="2400" dirty="0"/>
              <a:t>これは</a:t>
            </a:r>
            <a:r>
              <a:rPr lang="ja-JP" altLang="en-US" sz="2400" b="1" dirty="0">
                <a:solidFill>
                  <a:srgbClr val="FF0000"/>
                </a:solidFill>
              </a:rPr>
              <a:t>２重でインクルードされることを防止するもの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ヘッダーファイルが２重にインクルードされると、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r>
              <a:rPr lang="ja-JP" altLang="en-US" sz="2400" b="1" dirty="0">
                <a:solidFill>
                  <a:srgbClr val="FF0000"/>
                </a:solidFill>
              </a:rPr>
              <a:t>ほぼ間違いなくコンパイルエラーとなる</a:t>
            </a:r>
            <a:r>
              <a:rPr lang="ja-JP" altLang="en-US" sz="2400" dirty="0"/>
              <a:t>ので、</a:t>
            </a:r>
            <a:r>
              <a:rPr lang="ja-JP" altLang="en-US" sz="2400" b="1" dirty="0">
                <a:solidFill>
                  <a:srgbClr val="FF0000"/>
                </a:solidFill>
              </a:rPr>
              <a:t>基本的には必ず書きます。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6234B54-F53B-47E0-8F2F-D4D6AB07A0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542" y="3429000"/>
            <a:ext cx="10259933" cy="23986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5821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58463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ファイル分け 補足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ファイル分けは、</a:t>
            </a:r>
            <a:r>
              <a:rPr lang="ja-JP" altLang="en-US" sz="2400" b="1" dirty="0">
                <a:solidFill>
                  <a:srgbClr val="FF0000"/>
                </a:solidFill>
              </a:rPr>
              <a:t>プログラムをきれいに整頓するために行うもの</a:t>
            </a:r>
            <a:r>
              <a:rPr lang="ja-JP" altLang="en-US" sz="2400" dirty="0"/>
              <a:t>で、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決まった正解があるものではありません。</a:t>
            </a:r>
            <a:endParaRPr lang="en-US" altLang="ja-JP" sz="2400" b="1" dirty="0">
              <a:solidFill>
                <a:srgbClr val="FF0000"/>
              </a:solidFill>
            </a:endParaRPr>
          </a:p>
          <a:p>
            <a:endParaRPr lang="en-US" altLang="ja-JP" sz="2400" dirty="0"/>
          </a:p>
          <a:p>
            <a:r>
              <a:rPr lang="ja-JP" altLang="en-US" sz="2400" dirty="0"/>
              <a:t>ゲームは最終的に１００個近くのソースファイルを作ることになるので、</a:t>
            </a:r>
            <a:endParaRPr lang="en-US" altLang="ja-JP" sz="2400" dirty="0"/>
          </a:p>
          <a:p>
            <a:r>
              <a:rPr lang="ja-JP" altLang="en-US" sz="2400" dirty="0"/>
              <a:t>整頓は非常に大事な要素となってきます。</a:t>
            </a:r>
            <a:endParaRPr lang="en-US" altLang="ja-JP" sz="2400" dirty="0"/>
          </a:p>
          <a:p>
            <a:endParaRPr lang="en-US" altLang="ja-JP" sz="2400" dirty="0"/>
          </a:p>
          <a:p>
            <a:r>
              <a:rPr lang="ja-JP" altLang="en-US" sz="2400" dirty="0"/>
              <a:t>初めのうちは、どの単位で分けたりするのか、</a:t>
            </a:r>
            <a:endParaRPr lang="en-US" altLang="ja-JP" sz="2400" dirty="0"/>
          </a:p>
          <a:p>
            <a:r>
              <a:rPr lang="ja-JP" altLang="en-US" sz="2400" dirty="0"/>
              <a:t>わからないことが多いと思いますが、</a:t>
            </a:r>
            <a:endParaRPr lang="en-US" altLang="ja-JP" sz="2400" dirty="0"/>
          </a:p>
          <a:p>
            <a:r>
              <a:rPr lang="ja-JP" altLang="en-US" sz="2400" dirty="0"/>
              <a:t>サンプルを確認したり、先生に聞くなどして、徐々に慣れていきましょう。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0629339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652</Words>
  <Application>Microsoft Office PowerPoint</Application>
  <PresentationFormat>ワイド画面</PresentationFormat>
  <Paragraphs>86</Paragraphs>
  <Slides>13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13</vt:i4>
      </vt:variant>
    </vt:vector>
  </HeadingPairs>
  <TitlesOfParts>
    <vt:vector size="17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17</cp:revision>
  <dcterms:created xsi:type="dcterms:W3CDTF">2024-08-27T02:15:54Z</dcterms:created>
  <dcterms:modified xsi:type="dcterms:W3CDTF">2025-01-06T04:37:18Z</dcterms:modified>
</cp:coreProperties>
</file>