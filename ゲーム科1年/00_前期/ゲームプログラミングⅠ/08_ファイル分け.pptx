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4" r:id="rId10"/>
    <p:sldId id="263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6997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これまでプログラムはすべて</a:t>
            </a:r>
            <a:r>
              <a:rPr kumimoji="1" lang="en-US" altLang="ja-JP" sz="2400" dirty="0"/>
              <a:t>Main.cpp</a:t>
            </a:r>
            <a:r>
              <a:rPr kumimoji="1" lang="ja-JP" altLang="en-US" sz="2400" dirty="0"/>
              <a:t>に書いていきました。</a:t>
            </a:r>
            <a:endParaRPr kumimoji="1" lang="en-US" altLang="ja-JP" sz="2400" dirty="0"/>
          </a:p>
          <a:p>
            <a:r>
              <a:rPr lang="ja-JP" altLang="en-US" sz="2400" dirty="0"/>
              <a:t>ただ、この後の実装のことを考えてみましょう。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プレイヤーや敵などのキャラクター、</a:t>
            </a:r>
            <a:endParaRPr kumimoji="1" lang="en-US" altLang="ja-JP" sz="2400" dirty="0"/>
          </a:p>
          <a:p>
            <a:r>
              <a:rPr lang="ja-JP" altLang="en-US" sz="2400" dirty="0"/>
              <a:t>ブロックなどのギミック、</a:t>
            </a:r>
            <a:endParaRPr lang="en-US" altLang="ja-JP" sz="2400" dirty="0"/>
          </a:p>
          <a:p>
            <a:r>
              <a:rPr kumimoji="1" lang="ja-JP" altLang="en-US" sz="2400" dirty="0"/>
              <a:t>アイテムなどを追加していくとなると、</a:t>
            </a:r>
            <a:endParaRPr kumimoji="1" lang="en-US" altLang="ja-JP" sz="2400" dirty="0"/>
          </a:p>
          <a:p>
            <a:r>
              <a:rPr lang="en-US" altLang="ja-JP" sz="2400" dirty="0"/>
              <a:t>Main.cpp</a:t>
            </a:r>
            <a:r>
              <a:rPr lang="ja-JP" altLang="en-US" sz="2400" dirty="0"/>
              <a:t>が膨大に膨れ上がってしまいます。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そうならないために今回は、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プログラムのファイル分け</a:t>
            </a:r>
            <a:r>
              <a:rPr lang="ja-JP" altLang="en-US" sz="2400" dirty="0"/>
              <a:t>を学びます。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344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雲のプログラムをファイル分けします。</a:t>
            </a:r>
            <a:endParaRPr kumimoji="1" lang="en-US" altLang="ja-JP" sz="2400" dirty="0"/>
          </a:p>
          <a:p>
            <a:r>
              <a:rPr lang="ja-JP" altLang="en-US" sz="2400" dirty="0"/>
              <a:t>まずは</a:t>
            </a:r>
            <a:r>
              <a:rPr lang="en-US" altLang="ja-JP" sz="2400" b="1" dirty="0">
                <a:solidFill>
                  <a:srgbClr val="FF0000"/>
                </a:solidFill>
              </a:rPr>
              <a:t>CPP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ファイルと</a:t>
            </a:r>
            <a:r>
              <a:rPr lang="en-US" altLang="ja-JP" sz="2400" b="1" dirty="0">
                <a:solidFill>
                  <a:srgbClr val="FF0000"/>
                </a:solidFill>
              </a:rPr>
              <a:t>H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ファイルを用意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  <a:p>
            <a:r>
              <a:rPr kumimoji="1" lang="ja-JP" altLang="en-US" sz="2400" dirty="0"/>
              <a:t>その際、フォルダわけも行います。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30121D7-6ADF-4026-94D3-6F7CA31E8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6458"/>
            <a:ext cx="4486791" cy="188478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BF38E91-887F-49B0-A774-DB8BC1C39422}"/>
              </a:ext>
            </a:extLst>
          </p:cNvPr>
          <p:cNvSpPr txBox="1"/>
          <p:nvPr/>
        </p:nvSpPr>
        <p:spPr>
          <a:xfrm>
            <a:off x="567541" y="3841078"/>
            <a:ext cx="4083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Cloud</a:t>
            </a:r>
            <a:r>
              <a:rPr kumimoji="1" lang="ja-JP" altLang="en-US" sz="2400" dirty="0"/>
              <a:t>フォルダを作成して、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1633FD3-34B4-4760-B755-910AFC51E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0" y="4441242"/>
            <a:ext cx="4180925" cy="192480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DBF9DA-742A-4194-B38B-695DBD205701}"/>
              </a:ext>
            </a:extLst>
          </p:cNvPr>
          <p:cNvSpPr txBox="1"/>
          <p:nvPr/>
        </p:nvSpPr>
        <p:spPr>
          <a:xfrm>
            <a:off x="567540" y="5863723"/>
            <a:ext cx="3853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Cloud.cpp/.h</a:t>
            </a:r>
            <a:r>
              <a:rPr kumimoji="1" lang="ja-JP" altLang="en-US" sz="2400" dirty="0"/>
              <a:t>を作成する。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8824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Visual Studio</a:t>
            </a:r>
            <a:r>
              <a:rPr kumimoji="1" lang="ja-JP" altLang="en-US" sz="2400" dirty="0"/>
              <a:t>側に追加する際は、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必ずフォルダ構成と同じになるように</a:t>
            </a:r>
            <a:r>
              <a:rPr lang="ja-JP" altLang="en-US" sz="2400" dirty="0"/>
              <a:t>フィルタを追加しましょう。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52326ED-4131-4389-A860-CABC50C8E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3846653" cy="3454445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B54F1F-B1C7-45E9-B4FD-A372FF748339}"/>
              </a:ext>
            </a:extLst>
          </p:cNvPr>
          <p:cNvSpPr txBox="1"/>
          <p:nvPr/>
        </p:nvSpPr>
        <p:spPr>
          <a:xfrm>
            <a:off x="567541" y="5781271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追加したら、まずはヘッダーファイルから書いていきます。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39289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ヘッダーファイルを書きます。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D3F086E-4630-4DA9-BAA1-F31A32EC9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4"/>
            <a:ext cx="4768188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19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722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ヘッダーファイルには主に宣言を書きます。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■主に書くこと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・マクロ宣言（</a:t>
            </a:r>
            <a:r>
              <a:rPr lang="en-US" altLang="ja-JP" sz="2400" dirty="0"/>
              <a:t>#define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kumimoji="1" lang="ja-JP" altLang="en-US" sz="2400" dirty="0"/>
              <a:t>・関数のプロトタイプ宣言</a:t>
            </a:r>
            <a:endParaRPr kumimoji="1" lang="en-US" altLang="ja-JP" sz="2400" dirty="0"/>
          </a:p>
          <a:p>
            <a:r>
              <a:rPr lang="ja-JP" altLang="en-US" sz="2400" dirty="0"/>
              <a:t>・列挙型の宣言（</a:t>
            </a:r>
            <a:r>
              <a:rPr lang="en-US" altLang="ja-JP" sz="2400" dirty="0" err="1"/>
              <a:t>enum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kumimoji="1" lang="ja-JP" altLang="en-US" sz="2400" dirty="0"/>
              <a:t>・構造体の宣言（</a:t>
            </a:r>
            <a:r>
              <a:rPr kumimoji="1" lang="en-US" altLang="ja-JP" sz="2400" dirty="0"/>
              <a:t>struct</a:t>
            </a:r>
            <a:r>
              <a:rPr kumimoji="1" lang="ja-JP" altLang="en-US" sz="2400" dirty="0"/>
              <a:t>）</a:t>
            </a:r>
            <a:endParaRPr kumimoji="1" lang="en-US" altLang="ja-JP" sz="2400" dirty="0"/>
          </a:p>
          <a:p>
            <a:r>
              <a:rPr kumimoji="1" lang="ja-JP" altLang="en-US" sz="2400" dirty="0"/>
              <a:t>など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これで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インクルードした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CPP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ファイルでも、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宣言されたものを使うことができます。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32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687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</a:t>
            </a:r>
            <a:r>
              <a:rPr kumimoji="1" lang="en-US" altLang="ja-JP" sz="2400" dirty="0"/>
              <a:t>CPP</a:t>
            </a:r>
            <a:r>
              <a:rPr kumimoji="1" lang="ja-JP" altLang="en-US" sz="2400" dirty="0"/>
              <a:t>側を書いていきます。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Init</a:t>
            </a:r>
            <a:r>
              <a:rPr lang="ja-JP" altLang="en-US" sz="2400" b="1" dirty="0">
                <a:solidFill>
                  <a:srgbClr val="FF0000"/>
                </a:solidFill>
              </a:rPr>
              <a:t>関数の処理は、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b="1" dirty="0">
                <a:solidFill>
                  <a:srgbClr val="FF0000"/>
                </a:solidFill>
              </a:rPr>
              <a:t>にある雲の初期化処理を移植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4C54E15-918A-4CB9-96A1-C37594D58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6004703" cy="404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43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8801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同様に</a:t>
            </a:r>
            <a:r>
              <a:rPr lang="en-US" altLang="ja-JP" sz="2400" b="1" dirty="0" err="1">
                <a:solidFill>
                  <a:srgbClr val="FF0000"/>
                </a:solidFill>
              </a:rPr>
              <a:t>CloudUpdate</a:t>
            </a:r>
            <a:r>
              <a:rPr lang="ja-JP" altLang="en-US" sz="2400" b="1" dirty="0">
                <a:solidFill>
                  <a:srgbClr val="FF0000"/>
                </a:solidFill>
              </a:rPr>
              <a:t>、</a:t>
            </a:r>
            <a:r>
              <a:rPr lang="en-US" altLang="ja-JP" sz="2400" b="1" dirty="0" err="1">
                <a:solidFill>
                  <a:srgbClr val="FF0000"/>
                </a:solidFill>
              </a:rPr>
              <a:t>CloudDraw</a:t>
            </a:r>
            <a:r>
              <a:rPr lang="ja-JP" altLang="en-US" sz="2400" b="1" dirty="0">
                <a:solidFill>
                  <a:srgbClr val="FF0000"/>
                </a:solidFill>
              </a:rPr>
              <a:t>、</a:t>
            </a:r>
            <a:r>
              <a:rPr lang="en-US" altLang="ja-JP" sz="2400" b="1" dirty="0" err="1">
                <a:solidFill>
                  <a:srgbClr val="FF0000"/>
                </a:solidFill>
              </a:rPr>
              <a:t>CloudFin</a:t>
            </a:r>
            <a:r>
              <a:rPr lang="ja-JP" altLang="en-US" sz="2400" b="1" dirty="0">
                <a:solidFill>
                  <a:srgbClr val="FF0000"/>
                </a:solidFill>
              </a:rPr>
              <a:t>関数も移植しましょう。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コンパイルエラーが発生しますが、後程対応します。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移植したら、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b="1" dirty="0">
                <a:solidFill>
                  <a:srgbClr val="FF0000"/>
                </a:solidFill>
              </a:rPr>
              <a:t>側で</a:t>
            </a:r>
            <a:r>
              <a:rPr lang="en-US" altLang="ja-JP" sz="2400" b="1" dirty="0" err="1">
                <a:solidFill>
                  <a:srgbClr val="FF0000"/>
                </a:solidFill>
              </a:rPr>
              <a:t>Cloud.h</a:t>
            </a:r>
            <a:r>
              <a:rPr lang="ja-JP" altLang="en-US" sz="2400" b="1" dirty="0">
                <a:solidFill>
                  <a:srgbClr val="FF0000"/>
                </a:solidFill>
              </a:rPr>
              <a:t>をインクルード</a:t>
            </a:r>
            <a:r>
              <a:rPr lang="ja-JP" altLang="en-US" sz="2400" dirty="0"/>
              <a:t>して、</a:t>
            </a:r>
            <a:endParaRPr lang="en-US" altLang="ja-JP" sz="2400" dirty="0"/>
          </a:p>
          <a:p>
            <a:r>
              <a:rPr lang="ja-JP" altLang="en-US" sz="2400" dirty="0"/>
              <a:t>元々書いてあった場所で今回追加した関数を呼んであげましょう。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■</a:t>
            </a:r>
            <a:r>
              <a:rPr lang="en-US" altLang="ja-JP" sz="2400" dirty="0"/>
              <a:t>Init</a:t>
            </a:r>
            <a:r>
              <a:rPr lang="ja-JP" altLang="en-US" sz="2400" dirty="0"/>
              <a:t>の場合（</a:t>
            </a:r>
            <a:r>
              <a:rPr lang="en-US" altLang="ja-JP" sz="2400" dirty="0"/>
              <a:t>Main.cpp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F487ECC-35E0-4AA7-8544-FCB56918E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263417"/>
            <a:ext cx="4448958" cy="207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22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024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Update</a:t>
            </a:r>
            <a:r>
              <a:rPr lang="ja-JP" altLang="en-US" sz="2400" dirty="0"/>
              <a:t>関数で</a:t>
            </a:r>
            <a:r>
              <a:rPr lang="en-US" altLang="ja-JP" sz="2400" dirty="0">
                <a:solidFill>
                  <a:srgbClr val="7030A0"/>
                </a:solidFill>
              </a:rPr>
              <a:t>SCREEN_WIDTH</a:t>
            </a:r>
            <a:r>
              <a:rPr lang="ja-JP" altLang="en-US" sz="2400" dirty="0"/>
              <a:t>の定義がなく、</a:t>
            </a:r>
            <a:endParaRPr lang="en-US" altLang="ja-JP" sz="2400" dirty="0"/>
          </a:p>
          <a:p>
            <a:r>
              <a:rPr lang="ja-JP" altLang="en-US" sz="2400" dirty="0"/>
              <a:t>コンパイルエラーが発生しています。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47F44A1-2276-48F9-A620-9F5A10A2F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6"/>
            <a:ext cx="7656889" cy="148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74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9136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7030A0"/>
                </a:solidFill>
              </a:rPr>
              <a:t>SCREEN_WIDTH</a:t>
            </a:r>
            <a:r>
              <a:rPr lang="ja-JP" altLang="en-US" sz="2400" dirty="0"/>
              <a:t>は画面の幅であり、</a:t>
            </a:r>
            <a:r>
              <a:rPr lang="ja-JP" altLang="en-US" sz="2400" b="1" dirty="0">
                <a:solidFill>
                  <a:srgbClr val="FF0000"/>
                </a:solidFill>
              </a:rPr>
              <a:t>雲以外でも使用することがあります。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つまり、</a:t>
            </a:r>
            <a:r>
              <a:rPr lang="en-US" altLang="ja-JP" sz="2400" b="1" dirty="0" err="1">
                <a:solidFill>
                  <a:srgbClr val="FF0000"/>
                </a:solidFill>
              </a:rPr>
              <a:t>Cloud.h</a:t>
            </a:r>
            <a:r>
              <a:rPr lang="ja-JP" altLang="en-US" sz="2400" b="1" dirty="0">
                <a:solidFill>
                  <a:srgbClr val="FF0000"/>
                </a:solidFill>
              </a:rPr>
              <a:t>に宣言を書くことができません。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画面の幅はあらゆる場面で使用されることが想定されるので、</a:t>
            </a:r>
            <a:endParaRPr lang="en-US" altLang="ja-JP" sz="2400" dirty="0"/>
          </a:p>
          <a:p>
            <a:r>
              <a:rPr lang="ja-JP" altLang="en-US" sz="2400" dirty="0"/>
              <a:t>そのためのファイルを新たに追加します。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新たに</a:t>
            </a:r>
            <a:r>
              <a:rPr lang="en-US" altLang="ja-JP" sz="2400" b="1" dirty="0" err="1">
                <a:solidFill>
                  <a:srgbClr val="FF0000"/>
                </a:solidFill>
              </a:rPr>
              <a:t>GameSetting</a:t>
            </a:r>
            <a:r>
              <a:rPr lang="ja-JP" altLang="en-US" sz="2400" dirty="0"/>
              <a:t>とうフォルダを追加しましょう。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23F7F44-DCD0-40DB-A040-D3DFA7D22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033785"/>
            <a:ext cx="5206519" cy="224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8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今回必要なのはマクロの宣言だけなので、</a:t>
            </a:r>
            <a:endParaRPr lang="en-US" altLang="ja-JP" sz="2400" dirty="0"/>
          </a:p>
          <a:p>
            <a:r>
              <a:rPr lang="ja-JP" altLang="en-US" sz="2400" dirty="0"/>
              <a:t>ヘッダーファイルだけ作成します。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1BB4BC1-3B64-49AF-B26A-E3D58E2E2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6"/>
            <a:ext cx="5629587" cy="214357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A5F692-4B75-433F-9FCB-391A4FCEAB69}"/>
              </a:ext>
            </a:extLst>
          </p:cNvPr>
          <p:cNvSpPr txBox="1"/>
          <p:nvPr/>
        </p:nvSpPr>
        <p:spPr>
          <a:xfrm>
            <a:off x="567542" y="3639403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Visual Studio</a:t>
            </a:r>
            <a:r>
              <a:rPr lang="ja-JP" altLang="en-US" sz="2400" dirty="0"/>
              <a:t>側にも追加しましょう。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（追加するときはフォルダ構成が同じになるように！！！）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306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30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GameSetting.h</a:t>
            </a:r>
            <a:r>
              <a:rPr lang="ja-JP" altLang="en-US" sz="2400" dirty="0"/>
              <a:t>にゲームの設定に関する宣言を書きます。</a:t>
            </a:r>
            <a:endParaRPr lang="en-US" altLang="ja-JP" sz="2400" dirty="0"/>
          </a:p>
          <a:p>
            <a:r>
              <a:rPr lang="ja-JP" altLang="en-US" sz="2400" dirty="0"/>
              <a:t>これらも、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b="1" dirty="0">
                <a:solidFill>
                  <a:srgbClr val="FF0000"/>
                </a:solidFill>
              </a:rPr>
              <a:t>から移植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286FC9E-1062-41AD-AF88-35782A762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10259933" cy="2398606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8F2AFF-65E8-4C05-BC94-DC13B2497659}"/>
              </a:ext>
            </a:extLst>
          </p:cNvPr>
          <p:cNvSpPr txBox="1"/>
          <p:nvPr/>
        </p:nvSpPr>
        <p:spPr>
          <a:xfrm>
            <a:off x="567542" y="4725432"/>
            <a:ext cx="93105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GameSetting.h</a:t>
            </a:r>
            <a:r>
              <a:rPr lang="ja-JP" altLang="en-US" sz="2400" dirty="0"/>
              <a:t>を</a:t>
            </a:r>
            <a:r>
              <a:rPr lang="en-US" altLang="ja-JP" sz="2400" b="1" dirty="0">
                <a:solidFill>
                  <a:srgbClr val="FF0000"/>
                </a:solidFill>
              </a:rPr>
              <a:t>Cloud.cpp</a:t>
            </a:r>
            <a:r>
              <a:rPr lang="ja-JP" altLang="en-US" sz="2400" b="1" dirty="0">
                <a:solidFill>
                  <a:srgbClr val="FF0000"/>
                </a:solidFill>
              </a:rPr>
              <a:t>と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b="1" dirty="0">
                <a:solidFill>
                  <a:srgbClr val="FF0000"/>
                </a:solidFill>
              </a:rPr>
              <a:t>でインクルード</a:t>
            </a:r>
            <a:r>
              <a:rPr lang="ja-JP" altLang="en-US" sz="2400" dirty="0"/>
              <a:t>すると、</a:t>
            </a:r>
            <a:endParaRPr lang="en-US" altLang="ja-JP" sz="2400" dirty="0"/>
          </a:p>
          <a:p>
            <a:r>
              <a:rPr lang="ja-JP" altLang="en-US" sz="2400" dirty="0"/>
              <a:t>コンパイルエラーが解消されます。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実行して、問題なく動作するか確認しましょう。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483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ヘッダーファイルの初めに書いてある</a:t>
            </a:r>
            <a:r>
              <a:rPr lang="en-US" altLang="ja-JP" sz="2400" b="1" dirty="0">
                <a:solidFill>
                  <a:srgbClr val="FF0000"/>
                </a:solidFill>
              </a:rPr>
              <a:t>#pragma once</a:t>
            </a:r>
            <a:r>
              <a:rPr lang="ja-JP" altLang="en-US" sz="2400" dirty="0"/>
              <a:t>ですが、</a:t>
            </a:r>
            <a:endParaRPr lang="en-US" altLang="ja-JP" sz="2400" dirty="0"/>
          </a:p>
          <a:p>
            <a:r>
              <a:rPr lang="ja-JP" altLang="en-US" sz="2400" dirty="0"/>
              <a:t>これは</a:t>
            </a:r>
            <a:r>
              <a:rPr lang="ja-JP" altLang="en-US" sz="2400" b="1" dirty="0">
                <a:solidFill>
                  <a:srgbClr val="FF0000"/>
                </a:solidFill>
              </a:rPr>
              <a:t>２重でインクルードされることを防止するもの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ヘッダーファイルが２重にインクルードされると、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ほぼ間違いなくコンパイルエラーとなる</a:t>
            </a:r>
            <a:r>
              <a:rPr lang="ja-JP" altLang="en-US" sz="2400" dirty="0"/>
              <a:t>ので、</a:t>
            </a:r>
            <a:r>
              <a:rPr lang="ja-JP" altLang="en-US" sz="2400" b="1" dirty="0">
                <a:solidFill>
                  <a:srgbClr val="FF0000"/>
                </a:solidFill>
              </a:rPr>
              <a:t>基本的には必ず書きます。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6234B54-F53B-47E0-8F2F-D4D6AB07A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3429000"/>
            <a:ext cx="10259933" cy="239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82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ファイル分け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ファイル分けは、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プログラムをきれいに整頓するために行うもの</a:t>
            </a:r>
            <a:r>
              <a:rPr lang="ja-JP" altLang="en-US" sz="2400" dirty="0"/>
              <a:t>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決まった正解があるものではありません。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ゲームは最終的に１００個近くのソースファイルを作ることになるので、</a:t>
            </a:r>
            <a:endParaRPr lang="en-US" altLang="ja-JP" sz="2400" dirty="0"/>
          </a:p>
          <a:p>
            <a:r>
              <a:rPr lang="ja-JP" altLang="en-US" sz="2400" dirty="0"/>
              <a:t>整頓は非常に大事な要素となってきます。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初めのうちは、どの単位で分けたりするのか、</a:t>
            </a:r>
            <a:endParaRPr lang="en-US" altLang="ja-JP" sz="2400" dirty="0"/>
          </a:p>
          <a:p>
            <a:r>
              <a:rPr lang="ja-JP" altLang="en-US" sz="2400" dirty="0"/>
              <a:t>わからないことが多いと思いますが、</a:t>
            </a:r>
            <a:endParaRPr lang="en-US" altLang="ja-JP" sz="2400" dirty="0"/>
          </a:p>
          <a:p>
            <a:r>
              <a:rPr lang="ja-JP" altLang="en-US" sz="2400" dirty="0"/>
              <a:t>サンプルを確認したり、先生に聞くなどして、徐々に慣れていきましょう。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6293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652</Words>
  <Application>Microsoft Office PowerPoint</Application>
  <PresentationFormat>ワイド画面</PresentationFormat>
  <Paragraphs>86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16</cp:revision>
  <dcterms:created xsi:type="dcterms:W3CDTF">2024-08-27T02:15:54Z</dcterms:created>
  <dcterms:modified xsi:type="dcterms:W3CDTF">2024-09-04T08:06:01Z</dcterms:modified>
</cp:coreProperties>
</file>