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97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Scene</a:t>
            </a:r>
            <a:r>
              <a:rPr kumimoji="1" lang="ja-JP" altLang="en-US" sz="3200" b="1" u="sng" dirty="0"/>
              <a:t>管理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26462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ゲームには、タイトル画面、エンディング画面など、</a:t>
            </a:r>
            <a:r>
              <a:rPr lang="ja-JP" altLang="en-US" sz="2400" dirty="0"/>
              <a:t>様々な画面が存在します。</a:t>
            </a:r>
            <a:endParaRPr lang="en-US" altLang="ja-JP" sz="2400" dirty="0"/>
          </a:p>
          <a:p>
            <a:r>
              <a:rPr lang="ja-JP" altLang="en-US" sz="2400" dirty="0"/>
              <a:t>これらの画面を作るには</a:t>
            </a:r>
            <a:r>
              <a:rPr lang="ja-JP" altLang="en-US" sz="2400" b="1" dirty="0">
                <a:solidFill>
                  <a:srgbClr val="FF0000"/>
                </a:solidFill>
              </a:rPr>
              <a:t>シーン</a:t>
            </a:r>
            <a:r>
              <a:rPr lang="ja-JP" altLang="en-US" sz="2400" dirty="0"/>
              <a:t>と呼ばれるものを、画面ごとに作ります。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3BC40C0-0524-432F-9B2D-0B400000F1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379" y="2187126"/>
            <a:ext cx="3441593" cy="1994315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599731D7-DBF0-4014-A98F-474DF87198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380" y="4642364"/>
            <a:ext cx="3441592" cy="1998414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D8D221D1-7EF5-490B-8C5B-E768FDE45D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5325" y="2187125"/>
            <a:ext cx="3432027" cy="1994315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BF318E6C-55DE-4873-9929-08254E3B31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5325" y="4646463"/>
            <a:ext cx="3417297" cy="1994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97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Scene</a:t>
            </a:r>
            <a:r>
              <a:rPr kumimoji="1" lang="ja-JP" altLang="en-US" sz="3200" b="1" u="sng" dirty="0"/>
              <a:t>管理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9557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シーンは画面ごとに作成され、</a:t>
            </a:r>
            <a:endParaRPr kumimoji="1" lang="en-US" altLang="ja-JP" sz="2400" dirty="0"/>
          </a:p>
          <a:p>
            <a:r>
              <a:rPr lang="ja-JP" altLang="en-US" sz="2400" dirty="0"/>
              <a:t>それらを</a:t>
            </a:r>
            <a:r>
              <a:rPr lang="ja-JP" altLang="en-US" sz="2400" b="1" dirty="0">
                <a:solidFill>
                  <a:srgbClr val="FF0000"/>
                </a:solidFill>
              </a:rPr>
              <a:t>遷移させるシステム</a:t>
            </a:r>
            <a:r>
              <a:rPr lang="ja-JP" altLang="en-US" sz="2400" dirty="0"/>
              <a:t>も必要になります。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3BC40C0-0524-432F-9B2D-0B400000F1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379" y="2187126"/>
            <a:ext cx="3441593" cy="1994315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599731D7-DBF0-4014-A98F-474DF87198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380" y="4642364"/>
            <a:ext cx="3441592" cy="1998414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D8D221D1-7EF5-490B-8C5B-E768FDE45D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5325" y="2187125"/>
            <a:ext cx="3432027" cy="1994315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BF318E6C-55DE-4873-9929-08254E3B31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5325" y="4646463"/>
            <a:ext cx="3417297" cy="1994315"/>
          </a:xfrm>
          <a:prstGeom prst="rect">
            <a:avLst/>
          </a:prstGeom>
        </p:spPr>
      </p:pic>
      <p:sp>
        <p:nvSpPr>
          <p:cNvPr id="2" name="矢印: 下 1">
            <a:extLst>
              <a:ext uri="{FF2B5EF4-FFF2-40B4-BE49-F238E27FC236}">
                <a16:creationId xmlns:a16="http://schemas.microsoft.com/office/drawing/2014/main" id="{BF1B0A24-C31A-4BC3-B089-E31968F58D23}"/>
              </a:ext>
            </a:extLst>
          </p:cNvPr>
          <p:cNvSpPr/>
          <p:nvPr/>
        </p:nvSpPr>
        <p:spPr>
          <a:xfrm>
            <a:off x="2190750" y="4214813"/>
            <a:ext cx="152400" cy="38338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矢印: 下 8">
            <a:extLst>
              <a:ext uri="{FF2B5EF4-FFF2-40B4-BE49-F238E27FC236}">
                <a16:creationId xmlns:a16="http://schemas.microsoft.com/office/drawing/2014/main" id="{9933BD4E-6B46-4749-B9D7-1C583AECEBF2}"/>
              </a:ext>
            </a:extLst>
          </p:cNvPr>
          <p:cNvSpPr/>
          <p:nvPr/>
        </p:nvSpPr>
        <p:spPr>
          <a:xfrm rot="14303992">
            <a:off x="5495238" y="2415873"/>
            <a:ext cx="152400" cy="316143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矢印: 下 10">
            <a:extLst>
              <a:ext uri="{FF2B5EF4-FFF2-40B4-BE49-F238E27FC236}">
                <a16:creationId xmlns:a16="http://schemas.microsoft.com/office/drawing/2014/main" id="{E7ADADDC-6778-4B1B-8C6C-5662810CF196}"/>
              </a:ext>
            </a:extLst>
          </p:cNvPr>
          <p:cNvSpPr/>
          <p:nvPr/>
        </p:nvSpPr>
        <p:spPr>
          <a:xfrm rot="16200000">
            <a:off x="5495240" y="4105749"/>
            <a:ext cx="152400" cy="277252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矢印: 下 11">
            <a:extLst>
              <a:ext uri="{FF2B5EF4-FFF2-40B4-BE49-F238E27FC236}">
                <a16:creationId xmlns:a16="http://schemas.microsoft.com/office/drawing/2014/main" id="{EB86BBA2-EF1E-479D-B744-C6E25A09F866}"/>
              </a:ext>
            </a:extLst>
          </p:cNvPr>
          <p:cNvSpPr/>
          <p:nvPr/>
        </p:nvSpPr>
        <p:spPr>
          <a:xfrm rot="5400000">
            <a:off x="5543927" y="1378899"/>
            <a:ext cx="152400" cy="277252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9038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97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Scene</a:t>
            </a:r>
            <a:r>
              <a:rPr kumimoji="1" lang="ja-JP" altLang="en-US" sz="3200" b="1" u="sng" dirty="0"/>
              <a:t>管理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417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まずはシーンについて学びます。</a:t>
            </a:r>
            <a:endParaRPr kumimoji="1" lang="en-US" altLang="ja-JP" sz="2400" dirty="0"/>
          </a:p>
          <a:p>
            <a:r>
              <a:rPr lang="ja-JP" altLang="en-US" sz="2400" dirty="0"/>
              <a:t>配布したプロジェクトの</a:t>
            </a:r>
            <a:r>
              <a:rPr lang="en-US" altLang="ja-JP" sz="2400" dirty="0"/>
              <a:t>Source</a:t>
            </a:r>
            <a:r>
              <a:rPr lang="ja-JP" altLang="en-US" sz="2400" dirty="0"/>
              <a:t>に</a:t>
            </a:r>
            <a:r>
              <a:rPr lang="en-US" altLang="ja-JP" sz="2400" b="1" dirty="0">
                <a:solidFill>
                  <a:srgbClr val="FF0000"/>
                </a:solidFill>
              </a:rPr>
              <a:t>Scene</a:t>
            </a:r>
            <a:r>
              <a:rPr lang="ja-JP" altLang="en-US" sz="2400" b="1" dirty="0">
                <a:solidFill>
                  <a:srgbClr val="FF0000"/>
                </a:solidFill>
              </a:rPr>
              <a:t>フォルダ</a:t>
            </a:r>
            <a:r>
              <a:rPr lang="ja-JP" altLang="en-US" sz="2400" dirty="0"/>
              <a:t>を追加しましょう。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A62EB741-6DE3-4A40-87F7-F76CAD4C2C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1" y="2187126"/>
            <a:ext cx="7599231" cy="352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756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97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Scene</a:t>
            </a:r>
            <a:r>
              <a:rPr kumimoji="1" lang="ja-JP" altLang="en-US" sz="3200" b="1" u="sng" dirty="0"/>
              <a:t>管理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9557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今回、シーンは完成したものを用意しています。</a:t>
            </a:r>
            <a:endParaRPr kumimoji="1" lang="en-US" altLang="ja-JP" sz="2400" dirty="0"/>
          </a:p>
          <a:p>
            <a:r>
              <a:rPr lang="en-US" altLang="ja-JP" sz="2400" b="1" dirty="0">
                <a:solidFill>
                  <a:srgbClr val="00B050"/>
                </a:solidFill>
              </a:rPr>
              <a:t>Scene</a:t>
            </a:r>
            <a:r>
              <a:rPr lang="ja-JP" altLang="en-US" sz="2400" b="1" dirty="0">
                <a:solidFill>
                  <a:srgbClr val="00B050"/>
                </a:solidFill>
              </a:rPr>
              <a:t>フォルダ</a:t>
            </a:r>
            <a:r>
              <a:rPr lang="ja-JP" altLang="en-US" sz="2400" dirty="0"/>
              <a:t>に追加しましょう。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8456BB2-DA5B-4E69-B4B4-5EDA77AE8A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1" y="2187126"/>
            <a:ext cx="5778547" cy="3388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403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97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Scene</a:t>
            </a:r>
            <a:r>
              <a:rPr kumimoji="1" lang="ja-JP" altLang="en-US" sz="3200" b="1" u="sng" dirty="0"/>
              <a:t>管理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6597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7030A0"/>
                </a:solidFill>
              </a:rPr>
              <a:t>Visual</a:t>
            </a:r>
            <a:r>
              <a:rPr lang="ja-JP" altLang="en-US" sz="2400" b="1" dirty="0">
                <a:solidFill>
                  <a:srgbClr val="7030A0"/>
                </a:solidFill>
              </a:rPr>
              <a:t> </a:t>
            </a:r>
            <a:r>
              <a:rPr lang="en-US" altLang="ja-JP" sz="2400" b="1" dirty="0">
                <a:solidFill>
                  <a:srgbClr val="7030A0"/>
                </a:solidFill>
              </a:rPr>
              <a:t>Studio</a:t>
            </a:r>
            <a:r>
              <a:rPr lang="ja-JP" altLang="en-US" sz="2400" b="1" dirty="0">
                <a:solidFill>
                  <a:srgbClr val="7030A0"/>
                </a:solidFill>
              </a:rPr>
              <a:t>側</a:t>
            </a:r>
            <a:r>
              <a:rPr lang="ja-JP" altLang="en-US" sz="2400" dirty="0"/>
              <a:t>にも追加して、</a:t>
            </a:r>
            <a:r>
              <a:rPr lang="en-US" altLang="ja-JP" sz="2400" b="1" dirty="0" err="1">
                <a:solidFill>
                  <a:srgbClr val="FF0000"/>
                </a:solidFill>
              </a:rPr>
              <a:t>Title.h</a:t>
            </a:r>
            <a:r>
              <a:rPr lang="ja-JP" altLang="en-US" sz="2400" dirty="0"/>
              <a:t>を開いてみましょう。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30A9F9D-061C-4897-A1DB-88330AD387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1" y="1817794"/>
            <a:ext cx="8007807" cy="3444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852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97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Scene</a:t>
            </a:r>
            <a:r>
              <a:rPr kumimoji="1" lang="ja-JP" altLang="en-US" sz="3200" b="1" u="sng" dirty="0"/>
              <a:t>管理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6490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これを見ると、ゲームの基本的なロジックに沿った関数があります。</a:t>
            </a:r>
            <a:endParaRPr lang="en-US" altLang="ja-JP" sz="2400" dirty="0"/>
          </a:p>
          <a:p>
            <a:r>
              <a:rPr lang="ja-JP" altLang="en-US" sz="2400" dirty="0"/>
              <a:t>このように</a:t>
            </a:r>
            <a:r>
              <a:rPr lang="ja-JP" altLang="en-US" sz="2400" b="1" dirty="0">
                <a:solidFill>
                  <a:srgbClr val="FF0000"/>
                </a:solidFill>
              </a:rPr>
              <a:t>シーンの基本構造は、ゲームロジックに沿ったもの</a:t>
            </a:r>
            <a:r>
              <a:rPr lang="ja-JP" altLang="en-US" sz="2400" dirty="0"/>
              <a:t>になります。</a:t>
            </a:r>
            <a:endParaRPr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DC033786-F07F-4DF6-8AC7-97E3A7E42D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87126"/>
            <a:ext cx="8007807" cy="3444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587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97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Scene</a:t>
            </a:r>
            <a:r>
              <a:rPr kumimoji="1" lang="ja-JP" altLang="en-US" sz="3200" b="1" u="sng" dirty="0"/>
              <a:t>管理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649069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Title.cpp</a:t>
            </a:r>
            <a:r>
              <a:rPr lang="ja-JP" altLang="en-US" sz="2400" dirty="0"/>
              <a:t>側も一緒に見ていきましょう。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１．</a:t>
            </a:r>
            <a:r>
              <a:rPr lang="en-US" altLang="ja-JP" sz="2400" dirty="0"/>
              <a:t>Init</a:t>
            </a:r>
            <a:r>
              <a:rPr lang="ja-JP" altLang="en-US" sz="2400" dirty="0"/>
              <a:t>では何をしているか</a:t>
            </a:r>
            <a:endParaRPr lang="en-US" altLang="ja-JP" sz="2400" dirty="0"/>
          </a:p>
          <a:p>
            <a:r>
              <a:rPr lang="ja-JP" altLang="en-US" sz="2400" dirty="0"/>
              <a:t>２．</a:t>
            </a:r>
            <a:r>
              <a:rPr lang="en-US" altLang="ja-JP" sz="2400" dirty="0"/>
              <a:t>Load</a:t>
            </a:r>
            <a:r>
              <a:rPr lang="ja-JP" altLang="en-US" sz="2400" dirty="0"/>
              <a:t>では何をしているか</a:t>
            </a:r>
            <a:endParaRPr lang="en-US" altLang="ja-JP" sz="2400" dirty="0"/>
          </a:p>
          <a:p>
            <a:r>
              <a:rPr lang="ja-JP" altLang="en-US" sz="2400" dirty="0"/>
              <a:t>３．</a:t>
            </a:r>
            <a:r>
              <a:rPr lang="en-US" altLang="ja-JP" sz="2400" dirty="0"/>
              <a:t>Start</a:t>
            </a:r>
            <a:r>
              <a:rPr lang="ja-JP" altLang="en-US" sz="2400" dirty="0"/>
              <a:t>では何をしているか</a:t>
            </a:r>
            <a:endParaRPr lang="en-US" altLang="ja-JP" sz="2400" dirty="0"/>
          </a:p>
          <a:p>
            <a:r>
              <a:rPr lang="ja-JP" altLang="en-US" sz="2400" dirty="0"/>
              <a:t>４．</a:t>
            </a:r>
            <a:r>
              <a:rPr lang="en-US" altLang="ja-JP" sz="2400" dirty="0"/>
              <a:t>Step</a:t>
            </a:r>
            <a:r>
              <a:rPr lang="ja-JP" altLang="en-US" sz="2400" dirty="0"/>
              <a:t>ではなにをしているか</a:t>
            </a:r>
            <a:endParaRPr lang="en-US" altLang="ja-JP" sz="2400" dirty="0"/>
          </a:p>
          <a:p>
            <a:r>
              <a:rPr lang="ja-JP" altLang="en-US" sz="2400" dirty="0"/>
              <a:t>５．</a:t>
            </a:r>
            <a:r>
              <a:rPr lang="en-US" altLang="ja-JP" sz="2400" dirty="0"/>
              <a:t>Update</a:t>
            </a:r>
            <a:r>
              <a:rPr lang="ja-JP" altLang="en-US" sz="2400" dirty="0"/>
              <a:t>では何をしているか</a:t>
            </a:r>
            <a:endParaRPr lang="en-US" altLang="ja-JP" sz="2400" dirty="0"/>
          </a:p>
          <a:p>
            <a:r>
              <a:rPr lang="ja-JP" altLang="en-US" sz="2400" dirty="0"/>
              <a:t>６．</a:t>
            </a:r>
            <a:r>
              <a:rPr lang="en-US" altLang="ja-JP" sz="2400" dirty="0"/>
              <a:t>Draw</a:t>
            </a:r>
            <a:r>
              <a:rPr lang="ja-JP" altLang="en-US" sz="2400" dirty="0"/>
              <a:t>では何をしているか</a:t>
            </a:r>
            <a:endParaRPr lang="en-US" altLang="ja-JP" sz="2400" dirty="0"/>
          </a:p>
          <a:p>
            <a:r>
              <a:rPr lang="ja-JP" altLang="en-US" sz="2400" dirty="0"/>
              <a:t>７．</a:t>
            </a:r>
            <a:r>
              <a:rPr lang="en-US" altLang="ja-JP" sz="2400" dirty="0"/>
              <a:t>Fin</a:t>
            </a:r>
            <a:r>
              <a:rPr lang="ja-JP" altLang="en-US" sz="2400" dirty="0"/>
              <a:t>ではなにをしているか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それぞれ適した処理を書いていけば、おのずとシーンが完成していきます。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399289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97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Scene</a:t>
            </a:r>
            <a:r>
              <a:rPr kumimoji="1" lang="ja-JP" altLang="en-US" sz="3200" b="1" u="sng" dirty="0"/>
              <a:t>管理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9557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ここまではシーン単体の部分になります。</a:t>
            </a:r>
            <a:endParaRPr lang="en-US" altLang="ja-JP" sz="2400" dirty="0"/>
          </a:p>
          <a:p>
            <a:r>
              <a:rPr lang="ja-JP" altLang="en-US" sz="2400" dirty="0"/>
              <a:t>あとはこれらを</a:t>
            </a:r>
            <a:r>
              <a:rPr lang="ja-JP" altLang="en-US" sz="2400" b="1" dirty="0">
                <a:solidFill>
                  <a:srgbClr val="FF0000"/>
                </a:solidFill>
              </a:rPr>
              <a:t>遷移させるシステム</a:t>
            </a:r>
            <a:r>
              <a:rPr lang="ja-JP" altLang="en-US" sz="2400" dirty="0"/>
              <a:t>が必要です。</a:t>
            </a:r>
            <a:endParaRPr lang="en-US" altLang="ja-JP" sz="2400" dirty="0"/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1CE15C60-A74C-45E9-81B7-613EBE4346AD}"/>
              </a:ext>
            </a:extLst>
          </p:cNvPr>
          <p:cNvGrpSpPr/>
          <p:nvPr/>
        </p:nvGrpSpPr>
        <p:grpSpPr>
          <a:xfrm>
            <a:off x="567542" y="2416758"/>
            <a:ext cx="9137974" cy="4224020"/>
            <a:chOff x="678379" y="2187125"/>
            <a:chExt cx="9818973" cy="4453653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6BAAA51A-4475-4D8C-89F3-0484CAB49C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8379" y="2187126"/>
              <a:ext cx="3441593" cy="1994315"/>
            </a:xfrm>
            <a:prstGeom prst="rect">
              <a:avLst/>
            </a:prstGeom>
          </p:spPr>
        </p:pic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D7737188-0654-4C76-8150-F60291775C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8380" y="4642364"/>
              <a:ext cx="3441592" cy="1998414"/>
            </a:xfrm>
            <a:prstGeom prst="rect">
              <a:avLst/>
            </a:prstGeom>
          </p:spPr>
        </p:pic>
        <p:pic>
          <p:nvPicPr>
            <p:cNvPr id="8" name="図 7">
              <a:extLst>
                <a:ext uri="{FF2B5EF4-FFF2-40B4-BE49-F238E27FC236}">
                  <a16:creationId xmlns:a16="http://schemas.microsoft.com/office/drawing/2014/main" id="{8C646228-5151-4905-A39F-179EEACC87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5325" y="2187125"/>
              <a:ext cx="3432027" cy="1994315"/>
            </a:xfrm>
            <a:prstGeom prst="rect">
              <a:avLst/>
            </a:prstGeom>
          </p:spPr>
        </p:pic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B465629C-B425-4D31-B2A5-44F3142674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5325" y="4646463"/>
              <a:ext cx="3417297" cy="1994315"/>
            </a:xfrm>
            <a:prstGeom prst="rect">
              <a:avLst/>
            </a:prstGeom>
          </p:spPr>
        </p:pic>
        <p:sp>
          <p:nvSpPr>
            <p:cNvPr id="10" name="矢印: 下 9">
              <a:extLst>
                <a:ext uri="{FF2B5EF4-FFF2-40B4-BE49-F238E27FC236}">
                  <a16:creationId xmlns:a16="http://schemas.microsoft.com/office/drawing/2014/main" id="{D78F648B-0E3E-475C-B75E-D9F75292C60E}"/>
                </a:ext>
              </a:extLst>
            </p:cNvPr>
            <p:cNvSpPr/>
            <p:nvPr/>
          </p:nvSpPr>
          <p:spPr>
            <a:xfrm>
              <a:off x="2190750" y="4214813"/>
              <a:ext cx="152400" cy="383381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矢印: 下 10">
              <a:extLst>
                <a:ext uri="{FF2B5EF4-FFF2-40B4-BE49-F238E27FC236}">
                  <a16:creationId xmlns:a16="http://schemas.microsoft.com/office/drawing/2014/main" id="{2ADC9B3A-8034-4621-A43A-0596F40B037E}"/>
                </a:ext>
              </a:extLst>
            </p:cNvPr>
            <p:cNvSpPr/>
            <p:nvPr/>
          </p:nvSpPr>
          <p:spPr>
            <a:xfrm rot="14303992">
              <a:off x="5495238" y="2415873"/>
              <a:ext cx="152400" cy="3161431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矢印: 下 11">
              <a:extLst>
                <a:ext uri="{FF2B5EF4-FFF2-40B4-BE49-F238E27FC236}">
                  <a16:creationId xmlns:a16="http://schemas.microsoft.com/office/drawing/2014/main" id="{287C3A12-0609-4DC4-B503-B256EBF54825}"/>
                </a:ext>
              </a:extLst>
            </p:cNvPr>
            <p:cNvSpPr/>
            <p:nvPr/>
          </p:nvSpPr>
          <p:spPr>
            <a:xfrm rot="16200000">
              <a:off x="5495240" y="4105749"/>
              <a:ext cx="152400" cy="2772529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矢印: 下 12">
              <a:extLst>
                <a:ext uri="{FF2B5EF4-FFF2-40B4-BE49-F238E27FC236}">
                  <a16:creationId xmlns:a16="http://schemas.microsoft.com/office/drawing/2014/main" id="{37915195-4A1D-42D7-8018-E8006FDCD7D6}"/>
                </a:ext>
              </a:extLst>
            </p:cNvPr>
            <p:cNvSpPr/>
            <p:nvPr/>
          </p:nvSpPr>
          <p:spPr>
            <a:xfrm rot="5400000">
              <a:off x="5543927" y="1378899"/>
              <a:ext cx="152400" cy="2772529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52309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97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Scene</a:t>
            </a:r>
            <a:r>
              <a:rPr kumimoji="1" lang="ja-JP" altLang="en-US" sz="3200" b="1" u="sng" dirty="0"/>
              <a:t>管理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68378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Scene</a:t>
            </a:r>
            <a:r>
              <a:rPr lang="ja-JP" altLang="en-US" sz="2400" dirty="0"/>
              <a:t>フォルダに</a:t>
            </a:r>
            <a:r>
              <a:rPr lang="en-US" altLang="ja-JP" sz="2400" b="1" dirty="0">
                <a:solidFill>
                  <a:srgbClr val="FF0000"/>
                </a:solidFill>
              </a:rPr>
              <a:t>SceneManager.cpp/.h</a:t>
            </a:r>
            <a:r>
              <a:rPr lang="ja-JP" altLang="en-US" sz="2400" dirty="0"/>
              <a:t>を追加しましょう。</a:t>
            </a:r>
            <a:endParaRPr lang="en-US" altLang="ja-JP" sz="2400" dirty="0"/>
          </a:p>
          <a:p>
            <a:r>
              <a:rPr lang="en-US" altLang="ja-JP" sz="2400" dirty="0" err="1"/>
              <a:t>VisualStudio</a:t>
            </a:r>
            <a:r>
              <a:rPr lang="ja-JP" altLang="en-US" sz="2400" dirty="0"/>
              <a:t>側にも追加しましょう。</a:t>
            </a:r>
            <a:endParaRPr lang="en-US" altLang="ja-JP" sz="2400" dirty="0"/>
          </a:p>
        </p:txBody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AA9256E2-94DD-4E01-BD03-65F757CBDD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87126"/>
            <a:ext cx="3846959" cy="3220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7203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97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Scene</a:t>
            </a:r>
            <a:r>
              <a:rPr kumimoji="1" lang="ja-JP" altLang="en-US" sz="3200" b="1" u="sng" dirty="0"/>
              <a:t>管理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681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SceneManager.h</a:t>
            </a:r>
            <a:r>
              <a:rPr lang="ja-JP" altLang="en-US" sz="2400" dirty="0"/>
              <a:t>に</a:t>
            </a:r>
            <a:r>
              <a:rPr lang="ja-JP" altLang="en-US" sz="2400" b="1" dirty="0">
                <a:solidFill>
                  <a:srgbClr val="FF0000"/>
                </a:solidFill>
              </a:rPr>
              <a:t>シーン（画面）ごとの種類</a:t>
            </a:r>
            <a:r>
              <a:rPr lang="ja-JP" altLang="en-US" sz="2400" dirty="0"/>
              <a:t>を定義します。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DD76836-7D47-4331-8A4D-B9F02F0381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87126"/>
            <a:ext cx="6067358" cy="352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055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97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Scene</a:t>
            </a:r>
            <a:r>
              <a:rPr kumimoji="1" lang="ja-JP" altLang="en-US" sz="3200" b="1" u="sng" dirty="0"/>
              <a:t>管理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635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続いてゲームロジックに沿った関数を宣言します。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CEFBC40-1764-4202-B89C-E4A9859F56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3"/>
            <a:ext cx="6297615" cy="3220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6997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97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Scene</a:t>
            </a:r>
            <a:r>
              <a:rPr kumimoji="1" lang="ja-JP" altLang="en-US" sz="3200" b="1" u="sng" dirty="0"/>
              <a:t>管理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76507" y="1216429"/>
            <a:ext cx="70711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SceneManager.cpp</a:t>
            </a:r>
            <a:r>
              <a:rPr lang="ja-JP" altLang="en-US" sz="2400" dirty="0"/>
              <a:t>側に処理を書いていきます。</a:t>
            </a:r>
            <a:endParaRPr lang="en-US" altLang="ja-JP" sz="2400" dirty="0"/>
          </a:p>
          <a:p>
            <a:r>
              <a:rPr lang="ja-JP" altLang="en-US" sz="2400" dirty="0"/>
              <a:t>（次ページへ続く）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9717A5D-3D25-4E37-AEB0-F31AB39524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507" y="2187126"/>
            <a:ext cx="8929888" cy="3614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2624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97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Scene</a:t>
            </a:r>
            <a:r>
              <a:rPr kumimoji="1" lang="ja-JP" altLang="en-US" sz="3200" b="1" u="sng" dirty="0"/>
              <a:t>管理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76507" y="1216429"/>
            <a:ext cx="107484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0070C0"/>
                </a:solidFill>
              </a:rPr>
              <a:t>InitScene</a:t>
            </a:r>
            <a:r>
              <a:rPr lang="ja-JP" altLang="en-US" sz="2400" b="1" dirty="0">
                <a:solidFill>
                  <a:srgbClr val="0070C0"/>
                </a:solidFill>
              </a:rPr>
              <a:t>関数</a:t>
            </a:r>
            <a:r>
              <a:rPr lang="ja-JP" altLang="en-US" sz="2400" dirty="0"/>
              <a:t>は、</a:t>
            </a:r>
            <a:r>
              <a:rPr lang="ja-JP" altLang="en-US" sz="2400" b="1" dirty="0">
                <a:solidFill>
                  <a:srgbClr val="FF0000"/>
                </a:solidFill>
              </a:rPr>
              <a:t>現在のシーンに対応したシーンの初期化処理</a:t>
            </a:r>
            <a:r>
              <a:rPr lang="ja-JP" altLang="en-US" sz="2400" dirty="0"/>
              <a:t>を呼びます。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1257DA8-9863-4826-B27C-F46507E9AF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4412050" cy="3823777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8B1238C-12AA-41F5-8438-400A6E4A6082}"/>
              </a:ext>
            </a:extLst>
          </p:cNvPr>
          <p:cNvSpPr txBox="1"/>
          <p:nvPr/>
        </p:nvSpPr>
        <p:spPr>
          <a:xfrm>
            <a:off x="567542" y="5781271"/>
            <a:ext cx="100751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0070C0"/>
                </a:solidFill>
              </a:rPr>
              <a:t>LoadScene</a:t>
            </a:r>
            <a:r>
              <a:rPr lang="ja-JP" altLang="en-US" sz="2400" dirty="0"/>
              <a:t>以降も同様になります。こちらを参考に書いてみましょう。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3972368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97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Scene</a:t>
            </a:r>
            <a:r>
              <a:rPr kumimoji="1" lang="ja-JP" altLang="en-US" sz="3200" b="1" u="sng" dirty="0"/>
              <a:t>管理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76507" y="1216429"/>
            <a:ext cx="948368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これで各シーンの処理を呼ぶ部分が出来上がりました。</a:t>
            </a:r>
            <a:endParaRPr lang="en-US" altLang="ja-JP" sz="2400" dirty="0"/>
          </a:p>
          <a:p>
            <a:r>
              <a:rPr lang="ja-JP" altLang="en-US" sz="2400" dirty="0"/>
              <a:t>続いて</a:t>
            </a:r>
            <a:r>
              <a:rPr lang="en-US" altLang="ja-JP" sz="2400" b="1" dirty="0">
                <a:solidFill>
                  <a:srgbClr val="FF0000"/>
                </a:solidFill>
              </a:rPr>
              <a:t>Init</a:t>
            </a:r>
            <a:r>
              <a:rPr lang="ja-JP" altLang="en-US" sz="2400" b="1" dirty="0">
                <a:solidFill>
                  <a:srgbClr val="FF0000"/>
                </a:solidFill>
              </a:rPr>
              <a:t>～</a:t>
            </a:r>
            <a:r>
              <a:rPr lang="en-US" altLang="ja-JP" sz="2400" b="1" dirty="0">
                <a:solidFill>
                  <a:srgbClr val="FF0000"/>
                </a:solidFill>
              </a:rPr>
              <a:t>Fin</a:t>
            </a:r>
            <a:r>
              <a:rPr lang="ja-JP" altLang="en-US" sz="2400" b="1" dirty="0">
                <a:solidFill>
                  <a:srgbClr val="FF0000"/>
                </a:solidFill>
              </a:rPr>
              <a:t>までが切り替わる部分</a:t>
            </a:r>
            <a:r>
              <a:rPr lang="ja-JP" altLang="en-US" sz="2400" dirty="0"/>
              <a:t>を作ります。</a:t>
            </a:r>
            <a:endParaRPr lang="en-US" altLang="ja-JP" sz="2400" dirty="0"/>
          </a:p>
          <a:p>
            <a:r>
              <a:rPr lang="en-US" altLang="ja-JP" sz="2400" b="1" dirty="0" err="1">
                <a:solidFill>
                  <a:srgbClr val="FF0000"/>
                </a:solidFill>
              </a:rPr>
              <a:t>SceneManager.h</a:t>
            </a:r>
            <a:r>
              <a:rPr lang="ja-JP" altLang="en-US" sz="2400" dirty="0"/>
              <a:t>に切り替えに必要な定義、宣言をしていきます。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051D170-E378-4B42-9EAC-72707DE6E3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1" y="2556458"/>
            <a:ext cx="5165353" cy="380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2624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97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Scene</a:t>
            </a:r>
            <a:r>
              <a:rPr kumimoji="1" lang="ja-JP" altLang="en-US" sz="3200" b="1" u="sng" dirty="0"/>
              <a:t>管理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76507" y="1216429"/>
            <a:ext cx="63401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CPP</a:t>
            </a:r>
            <a:r>
              <a:rPr lang="ja-JP" altLang="en-US" sz="2400" dirty="0"/>
              <a:t>側に切り替え処理を書きます。</a:t>
            </a:r>
            <a:endParaRPr lang="en-US" altLang="ja-JP" sz="2400" dirty="0"/>
          </a:p>
          <a:p>
            <a:r>
              <a:rPr lang="ja-JP" altLang="en-US" sz="2400" dirty="0"/>
              <a:t>まずは必要な変数をグローバル宣言します。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E0B3481-8184-4903-B34B-09DA63FA6C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810" y="2187125"/>
            <a:ext cx="8962353" cy="1864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421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97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Scene</a:t>
            </a:r>
            <a:r>
              <a:rPr kumimoji="1" lang="ja-JP" altLang="en-US" sz="3200" b="1" u="sng" dirty="0"/>
              <a:t>管理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76507" y="1216429"/>
            <a:ext cx="6032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切り替え処理を書いていきます（その１）</a:t>
            </a:r>
            <a:endParaRPr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2D74B9CB-95CD-417C-83D0-8B7D84D698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508" y="1817794"/>
            <a:ext cx="6325636" cy="476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8304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97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Scene</a:t>
            </a:r>
            <a:r>
              <a:rPr kumimoji="1" lang="ja-JP" altLang="en-US" sz="3200" b="1" u="sng" dirty="0"/>
              <a:t>管理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76507" y="1216429"/>
            <a:ext cx="6032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切り替え処理を書いていきます（その２）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C10B9D16-6BC5-4E6F-B012-BD35D2C94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3" y="1817795"/>
            <a:ext cx="6819376" cy="4686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1396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97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Scene</a:t>
            </a:r>
            <a:r>
              <a:rPr kumimoji="1" lang="ja-JP" altLang="en-US" sz="3200" b="1" u="sng" dirty="0"/>
              <a:t>管理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76507" y="1216429"/>
            <a:ext cx="6032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切り替え処理を書いていきます（その３）</a:t>
            </a:r>
            <a:endParaRPr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2C5DA2DD-CAC9-4420-868D-08D8A3D663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507" y="1817794"/>
            <a:ext cx="7070939" cy="2861782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9CEBAEB-4C7B-4680-AAFB-6DD460696D9C}"/>
              </a:ext>
            </a:extLst>
          </p:cNvPr>
          <p:cNvSpPr txBox="1"/>
          <p:nvPr/>
        </p:nvSpPr>
        <p:spPr>
          <a:xfrm>
            <a:off x="576507" y="4819276"/>
            <a:ext cx="81660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これで</a:t>
            </a:r>
            <a:r>
              <a:rPr lang="en-US" altLang="ja-JP" sz="2400" b="1" dirty="0">
                <a:solidFill>
                  <a:srgbClr val="FF0000"/>
                </a:solidFill>
              </a:rPr>
              <a:t>Init</a:t>
            </a:r>
            <a:r>
              <a:rPr lang="ja-JP" altLang="en-US" sz="2400" b="1" dirty="0">
                <a:solidFill>
                  <a:srgbClr val="FF0000"/>
                </a:solidFill>
              </a:rPr>
              <a:t>～</a:t>
            </a:r>
            <a:r>
              <a:rPr lang="en-US" altLang="ja-JP" sz="2400" b="1" dirty="0">
                <a:solidFill>
                  <a:srgbClr val="FF0000"/>
                </a:solidFill>
              </a:rPr>
              <a:t>Fin</a:t>
            </a:r>
            <a:r>
              <a:rPr lang="ja-JP" altLang="en-US" sz="2400" b="1" dirty="0">
                <a:solidFill>
                  <a:srgbClr val="FF0000"/>
                </a:solidFill>
              </a:rPr>
              <a:t>が自動で切り替わる仕組み</a:t>
            </a:r>
            <a:r>
              <a:rPr lang="ja-JP" altLang="en-US" sz="2400" dirty="0"/>
              <a:t>ができました。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2069489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97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Scene</a:t>
            </a:r>
            <a:r>
              <a:rPr kumimoji="1" lang="ja-JP" altLang="en-US" sz="3200" b="1" u="sng" dirty="0"/>
              <a:t>管理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76507" y="1216429"/>
            <a:ext cx="73292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最後にシーンを切り替える処理を作成します。</a:t>
            </a:r>
            <a:endParaRPr lang="en-US" altLang="ja-JP" sz="2400" dirty="0"/>
          </a:p>
          <a:p>
            <a:r>
              <a:rPr lang="en-US" altLang="ja-JP" sz="2400" b="1" dirty="0" err="1">
                <a:solidFill>
                  <a:srgbClr val="FF0000"/>
                </a:solidFill>
              </a:rPr>
              <a:t>SceneManager.h</a:t>
            </a:r>
            <a:r>
              <a:rPr lang="ja-JP" altLang="en-US" sz="2400" dirty="0"/>
              <a:t>に切り替える関数を宣言します。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064247C-8095-4AFE-9AC6-C096A14525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507" y="2187126"/>
            <a:ext cx="8599235" cy="136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9036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97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Scene</a:t>
            </a:r>
            <a:r>
              <a:rPr kumimoji="1" lang="ja-JP" altLang="en-US" sz="3200" b="1" u="sng" dirty="0"/>
              <a:t>管理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76507" y="1216429"/>
            <a:ext cx="94195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CPP</a:t>
            </a:r>
            <a:r>
              <a:rPr lang="ja-JP" altLang="en-US" sz="2400" dirty="0"/>
              <a:t>側に、切り替えに必要な</a:t>
            </a:r>
            <a:r>
              <a:rPr lang="ja-JP" altLang="en-US" sz="2400" b="1" dirty="0">
                <a:solidFill>
                  <a:srgbClr val="FF0000"/>
                </a:solidFill>
              </a:rPr>
              <a:t>遷移先のシーン用の変数</a:t>
            </a:r>
            <a:r>
              <a:rPr lang="ja-JP" altLang="en-US" sz="2400" dirty="0"/>
              <a:t>を用意して、</a:t>
            </a:r>
            <a:endParaRPr lang="en-US" altLang="ja-JP" sz="2400" dirty="0"/>
          </a:p>
          <a:p>
            <a:r>
              <a:rPr lang="ja-JP" altLang="en-US" sz="2400" dirty="0"/>
              <a:t>シーンが終了した際に切り替わる処理を書きます。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A8525E2-0AF9-4F80-8B33-C15539C80D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507" y="2187126"/>
            <a:ext cx="5239481" cy="543001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C900F34-5B7B-4783-AA5F-A2882453A895}"/>
              </a:ext>
            </a:extLst>
          </p:cNvPr>
          <p:cNvSpPr txBox="1"/>
          <p:nvPr/>
        </p:nvSpPr>
        <p:spPr>
          <a:xfrm>
            <a:off x="576507" y="2869827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・・・</a:t>
            </a:r>
            <a:endParaRPr lang="en-US" altLang="ja-JP" sz="2400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73AA9BEB-24BA-465F-ADE0-4F27728AF8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3429000"/>
            <a:ext cx="6001588" cy="2915057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02D308D7-F831-4FA8-AE97-0EC9F56C9B72}"/>
              </a:ext>
            </a:extLst>
          </p:cNvPr>
          <p:cNvSpPr/>
          <p:nvPr/>
        </p:nvSpPr>
        <p:spPr>
          <a:xfrm>
            <a:off x="2474259" y="4111700"/>
            <a:ext cx="3424517" cy="80095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96790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97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Scene</a:t>
            </a:r>
            <a:r>
              <a:rPr kumimoji="1" lang="ja-JP" altLang="en-US" sz="3200" b="1" u="sng" dirty="0"/>
              <a:t>管理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76507" y="1216429"/>
            <a:ext cx="933300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0070C0"/>
                </a:solidFill>
              </a:rPr>
              <a:t>ChangeScene</a:t>
            </a:r>
            <a:r>
              <a:rPr lang="ja-JP" altLang="en-US" sz="2400" b="1" dirty="0">
                <a:solidFill>
                  <a:srgbClr val="0070C0"/>
                </a:solidFill>
              </a:rPr>
              <a:t>関数</a:t>
            </a:r>
            <a:r>
              <a:rPr lang="ja-JP" altLang="en-US" sz="2400" dirty="0"/>
              <a:t>には遷移先シーンを設定する処理を書きます。</a:t>
            </a:r>
            <a:endParaRPr lang="en-US" altLang="ja-JP" sz="2400" dirty="0"/>
          </a:p>
          <a:p>
            <a:r>
              <a:rPr lang="ja-JP" altLang="en-US" sz="2400" dirty="0"/>
              <a:t>これで遷移の仕組みは完成になります。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B57B260-45C6-4C0D-B42B-1E193AF94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506" y="2187126"/>
            <a:ext cx="6583767" cy="286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7876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97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Scene</a:t>
            </a:r>
            <a:r>
              <a:rPr kumimoji="1" lang="ja-JP" altLang="en-US" sz="3200" b="1" u="sng" dirty="0"/>
              <a:t>管理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76507" y="1216429"/>
            <a:ext cx="114874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TitleScene.cpp</a:t>
            </a:r>
            <a:r>
              <a:rPr lang="ja-JP" altLang="en-US" sz="2400" dirty="0"/>
              <a:t>のプレイシーンへの遷移処理を見てみましょう。</a:t>
            </a:r>
            <a:endParaRPr lang="en-US" altLang="ja-JP" sz="2400" dirty="0"/>
          </a:p>
          <a:p>
            <a:r>
              <a:rPr lang="ja-JP" altLang="en-US" sz="2400" dirty="0"/>
              <a:t>このように</a:t>
            </a:r>
            <a:r>
              <a:rPr lang="en-US" altLang="ja-JP" sz="2400" b="1" dirty="0" err="1">
                <a:solidFill>
                  <a:srgbClr val="FF0000"/>
                </a:solidFill>
              </a:rPr>
              <a:t>ChangeScene</a:t>
            </a:r>
            <a:r>
              <a:rPr lang="ja-JP" altLang="en-US" sz="2400" b="1" dirty="0">
                <a:solidFill>
                  <a:srgbClr val="FF0000"/>
                </a:solidFill>
              </a:rPr>
              <a:t>関数を呼ぶだけでシーンを切り替えることができます。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A33812A-9267-4C06-8743-B4FE32A5A1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507" y="2187126"/>
            <a:ext cx="8801322" cy="2384874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61CE7DE-B15C-425E-BA63-2397DD393882}"/>
              </a:ext>
            </a:extLst>
          </p:cNvPr>
          <p:cNvSpPr txBox="1"/>
          <p:nvPr/>
        </p:nvSpPr>
        <p:spPr>
          <a:xfrm>
            <a:off x="576507" y="4711700"/>
            <a:ext cx="11179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他のシーンではどのように</a:t>
            </a:r>
            <a:r>
              <a:rPr lang="en-US" altLang="ja-JP" sz="2400" b="1" dirty="0" err="1">
                <a:solidFill>
                  <a:srgbClr val="0070C0"/>
                </a:solidFill>
              </a:rPr>
              <a:t>ChangeScene</a:t>
            </a:r>
            <a:r>
              <a:rPr lang="ja-JP" altLang="en-US" sz="2400" dirty="0"/>
              <a:t>が呼ばれてるか確認してみましょう。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2950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694</TotalTime>
  <Words>593</Words>
  <Application>Microsoft Office PowerPoint</Application>
  <PresentationFormat>ワイド画面</PresentationFormat>
  <Paragraphs>73</Paragraphs>
  <Slides>22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22</vt:i4>
      </vt:variant>
    </vt:vector>
  </HeadingPairs>
  <TitlesOfParts>
    <vt:vector size="2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54</cp:revision>
  <dcterms:created xsi:type="dcterms:W3CDTF">2024-08-27T02:15:54Z</dcterms:created>
  <dcterms:modified xsi:type="dcterms:W3CDTF">2026-06-22T02:16:07Z</dcterms:modified>
</cp:coreProperties>
</file>