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2026/5/13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39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FPS</a:t>
            </a:r>
            <a:r>
              <a:rPr kumimoji="1" lang="ja-JP" altLang="en-US" sz="3200" b="1" u="sng" dirty="0"/>
              <a:t>（フレームレート）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532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b="1" dirty="0">
                <a:solidFill>
                  <a:srgbClr val="FF0000"/>
                </a:solidFill>
              </a:rPr>
              <a:t>ゲームのメインループが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1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ループすることを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1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フレーム</a:t>
            </a:r>
            <a:r>
              <a:rPr kumimoji="1" lang="ja-JP" altLang="en-US" sz="2400" dirty="0"/>
              <a:t>と言います。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7758AFC-623D-4EC2-B80B-F07B0B167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6153190" cy="4773506"/>
          </a:xfrm>
          <a:prstGeom prst="rect">
            <a:avLst/>
          </a:prstGeom>
        </p:spPr>
      </p:pic>
      <p:sp>
        <p:nvSpPr>
          <p:cNvPr id="11" name="矢印: 下カーブ 10">
            <a:extLst>
              <a:ext uri="{FF2B5EF4-FFF2-40B4-BE49-F238E27FC236}">
                <a16:creationId xmlns:a16="http://schemas.microsoft.com/office/drawing/2014/main" id="{3DDB0B8A-47BD-4090-97C3-70D88C23641E}"/>
              </a:ext>
            </a:extLst>
          </p:cNvPr>
          <p:cNvSpPr/>
          <p:nvPr/>
        </p:nvSpPr>
        <p:spPr>
          <a:xfrm>
            <a:off x="7391400" y="2209800"/>
            <a:ext cx="2819400" cy="21082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2" name="矢印: 下カーブ 11">
            <a:extLst>
              <a:ext uri="{FF2B5EF4-FFF2-40B4-BE49-F238E27FC236}">
                <a16:creationId xmlns:a16="http://schemas.microsoft.com/office/drawing/2014/main" id="{D568FCB8-0104-42F9-A7E0-49F207B52ED9}"/>
              </a:ext>
            </a:extLst>
          </p:cNvPr>
          <p:cNvSpPr/>
          <p:nvPr/>
        </p:nvSpPr>
        <p:spPr>
          <a:xfrm rot="10800000">
            <a:off x="7201371" y="4483100"/>
            <a:ext cx="2819400" cy="21082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39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FPS</a:t>
            </a:r>
            <a:r>
              <a:rPr kumimoji="1" lang="ja-JP" altLang="en-US" sz="3200" b="1" u="sng" dirty="0"/>
              <a:t>（フレームレート）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6213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b="1" dirty="0">
                <a:solidFill>
                  <a:srgbClr val="FF0000"/>
                </a:solidFill>
              </a:rPr>
              <a:t>1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秒間のフレーム数のことを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FPS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（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Frame Per Second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）</a:t>
            </a:r>
            <a:endParaRPr kumimoji="1" lang="en-US" altLang="ja-JP" sz="2400" dirty="0"/>
          </a:p>
          <a:p>
            <a:r>
              <a:rPr lang="ja-JP" altLang="en-US" sz="2400" dirty="0"/>
              <a:t>もしくは</a:t>
            </a:r>
            <a:r>
              <a:rPr lang="ja-JP" altLang="en-US" sz="2400" b="1" dirty="0">
                <a:solidFill>
                  <a:srgbClr val="FF0000"/>
                </a:solidFill>
              </a:rPr>
              <a:t>フレームレート</a:t>
            </a:r>
            <a:r>
              <a:rPr kumimoji="1" lang="ja-JP" altLang="en-US" sz="2400" dirty="0"/>
              <a:t>と言います。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通常、ゲームは</a:t>
            </a:r>
            <a:r>
              <a:rPr kumimoji="1" lang="en-US" altLang="ja-JP" sz="2400" b="1" dirty="0">
                <a:solidFill>
                  <a:srgbClr val="FF0000"/>
                </a:solidFill>
              </a:rPr>
              <a:t>60FPS</a:t>
            </a:r>
            <a:r>
              <a:rPr kumimoji="1" lang="ja-JP" altLang="en-US" sz="2400" dirty="0"/>
              <a:t>（</a:t>
            </a:r>
            <a:r>
              <a:rPr kumimoji="1" lang="en-US" altLang="ja-JP" sz="2400" dirty="0"/>
              <a:t>1</a:t>
            </a:r>
            <a:r>
              <a:rPr kumimoji="1" lang="ja-JP" altLang="en-US" sz="2400" dirty="0"/>
              <a:t>秒間に</a:t>
            </a:r>
            <a:r>
              <a:rPr kumimoji="1" lang="en-US" altLang="ja-JP" sz="2400" dirty="0"/>
              <a:t>60</a:t>
            </a:r>
            <a:r>
              <a:rPr kumimoji="1" lang="ja-JP" altLang="en-US" sz="2400" dirty="0"/>
              <a:t>フレーム）もしくは</a:t>
            </a:r>
            <a:endParaRPr kumimoji="1"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30FPS</a:t>
            </a:r>
            <a:r>
              <a:rPr lang="ja-JP" altLang="en-US" sz="2400" dirty="0"/>
              <a:t>（</a:t>
            </a:r>
            <a:r>
              <a:rPr lang="en-US" altLang="ja-JP" sz="2400" dirty="0"/>
              <a:t>1</a:t>
            </a:r>
            <a:r>
              <a:rPr lang="ja-JP" altLang="en-US" sz="2400" dirty="0"/>
              <a:t>秒間に</a:t>
            </a:r>
            <a:r>
              <a:rPr lang="en-US" altLang="ja-JP" sz="2400" dirty="0"/>
              <a:t>30</a:t>
            </a:r>
            <a:r>
              <a:rPr lang="ja-JP" altLang="en-US" sz="2400" dirty="0"/>
              <a:t>フレーム）で動いています。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00B050"/>
                </a:solidFill>
              </a:rPr>
              <a:t>■</a:t>
            </a:r>
            <a:r>
              <a:rPr lang="en-US" altLang="ja-JP" sz="2400" b="1" dirty="0">
                <a:solidFill>
                  <a:srgbClr val="00B050"/>
                </a:solidFill>
              </a:rPr>
              <a:t>MEMO</a:t>
            </a:r>
            <a:endParaRPr kumimoji="1" lang="en-US" altLang="ja-JP" sz="2400" b="1" dirty="0">
              <a:solidFill>
                <a:srgbClr val="00B050"/>
              </a:solidFill>
            </a:endParaRPr>
          </a:p>
          <a:p>
            <a:r>
              <a:rPr lang="ja-JP" altLang="en-US" sz="2400" dirty="0"/>
              <a:t>格闘ゲームやレースゲームなど、</a:t>
            </a:r>
            <a:endParaRPr lang="en-US" altLang="ja-JP" sz="2400" dirty="0"/>
          </a:p>
          <a:p>
            <a:r>
              <a:rPr kumimoji="1" lang="ja-JP" altLang="en-US" sz="2400" dirty="0"/>
              <a:t>細かい</a:t>
            </a:r>
            <a:r>
              <a:rPr lang="ja-JP" altLang="en-US" sz="2400" dirty="0"/>
              <a:t>動きや判定で勝敗が決まるものは</a:t>
            </a:r>
            <a:r>
              <a:rPr lang="en-US" altLang="ja-JP" sz="2400" dirty="0"/>
              <a:t>60FPS</a:t>
            </a:r>
            <a:r>
              <a:rPr lang="ja-JP" altLang="en-US" sz="2400" dirty="0"/>
              <a:t>は絶対です。</a:t>
            </a:r>
            <a:endParaRPr kumimoji="1" lang="en-US" altLang="ja-JP" sz="2400" dirty="0"/>
          </a:p>
          <a:p>
            <a:r>
              <a:rPr lang="ja-JP" altLang="en-US" sz="2400" dirty="0"/>
              <a:t>逆に</a:t>
            </a:r>
            <a:r>
              <a:rPr lang="en-US" altLang="ja-JP" sz="2400" dirty="0"/>
              <a:t>RPG</a:t>
            </a:r>
            <a:r>
              <a:rPr lang="ja-JP" altLang="en-US" sz="2400" dirty="0"/>
              <a:t>など特に細かい処理が不要なゲームは</a:t>
            </a:r>
            <a:r>
              <a:rPr lang="en-US" altLang="ja-JP" sz="2400" dirty="0"/>
              <a:t>30FPS</a:t>
            </a:r>
            <a:r>
              <a:rPr lang="ja-JP" altLang="en-US" sz="2400" dirty="0"/>
              <a:t>の場合があります。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776245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39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FPS</a:t>
            </a:r>
            <a:r>
              <a:rPr kumimoji="1" lang="ja-JP" altLang="en-US" sz="3200" b="1" u="sng" dirty="0"/>
              <a:t>（フレームレート）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64177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現在、</a:t>
            </a:r>
            <a:r>
              <a:rPr lang="en-US" altLang="ja-JP" sz="2400" dirty="0"/>
              <a:t>FPS</a:t>
            </a:r>
            <a:r>
              <a:rPr lang="ja-JP" altLang="en-US" sz="2400" dirty="0"/>
              <a:t>については何もしていないため、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可能な限り高速でゲームが動いています。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endParaRPr lang="en-US" altLang="ja-JP" sz="2400" dirty="0"/>
          </a:p>
          <a:p>
            <a:r>
              <a:rPr lang="ja-JP" altLang="en-US" sz="2400" dirty="0"/>
              <a:t>このままだと、スペックのいい</a:t>
            </a:r>
            <a:r>
              <a:rPr lang="en-US" altLang="ja-JP" sz="2400" dirty="0"/>
              <a:t>PC</a:t>
            </a:r>
            <a:r>
              <a:rPr lang="ja-JP" altLang="en-US" sz="2400" dirty="0"/>
              <a:t>だと速く、</a:t>
            </a:r>
            <a:endParaRPr lang="en-US" altLang="ja-JP" sz="2400" dirty="0"/>
          </a:p>
          <a:p>
            <a:r>
              <a:rPr lang="ja-JP" altLang="en-US" sz="2400" dirty="0"/>
              <a:t>逆に低スペックの</a:t>
            </a:r>
            <a:r>
              <a:rPr lang="en-US" altLang="ja-JP" sz="2400" dirty="0"/>
              <a:t>PC</a:t>
            </a:r>
            <a:r>
              <a:rPr lang="ja-JP" altLang="en-US" sz="2400" dirty="0"/>
              <a:t>だと遅くなってしまいます。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なので、今回はプログラムで</a:t>
            </a:r>
            <a:r>
              <a:rPr lang="en-US" altLang="ja-JP" sz="2400" dirty="0"/>
              <a:t>FPS</a:t>
            </a:r>
            <a:r>
              <a:rPr lang="ja-JP" altLang="en-US" sz="2400" dirty="0"/>
              <a:t>を固定するようにします。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079021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39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FPS</a:t>
            </a:r>
            <a:r>
              <a:rPr kumimoji="1" lang="ja-JP" altLang="en-US" sz="3200" b="1" u="sng" dirty="0"/>
              <a:t>（フレームレート）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4532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Source</a:t>
            </a:r>
            <a:r>
              <a:rPr lang="ja-JP" altLang="en-US" sz="2400" dirty="0"/>
              <a:t>に</a:t>
            </a:r>
            <a:r>
              <a:rPr lang="en-US" altLang="ja-JP" sz="2400" dirty="0"/>
              <a:t>FPS</a:t>
            </a:r>
            <a:r>
              <a:rPr lang="ja-JP" altLang="en-US" sz="2400" dirty="0"/>
              <a:t>フォルダを追加して、ソースファイルを追加します。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C8AFD283-28DF-4417-9CC3-16214EB2AB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1817794"/>
            <a:ext cx="6260767" cy="1979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5987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39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FPS</a:t>
            </a:r>
            <a:r>
              <a:rPr kumimoji="1" lang="ja-JP" altLang="en-US" sz="3200" b="1" u="sng" dirty="0"/>
              <a:t>（フレームレート）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50289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FPS.h</a:t>
            </a:r>
            <a:r>
              <a:rPr lang="ja-JP" altLang="en-US" sz="2400" dirty="0"/>
              <a:t>に必要な関数を宣言します。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B0BD15F-D088-449C-91DA-357524D1D5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1" y="1817794"/>
            <a:ext cx="6826975" cy="2932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75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39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FPS</a:t>
            </a:r>
            <a:r>
              <a:rPr kumimoji="1" lang="ja-JP" altLang="en-US" sz="3200" b="1" u="sng" dirty="0"/>
              <a:t>（フレームレート）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23551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FPS.cpp</a:t>
            </a:r>
            <a:r>
              <a:rPr lang="ja-JP" altLang="en-US" sz="2400" dirty="0"/>
              <a:t>その１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603CEA5-C70F-427E-8299-4855E969F0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7736946" cy="4443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024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39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FPS</a:t>
            </a:r>
            <a:r>
              <a:rPr kumimoji="1" lang="ja-JP" altLang="en-US" sz="3200" b="1" u="sng" dirty="0"/>
              <a:t>（フレームレート）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23551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FPS.cpp</a:t>
            </a:r>
            <a:r>
              <a:rPr lang="ja-JP" altLang="en-US" sz="2400" dirty="0"/>
              <a:t>その２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28E40B33-2492-4544-B5D1-3CE6E94B5C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3" y="1817794"/>
            <a:ext cx="7484258" cy="4348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281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39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FPS</a:t>
            </a:r>
            <a:r>
              <a:rPr kumimoji="1" lang="ja-JP" altLang="en-US" sz="3200" b="1" u="sng" dirty="0"/>
              <a:t>（フレームレート）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23551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FPS.cpp</a:t>
            </a:r>
            <a:r>
              <a:rPr lang="ja-JP" altLang="en-US" sz="2400" dirty="0"/>
              <a:t>その３</a:t>
            </a:r>
            <a:endParaRPr lang="en-US" altLang="ja-JP" sz="2400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0759571D-2A24-4469-8099-3469EAAA3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8006716" cy="4189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171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39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FPS</a:t>
            </a:r>
            <a:r>
              <a:rPr kumimoji="1" lang="ja-JP" altLang="en-US" sz="3200" b="1" u="sng" dirty="0"/>
              <a:t>（フレームレート）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24945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その１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33AEAB1-41AF-4B36-8124-FA6E8553E8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4972744" cy="1952898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5B90441-71D3-4B06-87AF-88C28D4B5EB0}"/>
              </a:ext>
            </a:extLst>
          </p:cNvPr>
          <p:cNvSpPr txBox="1"/>
          <p:nvPr/>
        </p:nvSpPr>
        <p:spPr>
          <a:xfrm>
            <a:off x="567542" y="3910392"/>
            <a:ext cx="94740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システム的なものなので</a:t>
            </a:r>
            <a:r>
              <a:rPr lang="en-US" altLang="ja-JP" sz="2400" dirty="0" err="1"/>
              <a:t>GameInit</a:t>
            </a:r>
            <a:r>
              <a:rPr lang="ja-JP" altLang="en-US" sz="2400" dirty="0"/>
              <a:t>関数の中では呼びませんでした。</a:t>
            </a:r>
            <a:endParaRPr lang="en-US" altLang="ja-JP" sz="2400" dirty="0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2BD2958B-77A1-4478-AFFB-CC8F75A12F88}"/>
              </a:ext>
            </a:extLst>
          </p:cNvPr>
          <p:cNvSpPr/>
          <p:nvPr/>
        </p:nvSpPr>
        <p:spPr>
          <a:xfrm>
            <a:off x="1771214" y="1868594"/>
            <a:ext cx="2076886" cy="7349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7173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39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FPS</a:t>
            </a:r>
            <a:r>
              <a:rPr kumimoji="1" lang="ja-JP" altLang="en-US" sz="3200" b="1" u="sng" dirty="0"/>
              <a:t>（フレームレート）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24945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その２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D2EC20C-ECB8-445E-ADE1-D90256ECDA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6239658" cy="3047791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9E851BF-6951-4C67-BA45-F8558352C197}"/>
              </a:ext>
            </a:extLst>
          </p:cNvPr>
          <p:cNvSpPr/>
          <p:nvPr/>
        </p:nvSpPr>
        <p:spPr>
          <a:xfrm>
            <a:off x="2438400" y="1817794"/>
            <a:ext cx="3657600" cy="20811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AE57B17-C9A9-4F69-B337-192ED564B7B7}"/>
              </a:ext>
            </a:extLst>
          </p:cNvPr>
          <p:cNvSpPr txBox="1"/>
          <p:nvPr/>
        </p:nvSpPr>
        <p:spPr>
          <a:xfrm>
            <a:off x="567542" y="5005285"/>
            <a:ext cx="91101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ゲーム内の全ての更新、描画が終わってから処理しましょう。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985029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39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FPS</a:t>
            </a:r>
            <a:r>
              <a:rPr kumimoji="1" lang="ja-JP" altLang="en-US" sz="3200" b="1" u="sng" dirty="0"/>
              <a:t>（フレームレート）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24945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Main.cpp</a:t>
            </a:r>
            <a:r>
              <a:rPr lang="ja-JP" altLang="en-US" sz="2400" dirty="0"/>
              <a:t>その３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A57AF8D-B5B1-4BE8-A75B-B938CB5CA2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8215770" cy="2220806"/>
          </a:xfrm>
          <a:prstGeom prst="rect">
            <a:avLst/>
          </a:prstGeom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592584EF-4247-4C1D-87E4-04B243129E6A}"/>
              </a:ext>
            </a:extLst>
          </p:cNvPr>
          <p:cNvSpPr/>
          <p:nvPr/>
        </p:nvSpPr>
        <p:spPr>
          <a:xfrm>
            <a:off x="2679700" y="2603500"/>
            <a:ext cx="6103612" cy="685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62401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39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FPS</a:t>
            </a:r>
            <a:r>
              <a:rPr kumimoji="1" lang="ja-JP" altLang="en-US" sz="3200" b="1" u="sng" dirty="0"/>
              <a:t>（フレームレート）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073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 err="1">
                <a:solidFill>
                  <a:srgbClr val="FF0000"/>
                </a:solidFill>
              </a:rPr>
              <a:t>GetNowCount</a:t>
            </a:r>
            <a:r>
              <a:rPr lang="ja-JP" altLang="en-US" sz="2400" b="1" dirty="0">
                <a:solidFill>
                  <a:srgbClr val="FF0000"/>
                </a:solidFill>
              </a:rPr>
              <a:t>関数</a:t>
            </a:r>
            <a:r>
              <a:rPr lang="ja-JP" altLang="en-US" sz="2400" dirty="0"/>
              <a:t>は</a:t>
            </a:r>
            <a:r>
              <a:rPr lang="ja-JP" altLang="en-US" sz="2400" b="1" dirty="0">
                <a:solidFill>
                  <a:srgbClr val="FF0000"/>
                </a:solidFill>
              </a:rPr>
              <a:t>起動時間をミリ秒で取得する関数</a:t>
            </a:r>
            <a:r>
              <a:rPr lang="ja-JP" altLang="en-US" sz="2400" dirty="0"/>
              <a:t>です。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3FA8E372-8B7F-48BA-B269-14ABE7F8EC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3"/>
            <a:ext cx="5761585" cy="461665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7A99B97-A686-4C11-BD12-419C031DB90E}"/>
              </a:ext>
            </a:extLst>
          </p:cNvPr>
          <p:cNvSpPr txBox="1"/>
          <p:nvPr/>
        </p:nvSpPr>
        <p:spPr>
          <a:xfrm>
            <a:off x="567542" y="2419157"/>
            <a:ext cx="84946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今回のように、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どれほどの時間が経過したか</a:t>
            </a:r>
            <a:r>
              <a:rPr lang="ja-JP" altLang="en-US" sz="2400" dirty="0"/>
              <a:t>を計算する際によく使います。</a:t>
            </a:r>
            <a:endParaRPr lang="en-US" altLang="ja-JP" sz="2400" dirty="0"/>
          </a:p>
          <a:p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928664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46939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b="1" u="sng" dirty="0"/>
              <a:t>FPS</a:t>
            </a:r>
            <a:r>
              <a:rPr kumimoji="1" lang="ja-JP" altLang="en-US" sz="3200" b="1" u="sng" dirty="0"/>
              <a:t>（フレームレート）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5689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Sleep</a:t>
            </a:r>
            <a:r>
              <a:rPr lang="ja-JP" altLang="en-US" sz="2400" b="1" dirty="0">
                <a:solidFill>
                  <a:srgbClr val="FF0000"/>
                </a:solidFill>
              </a:rPr>
              <a:t>関数</a:t>
            </a:r>
            <a:r>
              <a:rPr lang="ja-JP" altLang="en-US" sz="2400" dirty="0"/>
              <a:t>は</a:t>
            </a:r>
            <a:r>
              <a:rPr lang="ja-JP" altLang="en-US" sz="2400" b="1" dirty="0">
                <a:solidFill>
                  <a:srgbClr val="FF0000"/>
                </a:solidFill>
              </a:rPr>
              <a:t>引数の値の時間（ミリ秒）だけプログラムを止める処理です。</a:t>
            </a:r>
            <a:endParaRPr lang="en-US" altLang="ja-JP" sz="24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7A99B97-A686-4C11-BD12-419C031DB90E}"/>
              </a:ext>
            </a:extLst>
          </p:cNvPr>
          <p:cNvSpPr txBox="1"/>
          <p:nvPr/>
        </p:nvSpPr>
        <p:spPr>
          <a:xfrm>
            <a:off x="567542" y="2419157"/>
            <a:ext cx="103412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今回のように処理が速すぎて、あえて処理を止めたいときに使用します。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53885BC5-F30A-473D-BBA8-261076273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756874"/>
            <a:ext cx="2423774" cy="58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486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607</TotalTime>
  <Words>363</Words>
  <Application>Microsoft Office PowerPoint</Application>
  <PresentationFormat>ワイド画面</PresentationFormat>
  <Paragraphs>46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44</cp:revision>
  <dcterms:created xsi:type="dcterms:W3CDTF">2024-08-27T02:15:54Z</dcterms:created>
  <dcterms:modified xsi:type="dcterms:W3CDTF">2026-05-13T03:38:22Z</dcterms:modified>
</cp:coreProperties>
</file>