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3" r:id="rId6"/>
    <p:sldId id="274" r:id="rId7"/>
    <p:sldId id="275" r:id="rId8"/>
    <p:sldId id="276" r:id="rId9"/>
    <p:sldId id="277"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2024/9/13</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830997"/>
          </a:xfrm>
          <a:prstGeom prst="rect">
            <a:avLst/>
          </a:prstGeom>
          <a:noFill/>
        </p:spPr>
        <p:txBody>
          <a:bodyPr wrap="none" rtlCol="0">
            <a:spAutoFit/>
          </a:bodyPr>
          <a:lstStyle/>
          <a:p>
            <a:r>
              <a:rPr kumimoji="1" lang="ja-JP" altLang="en-US" sz="2400" b="1" dirty="0">
                <a:solidFill>
                  <a:srgbClr val="FF0000"/>
                </a:solidFill>
              </a:rPr>
              <a:t>エフェクト</a:t>
            </a:r>
            <a:r>
              <a:rPr kumimoji="1" lang="ja-JP" altLang="en-US" sz="2400" dirty="0"/>
              <a:t>とは爆発や衝撃波など、</a:t>
            </a:r>
            <a:r>
              <a:rPr lang="ja-JP" altLang="en-US" sz="2400" b="1" dirty="0">
                <a:solidFill>
                  <a:srgbClr val="FF0000"/>
                </a:solidFill>
              </a:rPr>
              <a:t>ゲームを飾り付ける演出</a:t>
            </a:r>
            <a:r>
              <a:rPr lang="ja-JP" altLang="en-US" sz="2400" dirty="0"/>
              <a:t>になります。</a:t>
            </a:r>
            <a:endParaRPr kumimoji="1" lang="en-US" altLang="ja-JP" sz="2400" dirty="0"/>
          </a:p>
          <a:p>
            <a:r>
              <a:rPr lang="ja-JP" altLang="en-US" sz="2400" dirty="0"/>
              <a:t>エフェクトがあるだけで</a:t>
            </a:r>
            <a:r>
              <a:rPr lang="ja-JP" altLang="en-US" sz="2400" b="1" dirty="0">
                <a:solidFill>
                  <a:srgbClr val="FF0000"/>
                </a:solidFill>
              </a:rPr>
              <a:t>ゲームの見た目は非常によくなります。</a:t>
            </a:r>
            <a:endParaRPr kumimoji="1" lang="en-US" altLang="ja-JP" sz="2400" b="1" dirty="0">
              <a:solidFill>
                <a:srgbClr val="FF0000"/>
              </a:solidFill>
            </a:endParaRPr>
          </a:p>
        </p:txBody>
      </p:sp>
      <p:sp>
        <p:nvSpPr>
          <p:cNvPr id="2" name="爆発: 8 pt 1">
            <a:extLst>
              <a:ext uri="{FF2B5EF4-FFF2-40B4-BE49-F238E27FC236}">
                <a16:creationId xmlns:a16="http://schemas.microsoft.com/office/drawing/2014/main" id="{CF016AF8-F5BD-48EC-BC8D-F7CF4581F035}"/>
              </a:ext>
            </a:extLst>
          </p:cNvPr>
          <p:cNvSpPr/>
          <p:nvPr/>
        </p:nvSpPr>
        <p:spPr>
          <a:xfrm>
            <a:off x="1075764" y="3263152"/>
            <a:ext cx="2635624" cy="1945341"/>
          </a:xfrm>
          <a:prstGeom prst="irregularSeal1">
            <a:avLst/>
          </a:prstGeom>
          <a:solidFill>
            <a:srgbClr val="FFFF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星: 4 pt 2">
            <a:extLst>
              <a:ext uri="{FF2B5EF4-FFF2-40B4-BE49-F238E27FC236}">
                <a16:creationId xmlns:a16="http://schemas.microsoft.com/office/drawing/2014/main" id="{F9C21BA6-6853-4127-8771-22B30D9F3146}"/>
              </a:ext>
            </a:extLst>
          </p:cNvPr>
          <p:cNvSpPr/>
          <p:nvPr/>
        </p:nvSpPr>
        <p:spPr>
          <a:xfrm>
            <a:off x="6580094" y="3281082"/>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星: 4 pt 8">
            <a:extLst>
              <a:ext uri="{FF2B5EF4-FFF2-40B4-BE49-F238E27FC236}">
                <a16:creationId xmlns:a16="http://schemas.microsoft.com/office/drawing/2014/main" id="{E48184AB-F3AC-4F7C-A372-B738E9807ACE}"/>
              </a:ext>
            </a:extLst>
          </p:cNvPr>
          <p:cNvSpPr/>
          <p:nvPr/>
        </p:nvSpPr>
        <p:spPr>
          <a:xfrm>
            <a:off x="6302188" y="3519170"/>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星: 4 pt 9">
            <a:extLst>
              <a:ext uri="{FF2B5EF4-FFF2-40B4-BE49-F238E27FC236}">
                <a16:creationId xmlns:a16="http://schemas.microsoft.com/office/drawing/2014/main" id="{9F518C7A-3FEB-4154-9537-4B417ABDFDBD}"/>
              </a:ext>
            </a:extLst>
          </p:cNvPr>
          <p:cNvSpPr/>
          <p:nvPr/>
        </p:nvSpPr>
        <p:spPr>
          <a:xfrm>
            <a:off x="6719047" y="3707802"/>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星: 4 pt 12">
            <a:extLst>
              <a:ext uri="{FF2B5EF4-FFF2-40B4-BE49-F238E27FC236}">
                <a16:creationId xmlns:a16="http://schemas.microsoft.com/office/drawing/2014/main" id="{6C760A18-2416-4438-9B98-6F5475F4EF4D}"/>
              </a:ext>
            </a:extLst>
          </p:cNvPr>
          <p:cNvSpPr/>
          <p:nvPr/>
        </p:nvSpPr>
        <p:spPr>
          <a:xfrm>
            <a:off x="6349701" y="3973195"/>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星: 4 pt 13">
            <a:extLst>
              <a:ext uri="{FF2B5EF4-FFF2-40B4-BE49-F238E27FC236}">
                <a16:creationId xmlns:a16="http://schemas.microsoft.com/office/drawing/2014/main" id="{8A3DA476-5983-46EC-AB3F-32464B021C72}"/>
              </a:ext>
            </a:extLst>
          </p:cNvPr>
          <p:cNvSpPr/>
          <p:nvPr/>
        </p:nvSpPr>
        <p:spPr>
          <a:xfrm>
            <a:off x="7044466" y="4235822"/>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星: 4 pt 14">
            <a:extLst>
              <a:ext uri="{FF2B5EF4-FFF2-40B4-BE49-F238E27FC236}">
                <a16:creationId xmlns:a16="http://schemas.microsoft.com/office/drawing/2014/main" id="{316CB711-B93B-4C60-98F1-6137957043EB}"/>
              </a:ext>
            </a:extLst>
          </p:cNvPr>
          <p:cNvSpPr/>
          <p:nvPr/>
        </p:nvSpPr>
        <p:spPr>
          <a:xfrm>
            <a:off x="7183419" y="3442409"/>
            <a:ext cx="277906" cy="265393"/>
          </a:xfrm>
          <a:prstGeom prst="star4">
            <a:avLst/>
          </a:prstGeom>
          <a:solidFill>
            <a:srgbClr val="FFFF00"/>
          </a:solidFill>
          <a:ln>
            <a:solidFill>
              <a:srgbClr val="C9D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1200329"/>
          </a:xfrm>
          <a:prstGeom prst="rect">
            <a:avLst/>
          </a:prstGeom>
          <a:noFill/>
        </p:spPr>
        <p:txBody>
          <a:bodyPr wrap="none" rtlCol="0">
            <a:spAutoFit/>
          </a:bodyPr>
          <a:lstStyle/>
          <a:p>
            <a:r>
              <a:rPr kumimoji="1" lang="ja-JP" altLang="en-US" sz="2400" dirty="0"/>
              <a:t>エフェクトにはいくつか種類がありますが、</a:t>
            </a:r>
            <a:endParaRPr kumimoji="1" lang="en-US" altLang="ja-JP" sz="2400" dirty="0"/>
          </a:p>
          <a:p>
            <a:r>
              <a:rPr lang="ja-JP" altLang="en-US" sz="2400" dirty="0"/>
              <a:t>もっとも簡単なものは</a:t>
            </a:r>
            <a:r>
              <a:rPr lang="ja-JP" altLang="en-US" sz="2400" b="1" dirty="0">
                <a:solidFill>
                  <a:srgbClr val="FF0000"/>
                </a:solidFill>
              </a:rPr>
              <a:t>パラパラ漫画</a:t>
            </a:r>
            <a:r>
              <a:rPr lang="ja-JP" altLang="en-US" sz="2400" dirty="0"/>
              <a:t>のように</a:t>
            </a:r>
            <a:r>
              <a:rPr lang="ja-JP" altLang="en-US" sz="2400" b="1" dirty="0">
                <a:solidFill>
                  <a:srgbClr val="FF0000"/>
                </a:solidFill>
              </a:rPr>
              <a:t>アニメーションするエフェクト</a:t>
            </a:r>
            <a:r>
              <a:rPr lang="ja-JP" altLang="en-US" sz="2400" dirty="0"/>
              <a:t>です。</a:t>
            </a:r>
            <a:endParaRPr lang="en-US" altLang="ja-JP" sz="2400" dirty="0"/>
          </a:p>
          <a:p>
            <a:r>
              <a:rPr kumimoji="1" lang="ja-JP" altLang="en-US" sz="2400" dirty="0"/>
              <a:t>古くから使われている王道のエフェクトになります。</a:t>
            </a:r>
            <a:endParaRPr kumimoji="1" lang="en-US" altLang="ja-JP" sz="2400" dirty="0"/>
          </a:p>
        </p:txBody>
      </p:sp>
    </p:spTree>
    <p:extLst>
      <p:ext uri="{BB962C8B-B14F-4D97-AF65-F5344CB8AC3E}">
        <p14:creationId xmlns:p14="http://schemas.microsoft.com/office/powerpoint/2010/main" val="330278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3F67D84-33FC-4D39-9895-1FCC848F2313}"/>
              </a:ext>
            </a:extLst>
          </p:cNvPr>
          <p:cNvSpPr/>
          <p:nvPr/>
        </p:nvSpPr>
        <p:spPr>
          <a:xfrm>
            <a:off x="567543" y="2187126"/>
            <a:ext cx="9971980" cy="8309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830997"/>
          </a:xfrm>
          <a:prstGeom prst="rect">
            <a:avLst/>
          </a:prstGeom>
          <a:noFill/>
        </p:spPr>
        <p:txBody>
          <a:bodyPr wrap="none" rtlCol="0">
            <a:spAutoFit/>
          </a:bodyPr>
          <a:lstStyle/>
          <a:p>
            <a:r>
              <a:rPr kumimoji="1" lang="ja-JP" altLang="en-US" sz="2400" dirty="0"/>
              <a:t>アニメーションエフェクトを作る場合は、</a:t>
            </a:r>
            <a:endParaRPr kumimoji="1" lang="en-US" altLang="ja-JP" sz="2400" dirty="0"/>
          </a:p>
          <a:p>
            <a:r>
              <a:rPr lang="ja-JP" altLang="en-US" sz="2400" dirty="0"/>
              <a:t>以下のようにパラパラ漫画になるように画像を用意する必要があります。</a:t>
            </a:r>
            <a:endParaRPr kumimoji="1" lang="en-US" altLang="ja-JP" sz="2400" dirty="0"/>
          </a:p>
        </p:txBody>
      </p:sp>
      <p:pic>
        <p:nvPicPr>
          <p:cNvPr id="3" name="図 2">
            <a:extLst>
              <a:ext uri="{FF2B5EF4-FFF2-40B4-BE49-F238E27FC236}">
                <a16:creationId xmlns:a16="http://schemas.microsoft.com/office/drawing/2014/main" id="{8F03ACE7-7701-401D-9E17-47290BBE39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9971980" cy="830997"/>
          </a:xfrm>
          <a:prstGeom prst="rect">
            <a:avLst/>
          </a:prstGeom>
        </p:spPr>
      </p:pic>
    </p:spTree>
    <p:extLst>
      <p:ext uri="{BB962C8B-B14F-4D97-AF65-F5344CB8AC3E}">
        <p14:creationId xmlns:p14="http://schemas.microsoft.com/office/powerpoint/2010/main" val="600678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1CEF9EC3-8D94-42EA-BB9D-C7F06202DE69}"/>
              </a:ext>
            </a:extLst>
          </p:cNvPr>
          <p:cNvSpPr/>
          <p:nvPr/>
        </p:nvSpPr>
        <p:spPr>
          <a:xfrm>
            <a:off x="567543" y="2187126"/>
            <a:ext cx="9971980" cy="8309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461665"/>
          </a:xfrm>
          <a:prstGeom prst="rect">
            <a:avLst/>
          </a:prstGeom>
          <a:noFill/>
        </p:spPr>
        <p:txBody>
          <a:bodyPr wrap="none" rtlCol="0">
            <a:spAutoFit/>
          </a:bodyPr>
          <a:lstStyle/>
          <a:p>
            <a:r>
              <a:rPr kumimoji="1" lang="ja-JP" altLang="en-US" sz="2400" dirty="0"/>
              <a:t>そしてプログラム側で左から順番に、１コマずつ表示する仕組みを作ります。</a:t>
            </a:r>
            <a:endParaRPr kumimoji="1" lang="en-US" altLang="ja-JP" sz="2400" dirty="0"/>
          </a:p>
        </p:txBody>
      </p:sp>
      <p:pic>
        <p:nvPicPr>
          <p:cNvPr id="3" name="図 2">
            <a:extLst>
              <a:ext uri="{FF2B5EF4-FFF2-40B4-BE49-F238E27FC236}">
                <a16:creationId xmlns:a16="http://schemas.microsoft.com/office/drawing/2014/main" id="{8F03ACE7-7701-401D-9E17-47290BBE39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9971980" cy="830997"/>
          </a:xfrm>
          <a:prstGeom prst="rect">
            <a:avLst/>
          </a:prstGeom>
        </p:spPr>
      </p:pic>
      <p:sp>
        <p:nvSpPr>
          <p:cNvPr id="2" name="矢印: 右 1">
            <a:extLst>
              <a:ext uri="{FF2B5EF4-FFF2-40B4-BE49-F238E27FC236}">
                <a16:creationId xmlns:a16="http://schemas.microsoft.com/office/drawing/2014/main" id="{085930DD-E685-4BB0-AD55-CC992CBEF4AE}"/>
              </a:ext>
            </a:extLst>
          </p:cNvPr>
          <p:cNvSpPr/>
          <p:nvPr/>
        </p:nvSpPr>
        <p:spPr>
          <a:xfrm>
            <a:off x="714375" y="3705225"/>
            <a:ext cx="9825147"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5BD9762-AF10-4CC7-93D2-E0A4DFEA5E6F}"/>
              </a:ext>
            </a:extLst>
          </p:cNvPr>
          <p:cNvSpPr txBox="1"/>
          <p:nvPr/>
        </p:nvSpPr>
        <p:spPr>
          <a:xfrm>
            <a:off x="567542" y="3121428"/>
            <a:ext cx="6393097" cy="461665"/>
          </a:xfrm>
          <a:prstGeom prst="rect">
            <a:avLst/>
          </a:prstGeom>
          <a:noFill/>
        </p:spPr>
        <p:txBody>
          <a:bodyPr wrap="none" rtlCol="0">
            <a:spAutoFit/>
          </a:bodyPr>
          <a:lstStyle/>
          <a:p>
            <a:r>
              <a:rPr kumimoji="1" lang="ja-JP" altLang="en-US" sz="2400" dirty="0"/>
              <a:t>  １      ２      ３      ４      ５      ６・・・       </a:t>
            </a:r>
            <a:endParaRPr kumimoji="1" lang="en-US" altLang="ja-JP" sz="2400" dirty="0"/>
          </a:p>
        </p:txBody>
      </p:sp>
    </p:spTree>
    <p:extLst>
      <p:ext uri="{BB962C8B-B14F-4D97-AF65-F5344CB8AC3E}">
        <p14:creationId xmlns:p14="http://schemas.microsoft.com/office/powerpoint/2010/main" val="3025987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62096" cy="830997"/>
          </a:xfrm>
          <a:prstGeom prst="rect">
            <a:avLst/>
          </a:prstGeom>
          <a:noFill/>
        </p:spPr>
        <p:txBody>
          <a:bodyPr wrap="none" rtlCol="0">
            <a:spAutoFit/>
          </a:bodyPr>
          <a:lstStyle/>
          <a:p>
            <a:r>
              <a:rPr kumimoji="1" lang="ja-JP" altLang="en-US" sz="2400" dirty="0"/>
              <a:t>配布したプロジェクトを見ていきます。</a:t>
            </a:r>
            <a:endParaRPr kumimoji="1" lang="en-US" altLang="ja-JP" sz="2400" dirty="0"/>
          </a:p>
          <a:p>
            <a:r>
              <a:rPr kumimoji="1" lang="en-US" altLang="ja-JP" sz="2400" dirty="0"/>
              <a:t>Anim</a:t>
            </a:r>
            <a:r>
              <a:rPr lang="en-US" altLang="ja-JP" sz="2400" dirty="0"/>
              <a:t>ationEffect.cpp</a:t>
            </a:r>
            <a:r>
              <a:rPr lang="ja-JP" altLang="en-US" sz="2400" dirty="0"/>
              <a:t>の</a:t>
            </a:r>
            <a:r>
              <a:rPr lang="en-US" altLang="ja-JP" sz="2400" dirty="0" err="1"/>
              <a:t>StepAnimationEffect</a:t>
            </a:r>
            <a:r>
              <a:rPr lang="ja-JP" altLang="en-US" sz="2400" dirty="0"/>
              <a:t>関数を見てみます。</a:t>
            </a:r>
            <a:endParaRPr kumimoji="1" lang="en-US" altLang="ja-JP" sz="2400" dirty="0"/>
          </a:p>
        </p:txBody>
      </p:sp>
      <p:pic>
        <p:nvPicPr>
          <p:cNvPr id="9" name="図 8">
            <a:extLst>
              <a:ext uri="{FF2B5EF4-FFF2-40B4-BE49-F238E27FC236}">
                <a16:creationId xmlns:a16="http://schemas.microsoft.com/office/drawing/2014/main" id="{ED786600-8948-443B-93A4-2E728161E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4946077" cy="4337499"/>
          </a:xfrm>
          <a:prstGeom prst="rect">
            <a:avLst/>
          </a:prstGeom>
        </p:spPr>
      </p:pic>
    </p:spTree>
    <p:extLst>
      <p:ext uri="{BB962C8B-B14F-4D97-AF65-F5344CB8AC3E}">
        <p14:creationId xmlns:p14="http://schemas.microsoft.com/office/powerpoint/2010/main" val="667093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93715" cy="830997"/>
          </a:xfrm>
          <a:prstGeom prst="rect">
            <a:avLst/>
          </a:prstGeom>
          <a:noFill/>
        </p:spPr>
        <p:txBody>
          <a:bodyPr wrap="none" rtlCol="0">
            <a:spAutoFit/>
          </a:bodyPr>
          <a:lstStyle/>
          <a:p>
            <a:r>
              <a:rPr kumimoji="1" lang="ja-JP" altLang="en-US" sz="2400" dirty="0"/>
              <a:t>このように</a:t>
            </a:r>
            <a:r>
              <a:rPr kumimoji="1" lang="en-US" altLang="ja-JP" sz="2400" dirty="0"/>
              <a:t>Step</a:t>
            </a:r>
            <a:r>
              <a:rPr kumimoji="1" lang="ja-JP" altLang="en-US" sz="2400" dirty="0"/>
              <a:t>関数で一定時間たったら次のコマに進む処理ができています。</a:t>
            </a:r>
            <a:endParaRPr kumimoji="1" lang="en-US" altLang="ja-JP" sz="2400" dirty="0"/>
          </a:p>
          <a:p>
            <a:r>
              <a:rPr kumimoji="1" lang="ja-JP" altLang="en-US" sz="2400" b="1" dirty="0">
                <a:solidFill>
                  <a:srgbClr val="FF0000"/>
                </a:solidFill>
              </a:rPr>
              <a:t>一定時間で次へ</a:t>
            </a:r>
            <a:r>
              <a:rPr kumimoji="1" lang="ja-JP" altLang="en-US" sz="2400" dirty="0"/>
              <a:t>、のような処理はよく使いますので覚えておきましょう。</a:t>
            </a:r>
            <a:endParaRPr kumimoji="1" lang="en-US" altLang="ja-JP" sz="2400" dirty="0"/>
          </a:p>
        </p:txBody>
      </p:sp>
      <p:pic>
        <p:nvPicPr>
          <p:cNvPr id="9" name="図 8">
            <a:extLst>
              <a:ext uri="{FF2B5EF4-FFF2-40B4-BE49-F238E27FC236}">
                <a16:creationId xmlns:a16="http://schemas.microsoft.com/office/drawing/2014/main" id="{ED786600-8948-443B-93A4-2E728161E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4946077" cy="4337499"/>
          </a:xfrm>
          <a:prstGeom prst="rect">
            <a:avLst/>
          </a:prstGeom>
        </p:spPr>
      </p:pic>
    </p:spTree>
    <p:extLst>
      <p:ext uri="{BB962C8B-B14F-4D97-AF65-F5344CB8AC3E}">
        <p14:creationId xmlns:p14="http://schemas.microsoft.com/office/powerpoint/2010/main" val="1164917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D756170-5A94-4B9F-8B5B-0A181CBA1EAC}"/>
              </a:ext>
            </a:extLst>
          </p:cNvPr>
          <p:cNvSpPr/>
          <p:nvPr/>
        </p:nvSpPr>
        <p:spPr>
          <a:xfrm>
            <a:off x="567542" y="2187126"/>
            <a:ext cx="9971979"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kumimoji="1" lang="ja-JP" altLang="en-US" sz="2400" dirty="0"/>
              <a:t>コマを進める処理はできていますので、残りは描画だけです。</a:t>
            </a:r>
            <a:endParaRPr kumimoji="1" lang="en-US" altLang="ja-JP" sz="2400" dirty="0"/>
          </a:p>
          <a:p>
            <a:r>
              <a:rPr lang="ja-JP" altLang="en-US" sz="2400" dirty="0"/>
              <a:t>現在のコマ数から画像の１部分を描画する必要があります。</a:t>
            </a:r>
            <a:endParaRPr kumimoji="1" lang="en-US" altLang="ja-JP" sz="2400" dirty="0"/>
          </a:p>
        </p:txBody>
      </p:sp>
      <p:pic>
        <p:nvPicPr>
          <p:cNvPr id="5" name="図 4">
            <a:extLst>
              <a:ext uri="{FF2B5EF4-FFF2-40B4-BE49-F238E27FC236}">
                <a16:creationId xmlns:a16="http://schemas.microsoft.com/office/drawing/2014/main" id="{31B97F2B-476D-4B63-BC37-A21F94820D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9971980" cy="830997"/>
          </a:xfrm>
          <a:prstGeom prst="rect">
            <a:avLst/>
          </a:prstGeom>
        </p:spPr>
      </p:pic>
      <p:sp>
        <p:nvSpPr>
          <p:cNvPr id="3" name="正方形/長方形 2">
            <a:extLst>
              <a:ext uri="{FF2B5EF4-FFF2-40B4-BE49-F238E27FC236}">
                <a16:creationId xmlns:a16="http://schemas.microsoft.com/office/drawing/2014/main" id="{3D793D14-8D4C-4E95-802B-87512EE01759}"/>
              </a:ext>
            </a:extLst>
          </p:cNvPr>
          <p:cNvSpPr/>
          <p:nvPr/>
        </p:nvSpPr>
        <p:spPr>
          <a:xfrm>
            <a:off x="567542" y="2187127"/>
            <a:ext cx="851684" cy="83099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9C913DB-8375-4E15-8BA5-EC1E2F80FF47}"/>
              </a:ext>
            </a:extLst>
          </p:cNvPr>
          <p:cNvSpPr txBox="1"/>
          <p:nvPr/>
        </p:nvSpPr>
        <p:spPr>
          <a:xfrm>
            <a:off x="462767" y="3018123"/>
            <a:ext cx="2646878" cy="461665"/>
          </a:xfrm>
          <a:prstGeom prst="rect">
            <a:avLst/>
          </a:prstGeom>
          <a:noFill/>
        </p:spPr>
        <p:txBody>
          <a:bodyPr wrap="none" rtlCol="0">
            <a:spAutoFit/>
          </a:bodyPr>
          <a:lstStyle/>
          <a:p>
            <a:r>
              <a:rPr kumimoji="1" lang="ja-JP" altLang="en-US" sz="2400" dirty="0"/>
              <a:t>ここだけ描画！！</a:t>
            </a:r>
            <a:endParaRPr kumimoji="1" lang="en-US" altLang="ja-JP" sz="2400" dirty="0"/>
          </a:p>
        </p:txBody>
      </p:sp>
      <p:sp>
        <p:nvSpPr>
          <p:cNvPr id="10" name="テキスト ボックス 9">
            <a:extLst>
              <a:ext uri="{FF2B5EF4-FFF2-40B4-BE49-F238E27FC236}">
                <a16:creationId xmlns:a16="http://schemas.microsoft.com/office/drawing/2014/main" id="{5052B21D-D0AF-4BBB-91D6-B4783216D4B3}"/>
              </a:ext>
            </a:extLst>
          </p:cNvPr>
          <p:cNvSpPr txBox="1"/>
          <p:nvPr/>
        </p:nvSpPr>
        <p:spPr>
          <a:xfrm>
            <a:off x="462767" y="3619488"/>
            <a:ext cx="8940268" cy="461665"/>
          </a:xfrm>
          <a:prstGeom prst="rect">
            <a:avLst/>
          </a:prstGeom>
          <a:noFill/>
        </p:spPr>
        <p:txBody>
          <a:bodyPr wrap="none" rtlCol="0">
            <a:spAutoFit/>
          </a:bodyPr>
          <a:lstStyle/>
          <a:p>
            <a:r>
              <a:rPr lang="ja-JP" altLang="en-US" sz="2400" dirty="0"/>
              <a:t>このような場合は</a:t>
            </a:r>
            <a:r>
              <a:rPr lang="en-US" altLang="ja-JP" sz="2400" dirty="0" err="1"/>
              <a:t>DxLib</a:t>
            </a:r>
            <a:r>
              <a:rPr lang="ja-JP" altLang="en-US" sz="2400" dirty="0"/>
              <a:t>の</a:t>
            </a:r>
            <a:r>
              <a:rPr lang="en-US" altLang="ja-JP" sz="2400" b="1" dirty="0" err="1">
                <a:solidFill>
                  <a:srgbClr val="FF0000"/>
                </a:solidFill>
              </a:rPr>
              <a:t>DrawRectGraph</a:t>
            </a:r>
            <a:r>
              <a:rPr lang="ja-JP" altLang="en-US" sz="2400" b="1" dirty="0">
                <a:solidFill>
                  <a:srgbClr val="FF0000"/>
                </a:solidFill>
              </a:rPr>
              <a:t>関数</a:t>
            </a:r>
            <a:r>
              <a:rPr lang="ja-JP" altLang="en-US" sz="2400" dirty="0"/>
              <a:t>を使用します。</a:t>
            </a:r>
            <a:endParaRPr kumimoji="1" lang="en-US" altLang="ja-JP" sz="2400" dirty="0"/>
          </a:p>
        </p:txBody>
      </p:sp>
    </p:spTree>
    <p:extLst>
      <p:ext uri="{BB962C8B-B14F-4D97-AF65-F5344CB8AC3E}">
        <p14:creationId xmlns:p14="http://schemas.microsoft.com/office/powerpoint/2010/main" val="153978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05510" cy="461665"/>
          </a:xfrm>
          <a:prstGeom prst="rect">
            <a:avLst/>
          </a:prstGeom>
          <a:noFill/>
        </p:spPr>
        <p:txBody>
          <a:bodyPr wrap="none" rtlCol="0">
            <a:spAutoFit/>
          </a:bodyPr>
          <a:lstStyle/>
          <a:p>
            <a:r>
              <a:rPr kumimoji="1" lang="en-US" altLang="ja-JP" sz="2400" dirty="0" err="1"/>
              <a:t>DrawRectGraph</a:t>
            </a:r>
            <a:r>
              <a:rPr kumimoji="1" lang="ja-JP" altLang="en-US" sz="2400" dirty="0"/>
              <a:t>関数の詳細です。</a:t>
            </a:r>
            <a:endParaRPr kumimoji="1" lang="en-US" altLang="ja-JP" sz="2400" dirty="0"/>
          </a:p>
        </p:txBody>
      </p:sp>
      <p:pic>
        <p:nvPicPr>
          <p:cNvPr id="9" name="図 8">
            <a:extLst>
              <a:ext uri="{FF2B5EF4-FFF2-40B4-BE49-F238E27FC236}">
                <a16:creationId xmlns:a16="http://schemas.microsoft.com/office/drawing/2014/main" id="{29E66903-D367-4432-A3B3-AFAA1BBD3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44" y="1817794"/>
            <a:ext cx="9926435" cy="4048690"/>
          </a:xfrm>
          <a:prstGeom prst="rect">
            <a:avLst/>
          </a:prstGeom>
        </p:spPr>
      </p:pic>
    </p:spTree>
    <p:extLst>
      <p:ext uri="{BB962C8B-B14F-4D97-AF65-F5344CB8AC3E}">
        <p14:creationId xmlns:p14="http://schemas.microsoft.com/office/powerpoint/2010/main" val="1735053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46427829-EF5D-4406-B38D-34BA2F6B0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7061489" cy="3991934"/>
          </a:xfrm>
          <a:prstGeom prst="rect">
            <a:avLst/>
          </a:prstGeom>
        </p:spPr>
      </p:pic>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kumimoji="1" lang="ja-JP" altLang="en-US" sz="2400" dirty="0"/>
              <a:t>以上を踏まえて描画処理を完成させましょう。</a:t>
            </a:r>
            <a:endParaRPr kumimoji="1" lang="en-US" altLang="ja-JP" sz="2400" dirty="0"/>
          </a:p>
          <a:p>
            <a:r>
              <a:rPr lang="ja-JP" altLang="en-US" sz="2400" dirty="0"/>
              <a:t>コメントをヒントに処理を書いてみましょう。</a:t>
            </a:r>
            <a:endParaRPr kumimoji="1" lang="en-US" altLang="ja-JP" sz="2400" dirty="0"/>
          </a:p>
        </p:txBody>
      </p:sp>
      <p:sp>
        <p:nvSpPr>
          <p:cNvPr id="5" name="正方形/長方形 4">
            <a:extLst>
              <a:ext uri="{FF2B5EF4-FFF2-40B4-BE49-F238E27FC236}">
                <a16:creationId xmlns:a16="http://schemas.microsoft.com/office/drawing/2014/main" id="{7DDE0847-B4EC-4D86-867E-59634BB358BF}"/>
              </a:ext>
            </a:extLst>
          </p:cNvPr>
          <p:cNvSpPr/>
          <p:nvPr/>
        </p:nvSpPr>
        <p:spPr>
          <a:xfrm>
            <a:off x="2314575" y="4754836"/>
            <a:ext cx="4210050" cy="342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B3CD427-0DBD-45C3-B3CB-CE83951AD371}"/>
              </a:ext>
            </a:extLst>
          </p:cNvPr>
          <p:cNvSpPr/>
          <p:nvPr/>
        </p:nvSpPr>
        <p:spPr>
          <a:xfrm>
            <a:off x="2314575" y="5457021"/>
            <a:ext cx="4210050" cy="342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92669F9-2A36-4950-B573-489059511B97}"/>
              </a:ext>
            </a:extLst>
          </p:cNvPr>
          <p:cNvSpPr txBox="1"/>
          <p:nvPr/>
        </p:nvSpPr>
        <p:spPr>
          <a:xfrm>
            <a:off x="567542" y="6179060"/>
            <a:ext cx="7712368" cy="461665"/>
          </a:xfrm>
          <a:prstGeom prst="rect">
            <a:avLst/>
          </a:prstGeom>
          <a:noFill/>
        </p:spPr>
        <p:txBody>
          <a:bodyPr wrap="none" rtlCol="0">
            <a:spAutoFit/>
          </a:bodyPr>
          <a:lstStyle/>
          <a:p>
            <a:r>
              <a:rPr kumimoji="1" lang="en-US" altLang="ja-JP" sz="2400" dirty="0"/>
              <a:t>※</a:t>
            </a:r>
            <a:r>
              <a:rPr kumimoji="1" lang="ja-JP" altLang="en-US" sz="2400" b="1" dirty="0">
                <a:solidFill>
                  <a:srgbClr val="FF0000"/>
                </a:solidFill>
              </a:rPr>
              <a:t>描画する位置</a:t>
            </a:r>
            <a:r>
              <a:rPr kumimoji="1" lang="ja-JP" altLang="en-US" sz="2400" dirty="0"/>
              <a:t>は</a:t>
            </a:r>
            <a:r>
              <a:rPr kumimoji="1" lang="en-US" altLang="ja-JP" sz="2400" b="1" dirty="0">
                <a:solidFill>
                  <a:srgbClr val="FF0000"/>
                </a:solidFill>
              </a:rPr>
              <a:t>effect-&gt;</a:t>
            </a:r>
            <a:r>
              <a:rPr kumimoji="1" lang="en-US" altLang="ja-JP" sz="2400" b="1" dirty="0" err="1">
                <a:solidFill>
                  <a:srgbClr val="FF0000"/>
                </a:solidFill>
              </a:rPr>
              <a:t>posX</a:t>
            </a:r>
            <a:r>
              <a:rPr kumimoji="1" lang="ja-JP" altLang="en-US" sz="2400" dirty="0"/>
              <a:t>のように参照できます</a:t>
            </a:r>
            <a:endParaRPr kumimoji="1" lang="en-US" altLang="ja-JP" sz="2400" dirty="0"/>
          </a:p>
        </p:txBody>
      </p:sp>
    </p:spTree>
    <p:extLst>
      <p:ext uri="{BB962C8B-B14F-4D97-AF65-F5344CB8AC3E}">
        <p14:creationId xmlns:p14="http://schemas.microsoft.com/office/powerpoint/2010/main" val="101714257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259</Words>
  <Application>Microsoft Office PowerPoint</Application>
  <PresentationFormat>ワイド画面</PresentationFormat>
  <Paragraphs>30</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46</cp:revision>
  <dcterms:created xsi:type="dcterms:W3CDTF">2024-08-27T02:15:54Z</dcterms:created>
  <dcterms:modified xsi:type="dcterms:W3CDTF">2024-09-13T02:48:40Z</dcterms:modified>
</cp:coreProperties>
</file>