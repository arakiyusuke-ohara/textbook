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70" r:id="rId3"/>
    <p:sldId id="271" r:id="rId4"/>
    <p:sldId id="272" r:id="rId5"/>
    <p:sldId id="273" r:id="rId6"/>
    <p:sldId id="274" r:id="rId7"/>
    <p:sldId id="275" r:id="rId8"/>
    <p:sldId id="276" r:id="rId9"/>
    <p:sldId id="277" r:id="rId1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9DE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2025/1/6</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830997"/>
          </a:xfrm>
          <a:prstGeom prst="rect">
            <a:avLst/>
          </a:prstGeom>
          <a:noFill/>
        </p:spPr>
        <p:txBody>
          <a:bodyPr wrap="none" rtlCol="0">
            <a:spAutoFit/>
          </a:bodyPr>
          <a:lstStyle/>
          <a:p>
            <a:r>
              <a:rPr kumimoji="1" lang="ja-JP" altLang="en-US" sz="2400" b="1" dirty="0">
                <a:solidFill>
                  <a:srgbClr val="FF0000"/>
                </a:solidFill>
              </a:rPr>
              <a:t>エフェクト</a:t>
            </a:r>
            <a:r>
              <a:rPr kumimoji="1" lang="ja-JP" altLang="en-US" sz="2400" dirty="0"/>
              <a:t>とは爆発や衝撃波など、</a:t>
            </a:r>
            <a:r>
              <a:rPr lang="ja-JP" altLang="en-US" sz="2400" b="1" dirty="0">
                <a:solidFill>
                  <a:srgbClr val="FF0000"/>
                </a:solidFill>
              </a:rPr>
              <a:t>ゲームを飾り付ける演出</a:t>
            </a:r>
            <a:r>
              <a:rPr lang="ja-JP" altLang="en-US" sz="2400" dirty="0"/>
              <a:t>になります。</a:t>
            </a:r>
            <a:endParaRPr kumimoji="1" lang="en-US" altLang="ja-JP" sz="2400" dirty="0"/>
          </a:p>
          <a:p>
            <a:r>
              <a:rPr lang="ja-JP" altLang="en-US" sz="2400" dirty="0"/>
              <a:t>エフェクトがあるだけで</a:t>
            </a:r>
            <a:r>
              <a:rPr lang="ja-JP" altLang="en-US" sz="2400" b="1" dirty="0">
                <a:solidFill>
                  <a:srgbClr val="FF0000"/>
                </a:solidFill>
              </a:rPr>
              <a:t>ゲームの見た目は非常によくなります。</a:t>
            </a:r>
            <a:endParaRPr kumimoji="1" lang="en-US" altLang="ja-JP" sz="2400" b="1" dirty="0">
              <a:solidFill>
                <a:srgbClr val="FF0000"/>
              </a:solidFill>
            </a:endParaRPr>
          </a:p>
        </p:txBody>
      </p:sp>
      <p:sp>
        <p:nvSpPr>
          <p:cNvPr id="2" name="爆発: 8 pt 1">
            <a:extLst>
              <a:ext uri="{FF2B5EF4-FFF2-40B4-BE49-F238E27FC236}">
                <a16:creationId xmlns:a16="http://schemas.microsoft.com/office/drawing/2014/main" id="{CF016AF8-F5BD-48EC-BC8D-F7CF4581F035}"/>
              </a:ext>
            </a:extLst>
          </p:cNvPr>
          <p:cNvSpPr/>
          <p:nvPr/>
        </p:nvSpPr>
        <p:spPr>
          <a:xfrm>
            <a:off x="1075764" y="3263152"/>
            <a:ext cx="2635624" cy="1945341"/>
          </a:xfrm>
          <a:prstGeom prst="irregularSeal1">
            <a:avLst/>
          </a:prstGeom>
          <a:solidFill>
            <a:srgbClr val="FFFF00"/>
          </a:solid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星: 4 pt 2">
            <a:extLst>
              <a:ext uri="{FF2B5EF4-FFF2-40B4-BE49-F238E27FC236}">
                <a16:creationId xmlns:a16="http://schemas.microsoft.com/office/drawing/2014/main" id="{F9C21BA6-6853-4127-8771-22B30D9F3146}"/>
              </a:ext>
            </a:extLst>
          </p:cNvPr>
          <p:cNvSpPr/>
          <p:nvPr/>
        </p:nvSpPr>
        <p:spPr>
          <a:xfrm>
            <a:off x="6580094" y="3281082"/>
            <a:ext cx="277906" cy="265393"/>
          </a:xfrm>
          <a:prstGeom prst="star4">
            <a:avLst/>
          </a:prstGeom>
          <a:solidFill>
            <a:srgbClr val="FFFF00"/>
          </a:solidFill>
          <a:ln>
            <a:solidFill>
              <a:srgbClr val="C9DE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星: 4 pt 8">
            <a:extLst>
              <a:ext uri="{FF2B5EF4-FFF2-40B4-BE49-F238E27FC236}">
                <a16:creationId xmlns:a16="http://schemas.microsoft.com/office/drawing/2014/main" id="{E48184AB-F3AC-4F7C-A372-B738E9807ACE}"/>
              </a:ext>
            </a:extLst>
          </p:cNvPr>
          <p:cNvSpPr/>
          <p:nvPr/>
        </p:nvSpPr>
        <p:spPr>
          <a:xfrm>
            <a:off x="6302188" y="3519170"/>
            <a:ext cx="277906" cy="265393"/>
          </a:xfrm>
          <a:prstGeom prst="star4">
            <a:avLst/>
          </a:prstGeom>
          <a:solidFill>
            <a:srgbClr val="FFFF00"/>
          </a:solidFill>
          <a:ln>
            <a:solidFill>
              <a:srgbClr val="C9DE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星: 4 pt 9">
            <a:extLst>
              <a:ext uri="{FF2B5EF4-FFF2-40B4-BE49-F238E27FC236}">
                <a16:creationId xmlns:a16="http://schemas.microsoft.com/office/drawing/2014/main" id="{9F518C7A-3FEB-4154-9537-4B417ABDFDBD}"/>
              </a:ext>
            </a:extLst>
          </p:cNvPr>
          <p:cNvSpPr/>
          <p:nvPr/>
        </p:nvSpPr>
        <p:spPr>
          <a:xfrm>
            <a:off x="6719047" y="3707802"/>
            <a:ext cx="277906" cy="265393"/>
          </a:xfrm>
          <a:prstGeom prst="star4">
            <a:avLst/>
          </a:prstGeom>
          <a:solidFill>
            <a:srgbClr val="FFFF00"/>
          </a:solidFill>
          <a:ln>
            <a:solidFill>
              <a:srgbClr val="C9DE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星: 4 pt 12">
            <a:extLst>
              <a:ext uri="{FF2B5EF4-FFF2-40B4-BE49-F238E27FC236}">
                <a16:creationId xmlns:a16="http://schemas.microsoft.com/office/drawing/2014/main" id="{6C760A18-2416-4438-9B98-6F5475F4EF4D}"/>
              </a:ext>
            </a:extLst>
          </p:cNvPr>
          <p:cNvSpPr/>
          <p:nvPr/>
        </p:nvSpPr>
        <p:spPr>
          <a:xfrm>
            <a:off x="6349701" y="3973195"/>
            <a:ext cx="277906" cy="265393"/>
          </a:xfrm>
          <a:prstGeom prst="star4">
            <a:avLst/>
          </a:prstGeom>
          <a:solidFill>
            <a:srgbClr val="FFFF00"/>
          </a:solidFill>
          <a:ln>
            <a:solidFill>
              <a:srgbClr val="C9DE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星: 4 pt 13">
            <a:extLst>
              <a:ext uri="{FF2B5EF4-FFF2-40B4-BE49-F238E27FC236}">
                <a16:creationId xmlns:a16="http://schemas.microsoft.com/office/drawing/2014/main" id="{8A3DA476-5983-46EC-AB3F-32464B021C72}"/>
              </a:ext>
            </a:extLst>
          </p:cNvPr>
          <p:cNvSpPr/>
          <p:nvPr/>
        </p:nvSpPr>
        <p:spPr>
          <a:xfrm>
            <a:off x="7044466" y="4235822"/>
            <a:ext cx="277906" cy="265393"/>
          </a:xfrm>
          <a:prstGeom prst="star4">
            <a:avLst/>
          </a:prstGeom>
          <a:solidFill>
            <a:srgbClr val="FFFF00"/>
          </a:solidFill>
          <a:ln>
            <a:solidFill>
              <a:srgbClr val="C9DE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星: 4 pt 14">
            <a:extLst>
              <a:ext uri="{FF2B5EF4-FFF2-40B4-BE49-F238E27FC236}">
                <a16:creationId xmlns:a16="http://schemas.microsoft.com/office/drawing/2014/main" id="{316CB711-B93B-4C60-98F1-6137957043EB}"/>
              </a:ext>
            </a:extLst>
          </p:cNvPr>
          <p:cNvSpPr/>
          <p:nvPr/>
        </p:nvSpPr>
        <p:spPr>
          <a:xfrm>
            <a:off x="7183419" y="3442409"/>
            <a:ext cx="277906" cy="265393"/>
          </a:xfrm>
          <a:prstGeom prst="star4">
            <a:avLst/>
          </a:prstGeom>
          <a:solidFill>
            <a:srgbClr val="FFFF00"/>
          </a:solidFill>
          <a:ln>
            <a:solidFill>
              <a:srgbClr val="C9DE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572399" cy="1200329"/>
          </a:xfrm>
          <a:prstGeom prst="rect">
            <a:avLst/>
          </a:prstGeom>
          <a:noFill/>
        </p:spPr>
        <p:txBody>
          <a:bodyPr wrap="none" rtlCol="0">
            <a:spAutoFit/>
          </a:bodyPr>
          <a:lstStyle/>
          <a:p>
            <a:r>
              <a:rPr kumimoji="1" lang="ja-JP" altLang="en-US" sz="2400" dirty="0"/>
              <a:t>エフェクトにはいくつか種類がありますが、</a:t>
            </a:r>
            <a:endParaRPr kumimoji="1" lang="en-US" altLang="ja-JP" sz="2400" dirty="0"/>
          </a:p>
          <a:p>
            <a:r>
              <a:rPr lang="ja-JP" altLang="en-US" sz="2400" dirty="0"/>
              <a:t>もっとも簡単なものは</a:t>
            </a:r>
            <a:r>
              <a:rPr lang="ja-JP" altLang="en-US" sz="2400" b="1" dirty="0">
                <a:solidFill>
                  <a:srgbClr val="FF0000"/>
                </a:solidFill>
              </a:rPr>
              <a:t>パラパラ漫画</a:t>
            </a:r>
            <a:r>
              <a:rPr lang="ja-JP" altLang="en-US" sz="2400" dirty="0"/>
              <a:t>のように</a:t>
            </a:r>
            <a:r>
              <a:rPr lang="ja-JP" altLang="en-US" sz="2400" b="1" dirty="0">
                <a:solidFill>
                  <a:srgbClr val="FF0000"/>
                </a:solidFill>
              </a:rPr>
              <a:t>アニメーションするエフェクト</a:t>
            </a:r>
            <a:r>
              <a:rPr lang="ja-JP" altLang="en-US" sz="2400" dirty="0"/>
              <a:t>です。</a:t>
            </a:r>
            <a:endParaRPr lang="en-US" altLang="ja-JP" sz="2400" dirty="0"/>
          </a:p>
          <a:p>
            <a:r>
              <a:rPr kumimoji="1" lang="ja-JP" altLang="en-US" sz="2400" dirty="0"/>
              <a:t>古くから使われている王道のエフェクトになります。</a:t>
            </a:r>
            <a:endParaRPr kumimoji="1" lang="en-US" altLang="ja-JP" sz="2400" dirty="0"/>
          </a:p>
        </p:txBody>
      </p:sp>
    </p:spTree>
    <p:extLst>
      <p:ext uri="{BB962C8B-B14F-4D97-AF65-F5344CB8AC3E}">
        <p14:creationId xmlns:p14="http://schemas.microsoft.com/office/powerpoint/2010/main" val="33027864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03F67D84-33FC-4D39-9895-1FCC848F2313}"/>
              </a:ext>
            </a:extLst>
          </p:cNvPr>
          <p:cNvSpPr/>
          <p:nvPr/>
        </p:nvSpPr>
        <p:spPr>
          <a:xfrm>
            <a:off x="567543" y="2187126"/>
            <a:ext cx="9971980" cy="83099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830997"/>
          </a:xfrm>
          <a:prstGeom prst="rect">
            <a:avLst/>
          </a:prstGeom>
          <a:noFill/>
        </p:spPr>
        <p:txBody>
          <a:bodyPr wrap="none" rtlCol="0">
            <a:spAutoFit/>
          </a:bodyPr>
          <a:lstStyle/>
          <a:p>
            <a:r>
              <a:rPr kumimoji="1" lang="ja-JP" altLang="en-US" sz="2400" dirty="0"/>
              <a:t>アニメーションエフェクトを作る場合は、</a:t>
            </a:r>
            <a:endParaRPr kumimoji="1" lang="en-US" altLang="ja-JP" sz="2400" dirty="0"/>
          </a:p>
          <a:p>
            <a:r>
              <a:rPr lang="ja-JP" altLang="en-US" sz="2400" dirty="0"/>
              <a:t>以下のようにパラパラ漫画になるように画像を用意する必要があります。</a:t>
            </a:r>
            <a:endParaRPr kumimoji="1" lang="en-US" altLang="ja-JP" sz="2400" dirty="0"/>
          </a:p>
        </p:txBody>
      </p:sp>
      <p:pic>
        <p:nvPicPr>
          <p:cNvPr id="3" name="図 2">
            <a:extLst>
              <a:ext uri="{FF2B5EF4-FFF2-40B4-BE49-F238E27FC236}">
                <a16:creationId xmlns:a16="http://schemas.microsoft.com/office/drawing/2014/main" id="{8F03ACE7-7701-401D-9E17-47290BBE39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2187126"/>
            <a:ext cx="9971980" cy="830997"/>
          </a:xfrm>
          <a:prstGeom prst="rect">
            <a:avLst/>
          </a:prstGeom>
        </p:spPr>
      </p:pic>
    </p:spTree>
    <p:extLst>
      <p:ext uri="{BB962C8B-B14F-4D97-AF65-F5344CB8AC3E}">
        <p14:creationId xmlns:p14="http://schemas.microsoft.com/office/powerpoint/2010/main" val="600678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1CEF9EC3-8D94-42EA-BB9D-C7F06202DE69}"/>
              </a:ext>
            </a:extLst>
          </p:cNvPr>
          <p:cNvSpPr/>
          <p:nvPr/>
        </p:nvSpPr>
        <p:spPr>
          <a:xfrm>
            <a:off x="567543" y="2187126"/>
            <a:ext cx="9971980" cy="83099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56846" cy="461665"/>
          </a:xfrm>
          <a:prstGeom prst="rect">
            <a:avLst/>
          </a:prstGeom>
          <a:noFill/>
        </p:spPr>
        <p:txBody>
          <a:bodyPr wrap="none" rtlCol="0">
            <a:spAutoFit/>
          </a:bodyPr>
          <a:lstStyle/>
          <a:p>
            <a:r>
              <a:rPr kumimoji="1" lang="ja-JP" altLang="en-US" sz="2400" dirty="0"/>
              <a:t>そしてプログラム側で左から順番に、１コマずつ表示する仕組みを作ります。</a:t>
            </a:r>
            <a:endParaRPr kumimoji="1" lang="en-US" altLang="ja-JP" sz="2400" dirty="0"/>
          </a:p>
        </p:txBody>
      </p:sp>
      <p:pic>
        <p:nvPicPr>
          <p:cNvPr id="3" name="図 2">
            <a:extLst>
              <a:ext uri="{FF2B5EF4-FFF2-40B4-BE49-F238E27FC236}">
                <a16:creationId xmlns:a16="http://schemas.microsoft.com/office/drawing/2014/main" id="{8F03ACE7-7701-401D-9E17-47290BBE39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2187126"/>
            <a:ext cx="9971980" cy="830997"/>
          </a:xfrm>
          <a:prstGeom prst="rect">
            <a:avLst/>
          </a:prstGeom>
        </p:spPr>
      </p:pic>
      <p:sp>
        <p:nvSpPr>
          <p:cNvPr id="2" name="矢印: 右 1">
            <a:extLst>
              <a:ext uri="{FF2B5EF4-FFF2-40B4-BE49-F238E27FC236}">
                <a16:creationId xmlns:a16="http://schemas.microsoft.com/office/drawing/2014/main" id="{085930DD-E685-4BB0-AD55-CC992CBEF4AE}"/>
              </a:ext>
            </a:extLst>
          </p:cNvPr>
          <p:cNvSpPr/>
          <p:nvPr/>
        </p:nvSpPr>
        <p:spPr>
          <a:xfrm>
            <a:off x="714375" y="3705225"/>
            <a:ext cx="9825147" cy="3810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5BD9762-AF10-4CC7-93D2-E0A4DFEA5E6F}"/>
              </a:ext>
            </a:extLst>
          </p:cNvPr>
          <p:cNvSpPr txBox="1"/>
          <p:nvPr/>
        </p:nvSpPr>
        <p:spPr>
          <a:xfrm>
            <a:off x="567542" y="3121428"/>
            <a:ext cx="6393097" cy="461665"/>
          </a:xfrm>
          <a:prstGeom prst="rect">
            <a:avLst/>
          </a:prstGeom>
          <a:noFill/>
        </p:spPr>
        <p:txBody>
          <a:bodyPr wrap="none" rtlCol="0">
            <a:spAutoFit/>
          </a:bodyPr>
          <a:lstStyle/>
          <a:p>
            <a:r>
              <a:rPr kumimoji="1" lang="ja-JP" altLang="en-US" sz="2400" dirty="0"/>
              <a:t>  １      ２      ３      ４      ５      ６・・・       </a:t>
            </a:r>
            <a:endParaRPr kumimoji="1" lang="en-US" altLang="ja-JP" sz="2400" dirty="0"/>
          </a:p>
        </p:txBody>
      </p:sp>
    </p:spTree>
    <p:extLst>
      <p:ext uri="{BB962C8B-B14F-4D97-AF65-F5344CB8AC3E}">
        <p14:creationId xmlns:p14="http://schemas.microsoft.com/office/powerpoint/2010/main" val="30259872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42008" cy="830997"/>
          </a:xfrm>
          <a:prstGeom prst="rect">
            <a:avLst/>
          </a:prstGeom>
          <a:noFill/>
        </p:spPr>
        <p:txBody>
          <a:bodyPr wrap="none" rtlCol="0">
            <a:spAutoFit/>
          </a:bodyPr>
          <a:lstStyle/>
          <a:p>
            <a:r>
              <a:rPr kumimoji="1" lang="ja-JP" altLang="en-US" sz="2400" dirty="0"/>
              <a:t>配布したプロジェクトを見ていきます。</a:t>
            </a:r>
            <a:endParaRPr kumimoji="1" lang="en-US" altLang="ja-JP" sz="2400" dirty="0"/>
          </a:p>
          <a:p>
            <a:r>
              <a:rPr kumimoji="1" lang="en-US" altLang="ja-JP" sz="2400" b="1" dirty="0">
                <a:solidFill>
                  <a:srgbClr val="FF0000"/>
                </a:solidFill>
              </a:rPr>
              <a:t>Anim</a:t>
            </a:r>
            <a:r>
              <a:rPr lang="en-US" altLang="ja-JP" sz="2400" b="1" dirty="0">
                <a:solidFill>
                  <a:srgbClr val="FF0000"/>
                </a:solidFill>
              </a:rPr>
              <a:t>ationEffect.cpp</a:t>
            </a:r>
            <a:r>
              <a:rPr lang="ja-JP" altLang="en-US" sz="2400" dirty="0"/>
              <a:t>の</a:t>
            </a:r>
            <a:r>
              <a:rPr lang="en-US" altLang="ja-JP" sz="2400" b="1" dirty="0" err="1">
                <a:solidFill>
                  <a:srgbClr val="0070C0"/>
                </a:solidFill>
              </a:rPr>
              <a:t>StepAnimationEffect</a:t>
            </a:r>
            <a:r>
              <a:rPr lang="ja-JP" altLang="en-US" sz="2400" b="1" dirty="0">
                <a:solidFill>
                  <a:srgbClr val="0070C0"/>
                </a:solidFill>
              </a:rPr>
              <a:t>関数</a:t>
            </a:r>
            <a:r>
              <a:rPr lang="ja-JP" altLang="en-US" sz="2400" dirty="0"/>
              <a:t>を見てみます。</a:t>
            </a:r>
            <a:endParaRPr kumimoji="1" lang="en-US" altLang="ja-JP" sz="2400" dirty="0"/>
          </a:p>
        </p:txBody>
      </p:sp>
      <p:pic>
        <p:nvPicPr>
          <p:cNvPr id="9" name="図 8">
            <a:extLst>
              <a:ext uri="{FF2B5EF4-FFF2-40B4-BE49-F238E27FC236}">
                <a16:creationId xmlns:a16="http://schemas.microsoft.com/office/drawing/2014/main" id="{ED786600-8948-443B-93A4-2E728161E6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2187126"/>
            <a:ext cx="4946077" cy="4337499"/>
          </a:xfrm>
          <a:prstGeom prst="rect">
            <a:avLst/>
          </a:prstGeom>
        </p:spPr>
      </p:pic>
    </p:spTree>
    <p:extLst>
      <p:ext uri="{BB962C8B-B14F-4D97-AF65-F5344CB8AC3E}">
        <p14:creationId xmlns:p14="http://schemas.microsoft.com/office/powerpoint/2010/main" val="6670931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93715" cy="830997"/>
          </a:xfrm>
          <a:prstGeom prst="rect">
            <a:avLst/>
          </a:prstGeom>
          <a:noFill/>
        </p:spPr>
        <p:txBody>
          <a:bodyPr wrap="none" rtlCol="0">
            <a:spAutoFit/>
          </a:bodyPr>
          <a:lstStyle/>
          <a:p>
            <a:r>
              <a:rPr kumimoji="1" lang="ja-JP" altLang="en-US" sz="2400" dirty="0"/>
              <a:t>このように</a:t>
            </a:r>
            <a:r>
              <a:rPr kumimoji="1" lang="en-US" altLang="ja-JP" sz="2400" b="1" dirty="0">
                <a:solidFill>
                  <a:srgbClr val="0070C0"/>
                </a:solidFill>
              </a:rPr>
              <a:t>Step</a:t>
            </a:r>
            <a:r>
              <a:rPr kumimoji="1" lang="ja-JP" altLang="en-US" sz="2400" b="1" dirty="0">
                <a:solidFill>
                  <a:srgbClr val="0070C0"/>
                </a:solidFill>
              </a:rPr>
              <a:t>関数</a:t>
            </a:r>
            <a:r>
              <a:rPr kumimoji="1" lang="ja-JP" altLang="en-US" sz="2400" dirty="0"/>
              <a:t>で一定時間たったら次のコマに進む処理ができています。</a:t>
            </a:r>
            <a:endParaRPr kumimoji="1" lang="en-US" altLang="ja-JP" sz="2400" dirty="0"/>
          </a:p>
          <a:p>
            <a:r>
              <a:rPr kumimoji="1" lang="ja-JP" altLang="en-US" sz="2400" b="1" dirty="0">
                <a:solidFill>
                  <a:srgbClr val="FF0000"/>
                </a:solidFill>
              </a:rPr>
              <a:t>一定時間で次へ</a:t>
            </a:r>
            <a:r>
              <a:rPr kumimoji="1" lang="ja-JP" altLang="en-US" sz="2400" dirty="0"/>
              <a:t>、のような処理はよく使いますので覚えておきましょう。</a:t>
            </a:r>
            <a:endParaRPr kumimoji="1" lang="en-US" altLang="ja-JP" sz="2400" dirty="0"/>
          </a:p>
        </p:txBody>
      </p:sp>
      <p:pic>
        <p:nvPicPr>
          <p:cNvPr id="9" name="図 8">
            <a:extLst>
              <a:ext uri="{FF2B5EF4-FFF2-40B4-BE49-F238E27FC236}">
                <a16:creationId xmlns:a16="http://schemas.microsoft.com/office/drawing/2014/main" id="{ED786600-8948-443B-93A4-2E728161E6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2187126"/>
            <a:ext cx="4946077" cy="4337499"/>
          </a:xfrm>
          <a:prstGeom prst="rect">
            <a:avLst/>
          </a:prstGeom>
        </p:spPr>
      </p:pic>
    </p:spTree>
    <p:extLst>
      <p:ext uri="{BB962C8B-B14F-4D97-AF65-F5344CB8AC3E}">
        <p14:creationId xmlns:p14="http://schemas.microsoft.com/office/powerpoint/2010/main" val="11649175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1D756170-5A94-4B9F-8B5B-0A181CBA1EAC}"/>
              </a:ext>
            </a:extLst>
          </p:cNvPr>
          <p:cNvSpPr/>
          <p:nvPr/>
        </p:nvSpPr>
        <p:spPr>
          <a:xfrm>
            <a:off x="567542" y="2187126"/>
            <a:ext cx="9971979" cy="83099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kumimoji="1" lang="ja-JP" altLang="en-US" sz="2400" dirty="0"/>
              <a:t>コマを進める処理はできていますので、残りは描画だけです。</a:t>
            </a:r>
            <a:endParaRPr kumimoji="1" lang="en-US" altLang="ja-JP" sz="2400" dirty="0"/>
          </a:p>
          <a:p>
            <a:r>
              <a:rPr lang="ja-JP" altLang="en-US" sz="2400" dirty="0"/>
              <a:t>現在のコマ数から画像の１部分を描画する必要があります。</a:t>
            </a:r>
            <a:endParaRPr kumimoji="1" lang="en-US" altLang="ja-JP" sz="2400" dirty="0"/>
          </a:p>
        </p:txBody>
      </p:sp>
      <p:pic>
        <p:nvPicPr>
          <p:cNvPr id="5" name="図 4">
            <a:extLst>
              <a:ext uri="{FF2B5EF4-FFF2-40B4-BE49-F238E27FC236}">
                <a16:creationId xmlns:a16="http://schemas.microsoft.com/office/drawing/2014/main" id="{31B97F2B-476D-4B63-BC37-A21F94820DA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2187126"/>
            <a:ext cx="9971980" cy="830997"/>
          </a:xfrm>
          <a:prstGeom prst="rect">
            <a:avLst/>
          </a:prstGeom>
        </p:spPr>
      </p:pic>
      <p:sp>
        <p:nvSpPr>
          <p:cNvPr id="3" name="正方形/長方形 2">
            <a:extLst>
              <a:ext uri="{FF2B5EF4-FFF2-40B4-BE49-F238E27FC236}">
                <a16:creationId xmlns:a16="http://schemas.microsoft.com/office/drawing/2014/main" id="{3D793D14-8D4C-4E95-802B-87512EE01759}"/>
              </a:ext>
            </a:extLst>
          </p:cNvPr>
          <p:cNvSpPr/>
          <p:nvPr/>
        </p:nvSpPr>
        <p:spPr>
          <a:xfrm>
            <a:off x="567542" y="2187127"/>
            <a:ext cx="851684" cy="83099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89C913DB-8375-4E15-8BA5-EC1E2F80FF47}"/>
              </a:ext>
            </a:extLst>
          </p:cNvPr>
          <p:cNvSpPr txBox="1"/>
          <p:nvPr/>
        </p:nvSpPr>
        <p:spPr>
          <a:xfrm>
            <a:off x="462767" y="3018123"/>
            <a:ext cx="2646878" cy="461665"/>
          </a:xfrm>
          <a:prstGeom prst="rect">
            <a:avLst/>
          </a:prstGeom>
          <a:noFill/>
        </p:spPr>
        <p:txBody>
          <a:bodyPr wrap="none" rtlCol="0">
            <a:spAutoFit/>
          </a:bodyPr>
          <a:lstStyle/>
          <a:p>
            <a:r>
              <a:rPr kumimoji="1" lang="ja-JP" altLang="en-US" sz="2400" dirty="0"/>
              <a:t>ここだけ描画！！</a:t>
            </a:r>
            <a:endParaRPr kumimoji="1" lang="en-US" altLang="ja-JP" sz="2400" dirty="0"/>
          </a:p>
        </p:txBody>
      </p:sp>
      <p:sp>
        <p:nvSpPr>
          <p:cNvPr id="10" name="テキスト ボックス 9">
            <a:extLst>
              <a:ext uri="{FF2B5EF4-FFF2-40B4-BE49-F238E27FC236}">
                <a16:creationId xmlns:a16="http://schemas.microsoft.com/office/drawing/2014/main" id="{5052B21D-D0AF-4BBB-91D6-B4783216D4B3}"/>
              </a:ext>
            </a:extLst>
          </p:cNvPr>
          <p:cNvSpPr txBox="1"/>
          <p:nvPr/>
        </p:nvSpPr>
        <p:spPr>
          <a:xfrm>
            <a:off x="462767" y="3619488"/>
            <a:ext cx="8940268" cy="461665"/>
          </a:xfrm>
          <a:prstGeom prst="rect">
            <a:avLst/>
          </a:prstGeom>
          <a:noFill/>
        </p:spPr>
        <p:txBody>
          <a:bodyPr wrap="none" rtlCol="0">
            <a:spAutoFit/>
          </a:bodyPr>
          <a:lstStyle/>
          <a:p>
            <a:r>
              <a:rPr lang="ja-JP" altLang="en-US" sz="2400" dirty="0"/>
              <a:t>このような場合は</a:t>
            </a:r>
            <a:r>
              <a:rPr lang="en-US" altLang="ja-JP" sz="2400" dirty="0" err="1"/>
              <a:t>DxLib</a:t>
            </a:r>
            <a:r>
              <a:rPr lang="ja-JP" altLang="en-US" sz="2400" dirty="0"/>
              <a:t>の</a:t>
            </a:r>
            <a:r>
              <a:rPr lang="en-US" altLang="ja-JP" sz="2400" b="1" dirty="0" err="1">
                <a:solidFill>
                  <a:srgbClr val="FF0000"/>
                </a:solidFill>
              </a:rPr>
              <a:t>DrawRectGraph</a:t>
            </a:r>
            <a:r>
              <a:rPr lang="ja-JP" altLang="en-US" sz="2400" b="1" dirty="0">
                <a:solidFill>
                  <a:srgbClr val="FF0000"/>
                </a:solidFill>
              </a:rPr>
              <a:t>関数</a:t>
            </a:r>
            <a:r>
              <a:rPr lang="ja-JP" altLang="en-US" sz="2400" dirty="0"/>
              <a:t>を使用します。</a:t>
            </a:r>
            <a:endParaRPr kumimoji="1" lang="en-US" altLang="ja-JP" sz="2400" dirty="0"/>
          </a:p>
        </p:txBody>
      </p:sp>
    </p:spTree>
    <p:extLst>
      <p:ext uri="{BB962C8B-B14F-4D97-AF65-F5344CB8AC3E}">
        <p14:creationId xmlns:p14="http://schemas.microsoft.com/office/powerpoint/2010/main" val="15397859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040162" cy="461665"/>
          </a:xfrm>
          <a:prstGeom prst="rect">
            <a:avLst/>
          </a:prstGeom>
          <a:noFill/>
        </p:spPr>
        <p:txBody>
          <a:bodyPr wrap="none" rtlCol="0">
            <a:spAutoFit/>
          </a:bodyPr>
          <a:lstStyle/>
          <a:p>
            <a:r>
              <a:rPr kumimoji="1" lang="en-US" altLang="ja-JP" sz="2400" b="1" dirty="0" err="1">
                <a:solidFill>
                  <a:srgbClr val="0070C0"/>
                </a:solidFill>
              </a:rPr>
              <a:t>DrawRectGraph</a:t>
            </a:r>
            <a:r>
              <a:rPr kumimoji="1" lang="ja-JP" altLang="en-US" sz="2400" b="1" dirty="0">
                <a:solidFill>
                  <a:srgbClr val="0070C0"/>
                </a:solidFill>
              </a:rPr>
              <a:t>関数</a:t>
            </a:r>
            <a:r>
              <a:rPr kumimoji="1" lang="ja-JP" altLang="en-US" sz="2400" dirty="0"/>
              <a:t>の詳細です。</a:t>
            </a:r>
            <a:endParaRPr kumimoji="1" lang="en-US" altLang="ja-JP" sz="2400" dirty="0"/>
          </a:p>
        </p:txBody>
      </p:sp>
      <p:pic>
        <p:nvPicPr>
          <p:cNvPr id="9" name="図 8">
            <a:extLst>
              <a:ext uri="{FF2B5EF4-FFF2-40B4-BE49-F238E27FC236}">
                <a16:creationId xmlns:a16="http://schemas.microsoft.com/office/drawing/2014/main" id="{29E66903-D367-4432-A3B3-AFAA1BBD31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3244" y="1817794"/>
            <a:ext cx="9926435" cy="4048690"/>
          </a:xfrm>
          <a:prstGeom prst="rect">
            <a:avLst/>
          </a:prstGeom>
        </p:spPr>
      </p:pic>
    </p:spTree>
    <p:extLst>
      <p:ext uri="{BB962C8B-B14F-4D97-AF65-F5344CB8AC3E}">
        <p14:creationId xmlns:p14="http://schemas.microsoft.com/office/powerpoint/2010/main" val="17350536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図 10">
            <a:extLst>
              <a:ext uri="{FF2B5EF4-FFF2-40B4-BE49-F238E27FC236}">
                <a16:creationId xmlns:a16="http://schemas.microsoft.com/office/drawing/2014/main" id="{46427829-EF5D-4406-B38D-34BA2F6B0B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2187126"/>
            <a:ext cx="7061489" cy="3991934"/>
          </a:xfrm>
          <a:prstGeom prst="rect">
            <a:avLst/>
          </a:prstGeom>
        </p:spPr>
      </p:pic>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647974" cy="830997"/>
          </a:xfrm>
          <a:prstGeom prst="rect">
            <a:avLst/>
          </a:prstGeom>
          <a:noFill/>
        </p:spPr>
        <p:txBody>
          <a:bodyPr wrap="none" rtlCol="0">
            <a:spAutoFit/>
          </a:bodyPr>
          <a:lstStyle/>
          <a:p>
            <a:r>
              <a:rPr kumimoji="1" lang="ja-JP" altLang="en-US" sz="2400" dirty="0"/>
              <a:t>以上を踏まえて描画処理を完成させましょう。</a:t>
            </a:r>
            <a:endParaRPr kumimoji="1" lang="en-US" altLang="ja-JP" sz="2400" dirty="0"/>
          </a:p>
          <a:p>
            <a:r>
              <a:rPr lang="ja-JP" altLang="en-US" sz="2400" dirty="0"/>
              <a:t>コメントをヒントに処理を書いてみましょう。</a:t>
            </a:r>
            <a:endParaRPr kumimoji="1" lang="en-US" altLang="ja-JP" sz="2400" dirty="0"/>
          </a:p>
        </p:txBody>
      </p:sp>
      <p:sp>
        <p:nvSpPr>
          <p:cNvPr id="5" name="正方形/長方形 4">
            <a:extLst>
              <a:ext uri="{FF2B5EF4-FFF2-40B4-BE49-F238E27FC236}">
                <a16:creationId xmlns:a16="http://schemas.microsoft.com/office/drawing/2014/main" id="{7DDE0847-B4EC-4D86-867E-59634BB358BF}"/>
              </a:ext>
            </a:extLst>
          </p:cNvPr>
          <p:cNvSpPr/>
          <p:nvPr/>
        </p:nvSpPr>
        <p:spPr>
          <a:xfrm>
            <a:off x="2314575" y="4754836"/>
            <a:ext cx="4210050" cy="3429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7B3CD427-0DBD-45C3-B3CB-CE83951AD371}"/>
              </a:ext>
            </a:extLst>
          </p:cNvPr>
          <p:cNvSpPr/>
          <p:nvPr/>
        </p:nvSpPr>
        <p:spPr>
          <a:xfrm>
            <a:off x="2314575" y="5457021"/>
            <a:ext cx="4210050" cy="3429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492669F9-2A36-4950-B573-489059511B97}"/>
              </a:ext>
            </a:extLst>
          </p:cNvPr>
          <p:cNvSpPr txBox="1"/>
          <p:nvPr/>
        </p:nvSpPr>
        <p:spPr>
          <a:xfrm>
            <a:off x="567542" y="6179060"/>
            <a:ext cx="7712368" cy="461665"/>
          </a:xfrm>
          <a:prstGeom prst="rect">
            <a:avLst/>
          </a:prstGeom>
          <a:noFill/>
        </p:spPr>
        <p:txBody>
          <a:bodyPr wrap="none" rtlCol="0">
            <a:spAutoFit/>
          </a:bodyPr>
          <a:lstStyle/>
          <a:p>
            <a:r>
              <a:rPr kumimoji="1" lang="en-US" altLang="ja-JP" sz="2400" dirty="0"/>
              <a:t>※</a:t>
            </a:r>
            <a:r>
              <a:rPr kumimoji="1" lang="ja-JP" altLang="en-US" sz="2400" b="1" dirty="0">
                <a:solidFill>
                  <a:srgbClr val="FF0000"/>
                </a:solidFill>
              </a:rPr>
              <a:t>描画する位置</a:t>
            </a:r>
            <a:r>
              <a:rPr kumimoji="1" lang="ja-JP" altLang="en-US" sz="2400" dirty="0"/>
              <a:t>は</a:t>
            </a:r>
            <a:r>
              <a:rPr kumimoji="1" lang="en-US" altLang="ja-JP" sz="2400" b="1" dirty="0">
                <a:solidFill>
                  <a:srgbClr val="FF0000"/>
                </a:solidFill>
              </a:rPr>
              <a:t>effect-&gt;</a:t>
            </a:r>
            <a:r>
              <a:rPr kumimoji="1" lang="en-US" altLang="ja-JP" sz="2400" b="1" dirty="0" err="1">
                <a:solidFill>
                  <a:srgbClr val="FF0000"/>
                </a:solidFill>
              </a:rPr>
              <a:t>posX</a:t>
            </a:r>
            <a:r>
              <a:rPr kumimoji="1" lang="ja-JP" altLang="en-US" sz="2400" dirty="0"/>
              <a:t>のように参照できます</a:t>
            </a:r>
            <a:endParaRPr kumimoji="1" lang="en-US" altLang="ja-JP" sz="2400" dirty="0"/>
          </a:p>
        </p:txBody>
      </p:sp>
    </p:spTree>
    <p:extLst>
      <p:ext uri="{BB962C8B-B14F-4D97-AF65-F5344CB8AC3E}">
        <p14:creationId xmlns:p14="http://schemas.microsoft.com/office/powerpoint/2010/main" val="101714257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580</TotalTime>
  <Words>259</Words>
  <Application>Microsoft Office PowerPoint</Application>
  <PresentationFormat>ワイド画面</PresentationFormat>
  <Paragraphs>30</Paragraphs>
  <Slides>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9</vt:i4>
      </vt:variant>
    </vt:vector>
  </HeadingPairs>
  <TitlesOfParts>
    <vt:vector size="13"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47</cp:revision>
  <dcterms:created xsi:type="dcterms:W3CDTF">2024-08-27T02:15:54Z</dcterms:created>
  <dcterms:modified xsi:type="dcterms:W3CDTF">2025-01-06T04:45:45Z</dcterms:modified>
</cp:coreProperties>
</file>