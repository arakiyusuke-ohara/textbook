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704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パーティクルエフェクトとは、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Emitter</a:t>
            </a:r>
            <a:r>
              <a:rPr lang="ja-JP" altLang="en-US" sz="2400" b="1" dirty="0">
                <a:solidFill>
                  <a:srgbClr val="FF0000"/>
                </a:solidFill>
              </a:rPr>
              <a:t>（エミッター）</a:t>
            </a:r>
            <a:r>
              <a:rPr lang="ja-JP" altLang="en-US" sz="2400" dirty="0"/>
              <a:t>と呼ばれる発射台が、</a:t>
            </a:r>
            <a:r>
              <a:rPr lang="en-US" altLang="ja-JP" sz="2400" b="1" dirty="0">
                <a:solidFill>
                  <a:srgbClr val="FF0000"/>
                </a:solidFill>
              </a:rPr>
              <a:t>Particle</a:t>
            </a:r>
            <a:r>
              <a:rPr lang="ja-JP" altLang="en-US" sz="2400" b="1" dirty="0">
                <a:solidFill>
                  <a:srgbClr val="FF0000"/>
                </a:solidFill>
              </a:rPr>
              <a:t>（パーティクル）</a:t>
            </a:r>
            <a:r>
              <a:rPr lang="ja-JP" altLang="en-US" sz="2400" dirty="0"/>
              <a:t>という、</a:t>
            </a:r>
            <a:endParaRPr lang="en-US" altLang="ja-JP" sz="2400" dirty="0"/>
          </a:p>
          <a:p>
            <a:r>
              <a:rPr lang="ja-JP" altLang="en-US" sz="2400" dirty="0"/>
              <a:t>粒子を放出して表示されるエフェクトです。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ゲームでは、噴水、炎、火花など様々なところで使用されます。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344D6DF-9864-47E9-8EAE-0EB2B0E97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1"/>
            <a:ext cx="2595477" cy="307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72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Unity</a:t>
            </a:r>
            <a:r>
              <a:rPr lang="ja-JP" altLang="en-US" sz="2400" dirty="0"/>
              <a:t>にはパーティクルエフェクト用のオブジェクトが用意されています。</a:t>
            </a:r>
            <a:endParaRPr lang="en-US" altLang="ja-JP" sz="2400" dirty="0"/>
          </a:p>
          <a:p>
            <a:r>
              <a:rPr lang="ja-JP" altLang="en-US" sz="2400" dirty="0"/>
              <a:t>ヒエラルキーから </a:t>
            </a:r>
            <a:r>
              <a:rPr lang="en-US" altLang="ja-JP" sz="2400" b="1" dirty="0">
                <a:solidFill>
                  <a:srgbClr val="FF0000"/>
                </a:solidFill>
              </a:rPr>
              <a:t>Effects &gt; Particle System</a:t>
            </a:r>
            <a:r>
              <a:rPr lang="en-US" altLang="ja-JP" sz="2400" dirty="0"/>
              <a:t> 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3813F8-9C58-48B8-99A7-F087DED98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4867668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BCF65C6-8BEB-4036-9C98-5383DE56378B}"/>
              </a:ext>
            </a:extLst>
          </p:cNvPr>
          <p:cNvSpPr/>
          <p:nvPr/>
        </p:nvSpPr>
        <p:spPr>
          <a:xfrm rot="7732095">
            <a:off x="4327372" y="5267472"/>
            <a:ext cx="473397" cy="32822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34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エフェクト用のオブジェクトがシーンに表示されます。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5CC60B-69B5-4340-8C85-8B27F1FC8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9071514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2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34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オブジェクトを選択して</a:t>
            </a:r>
            <a:r>
              <a:rPr lang="en-US" altLang="ja-JP" sz="2400" dirty="0"/>
              <a:t> inspector </a:t>
            </a:r>
            <a:r>
              <a:rPr lang="ja-JP" altLang="en-US" sz="2400" dirty="0"/>
              <a:t>を見てみましょう。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C9F8A3-2B16-4800-96D1-B00F941F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351128" cy="454825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241368-FA68-49D5-9100-70E57BB44CDD}"/>
              </a:ext>
            </a:extLst>
          </p:cNvPr>
          <p:cNvSpPr txBox="1"/>
          <p:nvPr/>
        </p:nvSpPr>
        <p:spPr>
          <a:xfrm>
            <a:off x="2916903" y="5658160"/>
            <a:ext cx="83920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この通り、パラメータが非常に多く、全て網羅はできません。。</a:t>
            </a:r>
            <a:endParaRPr lang="en-US" altLang="ja-JP" sz="2000" dirty="0"/>
          </a:p>
          <a:p>
            <a:r>
              <a:rPr lang="ja-JP" altLang="en-US" sz="2000" dirty="0"/>
              <a:t>今回は炎のエフェクトを作りながら、重要なところを練習しましょう。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687054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91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エフェクトを作成する際は、</a:t>
            </a:r>
            <a:r>
              <a:rPr lang="en-US" altLang="ja-JP" sz="2400" b="1" dirty="0">
                <a:solidFill>
                  <a:srgbClr val="FF0000"/>
                </a:solidFill>
              </a:rPr>
              <a:t>Shape</a:t>
            </a:r>
            <a:r>
              <a:rPr lang="en-US" altLang="ja-JP" sz="2400" dirty="0"/>
              <a:t> </a:t>
            </a:r>
            <a:r>
              <a:rPr lang="ja-JP" altLang="en-US" sz="2400" dirty="0"/>
              <a:t>から作成することをお勧めします。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7224E30-2D18-4682-A2CE-D0BDA4AB5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311367" cy="478023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78EA8CA-0B96-45D5-9FB5-13E418DEAF7F}"/>
              </a:ext>
            </a:extLst>
          </p:cNvPr>
          <p:cNvSpPr/>
          <p:nvPr/>
        </p:nvSpPr>
        <p:spPr>
          <a:xfrm>
            <a:off x="567541" y="2904564"/>
            <a:ext cx="5008506" cy="36934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FCA9D2-E062-4E8A-B212-2D93936C4EC1}"/>
              </a:ext>
            </a:extLst>
          </p:cNvPr>
          <p:cNvSpPr txBox="1"/>
          <p:nvPr/>
        </p:nvSpPr>
        <p:spPr>
          <a:xfrm>
            <a:off x="5878908" y="6263359"/>
            <a:ext cx="6090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Shape </a:t>
            </a:r>
            <a:r>
              <a:rPr lang="ja-JP" altLang="en-US" sz="2400" dirty="0"/>
              <a:t>は総合的な</a:t>
            </a:r>
            <a:r>
              <a:rPr lang="ja-JP" altLang="en-US" sz="2400" b="1" dirty="0">
                <a:solidFill>
                  <a:srgbClr val="FF0000"/>
                </a:solidFill>
              </a:rPr>
              <a:t>形状</a:t>
            </a:r>
            <a:r>
              <a:rPr lang="ja-JP" altLang="en-US" sz="2400" dirty="0"/>
              <a:t>を調整する項目です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0625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11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Shape</a:t>
            </a:r>
            <a:r>
              <a:rPr lang="ja-JP" altLang="en-US" sz="2400" dirty="0"/>
              <a:t> の項目から基本的な形状を変えられます。</a:t>
            </a:r>
            <a:endParaRPr lang="en-US" altLang="ja-JP" sz="2400" dirty="0"/>
          </a:p>
          <a:p>
            <a:r>
              <a:rPr lang="ja-JP" altLang="en-US" sz="2400" dirty="0"/>
              <a:t>いろいろ確認しながら、今回は「</a:t>
            </a:r>
            <a:r>
              <a:rPr lang="en-US" altLang="ja-JP" sz="2400" b="1" dirty="0">
                <a:solidFill>
                  <a:srgbClr val="FF0000"/>
                </a:solidFill>
              </a:rPr>
              <a:t>Box</a:t>
            </a:r>
            <a:r>
              <a:rPr lang="ja-JP" altLang="en-US" sz="2400" dirty="0"/>
              <a:t>」に設定しましょう。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A412CD6-AA77-4B40-B699-13741B48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16691" cy="3666827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69BAD84-F544-42B5-A837-F87AA481521E}"/>
              </a:ext>
            </a:extLst>
          </p:cNvPr>
          <p:cNvSpPr/>
          <p:nvPr/>
        </p:nvSpPr>
        <p:spPr>
          <a:xfrm rot="13940919">
            <a:off x="3727846" y="2752163"/>
            <a:ext cx="51995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7699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次に、粒の寿命を設定して、あまり長く粒が残らないようにします。</a:t>
            </a:r>
            <a:endParaRPr lang="en-US" altLang="ja-JP" sz="2400" dirty="0"/>
          </a:p>
          <a:p>
            <a:r>
              <a:rPr lang="en-US" altLang="ja-JP" sz="2400" dirty="0"/>
              <a:t>Particle System </a:t>
            </a:r>
            <a:r>
              <a:rPr lang="ja-JP" altLang="en-US" sz="2400" dirty="0"/>
              <a:t>の </a:t>
            </a:r>
            <a:r>
              <a:rPr lang="en-US" altLang="ja-JP" sz="2400" b="1" dirty="0">
                <a:solidFill>
                  <a:srgbClr val="FF0000"/>
                </a:solidFill>
              </a:rPr>
              <a:t>Start Lifetime</a:t>
            </a:r>
            <a:r>
              <a:rPr lang="en-US" altLang="ja-JP" sz="2400" dirty="0"/>
              <a:t> </a:t>
            </a:r>
            <a:r>
              <a:rPr lang="ja-JP" altLang="en-US" sz="2400" dirty="0"/>
              <a:t>を</a:t>
            </a:r>
            <a:r>
              <a:rPr lang="en-US" altLang="ja-JP" sz="2400" dirty="0"/>
              <a:t>1</a:t>
            </a:r>
            <a:r>
              <a:rPr lang="ja-JP" altLang="en-US" sz="2400" dirty="0"/>
              <a:t>にします。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発生した粒は１秒後に消える</a:t>
            </a:r>
            <a:r>
              <a:rPr lang="ja-JP" altLang="en-US" sz="2400" dirty="0"/>
              <a:t>ようになります。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D266A4-EF06-452F-8760-39948425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401180" cy="3446160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D861FBC2-7E8B-4A0B-B65E-7529303FACA1}"/>
              </a:ext>
            </a:extLst>
          </p:cNvPr>
          <p:cNvSpPr/>
          <p:nvPr/>
        </p:nvSpPr>
        <p:spPr>
          <a:xfrm rot="13940919">
            <a:off x="3754739" y="5453312"/>
            <a:ext cx="51995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160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44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次に色を付けていきます。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Color over Lifetime </a:t>
            </a:r>
            <a:r>
              <a:rPr lang="ja-JP" altLang="en-US" sz="2400" dirty="0"/>
              <a:t>にチェックを入れて開きます。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4EEDFED-FE1B-44E9-9611-4881BFB7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9116463" cy="3454445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46D1E24E-740C-45DE-81D1-CF74F65ABFD1}"/>
              </a:ext>
            </a:extLst>
          </p:cNvPr>
          <p:cNvSpPr/>
          <p:nvPr/>
        </p:nvSpPr>
        <p:spPr>
          <a:xfrm rot="13940919">
            <a:off x="1710786" y="4825783"/>
            <a:ext cx="51995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29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カラーバーをクリックすると、下のような画面が開きます。</a:t>
            </a:r>
            <a:endParaRPr lang="en-US" altLang="ja-JP" sz="2400" dirty="0"/>
          </a:p>
          <a:p>
            <a:r>
              <a:rPr lang="ja-JP" altLang="en-US" sz="2400" dirty="0"/>
              <a:t>開いたら、左下のつまみを赤に、右下のつまみを黄色に設定しましょう。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9A59882-BE45-45DF-AC44-DB795C363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367006" cy="317376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0E0C61E-67FF-47BE-8608-31C0791909A3}"/>
              </a:ext>
            </a:extLst>
          </p:cNvPr>
          <p:cNvSpPr txBox="1"/>
          <p:nvPr/>
        </p:nvSpPr>
        <p:spPr>
          <a:xfrm>
            <a:off x="567541" y="5500594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これで徐々に赤から黄色に粒が変色していきます。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上側のつまみは透明度になります。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87897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870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次に、粒を徐々に小さくしていきます。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Size over Lifetime </a:t>
            </a:r>
            <a:r>
              <a:rPr lang="ja-JP" altLang="en-US" sz="2400" dirty="0"/>
              <a:t>にチェックを入れて開きましょう。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98A2BF-167A-4650-9833-E8BAD68F8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8524462" cy="407023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1056A398-81F9-4101-A82E-02BB3DF4E8AD}"/>
              </a:ext>
            </a:extLst>
          </p:cNvPr>
          <p:cNvSpPr/>
          <p:nvPr/>
        </p:nvSpPr>
        <p:spPr>
          <a:xfrm rot="13940919">
            <a:off x="1540457" y="5327806"/>
            <a:ext cx="51995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97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Size </a:t>
            </a:r>
            <a:r>
              <a:rPr lang="ja-JP" altLang="en-US" sz="2400" dirty="0"/>
              <a:t>の枠をクリックすると下にグラフが表示されます。</a:t>
            </a:r>
            <a:endParaRPr lang="en-US" altLang="ja-JP" sz="2400" dirty="0"/>
          </a:p>
          <a:p>
            <a:r>
              <a:rPr lang="ja-JP" altLang="en-US" sz="2400" dirty="0"/>
              <a:t>これは</a:t>
            </a:r>
            <a:r>
              <a:rPr lang="ja-JP" altLang="en-US" sz="2400" b="1" dirty="0">
                <a:solidFill>
                  <a:srgbClr val="FF0000"/>
                </a:solidFill>
              </a:rPr>
              <a:t>大きさをどのように増減させるかを表すグラフ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B8C4D8-E2D0-4182-900A-2F83E172B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047427"/>
            <a:ext cx="3675772" cy="431862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7F9047-8E0E-4225-83BF-EB63E6092E28}"/>
              </a:ext>
            </a:extLst>
          </p:cNvPr>
          <p:cNvSpPr txBox="1"/>
          <p:nvPr/>
        </p:nvSpPr>
        <p:spPr>
          <a:xfrm>
            <a:off x="4243315" y="5528855"/>
            <a:ext cx="4185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色々試してみながら、</a:t>
            </a:r>
            <a:endParaRPr lang="en-US" altLang="ja-JP" sz="2400" dirty="0"/>
          </a:p>
          <a:p>
            <a:r>
              <a:rPr lang="ja-JP" altLang="en-US" sz="2400" dirty="0"/>
              <a:t>左のものを選択しましょう。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9477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次に粒の数を増やします。（正確には粒の生成速度を上げます）</a:t>
            </a:r>
            <a:endParaRPr lang="en-US" altLang="ja-JP" sz="2400" dirty="0"/>
          </a:p>
          <a:p>
            <a:r>
              <a:rPr lang="ja-JP" altLang="en-US" sz="2400" dirty="0"/>
              <a:t>粒は </a:t>
            </a:r>
            <a:r>
              <a:rPr lang="en-US" altLang="ja-JP" sz="2400" dirty="0"/>
              <a:t>Emission </a:t>
            </a:r>
            <a:r>
              <a:rPr lang="ja-JP" altLang="en-US" sz="2400" dirty="0"/>
              <a:t>の </a:t>
            </a:r>
            <a:r>
              <a:rPr lang="en-US" altLang="ja-JP" sz="2400" b="1" dirty="0">
                <a:solidFill>
                  <a:srgbClr val="FF0000"/>
                </a:solidFill>
              </a:rPr>
              <a:t>Rate over Time</a:t>
            </a:r>
            <a:r>
              <a:rPr lang="en-US" altLang="ja-JP" sz="2400" dirty="0"/>
              <a:t> </a:t>
            </a:r>
            <a:r>
              <a:rPr lang="ja-JP" altLang="en-US" sz="2400" dirty="0"/>
              <a:t>で設定できます。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50AB63E-9EEF-4E40-BC84-D98D56FD2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39217" cy="174331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6E958C-57F5-48D6-8CB8-1D794EFA05B5}"/>
              </a:ext>
            </a:extLst>
          </p:cNvPr>
          <p:cNvSpPr txBox="1"/>
          <p:nvPr/>
        </p:nvSpPr>
        <p:spPr>
          <a:xfrm>
            <a:off x="567542" y="4070144"/>
            <a:ext cx="5315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</a:t>
            </a:r>
            <a:r>
              <a:rPr lang="en-US" altLang="ja-JP" sz="2400" dirty="0"/>
              <a:t>100</a:t>
            </a:r>
            <a:r>
              <a:rPr lang="ja-JP" altLang="en-US" sz="2400" dirty="0"/>
              <a:t>で設定します。</a:t>
            </a:r>
            <a:endParaRPr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１秒間に</a:t>
            </a:r>
            <a:r>
              <a:rPr lang="en-US" altLang="ja-JP" sz="2400" b="1" dirty="0">
                <a:solidFill>
                  <a:srgbClr val="FF0000"/>
                </a:solidFill>
              </a:rPr>
              <a:t>100</a:t>
            </a:r>
            <a:r>
              <a:rPr lang="ja-JP" altLang="en-US" sz="2400" b="1" dirty="0">
                <a:solidFill>
                  <a:srgbClr val="FF0000"/>
                </a:solidFill>
              </a:rPr>
              <a:t>粒</a:t>
            </a:r>
            <a:r>
              <a:rPr lang="ja-JP" altLang="en-US" sz="2400" dirty="0"/>
              <a:t>生成されます。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24590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2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最後に粒の速度を少し遅くします。</a:t>
            </a:r>
            <a:r>
              <a:rPr lang="en-US" altLang="ja-JP" sz="2400" dirty="0"/>
              <a:t>Start Speed </a:t>
            </a:r>
            <a:r>
              <a:rPr lang="ja-JP" altLang="en-US" sz="2400" dirty="0"/>
              <a:t>を</a:t>
            </a:r>
            <a:r>
              <a:rPr lang="en-US" altLang="ja-JP" sz="2400" dirty="0"/>
              <a:t>2</a:t>
            </a:r>
            <a:r>
              <a:rPr lang="ja-JP" altLang="en-US" sz="2400" dirty="0"/>
              <a:t>に変更しましょう。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FD4445-7B14-4C66-8135-F68576B82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824015" cy="2745241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D85AAF7B-C8E7-49A5-B145-C10638D9AB07}"/>
              </a:ext>
            </a:extLst>
          </p:cNvPr>
          <p:cNvSpPr/>
          <p:nvPr/>
        </p:nvSpPr>
        <p:spPr>
          <a:xfrm rot="13940919">
            <a:off x="2768621" y="3956206"/>
            <a:ext cx="519953" cy="37651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F96B31-9130-4A0F-AEBB-E5FB40DB4D0E}"/>
              </a:ext>
            </a:extLst>
          </p:cNvPr>
          <p:cNvSpPr txBox="1"/>
          <p:nvPr/>
        </p:nvSpPr>
        <p:spPr>
          <a:xfrm>
            <a:off x="567542" y="4702735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かなり炎に見えてきたと思います。</a:t>
            </a:r>
            <a:endParaRPr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9BB407E-3644-4178-A09C-BE654BAA7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979" y="1817794"/>
            <a:ext cx="3562847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1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パーティクルエフェクト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エフェクトはゲームの見栄えをとても良くする働きがあるので、</a:t>
            </a:r>
            <a:endParaRPr lang="en-US" altLang="ja-JP" sz="2400" dirty="0"/>
          </a:p>
          <a:p>
            <a:r>
              <a:rPr lang="ja-JP" altLang="en-US" sz="2400" dirty="0"/>
              <a:t>ぜひ活用していきましょう。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3F4C05-461A-42FB-B02B-68B250687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426977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3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444</Words>
  <Application>Microsoft Office PowerPoint</Application>
  <PresentationFormat>ワイド画面</PresentationFormat>
  <Paragraphs>52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110</cp:revision>
  <dcterms:created xsi:type="dcterms:W3CDTF">2024-08-27T02:15:54Z</dcterms:created>
  <dcterms:modified xsi:type="dcterms:W3CDTF">2024-10-04T06:06:10Z</dcterms:modified>
</cp:coreProperties>
</file>