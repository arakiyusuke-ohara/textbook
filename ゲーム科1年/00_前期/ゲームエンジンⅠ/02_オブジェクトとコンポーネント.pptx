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でのゲーム制作工程を大きく２つに分けると、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１．オブジェクトの作成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２．コンポーネントでオブジェクトに機能を追加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このオブジェクトとコンポーネントについての理解が非常に重要です。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オブジェクトとは、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シーンに登場する物体すべて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■オブジェクトの例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・プレイヤー</a:t>
            </a:r>
            <a:endParaRPr kumimoji="1" lang="en-US" altLang="ja-JP" sz="2400" dirty="0"/>
          </a:p>
          <a:p>
            <a:r>
              <a:rPr lang="ja-JP" altLang="en-US" sz="2400" dirty="0"/>
              <a:t>・エネミー</a:t>
            </a:r>
            <a:endParaRPr lang="en-US" altLang="ja-JP" sz="2400" dirty="0"/>
          </a:p>
          <a:p>
            <a:r>
              <a:rPr kumimoji="1" lang="ja-JP" altLang="en-US" sz="2400" dirty="0"/>
              <a:t>・床</a:t>
            </a:r>
            <a:endParaRPr kumimoji="1" lang="en-US" altLang="ja-JP" sz="2400" dirty="0"/>
          </a:p>
          <a:p>
            <a:r>
              <a:rPr lang="ja-JP" altLang="en-US" sz="2400" dirty="0"/>
              <a:t>・カメラ</a:t>
            </a:r>
            <a:endParaRPr lang="en-US" altLang="ja-JP" sz="2400" dirty="0"/>
          </a:p>
          <a:p>
            <a:r>
              <a:rPr kumimoji="1" lang="ja-JP" altLang="en-US" sz="2400" dirty="0"/>
              <a:t>・</a:t>
            </a:r>
            <a:r>
              <a:rPr lang="ja-JP" altLang="en-US" sz="2400" dirty="0"/>
              <a:t>ライト</a:t>
            </a:r>
            <a:endParaRPr lang="en-US" altLang="ja-JP" sz="2400" dirty="0"/>
          </a:p>
          <a:p>
            <a:r>
              <a:rPr kumimoji="1" lang="ja-JP" altLang="en-US" sz="2400" dirty="0"/>
              <a:t>・エフェクト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UI</a:t>
            </a:r>
          </a:p>
          <a:p>
            <a:r>
              <a:rPr kumimoji="1" lang="ja-JP" altLang="en-US" sz="2400" dirty="0"/>
              <a:t>など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まずはこれらを追加するところから始まります。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6658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ヒエラルキーの空いている部分を右クリック</a:t>
            </a:r>
            <a:r>
              <a:rPr kumimoji="1" lang="ja-JP" altLang="en-US" sz="2400" dirty="0"/>
              <a:t>すると、</a:t>
            </a:r>
            <a:endParaRPr kumimoji="1" lang="en-US" altLang="ja-JP" sz="2400" dirty="0"/>
          </a:p>
          <a:p>
            <a:r>
              <a:rPr lang="ja-JP" altLang="en-US" sz="2400" dirty="0"/>
              <a:t>オブジェクトを追加するメニューが開きます。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C6741BB-B42F-4813-9928-34B10C9F0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7"/>
            <a:ext cx="2496585" cy="417892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0CAFC2-9E68-4474-BE74-0C1CEE55D6D9}"/>
              </a:ext>
            </a:extLst>
          </p:cNvPr>
          <p:cNvSpPr txBox="1"/>
          <p:nvPr/>
        </p:nvSpPr>
        <p:spPr>
          <a:xfrm>
            <a:off x="3214420" y="5904381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ここから様々なオブジェクトを追加することができます。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836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044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Cube</a:t>
            </a:r>
            <a:r>
              <a:rPr kumimoji="1" lang="ja-JP" altLang="en-US" sz="2400" dirty="0"/>
              <a:t>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FEE523-B8E5-4194-B78B-71A1BDD55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3699658" cy="4545294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20B592A1-D50A-4D3F-BF1A-F45504111F70}"/>
              </a:ext>
            </a:extLst>
          </p:cNvPr>
          <p:cNvSpPr/>
          <p:nvPr/>
        </p:nvSpPr>
        <p:spPr>
          <a:xfrm rot="8154541">
            <a:off x="3424076" y="4422907"/>
            <a:ext cx="389319" cy="567617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75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キューブが追加されました。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ヒエラルキー上のオブジェクトをダブルクリック</a:t>
            </a:r>
            <a:r>
              <a:rPr lang="ja-JP" altLang="en-US" sz="2400" dirty="0"/>
              <a:t>すると</a:t>
            </a:r>
            <a:r>
              <a:rPr lang="ja-JP" altLang="en-US" sz="2400" b="1" dirty="0">
                <a:solidFill>
                  <a:srgbClr val="FF0000"/>
                </a:solidFill>
              </a:rPr>
              <a:t>注目</a:t>
            </a:r>
            <a:r>
              <a:rPr lang="ja-JP" altLang="en-US" sz="2400" dirty="0"/>
              <a:t>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1553C4-D29B-4F04-ADB0-BAC6B0E23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59" y="2187127"/>
            <a:ext cx="9852212" cy="3722396"/>
          </a:xfrm>
          <a:prstGeom prst="rect">
            <a:avLst/>
          </a:prstGeom>
        </p:spPr>
      </p:pic>
      <p:sp>
        <p:nvSpPr>
          <p:cNvPr id="9" name="矢印: 下 8">
            <a:extLst>
              <a:ext uri="{FF2B5EF4-FFF2-40B4-BE49-F238E27FC236}">
                <a16:creationId xmlns:a16="http://schemas.microsoft.com/office/drawing/2014/main" id="{40827C8F-9C89-4D6E-80D2-E32212FC257A}"/>
              </a:ext>
            </a:extLst>
          </p:cNvPr>
          <p:cNvSpPr/>
          <p:nvPr/>
        </p:nvSpPr>
        <p:spPr>
          <a:xfrm rot="8154541">
            <a:off x="1254618" y="2805905"/>
            <a:ext cx="389319" cy="567617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D9D323-50E3-403D-8F14-1E17B9D5761E}"/>
              </a:ext>
            </a:extLst>
          </p:cNvPr>
          <p:cNvSpPr txBox="1"/>
          <p:nvPr/>
        </p:nvSpPr>
        <p:spPr>
          <a:xfrm>
            <a:off x="875318" y="3428999"/>
            <a:ext cx="203132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ダブルクリック！！</a:t>
            </a:r>
            <a:endParaRPr kumimoji="1" lang="en-US" altLang="ja-JP" sz="16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9E9FD4-2B66-48F0-8841-518DEDE3346D}"/>
              </a:ext>
            </a:extLst>
          </p:cNvPr>
          <p:cNvSpPr txBox="1"/>
          <p:nvPr/>
        </p:nvSpPr>
        <p:spPr>
          <a:xfrm>
            <a:off x="554807" y="6049224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簡単な形状のものはモデリングなしで実装できます。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9442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コンポーネントとはオブジェクトに付与されている機能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kumimoji="1" lang="ja-JP" altLang="en-US" sz="2400" dirty="0"/>
              <a:t>インスペクターに表示されているものがコンポーネントになります。</a:t>
            </a:r>
            <a:endParaRPr kumimoji="1" lang="en-US" altLang="ja-JP" sz="2400" dirty="0"/>
          </a:p>
          <a:p>
            <a:r>
              <a:rPr lang="ja-JP" altLang="en-US" sz="2400" dirty="0"/>
              <a:t>追加した</a:t>
            </a:r>
            <a:r>
              <a:rPr lang="en-US" altLang="ja-JP" sz="2400" dirty="0"/>
              <a:t>Cube</a:t>
            </a:r>
            <a:r>
              <a:rPr lang="ja-JP" altLang="en-US" sz="2400" dirty="0"/>
              <a:t>のコンポーネントを確認してみましょう。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0712E99-D21C-487A-BBA0-663C0F295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411834"/>
            <a:ext cx="2399776" cy="432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3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見出しのようになっている１つ１つがコンポーネントになっています。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基本的には最初から自動でいくつか付与されています。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0712E99-D21C-487A-BBA0-663C0F295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992183"/>
            <a:ext cx="2632858" cy="474031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B2E511-8E39-4D50-9CDB-B37DCA8E7775}"/>
              </a:ext>
            </a:extLst>
          </p:cNvPr>
          <p:cNvSpPr txBox="1"/>
          <p:nvPr/>
        </p:nvSpPr>
        <p:spPr>
          <a:xfrm>
            <a:off x="3200400" y="2374944"/>
            <a:ext cx="2658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Transform</a:t>
            </a:r>
            <a:r>
              <a:rPr lang="ja-JP" altLang="en-US" sz="1600" b="1" dirty="0">
                <a:solidFill>
                  <a:srgbClr val="00B050"/>
                </a:solidFill>
              </a:rPr>
              <a:t>コンポーネント</a:t>
            </a:r>
            <a:endParaRPr kumimoji="1"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2ECFB7D-676A-469E-80EF-DD4A4B4E054E}"/>
              </a:ext>
            </a:extLst>
          </p:cNvPr>
          <p:cNvSpPr txBox="1"/>
          <p:nvPr/>
        </p:nvSpPr>
        <p:spPr>
          <a:xfrm>
            <a:off x="3200400" y="2911432"/>
            <a:ext cx="275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Mesh Filter</a:t>
            </a:r>
            <a:r>
              <a:rPr lang="ja-JP" altLang="en-US" sz="1600" b="1" dirty="0">
                <a:solidFill>
                  <a:srgbClr val="00B050"/>
                </a:solidFill>
              </a:rPr>
              <a:t>コンポーネント</a:t>
            </a:r>
            <a:endParaRPr kumimoji="1"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7B14F4-EC79-4EC3-876C-51C2482C4C22}"/>
              </a:ext>
            </a:extLst>
          </p:cNvPr>
          <p:cNvSpPr txBox="1"/>
          <p:nvPr/>
        </p:nvSpPr>
        <p:spPr>
          <a:xfrm>
            <a:off x="3200400" y="3269461"/>
            <a:ext cx="31502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Mesh Renderer</a:t>
            </a:r>
            <a:r>
              <a:rPr lang="ja-JP" altLang="en-US" sz="1600" b="1" dirty="0">
                <a:solidFill>
                  <a:srgbClr val="00B050"/>
                </a:solidFill>
              </a:rPr>
              <a:t>コンポーネント</a:t>
            </a:r>
            <a:endParaRPr kumimoji="1"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6268E1-BDA7-4D3D-B7B9-B2929DE83E71}"/>
              </a:ext>
            </a:extLst>
          </p:cNvPr>
          <p:cNvSpPr txBox="1"/>
          <p:nvPr/>
        </p:nvSpPr>
        <p:spPr>
          <a:xfrm>
            <a:off x="3200400" y="5303017"/>
            <a:ext cx="28312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Box Collider</a:t>
            </a:r>
            <a:r>
              <a:rPr lang="ja-JP" altLang="en-US" sz="1600" b="1" dirty="0">
                <a:solidFill>
                  <a:srgbClr val="00B050"/>
                </a:solidFill>
              </a:rPr>
              <a:t>コンポーネント</a:t>
            </a:r>
            <a:endParaRPr kumimoji="1"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AF64E6-DAF1-4B18-A563-E7B057B69BB2}"/>
              </a:ext>
            </a:extLst>
          </p:cNvPr>
          <p:cNvSpPr txBox="1"/>
          <p:nvPr/>
        </p:nvSpPr>
        <p:spPr>
          <a:xfrm>
            <a:off x="3200400" y="6017755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Material</a:t>
            </a:r>
            <a:r>
              <a:rPr lang="ja-JP" altLang="en-US" sz="1600" b="1" dirty="0">
                <a:solidFill>
                  <a:srgbClr val="00B050"/>
                </a:solidFill>
              </a:rPr>
              <a:t>コンポーネント</a:t>
            </a:r>
            <a:endParaRPr kumimoji="1" lang="en-US" altLang="ja-JP" sz="1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9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42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練習として</a:t>
            </a:r>
            <a:r>
              <a:rPr lang="ja-JP" altLang="en-US" sz="2400" b="1" dirty="0">
                <a:solidFill>
                  <a:srgbClr val="FF0000"/>
                </a:solidFill>
              </a:rPr>
              <a:t>カメラを自作</a:t>
            </a:r>
            <a:r>
              <a:rPr lang="ja-JP" altLang="en-US" sz="2400" dirty="0"/>
              <a:t>してみます。</a:t>
            </a:r>
            <a:endParaRPr lang="en-US" altLang="ja-JP" sz="2400" dirty="0"/>
          </a:p>
          <a:p>
            <a:r>
              <a:rPr kumimoji="1" lang="ja-JP" altLang="en-US" sz="2400" dirty="0"/>
              <a:t>ヒエラルキーにある「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Main Camera</a:t>
            </a:r>
            <a:r>
              <a:rPr kumimoji="1" lang="ja-JP" altLang="en-US" sz="2400" dirty="0"/>
              <a:t>」を削除しましょう。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98B41C7-DE89-497D-BDCB-F44BE8408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047426"/>
            <a:ext cx="2827017" cy="431862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1A50D6B-D8CE-4805-9228-9C56635D020E}"/>
              </a:ext>
            </a:extLst>
          </p:cNvPr>
          <p:cNvSpPr txBox="1"/>
          <p:nvPr/>
        </p:nvSpPr>
        <p:spPr>
          <a:xfrm>
            <a:off x="992178" y="2878423"/>
            <a:ext cx="300915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 Camera</a:t>
            </a:r>
            <a:r>
              <a:rPr lang="ja-JP" altLang="en-US" sz="2400" dirty="0"/>
              <a:t>を削除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8177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オブジェクトを自作する場合は、</a:t>
            </a:r>
            <a:endParaRPr kumimoji="1"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Create Empty</a:t>
            </a:r>
            <a:r>
              <a:rPr kumimoji="1" lang="ja-JP" altLang="en-US" sz="2400" dirty="0"/>
              <a:t>」からオブジェクトを追加すると、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コンポーネントが何も付与されていないオブジェクト</a:t>
            </a:r>
            <a:r>
              <a:rPr lang="ja-JP" altLang="en-US" sz="2400" dirty="0"/>
              <a:t>を追加できます。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F1666A-C7AD-48A0-BB57-1C4615C9B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0277"/>
            <a:ext cx="2428886" cy="4137394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274F96DA-A36F-4B0E-BD5F-B556F05708D2}"/>
              </a:ext>
            </a:extLst>
          </p:cNvPr>
          <p:cNvSpPr/>
          <p:nvPr/>
        </p:nvSpPr>
        <p:spPr>
          <a:xfrm rot="8154541">
            <a:off x="1855254" y="5217411"/>
            <a:ext cx="389319" cy="567617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645AC53-4A97-43E4-BF59-AD09C4250FC3}"/>
              </a:ext>
            </a:extLst>
          </p:cNvPr>
          <p:cNvSpPr txBox="1"/>
          <p:nvPr/>
        </p:nvSpPr>
        <p:spPr>
          <a:xfrm>
            <a:off x="2996428" y="5657671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追加時にオブジェクト名を設定できるので、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 err="1"/>
              <a:t>MainCamera</a:t>
            </a:r>
            <a:r>
              <a:rPr lang="ja-JP" altLang="en-US" sz="2400" dirty="0"/>
              <a:t>」と設定しましょう。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992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26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カメラには</a:t>
            </a:r>
            <a:r>
              <a:rPr kumimoji="1" lang="en-US" altLang="ja-JP" sz="2400" dirty="0"/>
              <a:t>Transform</a:t>
            </a:r>
            <a:r>
              <a:rPr kumimoji="1" lang="ja-JP" altLang="en-US" sz="2400" dirty="0"/>
              <a:t>のほかに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つのコンポーネントでできています。</a:t>
            </a:r>
            <a:endParaRPr kumimoji="1"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FF0000"/>
                </a:solidFill>
              </a:rPr>
              <a:t>Camera</a:t>
            </a:r>
            <a:r>
              <a:rPr lang="ja-JP" altLang="en-US" sz="2400" b="1" dirty="0">
                <a:solidFill>
                  <a:srgbClr val="FF0000"/>
                </a:solidFill>
              </a:rPr>
              <a:t>コンポーネントを追加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7AD684F-B0AE-4C98-9186-60BFDE835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7"/>
            <a:ext cx="2773619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54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インスペクターの下にある「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Add Component</a:t>
            </a:r>
            <a:r>
              <a:rPr kumimoji="1" lang="ja-JP" altLang="en-US" sz="2400" dirty="0"/>
              <a:t>」ボタンから、</a:t>
            </a:r>
            <a:endParaRPr kumimoji="1" lang="en-US" altLang="ja-JP" sz="2400" dirty="0"/>
          </a:p>
          <a:p>
            <a:r>
              <a:rPr kumimoji="1" lang="ja-JP" altLang="en-US" sz="2400" dirty="0"/>
              <a:t>コンポーネントを追加できます。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DD14123-934E-4227-BF1E-A152CCFBE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658995" cy="3454445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8183DEF5-B548-45C1-A0D4-4CDBE4FE954E}"/>
              </a:ext>
            </a:extLst>
          </p:cNvPr>
          <p:cNvSpPr/>
          <p:nvPr/>
        </p:nvSpPr>
        <p:spPr>
          <a:xfrm rot="8154541">
            <a:off x="4640019" y="5018477"/>
            <a:ext cx="389319" cy="567617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21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12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コンポーネントは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Unity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が既にあらゆるものを用意してくれています。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検索ボックスに「</a:t>
            </a:r>
            <a:r>
              <a:rPr lang="en-US" altLang="ja-JP" sz="2400" dirty="0"/>
              <a:t>Camera</a:t>
            </a:r>
            <a:r>
              <a:rPr lang="ja-JP" altLang="en-US" sz="2400" dirty="0"/>
              <a:t>」と入力して</a:t>
            </a:r>
            <a:r>
              <a:rPr lang="en-US" altLang="ja-JP" sz="2400" dirty="0"/>
              <a:t>Camera</a:t>
            </a:r>
            <a:r>
              <a:rPr lang="ja-JP" altLang="en-US" sz="2400" dirty="0"/>
              <a:t>コンポーネントを探しましょう。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34B6F4-763B-4F55-AF7B-39086CCFD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5751794" cy="431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7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571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これでカメラの機能が追加されました。</a:t>
            </a:r>
            <a:endParaRPr kumimoji="1" lang="en-US" altLang="ja-JP" sz="2400" dirty="0"/>
          </a:p>
          <a:p>
            <a:r>
              <a:rPr lang="ja-JP" altLang="en-US" sz="2400" dirty="0"/>
              <a:t>現在の位置だとキューブにめり込んでいるので、</a:t>
            </a:r>
            <a:endParaRPr lang="en-US" altLang="ja-JP" sz="2400" dirty="0"/>
          </a:p>
          <a:p>
            <a:r>
              <a:rPr kumimoji="1" lang="ja-JP" altLang="en-US" sz="2400" dirty="0"/>
              <a:t>座標を（</a:t>
            </a:r>
            <a:r>
              <a:rPr kumimoji="1" lang="en-US" altLang="ja-JP" sz="2400" dirty="0"/>
              <a:t>0, 0, -5</a:t>
            </a:r>
            <a:r>
              <a:rPr kumimoji="1" lang="ja-JP" altLang="en-US" sz="2400" dirty="0"/>
              <a:t>）にしてキューブの手前に移動しましょう。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9516595-A2D2-45A9-88EF-ADFA3881C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556459"/>
            <a:ext cx="2789936" cy="4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8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画面上部の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再生ボタン</a:t>
            </a:r>
            <a:r>
              <a:rPr kumimoji="1" lang="ja-JP" altLang="en-US" sz="2400" dirty="0"/>
              <a:t>から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ゲームを実行</a:t>
            </a:r>
            <a:r>
              <a:rPr kumimoji="1" lang="ja-JP" altLang="en-US" sz="2400" dirty="0"/>
              <a:t>することができます。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キューブが画面に映っているか確認しましょう。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BCB125-E62E-4379-BBFF-039C8F7AB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8325446" cy="4384986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F5C4A92A-850D-4D4C-B004-10775334260E}"/>
              </a:ext>
            </a:extLst>
          </p:cNvPr>
          <p:cNvSpPr/>
          <p:nvPr/>
        </p:nvSpPr>
        <p:spPr>
          <a:xfrm rot="8154541">
            <a:off x="4930784" y="2324079"/>
            <a:ext cx="389319" cy="475737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116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3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演習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188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カメラには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Audio Listener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コンポーネント</a:t>
            </a:r>
            <a:r>
              <a:rPr kumimoji="1" lang="ja-JP" altLang="en-US" sz="2400" dirty="0"/>
              <a:t>も付いていました。</a:t>
            </a:r>
            <a:endParaRPr kumimoji="1" lang="en-US" altLang="ja-JP" sz="2400" dirty="0"/>
          </a:p>
          <a:p>
            <a:r>
              <a:rPr lang="ja-JP" altLang="en-US" sz="2400" dirty="0"/>
              <a:t>同様の方法で</a:t>
            </a:r>
            <a:r>
              <a:rPr lang="en-US" altLang="ja-JP" sz="2400" dirty="0"/>
              <a:t>Audio Listener</a:t>
            </a:r>
            <a:r>
              <a:rPr lang="ja-JP" altLang="en-US" sz="2400" dirty="0"/>
              <a:t>コンポーネントも追加しましょう。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サウンド系のコンポーネントなので動作に変化はありません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684B79B-8FF4-4B34-9E83-826AEFFE2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925789"/>
            <a:ext cx="2431373" cy="3663270"/>
          </a:xfrm>
          <a:prstGeom prst="rect">
            <a:avLst/>
          </a:prstGeom>
        </p:spPr>
      </p:pic>
      <p:sp>
        <p:nvSpPr>
          <p:cNvPr id="9" name="矢印: 下 8">
            <a:extLst>
              <a:ext uri="{FF2B5EF4-FFF2-40B4-BE49-F238E27FC236}">
                <a16:creationId xmlns:a16="http://schemas.microsoft.com/office/drawing/2014/main" id="{3929D6ED-FD81-4A78-A6C0-2B13470E75F6}"/>
              </a:ext>
            </a:extLst>
          </p:cNvPr>
          <p:cNvSpPr/>
          <p:nvPr/>
        </p:nvSpPr>
        <p:spPr>
          <a:xfrm rot="8154541">
            <a:off x="1470407" y="6313842"/>
            <a:ext cx="389319" cy="475737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242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3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 演習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既にある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Directional Light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を削除</a:t>
            </a:r>
            <a:r>
              <a:rPr kumimoji="1" lang="ja-JP" altLang="en-US" sz="2400" dirty="0"/>
              <a:t>して、</a:t>
            </a:r>
            <a:endParaRPr kumimoji="1" lang="en-US" altLang="ja-JP" sz="2400" dirty="0"/>
          </a:p>
          <a:p>
            <a:r>
              <a:rPr lang="ja-JP" altLang="en-US" sz="2400" dirty="0"/>
              <a:t>以下の画像を参考に</a:t>
            </a:r>
            <a:r>
              <a:rPr kumimoji="1" lang="ja-JP" altLang="en-US" sz="2400" dirty="0"/>
              <a:t>ライトを自作しましょう。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3CC6F6-69E5-4E64-9290-0286202D4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7"/>
            <a:ext cx="3228994" cy="447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19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このように、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・オブジェクト追加</a:t>
            </a:r>
            <a:endParaRPr lang="en-US" altLang="ja-JP" sz="2400" dirty="0"/>
          </a:p>
          <a:p>
            <a:r>
              <a:rPr kumimoji="1" lang="ja-JP" altLang="en-US" sz="2400" dirty="0"/>
              <a:t>・コンポーネントを付与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これが</a:t>
            </a:r>
            <a:r>
              <a:rPr kumimoji="1" lang="en-US" altLang="ja-JP" sz="2400" dirty="0"/>
              <a:t>Unity</a:t>
            </a:r>
            <a:r>
              <a:rPr kumimoji="1" lang="ja-JP" altLang="en-US" sz="2400" dirty="0"/>
              <a:t>の基本となります。</a:t>
            </a:r>
            <a:endParaRPr kumimoji="1" lang="en-US" altLang="ja-JP" sz="2400" dirty="0"/>
          </a:p>
          <a:p>
            <a:r>
              <a:rPr lang="ja-JP" altLang="en-US" sz="2400" dirty="0"/>
              <a:t>何度も行う操作になりますので徐々に慣れていきましょう。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27846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560</Words>
  <Application>Microsoft Office PowerPoint</Application>
  <PresentationFormat>ワイド画面</PresentationFormat>
  <Paragraphs>88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24</cp:revision>
  <dcterms:created xsi:type="dcterms:W3CDTF">2024-08-27T02:15:54Z</dcterms:created>
  <dcterms:modified xsi:type="dcterms:W3CDTF">2025-03-03T04:49:38Z</dcterms:modified>
</cp:coreProperties>
</file>