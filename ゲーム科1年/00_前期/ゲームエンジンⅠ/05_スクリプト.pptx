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2024/10/4</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2024/10/4</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1938992"/>
          </a:xfrm>
          <a:prstGeom prst="rect">
            <a:avLst/>
          </a:prstGeom>
          <a:noFill/>
        </p:spPr>
        <p:txBody>
          <a:bodyPr wrap="none" rtlCol="0">
            <a:spAutoFit/>
          </a:bodyPr>
          <a:lstStyle/>
          <a:p>
            <a:r>
              <a:rPr kumimoji="1" lang="en-US" altLang="ja-JP" sz="2400" dirty="0"/>
              <a:t>Unity</a:t>
            </a:r>
            <a:r>
              <a:rPr kumimoji="1" lang="ja-JP" altLang="en-US" sz="2400" dirty="0"/>
              <a:t>は様々な機能を搭載していますが、</a:t>
            </a:r>
            <a:endParaRPr kumimoji="1" lang="en-US" altLang="ja-JP" sz="2400" dirty="0"/>
          </a:p>
          <a:p>
            <a:r>
              <a:rPr kumimoji="1" lang="ja-JP" altLang="en-US" sz="2400" b="1" dirty="0">
                <a:solidFill>
                  <a:srgbClr val="FF0000"/>
                </a:solidFill>
              </a:rPr>
              <a:t>最終的にはプログラミングによる制御が必須</a:t>
            </a:r>
            <a:r>
              <a:rPr kumimoji="1" lang="ja-JP" altLang="en-US" sz="2400" dirty="0"/>
              <a:t>になります。</a:t>
            </a:r>
            <a:endParaRPr kumimoji="1" lang="en-US" altLang="ja-JP" sz="2400" dirty="0"/>
          </a:p>
          <a:p>
            <a:endParaRPr lang="en-US" altLang="ja-JP" sz="2400" dirty="0"/>
          </a:p>
          <a:p>
            <a:r>
              <a:rPr kumimoji="1" lang="en-US" altLang="ja-JP" sz="2400" b="1" dirty="0">
                <a:solidFill>
                  <a:srgbClr val="FF0000"/>
                </a:solidFill>
              </a:rPr>
              <a:t>Unity</a:t>
            </a:r>
            <a:r>
              <a:rPr kumimoji="1" lang="ja-JP" altLang="en-US" sz="2400" b="1" dirty="0">
                <a:solidFill>
                  <a:srgbClr val="FF0000"/>
                </a:solidFill>
              </a:rPr>
              <a:t>で書くプログラム</a:t>
            </a:r>
            <a:r>
              <a:rPr kumimoji="1" lang="ja-JP" altLang="en-US" sz="2400" dirty="0"/>
              <a:t>のことを</a:t>
            </a:r>
            <a:r>
              <a:rPr lang="ja-JP" altLang="en-US" sz="2400" b="1" dirty="0">
                <a:solidFill>
                  <a:srgbClr val="FF0000"/>
                </a:solidFill>
              </a:rPr>
              <a:t>スクリプト</a:t>
            </a:r>
            <a:r>
              <a:rPr lang="ja-JP" altLang="en-US" sz="2400" dirty="0"/>
              <a:t>と言います。</a:t>
            </a:r>
            <a:endParaRPr lang="en-US" altLang="ja-JP" sz="2400" dirty="0"/>
          </a:p>
          <a:p>
            <a:r>
              <a:rPr kumimoji="1" lang="en-US" altLang="ja-JP" sz="2400" dirty="0"/>
              <a:t>Unity</a:t>
            </a:r>
            <a:r>
              <a:rPr kumimoji="1" lang="ja-JP" altLang="en-US" sz="2400" dirty="0"/>
              <a:t>特有の書き方になりますので見ていきましょう。</a:t>
            </a:r>
            <a:endParaRPr kumimoji="1"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kumimoji="1" lang="ja-JP" altLang="en-US" sz="2400" dirty="0"/>
              <a:t>スクリプトをプロジェクトに追加する場合は専用のフォルダを作成します。</a:t>
            </a:r>
            <a:endParaRPr kumimoji="1" lang="en-US" altLang="ja-JP" sz="2400" dirty="0"/>
          </a:p>
          <a:p>
            <a:r>
              <a:rPr lang="en-US" altLang="ja-JP" sz="2400" dirty="0"/>
              <a:t>Project</a:t>
            </a:r>
            <a:r>
              <a:rPr lang="ja-JP" altLang="en-US" sz="2400" dirty="0"/>
              <a:t>ウィンドウで</a:t>
            </a:r>
            <a:r>
              <a:rPr lang="en-US" altLang="ja-JP" sz="2400" b="1" dirty="0">
                <a:solidFill>
                  <a:srgbClr val="FF0000"/>
                </a:solidFill>
              </a:rPr>
              <a:t>Assets</a:t>
            </a:r>
            <a:r>
              <a:rPr lang="ja-JP" altLang="en-US" sz="2400" dirty="0"/>
              <a:t>を選択します。</a:t>
            </a:r>
            <a:endParaRPr kumimoji="1" lang="en-US" altLang="ja-JP" sz="2400" b="1" dirty="0">
              <a:solidFill>
                <a:srgbClr val="FF0000"/>
              </a:solidFill>
            </a:endParaRPr>
          </a:p>
        </p:txBody>
      </p:sp>
      <p:pic>
        <p:nvPicPr>
          <p:cNvPr id="7" name="図 6">
            <a:extLst>
              <a:ext uri="{FF2B5EF4-FFF2-40B4-BE49-F238E27FC236}">
                <a16:creationId xmlns:a16="http://schemas.microsoft.com/office/drawing/2014/main" id="{CAFF811F-A4C2-4F86-9C67-22B2B3C0D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4817410" cy="2868968"/>
          </a:xfrm>
          <a:prstGeom prst="rect">
            <a:avLst/>
          </a:prstGeom>
        </p:spPr>
      </p:pic>
      <p:sp>
        <p:nvSpPr>
          <p:cNvPr id="8" name="矢印: 下 7">
            <a:extLst>
              <a:ext uri="{FF2B5EF4-FFF2-40B4-BE49-F238E27FC236}">
                <a16:creationId xmlns:a16="http://schemas.microsoft.com/office/drawing/2014/main" id="{6DEAB22D-C1BB-4B27-9F72-A098E78E5130}"/>
              </a:ext>
            </a:extLst>
          </p:cNvPr>
          <p:cNvSpPr/>
          <p:nvPr/>
        </p:nvSpPr>
        <p:spPr>
          <a:xfrm rot="7740380">
            <a:off x="1892936" y="4138963"/>
            <a:ext cx="306008" cy="414481"/>
          </a:xfrm>
          <a:prstGeom prst="down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96997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220794" cy="1200329"/>
          </a:xfrm>
          <a:prstGeom prst="rect">
            <a:avLst/>
          </a:prstGeom>
          <a:noFill/>
        </p:spPr>
        <p:txBody>
          <a:bodyPr wrap="none" rtlCol="0">
            <a:spAutoFit/>
          </a:bodyPr>
          <a:lstStyle/>
          <a:p>
            <a:r>
              <a:rPr kumimoji="1" lang="ja-JP" altLang="en-US" sz="2400" dirty="0"/>
              <a:t>中央の枠の空いている箇所を右クリックして、</a:t>
            </a:r>
            <a:endParaRPr kumimoji="1" lang="en-US" altLang="ja-JP" sz="2400" dirty="0"/>
          </a:p>
          <a:p>
            <a:r>
              <a:rPr lang="en-US" altLang="ja-JP" sz="2400" b="1" dirty="0">
                <a:solidFill>
                  <a:srgbClr val="FF0000"/>
                </a:solidFill>
              </a:rPr>
              <a:t>Create</a:t>
            </a:r>
            <a:r>
              <a:rPr lang="ja-JP" altLang="en-US" sz="2400" b="1" dirty="0">
                <a:solidFill>
                  <a:srgbClr val="FF0000"/>
                </a:solidFill>
              </a:rPr>
              <a:t>　＞　</a:t>
            </a:r>
            <a:r>
              <a:rPr lang="en-US" altLang="ja-JP" sz="2400" b="1" dirty="0">
                <a:solidFill>
                  <a:srgbClr val="FF0000"/>
                </a:solidFill>
              </a:rPr>
              <a:t>Folder</a:t>
            </a:r>
            <a:r>
              <a:rPr lang="ja-JP" altLang="en-US" sz="2400" b="1" dirty="0">
                <a:solidFill>
                  <a:srgbClr val="FF0000"/>
                </a:solidFill>
              </a:rPr>
              <a:t>　からフォルダを追加</a:t>
            </a:r>
            <a:r>
              <a:rPr lang="ja-JP" altLang="en-US" sz="2400" dirty="0"/>
              <a:t>することができます。</a:t>
            </a:r>
            <a:endParaRPr lang="en-US" altLang="ja-JP" sz="2400" dirty="0"/>
          </a:p>
          <a:p>
            <a:r>
              <a:rPr kumimoji="1" lang="ja-JP" altLang="en-US" sz="2400" dirty="0"/>
              <a:t>フォルダは「</a:t>
            </a:r>
            <a:r>
              <a:rPr kumimoji="1" lang="en-US" altLang="ja-JP" sz="2400" b="1" dirty="0">
                <a:solidFill>
                  <a:srgbClr val="FF0000"/>
                </a:solidFill>
              </a:rPr>
              <a:t>Scripts</a:t>
            </a:r>
            <a:r>
              <a:rPr kumimoji="1" lang="ja-JP" altLang="en-US" sz="2400" dirty="0"/>
              <a:t>」と名付けましょう。</a:t>
            </a:r>
            <a:endParaRPr kumimoji="1" lang="en-US" altLang="ja-JP" sz="2400" dirty="0"/>
          </a:p>
        </p:txBody>
      </p:sp>
      <p:pic>
        <p:nvPicPr>
          <p:cNvPr id="3" name="図 2">
            <a:extLst>
              <a:ext uri="{FF2B5EF4-FFF2-40B4-BE49-F238E27FC236}">
                <a16:creationId xmlns:a16="http://schemas.microsoft.com/office/drawing/2014/main" id="{C2B58F42-B425-44B0-B504-4E502E349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556458"/>
            <a:ext cx="3995493" cy="3990270"/>
          </a:xfrm>
          <a:prstGeom prst="rect">
            <a:avLst/>
          </a:prstGeom>
        </p:spPr>
      </p:pic>
      <p:sp>
        <p:nvSpPr>
          <p:cNvPr id="9" name="矢印: 下 8">
            <a:extLst>
              <a:ext uri="{FF2B5EF4-FFF2-40B4-BE49-F238E27FC236}">
                <a16:creationId xmlns:a16="http://schemas.microsoft.com/office/drawing/2014/main" id="{E5F4274A-F911-4790-BB49-DA194238C9BC}"/>
              </a:ext>
            </a:extLst>
          </p:cNvPr>
          <p:cNvSpPr/>
          <p:nvPr/>
        </p:nvSpPr>
        <p:spPr>
          <a:xfrm rot="7740380">
            <a:off x="3506583" y="2598551"/>
            <a:ext cx="306008" cy="414481"/>
          </a:xfrm>
          <a:prstGeom prst="down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33AF478C-BAA9-4659-8264-03DD2A2E92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9704" y="2556457"/>
            <a:ext cx="4899162" cy="2526531"/>
          </a:xfrm>
          <a:prstGeom prst="rect">
            <a:avLst/>
          </a:prstGeom>
        </p:spPr>
      </p:pic>
    </p:spTree>
    <p:extLst>
      <p:ext uri="{BB962C8B-B14F-4D97-AF65-F5344CB8AC3E}">
        <p14:creationId xmlns:p14="http://schemas.microsoft.com/office/powerpoint/2010/main" val="367623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44804" cy="1200329"/>
          </a:xfrm>
          <a:prstGeom prst="rect">
            <a:avLst/>
          </a:prstGeom>
          <a:noFill/>
        </p:spPr>
        <p:txBody>
          <a:bodyPr wrap="none" rtlCol="0">
            <a:spAutoFit/>
          </a:bodyPr>
          <a:lstStyle/>
          <a:p>
            <a:r>
              <a:rPr lang="en-US" altLang="ja-JP" sz="2400" dirty="0"/>
              <a:t>Scripts</a:t>
            </a:r>
            <a:r>
              <a:rPr lang="ja-JP" altLang="en-US" sz="2400" dirty="0"/>
              <a:t>フォルダ内に入って、スクリプトを追加します。</a:t>
            </a:r>
            <a:endParaRPr lang="en-US" altLang="ja-JP" sz="2400" dirty="0"/>
          </a:p>
          <a:p>
            <a:r>
              <a:rPr kumimoji="1" lang="ja-JP" altLang="en-US" sz="2400" dirty="0"/>
              <a:t>空いている箇所を右クリックして、</a:t>
            </a:r>
            <a:endParaRPr kumimoji="1" lang="en-US" altLang="ja-JP" sz="2400" dirty="0"/>
          </a:p>
          <a:p>
            <a:r>
              <a:rPr lang="en-US" altLang="ja-JP" sz="2400" b="1" dirty="0">
                <a:solidFill>
                  <a:srgbClr val="FF0000"/>
                </a:solidFill>
              </a:rPr>
              <a:t>Create</a:t>
            </a:r>
            <a:r>
              <a:rPr lang="ja-JP" altLang="en-US" sz="2400" b="1" dirty="0">
                <a:solidFill>
                  <a:srgbClr val="FF0000"/>
                </a:solidFill>
              </a:rPr>
              <a:t>　＞　</a:t>
            </a:r>
            <a:r>
              <a:rPr lang="en-US" altLang="ja-JP" sz="2400" b="1" dirty="0" err="1">
                <a:solidFill>
                  <a:srgbClr val="FF0000"/>
                </a:solidFill>
              </a:rPr>
              <a:t>C#Script</a:t>
            </a:r>
            <a:r>
              <a:rPr lang="ja-JP" altLang="en-US" sz="2400" dirty="0"/>
              <a:t>　を選択します。</a:t>
            </a:r>
            <a:endParaRPr lang="en-US" altLang="ja-JP" sz="2400" dirty="0"/>
          </a:p>
        </p:txBody>
      </p:sp>
      <p:pic>
        <p:nvPicPr>
          <p:cNvPr id="5" name="図 4">
            <a:extLst>
              <a:ext uri="{FF2B5EF4-FFF2-40B4-BE49-F238E27FC236}">
                <a16:creationId xmlns:a16="http://schemas.microsoft.com/office/drawing/2014/main" id="{0CC5D40C-A5E2-4670-8705-F149AF586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556459"/>
            <a:ext cx="4354173" cy="4041566"/>
          </a:xfrm>
          <a:prstGeom prst="rect">
            <a:avLst/>
          </a:prstGeom>
        </p:spPr>
      </p:pic>
      <p:sp>
        <p:nvSpPr>
          <p:cNvPr id="11" name="テキスト ボックス 10">
            <a:extLst>
              <a:ext uri="{FF2B5EF4-FFF2-40B4-BE49-F238E27FC236}">
                <a16:creationId xmlns:a16="http://schemas.microsoft.com/office/drawing/2014/main" id="{B1E4CA39-3955-47BF-9876-004FAFD1C8E0}"/>
              </a:ext>
            </a:extLst>
          </p:cNvPr>
          <p:cNvSpPr txBox="1"/>
          <p:nvPr/>
        </p:nvSpPr>
        <p:spPr>
          <a:xfrm>
            <a:off x="4921715" y="5826048"/>
            <a:ext cx="6032421" cy="830997"/>
          </a:xfrm>
          <a:prstGeom prst="rect">
            <a:avLst/>
          </a:prstGeom>
          <a:noFill/>
        </p:spPr>
        <p:txBody>
          <a:bodyPr wrap="none" rtlCol="0">
            <a:spAutoFit/>
          </a:bodyPr>
          <a:lstStyle/>
          <a:p>
            <a:r>
              <a:rPr lang="en-US" altLang="ja-JP" sz="2400" b="1" dirty="0">
                <a:solidFill>
                  <a:srgbClr val="FF0000"/>
                </a:solidFill>
              </a:rPr>
              <a:t>※※</a:t>
            </a:r>
            <a:r>
              <a:rPr lang="ja-JP" altLang="en-US" sz="2400" b="1" dirty="0">
                <a:solidFill>
                  <a:srgbClr val="FF0000"/>
                </a:solidFill>
              </a:rPr>
              <a:t>注意</a:t>
            </a:r>
            <a:r>
              <a:rPr lang="en-US" altLang="ja-JP" sz="2400" b="1" dirty="0">
                <a:solidFill>
                  <a:srgbClr val="FF0000"/>
                </a:solidFill>
              </a:rPr>
              <a:t>※※</a:t>
            </a:r>
          </a:p>
          <a:p>
            <a:r>
              <a:rPr kumimoji="1" lang="ja-JP" altLang="en-US" sz="2400" b="1" dirty="0">
                <a:solidFill>
                  <a:srgbClr val="FF0000"/>
                </a:solidFill>
              </a:rPr>
              <a:t>絶対に名前を確定しないでください！！！</a:t>
            </a:r>
            <a:endParaRPr kumimoji="1" lang="en-US" altLang="ja-JP" sz="2400" b="1" dirty="0">
              <a:solidFill>
                <a:srgbClr val="FF0000"/>
              </a:solidFill>
            </a:endParaRPr>
          </a:p>
        </p:txBody>
      </p:sp>
      <p:sp>
        <p:nvSpPr>
          <p:cNvPr id="12" name="矢印: 下 11">
            <a:extLst>
              <a:ext uri="{FF2B5EF4-FFF2-40B4-BE49-F238E27FC236}">
                <a16:creationId xmlns:a16="http://schemas.microsoft.com/office/drawing/2014/main" id="{289267CC-DF8D-486F-9607-9C76FD9238B5}"/>
              </a:ext>
            </a:extLst>
          </p:cNvPr>
          <p:cNvSpPr/>
          <p:nvPr/>
        </p:nvSpPr>
        <p:spPr>
          <a:xfrm rot="7740380">
            <a:off x="3354183" y="2688198"/>
            <a:ext cx="306008" cy="414481"/>
          </a:xfrm>
          <a:prstGeom prst="down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744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1200329"/>
          </a:xfrm>
          <a:prstGeom prst="rect">
            <a:avLst/>
          </a:prstGeom>
          <a:noFill/>
        </p:spPr>
        <p:txBody>
          <a:bodyPr wrap="none" rtlCol="0">
            <a:spAutoFit/>
          </a:bodyPr>
          <a:lstStyle/>
          <a:p>
            <a:r>
              <a:rPr lang="ja-JP" altLang="en-US" sz="2400" dirty="0"/>
              <a:t>スクリプト名は「</a:t>
            </a:r>
            <a:r>
              <a:rPr lang="en-US" altLang="ja-JP" sz="2400" b="1" dirty="0" err="1">
                <a:solidFill>
                  <a:srgbClr val="FF0000"/>
                </a:solidFill>
              </a:rPr>
              <a:t>CubeSlider</a:t>
            </a:r>
            <a:r>
              <a:rPr lang="ja-JP" altLang="en-US" sz="2400" dirty="0"/>
              <a:t>」と打ち込み、確定しましょう。</a:t>
            </a:r>
            <a:endParaRPr lang="en-US" altLang="ja-JP" sz="2400" dirty="0"/>
          </a:p>
          <a:p>
            <a:r>
              <a:rPr lang="ja-JP" altLang="en-US" sz="2400" dirty="0"/>
              <a:t>後ほど説明しますが、</a:t>
            </a:r>
            <a:r>
              <a:rPr lang="ja-JP" altLang="en-US" sz="2400" b="1" dirty="0">
                <a:solidFill>
                  <a:srgbClr val="FF0000"/>
                </a:solidFill>
              </a:rPr>
              <a:t>一度名前を決定すると変更が非常に面倒</a:t>
            </a:r>
            <a:r>
              <a:rPr lang="ja-JP" altLang="en-US" sz="2400" dirty="0"/>
              <a:t>です。</a:t>
            </a:r>
            <a:endParaRPr lang="en-US" altLang="ja-JP" sz="2400" dirty="0"/>
          </a:p>
          <a:p>
            <a:r>
              <a:rPr lang="ja-JP" altLang="en-US" sz="2400" dirty="0"/>
              <a:t>名前は決めておいてからスクリプトを追加しましょう。</a:t>
            </a:r>
            <a:endParaRPr lang="en-US" altLang="ja-JP" sz="2400" dirty="0"/>
          </a:p>
        </p:txBody>
      </p:sp>
      <p:pic>
        <p:nvPicPr>
          <p:cNvPr id="3" name="図 2">
            <a:extLst>
              <a:ext uri="{FF2B5EF4-FFF2-40B4-BE49-F238E27FC236}">
                <a16:creationId xmlns:a16="http://schemas.microsoft.com/office/drawing/2014/main" id="{6BC6A5C5-5328-44F4-A944-711187911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1" y="2556458"/>
            <a:ext cx="6798415" cy="3085113"/>
          </a:xfrm>
          <a:prstGeom prst="rect">
            <a:avLst/>
          </a:prstGeom>
        </p:spPr>
      </p:pic>
    </p:spTree>
    <p:extLst>
      <p:ext uri="{BB962C8B-B14F-4D97-AF65-F5344CB8AC3E}">
        <p14:creationId xmlns:p14="http://schemas.microsoft.com/office/powerpoint/2010/main" val="2532862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88668" cy="830997"/>
          </a:xfrm>
          <a:prstGeom prst="rect">
            <a:avLst/>
          </a:prstGeom>
          <a:noFill/>
        </p:spPr>
        <p:txBody>
          <a:bodyPr wrap="none" rtlCol="0">
            <a:spAutoFit/>
          </a:bodyPr>
          <a:lstStyle/>
          <a:p>
            <a:r>
              <a:rPr lang="ja-JP" altLang="en-US" sz="2400" dirty="0"/>
              <a:t>スクリプトをダブルクリックすると、</a:t>
            </a:r>
            <a:r>
              <a:rPr lang="en-US" altLang="ja-JP" sz="2400" dirty="0"/>
              <a:t>Visual Studio</a:t>
            </a:r>
            <a:r>
              <a:rPr lang="ja-JP" altLang="en-US" sz="2400" dirty="0"/>
              <a:t>でプログラムが開かれます。</a:t>
            </a:r>
            <a:endParaRPr lang="en-US" altLang="ja-JP" sz="2400" dirty="0"/>
          </a:p>
          <a:p>
            <a:r>
              <a:rPr lang="ja-JP" altLang="en-US" sz="2400" dirty="0"/>
              <a:t>最低限必要なコードは自動で記載されています。</a:t>
            </a:r>
            <a:endParaRPr lang="en-US" altLang="ja-JP" sz="2400" dirty="0"/>
          </a:p>
        </p:txBody>
      </p:sp>
      <p:pic>
        <p:nvPicPr>
          <p:cNvPr id="5" name="図 4">
            <a:extLst>
              <a:ext uri="{FF2B5EF4-FFF2-40B4-BE49-F238E27FC236}">
                <a16:creationId xmlns:a16="http://schemas.microsoft.com/office/drawing/2014/main" id="{FD966454-0CFC-4E4E-99C6-D2B69B4EA3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1" y="2186873"/>
            <a:ext cx="7348293" cy="4179174"/>
          </a:xfrm>
          <a:prstGeom prst="rect">
            <a:avLst/>
          </a:prstGeom>
        </p:spPr>
      </p:pic>
    </p:spTree>
    <p:extLst>
      <p:ext uri="{BB962C8B-B14F-4D97-AF65-F5344CB8AC3E}">
        <p14:creationId xmlns:p14="http://schemas.microsoft.com/office/powerpoint/2010/main" val="4124441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180992" cy="2308324"/>
          </a:xfrm>
          <a:prstGeom prst="rect">
            <a:avLst/>
          </a:prstGeom>
          <a:noFill/>
        </p:spPr>
        <p:txBody>
          <a:bodyPr wrap="none" rtlCol="0">
            <a:spAutoFit/>
          </a:bodyPr>
          <a:lstStyle/>
          <a:p>
            <a:r>
              <a:rPr lang="ja-JP" altLang="en-US" sz="2400" dirty="0"/>
              <a:t>順番にプログラムを見ていきます。</a:t>
            </a:r>
            <a:endParaRPr lang="en-US" altLang="ja-JP" sz="2400" dirty="0"/>
          </a:p>
          <a:p>
            <a:endParaRPr lang="en-US" altLang="ja-JP" sz="2400" dirty="0"/>
          </a:p>
          <a:p>
            <a:r>
              <a:rPr lang="ja-JP" altLang="en-US" sz="2400" dirty="0"/>
              <a:t>先頭にある</a:t>
            </a:r>
            <a:r>
              <a:rPr lang="en-US" altLang="ja-JP" sz="2400" b="1" dirty="0">
                <a:solidFill>
                  <a:srgbClr val="0070C0"/>
                </a:solidFill>
              </a:rPr>
              <a:t>using</a:t>
            </a:r>
            <a:r>
              <a:rPr lang="ja-JP" altLang="en-US" sz="2400" b="1" dirty="0">
                <a:solidFill>
                  <a:srgbClr val="0070C0"/>
                </a:solidFill>
              </a:rPr>
              <a:t>文</a:t>
            </a:r>
            <a:r>
              <a:rPr lang="ja-JP" altLang="en-US" sz="2400" dirty="0"/>
              <a:t>はプログラムをきれいに書くテクニックになります。</a:t>
            </a:r>
            <a:endParaRPr lang="en-US" altLang="ja-JP" sz="2400" dirty="0"/>
          </a:p>
          <a:p>
            <a:r>
              <a:rPr lang="ja-JP" altLang="en-US" sz="2400" dirty="0"/>
              <a:t>詳細は</a:t>
            </a:r>
            <a:r>
              <a:rPr lang="en-US" altLang="ja-JP" sz="2400" dirty="0"/>
              <a:t>C++</a:t>
            </a:r>
            <a:r>
              <a:rPr lang="ja-JP" altLang="en-US" sz="2400" dirty="0"/>
              <a:t>の授業で行いますので、ここでは省略します。</a:t>
            </a:r>
            <a:endParaRPr lang="en-US" altLang="ja-JP" sz="2400" dirty="0"/>
          </a:p>
          <a:p>
            <a:endParaRPr lang="en-US" altLang="ja-JP" sz="2400" dirty="0"/>
          </a:p>
          <a:p>
            <a:r>
              <a:rPr lang="ja-JP" altLang="en-US" sz="2400" dirty="0"/>
              <a:t>基本的に必要なコードになるので</a:t>
            </a:r>
            <a:r>
              <a:rPr lang="ja-JP" altLang="en-US" sz="2400" b="1" dirty="0">
                <a:solidFill>
                  <a:srgbClr val="FF0000"/>
                </a:solidFill>
              </a:rPr>
              <a:t>絶対に消さないでください。</a:t>
            </a:r>
            <a:endParaRPr lang="en-US" altLang="ja-JP" sz="2400" b="1" dirty="0">
              <a:solidFill>
                <a:srgbClr val="FF0000"/>
              </a:solidFill>
            </a:endParaRPr>
          </a:p>
        </p:txBody>
      </p:sp>
      <p:pic>
        <p:nvPicPr>
          <p:cNvPr id="3" name="図 2">
            <a:extLst>
              <a:ext uri="{FF2B5EF4-FFF2-40B4-BE49-F238E27FC236}">
                <a16:creationId xmlns:a16="http://schemas.microsoft.com/office/drawing/2014/main" id="{4075D8F2-B8C3-4F1A-9688-4C9E2207C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3664453"/>
            <a:ext cx="8675414" cy="1553006"/>
          </a:xfrm>
          <a:prstGeom prst="rect">
            <a:avLst/>
          </a:prstGeom>
        </p:spPr>
      </p:pic>
    </p:spTree>
    <p:extLst>
      <p:ext uri="{BB962C8B-B14F-4D97-AF65-F5344CB8AC3E}">
        <p14:creationId xmlns:p14="http://schemas.microsoft.com/office/powerpoint/2010/main" val="54763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627957" cy="1938992"/>
          </a:xfrm>
          <a:prstGeom prst="rect">
            <a:avLst/>
          </a:prstGeom>
          <a:noFill/>
        </p:spPr>
        <p:txBody>
          <a:bodyPr wrap="none" rtlCol="0">
            <a:spAutoFit/>
          </a:bodyPr>
          <a:lstStyle/>
          <a:p>
            <a:r>
              <a:rPr lang="ja-JP" altLang="en-US" sz="2400" dirty="0"/>
              <a:t>続いて</a:t>
            </a:r>
            <a:r>
              <a:rPr lang="en-US" altLang="ja-JP" sz="2400" b="1" dirty="0">
                <a:solidFill>
                  <a:srgbClr val="0070C0"/>
                </a:solidFill>
              </a:rPr>
              <a:t>class</a:t>
            </a:r>
            <a:r>
              <a:rPr lang="ja-JP" altLang="en-US" sz="2400" dirty="0"/>
              <a:t>になります。</a:t>
            </a:r>
            <a:endParaRPr lang="en-US" altLang="ja-JP" sz="2400" dirty="0"/>
          </a:p>
          <a:p>
            <a:endParaRPr lang="en-US" altLang="ja-JP" sz="2400" dirty="0"/>
          </a:p>
          <a:p>
            <a:r>
              <a:rPr lang="en-US" altLang="ja-JP" sz="2400" b="1" dirty="0">
                <a:solidFill>
                  <a:srgbClr val="FF0000"/>
                </a:solidFill>
              </a:rPr>
              <a:t>Unity</a:t>
            </a:r>
            <a:r>
              <a:rPr lang="ja-JP" altLang="en-US" sz="2400" b="1" dirty="0">
                <a:solidFill>
                  <a:srgbClr val="FF0000"/>
                </a:solidFill>
              </a:rPr>
              <a:t>では</a:t>
            </a:r>
            <a:r>
              <a:rPr lang="en-US" altLang="ja-JP" sz="2400" b="1" dirty="0">
                <a:solidFill>
                  <a:srgbClr val="FF0000"/>
                </a:solidFill>
              </a:rPr>
              <a:t>C</a:t>
            </a:r>
            <a:r>
              <a:rPr lang="ja-JP" altLang="en-US" sz="2400" b="1" dirty="0">
                <a:solidFill>
                  <a:srgbClr val="FF0000"/>
                </a:solidFill>
              </a:rPr>
              <a:t>＃言語を使用</a:t>
            </a:r>
            <a:r>
              <a:rPr lang="ja-JP" altLang="en-US" sz="2400" dirty="0"/>
              <a:t>するのですが、</a:t>
            </a:r>
            <a:endParaRPr lang="en-US" altLang="ja-JP" sz="2400" dirty="0"/>
          </a:p>
          <a:p>
            <a:r>
              <a:rPr lang="en-US" altLang="ja-JP" sz="2400" dirty="0"/>
              <a:t>C</a:t>
            </a:r>
            <a:r>
              <a:rPr lang="ja-JP" altLang="en-US" sz="2400" dirty="0"/>
              <a:t>＃言語は</a:t>
            </a:r>
            <a:r>
              <a:rPr lang="ja-JP" altLang="en-US" sz="2400" b="1" dirty="0">
                <a:solidFill>
                  <a:srgbClr val="FF0000"/>
                </a:solidFill>
              </a:rPr>
              <a:t>関数や変数を一つにまとめたクラス</a:t>
            </a:r>
            <a:r>
              <a:rPr lang="ja-JP" altLang="en-US" sz="2400" dirty="0"/>
              <a:t>というものを使って、</a:t>
            </a:r>
            <a:endParaRPr lang="en-US" altLang="ja-JP" sz="2400" dirty="0"/>
          </a:p>
          <a:p>
            <a:r>
              <a:rPr lang="ja-JP" altLang="en-US" sz="2400" dirty="0"/>
              <a:t>プログラムを書いていきます。</a:t>
            </a:r>
            <a:endParaRPr lang="en-US" altLang="ja-JP" sz="2400" dirty="0"/>
          </a:p>
        </p:txBody>
      </p:sp>
      <p:pic>
        <p:nvPicPr>
          <p:cNvPr id="5" name="図 4">
            <a:extLst>
              <a:ext uri="{FF2B5EF4-FFF2-40B4-BE49-F238E27FC236}">
                <a16:creationId xmlns:a16="http://schemas.microsoft.com/office/drawing/2014/main" id="{07B16C75-D7E5-4D06-99F3-8E6EB9E8D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3295121"/>
            <a:ext cx="8013455" cy="685208"/>
          </a:xfrm>
          <a:prstGeom prst="rect">
            <a:avLst/>
          </a:prstGeom>
        </p:spPr>
      </p:pic>
      <p:sp>
        <p:nvSpPr>
          <p:cNvPr id="7" name="テキスト ボックス 6">
            <a:extLst>
              <a:ext uri="{FF2B5EF4-FFF2-40B4-BE49-F238E27FC236}">
                <a16:creationId xmlns:a16="http://schemas.microsoft.com/office/drawing/2014/main" id="{F55FDE6A-2256-4C9C-AA53-F5B2235D0B09}"/>
              </a:ext>
            </a:extLst>
          </p:cNvPr>
          <p:cNvSpPr txBox="1"/>
          <p:nvPr/>
        </p:nvSpPr>
        <p:spPr>
          <a:xfrm>
            <a:off x="567542" y="4120029"/>
            <a:ext cx="11445762" cy="1938992"/>
          </a:xfrm>
          <a:prstGeom prst="rect">
            <a:avLst/>
          </a:prstGeom>
          <a:noFill/>
        </p:spPr>
        <p:txBody>
          <a:bodyPr wrap="none" rtlCol="0">
            <a:spAutoFit/>
          </a:bodyPr>
          <a:lstStyle/>
          <a:p>
            <a:r>
              <a:rPr lang="ja-JP" altLang="en-US" sz="2400" b="1" dirty="0">
                <a:solidFill>
                  <a:srgbClr val="00B050"/>
                </a:solidFill>
              </a:rPr>
              <a:t>緑色の部分がクラス名</a:t>
            </a:r>
            <a:r>
              <a:rPr lang="ja-JP" altLang="en-US" sz="2400" dirty="0"/>
              <a:t>なのですが、</a:t>
            </a:r>
            <a:endParaRPr lang="en-US" altLang="ja-JP" sz="2400" dirty="0"/>
          </a:p>
          <a:p>
            <a:r>
              <a:rPr lang="en-US" altLang="ja-JP" sz="2400" b="1" dirty="0">
                <a:solidFill>
                  <a:srgbClr val="FF0000"/>
                </a:solidFill>
              </a:rPr>
              <a:t>Unity</a:t>
            </a:r>
            <a:r>
              <a:rPr lang="ja-JP" altLang="en-US" sz="2400" b="1" dirty="0">
                <a:solidFill>
                  <a:srgbClr val="FF0000"/>
                </a:solidFill>
              </a:rPr>
              <a:t>ではクラス名とスクリプト名が一致しないとコンパイルエラーになります。</a:t>
            </a:r>
            <a:endParaRPr lang="en-US" altLang="ja-JP" sz="2400" b="1" dirty="0">
              <a:solidFill>
                <a:srgbClr val="FF0000"/>
              </a:solidFill>
            </a:endParaRPr>
          </a:p>
          <a:p>
            <a:endParaRPr lang="en-US" altLang="ja-JP" sz="2400" dirty="0"/>
          </a:p>
          <a:p>
            <a:r>
              <a:rPr lang="ja-JP" altLang="en-US" sz="2400" dirty="0"/>
              <a:t>なので、</a:t>
            </a:r>
            <a:r>
              <a:rPr lang="ja-JP" altLang="en-US" sz="2400" b="1" dirty="0">
                <a:solidFill>
                  <a:srgbClr val="FF0000"/>
                </a:solidFill>
              </a:rPr>
              <a:t>ファイル名を変えてしまうと、クラス名も変えなければ</a:t>
            </a:r>
            <a:r>
              <a:rPr lang="ja-JP" altLang="en-US" sz="2400" dirty="0"/>
              <a:t>ならず、</a:t>
            </a:r>
            <a:endParaRPr lang="en-US" altLang="ja-JP" sz="2400" dirty="0"/>
          </a:p>
          <a:p>
            <a:r>
              <a:rPr lang="ja-JP" altLang="en-US" sz="2400" dirty="0"/>
              <a:t>大規模なプロジェクトだと、かなり面倒なことになります。</a:t>
            </a:r>
            <a:endParaRPr lang="en-US" altLang="ja-JP" sz="2400" dirty="0"/>
          </a:p>
        </p:txBody>
      </p:sp>
    </p:spTree>
    <p:extLst>
      <p:ext uri="{BB962C8B-B14F-4D97-AF65-F5344CB8AC3E}">
        <p14:creationId xmlns:p14="http://schemas.microsoft.com/office/powerpoint/2010/main" val="1894555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77411" cy="1569660"/>
          </a:xfrm>
          <a:prstGeom prst="rect">
            <a:avLst/>
          </a:prstGeom>
          <a:noFill/>
        </p:spPr>
        <p:txBody>
          <a:bodyPr wrap="none" rtlCol="0">
            <a:spAutoFit/>
          </a:bodyPr>
          <a:lstStyle/>
          <a:p>
            <a:r>
              <a:rPr lang="ja-JP" altLang="en-US" sz="2400" dirty="0"/>
              <a:t>続いて</a:t>
            </a:r>
            <a:r>
              <a:rPr lang="en-US" altLang="ja-JP" sz="2400" b="1" dirty="0">
                <a:solidFill>
                  <a:srgbClr val="0070C0"/>
                </a:solidFill>
              </a:rPr>
              <a:t>Start</a:t>
            </a:r>
            <a:r>
              <a:rPr lang="ja-JP" altLang="en-US" sz="2400" b="1" dirty="0">
                <a:solidFill>
                  <a:srgbClr val="0070C0"/>
                </a:solidFill>
              </a:rPr>
              <a:t>関数</a:t>
            </a:r>
            <a:r>
              <a:rPr lang="ja-JP" altLang="en-US" sz="2400" dirty="0"/>
              <a:t>になります。</a:t>
            </a:r>
            <a:endParaRPr lang="en-US" altLang="ja-JP" sz="2400" dirty="0"/>
          </a:p>
          <a:p>
            <a:endParaRPr lang="en-US" altLang="ja-JP" sz="2400" dirty="0"/>
          </a:p>
          <a:p>
            <a:r>
              <a:rPr lang="en-US" altLang="ja-JP" sz="2400" dirty="0"/>
              <a:t>Start</a:t>
            </a:r>
            <a:r>
              <a:rPr lang="ja-JP" altLang="en-US" sz="2400" dirty="0"/>
              <a:t>関数は、</a:t>
            </a:r>
            <a:r>
              <a:rPr lang="ja-JP" altLang="en-US" sz="2400" b="1" dirty="0">
                <a:solidFill>
                  <a:srgbClr val="FF0000"/>
                </a:solidFill>
              </a:rPr>
              <a:t>オブジェクトの更新が始まる直前に</a:t>
            </a:r>
            <a:r>
              <a:rPr lang="en-US" altLang="ja-JP" sz="2400" b="1" dirty="0">
                <a:solidFill>
                  <a:srgbClr val="FF0000"/>
                </a:solidFill>
              </a:rPr>
              <a:t>1</a:t>
            </a:r>
            <a:r>
              <a:rPr lang="ja-JP" altLang="en-US" sz="2400" b="1" dirty="0">
                <a:solidFill>
                  <a:srgbClr val="FF0000"/>
                </a:solidFill>
              </a:rPr>
              <a:t>度だけ呼ばれます。</a:t>
            </a:r>
            <a:endParaRPr lang="en-US" altLang="ja-JP" sz="2400" b="1" dirty="0">
              <a:solidFill>
                <a:srgbClr val="FF0000"/>
              </a:solidFill>
            </a:endParaRPr>
          </a:p>
          <a:p>
            <a:r>
              <a:rPr lang="ja-JP" altLang="en-US" sz="2400" dirty="0"/>
              <a:t>主に</a:t>
            </a:r>
            <a:r>
              <a:rPr lang="ja-JP" altLang="en-US" sz="2400" b="1" dirty="0">
                <a:solidFill>
                  <a:srgbClr val="FF0000"/>
                </a:solidFill>
              </a:rPr>
              <a:t>初期化処理</a:t>
            </a:r>
            <a:r>
              <a:rPr lang="ja-JP" altLang="en-US" sz="2400" dirty="0"/>
              <a:t>を書く関数になります。</a:t>
            </a:r>
            <a:endParaRPr lang="en-US" altLang="ja-JP" sz="2400" dirty="0"/>
          </a:p>
        </p:txBody>
      </p:sp>
      <p:pic>
        <p:nvPicPr>
          <p:cNvPr id="3" name="図 2">
            <a:extLst>
              <a:ext uri="{FF2B5EF4-FFF2-40B4-BE49-F238E27FC236}">
                <a16:creationId xmlns:a16="http://schemas.microsoft.com/office/drawing/2014/main" id="{1F0A1748-9D09-4F08-B95F-228A8B083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925789"/>
            <a:ext cx="11078050" cy="1933082"/>
          </a:xfrm>
          <a:prstGeom prst="rect">
            <a:avLst/>
          </a:prstGeom>
        </p:spPr>
      </p:pic>
    </p:spTree>
    <p:extLst>
      <p:ext uri="{BB962C8B-B14F-4D97-AF65-F5344CB8AC3E}">
        <p14:creationId xmlns:p14="http://schemas.microsoft.com/office/powerpoint/2010/main" val="64401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684609" cy="1569660"/>
          </a:xfrm>
          <a:prstGeom prst="rect">
            <a:avLst/>
          </a:prstGeom>
          <a:noFill/>
        </p:spPr>
        <p:txBody>
          <a:bodyPr wrap="none" rtlCol="0">
            <a:spAutoFit/>
          </a:bodyPr>
          <a:lstStyle/>
          <a:p>
            <a:r>
              <a:rPr lang="ja-JP" altLang="en-US" sz="2400" dirty="0"/>
              <a:t>最後に</a:t>
            </a:r>
            <a:r>
              <a:rPr lang="en-US" altLang="ja-JP" sz="2400" b="1" dirty="0">
                <a:solidFill>
                  <a:srgbClr val="0070C0"/>
                </a:solidFill>
              </a:rPr>
              <a:t>Update</a:t>
            </a:r>
            <a:r>
              <a:rPr lang="ja-JP" altLang="en-US" sz="2400" b="1" dirty="0">
                <a:solidFill>
                  <a:srgbClr val="0070C0"/>
                </a:solidFill>
              </a:rPr>
              <a:t>関数</a:t>
            </a:r>
            <a:r>
              <a:rPr lang="ja-JP" altLang="en-US" sz="2400" dirty="0"/>
              <a:t>になります。</a:t>
            </a:r>
            <a:endParaRPr lang="en-US" altLang="ja-JP" sz="2400" dirty="0"/>
          </a:p>
          <a:p>
            <a:endParaRPr lang="en-US" altLang="ja-JP" sz="2400" dirty="0"/>
          </a:p>
          <a:p>
            <a:r>
              <a:rPr lang="en-US" altLang="ja-JP" sz="2400" dirty="0"/>
              <a:t>Update</a:t>
            </a:r>
            <a:r>
              <a:rPr lang="ja-JP" altLang="en-US" sz="2400" dirty="0"/>
              <a:t>関数は</a:t>
            </a:r>
            <a:r>
              <a:rPr lang="ja-JP" altLang="en-US" sz="2400" b="1" dirty="0">
                <a:solidFill>
                  <a:srgbClr val="FF0000"/>
                </a:solidFill>
              </a:rPr>
              <a:t>オブジェクトが生きている間、毎フレーム呼ばれる関数</a:t>
            </a:r>
            <a:r>
              <a:rPr lang="ja-JP" altLang="en-US" sz="2400" dirty="0"/>
              <a:t>になります。</a:t>
            </a:r>
            <a:endParaRPr lang="en-US" altLang="ja-JP" sz="2400" dirty="0"/>
          </a:p>
          <a:p>
            <a:r>
              <a:rPr lang="ja-JP" altLang="en-US" sz="2400" dirty="0"/>
              <a:t>主に</a:t>
            </a:r>
            <a:r>
              <a:rPr lang="ja-JP" altLang="en-US" sz="2400" b="1" dirty="0">
                <a:solidFill>
                  <a:srgbClr val="FF0000"/>
                </a:solidFill>
              </a:rPr>
              <a:t>入力処理</a:t>
            </a:r>
            <a:r>
              <a:rPr lang="ja-JP" altLang="en-US" sz="2400" dirty="0"/>
              <a:t>や</a:t>
            </a:r>
            <a:r>
              <a:rPr lang="ja-JP" altLang="en-US" sz="2400" b="1" dirty="0">
                <a:solidFill>
                  <a:srgbClr val="FF0000"/>
                </a:solidFill>
              </a:rPr>
              <a:t>移動処理</a:t>
            </a:r>
            <a:r>
              <a:rPr lang="ja-JP" altLang="en-US" sz="2400" dirty="0"/>
              <a:t>など、動きの根幹となる処理を書きます。</a:t>
            </a:r>
            <a:endParaRPr lang="en-US" altLang="ja-JP" sz="2400" dirty="0"/>
          </a:p>
        </p:txBody>
      </p:sp>
      <p:pic>
        <p:nvPicPr>
          <p:cNvPr id="5" name="図 4">
            <a:extLst>
              <a:ext uri="{FF2B5EF4-FFF2-40B4-BE49-F238E27FC236}">
                <a16:creationId xmlns:a16="http://schemas.microsoft.com/office/drawing/2014/main" id="{EB30E4A3-2C7A-4827-A90A-03E02290D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925788"/>
            <a:ext cx="8883424" cy="1995835"/>
          </a:xfrm>
          <a:prstGeom prst="rect">
            <a:avLst/>
          </a:prstGeom>
        </p:spPr>
      </p:pic>
    </p:spTree>
    <p:extLst>
      <p:ext uri="{BB962C8B-B14F-4D97-AF65-F5344CB8AC3E}">
        <p14:creationId xmlns:p14="http://schemas.microsoft.com/office/powerpoint/2010/main" val="3364584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737742" cy="830997"/>
          </a:xfrm>
          <a:prstGeom prst="rect">
            <a:avLst/>
          </a:prstGeom>
          <a:noFill/>
        </p:spPr>
        <p:txBody>
          <a:bodyPr wrap="none" rtlCol="0">
            <a:spAutoFit/>
          </a:bodyPr>
          <a:lstStyle/>
          <a:p>
            <a:r>
              <a:rPr lang="ja-JP" altLang="en-US" sz="2400" dirty="0"/>
              <a:t>では簡単な移動処理を書いてみましょう。</a:t>
            </a:r>
            <a:endParaRPr lang="en-US" altLang="ja-JP" sz="2400" dirty="0"/>
          </a:p>
          <a:p>
            <a:r>
              <a:rPr lang="ja-JP" altLang="en-US" sz="2400" dirty="0"/>
              <a:t>書き終わったら　</a:t>
            </a:r>
            <a:r>
              <a:rPr lang="en-US" altLang="ja-JP" sz="2400" b="1" dirty="0">
                <a:solidFill>
                  <a:srgbClr val="FF0000"/>
                </a:solidFill>
              </a:rPr>
              <a:t>Ctrl</a:t>
            </a:r>
            <a:r>
              <a:rPr lang="ja-JP" altLang="en-US" sz="2400" b="1" dirty="0">
                <a:solidFill>
                  <a:srgbClr val="FF0000"/>
                </a:solidFill>
              </a:rPr>
              <a:t>＋</a:t>
            </a:r>
            <a:r>
              <a:rPr lang="en-US" altLang="ja-JP" sz="2400" b="1" dirty="0">
                <a:solidFill>
                  <a:srgbClr val="FF0000"/>
                </a:solidFill>
              </a:rPr>
              <a:t>S</a:t>
            </a:r>
            <a:r>
              <a:rPr lang="ja-JP" altLang="en-US" sz="2400" dirty="0"/>
              <a:t>　で保存しましょう。</a:t>
            </a:r>
            <a:endParaRPr lang="en-US" altLang="ja-JP" sz="2400" dirty="0"/>
          </a:p>
        </p:txBody>
      </p:sp>
      <p:pic>
        <p:nvPicPr>
          <p:cNvPr id="3" name="図 2">
            <a:extLst>
              <a:ext uri="{FF2B5EF4-FFF2-40B4-BE49-F238E27FC236}">
                <a16:creationId xmlns:a16="http://schemas.microsoft.com/office/drawing/2014/main" id="{06110CDF-374B-4F63-83F4-1203333CC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8528"/>
            <a:ext cx="7599305" cy="4177518"/>
          </a:xfrm>
          <a:prstGeom prst="rect">
            <a:avLst/>
          </a:prstGeom>
        </p:spPr>
      </p:pic>
    </p:spTree>
    <p:extLst>
      <p:ext uri="{BB962C8B-B14F-4D97-AF65-F5344CB8AC3E}">
        <p14:creationId xmlns:p14="http://schemas.microsoft.com/office/powerpoint/2010/main" val="3003697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t>移動するプログラムを書いたので、オブジェクトに適用します。</a:t>
            </a:r>
            <a:endParaRPr lang="en-US" altLang="ja-JP" sz="2400" dirty="0"/>
          </a:p>
          <a:p>
            <a:r>
              <a:rPr lang="en-US" altLang="ja-JP" sz="2400" dirty="0"/>
              <a:t>Unity</a:t>
            </a:r>
            <a:r>
              <a:rPr lang="ja-JP" altLang="en-US" sz="2400" dirty="0"/>
              <a:t>に戻って</a:t>
            </a:r>
            <a:r>
              <a:rPr lang="en-US" altLang="ja-JP" sz="2400" dirty="0"/>
              <a:t>Cube</a:t>
            </a:r>
            <a:r>
              <a:rPr lang="ja-JP" altLang="en-US" sz="2400" dirty="0"/>
              <a:t>オブジェクトをシーンに追加しましょう。</a:t>
            </a:r>
            <a:endParaRPr lang="en-US" altLang="ja-JP" sz="2400" dirty="0"/>
          </a:p>
        </p:txBody>
      </p:sp>
      <p:pic>
        <p:nvPicPr>
          <p:cNvPr id="5" name="図 4">
            <a:extLst>
              <a:ext uri="{FF2B5EF4-FFF2-40B4-BE49-F238E27FC236}">
                <a16:creationId xmlns:a16="http://schemas.microsoft.com/office/drawing/2014/main" id="{3049AED9-881E-4199-985A-D50FF21D0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9155530" cy="3454445"/>
          </a:xfrm>
          <a:prstGeom prst="rect">
            <a:avLst/>
          </a:prstGeom>
        </p:spPr>
      </p:pic>
    </p:spTree>
    <p:extLst>
      <p:ext uri="{BB962C8B-B14F-4D97-AF65-F5344CB8AC3E}">
        <p14:creationId xmlns:p14="http://schemas.microsoft.com/office/powerpoint/2010/main" val="675701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13088" cy="461665"/>
          </a:xfrm>
          <a:prstGeom prst="rect">
            <a:avLst/>
          </a:prstGeom>
          <a:noFill/>
        </p:spPr>
        <p:txBody>
          <a:bodyPr wrap="none" rtlCol="0">
            <a:spAutoFit/>
          </a:bodyPr>
          <a:lstStyle/>
          <a:p>
            <a:r>
              <a:rPr lang="ja-JP" altLang="en-US" sz="2400" dirty="0"/>
              <a:t>追加した</a:t>
            </a:r>
            <a:r>
              <a:rPr lang="en-US" altLang="ja-JP" sz="2400" dirty="0"/>
              <a:t>Cube</a:t>
            </a:r>
            <a:r>
              <a:rPr lang="ja-JP" altLang="en-US" sz="2400" dirty="0"/>
              <a:t>を選択して、インスペクターの</a:t>
            </a:r>
            <a:r>
              <a:rPr lang="en-US" altLang="ja-JP" sz="2400" dirty="0"/>
              <a:t>Add Component</a:t>
            </a:r>
            <a:r>
              <a:rPr lang="ja-JP" altLang="en-US" sz="2400" dirty="0"/>
              <a:t>ボタンを押します。</a:t>
            </a:r>
            <a:endParaRPr lang="en-US" altLang="ja-JP" sz="2400" dirty="0"/>
          </a:p>
        </p:txBody>
      </p:sp>
      <p:pic>
        <p:nvPicPr>
          <p:cNvPr id="3" name="図 2">
            <a:extLst>
              <a:ext uri="{FF2B5EF4-FFF2-40B4-BE49-F238E27FC236}">
                <a16:creationId xmlns:a16="http://schemas.microsoft.com/office/drawing/2014/main" id="{CC6731BE-7D05-417F-A7E2-F6A34E3D56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2486378" cy="4548252"/>
          </a:xfrm>
          <a:prstGeom prst="rect">
            <a:avLst/>
          </a:prstGeom>
        </p:spPr>
      </p:pic>
      <p:sp>
        <p:nvSpPr>
          <p:cNvPr id="7" name="矢印: 右 6">
            <a:extLst>
              <a:ext uri="{FF2B5EF4-FFF2-40B4-BE49-F238E27FC236}">
                <a16:creationId xmlns:a16="http://schemas.microsoft.com/office/drawing/2014/main" id="{28B215E8-6545-4301-8B67-1619F5B78DC2}"/>
              </a:ext>
            </a:extLst>
          </p:cNvPr>
          <p:cNvSpPr/>
          <p:nvPr/>
        </p:nvSpPr>
        <p:spPr>
          <a:xfrm rot="13805683">
            <a:off x="2008894" y="6286309"/>
            <a:ext cx="468314" cy="295835"/>
          </a:xfrm>
          <a:prstGeom prst="right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69866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510663" cy="1938992"/>
          </a:xfrm>
          <a:prstGeom prst="rect">
            <a:avLst/>
          </a:prstGeom>
          <a:noFill/>
        </p:spPr>
        <p:txBody>
          <a:bodyPr wrap="none" rtlCol="0">
            <a:spAutoFit/>
          </a:bodyPr>
          <a:lstStyle/>
          <a:p>
            <a:r>
              <a:rPr lang="ja-JP" altLang="en-US" sz="2400" b="1" dirty="0">
                <a:solidFill>
                  <a:srgbClr val="FF0000"/>
                </a:solidFill>
              </a:rPr>
              <a:t>スクリプトはコンポーネント扱い</a:t>
            </a:r>
            <a:r>
              <a:rPr lang="ja-JP" altLang="en-US" sz="2400" dirty="0"/>
              <a:t>になります。</a:t>
            </a:r>
            <a:endParaRPr lang="en-US" altLang="ja-JP" sz="2400" dirty="0"/>
          </a:p>
          <a:p>
            <a:r>
              <a:rPr lang="ja-JP" altLang="en-US" sz="2400" dirty="0"/>
              <a:t>つまり</a:t>
            </a:r>
            <a:r>
              <a:rPr lang="ja-JP" altLang="en-US" sz="2400" b="1" dirty="0">
                <a:solidFill>
                  <a:srgbClr val="FF0000"/>
                </a:solidFill>
              </a:rPr>
              <a:t>オブジェクトに与える機能</a:t>
            </a:r>
            <a:r>
              <a:rPr lang="ja-JP" altLang="en-US" sz="2400" dirty="0"/>
              <a:t>ということになります。</a:t>
            </a:r>
            <a:endParaRPr lang="en-US" altLang="ja-JP" sz="2400" dirty="0"/>
          </a:p>
          <a:p>
            <a:endParaRPr lang="en-US" altLang="ja-JP" sz="2400" dirty="0"/>
          </a:p>
          <a:p>
            <a:r>
              <a:rPr lang="en-US" altLang="ja-JP" sz="2400" dirty="0"/>
              <a:t>Add Component</a:t>
            </a:r>
            <a:r>
              <a:rPr lang="ja-JP" altLang="en-US" sz="2400" dirty="0"/>
              <a:t>でスクリプトの名前で検索すると、</a:t>
            </a:r>
            <a:endParaRPr lang="en-US" altLang="ja-JP" sz="2400" dirty="0"/>
          </a:p>
          <a:p>
            <a:r>
              <a:rPr lang="ja-JP" altLang="en-US" sz="2400" dirty="0"/>
              <a:t>先ほどの</a:t>
            </a:r>
            <a:r>
              <a:rPr lang="en-US" altLang="ja-JP" sz="2400" dirty="0" err="1"/>
              <a:t>CubeSlider</a:t>
            </a:r>
            <a:r>
              <a:rPr lang="ja-JP" altLang="en-US" sz="2400" dirty="0"/>
              <a:t>が見つかりますので、追加しましょう。</a:t>
            </a:r>
            <a:endParaRPr lang="en-US" altLang="ja-JP" sz="2400" dirty="0"/>
          </a:p>
        </p:txBody>
      </p:sp>
      <p:pic>
        <p:nvPicPr>
          <p:cNvPr id="9" name="図 8">
            <a:extLst>
              <a:ext uri="{FF2B5EF4-FFF2-40B4-BE49-F238E27FC236}">
                <a16:creationId xmlns:a16="http://schemas.microsoft.com/office/drawing/2014/main" id="{5919D772-3575-4A16-B6BA-24B375906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3295120"/>
            <a:ext cx="5297932" cy="3070925"/>
          </a:xfrm>
          <a:prstGeom prst="rect">
            <a:avLst/>
          </a:prstGeom>
        </p:spPr>
      </p:pic>
    </p:spTree>
    <p:extLst>
      <p:ext uri="{BB962C8B-B14F-4D97-AF65-F5344CB8AC3E}">
        <p14:creationId xmlns:p14="http://schemas.microsoft.com/office/powerpoint/2010/main" val="1169570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kumimoji="1" lang="ja-JP" altLang="en-US" sz="3200" b="1" u="sng" dirty="0"/>
              <a:t>スクリプト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lang="ja-JP" altLang="en-US" sz="2400" dirty="0"/>
              <a:t>実行してキューブが右に動いていれば成功です。</a:t>
            </a:r>
            <a:endParaRPr lang="en-US" altLang="ja-JP" sz="2400" dirty="0"/>
          </a:p>
        </p:txBody>
      </p:sp>
      <p:pic>
        <p:nvPicPr>
          <p:cNvPr id="3" name="図 2">
            <a:extLst>
              <a:ext uri="{FF2B5EF4-FFF2-40B4-BE49-F238E27FC236}">
                <a16:creationId xmlns:a16="http://schemas.microsoft.com/office/drawing/2014/main" id="{ABDA203B-A0C2-42F0-AFF2-4985A1FF3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9246143" cy="4618865"/>
          </a:xfrm>
          <a:prstGeom prst="rect">
            <a:avLst/>
          </a:prstGeom>
        </p:spPr>
      </p:pic>
    </p:spTree>
    <p:extLst>
      <p:ext uri="{BB962C8B-B14F-4D97-AF65-F5344CB8AC3E}">
        <p14:creationId xmlns:p14="http://schemas.microsoft.com/office/powerpoint/2010/main" val="331413902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536</Words>
  <Application>Microsoft Office PowerPoint</Application>
  <PresentationFormat>ワイド画面</PresentationFormat>
  <Paragraphs>70</Paragraphs>
  <Slides>15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31</cp:revision>
  <dcterms:created xsi:type="dcterms:W3CDTF">2024-08-27T02:15:54Z</dcterms:created>
  <dcterms:modified xsi:type="dcterms:W3CDTF">2024-10-04T05:27:43Z</dcterms:modified>
</cp:coreProperties>
</file>