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2025/7/15</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2025/7/15</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1569660"/>
          </a:xfrm>
          <a:prstGeom prst="rect">
            <a:avLst/>
          </a:prstGeom>
          <a:noFill/>
        </p:spPr>
        <p:txBody>
          <a:bodyPr wrap="none" rtlCol="0">
            <a:spAutoFit/>
          </a:bodyPr>
          <a:lstStyle/>
          <a:p>
            <a:r>
              <a:rPr kumimoji="1" lang="ja-JP" altLang="en-US" sz="2400" dirty="0"/>
              <a:t>シェーダーについて学習するには、</a:t>
            </a:r>
            <a:endParaRPr kumimoji="1" lang="en-US" altLang="ja-JP" sz="2400" dirty="0"/>
          </a:p>
          <a:p>
            <a:r>
              <a:rPr lang="ja-JP" altLang="en-US" sz="2400" b="1" dirty="0">
                <a:solidFill>
                  <a:srgbClr val="FF0000"/>
                </a:solidFill>
              </a:rPr>
              <a:t>レンダリングパイプライン</a:t>
            </a:r>
            <a:r>
              <a:rPr lang="ja-JP" altLang="en-US" sz="2400" dirty="0"/>
              <a:t>についての知識が必須となります。</a:t>
            </a:r>
            <a:endParaRPr lang="en-US" altLang="ja-JP" sz="2400" dirty="0"/>
          </a:p>
          <a:p>
            <a:endParaRPr kumimoji="1" lang="en-US" altLang="ja-JP" sz="2400" dirty="0"/>
          </a:p>
          <a:p>
            <a:r>
              <a:rPr lang="en-US" altLang="ja-JP" sz="2400" dirty="0"/>
              <a:t>※</a:t>
            </a:r>
            <a:r>
              <a:rPr lang="ja-JP" altLang="en-US" sz="2400" dirty="0"/>
              <a:t>マルチメディア検定の内容も思い出してみよう</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98113" cy="2677656"/>
          </a:xfrm>
          <a:prstGeom prst="rect">
            <a:avLst/>
          </a:prstGeom>
          <a:noFill/>
        </p:spPr>
        <p:txBody>
          <a:bodyPr wrap="none" rtlCol="0">
            <a:spAutoFit/>
          </a:bodyPr>
          <a:lstStyle/>
          <a:p>
            <a:r>
              <a:rPr lang="ja-JP" altLang="en-US" sz="2400" b="1" dirty="0">
                <a:solidFill>
                  <a:srgbClr val="FF0000"/>
                </a:solidFill>
              </a:rPr>
              <a:t>レンダリングパイプライン</a:t>
            </a:r>
            <a:r>
              <a:rPr lang="ja-JP" altLang="en-US" sz="2400" dirty="0"/>
              <a:t>とは、</a:t>
            </a:r>
            <a:endParaRPr lang="en-US" altLang="ja-JP" sz="2400" dirty="0"/>
          </a:p>
          <a:p>
            <a:r>
              <a:rPr lang="ja-JP" altLang="en-US" sz="2400" b="1" dirty="0">
                <a:solidFill>
                  <a:srgbClr val="FF0000"/>
                </a:solidFill>
              </a:rPr>
              <a:t>画像データがモニターに表示されるまでの処理</a:t>
            </a:r>
            <a:r>
              <a:rPr lang="ja-JP" altLang="en-US" sz="2400" dirty="0"/>
              <a:t>になります。</a:t>
            </a:r>
            <a:endParaRPr lang="en-US" altLang="ja-JP" sz="2400" dirty="0"/>
          </a:p>
          <a:p>
            <a:endParaRPr lang="en-US" altLang="ja-JP" sz="2400" dirty="0"/>
          </a:p>
          <a:p>
            <a:r>
              <a:rPr lang="en-US" altLang="ja-JP" sz="2400" dirty="0"/>
              <a:t>FBX, X</a:t>
            </a:r>
            <a:r>
              <a:rPr lang="ja-JP" altLang="en-US" sz="2400" dirty="0"/>
              <a:t>や</a:t>
            </a:r>
            <a:r>
              <a:rPr lang="en-US" altLang="ja-JP" sz="2400" dirty="0"/>
              <a:t>PNG</a:t>
            </a:r>
            <a:r>
              <a:rPr lang="ja-JP" altLang="en-US" sz="2400" dirty="0"/>
              <a:t>など、画像データがモニターに表示されるまでには、</a:t>
            </a:r>
            <a:endParaRPr lang="en-US" altLang="ja-JP" sz="2400" dirty="0"/>
          </a:p>
          <a:p>
            <a:r>
              <a:rPr lang="ja-JP" altLang="en-US" sz="2400" dirty="0"/>
              <a:t>様々な工程を経て表示されています。</a:t>
            </a:r>
            <a:endParaRPr lang="en-US" altLang="ja-JP" sz="2400" dirty="0"/>
          </a:p>
          <a:p>
            <a:endParaRPr lang="en-US" altLang="ja-JP" sz="2400" dirty="0"/>
          </a:p>
          <a:p>
            <a:r>
              <a:rPr lang="ja-JP" altLang="en-US" sz="2400" dirty="0"/>
              <a:t>ここではざっくりと説明します。</a:t>
            </a:r>
            <a:endParaRPr lang="en-US" altLang="ja-JP" sz="2400" dirty="0"/>
          </a:p>
        </p:txBody>
      </p:sp>
    </p:spTree>
    <p:extLst>
      <p:ext uri="{BB962C8B-B14F-4D97-AF65-F5344CB8AC3E}">
        <p14:creationId xmlns:p14="http://schemas.microsoft.com/office/powerpoint/2010/main" val="2838801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kumimoji="1" lang="ja-JP" altLang="en-US" sz="2400" dirty="0"/>
              <a:t>描画される画像は、描画座標をもとに</a:t>
            </a:r>
            <a:r>
              <a:rPr kumimoji="1" lang="ja-JP" altLang="en-US" sz="2400" b="1" dirty="0">
                <a:solidFill>
                  <a:srgbClr val="FF0000"/>
                </a:solidFill>
              </a:rPr>
              <a:t>仮想空間に配置</a:t>
            </a:r>
            <a:r>
              <a:rPr kumimoji="1" lang="ja-JP" altLang="en-US" sz="2400" dirty="0"/>
              <a:t>されます。</a:t>
            </a:r>
            <a:endParaRPr kumimoji="1" lang="en-US" altLang="ja-JP" sz="2400" dirty="0"/>
          </a:p>
          <a:p>
            <a:r>
              <a:rPr lang="ja-JP" altLang="en-US" sz="2400" dirty="0"/>
              <a:t>まだ影も色もついていない状態で、</a:t>
            </a:r>
            <a:r>
              <a:rPr lang="ja-JP" altLang="en-US" sz="2400" b="1" dirty="0">
                <a:solidFill>
                  <a:srgbClr val="FF0000"/>
                </a:solidFill>
              </a:rPr>
              <a:t>位置関係だけ決定</a:t>
            </a:r>
            <a:r>
              <a:rPr lang="ja-JP" altLang="en-US" sz="2400" dirty="0"/>
              <a:t>されます。</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567542" y="3217333"/>
            <a:ext cx="1845458" cy="2523067"/>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819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830997"/>
          </a:xfrm>
          <a:prstGeom prst="rect">
            <a:avLst/>
          </a:prstGeom>
          <a:noFill/>
        </p:spPr>
        <p:txBody>
          <a:bodyPr wrap="none" rtlCol="0">
            <a:spAutoFit/>
          </a:bodyPr>
          <a:lstStyle/>
          <a:p>
            <a:r>
              <a:rPr kumimoji="1" lang="ja-JP" altLang="en-US" sz="2400" dirty="0"/>
              <a:t>次に</a:t>
            </a:r>
            <a:r>
              <a:rPr kumimoji="1" lang="ja-JP" altLang="en-US" sz="2400" b="1" dirty="0">
                <a:solidFill>
                  <a:srgbClr val="FF0000"/>
                </a:solidFill>
              </a:rPr>
              <a:t>光源や画像の形状から、画像の陰影をつけていきます。</a:t>
            </a:r>
            <a:endParaRPr kumimoji="1" lang="en-US" altLang="ja-JP" sz="2400" b="1" dirty="0">
              <a:solidFill>
                <a:srgbClr val="FF0000"/>
              </a:solidFill>
            </a:endParaRPr>
          </a:p>
          <a:p>
            <a:r>
              <a:rPr lang="ja-JP" altLang="en-US" sz="2400" dirty="0"/>
              <a:t>光が当たる部分は明るく、当たらない部分は暗く、といった感じです。</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2175934" y="3623733"/>
            <a:ext cx="1100666" cy="2556934"/>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1800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1569660"/>
          </a:xfrm>
          <a:prstGeom prst="rect">
            <a:avLst/>
          </a:prstGeom>
          <a:noFill/>
        </p:spPr>
        <p:txBody>
          <a:bodyPr wrap="none" rtlCol="0">
            <a:spAutoFit/>
          </a:bodyPr>
          <a:lstStyle/>
          <a:p>
            <a:r>
              <a:rPr lang="ja-JP" altLang="en-US" sz="2400" dirty="0"/>
              <a:t>その後、</a:t>
            </a:r>
            <a:r>
              <a:rPr lang="ja-JP" altLang="en-US" sz="2400" b="1" dirty="0">
                <a:solidFill>
                  <a:srgbClr val="FF0000"/>
                </a:solidFill>
              </a:rPr>
              <a:t>頂点を増減させて形状を変える</a:t>
            </a:r>
            <a:r>
              <a:rPr lang="ja-JP" altLang="en-US" sz="2400" dirty="0"/>
              <a:t>こともできるようになりました。</a:t>
            </a:r>
            <a:endParaRPr lang="en-US" altLang="ja-JP" sz="2400" dirty="0"/>
          </a:p>
          <a:p>
            <a:r>
              <a:rPr lang="ja-JP" altLang="en-US" sz="2400" dirty="0"/>
              <a:t>最近追加された</a:t>
            </a:r>
            <a:r>
              <a:rPr lang="ja-JP" altLang="en-US" sz="2400" b="1" dirty="0">
                <a:solidFill>
                  <a:srgbClr val="FF0000"/>
                </a:solidFill>
              </a:rPr>
              <a:t>ジオメトリシェーダー</a:t>
            </a:r>
            <a:r>
              <a:rPr lang="ja-JP" altLang="en-US" sz="2400" dirty="0"/>
              <a:t>です。</a:t>
            </a:r>
            <a:endParaRPr lang="en-US" altLang="ja-JP" sz="2400" dirty="0"/>
          </a:p>
          <a:p>
            <a:r>
              <a:rPr kumimoji="1" lang="ja-JP" altLang="en-US" sz="2400" dirty="0"/>
              <a:t>ファーの細かい毛など、</a:t>
            </a:r>
            <a:endParaRPr kumimoji="1" lang="en-US" altLang="ja-JP" sz="2400" dirty="0"/>
          </a:p>
          <a:p>
            <a:r>
              <a:rPr kumimoji="1" lang="ja-JP" altLang="en-US" sz="2400" dirty="0"/>
              <a:t>モデリングが大変だけどプログラムで規則的に形作れるものに使われます。</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3115733" y="3911600"/>
            <a:ext cx="1269999" cy="2269067"/>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24245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72399" cy="1200329"/>
          </a:xfrm>
          <a:prstGeom prst="rect">
            <a:avLst/>
          </a:prstGeom>
          <a:noFill/>
        </p:spPr>
        <p:txBody>
          <a:bodyPr wrap="none" rtlCol="0">
            <a:spAutoFit/>
          </a:bodyPr>
          <a:lstStyle/>
          <a:p>
            <a:r>
              <a:rPr lang="ja-JP" altLang="en-US" sz="2400" dirty="0"/>
              <a:t>形状と陰影が確定したら、いよいよ</a:t>
            </a:r>
            <a:r>
              <a:rPr lang="ja-JP" altLang="en-US" sz="2400" b="1" dirty="0">
                <a:solidFill>
                  <a:srgbClr val="FF0000"/>
                </a:solidFill>
              </a:rPr>
              <a:t>カメラで撮影</a:t>
            </a:r>
            <a:r>
              <a:rPr lang="ja-JP" altLang="en-US" sz="2400" dirty="0"/>
              <a:t>します。</a:t>
            </a:r>
            <a:endParaRPr lang="en-US" altLang="ja-JP" sz="2400" dirty="0"/>
          </a:p>
          <a:p>
            <a:r>
              <a:rPr kumimoji="1" lang="ja-JP" altLang="en-US" sz="2400" dirty="0"/>
              <a:t>カメラ視点でどのように見えるかを計算し、</a:t>
            </a:r>
            <a:endParaRPr kumimoji="1" lang="en-US" altLang="ja-JP" sz="2400" dirty="0"/>
          </a:p>
          <a:p>
            <a:r>
              <a:rPr kumimoji="1" lang="ja-JP" altLang="en-US" sz="2400" b="1" dirty="0">
                <a:solidFill>
                  <a:srgbClr val="FF0000"/>
                </a:solidFill>
              </a:rPr>
              <a:t>裏面やほかの画像で隠れている部分は見えないように</a:t>
            </a:r>
            <a:r>
              <a:rPr kumimoji="1" lang="ja-JP" altLang="en-US" sz="2400" dirty="0"/>
              <a:t>したりします（</a:t>
            </a:r>
            <a:r>
              <a:rPr kumimoji="1" lang="ja-JP" altLang="en-US" sz="2400" b="1" dirty="0">
                <a:solidFill>
                  <a:srgbClr val="FF0000"/>
                </a:solidFill>
              </a:rPr>
              <a:t>陰面処理</a:t>
            </a:r>
            <a:r>
              <a:rPr kumimoji="1" lang="ja-JP" altLang="en-US" sz="2400" dirty="0"/>
              <a:t>）</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4165599" y="3141134"/>
            <a:ext cx="1820333" cy="3039534"/>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40535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1569660"/>
          </a:xfrm>
          <a:prstGeom prst="rect">
            <a:avLst/>
          </a:prstGeom>
          <a:noFill/>
        </p:spPr>
        <p:txBody>
          <a:bodyPr wrap="none" rtlCol="0">
            <a:spAutoFit/>
          </a:bodyPr>
          <a:lstStyle/>
          <a:p>
            <a:r>
              <a:rPr kumimoji="1" lang="ja-JP" altLang="en-US" sz="2400" dirty="0"/>
              <a:t>画面にどう映るかが確定し、いよいよ</a:t>
            </a:r>
            <a:r>
              <a:rPr kumimoji="1" lang="ja-JP" altLang="en-US" sz="2400" b="1" dirty="0">
                <a:solidFill>
                  <a:srgbClr val="FF0000"/>
                </a:solidFill>
              </a:rPr>
              <a:t>モニターに反映</a:t>
            </a:r>
            <a:r>
              <a:rPr kumimoji="1" lang="ja-JP" altLang="en-US" sz="2400" dirty="0"/>
              <a:t>していきます。</a:t>
            </a:r>
            <a:endParaRPr kumimoji="1" lang="en-US" altLang="ja-JP" sz="2400" dirty="0"/>
          </a:p>
          <a:p>
            <a:r>
              <a:rPr lang="ja-JP" altLang="en-US" sz="2400" dirty="0"/>
              <a:t>画像は</a:t>
            </a:r>
            <a:r>
              <a:rPr lang="ja-JP" altLang="en-US" sz="2400" b="1" dirty="0">
                <a:solidFill>
                  <a:srgbClr val="FF0000"/>
                </a:solidFill>
              </a:rPr>
              <a:t>細かな三角形に分解</a:t>
            </a:r>
            <a:r>
              <a:rPr lang="ja-JP" altLang="en-US" sz="2400" dirty="0"/>
              <a:t>され、</a:t>
            </a:r>
            <a:r>
              <a:rPr lang="ja-JP" altLang="en-US" sz="2400" b="1" dirty="0">
                <a:solidFill>
                  <a:srgbClr val="FF0000"/>
                </a:solidFill>
              </a:rPr>
              <a:t>三角形の範囲内にあるピクセルに対して、</a:t>
            </a:r>
            <a:endParaRPr lang="en-US" altLang="ja-JP" sz="2400" b="1" dirty="0">
              <a:solidFill>
                <a:srgbClr val="FF0000"/>
              </a:solidFill>
            </a:endParaRPr>
          </a:p>
          <a:p>
            <a:r>
              <a:rPr lang="ja-JP" altLang="en-US" sz="2400" b="1" dirty="0">
                <a:solidFill>
                  <a:srgbClr val="FF0000"/>
                </a:solidFill>
              </a:rPr>
              <a:t>色を付けていきます。</a:t>
            </a:r>
            <a:r>
              <a:rPr lang="ja-JP" altLang="en-US" sz="2400" dirty="0"/>
              <a:t>（まだ色は塗りません）</a:t>
            </a:r>
            <a:endParaRPr lang="en-US" altLang="ja-JP" sz="2400" dirty="0"/>
          </a:p>
          <a:p>
            <a:r>
              <a:rPr kumimoji="1" lang="ja-JP" altLang="en-US" sz="2400" dirty="0"/>
              <a:t>この工程を</a:t>
            </a:r>
            <a:r>
              <a:rPr kumimoji="1" lang="ja-JP" altLang="en-US" sz="2400" b="1" dirty="0">
                <a:solidFill>
                  <a:srgbClr val="FF0000"/>
                </a:solidFill>
              </a:rPr>
              <a:t>ラスタライズ</a:t>
            </a:r>
            <a:r>
              <a:rPr kumimoji="1" lang="ja-JP" altLang="en-US" sz="2400" dirty="0"/>
              <a:t>と言います。</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5698067" y="3141134"/>
            <a:ext cx="1371600" cy="3039534"/>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95290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1200329"/>
          </a:xfrm>
          <a:prstGeom prst="rect">
            <a:avLst/>
          </a:prstGeom>
          <a:noFill/>
        </p:spPr>
        <p:txBody>
          <a:bodyPr wrap="none" rtlCol="0">
            <a:spAutoFit/>
          </a:bodyPr>
          <a:lstStyle/>
          <a:p>
            <a:r>
              <a:rPr kumimoji="1" lang="ja-JP" altLang="en-US" sz="2400" dirty="0"/>
              <a:t>ラスタライズによって対象となったピクセルに</a:t>
            </a:r>
            <a:r>
              <a:rPr kumimoji="1" lang="ja-JP" altLang="en-US" sz="2400" b="1" dirty="0">
                <a:solidFill>
                  <a:srgbClr val="FF0000"/>
                </a:solidFill>
              </a:rPr>
              <a:t>色</a:t>
            </a:r>
            <a:r>
              <a:rPr kumimoji="1" lang="ja-JP" altLang="en-US" sz="2400" dirty="0"/>
              <a:t>を付けていきます。</a:t>
            </a:r>
            <a:endParaRPr kumimoji="1" lang="en-US" altLang="ja-JP" sz="2400" dirty="0"/>
          </a:p>
          <a:p>
            <a:r>
              <a:rPr lang="ja-JP" altLang="en-US" sz="2400" dirty="0"/>
              <a:t>光が反射してテカテカしてる部分の塗り（</a:t>
            </a:r>
            <a:r>
              <a:rPr lang="ja-JP" altLang="en-US" sz="2400" b="1" dirty="0">
                <a:solidFill>
                  <a:srgbClr val="FF0000"/>
                </a:solidFill>
              </a:rPr>
              <a:t>陰影処理</a:t>
            </a:r>
            <a:r>
              <a:rPr lang="ja-JP" altLang="en-US" sz="2400" dirty="0"/>
              <a:t>）や、</a:t>
            </a:r>
            <a:endParaRPr lang="en-US" altLang="ja-JP" sz="2400" dirty="0"/>
          </a:p>
          <a:p>
            <a:r>
              <a:rPr kumimoji="1" lang="ja-JP" altLang="en-US" sz="2400" b="1" dirty="0">
                <a:solidFill>
                  <a:srgbClr val="FF0000"/>
                </a:solidFill>
              </a:rPr>
              <a:t>テクスチャーの色を反映させたり</a:t>
            </a:r>
            <a:r>
              <a:rPr kumimoji="1" lang="ja-JP" altLang="en-US" sz="2400" dirty="0"/>
              <a:t>などを行います。</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6756399" y="3674532"/>
            <a:ext cx="1913468" cy="2506135"/>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69535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kumimoji="1" lang="ja-JP" altLang="en-US" sz="2400" dirty="0"/>
              <a:t>最後に必要に応じて仕上げ（</a:t>
            </a:r>
            <a:r>
              <a:rPr kumimoji="1" lang="ja-JP" altLang="en-US" sz="2400" b="1" dirty="0">
                <a:solidFill>
                  <a:srgbClr val="FF0000"/>
                </a:solidFill>
              </a:rPr>
              <a:t>レンダーバックエンド</a:t>
            </a:r>
            <a:r>
              <a:rPr kumimoji="1" lang="ja-JP" altLang="en-US" sz="2400" dirty="0"/>
              <a:t>）を行い、</a:t>
            </a:r>
            <a:endParaRPr kumimoji="1" lang="en-US" altLang="ja-JP" sz="2400" dirty="0"/>
          </a:p>
          <a:p>
            <a:r>
              <a:rPr kumimoji="1" lang="ja-JP" altLang="en-US" sz="2400" dirty="0"/>
              <a:t>画面に出力されます。仕上げの各用語については次ページで。</a:t>
            </a:r>
            <a:endParaRPr kumimoji="1" lang="en-US" altLang="ja-JP" sz="2400" dirty="0"/>
          </a:p>
        </p:txBody>
      </p:sp>
      <p:pic>
        <p:nvPicPr>
          <p:cNvPr id="1026" name="Picture 2">
            <a:extLst>
              <a:ext uri="{FF2B5EF4-FFF2-40B4-BE49-F238E27FC236}">
                <a16:creationId xmlns:a16="http://schemas.microsoft.com/office/drawing/2014/main" id="{75A5A6E0-232E-48EA-8951-935B126A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2" y="2925789"/>
            <a:ext cx="9753600" cy="3467100"/>
          </a:xfrm>
          <a:prstGeom prst="rect">
            <a:avLst/>
          </a:prstGeom>
          <a:noFill/>
          <a:extLst>
            <a:ext uri="{909E8E84-426E-40DD-AFC4-6F175D3DCCD1}">
              <a14:hiddenFill xmlns:a14="http://schemas.microsoft.com/office/drawing/2010/main">
                <a:solidFill>
                  <a:srgbClr val="FFFFFF"/>
                </a:solidFill>
              </a14:hiddenFill>
            </a:ext>
          </a:extLst>
        </p:spPr>
      </p:pic>
      <p:sp>
        <p:nvSpPr>
          <p:cNvPr id="2" name="正方形/長方形 1">
            <a:extLst>
              <a:ext uri="{FF2B5EF4-FFF2-40B4-BE49-F238E27FC236}">
                <a16:creationId xmlns:a16="http://schemas.microsoft.com/office/drawing/2014/main" id="{F097CC5C-F60B-4093-9FC9-872D8B45B0A0}"/>
              </a:ext>
            </a:extLst>
          </p:cNvPr>
          <p:cNvSpPr/>
          <p:nvPr/>
        </p:nvSpPr>
        <p:spPr>
          <a:xfrm>
            <a:off x="8509000" y="3674532"/>
            <a:ext cx="1812141" cy="2506135"/>
          </a:xfrm>
          <a:prstGeom prst="rect">
            <a:avLst/>
          </a:prstGeom>
          <a:solidFill>
            <a:srgbClr val="FFFF00">
              <a:alpha val="20000"/>
            </a:srgb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18213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5632311"/>
          </a:xfrm>
          <a:prstGeom prst="rect">
            <a:avLst/>
          </a:prstGeom>
          <a:noFill/>
        </p:spPr>
        <p:txBody>
          <a:bodyPr wrap="none" rtlCol="0">
            <a:spAutoFit/>
          </a:bodyPr>
          <a:lstStyle/>
          <a:p>
            <a:r>
              <a:rPr kumimoji="1" lang="ja-JP" altLang="en-US" sz="2400" b="1" dirty="0">
                <a:solidFill>
                  <a:srgbClr val="FF0000"/>
                </a:solidFill>
              </a:rPr>
              <a:t>■レンダーバックエンドで行われるもの</a:t>
            </a:r>
            <a:endParaRPr kumimoji="1" lang="en-US" altLang="ja-JP" sz="2400" b="1" dirty="0">
              <a:solidFill>
                <a:srgbClr val="FF0000"/>
              </a:solidFill>
            </a:endParaRPr>
          </a:p>
          <a:p>
            <a:r>
              <a:rPr lang="ja-JP" altLang="en-US" sz="2400" b="1" dirty="0">
                <a:solidFill>
                  <a:srgbClr val="00B050"/>
                </a:solidFill>
              </a:rPr>
              <a:t>・アルファ、ブレンディング</a:t>
            </a:r>
            <a:endParaRPr lang="en-US" altLang="ja-JP" sz="2400" b="1" dirty="0">
              <a:solidFill>
                <a:srgbClr val="00B050"/>
              </a:solidFill>
            </a:endParaRPr>
          </a:p>
          <a:p>
            <a:r>
              <a:rPr lang="ja-JP" altLang="en-US" sz="2400" dirty="0"/>
              <a:t>　・半透明処理。後ろ側にある物体の色も反映させる。</a:t>
            </a:r>
            <a:endParaRPr lang="en-US" altLang="ja-JP" sz="2400" dirty="0"/>
          </a:p>
          <a:p>
            <a:r>
              <a:rPr lang="ja-JP" altLang="en-US" sz="2400" dirty="0"/>
              <a:t>　　ブレンディングは透明でなくても、重なっている部分を合成すること。</a:t>
            </a:r>
            <a:endParaRPr lang="en-US" altLang="ja-JP" sz="2400" dirty="0"/>
          </a:p>
          <a:p>
            <a:endParaRPr lang="en-US" altLang="ja-JP" sz="2400" dirty="0"/>
          </a:p>
          <a:p>
            <a:r>
              <a:rPr lang="ja-JP" altLang="en-US" sz="2400" b="1" dirty="0">
                <a:solidFill>
                  <a:srgbClr val="00B050"/>
                </a:solidFill>
              </a:rPr>
              <a:t>・深度</a:t>
            </a:r>
            <a:endParaRPr lang="en-US" altLang="ja-JP" sz="2400" b="1" dirty="0">
              <a:solidFill>
                <a:srgbClr val="00B050"/>
              </a:solidFill>
            </a:endParaRPr>
          </a:p>
          <a:p>
            <a:r>
              <a:rPr lang="ja-JP" altLang="en-US" sz="2400" dirty="0"/>
              <a:t>　・</a:t>
            </a:r>
            <a:r>
              <a:rPr lang="en-US" altLang="ja-JP" sz="2400" dirty="0"/>
              <a:t>Z</a:t>
            </a:r>
            <a:r>
              <a:rPr lang="ja-JP" altLang="en-US" sz="2400" dirty="0"/>
              <a:t>バッファ。</a:t>
            </a:r>
            <a:endParaRPr lang="en-US" altLang="ja-JP" sz="2400" dirty="0"/>
          </a:p>
          <a:p>
            <a:r>
              <a:rPr lang="ja-JP" altLang="en-US" sz="2400" dirty="0"/>
              <a:t>　　描画順ではなくピクセル単位の</a:t>
            </a:r>
            <a:r>
              <a:rPr lang="en-US" altLang="ja-JP" sz="2400" dirty="0"/>
              <a:t>Z</a:t>
            </a:r>
            <a:r>
              <a:rPr lang="ja-JP" altLang="en-US" sz="2400" dirty="0"/>
              <a:t>値で手前に来るかどうか判定する</a:t>
            </a:r>
            <a:endParaRPr lang="en-US" altLang="ja-JP" sz="2400" dirty="0"/>
          </a:p>
          <a:p>
            <a:endParaRPr lang="en-US" altLang="ja-JP" sz="2400" dirty="0"/>
          </a:p>
          <a:p>
            <a:r>
              <a:rPr lang="ja-JP" altLang="en-US" sz="2400" b="1" dirty="0">
                <a:solidFill>
                  <a:srgbClr val="00B050"/>
                </a:solidFill>
              </a:rPr>
              <a:t>・ステンシル</a:t>
            </a:r>
            <a:endParaRPr lang="en-US" altLang="ja-JP" sz="2400" b="1" dirty="0">
              <a:solidFill>
                <a:srgbClr val="00B050"/>
              </a:solidFill>
            </a:endParaRPr>
          </a:p>
          <a:p>
            <a:r>
              <a:rPr lang="ja-JP" altLang="en-US" sz="2400" dirty="0"/>
              <a:t>　・マスク。特定の部分は描画しないようにする仕組み。</a:t>
            </a:r>
            <a:endParaRPr lang="en-US" altLang="ja-JP" sz="2400" dirty="0"/>
          </a:p>
          <a:p>
            <a:endParaRPr lang="en-US" altLang="ja-JP" sz="2400" dirty="0"/>
          </a:p>
          <a:p>
            <a:r>
              <a:rPr lang="ja-JP" altLang="en-US" sz="2400" b="1" dirty="0">
                <a:solidFill>
                  <a:srgbClr val="00B050"/>
                </a:solidFill>
              </a:rPr>
              <a:t>・フォグ</a:t>
            </a:r>
            <a:endParaRPr lang="en-US" altLang="ja-JP" sz="2400" b="1" dirty="0">
              <a:solidFill>
                <a:srgbClr val="00B050"/>
              </a:solidFill>
            </a:endParaRPr>
          </a:p>
          <a:p>
            <a:r>
              <a:rPr lang="ja-JP" altLang="en-US" sz="2400" dirty="0"/>
              <a:t>　・指定の領域を霧のように塗りつぶし、奥の方を見えないようにする。</a:t>
            </a:r>
            <a:endParaRPr lang="en-US" altLang="ja-JP" sz="2400" dirty="0"/>
          </a:p>
          <a:p>
            <a:endParaRPr kumimoji="1" lang="en-US" altLang="ja-JP" sz="2400" dirty="0"/>
          </a:p>
        </p:txBody>
      </p:sp>
    </p:spTree>
    <p:extLst>
      <p:ext uri="{BB962C8B-B14F-4D97-AF65-F5344CB8AC3E}">
        <p14:creationId xmlns:p14="http://schemas.microsoft.com/office/powerpoint/2010/main" val="1228278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2677656"/>
          </a:xfrm>
          <a:prstGeom prst="rect">
            <a:avLst/>
          </a:prstGeom>
          <a:noFill/>
        </p:spPr>
        <p:txBody>
          <a:bodyPr wrap="none" rtlCol="0">
            <a:spAutoFit/>
          </a:bodyPr>
          <a:lstStyle/>
          <a:p>
            <a:r>
              <a:rPr kumimoji="1" lang="ja-JP" altLang="en-US" sz="2400" dirty="0"/>
              <a:t>レンダーバックエンドは、</a:t>
            </a:r>
            <a:endParaRPr kumimoji="1" lang="en-US" altLang="ja-JP" sz="2400" dirty="0"/>
          </a:p>
          <a:p>
            <a:r>
              <a:rPr kumimoji="1" lang="ja-JP" altLang="en-US" sz="2400" b="1" dirty="0">
                <a:solidFill>
                  <a:srgbClr val="FF0000"/>
                </a:solidFill>
              </a:rPr>
              <a:t>必要がなければやらなくてもよいもの</a:t>
            </a:r>
            <a:r>
              <a:rPr kumimoji="1" lang="ja-JP" altLang="en-US" sz="2400" dirty="0"/>
              <a:t>になります。</a:t>
            </a:r>
            <a:endParaRPr kumimoji="1" lang="en-US" altLang="ja-JP" sz="2400" dirty="0"/>
          </a:p>
          <a:p>
            <a:endParaRPr lang="en-US" altLang="ja-JP" sz="2400" dirty="0"/>
          </a:p>
          <a:p>
            <a:r>
              <a:rPr kumimoji="1" lang="ja-JP" altLang="en-US" sz="2400" dirty="0"/>
              <a:t>つまり、</a:t>
            </a:r>
            <a:endParaRPr kumimoji="1" lang="en-US" altLang="ja-JP" sz="2400" dirty="0"/>
          </a:p>
          <a:p>
            <a:r>
              <a:rPr lang="ja-JP" altLang="en-US" sz="2400" b="1" dirty="0">
                <a:solidFill>
                  <a:srgbClr val="FF0000"/>
                </a:solidFill>
              </a:rPr>
              <a:t>処理が増えるほど重くなるもの</a:t>
            </a:r>
            <a:r>
              <a:rPr lang="ja-JP" altLang="en-US" sz="2400" dirty="0"/>
              <a:t>です。</a:t>
            </a:r>
            <a:endParaRPr lang="en-US" altLang="ja-JP" sz="2400" dirty="0"/>
          </a:p>
          <a:p>
            <a:endParaRPr kumimoji="1" lang="en-US" altLang="ja-JP" sz="2400" dirty="0"/>
          </a:p>
          <a:p>
            <a:r>
              <a:rPr lang="ja-JP" altLang="en-US" sz="2400" dirty="0"/>
              <a:t>これらに関しては慎重に取り入れていきましょう。</a:t>
            </a:r>
            <a:endParaRPr kumimoji="1" lang="en-US" altLang="ja-JP" sz="2400" dirty="0"/>
          </a:p>
        </p:txBody>
      </p:sp>
    </p:spTree>
    <p:extLst>
      <p:ext uri="{BB962C8B-B14F-4D97-AF65-F5344CB8AC3E}">
        <p14:creationId xmlns:p14="http://schemas.microsoft.com/office/powerpoint/2010/main" val="3448587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シェーダーの基礎</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64998" cy="5262979"/>
          </a:xfrm>
          <a:prstGeom prst="rect">
            <a:avLst/>
          </a:prstGeom>
          <a:noFill/>
        </p:spPr>
        <p:txBody>
          <a:bodyPr wrap="none" rtlCol="0">
            <a:spAutoFit/>
          </a:bodyPr>
          <a:lstStyle/>
          <a:p>
            <a:r>
              <a:rPr lang="ja-JP" altLang="en-US" sz="2400" dirty="0"/>
              <a:t>普通の</a:t>
            </a:r>
            <a:r>
              <a:rPr kumimoji="1" lang="ja-JP" altLang="en-US" sz="2400" dirty="0"/>
              <a:t>プログラマーが作ることができるのは、</a:t>
            </a:r>
            <a:endParaRPr kumimoji="1" lang="en-US" altLang="ja-JP" sz="2400" dirty="0"/>
          </a:p>
          <a:p>
            <a:r>
              <a:rPr lang="ja-JP" altLang="en-US" sz="2400" b="1" dirty="0">
                <a:solidFill>
                  <a:srgbClr val="FF0000"/>
                </a:solidFill>
              </a:rPr>
              <a:t>・頂点シェーダー</a:t>
            </a:r>
            <a:endParaRPr lang="en-US" altLang="ja-JP" sz="2400" b="1" dirty="0">
              <a:solidFill>
                <a:srgbClr val="FF0000"/>
              </a:solidFill>
            </a:endParaRPr>
          </a:p>
          <a:p>
            <a:r>
              <a:rPr lang="ja-JP" altLang="en-US" sz="2400" b="1" dirty="0">
                <a:solidFill>
                  <a:srgbClr val="FF0000"/>
                </a:solidFill>
              </a:rPr>
              <a:t>・ジオメトリシェーダー</a:t>
            </a:r>
            <a:endParaRPr lang="en-US" altLang="ja-JP" sz="2400" b="1" dirty="0">
              <a:solidFill>
                <a:srgbClr val="FF0000"/>
              </a:solidFill>
            </a:endParaRPr>
          </a:p>
          <a:p>
            <a:r>
              <a:rPr kumimoji="1" lang="ja-JP" altLang="en-US" sz="2400" b="1" dirty="0">
                <a:solidFill>
                  <a:srgbClr val="FF0000"/>
                </a:solidFill>
              </a:rPr>
              <a:t>・ピクセルシェーダー</a:t>
            </a:r>
            <a:endParaRPr lang="en-US" altLang="ja-JP" sz="2400" b="1" dirty="0">
              <a:solidFill>
                <a:srgbClr val="FF0000"/>
              </a:solidFill>
            </a:endParaRPr>
          </a:p>
          <a:p>
            <a:r>
              <a:rPr lang="ja-JP" altLang="en-US" sz="2400" dirty="0"/>
              <a:t>これら</a:t>
            </a:r>
            <a:r>
              <a:rPr lang="en-US" altLang="ja-JP" sz="2400" dirty="0"/>
              <a:t>3</a:t>
            </a:r>
            <a:r>
              <a:rPr lang="ja-JP" altLang="en-US" sz="2400" dirty="0"/>
              <a:t>つになります。</a:t>
            </a:r>
            <a:endParaRPr lang="en-US" altLang="ja-JP" sz="2400" dirty="0"/>
          </a:p>
          <a:p>
            <a:endParaRPr kumimoji="1" lang="en-US" altLang="ja-JP" sz="2400" dirty="0"/>
          </a:p>
          <a:p>
            <a:r>
              <a:rPr lang="ja-JP" altLang="en-US" sz="2400" dirty="0"/>
              <a:t>特に</a:t>
            </a:r>
            <a:r>
              <a:rPr lang="ja-JP" altLang="en-US" sz="2400" b="1" dirty="0">
                <a:solidFill>
                  <a:srgbClr val="FF0000"/>
                </a:solidFill>
              </a:rPr>
              <a:t>頂点シェーダー</a:t>
            </a:r>
            <a:r>
              <a:rPr lang="ja-JP" altLang="en-US" sz="2400" dirty="0"/>
              <a:t>と</a:t>
            </a:r>
            <a:r>
              <a:rPr lang="ja-JP" altLang="en-US" sz="2400" b="1" dirty="0">
                <a:solidFill>
                  <a:srgbClr val="FF0000"/>
                </a:solidFill>
              </a:rPr>
              <a:t>ピクセルシェーダー</a:t>
            </a:r>
            <a:r>
              <a:rPr lang="ja-JP" altLang="en-US" sz="2400" dirty="0"/>
              <a:t>はシェーダーの基礎となる部分です。</a:t>
            </a:r>
            <a:endParaRPr lang="en-US" altLang="ja-JP" sz="2400" dirty="0"/>
          </a:p>
          <a:p>
            <a:r>
              <a:rPr kumimoji="1" lang="ja-JP" altLang="en-US" sz="2400" dirty="0"/>
              <a:t>この２つについて学習します。</a:t>
            </a:r>
            <a:endParaRPr kumimoji="1" lang="en-US" altLang="ja-JP" sz="2400" dirty="0"/>
          </a:p>
          <a:p>
            <a:endParaRPr lang="en-US" altLang="ja-JP" sz="2400" dirty="0"/>
          </a:p>
          <a:p>
            <a:r>
              <a:rPr kumimoji="1" lang="en-US" altLang="ja-JP" sz="2400" b="1" dirty="0">
                <a:solidFill>
                  <a:srgbClr val="00B050"/>
                </a:solidFill>
              </a:rPr>
              <a:t>※</a:t>
            </a:r>
            <a:r>
              <a:rPr kumimoji="1" lang="ja-JP" altLang="en-US" sz="2400" b="1" dirty="0">
                <a:solidFill>
                  <a:srgbClr val="00B050"/>
                </a:solidFill>
              </a:rPr>
              <a:t>ジオメトリシェーダーは</a:t>
            </a:r>
            <a:r>
              <a:rPr kumimoji="1" lang="en-US" altLang="ja-JP" sz="2400" b="1" dirty="0" err="1">
                <a:solidFill>
                  <a:srgbClr val="00B050"/>
                </a:solidFill>
              </a:rPr>
              <a:t>DxLib</a:t>
            </a:r>
            <a:r>
              <a:rPr kumimoji="1" lang="ja-JP" altLang="en-US" sz="2400" b="1" dirty="0">
                <a:solidFill>
                  <a:srgbClr val="00B050"/>
                </a:solidFill>
              </a:rPr>
              <a:t>の仕様で作れません。</a:t>
            </a:r>
            <a:endParaRPr kumimoji="1" lang="en-US" altLang="ja-JP" sz="2400" b="1" dirty="0">
              <a:solidFill>
                <a:srgbClr val="00B050"/>
              </a:solidFill>
            </a:endParaRPr>
          </a:p>
          <a:p>
            <a:r>
              <a:rPr lang="ja-JP" altLang="en-US" sz="2400" b="1" dirty="0">
                <a:solidFill>
                  <a:srgbClr val="00B050"/>
                </a:solidFill>
              </a:rPr>
              <a:t>　興味がある方はゲームエンジンで挑戦してみてください。</a:t>
            </a:r>
            <a:endParaRPr lang="en-US" altLang="ja-JP" sz="2400" b="1" dirty="0">
              <a:solidFill>
                <a:srgbClr val="00B050"/>
              </a:solidFill>
            </a:endParaRPr>
          </a:p>
          <a:p>
            <a:r>
              <a:rPr lang="ja-JP" altLang="en-US" sz="2400" b="1" dirty="0">
                <a:solidFill>
                  <a:srgbClr val="00B050"/>
                </a:solidFill>
              </a:rPr>
              <a:t>　モデルのアウトラインやファーの毛など作れて楽しいです。</a:t>
            </a:r>
            <a:endParaRPr lang="en-US" altLang="ja-JP" sz="2400" b="1" dirty="0">
              <a:solidFill>
                <a:srgbClr val="00B050"/>
              </a:solidFill>
            </a:endParaRPr>
          </a:p>
          <a:p>
            <a:endParaRPr kumimoji="1" lang="en-US" altLang="ja-JP" sz="2400" b="1" dirty="0">
              <a:solidFill>
                <a:srgbClr val="00B050"/>
              </a:solidFill>
            </a:endParaRPr>
          </a:p>
          <a:p>
            <a:r>
              <a:rPr lang="en-US" altLang="ja-JP" sz="2400" b="1" dirty="0">
                <a:solidFill>
                  <a:srgbClr val="00B050"/>
                </a:solidFill>
              </a:rPr>
              <a:t>※</a:t>
            </a:r>
            <a:r>
              <a:rPr lang="ja-JP" altLang="en-US" sz="2400" b="1" dirty="0">
                <a:solidFill>
                  <a:srgbClr val="00B050"/>
                </a:solidFill>
              </a:rPr>
              <a:t>３つ以外の部分は</a:t>
            </a:r>
            <a:r>
              <a:rPr lang="en-US" altLang="ja-JP" sz="2400" b="1" dirty="0">
                <a:solidFill>
                  <a:srgbClr val="00B050"/>
                </a:solidFill>
              </a:rPr>
              <a:t>DirectX</a:t>
            </a:r>
            <a:r>
              <a:rPr lang="ja-JP" altLang="en-US" sz="2400" b="1" dirty="0">
                <a:solidFill>
                  <a:srgbClr val="00B050"/>
                </a:solidFill>
              </a:rPr>
              <a:t>など、エンジンやライブラリに任せるのが主流です</a:t>
            </a:r>
            <a:endParaRPr kumimoji="1" lang="en-US" altLang="ja-JP" sz="2400" b="1" dirty="0">
              <a:solidFill>
                <a:srgbClr val="00B050"/>
              </a:solidFill>
            </a:endParaRPr>
          </a:p>
        </p:txBody>
      </p:sp>
    </p:spTree>
    <p:extLst>
      <p:ext uri="{BB962C8B-B14F-4D97-AF65-F5344CB8AC3E}">
        <p14:creationId xmlns:p14="http://schemas.microsoft.com/office/powerpoint/2010/main" val="2970832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623</Words>
  <Application>Microsoft Office PowerPoint</Application>
  <PresentationFormat>ワイド画面</PresentationFormat>
  <Paragraphs>78</Paragraphs>
  <Slides>12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情報北九州校 倉掛</cp:lastModifiedBy>
  <cp:revision>31</cp:revision>
  <dcterms:created xsi:type="dcterms:W3CDTF">2024-08-27T02:15:54Z</dcterms:created>
  <dcterms:modified xsi:type="dcterms:W3CDTF">2025-07-15T05:24:45Z</dcterms:modified>
</cp:coreProperties>
</file>