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496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シェーダーのプログラムは</a:t>
            </a:r>
            <a:r>
              <a:rPr lang="en-US" altLang="ja-JP" sz="2400" b="1" dirty="0">
                <a:solidFill>
                  <a:srgbClr val="FF0000"/>
                </a:solidFill>
              </a:rPr>
              <a:t>HLSL</a:t>
            </a:r>
            <a:r>
              <a:rPr lang="ja-JP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ja-JP" sz="2400" b="1" dirty="0">
                <a:solidFill>
                  <a:srgbClr val="FF0000"/>
                </a:solidFill>
              </a:rPr>
              <a:t>High Level Shader Language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という</a:t>
            </a:r>
            <a:endParaRPr lang="en-US" altLang="ja-JP" sz="2400" dirty="0"/>
          </a:p>
          <a:p>
            <a:r>
              <a:rPr lang="ja-JP" altLang="en-US" sz="2400" dirty="0"/>
              <a:t>言語を使用します。</a:t>
            </a:r>
            <a:endParaRPr lang="en-US" altLang="ja-JP" sz="2400" dirty="0"/>
          </a:p>
          <a:p>
            <a:r>
              <a:rPr kumimoji="1" lang="ja-JP" altLang="en-US" sz="2400" dirty="0"/>
              <a:t>ほとんど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言語と同じなので、細かい使い方は割愛していきます。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D0449A3-63C3-4179-B42F-0AA924F8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416758"/>
            <a:ext cx="7632698" cy="410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73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Assets</a:t>
            </a:r>
            <a:r>
              <a:rPr lang="ja-JP" altLang="en-US" sz="2400" dirty="0"/>
              <a:t>フォルダ内に</a:t>
            </a:r>
            <a:r>
              <a:rPr lang="en-US" altLang="ja-JP" sz="2400" b="1" dirty="0">
                <a:solidFill>
                  <a:srgbClr val="FF0000"/>
                </a:solidFill>
              </a:rPr>
              <a:t>Shaders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を作り、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Unlit Shader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B373FC-C28A-4646-BB8E-1E5FEC0CD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25747" cy="422016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FCCE26C5-47F6-451C-9B4B-03B2F0B67FFB}"/>
              </a:ext>
            </a:extLst>
          </p:cNvPr>
          <p:cNvSpPr/>
          <p:nvPr/>
        </p:nvSpPr>
        <p:spPr>
          <a:xfrm rot="13384766">
            <a:off x="6440170" y="5039525"/>
            <a:ext cx="495336" cy="32173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43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最低限モデルが表示されるシェーダーが作成されます。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まずは基本的なものだけ紹介します。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A7AAE2D-AD08-4053-8200-07E0CA4B0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178525" cy="439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8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55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Properties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インスペクターで設定したいパラメータ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22B89A-E392-45CD-8729-53DBEDE7A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20323" cy="105742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D44D472-437D-4CB4-AE93-28849B47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819250"/>
            <a:ext cx="5988011" cy="212435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8E030134-3DF8-40F4-9D0D-57A635E780D7}"/>
              </a:ext>
            </a:extLst>
          </p:cNvPr>
          <p:cNvSpPr/>
          <p:nvPr/>
        </p:nvSpPr>
        <p:spPr>
          <a:xfrm rot="5400000">
            <a:off x="2730034" y="3268134"/>
            <a:ext cx="495336" cy="32173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処理に必要なデータは構造体にまとめます。</a:t>
            </a:r>
            <a:endParaRPr kumimoji="1" lang="en-US" altLang="ja-JP" sz="2400" dirty="0"/>
          </a:p>
          <a:p>
            <a:r>
              <a:rPr lang="ja-JP" altLang="en-US" sz="2400" dirty="0"/>
              <a:t>また構造体には</a:t>
            </a:r>
            <a:r>
              <a:rPr lang="ja-JP" altLang="en-US" sz="2400" b="1" dirty="0">
                <a:solidFill>
                  <a:srgbClr val="FF0000"/>
                </a:solidFill>
              </a:rPr>
              <a:t>セマンティクス</a:t>
            </a:r>
            <a:r>
              <a:rPr lang="ja-JP" altLang="en-US" sz="2400" dirty="0"/>
              <a:t>を付与することでき、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他のパイプラインの入出力に使用</a:t>
            </a:r>
            <a:r>
              <a:rPr kumimoji="1"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BC5D2FD-6077-462B-AD49-A2E786198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637240" cy="3809588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5B4A41-6346-4C76-83D4-3E38E68F3F5E}"/>
              </a:ext>
            </a:extLst>
          </p:cNvPr>
          <p:cNvSpPr/>
          <p:nvPr/>
        </p:nvSpPr>
        <p:spPr>
          <a:xfrm>
            <a:off x="3429000" y="2980267"/>
            <a:ext cx="2150533" cy="1092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6BCCF8E-D7C9-4544-8630-4115325A2A18}"/>
              </a:ext>
            </a:extLst>
          </p:cNvPr>
          <p:cNvSpPr/>
          <p:nvPr/>
        </p:nvSpPr>
        <p:spPr>
          <a:xfrm>
            <a:off x="4054249" y="4919134"/>
            <a:ext cx="2150533" cy="1092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550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75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vert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頂点シェーダー</a:t>
            </a:r>
            <a:r>
              <a:rPr kumimoji="1" lang="ja-JP" altLang="en-US" sz="2400" dirty="0"/>
              <a:t>の処理となります。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D4BB9F0-2B2B-46B3-A061-FD4A6B26A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860458" cy="29235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DDB45E-5380-47E7-9C3A-CC65E6CC36C5}"/>
              </a:ext>
            </a:extLst>
          </p:cNvPr>
          <p:cNvSpPr txBox="1"/>
          <p:nvPr/>
        </p:nvSpPr>
        <p:spPr>
          <a:xfrm>
            <a:off x="567542" y="4741332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頂点の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座標変換（射影座標）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テクスチャ座標の設定</a:t>
            </a:r>
            <a:r>
              <a:rPr kumimoji="1" lang="ja-JP" altLang="en-US" sz="2400" dirty="0"/>
              <a:t>をしています。</a:t>
            </a:r>
            <a:endParaRPr kumimoji="1" lang="en-US" altLang="ja-JP" sz="2400" dirty="0"/>
          </a:p>
          <a:p>
            <a:r>
              <a:rPr lang="ja-JP" altLang="en-US" sz="2400" dirty="0"/>
              <a:t>これがないとモデルが正しい位置に表示されません。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0404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4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frag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ピクセルシェーダー</a:t>
            </a:r>
            <a:r>
              <a:rPr kumimoji="1" lang="ja-JP" altLang="en-US" sz="2400" dirty="0"/>
              <a:t>の処理となります。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DDB45E-5380-47E7-9C3A-CC65E6CC36C5}"/>
              </a:ext>
            </a:extLst>
          </p:cNvPr>
          <p:cNvSpPr txBox="1"/>
          <p:nvPr/>
        </p:nvSpPr>
        <p:spPr>
          <a:xfrm>
            <a:off x="567542" y="4741332"/>
            <a:ext cx="104823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UV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座標が示すテクスチャーの色を取得</a:t>
            </a:r>
            <a:r>
              <a:rPr kumimoji="1" lang="ja-JP" altLang="en-US" sz="2400" dirty="0"/>
              <a:t>し、次のパイプラインへ送ります。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※Unity</a:t>
            </a:r>
            <a:r>
              <a:rPr kumimoji="1" lang="ja-JP" altLang="en-US" sz="2400" dirty="0"/>
              <a:t>ではフラグメントシェーダーと呼ばれていますが、</a:t>
            </a:r>
            <a:endParaRPr kumimoji="1" lang="en-US" altLang="ja-JP" sz="2400" dirty="0"/>
          </a:p>
          <a:p>
            <a:r>
              <a:rPr lang="ja-JP" altLang="en-US" sz="2400" dirty="0"/>
              <a:t>　ほぼピクセルシェーダーと思っていただいて大丈夫です。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CE6AE4C-27D5-42BC-9FAD-BFDF9C5DF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52139" cy="27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5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563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Assets</a:t>
            </a:r>
            <a:r>
              <a:rPr kumimoji="1" lang="ja-JP" altLang="en-US" sz="2400" dirty="0"/>
              <a:t>フォルダに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Materials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を作成し、</a:t>
            </a:r>
            <a:endParaRPr kumimoji="1" lang="en-US" altLang="ja-JP" sz="2400" dirty="0"/>
          </a:p>
          <a:p>
            <a:r>
              <a:rPr lang="ja-JP" altLang="en-US" sz="2400" dirty="0"/>
              <a:t>マテリアルを追加しましょう。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C885712-4AA8-4FD3-86A5-C7D0A7A1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4996149" cy="381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94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マテリアルのインスペクターから、</a:t>
            </a:r>
            <a:endParaRPr kumimoji="1" lang="en-US" altLang="ja-JP" sz="2400" dirty="0"/>
          </a:p>
          <a:p>
            <a:r>
              <a:rPr lang="ja-JP" altLang="en-US" sz="2400" dirty="0"/>
              <a:t>先ほど追加したシェーダーで描画するように設定しましょう。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4E4BC1-F825-4C9B-B6F8-FAC6F9637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16152" cy="345444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4023E28B-A8C8-449D-B642-594789DD6503}"/>
              </a:ext>
            </a:extLst>
          </p:cNvPr>
          <p:cNvSpPr/>
          <p:nvPr/>
        </p:nvSpPr>
        <p:spPr>
          <a:xfrm rot="13646482">
            <a:off x="3677949" y="3268133"/>
            <a:ext cx="495336" cy="321733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7423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キューブを配置してマテリアルを適用させましょう。</a:t>
            </a:r>
            <a:endParaRPr lang="en-US" altLang="ja-JP" sz="2400" dirty="0"/>
          </a:p>
          <a:p>
            <a:r>
              <a:rPr lang="ja-JP" altLang="en-US" sz="2400" dirty="0"/>
              <a:t>これでキューブは先ほどのシェーダーによって描画されます。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0B5676-10A4-4392-A271-7ED848BE0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601217" cy="389626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2347FA-DA7B-495D-B033-1FB95EB96DC6}"/>
              </a:ext>
            </a:extLst>
          </p:cNvPr>
          <p:cNvSpPr txBox="1"/>
          <p:nvPr/>
        </p:nvSpPr>
        <p:spPr>
          <a:xfrm>
            <a:off x="5426413" y="4623089"/>
            <a:ext cx="44935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sz="2400" dirty="0"/>
              <a:t>Unlit</a:t>
            </a:r>
            <a:r>
              <a:rPr lang="ja-JP" altLang="en-US" sz="2400" dirty="0"/>
              <a:t>はつまり</a:t>
            </a:r>
            <a:endParaRPr lang="en-US" altLang="ja-JP" sz="2400" dirty="0"/>
          </a:p>
          <a:p>
            <a:r>
              <a:rPr lang="ja-JP" altLang="en-US" sz="2400" dirty="0"/>
              <a:t>ライトを無視した状態のこと。</a:t>
            </a:r>
            <a:endParaRPr lang="en-US" altLang="ja-JP" sz="2400" dirty="0"/>
          </a:p>
          <a:p>
            <a:r>
              <a:rPr lang="ja-JP" altLang="en-US" sz="2400" dirty="0"/>
              <a:t>影もテカリもできない。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6453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試しに１行書き足しましょう。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A702C0A-284E-4639-A95A-21DC4CDFF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021432" cy="310133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8123A4-9EA2-4D11-9A47-3EE93E4A77A4}"/>
              </a:ext>
            </a:extLst>
          </p:cNvPr>
          <p:cNvSpPr/>
          <p:nvPr/>
        </p:nvSpPr>
        <p:spPr>
          <a:xfrm>
            <a:off x="1159933" y="3191933"/>
            <a:ext cx="3107267" cy="338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12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29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すべての頂点が</a:t>
            </a:r>
            <a:r>
              <a:rPr lang="en-US" altLang="ja-JP" sz="2400" dirty="0"/>
              <a:t>3m</a:t>
            </a:r>
            <a:r>
              <a:rPr lang="ja-JP" altLang="en-US" sz="2400" dirty="0"/>
              <a:t>右にずれます。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3C8B96-8645-408B-869C-06D8DA17B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790909" cy="30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34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ピクセルシェーダも書き換えてみましょう。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DDD52E-54B7-4D91-B009-8025F77B1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47658" cy="15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9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必ず赤色で表示されます。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BC931A0-CBA3-4B76-B940-10FBF44CE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060423" cy="391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84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287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HLSL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基本的に、</a:t>
            </a:r>
            <a:r>
              <a:rPr lang="ja-JP" altLang="en-US" sz="2400" b="1" dirty="0">
                <a:solidFill>
                  <a:srgbClr val="FF0000"/>
                </a:solidFill>
              </a:rPr>
              <a:t>頂点をいじりたい場合は頂点シェーダー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ピクセル単位の色をいじりたい場合はピクセルシェーダー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使いこなすとゲームの見映えを格段に上げることができます。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4407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339</Words>
  <Application>Microsoft Office PowerPoint</Application>
  <PresentationFormat>ワイド画面</PresentationFormat>
  <Paragraphs>52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45</cp:revision>
  <dcterms:created xsi:type="dcterms:W3CDTF">2024-08-27T02:15:54Z</dcterms:created>
  <dcterms:modified xsi:type="dcterms:W3CDTF">2025-07-28T00:47:49Z</dcterms:modified>
</cp:coreProperties>
</file>