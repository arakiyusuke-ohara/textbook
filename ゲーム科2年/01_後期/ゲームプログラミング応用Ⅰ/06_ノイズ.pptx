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4" r:id="rId18"/>
    <p:sldId id="277" r:id="rId19"/>
    <p:sldId id="273" r:id="rId20"/>
    <p:sldId id="275" r:id="rId21"/>
    <p:sldId id="276" r:id="rId2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4472C4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2025/7/31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ノイズ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シェーダーでおしゃれな演出を作る際には、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ノイズ</a:t>
            </a:r>
            <a:r>
              <a:rPr kumimoji="1" lang="ja-JP" altLang="en-US" sz="2400" dirty="0"/>
              <a:t>がよく使われます。</a:t>
            </a:r>
            <a:endParaRPr kumimoji="1" lang="en-US" altLang="ja-JP" sz="2400" dirty="0"/>
          </a:p>
          <a:p>
            <a:r>
              <a:rPr lang="ja-JP" altLang="en-US" sz="2400" dirty="0"/>
              <a:t>ノイズを使ったシェーダーをいくつか作ってみましょう。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EE0A0506-E6DA-4FCF-8FF6-86CAE36F61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2187127"/>
            <a:ext cx="3858074" cy="3858074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69E95914-537A-4ACD-8B18-D881C30A71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3275" y="2187126"/>
            <a:ext cx="3858075" cy="3858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ノイズ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99211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ノイズは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0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～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1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の値をピクセルごとに設定されたテクスチャ</a:t>
            </a:r>
            <a:r>
              <a:rPr kumimoji="1" lang="ja-JP" altLang="en-US" sz="2400" dirty="0"/>
              <a:t>として使われます。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白いほど</a:t>
            </a:r>
            <a:r>
              <a:rPr lang="en-US" altLang="ja-JP" sz="2400" b="1" dirty="0">
                <a:solidFill>
                  <a:srgbClr val="FF0000"/>
                </a:solidFill>
              </a:rPr>
              <a:t>1</a:t>
            </a:r>
            <a:r>
              <a:rPr lang="ja-JP" altLang="en-US" sz="2400" b="1" dirty="0">
                <a:solidFill>
                  <a:srgbClr val="FF0000"/>
                </a:solidFill>
              </a:rPr>
              <a:t>に近く、黒いほど</a:t>
            </a:r>
            <a:r>
              <a:rPr lang="en-US" altLang="ja-JP" sz="2400" b="1" dirty="0">
                <a:solidFill>
                  <a:srgbClr val="FF0000"/>
                </a:solidFill>
              </a:rPr>
              <a:t>0</a:t>
            </a:r>
            <a:r>
              <a:rPr lang="ja-JP" altLang="en-US" sz="2400" b="1" dirty="0">
                <a:solidFill>
                  <a:srgbClr val="FF0000"/>
                </a:solidFill>
              </a:rPr>
              <a:t>に近い値</a:t>
            </a:r>
            <a:r>
              <a:rPr lang="ja-JP" altLang="en-US" sz="2400" dirty="0"/>
              <a:t>が使われます。</a:t>
            </a:r>
            <a:endParaRPr kumimoji="1"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3DA0AA42-E61A-4CBF-A8ED-263371C963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3858075" cy="3858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69178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ノイズ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3196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TextureBlend.shader</a:t>
            </a:r>
            <a:r>
              <a:rPr kumimoji="1" lang="ja-JP" altLang="en-US" sz="2400" dirty="0"/>
              <a:t>を追加して書いていきます。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5CBB85F-A1D1-417F-A2E4-A85DCE54A0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0532258" cy="4735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18676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ノイズ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8574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TextureBlend.shader</a:t>
            </a:r>
            <a:r>
              <a:rPr kumimoji="1" lang="ja-JP" altLang="en-US" sz="2400" dirty="0"/>
              <a:t>（その２）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E63BE24F-89E3-402E-BDF8-B6A775256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792802" cy="2905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0579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ノイズ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8574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TextureBlend.shader</a:t>
            </a:r>
            <a:r>
              <a:rPr kumimoji="1" lang="ja-JP" altLang="en-US" sz="2400" dirty="0"/>
              <a:t>（その３）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F4F9DAE-DC9C-447B-9FFE-3BDA7560BC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5"/>
            <a:ext cx="9423942" cy="4430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4214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ノイズ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8371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マテリアルを追加して</a:t>
            </a:r>
            <a:r>
              <a:rPr kumimoji="1" lang="en-US" altLang="ja-JP" sz="2400" dirty="0"/>
              <a:t>Plane</a:t>
            </a:r>
            <a:r>
              <a:rPr kumimoji="1" lang="ja-JP" altLang="en-US" sz="2400" dirty="0"/>
              <a:t>に適用しましょう。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185DA6E-1D81-44B5-81FD-B0F36E4AA5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5933" y="1817794"/>
            <a:ext cx="3800246" cy="3087176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F823E833-5BDD-4011-BAB5-2EACEFD016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2" y="1817794"/>
            <a:ext cx="6191097" cy="3075939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80C38F6-86FF-4030-B7EA-8E4046C5130B}"/>
              </a:ext>
            </a:extLst>
          </p:cNvPr>
          <p:cNvSpPr txBox="1"/>
          <p:nvPr/>
        </p:nvSpPr>
        <p:spPr>
          <a:xfrm>
            <a:off x="567542" y="5044670"/>
            <a:ext cx="892584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err="1"/>
              <a:t>TextureA</a:t>
            </a:r>
            <a:r>
              <a:rPr kumimoji="1" lang="ja-JP" altLang="en-US" sz="2400" dirty="0"/>
              <a:t>に対して</a:t>
            </a:r>
            <a:r>
              <a:rPr kumimoji="1" lang="en-US" altLang="ja-JP" sz="2400" dirty="0" err="1"/>
              <a:t>TextureB</a:t>
            </a:r>
            <a:r>
              <a:rPr kumimoji="1" lang="ja-JP" altLang="en-US" sz="2400" dirty="0"/>
              <a:t>がノイズに合わせて合成されます。</a:t>
            </a:r>
            <a:endParaRPr kumimoji="1" lang="en-US" altLang="ja-JP" sz="2400" dirty="0"/>
          </a:p>
          <a:p>
            <a:r>
              <a:rPr lang="ja-JP" altLang="en-US" sz="2400" dirty="0"/>
              <a:t>（ノイズの白が濃い部分ほど</a:t>
            </a:r>
            <a:r>
              <a:rPr lang="en-US" altLang="ja-JP" sz="2400" dirty="0" err="1"/>
              <a:t>TextureB</a:t>
            </a:r>
            <a:r>
              <a:rPr lang="ja-JP" altLang="en-US" sz="2400" dirty="0"/>
              <a:t>が濃く表示される）</a:t>
            </a:r>
            <a:endParaRPr kumimoji="1" lang="en-US" altLang="ja-JP" sz="2400" dirty="0"/>
          </a:p>
          <a:p>
            <a:r>
              <a:rPr lang="en-US" altLang="ja-JP" sz="2400" b="1" dirty="0">
                <a:solidFill>
                  <a:srgbClr val="0070C0"/>
                </a:solidFill>
              </a:rPr>
              <a:t>Blend Strength</a:t>
            </a:r>
            <a:r>
              <a:rPr lang="ja-JP" altLang="en-US" sz="2400" dirty="0"/>
              <a:t>を調整しながら確認しましょう。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0460865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3535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ノイズ 補足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0353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70C0"/>
                </a:solidFill>
              </a:rPr>
              <a:t>lerp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関数</a:t>
            </a:r>
            <a:r>
              <a:rPr kumimoji="1" lang="ja-JP" altLang="en-US" sz="2400" dirty="0"/>
              <a:t>は</a:t>
            </a:r>
            <a:r>
              <a:rPr lang="ja-JP" altLang="en-US" sz="2400" dirty="0"/>
              <a:t>線形補間を計算します。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97A1A03-BBD7-479C-AB95-0E3E6F82AB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5853258" cy="461665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CBA5CB6-5C1B-46BC-ACFA-77C9A5ECFE38}"/>
              </a:ext>
            </a:extLst>
          </p:cNvPr>
          <p:cNvSpPr txBox="1"/>
          <p:nvPr/>
        </p:nvSpPr>
        <p:spPr>
          <a:xfrm>
            <a:off x="567542" y="2424855"/>
            <a:ext cx="11543545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簡単な例だと、</a:t>
            </a:r>
            <a:endParaRPr lang="en-US" altLang="ja-JP" sz="2400" dirty="0"/>
          </a:p>
          <a:p>
            <a:r>
              <a:rPr kumimoji="1" lang="en-US" altLang="ja-JP" sz="2400" dirty="0"/>
              <a:t>lerp(0, 100, 0.3)=30</a:t>
            </a:r>
          </a:p>
          <a:p>
            <a:r>
              <a:rPr kumimoji="1" lang="en-US" altLang="ja-JP" sz="2400" dirty="0"/>
              <a:t>lerp(50, 100, 0.5)=75</a:t>
            </a:r>
          </a:p>
          <a:p>
            <a:endParaRPr lang="en-US" altLang="ja-JP" sz="2400" dirty="0"/>
          </a:p>
          <a:p>
            <a:r>
              <a:rPr kumimoji="1" lang="ja-JP" altLang="en-US" sz="2400" dirty="0"/>
              <a:t>このように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２つの値の中間を計算する関数</a:t>
            </a:r>
            <a:r>
              <a:rPr kumimoji="1" lang="ja-JP" altLang="en-US" sz="2400" dirty="0"/>
              <a:t>になります。</a:t>
            </a:r>
            <a:endParaRPr kumimoji="1" lang="en-US" altLang="ja-JP" sz="2400" dirty="0"/>
          </a:p>
          <a:p>
            <a:r>
              <a:rPr lang="ja-JP" altLang="en-US" sz="2400" dirty="0"/>
              <a:t>つまり、</a:t>
            </a:r>
            <a:r>
              <a:rPr lang="en-US" altLang="ja-JP" sz="2400" b="1" dirty="0" err="1">
                <a:solidFill>
                  <a:srgbClr val="FF0000"/>
                </a:solidFill>
              </a:rPr>
              <a:t>TextureA</a:t>
            </a:r>
            <a:r>
              <a:rPr lang="ja-JP" altLang="en-US" sz="2400" b="1" dirty="0">
                <a:solidFill>
                  <a:srgbClr val="FF0000"/>
                </a:solidFill>
              </a:rPr>
              <a:t>と</a:t>
            </a:r>
            <a:r>
              <a:rPr lang="en-US" altLang="ja-JP" sz="2400" b="1" dirty="0" err="1">
                <a:solidFill>
                  <a:srgbClr val="FF0000"/>
                </a:solidFill>
              </a:rPr>
              <a:t>TextureB</a:t>
            </a:r>
            <a:r>
              <a:rPr lang="ja-JP" altLang="en-US" sz="2400" b="1" dirty="0">
                <a:solidFill>
                  <a:srgbClr val="FF0000"/>
                </a:solidFill>
              </a:rPr>
              <a:t>の色の中間の色</a:t>
            </a:r>
            <a:r>
              <a:rPr lang="ja-JP" altLang="en-US" sz="2400" dirty="0"/>
              <a:t>を返却します。（結果合成となる）</a:t>
            </a:r>
            <a:endParaRPr kumimoji="1" lang="en-US" altLang="ja-JP" sz="2400" dirty="0"/>
          </a:p>
          <a:p>
            <a:r>
              <a:rPr lang="ja-JP" altLang="en-US" sz="2400" dirty="0"/>
              <a:t>ゲーム制作においても使いどころは多いです。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6704298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ノイズ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5646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続いて</a:t>
            </a:r>
            <a:r>
              <a:rPr lang="en-US" altLang="ja-JP" sz="2400" b="1" dirty="0" err="1">
                <a:solidFill>
                  <a:srgbClr val="FF0000"/>
                </a:solidFill>
              </a:rPr>
              <a:t>Dissolve.shader</a:t>
            </a:r>
            <a:r>
              <a:rPr lang="ja-JP" altLang="en-US" sz="2400" dirty="0"/>
              <a:t>を追加して書きます。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ED24D76-E2AF-4FFF-AC0F-A9F680241A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0921725" cy="4664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29715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ノイズ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102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Dissolve.shader</a:t>
            </a:r>
            <a:r>
              <a:rPr lang="ja-JP" altLang="en-US" sz="2400" dirty="0"/>
              <a:t>（その２）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030A502-05B1-416A-8F15-C6BE559BC7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1817794"/>
            <a:ext cx="7210816" cy="4710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3829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ノイズ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102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Dissolve.shader</a:t>
            </a:r>
            <a:r>
              <a:rPr lang="ja-JP" altLang="en-US" sz="2400" dirty="0"/>
              <a:t>（その３）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148195F-C954-4098-BE8D-E0C6041836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0896325" cy="1614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27631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ノイズ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102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Dissolve.shader</a:t>
            </a:r>
            <a:r>
              <a:rPr lang="ja-JP" altLang="en-US" sz="2400" dirty="0"/>
              <a:t>（その４）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973BFC0-9542-47A6-BE2B-84EFD44C83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1817794"/>
            <a:ext cx="6773058" cy="4758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1834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ノイズ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0706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Dissolver.cs</a:t>
            </a:r>
            <a:r>
              <a:rPr lang="ja-JP" altLang="en-US" sz="2400" dirty="0"/>
              <a:t>を追加して書きます。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0DE45C1F-9E9E-4DDF-B340-28E484A320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0574226" cy="4782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1561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ノイズ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7326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DissolveCube.cs</a:t>
            </a:r>
            <a:r>
              <a:rPr lang="ja-JP" altLang="en-US" sz="2400" dirty="0"/>
              <a:t>を追加して書きます。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A86BC68-FEA0-4720-B435-E4A3219A67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1107991" cy="3654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48367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ノイズ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35782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DissolveCube.cs</a:t>
            </a:r>
            <a:r>
              <a:rPr lang="ja-JP" altLang="en-US" sz="2400" dirty="0"/>
              <a:t>その２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E5F57353-454D-45EB-B5B9-D170D14614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9653655" cy="4379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727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ノイズ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キューブを配置して作成したものを追加していきましょう。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A52309F-EDED-4584-A178-BD1DB6B9C7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4315427" cy="4582164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60A935A-5EB6-4FBD-9203-4C9A514F845E}"/>
              </a:ext>
            </a:extLst>
          </p:cNvPr>
          <p:cNvSpPr txBox="1"/>
          <p:nvPr/>
        </p:nvSpPr>
        <p:spPr>
          <a:xfrm>
            <a:off x="5062264" y="6067525"/>
            <a:ext cx="44935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実行して動作確認しましょう。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8404591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ノイズ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135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Z, X</a:t>
            </a:r>
            <a:r>
              <a:rPr lang="ja-JP" altLang="en-US" sz="2400" dirty="0"/>
              <a:t>キーでキューブをじわじわ消すことができます。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D09182C-852C-42A0-9212-0D1552F94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942" y="1817793"/>
            <a:ext cx="3547258" cy="3583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55109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ノイズ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24323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ノイズの値が</a:t>
            </a:r>
            <a:r>
              <a:rPr lang="en-US" altLang="ja-JP" sz="2400" b="1" dirty="0">
                <a:solidFill>
                  <a:srgbClr val="FF0000"/>
                </a:solidFill>
              </a:rPr>
              <a:t>_</a:t>
            </a:r>
            <a:r>
              <a:rPr lang="en-US" altLang="ja-JP" sz="2400" b="1" dirty="0" err="1">
                <a:solidFill>
                  <a:srgbClr val="FF0000"/>
                </a:solidFill>
              </a:rPr>
              <a:t>DissolveAmount</a:t>
            </a:r>
            <a:r>
              <a:rPr lang="ja-JP" altLang="en-US" sz="2400" b="1" dirty="0">
                <a:solidFill>
                  <a:srgbClr val="FF0000"/>
                </a:solidFill>
              </a:rPr>
              <a:t>以下であれば透明</a:t>
            </a:r>
            <a:r>
              <a:rPr lang="ja-JP" altLang="en-US" sz="2400" dirty="0"/>
              <a:t>にしています。</a:t>
            </a:r>
            <a:endParaRPr lang="en-US" altLang="ja-JP" sz="2400" dirty="0"/>
          </a:p>
          <a:p>
            <a:r>
              <a:rPr lang="ja-JP" altLang="en-US" sz="2400" dirty="0"/>
              <a:t>つまり、</a:t>
            </a:r>
            <a:r>
              <a:rPr lang="en-US" altLang="ja-JP" sz="2400" dirty="0"/>
              <a:t> </a:t>
            </a:r>
            <a:r>
              <a:rPr lang="en-US" altLang="ja-JP" sz="2400" b="1" dirty="0">
                <a:solidFill>
                  <a:srgbClr val="4472C4"/>
                </a:solidFill>
              </a:rPr>
              <a:t>_</a:t>
            </a:r>
            <a:r>
              <a:rPr lang="en-US" altLang="ja-JP" sz="2400" b="1" dirty="0" err="1">
                <a:solidFill>
                  <a:srgbClr val="4472C4"/>
                </a:solidFill>
              </a:rPr>
              <a:t>DissolveAmout</a:t>
            </a:r>
            <a:r>
              <a:rPr lang="ja-JP" altLang="en-US" sz="2400" dirty="0"/>
              <a:t>の値を徐々に増やしていくと、</a:t>
            </a:r>
            <a:endParaRPr lang="en-US" altLang="ja-JP" sz="2400" dirty="0"/>
          </a:p>
          <a:p>
            <a:r>
              <a:rPr lang="ja-JP" altLang="en-US" sz="2400" dirty="0"/>
              <a:t>透明な部分が増えていき、じわじわと消えていきます。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868AE633-2D92-4F9B-AA47-6A9F51A2D4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3239580" y="2556457"/>
            <a:ext cx="2572109" cy="2572109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0B3D69BD-0C15-4B84-AC60-4FA1CDC63D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2" y="2556458"/>
            <a:ext cx="2534004" cy="2572109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6AAEC93-39F5-4AB0-8542-3EECA3EACFD6}"/>
              </a:ext>
            </a:extLst>
          </p:cNvPr>
          <p:cNvSpPr txBox="1"/>
          <p:nvPr/>
        </p:nvSpPr>
        <p:spPr>
          <a:xfrm>
            <a:off x="567542" y="5238157"/>
            <a:ext cx="5109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ノイズの白が濃いほど、残りやすい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7985488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ノイズ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アプリ側（シェーダーじゃない方）のプログラムから、</a:t>
            </a:r>
            <a:endParaRPr lang="en-US" altLang="ja-JP" sz="2400" dirty="0"/>
          </a:p>
          <a:p>
            <a:r>
              <a:rPr lang="ja-JP" altLang="en-US" sz="2400" dirty="0"/>
              <a:t>シェーダープログラムの変数を設定できたりもします。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6E985BD-BBAC-4839-AF53-49DC2949DC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8816159" cy="2156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51217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ノイズ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ノイズの値が</a:t>
            </a:r>
            <a:r>
              <a:rPr lang="en-US" altLang="ja-JP" sz="2400" b="1" dirty="0">
                <a:solidFill>
                  <a:srgbClr val="0070C0"/>
                </a:solidFill>
              </a:rPr>
              <a:t>_</a:t>
            </a:r>
            <a:r>
              <a:rPr lang="en-US" altLang="ja-JP" sz="2400" b="1" dirty="0" err="1">
                <a:solidFill>
                  <a:srgbClr val="0070C0"/>
                </a:solidFill>
              </a:rPr>
              <a:t>DissolveAmount</a:t>
            </a:r>
            <a:r>
              <a:rPr lang="ja-JP" altLang="en-US" sz="2400" dirty="0"/>
              <a:t>よりも小さいと、</a:t>
            </a:r>
            <a:endParaRPr lang="en-US" altLang="ja-JP" sz="2400" dirty="0"/>
          </a:p>
          <a:p>
            <a:r>
              <a:rPr lang="ja-JP" altLang="en-US" sz="2400" dirty="0"/>
              <a:t>そのピクセルは描画しないようにしています。</a:t>
            </a:r>
            <a:endParaRPr lang="en-US" altLang="ja-JP" sz="2400" dirty="0"/>
          </a:p>
          <a:p>
            <a:r>
              <a:rPr lang="ja-JP" altLang="en-US" sz="2400" dirty="0"/>
              <a:t>つまり、ノイズに合わせて徐々に透明になっていくことになります。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163E5E2-6AB2-4A11-9E79-E5AF7E0C5F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7640116" cy="67636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7397442-DEEF-42A7-A62C-1A3D6F585437}"/>
              </a:ext>
            </a:extLst>
          </p:cNvPr>
          <p:cNvSpPr txBox="1"/>
          <p:nvPr/>
        </p:nvSpPr>
        <p:spPr>
          <a:xfrm>
            <a:off x="567541" y="3231972"/>
            <a:ext cx="8650125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70C0"/>
                </a:solidFill>
              </a:rPr>
              <a:t>Smoothstep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を使うと、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Noise &lt; threshold = 0</a:t>
            </a:r>
          </a:p>
          <a:p>
            <a:r>
              <a:rPr lang="en-US" altLang="ja-JP" sz="2400" b="1" dirty="0">
                <a:solidFill>
                  <a:srgbClr val="FF0000"/>
                </a:solidFill>
              </a:rPr>
              <a:t>Noise &gt; threshold = 1</a:t>
            </a:r>
          </a:p>
          <a:p>
            <a:r>
              <a:rPr lang="ja-JP" altLang="en-US" sz="2400" dirty="0"/>
              <a:t>を実現できます。</a:t>
            </a:r>
            <a:endParaRPr lang="en-US" altLang="ja-JP" sz="2400" dirty="0"/>
          </a:p>
          <a:p>
            <a:r>
              <a:rPr lang="ja-JP" altLang="en-US" sz="2400" dirty="0"/>
              <a:t>（</a:t>
            </a:r>
            <a:r>
              <a:rPr lang="en-US" altLang="ja-JP" sz="2400" b="1" dirty="0">
                <a:solidFill>
                  <a:srgbClr val="0070C0"/>
                </a:solidFill>
              </a:rPr>
              <a:t>_</a:t>
            </a:r>
            <a:r>
              <a:rPr lang="en-US" altLang="ja-JP" sz="2400" b="1" dirty="0" err="1">
                <a:solidFill>
                  <a:srgbClr val="0070C0"/>
                </a:solidFill>
              </a:rPr>
              <a:t>EdgeWidth</a:t>
            </a:r>
            <a:r>
              <a:rPr lang="ja-JP" altLang="en-US" sz="2400" dirty="0"/>
              <a:t>を引くことにより、エッジ部分は残している）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詳しい挙動は調べてみましょう。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2193060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ノイズ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64622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このようにノイズは様々な演出や装飾に使うことができます。</a:t>
            </a:r>
            <a:endParaRPr lang="en-US" altLang="ja-JP" sz="2400" dirty="0"/>
          </a:p>
          <a:p>
            <a:r>
              <a:rPr lang="ja-JP" altLang="en-US" sz="2400" dirty="0"/>
              <a:t>興味がある方は、ほかにどのような使われ方がされているか調べてみましょう。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また、ノイズにも様々な種類があります。</a:t>
            </a:r>
            <a:endParaRPr lang="en-US" altLang="ja-JP" sz="2400" dirty="0"/>
          </a:p>
          <a:p>
            <a:r>
              <a:rPr lang="ja-JP" altLang="en-US" sz="2400" dirty="0"/>
              <a:t>併せて調べてみましょう。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787DE2FB-5D21-4C11-86CC-0524D875DA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3429001"/>
            <a:ext cx="2616200" cy="261620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6D80FEF2-A829-4608-B4EB-9F76E96B4F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7684" y="3428999"/>
            <a:ext cx="2616201" cy="2616201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3C1753C0-E46A-48B8-A8BE-CAD0654A92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7827" y="3428999"/>
            <a:ext cx="2616200" cy="261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5849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3535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ノイズ 補足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87532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ノイズも</a:t>
            </a:r>
            <a:r>
              <a:rPr lang="en-US" altLang="ja-JP" sz="2400" dirty="0"/>
              <a:t>Web</a:t>
            </a:r>
            <a:r>
              <a:rPr lang="ja-JP" altLang="en-US" sz="2400" dirty="0"/>
              <a:t>に生成ツールがあります。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■リンク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en-US" altLang="ja-JP" sz="2400" dirty="0"/>
              <a:t>https://noisegen.bubblebirdstudio.com/</a:t>
            </a:r>
          </a:p>
        </p:txBody>
      </p:sp>
    </p:spTree>
    <p:extLst>
      <p:ext uri="{BB962C8B-B14F-4D97-AF65-F5344CB8AC3E}">
        <p14:creationId xmlns:p14="http://schemas.microsoft.com/office/powerpoint/2010/main" val="31907146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</TotalTime>
  <Words>520</Words>
  <Application>Microsoft Office PowerPoint</Application>
  <PresentationFormat>ワイド画面</PresentationFormat>
  <Paragraphs>75</Paragraphs>
  <Slides>21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21</vt:i4>
      </vt:variant>
    </vt:vector>
  </HeadingPairs>
  <TitlesOfParts>
    <vt:vector size="25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74</cp:revision>
  <dcterms:created xsi:type="dcterms:W3CDTF">2024-08-27T02:15:54Z</dcterms:created>
  <dcterms:modified xsi:type="dcterms:W3CDTF">2025-07-31T06:15:16Z</dcterms:modified>
</cp:coreProperties>
</file>