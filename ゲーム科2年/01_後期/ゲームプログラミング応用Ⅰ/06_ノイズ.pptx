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7" r:id="rId19"/>
    <p:sldId id="273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シェーダーでおしゃれな演出を作る際には、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ノイズ</a:t>
            </a:r>
            <a:r>
              <a:rPr kumimoji="1" lang="ja-JP" altLang="en-US" sz="2400" dirty="0"/>
              <a:t>がよく使われます。</a:t>
            </a:r>
            <a:endParaRPr kumimoji="1" lang="en-US" altLang="ja-JP" sz="2400" dirty="0"/>
          </a:p>
          <a:p>
            <a:r>
              <a:rPr lang="ja-JP" altLang="en-US" sz="2400" dirty="0"/>
              <a:t>ノイズを使ったシェーダーをいくつか作ってみましょう。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E0A0506-E6DA-4FCF-8FF6-86CAE36F6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7"/>
            <a:ext cx="3858074" cy="385807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9E95914-537A-4ACD-8B18-D881C30A7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275" y="2187126"/>
            <a:ext cx="3858075" cy="385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92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ノイズは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～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の値をピクセルごとに設定されたテクスチャ</a:t>
            </a:r>
            <a:r>
              <a:rPr kumimoji="1" lang="ja-JP" altLang="en-US" sz="2400" dirty="0"/>
              <a:t>として使われます。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白いほど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に近く、黒いほど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に近い値</a:t>
            </a:r>
            <a:r>
              <a:rPr lang="ja-JP" altLang="en-US" sz="2400" dirty="0"/>
              <a:t>が使われます。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DA0AA42-E61A-4CBF-A8ED-263371C96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3858075" cy="385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1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19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TextureBlend.shader</a:t>
            </a:r>
            <a:r>
              <a:rPr kumimoji="1" lang="ja-JP" altLang="en-US" sz="2400" dirty="0"/>
              <a:t>を追加して書いていきます。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5CBB85F-A1D1-417F-A2E4-A85DCE54A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532258" cy="473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6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57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TextureBlend.shader</a:t>
            </a:r>
            <a:r>
              <a:rPr kumimoji="1" lang="ja-JP" altLang="en-US" sz="2400" dirty="0"/>
              <a:t>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63BE24F-89E3-402E-BDF8-B6A775256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9280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5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57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TextureBlend.shader</a:t>
            </a:r>
            <a:r>
              <a:rPr kumimoji="1" lang="ja-JP" altLang="en-US" sz="2400" dirty="0"/>
              <a:t>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F4F9DAE-DC9C-447B-9FFE-3BDA7560B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9423942" cy="443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2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マテリアルを追加して</a:t>
            </a:r>
            <a:r>
              <a:rPr kumimoji="1" lang="en-US" altLang="ja-JP" sz="2400" dirty="0"/>
              <a:t>Plane</a:t>
            </a:r>
            <a:r>
              <a:rPr kumimoji="1" lang="ja-JP" altLang="en-US" sz="2400" dirty="0"/>
              <a:t>に適用しましょう。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85DA6E-1D81-44B5-81FD-B0F36E4A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933" y="1817794"/>
            <a:ext cx="3800246" cy="308717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823E833-5BDD-4011-BAB5-2EACEFD0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1817794"/>
            <a:ext cx="6191097" cy="30759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0C38F6-86FF-4030-B7EA-8E4046C5130B}"/>
              </a:ext>
            </a:extLst>
          </p:cNvPr>
          <p:cNvSpPr txBox="1"/>
          <p:nvPr/>
        </p:nvSpPr>
        <p:spPr>
          <a:xfrm>
            <a:off x="567542" y="5044670"/>
            <a:ext cx="89258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TextureA</a:t>
            </a:r>
            <a:r>
              <a:rPr kumimoji="1" lang="ja-JP" altLang="en-US" sz="2400" dirty="0"/>
              <a:t>に対して</a:t>
            </a:r>
            <a:r>
              <a:rPr kumimoji="1" lang="en-US" altLang="ja-JP" sz="2400" dirty="0" err="1"/>
              <a:t>TextureB</a:t>
            </a:r>
            <a:r>
              <a:rPr kumimoji="1" lang="ja-JP" altLang="en-US" sz="2400" dirty="0"/>
              <a:t>がノイズに合わせて合成されます。</a:t>
            </a:r>
            <a:endParaRPr kumimoji="1" lang="en-US" altLang="ja-JP" sz="2400" dirty="0"/>
          </a:p>
          <a:p>
            <a:r>
              <a:rPr lang="ja-JP" altLang="en-US" sz="2400" dirty="0"/>
              <a:t>（ノイズの白が濃い部分ほど</a:t>
            </a:r>
            <a:r>
              <a:rPr lang="en-US" altLang="ja-JP" sz="2400" dirty="0" err="1"/>
              <a:t>TextureB</a:t>
            </a:r>
            <a:r>
              <a:rPr lang="ja-JP" altLang="en-US" sz="2400" dirty="0"/>
              <a:t>が濃く表示される）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Blend Strength</a:t>
            </a:r>
            <a:r>
              <a:rPr lang="ja-JP" altLang="en-US" sz="2400" dirty="0"/>
              <a:t>を調整しながら確認しましょう。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4608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035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lerp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は</a:t>
            </a:r>
            <a:r>
              <a:rPr lang="ja-JP" altLang="en-US" sz="2400" dirty="0"/>
              <a:t>線形補間を計算します。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7A1A03-BBD7-479C-AB95-0E3E6F82A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53258" cy="46166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CBA5CB6-5C1B-46BC-ACFA-77C9A5ECFE38}"/>
              </a:ext>
            </a:extLst>
          </p:cNvPr>
          <p:cNvSpPr txBox="1"/>
          <p:nvPr/>
        </p:nvSpPr>
        <p:spPr>
          <a:xfrm>
            <a:off x="567542" y="2424855"/>
            <a:ext cx="1154354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簡単な例だと、</a:t>
            </a:r>
            <a:endParaRPr lang="en-US" altLang="ja-JP" sz="2400" dirty="0"/>
          </a:p>
          <a:p>
            <a:r>
              <a:rPr kumimoji="1" lang="en-US" altLang="ja-JP" sz="2400" dirty="0"/>
              <a:t>lerp(0, 100, 0.3)=30</a:t>
            </a:r>
          </a:p>
          <a:p>
            <a:r>
              <a:rPr kumimoji="1" lang="en-US" altLang="ja-JP" sz="2400" dirty="0"/>
              <a:t>lerp(50, 100, 0.5)=75</a:t>
            </a:r>
          </a:p>
          <a:p>
            <a:endParaRPr lang="en-US" altLang="ja-JP" sz="2400" dirty="0"/>
          </a:p>
          <a:p>
            <a:r>
              <a:rPr kumimoji="1" lang="ja-JP" altLang="en-US" sz="2400" dirty="0"/>
              <a:t>このように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２つの値の中間を計算する関数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つまり、</a:t>
            </a:r>
            <a:r>
              <a:rPr lang="en-US" altLang="ja-JP" sz="2400" b="1" dirty="0" err="1">
                <a:solidFill>
                  <a:srgbClr val="FF0000"/>
                </a:solidFill>
              </a:rPr>
              <a:t>TextureA</a:t>
            </a:r>
            <a:r>
              <a:rPr lang="ja-JP" altLang="en-US" sz="2400" b="1" dirty="0">
                <a:solidFill>
                  <a:srgbClr val="FF0000"/>
                </a:solidFill>
              </a:rPr>
              <a:t>と</a:t>
            </a:r>
            <a:r>
              <a:rPr lang="en-US" altLang="ja-JP" sz="2400" b="1" dirty="0" err="1">
                <a:solidFill>
                  <a:srgbClr val="FF0000"/>
                </a:solidFill>
              </a:rPr>
              <a:t>TextureB</a:t>
            </a:r>
            <a:r>
              <a:rPr lang="ja-JP" altLang="en-US" sz="2400" b="1" dirty="0">
                <a:solidFill>
                  <a:srgbClr val="FF0000"/>
                </a:solidFill>
              </a:rPr>
              <a:t>の色の中間の色</a:t>
            </a:r>
            <a:r>
              <a:rPr lang="ja-JP" altLang="en-US" sz="2400" dirty="0"/>
              <a:t>を返却します。（結果合成となる）</a:t>
            </a:r>
            <a:endParaRPr kumimoji="1" lang="en-US" altLang="ja-JP" sz="2400" dirty="0"/>
          </a:p>
          <a:p>
            <a:r>
              <a:rPr lang="ja-JP" altLang="en-US" sz="2400" dirty="0"/>
              <a:t>ゲーム制作においても使いどころは多いです。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7042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64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 err="1">
                <a:solidFill>
                  <a:srgbClr val="FF0000"/>
                </a:solidFill>
              </a:rPr>
              <a:t>Dissolve.shader</a:t>
            </a:r>
            <a:r>
              <a:rPr lang="ja-JP" altLang="en-US" sz="2400" dirty="0"/>
              <a:t>を追加して書きます。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D24D76-E2AF-4FFF-AC0F-A9F680241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21725" cy="466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7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02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Dissolve.shader</a:t>
            </a:r>
            <a:r>
              <a:rPr lang="ja-JP" altLang="en-US" sz="2400" dirty="0"/>
              <a:t>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30A502-05B1-416A-8F15-C6BE559B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210816" cy="471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82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02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Dissolve.shader</a:t>
            </a:r>
            <a:r>
              <a:rPr lang="ja-JP" altLang="en-US" sz="2400" dirty="0"/>
              <a:t>（その３）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48195F-C954-4098-BE8D-E0C604183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96325" cy="1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6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02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Dissolve.shader</a:t>
            </a:r>
            <a:r>
              <a:rPr lang="ja-JP" altLang="en-US" sz="2400" dirty="0"/>
              <a:t>（その４）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73BFC0-9542-47A6-BE2B-84EFD44C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773058" cy="475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8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070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Dissolver.cs</a:t>
            </a:r>
            <a:r>
              <a:rPr lang="ja-JP" altLang="en-US" sz="2400" dirty="0"/>
              <a:t>を追加して書きます。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DE45C1F-9E9E-4DDF-B340-28E484A3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574226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56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32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DissolveCube.cs</a:t>
            </a:r>
            <a:r>
              <a:rPr lang="ja-JP" altLang="en-US" sz="2400" dirty="0"/>
              <a:t>を追加して書きます。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A86BC68-FEA0-4720-B435-E4A3219A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107991" cy="365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3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78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DissolveCube.cs</a:t>
            </a:r>
            <a:r>
              <a:rPr lang="ja-JP" altLang="en-US" sz="2400" dirty="0"/>
              <a:t>その２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F57353-454D-45EB-B5B9-D170D1461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653655" cy="43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キューブを配置して作成したものを追加していきましょう。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A52309F-EDED-4584-A178-BD1DB6B9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15427" cy="458216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0A935A-5EB6-4FBD-9203-4C9A514F845E}"/>
              </a:ext>
            </a:extLst>
          </p:cNvPr>
          <p:cNvSpPr txBox="1"/>
          <p:nvPr/>
        </p:nvSpPr>
        <p:spPr>
          <a:xfrm>
            <a:off x="5062264" y="6067525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実行して動作確認しましょう。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40459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13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Z, X</a:t>
            </a:r>
            <a:r>
              <a:rPr lang="ja-JP" altLang="en-US" sz="2400" dirty="0"/>
              <a:t>キーでキューブをじわじわ消すことができます。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09182C-852C-42A0-9212-0D1552F9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42" y="1817793"/>
            <a:ext cx="3547258" cy="358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10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524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ノイズの値が</a:t>
            </a:r>
            <a:r>
              <a:rPr lang="en-US" altLang="ja-JP" sz="2400" b="1" dirty="0">
                <a:solidFill>
                  <a:srgbClr val="FF0000"/>
                </a:solidFill>
              </a:rPr>
              <a:t>_</a:t>
            </a:r>
            <a:r>
              <a:rPr lang="en-US" altLang="ja-JP" sz="2400" b="1" dirty="0" err="1">
                <a:solidFill>
                  <a:srgbClr val="FF0000"/>
                </a:solidFill>
              </a:rPr>
              <a:t>DissolveAmout</a:t>
            </a:r>
            <a:r>
              <a:rPr lang="ja-JP" altLang="en-US" sz="2400" b="1" dirty="0">
                <a:solidFill>
                  <a:srgbClr val="FF0000"/>
                </a:solidFill>
              </a:rPr>
              <a:t>以下であれば透明</a:t>
            </a:r>
            <a:r>
              <a:rPr lang="ja-JP" altLang="en-US" sz="2400" dirty="0"/>
              <a:t>にしています。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en-US" altLang="ja-JP" sz="2400" dirty="0"/>
              <a:t> </a:t>
            </a:r>
            <a:r>
              <a:rPr lang="en-US" altLang="ja-JP" sz="2400" b="1" dirty="0">
                <a:solidFill>
                  <a:srgbClr val="4472C4"/>
                </a:solidFill>
              </a:rPr>
              <a:t>_</a:t>
            </a:r>
            <a:r>
              <a:rPr lang="en-US" altLang="ja-JP" sz="2400" b="1" dirty="0" err="1">
                <a:solidFill>
                  <a:srgbClr val="4472C4"/>
                </a:solidFill>
              </a:rPr>
              <a:t>DissolveAmout</a:t>
            </a:r>
            <a:r>
              <a:rPr lang="ja-JP" altLang="en-US" sz="2400" dirty="0"/>
              <a:t>の値を徐々に増やしていくと、</a:t>
            </a:r>
            <a:endParaRPr lang="en-US" altLang="ja-JP" sz="2400" dirty="0"/>
          </a:p>
          <a:p>
            <a:r>
              <a:rPr lang="ja-JP" altLang="en-US" sz="2400" dirty="0"/>
              <a:t>透明な部分が増えていき、じわじわと消えていきます。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68AE633-2D92-4F9B-AA47-6A9F51A2D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239580" y="2556457"/>
            <a:ext cx="2572109" cy="257210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B3D69BD-0C15-4B84-AC60-4FA1CDC63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556458"/>
            <a:ext cx="2534004" cy="257210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AAEC93-39F5-4AB0-8542-3EECA3EACFD6}"/>
              </a:ext>
            </a:extLst>
          </p:cNvPr>
          <p:cNvSpPr txBox="1"/>
          <p:nvPr/>
        </p:nvSpPr>
        <p:spPr>
          <a:xfrm>
            <a:off x="567542" y="523815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ノイズの白い部分にほど、残りやすい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98548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アプリ側（シェーダーじゃない方）のプログラムから、</a:t>
            </a:r>
            <a:endParaRPr lang="en-US" altLang="ja-JP" sz="2400" dirty="0"/>
          </a:p>
          <a:p>
            <a:r>
              <a:rPr lang="ja-JP" altLang="en-US" sz="2400" dirty="0"/>
              <a:t>シェーダープログラムの変数を設定できたりもします。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6E985BD-BBAC-4839-AF53-49DC2949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816159" cy="215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21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ノイズの値が</a:t>
            </a:r>
            <a:r>
              <a:rPr lang="en-US" altLang="ja-JP" sz="2400" b="1" dirty="0">
                <a:solidFill>
                  <a:srgbClr val="0070C0"/>
                </a:solidFill>
              </a:rPr>
              <a:t>_</a:t>
            </a:r>
            <a:r>
              <a:rPr lang="en-US" altLang="ja-JP" sz="2400" b="1" dirty="0" err="1">
                <a:solidFill>
                  <a:srgbClr val="0070C0"/>
                </a:solidFill>
              </a:rPr>
              <a:t>DissolveAmount</a:t>
            </a:r>
            <a:r>
              <a:rPr lang="ja-JP" altLang="en-US" sz="2400" dirty="0"/>
              <a:t>よりも小さいと、</a:t>
            </a:r>
            <a:endParaRPr lang="en-US" altLang="ja-JP" sz="2400" dirty="0"/>
          </a:p>
          <a:p>
            <a:r>
              <a:rPr lang="ja-JP" altLang="en-US" sz="2400" dirty="0"/>
              <a:t>そのピクセルは描画しないようにしています。</a:t>
            </a:r>
            <a:endParaRPr lang="en-US" altLang="ja-JP" sz="2400" dirty="0"/>
          </a:p>
          <a:p>
            <a:r>
              <a:rPr lang="ja-JP" altLang="en-US" sz="2400" dirty="0"/>
              <a:t>つまり、ノイズに合わせて徐々に透明になっていくことになります。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63E5E2-6AB2-4A11-9E79-E5AF7E0C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640116" cy="67636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397442-DEEF-42A7-A62C-1A3D6F585437}"/>
              </a:ext>
            </a:extLst>
          </p:cNvPr>
          <p:cNvSpPr txBox="1"/>
          <p:nvPr/>
        </p:nvSpPr>
        <p:spPr>
          <a:xfrm>
            <a:off x="567541" y="3231972"/>
            <a:ext cx="865012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Smoothstep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を使うと、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Noise &lt; threshold = 0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Noise &gt; threshold = 1</a:t>
            </a:r>
          </a:p>
          <a:p>
            <a:r>
              <a:rPr lang="ja-JP" altLang="en-US" sz="2400" dirty="0"/>
              <a:t>を実現できます。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b="1" dirty="0">
                <a:solidFill>
                  <a:srgbClr val="0070C0"/>
                </a:solidFill>
              </a:rPr>
              <a:t>_</a:t>
            </a:r>
            <a:r>
              <a:rPr lang="en-US" altLang="ja-JP" sz="2400" b="1" dirty="0" err="1">
                <a:solidFill>
                  <a:srgbClr val="0070C0"/>
                </a:solidFill>
              </a:rPr>
              <a:t>EdgeWidth</a:t>
            </a:r>
            <a:r>
              <a:rPr lang="ja-JP" altLang="en-US" sz="2400" dirty="0"/>
              <a:t>を引くことにより、エッジ部分は残している）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詳しい挙動は調べてみましょう。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19306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このようにノイズは様々な演出や装飾に使うことができます。</a:t>
            </a:r>
            <a:endParaRPr lang="en-US" altLang="ja-JP" sz="2400" dirty="0"/>
          </a:p>
          <a:p>
            <a:r>
              <a:rPr lang="ja-JP" altLang="en-US" sz="2400" dirty="0"/>
              <a:t>興味がある方は、ほかにどのような使われ方がされているか調べてみましょう。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また、ノイズにも様々な種類があります。</a:t>
            </a:r>
            <a:endParaRPr lang="en-US" altLang="ja-JP" sz="2400" dirty="0"/>
          </a:p>
          <a:p>
            <a:r>
              <a:rPr lang="ja-JP" altLang="en-US" sz="2400" dirty="0"/>
              <a:t>併せて調べてみましょう。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87DE2FB-5D21-4C11-86CC-0524D875D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3429001"/>
            <a:ext cx="2616200" cy="2616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D80FEF2-A829-4608-B4EB-9F76E96B4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4" y="3428999"/>
            <a:ext cx="2616201" cy="2616201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C1753C0-E46A-48B8-A8BE-CAD0654A9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827" y="3428999"/>
            <a:ext cx="26162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4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ノイズ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75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ノイズも</a:t>
            </a:r>
            <a:r>
              <a:rPr lang="en-US" altLang="ja-JP" sz="2400" dirty="0"/>
              <a:t>Web</a:t>
            </a:r>
            <a:r>
              <a:rPr lang="ja-JP" altLang="en-US" sz="2400" dirty="0"/>
              <a:t>に生成ツールがあります。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■リンク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https://noisegen.bubblebirdstudio.com/</a:t>
            </a:r>
          </a:p>
        </p:txBody>
      </p:sp>
    </p:spTree>
    <p:extLst>
      <p:ext uri="{BB962C8B-B14F-4D97-AF65-F5344CB8AC3E}">
        <p14:creationId xmlns:p14="http://schemas.microsoft.com/office/powerpoint/2010/main" val="319071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520</Words>
  <Application>Microsoft Office PowerPoint</Application>
  <PresentationFormat>ワイド画面</PresentationFormat>
  <Paragraphs>75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71</cp:revision>
  <dcterms:created xsi:type="dcterms:W3CDTF">2024-08-27T02:15:54Z</dcterms:created>
  <dcterms:modified xsi:type="dcterms:W3CDTF">2025-07-25T05:49:00Z</dcterms:modified>
</cp:coreProperties>
</file>