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物体をよりリアルに、立体的に見せるためには、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C000"/>
                </a:solidFill>
              </a:rPr>
              <a:t>光</a:t>
            </a:r>
            <a:r>
              <a:rPr lang="ja-JP" altLang="en-US" sz="2400" dirty="0"/>
              <a:t>と</a:t>
            </a:r>
            <a:r>
              <a:rPr lang="ja-JP" altLang="en-US" sz="2400" b="1" dirty="0"/>
              <a:t>影</a:t>
            </a:r>
            <a:r>
              <a:rPr lang="ja-JP" altLang="en-US" sz="2400" dirty="0"/>
              <a:t>が最も大事です。</a:t>
            </a:r>
            <a:endParaRPr lang="en-US" altLang="ja-JP" sz="2400" dirty="0"/>
          </a:p>
          <a:p>
            <a:r>
              <a:rPr lang="ja-JP" altLang="en-US" sz="2400" dirty="0"/>
              <a:t>ハイトマップは、</a:t>
            </a:r>
            <a:r>
              <a:rPr lang="ja-JP" altLang="en-US" sz="2400" b="1" dirty="0">
                <a:solidFill>
                  <a:srgbClr val="FF0000"/>
                </a:solidFill>
              </a:rPr>
              <a:t>平面なテクスチャーに疑似的な高さ</a:t>
            </a:r>
            <a:r>
              <a:rPr lang="ja-JP" altLang="en-US" sz="2400" dirty="0"/>
              <a:t>を与え、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高い部分をより明るく表示する</a:t>
            </a:r>
            <a:r>
              <a:rPr kumimoji="1" lang="ja-JP" altLang="en-US" sz="2400" dirty="0"/>
              <a:t>ための技術です。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183650-CCE5-4B3E-B2F4-244774595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07" y="3074894"/>
            <a:ext cx="2555513" cy="255551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7A2F4A3-8CA1-403D-8C7F-EEE76B6E0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878" y="3086058"/>
            <a:ext cx="2555513" cy="2555513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343EA02-4067-480A-BE49-5A92C5A87873}"/>
              </a:ext>
            </a:extLst>
          </p:cNvPr>
          <p:cNvSpPr txBox="1"/>
          <p:nvPr/>
        </p:nvSpPr>
        <p:spPr>
          <a:xfrm>
            <a:off x="767112" y="568837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水のテクスチャ</a:t>
            </a:r>
            <a:endParaRPr kumimoji="1" lang="en-US" altLang="ja-JP" sz="24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28016A9-6F7B-4F3C-BF44-60BCA2E13E6B}"/>
              </a:ext>
            </a:extLst>
          </p:cNvPr>
          <p:cNvSpPr txBox="1"/>
          <p:nvPr/>
        </p:nvSpPr>
        <p:spPr>
          <a:xfrm>
            <a:off x="3809019" y="5710707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水のハイトマップ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66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前回の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UVScroll.shader</a:t>
            </a:r>
            <a:r>
              <a:rPr kumimoji="1" lang="ja-JP" altLang="en-US" sz="2400" dirty="0"/>
              <a:t>を複製して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HeightMap.shader</a:t>
            </a:r>
            <a:r>
              <a:rPr kumimoji="1" lang="ja-JP" altLang="en-US" sz="2400" dirty="0"/>
              <a:t>とします。</a:t>
            </a:r>
            <a:endParaRPr kumimoji="1" lang="en-US" altLang="ja-JP" sz="2400" dirty="0"/>
          </a:p>
          <a:p>
            <a:r>
              <a:rPr lang="ja-JP" altLang="en-US" sz="2400" dirty="0"/>
              <a:t>まずはハイトマップ用の変数を追加しましょう。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36B7D54-E727-412F-ACBC-1B7E628B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9050387" cy="403438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B5C831A-EE57-462C-BBE7-FA76C3E15B8D}"/>
              </a:ext>
            </a:extLst>
          </p:cNvPr>
          <p:cNvSpPr/>
          <p:nvPr/>
        </p:nvSpPr>
        <p:spPr>
          <a:xfrm>
            <a:off x="2617694" y="3747247"/>
            <a:ext cx="5307106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87AEB3D-4345-4F20-B663-5EB75CA3220D}"/>
              </a:ext>
            </a:extLst>
          </p:cNvPr>
          <p:cNvSpPr/>
          <p:nvPr/>
        </p:nvSpPr>
        <p:spPr>
          <a:xfrm>
            <a:off x="2597321" y="5273142"/>
            <a:ext cx="6708043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76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つづき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741ED3E-8F36-416B-B234-478BAE710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896011" cy="289352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046BF4-7950-4E9A-B35A-7DAEEEA565E5}"/>
              </a:ext>
            </a:extLst>
          </p:cNvPr>
          <p:cNvSpPr/>
          <p:nvPr/>
        </p:nvSpPr>
        <p:spPr>
          <a:xfrm>
            <a:off x="3406587" y="3818965"/>
            <a:ext cx="2967319" cy="322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D7D17D-D9DE-4895-87E9-381C3A4586D8}"/>
              </a:ext>
            </a:extLst>
          </p:cNvPr>
          <p:cNvSpPr/>
          <p:nvPr/>
        </p:nvSpPr>
        <p:spPr>
          <a:xfrm>
            <a:off x="3406588" y="4410635"/>
            <a:ext cx="3164542" cy="322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256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ピクセルシェーダーを書き換えます。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0FA77F-22E4-4D9F-80AB-3B0D9DF9F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40434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3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3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マテリアルを追加して</a:t>
            </a:r>
            <a:r>
              <a:rPr kumimoji="1" lang="en-US" altLang="ja-JP" sz="2400" dirty="0"/>
              <a:t>Plane</a:t>
            </a:r>
            <a:r>
              <a:rPr kumimoji="1" lang="ja-JP" altLang="en-US" sz="2400" dirty="0"/>
              <a:t>に適用しましょう。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0AF81B3-DDCF-48A4-96A4-D2C6DDB50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817794"/>
            <a:ext cx="8621034" cy="463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12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ハイトマップは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グレースケール（白黒）</a:t>
            </a:r>
            <a:r>
              <a:rPr kumimoji="1" lang="ja-JP" altLang="en-US" sz="2400" dirty="0"/>
              <a:t>で作られます。</a:t>
            </a:r>
            <a:endParaRPr kumimoji="1" lang="en-US" altLang="ja-JP" sz="2400" dirty="0"/>
          </a:p>
          <a:p>
            <a:r>
              <a:rPr kumimoji="1" lang="en-US" altLang="ja-JP" sz="2400" dirty="0"/>
              <a:t>RGB</a:t>
            </a:r>
            <a:r>
              <a:rPr kumimoji="1" lang="ja-JP" altLang="en-US" sz="2400" dirty="0"/>
              <a:t>値で</a:t>
            </a:r>
            <a:r>
              <a:rPr kumimoji="1" lang="en-US" altLang="ja-JP" sz="2400" dirty="0"/>
              <a:t>(0, 0, 0)</a:t>
            </a:r>
            <a:r>
              <a:rPr kumimoji="1" lang="ja-JP" altLang="en-US" sz="2400" dirty="0"/>
              <a:t>～</a:t>
            </a:r>
            <a:r>
              <a:rPr kumimoji="1" lang="en-US" altLang="ja-JP" sz="2400" dirty="0"/>
              <a:t>(1, 1, 1)</a:t>
            </a:r>
            <a:r>
              <a:rPr kumimoji="1" lang="ja-JP" altLang="en-US" sz="2400" dirty="0"/>
              <a:t>で各ピクセルが塗られており、</a:t>
            </a:r>
            <a:endParaRPr kumimoji="1" lang="en-US" altLang="ja-JP" sz="2400" dirty="0"/>
          </a:p>
          <a:p>
            <a:r>
              <a:rPr lang="ja-JP" altLang="en-US" sz="2400" dirty="0"/>
              <a:t>その値（今回は赤成分のみ）を疑似的な高さとして計算しています。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803127A-971C-4EF9-ADFF-B410C7A1A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366642" cy="165994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3968193-4829-42AA-AFDA-A59D429A444B}"/>
              </a:ext>
            </a:extLst>
          </p:cNvPr>
          <p:cNvSpPr txBox="1"/>
          <p:nvPr/>
        </p:nvSpPr>
        <p:spPr>
          <a:xfrm>
            <a:off x="567542" y="4356100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グレースケールなので緑や青成分に変えても変化はありません。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5152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ハイトマップの白い部分が、疑似的に高いと判断</a:t>
            </a:r>
            <a:r>
              <a:rPr kumimoji="1" lang="ja-JP" altLang="en-US" sz="2400" dirty="0"/>
              <a:t>され、</a:t>
            </a:r>
            <a:endParaRPr kumimoji="1" lang="en-US" altLang="ja-JP" sz="2400" dirty="0"/>
          </a:p>
          <a:p>
            <a:r>
              <a:rPr lang="ja-JP" altLang="en-US" sz="2400" dirty="0"/>
              <a:t>明るく表示されます。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Height Strength</a:t>
            </a:r>
            <a:r>
              <a:rPr kumimoji="1" lang="ja-JP" altLang="en-US" sz="2400" dirty="0"/>
              <a:t>を調整して変化を見てみましょう。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820FAB6-1964-4CA7-8188-0D58CC2E0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8"/>
            <a:ext cx="5020205" cy="374274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5C93BC4-F427-450E-8036-60B6DFA0D2F5}"/>
              </a:ext>
            </a:extLst>
          </p:cNvPr>
          <p:cNvSpPr/>
          <p:nvPr/>
        </p:nvSpPr>
        <p:spPr>
          <a:xfrm>
            <a:off x="567541" y="5215467"/>
            <a:ext cx="5020205" cy="426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86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水面のように細かい凹凸が多いものは、モデリングが大変で、</a:t>
            </a:r>
            <a:endParaRPr kumimoji="1" lang="en-US" altLang="ja-JP" sz="2400" dirty="0"/>
          </a:p>
          <a:p>
            <a:r>
              <a:rPr kumimoji="1" lang="ja-JP" altLang="en-US" sz="2400" dirty="0"/>
              <a:t>ポリゴン数も多くなります。</a:t>
            </a:r>
            <a:endParaRPr kumimoji="1" lang="en-US" altLang="ja-JP" sz="2400" dirty="0"/>
          </a:p>
          <a:p>
            <a:r>
              <a:rPr lang="ja-JP" altLang="en-US" sz="2400" dirty="0"/>
              <a:t>ハイトマップは平面でも凹凸感を出すためによく使われます。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■他にも使われる例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・マンホール</a:t>
            </a:r>
            <a:endParaRPr kumimoji="1" lang="en-US" altLang="ja-JP" sz="2400" dirty="0"/>
          </a:p>
          <a:p>
            <a:r>
              <a:rPr lang="ja-JP" altLang="en-US" sz="2400" dirty="0"/>
              <a:t>・石畳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この後に出てくるノーマルマップと組み合わせると、</a:t>
            </a:r>
            <a:endParaRPr lang="en-US" altLang="ja-JP" sz="2400" dirty="0"/>
          </a:p>
          <a:p>
            <a:r>
              <a:rPr kumimoji="1" lang="ja-JP" altLang="en-US" sz="2400" dirty="0"/>
              <a:t>平面でも凹凸感をリアルに出すことができます。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6598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ハイトマップ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ハイトマップのテクスチャ自体は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Photoshop</a:t>
            </a:r>
            <a:r>
              <a:rPr kumimoji="1" lang="ja-JP" altLang="en-US" sz="2400" dirty="0"/>
              <a:t>などを使って、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グレースケール加工</a:t>
            </a:r>
            <a:r>
              <a:rPr lang="ja-JP" altLang="en-US" sz="2400" dirty="0"/>
              <a:t>したり、</a:t>
            </a:r>
            <a:r>
              <a:rPr lang="ja-JP" altLang="en-US" sz="2400" b="1" dirty="0">
                <a:solidFill>
                  <a:srgbClr val="FF0000"/>
                </a:solidFill>
              </a:rPr>
              <a:t>ぼかし</a:t>
            </a:r>
            <a:r>
              <a:rPr lang="ja-JP" altLang="en-US" sz="2400" dirty="0"/>
              <a:t>を入れたりして作ります。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気になる方はテクスチャの作り方も調べてみてください。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87824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289</Words>
  <Application>Microsoft Office PowerPoint</Application>
  <PresentationFormat>ワイド画面</PresentationFormat>
  <Paragraphs>41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54</cp:revision>
  <dcterms:created xsi:type="dcterms:W3CDTF">2024-08-27T02:15:54Z</dcterms:created>
  <dcterms:modified xsi:type="dcterms:W3CDTF">2025-07-24T02:08:07Z</dcterms:modified>
</cp:coreProperties>
</file>