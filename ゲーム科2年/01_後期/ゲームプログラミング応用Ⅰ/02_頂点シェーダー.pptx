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learn.microsoft.com/ja-jp/windows/win32/direct3dhlsl/dx-graphics-hlsl-semantics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前回書いた頂点シェーダーを解説します。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C5538A-5981-41B2-BD50-DE4A5DEE9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846530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1796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最初に書いたのは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入力データ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これらのデータが、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パイプラインの前の工程から渡されてきます。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このデータが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頂点１つ分のデータ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C5538A-5981-41B2-BD50-DE4A5DEE9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0846530" cy="382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17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844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変数名の右側には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セマンティクス</a:t>
            </a:r>
            <a:r>
              <a:rPr kumimoji="1" lang="ja-JP" altLang="en-US" sz="2400" dirty="0"/>
              <a:t>を書きま</a:t>
            </a:r>
            <a:r>
              <a:rPr lang="ja-JP" altLang="en-US" sz="2400" dirty="0"/>
              <a:t>す。</a:t>
            </a:r>
            <a:endParaRPr lang="en-US" altLang="ja-JP" sz="2400" dirty="0"/>
          </a:p>
          <a:p>
            <a:r>
              <a:rPr kumimoji="1" lang="ja-JP" altLang="en-US" sz="2400" dirty="0"/>
              <a:t>どのデータを格納するかを明記する欄になります。</a:t>
            </a:r>
            <a:endParaRPr kumimoji="1" lang="en-US" altLang="ja-JP" sz="2400" dirty="0"/>
          </a:p>
          <a:p>
            <a:r>
              <a:rPr lang="ja-JP" altLang="en-US" sz="2400" dirty="0"/>
              <a:t>（セマンティクス一覧：</a:t>
            </a:r>
            <a:r>
              <a:rPr lang="en-US" altLang="ja-JP" sz="2400" dirty="0">
                <a:hlinkClick r:id="rId2"/>
              </a:rPr>
              <a:t>Semantics - Win32 apps | Microsoft Learn</a:t>
            </a:r>
            <a:r>
              <a:rPr lang="ja-JP" altLang="en-US" sz="2400" dirty="0"/>
              <a:t>）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A8CEF753-D086-476B-A580-8C7A71BE1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2556458"/>
            <a:ext cx="10846530" cy="3823777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A4C0347-86A5-495F-8AF3-DAC36DB79DF8}"/>
              </a:ext>
            </a:extLst>
          </p:cNvPr>
          <p:cNvSpPr/>
          <p:nvPr/>
        </p:nvSpPr>
        <p:spPr>
          <a:xfrm>
            <a:off x="5156200" y="3183467"/>
            <a:ext cx="2065867" cy="2836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2965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68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VS_OUTPUT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次のパイプラインに渡すデータ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7736A9F-27DD-478B-BE0A-D09390C2F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518678" cy="1966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799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401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DX_D3D11_VS_CONST_BUFFER_BASE</a:t>
            </a:r>
            <a:r>
              <a:rPr kumimoji="1" lang="ja-JP" altLang="en-US" sz="2400" dirty="0"/>
              <a:t>は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処理に必要なデータをまとめた構造体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値は</a:t>
            </a:r>
            <a:r>
              <a:rPr lang="en-US" altLang="ja-JP" sz="2400" b="1" dirty="0">
                <a:solidFill>
                  <a:srgbClr val="FF0000"/>
                </a:solidFill>
              </a:rPr>
              <a:t>C/C++</a:t>
            </a:r>
            <a:r>
              <a:rPr lang="ja-JP" altLang="en-US" sz="2400" b="1" dirty="0">
                <a:solidFill>
                  <a:srgbClr val="FF0000"/>
                </a:solidFill>
              </a:rPr>
              <a:t>で設定された値</a:t>
            </a:r>
            <a:r>
              <a:rPr lang="ja-JP" altLang="en-US" sz="2400" dirty="0"/>
              <a:t>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A077D91-8810-446B-8F96-1A8615948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1141858" cy="265322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B2EEDD-9272-4122-90E8-F80DDBA45F20}"/>
              </a:ext>
            </a:extLst>
          </p:cNvPr>
          <p:cNvSpPr txBox="1"/>
          <p:nvPr/>
        </p:nvSpPr>
        <p:spPr>
          <a:xfrm>
            <a:off x="567541" y="5349387"/>
            <a:ext cx="10596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MV1SetPosition</a:t>
            </a:r>
            <a:r>
              <a:rPr kumimoji="1" lang="ja-JP" altLang="en-US" sz="2400" dirty="0"/>
              <a:t>などはこれらの値を計算するために使われてるんですね。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1809045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0708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7030A0"/>
                </a:solidFill>
              </a:rPr>
              <a:t>DX_D3D11_VS_CONST_BUFFER_OTHERMATRIX</a:t>
            </a:r>
            <a:r>
              <a:rPr kumimoji="1" lang="ja-JP" altLang="en-US" sz="2400" dirty="0"/>
              <a:t>は、</a:t>
            </a:r>
            <a:endParaRPr kumimoji="1" lang="en-US" altLang="ja-JP" sz="2400" dirty="0"/>
          </a:p>
          <a:p>
            <a:r>
              <a:rPr lang="en-US" altLang="ja-JP" sz="2400" b="1" dirty="0" err="1">
                <a:solidFill>
                  <a:srgbClr val="FF0000"/>
                </a:solidFill>
              </a:rPr>
              <a:t>DxLib</a:t>
            </a:r>
            <a:r>
              <a:rPr lang="ja-JP" altLang="en-US" sz="2400" b="1" dirty="0">
                <a:solidFill>
                  <a:srgbClr val="FF0000"/>
                </a:solidFill>
              </a:rPr>
              <a:t>の都合で追加されたパラメータ</a:t>
            </a:r>
            <a:r>
              <a:rPr lang="ja-JP" altLang="en-US" sz="2400" dirty="0"/>
              <a:t>です。</a:t>
            </a:r>
            <a:endParaRPr lang="en-US" altLang="ja-JP" sz="2400" dirty="0"/>
          </a:p>
          <a:p>
            <a:r>
              <a:rPr kumimoji="1" lang="en-US" altLang="ja-JP" sz="2400" dirty="0"/>
              <a:t>UV</a:t>
            </a:r>
            <a:r>
              <a:rPr kumimoji="1" lang="ja-JP" altLang="en-US" sz="2400" dirty="0"/>
              <a:t>スクロールやシャドウマップに使えるようです。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279CD5-CFAE-4AC2-AFC5-62BD8F4D0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8"/>
            <a:ext cx="11260391" cy="99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884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0471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C/C++</a:t>
            </a:r>
            <a:r>
              <a:rPr kumimoji="1" lang="ja-JP" altLang="en-US" sz="2400" dirty="0"/>
              <a:t>で値を設定するデータたちを定義します。</a:t>
            </a:r>
            <a:endParaRPr kumimoji="1" lang="en-US" altLang="ja-JP" sz="2400" dirty="0"/>
          </a:p>
          <a:p>
            <a:r>
              <a:rPr lang="ja-JP" altLang="en-US" sz="2400" dirty="0"/>
              <a:t>これでプログラムで使用することができます。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6EA9D26B-95A3-4D1B-ABF5-FE74BCD53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208187" cy="310454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33DF7E8-9291-4F2F-BAFF-7540C293F612}"/>
              </a:ext>
            </a:extLst>
          </p:cNvPr>
          <p:cNvSpPr txBox="1"/>
          <p:nvPr/>
        </p:nvSpPr>
        <p:spPr>
          <a:xfrm>
            <a:off x="567542" y="5431367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70C0"/>
                </a:solidFill>
              </a:rPr>
              <a:t>register</a:t>
            </a:r>
            <a:r>
              <a:rPr kumimoji="1" lang="ja-JP" altLang="en-US" sz="2400" dirty="0"/>
              <a:t>については後ほど。。。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1793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いよいよ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main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に入ります。</a:t>
            </a:r>
            <a:r>
              <a:rPr kumimoji="1" lang="en-US" altLang="ja-JP" sz="2400" dirty="0"/>
              <a:t>C</a:t>
            </a:r>
            <a:r>
              <a:rPr kumimoji="1" lang="ja-JP" altLang="en-US" sz="2400" dirty="0"/>
              <a:t>言語同様にプログラムのスタート地点です。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頂点シェーダーのプログラムは、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モデルのすべての頂点に対して実行</a:t>
            </a:r>
            <a:r>
              <a:rPr kumimoji="1" lang="ja-JP" altLang="en-US" sz="2400" dirty="0"/>
              <a:t>されます。</a:t>
            </a:r>
            <a:endParaRPr kumimoji="1" lang="en-US" altLang="ja-JP" sz="2400" dirty="0"/>
          </a:p>
        </p:txBody>
      </p:sp>
      <p:sp>
        <p:nvSpPr>
          <p:cNvPr id="2" name="直方体 1">
            <a:extLst>
              <a:ext uri="{FF2B5EF4-FFF2-40B4-BE49-F238E27FC236}">
                <a16:creationId xmlns:a16="http://schemas.microsoft.com/office/drawing/2014/main" id="{7B233D34-AF8F-448B-BBF5-00E10CAD6EA0}"/>
              </a:ext>
            </a:extLst>
          </p:cNvPr>
          <p:cNvSpPr/>
          <p:nvPr/>
        </p:nvSpPr>
        <p:spPr>
          <a:xfrm>
            <a:off x="567542" y="2666112"/>
            <a:ext cx="4072467" cy="3699934"/>
          </a:xfrm>
          <a:prstGeom prst="cub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9" name="図 28">
            <a:extLst>
              <a:ext uri="{FF2B5EF4-FFF2-40B4-BE49-F238E27FC236}">
                <a16:creationId xmlns:a16="http://schemas.microsoft.com/office/drawing/2014/main" id="{B2C901EC-DE43-4325-A6AB-27D9B8CC1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3833" y="2115576"/>
            <a:ext cx="4778611" cy="4386824"/>
          </a:xfrm>
          <a:prstGeom prst="rect">
            <a:avLst/>
          </a:prstGeom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1050DE18-625C-4F86-B2D8-DD2908D24138}"/>
              </a:ext>
            </a:extLst>
          </p:cNvPr>
          <p:cNvSpPr/>
          <p:nvPr/>
        </p:nvSpPr>
        <p:spPr>
          <a:xfrm>
            <a:off x="487636" y="3522321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CE5B6F47-D981-48DD-B1D9-D6E55BED02D3}"/>
              </a:ext>
            </a:extLst>
          </p:cNvPr>
          <p:cNvSpPr/>
          <p:nvPr/>
        </p:nvSpPr>
        <p:spPr>
          <a:xfrm>
            <a:off x="1402036" y="2598566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A9048B21-2C8D-4418-8A5E-3505D527B989}"/>
              </a:ext>
            </a:extLst>
          </p:cNvPr>
          <p:cNvSpPr/>
          <p:nvPr/>
        </p:nvSpPr>
        <p:spPr>
          <a:xfrm>
            <a:off x="4551636" y="2598565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12F546E0-40F8-4B64-8769-62D85D8A8542}"/>
              </a:ext>
            </a:extLst>
          </p:cNvPr>
          <p:cNvSpPr/>
          <p:nvPr/>
        </p:nvSpPr>
        <p:spPr>
          <a:xfrm>
            <a:off x="3624789" y="3522321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505E2A00-E076-42C7-A79A-B03104965C00}"/>
              </a:ext>
            </a:extLst>
          </p:cNvPr>
          <p:cNvSpPr/>
          <p:nvPr/>
        </p:nvSpPr>
        <p:spPr>
          <a:xfrm>
            <a:off x="496104" y="6272726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72F7C41D-842D-42D3-8EA0-BB9DF088816B}"/>
              </a:ext>
            </a:extLst>
          </p:cNvPr>
          <p:cNvSpPr/>
          <p:nvPr/>
        </p:nvSpPr>
        <p:spPr>
          <a:xfrm>
            <a:off x="4551635" y="5376521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36912B83-198A-459A-9B5A-BBC78E630482}"/>
              </a:ext>
            </a:extLst>
          </p:cNvPr>
          <p:cNvSpPr/>
          <p:nvPr/>
        </p:nvSpPr>
        <p:spPr>
          <a:xfrm>
            <a:off x="1351228" y="5384986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F0D5A030-BC6F-4AF2-9798-43F64EF07270}"/>
              </a:ext>
            </a:extLst>
          </p:cNvPr>
          <p:cNvSpPr/>
          <p:nvPr/>
        </p:nvSpPr>
        <p:spPr>
          <a:xfrm>
            <a:off x="3624789" y="6298500"/>
            <a:ext cx="159811" cy="135091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46431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頂点シェーダーでは、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座標変換処理が必ず必要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仮想空間に配置された画像が、</a:t>
            </a:r>
            <a:r>
              <a:rPr lang="ja-JP" altLang="en-US" sz="2400" b="1" dirty="0">
                <a:solidFill>
                  <a:srgbClr val="FF0000"/>
                </a:solidFill>
              </a:rPr>
              <a:t>スクリーン座標系でどの場所に配置されるか</a:t>
            </a:r>
            <a:r>
              <a:rPr lang="ja-JP" altLang="en-US" sz="2400" dirty="0"/>
              <a:t>を、</a:t>
            </a:r>
            <a:endParaRPr lang="en-US" altLang="ja-JP" sz="2400" dirty="0"/>
          </a:p>
          <a:p>
            <a:r>
              <a:rPr kumimoji="1" lang="ja-JP" altLang="en-US" sz="2400" dirty="0"/>
              <a:t>行列の座標変換で計算します。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2466C83-EDBB-413B-9D0E-C87FBA8B6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9"/>
            <a:ext cx="6967791" cy="3949698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3956B3E-64A4-4A59-88D4-058D9EDE4352}"/>
              </a:ext>
            </a:extLst>
          </p:cNvPr>
          <p:cNvSpPr txBox="1"/>
          <p:nvPr/>
        </p:nvSpPr>
        <p:spPr>
          <a:xfrm>
            <a:off x="7647166" y="5490494"/>
            <a:ext cx="454483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000" dirty="0"/>
              <a:t>これをしないと</a:t>
            </a:r>
            <a:endParaRPr lang="en-US" altLang="ja-JP" sz="2000" dirty="0"/>
          </a:p>
          <a:p>
            <a:r>
              <a:rPr lang="ja-JP" altLang="en-US" sz="2000" dirty="0"/>
              <a:t>モデルが正しい場所に描画されません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2134069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9226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最後にテクスチャ座標（</a:t>
            </a:r>
            <a:r>
              <a:rPr kumimoji="1" lang="en-US" altLang="ja-JP" sz="2400" dirty="0"/>
              <a:t>UV</a:t>
            </a:r>
            <a:r>
              <a:rPr kumimoji="1" lang="ja-JP" altLang="en-US" sz="2400" dirty="0"/>
              <a:t>座標）と頂点カラーをセットして、</a:t>
            </a:r>
            <a:endParaRPr kumimoji="1" lang="en-US" altLang="ja-JP" sz="2400" dirty="0"/>
          </a:p>
          <a:p>
            <a:r>
              <a:rPr lang="ja-JP" altLang="en-US" sz="2400" dirty="0"/>
              <a:t>次のパイプラインに渡します。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402550-9B0D-4BAB-8241-86A7B72E6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900053" cy="353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482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頂点シェーダー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まとめると、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１．頂点をスクリーン座標に配置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２．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UV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座標を設定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３．頂点カラーを設定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kumimoji="1" lang="ja-JP" altLang="en-US" sz="2400" dirty="0"/>
              <a:t>このような処理になります。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頂点シェーダーは頂点の数だけ通る処理なので、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あまり重い処理は書けません。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（ピクセルシェーダーはもっとやばい）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139051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387</Words>
  <Application>Microsoft Office PowerPoint</Application>
  <PresentationFormat>ワイド画面</PresentationFormat>
  <Paragraphs>52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44</cp:revision>
  <dcterms:created xsi:type="dcterms:W3CDTF">2024-08-27T02:15:54Z</dcterms:created>
  <dcterms:modified xsi:type="dcterms:W3CDTF">2025-07-15T07:51:12Z</dcterms:modified>
</cp:coreProperties>
</file>