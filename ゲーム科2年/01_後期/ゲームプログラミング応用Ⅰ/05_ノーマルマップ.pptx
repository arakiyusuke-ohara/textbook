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ノーマルマップ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法線の向きをピクセル単位で補正を</a:t>
            </a:r>
            <a:r>
              <a:rPr lang="ja-JP" altLang="en-US" sz="2400" b="1" dirty="0">
                <a:solidFill>
                  <a:srgbClr val="FF0000"/>
                </a:solidFill>
              </a:rPr>
              <a:t>掛けるテクスチ</a:t>
            </a:r>
            <a:r>
              <a:rPr lang="ja-JP" altLang="en-US" sz="2400" dirty="0"/>
              <a:t>ャです。</a:t>
            </a:r>
            <a:endParaRPr lang="en-US" altLang="ja-JP" sz="2400" dirty="0"/>
          </a:p>
          <a:p>
            <a:r>
              <a:rPr kumimoji="1" lang="ja-JP" altLang="en-US" sz="2400" dirty="0"/>
              <a:t>法線の向きが変わるため、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影の付き方が変わります。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結果的に、影が模様のように表示され</a:t>
            </a:r>
            <a:r>
              <a:rPr lang="ja-JP" altLang="en-US" sz="2400" b="1" dirty="0">
                <a:solidFill>
                  <a:srgbClr val="FF0000"/>
                </a:solidFill>
              </a:rPr>
              <a:t>凹凸感を強くする</a:t>
            </a:r>
            <a:r>
              <a:rPr lang="ja-JP" altLang="en-US" sz="2400" dirty="0"/>
              <a:t>ことができます。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9183650-CCE5-4B3E-B2F4-244774595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07" y="3074894"/>
            <a:ext cx="2555513" cy="2555513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343EA02-4067-480A-BE49-5A92C5A87873}"/>
              </a:ext>
            </a:extLst>
          </p:cNvPr>
          <p:cNvSpPr txBox="1"/>
          <p:nvPr/>
        </p:nvSpPr>
        <p:spPr>
          <a:xfrm>
            <a:off x="767112" y="568837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水のテクスチャ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9606984-A2BD-4445-BEE2-CDEB444233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240" y="3074894"/>
            <a:ext cx="2566677" cy="2566677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2D174E8-FF71-44F2-AECE-2D35741457FB}"/>
              </a:ext>
            </a:extLst>
          </p:cNvPr>
          <p:cNvSpPr txBox="1"/>
          <p:nvPr/>
        </p:nvSpPr>
        <p:spPr>
          <a:xfrm>
            <a:off x="3809250" y="5688379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水のノーマルマップ</a:t>
            </a:r>
            <a:endParaRPr kumimoji="1" lang="en-US" altLang="ja-JP" sz="2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68EF6C2-1B62-4234-B8DD-E8FDF9FBBB91}"/>
              </a:ext>
            </a:extLst>
          </p:cNvPr>
          <p:cNvSpPr txBox="1"/>
          <p:nvPr/>
        </p:nvSpPr>
        <p:spPr>
          <a:xfrm>
            <a:off x="6933238" y="5122575"/>
            <a:ext cx="50577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000" dirty="0"/>
              <a:t>ノーマルマップは別名で、</a:t>
            </a:r>
            <a:endParaRPr lang="en-US" altLang="ja-JP" sz="2000" dirty="0"/>
          </a:p>
          <a:p>
            <a:r>
              <a:rPr kumimoji="1" lang="ja-JP" altLang="en-US" sz="2000" b="1" dirty="0">
                <a:solidFill>
                  <a:srgbClr val="FF0000"/>
                </a:solidFill>
              </a:rPr>
              <a:t>法線マップ</a:t>
            </a:r>
            <a:r>
              <a:rPr kumimoji="1" lang="ja-JP" altLang="en-US" sz="2000" dirty="0"/>
              <a:t>、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バンプマップ</a:t>
            </a:r>
            <a:r>
              <a:rPr kumimoji="1" lang="ja-JP" altLang="en-US" sz="2000" dirty="0"/>
              <a:t>とも呼ばれます</a:t>
            </a:r>
            <a:endParaRPr kumimoji="1"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42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NormalMap.shader</a:t>
            </a:r>
            <a:r>
              <a:rPr kumimoji="1" lang="ja-JP" altLang="en-US" sz="2400" dirty="0"/>
              <a:t>を追加して書きましょう。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BC1D996-08E4-456A-AC80-F796304F9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362925" cy="444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20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5881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NormalMap.shader</a:t>
            </a:r>
            <a:r>
              <a:rPr kumimoji="1" lang="ja-JP" altLang="en-US" sz="2400" dirty="0"/>
              <a:t>（その２）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198813B-FDFE-4BCA-9604-6269E2AF3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374173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663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6762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NormalMap.shader</a:t>
            </a:r>
            <a:r>
              <a:rPr kumimoji="1" lang="ja-JP" altLang="en-US" sz="2400" dirty="0"/>
              <a:t> （その３）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0541D4C-92B8-4E75-962C-57A2EFD7F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9541658" cy="46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764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6762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NormalMap.shader</a:t>
            </a:r>
            <a:r>
              <a:rPr kumimoji="1" lang="ja-JP" altLang="en-US" sz="2400" dirty="0"/>
              <a:t> （その４）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301A9EE-5D43-471A-8734-7902759D5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5"/>
            <a:ext cx="8551058" cy="4600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663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6762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NormalMap.shader</a:t>
            </a:r>
            <a:r>
              <a:rPr kumimoji="1" lang="ja-JP" altLang="en-US" sz="2400" dirty="0"/>
              <a:t> （その５）</a:t>
            </a:r>
            <a:endParaRPr kumimoji="1"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B9B731D5-6203-413E-942E-53B1AB4E4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1107991" cy="447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84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6762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NormalMap.shader</a:t>
            </a:r>
            <a:r>
              <a:rPr kumimoji="1" lang="ja-JP" altLang="en-US" sz="2400" dirty="0"/>
              <a:t> （その６）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B287B89-AE32-4DE3-976C-5BDBD61DE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1133391" cy="417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299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ノーマルマップは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モデルの元々の法線に補正を掛けるもの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lang="ja-JP" altLang="en-US" sz="2400" dirty="0"/>
              <a:t>つまり入力にはそれらの情報が必要になります。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ADB54BF-DD51-4704-B807-BC177226A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867125" cy="1668969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AB2720A-1BC8-4A59-98D9-0DE432FFC561}"/>
              </a:ext>
            </a:extLst>
          </p:cNvPr>
          <p:cNvSpPr/>
          <p:nvPr/>
        </p:nvSpPr>
        <p:spPr>
          <a:xfrm>
            <a:off x="816038" y="3001906"/>
            <a:ext cx="5618630" cy="4270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5426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法線に補正を掛けるためには、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基準となる</a:t>
            </a:r>
            <a:r>
              <a:rPr lang="ja-JP" altLang="en-US" sz="2400" b="1" dirty="0">
                <a:solidFill>
                  <a:srgbClr val="FF0000"/>
                </a:solidFill>
              </a:rPr>
              <a:t>３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軸</a:t>
            </a:r>
            <a:r>
              <a:rPr kumimoji="1" lang="ja-JP" altLang="en-US" sz="2400" dirty="0"/>
              <a:t>が必要になります。</a:t>
            </a:r>
            <a:endParaRPr kumimoji="1" lang="en-US" altLang="ja-JP" sz="2400" dirty="0"/>
          </a:p>
          <a:p>
            <a:r>
              <a:rPr lang="ja-JP" altLang="en-US" sz="2400" dirty="0"/>
              <a:t>シェーダーでよく使われるのは、</a:t>
            </a:r>
            <a:endParaRPr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TBN</a:t>
            </a:r>
            <a:r>
              <a:rPr kumimoji="1" lang="ja-JP" altLang="en-US" sz="2400" dirty="0"/>
              <a:t>（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Tangent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：接線 </a:t>
            </a:r>
            <a:r>
              <a:rPr kumimoji="1" lang="en-US" altLang="ja-JP" sz="2400" b="1" dirty="0">
                <a:solidFill>
                  <a:srgbClr val="4472C4"/>
                </a:solidFill>
              </a:rPr>
              <a:t>Binormal</a:t>
            </a:r>
            <a:r>
              <a:rPr kumimoji="1" lang="ja-JP" altLang="en-US" sz="2400" b="1" dirty="0">
                <a:solidFill>
                  <a:srgbClr val="4472C4"/>
                </a:solidFill>
              </a:rPr>
              <a:t>：従法線 </a:t>
            </a:r>
            <a:r>
              <a:rPr kumimoji="1" lang="en-US" altLang="ja-JP" sz="2400" b="1" dirty="0">
                <a:solidFill>
                  <a:srgbClr val="00B050"/>
                </a:solidFill>
              </a:rPr>
              <a:t>Normal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：法線</a:t>
            </a:r>
            <a:r>
              <a:rPr kumimoji="1" lang="ja-JP" altLang="en-US" sz="2400" dirty="0"/>
              <a:t>）です。</a:t>
            </a:r>
            <a:endParaRPr kumimoji="1" lang="en-US" altLang="ja-JP" sz="2400" dirty="0"/>
          </a:p>
        </p:txBody>
      </p:sp>
      <p:pic>
        <p:nvPicPr>
          <p:cNvPr id="1026" name="Picture 2" descr="プロシージャルインタラクティブ草 - FriendNavy">
            <a:extLst>
              <a:ext uri="{FF2B5EF4-FFF2-40B4-BE49-F238E27FC236}">
                <a16:creationId xmlns:a16="http://schemas.microsoft.com/office/drawing/2014/main" id="{6CB53549-B005-456A-91F4-FF48AA865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542" y="4190524"/>
            <a:ext cx="5113591" cy="2541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53E3367-EADB-4C87-999A-CDCA5C893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2416759"/>
            <a:ext cx="4223913" cy="1638299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3F122BA-D867-4C3B-9646-A4C3A7AD4FFC}"/>
              </a:ext>
            </a:extLst>
          </p:cNvPr>
          <p:cNvSpPr/>
          <p:nvPr/>
        </p:nvSpPr>
        <p:spPr>
          <a:xfrm>
            <a:off x="778933" y="3424291"/>
            <a:ext cx="2929467" cy="4656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9825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TBN</a:t>
            </a:r>
            <a:r>
              <a:rPr kumimoji="1" lang="ja-JP" altLang="en-US" sz="2400" dirty="0"/>
              <a:t>をシェーダーで使用する場合は、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頂点シェーダーでワールド座標系の物に変換</a:t>
            </a:r>
            <a:r>
              <a:rPr kumimoji="1" lang="ja-JP" altLang="en-US" sz="2400" dirty="0"/>
              <a:t>が必要です。</a:t>
            </a:r>
            <a:endParaRPr kumimoji="1" lang="en-US" altLang="ja-JP" sz="2400" dirty="0"/>
          </a:p>
          <a:p>
            <a:r>
              <a:rPr lang="ja-JP" altLang="en-US" sz="2400" dirty="0"/>
              <a:t>頂点シェーダーの入力はあくまでも</a:t>
            </a:r>
            <a:r>
              <a:rPr lang="ja-JP" altLang="en-US" sz="2400" b="1" dirty="0">
                <a:solidFill>
                  <a:srgbClr val="FF0000"/>
                </a:solidFill>
              </a:rPr>
              <a:t>モデルのローカルベクトル</a:t>
            </a:r>
            <a:r>
              <a:rPr lang="ja-JP" altLang="en-US" sz="2400" dirty="0"/>
              <a:t>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89A7935-B971-43CD-AEE9-768474853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556457"/>
            <a:ext cx="8285213" cy="143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469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ノーマルマップのテクスチャは、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１ピクセルずつ法線の補正ベクトルが格納</a:t>
            </a:r>
            <a:r>
              <a:rPr lang="ja-JP" altLang="en-US" sz="2400" dirty="0"/>
              <a:t>されています。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82F23C0-57A3-4B8F-B074-438E4195D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187126"/>
            <a:ext cx="2623449" cy="262344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4F3E512-AD18-4280-8CEB-3C842FB7D950}"/>
              </a:ext>
            </a:extLst>
          </p:cNvPr>
          <p:cNvSpPr txBox="1"/>
          <p:nvPr/>
        </p:nvSpPr>
        <p:spPr>
          <a:xfrm>
            <a:off x="567542" y="4950275"/>
            <a:ext cx="97257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赤っぽい部分は横</a:t>
            </a:r>
            <a:r>
              <a:rPr kumimoji="1" lang="ja-JP" altLang="en-US" sz="2400" dirty="0"/>
              <a:t>に、</a:t>
            </a:r>
            <a:r>
              <a:rPr kumimoji="1" lang="ja-JP" altLang="en-US" sz="2400" b="1" dirty="0">
                <a:solidFill>
                  <a:srgbClr val="4472C4"/>
                </a:solidFill>
              </a:rPr>
              <a:t>青っぽい部分は奥</a:t>
            </a:r>
            <a:r>
              <a:rPr kumimoji="1" lang="ja-JP" altLang="en-US" sz="2400" dirty="0"/>
              <a:t>に、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緑っぽいところは上</a:t>
            </a:r>
            <a:r>
              <a:rPr kumimoji="1" lang="ja-JP" altLang="en-US" sz="2400" dirty="0"/>
              <a:t>に、</a:t>
            </a:r>
            <a:endParaRPr kumimoji="1" lang="en-US" altLang="ja-JP" sz="2400" dirty="0"/>
          </a:p>
          <a:p>
            <a:r>
              <a:rPr lang="ja-JP" altLang="en-US" sz="2400" dirty="0"/>
              <a:t>法線ベクトルに補正がかかります。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455237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つまり色の値がベクトルの補正値になります。ただし、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色の値は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0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～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1</a:t>
            </a:r>
            <a:r>
              <a:rPr kumimoji="1" lang="ja-JP" altLang="en-US" sz="2400" dirty="0"/>
              <a:t>に対して、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ベクトルの各成分は向きがあるのでー１</a:t>
            </a:r>
            <a:r>
              <a:rPr lang="ja-JP" altLang="en-US" sz="2400" b="1" dirty="0">
                <a:solidFill>
                  <a:srgbClr val="FF0000"/>
                </a:solidFill>
              </a:rPr>
              <a:t>～１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kumimoji="1" lang="ja-JP" altLang="en-US" sz="2400" dirty="0"/>
              <a:t>その変換が必要です。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2522411-DDC1-49EA-95E2-50D7ACC66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925789"/>
            <a:ext cx="10405575" cy="1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327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最後に補正された法線とライトの向きから、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光がよく当たっていれば明るく、当たっていなければ暗く</a:t>
            </a:r>
            <a:r>
              <a:rPr kumimoji="1" lang="ja-JP" altLang="en-US" sz="2400" dirty="0"/>
              <a:t>します。</a:t>
            </a:r>
            <a:endParaRPr kumimoji="1" lang="en-US" altLang="ja-JP" sz="2400" dirty="0"/>
          </a:p>
          <a:p>
            <a:r>
              <a:rPr lang="ja-JP" altLang="en-US" sz="2400" dirty="0"/>
              <a:t>つまり</a:t>
            </a:r>
            <a:r>
              <a:rPr lang="ja-JP" altLang="en-US" sz="2400" b="1" dirty="0">
                <a:solidFill>
                  <a:srgbClr val="FF0000"/>
                </a:solidFill>
              </a:rPr>
              <a:t>光の当たり具合</a:t>
            </a:r>
            <a:r>
              <a:rPr lang="ja-JP" altLang="en-US" sz="2400" dirty="0"/>
              <a:t>が必要です。</a:t>
            </a:r>
            <a:endParaRPr kumimoji="1" lang="en-US" altLang="ja-JP" sz="2400" dirty="0"/>
          </a:p>
        </p:txBody>
      </p:sp>
      <p:sp>
        <p:nvSpPr>
          <p:cNvPr id="2" name="太陽 1">
            <a:extLst>
              <a:ext uri="{FF2B5EF4-FFF2-40B4-BE49-F238E27FC236}">
                <a16:creationId xmlns:a16="http://schemas.microsoft.com/office/drawing/2014/main" id="{7800C079-7F5B-4E16-BEC8-6BA210CA272D}"/>
              </a:ext>
            </a:extLst>
          </p:cNvPr>
          <p:cNvSpPr/>
          <p:nvPr/>
        </p:nvSpPr>
        <p:spPr>
          <a:xfrm>
            <a:off x="567542" y="2556458"/>
            <a:ext cx="1354667" cy="1303867"/>
          </a:xfrm>
          <a:prstGeom prst="su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595F7F19-0EA8-4FC5-8555-CF2F74A34E74}"/>
              </a:ext>
            </a:extLst>
          </p:cNvPr>
          <p:cNvSpPr/>
          <p:nvPr/>
        </p:nvSpPr>
        <p:spPr>
          <a:xfrm rot="17621987">
            <a:off x="3564465" y="5096933"/>
            <a:ext cx="1286934" cy="1312334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C8FAFB34-408A-4644-AF6D-9B238D70C641}"/>
              </a:ext>
            </a:extLst>
          </p:cNvPr>
          <p:cNvCxnSpPr>
            <a:cxnSpLocks/>
          </p:cNvCxnSpPr>
          <p:nvPr/>
        </p:nvCxnSpPr>
        <p:spPr>
          <a:xfrm>
            <a:off x="1922209" y="3811642"/>
            <a:ext cx="702458" cy="580918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8521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光の当たり具合は、光の向きと法線の向きから計算できます。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2" name="太陽 1">
            <a:extLst>
              <a:ext uri="{FF2B5EF4-FFF2-40B4-BE49-F238E27FC236}">
                <a16:creationId xmlns:a16="http://schemas.microsoft.com/office/drawing/2014/main" id="{7800C079-7F5B-4E16-BEC8-6BA210CA272D}"/>
              </a:ext>
            </a:extLst>
          </p:cNvPr>
          <p:cNvSpPr/>
          <p:nvPr/>
        </p:nvSpPr>
        <p:spPr>
          <a:xfrm>
            <a:off x="567542" y="2556458"/>
            <a:ext cx="1354667" cy="1303867"/>
          </a:xfrm>
          <a:prstGeom prst="su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595F7F19-0EA8-4FC5-8555-CF2F74A34E74}"/>
              </a:ext>
            </a:extLst>
          </p:cNvPr>
          <p:cNvSpPr/>
          <p:nvPr/>
        </p:nvSpPr>
        <p:spPr>
          <a:xfrm rot="17621987">
            <a:off x="3564465" y="5096933"/>
            <a:ext cx="1286934" cy="1312334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C8FAFB34-408A-4644-AF6D-9B238D70C641}"/>
              </a:ext>
            </a:extLst>
          </p:cNvPr>
          <p:cNvCxnSpPr>
            <a:cxnSpLocks/>
          </p:cNvCxnSpPr>
          <p:nvPr/>
        </p:nvCxnSpPr>
        <p:spPr>
          <a:xfrm>
            <a:off x="1922209" y="3811642"/>
            <a:ext cx="702458" cy="580918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1A88ED23-D6B1-49CB-A61D-AAE366D0805E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3022600" y="5037667"/>
            <a:ext cx="584503" cy="45169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8D400320-D6D0-45A1-96AD-6F1646DC8673}"/>
              </a:ext>
            </a:extLst>
          </p:cNvPr>
          <p:cNvCxnSpPr>
            <a:cxnSpLocks/>
          </p:cNvCxnSpPr>
          <p:nvPr/>
        </p:nvCxnSpPr>
        <p:spPr>
          <a:xfrm>
            <a:off x="4850214" y="5916722"/>
            <a:ext cx="712386" cy="17081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213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光がよく合ったっている部分</a:t>
            </a:r>
            <a:r>
              <a:rPr lang="ja-JP" altLang="en-US" sz="2400" dirty="0"/>
              <a:t>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光のベクトルと法線ベクトルが向かい合う</a:t>
            </a:r>
            <a:r>
              <a:rPr lang="ja-JP" altLang="en-US" sz="2400" dirty="0"/>
              <a:t>形になります。</a:t>
            </a:r>
            <a:endParaRPr kumimoji="1" lang="en-US" altLang="ja-JP" sz="2400" dirty="0"/>
          </a:p>
        </p:txBody>
      </p:sp>
      <p:sp>
        <p:nvSpPr>
          <p:cNvPr id="2" name="太陽 1">
            <a:extLst>
              <a:ext uri="{FF2B5EF4-FFF2-40B4-BE49-F238E27FC236}">
                <a16:creationId xmlns:a16="http://schemas.microsoft.com/office/drawing/2014/main" id="{7800C079-7F5B-4E16-BEC8-6BA210CA272D}"/>
              </a:ext>
            </a:extLst>
          </p:cNvPr>
          <p:cNvSpPr/>
          <p:nvPr/>
        </p:nvSpPr>
        <p:spPr>
          <a:xfrm>
            <a:off x="567542" y="2556458"/>
            <a:ext cx="1354667" cy="1303867"/>
          </a:xfrm>
          <a:prstGeom prst="su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595F7F19-0EA8-4FC5-8555-CF2F74A34E74}"/>
              </a:ext>
            </a:extLst>
          </p:cNvPr>
          <p:cNvSpPr/>
          <p:nvPr/>
        </p:nvSpPr>
        <p:spPr>
          <a:xfrm rot="17621987">
            <a:off x="3564465" y="5096933"/>
            <a:ext cx="1286934" cy="1312334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C8FAFB34-408A-4644-AF6D-9B238D70C641}"/>
              </a:ext>
            </a:extLst>
          </p:cNvPr>
          <p:cNvCxnSpPr>
            <a:cxnSpLocks/>
          </p:cNvCxnSpPr>
          <p:nvPr/>
        </p:nvCxnSpPr>
        <p:spPr>
          <a:xfrm>
            <a:off x="1922209" y="3811642"/>
            <a:ext cx="702458" cy="580918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1A88ED23-D6B1-49CB-A61D-AAE366D0805E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3022600" y="5037667"/>
            <a:ext cx="584503" cy="45169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28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光が当たっていない部分</a:t>
            </a:r>
            <a:r>
              <a:rPr lang="ja-JP" altLang="en-US" sz="2400" dirty="0"/>
              <a:t>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光のベクトルと法線ベクトルが同じ向き</a:t>
            </a:r>
            <a:r>
              <a:rPr lang="ja-JP" altLang="en-US" sz="2400" dirty="0"/>
              <a:t>に近くなります。</a:t>
            </a:r>
            <a:endParaRPr kumimoji="1" lang="en-US" altLang="ja-JP" sz="2400" dirty="0"/>
          </a:p>
        </p:txBody>
      </p:sp>
      <p:sp>
        <p:nvSpPr>
          <p:cNvPr id="2" name="太陽 1">
            <a:extLst>
              <a:ext uri="{FF2B5EF4-FFF2-40B4-BE49-F238E27FC236}">
                <a16:creationId xmlns:a16="http://schemas.microsoft.com/office/drawing/2014/main" id="{7800C079-7F5B-4E16-BEC8-6BA210CA272D}"/>
              </a:ext>
            </a:extLst>
          </p:cNvPr>
          <p:cNvSpPr/>
          <p:nvPr/>
        </p:nvSpPr>
        <p:spPr>
          <a:xfrm>
            <a:off x="567542" y="2556458"/>
            <a:ext cx="1354667" cy="1303867"/>
          </a:xfrm>
          <a:prstGeom prst="su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595F7F19-0EA8-4FC5-8555-CF2F74A34E74}"/>
              </a:ext>
            </a:extLst>
          </p:cNvPr>
          <p:cNvSpPr/>
          <p:nvPr/>
        </p:nvSpPr>
        <p:spPr>
          <a:xfrm rot="17621987">
            <a:off x="3564465" y="5096933"/>
            <a:ext cx="1286934" cy="1312334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C8FAFB34-408A-4644-AF6D-9B238D70C641}"/>
              </a:ext>
            </a:extLst>
          </p:cNvPr>
          <p:cNvCxnSpPr>
            <a:cxnSpLocks/>
          </p:cNvCxnSpPr>
          <p:nvPr/>
        </p:nvCxnSpPr>
        <p:spPr>
          <a:xfrm>
            <a:off x="1922209" y="3811642"/>
            <a:ext cx="702458" cy="580918"/>
          </a:xfrm>
          <a:prstGeom prst="straightConnector1">
            <a:avLst/>
          </a:prstGeom>
          <a:ln w="762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E0225112-5651-44BA-A2FD-77C7834CE309}"/>
              </a:ext>
            </a:extLst>
          </p:cNvPr>
          <p:cNvCxnSpPr>
            <a:cxnSpLocks/>
          </p:cNvCxnSpPr>
          <p:nvPr/>
        </p:nvCxnSpPr>
        <p:spPr>
          <a:xfrm>
            <a:off x="4850214" y="5916722"/>
            <a:ext cx="712386" cy="17081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032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つまり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内積</a:t>
            </a:r>
            <a:r>
              <a:rPr kumimoji="1" lang="ja-JP" altLang="en-US" sz="2400" dirty="0"/>
              <a:t>を計算することによって、</a:t>
            </a:r>
            <a:r>
              <a:rPr lang="ja-JP" altLang="en-US" sz="2400" dirty="0"/>
              <a:t>光の当たり具合を計算できます。</a:t>
            </a:r>
            <a:endParaRPr kumimoji="1" lang="en-US" altLang="ja-JP" sz="2400" dirty="0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54520809-57A6-41A8-9DD2-9A9BD540DCE3}"/>
              </a:ext>
            </a:extLst>
          </p:cNvPr>
          <p:cNvGrpSpPr/>
          <p:nvPr/>
        </p:nvGrpSpPr>
        <p:grpSpPr>
          <a:xfrm>
            <a:off x="567542" y="2213052"/>
            <a:ext cx="1556516" cy="1339675"/>
            <a:chOff x="431470" y="1817794"/>
            <a:chExt cx="1556516" cy="1339675"/>
          </a:xfrm>
        </p:grpSpPr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83D788F1-4980-47EC-A8D4-54358A4C4B67}"/>
                </a:ext>
              </a:extLst>
            </p:cNvPr>
            <p:cNvGrpSpPr/>
            <p:nvPr/>
          </p:nvGrpSpPr>
          <p:grpSpPr>
            <a:xfrm>
              <a:off x="567542" y="1817794"/>
              <a:ext cx="1105290" cy="878011"/>
              <a:chOff x="567542" y="3264422"/>
              <a:chExt cx="1105290" cy="878011"/>
            </a:xfrm>
          </p:grpSpPr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6D6B6C96-D481-4243-876B-78694CED5C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446" y="3495255"/>
                <a:ext cx="712386" cy="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矢印コネクタ 10">
                <a:extLst>
                  <a:ext uri="{FF2B5EF4-FFF2-40B4-BE49-F238E27FC236}">
                    <a16:creationId xmlns:a16="http://schemas.microsoft.com/office/drawing/2014/main" id="{22CF40D6-2632-4233-8C11-83B418ACF1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446" y="3911601"/>
                <a:ext cx="712386" cy="0"/>
              </a:xfrm>
              <a:prstGeom prst="straightConnector1">
                <a:avLst/>
              </a:prstGeom>
              <a:ln w="762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BEE64B57-23C2-4F0F-87AC-E9DDC86ABCD0}"/>
                  </a:ext>
                </a:extLst>
              </p:cNvPr>
              <p:cNvSpPr txBox="1"/>
              <p:nvPr/>
            </p:nvSpPr>
            <p:spPr>
              <a:xfrm>
                <a:off x="575404" y="3264422"/>
                <a:ext cx="3850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dirty="0"/>
                  <a:t>A</a:t>
                </a:r>
              </a:p>
            </p:txBody>
          </p: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84E8747A-30FA-4A1A-8F73-9E549230DF5B}"/>
                  </a:ext>
                </a:extLst>
              </p:cNvPr>
              <p:cNvSpPr txBox="1"/>
              <p:nvPr/>
            </p:nvSpPr>
            <p:spPr>
              <a:xfrm>
                <a:off x="567542" y="3680768"/>
                <a:ext cx="3930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dirty="0"/>
                  <a:t>B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DEF70AB5-5508-4806-ADBA-4BE164401502}"/>
                    </a:ext>
                  </a:extLst>
                </p:cNvPr>
                <p:cNvSpPr txBox="1"/>
                <p:nvPr/>
              </p:nvSpPr>
              <p:spPr>
                <a:xfrm>
                  <a:off x="431470" y="2695804"/>
                  <a:ext cx="155651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kumimoji="1" lang="ja-JP" altLang="en-US" sz="2400" i="1" dirty="0" smtClean="0">
                            <a:latin typeface="Cambria Math" panose="02040503050406030204" pitchFamily="18" charset="0"/>
                          </a:rPr>
                          <m:t>・</m:t>
                        </m:r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DEF70AB5-5508-4806-ADBA-4BE1644015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470" y="2695804"/>
                  <a:ext cx="1556516" cy="46166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94AA6F90-4CC3-4000-AE09-F102194B34C4}"/>
              </a:ext>
            </a:extLst>
          </p:cNvPr>
          <p:cNvGrpSpPr/>
          <p:nvPr/>
        </p:nvGrpSpPr>
        <p:grpSpPr>
          <a:xfrm>
            <a:off x="8055994" y="2093951"/>
            <a:ext cx="1785745" cy="1339675"/>
            <a:chOff x="431470" y="1817794"/>
            <a:chExt cx="1785745" cy="1339675"/>
          </a:xfrm>
        </p:grpSpPr>
        <p:grpSp>
          <p:nvGrpSpPr>
            <p:cNvPr id="19" name="グループ化 18">
              <a:extLst>
                <a:ext uri="{FF2B5EF4-FFF2-40B4-BE49-F238E27FC236}">
                  <a16:creationId xmlns:a16="http://schemas.microsoft.com/office/drawing/2014/main" id="{D8EBAF5E-CC56-4F1D-B517-FC91177B83DE}"/>
                </a:ext>
              </a:extLst>
            </p:cNvPr>
            <p:cNvGrpSpPr/>
            <p:nvPr/>
          </p:nvGrpSpPr>
          <p:grpSpPr>
            <a:xfrm>
              <a:off x="567542" y="1817794"/>
              <a:ext cx="1105290" cy="878011"/>
              <a:chOff x="567542" y="3264422"/>
              <a:chExt cx="1105290" cy="878011"/>
            </a:xfrm>
          </p:grpSpPr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0B76C94F-FAF3-4809-B435-9FA6268DCF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0446" y="3495255"/>
                <a:ext cx="712386" cy="0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矢印コネクタ 21">
                <a:extLst>
                  <a:ext uri="{FF2B5EF4-FFF2-40B4-BE49-F238E27FC236}">
                    <a16:creationId xmlns:a16="http://schemas.microsoft.com/office/drawing/2014/main" id="{9F29EF60-AA26-41E0-B2B9-A78C9E6BFA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60447" y="3911600"/>
                <a:ext cx="684492" cy="0"/>
              </a:xfrm>
              <a:prstGeom prst="straightConnector1">
                <a:avLst/>
              </a:prstGeom>
              <a:ln w="762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66139EAB-AA0E-4682-8C58-4740B4D40B88}"/>
                  </a:ext>
                </a:extLst>
              </p:cNvPr>
              <p:cNvSpPr txBox="1"/>
              <p:nvPr/>
            </p:nvSpPr>
            <p:spPr>
              <a:xfrm>
                <a:off x="575404" y="3264422"/>
                <a:ext cx="3850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dirty="0"/>
                  <a:t>A</a:t>
                </a:r>
              </a:p>
            </p:txBody>
          </p: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4F7D3EEC-1A67-4AC8-B798-6F63C67F7DA9}"/>
                  </a:ext>
                </a:extLst>
              </p:cNvPr>
              <p:cNvSpPr txBox="1"/>
              <p:nvPr/>
            </p:nvSpPr>
            <p:spPr>
              <a:xfrm>
                <a:off x="567542" y="3680768"/>
                <a:ext cx="3930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dirty="0"/>
                  <a:t>B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C6F60A4F-217C-47E7-9796-3D6BEBE69C4D}"/>
                    </a:ext>
                  </a:extLst>
                </p:cNvPr>
                <p:cNvSpPr txBox="1"/>
                <p:nvPr/>
              </p:nvSpPr>
              <p:spPr>
                <a:xfrm>
                  <a:off x="431470" y="2695804"/>
                  <a:ext cx="178574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kumimoji="1" lang="ja-JP" altLang="en-US" sz="2400" i="1" dirty="0" smtClean="0">
                            <a:latin typeface="Cambria Math" panose="02040503050406030204" pitchFamily="18" charset="0"/>
                          </a:rPr>
                          <m:t>・</m:t>
                        </m:r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=−1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20" name="テキスト ボックス 19">
                  <a:extLst>
                    <a:ext uri="{FF2B5EF4-FFF2-40B4-BE49-F238E27FC236}">
                      <a16:creationId xmlns:a16="http://schemas.microsoft.com/office/drawing/2014/main" id="{C6F60A4F-217C-47E7-9796-3D6BEBE69C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470" y="2695804"/>
                  <a:ext cx="1785745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B6FF3A59-E178-4706-B6E5-3AF2F9268378}"/>
              </a:ext>
            </a:extLst>
          </p:cNvPr>
          <p:cNvGrpSpPr/>
          <p:nvPr/>
        </p:nvGrpSpPr>
        <p:grpSpPr>
          <a:xfrm>
            <a:off x="4311768" y="1921660"/>
            <a:ext cx="1556516" cy="1629686"/>
            <a:chOff x="338505" y="1384358"/>
            <a:chExt cx="1556516" cy="1629686"/>
          </a:xfrm>
        </p:grpSpPr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394E00A2-E9F7-48AC-BB1B-2FC591DCDDE3}"/>
                </a:ext>
              </a:extLst>
            </p:cNvPr>
            <p:cNvGrpSpPr/>
            <p:nvPr/>
          </p:nvGrpSpPr>
          <p:grpSpPr>
            <a:xfrm>
              <a:off x="492456" y="1384358"/>
              <a:ext cx="1105290" cy="1196029"/>
              <a:chOff x="492456" y="2830986"/>
              <a:chExt cx="1105290" cy="1196029"/>
            </a:xfrm>
          </p:grpSpPr>
          <p:cxnSp>
            <p:nvCxnSpPr>
              <p:cNvPr id="32" name="直線矢印コネクタ 31">
                <a:extLst>
                  <a:ext uri="{FF2B5EF4-FFF2-40B4-BE49-F238E27FC236}">
                    <a16:creationId xmlns:a16="http://schemas.microsoft.com/office/drawing/2014/main" id="{14040B92-524E-4828-8821-75E5AAD500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0446" y="2830986"/>
                <a:ext cx="0" cy="664269"/>
              </a:xfrm>
              <a:prstGeom prst="straightConnector1">
                <a:avLst/>
              </a:prstGeom>
              <a:ln w="762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矢印コネクタ 32">
                <a:extLst>
                  <a:ext uri="{FF2B5EF4-FFF2-40B4-BE49-F238E27FC236}">
                    <a16:creationId xmlns:a16="http://schemas.microsoft.com/office/drawing/2014/main" id="{D3041DA3-02FC-4499-86B7-4494FD3F1F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5360" y="3796183"/>
                <a:ext cx="712386" cy="0"/>
              </a:xfrm>
              <a:prstGeom prst="straightConnector1">
                <a:avLst/>
              </a:prstGeom>
              <a:ln w="762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5A205F0C-F148-4400-A835-8FBA5505AE32}"/>
                  </a:ext>
                </a:extLst>
              </p:cNvPr>
              <p:cNvSpPr txBox="1"/>
              <p:nvPr/>
            </p:nvSpPr>
            <p:spPr>
              <a:xfrm>
                <a:off x="492456" y="3003277"/>
                <a:ext cx="3850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dirty="0"/>
                  <a:t>A</a:t>
                </a:r>
              </a:p>
            </p:txBody>
          </p: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EAA16B8C-320C-493C-AA17-7FCF239F520E}"/>
                  </a:ext>
                </a:extLst>
              </p:cNvPr>
              <p:cNvSpPr txBox="1"/>
              <p:nvPr/>
            </p:nvSpPr>
            <p:spPr>
              <a:xfrm>
                <a:off x="492456" y="3565350"/>
                <a:ext cx="39305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400" dirty="0"/>
                  <a:t>B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FE840D74-A9EE-48CF-BB0F-9F79668F628F}"/>
                    </a:ext>
                  </a:extLst>
                </p:cNvPr>
                <p:cNvSpPr txBox="1"/>
                <p:nvPr/>
              </p:nvSpPr>
              <p:spPr>
                <a:xfrm>
                  <a:off x="338505" y="2552379"/>
                  <a:ext cx="155651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kumimoji="1" lang="ja-JP" altLang="en-US" sz="2400" i="1" dirty="0" smtClean="0">
                            <a:latin typeface="Cambria Math" panose="02040503050406030204" pitchFamily="18" charset="0"/>
                          </a:rPr>
                          <m:t>・</m:t>
                        </m:r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FE840D74-A9EE-48CF-BB0F-9F79668F62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505" y="2552379"/>
                  <a:ext cx="1556516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F0DA1F07-9B7F-4358-A7E8-9F87E869A468}"/>
              </a:ext>
            </a:extLst>
          </p:cNvPr>
          <p:cNvSpPr txBox="1"/>
          <p:nvPr/>
        </p:nvSpPr>
        <p:spPr>
          <a:xfrm>
            <a:off x="590936" y="3580702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当たらない</a:t>
            </a:r>
            <a:endParaRPr kumimoji="1" lang="en-US" altLang="ja-JP" sz="24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53414AE4-9C89-4ADF-87C5-7DBDD6DA9EDA}"/>
              </a:ext>
            </a:extLst>
          </p:cNvPr>
          <p:cNvSpPr txBox="1"/>
          <p:nvPr/>
        </p:nvSpPr>
        <p:spPr>
          <a:xfrm>
            <a:off x="7449889" y="3551346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完全に当たっている</a:t>
            </a:r>
            <a:endParaRPr kumimoji="1" lang="en-US" altLang="ja-JP" sz="24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B3943EA-BF20-48BC-A741-EE22CFC0E7DE}"/>
              </a:ext>
            </a:extLst>
          </p:cNvPr>
          <p:cNvSpPr txBox="1"/>
          <p:nvPr/>
        </p:nvSpPr>
        <p:spPr>
          <a:xfrm>
            <a:off x="3650348" y="3533546"/>
            <a:ext cx="29546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当たる当たらないの</a:t>
            </a:r>
            <a:endParaRPr kumimoji="1" lang="en-US" altLang="ja-JP" sz="2400" dirty="0"/>
          </a:p>
          <a:p>
            <a:pPr algn="ctr"/>
            <a:r>
              <a:rPr lang="ja-JP" altLang="en-US" sz="2400" dirty="0"/>
              <a:t>境界</a:t>
            </a:r>
            <a:endParaRPr kumimoji="1" lang="en-US" altLang="ja-JP" sz="2400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ABD00CB-5C8F-40AF-8E55-CE9FEDB13E6F}"/>
              </a:ext>
            </a:extLst>
          </p:cNvPr>
          <p:cNvSpPr txBox="1"/>
          <p:nvPr/>
        </p:nvSpPr>
        <p:spPr>
          <a:xfrm>
            <a:off x="2736885" y="2510296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～</a:t>
            </a:r>
            <a:endParaRPr kumimoji="1" lang="en-US" altLang="ja-JP" sz="2400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9FAE204-3BE4-4E64-858B-15F46463A547}"/>
              </a:ext>
            </a:extLst>
          </p:cNvPr>
          <p:cNvSpPr txBox="1"/>
          <p:nvPr/>
        </p:nvSpPr>
        <p:spPr>
          <a:xfrm>
            <a:off x="6771642" y="251029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～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333288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以下はそのプログラムとなります。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F93DD26-F017-4921-BDD8-AF2B5F83E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688012" cy="1552792"/>
          </a:xfrm>
          <a:prstGeom prst="rect">
            <a:avLst/>
          </a:prstGeom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D2A8A90-9D9C-45BC-ADEE-46DFBEA17712}"/>
              </a:ext>
            </a:extLst>
          </p:cNvPr>
          <p:cNvSpPr txBox="1"/>
          <p:nvPr/>
        </p:nvSpPr>
        <p:spPr>
          <a:xfrm>
            <a:off x="567542" y="3510286"/>
            <a:ext cx="1095684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_WorldSpaceLightPos0</a:t>
            </a:r>
            <a:r>
              <a:rPr lang="ja-JP" altLang="en-US" sz="2400" dirty="0"/>
              <a:t>は</a:t>
            </a:r>
            <a:endParaRPr lang="en-US" altLang="ja-JP" sz="2400" dirty="0"/>
          </a:p>
          <a:p>
            <a:r>
              <a:rPr lang="en-US" altLang="ja-JP" sz="2400" dirty="0"/>
              <a:t>Unity</a:t>
            </a:r>
            <a:r>
              <a:rPr lang="ja-JP" altLang="en-US" sz="2400" dirty="0"/>
              <a:t>が用意している</a:t>
            </a:r>
            <a:r>
              <a:rPr lang="ja-JP" altLang="en-US" sz="2400" b="1" dirty="0">
                <a:solidFill>
                  <a:srgbClr val="FF0000"/>
                </a:solidFill>
              </a:rPr>
              <a:t>ディレクショナルライトの向き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内積で光の当たり具合を計算することは、</a:t>
            </a:r>
            <a:r>
              <a:rPr kumimoji="1" lang="ja-JP" altLang="en-US" sz="2400" dirty="0"/>
              <a:t>様々なシェーダーに応用できます。</a:t>
            </a:r>
            <a:endParaRPr kumimoji="1" lang="en-US" altLang="ja-JP" sz="2400" dirty="0"/>
          </a:p>
          <a:p>
            <a:r>
              <a:rPr lang="ja-JP" altLang="en-US" sz="2400" dirty="0"/>
              <a:t>覚えておきましょう。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25035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3468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マテリアルを追加して</a:t>
            </a:r>
            <a:r>
              <a:rPr kumimoji="1" lang="en-US" altLang="ja-JP" sz="2400" dirty="0"/>
              <a:t>Plane</a:t>
            </a:r>
            <a:r>
              <a:rPr kumimoji="1" lang="ja-JP" altLang="en-US" sz="2400" dirty="0"/>
              <a:t>に適用しましょう。</a:t>
            </a:r>
            <a:endParaRPr kumimoji="1" lang="en-US" altLang="ja-JP" sz="2400" dirty="0"/>
          </a:p>
          <a:p>
            <a:r>
              <a:rPr kumimoji="1" lang="en-US" altLang="ja-JP" sz="2400" b="1" dirty="0">
                <a:solidFill>
                  <a:srgbClr val="0070C0"/>
                </a:solidFill>
              </a:rPr>
              <a:t>_</a:t>
            </a:r>
            <a:r>
              <a:rPr kumimoji="1" lang="en-US" altLang="ja-JP" sz="2400" b="1" dirty="0" err="1">
                <a:solidFill>
                  <a:srgbClr val="0070C0"/>
                </a:solidFill>
              </a:rPr>
              <a:t>NormalStrength</a:t>
            </a:r>
            <a:r>
              <a:rPr kumimoji="1" lang="ja-JP" altLang="en-US" sz="2400" dirty="0"/>
              <a:t>などの値も調整してみましょう。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20D341E-A246-4F93-A142-BD8FCBC9B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068458" cy="433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17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ノーマルマップ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7659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ノーマルマップは生成ツールが</a:t>
            </a:r>
            <a:r>
              <a:rPr kumimoji="1" lang="en-US" altLang="ja-JP" sz="2400" dirty="0"/>
              <a:t>Web</a:t>
            </a:r>
            <a:r>
              <a:rPr kumimoji="1" lang="ja-JP" altLang="en-US" sz="2400" dirty="0"/>
              <a:t>にあります。</a:t>
            </a:r>
            <a:endParaRPr kumimoji="1" lang="en-US" altLang="ja-JP" sz="2400" dirty="0"/>
          </a:p>
          <a:p>
            <a:r>
              <a:rPr lang="ja-JP" altLang="en-US" sz="2400" dirty="0"/>
              <a:t>気軽に作れるのでいろいろ試してみましょう。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■リンク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en-US" altLang="ja-JP" sz="2400" dirty="0"/>
              <a:t>https://cpetry.github.io/NormalMap-Online/</a:t>
            </a:r>
          </a:p>
        </p:txBody>
      </p:sp>
    </p:spTree>
    <p:extLst>
      <p:ext uri="{BB962C8B-B14F-4D97-AF65-F5344CB8AC3E}">
        <p14:creationId xmlns:p14="http://schemas.microsoft.com/office/powerpoint/2010/main" val="884351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</TotalTime>
  <Words>544</Words>
  <Application>Microsoft Office PowerPoint</Application>
  <PresentationFormat>ワイド画面</PresentationFormat>
  <Paragraphs>87</Paragraphs>
  <Slides>20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20</vt:i4>
      </vt:variant>
    </vt:vector>
  </HeadingPairs>
  <TitlesOfParts>
    <vt:vector size="25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63</cp:revision>
  <dcterms:created xsi:type="dcterms:W3CDTF">2024-08-27T02:15:54Z</dcterms:created>
  <dcterms:modified xsi:type="dcterms:W3CDTF">2025-07-28T00:55:33Z</dcterms:modified>
</cp:coreProperties>
</file>