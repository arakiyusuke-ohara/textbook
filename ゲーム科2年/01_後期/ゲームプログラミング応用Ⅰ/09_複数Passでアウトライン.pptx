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4472C4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2025/7/25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アウトライン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33516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トゥーンシェーダーには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アウトライン</a:t>
            </a:r>
            <a:r>
              <a:rPr kumimoji="1" lang="ja-JP" altLang="en-US" sz="2400" dirty="0"/>
              <a:t>があると見栄えが良くなります。</a:t>
            </a:r>
            <a:endParaRPr kumimoji="1" lang="en-US" altLang="ja-JP" sz="2400" dirty="0"/>
          </a:p>
          <a:p>
            <a:r>
              <a:rPr kumimoji="1" lang="ja-JP" altLang="en-US" sz="2400" dirty="0"/>
              <a:t>その場合、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・トゥーンシェーダーで描画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・アウトラインを描画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dirty="0"/>
          </a:p>
          <a:p>
            <a:r>
              <a:rPr kumimoji="1" lang="ja-JP" altLang="en-US" sz="2400" dirty="0"/>
              <a:t>この２つのプロセスが必要になります。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DE9F85F5-CEB0-49B5-97C5-073D4171AE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8862" y="2462123"/>
            <a:ext cx="3711747" cy="3523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928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アウトライン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2573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これまでシェーダーのプログラムは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Pass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ブロック</a:t>
            </a:r>
            <a:r>
              <a:rPr kumimoji="1" lang="ja-JP" altLang="en-US" sz="2400" dirty="0"/>
              <a:t>に書きました。</a:t>
            </a:r>
            <a:endParaRPr kumimoji="1" lang="en-US" altLang="ja-JP" sz="2400" dirty="0"/>
          </a:p>
          <a:p>
            <a:r>
              <a:rPr lang="ja-JP" altLang="en-US" sz="2400" dirty="0"/>
              <a:t>つまり</a:t>
            </a:r>
            <a:r>
              <a:rPr lang="en-US" altLang="ja-JP" sz="2400" dirty="0"/>
              <a:t>Pass</a:t>
            </a:r>
            <a:r>
              <a:rPr lang="ja-JP" altLang="en-US" sz="2400" dirty="0"/>
              <a:t>ブロックが複数あれば、</a:t>
            </a:r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複数の描画処理を１つのシェーダーファイルに書くことができます。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5F5DD3DD-C7EE-46DE-B128-26A649029F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556458"/>
            <a:ext cx="4138422" cy="3937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71373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アウトライン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4649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Outline.shader</a:t>
            </a:r>
            <a:r>
              <a:rPr kumimoji="1" lang="ja-JP" altLang="en-US" sz="2400" dirty="0"/>
              <a:t>を追加して書きます。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3507CF8-48B1-4C24-91B2-06FF62731C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8034591" cy="4554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49522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アウトライン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39260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Outline.shader</a:t>
            </a:r>
            <a:r>
              <a:rPr kumimoji="1" lang="ja-JP" altLang="en-US" sz="2400" dirty="0"/>
              <a:t>（その２）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979D87F9-0D5E-473B-A890-871D4F1E2A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5"/>
            <a:ext cx="6527525" cy="4569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7195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アウトライン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6177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Outline.shader</a:t>
            </a:r>
            <a:r>
              <a:rPr kumimoji="1" lang="ja-JP" altLang="en-US" sz="2400" dirty="0"/>
              <a:t>（その３）</a:t>
            </a:r>
            <a:r>
              <a:rPr kumimoji="1" lang="en-US" altLang="ja-JP" sz="2400" dirty="0"/>
              <a:t>※</a:t>
            </a:r>
            <a:r>
              <a:rPr kumimoji="1" lang="ja-JP" altLang="en-US" sz="2400" dirty="0"/>
              <a:t>前回の</a:t>
            </a:r>
            <a:r>
              <a:rPr kumimoji="1" lang="en-US" altLang="ja-JP" sz="2400" dirty="0" err="1"/>
              <a:t>RampToon</a:t>
            </a:r>
            <a:r>
              <a:rPr kumimoji="1" lang="ja-JP" altLang="en-US" sz="2400" dirty="0"/>
              <a:t>と一緒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B7BC927F-07A5-421D-8627-64D7DCDABA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5"/>
            <a:ext cx="7069391" cy="4693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16719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アウトライン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7059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Outline.shader</a:t>
            </a:r>
            <a:r>
              <a:rPr kumimoji="1" lang="ja-JP" altLang="en-US" sz="2400" dirty="0"/>
              <a:t>（その４）</a:t>
            </a:r>
            <a:r>
              <a:rPr kumimoji="1" lang="en-US" altLang="ja-JP" sz="2400" dirty="0"/>
              <a:t> ※</a:t>
            </a:r>
            <a:r>
              <a:rPr kumimoji="1" lang="ja-JP" altLang="en-US" sz="2400" dirty="0"/>
              <a:t>前回の</a:t>
            </a:r>
            <a:r>
              <a:rPr kumimoji="1" lang="en-US" altLang="ja-JP" sz="2400" dirty="0" err="1"/>
              <a:t>RampToon</a:t>
            </a:r>
            <a:r>
              <a:rPr kumimoji="1" lang="ja-JP" altLang="en-US" sz="2400" dirty="0"/>
              <a:t>と一緒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C3965B4-017E-4B2A-A860-3B2D9C4764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8322458" cy="4586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37105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アウトライン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91701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このように</a:t>
            </a:r>
            <a:r>
              <a:rPr kumimoji="1" lang="en-US" altLang="ja-JP" sz="2400" dirty="0"/>
              <a:t>Pass</a:t>
            </a:r>
            <a:r>
              <a:rPr kumimoji="1" lang="ja-JP" altLang="en-US" sz="2400" dirty="0"/>
              <a:t>を複数用意して描画処理を分けることもできます。</a:t>
            </a:r>
            <a:endParaRPr kumimoji="1" lang="en-US" altLang="ja-JP" sz="2400" dirty="0"/>
          </a:p>
          <a:p>
            <a:r>
              <a:rPr lang="ja-JP" altLang="en-US" sz="2400" dirty="0"/>
              <a:t>上か順に描画されるので気を付けましょう。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■今回の描画順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dirty="0"/>
              <a:t>アウトライン→トゥーン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AE7E82C6-3A02-4946-852A-05716BF0AC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3295121"/>
            <a:ext cx="7878274" cy="1209844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132FDDB4-1000-4097-8A75-975D46092E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542" y="4646253"/>
            <a:ext cx="4258269" cy="1200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94200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アウトライン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6479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アウトラインの仕組みはとてもシンプルです。</a:t>
            </a:r>
            <a:endParaRPr kumimoji="1" lang="en-US" altLang="ja-JP" sz="2400" dirty="0"/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FD7A5CEE-B644-4B8C-8588-FF790A80EEA4}"/>
              </a:ext>
            </a:extLst>
          </p:cNvPr>
          <p:cNvSpPr/>
          <p:nvPr/>
        </p:nvSpPr>
        <p:spPr>
          <a:xfrm>
            <a:off x="702732" y="2777067"/>
            <a:ext cx="1440000" cy="1440000"/>
          </a:xfrm>
          <a:prstGeom prst="ellipse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46FB2B6A-2D87-4BA4-8A93-D5F004DE38D5}"/>
              </a:ext>
            </a:extLst>
          </p:cNvPr>
          <p:cNvGrpSpPr/>
          <p:nvPr/>
        </p:nvGrpSpPr>
        <p:grpSpPr>
          <a:xfrm>
            <a:off x="3974407" y="2619000"/>
            <a:ext cx="1620000" cy="1620000"/>
            <a:chOff x="3081529" y="2619000"/>
            <a:chExt cx="1620000" cy="1620000"/>
          </a:xfrm>
        </p:grpSpPr>
        <p:sp>
          <p:nvSpPr>
            <p:cNvPr id="7" name="楕円 6">
              <a:extLst>
                <a:ext uri="{FF2B5EF4-FFF2-40B4-BE49-F238E27FC236}">
                  <a16:creationId xmlns:a16="http://schemas.microsoft.com/office/drawing/2014/main" id="{69BBBD7C-301F-401D-A12F-71AD85CF2E1E}"/>
                </a:ext>
              </a:extLst>
            </p:cNvPr>
            <p:cNvSpPr/>
            <p:nvPr/>
          </p:nvSpPr>
          <p:spPr>
            <a:xfrm>
              <a:off x="3197261" y="2777067"/>
              <a:ext cx="1440000" cy="1440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" name="楕円 8">
              <a:extLst>
                <a:ext uri="{FF2B5EF4-FFF2-40B4-BE49-F238E27FC236}">
                  <a16:creationId xmlns:a16="http://schemas.microsoft.com/office/drawing/2014/main" id="{76B3D14C-1E83-44DB-90B2-A7CE577421AE}"/>
                </a:ext>
              </a:extLst>
            </p:cNvPr>
            <p:cNvSpPr/>
            <p:nvPr/>
          </p:nvSpPr>
          <p:spPr>
            <a:xfrm>
              <a:off x="3081529" y="2619000"/>
              <a:ext cx="1620000" cy="162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4F114402-082A-4019-980A-6B8282A31814}"/>
              </a:ext>
            </a:extLst>
          </p:cNvPr>
          <p:cNvGrpSpPr/>
          <p:nvPr/>
        </p:nvGrpSpPr>
        <p:grpSpPr>
          <a:xfrm>
            <a:off x="8322727" y="2619000"/>
            <a:ext cx="1620000" cy="1620000"/>
            <a:chOff x="5757327" y="2665134"/>
            <a:chExt cx="1620000" cy="1620000"/>
          </a:xfrm>
        </p:grpSpPr>
        <p:sp>
          <p:nvSpPr>
            <p:cNvPr id="11" name="楕円 10">
              <a:extLst>
                <a:ext uri="{FF2B5EF4-FFF2-40B4-BE49-F238E27FC236}">
                  <a16:creationId xmlns:a16="http://schemas.microsoft.com/office/drawing/2014/main" id="{D2605E97-8A72-463B-AE31-E78C6AAE6115}"/>
                </a:ext>
              </a:extLst>
            </p:cNvPr>
            <p:cNvSpPr/>
            <p:nvPr/>
          </p:nvSpPr>
          <p:spPr>
            <a:xfrm>
              <a:off x="5757327" y="2665134"/>
              <a:ext cx="1620000" cy="162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楕円 9">
              <a:extLst>
                <a:ext uri="{FF2B5EF4-FFF2-40B4-BE49-F238E27FC236}">
                  <a16:creationId xmlns:a16="http://schemas.microsoft.com/office/drawing/2014/main" id="{37CBBFBF-D4C8-401D-AA7A-270C88DAABFC}"/>
                </a:ext>
              </a:extLst>
            </p:cNvPr>
            <p:cNvSpPr/>
            <p:nvPr/>
          </p:nvSpPr>
          <p:spPr>
            <a:xfrm>
              <a:off x="5847327" y="2755134"/>
              <a:ext cx="1440000" cy="14400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E6347D5F-3DA0-4714-B8CC-FB67D5718D7E}"/>
              </a:ext>
            </a:extLst>
          </p:cNvPr>
          <p:cNvSpPr txBox="1"/>
          <p:nvPr/>
        </p:nvSpPr>
        <p:spPr>
          <a:xfrm>
            <a:off x="522485" y="4539134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モデルに対して</a:t>
            </a:r>
            <a:endParaRPr kumimoji="1" lang="en-US" altLang="ja-JP" dirty="0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9C0C2D2-684C-41A7-9F08-0E624CF218FB}"/>
              </a:ext>
            </a:extLst>
          </p:cNvPr>
          <p:cNvSpPr txBox="1"/>
          <p:nvPr/>
        </p:nvSpPr>
        <p:spPr>
          <a:xfrm>
            <a:off x="2873113" y="4539134"/>
            <a:ext cx="387405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dirty="0"/>
              <a:t>少しだけ拡大したものを描画する。</a:t>
            </a:r>
            <a:endParaRPr lang="en-US" altLang="ja-JP" dirty="0"/>
          </a:p>
          <a:p>
            <a:pPr algn="ctr"/>
            <a:r>
              <a:rPr kumimoji="1" lang="ja-JP" altLang="en-US" dirty="0"/>
              <a:t>ただしこのままだと</a:t>
            </a:r>
            <a:endParaRPr kumimoji="1" lang="en-US" altLang="ja-JP" dirty="0"/>
          </a:p>
          <a:p>
            <a:pPr algn="ctr"/>
            <a:r>
              <a:rPr lang="ja-JP" altLang="en-US" dirty="0"/>
              <a:t>アウトラインに覆われてしまうので</a:t>
            </a:r>
            <a:endParaRPr kumimoji="1" lang="en-US" altLang="ja-JP" dirty="0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AD975140-CE65-4812-8451-4F6E48747980}"/>
              </a:ext>
            </a:extLst>
          </p:cNvPr>
          <p:cNvSpPr txBox="1"/>
          <p:nvPr/>
        </p:nvSpPr>
        <p:spPr>
          <a:xfrm>
            <a:off x="7297301" y="4539134"/>
            <a:ext cx="38740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dirty="0"/>
              <a:t>アウトラインは裏面だけ描画する</a:t>
            </a:r>
            <a:endParaRPr kumimoji="1" lang="en-US" altLang="ja-JP" dirty="0"/>
          </a:p>
        </p:txBody>
      </p:sp>
      <p:sp>
        <p:nvSpPr>
          <p:cNvPr id="16" name="矢印: 右 15">
            <a:extLst>
              <a:ext uri="{FF2B5EF4-FFF2-40B4-BE49-F238E27FC236}">
                <a16:creationId xmlns:a16="http://schemas.microsoft.com/office/drawing/2014/main" id="{352895E8-BABD-452C-823D-7EA57A0E105B}"/>
              </a:ext>
            </a:extLst>
          </p:cNvPr>
          <p:cNvSpPr/>
          <p:nvPr/>
        </p:nvSpPr>
        <p:spPr>
          <a:xfrm>
            <a:off x="2692400" y="3183467"/>
            <a:ext cx="855133" cy="5757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矢印: 右 16">
            <a:extLst>
              <a:ext uri="{FF2B5EF4-FFF2-40B4-BE49-F238E27FC236}">
                <a16:creationId xmlns:a16="http://schemas.microsoft.com/office/drawing/2014/main" id="{BFC6F52F-CFDD-439A-A90E-ADA3FE7D8839}"/>
              </a:ext>
            </a:extLst>
          </p:cNvPr>
          <p:cNvSpPr/>
          <p:nvPr/>
        </p:nvSpPr>
        <p:spPr>
          <a:xfrm>
            <a:off x="6597595" y="3183466"/>
            <a:ext cx="855133" cy="5757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702856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アウトライン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151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00B050"/>
                </a:solidFill>
              </a:rPr>
              <a:t>Cull Front</a:t>
            </a:r>
            <a:r>
              <a:rPr kumimoji="1" lang="ja-JP" altLang="en-US" sz="2400" dirty="0"/>
              <a:t>と書くと、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表面の描画をしなくなります。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C7B0C1E6-7B5E-4E20-9500-013114B5E1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9345329" cy="1438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47291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アウトライン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7187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拡大</a:t>
            </a:r>
            <a:r>
              <a:rPr kumimoji="1" lang="ja-JP" altLang="en-US" sz="2400" dirty="0"/>
              <a:t>したい場合は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頂点を法線の方向にずらせば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OK</a:t>
            </a:r>
            <a:r>
              <a:rPr kumimoji="1" lang="ja-JP" altLang="en-US" sz="2400" dirty="0"/>
              <a:t>です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11E90E45-0DD7-4040-8A3E-09F970F596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5539042" cy="1408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45733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アウトライン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7246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マテリアルを追加して適用しましょう。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6D99FF02-A91E-417D-BC09-8CED1AE2CA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995" y="1817794"/>
            <a:ext cx="5753903" cy="3810532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7DCE5A89-2326-4929-A644-6457E979A7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153" y="1817794"/>
            <a:ext cx="4914832" cy="2864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587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813</TotalTime>
  <Words>221</Words>
  <Application>Microsoft Office PowerPoint</Application>
  <PresentationFormat>ワイド画面</PresentationFormat>
  <Paragraphs>39</Paragraphs>
  <Slides>11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5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情報北九州校 倉掛</cp:lastModifiedBy>
  <cp:revision>80</cp:revision>
  <dcterms:created xsi:type="dcterms:W3CDTF">2024-08-27T02:15:54Z</dcterms:created>
  <dcterms:modified xsi:type="dcterms:W3CDTF">2025-07-25T05:18:13Z</dcterms:modified>
</cp:coreProperties>
</file>