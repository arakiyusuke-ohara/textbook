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8AD7F75-75A8-41B0-B702-380DE6179F82}"/>
              </a:ext>
            </a:extLst>
          </p:cNvPr>
          <p:cNvSpPr/>
          <p:nvPr/>
        </p:nvSpPr>
        <p:spPr>
          <a:xfrm>
            <a:off x="355600" y="2252133"/>
            <a:ext cx="7137400" cy="2387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動いている物体同士の衝突を計算するには、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運動量と力積</a:t>
                </a:r>
                <a:r>
                  <a:rPr lang="ja-JP" altLang="en-US" sz="2400" dirty="0"/>
                  <a:t>について知らなければいけません。まずは運動量からです。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・質量の大きいものほど運動量は大きくなる</a:t>
                </a:r>
                <a:endParaRPr lang="en-US" altLang="ja-JP" sz="2400" dirty="0"/>
              </a:p>
              <a:p>
                <a:r>
                  <a:rPr lang="ja-JP" altLang="en-US" sz="2400" dirty="0"/>
                  <a:t>・速度が速いものほど運動量は大きくなる</a:t>
                </a:r>
                <a:endParaRPr lang="en-US" altLang="ja-JP" sz="2400" dirty="0"/>
              </a:p>
              <a:p>
                <a:r>
                  <a:rPr lang="ja-JP" altLang="en-US" sz="2400" dirty="0"/>
                  <a:t>・どれだけ質量が大きくても、動いてなければ運動量は</a:t>
                </a:r>
                <a:r>
                  <a:rPr lang="en-US" altLang="ja-JP" sz="2400" dirty="0"/>
                  <a:t>0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4893647"/>
              </a:xfrm>
              <a:prstGeom prst="rect">
                <a:avLst/>
              </a:prstGeom>
              <a:blipFill>
                <a:blip r:embed="rId2"/>
                <a:stretch>
                  <a:fillRect l="-884" t="-998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868103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2500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のトラックが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で走行しているとき、</a:t>
                </a:r>
                <a:endParaRPr lang="en-US" altLang="ja-JP" sz="2400" dirty="0"/>
              </a:p>
              <a:p>
                <a:r>
                  <a:rPr lang="ja-JP" altLang="en-US" sz="2400" dirty="0"/>
                  <a:t>このトラックの運動量を求めなさい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=2500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25000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𝑘𝑔𝑚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運動量の単位はそのまま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（キログラムメートル毎秒）を使います。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　まれに</a:t>
                </a:r>
                <a:r>
                  <a:rPr lang="en-US" altLang="ja-JP" sz="2400" dirty="0"/>
                  <a:t>N</a:t>
                </a:r>
                <a:r>
                  <a:rPr lang="ja-JP" altLang="en-US" sz="2400" dirty="0"/>
                  <a:t>・秒（ニュートンドット秒）とも呼ばれます。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868103" cy="3785652"/>
              </a:xfrm>
              <a:prstGeom prst="rect">
                <a:avLst/>
              </a:prstGeom>
              <a:blipFill>
                <a:blip r:embed="rId2"/>
                <a:stretch>
                  <a:fillRect l="-841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20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64622" cy="45835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続いて</m:t>
                    </m:r>
                  </m:oMath>
                </a14:m>
                <a:r>
                  <a:rPr lang="ja-JP" altLang="en-US" sz="2400" dirty="0"/>
                  <a:t>力積ですが、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力積</a:t>
                </a:r>
                <a:r>
                  <a:rPr lang="ja-JP" altLang="en-US" sz="2400" dirty="0"/>
                  <a:t>とは、「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力がどれくらいの時間かかったか</a:t>
                </a:r>
                <a:r>
                  <a:rPr lang="ja-JP" altLang="en-US" sz="2400" dirty="0"/>
                  <a:t>」を表します。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理解を深めるために、まずはニュートンの運動の第二法則を思い出しましょう。</a:t>
                </a:r>
                <a:endParaRPr lang="en-US" altLang="ja-JP" sz="2400" dirty="0"/>
              </a:p>
              <a:p>
                <a:endParaRPr lang="en-US" altLang="ja-JP" sz="2400" dirty="0">
                  <a:latin typeface="Cambria Math" panose="02040503050406030204" pitchFamily="18" charset="0"/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■ニュートンの運動の第二法則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𝑚𝑎</m:t>
                    </m:r>
                  </m:oMath>
                </a14:m>
                <a:r>
                  <a:rPr lang="en-US" altLang="ja-JP" sz="2400" dirty="0"/>
                  <a:t> </a:t>
                </a:r>
                <a:endParaRPr lang="ja-JP" altLang="en-US" sz="2400" dirty="0"/>
              </a:p>
              <a:p>
                <a:r>
                  <a:rPr lang="ja-JP" altLang="en-US" sz="2400" dirty="0"/>
                  <a:t>合力＝質量</a:t>
                </a:r>
                <a:r>
                  <a:rPr lang="en-US" altLang="ja-JP" sz="2400" dirty="0"/>
                  <a:t>×</a:t>
                </a:r>
                <a:r>
                  <a:rPr lang="ja-JP" altLang="en-US" sz="2400" dirty="0"/>
                  <a:t>加速度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加速度は時間による速度の変化割合なので、（</a:t>
                </a:r>
                <a:r>
                  <a:rPr lang="en-US" altLang="ja-JP" sz="2400" dirty="0"/>
                  <a:t>05_</a:t>
                </a:r>
                <a:r>
                  <a:rPr lang="ja-JP" altLang="en-US" sz="2400" dirty="0"/>
                  <a:t>加速度参照）</a:t>
                </a:r>
                <a:endParaRPr lang="en-US" altLang="ja-JP" sz="2400" dirty="0"/>
              </a:p>
              <a:p>
                <a:r>
                  <a:rPr lang="ja-JP" altLang="en-US" sz="2400" dirty="0"/>
                  <a:t>以下のように置き換えられます。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64622" cy="4583562"/>
              </a:xfrm>
              <a:prstGeom prst="rect">
                <a:avLst/>
              </a:prstGeom>
              <a:blipFill>
                <a:blip r:embed="rId2"/>
                <a:stretch>
                  <a:fillRect l="-812" t="-932" b="-3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96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4243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先ほどの運動量の公式は、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つまり以下のように式を置き換えられます。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両辺を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で掛けると、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ここで合力に時間が掛け算されます。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つまりこれが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力積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4243854"/>
              </a:xfrm>
              <a:prstGeom prst="rect">
                <a:avLst/>
              </a:prstGeom>
              <a:blipFill>
                <a:blip r:embed="rId2"/>
                <a:stretch>
                  <a:fillRect l="-1442" t="-1149" r="-577" b="-22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93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CDD104D-14B7-4BDC-9E69-2E0F8B82F12F}"/>
              </a:ext>
            </a:extLst>
          </p:cNvPr>
          <p:cNvSpPr/>
          <p:nvPr/>
        </p:nvSpPr>
        <p:spPr>
          <a:xfrm>
            <a:off x="296333" y="1854200"/>
            <a:ext cx="7450667" cy="29182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これまでのことをまとめて、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力積と運動量の定理</a:t>
                </a:r>
                <a:r>
                  <a:rPr lang="ja-JP" altLang="en-US" sz="2400" dirty="0"/>
                  <a:t>と呼ばれています。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■力積と運動量の定理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・・・力積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・・・合力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・・・時間（一般的に衝突時の一瞬の長さ）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・・・運動量の変化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・力積が大きいほど運動量の変化は大きくなる</a:t>
                </a:r>
                <a:endParaRPr lang="en-US" altLang="ja-JP" sz="2400" dirty="0"/>
              </a:p>
              <a:p>
                <a:r>
                  <a:rPr lang="ja-JP" altLang="en-US" sz="2400" dirty="0"/>
                  <a:t>　つまり、大きな衝突ほど運動量は大きくなる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4524315"/>
              </a:xfrm>
              <a:prstGeom prst="rect">
                <a:avLst/>
              </a:prstGeom>
              <a:blipFill>
                <a:blip r:embed="rId2"/>
                <a:stretch>
                  <a:fillRect l="-940" t="-1078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14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19503" cy="5459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ゲーム内で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sz="2400" dirty="0"/>
                  <a:t>のゴルフボールをゴルフクラブで打ちました。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打つ前のパワーゲージや、インパクト場所の設定から、</a:t>
                </a:r>
                <a:endParaRPr lang="en-US" altLang="ja-JP" sz="2400" dirty="0"/>
              </a:p>
              <a:p>
                <a:r>
                  <a:rPr lang="ja-JP" altLang="en-US" sz="2400" dirty="0"/>
                  <a:t>ボールを打った時の力積を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3, 2, −4</m:t>
                        </m:r>
                      </m:e>
                    </m:d>
                  </m:oMath>
                </a14:m>
                <a:r>
                  <a:rPr lang="ja-JP" altLang="en-US" sz="2400" dirty="0"/>
                  <a:t>と設定された場合、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打ったボールの速度を求めなさい。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=⊿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sz="2400" i="1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sz="2400" dirty="0">
                    <a:latin typeface="Cambria Math" panose="02040503050406030204" pitchFamily="18" charset="0"/>
                  </a:rPr>
                  <a:t>で</a:t>
                </a:r>
                <a:r>
                  <a:rPr lang="en-US" altLang="ja-JP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であり、</a:t>
                </a:r>
                <a:endParaRPr lang="en-US" altLang="ja-JP" sz="2400" dirty="0"/>
              </a:p>
              <a:p>
                <a:r>
                  <a:rPr lang="ja-JP" altLang="en-US" sz="2400" dirty="0"/>
                  <a:t>打つ前のボールは停止しているため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である。よって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3, 2, −4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=0.045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3, 2, −4</m:t>
                        </m:r>
                      </m:e>
                    </m:d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0.045=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𝟔𝟔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𝟔𝟕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𝟖𝟖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𝟖𝟗</m:t>
                        </m:r>
                      </m:e>
                    </m:d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力積から速度を計算できるようになりましょう</a:t>
                </a:r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力積の単位は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なので質量の単位は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にしましょう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19503" cy="5459380"/>
              </a:xfrm>
              <a:prstGeom prst="rect">
                <a:avLst/>
              </a:prstGeom>
              <a:blipFill>
                <a:blip r:embed="rId2"/>
                <a:stretch>
                  <a:fillRect l="-1049" t="-894" r="-210" b="-16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11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運動量と力積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3709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① </a:t>
            </a:r>
            <a:r>
              <a:rPr lang="en-US" altLang="ja-JP" sz="2400" dirty="0"/>
              <a:t>150kg</a:t>
            </a:r>
            <a:r>
              <a:rPr lang="ja-JP" altLang="en-US" sz="2400" dirty="0"/>
              <a:t>の大岩が</a:t>
            </a:r>
            <a:r>
              <a:rPr lang="en-US" altLang="ja-JP" sz="2400" dirty="0"/>
              <a:t>15m/</a:t>
            </a:r>
            <a:r>
              <a:rPr lang="ja-JP" altLang="en-US" sz="2400" dirty="0"/>
              <a:t>秒の速度で転がっています。</a:t>
            </a:r>
            <a:endParaRPr lang="en-US" altLang="ja-JP" sz="2400" dirty="0"/>
          </a:p>
          <a:p>
            <a:r>
              <a:rPr lang="ja-JP" altLang="en-US" sz="2400" dirty="0"/>
              <a:t>　 この大岩の運動量を求めなさい。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ある格闘ゲームで、</a:t>
            </a:r>
            <a:r>
              <a:rPr lang="en-US" altLang="ja-JP" sz="2400" dirty="0"/>
              <a:t>10m/</a:t>
            </a:r>
            <a:r>
              <a:rPr lang="ja-JP" altLang="en-US" sz="2400" dirty="0"/>
              <a:t>秒で移動している</a:t>
            </a:r>
            <a:r>
              <a:rPr lang="en-US" altLang="ja-JP" sz="2400" dirty="0"/>
              <a:t>25kg</a:t>
            </a:r>
            <a:r>
              <a:rPr lang="ja-JP" altLang="en-US" sz="2400" dirty="0"/>
              <a:t>のキャラクターを</a:t>
            </a:r>
            <a:endParaRPr lang="en-US" altLang="ja-JP" sz="2400" dirty="0"/>
          </a:p>
          <a:p>
            <a:r>
              <a:rPr lang="ja-JP" altLang="en-US" sz="2400" dirty="0"/>
              <a:t>　 強力な攻撃で蹴り飛ばしました。蹴った時の力積が</a:t>
            </a:r>
            <a:r>
              <a:rPr lang="en-US" altLang="ja-JP" sz="2400" dirty="0"/>
              <a:t>5000</a:t>
            </a:r>
            <a:r>
              <a:rPr lang="ja-JP" altLang="en-US" sz="2400" dirty="0"/>
              <a:t>の場合、</a:t>
            </a:r>
            <a:endParaRPr lang="en-US" altLang="ja-JP" sz="2400" dirty="0"/>
          </a:p>
          <a:p>
            <a:r>
              <a:rPr lang="ja-JP" altLang="en-US" sz="2400" dirty="0"/>
              <a:t>　 蹴られたプレイヤーはどれだけの速度で吹っ飛ぶか求めなさい。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③ ②の吹っ飛ばされたキャラクターが</a:t>
            </a:r>
            <a:r>
              <a:rPr lang="en-US" altLang="ja-JP" sz="2400" dirty="0"/>
              <a:t>0.7</a:t>
            </a:r>
            <a:r>
              <a:rPr lang="ja-JP" altLang="en-US" sz="2400" dirty="0"/>
              <a:t>秒間そのまま吹っ飛んだ場合、</a:t>
            </a:r>
            <a:endParaRPr lang="en-US" altLang="ja-JP" sz="2400" dirty="0"/>
          </a:p>
          <a:p>
            <a:r>
              <a:rPr lang="ja-JP" altLang="en-US" sz="2400" dirty="0"/>
              <a:t>　 </a:t>
            </a:r>
            <a:r>
              <a:rPr lang="en-US" altLang="ja-JP" sz="2400" dirty="0"/>
              <a:t>20m</a:t>
            </a:r>
            <a:r>
              <a:rPr lang="ja-JP" altLang="en-US" sz="2400" dirty="0"/>
              <a:t>先の画面端を超えてしまうかどうか答えなさい。</a:t>
            </a:r>
            <a:endParaRPr lang="en-US" altLang="ja-JP" sz="2400" dirty="0"/>
          </a:p>
          <a:p>
            <a:r>
              <a:rPr lang="ja-JP" altLang="en-US" sz="2400" dirty="0"/>
              <a:t>　 </a:t>
            </a:r>
            <a:r>
              <a:rPr lang="en-US" altLang="ja-JP" sz="2400" dirty="0"/>
              <a:t>(</a:t>
            </a:r>
            <a:r>
              <a:rPr lang="ja-JP" altLang="en-US" sz="2400" dirty="0"/>
              <a:t>抵抗や摩擦は考慮しなくてよい</a:t>
            </a:r>
            <a:r>
              <a:rPr lang="en-US" altLang="ja-JP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863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2787</TotalTime>
  <Words>649</Words>
  <Application>Microsoft Office PowerPoint</Application>
  <PresentationFormat>ワイド画面</PresentationFormat>
  <Paragraphs>89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258</cp:revision>
  <dcterms:created xsi:type="dcterms:W3CDTF">2024-08-27T02:15:54Z</dcterms:created>
  <dcterms:modified xsi:type="dcterms:W3CDTF">2025-11-12T08:30:36Z</dcterms:modified>
</cp:coreProperties>
</file>