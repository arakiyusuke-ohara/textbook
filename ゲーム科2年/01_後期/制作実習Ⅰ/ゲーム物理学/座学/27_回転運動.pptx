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C4646"/>
    <a:srgbClr val="AD5B5B"/>
    <a:srgbClr val="0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2025/11/18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2025/11/18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2025/11/18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2025/11/18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回転運動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417963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これまでの衝突は、すべて正面衝突を想定した衝突になります。</a:t>
            </a:r>
            <a:endParaRPr lang="en-US" altLang="ja-JP" sz="2400" dirty="0"/>
          </a:p>
          <a:p>
            <a:r>
              <a:rPr lang="ja-JP" altLang="en-US" sz="2400" dirty="0"/>
              <a:t>ですが、完全な正面衝突は現実ではあまり起きません。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ビリヤードの手玉を打つ場面をイメージしましょう。</a:t>
            </a:r>
            <a:endParaRPr lang="en-US" altLang="ja-JP" sz="2400" dirty="0"/>
          </a:p>
          <a:p>
            <a:r>
              <a:rPr lang="ja-JP" altLang="en-US" sz="2400" dirty="0"/>
              <a:t>スティックの位置が少しずれると、手玉には</a:t>
            </a:r>
            <a:r>
              <a:rPr lang="ja-JP" altLang="en-US" sz="2400" b="1" dirty="0">
                <a:solidFill>
                  <a:srgbClr val="FF0000"/>
                </a:solidFill>
              </a:rPr>
              <a:t>スピン</a:t>
            </a:r>
            <a:r>
              <a:rPr lang="ja-JP" altLang="en-US" sz="2400" dirty="0"/>
              <a:t>がかかります。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つまり正面衝突でない場合の衝突を計算するには、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回転運動</a:t>
            </a:r>
            <a:r>
              <a:rPr lang="ja-JP" altLang="en-US" sz="2400" dirty="0"/>
              <a:t>や</a:t>
            </a:r>
            <a:r>
              <a:rPr lang="ja-JP" altLang="en-US" sz="2400" b="1" dirty="0">
                <a:solidFill>
                  <a:srgbClr val="FF0000"/>
                </a:solidFill>
              </a:rPr>
              <a:t>回転力学</a:t>
            </a:r>
            <a:r>
              <a:rPr lang="ja-JP" altLang="en-US" sz="2400" dirty="0"/>
              <a:t>についての理解が必要になります。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まずは回転運動について学習します。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639033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回転運動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5713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回転運動は</a:t>
            </a:r>
            <a:r>
              <a:rPr lang="ja-JP" altLang="en-US" sz="2400" b="1" dirty="0">
                <a:solidFill>
                  <a:srgbClr val="0070C0"/>
                </a:solidFill>
              </a:rPr>
              <a:t>ある座標を中心として回転する運動</a:t>
            </a:r>
            <a:r>
              <a:rPr lang="ja-JP" altLang="en-US" sz="2400" dirty="0"/>
              <a:t>です。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中心から離れている距離が半径</a:t>
            </a:r>
            <a:r>
              <a:rPr lang="ja-JP" altLang="en-US" sz="2400" dirty="0"/>
              <a:t>となります。</a:t>
            </a:r>
            <a:endParaRPr lang="en-US" altLang="ja-JP" sz="2400" dirty="0"/>
          </a:p>
        </p:txBody>
      </p:sp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F723BD31-DD8D-4648-B344-93D082E71940}"/>
              </a:ext>
            </a:extLst>
          </p:cNvPr>
          <p:cNvGrpSpPr/>
          <p:nvPr/>
        </p:nvGrpSpPr>
        <p:grpSpPr>
          <a:xfrm>
            <a:off x="567542" y="2766046"/>
            <a:ext cx="3600000" cy="3600000"/>
            <a:chOff x="593683" y="2766046"/>
            <a:chExt cx="3600000" cy="3600000"/>
          </a:xfrm>
        </p:grpSpPr>
        <p:grpSp>
          <p:nvGrpSpPr>
            <p:cNvPr id="13" name="グループ化 12">
              <a:extLst>
                <a:ext uri="{FF2B5EF4-FFF2-40B4-BE49-F238E27FC236}">
                  <a16:creationId xmlns:a16="http://schemas.microsoft.com/office/drawing/2014/main" id="{F797631E-052A-4F57-9831-CD402AADB218}"/>
                </a:ext>
              </a:extLst>
            </p:cNvPr>
            <p:cNvGrpSpPr/>
            <p:nvPr/>
          </p:nvGrpSpPr>
          <p:grpSpPr>
            <a:xfrm>
              <a:off x="593683" y="2766046"/>
              <a:ext cx="3600000" cy="3600000"/>
              <a:chOff x="2496639" y="3127933"/>
              <a:chExt cx="2160000" cy="2160000"/>
            </a:xfrm>
          </p:grpSpPr>
          <p:sp>
            <p:nvSpPr>
              <p:cNvPr id="2" name="楕円 1">
                <a:extLst>
                  <a:ext uri="{FF2B5EF4-FFF2-40B4-BE49-F238E27FC236}">
                    <a16:creationId xmlns:a16="http://schemas.microsoft.com/office/drawing/2014/main" id="{82E67F83-5FC8-451F-9BEB-64D75C6BF49D}"/>
                  </a:ext>
                </a:extLst>
              </p:cNvPr>
              <p:cNvSpPr/>
              <p:nvPr/>
            </p:nvSpPr>
            <p:spPr>
              <a:xfrm>
                <a:off x="3522639" y="4153933"/>
                <a:ext cx="108000" cy="108000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5" name="直線コネクタ 4">
                <a:extLst>
                  <a:ext uri="{FF2B5EF4-FFF2-40B4-BE49-F238E27FC236}">
                    <a16:creationId xmlns:a16="http://schemas.microsoft.com/office/drawing/2014/main" id="{CBE96378-0992-4F9E-A7CD-10BCCFE2F004}"/>
                  </a:ext>
                </a:extLst>
              </p:cNvPr>
              <p:cNvCxnSpPr>
                <a:cxnSpLocks/>
                <a:endCxn id="8" idx="2"/>
              </p:cNvCxnSpPr>
              <p:nvPr/>
            </p:nvCxnSpPr>
            <p:spPr>
              <a:xfrm>
                <a:off x="3630639" y="4207933"/>
                <a:ext cx="1026000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円弧 7">
                <a:extLst>
                  <a:ext uri="{FF2B5EF4-FFF2-40B4-BE49-F238E27FC236}">
                    <a16:creationId xmlns:a16="http://schemas.microsoft.com/office/drawing/2014/main" id="{B97CCBA9-B9BF-42E7-B02B-9AAD94CEEBB5}"/>
                  </a:ext>
                </a:extLst>
              </p:cNvPr>
              <p:cNvSpPr/>
              <p:nvPr/>
            </p:nvSpPr>
            <p:spPr>
              <a:xfrm>
                <a:off x="2496639" y="3127933"/>
                <a:ext cx="2160000" cy="2160000"/>
              </a:xfrm>
              <a:prstGeom prst="arc">
                <a:avLst>
                  <a:gd name="adj1" fmla="val 17662870"/>
                  <a:gd name="adj2" fmla="val 0"/>
                </a:avLst>
              </a:prstGeom>
              <a:ln w="38100">
                <a:prstDash val="sysDash"/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10" name="直線コネクタ 9">
                <a:extLst>
                  <a:ext uri="{FF2B5EF4-FFF2-40B4-BE49-F238E27FC236}">
                    <a16:creationId xmlns:a16="http://schemas.microsoft.com/office/drawing/2014/main" id="{80D2BF0E-51CE-4469-B4A1-FE58BADEC453}"/>
                  </a:ext>
                </a:extLst>
              </p:cNvPr>
              <p:cNvCxnSpPr>
                <a:cxnSpLocks/>
                <a:stCxn id="2" idx="7"/>
                <a:endCxn id="8" idx="0"/>
              </p:cNvCxnSpPr>
              <p:nvPr/>
            </p:nvCxnSpPr>
            <p:spPr>
              <a:xfrm flipV="1">
                <a:off x="3614823" y="3224248"/>
                <a:ext cx="407645" cy="94550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" name="円弧 14">
              <a:extLst>
                <a:ext uri="{FF2B5EF4-FFF2-40B4-BE49-F238E27FC236}">
                  <a16:creationId xmlns:a16="http://schemas.microsoft.com/office/drawing/2014/main" id="{68848736-96ED-43C0-A7B5-600C0154464E}"/>
                </a:ext>
              </a:extLst>
            </p:cNvPr>
            <p:cNvSpPr/>
            <p:nvPr/>
          </p:nvSpPr>
          <p:spPr>
            <a:xfrm>
              <a:off x="593683" y="2766046"/>
              <a:ext cx="3600000" cy="3600000"/>
            </a:xfrm>
            <a:prstGeom prst="arc">
              <a:avLst>
                <a:gd name="adj1" fmla="val 24790"/>
                <a:gd name="adj2" fmla="val 0"/>
              </a:avLst>
            </a:prstGeom>
            <a:ln w="12700">
              <a:solidFill>
                <a:schemeClr val="tx1"/>
              </a:solidFill>
              <a:prstDash val="sys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円弧 13">
              <a:extLst>
                <a:ext uri="{FF2B5EF4-FFF2-40B4-BE49-F238E27FC236}">
                  <a16:creationId xmlns:a16="http://schemas.microsoft.com/office/drawing/2014/main" id="{C6D26FF2-7E13-4FEA-A154-BD77F5779EB5}"/>
                </a:ext>
              </a:extLst>
            </p:cNvPr>
            <p:cNvSpPr/>
            <p:nvPr/>
          </p:nvSpPr>
          <p:spPr>
            <a:xfrm>
              <a:off x="593683" y="2766046"/>
              <a:ext cx="3600000" cy="3600000"/>
            </a:xfrm>
            <a:prstGeom prst="arc">
              <a:avLst>
                <a:gd name="adj1" fmla="val 17662870"/>
                <a:gd name="adj2" fmla="val 0"/>
              </a:avLst>
            </a:prstGeom>
            <a:ln w="38100">
              <a:prstDash val="solid"/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77079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回転運動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4946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この２つの長さから</a:t>
            </a:r>
            <a:r>
              <a:rPr lang="ja-JP" altLang="en-US" sz="2400" b="1" dirty="0">
                <a:solidFill>
                  <a:srgbClr val="00B050"/>
                </a:solidFill>
              </a:rPr>
              <a:t>内側の角度</a:t>
            </a:r>
            <a:r>
              <a:rPr lang="ja-JP" altLang="en-US" sz="2400" dirty="0"/>
              <a:t>を計算することができます。</a:t>
            </a:r>
            <a:endParaRPr lang="en-US" altLang="ja-JP" sz="2400" dirty="0"/>
          </a:p>
          <a:p>
            <a:r>
              <a:rPr lang="ja-JP" altLang="en-US" sz="2400" dirty="0"/>
              <a:t>この角度のことを</a:t>
            </a:r>
            <a:r>
              <a:rPr lang="ja-JP" altLang="en-US" sz="2400" b="1" dirty="0">
                <a:solidFill>
                  <a:srgbClr val="FF0000"/>
                </a:solidFill>
              </a:rPr>
              <a:t>変位角</a:t>
            </a:r>
            <a:r>
              <a:rPr lang="ja-JP" altLang="en-US" sz="2400" dirty="0"/>
              <a:t>といいます。</a:t>
            </a:r>
            <a:endParaRPr lang="en-US" altLang="ja-JP" sz="2400" dirty="0"/>
          </a:p>
        </p:txBody>
      </p: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C1C9D7A6-6860-4345-9C29-1300749DB343}"/>
              </a:ext>
            </a:extLst>
          </p:cNvPr>
          <p:cNvGrpSpPr/>
          <p:nvPr/>
        </p:nvGrpSpPr>
        <p:grpSpPr>
          <a:xfrm>
            <a:off x="567542" y="2766046"/>
            <a:ext cx="3659247" cy="3600000"/>
            <a:chOff x="567542" y="2766046"/>
            <a:chExt cx="3659247" cy="3600000"/>
          </a:xfrm>
        </p:grpSpPr>
        <p:grpSp>
          <p:nvGrpSpPr>
            <p:cNvPr id="16" name="グループ化 15">
              <a:extLst>
                <a:ext uri="{FF2B5EF4-FFF2-40B4-BE49-F238E27FC236}">
                  <a16:creationId xmlns:a16="http://schemas.microsoft.com/office/drawing/2014/main" id="{F723BD31-DD8D-4648-B344-93D082E71940}"/>
                </a:ext>
              </a:extLst>
            </p:cNvPr>
            <p:cNvGrpSpPr/>
            <p:nvPr/>
          </p:nvGrpSpPr>
          <p:grpSpPr>
            <a:xfrm>
              <a:off x="567542" y="2766046"/>
              <a:ext cx="3600000" cy="3600000"/>
              <a:chOff x="593683" y="2766046"/>
              <a:chExt cx="3600000" cy="3600000"/>
            </a:xfrm>
          </p:grpSpPr>
          <p:grpSp>
            <p:nvGrpSpPr>
              <p:cNvPr id="13" name="グループ化 12">
                <a:extLst>
                  <a:ext uri="{FF2B5EF4-FFF2-40B4-BE49-F238E27FC236}">
                    <a16:creationId xmlns:a16="http://schemas.microsoft.com/office/drawing/2014/main" id="{F797631E-052A-4F57-9831-CD402AADB218}"/>
                  </a:ext>
                </a:extLst>
              </p:cNvPr>
              <p:cNvGrpSpPr/>
              <p:nvPr/>
            </p:nvGrpSpPr>
            <p:grpSpPr>
              <a:xfrm>
                <a:off x="593683" y="2766046"/>
                <a:ext cx="3600000" cy="3600000"/>
                <a:chOff x="2496639" y="3127933"/>
                <a:chExt cx="2160000" cy="2160000"/>
              </a:xfrm>
            </p:grpSpPr>
            <p:sp>
              <p:nvSpPr>
                <p:cNvPr id="2" name="楕円 1">
                  <a:extLst>
                    <a:ext uri="{FF2B5EF4-FFF2-40B4-BE49-F238E27FC236}">
                      <a16:creationId xmlns:a16="http://schemas.microsoft.com/office/drawing/2014/main" id="{82E67F83-5FC8-451F-9BEB-64D75C6BF49D}"/>
                    </a:ext>
                  </a:extLst>
                </p:cNvPr>
                <p:cNvSpPr/>
                <p:nvPr/>
              </p:nvSpPr>
              <p:spPr>
                <a:xfrm>
                  <a:off x="3522639" y="4153933"/>
                  <a:ext cx="108000" cy="108000"/>
                </a:xfrm>
                <a:prstGeom prst="ellipse">
                  <a:avLst/>
                </a:prstGeom>
                <a:solidFill>
                  <a:schemeClr val="tx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cxnSp>
              <p:nvCxnSpPr>
                <p:cNvPr id="5" name="直線コネクタ 4">
                  <a:extLst>
                    <a:ext uri="{FF2B5EF4-FFF2-40B4-BE49-F238E27FC236}">
                      <a16:creationId xmlns:a16="http://schemas.microsoft.com/office/drawing/2014/main" id="{CBE96378-0992-4F9E-A7CD-10BCCFE2F004}"/>
                    </a:ext>
                  </a:extLst>
                </p:cNvPr>
                <p:cNvCxnSpPr>
                  <a:cxnSpLocks/>
                  <a:endCxn id="8" idx="2"/>
                </p:cNvCxnSpPr>
                <p:nvPr/>
              </p:nvCxnSpPr>
              <p:spPr>
                <a:xfrm>
                  <a:off x="3630639" y="4207933"/>
                  <a:ext cx="1026000" cy="0"/>
                </a:xfrm>
                <a:prstGeom prst="line">
                  <a:avLst/>
                </a:prstGeom>
                <a:ln w="381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" name="円弧 7">
                  <a:extLst>
                    <a:ext uri="{FF2B5EF4-FFF2-40B4-BE49-F238E27FC236}">
                      <a16:creationId xmlns:a16="http://schemas.microsoft.com/office/drawing/2014/main" id="{B97CCBA9-B9BF-42E7-B02B-9AAD94CEEBB5}"/>
                    </a:ext>
                  </a:extLst>
                </p:cNvPr>
                <p:cNvSpPr/>
                <p:nvPr/>
              </p:nvSpPr>
              <p:spPr>
                <a:xfrm>
                  <a:off x="2496639" y="3127933"/>
                  <a:ext cx="2160000" cy="2160000"/>
                </a:xfrm>
                <a:prstGeom prst="arc">
                  <a:avLst>
                    <a:gd name="adj1" fmla="val 17662870"/>
                    <a:gd name="adj2" fmla="val 0"/>
                  </a:avLst>
                </a:prstGeom>
                <a:ln w="38100">
                  <a:prstDash val="sysDash"/>
                  <a:headEnd type="arrow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cxnSp>
              <p:nvCxnSpPr>
                <p:cNvPr id="10" name="直線コネクタ 9">
                  <a:extLst>
                    <a:ext uri="{FF2B5EF4-FFF2-40B4-BE49-F238E27FC236}">
                      <a16:creationId xmlns:a16="http://schemas.microsoft.com/office/drawing/2014/main" id="{80D2BF0E-51CE-4469-B4A1-FE58BADEC453}"/>
                    </a:ext>
                  </a:extLst>
                </p:cNvPr>
                <p:cNvCxnSpPr>
                  <a:cxnSpLocks/>
                  <a:stCxn id="2" idx="7"/>
                  <a:endCxn id="8" idx="0"/>
                </p:cNvCxnSpPr>
                <p:nvPr/>
              </p:nvCxnSpPr>
              <p:spPr>
                <a:xfrm flipV="1">
                  <a:off x="3614823" y="3224248"/>
                  <a:ext cx="407645" cy="945501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5" name="円弧 14">
                <a:extLst>
                  <a:ext uri="{FF2B5EF4-FFF2-40B4-BE49-F238E27FC236}">
                    <a16:creationId xmlns:a16="http://schemas.microsoft.com/office/drawing/2014/main" id="{68848736-96ED-43C0-A7B5-600C0154464E}"/>
                  </a:ext>
                </a:extLst>
              </p:cNvPr>
              <p:cNvSpPr/>
              <p:nvPr/>
            </p:nvSpPr>
            <p:spPr>
              <a:xfrm>
                <a:off x="593683" y="2766046"/>
                <a:ext cx="3600000" cy="3600000"/>
              </a:xfrm>
              <a:prstGeom prst="arc">
                <a:avLst>
                  <a:gd name="adj1" fmla="val 24790"/>
                  <a:gd name="adj2" fmla="val 0"/>
                </a:avLst>
              </a:prstGeom>
              <a:ln w="12700">
                <a:solidFill>
                  <a:schemeClr val="tx1"/>
                </a:solidFill>
                <a:prstDash val="sysDash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4" name="円弧 13">
                <a:extLst>
                  <a:ext uri="{FF2B5EF4-FFF2-40B4-BE49-F238E27FC236}">
                    <a16:creationId xmlns:a16="http://schemas.microsoft.com/office/drawing/2014/main" id="{C6D26FF2-7E13-4FEA-A154-BD77F5779EB5}"/>
                  </a:ext>
                </a:extLst>
              </p:cNvPr>
              <p:cNvSpPr/>
              <p:nvPr/>
            </p:nvSpPr>
            <p:spPr>
              <a:xfrm>
                <a:off x="593683" y="2766046"/>
                <a:ext cx="3600000" cy="3600000"/>
              </a:xfrm>
              <a:prstGeom prst="arc">
                <a:avLst>
                  <a:gd name="adj1" fmla="val 17662870"/>
                  <a:gd name="adj2" fmla="val 0"/>
                </a:avLst>
              </a:prstGeom>
              <a:ln w="38100">
                <a:prstDash val="solid"/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テキスト ボックス 2">
                  <a:extLst>
                    <a:ext uri="{FF2B5EF4-FFF2-40B4-BE49-F238E27FC236}">
                      <a16:creationId xmlns:a16="http://schemas.microsoft.com/office/drawing/2014/main" id="{0260B612-FAED-45C2-A657-CD5FB32AADAF}"/>
                    </a:ext>
                  </a:extLst>
                </p:cNvPr>
                <p:cNvSpPr txBox="1"/>
                <p:nvPr/>
              </p:nvSpPr>
              <p:spPr>
                <a:xfrm>
                  <a:off x="3989673" y="3250548"/>
                  <a:ext cx="237116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oMath>
                    </m:oMathPara>
                  </a14:m>
                  <a:endParaRPr kumimoji="1" lang="ja-JP" altLang="en-US" sz="2400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3" name="テキスト ボックス 2">
                  <a:extLst>
                    <a:ext uri="{FF2B5EF4-FFF2-40B4-BE49-F238E27FC236}">
                      <a16:creationId xmlns:a16="http://schemas.microsoft.com/office/drawing/2014/main" id="{0260B612-FAED-45C2-A657-CD5FB32AAD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89673" y="3250548"/>
                  <a:ext cx="237116" cy="369332"/>
                </a:xfrm>
                <a:prstGeom prst="rect">
                  <a:avLst/>
                </a:prstGeom>
                <a:blipFill>
                  <a:blip r:embed="rId2"/>
                  <a:stretch>
                    <a:fillRect l="-12821" r="-10256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テキスト ボックス 16">
                  <a:extLst>
                    <a:ext uri="{FF2B5EF4-FFF2-40B4-BE49-F238E27FC236}">
                      <a16:creationId xmlns:a16="http://schemas.microsoft.com/office/drawing/2014/main" id="{6FB6A180-5FD5-45CE-B03F-1918CB0536AC}"/>
                    </a:ext>
                  </a:extLst>
                </p:cNvPr>
                <p:cNvSpPr txBox="1"/>
                <p:nvPr/>
              </p:nvSpPr>
              <p:spPr>
                <a:xfrm>
                  <a:off x="3132749" y="4629687"/>
                  <a:ext cx="240771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kumimoji="1" lang="ja-JP" altLang="en-US" sz="2400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テキスト ボックス 16">
                  <a:extLst>
                    <a:ext uri="{FF2B5EF4-FFF2-40B4-BE49-F238E27FC236}">
                      <a16:creationId xmlns:a16="http://schemas.microsoft.com/office/drawing/2014/main" id="{6FB6A180-5FD5-45CE-B03F-1918CB0536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32749" y="4629687"/>
                  <a:ext cx="240771" cy="369332"/>
                </a:xfrm>
                <a:prstGeom prst="rect">
                  <a:avLst/>
                </a:prstGeom>
                <a:blipFill>
                  <a:blip r:embed="rId3"/>
                  <a:stretch>
                    <a:fillRect l="-15385" r="-10256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テキスト ボックス 17">
                  <a:extLst>
                    <a:ext uri="{FF2B5EF4-FFF2-40B4-BE49-F238E27FC236}">
                      <a16:creationId xmlns:a16="http://schemas.microsoft.com/office/drawing/2014/main" id="{3A42E06F-B3A7-427E-B012-9FDE3674ADEA}"/>
                    </a:ext>
                  </a:extLst>
                </p:cNvPr>
                <p:cNvSpPr txBox="1"/>
                <p:nvPr/>
              </p:nvSpPr>
              <p:spPr>
                <a:xfrm>
                  <a:off x="2601298" y="4160987"/>
                  <a:ext cx="256480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ja-JP" sz="24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oMath>
                    </m:oMathPara>
                  </a14:m>
                  <a:endParaRPr kumimoji="1" lang="ja-JP" altLang="en-US" sz="2400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テキスト ボックス 17">
                  <a:extLst>
                    <a:ext uri="{FF2B5EF4-FFF2-40B4-BE49-F238E27FC236}">
                      <a16:creationId xmlns:a16="http://schemas.microsoft.com/office/drawing/2014/main" id="{3A42E06F-B3A7-427E-B012-9FDE3674AD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01298" y="4160987"/>
                  <a:ext cx="256480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26190" r="-23810" b="-6667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4640221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3484FC0D-2E5D-43F8-96AC-46313AEAD9D0}"/>
              </a:ext>
            </a:extLst>
          </p:cNvPr>
          <p:cNvSpPr/>
          <p:nvPr/>
        </p:nvSpPr>
        <p:spPr>
          <a:xfrm>
            <a:off x="330200" y="1837267"/>
            <a:ext cx="5038656" cy="256585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回転運動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0956846" cy="4154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変位角の定義です。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■変位角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sz="2400" i="1" dirty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÷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sz="2400" i="1" dirty="0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altLang="ja-JP" sz="2400" dirty="0"/>
                  <a:t>	</a:t>
                </a:r>
                <a:r>
                  <a:rPr lang="ja-JP" altLang="en-US" sz="2400" dirty="0"/>
                  <a:t>・・・変位角（ラジアン）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ja-JP" sz="2400" dirty="0"/>
                  <a:t>	</a:t>
                </a:r>
                <a:r>
                  <a:rPr lang="ja-JP" altLang="en-US" sz="2400" dirty="0"/>
                  <a:t>・・・弧の長さ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ja-JP" sz="2400" dirty="0"/>
                  <a:t>	</a:t>
                </a:r>
                <a:r>
                  <a:rPr lang="ja-JP" altLang="en-US" sz="2400" dirty="0"/>
                  <a:t>・・・半径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回転運動は、</a:t>
                </a:r>
                <a:endParaRPr lang="en-US" altLang="ja-JP" sz="2400" dirty="0"/>
              </a:p>
              <a:p>
                <a:r>
                  <a:rPr lang="ja-JP" altLang="en-US" sz="2400" dirty="0"/>
                  <a:t>この変位角の増加量を基準に、これまでの運動の計算を当てはめていきます。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0956846" cy="4154984"/>
              </a:xfrm>
              <a:prstGeom prst="rect">
                <a:avLst/>
              </a:prstGeom>
              <a:blipFill>
                <a:blip r:embed="rId2"/>
                <a:stretch>
                  <a:fillRect l="-835" t="-1175" b="-249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7394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A9389AEA-5DBB-43A0-B71F-0CF19C552445}"/>
              </a:ext>
            </a:extLst>
          </p:cNvPr>
          <p:cNvSpPr/>
          <p:nvPr/>
        </p:nvSpPr>
        <p:spPr>
          <a:xfrm>
            <a:off x="287868" y="2527074"/>
            <a:ext cx="4470399" cy="274765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回転運動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7263527" cy="39823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変位の定義の次は速度です。</a:t>
                </a:r>
                <a:endParaRPr lang="en-US" altLang="ja-JP" sz="2400" dirty="0"/>
              </a:p>
              <a:p>
                <a:r>
                  <a:rPr lang="ja-JP" altLang="en-US" sz="2400" dirty="0"/>
                  <a:t>回転運動も時間が経つにつれての移動になります。</a:t>
                </a:r>
                <a:endParaRPr lang="en-US" altLang="ja-JP" sz="2400" dirty="0"/>
              </a:p>
              <a:p>
                <a:r>
                  <a:rPr lang="ja-JP" altLang="en-US" sz="2400" dirty="0"/>
                  <a:t>つまり変位</a:t>
                </a:r>
                <a:r>
                  <a:rPr lang="en-US" altLang="ja-JP" sz="2400" dirty="0"/>
                  <a:t>÷</a:t>
                </a:r>
                <a:r>
                  <a:rPr lang="ja-JP" altLang="en-US" sz="2400" dirty="0"/>
                  <a:t>時間が速度です。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■平均角速度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ja-JP" sz="2400" i="1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</m:acc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ja-JP" altLang="en-US" sz="2400" i="1">
                            <a:latin typeface="Cambria Math" panose="02040503050406030204" pitchFamily="18" charset="0"/>
                          </a:rPr>
                          <m:t>⊿</m:t>
                        </m:r>
                        <m:r>
                          <m:rPr>
                            <m:sty m:val="p"/>
                          </m:rPr>
                          <a:rPr lang="en-US" altLang="ja-JP" sz="2400" i="1" smtClean="0"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ja-JP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ja-JP" sz="2400" i="1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</m:acc>
                  </m:oMath>
                </a14:m>
                <a:r>
                  <a:rPr lang="en-US" altLang="ja-JP" sz="2400" dirty="0"/>
                  <a:t>	</a:t>
                </a:r>
                <a:r>
                  <a:rPr lang="ja-JP" altLang="en-US" sz="2400" dirty="0"/>
                  <a:t>・・・平均角速度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sz="2400" i="1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altLang="ja-JP" sz="2400" dirty="0"/>
                  <a:t>	</a:t>
                </a:r>
                <a:r>
                  <a:rPr lang="ja-JP" altLang="en-US" sz="2400" dirty="0"/>
                  <a:t>・・・変位角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ja-JP" sz="2400" dirty="0"/>
                  <a:t>	</a:t>
                </a:r>
                <a:r>
                  <a:rPr lang="ja-JP" altLang="en-US" sz="2400" dirty="0"/>
                  <a:t>・・・時間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7263527" cy="3982372"/>
              </a:xfrm>
              <a:prstGeom prst="rect">
                <a:avLst/>
              </a:prstGeom>
              <a:blipFill>
                <a:blip r:embed="rId2"/>
                <a:stretch>
                  <a:fillRect l="-1258" t="-1225" r="-336" b="-260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38421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7638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回転運動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8730275" cy="491801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コマを回したところ、</a:t>
                </a:r>
                <a:r>
                  <a:rPr lang="en-US" altLang="ja-JP" sz="2400" dirty="0"/>
                  <a:t>5</a:t>
                </a:r>
                <a:r>
                  <a:rPr lang="ja-JP" altLang="en-US" sz="2400" dirty="0"/>
                  <a:t>秒間で</a:t>
                </a:r>
                <a:r>
                  <a:rPr lang="en-US" altLang="ja-JP" sz="2400" dirty="0"/>
                  <a:t>3</a:t>
                </a:r>
                <a:r>
                  <a:rPr lang="ja-JP" altLang="en-US" sz="2400" dirty="0"/>
                  <a:t>回転した。</a:t>
                </a:r>
                <a:endParaRPr lang="en-US" altLang="ja-JP" sz="2400" dirty="0"/>
              </a:p>
              <a:p>
                <a:r>
                  <a:rPr lang="ja-JP" altLang="en-US" sz="2400" dirty="0"/>
                  <a:t>このコマの平均角速度を求めなさい。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lang="en-US" altLang="ja-JP" sz="2400" dirty="0"/>
                  <a:t>3</a:t>
                </a:r>
                <a:r>
                  <a:rPr lang="ja-JP" altLang="en-US" sz="2400" dirty="0"/>
                  <a:t>回転はラジアン角で、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 altLang="ja-JP" sz="2400" i="1"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=6</m:t>
                    </m:r>
                    <m:r>
                      <m:rPr>
                        <m:sty m:val="p"/>
                      </m:rPr>
                      <a:rPr lang="en-US" altLang="ja-JP" sz="2400" i="1"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𝑟𝑎𝑑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ja-JP" sz="2400" i="1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</m:acc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ja-JP" altLang="en-US" sz="2400" i="1">
                            <a:latin typeface="Cambria Math" panose="02040503050406030204" pitchFamily="18" charset="0"/>
                          </a:rPr>
                          <m:t>⊿</m:t>
                        </m:r>
                        <m:r>
                          <m:rPr>
                            <m:sty m:val="p"/>
                          </m:rPr>
                          <a:rPr lang="en-US" altLang="ja-JP" sz="2400" i="1" smtClean="0"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より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ja-JP" sz="2400" i="1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</m:acc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US" altLang="ja-JP" sz="2400" i="1"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𝑟𝑎𝑑</m:t>
                        </m:r>
                      </m:num>
                      <m:den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ja-JP" altLang="en-US" sz="2400" i="1">
                            <a:latin typeface="Cambria Math" panose="02040503050406030204" pitchFamily="18" charset="0"/>
                          </a:rPr>
                          <m:t>秒</m:t>
                        </m:r>
                      </m:den>
                    </m:f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1.2</m:t>
                    </m:r>
                    <m:r>
                      <m:rPr>
                        <m:sty m:val="p"/>
                      </m:rPr>
                      <a:rPr lang="en-US" altLang="ja-JP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altLang="ja-JP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ja-JP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𝑟𝑎𝑑</m:t>
                    </m:r>
                    <m:r>
                      <a:rPr lang="en-US" altLang="ja-JP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秒</m:t>
                    </m:r>
                  </m:oMath>
                </a14:m>
                <a:r>
                  <a:rPr lang="ja-JP" altLang="en-US" sz="2400" dirty="0"/>
                  <a:t>　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つまり</a:t>
                </a:r>
                <a:r>
                  <a:rPr lang="en-US" altLang="ja-JP" sz="2400" b="1" dirty="0">
                    <a:solidFill>
                      <a:srgbClr val="FF0000"/>
                    </a:solidFill>
                  </a:rPr>
                  <a:t>1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秒間に</a:t>
                </a:r>
                <a14:m>
                  <m:oMath xmlns:m="http://schemas.openxmlformats.org/officeDocument/2006/math"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m:rPr>
                        <m:sty m:val="p"/>
                      </m:rPr>
                      <a:rPr lang="en-US" altLang="ja-JP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𝒓𝒂𝒅</m:t>
                    </m:r>
                  </m:oMath>
                </a14:m>
                <a:r>
                  <a:rPr lang="ja-JP" altLang="en-US" sz="2400" b="1" dirty="0">
                    <a:solidFill>
                      <a:srgbClr val="FF0000"/>
                    </a:solidFill>
                  </a:rPr>
                  <a:t>回転する速度</a:t>
                </a:r>
                <a:r>
                  <a:rPr lang="ja-JP" altLang="en-US" sz="2400" dirty="0"/>
                  <a:t>ということになります。</a:t>
                </a:r>
                <a:endParaRPr lang="en-US" altLang="ja-JP" sz="2400" dirty="0"/>
              </a:p>
              <a:p>
                <a:r>
                  <a:rPr lang="ja-JP" altLang="en-US" sz="2400" dirty="0"/>
                  <a:t>角度の単位はラジアンなので気を付けましょう。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8730275" cy="4918013"/>
              </a:xfrm>
              <a:prstGeom prst="rect">
                <a:avLst/>
              </a:prstGeom>
              <a:blipFill>
                <a:blip r:embed="rId2"/>
                <a:stretch>
                  <a:fillRect l="-1047" t="-993" r="-209" b="-198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3B48F406-36BD-499B-8711-71C3176A2881}"/>
                  </a:ext>
                </a:extLst>
              </p:cNvPr>
              <p:cNvSpPr txBox="1"/>
              <p:nvPr/>
            </p:nvSpPr>
            <p:spPr>
              <a:xfrm>
                <a:off x="6731275" y="2684371"/>
                <a:ext cx="4019049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b="1" dirty="0">
                    <a:solidFill>
                      <a:srgbClr val="00B050"/>
                    </a:solidFill>
                  </a:rPr>
                  <a:t>MEMO</a:t>
                </a:r>
              </a:p>
              <a:p>
                <a14:m>
                  <m:oMath xmlns:m="http://schemas.openxmlformats.org/officeDocument/2006/math">
                    <m:r>
                      <a:rPr lang="en-US" altLang="ja-JP" i="1" dirty="0" smtClean="0">
                        <a:latin typeface="Cambria Math" panose="02040503050406030204" pitchFamily="18" charset="0"/>
                      </a:rPr>
                      <m:t>360°</m:t>
                    </m:r>
                    <m:r>
                      <a:rPr lang="ja-JP" altLang="en-US" i="1" dirty="0" smtClean="0">
                        <a:latin typeface="Cambria Math" panose="02040503050406030204" pitchFamily="18" charset="0"/>
                      </a:rPr>
                      <m:t>＝</m:t>
                    </m:r>
                    <m:r>
                      <a:rPr lang="en-US" altLang="ja-JP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ja-JP" i="1" dirty="0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ja-JP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ja-JP" i="1" dirty="0" smtClean="0">
                        <a:latin typeface="Cambria Math" panose="02040503050406030204" pitchFamily="18" charset="0"/>
                      </a:rPr>
                      <m:t>𝑟𝑎𝑑</m:t>
                    </m:r>
                  </m:oMath>
                </a14:m>
                <a:r>
                  <a:rPr lang="en-US" altLang="ja-JP" dirty="0"/>
                  <a:t> </a:t>
                </a:r>
              </a:p>
              <a:p>
                <a:r>
                  <a:rPr lang="ja-JP" altLang="en-US" dirty="0"/>
                  <a:t>ゲーム数学「</a:t>
                </a:r>
                <a:r>
                  <a:rPr lang="en-US" altLang="ja-JP" dirty="0"/>
                  <a:t>09_</a:t>
                </a:r>
                <a:r>
                  <a:rPr lang="ja-JP" altLang="en-US" dirty="0"/>
                  <a:t>度とラジアン」より</a:t>
                </a:r>
                <a:endParaRPr lang="en-US" altLang="ja-JP" dirty="0"/>
              </a:p>
            </p:txBody>
          </p:sp>
        </mc:Choice>
        <mc:Fallback xmlns="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3B48F406-36BD-499B-8711-71C3176A28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1275" y="2684371"/>
                <a:ext cx="4019049" cy="923330"/>
              </a:xfrm>
              <a:prstGeom prst="rect">
                <a:avLst/>
              </a:prstGeom>
              <a:blipFill>
                <a:blip r:embed="rId3"/>
                <a:stretch>
                  <a:fillRect l="-1212" t="-3289" r="-758" b="-921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90095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2F212EB8-B5D8-42F9-8B99-A540641523E1}"/>
              </a:ext>
            </a:extLst>
          </p:cNvPr>
          <p:cNvSpPr/>
          <p:nvPr/>
        </p:nvSpPr>
        <p:spPr>
          <a:xfrm>
            <a:off x="321734" y="2543906"/>
            <a:ext cx="4470399" cy="274765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回転運動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9725739" cy="39354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速度も時間により変動することがあります。</a:t>
                </a:r>
                <a:endParaRPr lang="en-US" altLang="ja-JP" sz="2400" dirty="0"/>
              </a:p>
              <a:p>
                <a:r>
                  <a:rPr lang="ja-JP" altLang="en-US" sz="2400" dirty="0"/>
                  <a:t>ルーレットを回すと徐々に回転が遅くなり、やがて止まりますよね。</a:t>
                </a:r>
                <a:endParaRPr lang="en-US" altLang="ja-JP" sz="2400" dirty="0"/>
              </a:p>
              <a:p>
                <a:r>
                  <a:rPr lang="ja-JP" altLang="en-US" sz="2400" dirty="0"/>
                  <a:t>つまり、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加速度</a:t>
                </a:r>
                <a:r>
                  <a:rPr lang="ja-JP" altLang="en-US" sz="2400" dirty="0"/>
                  <a:t>の計算もこれまで学習したとおりに計算できます。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■平均角加速度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ja-JP" sz="2400" i="1"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acc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ja-JP" altLang="en-US" sz="2400" i="1">
                            <a:latin typeface="Cambria Math" panose="02040503050406030204" pitchFamily="18" charset="0"/>
                          </a:rPr>
                          <m:t>⊿</m:t>
                        </m:r>
                        <m:r>
                          <m:rPr>
                            <m:sty m:val="p"/>
                          </m:rPr>
                          <a:rPr lang="en-US" altLang="ja-JP" sz="2400" i="1">
                            <a:latin typeface="Cambria Math" panose="02040503050406030204" pitchFamily="18" charset="0"/>
                          </a:rPr>
                          <m:t>ω</m:t>
                        </m:r>
                      </m:num>
                      <m:den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ja-JP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ja-JP" sz="2400" i="1"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acc>
                  </m:oMath>
                </a14:m>
                <a:r>
                  <a:rPr lang="en-US" altLang="ja-JP" sz="2400" dirty="0"/>
                  <a:t>	</a:t>
                </a:r>
                <a:r>
                  <a:rPr lang="ja-JP" altLang="en-US" sz="2400" dirty="0"/>
                  <a:t>・・・平均角加速度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sz="2400" i="1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altLang="ja-JP" sz="240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ja-JP" sz="2400" dirty="0"/>
                  <a:t>	</a:t>
                </a:r>
                <a:r>
                  <a:rPr lang="ja-JP" altLang="en-US" sz="2400" dirty="0"/>
                  <a:t>・・・角速度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ja-JP" sz="2400" dirty="0"/>
                  <a:t>	</a:t>
                </a:r>
                <a:r>
                  <a:rPr lang="ja-JP" altLang="en-US" sz="2400" dirty="0"/>
                  <a:t>・・・時間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9725739" cy="3935436"/>
              </a:xfrm>
              <a:prstGeom prst="rect">
                <a:avLst/>
              </a:prstGeom>
              <a:blipFill>
                <a:blip r:embed="rId2"/>
                <a:stretch>
                  <a:fillRect l="-940" t="-1240" b="-279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81884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7638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回転運動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8972328" cy="49981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ある走行中の車のタイヤは</a:t>
                </a:r>
                <a:r>
                  <a:rPr lang="en-US" altLang="ja-JP" sz="2400" dirty="0"/>
                  <a:t>1</a:t>
                </a:r>
                <a:r>
                  <a:rPr lang="ja-JP" altLang="en-US" sz="2400" dirty="0"/>
                  <a:t>秒間に</a:t>
                </a:r>
                <a:r>
                  <a:rPr lang="en-US" altLang="ja-JP" sz="2400" dirty="0"/>
                  <a:t>6</a:t>
                </a:r>
                <a:r>
                  <a:rPr lang="ja-JP" altLang="en-US" sz="2400" dirty="0"/>
                  <a:t>回転、回転していました。</a:t>
                </a:r>
                <a:endParaRPr lang="en-US" altLang="ja-JP" sz="2400" dirty="0"/>
              </a:p>
              <a:p>
                <a:r>
                  <a:rPr lang="ja-JP" altLang="en-US" sz="2400" dirty="0"/>
                  <a:t>その後アクセル</a:t>
                </a:r>
                <a14:m>
                  <m:oMath xmlns:m="http://schemas.openxmlformats.org/officeDocument/2006/math"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から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足を</m:t>
                    </m:r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離すと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ja-JP" altLang="en-US" sz="2400" dirty="0"/>
                  <a:t>秒後に車は停止しました。</a:t>
                </a:r>
                <a:endParaRPr lang="en-US" altLang="ja-JP" sz="2400" dirty="0"/>
              </a:p>
              <a:p>
                <a:r>
                  <a:rPr lang="ja-JP" altLang="en-US" sz="2400" dirty="0"/>
                  <a:t>この間のタイヤの平均角加速度を求めなさい。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lang="en-US" altLang="ja-JP" sz="2400" dirty="0"/>
                  <a:t>6</a:t>
                </a:r>
                <a:r>
                  <a:rPr lang="ja-JP" altLang="en-US" sz="2400" dirty="0"/>
                  <a:t>回転はラジアン角で、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 altLang="ja-JP" sz="2400" i="1"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=12</m:t>
                    </m:r>
                    <m:r>
                      <m:rPr>
                        <m:sty m:val="p"/>
                      </m:rPr>
                      <a:rPr lang="en-US" altLang="ja-JP" sz="2400" i="1"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𝑟𝑎𝑑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ja-JP" sz="2400" i="1"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acc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ja-JP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より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ja-JP" sz="2400" i="1"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acc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−12</m:t>
                        </m:r>
                        <m:r>
                          <m:rPr>
                            <m:sty m:val="p"/>
                          </m:rPr>
                          <a:rPr lang="en-US" altLang="ja-JP" sz="2400" i="1"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𝑟𝑎𝑑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ja-JP" altLang="en-US" sz="2400" i="1">
                            <a:latin typeface="Cambria Math" panose="02040503050406030204" pitchFamily="18" charset="0"/>
                          </a:rPr>
                          <m:t>秒</m:t>
                        </m:r>
                      </m:num>
                      <m:den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ja-JP" altLang="en-US" sz="2400" i="1">
                            <a:latin typeface="Cambria Math" panose="02040503050406030204" pitchFamily="18" charset="0"/>
                          </a:rPr>
                          <m:t>秒</m:t>
                        </m:r>
                      </m:den>
                    </m:f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−4</m:t>
                    </m:r>
                    <m:r>
                      <m:rPr>
                        <m:sty m:val="p"/>
                      </m:rPr>
                      <a:rPr lang="en-US" altLang="ja-JP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altLang="ja-JP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ja-JP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𝑟𝑎𝑑</m:t>
                    </m:r>
                    <m:r>
                      <a:rPr lang="en-US" altLang="ja-JP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altLang="ja-JP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秒</m:t>
                        </m:r>
                      </m:e>
                      <m:sup>
                        <m:r>
                          <a:rPr lang="en-US" altLang="ja-JP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ja-JP" sz="2400" dirty="0">
                    <a:solidFill>
                      <a:srgbClr val="FF0000"/>
                    </a:solidFill>
                  </a:rPr>
                  <a:t> </a:t>
                </a:r>
              </a:p>
              <a:p>
                <a:endParaRPr lang="en-US" altLang="ja-JP" sz="2400" dirty="0">
                  <a:solidFill>
                    <a:srgbClr val="FF0000"/>
                  </a:solidFill>
                </a:endParaRPr>
              </a:p>
              <a:p>
                <a:r>
                  <a:rPr lang="ja-JP" altLang="en-US" sz="2400" dirty="0">
                    <a:solidFill>
                      <a:schemeClr val="tx1"/>
                    </a:solidFill>
                  </a:rPr>
                  <a:t>つまり</a:t>
                </a:r>
                <a:r>
                  <a:rPr lang="en-US" altLang="ja-JP" sz="2400" dirty="0">
                    <a:solidFill>
                      <a:schemeClr val="tx1"/>
                    </a:solidFill>
                  </a:rPr>
                  <a:t>1</a:t>
                </a:r>
                <a:r>
                  <a:rPr lang="ja-JP" altLang="en-US" sz="2400" dirty="0">
                    <a:solidFill>
                      <a:schemeClr val="tx1"/>
                    </a:solidFill>
                  </a:rPr>
                  <a:t>秒間に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US" altLang="ja-JP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𝑟𝑎𝑑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秒</m:t>
                    </m:r>
                  </m:oMath>
                </a14:m>
                <a:r>
                  <a:rPr lang="ja-JP" altLang="en-US" sz="2400" dirty="0">
                    <a:solidFill>
                      <a:schemeClr val="tx1"/>
                    </a:solidFill>
                  </a:rPr>
                  <a:t>ずつ遅くなってるということです</a:t>
                </a:r>
                <a:endParaRPr lang="en-US" altLang="ja-JP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8972328" cy="4998163"/>
              </a:xfrm>
              <a:prstGeom prst="rect">
                <a:avLst/>
              </a:prstGeom>
              <a:blipFill>
                <a:blip r:embed="rId2"/>
                <a:stretch>
                  <a:fillRect l="-1019" t="-977" b="-195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12729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673A64B9-BFFF-4CEE-98EF-86CF6E70A3DC}"/>
              </a:ext>
            </a:extLst>
          </p:cNvPr>
          <p:cNvSpPr/>
          <p:nvPr/>
        </p:nvSpPr>
        <p:spPr>
          <a:xfrm>
            <a:off x="321734" y="2192867"/>
            <a:ext cx="4470399" cy="4529665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回転運動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0956846" cy="57334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このように、回転運動に対しても、これまでの運動の計算が当てはまります。</a:t>
                </a:r>
                <a:endParaRPr lang="en-US" altLang="ja-JP" sz="2400" dirty="0"/>
              </a:p>
              <a:p>
                <a:r>
                  <a:rPr lang="ja-JP" altLang="en-US" sz="2400" dirty="0">
                    <a:solidFill>
                      <a:schemeClr val="tx1"/>
                    </a:solidFill>
                  </a:rPr>
                  <a:t>つまり、以下の５つの式がそのまま使えるということです。</a:t>
                </a:r>
                <a:endParaRPr lang="en-US" altLang="ja-JP" sz="2400" dirty="0">
                  <a:solidFill>
                    <a:schemeClr val="tx1"/>
                  </a:solidFill>
                </a:endParaRPr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■回転運動を記述する式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lang="ja-JP" altLang="en-US" sz="2400" dirty="0"/>
                  <a:t>式１：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sz="2400" b="0" i="1" dirty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ja-JP" sz="2400" i="1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ja-JP" sz="2400" i="1">
                        <a:latin typeface="Cambria Math" panose="02040503050406030204" pitchFamily="18" charset="0"/>
                      </a:rPr>
                      <m:t>α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式２：</a:t>
                </a:r>
                <a:r>
                  <a:rPr lang="en-US" altLang="ja-JP" sz="2400" b="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ja-JP" sz="2400" i="1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</m:acc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ja-JP" sz="2400" b="0" i="1">
                            <a:latin typeface="Cambria Math" panose="02040503050406030204" pitchFamily="18" charset="0"/>
                          </a:rPr>
                          <m:t>ω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altLang="ja-JP" sz="2400" i="1">
                            <a:latin typeface="Cambria Math" panose="02040503050406030204" pitchFamily="18" charset="0"/>
                          </a:rPr>
                          <m:t>ω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式３：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sz="2400" i="1" dirty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ja-JP" sz="2400" i="1">
                            <a:latin typeface="Cambria Math" panose="02040503050406030204" pitchFamily="18" charset="0"/>
                          </a:rPr>
                          <m:t>ω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altLang="ja-JP" sz="2400" i="1">
                            <a:latin typeface="Cambria Math" panose="02040503050406030204" pitchFamily="18" charset="0"/>
                          </a:rPr>
                          <m:t>ω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式４：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sz="2400" i="1" dirty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ja-JP" sz="2400" i="1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𝑖𝑡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US" altLang="ja-JP" sz="2400" i="1">
                        <a:latin typeface="Cambria Math" panose="02040503050406030204" pitchFamily="18" charset="0"/>
                      </a:rPr>
                      <m:t>α</m:t>
                    </m:r>
                    <m:sSup>
                      <m:sSup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式５：</a:t>
                </a:r>
                <a:r>
                  <a:rPr lang="en-US" altLang="ja-JP" sz="2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ja-JP" sz="2400" b="0" i="1">
                            <a:latin typeface="Cambria Math" panose="02040503050406030204" pitchFamily="18" charset="0"/>
                          </a:rPr>
                          <m:t>ω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ja-JP" sz="2400" i="1">
                            <a:latin typeface="Cambria Math" panose="02040503050406030204" pitchFamily="18" charset="0"/>
                          </a:rPr>
                          <m:t>ω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m:rPr>
                        <m:sty m:val="p"/>
                      </m:rPr>
                      <a:rPr lang="en-US" altLang="ja-JP" sz="2400" i="1"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US" altLang="ja-JP" sz="2400" b="0" i="1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0956846" cy="5733429"/>
              </a:xfrm>
              <a:prstGeom prst="rect">
                <a:avLst/>
              </a:prstGeom>
              <a:blipFill>
                <a:blip r:embed="rId2"/>
                <a:stretch>
                  <a:fillRect l="-835" t="-85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79781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7638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回転運動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1294117" cy="23777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ゲーム中にあるルーレットを回転させました。</a:t>
                </a:r>
                <a:endParaRPr lang="en-US" altLang="ja-JP" sz="2400" dirty="0"/>
              </a:p>
              <a:p>
                <a:r>
                  <a:rPr lang="ja-JP" altLang="en-US" sz="2400" dirty="0"/>
                  <a:t>ルーレットの角加速度は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𝑟𝑎𝑑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sz="2400" b="0" i="1" dirty="0">
                            <a:latin typeface="Cambria Math" panose="02040503050406030204" pitchFamily="18" charset="0"/>
                          </a:rPr>
                          <m:t>秒</m:t>
                        </m:r>
                      </m:e>
                      <m:sup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と</m:t>
                    </m:r>
                  </m:oMath>
                </a14:m>
                <a:r>
                  <a:rPr lang="ja-JP" altLang="en-US" sz="2400" dirty="0"/>
                  <a:t>徐々に減速するように設定しています。</a:t>
                </a:r>
                <a:endParaRPr lang="en-US" altLang="ja-JP" sz="2400" dirty="0"/>
              </a:p>
              <a:p>
                <a:r>
                  <a:rPr lang="ja-JP" altLang="en-US" sz="2400" dirty="0">
                    <a:solidFill>
                      <a:schemeClr val="tx1"/>
                    </a:solidFill>
                  </a:rPr>
                  <a:t>ルーレットの初期速度を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altLang="ja-JP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𝑟𝑎𝑑</m:t>
                    </m:r>
                    <m:r>
                      <a:rPr lang="en-US" altLang="ja-JP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秒</m:t>
                    </m:r>
                  </m:oMath>
                </a14:m>
                <a:r>
                  <a:rPr lang="ja-JP" altLang="en-US" sz="2400" dirty="0">
                    <a:solidFill>
                      <a:schemeClr val="tx1"/>
                    </a:solidFill>
                  </a:rPr>
                  <a:t>で回転させたとき、</a:t>
                </a:r>
                <a:endParaRPr lang="en-US" altLang="ja-JP" sz="2400" dirty="0">
                  <a:solidFill>
                    <a:schemeClr val="tx1"/>
                  </a:solidFill>
                </a:endParaRPr>
              </a:p>
              <a:p>
                <a:r>
                  <a:rPr lang="en-US" altLang="ja-JP" sz="2400" dirty="0"/>
                  <a:t>3</a:t>
                </a:r>
                <a:r>
                  <a:rPr lang="ja-JP" altLang="en-US" sz="2400" dirty="0"/>
                  <a:t>秒でどれだけ回転するか変位角を求めなさい。</a:t>
                </a:r>
                <a:endParaRPr lang="en-US" altLang="ja-JP" sz="2400" dirty="0"/>
              </a:p>
              <a:p>
                <a:endParaRPr lang="en-US" altLang="ja-JP" sz="2400" dirty="0">
                  <a:solidFill>
                    <a:schemeClr val="tx1"/>
                  </a:solidFill>
                </a:endParaRPr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1294117" cy="2377702"/>
              </a:xfrm>
              <a:prstGeom prst="rect">
                <a:avLst/>
              </a:prstGeom>
              <a:blipFill>
                <a:blip r:embed="rId2"/>
                <a:stretch>
                  <a:fillRect l="-809" t="-2051" b="-487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表 2">
                <a:extLst>
                  <a:ext uri="{FF2B5EF4-FFF2-40B4-BE49-F238E27FC236}">
                    <a16:creationId xmlns:a16="http://schemas.microsoft.com/office/drawing/2014/main" id="{79A3C0AE-2B32-4E53-9474-37BF267B621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83409889"/>
                  </p:ext>
                </p:extLst>
              </p:nvPr>
            </p:nvGraphicFramePr>
            <p:xfrm>
              <a:off x="697383" y="3594131"/>
              <a:ext cx="8128000" cy="152977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64000">
                      <a:extLst>
                        <a:ext uri="{9D8B030D-6E8A-4147-A177-3AD203B41FA5}">
                          <a16:colId xmlns:a16="http://schemas.microsoft.com/office/drawing/2014/main" val="1833682410"/>
                        </a:ext>
                      </a:extLst>
                    </a:gridCol>
                    <a:gridCol w="4064000">
                      <a:extLst>
                        <a:ext uri="{9D8B030D-6E8A-4147-A177-3AD203B41FA5}">
                          <a16:colId xmlns:a16="http://schemas.microsoft.com/office/drawing/2014/main" val="9653807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わかっている量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求める量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373049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kumimoji="1" lang="en-US" altLang="ja-JP" i="1" smtClean="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=8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𝑟𝑎𝑑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kumimoji="1" lang="ja-JP" altLang="en-US" b="0" i="1" smtClean="0">
                                  <a:latin typeface="Cambria Math" panose="02040503050406030204" pitchFamily="18" charset="0"/>
                                </a:rPr>
                                <m:t>秒</m:t>
                              </m:r>
                            </m:oMath>
                          </a14:m>
                          <a:r>
                            <a:rPr kumimoji="1" lang="ja-JP" altLang="en-US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ja-JP" sz="18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  <m:r>
                                <a:rPr lang="en-US" altLang="ja-JP" sz="18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=??</m:t>
                              </m:r>
                            </m:oMath>
                          </a14:m>
                          <a:r>
                            <a:rPr kumimoji="1" lang="ja-JP" altLang="en-US" dirty="0"/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161931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kumimoji="1" lang="en-US" altLang="ja-JP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=3</m:t>
                              </m:r>
                              <m:r>
                                <a:rPr kumimoji="1" lang="ja-JP" altLang="en-US" b="0" i="1" smtClean="0">
                                  <a:latin typeface="Cambria Math" panose="02040503050406030204" pitchFamily="18" charset="0"/>
                                </a:rPr>
                                <m:t>秒</m:t>
                              </m:r>
                            </m:oMath>
                          </a14:m>
                          <a:r>
                            <a:rPr kumimoji="1" lang="ja-JP" altLang="en-US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kumimoji="1" lang="ja-JP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582638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kumimoji="1" lang="en-US" altLang="ja-JP" i="1" smtClean="0"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ja-JP" sz="1800" i="1" dirty="0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  <m:r>
                                <a:rPr lang="en-US" altLang="ja-JP" sz="1800" i="1" dirty="0" smtClean="0">
                                  <a:latin typeface="Cambria Math" panose="02040503050406030204" pitchFamily="18" charset="0"/>
                                </a:rPr>
                                <m:t>𝑟𝑎𝑑</m:t>
                              </m:r>
                              <m:r>
                                <a:rPr lang="en-US" altLang="ja-JP" sz="1800" i="1" dirty="0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sSup>
                                <m:sSupPr>
                                  <m:ctrlPr>
                                    <a:rPr lang="en-US" altLang="ja-JP" sz="18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ja-JP" altLang="en-US" sz="1800" b="0" i="1" dirty="0" smtClean="0">
                                      <a:latin typeface="Cambria Math" panose="02040503050406030204" pitchFamily="18" charset="0"/>
                                    </a:rPr>
                                    <m:t>秒</m:t>
                                  </m:r>
                                </m:e>
                                <m:sup>
                                  <m:r>
                                    <a:rPr lang="en-US" altLang="ja-JP" sz="18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kumimoji="1" lang="ja-JP" altLang="en-US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7686388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表 2">
                <a:extLst>
                  <a:ext uri="{FF2B5EF4-FFF2-40B4-BE49-F238E27FC236}">
                    <a16:creationId xmlns:a16="http://schemas.microsoft.com/office/drawing/2014/main" id="{79A3C0AE-2B32-4E53-9474-37BF267B621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83409889"/>
                  </p:ext>
                </p:extLst>
              </p:nvPr>
            </p:nvGraphicFramePr>
            <p:xfrm>
              <a:off x="697383" y="3594131"/>
              <a:ext cx="8128000" cy="152977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64000">
                      <a:extLst>
                        <a:ext uri="{9D8B030D-6E8A-4147-A177-3AD203B41FA5}">
                          <a16:colId xmlns:a16="http://schemas.microsoft.com/office/drawing/2014/main" val="1833682410"/>
                        </a:ext>
                      </a:extLst>
                    </a:gridCol>
                    <a:gridCol w="4064000">
                      <a:extLst>
                        <a:ext uri="{9D8B030D-6E8A-4147-A177-3AD203B41FA5}">
                          <a16:colId xmlns:a16="http://schemas.microsoft.com/office/drawing/2014/main" val="9653807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わかっている量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求める量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373049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3"/>
                          <a:stretch>
                            <a:fillRect l="-150" t="-108197" r="-100600" b="-2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3"/>
                          <a:stretch>
                            <a:fillRect l="-100150" t="-108197" r="-600" b="-2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161931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3"/>
                          <a:stretch>
                            <a:fillRect l="-150" t="-208197" r="-100600" b="-1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kumimoji="1" lang="ja-JP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58263839"/>
                      </a:ext>
                    </a:extLst>
                  </a:tr>
                  <a:tr h="417259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3"/>
                          <a:stretch>
                            <a:fillRect l="-150" t="-272464" r="-100600" b="-115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7686388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7324158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7638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回転運動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1294117" cy="345197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ゲーム中にあるルーレットを回転させました。</a:t>
                </a:r>
                <a:endParaRPr lang="en-US" altLang="ja-JP" sz="2400" dirty="0"/>
              </a:p>
              <a:p>
                <a:r>
                  <a:rPr lang="ja-JP" altLang="en-US" sz="2400"/>
                  <a:t>ルーレットの角加速度</a:t>
                </a:r>
                <a:r>
                  <a:rPr lang="ja-JP" altLang="en-US" sz="2400" dirty="0"/>
                  <a:t>は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𝑟𝑎𝑑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sz="2400" b="0" i="1" dirty="0">
                            <a:latin typeface="Cambria Math" panose="02040503050406030204" pitchFamily="18" charset="0"/>
                          </a:rPr>
                          <m:t>秒</m:t>
                        </m:r>
                      </m:e>
                      <m:sup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と</m:t>
                    </m:r>
                  </m:oMath>
                </a14:m>
                <a:r>
                  <a:rPr lang="ja-JP" altLang="en-US" sz="2400" dirty="0"/>
                  <a:t>徐々に減速するように設定しています。</a:t>
                </a:r>
                <a:endParaRPr lang="en-US" altLang="ja-JP" sz="2400" dirty="0"/>
              </a:p>
              <a:p>
                <a:r>
                  <a:rPr lang="ja-JP" altLang="en-US" sz="2400" dirty="0">
                    <a:solidFill>
                      <a:schemeClr val="tx1"/>
                    </a:solidFill>
                  </a:rPr>
                  <a:t>ルーレットの初期速度を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altLang="ja-JP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𝑟𝑎𝑑</m:t>
                    </m:r>
                    <m:r>
                      <a:rPr lang="en-US" altLang="ja-JP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秒</m:t>
                    </m:r>
                  </m:oMath>
                </a14:m>
                <a:r>
                  <a:rPr lang="ja-JP" altLang="en-US" sz="2400" dirty="0">
                    <a:solidFill>
                      <a:schemeClr val="tx1"/>
                    </a:solidFill>
                  </a:rPr>
                  <a:t>で回転させたとき、</a:t>
                </a:r>
                <a:endParaRPr lang="en-US" altLang="ja-JP" sz="2400" dirty="0">
                  <a:solidFill>
                    <a:schemeClr val="tx1"/>
                  </a:solidFill>
                </a:endParaRPr>
              </a:p>
              <a:p>
                <a:r>
                  <a:rPr lang="en-US" altLang="ja-JP" sz="2400" dirty="0"/>
                  <a:t>3</a:t>
                </a:r>
                <a:r>
                  <a:rPr lang="ja-JP" altLang="en-US" sz="2400" dirty="0"/>
                  <a:t>秒でどれだけ回転するか変位角を求めなさい。</a:t>
                </a:r>
                <a:endParaRPr lang="en-US" altLang="ja-JP" sz="2400" dirty="0"/>
              </a:p>
              <a:p>
                <a:endParaRPr lang="en-US" altLang="ja-JP" sz="2400" dirty="0">
                  <a:solidFill>
                    <a:schemeClr val="tx1"/>
                  </a:solidFill>
                </a:endParaRPr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lang="ja-JP" altLang="en-US" sz="2400" dirty="0"/>
                  <a:t>式４：</a:t>
                </a:r>
                <a:r>
                  <a:rPr lang="en-US" altLang="ja-JP" sz="24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sz="2400" i="1" dirty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ja-JP" sz="2400" i="1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𝑖𝑡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US" altLang="ja-JP" sz="2400" i="1">
                        <a:latin typeface="Cambria Math" panose="02040503050406030204" pitchFamily="18" charset="0"/>
                      </a:rPr>
                      <m:t>α</m:t>
                    </m:r>
                    <m:sSup>
                      <m:sSup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sz="2400" dirty="0"/>
                  <a:t>より、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sz="2400" i="1" dirty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altLang="ja-JP" sz="2400" i="1" smtClean="0"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𝑟𝑎𝑑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秒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)(3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秒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)+</m:t>
                    </m:r>
                    <m:f>
                      <m:fPr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𝑟𝑎𝑑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sSup>
                          <m:sSup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ja-JP" altLang="en-US" sz="2400" i="1" smtClean="0">
                                <a:latin typeface="Cambria Math" panose="02040503050406030204" pitchFamily="18" charset="0"/>
                              </a:rPr>
                              <m:t>秒</m:t>
                            </m:r>
                          </m:e>
                          <m:sup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sSup>
                      <m:sSup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ja-JP" altLang="en-US" sz="2400" i="1">
                                <a:latin typeface="Cambria Math" panose="02040503050406030204" pitchFamily="18" charset="0"/>
                              </a:rPr>
                              <m:t>秒</m:t>
                            </m:r>
                          </m:e>
                        </m:d>
                      </m:e>
                      <m:sup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=24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𝑟𝑎𝑑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−9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𝑟𝑎𝑑</m:t>
                        </m:r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a:rPr lang="en-US" altLang="ja-JP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𝑟𝑎𝑑</m:t>
                    </m:r>
                  </m:oMath>
                </a14:m>
                <a:r>
                  <a:rPr lang="en-US" altLang="ja-JP" sz="2400" dirty="0">
                    <a:solidFill>
                      <a:srgbClr val="FF0000"/>
                    </a:solidFill>
                  </a:rPr>
                  <a:t> 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1294117" cy="3451971"/>
              </a:xfrm>
              <a:prstGeom prst="rect">
                <a:avLst/>
              </a:prstGeom>
              <a:blipFill>
                <a:blip r:embed="rId2"/>
                <a:stretch>
                  <a:fillRect l="-809" t="-141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51468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7638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回転運動 練習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9227911" cy="34163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■問題１</a:t>
                </a:r>
                <a:endParaRPr lang="en-US" altLang="ja-JP" sz="2400" dirty="0"/>
              </a:p>
              <a:p>
                <a:r>
                  <a:rPr lang="ja-JP" altLang="en-US" sz="2400" dirty="0"/>
                  <a:t>ルーレットを初期角速度 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10 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𝑟𝑎𝑑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秒</m:t>
                    </m:r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で回転させました。</a:t>
                </a:r>
                <a:endParaRPr lang="en-US" altLang="ja-JP" sz="2400" dirty="0"/>
              </a:p>
              <a:p>
                <a:r>
                  <a:rPr lang="ja-JP" altLang="en-US" sz="2400" dirty="0"/>
                  <a:t>角加速度は </a:t>
                </a:r>
                <a14:m>
                  <m:oMath xmlns:m="http://schemas.openxmlformats.org/officeDocument/2006/math"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2 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𝑟𝑎𝑑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秒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²</m:t>
                    </m:r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とします。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秒</m:t>
                    </m:r>
                  </m:oMath>
                </a14:m>
                <a:r>
                  <a:rPr lang="ja-JP" altLang="en-US" sz="2400" dirty="0"/>
                  <a:t>後の角速度を求めなさい。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■問題２</a:t>
                </a:r>
                <a:endParaRPr lang="en-US" altLang="ja-JP" sz="2400" dirty="0"/>
              </a:p>
              <a:p>
                <a:r>
                  <a:rPr lang="ja-JP" altLang="en-US" sz="2400" dirty="0"/>
                  <a:t>ルーレットが初期角速度 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10 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𝑟𝑎𝑑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秒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ja-JP" altLang="en-US" sz="2400" dirty="0"/>
                  <a:t>で回転を始めました。</a:t>
                </a:r>
                <a:endParaRPr lang="en-US" altLang="ja-JP" sz="2400" dirty="0"/>
              </a:p>
              <a:p>
                <a:r>
                  <a:rPr lang="ja-JP" altLang="en-US" sz="2400" dirty="0"/>
                  <a:t>角加速度は </a:t>
                </a:r>
                <a14:m>
                  <m:oMath xmlns:m="http://schemas.openxmlformats.org/officeDocument/2006/math"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2 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𝑟𝑎𝑑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秒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² </m:t>
                    </m:r>
                  </m:oMath>
                </a14:m>
                <a:r>
                  <a:rPr lang="ja-JP" altLang="en-US" sz="2400" dirty="0"/>
                  <a:t>とします。</a:t>
                </a:r>
                <a:endParaRPr lang="en-US" altLang="ja-JP" sz="2400" dirty="0"/>
              </a:p>
              <a:p>
                <a:r>
                  <a:rPr lang="ja-JP" altLang="en-US" sz="2400" dirty="0"/>
                  <a:t>ルーレットが止まるまでの変位角を求めなさい。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9227911" cy="3416320"/>
              </a:xfrm>
              <a:prstGeom prst="rect">
                <a:avLst/>
              </a:prstGeom>
              <a:blipFill>
                <a:blip r:embed="rId2"/>
                <a:stretch>
                  <a:fillRect l="-991" t="-1429" r="-132" b="-321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08849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3089</TotalTime>
  <Words>876</Words>
  <Application>Microsoft Office PowerPoint</Application>
  <PresentationFormat>ワイド画面</PresentationFormat>
  <Paragraphs>129</Paragraphs>
  <Slides>12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7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296</cp:revision>
  <dcterms:created xsi:type="dcterms:W3CDTF">2024-08-27T02:15:54Z</dcterms:created>
  <dcterms:modified xsi:type="dcterms:W3CDTF">2025-11-18T07:31:38Z</dcterms:modified>
</cp:coreProperties>
</file>