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6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これから、これまでの公式を変形させて</a:t>
            </a:r>
            <a:r>
              <a:rPr lang="en-US" altLang="ja-JP" sz="2400" b="1" dirty="0">
                <a:solidFill>
                  <a:srgbClr val="FF0000"/>
                </a:solidFill>
              </a:rPr>
              <a:t>5</a:t>
            </a:r>
            <a:r>
              <a:rPr lang="ja-JP" altLang="en-US" sz="2400" b="1" dirty="0">
                <a:solidFill>
                  <a:srgbClr val="FF0000"/>
                </a:solidFill>
              </a:rPr>
              <a:t>つの公式</a:t>
            </a:r>
            <a:r>
              <a:rPr lang="ja-JP" altLang="en-US" sz="2400" dirty="0"/>
              <a:t>を定義します。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en-US" altLang="ja-JP" sz="2400" dirty="0"/>
              <a:t>5</a:t>
            </a:r>
            <a:r>
              <a:rPr lang="ja-JP" altLang="en-US" sz="2400" dirty="0"/>
              <a:t>つの公式を使い分ければ、</a:t>
            </a:r>
            <a:r>
              <a:rPr lang="ja-JP" altLang="en-US" sz="2400" b="1" dirty="0">
                <a:solidFill>
                  <a:srgbClr val="FF0000"/>
                </a:solidFill>
              </a:rPr>
              <a:t>どのような運動も計算できます。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公式に出てくる文字の対応は以下の通りです。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 6">
                <a:extLst>
                  <a:ext uri="{FF2B5EF4-FFF2-40B4-BE49-F238E27FC236}">
                    <a16:creationId xmlns:a16="http://schemas.microsoft.com/office/drawing/2014/main" id="{F49F7634-2AE6-46B9-AB61-C82C589D5A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6139795"/>
                  </p:ext>
                </p:extLst>
              </p:nvPr>
            </p:nvGraphicFramePr>
            <p:xfrm>
              <a:off x="567542" y="2556458"/>
              <a:ext cx="3708125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6991">
                      <a:extLst>
                        <a:ext uri="{9D8B030D-6E8A-4147-A177-3AD203B41FA5}">
                          <a16:colId xmlns:a16="http://schemas.microsoft.com/office/drawing/2014/main" val="1945047960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393607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文字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意味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372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𝑣𝑖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初速度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606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𝑣𝑓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最終速度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037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加速度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1273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時間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895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平均速度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20416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ja-JP" altLang="en-US" b="0" i="1" smtClean="0">
                                    <a:latin typeface="Cambria Math" panose="02040503050406030204" pitchFamily="18" charset="0"/>
                                  </a:rPr>
                                  <m:t>⊿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変位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15538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 6">
                <a:extLst>
                  <a:ext uri="{FF2B5EF4-FFF2-40B4-BE49-F238E27FC236}">
                    <a16:creationId xmlns:a16="http://schemas.microsoft.com/office/drawing/2014/main" id="{F49F7634-2AE6-46B9-AB61-C82C589D5A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6139795"/>
                  </p:ext>
                </p:extLst>
              </p:nvPr>
            </p:nvGraphicFramePr>
            <p:xfrm>
              <a:off x="567542" y="2556458"/>
              <a:ext cx="3708125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6991">
                      <a:extLst>
                        <a:ext uri="{9D8B030D-6E8A-4147-A177-3AD203B41FA5}">
                          <a16:colId xmlns:a16="http://schemas.microsoft.com/office/drawing/2014/main" val="1945047960"/>
                        </a:ext>
                      </a:extLst>
                    </a:gridCol>
                    <a:gridCol w="1871134">
                      <a:extLst>
                        <a:ext uri="{9D8B030D-6E8A-4147-A177-3AD203B41FA5}">
                          <a16:colId xmlns:a16="http://schemas.microsoft.com/office/drawing/2014/main" val="23936077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文字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意味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3721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108197" r="-10298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初速度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3606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208197" r="-10298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最終速度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037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308197" r="-10298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加速度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1273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408197" r="-10298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時間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88955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508197" r="-10298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平均速度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20416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331" t="-608197" r="-10298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/>
                            <a:t>変位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1553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2A8D40-71FF-4867-A63C-396D5BD43F3B}"/>
              </a:ext>
            </a:extLst>
          </p:cNvPr>
          <p:cNvSpPr txBox="1"/>
          <p:nvPr/>
        </p:nvSpPr>
        <p:spPr>
          <a:xfrm>
            <a:off x="567541" y="5292038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この表と照らし合わせながら見ていきましょう。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296333" y="1076729"/>
            <a:ext cx="5266267" cy="112460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777305" cy="3718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■式１：加速度の公式の変形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■解説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ja-JP" altLang="en-US" sz="2400" dirty="0"/>
                  <a:t> </a:t>
                </a:r>
                <a:r>
                  <a:rPr lang="en-US" altLang="ja-JP" sz="2400" dirty="0"/>
                  <a:t>	</a:t>
                </a:r>
                <a:r>
                  <a:rPr lang="ja-JP" altLang="en-US" sz="2400" dirty="0"/>
                  <a:t>加速度の公式の両辺に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を掛けると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𝑣𝑖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両辺に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</m:oMath>
                </a14:m>
                <a:r>
                  <a:rPr lang="ja-JP" altLang="en-US" sz="2400" dirty="0"/>
                  <a:t>を足すと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𝑣𝑓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並び変えると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ja-JP" altLang="en-US" sz="2400" dirty="0"/>
                  <a:t> </a:t>
                </a:r>
                <a:r>
                  <a:rPr lang="en-US" altLang="ja-JP" sz="2400" dirty="0"/>
                  <a:t>	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777305" cy="3718326"/>
              </a:xfrm>
              <a:prstGeom prst="rect">
                <a:avLst/>
              </a:prstGeom>
              <a:blipFill>
                <a:blip r:embed="rId2"/>
                <a:stretch>
                  <a:fillRect l="-1349" t="-1148" r="-450" b="-27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92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296333" y="1076728"/>
            <a:ext cx="5266267" cy="128547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99954" cy="2474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■式２：平均速度の公式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■解説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単純な平均の計算になります。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初速度、最終速度の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2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件のデータの平均</a:t>
                </a:r>
                <a:r>
                  <a:rPr lang="ja-JP" altLang="en-US" sz="2400" dirty="0"/>
                  <a:t>を計算している公式です。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99954" cy="2474332"/>
              </a:xfrm>
              <a:prstGeom prst="rect">
                <a:avLst/>
              </a:prstGeom>
              <a:blipFill>
                <a:blip r:embed="rId2"/>
                <a:stretch>
                  <a:fillRect l="-994" t="-1728" r="-1060" b="-49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1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296333" y="1076728"/>
            <a:ext cx="6028267" cy="128547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2460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■式３：変位、平均速度、時間の公式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■解説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変位、速度、時間の公式の速度は「平均速度」になります。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この平均速度の部分に式２の平均速度の公式を代入しただけのものです。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2460545"/>
              </a:xfrm>
              <a:prstGeom prst="rect">
                <a:avLst/>
              </a:prstGeom>
              <a:blipFill>
                <a:blip r:embed="rId2"/>
                <a:stretch>
                  <a:fillRect l="-884" t="-1737" b="-49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93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296333" y="1076728"/>
            <a:ext cx="6028267" cy="128547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121040" cy="33177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■式４：最終速度が不明でも使える式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■解説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式３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>
                    <a:solidFill>
                      <a:srgbClr val="7030A0"/>
                    </a:solidFill>
                  </a:rPr>
                  <a:t> </a:t>
                </a:r>
                <a:r>
                  <a:rPr lang="ja-JP" altLang="en-US" sz="2400" dirty="0"/>
                  <a:t>に式１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>
                    <a:solidFill>
                      <a:srgbClr val="0070C0"/>
                    </a:solidFill>
                  </a:rPr>
                  <a:t> </a:t>
                </a:r>
                <a:r>
                  <a:rPr lang="ja-JP" altLang="en-US" sz="2400" dirty="0"/>
                  <a:t>を代入します。（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の部分）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𝑎𝑡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これを計算すると、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ja-JP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121040" cy="3317703"/>
              </a:xfrm>
              <a:prstGeom prst="rect">
                <a:avLst/>
              </a:prstGeom>
              <a:blipFill>
                <a:blip r:embed="rId2"/>
                <a:stretch>
                  <a:fillRect l="-904" t="-1287" b="-91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42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296333" y="1076728"/>
            <a:ext cx="6028267" cy="112460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09910" cy="3984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■式５：時間が不明でも使える式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■解説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式１を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ja-JP" altLang="en-US" sz="2400" dirty="0"/>
                  <a:t>の形に変形すると、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この式を式３に代入すると、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</m:d>
                    <m:d>
                      <m:dPr>
                        <m:ctrlP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𝑣𝑓</m:t>
                                </m:r>
                                <m:r>
                                  <a:rPr lang="en-US" altLang="ja-JP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𝑣𝑖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ja-JP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𝑣𝑖</m:t>
                            </m:r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𝑣𝑓</m:t>
                            </m:r>
                          </m:e>
                        </m:d>
                      </m:num>
                      <m:den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𝑣𝑓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𝑣𝑖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𝑣𝑖</m:t>
                            </m:r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𝑣𝑓</m:t>
                            </m:r>
                          </m:e>
                        </m:d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これを計算すると、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𝑣𝑓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ja-JP" sz="24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ja-JP" sz="24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ja-JP" sz="2400" dirty="0">
                    <a:solidFill>
                      <a:srgbClr val="7030A0"/>
                    </a:solidFill>
                  </a:rPr>
                  <a:t> </a:t>
                </a:r>
                <a:r>
                  <a:rPr lang="ja-JP" altLang="en-US" sz="2400" dirty="0"/>
                  <a:t>となり両辺に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400" dirty="0"/>
                  <a:t>を掛けると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𝑣𝑖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で</m:t>
                    </m:r>
                  </m:oMath>
                </a14:m>
                <a:r>
                  <a:rPr lang="ja-JP" altLang="en-US" sz="2400" dirty="0"/>
                  <a:t>足し算すると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𝑣𝑖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09910" cy="3984681"/>
              </a:xfrm>
              <a:prstGeom prst="rect">
                <a:avLst/>
              </a:prstGeom>
              <a:blipFill>
                <a:blip r:embed="rId2"/>
                <a:stretch>
                  <a:fillRect l="-838" t="-1072" b="-27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22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C417CFF-0277-4074-847A-1097DEDCB7A4}"/>
              </a:ext>
            </a:extLst>
          </p:cNvPr>
          <p:cNvSpPr/>
          <p:nvPr/>
        </p:nvSpPr>
        <p:spPr>
          <a:xfrm>
            <a:off x="152400" y="1076728"/>
            <a:ext cx="6815667" cy="501080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運動を記述する式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3877985" cy="4625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latin typeface="Cambria Math" panose="02040503050406030204" pitchFamily="18" charset="0"/>
                  </a:rPr>
                  <a:t>最後に各式をまとめます。</a:t>
                </a:r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dirty="0"/>
                  <a:t>式１：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式２：</a:t>
                </a: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式３：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式４：</a:t>
                </a: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式５：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3877985" cy="4625433"/>
              </a:xfrm>
              <a:prstGeom prst="rect">
                <a:avLst/>
              </a:prstGeom>
              <a:blipFill>
                <a:blip r:embed="rId2"/>
                <a:stretch>
                  <a:fillRect l="-2358" t="-923" r="-1572" b="-22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75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483</Words>
  <Application>Microsoft Office PowerPoint</Application>
  <PresentationFormat>ワイド画面</PresentationFormat>
  <Paragraphs>72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53</cp:revision>
  <dcterms:created xsi:type="dcterms:W3CDTF">2024-08-27T02:15:54Z</dcterms:created>
  <dcterms:modified xsi:type="dcterms:W3CDTF">2024-11-21T02:05:05Z</dcterms:modified>
</cp:coreProperties>
</file>