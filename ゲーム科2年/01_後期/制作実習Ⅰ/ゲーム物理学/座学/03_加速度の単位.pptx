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加速度の単位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49069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ボールを真上に投げた時をイメージしましょう。</a:t>
            </a:r>
            <a:endParaRPr lang="en-US" altLang="ja-JP" sz="2400" dirty="0"/>
          </a:p>
          <a:p>
            <a:r>
              <a:rPr lang="ja-JP" altLang="en-US" sz="2400" dirty="0"/>
              <a:t>ボールは</a:t>
            </a:r>
            <a:r>
              <a:rPr lang="ja-JP" altLang="en-US" sz="2400" b="1" dirty="0">
                <a:solidFill>
                  <a:srgbClr val="FF0000"/>
                </a:solidFill>
              </a:rPr>
              <a:t>徐々に速度を落としていき</a:t>
            </a:r>
            <a:r>
              <a:rPr lang="ja-JP" altLang="en-US" sz="2400" dirty="0"/>
              <a:t>、やがて落下が始まります。</a:t>
            </a:r>
            <a:endParaRPr lang="en-US" altLang="ja-JP" sz="2400" dirty="0"/>
          </a:p>
          <a:p>
            <a:r>
              <a:rPr lang="ja-JP" altLang="en-US" sz="2400" dirty="0"/>
              <a:t>落下中のボールは</a:t>
            </a:r>
            <a:r>
              <a:rPr lang="ja-JP" altLang="en-US" sz="2400" b="1" dirty="0">
                <a:solidFill>
                  <a:srgbClr val="FF0000"/>
                </a:solidFill>
              </a:rPr>
              <a:t>徐々に落下速度が上がって</a:t>
            </a:r>
            <a:r>
              <a:rPr lang="ja-JP" altLang="en-US" sz="2400" dirty="0"/>
              <a:t>いきます。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この一連の動きは、投げたボールに</a:t>
            </a:r>
            <a:r>
              <a:rPr lang="ja-JP" altLang="en-US" sz="2400" b="1" dirty="0">
                <a:solidFill>
                  <a:srgbClr val="FF0000"/>
                </a:solidFill>
              </a:rPr>
              <a:t>加速度</a:t>
            </a:r>
            <a:r>
              <a:rPr lang="ja-JP" altLang="en-US" sz="2400" dirty="0"/>
              <a:t>が掛かっているからになります。</a:t>
            </a:r>
            <a:endParaRPr lang="en-US" altLang="ja-JP" sz="2400" dirty="0"/>
          </a:p>
          <a:p>
            <a:r>
              <a:rPr lang="ja-JP" altLang="en-US" sz="2400" dirty="0"/>
              <a:t>加速度についての詳細は後ほど学習しますが、</a:t>
            </a:r>
            <a:endParaRPr lang="en-US" altLang="ja-JP" sz="2400" dirty="0"/>
          </a:p>
          <a:p>
            <a:r>
              <a:rPr lang="ja-JP" altLang="en-US" sz="2400" dirty="0"/>
              <a:t>まずは単位のみ先に知っておきます。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B7BB361E-FA07-41E7-A9E3-B1FFC647F218}"/>
              </a:ext>
            </a:extLst>
          </p:cNvPr>
          <p:cNvSpPr/>
          <p:nvPr/>
        </p:nvSpPr>
        <p:spPr>
          <a:xfrm>
            <a:off x="287867" y="1854200"/>
            <a:ext cx="3979333" cy="109220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加速度の単位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417963" cy="34856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加速度で最も有名なものは重力加速度になります。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■重力加速度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一般的に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9.8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これで</a:t>
                </a:r>
                <a:r>
                  <a:rPr lang="en-US" altLang="ja-JP" sz="2400" dirty="0"/>
                  <a:t>9.8</a:t>
                </a:r>
                <a:r>
                  <a:rPr lang="ja-JP" altLang="en-US" sz="2400" dirty="0"/>
                  <a:t>メートル毎秒毎秒と読みます。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速度と同じく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分母に単位</a:t>
                </a:r>
                <a:r>
                  <a:rPr lang="ja-JP" altLang="en-US" sz="2400" dirty="0"/>
                  <a:t>がありますが、</a:t>
                </a:r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分母の単位が２乗されている</a:t>
                </a:r>
                <a:r>
                  <a:rPr lang="ja-JP" altLang="en-US" sz="2400" dirty="0"/>
                  <a:t>ことに気をつけなければいけません。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417963" cy="3485698"/>
              </a:xfrm>
              <a:prstGeom prst="rect">
                <a:avLst/>
              </a:prstGeom>
              <a:blipFill>
                <a:blip r:embed="rId2"/>
                <a:stretch>
                  <a:fillRect l="-971" t="-1401" r="-65" b="-315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3139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加速度の単位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571303" cy="3786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2400" dirty="0"/>
                  <a:t>は</a:t>
                </a:r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何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毎分毎分</m:t>
                    </m:r>
                  </m:oMath>
                </a14:m>
                <a:r>
                  <a:rPr lang="ja-JP" altLang="en-US" sz="2400" dirty="0"/>
                  <a:t>か計算しなさい。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■解答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sSup>
                          <m:sSup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ja-JP" altLang="en-US" sz="2400" i="1">
                                <a:latin typeface="Cambria Math" panose="02040503050406030204" pitchFamily="18" charset="0"/>
                              </a:rPr>
                              <m:t>秒</m:t>
                            </m:r>
                          </m:e>
                          <m:sup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1=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?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sSup>
                          <m:sSup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ja-JP" altLang="en-US" sz="2400" i="1" smtClean="0">
                                <a:latin typeface="Cambria Math" panose="02040503050406030204" pitchFamily="18" charset="0"/>
                              </a:rPr>
                              <m:t>分</m:t>
                            </m:r>
                          </m:e>
                          <m:sup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ja-JP" altLang="en-US" sz="2400" b="0" dirty="0"/>
                  <a:t>　</a:t>
                </a:r>
                <a:endParaRPr lang="en-US" altLang="ja-JP" sz="2400" b="0" dirty="0"/>
              </a:p>
              <a:p>
                <a:endParaRPr lang="en-US" altLang="ja-JP" sz="2400" b="0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sSup>
                          <m:sSup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ja-JP" altLang="en-US" sz="2400" i="1">
                                <a:latin typeface="Cambria Math" panose="02040503050406030204" pitchFamily="18" charset="0"/>
                              </a:rPr>
                              <m:t>秒</m:t>
                            </m:r>
                          </m:e>
                          <m:sup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ja-JP" altLang="en-US" sz="2400" i="1" smtClean="0">
                            <a:latin typeface="Cambria Math" panose="02040503050406030204" pitchFamily="18" charset="0"/>
                          </a:rPr>
                          <m:t>秒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ja-JP" altLang="en-US" sz="2400" i="1" smtClean="0">
                            <a:latin typeface="Cambria Math" panose="02040503050406030204" pitchFamily="18" charset="0"/>
                          </a:rPr>
                          <m:t>分</m:t>
                        </m:r>
                      </m:den>
                    </m:f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秒</m:t>
                        </m:r>
                      </m:num>
                      <m:den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分</m:t>
                        </m:r>
                      </m:den>
                    </m:f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3600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sSup>
                          <m:sSup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ja-JP" altLang="en-US" sz="2400" i="1" smtClean="0">
                                <a:latin typeface="Cambria Math" panose="02040503050406030204" pitchFamily="18" charset="0"/>
                              </a:rPr>
                              <m:t>分</m:t>
                            </m:r>
                          </m:e>
                          <m:sup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3600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分</m:t>
                        </m:r>
                      </m:e>
                      <m:sup>
                        <m:r>
                          <a:rPr lang="en-US" altLang="ja-JP" sz="2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sz="2400" dirty="0">
                    <a:solidFill>
                      <a:srgbClr val="FF0000"/>
                    </a:solidFill>
                  </a:rPr>
                  <a:t> 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２乗されている分、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２回相殺</a:t>
                </a:r>
                <a:r>
                  <a:rPr lang="ja-JP" altLang="en-US" sz="2400" dirty="0"/>
                  <a:t>しなければいけません。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571303" cy="3786165"/>
              </a:xfrm>
              <a:prstGeom prst="rect">
                <a:avLst/>
              </a:prstGeom>
              <a:blipFill>
                <a:blip r:embed="rId2"/>
                <a:stretch>
                  <a:fillRect l="-1208" r="-322" b="-273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9354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加速度の単位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5861861" cy="20819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① </a:t>
                </a:r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分</m:t>
                        </m:r>
                      </m:e>
                      <m:sup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2400" dirty="0"/>
                  <a:t>は</a:t>
                </a:r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何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毎時毎時</m:t>
                    </m:r>
                  </m:oMath>
                </a14:m>
                <a:r>
                  <a:rPr lang="ja-JP" altLang="en-US" sz="2400" dirty="0"/>
                  <a:t>か答えなさい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② </a:t>
                </a:r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0.2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2400" dirty="0"/>
                  <a:t>は</a:t>
                </a:r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何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毎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分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毎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分</m:t>
                    </m:r>
                  </m:oMath>
                </a14:m>
                <a:r>
                  <a:rPr lang="ja-JP" altLang="en-US" sz="2400" dirty="0"/>
                  <a:t>か答えなさい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③ </a:t>
                </a:r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72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時</m:t>
                        </m:r>
                      </m:e>
                      <m:sup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2400" dirty="0"/>
                  <a:t>は</a:t>
                </a:r>
                <a14:m>
                  <m:oMath xmlns:m="http://schemas.openxmlformats.org/officeDocument/2006/math"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何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毎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分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毎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分</m:t>
                    </m:r>
                  </m:oMath>
                </a14:m>
                <a:r>
                  <a:rPr lang="ja-JP" altLang="en-US" sz="2400" dirty="0"/>
                  <a:t>か答えなさい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5861861" cy="2081980"/>
              </a:xfrm>
              <a:prstGeom prst="rect">
                <a:avLst/>
              </a:prstGeom>
              <a:blipFill>
                <a:blip r:embed="rId2"/>
                <a:stretch>
                  <a:fillRect l="-1559" t="-2053" r="-1351" b="-29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0900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219</Words>
  <Application>Microsoft Office PowerPoint</Application>
  <PresentationFormat>ワイド画面</PresentationFormat>
  <Paragraphs>33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30</cp:revision>
  <dcterms:created xsi:type="dcterms:W3CDTF">2024-08-27T02:15:54Z</dcterms:created>
  <dcterms:modified xsi:type="dcterms:W3CDTF">2024-11-20T04:37:33Z</dcterms:modified>
</cp:coreProperties>
</file>