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322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前回学習した</a:t>
            </a:r>
            <a:r>
              <a:rPr lang="en-US" altLang="ja-JP" sz="2400" dirty="0"/>
              <a:t>5</a:t>
            </a:r>
            <a:r>
              <a:rPr lang="ja-JP" altLang="en-US" sz="2400" dirty="0"/>
              <a:t>つの式を使って、</a:t>
            </a:r>
            <a:r>
              <a:rPr lang="en-US" altLang="ja-JP" sz="2400" dirty="0"/>
              <a:t>1</a:t>
            </a:r>
            <a:r>
              <a:rPr lang="ja-JP" altLang="en-US" sz="2400" dirty="0"/>
              <a:t>次元の運動について計算します。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運動の計算で最も重要なことは、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・わかっている量を洗い出す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・求める量を明確にする</a:t>
            </a:r>
            <a:endParaRPr lang="en-US" altLang="ja-JP" sz="2400" dirty="0"/>
          </a:p>
          <a:p>
            <a:r>
              <a:rPr lang="ja-JP" altLang="en-US" sz="2400" dirty="0"/>
              <a:t>この</a:t>
            </a:r>
            <a:r>
              <a:rPr lang="en-US" altLang="ja-JP" sz="2400" dirty="0"/>
              <a:t>2</a:t>
            </a:r>
            <a:r>
              <a:rPr lang="ja-JP" altLang="en-US" sz="2400" dirty="0"/>
              <a:t>点になります。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例題を見ながら練習していきます。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3149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まずはわかっている量を洗い出し、求める量を明確にします。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3149517"/>
              </a:xfrm>
              <a:prstGeom prst="rect">
                <a:avLst/>
              </a:prstGeom>
              <a:blipFill>
                <a:blip r:embed="rId2"/>
                <a:stretch>
                  <a:fillRect l="-1039" r="-1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81092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=50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時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最終的に停止しているため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81092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35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393460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=13.8</m:t>
                              </m:r>
                              <m:r>
                                <a:rPr kumimoji="1" lang="en-US" altLang="ja-JP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最終的に停止しているため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393460"/>
                  </p:ext>
                </p:extLst>
              </p:nvPr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次に単位を揃えます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blipFill>
                <a:blip r:embed="rId3"/>
                <a:stretch>
                  <a:fillRect l="-1039" b="-48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/>
              <p:nvPr/>
            </p:nvSpPr>
            <p:spPr>
              <a:xfrm>
                <a:off x="499808" y="5402784"/>
                <a:ext cx="9707914" cy="786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13.8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（小数点第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位以下切り捨て）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08" y="5402784"/>
                <a:ext cx="9707914" cy="786947"/>
              </a:xfrm>
              <a:prstGeom prst="rect">
                <a:avLst/>
              </a:prstGeom>
              <a:blipFill>
                <a:blip r:embed="rId4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54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=13.8</m:t>
                              </m:r>
                              <m:r>
                                <a:rPr kumimoji="1" lang="en-US" altLang="ja-JP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最終的に停止しているため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2FC5DB33-F3A0-4810-9F4D-5A05F11FDB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2" y="3681442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8195362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58155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39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71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404151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5081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が使われている式を、式１～式５から探します。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802410" cy="2391039"/>
              </a:xfrm>
              <a:prstGeom prst="rect">
                <a:avLst/>
              </a:prstGeom>
              <a:blipFill>
                <a:blip r:embed="rId3"/>
                <a:stretch>
                  <a:fillRect l="-1039" b="-51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/>
              <p:nvPr/>
            </p:nvSpPr>
            <p:spPr>
              <a:xfrm>
                <a:off x="499808" y="5402784"/>
                <a:ext cx="7341112" cy="90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今回は式１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/>
                  <a:t>)</a:t>
                </a:r>
                <a:r>
                  <a:rPr lang="ja-JP" altLang="en-US" sz="2400" dirty="0"/>
                  <a:t>を使います。代入すると、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0=13.8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D57FD96-3CEE-4D5C-A9A5-FEC3DD12F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08" y="5402784"/>
                <a:ext cx="7341112" cy="900375"/>
              </a:xfrm>
              <a:prstGeom prst="rect">
                <a:avLst/>
              </a:prstGeom>
              <a:blipFill>
                <a:blip r:embed="rId4"/>
                <a:stretch>
                  <a:fillRect l="-1329" t="-5405" r="-2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22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557151" cy="4042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で走行する自動車がブレーキをかけて停止した。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ブレーキの加速度を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としたとき、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ブレーキをかけて停止するまでに何秒かかるか求めなさい。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0=13.8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13.8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6.5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13.8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6.5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13.8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</m:oMath>
                </a14:m>
                <a:r>
                  <a:rPr lang="ja-JP" altLang="en-US" sz="2400" b="0" dirty="0">
                    <a:solidFill>
                      <a:srgbClr val="FF0000"/>
                    </a:solidFill>
                  </a:rPr>
                  <a:t>秒</a:t>
                </a:r>
                <a:endParaRPr lang="en-US" altLang="ja-JP" sz="2400" b="0" dirty="0">
                  <a:solidFill>
                    <a:srgbClr val="FF0000"/>
                  </a:solidFill>
                </a:endParaRPr>
              </a:p>
              <a:p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計算が間違っていなければ、単位もぴったり合います。</a:t>
                </a:r>
                <a:endParaRPr lang="en-US" altLang="ja-JP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557151" cy="4042582"/>
              </a:xfrm>
              <a:prstGeom prst="rect">
                <a:avLst/>
              </a:prstGeom>
              <a:blipFill>
                <a:blip r:embed="rId2"/>
                <a:stretch>
                  <a:fillRect l="-1068" b="-25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25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11626901" cy="2016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加速度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のブレーキをかけ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この時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先に別の車がある場合、ぶつからずに止まることができるか答えなさい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まずはわかっている量を洗い出し、求める量を明確にします。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11626901" cy="2016065"/>
              </a:xfrm>
              <a:prstGeom prst="rect">
                <a:avLst/>
              </a:prstGeom>
              <a:blipFill>
                <a:blip r:embed="rId2"/>
                <a:stretch>
                  <a:fillRect l="-787" b="-60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AE0DB7F-F03B-43CC-94D3-F009D9509F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0" y="3233555"/>
              <a:ext cx="883046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5230">
                      <a:extLst>
                        <a:ext uri="{9D8B030D-6E8A-4147-A177-3AD203B41FA5}">
                          <a16:colId xmlns:a16="http://schemas.microsoft.com/office/drawing/2014/main" val="37231645"/>
                        </a:ext>
                      </a:extLst>
                    </a:gridCol>
                    <a:gridCol w="4415230">
                      <a:extLst>
                        <a:ext uri="{9D8B030D-6E8A-4147-A177-3AD203B41FA5}">
                          <a16:colId xmlns:a16="http://schemas.microsoft.com/office/drawing/2014/main" val="2073940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93996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=50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時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=13.8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ja-JP" altLang="en-US" i="1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kumimoji="1" lang="ja-JP" altLang="en-US" dirty="0"/>
                            <a:t> ここが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kumimoji="1" lang="ja-JP" altLang="en-US" dirty="0"/>
                            <a:t>を超えるとぶつかる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859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077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25415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AE0DB7F-F03B-43CC-94D3-F009D9509F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540" y="3233555"/>
              <a:ext cx="883046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5230">
                      <a:extLst>
                        <a:ext uri="{9D8B030D-6E8A-4147-A177-3AD203B41FA5}">
                          <a16:colId xmlns:a16="http://schemas.microsoft.com/office/drawing/2014/main" val="37231645"/>
                        </a:ext>
                      </a:extLst>
                    </a:gridCol>
                    <a:gridCol w="4415230">
                      <a:extLst>
                        <a:ext uri="{9D8B030D-6E8A-4147-A177-3AD203B41FA5}">
                          <a16:colId xmlns:a16="http://schemas.microsoft.com/office/drawing/2014/main" val="2073940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93996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8" t="-108197" r="-10041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0276" t="-108197" r="-55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59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8" t="-208197" r="-10041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077952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8" t="-272464" r="-100414" b="-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25415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371BA97-9FFE-4A62-8833-E06FD1081903}"/>
                  </a:ext>
                </a:extLst>
              </p:cNvPr>
              <p:cNvSpPr txBox="1"/>
              <p:nvPr/>
            </p:nvSpPr>
            <p:spPr>
              <a:xfrm>
                <a:off x="567540" y="4864948"/>
                <a:ext cx="9389558" cy="1304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今回は</m:t>
                    </m:r>
                  </m:oMath>
                </a14:m>
                <a:r>
                  <a:rPr lang="ja-JP" altLang="en-US" sz="2400" dirty="0"/>
                  <a:t>式５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ja-JP" sz="2400" dirty="0"/>
                  <a:t>)</a:t>
                </a:r>
                <a:r>
                  <a:rPr lang="ja-JP" altLang="en-US" sz="2400" dirty="0"/>
                  <a:t>にあてはめると求められそうです。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あてはめると、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(13.8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371BA97-9FFE-4A62-8833-E06FD1081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0" y="4864948"/>
                <a:ext cx="9389558" cy="1304716"/>
              </a:xfrm>
              <a:prstGeom prst="rect">
                <a:avLst/>
              </a:prstGeom>
              <a:blipFill>
                <a:blip r:embed="rId4"/>
                <a:stretch>
                  <a:fillRect l="-974" t="-3271" r="-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16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11626901" cy="4545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で走行する自動車が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加速度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−6.5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のブレーキをかけ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この時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先に別の車がある場合、ぶつからずに止まることができるか答えなさい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(13.8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(−6.5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190.44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−190.44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190.44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190.44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14.64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>
                    <a:solidFill>
                      <a:srgbClr val="FF0000"/>
                    </a:solidFill>
                  </a:rPr>
                  <a:t>以上進むことになるので自動車は衝突する。</a:t>
                </a:r>
                <a:endParaRPr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11626901" cy="4545027"/>
              </a:xfrm>
              <a:prstGeom prst="rect">
                <a:avLst/>
              </a:prstGeom>
              <a:blipFill>
                <a:blip r:embed="rId2"/>
                <a:stretch>
                  <a:fillRect l="-787" b="-22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60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AEA830-DE7C-46CA-B059-02154763F37C}"/>
              </a:ext>
            </a:extLst>
          </p:cNvPr>
          <p:cNvSpPr txBox="1"/>
          <p:nvPr/>
        </p:nvSpPr>
        <p:spPr>
          <a:xfrm>
            <a:off x="567542" y="1217490"/>
            <a:ext cx="109488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ゲーム中の岩が高台から落ちるとき、</a:t>
            </a:r>
            <a:r>
              <a:rPr lang="en-US" altLang="ja-JP" sz="2400" dirty="0"/>
              <a:t>50m</a:t>
            </a:r>
            <a:r>
              <a:rPr lang="ja-JP" altLang="en-US" sz="2400" dirty="0"/>
              <a:t>下の地面に落ちるまで何秒かかるか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■解答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わかっている量と求める量をまとめます。</a:t>
            </a:r>
            <a:endParaRPr lang="en-US" altLang="ja-JP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3A95DA1-9737-4F83-84EE-77BC753954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733872"/>
                  </p:ext>
                </p:extLst>
              </p:nvPr>
            </p:nvGraphicFramePr>
            <p:xfrm>
              <a:off x="567542" y="292791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86125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2641875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落ち始めは停止している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ja-JP" altLang="en-US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=−50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ja-JP" altLang="en-US" dirty="0"/>
                            <a:t>下に落ちるので負数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重力加速度は一般的に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F3A95DA1-9737-4F83-84EE-77BC753954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733872"/>
                  </p:ext>
                </p:extLst>
              </p:nvPr>
            </p:nvGraphicFramePr>
            <p:xfrm>
              <a:off x="567542" y="292791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86125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2641875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11" t="-108197" r="-48667" b="-2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207604" t="-108197" r="-922" b="-2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11" t="-208197" r="-48667" b="-1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11" t="-272464" r="-48667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423B066-CA42-43E8-9FA4-33AF49242824}"/>
                  </a:ext>
                </a:extLst>
              </p:cNvPr>
              <p:cNvSpPr txBox="1"/>
              <p:nvPr/>
            </p:nvSpPr>
            <p:spPr>
              <a:xfrm>
                <a:off x="567542" y="4598451"/>
                <a:ext cx="8090485" cy="1166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今回は式４（</a:t>
                </a:r>
                <a:r>
                  <a:rPr lang="ja-JP" altLang="en-US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）が当てはまりそうです。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423B066-CA42-43E8-9FA4-33AF49242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4598451"/>
                <a:ext cx="8090485" cy="1166601"/>
              </a:xfrm>
              <a:prstGeom prst="rect">
                <a:avLst/>
              </a:prstGeom>
              <a:blipFill>
                <a:blip r:embed="rId3"/>
                <a:stretch>
                  <a:fillRect l="-1130" r="-3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33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10948831" cy="3786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ゲーム中の岩が高台から落ちるとき、</a:t>
                </a:r>
                <a:r>
                  <a:rPr lang="en-US" altLang="ja-JP" sz="2400" dirty="0"/>
                  <a:t>50m</a:t>
                </a:r>
                <a:r>
                  <a:rPr lang="ja-JP" altLang="en-US" sz="2400" dirty="0"/>
                  <a:t>下の地面に落ちるまで何秒かかるか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−4.9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4.9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4.9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ja-JP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10948831" cy="3786806"/>
              </a:xfrm>
              <a:prstGeom prst="rect">
                <a:avLst/>
              </a:prstGeom>
              <a:blipFill>
                <a:blip r:embed="rId2"/>
                <a:stretch>
                  <a:fillRect l="-835" t="-1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38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653473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の速度でボールを真上に投げました。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最高点に達するまで何秒かかるでしょうか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わかっている量と求める量をまとめます。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6534738" cy="1938992"/>
              </a:xfrm>
              <a:prstGeom prst="rect">
                <a:avLst/>
              </a:prstGeom>
              <a:blipFill>
                <a:blip r:embed="rId2"/>
                <a:stretch>
                  <a:fillRect l="-1399" t="-2516" r="-560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 2">
                <a:extLst>
                  <a:ext uri="{FF2B5EF4-FFF2-40B4-BE49-F238E27FC236}">
                    <a16:creationId xmlns:a16="http://schemas.microsoft.com/office/drawing/2014/main" id="{D841D575-7340-4DA7-8065-DF130FB2D4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205344"/>
                  </p:ext>
                </p:extLst>
              </p:nvPr>
            </p:nvGraphicFramePr>
            <p:xfrm>
              <a:off x="596452" y="3156482"/>
              <a:ext cx="7404547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6948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3657599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=25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kumimoji="1" lang="ja-JP" altLang="en-US" dirty="0"/>
                            <a:t> 投射物の最高点の速度は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重力加速度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 2">
                <a:extLst>
                  <a:ext uri="{FF2B5EF4-FFF2-40B4-BE49-F238E27FC236}">
                    <a16:creationId xmlns:a16="http://schemas.microsoft.com/office/drawing/2014/main" id="{D841D575-7340-4DA7-8065-DF130FB2D4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205344"/>
                  </p:ext>
                </p:extLst>
              </p:nvPr>
            </p:nvGraphicFramePr>
            <p:xfrm>
              <a:off x="596452" y="3156482"/>
              <a:ext cx="7404547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6948">
                      <a:extLst>
                        <a:ext uri="{9D8B030D-6E8A-4147-A177-3AD203B41FA5}">
                          <a16:colId xmlns:a16="http://schemas.microsoft.com/office/drawing/2014/main" val="1480429770"/>
                        </a:ext>
                      </a:extLst>
                    </a:gridCol>
                    <a:gridCol w="3657599">
                      <a:extLst>
                        <a:ext uri="{9D8B030D-6E8A-4147-A177-3AD203B41FA5}">
                          <a16:colId xmlns:a16="http://schemas.microsoft.com/office/drawing/2014/main" val="9483973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014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63" t="-108197" r="-98374" b="-2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2496" t="-108197" r="-666" b="-2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3064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63" t="-208197" r="-98374" b="-1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75103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63" t="-272464" r="-98374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16025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BF67E34-AE1F-41D9-B162-4335695AC83A}"/>
                  </a:ext>
                </a:extLst>
              </p:cNvPr>
              <p:cNvSpPr txBox="1"/>
              <p:nvPr/>
            </p:nvSpPr>
            <p:spPr>
              <a:xfrm>
                <a:off x="567542" y="4707263"/>
                <a:ext cx="6198172" cy="935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今回は</m:t>
                    </m:r>
                  </m:oMath>
                </a14:m>
                <a:r>
                  <a:rPr lang="ja-JP" altLang="en-US" sz="2400" dirty="0"/>
                  <a:t>式１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/>
                  <a:t> )</a:t>
                </a:r>
                <a:r>
                  <a:rPr lang="ja-JP" altLang="en-US" sz="2400" dirty="0"/>
                  <a:t>が使えそうです。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0=25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BF67E34-AE1F-41D9-B162-4335695AC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4707263"/>
                <a:ext cx="6198172" cy="935384"/>
              </a:xfrm>
              <a:prstGeom prst="rect">
                <a:avLst/>
              </a:prstGeom>
              <a:blipFill>
                <a:blip r:embed="rId4"/>
                <a:stretch>
                  <a:fillRect l="-787" t="-4545" r="-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87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144153" cy="3290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の速度でボールを真上に投げました。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最高点に達するまで何秒かかるでしょうか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0=25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−25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 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9.8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  <m:t>秒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9.8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9.8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≒2.55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144153" cy="3290581"/>
              </a:xfrm>
              <a:prstGeom prst="rect">
                <a:avLst/>
              </a:prstGeom>
              <a:blipFill>
                <a:blip r:embed="rId2"/>
                <a:stretch>
                  <a:fillRect l="-1123" t="-1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372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一次元の運動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/>
              <p:nvPr/>
            </p:nvSpPr>
            <p:spPr>
              <a:xfrm>
                <a:off x="567542" y="1217490"/>
                <a:ext cx="8869736" cy="2725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秒で走行する自転車が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秒まで加速しました。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その間に走った距離が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の場合、加速度を求めなさい。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の速度でボールを真上に投げました。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    最高点に達するまで何秒かかるでしょうか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②のボールの最高点までの高さを求めなさい。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1AEA830-DE7C-46CA-B059-02154763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7490"/>
                <a:ext cx="8869736" cy="2725298"/>
              </a:xfrm>
              <a:prstGeom prst="rect">
                <a:avLst/>
              </a:prstGeom>
              <a:blipFill>
                <a:blip r:embed="rId2"/>
                <a:stretch>
                  <a:fillRect l="-1031" t="-1566" b="-42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91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1112</Words>
  <Application>Microsoft Office PowerPoint</Application>
  <PresentationFormat>ワイド画面</PresentationFormat>
  <Paragraphs>138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68</cp:revision>
  <dcterms:created xsi:type="dcterms:W3CDTF">2024-08-27T02:15:54Z</dcterms:created>
  <dcterms:modified xsi:type="dcterms:W3CDTF">2025-09-29T01:45:43Z</dcterms:modified>
</cp:coreProperties>
</file>