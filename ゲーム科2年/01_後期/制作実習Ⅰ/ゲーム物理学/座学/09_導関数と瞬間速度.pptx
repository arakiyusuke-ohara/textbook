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2" r:id="rId14"/>
    <p:sldId id="269" r:id="rId15"/>
    <p:sldId id="271" r:id="rId16"/>
    <p:sldId id="273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2025/7/18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前回と同じく真上に投げたボールについて考えます。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92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0B050"/>
                </a:solidFill>
              </a:rPr>
              <a:t>ボールの高さを縦軸</a:t>
            </a:r>
            <a:r>
              <a:rPr lang="ja-JP" altLang="en-US" sz="2400" dirty="0"/>
              <a:t>、</a:t>
            </a:r>
            <a:r>
              <a:rPr lang="ja-JP" altLang="en-US" sz="2400" dirty="0">
                <a:solidFill>
                  <a:srgbClr val="FF0000"/>
                </a:solidFill>
              </a:rPr>
              <a:t>経過時間を横軸</a:t>
            </a:r>
            <a:r>
              <a:rPr lang="ja-JP" altLang="en-US" sz="2400" dirty="0"/>
              <a:t>としてグラフにします。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7456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01019" y="2883678"/>
                <a:ext cx="5057795" cy="28482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000" dirty="0"/>
                  <a:t>平均速度の計算は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000" i="1">
                            <a:latin typeface="Cambria Math" panose="02040503050406030204" pitchFamily="18" charset="0"/>
                          </a:rPr>
                          <m:t>変位</m:t>
                        </m:r>
                      </m:num>
                      <m:den>
                        <m:r>
                          <a:rPr lang="ja-JP" altLang="en-US" sz="2000" i="1"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</m:oMath>
                </a14:m>
                <a:r>
                  <a:rPr lang="en-US" altLang="ja-JP" sz="2000" dirty="0"/>
                  <a:t> </a:t>
                </a:r>
                <a:r>
                  <a:rPr lang="ja-JP" altLang="en-US" sz="2000" dirty="0"/>
                  <a:t>となります。</a:t>
                </a:r>
                <a:endParaRPr lang="en-US" altLang="ja-JP" sz="2000" dirty="0"/>
              </a:p>
              <a:p>
                <a:r>
                  <a:rPr lang="ja-JP" altLang="en-US" sz="2000" dirty="0"/>
                  <a:t>つまり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平均速度をグラフ</a:t>
                </a:r>
                <a:endParaRPr lang="en-US" altLang="ja-JP" sz="2000" dirty="0"/>
              </a:p>
              <a:p>
                <a:r>
                  <a:rPr lang="ja-JP" altLang="en-US" sz="2000" dirty="0"/>
                  <a:t>にすると、</a:t>
                </a:r>
                <a:r>
                  <a:rPr lang="ja-JP" altLang="en-US" sz="2000" b="1" dirty="0">
                    <a:solidFill>
                      <a:srgbClr val="FF0000"/>
                    </a:solidFill>
                  </a:rPr>
                  <a:t>傾きが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変位</m:t>
                        </m:r>
                      </m:num>
                      <m:den>
                        <m:r>
                          <a:rPr lang="ja-JP" alt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</m:oMath>
                </a14:m>
                <a:r>
                  <a:rPr lang="ja-JP" altLang="en-US" sz="2000" b="1" dirty="0">
                    <a:solidFill>
                      <a:srgbClr val="FF0000"/>
                    </a:solidFill>
                  </a:rPr>
                  <a:t>の直線</a:t>
                </a:r>
                <a:r>
                  <a:rPr lang="ja-JP" altLang="en-US" sz="2000" dirty="0"/>
                  <a:t>となります。</a:t>
                </a:r>
                <a:endParaRPr lang="en-US" altLang="ja-JP" sz="2000" dirty="0"/>
              </a:p>
              <a:p>
                <a:endParaRPr lang="en-US" altLang="ja-JP" sz="2000" dirty="0"/>
              </a:p>
              <a:p>
                <a:r>
                  <a:rPr lang="en-US" altLang="ja-JP" sz="20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sz="2000" dirty="0"/>
                      <m:t>直線の傾き</m:t>
                    </m:r>
                    <m:r>
                      <m:rPr>
                        <m:nor/>
                      </m:rPr>
                      <a:rPr lang="en-US" altLang="ja-JP" sz="2000" b="0" i="0" dirty="0" smtClean="0"/>
                      <m:t>=</m:t>
                    </m:r>
                    <m:f>
                      <m:fPr>
                        <m:ctrlP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sz="2000" i="1" dirty="0" smtClean="0">
                            <a:latin typeface="Cambria Math" panose="02040503050406030204" pitchFamily="18" charset="0"/>
                          </a:rPr>
                          <m:t>増加量</m:t>
                        </m:r>
                      </m:num>
                      <m:den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sz="2000" i="1" dirty="0" smtClean="0">
                            <a:latin typeface="Cambria Math" panose="02040503050406030204" pitchFamily="18" charset="0"/>
                          </a:rPr>
                          <m:t>増加量</m:t>
                        </m:r>
                      </m:den>
                    </m:f>
                  </m:oMath>
                </a14:m>
                <a:r>
                  <a:rPr lang="en-US" altLang="ja-JP" sz="20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019" y="2883678"/>
                <a:ext cx="5057795" cy="2848280"/>
              </a:xfrm>
              <a:prstGeom prst="rect">
                <a:avLst/>
              </a:prstGeom>
              <a:blipFill>
                <a:blip r:embed="rId2"/>
                <a:stretch>
                  <a:fillRect l="-1327" r="-6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6485117-6FDC-484C-916C-880D273AE956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074381" y="3737953"/>
            <a:ext cx="24161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C119A5D-8DEE-4E29-BE95-1C4284B87D93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4490535" y="2913747"/>
            <a:ext cx="0" cy="82420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2787A54-E1CC-4D79-B0EB-79A5CBADED71}"/>
              </a:ext>
            </a:extLst>
          </p:cNvPr>
          <p:cNvSpPr txBox="1"/>
          <p:nvPr/>
        </p:nvSpPr>
        <p:spPr>
          <a:xfrm>
            <a:off x="2677164" y="376014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solidFill>
                  <a:srgbClr val="FF0000"/>
                </a:solidFill>
              </a:rPr>
              <a:t>経過時間</a:t>
            </a:r>
            <a:endParaRPr lang="en-US" altLang="ja-JP" sz="2000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61A8588-C842-414F-868A-E3B88D5D7039}"/>
              </a:ext>
            </a:extLst>
          </p:cNvPr>
          <p:cNvSpPr txBox="1"/>
          <p:nvPr/>
        </p:nvSpPr>
        <p:spPr>
          <a:xfrm>
            <a:off x="4490535" y="314888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solidFill>
                  <a:srgbClr val="00B050"/>
                </a:solidFill>
              </a:rPr>
              <a:t>変位</a:t>
            </a:r>
            <a:endParaRPr lang="en-US" altLang="ja-JP" sz="2000" dirty="0">
              <a:solidFill>
                <a:srgbClr val="00B050"/>
              </a:solidFill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894DC16-1A2D-4990-98D4-0FEC8E94C3A0}"/>
              </a:ext>
            </a:extLst>
          </p:cNvPr>
          <p:cNvCxnSpPr>
            <a:stCxn id="5" idx="7"/>
            <a:endCxn id="9" idx="3"/>
          </p:cNvCxnSpPr>
          <p:nvPr/>
        </p:nvCxnSpPr>
        <p:spPr>
          <a:xfrm flipV="1">
            <a:off x="2058565" y="2897931"/>
            <a:ext cx="2393786" cy="801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46AA08D-207F-457A-844E-A4C5414CEFB6}"/>
              </a:ext>
            </a:extLst>
          </p:cNvPr>
          <p:cNvSpPr txBox="1"/>
          <p:nvPr/>
        </p:nvSpPr>
        <p:spPr>
          <a:xfrm>
            <a:off x="2472340" y="289793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0070C0"/>
                </a:solidFill>
              </a:rPr>
              <a:t>平均速度</a:t>
            </a:r>
            <a:endParaRPr lang="en-US" altLang="ja-JP" sz="2000" b="1" dirty="0">
              <a:solidFill>
                <a:srgbClr val="0070C0"/>
              </a:solidFill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4490535" y="3768610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25F35B4-E535-4A58-B7B4-BE29E7F7DADF}"/>
              </a:ext>
            </a:extLst>
          </p:cNvPr>
          <p:cNvSpPr txBox="1"/>
          <p:nvPr/>
        </p:nvSpPr>
        <p:spPr>
          <a:xfrm>
            <a:off x="1658455" y="6393103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E096341-AC58-45F9-81BC-62B11E9B4C1C}"/>
              </a:ext>
            </a:extLst>
          </p:cNvPr>
          <p:cNvSpPr txBox="1"/>
          <p:nvPr/>
        </p:nvSpPr>
        <p:spPr>
          <a:xfrm>
            <a:off x="4158553" y="6396335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5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5656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85468" y="3960198"/>
                <a:ext cx="40682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ja-JP" altLang="en-US" sz="2000" dirty="0"/>
                  <a:t>だとこのようになります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68" y="3960198"/>
                <a:ext cx="4068230" cy="400110"/>
              </a:xfrm>
              <a:prstGeom prst="rect">
                <a:avLst/>
              </a:prstGeom>
              <a:blipFill>
                <a:blip r:embed="rId2"/>
                <a:stretch>
                  <a:fillRect t="-7692" r="-1049" b="-2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6485117-6FDC-484C-916C-880D273AE956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074381" y="3737953"/>
            <a:ext cx="15186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C119A5D-8DEE-4E29-BE95-1C4284B87D93}"/>
              </a:ext>
            </a:extLst>
          </p:cNvPr>
          <p:cNvCxnSpPr>
            <a:cxnSpLocks/>
          </p:cNvCxnSpPr>
          <p:nvPr/>
        </p:nvCxnSpPr>
        <p:spPr>
          <a:xfrm flipV="1">
            <a:off x="3593068" y="2524732"/>
            <a:ext cx="0" cy="121322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2787A54-E1CC-4D79-B0EB-79A5CBADED71}"/>
              </a:ext>
            </a:extLst>
          </p:cNvPr>
          <p:cNvSpPr txBox="1"/>
          <p:nvPr/>
        </p:nvSpPr>
        <p:spPr>
          <a:xfrm>
            <a:off x="2175093" y="373795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solidFill>
                  <a:srgbClr val="FF0000"/>
                </a:solidFill>
              </a:rPr>
              <a:t>経過時間</a:t>
            </a:r>
            <a:endParaRPr lang="en-US" altLang="ja-JP" sz="2000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61A8588-C842-414F-868A-E3B88D5D7039}"/>
              </a:ext>
            </a:extLst>
          </p:cNvPr>
          <p:cNvSpPr txBox="1"/>
          <p:nvPr/>
        </p:nvSpPr>
        <p:spPr>
          <a:xfrm>
            <a:off x="3554884" y="297743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solidFill>
                  <a:srgbClr val="00B050"/>
                </a:solidFill>
              </a:rPr>
              <a:t>変位</a:t>
            </a:r>
            <a:endParaRPr lang="en-US" altLang="ja-JP" sz="2000" dirty="0">
              <a:solidFill>
                <a:srgbClr val="00B050"/>
              </a:solidFill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894DC16-1A2D-4990-98D4-0FEC8E94C3A0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2058565" y="2529631"/>
            <a:ext cx="1496319" cy="11701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46AA08D-207F-457A-844E-A4C5414CEFB6}"/>
              </a:ext>
            </a:extLst>
          </p:cNvPr>
          <p:cNvSpPr txBox="1"/>
          <p:nvPr/>
        </p:nvSpPr>
        <p:spPr>
          <a:xfrm>
            <a:off x="2122235" y="235954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0070C0"/>
                </a:solidFill>
              </a:rPr>
              <a:t>平均速度</a:t>
            </a:r>
            <a:endParaRPr lang="en-US" altLang="ja-JP" sz="2000" b="1" dirty="0">
              <a:solidFill>
                <a:srgbClr val="0070C0"/>
              </a:solidFill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3598995" y="3753370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25F35B4-E535-4A58-B7B4-BE29E7F7DADF}"/>
              </a:ext>
            </a:extLst>
          </p:cNvPr>
          <p:cNvSpPr txBox="1"/>
          <p:nvPr/>
        </p:nvSpPr>
        <p:spPr>
          <a:xfrm>
            <a:off x="1658455" y="6393103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E096341-AC58-45F9-81BC-62B11E9B4C1C}"/>
              </a:ext>
            </a:extLst>
          </p:cNvPr>
          <p:cNvSpPr txBox="1"/>
          <p:nvPr/>
        </p:nvSpPr>
        <p:spPr>
          <a:xfrm>
            <a:off x="3274633" y="6393102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4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0630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85468" y="3960198"/>
                <a:ext cx="40682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ja-JP" altLang="en-US" sz="2000" dirty="0"/>
                  <a:t>だとこのようになります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68" y="3960198"/>
                <a:ext cx="4068230" cy="400110"/>
              </a:xfrm>
              <a:prstGeom prst="rect">
                <a:avLst/>
              </a:prstGeom>
              <a:blipFill>
                <a:blip r:embed="rId2"/>
                <a:stretch>
                  <a:fillRect t="-7692" r="-1049" b="-2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6485117-6FDC-484C-916C-880D273AE956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074381" y="3737953"/>
            <a:ext cx="54501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C119A5D-8DEE-4E29-BE95-1C4284B87D93}"/>
              </a:ext>
            </a:extLst>
          </p:cNvPr>
          <p:cNvCxnSpPr>
            <a:cxnSpLocks/>
          </p:cNvCxnSpPr>
          <p:nvPr/>
        </p:nvCxnSpPr>
        <p:spPr>
          <a:xfrm flipV="1">
            <a:off x="2619400" y="2913748"/>
            <a:ext cx="0" cy="82420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894DC16-1A2D-4990-98D4-0FEC8E94C3A0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058565" y="2897931"/>
            <a:ext cx="522651" cy="801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2619400" y="376081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25F35B4-E535-4A58-B7B4-BE29E7F7DADF}"/>
              </a:ext>
            </a:extLst>
          </p:cNvPr>
          <p:cNvSpPr txBox="1"/>
          <p:nvPr/>
        </p:nvSpPr>
        <p:spPr>
          <a:xfrm>
            <a:off x="1658455" y="6393103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E096341-AC58-45F9-81BC-62B11E9B4C1C}"/>
              </a:ext>
            </a:extLst>
          </p:cNvPr>
          <p:cNvSpPr txBox="1"/>
          <p:nvPr/>
        </p:nvSpPr>
        <p:spPr>
          <a:xfrm>
            <a:off x="2287418" y="6393102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9131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85468" y="3960198"/>
                <a:ext cx="466614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000" b="0" dirty="0"/>
                  <a:t>では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2.00000000000000000001</m:t>
                    </m:r>
                  </m:oMath>
                </a14:m>
                <a:endParaRPr lang="en-US" altLang="ja-JP" sz="2000" b="0" dirty="0"/>
              </a:p>
              <a:p>
                <a:r>
                  <a:rPr lang="ja-JP" altLang="en-US" sz="2000" dirty="0"/>
                  <a:t>だとどうなるでしょう？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68" y="3960198"/>
                <a:ext cx="4666149" cy="707886"/>
              </a:xfrm>
              <a:prstGeom prst="rect">
                <a:avLst/>
              </a:prstGeom>
              <a:blipFill>
                <a:blip r:embed="rId2"/>
                <a:stretch>
                  <a:fillRect l="-1438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2036281" y="3753109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9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85468" y="3960198"/>
                <a:ext cx="440966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2.00000000000000000001</m:t>
                    </m:r>
                  </m:oMath>
                </a14:m>
                <a:r>
                  <a:rPr lang="ja-JP" altLang="en-US" sz="2000" b="0" dirty="0"/>
                  <a:t>　</a:t>
                </a:r>
                <a:endParaRPr lang="en-US" altLang="ja-JP" sz="2000" b="0" dirty="0"/>
              </a:p>
              <a:p>
                <a:r>
                  <a:rPr lang="ja-JP" altLang="en-US" sz="2000" dirty="0"/>
                  <a:t>この場合でも隙間はあるので、</a:t>
                </a:r>
                <a:endParaRPr lang="en-US" altLang="ja-JP" sz="2000" dirty="0"/>
              </a:p>
              <a:p>
                <a:r>
                  <a:rPr lang="ja-JP" altLang="en-US" sz="2000" dirty="0"/>
                  <a:t>傾きや直線は発生します。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68" y="3960198"/>
                <a:ext cx="4409669" cy="1015663"/>
              </a:xfrm>
              <a:prstGeom prst="rect">
                <a:avLst/>
              </a:prstGeom>
              <a:blipFill>
                <a:blip r:embed="rId2"/>
                <a:stretch>
                  <a:fillRect l="-1521" b="-102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2036281" y="3753109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D7E747-FC00-4A10-8229-FC53709AC262}"/>
              </a:ext>
            </a:extLst>
          </p:cNvPr>
          <p:cNvCxnSpPr>
            <a:cxnSpLocks/>
          </p:cNvCxnSpPr>
          <p:nvPr/>
        </p:nvCxnSpPr>
        <p:spPr>
          <a:xfrm flipV="1">
            <a:off x="1802628" y="3267482"/>
            <a:ext cx="435505" cy="9020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65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EFCB8BD-3424-47F6-AA93-58372410B1A8}"/>
              </a:ext>
            </a:extLst>
          </p:cNvPr>
          <p:cNvSpPr/>
          <p:nvPr/>
        </p:nvSpPr>
        <p:spPr>
          <a:xfrm>
            <a:off x="330200" y="2539999"/>
            <a:ext cx="7027333" cy="269161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3875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2.00000000000000000001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この間の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時間の差は限りなく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0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に近い一瞬の時間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この考え方から、ある時間の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瞬間速度</a:t>
                </a:r>
                <a:r>
                  <a:rPr lang="ja-JP" altLang="en-US" sz="2400" dirty="0"/>
                  <a:t>を求めることができます。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■瞬間速度の公式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en-US" sz="2400" dirty="0"/>
                  <a:t>は限りなく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に近いという意味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・・・瞬間速度を求めたいときの時間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3875485"/>
              </a:xfrm>
              <a:prstGeom prst="rect">
                <a:avLst/>
              </a:prstGeom>
              <a:blipFill>
                <a:blip r:embed="rId2"/>
                <a:stretch>
                  <a:fillRect l="-1003" r="-67" b="-28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12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5293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ボールを真上に投げた時の、ボールの位置を表す関数が、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瞬間速度の公式より、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ja-JP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3+</m:t>
                                </m:r>
                                <m:r>
                                  <a:rPr lang="en-US" altLang="ja-JP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(3)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:r>
                  <a:rPr lang="ja-JP" altLang="en-US" sz="2400" b="0" dirty="0"/>
                  <a:t>・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(3+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r>
                  <a:rPr lang="ja-JP" altLang="en-US" sz="2400" b="0" dirty="0"/>
                  <a:t>・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altLang="ja-JP" sz="2400" dirty="0">
                    <a:solidFill>
                      <a:srgbClr val="00B050"/>
                    </a:solidFill>
                  </a:rPr>
                  <a:t> </a:t>
                </a:r>
                <a:endParaRPr lang="en-US" altLang="ja-JP" sz="2400" dirty="0"/>
              </a:p>
              <a:p>
                <a:r>
                  <a:rPr lang="ja-JP" altLang="en-US" sz="2400" dirty="0"/>
                  <a:t>となる。よって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3+</m:t>
                                    </m:r>
                                    <m:r>
                                      <a:rPr lang="en-US" altLang="ja-JP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5293437"/>
              </a:xfrm>
              <a:prstGeom prst="rect">
                <a:avLst/>
              </a:prstGeom>
              <a:blipFill>
                <a:blip r:embed="rId2"/>
                <a:stretch>
                  <a:fillRect l="-1079" t="-922" r="-216" b="-17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52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4723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</a:t>
                </a:r>
                <a:r>
                  <a:rPr lang="ja-JP" altLang="en-US" sz="2400"/>
                  <a:t>の、ボールの</a:t>
                </a:r>
                <a:r>
                  <a:rPr lang="ja-JP" altLang="en-US" sz="2400" dirty="0"/>
                  <a:t>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3+</m:t>
                                    </m:r>
                                    <m:r>
                                      <a:rPr lang="en-US" altLang="ja-JP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 これを計算すると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9+6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ja-JP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−(9</m:t>
                            </m:r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9+6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−9−</m:t>
                            </m:r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4723024"/>
              </a:xfrm>
              <a:prstGeom prst="rect">
                <a:avLst/>
              </a:prstGeom>
              <a:blipFill>
                <a:blip r:embed="rId2"/>
                <a:stretch>
                  <a:fillRect l="-1079" t="-1034" r="-2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0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4451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ボールを真上に投げた時の、ボールの位置を表す関数が、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en-US" sz="2400" dirty="0"/>
                  <a:t>は限りなく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なので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として扱い、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=6+0=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計算過程は長いですが、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位置を時間で表す関数</a:t>
                </a:r>
                <a:r>
                  <a:rPr lang="ja-JP" altLang="en-US" sz="2400" dirty="0"/>
                  <a:t>が判明していれば、</a:t>
                </a:r>
                <a:endParaRPr lang="en-US" altLang="ja-JP" sz="2400" dirty="0"/>
              </a:p>
              <a:p>
                <a:r>
                  <a:rPr lang="ja-JP" altLang="en-US" sz="2400" dirty="0"/>
                  <a:t>時間ごとの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瞬間速度</a:t>
                </a:r>
                <a:r>
                  <a:rPr lang="ja-JP" altLang="en-US" sz="2400" dirty="0"/>
                  <a:t>を計算することができます。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4451411"/>
              </a:xfrm>
              <a:prstGeom prst="rect">
                <a:avLst/>
              </a:prstGeom>
              <a:blipFill>
                <a:blip r:embed="rId2"/>
                <a:stretch>
                  <a:fillRect l="-1079" t="-1096" r="-216" b="-21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926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5BBB9B1-195F-4BD9-AA42-C2AB54CE77F7}"/>
              </a:ext>
            </a:extLst>
          </p:cNvPr>
          <p:cNvSpPr/>
          <p:nvPr/>
        </p:nvSpPr>
        <p:spPr>
          <a:xfrm>
            <a:off x="330200" y="2125133"/>
            <a:ext cx="8551333" cy="17610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例題のように関数から瞬間的な値を計算することを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導関数</a:t>
                </a:r>
                <a:r>
                  <a:rPr lang="ja-JP" altLang="en-US" sz="2400" dirty="0"/>
                  <a:t>と言います。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瞬間速度も、導関数を使って計算します。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■瞬間速度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位置が時間の関数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として表されるとき、瞬間速度は、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導関数は数式上では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（ダッシュ）</a:t>
                </a:r>
                <a:r>
                  <a:rPr lang="ja-JP" altLang="en-US" sz="2400" dirty="0"/>
                  <a:t>で表されます。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3416320"/>
              </a:xfrm>
              <a:prstGeom prst="rect">
                <a:avLst/>
              </a:prstGeom>
              <a:blipFill>
                <a:blip r:embed="rId2"/>
                <a:stretch>
                  <a:fillRect l="-911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294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343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位置と時間を表す関数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というのは、</a:t>
                </a:r>
                <a:endParaRPr lang="en-US" altLang="ja-JP" sz="2400" dirty="0"/>
              </a:p>
              <a:p>
                <a:r>
                  <a:rPr lang="ja-JP" altLang="en-US" sz="2400" dirty="0"/>
                  <a:t>冒頭の時間と位置の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表を１つの式にまとめたもの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830997"/>
              </a:xfrm>
              <a:prstGeom prst="rect">
                <a:avLst/>
              </a:prstGeom>
              <a:blipFill>
                <a:blip r:embed="rId2"/>
                <a:stretch>
                  <a:fillRect l="-1039" t="-5147" r="-139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6376B841-E1EF-4923-815F-E19097F3F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309548"/>
              </p:ext>
            </p:extLst>
          </p:nvPr>
        </p:nvGraphicFramePr>
        <p:xfrm>
          <a:off x="567542" y="2187126"/>
          <a:ext cx="320859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91">
                  <a:extLst>
                    <a:ext uri="{9D8B030D-6E8A-4147-A177-3AD203B41FA5}">
                      <a16:colId xmlns:a16="http://schemas.microsoft.com/office/drawing/2014/main" val="355139364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44069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</a:t>
                      </a:r>
                      <a:r>
                        <a:rPr kumimoji="1" lang="en-US" altLang="ja-JP" dirty="0"/>
                        <a:t>t</a:t>
                      </a:r>
                      <a:r>
                        <a:rPr kumimoji="1" lang="ja-JP" altLang="en-US" dirty="0"/>
                        <a:t>）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y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92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111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2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13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33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343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30494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24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altLang="ja-JP" sz="2400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ja-JP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sz="240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導関数の計算過程ではこのように、</a:t>
                </a:r>
                <a:endParaRPr lang="en-US" altLang="ja-JP" sz="2400" dirty="0"/>
              </a:p>
              <a:p>
                <a:r>
                  <a:rPr lang="ja-JP" altLang="en-US" sz="2400" dirty="0"/>
                  <a:t>必ず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２つの数を相殺する計算</a:t>
                </a:r>
                <a:r>
                  <a:rPr lang="ja-JP" altLang="en-US" sz="2400" dirty="0"/>
                  <a:t>が発生します。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これが発生しない場合は、どこか計算を間違っている可能性が高いです。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ではもう１問例題をみてみましょう。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3049425"/>
              </a:xfrm>
              <a:prstGeom prst="rect">
                <a:avLst/>
              </a:prstGeom>
              <a:blipFill>
                <a:blip r:embed="rId2"/>
                <a:stretch>
                  <a:fillRect l="-884" b="-36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750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5098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ボールを真上に投げた時の、ボールの位置を表す関数が、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瞬間速度の公式より、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′(2)=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(2)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′(2)=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2+</m:t>
                                    </m:r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+5)−(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′(2)=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ja-JP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4+4</m:t>
                                    </m:r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ja-JP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e>
                            </m:d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−(4+5)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解き方は同じです。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5098832"/>
              </a:xfrm>
              <a:prstGeom prst="rect">
                <a:avLst/>
              </a:prstGeom>
              <a:blipFill>
                <a:blip r:embed="rId2"/>
                <a:stretch>
                  <a:fillRect l="-1079" t="-957" r="-216" b="-17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882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ボールを真上に投げた時の、ボールの位置を表す関数が、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830997"/>
              </a:xfrm>
              <a:prstGeom prst="rect">
                <a:avLst/>
              </a:prstGeom>
              <a:blipFill>
                <a:blip r:embed="rId2"/>
                <a:stretch>
                  <a:fillRect l="-1079" t="-5882" r="-216" b="-169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514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799</Words>
  <Application>Microsoft Office PowerPoint</Application>
  <PresentationFormat>ワイド画面</PresentationFormat>
  <Paragraphs>139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86</cp:revision>
  <dcterms:created xsi:type="dcterms:W3CDTF">2024-08-27T02:15:54Z</dcterms:created>
  <dcterms:modified xsi:type="dcterms:W3CDTF">2025-07-18T06:56:19Z</dcterms:modified>
</cp:coreProperties>
</file>