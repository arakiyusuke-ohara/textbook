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60" r:id="rId3"/>
    <p:sldId id="261" r:id="rId4"/>
    <p:sldId id="262" r:id="rId5"/>
    <p:sldId id="259" r:id="rId6"/>
    <p:sldId id="263" r:id="rId7"/>
    <p:sldId id="264"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0</c:v>
                </c:pt>
                <c:pt idx="1">
                  <c:v>3</c:v>
                </c:pt>
                <c:pt idx="2">
                  <c:v>12</c:v>
                </c:pt>
                <c:pt idx="3">
                  <c:v>27</c:v>
                </c:pt>
                <c:pt idx="4">
                  <c:v>48</c:v>
                </c:pt>
                <c:pt idx="5">
                  <c:v>75</c:v>
                </c:pt>
                <c:pt idx="6">
                  <c:v>108</c:v>
                </c:pt>
              </c:numCache>
            </c:numRef>
          </c:val>
          <c:smooth val="0"/>
          <c:extLst>
            <c:ext xmlns:c16="http://schemas.microsoft.com/office/drawing/2014/chart" uri="{C3380CC4-5D6E-409C-BE32-E72D297353CC}">
              <c16:uniqueId val="{00000000-6FB7-4605-AB5C-4F9BE4595099}"/>
            </c:ext>
          </c:extLst>
        </c:ser>
        <c:dLbls>
          <c:showLegendKey val="0"/>
          <c:showVal val="0"/>
          <c:showCatName val="0"/>
          <c:showSerName val="0"/>
          <c:showPercent val="0"/>
          <c:showBubbleSize val="0"/>
        </c:dLbls>
        <c:marker val="1"/>
        <c:smooth val="0"/>
        <c:axId val="538090224"/>
        <c:axId val="538081368"/>
      </c:lineChart>
      <c:catAx>
        <c:axId val="538090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81368"/>
        <c:crosses val="autoZero"/>
        <c:auto val="1"/>
        <c:lblAlgn val="ctr"/>
        <c:lblOffset val="100"/>
        <c:noMultiLvlLbl val="0"/>
      </c:catAx>
      <c:valAx>
        <c:axId val="5380813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902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0</c:v>
                </c:pt>
                <c:pt idx="1">
                  <c:v>3</c:v>
                </c:pt>
                <c:pt idx="2">
                  <c:v>12</c:v>
                </c:pt>
                <c:pt idx="3">
                  <c:v>27</c:v>
                </c:pt>
                <c:pt idx="4">
                  <c:v>48</c:v>
                </c:pt>
                <c:pt idx="5">
                  <c:v>75</c:v>
                </c:pt>
                <c:pt idx="6">
                  <c:v>108</c:v>
                </c:pt>
              </c:numCache>
            </c:numRef>
          </c:val>
          <c:smooth val="0"/>
          <c:extLst>
            <c:ext xmlns:c16="http://schemas.microsoft.com/office/drawing/2014/chart" uri="{C3380CC4-5D6E-409C-BE32-E72D297353CC}">
              <c16:uniqueId val="{00000000-0366-4627-99ED-F474CD710A26}"/>
            </c:ext>
          </c:extLst>
        </c:ser>
        <c:dLbls>
          <c:showLegendKey val="0"/>
          <c:showVal val="0"/>
          <c:showCatName val="0"/>
          <c:showSerName val="0"/>
          <c:showPercent val="0"/>
          <c:showBubbleSize val="0"/>
        </c:dLbls>
        <c:marker val="1"/>
        <c:smooth val="0"/>
        <c:axId val="538090224"/>
        <c:axId val="538081368"/>
      </c:lineChart>
      <c:catAx>
        <c:axId val="538090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81368"/>
        <c:crosses val="autoZero"/>
        <c:auto val="1"/>
        <c:lblAlgn val="ctr"/>
        <c:lblOffset val="100"/>
        <c:noMultiLvlLbl val="0"/>
      </c:catAx>
      <c:valAx>
        <c:axId val="5380813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902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　</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cat>
            <c:numRef>
              <c:f>Sheet1!$A$2:$A$8</c:f>
              <c:numCache>
                <c:formatCode>General</c:formatCode>
                <c:ptCount val="7"/>
                <c:pt idx="0">
                  <c:v>0</c:v>
                </c:pt>
                <c:pt idx="1">
                  <c:v>1</c:v>
                </c:pt>
                <c:pt idx="2">
                  <c:v>2</c:v>
                </c:pt>
                <c:pt idx="3">
                  <c:v>3</c:v>
                </c:pt>
                <c:pt idx="4">
                  <c:v>4</c:v>
                </c:pt>
                <c:pt idx="5">
                  <c:v>5</c:v>
                </c:pt>
                <c:pt idx="6">
                  <c:v>6</c:v>
                </c:pt>
              </c:numCache>
            </c:numRef>
          </c:cat>
          <c:val>
            <c:numRef>
              <c:f>Sheet1!$B$2:$B$8</c:f>
              <c:numCache>
                <c:formatCode>General</c:formatCode>
                <c:ptCount val="7"/>
                <c:pt idx="0">
                  <c:v>0</c:v>
                </c:pt>
                <c:pt idx="1">
                  <c:v>3</c:v>
                </c:pt>
                <c:pt idx="2">
                  <c:v>12</c:v>
                </c:pt>
                <c:pt idx="3">
                  <c:v>27</c:v>
                </c:pt>
                <c:pt idx="4">
                  <c:v>48</c:v>
                </c:pt>
                <c:pt idx="5">
                  <c:v>75</c:v>
                </c:pt>
                <c:pt idx="6">
                  <c:v>108</c:v>
                </c:pt>
              </c:numCache>
            </c:numRef>
          </c:val>
          <c:smooth val="0"/>
          <c:extLst>
            <c:ext xmlns:c16="http://schemas.microsoft.com/office/drawing/2014/chart" uri="{C3380CC4-5D6E-409C-BE32-E72D297353CC}">
              <c16:uniqueId val="{00000000-0366-4627-99ED-F474CD710A26}"/>
            </c:ext>
          </c:extLst>
        </c:ser>
        <c:dLbls>
          <c:showLegendKey val="0"/>
          <c:showVal val="0"/>
          <c:showCatName val="0"/>
          <c:showSerName val="0"/>
          <c:showPercent val="0"/>
          <c:showBubbleSize val="0"/>
        </c:dLbls>
        <c:marker val="1"/>
        <c:smooth val="0"/>
        <c:axId val="538090224"/>
        <c:axId val="538081368"/>
      </c:lineChart>
      <c:catAx>
        <c:axId val="538090224"/>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81368"/>
        <c:crosses val="autoZero"/>
        <c:auto val="1"/>
        <c:lblAlgn val="ctr"/>
        <c:lblOffset val="100"/>
        <c:noMultiLvlLbl val="0"/>
      </c:catAx>
      <c:valAx>
        <c:axId val="538081368"/>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ja-JP"/>
          </a:p>
        </c:txPr>
        <c:crossAx val="53809022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2025/9/19</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2025/9/19</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t>レーシングカーに乗り、アクセルを思いっきり踏んだとします。</a:t>
            </a:r>
            <a:endParaRPr lang="en-US" altLang="ja-JP" sz="2400" dirty="0"/>
          </a:p>
          <a:p>
            <a:r>
              <a:rPr lang="ja-JP" altLang="en-US" sz="2400" dirty="0"/>
              <a:t>その時の経過時間ごとの速度は以下の通りになりました。</a:t>
            </a:r>
            <a:endParaRPr lang="en-US" altLang="ja-JP" sz="2400" dirty="0"/>
          </a:p>
        </p:txBody>
      </p:sp>
      <p:graphicFrame>
        <p:nvGraphicFramePr>
          <p:cNvPr id="3" name="表 11">
            <a:extLst>
              <a:ext uri="{FF2B5EF4-FFF2-40B4-BE49-F238E27FC236}">
                <a16:creationId xmlns:a16="http://schemas.microsoft.com/office/drawing/2014/main" id="{1F61CB3A-B68E-4EBC-9A15-E15413D093E3}"/>
              </a:ext>
            </a:extLst>
          </p:cNvPr>
          <p:cNvGraphicFramePr>
            <a:graphicFrameLocks noGrp="1"/>
          </p:cNvGraphicFramePr>
          <p:nvPr>
            <p:extLst>
              <p:ext uri="{D42A27DB-BD31-4B8C-83A1-F6EECF244321}">
                <p14:modId xmlns:p14="http://schemas.microsoft.com/office/powerpoint/2010/main" val="3434276142"/>
              </p:ext>
            </p:extLst>
          </p:nvPr>
        </p:nvGraphicFramePr>
        <p:xfrm>
          <a:off x="567542" y="2187126"/>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23761673"/>
                    </a:ext>
                  </a:extLst>
                </a:gridCol>
                <a:gridCol w="4064000">
                  <a:extLst>
                    <a:ext uri="{9D8B030D-6E8A-4147-A177-3AD203B41FA5}">
                      <a16:colId xmlns:a16="http://schemas.microsoft.com/office/drawing/2014/main" val="1350177872"/>
                    </a:ext>
                  </a:extLst>
                </a:gridCol>
              </a:tblGrid>
              <a:tr h="370840">
                <a:tc>
                  <a:txBody>
                    <a:bodyPr/>
                    <a:lstStyle/>
                    <a:p>
                      <a:r>
                        <a:rPr kumimoji="1" lang="ja-JP" altLang="en-US" dirty="0"/>
                        <a:t>時間（秒）</a:t>
                      </a:r>
                    </a:p>
                  </a:txBody>
                  <a:tcPr/>
                </a:tc>
                <a:tc>
                  <a:txBody>
                    <a:bodyPr/>
                    <a:lstStyle/>
                    <a:p>
                      <a:r>
                        <a:rPr kumimoji="1" lang="ja-JP" altLang="en-US" dirty="0"/>
                        <a:t>速度（</a:t>
                      </a:r>
                      <a:r>
                        <a:rPr kumimoji="1" lang="en-US" altLang="ja-JP" dirty="0"/>
                        <a:t>m/</a:t>
                      </a:r>
                      <a:r>
                        <a:rPr kumimoji="1" lang="ja-JP" altLang="en-US" dirty="0"/>
                        <a:t>秒）</a:t>
                      </a:r>
                    </a:p>
                  </a:txBody>
                  <a:tcPr/>
                </a:tc>
                <a:extLst>
                  <a:ext uri="{0D108BD9-81ED-4DB2-BD59-A6C34878D82A}">
                    <a16:rowId xmlns:a16="http://schemas.microsoft.com/office/drawing/2014/main" val="1271716605"/>
                  </a:ext>
                </a:extLst>
              </a:tr>
              <a:tr h="370840">
                <a:tc>
                  <a:txBody>
                    <a:bodyPr/>
                    <a:lstStyle/>
                    <a:p>
                      <a:r>
                        <a:rPr kumimoji="1" lang="en-US" altLang="ja-JP" dirty="0"/>
                        <a:t>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843403703"/>
                  </a:ext>
                </a:extLst>
              </a:tr>
              <a:tr h="370840">
                <a:tc>
                  <a:txBody>
                    <a:bodyPr/>
                    <a:lstStyle/>
                    <a:p>
                      <a:r>
                        <a:rPr kumimoji="1" lang="en-US" altLang="ja-JP" dirty="0"/>
                        <a:t>1</a:t>
                      </a:r>
                      <a:endParaRPr kumimoji="1" lang="ja-JP" altLang="en-US" dirty="0"/>
                    </a:p>
                  </a:txBody>
                  <a:tcPr/>
                </a:tc>
                <a:tc>
                  <a:txBody>
                    <a:bodyPr/>
                    <a:lstStyle/>
                    <a:p>
                      <a:r>
                        <a:rPr kumimoji="1" lang="en-US" altLang="ja-JP" dirty="0"/>
                        <a:t>3</a:t>
                      </a:r>
                      <a:endParaRPr kumimoji="1" lang="ja-JP" altLang="en-US" dirty="0"/>
                    </a:p>
                  </a:txBody>
                  <a:tcPr/>
                </a:tc>
                <a:extLst>
                  <a:ext uri="{0D108BD9-81ED-4DB2-BD59-A6C34878D82A}">
                    <a16:rowId xmlns:a16="http://schemas.microsoft.com/office/drawing/2014/main" val="664712909"/>
                  </a:ext>
                </a:extLst>
              </a:tr>
              <a:tr h="370840">
                <a:tc>
                  <a:txBody>
                    <a:bodyPr/>
                    <a:lstStyle/>
                    <a:p>
                      <a:r>
                        <a:rPr kumimoji="1" lang="en-US" altLang="ja-JP" dirty="0"/>
                        <a:t>2</a:t>
                      </a:r>
                      <a:endParaRPr kumimoji="1" lang="ja-JP" altLang="en-US" dirty="0"/>
                    </a:p>
                  </a:txBody>
                  <a:tcPr/>
                </a:tc>
                <a:tc>
                  <a:txBody>
                    <a:bodyPr/>
                    <a:lstStyle/>
                    <a:p>
                      <a:r>
                        <a:rPr kumimoji="1" lang="en-US" altLang="ja-JP" dirty="0"/>
                        <a:t>12</a:t>
                      </a:r>
                      <a:endParaRPr kumimoji="1" lang="ja-JP" altLang="en-US" dirty="0"/>
                    </a:p>
                  </a:txBody>
                  <a:tcPr/>
                </a:tc>
                <a:extLst>
                  <a:ext uri="{0D108BD9-81ED-4DB2-BD59-A6C34878D82A}">
                    <a16:rowId xmlns:a16="http://schemas.microsoft.com/office/drawing/2014/main" val="2331909462"/>
                  </a:ext>
                </a:extLst>
              </a:tr>
              <a:tr h="370840">
                <a:tc>
                  <a:txBody>
                    <a:bodyPr/>
                    <a:lstStyle/>
                    <a:p>
                      <a:r>
                        <a:rPr kumimoji="1" lang="en-US" altLang="ja-JP" dirty="0"/>
                        <a:t>3</a:t>
                      </a:r>
                      <a:endParaRPr kumimoji="1" lang="ja-JP" altLang="en-US" dirty="0"/>
                    </a:p>
                  </a:txBody>
                  <a:tcPr/>
                </a:tc>
                <a:tc>
                  <a:txBody>
                    <a:bodyPr/>
                    <a:lstStyle/>
                    <a:p>
                      <a:r>
                        <a:rPr kumimoji="1" lang="en-US" altLang="ja-JP" dirty="0"/>
                        <a:t>27</a:t>
                      </a:r>
                      <a:endParaRPr kumimoji="1" lang="ja-JP" altLang="en-US" dirty="0"/>
                    </a:p>
                  </a:txBody>
                  <a:tcPr/>
                </a:tc>
                <a:extLst>
                  <a:ext uri="{0D108BD9-81ED-4DB2-BD59-A6C34878D82A}">
                    <a16:rowId xmlns:a16="http://schemas.microsoft.com/office/drawing/2014/main" val="3614912164"/>
                  </a:ext>
                </a:extLst>
              </a:tr>
              <a:tr h="370840">
                <a:tc>
                  <a:txBody>
                    <a:bodyPr/>
                    <a:lstStyle/>
                    <a:p>
                      <a:r>
                        <a:rPr kumimoji="1" lang="en-US" altLang="ja-JP" dirty="0"/>
                        <a:t>4</a:t>
                      </a:r>
                      <a:endParaRPr kumimoji="1" lang="ja-JP" altLang="en-US" dirty="0"/>
                    </a:p>
                  </a:txBody>
                  <a:tcPr/>
                </a:tc>
                <a:tc>
                  <a:txBody>
                    <a:bodyPr/>
                    <a:lstStyle/>
                    <a:p>
                      <a:r>
                        <a:rPr kumimoji="1" lang="en-US" altLang="ja-JP" dirty="0"/>
                        <a:t>48</a:t>
                      </a:r>
                      <a:endParaRPr kumimoji="1" lang="ja-JP" altLang="en-US" dirty="0"/>
                    </a:p>
                  </a:txBody>
                  <a:tcPr/>
                </a:tc>
                <a:extLst>
                  <a:ext uri="{0D108BD9-81ED-4DB2-BD59-A6C34878D82A}">
                    <a16:rowId xmlns:a16="http://schemas.microsoft.com/office/drawing/2014/main" val="3311389390"/>
                  </a:ext>
                </a:extLst>
              </a:tr>
              <a:tr h="370840">
                <a:tc>
                  <a:txBody>
                    <a:bodyPr/>
                    <a:lstStyle/>
                    <a:p>
                      <a:r>
                        <a:rPr kumimoji="1" lang="en-US" altLang="ja-JP" dirty="0"/>
                        <a:t>5</a:t>
                      </a:r>
                      <a:endParaRPr kumimoji="1" lang="ja-JP" altLang="en-US" dirty="0"/>
                    </a:p>
                  </a:txBody>
                  <a:tcPr/>
                </a:tc>
                <a:tc>
                  <a:txBody>
                    <a:bodyPr/>
                    <a:lstStyle/>
                    <a:p>
                      <a:r>
                        <a:rPr kumimoji="1" lang="en-US" altLang="ja-JP" dirty="0"/>
                        <a:t>75</a:t>
                      </a:r>
                      <a:endParaRPr kumimoji="1" lang="ja-JP" altLang="en-US" dirty="0"/>
                    </a:p>
                  </a:txBody>
                  <a:tcPr/>
                </a:tc>
                <a:extLst>
                  <a:ext uri="{0D108BD9-81ED-4DB2-BD59-A6C34878D82A}">
                    <a16:rowId xmlns:a16="http://schemas.microsoft.com/office/drawing/2014/main" val="2590311240"/>
                  </a:ext>
                </a:extLst>
              </a:tr>
              <a:tr h="370840">
                <a:tc>
                  <a:txBody>
                    <a:bodyPr/>
                    <a:lstStyle/>
                    <a:p>
                      <a:r>
                        <a:rPr kumimoji="1" lang="en-US" altLang="ja-JP" dirty="0"/>
                        <a:t>6</a:t>
                      </a:r>
                      <a:endParaRPr kumimoji="1" lang="ja-JP" altLang="en-US" dirty="0"/>
                    </a:p>
                  </a:txBody>
                  <a:tcPr/>
                </a:tc>
                <a:tc>
                  <a:txBody>
                    <a:bodyPr/>
                    <a:lstStyle/>
                    <a:p>
                      <a:r>
                        <a:rPr kumimoji="1" lang="en-US" altLang="ja-JP" dirty="0"/>
                        <a:t>108</a:t>
                      </a:r>
                      <a:endParaRPr kumimoji="1" lang="ja-JP" altLang="en-US" dirty="0"/>
                    </a:p>
                  </a:txBody>
                  <a:tcPr/>
                </a:tc>
                <a:extLst>
                  <a:ext uri="{0D108BD9-81ED-4DB2-BD59-A6C34878D82A}">
                    <a16:rowId xmlns:a16="http://schemas.microsoft.com/office/drawing/2014/main" val="987179435"/>
                  </a:ext>
                </a:extLst>
              </a:tr>
            </a:tbl>
          </a:graphicData>
        </a:graphic>
      </p:graphicFrame>
      <p:sp>
        <p:nvSpPr>
          <p:cNvPr id="12" name="テキスト ボックス 11">
            <a:extLst>
              <a:ext uri="{FF2B5EF4-FFF2-40B4-BE49-F238E27FC236}">
                <a16:creationId xmlns:a16="http://schemas.microsoft.com/office/drawing/2014/main" id="{AD64315F-B219-41B8-A5E6-8A3DD1B88F1C}"/>
              </a:ext>
            </a:extLst>
          </p:cNvPr>
          <p:cNvSpPr txBox="1"/>
          <p:nvPr/>
        </p:nvSpPr>
        <p:spPr>
          <a:xfrm>
            <a:off x="567542" y="5287805"/>
            <a:ext cx="7879080" cy="830997"/>
          </a:xfrm>
          <a:prstGeom prst="rect">
            <a:avLst/>
          </a:prstGeom>
          <a:noFill/>
        </p:spPr>
        <p:txBody>
          <a:bodyPr wrap="none" rtlCol="0">
            <a:spAutoFit/>
          </a:bodyPr>
          <a:lstStyle/>
          <a:p>
            <a:r>
              <a:rPr lang="ja-JP" altLang="en-US" sz="2400" dirty="0"/>
              <a:t>加速してどんどん速くなっているイメージですが、</a:t>
            </a:r>
            <a:endParaRPr lang="en-US" altLang="ja-JP" sz="2400" dirty="0"/>
          </a:p>
          <a:p>
            <a:r>
              <a:rPr lang="ja-JP" altLang="en-US" sz="2400" dirty="0"/>
              <a:t>大事なのは</a:t>
            </a:r>
            <a:r>
              <a:rPr lang="ja-JP" altLang="en-US" sz="2400" b="1" dirty="0">
                <a:solidFill>
                  <a:srgbClr val="FF0000"/>
                </a:solidFill>
              </a:rPr>
              <a:t>加速度も徐々に増えていっている</a:t>
            </a:r>
            <a:r>
              <a:rPr lang="ja-JP" altLang="en-US" sz="2400" dirty="0"/>
              <a:t>ことです。</a:t>
            </a:r>
            <a:endParaRPr lang="en-US" altLang="ja-JP" sz="2400" dirty="0"/>
          </a:p>
        </p:txBody>
      </p:sp>
    </p:spTree>
    <p:extLst>
      <p:ext uri="{BB962C8B-B14F-4D97-AF65-F5344CB8AC3E}">
        <p14:creationId xmlns:p14="http://schemas.microsoft.com/office/powerpoint/2010/main" val="1416929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73932" cy="461665"/>
          </a:xfrm>
          <a:prstGeom prst="rect">
            <a:avLst/>
          </a:prstGeom>
          <a:noFill/>
        </p:spPr>
        <p:txBody>
          <a:bodyPr wrap="none" rtlCol="0">
            <a:spAutoFit/>
          </a:bodyPr>
          <a:lstStyle/>
          <a:p>
            <a:r>
              <a:rPr lang="ja-JP" altLang="en-US" sz="2400" dirty="0"/>
              <a:t>走り始めてから</a:t>
            </a:r>
            <a:r>
              <a:rPr lang="en-US" altLang="ja-JP" sz="2400" dirty="0"/>
              <a:t>3</a:t>
            </a:r>
            <a:r>
              <a:rPr lang="ja-JP" altLang="en-US" sz="2400" dirty="0"/>
              <a:t>秒後までの加速度についてみていきましょう。</a:t>
            </a:r>
            <a:endParaRPr lang="en-US" altLang="ja-JP" sz="2400" dirty="0"/>
          </a:p>
        </p:txBody>
      </p:sp>
      <p:graphicFrame>
        <p:nvGraphicFramePr>
          <p:cNvPr id="3" name="表 11">
            <a:extLst>
              <a:ext uri="{FF2B5EF4-FFF2-40B4-BE49-F238E27FC236}">
                <a16:creationId xmlns:a16="http://schemas.microsoft.com/office/drawing/2014/main" id="{1F61CB3A-B68E-4EBC-9A15-E15413D093E3}"/>
              </a:ext>
            </a:extLst>
          </p:cNvPr>
          <p:cNvGraphicFramePr>
            <a:graphicFrameLocks noGrp="1"/>
          </p:cNvGraphicFramePr>
          <p:nvPr>
            <p:extLst>
              <p:ext uri="{D42A27DB-BD31-4B8C-83A1-F6EECF244321}">
                <p14:modId xmlns:p14="http://schemas.microsoft.com/office/powerpoint/2010/main" val="1713635330"/>
              </p:ext>
            </p:extLst>
          </p:nvPr>
        </p:nvGraphicFramePr>
        <p:xfrm>
          <a:off x="567542" y="2187126"/>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23761673"/>
                    </a:ext>
                  </a:extLst>
                </a:gridCol>
                <a:gridCol w="4064000">
                  <a:extLst>
                    <a:ext uri="{9D8B030D-6E8A-4147-A177-3AD203B41FA5}">
                      <a16:colId xmlns:a16="http://schemas.microsoft.com/office/drawing/2014/main" val="1350177872"/>
                    </a:ext>
                  </a:extLst>
                </a:gridCol>
              </a:tblGrid>
              <a:tr h="370840">
                <a:tc>
                  <a:txBody>
                    <a:bodyPr/>
                    <a:lstStyle/>
                    <a:p>
                      <a:r>
                        <a:rPr kumimoji="1" lang="ja-JP" altLang="en-US" dirty="0"/>
                        <a:t>時間（秒）</a:t>
                      </a:r>
                    </a:p>
                  </a:txBody>
                  <a:tcPr/>
                </a:tc>
                <a:tc>
                  <a:txBody>
                    <a:bodyPr/>
                    <a:lstStyle/>
                    <a:p>
                      <a:r>
                        <a:rPr kumimoji="1" lang="ja-JP" altLang="en-US" dirty="0"/>
                        <a:t>速度（</a:t>
                      </a:r>
                      <a:r>
                        <a:rPr kumimoji="1" lang="en-US" altLang="ja-JP" dirty="0"/>
                        <a:t>m/</a:t>
                      </a:r>
                      <a:r>
                        <a:rPr kumimoji="1" lang="ja-JP" altLang="en-US" dirty="0"/>
                        <a:t>秒）</a:t>
                      </a:r>
                    </a:p>
                  </a:txBody>
                  <a:tcPr/>
                </a:tc>
                <a:extLst>
                  <a:ext uri="{0D108BD9-81ED-4DB2-BD59-A6C34878D82A}">
                    <a16:rowId xmlns:a16="http://schemas.microsoft.com/office/drawing/2014/main" val="1271716605"/>
                  </a:ext>
                </a:extLst>
              </a:tr>
              <a:tr h="370840">
                <a:tc>
                  <a:txBody>
                    <a:bodyPr/>
                    <a:lstStyle/>
                    <a:p>
                      <a:r>
                        <a:rPr kumimoji="1" lang="en-US" altLang="ja-JP" dirty="0"/>
                        <a:t>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843403703"/>
                  </a:ext>
                </a:extLst>
              </a:tr>
              <a:tr h="370840">
                <a:tc>
                  <a:txBody>
                    <a:bodyPr/>
                    <a:lstStyle/>
                    <a:p>
                      <a:r>
                        <a:rPr kumimoji="1" lang="en-US" altLang="ja-JP" dirty="0"/>
                        <a:t>1</a:t>
                      </a:r>
                      <a:endParaRPr kumimoji="1" lang="ja-JP" altLang="en-US" dirty="0"/>
                    </a:p>
                  </a:txBody>
                  <a:tcPr/>
                </a:tc>
                <a:tc>
                  <a:txBody>
                    <a:bodyPr/>
                    <a:lstStyle/>
                    <a:p>
                      <a:r>
                        <a:rPr kumimoji="1" lang="en-US" altLang="ja-JP" dirty="0"/>
                        <a:t>3</a:t>
                      </a:r>
                      <a:endParaRPr kumimoji="1" lang="ja-JP" altLang="en-US" dirty="0"/>
                    </a:p>
                  </a:txBody>
                  <a:tcPr/>
                </a:tc>
                <a:extLst>
                  <a:ext uri="{0D108BD9-81ED-4DB2-BD59-A6C34878D82A}">
                    <a16:rowId xmlns:a16="http://schemas.microsoft.com/office/drawing/2014/main" val="664712909"/>
                  </a:ext>
                </a:extLst>
              </a:tr>
              <a:tr h="370840">
                <a:tc>
                  <a:txBody>
                    <a:bodyPr/>
                    <a:lstStyle/>
                    <a:p>
                      <a:r>
                        <a:rPr kumimoji="1" lang="en-US" altLang="ja-JP" dirty="0"/>
                        <a:t>2</a:t>
                      </a:r>
                      <a:endParaRPr kumimoji="1" lang="ja-JP" altLang="en-US" dirty="0"/>
                    </a:p>
                  </a:txBody>
                  <a:tcPr/>
                </a:tc>
                <a:tc>
                  <a:txBody>
                    <a:bodyPr/>
                    <a:lstStyle/>
                    <a:p>
                      <a:r>
                        <a:rPr kumimoji="1" lang="en-US" altLang="ja-JP" dirty="0"/>
                        <a:t>12</a:t>
                      </a:r>
                      <a:endParaRPr kumimoji="1" lang="ja-JP" altLang="en-US" dirty="0"/>
                    </a:p>
                  </a:txBody>
                  <a:tcPr/>
                </a:tc>
                <a:extLst>
                  <a:ext uri="{0D108BD9-81ED-4DB2-BD59-A6C34878D82A}">
                    <a16:rowId xmlns:a16="http://schemas.microsoft.com/office/drawing/2014/main" val="2331909462"/>
                  </a:ext>
                </a:extLst>
              </a:tr>
              <a:tr h="370840">
                <a:tc>
                  <a:txBody>
                    <a:bodyPr/>
                    <a:lstStyle/>
                    <a:p>
                      <a:r>
                        <a:rPr kumimoji="1" lang="en-US" altLang="ja-JP" dirty="0"/>
                        <a:t>3</a:t>
                      </a:r>
                      <a:endParaRPr kumimoji="1" lang="ja-JP" altLang="en-US" dirty="0"/>
                    </a:p>
                  </a:txBody>
                  <a:tcPr/>
                </a:tc>
                <a:tc>
                  <a:txBody>
                    <a:bodyPr/>
                    <a:lstStyle/>
                    <a:p>
                      <a:r>
                        <a:rPr kumimoji="1" lang="en-US" altLang="ja-JP" dirty="0"/>
                        <a:t>27</a:t>
                      </a:r>
                      <a:endParaRPr kumimoji="1" lang="ja-JP" altLang="en-US" dirty="0"/>
                    </a:p>
                  </a:txBody>
                  <a:tcPr/>
                </a:tc>
                <a:extLst>
                  <a:ext uri="{0D108BD9-81ED-4DB2-BD59-A6C34878D82A}">
                    <a16:rowId xmlns:a16="http://schemas.microsoft.com/office/drawing/2014/main" val="3614912164"/>
                  </a:ext>
                </a:extLst>
              </a:tr>
              <a:tr h="370840">
                <a:tc>
                  <a:txBody>
                    <a:bodyPr/>
                    <a:lstStyle/>
                    <a:p>
                      <a:r>
                        <a:rPr kumimoji="1" lang="en-US" altLang="ja-JP" dirty="0"/>
                        <a:t>4</a:t>
                      </a:r>
                      <a:endParaRPr kumimoji="1" lang="ja-JP" altLang="en-US" dirty="0"/>
                    </a:p>
                  </a:txBody>
                  <a:tcPr/>
                </a:tc>
                <a:tc>
                  <a:txBody>
                    <a:bodyPr/>
                    <a:lstStyle/>
                    <a:p>
                      <a:r>
                        <a:rPr kumimoji="1" lang="en-US" altLang="ja-JP" dirty="0"/>
                        <a:t>48</a:t>
                      </a:r>
                      <a:endParaRPr kumimoji="1" lang="ja-JP" altLang="en-US" dirty="0"/>
                    </a:p>
                  </a:txBody>
                  <a:tcPr/>
                </a:tc>
                <a:extLst>
                  <a:ext uri="{0D108BD9-81ED-4DB2-BD59-A6C34878D82A}">
                    <a16:rowId xmlns:a16="http://schemas.microsoft.com/office/drawing/2014/main" val="3311389390"/>
                  </a:ext>
                </a:extLst>
              </a:tr>
              <a:tr h="370840">
                <a:tc>
                  <a:txBody>
                    <a:bodyPr/>
                    <a:lstStyle/>
                    <a:p>
                      <a:r>
                        <a:rPr kumimoji="1" lang="en-US" altLang="ja-JP" dirty="0"/>
                        <a:t>5</a:t>
                      </a:r>
                      <a:endParaRPr kumimoji="1" lang="ja-JP" altLang="en-US" dirty="0"/>
                    </a:p>
                  </a:txBody>
                  <a:tcPr/>
                </a:tc>
                <a:tc>
                  <a:txBody>
                    <a:bodyPr/>
                    <a:lstStyle/>
                    <a:p>
                      <a:r>
                        <a:rPr kumimoji="1" lang="en-US" altLang="ja-JP" dirty="0"/>
                        <a:t>75</a:t>
                      </a:r>
                      <a:endParaRPr kumimoji="1" lang="ja-JP" altLang="en-US" dirty="0"/>
                    </a:p>
                  </a:txBody>
                  <a:tcPr/>
                </a:tc>
                <a:extLst>
                  <a:ext uri="{0D108BD9-81ED-4DB2-BD59-A6C34878D82A}">
                    <a16:rowId xmlns:a16="http://schemas.microsoft.com/office/drawing/2014/main" val="2590311240"/>
                  </a:ext>
                </a:extLst>
              </a:tr>
              <a:tr h="370840">
                <a:tc>
                  <a:txBody>
                    <a:bodyPr/>
                    <a:lstStyle/>
                    <a:p>
                      <a:r>
                        <a:rPr kumimoji="1" lang="en-US" altLang="ja-JP" dirty="0"/>
                        <a:t>6</a:t>
                      </a:r>
                      <a:endParaRPr kumimoji="1" lang="ja-JP" altLang="en-US" dirty="0"/>
                    </a:p>
                  </a:txBody>
                  <a:tcPr/>
                </a:tc>
                <a:tc>
                  <a:txBody>
                    <a:bodyPr/>
                    <a:lstStyle/>
                    <a:p>
                      <a:r>
                        <a:rPr kumimoji="1" lang="en-US" altLang="ja-JP" dirty="0"/>
                        <a:t>108</a:t>
                      </a:r>
                      <a:endParaRPr kumimoji="1" lang="ja-JP" altLang="en-US" dirty="0"/>
                    </a:p>
                  </a:txBody>
                  <a:tcPr/>
                </a:tc>
                <a:extLst>
                  <a:ext uri="{0D108BD9-81ED-4DB2-BD59-A6C34878D82A}">
                    <a16:rowId xmlns:a16="http://schemas.microsoft.com/office/drawing/2014/main" val="987179435"/>
                  </a:ext>
                </a:extLst>
              </a:tr>
            </a:tbl>
          </a:graphicData>
        </a:graphic>
      </p:graphicFrame>
      <mc:AlternateContent xmlns:mc="http://schemas.openxmlformats.org/markup-compatibility/2006" xmlns:a14="http://schemas.microsoft.com/office/drawing/2010/main">
        <mc:Choice Requires="a14">
          <p:sp>
            <p:nvSpPr>
              <p:cNvPr id="12" name="テキスト ボックス 11">
                <a:extLst>
                  <a:ext uri="{FF2B5EF4-FFF2-40B4-BE49-F238E27FC236}">
                    <a16:creationId xmlns:a16="http://schemas.microsoft.com/office/drawing/2014/main" id="{AD64315F-B219-41B8-A5E6-8A3DD1B88F1C}"/>
                  </a:ext>
                </a:extLst>
              </p:cNvPr>
              <p:cNvSpPr txBox="1"/>
              <p:nvPr/>
            </p:nvSpPr>
            <p:spPr>
              <a:xfrm>
                <a:off x="567542" y="5287805"/>
                <a:ext cx="9730549" cy="1269707"/>
              </a:xfrm>
              <a:prstGeom prst="rect">
                <a:avLst/>
              </a:prstGeom>
              <a:noFill/>
            </p:spPr>
            <p:txBody>
              <a:bodyPr wrap="none" rtlCol="0">
                <a:spAutoFit/>
              </a:bodyPr>
              <a:lstStyle/>
              <a:p>
                <a:r>
                  <a:rPr lang="ja-JP" altLang="en-US" sz="2400" dirty="0"/>
                  <a:t>レーシングカーは</a:t>
                </a:r>
                <a:r>
                  <a:rPr lang="en-US" altLang="ja-JP" sz="2400" b="1" dirty="0">
                    <a:solidFill>
                      <a:srgbClr val="FF0000"/>
                    </a:solidFill>
                  </a:rPr>
                  <a:t>3</a:t>
                </a:r>
                <a:r>
                  <a:rPr lang="ja-JP" altLang="en-US" sz="2400" b="1" dirty="0">
                    <a:solidFill>
                      <a:srgbClr val="FF0000"/>
                    </a:solidFill>
                  </a:rPr>
                  <a:t>秒間で</a:t>
                </a:r>
                <a:r>
                  <a:rPr lang="en-US" altLang="ja-JP" sz="2400" b="1" dirty="0">
                    <a:solidFill>
                      <a:srgbClr val="FF0000"/>
                    </a:solidFill>
                  </a:rPr>
                  <a:t>27m/</a:t>
                </a:r>
                <a:r>
                  <a:rPr lang="ja-JP" altLang="en-US" sz="2400" b="1" dirty="0">
                    <a:solidFill>
                      <a:srgbClr val="FF0000"/>
                    </a:solidFill>
                  </a:rPr>
                  <a:t>秒速くなっている</a:t>
                </a:r>
                <a:r>
                  <a:rPr lang="ja-JP" altLang="en-US" sz="2400" dirty="0"/>
                  <a:t>ので、平均の計算は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dirty="0" smtClean="0">
                          <a:latin typeface="Cambria Math" panose="02040503050406030204" pitchFamily="18" charset="0"/>
                        </a:rPr>
                        <m:t>27</m:t>
                      </m:r>
                      <m:r>
                        <a:rPr lang="en-US" altLang="ja-JP" sz="2400" b="0" i="1" dirty="0" smtClean="0">
                          <a:latin typeface="Cambria Math" panose="02040503050406030204" pitchFamily="18" charset="0"/>
                        </a:rPr>
                        <m:t>𝑚</m:t>
                      </m:r>
                      <m:r>
                        <a:rPr lang="en-US" altLang="ja-JP" sz="2400" b="0" i="1" dirty="0" smtClean="0">
                          <a:latin typeface="Cambria Math" panose="02040503050406030204" pitchFamily="18" charset="0"/>
                        </a:rPr>
                        <m:t>/</m:t>
                      </m:r>
                      <m:r>
                        <a:rPr lang="ja-JP" altLang="en-US" sz="2400" i="1" dirty="0">
                          <a:latin typeface="Cambria Math" panose="02040503050406030204" pitchFamily="18" charset="0"/>
                        </a:rPr>
                        <m:t>秒</m:t>
                      </m:r>
                      <m:r>
                        <a:rPr lang="en-US" altLang="ja-JP" sz="2400" i="1" dirty="0" smtClean="0">
                          <a:latin typeface="Cambria Math" panose="02040503050406030204" pitchFamily="18" charset="0"/>
                        </a:rPr>
                        <m:t>÷3</m:t>
                      </m:r>
                      <m:r>
                        <a:rPr lang="ja-JP" altLang="en-US" sz="2400" i="1" dirty="0" smtClean="0">
                          <a:latin typeface="Cambria Math" panose="02040503050406030204" pitchFamily="18" charset="0"/>
                        </a:rPr>
                        <m:t>秒</m:t>
                      </m:r>
                      <m:r>
                        <a:rPr lang="en-US" altLang="ja-JP" sz="2400" b="0" i="1" dirty="0" smtClean="0">
                          <a:latin typeface="Cambria Math" panose="02040503050406030204" pitchFamily="18" charset="0"/>
                        </a:rPr>
                        <m:t>=</m:t>
                      </m:r>
                      <m:r>
                        <a:rPr lang="en-US" altLang="ja-JP" sz="2400" b="1" i="1" dirty="0" smtClean="0">
                          <a:solidFill>
                            <a:srgbClr val="FF0000"/>
                          </a:solidFill>
                          <a:latin typeface="Cambria Math" panose="02040503050406030204" pitchFamily="18" charset="0"/>
                        </a:rPr>
                        <m:t>𝟗</m:t>
                      </m:r>
                      <m:r>
                        <a:rPr lang="en-US" altLang="ja-JP" sz="2400" b="1" i="1" dirty="0" smtClean="0">
                          <a:solidFill>
                            <a:srgbClr val="FF0000"/>
                          </a:solidFill>
                          <a:latin typeface="Cambria Math" panose="02040503050406030204" pitchFamily="18" charset="0"/>
                        </a:rPr>
                        <m:t>𝒎</m:t>
                      </m:r>
                      <m:r>
                        <a:rPr lang="en-US" altLang="ja-JP" sz="2400" b="1" i="1" dirty="0" smtClean="0">
                          <a:solidFill>
                            <a:srgbClr val="FF0000"/>
                          </a:solidFill>
                          <a:latin typeface="Cambria Math" panose="02040503050406030204" pitchFamily="18" charset="0"/>
                        </a:rPr>
                        <m:t>/</m:t>
                      </m:r>
                      <m:sSup>
                        <m:sSupPr>
                          <m:ctrlPr>
                            <a:rPr lang="en-US" altLang="ja-JP" sz="2400" b="1" i="1" dirty="0" smtClean="0">
                              <a:solidFill>
                                <a:srgbClr val="FF0000"/>
                              </a:solidFill>
                              <a:latin typeface="Cambria Math" panose="02040503050406030204" pitchFamily="18" charset="0"/>
                            </a:rPr>
                          </m:ctrlPr>
                        </m:sSupPr>
                        <m:e>
                          <m:r>
                            <a:rPr lang="ja-JP" altLang="en-US" sz="2400" b="1" i="1" dirty="0">
                              <a:solidFill>
                                <a:srgbClr val="FF0000"/>
                              </a:solidFill>
                              <a:latin typeface="Cambria Math" panose="02040503050406030204" pitchFamily="18" charset="0"/>
                            </a:rPr>
                            <m:t>秒</m:t>
                          </m:r>
                        </m:e>
                        <m:sup>
                          <m:r>
                            <a:rPr lang="en-US" altLang="ja-JP" sz="2400" b="1" i="1" dirty="0" smtClean="0">
                              <a:solidFill>
                                <a:srgbClr val="FF0000"/>
                              </a:solidFill>
                              <a:latin typeface="Cambria Math" panose="02040503050406030204" pitchFamily="18" charset="0"/>
                            </a:rPr>
                            <m:t>𝟐</m:t>
                          </m:r>
                        </m:sup>
                      </m:sSup>
                      <m:r>
                        <a:rPr lang="ja-JP" altLang="en-US" sz="2400" i="1" dirty="0">
                          <a:latin typeface="Cambria Math" panose="02040503050406030204" pitchFamily="18" charset="0"/>
                        </a:rPr>
                        <m:t>となります。</m:t>
                      </m:r>
                    </m:oMath>
                  </m:oMathPara>
                </a14:m>
                <a:endParaRPr lang="en-US" altLang="ja-JP" sz="2400" dirty="0"/>
              </a:p>
              <a:p>
                <a:r>
                  <a:rPr lang="ja-JP" altLang="en-US" sz="2400" dirty="0"/>
                  <a:t>つまり</a:t>
                </a:r>
                <a:r>
                  <a:rPr lang="en-US" altLang="ja-JP" sz="2400" b="1" dirty="0">
                    <a:solidFill>
                      <a:srgbClr val="FF0000"/>
                    </a:solidFill>
                  </a:rPr>
                  <a:t>1</a:t>
                </a:r>
                <a:r>
                  <a:rPr lang="ja-JP" altLang="en-US" sz="2400" b="1" dirty="0">
                    <a:solidFill>
                      <a:srgbClr val="FF0000"/>
                    </a:solidFill>
                  </a:rPr>
                  <a:t>秒間に</a:t>
                </a:r>
                <a14:m>
                  <m:oMath xmlns:m="http://schemas.openxmlformats.org/officeDocument/2006/math">
                    <m:r>
                      <a:rPr lang="en-US" altLang="ja-JP" sz="2400" b="1" i="1" dirty="0" smtClean="0">
                        <a:solidFill>
                          <a:srgbClr val="FF0000"/>
                        </a:solidFill>
                        <a:latin typeface="Cambria Math" panose="02040503050406030204" pitchFamily="18" charset="0"/>
                      </a:rPr>
                      <m:t>𝟗</m:t>
                    </m:r>
                    <m:r>
                      <a:rPr lang="en-US" altLang="ja-JP" sz="2400" b="1" i="1" dirty="0" smtClean="0">
                        <a:solidFill>
                          <a:srgbClr val="FF0000"/>
                        </a:solidFill>
                        <a:latin typeface="Cambria Math" panose="02040503050406030204" pitchFamily="18" charset="0"/>
                      </a:rPr>
                      <m:t>𝒎</m:t>
                    </m:r>
                    <m:r>
                      <a:rPr lang="en-US" altLang="ja-JP" sz="2400" b="1" i="1" dirty="0" smtClean="0">
                        <a:solidFill>
                          <a:srgbClr val="FF0000"/>
                        </a:solidFill>
                        <a:latin typeface="Cambria Math" panose="02040503050406030204" pitchFamily="18" charset="0"/>
                      </a:rPr>
                      <m:t>/</m:t>
                    </m:r>
                    <m:r>
                      <a:rPr lang="ja-JP" altLang="en-US" sz="2400" b="1" i="1" dirty="0">
                        <a:solidFill>
                          <a:srgbClr val="FF0000"/>
                        </a:solidFill>
                        <a:latin typeface="Cambria Math" panose="02040503050406030204" pitchFamily="18" charset="0"/>
                      </a:rPr>
                      <m:t>秒</m:t>
                    </m:r>
                  </m:oMath>
                </a14:m>
                <a:r>
                  <a:rPr lang="ja-JP" altLang="en-US" sz="2400" b="1" dirty="0">
                    <a:solidFill>
                      <a:srgbClr val="FF0000"/>
                    </a:solidFill>
                  </a:rPr>
                  <a:t>ずつ速くなっていく計算</a:t>
                </a:r>
                <a:r>
                  <a:rPr lang="ja-JP" altLang="en-US" sz="2400" dirty="0"/>
                  <a:t>になります。</a:t>
                </a:r>
                <a:endParaRPr lang="en-US" altLang="ja-JP" sz="2400" dirty="0"/>
              </a:p>
            </p:txBody>
          </p:sp>
        </mc:Choice>
        <mc:Fallback xmlns="">
          <p:sp>
            <p:nvSpPr>
              <p:cNvPr id="12" name="テキスト ボックス 11">
                <a:extLst>
                  <a:ext uri="{FF2B5EF4-FFF2-40B4-BE49-F238E27FC236}">
                    <a16:creationId xmlns:a16="http://schemas.microsoft.com/office/drawing/2014/main" id="{AD64315F-B219-41B8-A5E6-8A3DD1B88F1C}"/>
                  </a:ext>
                </a:extLst>
              </p:cNvPr>
              <p:cNvSpPr txBox="1">
                <a:spLocks noRot="1" noChangeAspect="1" noMove="1" noResize="1" noEditPoints="1" noAdjustHandles="1" noChangeArrowheads="1" noChangeShapeType="1" noTextEdit="1"/>
              </p:cNvSpPr>
              <p:nvPr/>
            </p:nvSpPr>
            <p:spPr>
              <a:xfrm>
                <a:off x="567542" y="5287805"/>
                <a:ext cx="9730549" cy="1269707"/>
              </a:xfrm>
              <a:prstGeom prst="rect">
                <a:avLst/>
              </a:prstGeom>
              <a:blipFill>
                <a:blip r:embed="rId2"/>
                <a:stretch>
                  <a:fillRect l="-940" t="-3828" r="-501" b="-1052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64617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99397D64-23DD-4E01-81A3-DB71C9BDD469}"/>
              </a:ext>
            </a:extLst>
          </p:cNvPr>
          <p:cNvSpPr/>
          <p:nvPr/>
        </p:nvSpPr>
        <p:spPr>
          <a:xfrm>
            <a:off x="279917" y="1800808"/>
            <a:ext cx="9787813" cy="2052735"/>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74773" cy="3639522"/>
              </a:xfrm>
              <a:prstGeom prst="rect">
                <a:avLst/>
              </a:prstGeom>
              <a:noFill/>
            </p:spPr>
            <p:txBody>
              <a:bodyPr wrap="none" rtlCol="0">
                <a:spAutoFit/>
              </a:bodyPr>
              <a:lstStyle/>
              <a:p>
                <a:r>
                  <a:rPr lang="ja-JP" altLang="en-US" sz="2400" dirty="0"/>
                  <a:t>このことから</a:t>
                </a:r>
                <a:r>
                  <a:rPr lang="ja-JP" altLang="en-US" sz="2400" b="1" dirty="0">
                    <a:solidFill>
                      <a:srgbClr val="FF0000"/>
                    </a:solidFill>
                  </a:rPr>
                  <a:t>平均加速度</a:t>
                </a:r>
                <a:r>
                  <a:rPr lang="ja-JP" altLang="en-US" sz="2400" dirty="0"/>
                  <a:t>の計算方法が定義できます。</a:t>
                </a:r>
                <a:endParaRPr lang="en-US" altLang="ja-JP" sz="2400" dirty="0"/>
              </a:p>
              <a:p>
                <a:endParaRPr lang="en-US" altLang="ja-JP" sz="2400" dirty="0"/>
              </a:p>
              <a:p>
                <a:r>
                  <a:rPr lang="ja-JP" altLang="en-US" sz="2400" b="1" dirty="0">
                    <a:solidFill>
                      <a:srgbClr val="FF0000"/>
                    </a:solidFill>
                  </a:rPr>
                  <a:t>■平均加速度</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bar>
                        <m:barPr>
                          <m:pos m:val="top"/>
                          <m:ctrlPr>
                            <a:rPr lang="en-US" altLang="ja-JP" sz="2400" i="1" smtClean="0">
                              <a:latin typeface="Cambria Math" panose="02040503050406030204" pitchFamily="18" charset="0"/>
                            </a:rPr>
                          </m:ctrlPr>
                        </m:barPr>
                        <m:e>
                          <m:r>
                            <a:rPr lang="en-US" altLang="ja-JP" sz="2400" b="0" i="1" smtClean="0">
                              <a:latin typeface="Cambria Math" panose="02040503050406030204" pitchFamily="18" charset="0"/>
                            </a:rPr>
                            <m:t>𝑎</m:t>
                          </m:r>
                        </m:e>
                      </m:bar>
                      <m:r>
                        <a:rPr lang="en-US" altLang="ja-JP" sz="2400" b="0" i="1" smtClean="0">
                          <a:latin typeface="Cambria Math" panose="02040503050406030204" pitchFamily="18" charset="0"/>
                        </a:rPr>
                        <m:t>=</m:t>
                      </m:r>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𝑡</m:t>
                                  </m:r>
                                </m:e>
                                <m:sub>
                                  <m:r>
                                    <a:rPr lang="en-US" altLang="ja-JP" sz="2400" b="0" i="1" smtClean="0">
                                      <a:latin typeface="Cambria Math" panose="02040503050406030204" pitchFamily="18" charset="0"/>
                                    </a:rPr>
                                    <m:t>2</m:t>
                                  </m:r>
                                </m:sub>
                              </m:sSub>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b="0" i="1" smtClean="0">
                                  <a:latin typeface="Cambria Math" panose="02040503050406030204" pitchFamily="18" charset="0"/>
                                </a:rPr>
                                <m:t>1</m:t>
                              </m:r>
                            </m:sub>
                          </m:sSub>
                          <m:r>
                            <a:rPr lang="en-US" altLang="ja-JP" sz="2400" b="0" i="1" smtClean="0">
                              <a:latin typeface="Cambria Math" panose="02040503050406030204" pitchFamily="18" charset="0"/>
                            </a:rPr>
                            <m:t>)</m:t>
                          </m:r>
                        </m:num>
                        <m:den>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i="1">
                                  <a:latin typeface="Cambria Math" panose="02040503050406030204" pitchFamily="18" charset="0"/>
                                </a:rPr>
                                <m:t>2</m:t>
                              </m:r>
                            </m:sub>
                          </m:sSub>
                          <m:r>
                            <a:rPr lang="en-US" altLang="ja-JP" sz="2400" b="0" i="1" smtClean="0">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b="0" i="1" smtClean="0">
                                  <a:latin typeface="Cambria Math" panose="02040503050406030204" pitchFamily="18" charset="0"/>
                                </a:rPr>
                                <m:t>1</m:t>
                              </m:r>
                            </m:sub>
                          </m:sSub>
                        </m:den>
                      </m:f>
                    </m:oMath>
                  </m:oMathPara>
                </a14:m>
                <a:endParaRPr lang="en-US" altLang="ja-JP" sz="2400" b="0" dirty="0"/>
              </a:p>
              <a:p>
                <a:pPr>
                  <a:lnSpc>
                    <a:spcPct val="150000"/>
                  </a:lnSpc>
                </a:pPr>
                <a:r>
                  <a:rPr lang="ja-JP" altLang="en-US" sz="2400" dirty="0"/>
                  <a:t>時間と速度の関係を</a:t>
                </a:r>
                <a14:m>
                  <m:oMath xmlns:m="http://schemas.openxmlformats.org/officeDocument/2006/math">
                    <m:r>
                      <a:rPr lang="en-US" altLang="ja-JP" sz="2400" i="1">
                        <a:latin typeface="Cambria Math" panose="02040503050406030204" pitchFamily="18" charset="0"/>
                      </a:rPr>
                      <m:t>𝑣</m:t>
                    </m:r>
                    <m:r>
                      <a:rPr lang="en-US" altLang="ja-JP" sz="2400" b="0" i="0"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 (</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b="0" dirty="0"/>
                  <a:t>とし、</a:t>
                </a:r>
                <a:r>
                  <a:rPr lang="ja-JP" altLang="en-US" sz="2400" dirty="0"/>
                  <a:t>時間経過を </a:t>
                </a:r>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b="0" i="1" smtClean="0">
                            <a:latin typeface="Cambria Math" panose="02040503050406030204" pitchFamily="18" charset="0"/>
                          </a:rPr>
                          <m:t>1</m:t>
                        </m:r>
                      </m:sub>
                    </m:sSub>
                    <m:r>
                      <a:rPr lang="ja-JP" altLang="en-US" sz="2400" i="1">
                        <a:latin typeface="Cambria Math" panose="02040503050406030204" pitchFamily="18" charset="0"/>
                      </a:rPr>
                      <m:t>≦</m:t>
                    </m:r>
                    <m:r>
                      <a:rPr lang="en-US" altLang="ja-JP" sz="2400" b="0" i="1" smtClean="0">
                        <a:latin typeface="Cambria Math" panose="02040503050406030204" pitchFamily="18" charset="0"/>
                      </a:rPr>
                      <m:t>𝑡</m:t>
                    </m:r>
                    <m:r>
                      <a:rPr lang="ja-JP" altLang="en-US" sz="2400" i="1">
                        <a:latin typeface="Cambria Math" panose="02040503050406030204" pitchFamily="18" charset="0"/>
                      </a:rPr>
                      <m:t>≦</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𝑡</m:t>
                        </m:r>
                      </m:e>
                      <m:sub>
                        <m:r>
                          <a:rPr lang="en-US" altLang="ja-JP" sz="2400" i="1">
                            <a:latin typeface="Cambria Math" panose="02040503050406030204" pitchFamily="18" charset="0"/>
                          </a:rPr>
                          <m:t>2</m:t>
                        </m:r>
                      </m:sub>
                    </m:sSub>
                  </m:oMath>
                </a14:m>
                <a:r>
                  <a:rPr lang="ja-JP" altLang="en-US" sz="2400" dirty="0"/>
                  <a:t> で表す。</a:t>
                </a:r>
                <a:endParaRPr lang="en-US" altLang="ja-JP" sz="2400" dirty="0"/>
              </a:p>
              <a:p>
                <a:endParaRPr lang="en-US" altLang="ja-JP" sz="2400" dirty="0"/>
              </a:p>
              <a:p>
                <a:r>
                  <a:rPr lang="ja-JP" altLang="en-US" sz="2400" dirty="0"/>
                  <a:t>ここまでは、導関数までと同じ考え方です。</a:t>
                </a:r>
                <a:endParaRPr lang="en-US" altLang="ja-JP" sz="2400" dirty="0"/>
              </a:p>
              <a:p>
                <a:r>
                  <a:rPr lang="ja-JP" altLang="en-US" sz="2400" dirty="0"/>
                  <a:t>（単位が変わっただけ）</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474773" cy="3639522"/>
              </a:xfrm>
              <a:prstGeom prst="rect">
                <a:avLst/>
              </a:prstGeom>
              <a:blipFill>
                <a:blip r:embed="rId2"/>
                <a:stretch>
                  <a:fillRect l="-965" t="-1340" r="-64" b="-284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813632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631606" cy="830997"/>
              </a:xfrm>
              <a:prstGeom prst="rect">
                <a:avLst/>
              </a:prstGeom>
              <a:noFill/>
            </p:spPr>
            <p:txBody>
              <a:bodyPr wrap="none" rtlCol="0">
                <a:spAutoFit/>
              </a:bodyPr>
              <a:lstStyle/>
              <a:p>
                <a:r>
                  <a:rPr lang="ja-JP" altLang="en-US" sz="2400" dirty="0"/>
                  <a:t>時間と速度の関係が以下の表の場合、</a:t>
                </a:r>
                <a:endParaRPr lang="en-US" altLang="ja-JP" sz="2400" dirty="0"/>
              </a:p>
              <a:p>
                <a:r>
                  <a:rPr lang="en-US" altLang="ja-JP" sz="2400" dirty="0"/>
                  <a:t> </a:t>
                </a:r>
                <a14:m>
                  <m:oMath xmlns:m="http://schemas.openxmlformats.org/officeDocument/2006/math">
                    <m:r>
                      <a:rPr lang="en-US" altLang="ja-JP" sz="2400" i="1" dirty="0">
                        <a:latin typeface="Cambria Math" panose="02040503050406030204" pitchFamily="18" charset="0"/>
                      </a:rPr>
                      <m:t>3</m:t>
                    </m:r>
                    <m:r>
                      <a:rPr lang="ja-JP" altLang="en-US" sz="2400" i="1">
                        <a:latin typeface="Cambria Math" panose="02040503050406030204" pitchFamily="18" charset="0"/>
                      </a:rPr>
                      <m:t>≦</m:t>
                    </m:r>
                    <m:r>
                      <a:rPr lang="en-US" altLang="ja-JP" sz="2400" b="0" i="1" smtClean="0">
                        <a:latin typeface="Cambria Math" panose="02040503050406030204" pitchFamily="18" charset="0"/>
                      </a:rPr>
                      <m:t>𝑡</m:t>
                    </m:r>
                    <m:r>
                      <a:rPr lang="ja-JP" altLang="en-US" sz="2400" i="1">
                        <a:latin typeface="Cambria Math" panose="02040503050406030204" pitchFamily="18" charset="0"/>
                      </a:rPr>
                      <m:t>≦</m:t>
                    </m:r>
                    <m:r>
                      <a:rPr lang="en-US" altLang="ja-JP" sz="2400" i="1">
                        <a:latin typeface="Cambria Math" panose="02040503050406030204" pitchFamily="18" charset="0"/>
                      </a:rPr>
                      <m:t>5</m:t>
                    </m:r>
                  </m:oMath>
                </a14:m>
                <a:r>
                  <a:rPr lang="ja-JP" altLang="en-US" sz="2400" dirty="0"/>
                  <a:t> の平均加速度を求めなさい。</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5631606" cy="830997"/>
              </a:xfrm>
              <a:prstGeom prst="rect">
                <a:avLst/>
              </a:prstGeom>
              <a:blipFill>
                <a:blip r:embed="rId2"/>
                <a:stretch>
                  <a:fillRect l="-1623" t="-5882" r="-758" b="-16176"/>
                </a:stretch>
              </a:blipFill>
            </p:spPr>
            <p:txBody>
              <a:bodyPr/>
              <a:lstStyle/>
              <a:p>
                <a:r>
                  <a:rPr lang="ja-JP" altLang="en-US">
                    <a:noFill/>
                  </a:rPr>
                  <a:t> </a:t>
                </a:r>
              </a:p>
            </p:txBody>
          </p:sp>
        </mc:Fallback>
      </mc:AlternateContent>
      <p:graphicFrame>
        <p:nvGraphicFramePr>
          <p:cNvPr id="8" name="表 11">
            <a:extLst>
              <a:ext uri="{FF2B5EF4-FFF2-40B4-BE49-F238E27FC236}">
                <a16:creationId xmlns:a16="http://schemas.microsoft.com/office/drawing/2014/main" id="{D0ECD509-DECF-40ED-8527-FF9A153FB948}"/>
              </a:ext>
            </a:extLst>
          </p:cNvPr>
          <p:cNvGraphicFramePr>
            <a:graphicFrameLocks noGrp="1"/>
          </p:cNvGraphicFramePr>
          <p:nvPr>
            <p:extLst>
              <p:ext uri="{D42A27DB-BD31-4B8C-83A1-F6EECF244321}">
                <p14:modId xmlns:p14="http://schemas.microsoft.com/office/powerpoint/2010/main" val="1383920673"/>
              </p:ext>
            </p:extLst>
          </p:nvPr>
        </p:nvGraphicFramePr>
        <p:xfrm>
          <a:off x="567542" y="2187126"/>
          <a:ext cx="8128000" cy="296672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623761673"/>
                    </a:ext>
                  </a:extLst>
                </a:gridCol>
                <a:gridCol w="4064000">
                  <a:extLst>
                    <a:ext uri="{9D8B030D-6E8A-4147-A177-3AD203B41FA5}">
                      <a16:colId xmlns:a16="http://schemas.microsoft.com/office/drawing/2014/main" val="1350177872"/>
                    </a:ext>
                  </a:extLst>
                </a:gridCol>
              </a:tblGrid>
              <a:tr h="370840">
                <a:tc>
                  <a:txBody>
                    <a:bodyPr/>
                    <a:lstStyle/>
                    <a:p>
                      <a:r>
                        <a:rPr kumimoji="1" lang="ja-JP" altLang="en-US" dirty="0"/>
                        <a:t>時間（秒）</a:t>
                      </a:r>
                    </a:p>
                  </a:txBody>
                  <a:tcPr/>
                </a:tc>
                <a:tc>
                  <a:txBody>
                    <a:bodyPr/>
                    <a:lstStyle/>
                    <a:p>
                      <a:r>
                        <a:rPr kumimoji="1" lang="ja-JP" altLang="en-US" dirty="0"/>
                        <a:t>速度（</a:t>
                      </a:r>
                      <a:r>
                        <a:rPr kumimoji="1" lang="en-US" altLang="ja-JP" dirty="0"/>
                        <a:t>m/</a:t>
                      </a:r>
                      <a:r>
                        <a:rPr kumimoji="1" lang="ja-JP" altLang="en-US" dirty="0"/>
                        <a:t>秒）</a:t>
                      </a:r>
                    </a:p>
                  </a:txBody>
                  <a:tcPr/>
                </a:tc>
                <a:extLst>
                  <a:ext uri="{0D108BD9-81ED-4DB2-BD59-A6C34878D82A}">
                    <a16:rowId xmlns:a16="http://schemas.microsoft.com/office/drawing/2014/main" val="1271716605"/>
                  </a:ext>
                </a:extLst>
              </a:tr>
              <a:tr h="370840">
                <a:tc>
                  <a:txBody>
                    <a:bodyPr/>
                    <a:lstStyle/>
                    <a:p>
                      <a:r>
                        <a:rPr kumimoji="1" lang="en-US" altLang="ja-JP" dirty="0"/>
                        <a:t>0</a:t>
                      </a:r>
                      <a:endParaRPr kumimoji="1" lang="ja-JP" altLang="en-US" dirty="0"/>
                    </a:p>
                  </a:txBody>
                  <a:tcPr/>
                </a:tc>
                <a:tc>
                  <a:txBody>
                    <a:bodyPr/>
                    <a:lstStyle/>
                    <a:p>
                      <a:r>
                        <a:rPr kumimoji="1" lang="en-US" altLang="ja-JP" dirty="0"/>
                        <a:t>0</a:t>
                      </a:r>
                      <a:endParaRPr kumimoji="1" lang="ja-JP" altLang="en-US" dirty="0"/>
                    </a:p>
                  </a:txBody>
                  <a:tcPr/>
                </a:tc>
                <a:extLst>
                  <a:ext uri="{0D108BD9-81ED-4DB2-BD59-A6C34878D82A}">
                    <a16:rowId xmlns:a16="http://schemas.microsoft.com/office/drawing/2014/main" val="1843403703"/>
                  </a:ext>
                </a:extLst>
              </a:tr>
              <a:tr h="370840">
                <a:tc>
                  <a:txBody>
                    <a:bodyPr/>
                    <a:lstStyle/>
                    <a:p>
                      <a:r>
                        <a:rPr kumimoji="1" lang="en-US" altLang="ja-JP" dirty="0"/>
                        <a:t>1</a:t>
                      </a:r>
                      <a:endParaRPr kumimoji="1" lang="ja-JP" altLang="en-US" dirty="0"/>
                    </a:p>
                  </a:txBody>
                  <a:tcPr/>
                </a:tc>
                <a:tc>
                  <a:txBody>
                    <a:bodyPr/>
                    <a:lstStyle/>
                    <a:p>
                      <a:r>
                        <a:rPr kumimoji="1" lang="en-US" altLang="ja-JP" dirty="0"/>
                        <a:t>3</a:t>
                      </a:r>
                      <a:endParaRPr kumimoji="1" lang="ja-JP" altLang="en-US" dirty="0"/>
                    </a:p>
                  </a:txBody>
                  <a:tcPr/>
                </a:tc>
                <a:extLst>
                  <a:ext uri="{0D108BD9-81ED-4DB2-BD59-A6C34878D82A}">
                    <a16:rowId xmlns:a16="http://schemas.microsoft.com/office/drawing/2014/main" val="664712909"/>
                  </a:ext>
                </a:extLst>
              </a:tr>
              <a:tr h="370840">
                <a:tc>
                  <a:txBody>
                    <a:bodyPr/>
                    <a:lstStyle/>
                    <a:p>
                      <a:r>
                        <a:rPr kumimoji="1" lang="en-US" altLang="ja-JP" dirty="0"/>
                        <a:t>2</a:t>
                      </a:r>
                      <a:endParaRPr kumimoji="1" lang="ja-JP" altLang="en-US" dirty="0"/>
                    </a:p>
                  </a:txBody>
                  <a:tcPr/>
                </a:tc>
                <a:tc>
                  <a:txBody>
                    <a:bodyPr/>
                    <a:lstStyle/>
                    <a:p>
                      <a:r>
                        <a:rPr kumimoji="1" lang="en-US" altLang="ja-JP" dirty="0"/>
                        <a:t>12</a:t>
                      </a:r>
                      <a:endParaRPr kumimoji="1" lang="ja-JP" altLang="en-US" dirty="0"/>
                    </a:p>
                  </a:txBody>
                  <a:tcPr/>
                </a:tc>
                <a:extLst>
                  <a:ext uri="{0D108BD9-81ED-4DB2-BD59-A6C34878D82A}">
                    <a16:rowId xmlns:a16="http://schemas.microsoft.com/office/drawing/2014/main" val="2331909462"/>
                  </a:ext>
                </a:extLst>
              </a:tr>
              <a:tr h="370840">
                <a:tc>
                  <a:txBody>
                    <a:bodyPr/>
                    <a:lstStyle/>
                    <a:p>
                      <a:r>
                        <a:rPr kumimoji="1" lang="en-US" altLang="ja-JP" dirty="0"/>
                        <a:t>3</a:t>
                      </a:r>
                      <a:endParaRPr kumimoji="1" lang="ja-JP" altLang="en-US" dirty="0"/>
                    </a:p>
                  </a:txBody>
                  <a:tcPr/>
                </a:tc>
                <a:tc>
                  <a:txBody>
                    <a:bodyPr/>
                    <a:lstStyle/>
                    <a:p>
                      <a:r>
                        <a:rPr kumimoji="1" lang="en-US" altLang="ja-JP" dirty="0"/>
                        <a:t>27</a:t>
                      </a:r>
                      <a:endParaRPr kumimoji="1" lang="ja-JP" altLang="en-US" dirty="0"/>
                    </a:p>
                  </a:txBody>
                  <a:tcPr/>
                </a:tc>
                <a:extLst>
                  <a:ext uri="{0D108BD9-81ED-4DB2-BD59-A6C34878D82A}">
                    <a16:rowId xmlns:a16="http://schemas.microsoft.com/office/drawing/2014/main" val="3614912164"/>
                  </a:ext>
                </a:extLst>
              </a:tr>
              <a:tr h="370840">
                <a:tc>
                  <a:txBody>
                    <a:bodyPr/>
                    <a:lstStyle/>
                    <a:p>
                      <a:r>
                        <a:rPr kumimoji="1" lang="en-US" altLang="ja-JP" dirty="0"/>
                        <a:t>4</a:t>
                      </a:r>
                      <a:endParaRPr kumimoji="1" lang="ja-JP" altLang="en-US" dirty="0"/>
                    </a:p>
                  </a:txBody>
                  <a:tcPr/>
                </a:tc>
                <a:tc>
                  <a:txBody>
                    <a:bodyPr/>
                    <a:lstStyle/>
                    <a:p>
                      <a:r>
                        <a:rPr kumimoji="1" lang="en-US" altLang="ja-JP" dirty="0"/>
                        <a:t>48</a:t>
                      </a:r>
                      <a:endParaRPr kumimoji="1" lang="ja-JP" altLang="en-US" dirty="0"/>
                    </a:p>
                  </a:txBody>
                  <a:tcPr/>
                </a:tc>
                <a:extLst>
                  <a:ext uri="{0D108BD9-81ED-4DB2-BD59-A6C34878D82A}">
                    <a16:rowId xmlns:a16="http://schemas.microsoft.com/office/drawing/2014/main" val="3311389390"/>
                  </a:ext>
                </a:extLst>
              </a:tr>
              <a:tr h="370840">
                <a:tc>
                  <a:txBody>
                    <a:bodyPr/>
                    <a:lstStyle/>
                    <a:p>
                      <a:r>
                        <a:rPr kumimoji="1" lang="en-US" altLang="ja-JP" dirty="0"/>
                        <a:t>5</a:t>
                      </a:r>
                      <a:endParaRPr kumimoji="1" lang="ja-JP" altLang="en-US" dirty="0"/>
                    </a:p>
                  </a:txBody>
                  <a:tcPr/>
                </a:tc>
                <a:tc>
                  <a:txBody>
                    <a:bodyPr/>
                    <a:lstStyle/>
                    <a:p>
                      <a:r>
                        <a:rPr kumimoji="1" lang="en-US" altLang="ja-JP" dirty="0"/>
                        <a:t>75</a:t>
                      </a:r>
                      <a:endParaRPr kumimoji="1" lang="ja-JP" altLang="en-US" dirty="0"/>
                    </a:p>
                  </a:txBody>
                  <a:tcPr/>
                </a:tc>
                <a:extLst>
                  <a:ext uri="{0D108BD9-81ED-4DB2-BD59-A6C34878D82A}">
                    <a16:rowId xmlns:a16="http://schemas.microsoft.com/office/drawing/2014/main" val="2590311240"/>
                  </a:ext>
                </a:extLst>
              </a:tr>
              <a:tr h="370840">
                <a:tc>
                  <a:txBody>
                    <a:bodyPr/>
                    <a:lstStyle/>
                    <a:p>
                      <a:r>
                        <a:rPr kumimoji="1" lang="en-US" altLang="ja-JP" dirty="0"/>
                        <a:t>6</a:t>
                      </a:r>
                      <a:endParaRPr kumimoji="1" lang="ja-JP" altLang="en-US" dirty="0"/>
                    </a:p>
                  </a:txBody>
                  <a:tcPr/>
                </a:tc>
                <a:tc>
                  <a:txBody>
                    <a:bodyPr/>
                    <a:lstStyle/>
                    <a:p>
                      <a:r>
                        <a:rPr kumimoji="1" lang="en-US" altLang="ja-JP" dirty="0"/>
                        <a:t>108</a:t>
                      </a:r>
                      <a:endParaRPr kumimoji="1" lang="ja-JP" altLang="en-US" dirty="0"/>
                    </a:p>
                  </a:txBody>
                  <a:tcPr/>
                </a:tc>
                <a:extLst>
                  <a:ext uri="{0D108BD9-81ED-4DB2-BD59-A6C34878D82A}">
                    <a16:rowId xmlns:a16="http://schemas.microsoft.com/office/drawing/2014/main" val="987179435"/>
                  </a:ext>
                </a:extLst>
              </a:tr>
            </a:tbl>
          </a:graphicData>
        </a:graphic>
      </p:graphicFrame>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160146C-BBBF-451B-AABF-A2FFB9F5B07B}"/>
                  </a:ext>
                </a:extLst>
              </p:cNvPr>
              <p:cNvSpPr txBox="1"/>
              <p:nvPr/>
            </p:nvSpPr>
            <p:spPr>
              <a:xfrm>
                <a:off x="567542" y="5293546"/>
                <a:ext cx="6712222" cy="1178400"/>
              </a:xfrm>
              <a:prstGeom prst="rect">
                <a:avLst/>
              </a:prstGeom>
              <a:noFill/>
            </p:spPr>
            <p:txBody>
              <a:bodyPr wrap="none" rtlCol="0">
                <a:spAutoFit/>
              </a:bodyPr>
              <a:lstStyle/>
              <a:p>
                <a:r>
                  <a:rPr lang="ja-JP" altLang="en-US" sz="2400" dirty="0"/>
                  <a:t>■解答</a:t>
                </a:r>
                <a:endParaRPr lang="en-US" altLang="ja-JP" sz="2400" dirty="0"/>
              </a:p>
              <a:p>
                <a:pPr/>
                <a14:m>
                  <m:oMathPara xmlns:m="http://schemas.openxmlformats.org/officeDocument/2006/math">
                    <m:oMathParaPr>
                      <m:jc m:val="centerGroup"/>
                    </m:oMathParaPr>
                    <m:oMath xmlns:m="http://schemas.openxmlformats.org/officeDocument/2006/math">
                      <m:bar>
                        <m:barPr>
                          <m:pos m:val="top"/>
                          <m:ctrlPr>
                            <a:rPr lang="en-US" altLang="ja-JP" sz="2400" i="1">
                              <a:latin typeface="Cambria Math" panose="02040503050406030204" pitchFamily="18" charset="0"/>
                            </a:rPr>
                          </m:ctrlPr>
                        </m:barPr>
                        <m:e>
                          <m:r>
                            <a:rPr lang="en-US" altLang="ja-JP" sz="2400" i="1">
                              <a:latin typeface="Cambria Math" panose="02040503050406030204" pitchFamily="18" charset="0"/>
                            </a:rPr>
                            <m:t>𝑎</m:t>
                          </m:r>
                        </m:e>
                      </m:bar>
                      <m:r>
                        <a:rPr lang="en-US" altLang="ja-JP" sz="2400" i="1">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i="1">
                              <a:latin typeface="Cambria Math" panose="02040503050406030204" pitchFamily="18" charset="0"/>
                            </a:rPr>
                            <m:t>𝑓</m:t>
                          </m:r>
                          <m:d>
                            <m:dPr>
                              <m:ctrlPr>
                                <a:rPr lang="en-US" altLang="ja-JP" sz="2400" i="1">
                                  <a:latin typeface="Cambria Math" panose="02040503050406030204" pitchFamily="18" charset="0"/>
                                </a:rPr>
                              </m:ctrlPr>
                            </m:dPr>
                            <m:e>
                              <m:r>
                                <a:rPr lang="en-US" altLang="ja-JP" sz="2400" b="0" i="1" smtClean="0">
                                  <a:latin typeface="Cambria Math" panose="02040503050406030204" pitchFamily="18" charset="0"/>
                                </a:rPr>
                                <m:t>5</m:t>
                              </m:r>
                            </m:e>
                          </m:d>
                          <m:r>
                            <a:rPr lang="en-US" altLang="ja-JP" sz="2400" i="1">
                              <a:latin typeface="Cambria Math" panose="02040503050406030204" pitchFamily="18" charset="0"/>
                            </a:rPr>
                            <m:t>−</m:t>
                          </m:r>
                          <m:r>
                            <a:rPr lang="en-US" altLang="ja-JP" sz="2400" i="1">
                              <a:latin typeface="Cambria Math" panose="02040503050406030204" pitchFamily="18" charset="0"/>
                            </a:rPr>
                            <m:t>𝑓</m:t>
                          </m:r>
                          <m:r>
                            <a:rPr lang="en-US" altLang="ja-JP" sz="2400" i="1">
                              <a:latin typeface="Cambria Math" panose="02040503050406030204" pitchFamily="18" charset="0"/>
                            </a:rPr>
                            <m:t>(3)</m:t>
                          </m:r>
                        </m:num>
                        <m:den>
                          <m: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b="0" i="1" smtClean="0">
                              <a:latin typeface="Cambria Math" panose="02040503050406030204" pitchFamily="18" charset="0"/>
                            </a:rPr>
                            <m:t>3</m:t>
                          </m:r>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i="1" smtClean="0">
                              <a:latin typeface="Cambria Math" panose="02040503050406030204" pitchFamily="18" charset="0"/>
                            </a:rPr>
                            <m:t>7</m:t>
                          </m:r>
                          <m: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b="0" i="1" smtClean="0">
                              <a:latin typeface="Cambria Math" panose="02040503050406030204" pitchFamily="18" charset="0"/>
                            </a:rPr>
                            <m:t>27</m:t>
                          </m:r>
                        </m:num>
                        <m:den>
                          <m:r>
                            <a:rPr lang="en-US" altLang="ja-JP" sz="2400" b="0" i="1" smtClean="0">
                              <a:latin typeface="Cambria Math" panose="02040503050406030204" pitchFamily="18" charset="0"/>
                            </a:rPr>
                            <m:t>5</m:t>
                          </m:r>
                          <m:r>
                            <a:rPr lang="en-US" altLang="ja-JP" sz="2400" i="1">
                              <a:latin typeface="Cambria Math" panose="02040503050406030204" pitchFamily="18" charset="0"/>
                            </a:rPr>
                            <m:t>−</m:t>
                          </m:r>
                          <m:r>
                            <a:rPr lang="en-US" altLang="ja-JP" sz="2400" b="0" i="1" smtClean="0">
                              <a:latin typeface="Cambria Math" panose="02040503050406030204" pitchFamily="18" charset="0"/>
                            </a:rPr>
                            <m:t>3</m:t>
                          </m:r>
                        </m:den>
                      </m:f>
                      <m:r>
                        <a:rPr lang="en-US" altLang="ja-JP" sz="2400" b="0" i="1" smtClean="0">
                          <a:latin typeface="Cambria Math" panose="02040503050406030204" pitchFamily="18" charset="0"/>
                        </a:rPr>
                        <m:t>=</m:t>
                      </m:r>
                      <m:f>
                        <m:fPr>
                          <m:ctrlPr>
                            <a:rPr lang="en-US" altLang="ja-JP" sz="2400" i="1">
                              <a:latin typeface="Cambria Math" panose="02040503050406030204" pitchFamily="18" charset="0"/>
                            </a:rPr>
                          </m:ctrlPr>
                        </m:fPr>
                        <m:num>
                          <m:r>
                            <a:rPr lang="en-US" altLang="ja-JP" sz="2400" b="0" i="1" smtClean="0">
                              <a:latin typeface="Cambria Math" panose="02040503050406030204" pitchFamily="18" charset="0"/>
                            </a:rPr>
                            <m:t>48</m:t>
                          </m:r>
                        </m:num>
                        <m:den>
                          <m:r>
                            <a:rPr lang="en-US" altLang="ja-JP" sz="2400" b="0" i="1" smtClean="0">
                              <a:latin typeface="Cambria Math" panose="02040503050406030204" pitchFamily="18" charset="0"/>
                            </a:rPr>
                            <m:t>2</m:t>
                          </m:r>
                        </m:den>
                      </m:f>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24</m:t>
                      </m:r>
                      <m:r>
                        <a:rPr lang="en-US" altLang="ja-JP" sz="2400" b="0" i="1" smtClean="0">
                          <a:solidFill>
                            <a:srgbClr val="FF0000"/>
                          </a:solidFill>
                          <a:latin typeface="Cambria Math" panose="02040503050406030204" pitchFamily="18" charset="0"/>
                        </a:rPr>
                        <m:t>𝑚</m:t>
                      </m:r>
                      <m:r>
                        <a:rPr lang="en-US" altLang="ja-JP" sz="2400" b="0" i="1" smtClean="0">
                          <a:solidFill>
                            <a:srgbClr val="FF0000"/>
                          </a:solidFill>
                          <a:latin typeface="Cambria Math" panose="02040503050406030204" pitchFamily="18" charset="0"/>
                        </a:rPr>
                        <m:t>/</m:t>
                      </m:r>
                      <m:sSup>
                        <m:sSupPr>
                          <m:ctrlPr>
                            <a:rPr lang="en-US" altLang="ja-JP" sz="2400" b="0" i="1" smtClean="0">
                              <a:solidFill>
                                <a:srgbClr val="FF0000"/>
                              </a:solidFill>
                              <a:latin typeface="Cambria Math" panose="02040503050406030204" pitchFamily="18" charset="0"/>
                            </a:rPr>
                          </m:ctrlPr>
                        </m:sSupPr>
                        <m:e>
                          <m:r>
                            <a:rPr lang="ja-JP" altLang="en-US" sz="2400" i="1">
                              <a:solidFill>
                                <a:srgbClr val="FF0000"/>
                              </a:solidFill>
                              <a:latin typeface="Cambria Math" panose="02040503050406030204" pitchFamily="18" charset="0"/>
                            </a:rPr>
                            <m:t>秒</m:t>
                          </m:r>
                        </m:e>
                        <m:sup>
                          <m:r>
                            <a:rPr lang="en-US" altLang="ja-JP" sz="2400" b="0" i="1" smtClean="0">
                              <a:solidFill>
                                <a:srgbClr val="FF0000"/>
                              </a:solidFill>
                              <a:latin typeface="Cambria Math" panose="02040503050406030204" pitchFamily="18" charset="0"/>
                            </a:rPr>
                            <m:t>2</m:t>
                          </m:r>
                        </m:sup>
                      </m:sSup>
                    </m:oMath>
                  </m:oMathPara>
                </a14:m>
                <a:endParaRPr lang="en-US" altLang="ja-JP" sz="2400" dirty="0"/>
              </a:p>
            </p:txBody>
          </p:sp>
        </mc:Choice>
        <mc:Fallback xmlns="">
          <p:sp>
            <p:nvSpPr>
              <p:cNvPr id="9" name="テキスト ボックス 8">
                <a:extLst>
                  <a:ext uri="{FF2B5EF4-FFF2-40B4-BE49-F238E27FC236}">
                    <a16:creationId xmlns:a16="http://schemas.microsoft.com/office/drawing/2014/main" id="{9160146C-BBBF-451B-AABF-A2FFB9F5B07B}"/>
                  </a:ext>
                </a:extLst>
              </p:cNvPr>
              <p:cNvSpPr txBox="1">
                <a:spLocks noRot="1" noChangeAspect="1" noMove="1" noResize="1" noEditPoints="1" noAdjustHandles="1" noChangeArrowheads="1" noChangeShapeType="1" noTextEdit="1"/>
              </p:cNvSpPr>
              <p:nvPr/>
            </p:nvSpPr>
            <p:spPr>
              <a:xfrm>
                <a:off x="567542" y="5293546"/>
                <a:ext cx="6712222" cy="1178400"/>
              </a:xfrm>
              <a:prstGeom prst="rect">
                <a:avLst/>
              </a:prstGeom>
              <a:blipFill>
                <a:blip r:embed="rId3"/>
                <a:stretch>
                  <a:fillRect l="-1362" t="-4124"/>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67516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61665"/>
          </a:xfrm>
          <a:prstGeom prst="rect">
            <a:avLst/>
          </a:prstGeom>
          <a:noFill/>
        </p:spPr>
        <p:txBody>
          <a:bodyPr wrap="none" rtlCol="0">
            <a:spAutoFit/>
          </a:bodyPr>
          <a:lstStyle/>
          <a:p>
            <a:r>
              <a:rPr lang="ja-JP" altLang="en-US" sz="2400" dirty="0"/>
              <a:t>先ほどの表をグラフにすると、徐々に増加していく</a:t>
            </a:r>
            <a:r>
              <a:rPr lang="ja-JP" altLang="en-US" sz="2400" b="1" dirty="0">
                <a:solidFill>
                  <a:srgbClr val="FF0000"/>
                </a:solidFill>
              </a:rPr>
              <a:t>曲線</a:t>
            </a:r>
            <a:r>
              <a:rPr lang="ja-JP" altLang="en-US" sz="2400" dirty="0"/>
              <a:t>となります。</a:t>
            </a:r>
            <a:endParaRPr lang="en-US" altLang="ja-JP" sz="2400" dirty="0"/>
          </a:p>
        </p:txBody>
      </p:sp>
      <p:graphicFrame>
        <p:nvGraphicFramePr>
          <p:cNvPr id="7" name="グラフ 6">
            <a:extLst>
              <a:ext uri="{FF2B5EF4-FFF2-40B4-BE49-F238E27FC236}">
                <a16:creationId xmlns:a16="http://schemas.microsoft.com/office/drawing/2014/main" id="{30D6878C-FF41-4F6A-AE09-8E6794BBAA07}"/>
              </a:ext>
            </a:extLst>
          </p:cNvPr>
          <p:cNvGraphicFramePr/>
          <p:nvPr/>
        </p:nvGraphicFramePr>
        <p:xfrm>
          <a:off x="567543" y="1817794"/>
          <a:ext cx="4797560" cy="463308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46586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461665"/>
          </a:xfrm>
          <a:prstGeom prst="rect">
            <a:avLst/>
          </a:prstGeom>
          <a:noFill/>
        </p:spPr>
        <p:txBody>
          <a:bodyPr wrap="none" rtlCol="0">
            <a:spAutoFit/>
          </a:bodyPr>
          <a:lstStyle/>
          <a:p>
            <a:r>
              <a:rPr lang="ja-JP" altLang="en-US" sz="2400" b="1" dirty="0">
                <a:solidFill>
                  <a:srgbClr val="FF0000"/>
                </a:solidFill>
              </a:rPr>
              <a:t>平均加速度</a:t>
            </a:r>
            <a:r>
              <a:rPr lang="ja-JP" altLang="en-US" sz="2400" dirty="0"/>
              <a:t>は経過時間を結ぶ</a:t>
            </a:r>
            <a:r>
              <a:rPr lang="ja-JP" altLang="en-US" sz="2400" b="1" dirty="0">
                <a:solidFill>
                  <a:srgbClr val="FF0000"/>
                </a:solidFill>
              </a:rPr>
              <a:t>直線</a:t>
            </a:r>
            <a:r>
              <a:rPr lang="ja-JP" altLang="en-US" sz="2400" dirty="0"/>
              <a:t>となります。</a:t>
            </a:r>
            <a:endParaRPr lang="en-US" altLang="ja-JP" sz="2400" dirty="0"/>
          </a:p>
        </p:txBody>
      </p:sp>
      <p:graphicFrame>
        <p:nvGraphicFramePr>
          <p:cNvPr id="18" name="グラフ 17">
            <a:extLst>
              <a:ext uri="{FF2B5EF4-FFF2-40B4-BE49-F238E27FC236}">
                <a16:creationId xmlns:a16="http://schemas.microsoft.com/office/drawing/2014/main" id="{0825E195-D68B-4C5B-9F76-6FB7E92C23CB}"/>
              </a:ext>
            </a:extLst>
          </p:cNvPr>
          <p:cNvGraphicFramePr/>
          <p:nvPr/>
        </p:nvGraphicFramePr>
        <p:xfrm>
          <a:off x="567543" y="1817794"/>
          <a:ext cx="4797560" cy="4633083"/>
        </p:xfrm>
        <a:graphic>
          <a:graphicData uri="http://schemas.openxmlformats.org/drawingml/2006/chart">
            <c:chart xmlns:c="http://schemas.openxmlformats.org/drawingml/2006/chart" xmlns:r="http://schemas.openxmlformats.org/officeDocument/2006/relationships" r:id="rId2"/>
          </a:graphicData>
        </a:graphic>
      </p:graphicFrame>
      <p:cxnSp>
        <p:nvCxnSpPr>
          <p:cNvPr id="8" name="直線コネクタ 7">
            <a:extLst>
              <a:ext uri="{FF2B5EF4-FFF2-40B4-BE49-F238E27FC236}">
                <a16:creationId xmlns:a16="http://schemas.microsoft.com/office/drawing/2014/main" id="{1A39A437-0D6D-4378-8058-19215F8A8906}"/>
              </a:ext>
            </a:extLst>
          </p:cNvPr>
          <p:cNvCxnSpPr>
            <a:cxnSpLocks/>
          </p:cNvCxnSpPr>
          <p:nvPr/>
        </p:nvCxnSpPr>
        <p:spPr>
          <a:xfrm flipV="1">
            <a:off x="1959429" y="3517641"/>
            <a:ext cx="2360644" cy="2435290"/>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88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421886" cy="461665"/>
              </a:xfrm>
              <a:prstGeom prst="rect">
                <a:avLst/>
              </a:prstGeom>
              <a:noFill/>
            </p:spPr>
            <p:txBody>
              <a:bodyPr wrap="none" rtlCol="0">
                <a:spAutoFit/>
              </a:bodyPr>
              <a:lstStyle/>
              <a:p>
                <a:r>
                  <a:rPr lang="ja-JP" altLang="en-US" sz="2400" dirty="0"/>
                  <a:t>では</a:t>
                </a:r>
                <a14:m>
                  <m:oMath xmlns:m="http://schemas.openxmlformats.org/officeDocument/2006/math">
                    <m:r>
                      <a:rPr lang="en-US" altLang="ja-JP" sz="2400" b="0" i="1" dirty="0" smtClean="0">
                        <a:latin typeface="Cambria Math" panose="02040503050406030204" pitchFamily="18" charset="0"/>
                      </a:rPr>
                      <m:t>1</m:t>
                    </m:r>
                    <m:r>
                      <a:rPr lang="ja-JP" altLang="en-US" sz="2400" i="1">
                        <a:latin typeface="Cambria Math" panose="02040503050406030204" pitchFamily="18" charset="0"/>
                      </a:rPr>
                      <m:t>≦</m:t>
                    </m:r>
                    <m:r>
                      <a:rPr lang="en-US" altLang="ja-JP" sz="2400" b="0" i="1" smtClean="0">
                        <a:latin typeface="Cambria Math" panose="02040503050406030204" pitchFamily="18" charset="0"/>
                      </a:rPr>
                      <m:t>𝑡</m:t>
                    </m:r>
                    <m:r>
                      <a:rPr lang="ja-JP" altLang="en-US" sz="2400" i="1">
                        <a:latin typeface="Cambria Math" panose="02040503050406030204" pitchFamily="18" charset="0"/>
                      </a:rPr>
                      <m:t>≦</m:t>
                    </m:r>
                    <m:r>
                      <a:rPr lang="en-US" altLang="ja-JP" sz="2400" b="0" i="1" smtClean="0">
                        <a:latin typeface="Cambria Math" panose="02040503050406030204" pitchFamily="18" charset="0"/>
                      </a:rPr>
                      <m:t>1.000000000000000001</m:t>
                    </m:r>
                  </m:oMath>
                </a14:m>
                <a:r>
                  <a:rPr lang="ja-JP" altLang="en-US" sz="2400" dirty="0"/>
                  <a:t>だと。。</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421886" cy="461665"/>
              </a:xfrm>
              <a:prstGeom prst="rect">
                <a:avLst/>
              </a:prstGeom>
              <a:blipFill>
                <a:blip r:embed="rId2"/>
                <a:stretch>
                  <a:fillRect l="-1423" t="-10667" r="-474" b="-30667"/>
                </a:stretch>
              </a:blipFill>
            </p:spPr>
            <p:txBody>
              <a:bodyPr/>
              <a:lstStyle/>
              <a:p>
                <a:r>
                  <a:rPr lang="ja-JP" altLang="en-US">
                    <a:noFill/>
                  </a:rPr>
                  <a:t> </a:t>
                </a:r>
              </a:p>
            </p:txBody>
          </p:sp>
        </mc:Fallback>
      </mc:AlternateContent>
      <p:graphicFrame>
        <p:nvGraphicFramePr>
          <p:cNvPr id="18" name="グラフ 17">
            <a:extLst>
              <a:ext uri="{FF2B5EF4-FFF2-40B4-BE49-F238E27FC236}">
                <a16:creationId xmlns:a16="http://schemas.microsoft.com/office/drawing/2014/main" id="{0825E195-D68B-4C5B-9F76-6FB7E92C23CB}"/>
              </a:ext>
            </a:extLst>
          </p:cNvPr>
          <p:cNvGraphicFramePr/>
          <p:nvPr/>
        </p:nvGraphicFramePr>
        <p:xfrm>
          <a:off x="567543" y="1817794"/>
          <a:ext cx="4797560" cy="4633083"/>
        </p:xfrm>
        <a:graphic>
          <a:graphicData uri="http://schemas.openxmlformats.org/drawingml/2006/chart">
            <c:chart xmlns:c="http://schemas.openxmlformats.org/drawingml/2006/chart" xmlns:r="http://schemas.openxmlformats.org/officeDocument/2006/relationships" r:id="rId3"/>
          </a:graphicData>
        </a:graphic>
      </p:graphicFrame>
      <p:cxnSp>
        <p:nvCxnSpPr>
          <p:cNvPr id="8" name="直線コネクタ 7">
            <a:extLst>
              <a:ext uri="{FF2B5EF4-FFF2-40B4-BE49-F238E27FC236}">
                <a16:creationId xmlns:a16="http://schemas.microsoft.com/office/drawing/2014/main" id="{1A39A437-0D6D-4378-8058-19215F8A8906}"/>
              </a:ext>
            </a:extLst>
          </p:cNvPr>
          <p:cNvCxnSpPr>
            <a:cxnSpLocks/>
          </p:cNvCxnSpPr>
          <p:nvPr/>
        </p:nvCxnSpPr>
        <p:spPr>
          <a:xfrm flipV="1">
            <a:off x="1624059" y="5038531"/>
            <a:ext cx="3041247" cy="1056928"/>
          </a:xfrm>
          <a:prstGeom prst="line">
            <a:avLst/>
          </a:prstGeom>
          <a:ln w="38100">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E6E990DE-12BB-404F-B6AA-8490D642DC6E}"/>
              </a:ext>
            </a:extLst>
          </p:cNvPr>
          <p:cNvSpPr txBox="1"/>
          <p:nvPr/>
        </p:nvSpPr>
        <p:spPr>
          <a:xfrm>
            <a:off x="6015267" y="3429000"/>
            <a:ext cx="5109091" cy="1200329"/>
          </a:xfrm>
          <a:prstGeom prst="rect">
            <a:avLst/>
          </a:prstGeom>
          <a:noFill/>
        </p:spPr>
        <p:txBody>
          <a:bodyPr wrap="none" rtlCol="0">
            <a:spAutoFit/>
          </a:bodyPr>
          <a:lstStyle/>
          <a:p>
            <a:r>
              <a:rPr lang="ja-JP" altLang="en-US" sz="2400" dirty="0"/>
              <a:t>このように</a:t>
            </a:r>
            <a:endParaRPr lang="en-US" altLang="ja-JP" sz="2400" dirty="0"/>
          </a:p>
          <a:p>
            <a:r>
              <a:rPr lang="ja-JP" altLang="en-US" sz="2400" b="1" dirty="0">
                <a:solidFill>
                  <a:srgbClr val="FF0000"/>
                </a:solidFill>
              </a:rPr>
              <a:t>瞬間速度と同じ考え方</a:t>
            </a:r>
            <a:r>
              <a:rPr lang="ja-JP" altLang="en-US" sz="2400" dirty="0"/>
              <a:t>で、</a:t>
            </a:r>
            <a:endParaRPr lang="en-US" altLang="ja-JP" sz="2400" dirty="0"/>
          </a:p>
          <a:p>
            <a:r>
              <a:rPr lang="ja-JP" altLang="en-US" sz="2400" b="1" dirty="0">
                <a:solidFill>
                  <a:srgbClr val="FF0000"/>
                </a:solidFill>
              </a:rPr>
              <a:t>瞬間加速度</a:t>
            </a:r>
            <a:r>
              <a:rPr lang="ja-JP" altLang="en-US" sz="2400" dirty="0"/>
              <a:t>も求めることができます</a:t>
            </a:r>
            <a:endParaRPr lang="en-US" altLang="ja-JP" sz="2400" dirty="0"/>
          </a:p>
        </p:txBody>
      </p:sp>
    </p:spTree>
    <p:extLst>
      <p:ext uri="{BB962C8B-B14F-4D97-AF65-F5344CB8AC3E}">
        <p14:creationId xmlns:p14="http://schemas.microsoft.com/office/powerpoint/2010/main" val="38336859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54E75C70-07AC-450F-AB27-EDCE24E3ADF9}"/>
              </a:ext>
            </a:extLst>
          </p:cNvPr>
          <p:cNvSpPr/>
          <p:nvPr/>
        </p:nvSpPr>
        <p:spPr>
          <a:xfrm>
            <a:off x="298580" y="1800808"/>
            <a:ext cx="10916816" cy="1841716"/>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523995"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19840" cy="3394391"/>
              </a:xfrm>
              <a:prstGeom prst="rect">
                <a:avLst/>
              </a:prstGeom>
              <a:noFill/>
            </p:spPr>
            <p:txBody>
              <a:bodyPr wrap="none" rtlCol="0">
                <a:spAutoFit/>
              </a:bodyPr>
              <a:lstStyle/>
              <a:p>
                <a:r>
                  <a:rPr lang="ja-JP" altLang="en-US" sz="2400" dirty="0"/>
                  <a:t>瞬間加速度の定義です。</a:t>
                </a:r>
                <a:endParaRPr lang="en-US" altLang="ja-JP" sz="2400" dirty="0"/>
              </a:p>
              <a:p>
                <a:endParaRPr lang="en-US" altLang="ja-JP" sz="2400" dirty="0"/>
              </a:p>
              <a:p>
                <a:r>
                  <a:rPr lang="ja-JP" altLang="en-US" sz="2400" b="1" dirty="0">
                    <a:solidFill>
                      <a:srgbClr val="FF0000"/>
                    </a:solidFill>
                  </a:rPr>
                  <a:t>■瞬間加速度</a:t>
                </a:r>
                <a:endParaRPr lang="en-US" altLang="ja-JP" sz="2400" b="1" dirty="0">
                  <a:solidFill>
                    <a:srgbClr val="FF0000"/>
                  </a:solidFill>
                </a:endParaRPr>
              </a:p>
              <a:p>
                <a:r>
                  <a:rPr lang="ja-JP" altLang="en-US" sz="2400" dirty="0"/>
                  <a:t>速度が時間の関数</a:t>
                </a:r>
                <a14:m>
                  <m:oMath xmlns:m="http://schemas.openxmlformats.org/officeDocument/2006/math">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として表されるとき、時間</a:t>
                </a:r>
                <a14:m>
                  <m:oMath xmlns:m="http://schemas.openxmlformats.org/officeDocument/2006/math">
                    <m:r>
                      <a:rPr lang="en-US" altLang="ja-JP" sz="2400" i="1">
                        <a:latin typeface="Cambria Math" panose="02040503050406030204" pitchFamily="18" charset="0"/>
                      </a:rPr>
                      <m:t>𝑡</m:t>
                    </m:r>
                  </m:oMath>
                </a14:m>
                <a:r>
                  <a:rPr lang="ja-JP" altLang="en-US" sz="2400" dirty="0"/>
                  <a:t>における瞬間加速度は、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endParaRPr lang="en-US" altLang="ja-JP" sz="2400" dirty="0"/>
              </a:p>
              <a:p>
                <a:r>
                  <a:rPr lang="ja-JP" altLang="en-US" sz="2400" b="1" dirty="0">
                    <a:solidFill>
                      <a:srgbClr val="FF0000"/>
                    </a:solidFill>
                  </a:rPr>
                  <a:t>瞬間速度とは計算が同じですが単位が違います。</a:t>
                </a:r>
                <a:endParaRPr lang="en-US" altLang="ja-JP" sz="2400" b="1" dirty="0">
                  <a:solidFill>
                    <a:srgbClr val="FF0000"/>
                  </a:solidFill>
                </a:endParaRPr>
              </a:p>
              <a:p>
                <a:r>
                  <a:rPr lang="ja-JP" altLang="en-US" sz="2400" dirty="0"/>
                  <a:t>（瞬間速度は</a:t>
                </a:r>
                <a:r>
                  <a:rPr lang="ja-JP" altLang="en-US" sz="2400" b="1" dirty="0">
                    <a:solidFill>
                      <a:srgbClr val="FF0000"/>
                    </a:solidFill>
                  </a:rPr>
                  <a:t>位置</a:t>
                </a:r>
                <a:r>
                  <a:rPr lang="ja-JP" altLang="en-US" sz="2400" dirty="0"/>
                  <a:t>が時間の関数</a:t>
                </a:r>
                <a14:m>
                  <m:oMath xmlns:m="http://schemas.openxmlformats.org/officeDocument/2006/math">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419840" cy="3394391"/>
              </a:xfrm>
              <a:prstGeom prst="rect">
                <a:avLst/>
              </a:prstGeom>
              <a:blipFill>
                <a:blip r:embed="rId2"/>
                <a:stretch>
                  <a:fillRect l="-878" t="-1439" b="-3417"/>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168059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15748" cy="5481822"/>
              </a:xfrm>
              <a:prstGeom prst="rect">
                <a:avLst/>
              </a:prstGeom>
              <a:noFill/>
            </p:spPr>
            <p:txBody>
              <a:bodyPr wrap="none" rtlCol="0">
                <a:spAutoFit/>
              </a:bodyPr>
              <a:lstStyle/>
              <a:p>
                <a:r>
                  <a:rPr lang="ja-JP" altLang="en-US" sz="2400" dirty="0"/>
                  <a:t>ボールを真上に投げた時の</a:t>
                </a:r>
                <a:endParaRPr lang="en-US" altLang="ja-JP" sz="2400" dirty="0"/>
              </a:p>
              <a:p>
                <a:r>
                  <a:rPr lang="ja-JP" altLang="en-US" sz="2400" dirty="0"/>
                  <a:t>速度が時間の関数</a:t>
                </a:r>
                <a14:m>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=−9.8</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+25</m:t>
                    </m:r>
                  </m:oMath>
                </a14:m>
                <a:r>
                  <a:rPr lang="ja-JP" altLang="en-US" sz="2400" dirty="0"/>
                  <a:t>で表されるとき、</a:t>
                </a:r>
                <a:endParaRPr lang="en-US" altLang="ja-JP" sz="2400" dirty="0"/>
              </a:p>
              <a:p>
                <a14:m>
                  <m:oMath xmlns:m="http://schemas.openxmlformats.org/officeDocument/2006/math">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=3</m:t>
                    </m:r>
                  </m:oMath>
                </a14:m>
                <a:r>
                  <a:rPr lang="ja-JP" altLang="en-US" sz="2400" dirty="0"/>
                  <a:t>における瞬間加速度を求めなさい。</a:t>
                </a:r>
                <a:endParaRPr lang="en-US" altLang="ja-JP" sz="2400" dirty="0"/>
              </a:p>
              <a:p>
                <a:endParaRPr lang="en-US" altLang="ja-JP" sz="2400" dirty="0"/>
              </a:p>
              <a:p>
                <a:r>
                  <a:rPr lang="ja-JP" altLang="en-US" sz="2400" dirty="0"/>
                  <a:t>■解答</a:t>
                </a:r>
                <a:endParaRPr lang="en-US" altLang="ja-JP" sz="2400" dirty="0"/>
              </a:p>
              <a:p>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i="1">
                                    <a:latin typeface="Cambria Math" panose="02040503050406030204" pitchFamily="18" charset="0"/>
                                  </a:rPr>
                                  <m:t>3</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(3)</m:t>
                            </m:r>
                          </m:num>
                          <m:den>
                            <m:r>
                              <a:rPr lang="en-US" altLang="ja-JP" sz="2400" b="0" i="1" smtClean="0">
                                <a:latin typeface="Cambria Math" panose="02040503050406030204" pitchFamily="18" charset="0"/>
                              </a:rPr>
                              <m:t>h</m:t>
                            </m:r>
                          </m:den>
                        </m:f>
                      </m:e>
                    </m:func>
                  </m:oMath>
                </a14:m>
                <a:r>
                  <a:rPr lang="en-US" altLang="ja-JP" sz="2400" dirty="0"/>
                  <a:t> </a:t>
                </a:r>
              </a:p>
              <a:p>
                <a:pPr>
                  <a:lnSpc>
                    <a:spcPct val="150000"/>
                  </a:lnSpc>
                </a:pPr>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(−9.8</m:t>
                            </m:r>
                            <m:d>
                              <m:dPr>
                                <m:ctrlPr>
                                  <a:rPr lang="en-US" altLang="ja-JP" sz="2400" b="0" i="1" smtClean="0">
                                    <a:latin typeface="Cambria Math" panose="02040503050406030204" pitchFamily="18" charset="0"/>
                                  </a:rPr>
                                </m:ctrlPr>
                              </m:dPr>
                              <m:e>
                                <m:r>
                                  <a:rPr lang="en-US" altLang="ja-JP" sz="2400" i="1">
                                    <a:latin typeface="Cambria Math" panose="02040503050406030204" pitchFamily="18" charset="0"/>
                                  </a:rPr>
                                  <m:t>3</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+25)−(−9.8</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3</m:t>
                                </m:r>
                              </m:e>
                            </m:d>
                            <m:r>
                              <a:rPr lang="en-US" altLang="ja-JP" sz="2400" b="0" i="1" smtClean="0">
                                <a:latin typeface="Cambria Math" panose="02040503050406030204" pitchFamily="18" charset="0"/>
                              </a:rPr>
                              <m:t>+25)</m:t>
                            </m:r>
                          </m:num>
                          <m:den>
                            <m:r>
                              <a:rPr lang="en-US" altLang="ja-JP" sz="2400" b="0" i="1" smtClean="0">
                                <a:latin typeface="Cambria Math" panose="02040503050406030204" pitchFamily="18" charset="0"/>
                              </a:rPr>
                              <m:t>h</m:t>
                            </m:r>
                          </m:den>
                        </m:f>
                      </m:e>
                    </m:func>
                  </m:oMath>
                </a14:m>
                <a:r>
                  <a:rPr lang="en-US" altLang="ja-JP" sz="2400" dirty="0"/>
                  <a:t> </a:t>
                </a:r>
              </a:p>
              <a:p>
                <a:pPr>
                  <a:lnSpc>
                    <a:spcPct val="150000"/>
                  </a:lnSpc>
                </a:pPr>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(−29.4−9.8</m:t>
                            </m:r>
                            <m:r>
                              <a:rPr lang="en-US" altLang="ja-JP" sz="2400" b="0" i="1" smtClean="0">
                                <a:latin typeface="Cambria Math" panose="02040503050406030204" pitchFamily="18" charset="0"/>
                              </a:rPr>
                              <m:t>h</m:t>
                            </m:r>
                            <m:r>
                              <a:rPr lang="en-US" altLang="ja-JP" sz="2400" b="0" i="1" smtClean="0">
                                <a:latin typeface="Cambria Math" panose="02040503050406030204" pitchFamily="18" charset="0"/>
                              </a:rPr>
                              <m:t>+25+29.4−25)</m:t>
                            </m:r>
                          </m:num>
                          <m:den>
                            <m:r>
                              <a:rPr lang="en-US" altLang="ja-JP" sz="2400" b="0" i="1" smtClean="0">
                                <a:latin typeface="Cambria Math" panose="02040503050406030204" pitchFamily="18" charset="0"/>
                              </a:rPr>
                              <m:t>h</m:t>
                            </m:r>
                          </m:den>
                        </m:f>
                      </m:e>
                    </m:func>
                  </m:oMath>
                </a14:m>
                <a:r>
                  <a:rPr lang="en-US" altLang="ja-JP" sz="2400" dirty="0"/>
                  <a:t> </a:t>
                </a:r>
              </a:p>
              <a:p>
                <a:pPr>
                  <a:lnSpc>
                    <a:spcPct val="150000"/>
                  </a:lnSpc>
                </a:pPr>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i="1">
                                <a:latin typeface="Cambria Math" panose="02040503050406030204" pitchFamily="18" charset="0"/>
                              </a:rPr>
                            </m:ctrlPr>
                          </m:limLowPr>
                          <m:e>
                            <m:r>
                              <m:rPr>
                                <m:sty m:val="p"/>
                              </m:rPr>
                              <a:rPr lang="en-US" altLang="ja-JP" sz="2400">
                                <a:latin typeface="Cambria Math" panose="02040503050406030204" pitchFamily="18" charset="0"/>
                              </a:rPr>
                              <m:t>lim</m:t>
                            </m:r>
                          </m:e>
                          <m:lim>
                            <m:r>
                              <a:rPr lang="en-US" altLang="ja-JP" sz="2400" i="1">
                                <a:latin typeface="Cambria Math" panose="02040503050406030204" pitchFamily="18" charset="0"/>
                              </a:rPr>
                              <m:t>h</m:t>
                            </m:r>
                            <m:r>
                              <a:rPr lang="ja-JP" altLang="en-US" sz="2400" i="1">
                                <a:latin typeface="Cambria Math" panose="02040503050406030204" pitchFamily="18" charset="0"/>
                              </a:rPr>
                              <m:t>→</m:t>
                            </m:r>
                            <m:r>
                              <a:rPr lang="en-US" altLang="ja-JP" sz="2400" i="1">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−9.8</m:t>
                            </m:r>
                            <m:r>
                              <a:rPr lang="en-US" altLang="ja-JP" sz="2400" b="0" i="1" smtClean="0">
                                <a:latin typeface="Cambria Math" panose="02040503050406030204" pitchFamily="18" charset="0"/>
                              </a:rPr>
                              <m:t>h</m:t>
                            </m:r>
                          </m:num>
                          <m:den>
                            <m:r>
                              <a:rPr lang="en-US" altLang="ja-JP" sz="2400" b="0" i="1" smtClean="0">
                                <a:latin typeface="Cambria Math" panose="02040503050406030204" pitchFamily="18" charset="0"/>
                              </a:rPr>
                              <m:t>h</m:t>
                            </m:r>
                          </m:den>
                        </m:f>
                      </m:e>
                    </m:func>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−9.8</m:t>
                    </m:r>
                  </m:oMath>
                </a14:m>
                <a:r>
                  <a:rPr lang="en-US" altLang="ja-JP" sz="2400" dirty="0">
                    <a:solidFill>
                      <a:srgbClr val="FF0000"/>
                    </a:solidFill>
                  </a:rPr>
                  <a:t> </a:t>
                </a:r>
                <a:endParaRPr lang="en-US" altLang="ja-JP" sz="2400" dirty="0"/>
              </a:p>
              <a:p>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8115748" cy="5481822"/>
              </a:xfrm>
              <a:prstGeom prst="rect">
                <a:avLst/>
              </a:prstGeom>
              <a:blipFill>
                <a:blip r:embed="rId2"/>
                <a:stretch>
                  <a:fillRect l="-1127" t="-890" r="-22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505339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四角形: 角を丸くする 4">
            <a:extLst>
              <a:ext uri="{FF2B5EF4-FFF2-40B4-BE49-F238E27FC236}">
                <a16:creationId xmlns:a16="http://schemas.microsoft.com/office/drawing/2014/main" id="{8E73CF26-3112-4B30-9010-C039FDCBF32E}"/>
              </a:ext>
            </a:extLst>
          </p:cNvPr>
          <p:cNvSpPr/>
          <p:nvPr/>
        </p:nvSpPr>
        <p:spPr>
          <a:xfrm>
            <a:off x="279918" y="4036446"/>
            <a:ext cx="10692882" cy="140892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四角形: 角を丸くする 1">
            <a:extLst>
              <a:ext uri="{FF2B5EF4-FFF2-40B4-BE49-F238E27FC236}">
                <a16:creationId xmlns:a16="http://schemas.microsoft.com/office/drawing/2014/main" id="{5BDE4326-9A5C-40B9-9883-6BF9F195CD47}"/>
              </a:ext>
            </a:extLst>
          </p:cNvPr>
          <p:cNvSpPr/>
          <p:nvPr/>
        </p:nvSpPr>
        <p:spPr>
          <a:xfrm>
            <a:off x="279918" y="1819469"/>
            <a:ext cx="10692882" cy="140892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548657" cy="4893647"/>
              </a:xfrm>
              <a:prstGeom prst="rect">
                <a:avLst/>
              </a:prstGeom>
              <a:noFill/>
            </p:spPr>
            <p:txBody>
              <a:bodyPr wrap="none" rtlCol="0">
                <a:spAutoFit/>
              </a:bodyPr>
              <a:lstStyle/>
              <a:p>
                <a:r>
                  <a:rPr lang="ja-JP" altLang="en-US" sz="2400" dirty="0"/>
                  <a:t>導関数による計算ができるので以下のように定義できます。</a:t>
                </a:r>
                <a:endParaRPr lang="en-US" altLang="ja-JP" sz="2400" dirty="0"/>
              </a:p>
              <a:p>
                <a:endParaRPr lang="en-US" altLang="ja-JP" sz="2400" dirty="0"/>
              </a:p>
              <a:p>
                <a:r>
                  <a:rPr lang="ja-JP" altLang="en-US" sz="2400" b="1" dirty="0">
                    <a:solidFill>
                      <a:srgbClr val="FF0000"/>
                    </a:solidFill>
                  </a:rPr>
                  <a:t>■瞬間加速度</a:t>
                </a:r>
                <a:endParaRPr lang="en-US" altLang="ja-JP" sz="2400" b="1" dirty="0">
                  <a:solidFill>
                    <a:srgbClr val="FF0000"/>
                  </a:solidFill>
                </a:endParaRPr>
              </a:p>
              <a:p>
                <a:r>
                  <a:rPr lang="ja-JP" altLang="en-US" sz="2400" dirty="0"/>
                  <a:t>速度が時間の関数</a:t>
                </a:r>
                <a14:m>
                  <m:oMath xmlns:m="http://schemas.openxmlformats.org/officeDocument/2006/math">
                    <m:r>
                      <a:rPr lang="en-US" altLang="ja-JP" sz="2400" i="1">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として表されるとき、時間</a:t>
                </a:r>
                <a14:m>
                  <m:oMath xmlns:m="http://schemas.openxmlformats.org/officeDocument/2006/math">
                    <m:r>
                      <a:rPr lang="en-US" altLang="ja-JP" sz="2400" i="1">
                        <a:latin typeface="Cambria Math" panose="02040503050406030204" pitchFamily="18" charset="0"/>
                      </a:rPr>
                      <m:t>𝑡</m:t>
                    </m:r>
                  </m:oMath>
                </a14:m>
                <a:r>
                  <a:rPr lang="ja-JP" altLang="en-US" sz="2400" dirty="0"/>
                  <a:t>における瞬間加速度は、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endParaRPr lang="en-US" altLang="ja-JP" sz="2400" dirty="0"/>
              </a:p>
              <a:p>
                <a:r>
                  <a:rPr lang="ja-JP" altLang="en-US" sz="2400" dirty="0"/>
                  <a:t>ここで前回の瞬間速度の定義を思い出します。</a:t>
                </a:r>
                <a:endParaRPr lang="en-US" altLang="ja-JP" sz="2400" dirty="0"/>
              </a:p>
              <a:p>
                <a:endParaRPr lang="en-US" altLang="ja-JP" sz="2400" dirty="0"/>
              </a:p>
              <a:p>
                <a:r>
                  <a:rPr lang="ja-JP" altLang="en-US" sz="2400" b="1" dirty="0">
                    <a:solidFill>
                      <a:srgbClr val="FF0000"/>
                    </a:solidFill>
                  </a:rPr>
                  <a:t>■瞬間速度</a:t>
                </a:r>
                <a:endParaRPr lang="en-US" altLang="ja-JP" sz="2400" b="1" dirty="0">
                  <a:solidFill>
                    <a:srgbClr val="FF0000"/>
                  </a:solidFill>
                </a:endParaRPr>
              </a:p>
              <a:p>
                <a:r>
                  <a:rPr lang="ja-JP" altLang="en-US" sz="2400" dirty="0"/>
                  <a:t>位置が時間の関数</a:t>
                </a:r>
                <a14:m>
                  <m:oMath xmlns:m="http://schemas.openxmlformats.org/officeDocument/2006/math">
                    <m:r>
                      <a:rPr lang="en-US" altLang="ja-JP" sz="2400" i="1">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として表されるとき、瞬間速度は、</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endParaRPr lang="en-US" altLang="ja-JP" sz="2400" dirty="0"/>
              </a:p>
              <a:p>
                <a:r>
                  <a:rPr lang="ja-JP" altLang="en-US" sz="2400" dirty="0"/>
                  <a:t>お互いの式の</a:t>
                </a:r>
                <a14:m>
                  <m:oMath xmlns:m="http://schemas.openxmlformats.org/officeDocument/2006/math">
                    <m:r>
                      <a:rPr lang="en-US" altLang="ja-JP" sz="2400" b="0" i="1" smtClean="0">
                        <a:latin typeface="Cambria Math" panose="02040503050406030204" pitchFamily="18" charset="0"/>
                      </a:rPr>
                      <m:t>𝑣</m:t>
                    </m:r>
                    <m:r>
                      <a:rPr lang="ja-JP" altLang="en-US" sz="2400" i="1">
                        <a:latin typeface="Cambria Math" panose="02040503050406030204" pitchFamily="18" charset="0"/>
                      </a:rPr>
                      <m:t>に</m:t>
                    </m:r>
                  </m:oMath>
                </a14:m>
                <a:r>
                  <a:rPr lang="ja-JP" altLang="en-US" sz="2400" dirty="0"/>
                  <a:t>注目します。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548657" cy="4893647"/>
              </a:xfrm>
              <a:prstGeom prst="rect">
                <a:avLst/>
              </a:prstGeom>
              <a:blipFill>
                <a:blip r:embed="rId2"/>
                <a:stretch>
                  <a:fillRect l="-867" t="-998" b="-199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152586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3046988"/>
              </a:xfrm>
              <a:prstGeom prst="rect">
                <a:avLst/>
              </a:prstGeom>
              <a:noFill/>
            </p:spPr>
            <p:txBody>
              <a:bodyPr wrap="none" rtlCol="0">
                <a:spAutoFit/>
              </a:bodyPr>
              <a:lstStyle/>
              <a:p>
                <a14:m>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en-US" altLang="ja-JP" sz="2400" dirty="0"/>
                  <a:t> </a:t>
                </a:r>
                <a:r>
                  <a:rPr lang="ja-JP" altLang="en-US" sz="2400" dirty="0"/>
                  <a:t>・・・位置と時間の導関数から瞬間速度を計算</a:t>
                </a:r>
                <a:endParaRPr lang="en-US" altLang="ja-JP" sz="2400" dirty="0"/>
              </a:p>
              <a:p>
                <a14:m>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en-US" altLang="ja-JP" sz="2400" dirty="0"/>
                  <a:t> </a:t>
                </a:r>
                <a:r>
                  <a:rPr lang="ja-JP" altLang="en-US" sz="2400" dirty="0"/>
                  <a:t>・・・速度と時間の導関数から瞬間加速度を計算</a:t>
                </a:r>
                <a:endParaRPr lang="en-US" altLang="ja-JP" sz="2400" dirty="0"/>
              </a:p>
              <a:p>
                <a:endParaRPr lang="en-US" altLang="ja-JP" sz="2400" dirty="0"/>
              </a:p>
              <a:p>
                <a:r>
                  <a:rPr lang="ja-JP" altLang="en-US" sz="2400" dirty="0"/>
                  <a:t>上の式は</a:t>
                </a:r>
                <a14:m>
                  <m:oMath xmlns:m="http://schemas.openxmlformats.org/officeDocument/2006/math">
                    <m:r>
                      <a:rPr lang="en-US" altLang="ja-JP" sz="2400" b="0" i="1" smtClean="0">
                        <a:latin typeface="Cambria Math" panose="02040503050406030204" pitchFamily="18" charset="0"/>
                      </a:rPr>
                      <m:t>𝑣</m:t>
                    </m:r>
                    <m:r>
                      <a:rPr lang="en-US" altLang="ja-JP" sz="2400" b="0" i="1" smtClean="0">
                        <a:latin typeface="Cambria Math" panose="02040503050406030204" pitchFamily="18" charset="0"/>
                      </a:rPr>
                      <m:t>=</m:t>
                    </m:r>
                  </m:oMath>
                </a14:m>
                <a:r>
                  <a:rPr lang="ja-JP" altLang="en-US" sz="2400" dirty="0"/>
                  <a:t>の形なので下の式の</a:t>
                </a:r>
                <a14:m>
                  <m:oMath xmlns:m="http://schemas.openxmlformats.org/officeDocument/2006/math">
                    <m:r>
                      <a:rPr lang="en-US" altLang="ja-JP" sz="2400" i="1">
                        <a:latin typeface="Cambria Math" panose="02040503050406030204" pitchFamily="18" charset="0"/>
                      </a:rPr>
                      <m:t>𝑣</m:t>
                    </m:r>
                    <m:r>
                      <a:rPr lang="ja-JP" altLang="en-US" sz="2400" i="1" smtClean="0">
                        <a:latin typeface="Cambria Math" panose="02040503050406030204" pitchFamily="18" charset="0"/>
                      </a:rPr>
                      <m:t>に</m:t>
                    </m:r>
                  </m:oMath>
                </a14:m>
                <a:r>
                  <a:rPr lang="ja-JP" altLang="en-US" sz="2400" dirty="0"/>
                  <a:t>代入できます。</a:t>
                </a:r>
                <a:endParaRPr lang="en-US" altLang="ja-JP" sz="2400" dirty="0"/>
              </a:p>
              <a:p>
                <a:pPr/>
                <a14:m>
                  <m:oMathPara xmlns:m="http://schemas.openxmlformats.org/officeDocument/2006/math">
                    <m:oMathParaPr>
                      <m:jc m:val="left"/>
                    </m:oMathParaPr>
                    <m:oMath xmlns:m="http://schemas.openxmlformats.org/officeDocument/2006/math">
                      <m:r>
                        <a:rPr lang="en-US" altLang="ja-JP" sz="2400" b="0" i="1" smtClean="0">
                          <a:latin typeface="Cambria Math" panose="02040503050406030204" pitchFamily="18" charset="0"/>
                        </a:rPr>
                        <m:t>𝑎</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endParaRPr lang="en-US" altLang="ja-JP" sz="2400" dirty="0"/>
              </a:p>
              <a:p>
                <a:r>
                  <a:rPr lang="ja-JP" altLang="en-US" sz="2400" dirty="0"/>
                  <a:t>つまり、瞬間加速度は、</a:t>
                </a:r>
                <a:endParaRPr lang="en-US" altLang="ja-JP" sz="2400" dirty="0"/>
              </a:p>
              <a:p>
                <a:r>
                  <a:rPr lang="ja-JP" altLang="en-US" sz="2400" b="1" dirty="0">
                    <a:solidFill>
                      <a:srgbClr val="FF0000"/>
                    </a:solidFill>
                  </a:rPr>
                  <a:t>位置と時間の導関数</a:t>
                </a:r>
                <a:r>
                  <a:rPr lang="ja-JP" altLang="en-US" sz="2400" dirty="0"/>
                  <a:t>から</a:t>
                </a:r>
                <a:r>
                  <a:rPr lang="ja-JP" altLang="en-US" sz="2400" b="1" dirty="0">
                    <a:solidFill>
                      <a:srgbClr val="FF0000"/>
                    </a:solidFill>
                  </a:rPr>
                  <a:t>もう一度導関数</a:t>
                </a:r>
                <a:r>
                  <a:rPr lang="ja-JP" altLang="en-US" sz="2400" dirty="0"/>
                  <a:t>を計算すると求めることができます。</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956846" cy="3046988"/>
              </a:xfrm>
              <a:prstGeom prst="rect">
                <a:avLst/>
              </a:prstGeom>
              <a:blipFill>
                <a:blip r:embed="rId2"/>
                <a:stretch>
                  <a:fillRect l="-835" t="-1603" b="-3808"/>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7553615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920032A1-360A-413A-A95C-B40606475464}"/>
              </a:ext>
            </a:extLst>
          </p:cNvPr>
          <p:cNvSpPr/>
          <p:nvPr/>
        </p:nvSpPr>
        <p:spPr>
          <a:xfrm>
            <a:off x="317241" y="1856792"/>
            <a:ext cx="7128588" cy="180766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2308324"/>
              </a:xfrm>
              <a:prstGeom prst="rect">
                <a:avLst/>
              </a:prstGeom>
              <a:noFill/>
            </p:spPr>
            <p:txBody>
              <a:bodyPr wrap="none" rtlCol="0">
                <a:spAutoFit/>
              </a:bodyPr>
              <a:lstStyle/>
              <a:p>
                <a14:m>
                  <m:oMath xmlns:m="http://schemas.openxmlformats.org/officeDocument/2006/math">
                    <m:r>
                      <a:rPr lang="ja-JP" altLang="en-US" sz="2400" b="0" i="1" smtClean="0">
                        <a:latin typeface="Cambria Math" panose="02040503050406030204" pitchFamily="18" charset="0"/>
                      </a:rPr>
                      <m:t>これらの</m:t>
                    </m:r>
                  </m:oMath>
                </a14:m>
                <a:r>
                  <a:rPr lang="ja-JP" altLang="en-US" sz="2400" dirty="0"/>
                  <a:t>ことから以下のことが定義できます。</a:t>
                </a:r>
                <a:endParaRPr lang="en-US" altLang="ja-JP" sz="2400" dirty="0"/>
              </a:p>
              <a:p>
                <a:endParaRPr lang="en-US" altLang="ja-JP" sz="2400" dirty="0"/>
              </a:p>
              <a:p>
                <a:r>
                  <a:rPr lang="ja-JP" altLang="en-US" sz="2400" b="1" dirty="0">
                    <a:solidFill>
                      <a:srgbClr val="FF0000"/>
                    </a:solidFill>
                  </a:rPr>
                  <a:t>■瞬間加速度（</a:t>
                </a:r>
                <a:r>
                  <a:rPr lang="en-US" altLang="ja-JP" sz="2400" b="1" dirty="0">
                    <a:solidFill>
                      <a:srgbClr val="FF0000"/>
                    </a:solidFill>
                  </a:rPr>
                  <a:t>2</a:t>
                </a:r>
                <a:r>
                  <a:rPr lang="ja-JP" altLang="en-US" sz="2400" b="1" dirty="0">
                    <a:solidFill>
                      <a:srgbClr val="FF0000"/>
                    </a:solidFill>
                  </a:rPr>
                  <a:t>次導関数）</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r>
                        <a:rPr lang="en-US" altLang="ja-JP" sz="2400" i="1">
                          <a:latin typeface="Cambria Math" panose="02040503050406030204" pitchFamily="18" charset="0"/>
                        </a:rPr>
                        <m:t>𝑎</m:t>
                      </m:r>
                      <m:r>
                        <a:rPr lang="en-US" altLang="ja-JP" sz="2400" i="1">
                          <a:latin typeface="Cambria Math" panose="02040503050406030204" pitchFamily="18" charset="0"/>
                        </a:rPr>
                        <m:t>=</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𝑣</m:t>
                          </m:r>
                        </m:e>
                        <m:sup>
                          <m:r>
                            <a:rPr lang="en-US" altLang="ja-JP" sz="2400" i="1">
                              <a:latin typeface="Cambria Math" panose="02040503050406030204" pitchFamily="18" charset="0"/>
                            </a:rPr>
                            <m:t>′</m:t>
                          </m:r>
                        </m:sup>
                      </m:sSup>
                      <m:d>
                        <m:dPr>
                          <m:ctrlPr>
                            <a:rPr lang="en-US" altLang="ja-JP" sz="2400" i="1">
                              <a:latin typeface="Cambria Math" panose="02040503050406030204" pitchFamily="18" charset="0"/>
                            </a:rPr>
                          </m:ctrlPr>
                        </m:dPr>
                        <m:e>
                          <m:r>
                            <a:rPr lang="en-US" altLang="ja-JP" sz="2400" i="1">
                              <a:latin typeface="Cambria Math" panose="02040503050406030204" pitchFamily="18" charset="0"/>
                            </a:rPr>
                            <m:t>𝑡</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m:oMathPara>
                </a14:m>
                <a:endParaRPr lang="en-US" altLang="ja-JP" sz="2400" dirty="0"/>
              </a:p>
              <a:p>
                <a14:m>
                  <m:oMath xmlns:m="http://schemas.openxmlformats.org/officeDocument/2006/math">
                    <m:sSup>
                      <m:sSupPr>
                        <m:ctrlPr>
                          <a:rPr lang="en-US" altLang="ja-JP" sz="2400" i="1" smtClean="0">
                            <a:latin typeface="Cambria Math" panose="02040503050406030204" pitchFamily="18" charset="0"/>
                          </a:rPr>
                        </m:ctrlPr>
                      </m:sSupPr>
                      <m:e>
                        <m:r>
                          <a:rPr lang="en-US" altLang="ja-JP" sz="2400" i="1">
                            <a:latin typeface="Cambria Math" panose="02040503050406030204" pitchFamily="18" charset="0"/>
                          </a:rPr>
                          <m:t>𝑣</m:t>
                        </m:r>
                      </m:e>
                      <m:sup>
                        <m:r>
                          <a:rPr lang="en-US" altLang="ja-JP" sz="2400" i="1">
                            <a:latin typeface="Cambria Math" panose="02040503050406030204" pitchFamily="18" charset="0"/>
                          </a:rPr>
                          <m:t>′</m:t>
                        </m:r>
                      </m:sup>
                    </m:sSup>
                    <m:d>
                      <m:dPr>
                        <m:ctrlPr>
                          <a:rPr lang="en-US" altLang="ja-JP" sz="2400" i="1">
                            <a:latin typeface="Cambria Math" panose="02040503050406030204" pitchFamily="18" charset="0"/>
                          </a:rPr>
                        </m:ctrlPr>
                      </m:dPr>
                      <m:e>
                        <m:r>
                          <a:rPr lang="en-US" altLang="ja-JP" sz="2400" i="1">
                            <a:latin typeface="Cambria Math" panose="02040503050406030204" pitchFamily="18" charset="0"/>
                          </a:rPr>
                          <m:t>𝑡</m:t>
                        </m:r>
                      </m:e>
                    </m:d>
                  </m:oMath>
                </a14:m>
                <a:r>
                  <a:rPr lang="ja-JP" altLang="en-US" sz="2400" dirty="0"/>
                  <a:t>は速度と時間の導関数</a:t>
                </a:r>
                <a:endParaRPr lang="en-US" altLang="ja-JP" sz="2400" dirty="0"/>
              </a:p>
              <a:p>
                <a14:m>
                  <m:oMath xmlns:m="http://schemas.openxmlformats.org/officeDocument/2006/math">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oMath>
                </a14:m>
                <a:r>
                  <a:rPr lang="ja-JP" altLang="en-US" sz="2400" dirty="0"/>
                  <a:t>は位置と時間の</a:t>
                </a:r>
                <a:r>
                  <a:rPr lang="en-US" altLang="ja-JP" sz="2400" dirty="0"/>
                  <a:t>2</a:t>
                </a:r>
                <a:r>
                  <a:rPr lang="ja-JP" altLang="en-US" sz="2400" dirty="0"/>
                  <a:t>次導関数</a:t>
                </a:r>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6647974" cy="2308324"/>
              </a:xfrm>
              <a:prstGeom prst="rect">
                <a:avLst/>
              </a:prstGeom>
              <a:blipFill>
                <a:blip r:embed="rId2"/>
                <a:stretch>
                  <a:fillRect l="-1375" t="-2116" r="-458" b="-529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744451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891636" cy="5620128"/>
              </a:xfrm>
              <a:prstGeom prst="rect">
                <a:avLst/>
              </a:prstGeom>
              <a:noFill/>
            </p:spPr>
            <p:txBody>
              <a:bodyPr wrap="none" rtlCol="0">
                <a:spAutoFit/>
              </a:bodyPr>
              <a:lstStyle/>
              <a:p>
                <a:r>
                  <a:rPr lang="ja-JP" altLang="en-US" sz="2400" dirty="0"/>
                  <a:t>ボールを真上に投げた時の</a:t>
                </a:r>
                <a:r>
                  <a:rPr lang="ja-JP" altLang="en-US" sz="2400" b="1" dirty="0">
                    <a:solidFill>
                      <a:srgbClr val="FF0000"/>
                    </a:solidFill>
                  </a:rPr>
                  <a:t>位置と時間の関数</a:t>
                </a:r>
                <a:r>
                  <a:rPr lang="ja-JP" altLang="en-US" sz="2400" dirty="0"/>
                  <a:t>を、</a:t>
                </a:r>
                <a:endParaRPr lang="en-US" altLang="ja-JP" sz="2400" dirty="0"/>
              </a:p>
              <a:p>
                <a14:m>
                  <m:oMath xmlns:m="http://schemas.openxmlformats.org/officeDocument/2006/math">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−4.9</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oMath>
                </a14:m>
                <a:r>
                  <a:rPr lang="en-US" altLang="ja-JP" sz="2400" dirty="0"/>
                  <a:t> </a:t>
                </a:r>
                <a:r>
                  <a:rPr lang="ja-JP" altLang="en-US" sz="2400" dirty="0"/>
                  <a:t>としたとき、</a:t>
                </a:r>
                <a:r>
                  <a:rPr lang="en-US" altLang="ja-JP" sz="2400" dirty="0"/>
                  <a:t> </a:t>
                </a:r>
                <a14:m>
                  <m:oMath xmlns:m="http://schemas.openxmlformats.org/officeDocument/2006/math">
                    <m:r>
                      <a:rPr lang="en-US" altLang="ja-JP" sz="2400" i="1">
                        <a:latin typeface="Cambria Math" panose="02040503050406030204" pitchFamily="18" charset="0"/>
                      </a:rPr>
                      <m:t>𝑡</m:t>
                    </m:r>
                    <m:r>
                      <a:rPr lang="en-US" altLang="ja-JP" sz="2400" b="0" i="1" smtClean="0">
                        <a:latin typeface="Cambria Math" panose="02040503050406030204" pitchFamily="18" charset="0"/>
                      </a:rPr>
                      <m:t>=2</m:t>
                    </m:r>
                  </m:oMath>
                </a14:m>
                <a:r>
                  <a:rPr lang="ja-JP" altLang="en-US" sz="2400" dirty="0"/>
                  <a:t>における</a:t>
                </a:r>
                <a:r>
                  <a:rPr lang="ja-JP" altLang="en-US" sz="2400" b="1" dirty="0">
                    <a:solidFill>
                      <a:srgbClr val="FF0000"/>
                    </a:solidFill>
                  </a:rPr>
                  <a:t>瞬間加速度</a:t>
                </a:r>
                <a:r>
                  <a:rPr lang="ja-JP" altLang="en-US" sz="2400" dirty="0"/>
                  <a:t>を求めなさい。</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10</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4.9</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4.9</m:t>
                                  </m:r>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h</m:t>
                              </m:r>
                              <m:r>
                                <a:rPr lang="en-US" altLang="ja-JP" sz="2400" b="0" i="1" smtClean="0">
                                  <a:latin typeface="Cambria Math" panose="02040503050406030204" pitchFamily="18" charset="0"/>
                                </a:rPr>
                                <m:t>−4.9</m:t>
                              </m:r>
                              <m:d>
                                <m:dPr>
                                  <m:ctrlPr>
                                    <a:rPr lang="en-US" altLang="ja-JP" sz="2400" b="0" i="1" smtClean="0">
                                      <a:latin typeface="Cambria Math" panose="02040503050406030204" pitchFamily="18" charset="0"/>
                                    </a:rPr>
                                  </m:ctrlPr>
                                </m:dPr>
                                <m:e>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𝑡</m:t>
                                      </m:r>
                                    </m:e>
                                    <m:sup>
                                      <m:r>
                                        <a:rPr lang="en-US" altLang="ja-JP" sz="2400" i="1">
                                          <a:latin typeface="Cambria Math" panose="02040503050406030204" pitchFamily="18" charset="0"/>
                                        </a:rPr>
                                        <m:t>2</m:t>
                                      </m:r>
                                    </m:sup>
                                  </m:sSup>
                                  <m:r>
                                    <a:rPr lang="en-US" altLang="ja-JP" sz="2400" i="1">
                                      <a:latin typeface="Cambria Math" panose="02040503050406030204" pitchFamily="18" charset="0"/>
                                    </a:rPr>
                                    <m:t>+2</m:t>
                                  </m:r>
                                  <m:r>
                                    <a:rPr lang="en-US" altLang="ja-JP" sz="2400" i="1">
                                      <a:latin typeface="Cambria Math" panose="02040503050406030204" pitchFamily="18" charset="0"/>
                                    </a:rPr>
                                    <m:t>𝑡h</m:t>
                                  </m:r>
                                  <m:r>
                                    <a:rPr lang="en-US" altLang="ja-JP" sz="2400" i="1">
                                      <a:latin typeface="Cambria Math" panose="02040503050406030204" pitchFamily="18" charset="0"/>
                                    </a:rPr>
                                    <m:t>+</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h</m:t>
                                      </m:r>
                                    </m:e>
                                    <m:sup>
                                      <m:r>
                                        <a:rPr lang="en-US" altLang="ja-JP" sz="2400" i="1">
                                          <a:latin typeface="Cambria Math" panose="02040503050406030204" pitchFamily="18" charset="0"/>
                                        </a:rPr>
                                        <m:t>2</m:t>
                                      </m:r>
                                    </m:sup>
                                  </m:sSup>
                                </m:e>
                              </m:d>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4.9</m:t>
                                  </m:r>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solidFill>
                                    <a:srgbClr val="FF0000"/>
                                  </a:solidFill>
                                  <a:latin typeface="Cambria Math" panose="02040503050406030204" pitchFamily="18" charset="0"/>
                                </a:rPr>
                                <m:t>10</m:t>
                              </m:r>
                              <m:r>
                                <a:rPr lang="en-US" altLang="ja-JP" sz="2400" b="0" i="1" smtClean="0">
                                  <a:solidFill>
                                    <a:srgbClr val="FF0000"/>
                                  </a:solidFill>
                                  <a:latin typeface="Cambria Math" panose="02040503050406030204" pitchFamily="18" charset="0"/>
                                </a:rPr>
                                <m:t>𝑡</m:t>
                              </m:r>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h</m:t>
                              </m:r>
                              <m:r>
                                <a:rPr lang="en-US" altLang="ja-JP" sz="2400" b="0" i="1" smtClean="0">
                                  <a:solidFill>
                                    <a:srgbClr val="00B050"/>
                                  </a:solidFill>
                                  <a:latin typeface="Cambria Math" panose="02040503050406030204" pitchFamily="18" charset="0"/>
                                </a:rPr>
                                <m:t>−4.9</m:t>
                              </m:r>
                              <m:sSup>
                                <m:sSupPr>
                                  <m:ctrlPr>
                                    <a:rPr lang="en-US" altLang="ja-JP" sz="2400" i="1">
                                      <a:solidFill>
                                        <a:srgbClr val="00B050"/>
                                      </a:solidFill>
                                      <a:latin typeface="Cambria Math" panose="02040503050406030204" pitchFamily="18" charset="0"/>
                                    </a:rPr>
                                  </m:ctrlPr>
                                </m:sSupPr>
                                <m:e>
                                  <m:r>
                                    <a:rPr lang="en-US" altLang="ja-JP" sz="2400" i="1">
                                      <a:solidFill>
                                        <a:srgbClr val="00B050"/>
                                      </a:solidFill>
                                      <a:latin typeface="Cambria Math" panose="02040503050406030204" pitchFamily="18" charset="0"/>
                                    </a:rPr>
                                    <m:t>𝑡</m:t>
                                  </m:r>
                                </m:e>
                                <m:sup>
                                  <m:r>
                                    <a:rPr lang="en-US" altLang="ja-JP" sz="2400" i="1">
                                      <a:solidFill>
                                        <a:srgbClr val="00B050"/>
                                      </a:solidFill>
                                      <a:latin typeface="Cambria Math" panose="02040503050406030204" pitchFamily="18" charset="0"/>
                                    </a:rPr>
                                    <m:t>2</m:t>
                                  </m:r>
                                </m:sup>
                              </m:sSup>
                              <m:r>
                                <a:rPr lang="en-US" altLang="ja-JP" sz="2400" b="0" i="1" smtClean="0">
                                  <a:latin typeface="Cambria Math" panose="02040503050406030204" pitchFamily="18" charset="0"/>
                                </a:rPr>
                                <m:t>−9.8</m:t>
                              </m:r>
                              <m:r>
                                <a:rPr lang="en-US" altLang="ja-JP" sz="2400" b="0" i="1" smtClean="0">
                                  <a:latin typeface="Cambria Math" panose="02040503050406030204" pitchFamily="18" charset="0"/>
                                </a:rPr>
                                <m:t>𝑡h</m:t>
                              </m:r>
                              <m:r>
                                <a:rPr lang="en-US" altLang="ja-JP" sz="2400" b="0" i="1" smtClean="0">
                                  <a:latin typeface="Cambria Math" panose="02040503050406030204" pitchFamily="18" charset="0"/>
                                </a:rPr>
                                <m:t>−4.9</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h</m:t>
                                  </m:r>
                                </m:e>
                                <m:sup>
                                  <m:r>
                                    <a:rPr lang="en-US" altLang="ja-JP" sz="2400" i="1">
                                      <a:latin typeface="Cambria Math" panose="02040503050406030204" pitchFamily="18" charset="0"/>
                                    </a:rPr>
                                    <m:t>2</m:t>
                                  </m:r>
                                </m:sup>
                              </m:sSup>
                              <m:r>
                                <a:rPr lang="en-US" altLang="ja-JP" sz="2400" b="0" i="1" smtClean="0">
                                  <a:solidFill>
                                    <a:srgbClr val="FF0000"/>
                                  </a:solidFill>
                                  <a:latin typeface="Cambria Math" panose="02040503050406030204" pitchFamily="18" charset="0"/>
                                </a:rPr>
                                <m:t>−10</m:t>
                              </m:r>
                              <m:r>
                                <a:rPr lang="en-US" altLang="ja-JP" sz="2400" b="0" i="1" smtClean="0">
                                  <a:solidFill>
                                    <a:srgbClr val="FF0000"/>
                                  </a:solidFill>
                                  <a:latin typeface="Cambria Math" panose="02040503050406030204" pitchFamily="18" charset="0"/>
                                </a:rPr>
                                <m:t>𝑡</m:t>
                              </m:r>
                              <m:r>
                                <a:rPr lang="en-US" altLang="ja-JP" sz="2400" b="0" i="1" smtClean="0">
                                  <a:solidFill>
                                    <a:srgbClr val="00B050"/>
                                  </a:solidFill>
                                  <a:latin typeface="Cambria Math" panose="02040503050406030204" pitchFamily="18" charset="0"/>
                                </a:rPr>
                                <m:t>+</m:t>
                              </m:r>
                              <m:sSup>
                                <m:sSupPr>
                                  <m:ctrlPr>
                                    <a:rPr lang="en-US" altLang="ja-JP" sz="2400" b="0" i="1" smtClean="0">
                                      <a:solidFill>
                                        <a:srgbClr val="00B050"/>
                                      </a:solidFill>
                                      <a:latin typeface="Cambria Math" panose="02040503050406030204" pitchFamily="18" charset="0"/>
                                    </a:rPr>
                                  </m:ctrlPr>
                                </m:sSupPr>
                                <m:e>
                                  <m:r>
                                    <a:rPr lang="en-US" altLang="ja-JP" sz="2400" b="0" i="1" smtClean="0">
                                      <a:solidFill>
                                        <a:srgbClr val="00B050"/>
                                      </a:solidFill>
                                      <a:latin typeface="Cambria Math" panose="02040503050406030204" pitchFamily="18" charset="0"/>
                                    </a:rPr>
                                    <m:t>4.9</m:t>
                                  </m:r>
                                  <m:r>
                                    <a:rPr lang="en-US" altLang="ja-JP" sz="2400" b="0" i="1" smtClean="0">
                                      <a:solidFill>
                                        <a:srgbClr val="00B050"/>
                                      </a:solidFill>
                                      <a:latin typeface="Cambria Math" panose="02040503050406030204" pitchFamily="18" charset="0"/>
                                    </a:rPr>
                                    <m:t>𝑡</m:t>
                                  </m:r>
                                </m:e>
                                <m:sup>
                                  <m:r>
                                    <a:rPr lang="en-US" altLang="ja-JP" sz="2400" b="0" i="1" smtClean="0">
                                      <a:solidFill>
                                        <a:srgbClr val="00B050"/>
                                      </a:solidFill>
                                      <a:latin typeface="Cambria Math" panose="02040503050406030204" pitchFamily="18" charset="0"/>
                                    </a:rPr>
                                    <m:t>2</m:t>
                                  </m:r>
                                </m:sup>
                              </m:sSup>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i="1">
                                  <a:latin typeface="Cambria Math" panose="02040503050406030204" pitchFamily="18" charset="0"/>
                                </a:rPr>
                                <m:t>10</m:t>
                              </m:r>
                              <m:r>
                                <a:rPr lang="en-US" altLang="ja-JP" sz="2400" i="1">
                                  <a:latin typeface="Cambria Math" panose="02040503050406030204" pitchFamily="18" charset="0"/>
                                </a:rPr>
                                <m:t>h</m:t>
                              </m:r>
                              <m:r>
                                <a:rPr lang="en-US" altLang="ja-JP" sz="2400" i="1">
                                  <a:latin typeface="Cambria Math" panose="02040503050406030204" pitchFamily="18" charset="0"/>
                                </a:rPr>
                                <m:t>−9.8</m:t>
                              </m:r>
                              <m:r>
                                <a:rPr lang="en-US" altLang="ja-JP" sz="2400" i="1">
                                  <a:latin typeface="Cambria Math" panose="02040503050406030204" pitchFamily="18" charset="0"/>
                                </a:rPr>
                                <m:t>𝑡h</m:t>
                              </m:r>
                              <m:r>
                                <a:rPr lang="en-US" altLang="ja-JP" sz="2400" i="1">
                                  <a:latin typeface="Cambria Math" panose="02040503050406030204" pitchFamily="18" charset="0"/>
                                </a:rPr>
                                <m:t>−4.9</m:t>
                              </m:r>
                              <m:sSup>
                                <m:sSupPr>
                                  <m:ctrlPr>
                                    <a:rPr lang="en-US" altLang="ja-JP" sz="2400" i="1">
                                      <a:latin typeface="Cambria Math" panose="02040503050406030204" pitchFamily="18" charset="0"/>
                                    </a:rPr>
                                  </m:ctrlPr>
                                </m:sSupPr>
                                <m:e>
                                  <m:r>
                                    <a:rPr lang="en-US" altLang="ja-JP" sz="2400" i="1">
                                      <a:latin typeface="Cambria Math" panose="02040503050406030204" pitchFamily="18" charset="0"/>
                                    </a:rPr>
                                    <m:t>h</m:t>
                                  </m:r>
                                </m:e>
                                <m:sup>
                                  <m:r>
                                    <a:rPr lang="en-US" altLang="ja-JP" sz="2400" i="1">
                                      <a:latin typeface="Cambria Math" panose="02040503050406030204" pitchFamily="18" charset="0"/>
                                    </a:rPr>
                                    <m:t>2</m:t>
                                  </m:r>
                                </m:sup>
                              </m:sSup>
                            </m:num>
                            <m:den>
                              <m:r>
                                <a:rPr lang="en-US" altLang="ja-JP" sz="2400" b="0" i="1" smtClean="0">
                                  <a:latin typeface="Cambria Math" panose="02040503050406030204" pitchFamily="18" charset="0"/>
                                </a:rPr>
                                <m:t>h</m:t>
                              </m:r>
                            </m:den>
                          </m:f>
                          <m:r>
                            <a:rPr lang="en-US" altLang="ja-JP" sz="2400" b="0" i="1" smtClean="0">
                              <a:latin typeface="Cambria Math" panose="02040503050406030204" pitchFamily="18" charset="0"/>
                            </a:rPr>
                            <m:t>=</m:t>
                          </m:r>
                          <m:r>
                            <a:rPr lang="en-US" altLang="ja-JP" sz="2400" i="1">
                              <a:latin typeface="Cambria Math" panose="02040503050406030204" pitchFamily="18" charset="0"/>
                            </a:rPr>
                            <m:t>10−9.8</m:t>
                          </m:r>
                          <m:r>
                            <a:rPr lang="en-US" altLang="ja-JP" sz="2400" i="1">
                              <a:latin typeface="Cambria Math" panose="02040503050406030204" pitchFamily="18" charset="0"/>
                            </a:rPr>
                            <m:t>𝑡</m:t>
                          </m:r>
                          <m:r>
                            <a:rPr lang="en-US" altLang="ja-JP" sz="2400" i="1">
                              <a:latin typeface="Cambria Math" panose="02040503050406030204" pitchFamily="18" charset="0"/>
                            </a:rPr>
                            <m:t>−4.9</m:t>
                          </m:r>
                          <m:r>
                            <a:rPr lang="en-US" altLang="ja-JP" sz="2400" b="0" i="1" smtClean="0">
                              <a:latin typeface="Cambria Math" panose="02040503050406030204" pitchFamily="18" charset="0"/>
                            </a:rPr>
                            <m:t>h</m:t>
                          </m:r>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=10−9.8</m:t>
                      </m:r>
                      <m:r>
                        <a:rPr lang="en-US" altLang="ja-JP" sz="2400" b="0" i="1" smtClean="0">
                          <a:latin typeface="Cambria Math" panose="02040503050406030204" pitchFamily="18" charset="0"/>
                        </a:rPr>
                        <m:t>𝑡</m:t>
                      </m:r>
                    </m:oMath>
                  </m:oMathPara>
                </a14:m>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891636" cy="5620128"/>
              </a:xfrm>
              <a:prstGeom prst="rect">
                <a:avLst/>
              </a:prstGeom>
              <a:blipFill>
                <a:blip r:embed="rId2"/>
                <a:stretch>
                  <a:fillRect l="-839" t="-869" b="-54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7269152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461752"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 例題</a:t>
            </a:r>
            <a:endParaRPr kumimoji="1" lang="en-US" altLang="ja-JP" sz="3200" b="1" u="sng" dirty="0"/>
          </a:p>
        </p:txBody>
      </p: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891636" cy="4780091"/>
              </a:xfrm>
              <a:prstGeom prst="rect">
                <a:avLst/>
              </a:prstGeom>
              <a:noFill/>
            </p:spPr>
            <p:txBody>
              <a:bodyPr wrap="none" rtlCol="0">
                <a:spAutoFit/>
              </a:bodyPr>
              <a:lstStyle/>
              <a:p>
                <a:r>
                  <a:rPr lang="ja-JP" altLang="en-US" sz="2400" dirty="0"/>
                  <a:t>ボールを真上に投げた時の</a:t>
                </a:r>
                <a:r>
                  <a:rPr lang="ja-JP" altLang="en-US" sz="2400" b="1" dirty="0">
                    <a:solidFill>
                      <a:srgbClr val="FF0000"/>
                    </a:solidFill>
                  </a:rPr>
                  <a:t>位置と時間の関数</a:t>
                </a:r>
                <a:r>
                  <a:rPr lang="ja-JP" altLang="en-US" sz="2400" dirty="0"/>
                  <a:t>を、</a:t>
                </a:r>
                <a:endParaRPr lang="en-US" altLang="ja-JP" sz="2400" dirty="0"/>
              </a:p>
              <a:p>
                <a14:m>
                  <m:oMath xmlns:m="http://schemas.openxmlformats.org/officeDocument/2006/math">
                    <m:r>
                      <a:rPr lang="en-US" altLang="ja-JP" sz="2400" b="0" i="1" smtClean="0">
                        <a:latin typeface="Cambria Math" panose="02040503050406030204" pitchFamily="18" charset="0"/>
                      </a:rPr>
                      <m:t>𝑦</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−4.9</m:t>
                    </m:r>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𝑡</m:t>
                        </m:r>
                      </m:e>
                      <m:sup>
                        <m:r>
                          <a:rPr lang="en-US" altLang="ja-JP" sz="2400" b="0" i="1" smtClean="0">
                            <a:latin typeface="Cambria Math" panose="02040503050406030204" pitchFamily="18" charset="0"/>
                          </a:rPr>
                          <m:t>2</m:t>
                        </m:r>
                      </m:sup>
                    </m:sSup>
                  </m:oMath>
                </a14:m>
                <a:r>
                  <a:rPr lang="en-US" altLang="ja-JP" sz="2400" dirty="0"/>
                  <a:t> </a:t>
                </a:r>
                <a:r>
                  <a:rPr lang="ja-JP" altLang="en-US" sz="2400" dirty="0"/>
                  <a:t>としたとき、</a:t>
                </a:r>
                <a:r>
                  <a:rPr lang="en-US" altLang="ja-JP" sz="2400" dirty="0"/>
                  <a:t> </a:t>
                </a:r>
                <a14:m>
                  <m:oMath xmlns:m="http://schemas.openxmlformats.org/officeDocument/2006/math">
                    <m:r>
                      <a:rPr lang="en-US" altLang="ja-JP" sz="2400" i="1">
                        <a:latin typeface="Cambria Math" panose="02040503050406030204" pitchFamily="18" charset="0"/>
                      </a:rPr>
                      <m:t>𝑡</m:t>
                    </m:r>
                    <m:r>
                      <a:rPr lang="en-US" altLang="ja-JP" sz="2400" b="0" i="1" smtClean="0">
                        <a:latin typeface="Cambria Math" panose="02040503050406030204" pitchFamily="18" charset="0"/>
                      </a:rPr>
                      <m:t>=2</m:t>
                    </m:r>
                  </m:oMath>
                </a14:m>
                <a:r>
                  <a:rPr lang="ja-JP" altLang="en-US" sz="2400"/>
                  <a:t>における瞬間加速度を</a:t>
                </a:r>
                <a:r>
                  <a:rPr lang="ja-JP" altLang="en-US" sz="2400" dirty="0"/>
                  <a:t>求めなさい。</a:t>
                </a:r>
                <a:endParaRPr lang="en-US" altLang="ja-JP" sz="2400" dirty="0"/>
              </a:p>
              <a:p>
                <a:endParaRPr lang="en-US" altLang="ja-JP" sz="2400" dirty="0"/>
              </a:p>
              <a:p>
                <a:r>
                  <a:rPr lang="ja-JP" altLang="en-US" sz="2400" b="1" dirty="0">
                    <a:solidFill>
                      <a:srgbClr val="FF0000"/>
                    </a:solidFill>
                  </a:rPr>
                  <a:t>■解答</a:t>
                </a:r>
                <a:endParaRPr lang="en-US" altLang="ja-JP" sz="2400" b="1" dirty="0">
                  <a:solidFill>
                    <a:srgbClr val="FF0000"/>
                  </a:solidFill>
                </a:endParaRPr>
              </a:p>
              <a:p>
                <a14:m>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=10−9.8</m:t>
                    </m:r>
                    <m:r>
                      <a:rPr lang="en-US" altLang="ja-JP" sz="2400" b="0" i="1" smtClean="0">
                        <a:latin typeface="Cambria Math" panose="02040503050406030204" pitchFamily="18" charset="0"/>
                      </a:rPr>
                      <m:t>𝑡</m:t>
                    </m:r>
                  </m:oMath>
                </a14:m>
                <a:r>
                  <a:rPr lang="ja-JP" altLang="en-US" sz="2400" dirty="0"/>
                  <a:t>よりもう一度導関数を計算する。</a:t>
                </a:r>
                <a:endParaRPr lang="en-US" altLang="ja-JP" sz="2400" b="1" dirty="0">
                  <a:solidFill>
                    <a:srgbClr val="FF0000"/>
                  </a:solidFill>
                </a:endParaRPr>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𝑓</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latin typeface="Cambria Math" panose="02040503050406030204" pitchFamily="18" charset="0"/>
                                </a:rPr>
                                <m:t>10−9.8</m:t>
                              </m:r>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r>
                                    <a:rPr lang="en-US" altLang="ja-JP" sz="2400" b="0" i="1" smtClean="0">
                                      <a:latin typeface="Cambria Math" panose="02040503050406030204" pitchFamily="18" charset="0"/>
                                    </a:rPr>
                                    <m:t>h</m:t>
                                  </m:r>
                                </m:e>
                              </m:d>
                              <m:r>
                                <a:rPr lang="en-US" altLang="ja-JP" sz="2400" b="0" i="1" smtClean="0">
                                  <a:latin typeface="Cambria Math" panose="02040503050406030204" pitchFamily="18" charset="0"/>
                                </a:rPr>
                                <m:t>−(10−9.8</m:t>
                              </m:r>
                              <m:r>
                                <a:rPr lang="en-US" altLang="ja-JP" sz="2400" b="0" i="1" smtClean="0">
                                  <a:latin typeface="Cambria Math" panose="02040503050406030204" pitchFamily="18" charset="0"/>
                                </a:rPr>
                                <m:t>𝑡</m:t>
                              </m:r>
                              <m:r>
                                <a:rPr lang="en-US" altLang="ja-JP" sz="2400" b="0" i="1" smtClean="0">
                                  <a:latin typeface="Cambria Math" panose="02040503050406030204" pitchFamily="18" charset="0"/>
                                </a:rPr>
                                <m:t>)</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b="0" i="1" smtClean="0">
                                  <a:solidFill>
                                    <a:srgbClr val="FF0000"/>
                                  </a:solidFill>
                                  <a:latin typeface="Cambria Math" panose="02040503050406030204" pitchFamily="18" charset="0"/>
                                </a:rPr>
                                <m:t>10</m:t>
                              </m:r>
                              <m:r>
                                <a:rPr lang="en-US" altLang="ja-JP" sz="2400" b="0" i="1" smtClean="0">
                                  <a:solidFill>
                                    <a:srgbClr val="00B050"/>
                                  </a:solidFill>
                                  <a:latin typeface="Cambria Math" panose="02040503050406030204" pitchFamily="18" charset="0"/>
                                </a:rPr>
                                <m:t>−</m:t>
                              </m:r>
                              <m:r>
                                <a:rPr lang="en-US" altLang="ja-JP" sz="2400" i="1">
                                  <a:solidFill>
                                    <a:srgbClr val="00B050"/>
                                  </a:solidFill>
                                  <a:latin typeface="Cambria Math" panose="02040503050406030204" pitchFamily="18" charset="0"/>
                                </a:rPr>
                                <m:t>9.8</m:t>
                              </m:r>
                              <m:r>
                                <a:rPr lang="en-US" altLang="ja-JP" sz="2400" i="1">
                                  <a:solidFill>
                                    <a:srgbClr val="00B050"/>
                                  </a:solidFill>
                                  <a:latin typeface="Cambria Math" panose="02040503050406030204" pitchFamily="18" charset="0"/>
                                </a:rPr>
                                <m:t>𝑡</m:t>
                              </m:r>
                              <m:r>
                                <a:rPr lang="en-US" altLang="ja-JP" sz="2400" i="1">
                                  <a:latin typeface="Cambria Math" panose="02040503050406030204" pitchFamily="18" charset="0"/>
                                </a:rPr>
                                <m:t>−9.8</m:t>
                              </m:r>
                              <m:r>
                                <a:rPr lang="en-US" altLang="ja-JP" sz="2400" i="1">
                                  <a:latin typeface="Cambria Math" panose="02040503050406030204" pitchFamily="18" charset="0"/>
                                </a:rPr>
                                <m:t>h</m:t>
                              </m:r>
                              <m:r>
                                <a:rPr lang="en-US" altLang="ja-JP" sz="2400" i="1" smtClean="0">
                                  <a:solidFill>
                                    <a:srgbClr val="FF0000"/>
                                  </a:solidFill>
                                  <a:latin typeface="Cambria Math" panose="02040503050406030204" pitchFamily="18" charset="0"/>
                                </a:rPr>
                                <m:t>−10</m:t>
                              </m:r>
                              <m:r>
                                <a:rPr lang="en-US" altLang="ja-JP" sz="2400" b="0" i="1" smtClean="0">
                                  <a:solidFill>
                                    <a:srgbClr val="00B050"/>
                                  </a:solidFill>
                                  <a:latin typeface="Cambria Math" panose="02040503050406030204" pitchFamily="18" charset="0"/>
                                </a:rPr>
                                <m:t>+</m:t>
                              </m:r>
                              <m:r>
                                <a:rPr lang="en-US" altLang="ja-JP" sz="2400" i="1">
                                  <a:solidFill>
                                    <a:srgbClr val="00B050"/>
                                  </a:solidFill>
                                  <a:latin typeface="Cambria Math" panose="02040503050406030204" pitchFamily="18" charset="0"/>
                                </a:rPr>
                                <m:t>9.8</m:t>
                              </m:r>
                              <m:r>
                                <a:rPr lang="en-US" altLang="ja-JP" sz="2400" i="1">
                                  <a:solidFill>
                                    <a:srgbClr val="00B050"/>
                                  </a:solidFill>
                                  <a:latin typeface="Cambria Math" panose="02040503050406030204" pitchFamily="18" charset="0"/>
                                </a:rPr>
                                <m:t>𝑡</m:t>
                              </m:r>
                            </m:num>
                            <m:den>
                              <m:r>
                                <a:rPr lang="en-US" altLang="ja-JP" sz="2400" b="0" i="1" smtClean="0">
                                  <a:latin typeface="Cambria Math" panose="02040503050406030204" pitchFamily="18" charset="0"/>
                                </a:rPr>
                                <m:t>h</m:t>
                              </m:r>
                            </m:den>
                          </m:f>
                        </m:e>
                      </m:func>
                    </m:oMath>
                  </m:oMathPara>
                </a14:m>
                <a:endParaRPr lang="en-US" altLang="ja-JP" sz="2400" dirty="0"/>
              </a:p>
              <a:p>
                <a:pPr/>
                <a14:m>
                  <m:oMathPara xmlns:m="http://schemas.openxmlformats.org/officeDocument/2006/math">
                    <m:oMathParaPr>
                      <m:jc m:val="left"/>
                    </m:oMathParaPr>
                    <m:oMath xmlns:m="http://schemas.openxmlformats.org/officeDocument/2006/math">
                      <m:sSup>
                        <m:sSupPr>
                          <m:ctrlPr>
                            <a:rPr lang="en-US" altLang="ja-JP" sz="2400" b="0" i="1" smtClean="0">
                              <a:latin typeface="Cambria Math" panose="02040503050406030204" pitchFamily="18" charset="0"/>
                            </a:rPr>
                          </m:ctrlPr>
                        </m:sSupPr>
                        <m:e>
                          <m:r>
                            <a:rPr lang="en-US" altLang="ja-JP" sz="2400" b="0" i="1" smtClean="0">
                              <a:latin typeface="Cambria Math" panose="02040503050406030204" pitchFamily="18" charset="0"/>
                            </a:rPr>
                            <m:t>𝑓</m:t>
                          </m:r>
                        </m:e>
                        <m:sup>
                          <m:r>
                            <a:rPr lang="en-US" altLang="ja-JP" sz="2400" b="0" i="1" smtClean="0">
                              <a:latin typeface="Cambria Math" panose="02040503050406030204" pitchFamily="18" charset="0"/>
                            </a:rPr>
                            <m:t>′′</m:t>
                          </m:r>
                        </m:sup>
                      </m:sSup>
                      <m:d>
                        <m:dPr>
                          <m:ctrlPr>
                            <a:rPr lang="en-US" altLang="ja-JP" sz="2400" b="0" i="1" smtClean="0">
                              <a:latin typeface="Cambria Math" panose="02040503050406030204" pitchFamily="18" charset="0"/>
                            </a:rPr>
                          </m:ctrlPr>
                        </m:dPr>
                        <m:e>
                          <m:r>
                            <a:rPr lang="en-US" altLang="ja-JP" sz="2400" b="0" i="1" smtClean="0">
                              <a:latin typeface="Cambria Math" panose="02040503050406030204" pitchFamily="18" charset="0"/>
                            </a:rPr>
                            <m:t>𝑡</m:t>
                          </m:r>
                        </m:e>
                      </m:d>
                      <m:r>
                        <a:rPr lang="en-US" altLang="ja-JP" sz="2400" b="0" i="1" smtClean="0">
                          <a:latin typeface="Cambria Math" panose="02040503050406030204" pitchFamily="18" charset="0"/>
                        </a:rPr>
                        <m:t>=</m:t>
                      </m:r>
                      <m:func>
                        <m:funcPr>
                          <m:ctrlPr>
                            <a:rPr lang="en-US" altLang="ja-JP" sz="2400" b="0" i="1" smtClean="0">
                              <a:latin typeface="Cambria Math" panose="02040503050406030204" pitchFamily="18" charset="0"/>
                            </a:rPr>
                          </m:ctrlPr>
                        </m:funcPr>
                        <m:fName>
                          <m:limLow>
                            <m:limLowPr>
                              <m:ctrlPr>
                                <a:rPr lang="en-US" altLang="ja-JP" sz="2400" b="0" i="1" smtClean="0">
                                  <a:latin typeface="Cambria Math" panose="02040503050406030204" pitchFamily="18" charset="0"/>
                                </a:rPr>
                              </m:ctrlPr>
                            </m:limLowPr>
                            <m:e>
                              <m:r>
                                <m:rPr>
                                  <m:sty m:val="p"/>
                                </m:rPr>
                                <a:rPr lang="en-US" altLang="ja-JP" sz="2400" b="0" i="0" smtClean="0">
                                  <a:latin typeface="Cambria Math" panose="02040503050406030204" pitchFamily="18" charset="0"/>
                                </a:rPr>
                                <m:t>lim</m:t>
                              </m:r>
                            </m:e>
                            <m:lim>
                              <m:r>
                                <a:rPr lang="en-US" altLang="ja-JP" sz="2400" b="0" i="1" smtClean="0">
                                  <a:latin typeface="Cambria Math" panose="02040503050406030204" pitchFamily="18" charset="0"/>
                                </a:rPr>
                                <m:t>h</m:t>
                              </m:r>
                              <m:r>
                                <a:rPr lang="ja-JP" altLang="en-US" sz="2400" i="1">
                                  <a:latin typeface="Cambria Math" panose="02040503050406030204" pitchFamily="18" charset="0"/>
                                </a:rPr>
                                <m:t>→</m:t>
                              </m:r>
                              <m:r>
                                <a:rPr lang="en-US" altLang="ja-JP" sz="2400" b="0" i="1" smtClean="0">
                                  <a:latin typeface="Cambria Math" panose="02040503050406030204" pitchFamily="18" charset="0"/>
                                </a:rPr>
                                <m:t>0</m:t>
                              </m:r>
                            </m:lim>
                          </m:limLow>
                        </m:fName>
                        <m:e>
                          <m:f>
                            <m:fPr>
                              <m:ctrlPr>
                                <a:rPr lang="en-US" altLang="ja-JP" sz="2400" b="0" i="1" smtClean="0">
                                  <a:latin typeface="Cambria Math" panose="02040503050406030204" pitchFamily="18" charset="0"/>
                                </a:rPr>
                              </m:ctrlPr>
                            </m:fPr>
                            <m:num>
                              <m:r>
                                <a:rPr lang="en-US" altLang="ja-JP" sz="2400" i="1">
                                  <a:latin typeface="Cambria Math" panose="02040503050406030204" pitchFamily="18" charset="0"/>
                                </a:rPr>
                                <m:t>−9.8</m:t>
                              </m:r>
                              <m:r>
                                <a:rPr lang="en-US" altLang="ja-JP" sz="2400" i="1">
                                  <a:latin typeface="Cambria Math" panose="02040503050406030204" pitchFamily="18" charset="0"/>
                                </a:rPr>
                                <m:t>h</m:t>
                              </m:r>
                            </m:num>
                            <m:den>
                              <m:r>
                                <a:rPr lang="en-US" altLang="ja-JP" sz="2400" b="0" i="1" smtClean="0">
                                  <a:latin typeface="Cambria Math" panose="02040503050406030204" pitchFamily="18" charset="0"/>
                                </a:rPr>
                                <m:t>h</m:t>
                              </m:r>
                            </m:den>
                          </m:f>
                          <m:r>
                            <a:rPr lang="en-US" altLang="ja-JP" sz="2400" b="0" i="1" smtClean="0">
                              <a:latin typeface="Cambria Math" panose="02040503050406030204" pitchFamily="18" charset="0"/>
                            </a:rPr>
                            <m:t>=</m:t>
                          </m:r>
                          <m:r>
                            <a:rPr lang="en-US" altLang="ja-JP" sz="2400" b="0" i="1" smtClean="0">
                              <a:solidFill>
                                <a:srgbClr val="FF0000"/>
                              </a:solidFill>
                              <a:latin typeface="Cambria Math" panose="02040503050406030204" pitchFamily="18" charset="0"/>
                            </a:rPr>
                            <m:t>−9.8</m:t>
                          </m:r>
                        </m:e>
                      </m:func>
                    </m:oMath>
                  </m:oMathPara>
                </a14:m>
                <a:endParaRPr lang="en-US" altLang="ja-JP" sz="2400" dirty="0"/>
              </a:p>
            </p:txBody>
          </p:sp>
        </mc:Choice>
        <mc:Fallback xmlns="">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891636" cy="4780091"/>
              </a:xfrm>
              <a:prstGeom prst="rect">
                <a:avLst/>
              </a:prstGeom>
              <a:blipFill>
                <a:blip r:embed="rId2"/>
                <a:stretch>
                  <a:fillRect l="-839" t="-102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280154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75EBFC82-F374-43A7-8175-43F8E5CD4A8F}"/>
              </a:ext>
            </a:extLst>
          </p:cNvPr>
          <p:cNvSpPr/>
          <p:nvPr/>
        </p:nvSpPr>
        <p:spPr>
          <a:xfrm>
            <a:off x="279918" y="2164702"/>
            <a:ext cx="10431625" cy="1875453"/>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641014" cy="584775"/>
          </a:xfrm>
          <a:prstGeom prst="rect">
            <a:avLst/>
          </a:prstGeom>
          <a:noFill/>
        </p:spPr>
        <p:txBody>
          <a:bodyPr wrap="none" rtlCol="0">
            <a:spAutoFit/>
          </a:bodyPr>
          <a:lstStyle/>
          <a:p>
            <a:r>
              <a:rPr kumimoji="1" lang="en-US" altLang="ja-JP" sz="3200" b="1" u="sng" dirty="0"/>
              <a:t>2</a:t>
            </a:r>
            <a:r>
              <a:rPr kumimoji="1" lang="ja-JP" altLang="en-US" sz="3200" b="1" u="sng" dirty="0"/>
              <a:t>次導関数と瞬間加速度</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4154984"/>
          </a:xfrm>
          <a:prstGeom prst="rect">
            <a:avLst/>
          </a:prstGeom>
          <a:noFill/>
        </p:spPr>
        <p:txBody>
          <a:bodyPr wrap="none" rtlCol="0">
            <a:spAutoFit/>
          </a:bodyPr>
          <a:lstStyle/>
          <a:p>
            <a:r>
              <a:rPr lang="ja-JP" altLang="en-US" sz="2400" dirty="0"/>
              <a:t>このように位置と時間の関数からでも瞬間加速度は求められました。</a:t>
            </a:r>
            <a:endParaRPr lang="en-US" altLang="ja-JP" sz="2400" dirty="0"/>
          </a:p>
          <a:p>
            <a:r>
              <a:rPr lang="ja-JP" altLang="en-US" sz="2400" dirty="0"/>
              <a:t>最後に以下の箇所は非常に重要なので押さえておきましょう。</a:t>
            </a:r>
            <a:endParaRPr lang="en-US" altLang="ja-JP" sz="2400" dirty="0"/>
          </a:p>
          <a:p>
            <a:endParaRPr lang="en-US" altLang="ja-JP" sz="2400" dirty="0"/>
          </a:p>
          <a:p>
            <a:r>
              <a:rPr lang="ja-JP" altLang="en-US" sz="2400" b="1" dirty="0">
                <a:solidFill>
                  <a:srgbClr val="FF0000"/>
                </a:solidFill>
              </a:rPr>
              <a:t>■覚えておきたいこと</a:t>
            </a:r>
            <a:endParaRPr lang="en-US" altLang="ja-JP" sz="2400" b="1" dirty="0">
              <a:solidFill>
                <a:srgbClr val="FF0000"/>
              </a:solidFill>
            </a:endParaRPr>
          </a:p>
          <a:p>
            <a:r>
              <a:rPr lang="ja-JP" altLang="en-US" sz="2400" dirty="0"/>
              <a:t>・</a:t>
            </a:r>
            <a:r>
              <a:rPr lang="ja-JP" altLang="en-US" sz="2400" b="1" dirty="0">
                <a:solidFill>
                  <a:srgbClr val="FF0000"/>
                </a:solidFill>
              </a:rPr>
              <a:t>位置</a:t>
            </a:r>
            <a:r>
              <a:rPr lang="ja-JP" altLang="en-US" sz="2400" dirty="0"/>
              <a:t>と</a:t>
            </a:r>
            <a:r>
              <a:rPr lang="ja-JP" altLang="en-US" sz="2400" b="1" dirty="0">
                <a:solidFill>
                  <a:srgbClr val="FF0000"/>
                </a:solidFill>
              </a:rPr>
              <a:t>時間</a:t>
            </a:r>
            <a:r>
              <a:rPr lang="ja-JP" altLang="en-US" sz="2400" dirty="0"/>
              <a:t>の</a:t>
            </a:r>
            <a:r>
              <a:rPr lang="ja-JP" altLang="en-US" sz="2400" b="1" dirty="0">
                <a:solidFill>
                  <a:srgbClr val="FF0000"/>
                </a:solidFill>
              </a:rPr>
              <a:t>導関数</a:t>
            </a:r>
            <a:r>
              <a:rPr lang="ja-JP" altLang="en-US" sz="2400" dirty="0"/>
              <a:t>から</a:t>
            </a:r>
            <a:r>
              <a:rPr lang="ja-JP" altLang="en-US" sz="2400" b="1" dirty="0">
                <a:solidFill>
                  <a:srgbClr val="FF0000"/>
                </a:solidFill>
              </a:rPr>
              <a:t>瞬間速度</a:t>
            </a:r>
            <a:r>
              <a:rPr lang="ja-JP" altLang="en-US" sz="2400" dirty="0"/>
              <a:t>を求められる</a:t>
            </a:r>
            <a:endParaRPr lang="en-US" altLang="ja-JP" sz="2400" dirty="0"/>
          </a:p>
          <a:p>
            <a:r>
              <a:rPr lang="ja-JP" altLang="en-US" sz="2400" dirty="0"/>
              <a:t>・</a:t>
            </a:r>
            <a:r>
              <a:rPr lang="ja-JP" altLang="en-US" sz="2400" b="1" dirty="0">
                <a:solidFill>
                  <a:srgbClr val="FF0000"/>
                </a:solidFill>
              </a:rPr>
              <a:t>速度</a:t>
            </a:r>
            <a:r>
              <a:rPr lang="ja-JP" altLang="en-US" sz="2400" dirty="0"/>
              <a:t>と</a:t>
            </a:r>
            <a:r>
              <a:rPr lang="ja-JP" altLang="en-US" sz="2400" b="1" dirty="0">
                <a:solidFill>
                  <a:srgbClr val="FF0000"/>
                </a:solidFill>
              </a:rPr>
              <a:t>時間</a:t>
            </a:r>
            <a:r>
              <a:rPr lang="ja-JP" altLang="en-US" sz="2400" dirty="0"/>
              <a:t>の</a:t>
            </a:r>
            <a:r>
              <a:rPr lang="ja-JP" altLang="en-US" sz="2400" b="1" dirty="0">
                <a:solidFill>
                  <a:srgbClr val="FF0000"/>
                </a:solidFill>
              </a:rPr>
              <a:t>導関数</a:t>
            </a:r>
            <a:r>
              <a:rPr lang="ja-JP" altLang="en-US" sz="2400" dirty="0"/>
              <a:t>から</a:t>
            </a:r>
            <a:r>
              <a:rPr lang="ja-JP" altLang="en-US" sz="2400" b="1" dirty="0">
                <a:solidFill>
                  <a:srgbClr val="FF0000"/>
                </a:solidFill>
              </a:rPr>
              <a:t>瞬間加速度</a:t>
            </a:r>
            <a:r>
              <a:rPr lang="ja-JP" altLang="en-US" sz="2400" dirty="0"/>
              <a:t>が求められる</a:t>
            </a:r>
            <a:endParaRPr lang="en-US" altLang="ja-JP" sz="2400" dirty="0"/>
          </a:p>
          <a:p>
            <a:r>
              <a:rPr lang="ja-JP" altLang="en-US" sz="2400" dirty="0"/>
              <a:t>・</a:t>
            </a:r>
            <a:r>
              <a:rPr lang="ja-JP" altLang="en-US" sz="2400" b="1" dirty="0">
                <a:solidFill>
                  <a:srgbClr val="FF0000"/>
                </a:solidFill>
              </a:rPr>
              <a:t>位置</a:t>
            </a:r>
            <a:r>
              <a:rPr lang="ja-JP" altLang="en-US" sz="2400" dirty="0"/>
              <a:t>と</a:t>
            </a:r>
            <a:r>
              <a:rPr lang="ja-JP" altLang="en-US" sz="2400" b="1" dirty="0">
                <a:solidFill>
                  <a:srgbClr val="FF0000"/>
                </a:solidFill>
              </a:rPr>
              <a:t>時間</a:t>
            </a:r>
            <a:r>
              <a:rPr lang="ja-JP" altLang="en-US" sz="2400" dirty="0"/>
              <a:t>の</a:t>
            </a:r>
            <a:r>
              <a:rPr lang="en-US" altLang="ja-JP" sz="2400" b="1" dirty="0">
                <a:solidFill>
                  <a:srgbClr val="FF0000"/>
                </a:solidFill>
              </a:rPr>
              <a:t>2</a:t>
            </a:r>
            <a:r>
              <a:rPr lang="ja-JP" altLang="en-US" sz="2400" b="1" dirty="0">
                <a:solidFill>
                  <a:srgbClr val="FF0000"/>
                </a:solidFill>
              </a:rPr>
              <a:t>次導関数</a:t>
            </a:r>
            <a:r>
              <a:rPr lang="ja-JP" altLang="en-US" sz="2400" dirty="0"/>
              <a:t>から</a:t>
            </a:r>
            <a:r>
              <a:rPr lang="ja-JP" altLang="en-US" sz="2400" b="1" dirty="0">
                <a:solidFill>
                  <a:srgbClr val="FF0000"/>
                </a:solidFill>
              </a:rPr>
              <a:t>瞬間加速度</a:t>
            </a:r>
            <a:r>
              <a:rPr lang="ja-JP" altLang="en-US" sz="2400" dirty="0"/>
              <a:t>が求められる</a:t>
            </a:r>
            <a:endParaRPr lang="en-US" altLang="ja-JP" sz="2400" dirty="0"/>
          </a:p>
          <a:p>
            <a:endParaRPr lang="en-US" altLang="ja-JP" sz="2400" dirty="0"/>
          </a:p>
          <a:p>
            <a:endParaRPr lang="en-US" altLang="ja-JP" sz="2400" dirty="0"/>
          </a:p>
          <a:p>
            <a:r>
              <a:rPr lang="ja-JP" altLang="en-US" sz="2400" dirty="0"/>
              <a:t>計算が大変ですが実は裏技があります。</a:t>
            </a:r>
            <a:endParaRPr lang="en-US" altLang="ja-JP" sz="2400" dirty="0"/>
          </a:p>
          <a:p>
            <a:r>
              <a:rPr lang="ja-JP" altLang="en-US" sz="2400" dirty="0"/>
              <a:t>後のスライドで紹介します。</a:t>
            </a:r>
            <a:endParaRPr lang="en-US" altLang="ja-JP" sz="2400" dirty="0"/>
          </a:p>
        </p:txBody>
      </p:sp>
    </p:spTree>
    <p:extLst>
      <p:ext uri="{BB962C8B-B14F-4D97-AF65-F5344CB8AC3E}">
        <p14:creationId xmlns:p14="http://schemas.microsoft.com/office/powerpoint/2010/main" val="346427276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908</TotalTime>
  <Words>991</Words>
  <Application>Microsoft Office PowerPoint</Application>
  <PresentationFormat>ワイド画面</PresentationFormat>
  <Paragraphs>163</Paragraphs>
  <Slides>15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107</cp:revision>
  <dcterms:created xsi:type="dcterms:W3CDTF">2024-08-27T02:15:54Z</dcterms:created>
  <dcterms:modified xsi:type="dcterms:W3CDTF">2025-09-19T03:03:22Z</dcterms:modified>
</cp:coreProperties>
</file>