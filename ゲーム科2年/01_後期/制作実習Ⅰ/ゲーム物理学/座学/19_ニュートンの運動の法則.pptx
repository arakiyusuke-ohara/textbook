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2" r:id="rId3"/>
    <p:sldId id="263" r:id="rId4"/>
    <p:sldId id="264" r:id="rId5"/>
    <p:sldId id="265" r:id="rId6"/>
    <p:sldId id="266" r:id="rId7"/>
    <p:sldId id="267" r:id="rId8"/>
    <p:sldId id="268"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4646"/>
    <a:srgbClr val="AD5B5B"/>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2025/11/7</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2025/11/7</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2025/11/7</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2025/11/7</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2025/11/7</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2025/11/7</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2025/11/7</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2025/11/7</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2025/11/7</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2025/11/7</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2025/11/7</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2025/11/7</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ja.wikipedia.org/wiki/%E3%82%A2%E3%82%A4%E3%82%B6%E3%83%83%E3%82%AF%E3%83%BB%E3%83%8B%E3%83%A5%E3%83%BC%E3%83%88%E3%83%B3"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98722" cy="584775"/>
          </a:xfrm>
          <a:prstGeom prst="rect">
            <a:avLst/>
          </a:prstGeom>
          <a:noFill/>
        </p:spPr>
        <p:txBody>
          <a:bodyPr wrap="none" rtlCol="0">
            <a:spAutoFit/>
          </a:bodyPr>
          <a:lstStyle/>
          <a:p>
            <a:r>
              <a:rPr kumimoji="1" lang="ja-JP" altLang="en-US" sz="3200" b="1" u="sng" dirty="0"/>
              <a:t>ニュートンの運動の法則</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2308324"/>
          </a:xfrm>
          <a:prstGeom prst="rect">
            <a:avLst/>
          </a:prstGeom>
          <a:noFill/>
        </p:spPr>
        <p:txBody>
          <a:bodyPr wrap="none" rtlCol="0">
            <a:spAutoFit/>
          </a:bodyPr>
          <a:lstStyle/>
          <a:p>
            <a:r>
              <a:rPr lang="ja-JP" altLang="en-US" sz="2400" dirty="0"/>
              <a:t>イングランドの物理学者、アイザック・ニュートンは、</a:t>
            </a:r>
            <a:endParaRPr lang="en-US" altLang="ja-JP" sz="2400" dirty="0"/>
          </a:p>
          <a:p>
            <a:r>
              <a:rPr lang="ja-JP" altLang="en-US" sz="2400" dirty="0"/>
              <a:t>地球上の運動のすべてを説明する３つの法則を定義しました。</a:t>
            </a:r>
            <a:endParaRPr lang="en-US" altLang="ja-JP" sz="2400" dirty="0"/>
          </a:p>
          <a:p>
            <a:endParaRPr lang="en-US" altLang="ja-JP" sz="2400" dirty="0"/>
          </a:p>
          <a:p>
            <a:r>
              <a:rPr lang="ja-JP" altLang="en-US" sz="2400" dirty="0"/>
              <a:t>これまでの学習を踏まえたうえで、その３つの法則を見ていきましょう。</a:t>
            </a:r>
            <a:endParaRPr lang="en-US" altLang="ja-JP" sz="2400" dirty="0"/>
          </a:p>
          <a:p>
            <a:endParaRPr lang="en-US" altLang="ja-JP" sz="2400" dirty="0"/>
          </a:p>
          <a:p>
            <a:r>
              <a:rPr lang="ja-JP" altLang="en-US" sz="2400" dirty="0">
                <a:hlinkClick r:id="rId2"/>
              </a:rPr>
              <a:t>アイザック・ニュートン </a:t>
            </a:r>
            <a:r>
              <a:rPr lang="en-US" altLang="ja-JP" sz="2400" dirty="0">
                <a:hlinkClick r:id="rId2"/>
              </a:rPr>
              <a:t>- Wikipedia</a:t>
            </a:r>
            <a:endParaRPr lang="en-US" altLang="ja-JP" sz="2400" dirty="0"/>
          </a:p>
        </p:txBody>
      </p:sp>
    </p:spTree>
    <p:extLst>
      <p:ext uri="{BB962C8B-B14F-4D97-AF65-F5344CB8AC3E}">
        <p14:creationId xmlns:p14="http://schemas.microsoft.com/office/powerpoint/2010/main" val="1639033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A04064F6-B2FD-4963-B776-C0E861E16ED4}"/>
              </a:ext>
            </a:extLst>
          </p:cNvPr>
          <p:cNvSpPr/>
          <p:nvPr/>
        </p:nvSpPr>
        <p:spPr>
          <a:xfrm>
            <a:off x="412376" y="1828800"/>
            <a:ext cx="6355977" cy="1837765"/>
          </a:xfrm>
          <a:prstGeom prst="roundRect">
            <a:avLst/>
          </a:prstGeom>
          <a:solidFill>
            <a:schemeClr val="bg1">
              <a:lumMod val="8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98722" cy="584775"/>
          </a:xfrm>
          <a:prstGeom prst="rect">
            <a:avLst/>
          </a:prstGeom>
          <a:noFill/>
        </p:spPr>
        <p:txBody>
          <a:bodyPr wrap="none" rtlCol="0">
            <a:spAutoFit/>
          </a:bodyPr>
          <a:lstStyle/>
          <a:p>
            <a:r>
              <a:rPr kumimoji="1" lang="ja-JP" altLang="en-US" sz="3200" b="1" u="sng" dirty="0"/>
              <a:t>ニュートンの運動の法則</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4524315"/>
              </a:xfrm>
              <a:prstGeom prst="rect">
                <a:avLst/>
              </a:prstGeom>
              <a:noFill/>
            </p:spPr>
            <p:txBody>
              <a:bodyPr wrap="none" rtlCol="0">
                <a:spAutoFit/>
              </a:bodyPr>
              <a:lstStyle/>
              <a:p>
                <a:r>
                  <a:rPr lang="ja-JP" altLang="en-US" sz="2400" dirty="0"/>
                  <a:t>第一法則はとてもシンプルです。</a:t>
                </a:r>
                <a:endParaRPr lang="en-US" altLang="ja-JP" sz="2400" dirty="0"/>
              </a:p>
              <a:p>
                <a:endParaRPr lang="en-US" altLang="ja-JP" sz="2400" dirty="0"/>
              </a:p>
              <a:p>
                <a:r>
                  <a:rPr lang="ja-JP" altLang="en-US" sz="2400" b="1" dirty="0">
                    <a:solidFill>
                      <a:srgbClr val="FF0000"/>
                    </a:solidFill>
                  </a:rPr>
                  <a:t>■ニュートンの運動の第一法則</a:t>
                </a:r>
                <a:endParaRPr lang="en-US" altLang="ja-JP" sz="2400" b="1" dirty="0">
                  <a:solidFill>
                    <a:srgbClr val="FF0000"/>
                  </a:solidFill>
                </a:endParaRPr>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r>
                      <a:rPr lang="en-US" altLang="ja-JP" sz="2400" b="0" i="1" smtClean="0">
                        <a:latin typeface="Cambria Math" panose="02040503050406030204" pitchFamily="18" charset="0"/>
                      </a:rPr>
                      <m:t>=0</m:t>
                    </m:r>
                  </m:oMath>
                </a14:m>
                <a:r>
                  <a:rPr lang="ja-JP" altLang="en-US" sz="2400" dirty="0"/>
                  <a:t>のとき、物体の運動は変化しない</a:t>
                </a:r>
                <a:endParaRPr lang="en-US" altLang="ja-JP" sz="2400" dirty="0"/>
              </a:p>
              <a:p>
                <a:endParaRPr lang="en-US" altLang="ja-JP" sz="2400" dirty="0"/>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oMath>
                </a14:m>
                <a:r>
                  <a:rPr lang="ja-JP" altLang="en-US" sz="2400" dirty="0"/>
                  <a:t>・・・合力</a:t>
                </a:r>
                <a:endParaRPr lang="en-US" altLang="ja-JP" sz="2400" dirty="0"/>
              </a:p>
              <a:p>
                <a:endParaRPr lang="en-US" altLang="ja-JP" sz="2400" dirty="0"/>
              </a:p>
              <a:p>
                <a:r>
                  <a:rPr lang="ja-JP" altLang="en-US" sz="2400" dirty="0"/>
                  <a:t>このことから、以下の</a:t>
                </a:r>
                <a:r>
                  <a:rPr lang="en-US" altLang="ja-JP" sz="2400" dirty="0"/>
                  <a:t>2</a:t>
                </a:r>
                <a:r>
                  <a:rPr lang="ja-JP" altLang="en-US" sz="2400" dirty="0"/>
                  <a:t>点が説明されます。</a:t>
                </a:r>
                <a:endParaRPr lang="en-US" altLang="ja-JP" sz="2400" dirty="0"/>
              </a:p>
              <a:p>
                <a:r>
                  <a:rPr lang="ja-JP" altLang="en-US" sz="2400" b="1" dirty="0">
                    <a:solidFill>
                      <a:srgbClr val="FF0000"/>
                    </a:solidFill>
                  </a:rPr>
                  <a:t>・静止している物体は、外部から力を加えない限り静止し続ける</a:t>
                </a:r>
                <a:endParaRPr lang="en-US" altLang="ja-JP" sz="2400" b="1" dirty="0">
                  <a:solidFill>
                    <a:srgbClr val="FF0000"/>
                  </a:solidFill>
                </a:endParaRPr>
              </a:p>
              <a:p>
                <a:r>
                  <a:rPr lang="ja-JP" altLang="en-US" sz="2400" b="1" dirty="0">
                    <a:solidFill>
                      <a:srgbClr val="FF0000"/>
                    </a:solidFill>
                  </a:rPr>
                  <a:t>・動いている物体は、外部から力を加えない限り、等速直線運動を続ける</a:t>
                </a:r>
                <a:endParaRPr lang="en-US" altLang="ja-JP" sz="2400" b="1" dirty="0">
                  <a:solidFill>
                    <a:srgbClr val="FF0000"/>
                  </a:solidFill>
                </a:endParaRPr>
              </a:p>
              <a:p>
                <a:endParaRPr lang="en-US" altLang="ja-JP" sz="2400" dirty="0"/>
              </a:p>
              <a:p>
                <a:r>
                  <a:rPr lang="en-US" altLang="ja-JP" sz="2400" b="1" dirty="0">
                    <a:solidFill>
                      <a:srgbClr val="00B050"/>
                    </a:solidFill>
                  </a:rPr>
                  <a:t>※</a:t>
                </a:r>
                <a:r>
                  <a:rPr lang="ja-JP" altLang="en-US" sz="2400" b="1" dirty="0">
                    <a:solidFill>
                      <a:srgbClr val="00B050"/>
                    </a:solidFill>
                  </a:rPr>
                  <a:t>等速直線運動とは、常に同じ速度で動くこと</a:t>
                </a:r>
                <a:endParaRPr lang="en-US" altLang="ja-JP" sz="2400" b="1" dirty="0">
                  <a:solidFill>
                    <a:srgbClr val="00B050"/>
                  </a:solidFill>
                </a:endParaRPr>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341293" cy="4524315"/>
              </a:xfrm>
              <a:prstGeom prst="rect">
                <a:avLst/>
              </a:prstGeom>
              <a:blipFill>
                <a:blip r:embed="rId2"/>
                <a:stretch>
                  <a:fillRect l="-884" t="-1078" b="-215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542398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872120" cy="584775"/>
          </a:xfrm>
          <a:prstGeom prst="rect">
            <a:avLst/>
          </a:prstGeom>
          <a:noFill/>
        </p:spPr>
        <p:txBody>
          <a:bodyPr wrap="none" rtlCol="0">
            <a:spAutoFit/>
          </a:bodyPr>
          <a:lstStyle/>
          <a:p>
            <a:r>
              <a:rPr kumimoji="1" lang="ja-JP" altLang="en-US" sz="3200" b="1" u="sng" dirty="0"/>
              <a:t>ニュートンの運動の法則 例題</a:t>
            </a:r>
            <a:r>
              <a:rPr kumimoji="1" lang="en-US" altLang="ja-JP" sz="3200" b="1" u="sng" dirty="0"/>
              <a:t>1</a:t>
            </a: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27818" cy="4154984"/>
              </a:xfrm>
              <a:prstGeom prst="rect">
                <a:avLst/>
              </a:prstGeom>
              <a:noFill/>
            </p:spPr>
            <p:txBody>
              <a:bodyPr wrap="none" rtlCol="0">
                <a:spAutoFit/>
              </a:bodyPr>
              <a:lstStyle/>
              <a:p>
                <a:r>
                  <a:rPr lang="ja-JP" altLang="en-US" sz="2400" dirty="0"/>
                  <a:t>エアホッケーのパックを打ち、</a:t>
                </a:r>
                <a:endParaRPr lang="en-US" altLang="ja-JP" sz="2400" dirty="0"/>
              </a:p>
              <a:p>
                <a:r>
                  <a:rPr lang="ja-JP" altLang="en-US" sz="2400" dirty="0"/>
                  <a:t>パックは初速度</a:t>
                </a:r>
                <a14:m>
                  <m:oMath xmlns:m="http://schemas.openxmlformats.org/officeDocument/2006/math">
                    <m:r>
                      <a:rPr lang="en-US" altLang="ja-JP" sz="2400" i="1" dirty="0" smtClean="0">
                        <a:latin typeface="Cambria Math" panose="02040503050406030204" pitchFamily="18" charset="0"/>
                      </a:rPr>
                      <m:t>[1</m:t>
                    </m:r>
                    <m:r>
                      <a:rPr lang="en-US" altLang="ja-JP" sz="2400" b="0" i="1" dirty="0" smtClean="0">
                        <a:latin typeface="Cambria Math" panose="02040503050406030204" pitchFamily="18" charset="0"/>
                      </a:rPr>
                      <m:t>0</m:t>
                    </m:r>
                    <m:r>
                      <a:rPr lang="en-US" altLang="ja-JP" sz="2400" i="1" dirty="0" smtClean="0">
                        <a:latin typeface="Cambria Math" panose="02040503050406030204" pitchFamily="18" charset="0"/>
                      </a:rPr>
                      <m:t>𝑐𝑚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r>
                      <a:rPr lang="en-US" altLang="ja-JP" sz="2400" i="1" dirty="0" smtClean="0">
                        <a:latin typeface="Cambria Math" panose="02040503050406030204" pitchFamily="18" charset="0"/>
                      </a:rPr>
                      <m:t>, </m:t>
                    </m:r>
                    <m:r>
                      <a:rPr lang="en-US" altLang="ja-JP" sz="2400" i="1" dirty="0">
                        <a:latin typeface="Cambria Math" panose="02040503050406030204" pitchFamily="18" charset="0"/>
                      </a:rPr>
                      <m:t>70</m:t>
                    </m:r>
                    <m:r>
                      <a:rPr lang="en-US" altLang="ja-JP" sz="2400" i="1" dirty="0" smtClean="0">
                        <a:latin typeface="Cambria Math" panose="02040503050406030204" pitchFamily="18" charset="0"/>
                      </a:rPr>
                      <m:t>𝑐𝑚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r>
                      <a:rPr lang="en-US" altLang="ja-JP" sz="2400" i="1" dirty="0" smtClean="0">
                        <a:latin typeface="Cambria Math" panose="02040503050406030204" pitchFamily="18" charset="0"/>
                      </a:rPr>
                      <m:t>]</m:t>
                    </m:r>
                  </m:oMath>
                </a14:m>
                <a:r>
                  <a:rPr lang="ja-JP" altLang="en-US" sz="2400" dirty="0"/>
                  <a:t>で動き始めた。</a:t>
                </a:r>
                <a:endParaRPr lang="en-US" altLang="ja-JP" sz="2400" dirty="0"/>
              </a:p>
              <a:p>
                <a:r>
                  <a:rPr lang="en-US" altLang="ja-JP" sz="2400" dirty="0"/>
                  <a:t>3</a:t>
                </a:r>
                <a:r>
                  <a:rPr lang="ja-JP" altLang="en-US" sz="2400" dirty="0"/>
                  <a:t>秒後に壁に衝突したが、それまでのパックの速度はいくつか。</a:t>
                </a:r>
                <a:endParaRPr lang="en-US" altLang="ja-JP" sz="2400" dirty="0"/>
              </a:p>
              <a:p>
                <a:r>
                  <a:rPr lang="ja-JP" altLang="en-US" sz="2400" dirty="0"/>
                  <a:t>ただし、ホッケー台から受ける摩擦は</a:t>
                </a:r>
                <a:r>
                  <a:rPr lang="en-US" altLang="ja-JP" sz="2400" dirty="0"/>
                  <a:t>0</a:t>
                </a:r>
                <a:r>
                  <a:rPr lang="ja-JP" altLang="en-US" sz="2400" dirty="0"/>
                  <a:t>とする。</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r>
                  <a:rPr lang="ja-JP" altLang="en-US" sz="2400" dirty="0"/>
                  <a:t>パックが外部から受ける力はないため、</a:t>
                </a:r>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r>
                      <a:rPr lang="en-US" altLang="ja-JP" sz="2400" b="0" i="1" smtClean="0">
                        <a:latin typeface="Cambria Math" panose="02040503050406030204" pitchFamily="18" charset="0"/>
                      </a:rPr>
                      <m:t>=0</m:t>
                    </m:r>
                  </m:oMath>
                </a14:m>
                <a:r>
                  <a:rPr lang="en-US" altLang="ja-JP" sz="2400" dirty="0"/>
                  <a:t> </a:t>
                </a:r>
                <a:r>
                  <a:rPr lang="ja-JP" altLang="en-US" sz="2400" dirty="0"/>
                  <a:t>である。</a:t>
                </a:r>
                <a:endParaRPr lang="en-US" altLang="ja-JP" sz="2400" dirty="0"/>
              </a:p>
              <a:p>
                <a:r>
                  <a:rPr lang="ja-JP" altLang="en-US" sz="2400" dirty="0"/>
                  <a:t>よって等速直線運動をするため、</a:t>
                </a:r>
                <a14:m>
                  <m:oMath xmlns:m="http://schemas.openxmlformats.org/officeDocument/2006/math">
                    <m:r>
                      <a:rPr lang="en-US" altLang="ja-JP" sz="2400" i="1" dirty="0" smtClean="0">
                        <a:solidFill>
                          <a:srgbClr val="FF0000"/>
                        </a:solidFill>
                        <a:latin typeface="Cambria Math" panose="02040503050406030204" pitchFamily="18" charset="0"/>
                      </a:rPr>
                      <m:t>[1</m:t>
                    </m:r>
                    <m:r>
                      <a:rPr lang="en-US" altLang="ja-JP" sz="2400" b="0" i="1" dirty="0" smtClean="0">
                        <a:solidFill>
                          <a:srgbClr val="FF0000"/>
                        </a:solidFill>
                        <a:latin typeface="Cambria Math" panose="02040503050406030204" pitchFamily="18" charset="0"/>
                      </a:rPr>
                      <m:t>0</m:t>
                    </m:r>
                    <m:r>
                      <a:rPr lang="en-US" altLang="ja-JP" sz="2400" i="1" dirty="0" smtClean="0">
                        <a:solidFill>
                          <a:srgbClr val="FF0000"/>
                        </a:solidFill>
                        <a:latin typeface="Cambria Math" panose="02040503050406030204" pitchFamily="18" charset="0"/>
                      </a:rPr>
                      <m:t>𝑐𝑚</m:t>
                    </m:r>
                    <m:r>
                      <a:rPr lang="en-US" altLang="ja-JP" sz="2400" i="1" dirty="0" smtClean="0">
                        <a:solidFill>
                          <a:srgbClr val="FF0000"/>
                        </a:solidFill>
                        <a:latin typeface="Cambria Math" panose="02040503050406030204" pitchFamily="18" charset="0"/>
                      </a:rPr>
                      <m:t>/</m:t>
                    </m:r>
                    <m:r>
                      <a:rPr lang="ja-JP" altLang="en-US" sz="2400" i="1" dirty="0" smtClean="0">
                        <a:solidFill>
                          <a:srgbClr val="FF0000"/>
                        </a:solidFill>
                        <a:latin typeface="Cambria Math" panose="02040503050406030204" pitchFamily="18" charset="0"/>
                      </a:rPr>
                      <m:t>秒</m:t>
                    </m:r>
                    <m:r>
                      <a:rPr lang="en-US" altLang="ja-JP" sz="2400" i="1" dirty="0" smtClean="0">
                        <a:solidFill>
                          <a:srgbClr val="FF0000"/>
                        </a:solidFill>
                        <a:latin typeface="Cambria Math" panose="02040503050406030204" pitchFamily="18" charset="0"/>
                      </a:rPr>
                      <m:t>, </m:t>
                    </m:r>
                    <m:r>
                      <a:rPr lang="en-US" altLang="ja-JP" sz="2400" i="1" dirty="0">
                        <a:solidFill>
                          <a:srgbClr val="FF0000"/>
                        </a:solidFill>
                        <a:latin typeface="Cambria Math" panose="02040503050406030204" pitchFamily="18" charset="0"/>
                      </a:rPr>
                      <m:t>70</m:t>
                    </m:r>
                    <m:r>
                      <a:rPr lang="en-US" altLang="ja-JP" sz="2400" i="1" dirty="0" smtClean="0">
                        <a:solidFill>
                          <a:srgbClr val="FF0000"/>
                        </a:solidFill>
                        <a:latin typeface="Cambria Math" panose="02040503050406030204" pitchFamily="18" charset="0"/>
                      </a:rPr>
                      <m:t>𝑐𝑚</m:t>
                    </m:r>
                    <m:r>
                      <a:rPr lang="en-US" altLang="ja-JP" sz="2400" i="1" dirty="0" smtClean="0">
                        <a:solidFill>
                          <a:srgbClr val="FF0000"/>
                        </a:solidFill>
                        <a:latin typeface="Cambria Math" panose="02040503050406030204" pitchFamily="18" charset="0"/>
                      </a:rPr>
                      <m:t>/</m:t>
                    </m:r>
                    <m:r>
                      <a:rPr lang="ja-JP" altLang="en-US" sz="2400" i="1" dirty="0" smtClean="0">
                        <a:solidFill>
                          <a:srgbClr val="FF0000"/>
                        </a:solidFill>
                        <a:latin typeface="Cambria Math" panose="02040503050406030204" pitchFamily="18" charset="0"/>
                      </a:rPr>
                      <m:t>秒</m:t>
                    </m:r>
                    <m:r>
                      <a:rPr lang="en-US" altLang="ja-JP" sz="2400" i="1" dirty="0" smtClean="0">
                        <a:solidFill>
                          <a:srgbClr val="FF0000"/>
                        </a:solidFill>
                        <a:latin typeface="Cambria Math" panose="02040503050406030204" pitchFamily="18" charset="0"/>
                      </a:rPr>
                      <m:t>]</m:t>
                    </m:r>
                  </m:oMath>
                </a14:m>
                <a:r>
                  <a:rPr lang="en-US" altLang="ja-JP" sz="2400" dirty="0"/>
                  <a:t> </a:t>
                </a:r>
                <a:r>
                  <a:rPr lang="ja-JP" altLang="en-US" sz="2400" dirty="0"/>
                  <a:t>となる。</a:t>
                </a:r>
                <a:endParaRPr lang="en-US" altLang="ja-JP" sz="2400" dirty="0"/>
              </a:p>
              <a:p>
                <a:endParaRPr lang="en-US" altLang="ja-JP" sz="2400" dirty="0"/>
              </a:p>
              <a:p>
                <a:r>
                  <a:rPr lang="en-US" altLang="ja-JP" sz="2400" b="1" dirty="0">
                    <a:solidFill>
                      <a:srgbClr val="00B050"/>
                    </a:solidFill>
                  </a:rPr>
                  <a:t>MEMO</a:t>
                </a:r>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r>
                      <a:rPr lang="en-US" altLang="ja-JP" sz="2400" b="0" i="1" smtClean="0">
                        <a:latin typeface="Cambria Math" panose="02040503050406030204" pitchFamily="18" charset="0"/>
                      </a:rPr>
                      <m:t>=0</m:t>
                    </m:r>
                  </m:oMath>
                </a14:m>
                <a:r>
                  <a:rPr lang="ja-JP" altLang="en-US" sz="2400" dirty="0"/>
                  <a:t>ということは運動は変わらないということを覚えておきましょう。</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527818" cy="4154984"/>
              </a:xfrm>
              <a:prstGeom prst="rect">
                <a:avLst/>
              </a:prstGeom>
              <a:blipFill>
                <a:blip r:embed="rId2"/>
                <a:stretch>
                  <a:fillRect l="-869" t="-1175" b="-249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08200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BD38C391-A127-4656-8A03-A68FD1D849FA}"/>
              </a:ext>
            </a:extLst>
          </p:cNvPr>
          <p:cNvSpPr/>
          <p:nvPr/>
        </p:nvSpPr>
        <p:spPr>
          <a:xfrm>
            <a:off x="412376" y="1828800"/>
            <a:ext cx="6355977" cy="2465294"/>
          </a:xfrm>
          <a:prstGeom prst="roundRect">
            <a:avLst/>
          </a:prstGeom>
          <a:solidFill>
            <a:schemeClr val="bg1">
              <a:lumMod val="8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ニュートンの運動の法則</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893647"/>
              </a:xfrm>
              <a:prstGeom prst="rect">
                <a:avLst/>
              </a:prstGeom>
              <a:noFill/>
            </p:spPr>
            <p:txBody>
              <a:bodyPr wrap="none" rtlCol="0">
                <a:spAutoFit/>
              </a:bodyPr>
              <a:lstStyle/>
              <a:p>
                <a:r>
                  <a:rPr lang="ja-JP" altLang="en-US" sz="2400" dirty="0"/>
                  <a:t>第二法則は合力が</a:t>
                </a:r>
                <a:r>
                  <a:rPr lang="en-US" altLang="ja-JP" sz="2400" dirty="0"/>
                  <a:t>0</a:t>
                </a:r>
                <a:r>
                  <a:rPr lang="ja-JP" altLang="en-US" sz="2400" dirty="0"/>
                  <a:t>でない場合を考えたものです。</a:t>
                </a:r>
                <a:endParaRPr lang="en-US" altLang="ja-JP" sz="2400" dirty="0"/>
              </a:p>
              <a:p>
                <a:endParaRPr lang="en-US" altLang="ja-JP" sz="2400" dirty="0"/>
              </a:p>
              <a:p>
                <a:r>
                  <a:rPr lang="ja-JP" altLang="en-US" sz="2400" b="1" dirty="0">
                    <a:solidFill>
                      <a:srgbClr val="FF0000"/>
                    </a:solidFill>
                  </a:rPr>
                  <a:t>■ニュートンの運動の第二法則</a:t>
                </a:r>
                <a:endParaRPr lang="en-US" altLang="ja-JP" sz="2400" b="1" dirty="0">
                  <a:solidFill>
                    <a:srgbClr val="FF0000"/>
                  </a:solidFill>
                </a:endParaRPr>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𝑚𝑎</m:t>
                    </m:r>
                  </m:oMath>
                </a14:m>
                <a:r>
                  <a:rPr lang="en-US" altLang="ja-JP" sz="2400" dirty="0"/>
                  <a:t> </a:t>
                </a:r>
              </a:p>
              <a:p>
                <a:endParaRPr lang="en-US" altLang="ja-JP" sz="2400" dirty="0"/>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oMath>
                </a14:m>
                <a:r>
                  <a:rPr lang="en-US" altLang="ja-JP" sz="2400" dirty="0"/>
                  <a:t>	</a:t>
                </a:r>
                <a:r>
                  <a:rPr lang="ja-JP" altLang="en-US" sz="2400" dirty="0"/>
                  <a:t>・・・合力</a:t>
                </a:r>
                <a:endParaRPr lang="en-US" altLang="ja-JP" sz="2400" dirty="0"/>
              </a:p>
              <a:p>
                <a14:m>
                  <m:oMath xmlns:m="http://schemas.openxmlformats.org/officeDocument/2006/math">
                    <m:r>
                      <a:rPr lang="en-US" altLang="ja-JP" sz="2400" b="0" i="1" smtClean="0">
                        <a:latin typeface="Cambria Math" panose="02040503050406030204" pitchFamily="18" charset="0"/>
                      </a:rPr>
                      <m:t>𝑚</m:t>
                    </m:r>
                  </m:oMath>
                </a14:m>
                <a:r>
                  <a:rPr lang="en-US" altLang="ja-JP" sz="2400" dirty="0"/>
                  <a:t>	</a:t>
                </a:r>
                <a:r>
                  <a:rPr lang="ja-JP" altLang="en-US" sz="2400" dirty="0"/>
                  <a:t>・・・質量</a:t>
                </a:r>
                <a:endParaRPr lang="en-US" altLang="ja-JP" sz="2400" dirty="0"/>
              </a:p>
              <a:p>
                <a14:m>
                  <m:oMath xmlns:m="http://schemas.openxmlformats.org/officeDocument/2006/math">
                    <m:r>
                      <a:rPr lang="en-US" altLang="ja-JP" sz="2400" b="0" i="1" smtClean="0">
                        <a:latin typeface="Cambria Math" panose="02040503050406030204" pitchFamily="18" charset="0"/>
                      </a:rPr>
                      <m:t>𝑎</m:t>
                    </m:r>
                  </m:oMath>
                </a14:m>
                <a:r>
                  <a:rPr lang="en-US" altLang="ja-JP" sz="2400" dirty="0"/>
                  <a:t>	</a:t>
                </a:r>
                <a:r>
                  <a:rPr lang="ja-JP" altLang="en-US" sz="2400" dirty="0"/>
                  <a:t>・・・加速度</a:t>
                </a:r>
                <a:endParaRPr lang="en-US" altLang="ja-JP" sz="2400" dirty="0"/>
              </a:p>
              <a:p>
                <a:endParaRPr lang="en-US" altLang="ja-JP" sz="2400" dirty="0"/>
              </a:p>
              <a:p>
                <a:r>
                  <a:rPr lang="ja-JP" altLang="en-US" sz="2400" dirty="0"/>
                  <a:t>質量または加速度が大きくなると合力が大きくなります。つまり、</a:t>
                </a:r>
                <a:endParaRPr lang="en-US" altLang="ja-JP" sz="2400" dirty="0"/>
              </a:p>
              <a:p>
                <a:r>
                  <a:rPr lang="ja-JP" altLang="en-US" sz="2400" b="1" dirty="0">
                    <a:solidFill>
                      <a:srgbClr val="FF0000"/>
                    </a:solidFill>
                  </a:rPr>
                  <a:t>・大きなものの動きには大きな力が発生する</a:t>
                </a:r>
                <a:endParaRPr lang="en-US" altLang="ja-JP" sz="2400" b="1" dirty="0">
                  <a:solidFill>
                    <a:srgbClr val="FF0000"/>
                  </a:solidFill>
                </a:endParaRPr>
              </a:p>
              <a:p>
                <a:r>
                  <a:rPr lang="ja-JP" altLang="en-US" sz="2400" b="1" dirty="0">
                    <a:solidFill>
                      <a:srgbClr val="FF0000"/>
                    </a:solidFill>
                  </a:rPr>
                  <a:t>・加速度が大きな動きには大きな力が発生する</a:t>
                </a:r>
                <a:endParaRPr lang="en-US" altLang="ja-JP" sz="2400" b="1" dirty="0">
                  <a:solidFill>
                    <a:srgbClr val="FF0000"/>
                  </a:solidFill>
                </a:endParaRPr>
              </a:p>
              <a:p>
                <a:r>
                  <a:rPr lang="ja-JP" altLang="en-US" sz="2400" dirty="0"/>
                  <a:t>ということになります。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725739" cy="4893647"/>
              </a:xfrm>
              <a:prstGeom prst="rect">
                <a:avLst/>
              </a:prstGeom>
              <a:blipFill>
                <a:blip r:embed="rId2"/>
                <a:stretch>
                  <a:fillRect l="-940" t="-998" b="-19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85871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872120" cy="584775"/>
          </a:xfrm>
          <a:prstGeom prst="rect">
            <a:avLst/>
          </a:prstGeom>
          <a:noFill/>
        </p:spPr>
        <p:txBody>
          <a:bodyPr wrap="none" rtlCol="0">
            <a:spAutoFit/>
          </a:bodyPr>
          <a:lstStyle/>
          <a:p>
            <a:r>
              <a:rPr kumimoji="1" lang="ja-JP" altLang="en-US" sz="3200" b="1" u="sng" dirty="0"/>
              <a:t>ニュートンの運動の法則 例題</a:t>
            </a:r>
            <a:r>
              <a:rPr kumimoji="1" lang="en-US" altLang="ja-JP" sz="3200" b="1" u="sng" dirty="0"/>
              <a:t>2</a:t>
            </a: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79151" cy="4405052"/>
              </a:xfrm>
              <a:prstGeom prst="rect">
                <a:avLst/>
              </a:prstGeom>
              <a:noFill/>
            </p:spPr>
            <p:txBody>
              <a:bodyPr wrap="none" rtlCol="0">
                <a:spAutoFit/>
              </a:bodyPr>
              <a:lstStyle/>
              <a:p>
                <a:r>
                  <a:rPr lang="ja-JP" altLang="en-US" sz="2400" dirty="0"/>
                  <a:t>ゲーム中の氷の床の上に</a:t>
                </a:r>
                <a:r>
                  <a:rPr lang="en-US" altLang="ja-JP" sz="2400" dirty="0"/>
                  <a:t>20kg</a:t>
                </a:r>
                <a:r>
                  <a:rPr lang="ja-JP" altLang="en-US" sz="2400" dirty="0"/>
                  <a:t>の金属の箱があり、</a:t>
                </a:r>
                <a:endParaRPr lang="en-US" altLang="ja-JP" sz="2400" dirty="0"/>
              </a:p>
              <a:p>
                <a:r>
                  <a:rPr lang="ja-JP" altLang="en-US" sz="2400" dirty="0"/>
                  <a:t>この箱にロープをつけて</a:t>
                </a:r>
                <a:r>
                  <a:rPr lang="en-US" altLang="ja-JP" sz="2400" dirty="0"/>
                  <a:t>100N</a:t>
                </a:r>
                <a:r>
                  <a:rPr lang="ja-JP" altLang="en-US" sz="2400" dirty="0"/>
                  <a:t>の力で引っ張ります。</a:t>
                </a:r>
                <a:endParaRPr lang="en-US" altLang="ja-JP" sz="2400" dirty="0"/>
              </a:p>
              <a:p>
                <a:r>
                  <a:rPr lang="ja-JP" altLang="en-US" sz="2400" dirty="0"/>
                  <a:t>このときの合力が</a:t>
                </a:r>
                <a14:m>
                  <m:oMath xmlns:m="http://schemas.openxmlformats.org/officeDocument/2006/math">
                    <m:r>
                      <a:rPr lang="en-US" altLang="ja-JP" sz="2400" b="0" i="0" smtClean="0">
                        <a:solidFill>
                          <a:schemeClr val="tx1"/>
                        </a:solidFill>
                        <a:latin typeface="Cambria Math" panose="02040503050406030204" pitchFamily="18" charset="0"/>
                      </a:rPr>
                      <m:t>[47.8</m:t>
                    </m:r>
                    <m:r>
                      <m:rPr>
                        <m:sty m:val="p"/>
                      </m:rPr>
                      <a:rPr lang="en-US" altLang="ja-JP" sz="2400" b="0" i="0" smtClean="0">
                        <a:solidFill>
                          <a:schemeClr val="tx1"/>
                        </a:solidFill>
                        <a:latin typeface="Cambria Math" panose="02040503050406030204" pitchFamily="18" charset="0"/>
                      </a:rPr>
                      <m:t>N</m:t>
                    </m:r>
                    <m:r>
                      <a:rPr lang="en-US" altLang="ja-JP" sz="2400" b="0" i="0" smtClean="0">
                        <a:solidFill>
                          <a:schemeClr val="tx1"/>
                        </a:solidFill>
                        <a:latin typeface="Cambria Math" panose="02040503050406030204" pitchFamily="18" charset="0"/>
                      </a:rPr>
                      <m:t>, 0]</m:t>
                    </m:r>
                  </m:oMath>
                </a14:m>
                <a:r>
                  <a:rPr lang="en-US" altLang="ja-JP" sz="2400" dirty="0">
                    <a:solidFill>
                      <a:srgbClr val="FF0000"/>
                    </a:solidFill>
                  </a:rPr>
                  <a:t> </a:t>
                </a:r>
                <a:r>
                  <a:rPr lang="ja-JP" altLang="en-US" sz="2400" dirty="0"/>
                  <a:t>のとき、合力から得られる加速度を求めなさい</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𝑛𝑒𝑡</m:t>
                        </m:r>
                      </m:sub>
                    </m:sSub>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𝑚𝑎</m:t>
                    </m:r>
                  </m:oMath>
                </a14:m>
                <a:r>
                  <a:rPr lang="en-US" altLang="ja-JP" sz="2400" dirty="0"/>
                  <a:t> </a:t>
                </a:r>
                <a:r>
                  <a:rPr lang="ja-JP" altLang="en-US" sz="2400" dirty="0"/>
                  <a:t>より、</a:t>
                </a:r>
                <a:endParaRPr lang="en-US" altLang="ja-JP" sz="2400" dirty="0"/>
              </a:p>
              <a:p>
                <a14:m>
                  <m:oMath xmlns:m="http://schemas.openxmlformats.org/officeDocument/2006/math">
                    <m:d>
                      <m:dPr>
                        <m:begChr m:val="["/>
                        <m:endChr m:val="]"/>
                        <m:ctrlPr>
                          <a:rPr lang="en-US" altLang="ja-JP" sz="2400" b="0" i="1" smtClean="0">
                            <a:solidFill>
                              <a:schemeClr val="tx1"/>
                            </a:solidFill>
                            <a:latin typeface="Cambria Math" panose="02040503050406030204" pitchFamily="18" charset="0"/>
                          </a:rPr>
                        </m:ctrlPr>
                      </m:dPr>
                      <m:e>
                        <m:r>
                          <a:rPr lang="en-US" altLang="ja-JP" sz="2400" b="0" i="0" smtClean="0">
                            <a:solidFill>
                              <a:schemeClr val="tx1"/>
                            </a:solidFill>
                            <a:latin typeface="Cambria Math" panose="02040503050406030204" pitchFamily="18" charset="0"/>
                          </a:rPr>
                          <m:t>47.8</m:t>
                        </m:r>
                        <m:r>
                          <m:rPr>
                            <m:sty m:val="p"/>
                          </m:rPr>
                          <a:rPr lang="en-US" altLang="ja-JP" sz="2400" b="0" i="0" smtClean="0">
                            <a:solidFill>
                              <a:schemeClr val="tx1"/>
                            </a:solidFill>
                            <a:latin typeface="Cambria Math" panose="02040503050406030204" pitchFamily="18" charset="0"/>
                          </a:rPr>
                          <m:t>N</m:t>
                        </m:r>
                        <m:r>
                          <a:rPr lang="en-US" altLang="ja-JP" sz="2400" b="0" i="0" smtClean="0">
                            <a:solidFill>
                              <a:schemeClr val="tx1"/>
                            </a:solidFill>
                            <a:latin typeface="Cambria Math" panose="02040503050406030204" pitchFamily="18" charset="0"/>
                          </a:rPr>
                          <m:t>, 0</m:t>
                        </m:r>
                      </m:e>
                    </m:d>
                    <m:r>
                      <a:rPr lang="en-US" altLang="ja-JP" sz="2400" b="0" i="0" smtClean="0">
                        <a:solidFill>
                          <a:schemeClr val="tx1"/>
                        </a:solidFill>
                        <a:latin typeface="Cambria Math" panose="02040503050406030204" pitchFamily="18" charset="0"/>
                      </a:rPr>
                      <m:t>=20</m:t>
                    </m:r>
                    <m:r>
                      <m:rPr>
                        <m:sty m:val="p"/>
                      </m:rPr>
                      <a:rPr lang="en-US" altLang="ja-JP" sz="2400" b="0" i="0" smtClean="0">
                        <a:solidFill>
                          <a:schemeClr val="tx1"/>
                        </a:solidFill>
                        <a:latin typeface="Cambria Math" panose="02040503050406030204" pitchFamily="18" charset="0"/>
                      </a:rPr>
                      <m:t>kg</m:t>
                    </m:r>
                    <m:r>
                      <a:rPr lang="en-US" altLang="ja-JP" sz="2400" i="1">
                        <a:latin typeface="Cambria Math" panose="02040503050406030204" pitchFamily="18" charset="0"/>
                      </a:rPr>
                      <m:t>×</m:t>
                    </m:r>
                    <m:r>
                      <a:rPr lang="en-US" altLang="ja-JP" sz="2400" b="0" i="1" smtClean="0">
                        <a:latin typeface="Cambria Math" panose="02040503050406030204" pitchFamily="18" charset="0"/>
                      </a:rPr>
                      <m:t>𝑎</m:t>
                    </m:r>
                  </m:oMath>
                </a14:m>
                <a:r>
                  <a:rPr lang="en-US" altLang="ja-JP" sz="2400" dirty="0"/>
                  <a:t> </a:t>
                </a:r>
              </a:p>
              <a:p>
                <a14:m>
                  <m:oMath xmlns:m="http://schemas.openxmlformats.org/officeDocument/2006/math">
                    <m:r>
                      <a:rPr lang="en-US" altLang="ja-JP" sz="2400" b="0" i="1" smtClean="0">
                        <a:solidFill>
                          <a:schemeClr val="tx1"/>
                        </a:solidFill>
                        <a:latin typeface="Cambria Math" panose="02040503050406030204" pitchFamily="18" charset="0"/>
                      </a:rPr>
                      <m:t>𝑎</m:t>
                    </m:r>
                    <m:r>
                      <a:rPr lang="en-US" altLang="ja-JP" sz="2400" b="0" i="0" smtClean="0">
                        <a:solidFill>
                          <a:schemeClr val="tx1"/>
                        </a:solidFill>
                        <a:latin typeface="Cambria Math" panose="02040503050406030204" pitchFamily="18" charset="0"/>
                      </a:rPr>
                      <m:t>=</m:t>
                    </m:r>
                    <m:d>
                      <m:dPr>
                        <m:begChr m:val="["/>
                        <m:endChr m:val="]"/>
                        <m:ctrlPr>
                          <a:rPr lang="en-US" altLang="ja-JP" sz="2400" i="1">
                            <a:latin typeface="Cambria Math" panose="02040503050406030204" pitchFamily="18" charset="0"/>
                          </a:rPr>
                        </m:ctrlPr>
                      </m:dPr>
                      <m:e>
                        <m:r>
                          <a:rPr lang="en-US" altLang="ja-JP" sz="2400">
                            <a:latin typeface="Cambria Math" panose="02040503050406030204" pitchFamily="18" charset="0"/>
                          </a:rPr>
                          <m:t>47.8</m:t>
                        </m:r>
                        <m:r>
                          <m:rPr>
                            <m:sty m:val="p"/>
                          </m:rPr>
                          <a:rPr lang="en-US" altLang="ja-JP" sz="2400">
                            <a:latin typeface="Cambria Math" panose="02040503050406030204" pitchFamily="18" charset="0"/>
                          </a:rPr>
                          <m:t>N</m:t>
                        </m:r>
                        <m:r>
                          <a:rPr lang="en-US" altLang="ja-JP" sz="2400">
                            <a:latin typeface="Cambria Math" panose="02040503050406030204" pitchFamily="18" charset="0"/>
                          </a:rPr>
                          <m:t>, 0</m:t>
                        </m:r>
                      </m:e>
                    </m:d>
                    <m:r>
                      <a:rPr lang="en-US" altLang="ja-JP" sz="2400" i="1" smtClean="0">
                        <a:latin typeface="Cambria Math" panose="02040503050406030204" pitchFamily="18" charset="0"/>
                      </a:rPr>
                      <m:t>÷</m:t>
                    </m:r>
                    <m:r>
                      <a:rPr lang="en-US" altLang="ja-JP" sz="2400" b="0" i="0" smtClean="0">
                        <a:solidFill>
                          <a:schemeClr val="tx1"/>
                        </a:solidFill>
                        <a:latin typeface="Cambria Math" panose="02040503050406030204" pitchFamily="18" charset="0"/>
                      </a:rPr>
                      <m:t>20</m:t>
                    </m:r>
                    <m:r>
                      <m:rPr>
                        <m:sty m:val="p"/>
                      </m:rPr>
                      <a:rPr lang="en-US" altLang="ja-JP" sz="2400" b="0" i="0" smtClean="0">
                        <a:solidFill>
                          <a:schemeClr val="tx1"/>
                        </a:solidFill>
                        <a:latin typeface="Cambria Math" panose="02040503050406030204" pitchFamily="18" charset="0"/>
                      </a:rPr>
                      <m:t>kg</m:t>
                    </m:r>
                    <m:r>
                      <a:rPr lang="en-US" altLang="ja-JP" sz="2400" b="0" i="0" smtClean="0">
                        <a:solidFill>
                          <a:schemeClr val="tx1"/>
                        </a:solidFill>
                        <a:latin typeface="Cambria Math" panose="02040503050406030204" pitchFamily="18" charset="0"/>
                      </a:rPr>
                      <m:t>=</m:t>
                    </m:r>
                    <m:d>
                      <m:dPr>
                        <m:begChr m:val="["/>
                        <m:endChr m:val="]"/>
                        <m:ctrlPr>
                          <a:rPr lang="en-US" altLang="ja-JP" sz="2400" i="1">
                            <a:latin typeface="Cambria Math" panose="02040503050406030204" pitchFamily="18" charset="0"/>
                          </a:rPr>
                        </m:ctrlPr>
                      </m:dPr>
                      <m:e>
                        <m:r>
                          <a:rPr lang="en-US" altLang="ja-JP" sz="2400" b="0" i="0" smtClean="0">
                            <a:latin typeface="Cambria Math" panose="02040503050406030204" pitchFamily="18" charset="0"/>
                          </a:rPr>
                          <m:t>2.39</m:t>
                        </m:r>
                        <m:r>
                          <m:rPr>
                            <m:sty m:val="p"/>
                          </m:rPr>
                          <a:rPr lang="en-US" altLang="ja-JP" sz="2400" b="0" i="0" smtClean="0">
                            <a:latin typeface="Cambria Math" panose="02040503050406030204" pitchFamily="18" charset="0"/>
                          </a:rPr>
                          <m:t>m</m:t>
                        </m:r>
                        <m:r>
                          <a:rPr lang="en-US" altLang="ja-JP" sz="2400" b="0" i="0"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ja-JP" altLang="en-US" sz="2400" i="1">
                                <a:latin typeface="Cambria Math" panose="02040503050406030204" pitchFamily="18" charset="0"/>
                              </a:rPr>
                              <m:t>秒</m:t>
                            </m:r>
                          </m:e>
                          <m:sup>
                            <m:r>
                              <a:rPr lang="en-US" altLang="ja-JP" sz="2400" b="0" i="1" smtClean="0">
                                <a:latin typeface="Cambria Math" panose="02040503050406030204" pitchFamily="18" charset="0"/>
                              </a:rPr>
                              <m:t>2</m:t>
                            </m:r>
                          </m:sup>
                        </m:sSup>
                        <m:r>
                          <a:rPr lang="en-US" altLang="ja-JP" sz="2400">
                            <a:latin typeface="Cambria Math" panose="02040503050406030204" pitchFamily="18" charset="0"/>
                          </a:rPr>
                          <m:t>, 0</m:t>
                        </m:r>
                      </m:e>
                    </m:d>
                  </m:oMath>
                </a14:m>
                <a:r>
                  <a:rPr lang="en-US" altLang="ja-JP" sz="2400" dirty="0"/>
                  <a:t> </a:t>
                </a:r>
              </a:p>
              <a:p>
                <a:endParaRPr lang="en-US" altLang="ja-JP" sz="2400" dirty="0"/>
              </a:p>
              <a:p>
                <a:r>
                  <a:rPr lang="en-US" altLang="ja-JP" sz="2400" b="1" dirty="0">
                    <a:solidFill>
                      <a:srgbClr val="00B050"/>
                    </a:solidFill>
                  </a:rPr>
                  <a:t>MEMO</a:t>
                </a:r>
              </a:p>
              <a:p>
                <a14:m>
                  <m:oMath xmlns:m="http://schemas.openxmlformats.org/officeDocument/2006/math">
                    <m:r>
                      <m:rPr>
                        <m:sty m:val="p"/>
                      </m:rPr>
                      <a:rPr lang="en-US" altLang="ja-JP" sz="2400" smtClean="0">
                        <a:latin typeface="Cambria Math" panose="02040503050406030204" pitchFamily="18" charset="0"/>
                      </a:rPr>
                      <m:t>N</m:t>
                    </m:r>
                  </m:oMath>
                </a14:m>
                <a:r>
                  <a:rPr lang="ja-JP" altLang="en-US" sz="2400" dirty="0"/>
                  <a:t>は</a:t>
                </a:r>
                <a14:m>
                  <m:oMath xmlns:m="http://schemas.openxmlformats.org/officeDocument/2006/math">
                    <m:r>
                      <m:rPr>
                        <m:sty m:val="p"/>
                      </m:rPr>
                      <a:rPr lang="en-US" altLang="ja-JP" sz="2400" b="0" i="0" smtClean="0">
                        <a:latin typeface="Cambria Math" panose="02040503050406030204" pitchFamily="18" charset="0"/>
                      </a:rPr>
                      <m:t>kg</m:t>
                    </m:r>
                    <m:r>
                      <a:rPr lang="en-US" altLang="ja-JP" sz="2400" b="0" i="0" smtClean="0">
                        <a:latin typeface="Cambria Math" panose="02040503050406030204" pitchFamily="18" charset="0"/>
                      </a:rPr>
                      <m:t>∗</m:t>
                    </m:r>
                    <m:r>
                      <m:rPr>
                        <m:sty m:val="p"/>
                      </m:rPr>
                      <a:rPr lang="en-US" altLang="ja-JP" sz="2400">
                        <a:latin typeface="Cambria Math" panose="02040503050406030204" pitchFamily="18" charset="0"/>
                      </a:rPr>
                      <m:t>m</m:t>
                    </m:r>
                    <m:r>
                      <a:rPr lang="en-US" altLang="ja-JP" sz="2400">
                        <a:latin typeface="Cambria Math" panose="02040503050406030204" pitchFamily="18" charset="0"/>
                      </a:rPr>
                      <m:t>/</m:t>
                    </m:r>
                    <m:sSup>
                      <m:sSupPr>
                        <m:ctrlPr>
                          <a:rPr lang="en-US" altLang="ja-JP" sz="2400" i="1">
                            <a:latin typeface="Cambria Math" panose="02040503050406030204" pitchFamily="18" charset="0"/>
                          </a:rPr>
                        </m:ctrlPr>
                      </m:sSupPr>
                      <m:e>
                        <m:r>
                          <a:rPr lang="ja-JP" altLang="en-US" sz="2400" i="1">
                            <a:latin typeface="Cambria Math" panose="02040503050406030204" pitchFamily="18" charset="0"/>
                          </a:rPr>
                          <m:t>秒</m:t>
                        </m:r>
                      </m:e>
                      <m:sup>
                        <m:r>
                          <a:rPr lang="en-US" altLang="ja-JP" sz="2400" i="1">
                            <a:latin typeface="Cambria Math" panose="02040503050406030204" pitchFamily="18" charset="0"/>
                          </a:rPr>
                          <m:t>2</m:t>
                        </m:r>
                      </m:sup>
                    </m:sSup>
                  </m:oMath>
                </a14:m>
                <a:r>
                  <a:rPr lang="ja-JP" altLang="en-US" sz="2400" dirty="0"/>
                  <a:t>なので単位も合います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479151" cy="4405052"/>
              </a:xfrm>
              <a:prstGeom prst="rect">
                <a:avLst/>
              </a:prstGeom>
              <a:blipFill>
                <a:blip r:embed="rId2"/>
                <a:stretch>
                  <a:fillRect l="-873" t="-1108" b="-235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60740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872120" cy="584775"/>
          </a:xfrm>
          <a:prstGeom prst="rect">
            <a:avLst/>
          </a:prstGeom>
          <a:noFill/>
        </p:spPr>
        <p:txBody>
          <a:bodyPr wrap="none" rtlCol="0">
            <a:spAutoFit/>
          </a:bodyPr>
          <a:lstStyle/>
          <a:p>
            <a:r>
              <a:rPr kumimoji="1" lang="ja-JP" altLang="en-US" sz="3200" b="1" u="sng" dirty="0"/>
              <a:t>ニュートンの運動の法則 例題</a:t>
            </a:r>
            <a:r>
              <a:rPr kumimoji="1" lang="en-US" altLang="ja-JP" sz="3200" b="1" u="sng" dirty="0"/>
              <a:t>3</a:t>
            </a: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79080" cy="4299254"/>
              </a:xfrm>
              <a:prstGeom prst="rect">
                <a:avLst/>
              </a:prstGeom>
              <a:noFill/>
            </p:spPr>
            <p:txBody>
              <a:bodyPr wrap="none" rtlCol="0">
                <a:spAutoFit/>
              </a:bodyPr>
              <a:lstStyle/>
              <a:p>
                <a:r>
                  <a:rPr lang="ja-JP" altLang="en-US" sz="2400" dirty="0"/>
                  <a:t>例題</a:t>
                </a:r>
                <a:r>
                  <a:rPr lang="en-US" altLang="ja-JP" sz="2400" dirty="0"/>
                  <a:t>2</a:t>
                </a:r>
                <a:r>
                  <a:rPr lang="ja-JP" altLang="en-US" sz="2400" dirty="0"/>
                  <a:t>の箱は３秒後にどれだけ移動しているでしょうか</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r>
                  <a:rPr lang="ja-JP" altLang="en-US" sz="2400" dirty="0"/>
                  <a:t>運動の式４</a:t>
                </a:r>
                <a:r>
                  <a:rPr lang="ja-JP" altLang="en-US" sz="2400" b="0" dirty="0">
                    <a:solidFill>
                      <a:schemeClr val="tx1"/>
                    </a:solidFill>
                  </a:rPr>
                  <a:t> </a:t>
                </a:r>
                <a14:m>
                  <m:oMath xmlns:m="http://schemas.openxmlformats.org/officeDocument/2006/math">
                    <m:r>
                      <a:rPr lang="ja-JP" altLang="en-US" sz="2400" b="0" i="1" dirty="0" smtClean="0">
                        <a:solidFill>
                          <a:schemeClr val="tx1"/>
                        </a:solidFill>
                        <a:latin typeface="Cambria Math" panose="02040503050406030204" pitchFamily="18" charset="0"/>
                      </a:rPr>
                      <m:t>⊿</m:t>
                    </m:r>
                    <m:r>
                      <a:rPr lang="en-US" altLang="ja-JP" sz="2400" b="0" i="1" dirty="0" smtClean="0">
                        <a:solidFill>
                          <a:schemeClr val="tx1"/>
                        </a:solidFill>
                        <a:latin typeface="Cambria Math" panose="02040503050406030204" pitchFamily="18" charset="0"/>
                      </a:rPr>
                      <m:t>𝑥</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𝑣𝑖𝑡</m:t>
                    </m:r>
                    <m:r>
                      <a:rPr lang="en-US" altLang="ja-JP" sz="2400" b="0" i="1" smtClean="0">
                        <a:latin typeface="Cambria Math" panose="02040503050406030204" pitchFamily="18" charset="0"/>
                      </a:rPr>
                      <m:t>+</m:t>
                    </m:r>
                    <m:f>
                      <m:fPr>
                        <m:ctrlPr>
                          <a:rPr lang="en-US" altLang="ja-JP" sz="2400" i="1" smtClean="0">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b="0" i="1" smtClean="0">
                            <a:latin typeface="Cambria Math" panose="02040503050406030204" pitchFamily="18" charset="0"/>
                          </a:rPr>
                          <m:t>2</m:t>
                        </m:r>
                      </m:den>
                    </m:f>
                    <m:r>
                      <a:rPr lang="en-US" altLang="ja-JP" sz="2400" b="0" i="1" smtClean="0">
                        <a:latin typeface="Cambria Math" panose="02040503050406030204" pitchFamily="18" charset="0"/>
                      </a:rPr>
                      <m:t>𝑎</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𝑡</m:t>
                        </m:r>
                      </m:e>
                      <m:sup>
                        <m:r>
                          <a:rPr lang="en-US" altLang="ja-JP" sz="2400" b="0" i="1" smtClean="0">
                            <a:latin typeface="Cambria Math" panose="02040503050406030204" pitchFamily="18" charset="0"/>
                          </a:rPr>
                          <m:t>2</m:t>
                        </m:r>
                      </m:sup>
                    </m:sSup>
                  </m:oMath>
                </a14:m>
                <a:r>
                  <a:rPr lang="en-US" altLang="ja-JP" sz="2400" dirty="0"/>
                  <a:t> </a:t>
                </a:r>
                <a:r>
                  <a:rPr lang="ja-JP" altLang="en-US" sz="2400" dirty="0"/>
                  <a:t>より</a:t>
                </a:r>
                <a:endParaRPr lang="en-US" altLang="ja-JP" sz="2400" dirty="0"/>
              </a:p>
              <a:p>
                <a14:m>
                  <m:oMath xmlns:m="http://schemas.openxmlformats.org/officeDocument/2006/math">
                    <m:r>
                      <a:rPr lang="ja-JP" altLang="en-US" sz="2400" b="0" i="1" dirty="0" smtClean="0">
                        <a:solidFill>
                          <a:schemeClr val="tx1"/>
                        </a:solidFill>
                        <a:latin typeface="Cambria Math" panose="02040503050406030204" pitchFamily="18" charset="0"/>
                      </a:rPr>
                      <m:t>⊿</m:t>
                    </m:r>
                    <m:r>
                      <a:rPr lang="en-US" altLang="ja-JP" sz="2400" b="0" i="1" dirty="0" smtClean="0">
                        <a:solidFill>
                          <a:schemeClr val="tx1"/>
                        </a:solidFill>
                        <a:latin typeface="Cambria Math" panose="02040503050406030204" pitchFamily="18" charset="0"/>
                      </a:rPr>
                      <m:t>𝑥</m:t>
                    </m:r>
                    <m:r>
                      <a:rPr lang="en-US" altLang="ja-JP" sz="2400" b="0" i="1" smtClean="0">
                        <a:latin typeface="Cambria Math" panose="02040503050406030204" pitchFamily="18" charset="0"/>
                      </a:rPr>
                      <m:t>=0</m:t>
                    </m:r>
                    <m:r>
                      <a:rPr lang="en-US" altLang="ja-JP" sz="2400" i="1">
                        <a:latin typeface="Cambria Math" panose="02040503050406030204" pitchFamily="18" charset="0"/>
                      </a:rPr>
                      <m:t>×</m:t>
                    </m:r>
                    <m:r>
                      <a:rPr lang="en-US" altLang="ja-JP" sz="2400" b="0" i="1" smtClean="0">
                        <a:latin typeface="Cambria Math" panose="02040503050406030204" pitchFamily="18" charset="0"/>
                      </a:rPr>
                      <m:t>3+</m:t>
                    </m:r>
                    <m:f>
                      <m:fPr>
                        <m:ctrlPr>
                          <a:rPr lang="en-US" altLang="ja-JP" sz="2400" i="1" smtClean="0">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b="0" i="1" smtClean="0">
                            <a:latin typeface="Cambria Math" panose="02040503050406030204" pitchFamily="18" charset="0"/>
                          </a:rPr>
                          <m:t>2</m:t>
                        </m:r>
                      </m:den>
                    </m:f>
                    <m:d>
                      <m:dPr>
                        <m:begChr m:val="["/>
                        <m:endChr m:val="]"/>
                        <m:ctrlPr>
                          <a:rPr lang="en-US" altLang="ja-JP" sz="2400" i="1">
                            <a:latin typeface="Cambria Math" panose="02040503050406030204" pitchFamily="18" charset="0"/>
                          </a:rPr>
                        </m:ctrlPr>
                      </m:dPr>
                      <m:e>
                        <m:r>
                          <a:rPr lang="en-US" altLang="ja-JP" sz="2400">
                            <a:latin typeface="Cambria Math" panose="02040503050406030204" pitchFamily="18" charset="0"/>
                          </a:rPr>
                          <m:t>2.39</m:t>
                        </m:r>
                        <m:r>
                          <m:rPr>
                            <m:sty m:val="p"/>
                          </m:rPr>
                          <a:rPr lang="en-US" altLang="ja-JP" sz="2400">
                            <a:latin typeface="Cambria Math" panose="02040503050406030204" pitchFamily="18" charset="0"/>
                          </a:rPr>
                          <m:t>m</m:t>
                        </m:r>
                        <m:r>
                          <a:rPr lang="en-US" altLang="ja-JP" sz="2400">
                            <a:latin typeface="Cambria Math" panose="02040503050406030204" pitchFamily="18" charset="0"/>
                          </a:rPr>
                          <m:t>/</m:t>
                        </m:r>
                        <m:sSup>
                          <m:sSupPr>
                            <m:ctrlPr>
                              <a:rPr lang="en-US" altLang="ja-JP" sz="2400" i="1">
                                <a:latin typeface="Cambria Math" panose="02040503050406030204" pitchFamily="18" charset="0"/>
                              </a:rPr>
                            </m:ctrlPr>
                          </m:sSupPr>
                          <m:e>
                            <m:r>
                              <a:rPr lang="ja-JP" altLang="en-US" sz="2400" i="1">
                                <a:latin typeface="Cambria Math" panose="02040503050406030204" pitchFamily="18" charset="0"/>
                              </a:rPr>
                              <m:t>秒</m:t>
                            </m:r>
                          </m:e>
                          <m:sup>
                            <m:r>
                              <a:rPr lang="en-US" altLang="ja-JP" sz="2400" i="1">
                                <a:latin typeface="Cambria Math" panose="02040503050406030204" pitchFamily="18" charset="0"/>
                              </a:rPr>
                              <m:t>2</m:t>
                            </m:r>
                          </m:sup>
                        </m:sSup>
                        <m:r>
                          <a:rPr lang="en-US" altLang="ja-JP" sz="2400">
                            <a:latin typeface="Cambria Math" panose="02040503050406030204" pitchFamily="18" charset="0"/>
                          </a:rPr>
                          <m:t>, 0</m:t>
                        </m:r>
                      </m:e>
                    </m:d>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(3</m:t>
                        </m:r>
                        <m:r>
                          <a:rPr lang="ja-JP" altLang="en-US" sz="2400" i="1">
                            <a:latin typeface="Cambria Math" panose="02040503050406030204" pitchFamily="18" charset="0"/>
                          </a:rPr>
                          <m:t>秒</m:t>
                        </m:r>
                        <m:r>
                          <a:rPr lang="en-US" altLang="ja-JP" sz="2400" b="0" i="1" smtClean="0">
                            <a:latin typeface="Cambria Math" panose="02040503050406030204" pitchFamily="18" charset="0"/>
                          </a:rPr>
                          <m:t>)</m:t>
                        </m:r>
                      </m:e>
                      <m:sup>
                        <m:r>
                          <a:rPr lang="en-US" altLang="ja-JP" sz="2400" b="0" i="1" smtClean="0">
                            <a:latin typeface="Cambria Math" panose="02040503050406030204" pitchFamily="18" charset="0"/>
                          </a:rPr>
                          <m:t>2</m:t>
                        </m:r>
                      </m:sup>
                    </m:sSup>
                  </m:oMath>
                </a14:m>
                <a:r>
                  <a:rPr lang="en-US" altLang="ja-JP" sz="2400" dirty="0"/>
                  <a:t> </a:t>
                </a:r>
              </a:p>
              <a:p>
                <a:endParaRPr lang="en-US" altLang="ja-JP" sz="2400" b="0" i="1" dirty="0">
                  <a:solidFill>
                    <a:schemeClr val="tx1"/>
                  </a:solidFill>
                  <a:latin typeface="Cambria Math" panose="02040503050406030204" pitchFamily="18" charset="0"/>
                </a:endParaRPr>
              </a:p>
              <a:p>
                <a14:m>
                  <m:oMath xmlns:m="http://schemas.openxmlformats.org/officeDocument/2006/math">
                    <m:r>
                      <a:rPr lang="ja-JP" altLang="en-US" sz="2400" b="0" i="1" dirty="0" smtClean="0">
                        <a:solidFill>
                          <a:schemeClr val="tx1"/>
                        </a:solidFill>
                        <a:latin typeface="Cambria Math" panose="02040503050406030204" pitchFamily="18" charset="0"/>
                      </a:rPr>
                      <m:t>⊿</m:t>
                    </m:r>
                    <m:r>
                      <a:rPr lang="en-US" altLang="ja-JP" sz="2400" b="0" i="1" dirty="0" smtClean="0">
                        <a:solidFill>
                          <a:schemeClr val="tx1"/>
                        </a:solidFill>
                        <a:latin typeface="Cambria Math" panose="02040503050406030204" pitchFamily="18" charset="0"/>
                      </a:rPr>
                      <m:t>𝑥</m:t>
                    </m:r>
                    <m:r>
                      <a:rPr lang="en-US" altLang="ja-JP" sz="2400" b="0" i="1" smtClean="0">
                        <a:latin typeface="Cambria Math" panose="02040503050406030204" pitchFamily="18" charset="0"/>
                      </a:rPr>
                      <m:t>=</m:t>
                    </m:r>
                    <m:f>
                      <m:fPr>
                        <m:ctrlPr>
                          <a:rPr lang="en-US" altLang="ja-JP" sz="2400" i="1" smtClean="0">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b="0" i="1" smtClean="0">
                            <a:latin typeface="Cambria Math" panose="02040503050406030204" pitchFamily="18" charset="0"/>
                          </a:rPr>
                          <m:t>2</m:t>
                        </m:r>
                      </m:den>
                    </m:f>
                    <m:d>
                      <m:dPr>
                        <m:begChr m:val="["/>
                        <m:endChr m:val="]"/>
                        <m:ctrlPr>
                          <a:rPr lang="en-US" altLang="ja-JP" sz="2400" i="1">
                            <a:latin typeface="Cambria Math" panose="02040503050406030204" pitchFamily="18" charset="0"/>
                          </a:rPr>
                        </m:ctrlPr>
                      </m:dPr>
                      <m:e>
                        <m:r>
                          <a:rPr lang="en-US" altLang="ja-JP" sz="2400">
                            <a:latin typeface="Cambria Math" panose="02040503050406030204" pitchFamily="18" charset="0"/>
                          </a:rPr>
                          <m:t>2.39</m:t>
                        </m:r>
                        <m:r>
                          <m:rPr>
                            <m:sty m:val="p"/>
                          </m:rPr>
                          <a:rPr lang="en-US" altLang="ja-JP" sz="2400">
                            <a:latin typeface="Cambria Math" panose="02040503050406030204" pitchFamily="18" charset="0"/>
                          </a:rPr>
                          <m:t>m</m:t>
                        </m:r>
                        <m:r>
                          <a:rPr lang="en-US" altLang="ja-JP" sz="2400">
                            <a:latin typeface="Cambria Math" panose="02040503050406030204" pitchFamily="18" charset="0"/>
                          </a:rPr>
                          <m:t>/</m:t>
                        </m:r>
                        <m:sSup>
                          <m:sSupPr>
                            <m:ctrlPr>
                              <a:rPr lang="en-US" altLang="ja-JP" sz="2400" i="1">
                                <a:latin typeface="Cambria Math" panose="02040503050406030204" pitchFamily="18" charset="0"/>
                              </a:rPr>
                            </m:ctrlPr>
                          </m:sSupPr>
                          <m:e>
                            <m:r>
                              <a:rPr lang="ja-JP" altLang="en-US" sz="2400" i="1">
                                <a:latin typeface="Cambria Math" panose="02040503050406030204" pitchFamily="18" charset="0"/>
                              </a:rPr>
                              <m:t>秒</m:t>
                            </m:r>
                          </m:e>
                          <m:sup>
                            <m:r>
                              <a:rPr lang="en-US" altLang="ja-JP" sz="2400" i="1">
                                <a:latin typeface="Cambria Math" panose="02040503050406030204" pitchFamily="18" charset="0"/>
                              </a:rPr>
                              <m:t>2</m:t>
                            </m:r>
                          </m:sup>
                        </m:sSup>
                        <m:r>
                          <a:rPr lang="en-US" altLang="ja-JP" sz="2400">
                            <a:latin typeface="Cambria Math" panose="02040503050406030204" pitchFamily="18" charset="0"/>
                          </a:rPr>
                          <m:t>, 0</m:t>
                        </m:r>
                      </m:e>
                    </m:d>
                    <m:sSup>
                      <m:sSupPr>
                        <m:ctrlPr>
                          <a:rPr lang="en-US" altLang="ja-JP" sz="2400" i="1">
                            <a:latin typeface="Cambria Math" panose="02040503050406030204" pitchFamily="18" charset="0"/>
                          </a:rPr>
                        </m:ctrlPr>
                      </m:sSupPr>
                      <m:e>
                        <m:r>
                          <a:rPr lang="en-US" altLang="ja-JP" sz="2400" i="1" smtClean="0">
                            <a:latin typeface="Cambria Math" panose="02040503050406030204" pitchFamily="18" charset="0"/>
                          </a:rPr>
                          <m:t>9</m:t>
                        </m:r>
                        <m:r>
                          <a:rPr lang="ja-JP" altLang="en-US" sz="2400" i="1">
                            <a:latin typeface="Cambria Math" panose="02040503050406030204" pitchFamily="18" charset="0"/>
                          </a:rPr>
                          <m:t>秒</m:t>
                        </m:r>
                      </m:e>
                      <m:sup>
                        <m:r>
                          <a:rPr lang="en-US" altLang="ja-JP" sz="2400" i="1">
                            <a:latin typeface="Cambria Math" panose="02040503050406030204" pitchFamily="18" charset="0"/>
                          </a:rPr>
                          <m:t>2</m:t>
                        </m:r>
                      </m:sup>
                    </m:sSup>
                    <m:r>
                      <a:rPr lang="en-US" altLang="ja-JP" sz="2400" b="0" i="1" smtClean="0">
                        <a:latin typeface="Cambria Math" panose="02040503050406030204" pitchFamily="18" charset="0"/>
                      </a:rPr>
                      <m:t>=</m:t>
                    </m:r>
                    <m:r>
                      <a:rPr lang="en-US" altLang="ja-JP" sz="2400" b="0" i="1" smtClean="0">
                        <a:solidFill>
                          <a:srgbClr val="FF0000"/>
                        </a:solidFill>
                        <a:latin typeface="Cambria Math" panose="02040503050406030204" pitchFamily="18" charset="0"/>
                      </a:rPr>
                      <m:t>10.755</m:t>
                    </m:r>
                    <m:r>
                      <a:rPr lang="en-US" altLang="ja-JP" sz="2400" b="0" i="1" smtClean="0">
                        <a:solidFill>
                          <a:srgbClr val="FF0000"/>
                        </a:solidFill>
                        <a:latin typeface="Cambria Math" panose="02040503050406030204" pitchFamily="18" charset="0"/>
                      </a:rPr>
                      <m:t>𝑚</m:t>
                    </m:r>
                  </m:oMath>
                </a14:m>
                <a:r>
                  <a:rPr lang="en-US" altLang="ja-JP" sz="2400" dirty="0">
                    <a:solidFill>
                      <a:srgbClr val="FF0000"/>
                    </a:solidFill>
                  </a:rPr>
                  <a:t> </a:t>
                </a:r>
                <a:endParaRPr lang="en-US" altLang="ja-JP" sz="2400" dirty="0"/>
              </a:p>
              <a:p>
                <a:endParaRPr lang="en-US" altLang="ja-JP" sz="2400" dirty="0"/>
              </a:p>
              <a:p>
                <a:r>
                  <a:rPr lang="en-US" altLang="ja-JP" sz="2400" b="1" dirty="0">
                    <a:solidFill>
                      <a:srgbClr val="00B050"/>
                    </a:solidFill>
                  </a:rPr>
                  <a:t>MEMO</a:t>
                </a:r>
              </a:p>
              <a:p>
                <a:r>
                  <a:rPr lang="ja-JP" altLang="en-US" sz="2400" dirty="0"/>
                  <a:t>運動の式を使えば、第二法則から様々な計算ができます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7879080" cy="4299254"/>
              </a:xfrm>
              <a:prstGeom prst="rect">
                <a:avLst/>
              </a:prstGeom>
              <a:blipFill>
                <a:blip r:embed="rId2"/>
                <a:stretch>
                  <a:fillRect l="-1160" t="-1135" r="-232" b="-227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50043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A1038FEF-72A8-47AF-9CB0-CC54234E0E44}"/>
              </a:ext>
            </a:extLst>
          </p:cNvPr>
          <p:cNvSpPr/>
          <p:nvPr/>
        </p:nvSpPr>
        <p:spPr>
          <a:xfrm>
            <a:off x="412376" y="1828800"/>
            <a:ext cx="10470777" cy="1835653"/>
          </a:xfrm>
          <a:prstGeom prst="roundRect">
            <a:avLst/>
          </a:prstGeom>
          <a:solidFill>
            <a:schemeClr val="bg1">
              <a:lumMod val="8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ニュートンの運動の法則</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4524315"/>
          </a:xfrm>
          <a:prstGeom prst="rect">
            <a:avLst/>
          </a:prstGeom>
          <a:noFill/>
        </p:spPr>
        <p:txBody>
          <a:bodyPr wrap="none" rtlCol="0">
            <a:spAutoFit/>
          </a:bodyPr>
          <a:lstStyle/>
          <a:p>
            <a:r>
              <a:rPr lang="ja-JP" altLang="en-US" sz="2400" dirty="0"/>
              <a:t>第三法則は反作用について定義しています。</a:t>
            </a:r>
            <a:endParaRPr lang="en-US" altLang="ja-JP" sz="2400" dirty="0"/>
          </a:p>
          <a:p>
            <a:endParaRPr lang="en-US" altLang="ja-JP" sz="2400" dirty="0"/>
          </a:p>
          <a:p>
            <a:r>
              <a:rPr lang="ja-JP" altLang="en-US" sz="2400" b="1" dirty="0">
                <a:solidFill>
                  <a:srgbClr val="FF0000"/>
                </a:solidFill>
              </a:rPr>
              <a:t>■ニュートンの運動の第三法則</a:t>
            </a:r>
            <a:endParaRPr lang="en-US" altLang="ja-JP" sz="2400" b="1" dirty="0">
              <a:solidFill>
                <a:srgbClr val="FF0000"/>
              </a:solidFill>
            </a:endParaRPr>
          </a:p>
          <a:p>
            <a:r>
              <a:rPr lang="ja-JP" altLang="en-US" sz="2400" dirty="0"/>
              <a:t>いかなる力に対しても大きさが同じで向きが正反対の力が存在する。</a:t>
            </a:r>
            <a:endParaRPr lang="en-US" altLang="ja-JP" sz="2400" dirty="0"/>
          </a:p>
          <a:p>
            <a:r>
              <a:rPr lang="ja-JP" altLang="en-US" sz="2400" dirty="0"/>
              <a:t>あるいは、２つの物体が接触するとき、大きさが同じで向きが正反対の</a:t>
            </a:r>
            <a:endParaRPr lang="en-US" altLang="ja-JP" sz="2400" dirty="0"/>
          </a:p>
          <a:p>
            <a:r>
              <a:rPr lang="ja-JP" altLang="en-US" sz="2400" dirty="0"/>
              <a:t>力を互いに及ぼしあう</a:t>
            </a:r>
            <a:endParaRPr lang="en-US" altLang="ja-JP" sz="2400" dirty="0"/>
          </a:p>
          <a:p>
            <a:endParaRPr lang="en-US" altLang="ja-JP" sz="2400" dirty="0"/>
          </a:p>
          <a:p>
            <a:r>
              <a:rPr lang="ja-JP" altLang="en-US" sz="2400" dirty="0"/>
              <a:t>隣の席の人とハイタッチしてみましょう。</a:t>
            </a:r>
            <a:endParaRPr lang="en-US" altLang="ja-JP" sz="2400" dirty="0"/>
          </a:p>
          <a:p>
            <a:r>
              <a:rPr lang="ja-JP" altLang="en-US" sz="2400" dirty="0"/>
              <a:t>叩かれた側の手に衝撃はありますが、叩いた側にも衝撃がありますよね。</a:t>
            </a:r>
            <a:endParaRPr lang="en-US" altLang="ja-JP" sz="2400" dirty="0"/>
          </a:p>
          <a:p>
            <a:endParaRPr lang="en-US" altLang="ja-JP" sz="2400" dirty="0"/>
          </a:p>
          <a:p>
            <a:r>
              <a:rPr lang="en-US" altLang="ja-JP" sz="2400" b="1" dirty="0">
                <a:solidFill>
                  <a:srgbClr val="00B050"/>
                </a:solidFill>
              </a:rPr>
              <a:t>MEMO</a:t>
            </a:r>
          </a:p>
          <a:p>
            <a:r>
              <a:rPr lang="ja-JP" altLang="en-US" sz="2400" b="1" dirty="0">
                <a:solidFill>
                  <a:srgbClr val="FF0000"/>
                </a:solidFill>
              </a:rPr>
              <a:t>跳ね返りや反射とは別物になります。</a:t>
            </a:r>
            <a:endParaRPr lang="en-US" altLang="ja-JP" sz="2400" b="1" dirty="0">
              <a:solidFill>
                <a:srgbClr val="FF0000"/>
              </a:solidFill>
            </a:endParaRPr>
          </a:p>
        </p:txBody>
      </p:sp>
    </p:spTree>
    <p:extLst>
      <p:ext uri="{BB962C8B-B14F-4D97-AF65-F5344CB8AC3E}">
        <p14:creationId xmlns:p14="http://schemas.microsoft.com/office/powerpoint/2010/main" val="3345736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636479" cy="584775"/>
          </a:xfrm>
          <a:prstGeom prst="rect">
            <a:avLst/>
          </a:prstGeom>
          <a:noFill/>
        </p:spPr>
        <p:txBody>
          <a:bodyPr wrap="none" rtlCol="0">
            <a:spAutoFit/>
          </a:bodyPr>
          <a:lstStyle/>
          <a:p>
            <a:r>
              <a:rPr kumimoji="1" lang="ja-JP" altLang="en-US" sz="3200" b="1" u="sng" dirty="0"/>
              <a:t>ニュートンの運動の法則 練習</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60291" cy="2308324"/>
              </a:xfrm>
              <a:prstGeom prst="rect">
                <a:avLst/>
              </a:prstGeom>
              <a:noFill/>
            </p:spPr>
            <p:txBody>
              <a:bodyPr wrap="none" rtlCol="0">
                <a:spAutoFit/>
              </a:bodyPr>
              <a:lstStyle/>
              <a:p>
                <a:r>
                  <a:rPr lang="ja-JP" altLang="en-US" sz="2400" dirty="0"/>
                  <a:t>ゲーム中の氷の床の上に</a:t>
                </a:r>
                <a:r>
                  <a:rPr lang="en-US" altLang="ja-JP" sz="2400" dirty="0"/>
                  <a:t>15kg</a:t>
                </a:r>
                <a:r>
                  <a:rPr lang="ja-JP" altLang="en-US" sz="2400" dirty="0"/>
                  <a:t>の金属の箱があり、</a:t>
                </a:r>
                <a:endParaRPr lang="en-US" altLang="ja-JP" sz="2400" dirty="0"/>
              </a:p>
              <a:p>
                <a:r>
                  <a:rPr lang="ja-JP" altLang="en-US" sz="2400" dirty="0"/>
                  <a:t>この箱にロープをつけて</a:t>
                </a:r>
                <a:r>
                  <a:rPr lang="en-US" altLang="ja-JP" sz="2400" dirty="0"/>
                  <a:t>80N</a:t>
                </a:r>
                <a:r>
                  <a:rPr lang="ja-JP" altLang="en-US" sz="2400" dirty="0"/>
                  <a:t>の力で引っ張ります。</a:t>
                </a:r>
                <a:endParaRPr lang="en-US" altLang="ja-JP" sz="2400" dirty="0"/>
              </a:p>
              <a:p>
                <a:r>
                  <a:rPr lang="ja-JP" altLang="en-US" sz="2400" dirty="0"/>
                  <a:t>ロープの角度が</a:t>
                </a:r>
                <a14:m>
                  <m:oMath xmlns:m="http://schemas.openxmlformats.org/officeDocument/2006/math">
                    <m:r>
                      <a:rPr lang="en-US" altLang="ja-JP" sz="2400" i="1" dirty="0">
                        <a:latin typeface="Cambria Math" panose="02040503050406030204" pitchFamily="18" charset="0"/>
                      </a:rPr>
                      <m:t>30°</m:t>
                    </m:r>
                  </m:oMath>
                </a14:m>
                <a:r>
                  <a:rPr lang="ja-JP" altLang="en-US" sz="2400" dirty="0"/>
                  <a:t>のとき、この箱が</a:t>
                </a:r>
                <a:r>
                  <a:rPr lang="en-US" altLang="ja-JP" sz="2400" dirty="0"/>
                  <a:t>2</a:t>
                </a:r>
                <a:r>
                  <a:rPr lang="ja-JP" altLang="en-US" sz="2400" dirty="0"/>
                  <a:t>秒でどれだけ移動するか求めなさい。</a:t>
                </a:r>
                <a:endParaRPr lang="en-US" altLang="ja-JP" sz="2400" dirty="0"/>
              </a:p>
              <a:p>
                <a:r>
                  <a:rPr lang="ja-JP" altLang="en-US" sz="2400" dirty="0"/>
                  <a:t>また</a:t>
                </a:r>
                <a:r>
                  <a:rPr lang="en-US" altLang="ja-JP" sz="2400" dirty="0"/>
                  <a:t>5</a:t>
                </a:r>
                <a:r>
                  <a:rPr lang="ja-JP" altLang="en-US" sz="2400" dirty="0"/>
                  <a:t>秒後の速度を求めなさい。</a:t>
                </a:r>
                <a:endParaRPr lang="en-US" altLang="ja-JP" sz="2400" dirty="0"/>
              </a:p>
              <a:p>
                <a:r>
                  <a:rPr lang="ja-JP" altLang="en-US" sz="2400" dirty="0"/>
                  <a:t>ただし、</a:t>
                </a:r>
                <a14:m>
                  <m:oMath xmlns:m="http://schemas.openxmlformats.org/officeDocument/2006/math">
                    <m:r>
                      <a:rPr lang="en-US" altLang="ja-JP" sz="2400" b="0" i="1" smtClean="0">
                        <a:latin typeface="Cambria Math" panose="02040503050406030204" pitchFamily="18" charset="0"/>
                      </a:rPr>
                      <m:t>𝑠𝑖𝑛</m:t>
                    </m:r>
                    <m:r>
                      <a:rPr lang="en-US" altLang="ja-JP" sz="2400" b="0" i="1" smtClean="0">
                        <a:latin typeface="Cambria Math" panose="02040503050406030204" pitchFamily="18" charset="0"/>
                      </a:rPr>
                      <m:t>30°=0.5,</m:t>
                    </m:r>
                    <m:r>
                      <a:rPr lang="en-US" altLang="ja-JP" sz="2400" b="0" i="1" smtClean="0">
                        <a:latin typeface="Cambria Math" panose="02040503050406030204" pitchFamily="18" charset="0"/>
                      </a:rPr>
                      <m:t>𝑐𝑜𝑠</m:t>
                    </m:r>
                    <m:r>
                      <a:rPr lang="en-US" altLang="ja-JP" sz="2400" i="1">
                        <a:latin typeface="Cambria Math" panose="02040503050406030204" pitchFamily="18" charset="0"/>
                      </a:rPr>
                      <m:t>30°=0.</m:t>
                    </m:r>
                    <m:r>
                      <a:rPr lang="en-US" altLang="ja-JP" sz="2400" b="0" i="1" smtClean="0">
                        <a:latin typeface="Cambria Math" panose="02040503050406030204" pitchFamily="18" charset="0"/>
                      </a:rPr>
                      <m:t>86</m:t>
                    </m:r>
                  </m:oMath>
                </a14:m>
                <a:r>
                  <a:rPr lang="ja-JP" altLang="en-US" sz="2400" dirty="0"/>
                  <a:t>で計算すること。</a:t>
                </a:r>
                <a:endParaRPr lang="en-US" altLang="ja-JP" sz="2400" dirty="0"/>
              </a:p>
              <a:p>
                <a:r>
                  <a:rPr lang="ja-JP" altLang="en-US" sz="2400" dirty="0"/>
                  <a:t>また、金属と氷の運動摩擦係数は</a:t>
                </a:r>
                <a14:m>
                  <m:oMath xmlns:m="http://schemas.openxmlformats.org/officeDocument/2006/math">
                    <m:r>
                      <a:rPr lang="en-US" altLang="ja-JP" sz="2400" i="1" dirty="0" smtClean="0">
                        <a:latin typeface="Cambria Math" panose="02040503050406030204" pitchFamily="18" charset="0"/>
                      </a:rPr>
                      <m:t>0.1</m:t>
                    </m:r>
                  </m:oMath>
                </a14:m>
                <a:r>
                  <a:rPr lang="ja-JP" altLang="en-US" sz="2400" dirty="0"/>
                  <a:t>とする。</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660291" cy="2308324"/>
              </a:xfrm>
              <a:prstGeom prst="rect">
                <a:avLst/>
              </a:prstGeom>
              <a:blipFill>
                <a:blip r:embed="rId2"/>
                <a:stretch>
                  <a:fillRect l="-858" t="-2116" b="-529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36309235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1915</TotalTime>
  <Words>705</Words>
  <Application>Microsoft Office PowerPoint</Application>
  <PresentationFormat>ワイド画面</PresentationFormat>
  <Paragraphs>89</Paragraphs>
  <Slides>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192</cp:revision>
  <dcterms:created xsi:type="dcterms:W3CDTF">2024-08-27T02:15:54Z</dcterms:created>
  <dcterms:modified xsi:type="dcterms:W3CDTF">2025-11-07T01:43:02Z</dcterms:modified>
</cp:coreProperties>
</file>