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2024/9/30</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2024/9/30</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95384" cy="3416320"/>
          </a:xfrm>
          <a:prstGeom prst="rect">
            <a:avLst/>
          </a:prstGeom>
          <a:noFill/>
        </p:spPr>
        <p:txBody>
          <a:bodyPr wrap="none" rtlCol="0">
            <a:spAutoFit/>
          </a:bodyPr>
          <a:lstStyle/>
          <a:p>
            <a:r>
              <a:rPr kumimoji="1" lang="en-US" altLang="ja-JP" sz="2400" dirty="0"/>
              <a:t>3D</a:t>
            </a:r>
            <a:r>
              <a:rPr kumimoji="1" lang="ja-JP" altLang="en-US" sz="2400" dirty="0"/>
              <a:t>ゲームの作成には行列の計算が必要となる場合があります。</a:t>
            </a:r>
            <a:endParaRPr kumimoji="1" lang="en-US" altLang="ja-JP" sz="2400" dirty="0"/>
          </a:p>
          <a:p>
            <a:endParaRPr lang="en-US" altLang="ja-JP" sz="2400" dirty="0"/>
          </a:p>
          <a:p>
            <a:r>
              <a:rPr lang="ja-JP" altLang="en-US" sz="2400" b="1" dirty="0">
                <a:solidFill>
                  <a:srgbClr val="FF0000"/>
                </a:solidFill>
              </a:rPr>
              <a:t>■必要になるところ</a:t>
            </a:r>
            <a:endParaRPr lang="en-US" altLang="ja-JP" sz="2400" b="1" dirty="0">
              <a:solidFill>
                <a:srgbClr val="FF0000"/>
              </a:solidFill>
            </a:endParaRPr>
          </a:p>
          <a:p>
            <a:r>
              <a:rPr lang="ja-JP" altLang="en-US" sz="2400" dirty="0"/>
              <a:t>・カメラ操作（プレイヤーの周りをぐるぐる）</a:t>
            </a:r>
            <a:endParaRPr lang="en-US" altLang="ja-JP" sz="2400" dirty="0"/>
          </a:p>
          <a:p>
            <a:r>
              <a:rPr lang="ja-JP" altLang="en-US" sz="2400" dirty="0"/>
              <a:t>・キャラクター追従</a:t>
            </a:r>
            <a:endParaRPr lang="en-US" altLang="ja-JP" sz="2400" dirty="0"/>
          </a:p>
          <a:p>
            <a:r>
              <a:rPr lang="ja-JP" altLang="en-US" sz="2400" dirty="0"/>
              <a:t>・ （</a:t>
            </a:r>
            <a:r>
              <a:rPr lang="en-US" altLang="ja-JP" sz="2400" dirty="0"/>
              <a:t>DirectX</a:t>
            </a:r>
            <a:r>
              <a:rPr lang="ja-JP" altLang="en-US" sz="2400" dirty="0"/>
              <a:t>で作ろうとすると頻繁に使います）</a:t>
            </a:r>
            <a:endParaRPr lang="en-US" altLang="ja-JP" sz="2400" dirty="0"/>
          </a:p>
          <a:p>
            <a:r>
              <a:rPr lang="ja-JP" altLang="en-US" sz="2400" dirty="0"/>
              <a:t>など</a:t>
            </a:r>
            <a:endParaRPr lang="en-US" altLang="ja-JP" sz="2400" dirty="0"/>
          </a:p>
          <a:p>
            <a:endParaRPr lang="en-US" altLang="ja-JP" sz="2400" dirty="0"/>
          </a:p>
          <a:p>
            <a:r>
              <a:rPr lang="ja-JP" altLang="en-US" sz="2400" dirty="0"/>
              <a:t>ベクトルの時のように、計算する関数を作りましょう。</a:t>
            </a:r>
            <a:endParaRPr lang="en-US" altLang="ja-JP" sz="2400" dirty="0"/>
          </a:p>
        </p:txBody>
      </p:sp>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437433" cy="461665"/>
          </a:xfrm>
          <a:prstGeom prst="rect">
            <a:avLst/>
          </a:prstGeom>
          <a:noFill/>
        </p:spPr>
        <p:txBody>
          <a:bodyPr wrap="none" rtlCol="0">
            <a:spAutoFit/>
          </a:bodyPr>
          <a:lstStyle/>
          <a:p>
            <a:r>
              <a:rPr kumimoji="1" lang="en-US" altLang="ja-JP" sz="2400" dirty="0" err="1"/>
              <a:t>MyMath</a:t>
            </a:r>
            <a:r>
              <a:rPr kumimoji="1" lang="ja-JP" altLang="en-US" sz="2400" dirty="0"/>
              <a:t>に追加していきます。</a:t>
            </a:r>
            <a:endParaRPr lang="en-US" altLang="ja-JP" sz="2400" dirty="0"/>
          </a:p>
        </p:txBody>
      </p:sp>
      <p:pic>
        <p:nvPicPr>
          <p:cNvPr id="3" name="図 2">
            <a:extLst>
              <a:ext uri="{FF2B5EF4-FFF2-40B4-BE49-F238E27FC236}">
                <a16:creationId xmlns:a16="http://schemas.microsoft.com/office/drawing/2014/main" id="{24DCF4FC-2676-458C-9EB4-55160615AE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6578722" cy="4548252"/>
          </a:xfrm>
          <a:prstGeom prst="rect">
            <a:avLst/>
          </a:prstGeom>
        </p:spPr>
      </p:pic>
      <p:sp>
        <p:nvSpPr>
          <p:cNvPr id="5" name="正方形/長方形 4">
            <a:extLst>
              <a:ext uri="{FF2B5EF4-FFF2-40B4-BE49-F238E27FC236}">
                <a16:creationId xmlns:a16="http://schemas.microsoft.com/office/drawing/2014/main" id="{60CCC53F-65E6-49F6-B889-497CB19580E6}"/>
              </a:ext>
            </a:extLst>
          </p:cNvPr>
          <p:cNvSpPr/>
          <p:nvPr/>
        </p:nvSpPr>
        <p:spPr>
          <a:xfrm>
            <a:off x="1560708" y="4419600"/>
            <a:ext cx="4903592" cy="14859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15946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920758" cy="461665"/>
          </a:xfrm>
          <a:prstGeom prst="rect">
            <a:avLst/>
          </a:prstGeom>
          <a:noFill/>
        </p:spPr>
        <p:txBody>
          <a:bodyPr wrap="none" rtlCol="0">
            <a:spAutoFit/>
          </a:bodyPr>
          <a:lstStyle/>
          <a:p>
            <a:r>
              <a:rPr kumimoji="1" lang="en-US" altLang="ja-JP" sz="2400" b="1" dirty="0">
                <a:solidFill>
                  <a:srgbClr val="FF0000"/>
                </a:solidFill>
              </a:rPr>
              <a:t>MATRIX</a:t>
            </a:r>
            <a:r>
              <a:rPr kumimoji="1" lang="ja-JP" altLang="en-US" sz="2400" dirty="0"/>
              <a:t>は</a:t>
            </a:r>
            <a:r>
              <a:rPr kumimoji="1" lang="en-US" altLang="ja-JP" sz="2400" dirty="0" err="1"/>
              <a:t>Dxlib</a:t>
            </a:r>
            <a:r>
              <a:rPr lang="ja-JP" altLang="en-US" sz="2400" dirty="0"/>
              <a:t>で定義されている</a:t>
            </a:r>
            <a:r>
              <a:rPr lang="ja-JP" altLang="en-US" sz="2400" b="1" dirty="0">
                <a:solidFill>
                  <a:srgbClr val="FF0000"/>
                </a:solidFill>
              </a:rPr>
              <a:t>行列用の構造体</a:t>
            </a:r>
            <a:r>
              <a:rPr lang="ja-JP" altLang="en-US" sz="2400" dirty="0"/>
              <a:t>です。</a:t>
            </a:r>
            <a:endParaRPr lang="en-US" altLang="ja-JP" sz="2400" dirty="0"/>
          </a:p>
        </p:txBody>
      </p:sp>
      <p:pic>
        <p:nvPicPr>
          <p:cNvPr id="7" name="図 6">
            <a:extLst>
              <a:ext uri="{FF2B5EF4-FFF2-40B4-BE49-F238E27FC236}">
                <a16:creationId xmlns:a16="http://schemas.microsoft.com/office/drawing/2014/main" id="{8D404FDD-7996-449F-A40B-E59A24F56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8095668" cy="1890606"/>
          </a:xfrm>
          <a:prstGeom prst="rect">
            <a:avLst/>
          </a:prstGeom>
        </p:spPr>
      </p:pic>
    </p:spTree>
    <p:extLst>
      <p:ext uri="{BB962C8B-B14F-4D97-AF65-F5344CB8AC3E}">
        <p14:creationId xmlns:p14="http://schemas.microsoft.com/office/powerpoint/2010/main" val="942419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3668953"/>
              </a:xfrm>
              <a:prstGeom prst="rect">
                <a:avLst/>
              </a:prstGeom>
              <a:noFill/>
            </p:spPr>
            <p:txBody>
              <a:bodyPr wrap="none" rtlCol="0">
                <a:spAutoFit/>
              </a:bodyPr>
              <a:lstStyle/>
              <a:p>
                <a:r>
                  <a:rPr kumimoji="1" lang="en-US" altLang="ja-JP" sz="2400" dirty="0"/>
                  <a:t>CPP</a:t>
                </a:r>
                <a:r>
                  <a:rPr kumimoji="1" lang="ja-JP" altLang="en-US" sz="2400" dirty="0"/>
                  <a:t>側は数学の授業を思い出しながら作ってみましょう。</a:t>
                </a:r>
                <a:endParaRPr kumimoji="1" lang="en-US" altLang="ja-JP" sz="2400" dirty="0"/>
              </a:p>
              <a:p>
                <a:r>
                  <a:rPr kumimoji="1" lang="en-US" altLang="ja-JP" sz="2400" b="1" dirty="0" err="1">
                    <a:solidFill>
                      <a:srgbClr val="FF0000"/>
                    </a:solidFill>
                  </a:rPr>
                  <a:t>MatCreate</a:t>
                </a:r>
                <a:r>
                  <a:rPr kumimoji="1" lang="ja-JP" altLang="en-US" sz="2400" b="1" dirty="0">
                    <a:solidFill>
                      <a:srgbClr val="FF0000"/>
                    </a:solidFill>
                  </a:rPr>
                  <a:t>関数</a:t>
                </a:r>
                <a:r>
                  <a:rPr kumimoji="1" lang="ja-JP" altLang="en-US" sz="2400" dirty="0"/>
                  <a:t>は単位行列を返却する関数です。</a:t>
                </a:r>
                <a:endParaRPr kumimoji="1" lang="en-US" altLang="ja-JP" sz="2400" dirty="0"/>
              </a:p>
              <a:p>
                <a:endParaRPr lang="en-US" altLang="ja-JP" sz="2400" dirty="0"/>
              </a:p>
              <a:p>
                <a:r>
                  <a:rPr lang="ja-JP" altLang="en-US" sz="2400" dirty="0"/>
                  <a:t>■単位行列</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smtClean="0">
                              <a:latin typeface="Cambria Math" panose="02040503050406030204" pitchFamily="18" charset="0"/>
                            </a:rPr>
                          </m:ctrlPr>
                        </m:dPr>
                        <m:e>
                          <m:m>
                            <m:mPr>
                              <m:mcs>
                                <m:mc>
                                  <m:mcPr>
                                    <m:count m:val="4"/>
                                    <m:mcJc m:val="center"/>
                                  </m:mcPr>
                                </m:mc>
                              </m:mcs>
                              <m:ctrlPr>
                                <a:rPr lang="en-US" altLang="ja-JP" sz="2400" i="1" smtClean="0">
                                  <a:latin typeface="Cambria Math" panose="02040503050406030204" pitchFamily="18" charset="0"/>
                                </a:rPr>
                              </m:ctrlPr>
                            </m:mPr>
                            <m:mr>
                              <m:e>
                                <m:r>
                                  <m:rPr>
                                    <m:brk m:alnAt="7"/>
                                  </m:rP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d>
                    </m:oMath>
                  </m:oMathPara>
                </a14:m>
                <a:endParaRPr lang="en-US" altLang="ja-JP" sz="2400" dirty="0"/>
              </a:p>
              <a:p>
                <a:endParaRPr lang="en-US" altLang="ja-JP" sz="2400" dirty="0"/>
              </a:p>
              <a:p>
                <a:r>
                  <a:rPr lang="ja-JP" altLang="en-US" sz="2400" dirty="0"/>
                  <a:t>関数内で行列の変数を作って上のように数値を埋めて返却しましょう。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033516" cy="3668953"/>
              </a:xfrm>
              <a:prstGeom prst="rect">
                <a:avLst/>
              </a:prstGeom>
              <a:blipFill>
                <a:blip r:embed="rId2"/>
                <a:stretch>
                  <a:fillRect l="-911" t="-1331" b="-2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53830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3299621"/>
              </a:xfrm>
              <a:prstGeom prst="rect">
                <a:avLst/>
              </a:prstGeom>
              <a:noFill/>
            </p:spPr>
            <p:txBody>
              <a:bodyPr wrap="none" rtlCol="0">
                <a:spAutoFit/>
              </a:bodyPr>
              <a:lstStyle/>
              <a:p>
                <a:r>
                  <a:rPr kumimoji="1" lang="en-US" altLang="ja-JP" sz="2400" b="1" dirty="0">
                    <a:solidFill>
                      <a:srgbClr val="FF0000"/>
                    </a:solidFill>
                  </a:rPr>
                  <a:t>MatAdd</a:t>
                </a:r>
                <a:r>
                  <a:rPr kumimoji="1" lang="ja-JP" altLang="en-US" sz="2400" b="1" dirty="0">
                    <a:solidFill>
                      <a:srgbClr val="FF0000"/>
                    </a:solidFill>
                  </a:rPr>
                  <a:t>関数</a:t>
                </a:r>
                <a:r>
                  <a:rPr kumimoji="1" lang="ja-JP" altLang="en-US" sz="2400" dirty="0"/>
                  <a:t>は</a:t>
                </a:r>
                <a:r>
                  <a:rPr kumimoji="1" lang="ja-JP" altLang="en-US" sz="2400" b="1" dirty="0">
                    <a:solidFill>
                      <a:srgbClr val="FF0000"/>
                    </a:solidFill>
                  </a:rPr>
                  <a:t>行列同士の足し算</a:t>
                </a:r>
                <a:r>
                  <a:rPr kumimoji="1" lang="ja-JP" altLang="en-US" sz="2400" dirty="0"/>
                  <a:t>をする関数です。</a:t>
                </a:r>
                <a:endParaRPr kumimoji="1" lang="en-US" altLang="ja-JP" sz="2400" dirty="0"/>
              </a:p>
              <a:p>
                <a:endParaRPr lang="en-US" altLang="ja-JP" sz="2400" dirty="0"/>
              </a:p>
              <a:p>
                <a:r>
                  <a:rPr lang="ja-JP" altLang="en-US" sz="2400" dirty="0"/>
                  <a:t>■行列の足し算</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smtClean="0">
                              <a:latin typeface="Cambria Math" panose="02040503050406030204" pitchFamily="18" charset="0"/>
                            </a:rPr>
                          </m:ctrlPr>
                        </m:dPr>
                        <m:e>
                          <m:m>
                            <m:mPr>
                              <m:mcs>
                                <m:mc>
                                  <m:mcPr>
                                    <m:count m:val="4"/>
                                    <m:mcJc m:val="center"/>
                                  </m:mcPr>
                                </m:mc>
                              </m:mcs>
                              <m:ctrlPr>
                                <a:rPr lang="en-US" altLang="ja-JP" sz="2400" i="1" smtClean="0">
                                  <a:latin typeface="Cambria Math" panose="02040503050406030204" pitchFamily="18" charset="0"/>
                                </a:rPr>
                              </m:ctrlPr>
                            </m:mP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20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30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m:t>
                                </m:r>
                              </m:e>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8</m:t>
                                </m:r>
                              </m:e>
                            </m:mr>
                            <m:mr>
                              <m:e>
                                <m:r>
                                  <a:rPr lang="en-US" altLang="ja-JP" sz="2400" i="1">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3</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2</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i="1">
                                    <a:latin typeface="Cambria Math" panose="02040503050406030204" pitchFamily="18" charset="0"/>
                                  </a:rPr>
                                  <m:t>1</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28</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1</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33</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i="1">
                                    <a:latin typeface="Cambria Math" panose="02040503050406030204" pitchFamily="18" charset="0"/>
                                  </a:rPr>
                                  <m:t>1</m:t>
                                </m:r>
                              </m:e>
                              <m:e>
                                <m:r>
                                  <a:rPr lang="en-US" altLang="ja-JP" sz="2400" b="0" i="1" smtClean="0">
                                    <a:latin typeface="Cambria Math" panose="02040503050406030204" pitchFamily="18" charset="0"/>
                                  </a:rPr>
                                  <m:t>12</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i="1">
                                    <a:latin typeface="Cambria Math" panose="02040503050406030204" pitchFamily="18" charset="0"/>
                                  </a:rPr>
                                  <m:t>1</m:t>
                                </m:r>
                              </m:e>
                            </m:mr>
                          </m:m>
                        </m:e>
                      </m:d>
                    </m:oMath>
                  </m:oMathPara>
                </a14:m>
                <a:endParaRPr lang="en-US" altLang="ja-JP" sz="2400" dirty="0"/>
              </a:p>
              <a:p>
                <a:endParaRPr lang="en-US" altLang="ja-JP" sz="2400" dirty="0"/>
              </a:p>
              <a:p>
                <a:r>
                  <a:rPr lang="ja-JP" altLang="en-US" sz="2400" dirty="0"/>
                  <a:t>対応する要素を足し算する計算処理を作りましょう。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7571303" cy="3299621"/>
              </a:xfrm>
              <a:prstGeom prst="rect">
                <a:avLst/>
              </a:prstGeom>
              <a:blipFill>
                <a:blip r:embed="rId2"/>
                <a:stretch>
                  <a:fillRect l="-1208" t="-1479" r="-322" b="-332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54677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3299621"/>
              </a:xfrm>
              <a:prstGeom prst="rect">
                <a:avLst/>
              </a:prstGeom>
              <a:noFill/>
            </p:spPr>
            <p:txBody>
              <a:bodyPr wrap="none" rtlCol="0">
                <a:spAutoFit/>
              </a:bodyPr>
              <a:lstStyle/>
              <a:p>
                <a:r>
                  <a:rPr kumimoji="1" lang="en-US" altLang="ja-JP" sz="2400" b="1" dirty="0">
                    <a:solidFill>
                      <a:srgbClr val="FF0000"/>
                    </a:solidFill>
                  </a:rPr>
                  <a:t>MatSubt</a:t>
                </a:r>
                <a:r>
                  <a:rPr kumimoji="1" lang="ja-JP" altLang="en-US" sz="2400" b="1" dirty="0">
                    <a:solidFill>
                      <a:srgbClr val="FF0000"/>
                    </a:solidFill>
                  </a:rPr>
                  <a:t>関数</a:t>
                </a:r>
                <a:r>
                  <a:rPr kumimoji="1" lang="ja-JP" altLang="en-US" sz="2400" dirty="0"/>
                  <a:t>は</a:t>
                </a:r>
                <a:r>
                  <a:rPr kumimoji="1" lang="ja-JP" altLang="en-US" sz="2400" b="1" dirty="0">
                    <a:solidFill>
                      <a:srgbClr val="FF0000"/>
                    </a:solidFill>
                  </a:rPr>
                  <a:t>行列同士の引き算</a:t>
                </a:r>
                <a:r>
                  <a:rPr kumimoji="1" lang="ja-JP" altLang="en-US" sz="2400" dirty="0"/>
                  <a:t>をする関数です。</a:t>
                </a:r>
                <a:endParaRPr kumimoji="1" lang="en-US" altLang="ja-JP" sz="2400" dirty="0"/>
              </a:p>
              <a:p>
                <a:endParaRPr lang="en-US" altLang="ja-JP" sz="2400" dirty="0"/>
              </a:p>
              <a:p>
                <a:r>
                  <a:rPr lang="ja-JP" altLang="en-US" sz="2400" dirty="0"/>
                  <a:t>■行列の引き算</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smtClean="0">
                              <a:latin typeface="Cambria Math" panose="02040503050406030204" pitchFamily="18" charset="0"/>
                            </a:rPr>
                          </m:ctrlPr>
                        </m:dPr>
                        <m:e>
                          <m:m>
                            <m:mPr>
                              <m:mcs>
                                <m:mc>
                                  <m:mcPr>
                                    <m:count m:val="4"/>
                                    <m:mcJc m:val="center"/>
                                  </m:mcPr>
                                </m:mc>
                              </m:mcs>
                              <m:ctrlPr>
                                <a:rPr lang="en-US" altLang="ja-JP" sz="2400" i="1" smtClean="0">
                                  <a:latin typeface="Cambria Math" panose="02040503050406030204" pitchFamily="18" charset="0"/>
                                </a:rPr>
                              </m:ctrlPr>
                            </m:mP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20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30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0</m:t>
                                </m:r>
                              </m:e>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8</m:t>
                                </m:r>
                              </m:e>
                            </m:mr>
                            <m:mr>
                              <m:e>
                                <m:r>
                                  <a:rPr lang="en-US" altLang="ja-JP" sz="2400" i="1">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3</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2</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0</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12</m:t>
                                </m:r>
                              </m:e>
                            </m:mr>
                            <m:mr>
                              <m:e>
                                <m:r>
                                  <a:rPr lang="en-US" altLang="ja-JP" sz="2400" i="1">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27</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8</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0</m:t>
                                </m:r>
                              </m:e>
                            </m:mr>
                          </m:m>
                        </m:e>
                      </m:d>
                    </m:oMath>
                  </m:oMathPara>
                </a14:m>
                <a:endParaRPr lang="en-US" altLang="ja-JP" sz="2400" dirty="0"/>
              </a:p>
              <a:p>
                <a:endParaRPr lang="en-US" altLang="ja-JP" sz="2400" dirty="0"/>
              </a:p>
              <a:p>
                <a:r>
                  <a:rPr lang="ja-JP" altLang="en-US" sz="2400" dirty="0"/>
                  <a:t>対応する要素を引き算する計算処理を作りましょう。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7571303" cy="3299621"/>
              </a:xfrm>
              <a:prstGeom prst="rect">
                <a:avLst/>
              </a:prstGeom>
              <a:blipFill>
                <a:blip r:embed="rId2"/>
                <a:stretch>
                  <a:fillRect l="-1208" t="-1479" r="-322" b="-332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45725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444667" cy="3299621"/>
              </a:xfrm>
              <a:prstGeom prst="rect">
                <a:avLst/>
              </a:prstGeom>
              <a:noFill/>
            </p:spPr>
            <p:txBody>
              <a:bodyPr wrap="none" rtlCol="0">
                <a:spAutoFit/>
              </a:bodyPr>
              <a:lstStyle/>
              <a:p>
                <a:r>
                  <a:rPr kumimoji="1" lang="en-US" altLang="ja-JP" sz="2400" b="1" dirty="0">
                    <a:solidFill>
                      <a:srgbClr val="FF0000"/>
                    </a:solidFill>
                  </a:rPr>
                  <a:t>MatScale</a:t>
                </a:r>
                <a:r>
                  <a:rPr kumimoji="1" lang="ja-JP" altLang="en-US" sz="2400" b="1" dirty="0">
                    <a:solidFill>
                      <a:srgbClr val="FF0000"/>
                    </a:solidFill>
                  </a:rPr>
                  <a:t>関数</a:t>
                </a:r>
                <a:r>
                  <a:rPr kumimoji="1" lang="ja-JP" altLang="en-US" sz="2400" dirty="0"/>
                  <a:t>は</a:t>
                </a:r>
                <a:r>
                  <a:rPr kumimoji="1" lang="ja-JP" altLang="en-US" sz="2400" b="1" dirty="0">
                    <a:solidFill>
                      <a:srgbClr val="FF0000"/>
                    </a:solidFill>
                  </a:rPr>
                  <a:t>行列のスカラー倍</a:t>
                </a:r>
                <a:r>
                  <a:rPr kumimoji="1" lang="ja-JP" altLang="en-US" sz="2400" dirty="0"/>
                  <a:t>をする関数です。</a:t>
                </a:r>
                <a:endParaRPr kumimoji="1" lang="en-US" altLang="ja-JP" sz="2400" dirty="0"/>
              </a:p>
              <a:p>
                <a:endParaRPr lang="en-US" altLang="ja-JP" sz="2400" dirty="0"/>
              </a:p>
              <a:p>
                <a:r>
                  <a:rPr lang="ja-JP" altLang="en-US" sz="2400" dirty="0"/>
                  <a:t>■行列のスカラー倍</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smtClean="0">
                              <a:latin typeface="Cambria Math" panose="02040503050406030204" pitchFamily="18" charset="0"/>
                            </a:rPr>
                          </m:ctrlPr>
                        </m:dPr>
                        <m:e>
                          <m:m>
                            <m:mPr>
                              <m:mcs>
                                <m:mc>
                                  <m:mcPr>
                                    <m:count m:val="4"/>
                                    <m:mcJc m:val="center"/>
                                  </m:mcPr>
                                </m:mc>
                              </m:mcs>
                              <m:ctrlPr>
                                <a:rPr lang="en-US" altLang="ja-JP" sz="2400" i="1" smtClean="0">
                                  <a:latin typeface="Cambria Math" panose="02040503050406030204" pitchFamily="18" charset="0"/>
                                </a:rPr>
                              </m:ctrlPr>
                            </m:mP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20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30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10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d>
                      <m:r>
                        <a:rPr lang="en-US" altLang="ja-JP" sz="2400" b="0" i="1">
                          <a:latin typeface="Cambria Math" panose="02040503050406030204" pitchFamily="18" charset="0"/>
                        </a:rPr>
                        <m:t>×</m:t>
                      </m:r>
                      <m:r>
                        <a:rPr lang="en-US" altLang="ja-JP" sz="2400" i="1" smtClean="0">
                          <a:latin typeface="Cambria Math" panose="02040503050406030204" pitchFamily="18" charset="0"/>
                        </a:rPr>
                        <m:t>3</m:t>
                      </m:r>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60</m:t>
                                </m:r>
                              </m:e>
                            </m:mr>
                            <m:mr>
                              <m:e>
                                <m:r>
                                  <a:rPr lang="en-US" altLang="ja-JP" sz="2400" i="1">
                                    <a:latin typeface="Cambria Math" panose="02040503050406030204" pitchFamily="18" charset="0"/>
                                  </a:rPr>
                                  <m:t>0</m:t>
                                </m:r>
                              </m:e>
                              <m:e>
                                <m:r>
                                  <a:rPr lang="en-US" altLang="ja-JP" sz="2400" b="0" i="1" smtClean="0">
                                    <a:latin typeface="Cambria Math" panose="02040503050406030204" pitchFamily="18" charset="0"/>
                                  </a:rPr>
                                  <m:t>3</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90</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30</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3</m:t>
                                </m:r>
                              </m:e>
                            </m:mr>
                          </m:m>
                        </m:e>
                      </m:d>
                    </m:oMath>
                  </m:oMathPara>
                </a14:m>
                <a:endParaRPr lang="en-US" altLang="ja-JP" sz="2400" dirty="0"/>
              </a:p>
              <a:p>
                <a:endParaRPr lang="en-US" altLang="ja-JP" sz="2400" dirty="0"/>
              </a:p>
              <a:p>
                <a:r>
                  <a:rPr lang="ja-JP" altLang="en-US" sz="2400" dirty="0"/>
                  <a:t>すべての要素をスカラー値で掛け算しましょう。</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7444667" cy="3299621"/>
              </a:xfrm>
              <a:prstGeom prst="rect">
                <a:avLst/>
              </a:prstGeom>
              <a:blipFill>
                <a:blip r:embed="rId2"/>
                <a:stretch>
                  <a:fillRect l="-1229" t="-1479" r="-328" b="-332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83229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4784515"/>
              </a:xfrm>
              <a:prstGeom prst="rect">
                <a:avLst/>
              </a:prstGeom>
              <a:noFill/>
            </p:spPr>
            <p:txBody>
              <a:bodyPr wrap="none" rtlCol="0">
                <a:spAutoFit/>
              </a:bodyPr>
              <a:lstStyle/>
              <a:p>
                <a:r>
                  <a:rPr kumimoji="1" lang="en-US" altLang="ja-JP" sz="2400" b="1" dirty="0">
                    <a:solidFill>
                      <a:srgbClr val="FF0000"/>
                    </a:solidFill>
                  </a:rPr>
                  <a:t>MatMult</a:t>
                </a:r>
                <a:r>
                  <a:rPr kumimoji="1" lang="ja-JP" altLang="en-US" sz="2400" b="1" dirty="0">
                    <a:solidFill>
                      <a:srgbClr val="FF0000"/>
                    </a:solidFill>
                  </a:rPr>
                  <a:t>関数</a:t>
                </a:r>
                <a:r>
                  <a:rPr kumimoji="1" lang="ja-JP" altLang="en-US" sz="2400" dirty="0"/>
                  <a:t>は</a:t>
                </a:r>
                <a:r>
                  <a:rPr kumimoji="1" lang="ja-JP" altLang="en-US" sz="2400" b="1" dirty="0">
                    <a:solidFill>
                      <a:srgbClr val="FF0000"/>
                    </a:solidFill>
                  </a:rPr>
                  <a:t>行列同士の掛け算</a:t>
                </a:r>
                <a:r>
                  <a:rPr kumimoji="1" lang="ja-JP" altLang="en-US" sz="2400" dirty="0"/>
                  <a:t>をする関数です。</a:t>
                </a:r>
                <a:endParaRPr kumimoji="1" lang="en-US" altLang="ja-JP" sz="2400" dirty="0"/>
              </a:p>
              <a:p>
                <a:endParaRPr lang="en-US" altLang="ja-JP" sz="2400" dirty="0"/>
              </a:p>
              <a:p>
                <a:r>
                  <a:rPr lang="ja-JP" altLang="en-US" sz="2400" dirty="0"/>
                  <a:t>■行列同士の掛け算</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smtClean="0">
                              <a:latin typeface="Cambria Math" panose="02040503050406030204" pitchFamily="18" charset="0"/>
                            </a:rPr>
                          </m:ctrlPr>
                        </m:dPr>
                        <m:e>
                          <m:m>
                            <m:mPr>
                              <m:mcs>
                                <m:mc>
                                  <m:mcPr>
                                    <m:count m:val="2"/>
                                    <m:mcJc m:val="center"/>
                                  </m:mcPr>
                                </m:mc>
                              </m:mcs>
                              <m:ctrlPr>
                                <a:rPr lang="en-US" altLang="ja-JP" sz="2400" b="0" i="1" smtClean="0">
                                  <a:latin typeface="Cambria Math" panose="02040503050406030204" pitchFamily="18" charset="0"/>
                                </a:rPr>
                              </m:ctrlPr>
                            </m:mPr>
                            <m:mr>
                              <m:e>
                                <m:r>
                                  <m:rPr>
                                    <m:brk m:alnAt="7"/>
                                  </m:rPr>
                                  <a:rPr lang="en-US" altLang="ja-JP" sz="2400" i="1">
                                    <a:latin typeface="Cambria Math" panose="02040503050406030204" pitchFamily="18" charset="0"/>
                                  </a:rPr>
                                  <m:t>5</m:t>
                                </m:r>
                              </m:e>
                              <m:e>
                                <m:r>
                                  <a:rPr lang="en-US" altLang="ja-JP" sz="2400" i="1">
                                    <a:latin typeface="Cambria Math" panose="02040503050406030204" pitchFamily="18" charset="0"/>
                                  </a:rPr>
                                  <m:t>3</m:t>
                                </m:r>
                              </m:e>
                            </m:mr>
                            <m:mr>
                              <m:e>
                                <m:r>
                                  <a:rPr lang="en-US" altLang="ja-JP" sz="2400" i="1">
                                    <a:latin typeface="Cambria Math" panose="02040503050406030204" pitchFamily="18" charset="0"/>
                                  </a:rPr>
                                  <m:t>2</m:t>
                                </m:r>
                              </m:e>
                              <m:e>
                                <m:r>
                                  <a:rPr lang="en-US" altLang="ja-JP" sz="2400" i="1">
                                    <a:latin typeface="Cambria Math" panose="02040503050406030204" pitchFamily="18" charset="0"/>
                                  </a:rPr>
                                  <m:t>9</m:t>
                                </m:r>
                              </m:e>
                            </m:mr>
                          </m:m>
                        </m:e>
                      </m:d>
                      <m:r>
                        <a:rPr lang="en-US" altLang="ja-JP" sz="2400" b="0" i="1">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smtClean="0">
                                    <a:latin typeface="Cambria Math" panose="02040503050406030204" pitchFamily="18" charset="0"/>
                                  </a:rPr>
                                  <m:t>1</m:t>
                                </m:r>
                                <m:r>
                                  <a:rPr lang="en-US" altLang="ja-JP" sz="2400" i="1" smtClean="0">
                                    <a:latin typeface="Cambria Math" panose="02040503050406030204" pitchFamily="18" charset="0"/>
                                  </a:rPr>
                                  <m:t>5</m:t>
                                </m:r>
                              </m:e>
                              <m:e>
                                <m:r>
                                  <a:rPr lang="en-US" altLang="ja-JP" sz="2400" i="1">
                                    <a:latin typeface="Cambria Math" panose="02040503050406030204" pitchFamily="18" charset="0"/>
                                  </a:rPr>
                                  <m:t>13</m:t>
                                </m:r>
                              </m:e>
                            </m:mr>
                            <m:mr>
                              <m:e>
                                <m:r>
                                  <a:rPr lang="en-US" altLang="ja-JP" sz="2400" i="1">
                                    <a:latin typeface="Cambria Math" panose="02040503050406030204" pitchFamily="18" charset="0"/>
                                  </a:rPr>
                                  <m:t>12</m:t>
                                </m:r>
                              </m:e>
                              <m:e>
                                <m:r>
                                  <a:rPr lang="en-US" altLang="ja-JP" sz="2400" i="1">
                                    <a:latin typeface="Cambria Math" panose="02040503050406030204" pitchFamily="18" charset="0"/>
                                  </a:rPr>
                                  <m:t>19</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m:rPr>
                                    <m:brk m:alnAt="7"/>
                                  </m:rPr>
                                  <a:rPr lang="en-US" altLang="ja-JP" sz="2400" b="0" i="1" smtClean="0">
                                    <a:latin typeface="Cambria Math" panose="02040503050406030204" pitchFamily="18" charset="0"/>
                                  </a:rPr>
                                  <m:t>5</m:t>
                                </m:r>
                                <m:r>
                                  <a:rPr lang="en-US" altLang="ja-JP" sz="2400" i="1">
                                    <a:latin typeface="Cambria Math" panose="02040503050406030204" pitchFamily="18" charset="0"/>
                                  </a:rPr>
                                  <m:t>×</m:t>
                                </m:r>
                                <m:r>
                                  <a:rPr lang="en-US" altLang="ja-JP" sz="2400" b="0" i="1" smtClean="0">
                                    <a:latin typeface="Cambria Math" panose="02040503050406030204" pitchFamily="18" charset="0"/>
                                  </a:rPr>
                                  <m:t>15+3</m:t>
                                </m:r>
                                <m:r>
                                  <a:rPr lang="en-US" altLang="ja-JP" sz="2400" i="1">
                                    <a:latin typeface="Cambria Math" panose="02040503050406030204" pitchFamily="18" charset="0"/>
                                  </a:rPr>
                                  <m:t>×</m:t>
                                </m:r>
                                <m:r>
                                  <a:rPr lang="en-US" altLang="ja-JP" sz="2400" i="1" smtClean="0">
                                    <a:latin typeface="Cambria Math" panose="02040503050406030204" pitchFamily="18" charset="0"/>
                                  </a:rPr>
                                  <m:t>12</m:t>
                                </m:r>
                              </m:e>
                              <m:e>
                                <m:r>
                                  <m:rPr>
                                    <m:brk m:alnAt="7"/>
                                  </m:rPr>
                                  <a:rPr lang="en-US" altLang="ja-JP" sz="2400" i="1">
                                    <a:latin typeface="Cambria Math" panose="02040503050406030204" pitchFamily="18" charset="0"/>
                                  </a:rPr>
                                  <m:t>5</m:t>
                                </m:r>
                                <m:r>
                                  <a:rPr lang="en-US" altLang="ja-JP" sz="2400" i="1">
                                    <a:latin typeface="Cambria Math" panose="02040503050406030204" pitchFamily="18" charset="0"/>
                                  </a:rPr>
                                  <m:t>×13+3×19</m:t>
                                </m:r>
                              </m:e>
                            </m:mr>
                            <m:mr>
                              <m:e>
                                <m:r>
                                  <a:rPr lang="en-US" altLang="ja-JP" sz="2400" i="1">
                                    <a:latin typeface="Cambria Math" panose="02040503050406030204" pitchFamily="18" charset="0"/>
                                  </a:rPr>
                                  <m:t>2×15+</m:t>
                                </m:r>
                                <m:r>
                                  <a:rPr lang="en-US" altLang="ja-JP" sz="2400" b="0" i="1" smtClean="0">
                                    <a:latin typeface="Cambria Math" panose="02040503050406030204" pitchFamily="18" charset="0"/>
                                  </a:rPr>
                                  <m:t>2</m:t>
                                </m:r>
                                <m:r>
                                  <a:rPr lang="en-US" altLang="ja-JP" sz="2400" i="1">
                                    <a:latin typeface="Cambria Math" panose="02040503050406030204" pitchFamily="18" charset="0"/>
                                  </a:rPr>
                                  <m:t>×12</m:t>
                                </m:r>
                              </m:e>
                              <m:e>
                                <m:r>
                                  <a:rPr lang="en-US" altLang="ja-JP" sz="2400" i="1">
                                    <a:latin typeface="Cambria Math" panose="02040503050406030204" pitchFamily="18" charset="0"/>
                                  </a:rPr>
                                  <m:t>2×</m:t>
                                </m:r>
                                <m:r>
                                  <a:rPr lang="en-US" altLang="ja-JP" sz="2400" b="0" i="1" smtClean="0">
                                    <a:latin typeface="Cambria Math" panose="02040503050406030204" pitchFamily="18" charset="0"/>
                                  </a:rPr>
                                  <m:t>13</m:t>
                                </m:r>
                                <m:r>
                                  <a:rPr lang="en-US" altLang="ja-JP" sz="2400" i="1">
                                    <a:latin typeface="Cambria Math" panose="02040503050406030204" pitchFamily="18" charset="0"/>
                                  </a:rPr>
                                  <m:t>+</m:t>
                                </m:r>
                                <m:r>
                                  <a:rPr lang="en-US" altLang="ja-JP" sz="2400" b="0" i="1" smtClean="0">
                                    <a:latin typeface="Cambria Math" panose="02040503050406030204" pitchFamily="18" charset="0"/>
                                  </a:rPr>
                                  <m:t>9</m:t>
                                </m:r>
                                <m:r>
                                  <a:rPr lang="en-US" altLang="ja-JP" sz="2400" i="1">
                                    <a:latin typeface="Cambria Math" panose="02040503050406030204" pitchFamily="18" charset="0"/>
                                  </a:rPr>
                                  <m:t>×</m:t>
                                </m:r>
                                <m:r>
                                  <a:rPr lang="en-US" altLang="ja-JP" sz="2400" b="0" i="1" smtClean="0">
                                    <a:latin typeface="Cambria Math" panose="02040503050406030204" pitchFamily="18" charset="0"/>
                                  </a:rPr>
                                  <m:t>19</m:t>
                                </m:r>
                              </m:e>
                            </m:mr>
                          </m:m>
                        </m:e>
                      </m:d>
                    </m:oMath>
                  </m:oMathPara>
                </a14:m>
                <a:endParaRPr lang="en-US" altLang="ja-JP" sz="2400" dirty="0"/>
              </a:p>
              <a:p>
                <a:endParaRPr lang="en-US" altLang="ja-JP" sz="2400" dirty="0"/>
              </a:p>
              <a:p>
                <a:r>
                  <a:rPr lang="ja-JP" altLang="en-US" sz="2400" dirty="0"/>
                  <a:t>■計算方法</a:t>
                </a:r>
                <a:endParaRPr lang="en-US" altLang="ja-JP" sz="2400" dirty="0"/>
              </a:p>
              <a:p>
                <a:r>
                  <a:rPr lang="ja-JP" altLang="en-US" sz="2400" dirty="0"/>
                  <a:t>左項の行と右項の列の内積が、対応した要素の計算結果となる。</a:t>
                </a:r>
                <a:endParaRPr lang="en-US" altLang="ja-JP" sz="2400" dirty="0"/>
              </a:p>
              <a:p>
                <a:r>
                  <a:rPr lang="ja-JP" altLang="en-US" sz="2400" dirty="0"/>
                  <a:t>１行目・１列目＝１行１列目</a:t>
                </a:r>
                <a:endParaRPr lang="en-US" altLang="ja-JP" sz="2400" dirty="0"/>
              </a:p>
              <a:p>
                <a:r>
                  <a:rPr lang="ja-JP" altLang="en-US" sz="2400" dirty="0"/>
                  <a:t>１行目・２列目＝１行２列目</a:t>
                </a:r>
                <a:endParaRPr lang="en-US" altLang="ja-JP" sz="2400" dirty="0"/>
              </a:p>
              <a:p>
                <a:endParaRPr lang="en-US" altLang="ja-JP" sz="2400" dirty="0"/>
              </a:p>
              <a:p>
                <a:r>
                  <a:rPr lang="ja-JP" altLang="en-US" sz="2400" dirty="0"/>
                  <a:t>内積を使った処理でも良いですし、</a:t>
                </a:r>
                <a:endParaRPr lang="en-US" altLang="ja-JP" sz="2400" dirty="0"/>
              </a:p>
              <a:p>
                <a:r>
                  <a:rPr lang="ja-JP" altLang="en-US" sz="2400" dirty="0"/>
                  <a:t>工夫すれば３重ループで計算できたりします。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110186" cy="4784515"/>
              </a:xfrm>
              <a:prstGeom prst="rect">
                <a:avLst/>
              </a:prstGeom>
              <a:blipFill>
                <a:blip r:embed="rId2"/>
                <a:stretch>
                  <a:fillRect l="-1003" t="-1020" r="-67" b="-204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3359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57252" cy="3299621"/>
              </a:xfrm>
              <a:prstGeom prst="rect">
                <a:avLst/>
              </a:prstGeom>
              <a:noFill/>
            </p:spPr>
            <p:txBody>
              <a:bodyPr wrap="none" rtlCol="0">
                <a:spAutoFit/>
              </a:bodyPr>
              <a:lstStyle/>
              <a:p>
                <a:r>
                  <a:rPr kumimoji="1" lang="en-US" altLang="ja-JP" sz="2400" b="1" dirty="0" err="1">
                    <a:solidFill>
                      <a:srgbClr val="FF0000"/>
                    </a:solidFill>
                  </a:rPr>
                  <a:t>MatTransposition</a:t>
                </a:r>
                <a:r>
                  <a:rPr kumimoji="1" lang="ja-JP" altLang="en-US" sz="2400" b="1" dirty="0">
                    <a:solidFill>
                      <a:srgbClr val="FF0000"/>
                    </a:solidFill>
                  </a:rPr>
                  <a:t>関数</a:t>
                </a:r>
                <a:r>
                  <a:rPr kumimoji="1" lang="ja-JP" altLang="en-US" sz="2400" dirty="0"/>
                  <a:t>は</a:t>
                </a:r>
                <a:r>
                  <a:rPr kumimoji="1" lang="ja-JP" altLang="en-US" sz="2400" b="1" dirty="0">
                    <a:solidFill>
                      <a:srgbClr val="FF0000"/>
                    </a:solidFill>
                  </a:rPr>
                  <a:t>行列の転置</a:t>
                </a:r>
                <a:r>
                  <a:rPr kumimoji="1" lang="ja-JP" altLang="en-US" sz="2400" dirty="0"/>
                  <a:t>をする関数です。</a:t>
                </a:r>
                <a:endParaRPr kumimoji="1" lang="en-US" altLang="ja-JP" sz="2400" dirty="0"/>
              </a:p>
              <a:p>
                <a:endParaRPr lang="en-US" altLang="ja-JP" sz="2400" dirty="0"/>
              </a:p>
              <a:p>
                <a:r>
                  <a:rPr lang="ja-JP" altLang="en-US" sz="2400" dirty="0"/>
                  <a:t>■行列の転置</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2</m:t>
                                </m:r>
                              </m:e>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4</m:t>
                                </m:r>
                              </m:e>
                            </m:mr>
                            <m:mr>
                              <m:e>
                                <m:r>
                                  <a:rPr lang="en-US" altLang="ja-JP" sz="2400" b="0" i="1" smtClean="0">
                                    <a:latin typeface="Cambria Math" panose="02040503050406030204" pitchFamily="18" charset="0"/>
                                  </a:rPr>
                                  <m:t>5</m:t>
                                </m:r>
                              </m:e>
                              <m:e>
                                <m:r>
                                  <a:rPr lang="en-US" altLang="ja-JP" sz="2400" b="0" i="1" smtClean="0">
                                    <a:latin typeface="Cambria Math" panose="02040503050406030204" pitchFamily="18" charset="0"/>
                                  </a:rPr>
                                  <m:t>6</m:t>
                                </m:r>
                              </m:e>
                              <m:e>
                                <m:r>
                                  <a:rPr lang="en-US" altLang="ja-JP" sz="2400" b="0" i="1" smtClean="0">
                                    <a:latin typeface="Cambria Math" panose="02040503050406030204" pitchFamily="18" charset="0"/>
                                  </a:rPr>
                                  <m:t>7</m:t>
                                </m:r>
                              </m:e>
                              <m:e>
                                <m:r>
                                  <a:rPr lang="en-US" altLang="ja-JP" sz="2400" b="0" i="1" smtClean="0">
                                    <a:latin typeface="Cambria Math" panose="02040503050406030204" pitchFamily="18" charset="0"/>
                                  </a:rPr>
                                  <m:t>8</m:t>
                                </m:r>
                              </m:e>
                            </m:mr>
                            <m:mr>
                              <m:e>
                                <m:r>
                                  <a:rPr lang="en-US" altLang="ja-JP" sz="2400" b="0" i="1" smtClean="0">
                                    <a:latin typeface="Cambria Math" panose="02040503050406030204" pitchFamily="18" charset="0"/>
                                  </a:rPr>
                                  <m:t>9</m:t>
                                </m:r>
                              </m:e>
                              <m:e>
                                <m:r>
                                  <a:rPr lang="en-US" altLang="ja-JP" sz="2400" b="0" i="1" smtClean="0">
                                    <a:latin typeface="Cambria Math" panose="02040503050406030204" pitchFamily="18" charset="0"/>
                                  </a:rPr>
                                  <m:t>10</m:t>
                                </m:r>
                              </m:e>
                              <m:e>
                                <m:r>
                                  <a:rPr lang="en-US" altLang="ja-JP" sz="2400" b="0" i="1" smtClean="0">
                                    <a:latin typeface="Cambria Math" panose="02040503050406030204" pitchFamily="18" charset="0"/>
                                  </a:rPr>
                                  <m:t>11</m:t>
                                </m:r>
                              </m:e>
                              <m:e>
                                <m:r>
                                  <a:rPr lang="en-US" altLang="ja-JP" sz="2400" b="0" i="1" smtClean="0">
                                    <a:latin typeface="Cambria Math" panose="02040503050406030204" pitchFamily="18" charset="0"/>
                                  </a:rPr>
                                  <m:t>12</m:t>
                                </m:r>
                              </m:e>
                            </m:mr>
                            <m:mr>
                              <m:e>
                                <m:r>
                                  <a:rPr lang="en-US" altLang="ja-JP" sz="2400" b="0" i="1" smtClean="0">
                                    <a:latin typeface="Cambria Math" panose="02040503050406030204" pitchFamily="18" charset="0"/>
                                  </a:rPr>
                                  <m:t>13</m:t>
                                </m:r>
                              </m:e>
                              <m:e>
                                <m:r>
                                  <a:rPr lang="en-US" altLang="ja-JP" sz="2400" b="0" i="1" smtClean="0">
                                    <a:latin typeface="Cambria Math" panose="02040503050406030204" pitchFamily="18" charset="0"/>
                                  </a:rPr>
                                  <m:t>14</m:t>
                                </m:r>
                              </m:e>
                              <m:e>
                                <m:r>
                                  <a:rPr lang="en-US" altLang="ja-JP" sz="2400" b="0" i="1" smtClean="0">
                                    <a:latin typeface="Cambria Math" panose="02040503050406030204" pitchFamily="18" charset="0"/>
                                  </a:rPr>
                                  <m:t>15</m:t>
                                </m:r>
                              </m:e>
                              <m:e>
                                <m:r>
                                  <a:rPr lang="en-US" altLang="ja-JP" sz="2400" b="0" i="1" smtClean="0">
                                    <a:latin typeface="Cambria Math" panose="02040503050406030204" pitchFamily="18" charset="0"/>
                                  </a:rPr>
                                  <m:t>16</m:t>
                                </m:r>
                              </m:e>
                            </m:mr>
                          </m:m>
                        </m:e>
                      </m:d>
                      <m:r>
                        <a:rPr lang="en-US" altLang="ja-JP" sz="2400" i="1">
                          <a:latin typeface="Cambria Math" panose="02040503050406030204" pitchFamily="18" charset="0"/>
                        </a:rPr>
                        <m:t> </m:t>
                      </m:r>
                      <m:r>
                        <a:rPr lang="ja-JP" altLang="en-US" sz="240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5</m:t>
                                </m:r>
                              </m:e>
                              <m:e>
                                <m:r>
                                  <a:rPr lang="en-US" altLang="ja-JP" sz="2400" b="0" i="1" smtClean="0">
                                    <a:latin typeface="Cambria Math" panose="02040503050406030204" pitchFamily="18" charset="0"/>
                                  </a:rPr>
                                  <m:t>9</m:t>
                                </m:r>
                              </m:e>
                              <m:e>
                                <m:r>
                                  <a:rPr lang="en-US" altLang="ja-JP" sz="2400" b="0" i="1" smtClean="0">
                                    <a:latin typeface="Cambria Math" panose="02040503050406030204" pitchFamily="18" charset="0"/>
                                  </a:rPr>
                                  <m:t>13</m:t>
                                </m:r>
                              </m:e>
                            </m:mr>
                            <m:mr>
                              <m:e>
                                <m:r>
                                  <a:rPr lang="en-US" altLang="ja-JP" sz="2400" b="0" i="1" smtClean="0">
                                    <a:latin typeface="Cambria Math" panose="02040503050406030204" pitchFamily="18" charset="0"/>
                                  </a:rPr>
                                  <m:t>2</m:t>
                                </m:r>
                              </m:e>
                              <m:e>
                                <m:r>
                                  <a:rPr lang="en-US" altLang="ja-JP" sz="2400" b="0" i="1" smtClean="0">
                                    <a:latin typeface="Cambria Math" panose="02040503050406030204" pitchFamily="18" charset="0"/>
                                  </a:rPr>
                                  <m:t>6</m:t>
                                </m:r>
                              </m:e>
                              <m:e>
                                <m:r>
                                  <a:rPr lang="en-US" altLang="ja-JP" sz="2400" b="0" i="1" smtClean="0">
                                    <a:latin typeface="Cambria Math" panose="02040503050406030204" pitchFamily="18" charset="0"/>
                                  </a:rPr>
                                  <m:t>10</m:t>
                                </m:r>
                              </m:e>
                              <m:e>
                                <m:r>
                                  <a:rPr lang="en-US" altLang="ja-JP" sz="2400" b="0" i="1" smtClean="0">
                                    <a:latin typeface="Cambria Math" panose="02040503050406030204" pitchFamily="18" charset="0"/>
                                  </a:rPr>
                                  <m:t>14</m:t>
                                </m:r>
                              </m:e>
                            </m:mr>
                            <m:mr>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7</m:t>
                                </m:r>
                              </m:e>
                              <m:e>
                                <m:r>
                                  <a:rPr lang="en-US" altLang="ja-JP" sz="2400" b="0" i="1" smtClean="0">
                                    <a:latin typeface="Cambria Math" panose="02040503050406030204" pitchFamily="18" charset="0"/>
                                  </a:rPr>
                                  <m:t>11</m:t>
                                </m:r>
                              </m:e>
                              <m:e>
                                <m:r>
                                  <a:rPr lang="en-US" altLang="ja-JP" sz="2400" b="0" i="1" smtClean="0">
                                    <a:latin typeface="Cambria Math" panose="02040503050406030204" pitchFamily="18" charset="0"/>
                                  </a:rPr>
                                  <m:t>15</m:t>
                                </m:r>
                              </m:e>
                            </m:mr>
                            <m:mr>
                              <m:e>
                                <m:r>
                                  <a:rPr lang="en-US" altLang="ja-JP" sz="2400" b="0" i="1" smtClean="0">
                                    <a:latin typeface="Cambria Math" panose="02040503050406030204" pitchFamily="18" charset="0"/>
                                  </a:rPr>
                                  <m:t>4</m:t>
                                </m:r>
                              </m:e>
                              <m:e>
                                <m:r>
                                  <a:rPr lang="en-US" altLang="ja-JP" sz="2400" b="0" i="1" smtClean="0">
                                    <a:latin typeface="Cambria Math" panose="02040503050406030204" pitchFamily="18" charset="0"/>
                                  </a:rPr>
                                  <m:t>8</m:t>
                                </m:r>
                              </m:e>
                              <m:e>
                                <m:r>
                                  <a:rPr lang="en-US" altLang="ja-JP" sz="2400" b="0" i="1" smtClean="0">
                                    <a:latin typeface="Cambria Math" panose="02040503050406030204" pitchFamily="18" charset="0"/>
                                  </a:rPr>
                                  <m:t>12</m:t>
                                </m:r>
                              </m:e>
                              <m:e>
                                <m:r>
                                  <a:rPr lang="en-US" altLang="ja-JP" sz="2400" b="0" i="1" smtClean="0">
                                    <a:latin typeface="Cambria Math" panose="02040503050406030204" pitchFamily="18" charset="0"/>
                                  </a:rPr>
                                  <m:t>16</m:t>
                                </m:r>
                              </m:e>
                            </m:mr>
                          </m:m>
                        </m:e>
                      </m:d>
                    </m:oMath>
                  </m:oMathPara>
                </a14:m>
                <a:endParaRPr lang="en-US" altLang="ja-JP" sz="2400" dirty="0"/>
              </a:p>
              <a:p>
                <a:endParaRPr lang="en-US" altLang="ja-JP" sz="2400" dirty="0"/>
              </a:p>
              <a:p>
                <a:r>
                  <a:rPr lang="ja-JP" altLang="en-US" sz="2400" dirty="0"/>
                  <a:t>行列番号を入れ替えるような感じです。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7757252" cy="3299621"/>
              </a:xfrm>
              <a:prstGeom prst="rect">
                <a:avLst/>
              </a:prstGeom>
              <a:blipFill>
                <a:blip r:embed="rId2"/>
                <a:stretch>
                  <a:fillRect l="-1178" t="-1479" r="-393" b="-332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61342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724644" cy="461665"/>
          </a:xfrm>
          <a:prstGeom prst="rect">
            <a:avLst/>
          </a:prstGeom>
          <a:noFill/>
        </p:spPr>
        <p:txBody>
          <a:bodyPr wrap="none" rtlCol="0">
            <a:spAutoFit/>
          </a:bodyPr>
          <a:lstStyle/>
          <a:p>
            <a:r>
              <a:rPr kumimoji="1" lang="ja-JP" altLang="en-US" sz="2400" dirty="0"/>
              <a:t>続いて変換行列用の関数を追加します。</a:t>
            </a:r>
            <a:endParaRPr lang="en-US" altLang="ja-JP" sz="2400" dirty="0"/>
          </a:p>
        </p:txBody>
      </p:sp>
      <p:pic>
        <p:nvPicPr>
          <p:cNvPr id="10" name="図 9">
            <a:extLst>
              <a:ext uri="{FF2B5EF4-FFF2-40B4-BE49-F238E27FC236}">
                <a16:creationId xmlns:a16="http://schemas.microsoft.com/office/drawing/2014/main" id="{6C51066F-7C63-4817-BD10-5DFD6A9181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9003882" cy="4011506"/>
          </a:xfrm>
          <a:prstGeom prst="rect">
            <a:avLst/>
          </a:prstGeom>
        </p:spPr>
      </p:pic>
      <p:sp>
        <p:nvSpPr>
          <p:cNvPr id="11" name="正方形/長方形 10">
            <a:extLst>
              <a:ext uri="{FF2B5EF4-FFF2-40B4-BE49-F238E27FC236}">
                <a16:creationId xmlns:a16="http://schemas.microsoft.com/office/drawing/2014/main" id="{D21C966A-BDE6-437E-8BAB-A4EE74CBD047}"/>
              </a:ext>
            </a:extLst>
          </p:cNvPr>
          <p:cNvSpPr/>
          <p:nvPr/>
        </p:nvSpPr>
        <p:spPr>
          <a:xfrm>
            <a:off x="2109064" y="3733800"/>
            <a:ext cx="7606436" cy="17653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98588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349034" cy="3668953"/>
              </a:xfrm>
              <a:prstGeom prst="rect">
                <a:avLst/>
              </a:prstGeom>
              <a:noFill/>
            </p:spPr>
            <p:txBody>
              <a:bodyPr wrap="none" rtlCol="0">
                <a:spAutoFit/>
              </a:bodyPr>
              <a:lstStyle/>
              <a:p>
                <a:r>
                  <a:rPr kumimoji="1" lang="en-US" altLang="ja-JP" sz="2400" b="1" dirty="0">
                    <a:solidFill>
                      <a:srgbClr val="FF0000"/>
                    </a:solidFill>
                  </a:rPr>
                  <a:t>MatTranslation</a:t>
                </a:r>
                <a:r>
                  <a:rPr kumimoji="1" lang="ja-JP" altLang="en-US" sz="2400" b="1" dirty="0">
                    <a:solidFill>
                      <a:srgbClr val="FF0000"/>
                    </a:solidFill>
                  </a:rPr>
                  <a:t>関数</a:t>
                </a:r>
                <a:r>
                  <a:rPr kumimoji="1" lang="ja-JP" altLang="en-US" sz="2400" dirty="0"/>
                  <a:t>は</a:t>
                </a:r>
                <a:r>
                  <a:rPr kumimoji="1" lang="ja-JP" altLang="en-US" sz="2400" b="1" dirty="0">
                    <a:solidFill>
                      <a:srgbClr val="FF0000"/>
                    </a:solidFill>
                  </a:rPr>
                  <a:t>平行移動行列</a:t>
                </a:r>
                <a:r>
                  <a:rPr kumimoji="1" lang="ja-JP" altLang="en-US" sz="2400" dirty="0"/>
                  <a:t>を返却する関数です。</a:t>
                </a:r>
                <a:endParaRPr kumimoji="1" lang="en-US" altLang="ja-JP" sz="2400" dirty="0"/>
              </a:p>
              <a:p>
                <a:endParaRPr lang="en-US" altLang="ja-JP" sz="2400" dirty="0"/>
              </a:p>
              <a:p>
                <a:r>
                  <a:rPr lang="ja-JP" altLang="en-US" sz="2400" dirty="0"/>
                  <a:t>■平行移動行列</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𝑣𝑥</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𝑣𝑦</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𝑣𝑧</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d>
                    </m:oMath>
                  </m:oMathPara>
                </a14:m>
                <a:endParaRPr lang="en-US" altLang="ja-JP" sz="2400" dirty="0"/>
              </a:p>
              <a:p>
                <a:endParaRPr lang="en-US" altLang="ja-JP" sz="2400" dirty="0"/>
              </a:p>
              <a:p>
                <a:r>
                  <a:rPr lang="ja-JP" altLang="en-US" sz="2400" dirty="0"/>
                  <a:t>座標を平行移動させる行列です。</a:t>
                </a:r>
                <a:endParaRPr lang="en-US" altLang="ja-JP" sz="2400" dirty="0"/>
              </a:p>
              <a:p>
                <a:r>
                  <a:rPr lang="ja-JP" altLang="en-US" sz="2400" dirty="0"/>
                  <a:t>引数で移動ベクトルを受け取り、</a:t>
                </a:r>
                <a:r>
                  <a:rPr lang="en-US" altLang="ja-JP" sz="2400" dirty="0"/>
                  <a:t>(</a:t>
                </a:r>
                <a:r>
                  <a:rPr lang="en-US" altLang="ja-JP" sz="2400" dirty="0" err="1"/>
                  <a:t>vx</a:t>
                </a:r>
                <a:r>
                  <a:rPr lang="en-US" altLang="ja-JP" sz="2400" dirty="0"/>
                  <a:t>, </a:t>
                </a:r>
                <a:r>
                  <a:rPr lang="en-US" altLang="ja-JP" sz="2400" dirty="0" err="1"/>
                  <a:t>vy</a:t>
                </a:r>
                <a:r>
                  <a:rPr lang="en-US" altLang="ja-JP" sz="2400" dirty="0"/>
                  <a:t>, </a:t>
                </a:r>
                <a:r>
                  <a:rPr lang="en-US" altLang="ja-JP" sz="2400" dirty="0" err="1"/>
                  <a:t>vz</a:t>
                </a:r>
                <a:r>
                  <a:rPr lang="en-US" altLang="ja-JP" sz="2400" dirty="0"/>
                  <a:t>)</a:t>
                </a:r>
                <a:r>
                  <a:rPr lang="ja-JP" altLang="en-US" sz="2400" dirty="0"/>
                  <a:t>にあてはめましょう。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349034" cy="3668953"/>
              </a:xfrm>
              <a:prstGeom prst="rect">
                <a:avLst/>
              </a:prstGeom>
              <a:blipFill>
                <a:blip r:embed="rId2"/>
                <a:stretch>
                  <a:fillRect l="-978" t="-1331" b="-2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46078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41258" cy="3668953"/>
              </a:xfrm>
              <a:prstGeom prst="rect">
                <a:avLst/>
              </a:prstGeom>
              <a:noFill/>
            </p:spPr>
            <p:txBody>
              <a:bodyPr wrap="none" rtlCol="0">
                <a:spAutoFit/>
              </a:bodyPr>
              <a:lstStyle/>
              <a:p>
                <a:r>
                  <a:rPr kumimoji="1" lang="en-US" altLang="ja-JP" sz="2400" b="1" dirty="0">
                    <a:solidFill>
                      <a:srgbClr val="FF0000"/>
                    </a:solidFill>
                  </a:rPr>
                  <a:t>MatScale</a:t>
                </a:r>
                <a:r>
                  <a:rPr kumimoji="1" lang="ja-JP" altLang="en-US" sz="2400" b="1" dirty="0">
                    <a:solidFill>
                      <a:srgbClr val="FF0000"/>
                    </a:solidFill>
                  </a:rPr>
                  <a:t>関数</a:t>
                </a:r>
                <a:r>
                  <a:rPr kumimoji="1" lang="ja-JP" altLang="en-US" sz="2400" dirty="0"/>
                  <a:t>は</a:t>
                </a:r>
                <a:r>
                  <a:rPr kumimoji="1" lang="ja-JP" altLang="en-US" sz="2400" b="1" dirty="0">
                    <a:solidFill>
                      <a:srgbClr val="FF0000"/>
                    </a:solidFill>
                  </a:rPr>
                  <a:t>拡縮行列</a:t>
                </a:r>
                <a:r>
                  <a:rPr kumimoji="1" lang="ja-JP" altLang="en-US" sz="2400" dirty="0"/>
                  <a:t>を返却する関数です。</a:t>
                </a:r>
                <a:endParaRPr kumimoji="1" lang="en-US" altLang="ja-JP" sz="2400" dirty="0"/>
              </a:p>
              <a:p>
                <a:endParaRPr lang="en-US" altLang="ja-JP" sz="2400" dirty="0"/>
              </a:p>
              <a:p>
                <a:r>
                  <a:rPr lang="ja-JP" altLang="en-US" sz="2400" dirty="0"/>
                  <a:t>■拡縮行列</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m:rPr>
                                    <m:brk m:alnAt="7"/>
                                  </m:rPr>
                                  <a:rPr lang="en-US" altLang="ja-JP" sz="2400" b="0" i="1" smtClean="0">
                                    <a:latin typeface="Cambria Math" panose="02040503050406030204" pitchFamily="18" charset="0"/>
                                  </a:rPr>
                                  <m:t>𝑠</m:t>
                                </m:r>
                                <m:r>
                                  <a:rPr lang="en-US" altLang="ja-JP" sz="2400" b="0" i="1" smtClean="0">
                                    <a:latin typeface="Cambria Math" panose="02040503050406030204" pitchFamily="18" charset="0"/>
                                  </a:rPr>
                                  <m:t>𝑥</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𝑠𝑦</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𝑠𝑧</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d>
                    </m:oMath>
                  </m:oMathPara>
                </a14:m>
                <a:endParaRPr lang="en-US" altLang="ja-JP" sz="2400" dirty="0"/>
              </a:p>
              <a:p>
                <a:endParaRPr lang="en-US" altLang="ja-JP" sz="2400" dirty="0"/>
              </a:p>
              <a:p>
                <a:r>
                  <a:rPr lang="ja-JP" altLang="en-US" sz="2400" dirty="0"/>
                  <a:t>座標を拡縮移動させる行列です。</a:t>
                </a:r>
                <a:endParaRPr lang="en-US" altLang="ja-JP" sz="2400" dirty="0"/>
              </a:p>
              <a:p>
                <a:r>
                  <a:rPr lang="ja-JP" altLang="en-US" sz="2400" dirty="0"/>
                  <a:t>引数でスケール値を受け取り、</a:t>
                </a:r>
                <a:r>
                  <a:rPr lang="en-US" altLang="ja-JP" sz="2400" dirty="0"/>
                  <a:t>(</a:t>
                </a:r>
                <a:r>
                  <a:rPr lang="en-US" altLang="ja-JP" sz="2400" dirty="0" err="1"/>
                  <a:t>sx</a:t>
                </a:r>
                <a:r>
                  <a:rPr lang="en-US" altLang="ja-JP" sz="2400" dirty="0"/>
                  <a:t>, </a:t>
                </a:r>
                <a:r>
                  <a:rPr lang="en-US" altLang="ja-JP" sz="2400" dirty="0" err="1"/>
                  <a:t>sy</a:t>
                </a:r>
                <a:r>
                  <a:rPr lang="en-US" altLang="ja-JP" sz="2400" dirty="0"/>
                  <a:t>, </a:t>
                </a:r>
                <a:r>
                  <a:rPr lang="en-US" altLang="ja-JP" sz="2400" dirty="0" err="1"/>
                  <a:t>sz</a:t>
                </a:r>
                <a:r>
                  <a:rPr lang="en-US" altLang="ja-JP" sz="2400" dirty="0"/>
                  <a:t>)</a:t>
                </a:r>
                <a:r>
                  <a:rPr lang="ja-JP" altLang="en-US" sz="2400" dirty="0"/>
                  <a:t>にあてはめましょう。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041258" cy="3668953"/>
              </a:xfrm>
              <a:prstGeom prst="rect">
                <a:avLst/>
              </a:prstGeom>
              <a:blipFill>
                <a:blip r:embed="rId2"/>
                <a:stretch>
                  <a:fillRect l="-1011" t="-1331" r="-270" b="-2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07020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3668953"/>
              </a:xfrm>
              <a:prstGeom prst="rect">
                <a:avLst/>
              </a:prstGeom>
              <a:noFill/>
            </p:spPr>
            <p:txBody>
              <a:bodyPr wrap="none" rtlCol="0">
                <a:spAutoFit/>
              </a:bodyPr>
              <a:lstStyle/>
              <a:p>
                <a:r>
                  <a:rPr kumimoji="1" lang="en-US" altLang="ja-JP" sz="2400" b="1" dirty="0">
                    <a:solidFill>
                      <a:srgbClr val="FF0000"/>
                    </a:solidFill>
                  </a:rPr>
                  <a:t>MatRotationPitch</a:t>
                </a:r>
                <a:r>
                  <a:rPr kumimoji="1" lang="ja-JP" altLang="en-US" sz="2400" b="1" dirty="0">
                    <a:solidFill>
                      <a:srgbClr val="FF0000"/>
                    </a:solidFill>
                  </a:rPr>
                  <a:t>関数</a:t>
                </a:r>
                <a:r>
                  <a:rPr kumimoji="1" lang="ja-JP" altLang="en-US" sz="2400" dirty="0"/>
                  <a:t>は</a:t>
                </a:r>
                <a:r>
                  <a:rPr kumimoji="1" lang="ja-JP" altLang="en-US" sz="2400" b="1" dirty="0">
                    <a:solidFill>
                      <a:srgbClr val="FF0000"/>
                    </a:solidFill>
                  </a:rPr>
                  <a:t>ピッチ（</a:t>
                </a:r>
                <a:r>
                  <a:rPr kumimoji="1" lang="en-US" altLang="ja-JP" sz="2400" b="1" dirty="0">
                    <a:solidFill>
                      <a:srgbClr val="FF0000"/>
                    </a:solidFill>
                  </a:rPr>
                  <a:t>X</a:t>
                </a:r>
                <a:r>
                  <a:rPr kumimoji="1" lang="ja-JP" altLang="en-US" sz="2400" b="1" dirty="0">
                    <a:solidFill>
                      <a:srgbClr val="FF0000"/>
                    </a:solidFill>
                  </a:rPr>
                  <a:t>軸回転）行列</a:t>
                </a:r>
                <a:r>
                  <a:rPr kumimoji="1" lang="ja-JP" altLang="en-US" sz="2400" dirty="0"/>
                  <a:t>を返却する関数です。</a:t>
                </a:r>
                <a:endParaRPr kumimoji="1" lang="en-US" altLang="ja-JP" sz="2400" dirty="0"/>
              </a:p>
              <a:p>
                <a:endParaRPr lang="en-US" altLang="ja-JP" sz="2400" dirty="0"/>
              </a:p>
              <a:p>
                <a:r>
                  <a:rPr lang="ja-JP" altLang="en-US" sz="2400" dirty="0"/>
                  <a:t>■ピッチ行列</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𝑐𝑜𝑠</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𝑠𝑖𝑛</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𝑠𝑖𝑛</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𝑐𝑜𝑠</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d>
                    </m:oMath>
                  </m:oMathPara>
                </a14:m>
                <a:endParaRPr lang="en-US" altLang="ja-JP" sz="2400" dirty="0"/>
              </a:p>
              <a:p>
                <a:endParaRPr lang="en-US" altLang="ja-JP" sz="2400" dirty="0"/>
              </a:p>
              <a:p>
                <a:r>
                  <a:rPr lang="ja-JP" altLang="en-US" sz="2400" dirty="0"/>
                  <a:t>座標を</a:t>
                </a:r>
                <a:r>
                  <a:rPr lang="en-US" altLang="ja-JP" sz="2400" dirty="0"/>
                  <a:t>X</a:t>
                </a:r>
                <a:r>
                  <a:rPr lang="ja-JP" altLang="en-US" sz="2400" dirty="0"/>
                  <a:t>軸回転移動させる行列です。</a:t>
                </a:r>
                <a:endParaRPr lang="en-US" altLang="ja-JP" sz="2400" dirty="0"/>
              </a:p>
              <a:p>
                <a:r>
                  <a:rPr lang="ja-JP" altLang="en-US" sz="2400" dirty="0"/>
                  <a:t>引数は回転値（ラジアン）ですので、三角関数を呼び、あてはめましょう。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649069" cy="3668953"/>
              </a:xfrm>
              <a:prstGeom prst="rect">
                <a:avLst/>
              </a:prstGeom>
              <a:blipFill>
                <a:blip r:embed="rId2"/>
                <a:stretch>
                  <a:fillRect l="-859" t="-1331" b="-2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84894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3668953"/>
              </a:xfrm>
              <a:prstGeom prst="rect">
                <a:avLst/>
              </a:prstGeom>
              <a:noFill/>
            </p:spPr>
            <p:txBody>
              <a:bodyPr wrap="none" rtlCol="0">
                <a:spAutoFit/>
              </a:bodyPr>
              <a:lstStyle/>
              <a:p>
                <a:r>
                  <a:rPr kumimoji="1" lang="en-US" altLang="ja-JP" sz="2400" b="1" dirty="0">
                    <a:solidFill>
                      <a:srgbClr val="FF0000"/>
                    </a:solidFill>
                  </a:rPr>
                  <a:t>MatRotationYaw</a:t>
                </a:r>
                <a:r>
                  <a:rPr kumimoji="1" lang="ja-JP" altLang="en-US" sz="2400" b="1" dirty="0">
                    <a:solidFill>
                      <a:srgbClr val="FF0000"/>
                    </a:solidFill>
                  </a:rPr>
                  <a:t>関数</a:t>
                </a:r>
                <a:r>
                  <a:rPr kumimoji="1" lang="ja-JP" altLang="en-US" sz="2400" dirty="0"/>
                  <a:t>は</a:t>
                </a:r>
                <a:r>
                  <a:rPr lang="ja-JP" altLang="en-US" sz="2400" b="1" dirty="0">
                    <a:solidFill>
                      <a:srgbClr val="FF0000"/>
                    </a:solidFill>
                  </a:rPr>
                  <a:t>ヨー</a:t>
                </a:r>
                <a:r>
                  <a:rPr kumimoji="1" lang="ja-JP" altLang="en-US" sz="2400" b="1" dirty="0">
                    <a:solidFill>
                      <a:srgbClr val="FF0000"/>
                    </a:solidFill>
                  </a:rPr>
                  <a:t>（</a:t>
                </a:r>
                <a:r>
                  <a:rPr kumimoji="1" lang="en-US" altLang="ja-JP" sz="2400" b="1" dirty="0">
                    <a:solidFill>
                      <a:srgbClr val="FF0000"/>
                    </a:solidFill>
                  </a:rPr>
                  <a:t>Y</a:t>
                </a:r>
                <a:r>
                  <a:rPr kumimoji="1" lang="ja-JP" altLang="en-US" sz="2400" b="1" dirty="0">
                    <a:solidFill>
                      <a:srgbClr val="FF0000"/>
                    </a:solidFill>
                  </a:rPr>
                  <a:t>軸回転）行列</a:t>
                </a:r>
                <a:r>
                  <a:rPr kumimoji="1" lang="ja-JP" altLang="en-US" sz="2400" dirty="0"/>
                  <a:t>を返却する関数です。</a:t>
                </a:r>
                <a:endParaRPr kumimoji="1" lang="en-US" altLang="ja-JP" sz="2400" dirty="0"/>
              </a:p>
              <a:p>
                <a:endParaRPr lang="en-US" altLang="ja-JP" sz="2400" dirty="0"/>
              </a:p>
              <a:p>
                <a:r>
                  <a:rPr lang="ja-JP" altLang="en-US" sz="2400" dirty="0"/>
                  <a:t>■ヨー行列</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𝑐𝑜𝑠</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𝑠𝑖𝑛</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𝑠𝑖𝑛</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𝑐𝑜𝑠</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d>
                    </m:oMath>
                  </m:oMathPara>
                </a14:m>
                <a:endParaRPr lang="en-US" altLang="ja-JP" sz="2400" dirty="0"/>
              </a:p>
              <a:p>
                <a:endParaRPr lang="en-US" altLang="ja-JP" sz="2400" dirty="0"/>
              </a:p>
              <a:p>
                <a:r>
                  <a:rPr lang="ja-JP" altLang="en-US" sz="2400" dirty="0"/>
                  <a:t>座標を</a:t>
                </a:r>
                <a:r>
                  <a:rPr lang="en-US" altLang="ja-JP" sz="2400" dirty="0"/>
                  <a:t>Y</a:t>
                </a:r>
                <a:r>
                  <a:rPr lang="ja-JP" altLang="en-US" sz="2400" dirty="0"/>
                  <a:t>軸回転移動させる行列です。</a:t>
                </a:r>
                <a:endParaRPr lang="en-US" altLang="ja-JP" sz="2400" dirty="0"/>
              </a:p>
              <a:p>
                <a:r>
                  <a:rPr lang="ja-JP" altLang="en-US" sz="2400" dirty="0"/>
                  <a:t>引数は回転値（ラジアン）ですので、三角関数を呼び、あてはめましょう。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649069" cy="3668953"/>
              </a:xfrm>
              <a:prstGeom prst="rect">
                <a:avLst/>
              </a:prstGeom>
              <a:blipFill>
                <a:blip r:embed="rId2"/>
                <a:stretch>
                  <a:fillRect l="-859" t="-1331" b="-2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90829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3668953"/>
              </a:xfrm>
              <a:prstGeom prst="rect">
                <a:avLst/>
              </a:prstGeom>
              <a:noFill/>
            </p:spPr>
            <p:txBody>
              <a:bodyPr wrap="none" rtlCol="0">
                <a:spAutoFit/>
              </a:bodyPr>
              <a:lstStyle/>
              <a:p>
                <a:r>
                  <a:rPr kumimoji="1" lang="en-US" altLang="ja-JP" sz="2400" b="1" dirty="0">
                    <a:solidFill>
                      <a:srgbClr val="FF0000"/>
                    </a:solidFill>
                  </a:rPr>
                  <a:t>MatRotationRoll</a:t>
                </a:r>
                <a:r>
                  <a:rPr kumimoji="1" lang="ja-JP" altLang="en-US" sz="2400" b="1" dirty="0">
                    <a:solidFill>
                      <a:srgbClr val="FF0000"/>
                    </a:solidFill>
                  </a:rPr>
                  <a:t>関数</a:t>
                </a:r>
                <a:r>
                  <a:rPr kumimoji="1" lang="ja-JP" altLang="en-US" sz="2400" dirty="0"/>
                  <a:t>は</a:t>
                </a:r>
                <a:r>
                  <a:rPr kumimoji="1" lang="ja-JP" altLang="en-US" sz="2400" b="1" dirty="0">
                    <a:solidFill>
                      <a:srgbClr val="FF0000"/>
                    </a:solidFill>
                  </a:rPr>
                  <a:t>ロール（</a:t>
                </a:r>
                <a:r>
                  <a:rPr kumimoji="1" lang="en-US" altLang="ja-JP" sz="2400" b="1" dirty="0">
                    <a:solidFill>
                      <a:srgbClr val="FF0000"/>
                    </a:solidFill>
                  </a:rPr>
                  <a:t>Z</a:t>
                </a:r>
                <a:r>
                  <a:rPr kumimoji="1" lang="ja-JP" altLang="en-US" sz="2400" b="1" dirty="0">
                    <a:solidFill>
                      <a:srgbClr val="FF0000"/>
                    </a:solidFill>
                  </a:rPr>
                  <a:t>軸回転）行列</a:t>
                </a:r>
                <a:r>
                  <a:rPr kumimoji="1" lang="ja-JP" altLang="en-US" sz="2400" dirty="0"/>
                  <a:t>を返却する関数です。</a:t>
                </a:r>
                <a:endParaRPr kumimoji="1" lang="en-US" altLang="ja-JP" sz="2400" dirty="0"/>
              </a:p>
              <a:p>
                <a:endParaRPr lang="en-US" altLang="ja-JP" sz="2400" dirty="0"/>
              </a:p>
              <a:p>
                <a:r>
                  <a:rPr lang="ja-JP" altLang="en-US" sz="2400" dirty="0"/>
                  <a:t>■ロール行列</a:t>
                </a:r>
                <a:endParaRPr lang="en-US" altLang="ja-JP" sz="2400" dirty="0"/>
              </a:p>
              <a:p>
                <a:pPr/>
                <a14:m>
                  <m:oMathPara xmlns:m="http://schemas.openxmlformats.org/officeDocument/2006/math">
                    <m:oMathParaPr>
                      <m:jc m:val="left"/>
                    </m:oMathParaPr>
                    <m:oMath xmlns:m="http://schemas.openxmlformats.org/officeDocument/2006/math">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𝑐𝑜𝑠</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𝑠𝑖𝑛</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𝑠𝑖𝑛</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𝑐𝑜𝑠</m:t>
                                </m:r>
                                <m:r>
                                  <m:rPr>
                                    <m:sty m:val="p"/>
                                  </m:rPr>
                                  <a:rPr lang="en-US" altLang="ja-JP" sz="2400" i="1">
                                    <a:latin typeface="Cambria Math" panose="02040503050406030204" pitchFamily="18" charset="0"/>
                                  </a:rPr>
                                  <m:t>θ</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d>
                    </m:oMath>
                  </m:oMathPara>
                </a14:m>
                <a:endParaRPr lang="en-US" altLang="ja-JP" sz="2400" dirty="0"/>
              </a:p>
              <a:p>
                <a:endParaRPr lang="en-US" altLang="ja-JP" sz="2400" dirty="0"/>
              </a:p>
              <a:p>
                <a:r>
                  <a:rPr lang="ja-JP" altLang="en-US" sz="2400" dirty="0"/>
                  <a:t>座標を</a:t>
                </a:r>
                <a:r>
                  <a:rPr lang="en-US" altLang="ja-JP" sz="2400" dirty="0"/>
                  <a:t>Z</a:t>
                </a:r>
                <a:r>
                  <a:rPr lang="ja-JP" altLang="en-US" sz="2400" dirty="0"/>
                  <a:t>軸回転移動させる行列です。</a:t>
                </a:r>
                <a:endParaRPr lang="en-US" altLang="ja-JP" sz="2400" dirty="0"/>
              </a:p>
              <a:p>
                <a:r>
                  <a:rPr lang="ja-JP" altLang="en-US" sz="2400" dirty="0"/>
                  <a:t>引数は回転値（ラジアン）ですので、三角関数を呼び、あてはめましょう。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649069" cy="3668953"/>
              </a:xfrm>
              <a:prstGeom prst="rect">
                <a:avLst/>
              </a:prstGeom>
              <a:blipFill>
                <a:blip r:embed="rId2"/>
                <a:stretch>
                  <a:fillRect l="-859" t="-1331" b="-2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838527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行列の計算</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16121" cy="4079258"/>
              </a:xfrm>
              <a:prstGeom prst="rect">
                <a:avLst/>
              </a:prstGeom>
              <a:noFill/>
            </p:spPr>
            <p:txBody>
              <a:bodyPr wrap="none" rtlCol="0">
                <a:spAutoFit/>
              </a:bodyPr>
              <a:lstStyle/>
              <a:p>
                <a:r>
                  <a:rPr kumimoji="1" lang="en-US" altLang="ja-JP" sz="2400" b="1" dirty="0">
                    <a:solidFill>
                      <a:srgbClr val="FF0000"/>
                    </a:solidFill>
                  </a:rPr>
                  <a:t>MatTransform</a:t>
                </a:r>
                <a:r>
                  <a:rPr kumimoji="1" lang="ja-JP" altLang="en-US" sz="2400" b="1" dirty="0">
                    <a:solidFill>
                      <a:srgbClr val="FF0000"/>
                    </a:solidFill>
                  </a:rPr>
                  <a:t>関数</a:t>
                </a:r>
                <a:r>
                  <a:rPr kumimoji="1" lang="ja-JP" altLang="en-US" sz="2400" dirty="0"/>
                  <a:t>は</a:t>
                </a:r>
                <a:r>
                  <a:rPr lang="ja-JP" altLang="en-US" sz="2400" b="1" dirty="0">
                    <a:solidFill>
                      <a:srgbClr val="FF0000"/>
                    </a:solidFill>
                  </a:rPr>
                  <a:t>行列による変換</a:t>
                </a:r>
                <a:r>
                  <a:rPr lang="ja-JP" altLang="en-US" sz="2400" dirty="0"/>
                  <a:t>を計算して</a:t>
                </a:r>
                <a:r>
                  <a:rPr kumimoji="1" lang="ja-JP" altLang="en-US" sz="2400" dirty="0"/>
                  <a:t>返却する関数です。</a:t>
                </a:r>
                <a:endParaRPr kumimoji="1" lang="en-US" altLang="ja-JP" sz="2400" dirty="0"/>
              </a:p>
              <a:p>
                <a:endParaRPr lang="en-US" altLang="ja-JP" sz="2400" dirty="0"/>
              </a:p>
              <a:p>
                <a:r>
                  <a:rPr lang="ja-JP" altLang="en-US" sz="2400" dirty="0"/>
                  <a:t>■行列による変換</a:t>
                </a:r>
                <a:endParaRPr lang="en-US" altLang="ja-JP" sz="2400" dirty="0"/>
              </a:p>
              <a:p>
                <a14:m>
                  <m:oMath xmlns:m="http://schemas.openxmlformats.org/officeDocument/2006/math">
                    <m:d>
                      <m:dPr>
                        <m:begChr m:val="["/>
                        <m:endChr m:val="]"/>
                        <m:ctrlPr>
                          <a:rPr lang="en-US" altLang="ja-JP" sz="2400" i="1">
                            <a:latin typeface="Cambria Math" panose="02040503050406030204" pitchFamily="18" charset="0"/>
                          </a:rPr>
                        </m:ctrlPr>
                      </m:dPr>
                      <m:e>
                        <m:m>
                          <m:mPr>
                            <m:mcs>
                              <m:mc>
                                <m:mcPr>
                                  <m:count m:val="4"/>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2</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20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80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d>
                  </m:oMath>
                </a14:m>
                <a:r>
                  <a:rPr lang="en-US" altLang="ja-JP" sz="2400" dirty="0"/>
                  <a:t> </a:t>
                </a:r>
                <a14:m>
                  <m:oMath xmlns:m="http://schemas.openxmlformats.org/officeDocument/2006/math">
                    <m:d>
                      <m:dPr>
                        <m:begChr m:val="["/>
                        <m:endChr m:val="]"/>
                        <m:ctrlPr>
                          <a:rPr lang="en-US" altLang="ja-JP" sz="2400" i="1">
                            <a:latin typeface="Cambria Math" panose="02040503050406030204" pitchFamily="18" charset="0"/>
                          </a:rPr>
                        </m:ctrlPr>
                      </m:dPr>
                      <m:e>
                        <m:m>
                          <m:mPr>
                            <m:mcs>
                              <m:mc>
                                <m:mcPr>
                                  <m:count m:val="1"/>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𝑥</m:t>
                              </m:r>
                            </m:e>
                          </m:mr>
                          <m:mr>
                            <m:e>
                              <m:r>
                                <a:rPr lang="en-US" altLang="ja-JP" sz="2400" b="0" i="1" smtClean="0">
                                  <a:latin typeface="Cambria Math" panose="02040503050406030204" pitchFamily="18" charset="0"/>
                                </a:rPr>
                                <m:t>𝑦</m:t>
                              </m:r>
                            </m:e>
                          </m:mr>
                          <m:mr>
                            <m:e>
                              <m:r>
                                <a:rPr lang="en-US" altLang="ja-JP" sz="2400" b="0" i="1" smtClean="0">
                                  <a:latin typeface="Cambria Math" panose="02040503050406030204" pitchFamily="18" charset="0"/>
                                </a:rPr>
                                <m:t>𝑧</m:t>
                              </m:r>
                            </m:e>
                          </m:mr>
                          <m:mr>
                            <m:e>
                              <m:r>
                                <a:rPr lang="en-US" altLang="ja-JP" sz="2400" b="0" i="1" smtClean="0">
                                  <a:latin typeface="Cambria Math" panose="02040503050406030204" pitchFamily="18" charset="0"/>
                                </a:rPr>
                                <m:t>1</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1"/>
                                  <m:mcJc m:val="center"/>
                                </m:mcPr>
                              </m:mc>
                            </m:mcs>
                            <m:ctrlPr>
                              <a:rPr lang="en-US" altLang="ja-JP" sz="2400" i="1">
                                <a:latin typeface="Cambria Math" panose="02040503050406030204" pitchFamily="18" charset="0"/>
                              </a:rPr>
                            </m:ctrlPr>
                          </m:mPr>
                          <m:mr>
                            <m:e>
                              <m:r>
                                <a:rPr lang="en-US" altLang="ja-JP" sz="2400" i="1">
                                  <a:latin typeface="Cambria Math" panose="02040503050406030204" pitchFamily="18" charset="0"/>
                                </a:rPr>
                                <m:t>𝑥</m:t>
                              </m:r>
                              <m:r>
                                <a:rPr lang="en-US" altLang="ja-JP" sz="2400" b="0" i="1" smtClean="0">
                                  <a:latin typeface="Cambria Math" panose="02040503050406030204" pitchFamily="18" charset="0"/>
                                </a:rPr>
                                <m:t>′</m:t>
                              </m:r>
                            </m:e>
                          </m:mr>
                          <m:mr>
                            <m:e>
                              <m:r>
                                <a:rPr lang="en-US" altLang="ja-JP" sz="2400" i="1">
                                  <a:latin typeface="Cambria Math" panose="02040503050406030204" pitchFamily="18" charset="0"/>
                                </a:rPr>
                                <m:t>𝑦</m:t>
                              </m:r>
                              <m:r>
                                <a:rPr lang="en-US" altLang="ja-JP" sz="2400" b="0" i="1" smtClean="0">
                                  <a:latin typeface="Cambria Math" panose="02040503050406030204" pitchFamily="18" charset="0"/>
                                </a:rPr>
                                <m:t>′</m:t>
                              </m:r>
                            </m:e>
                          </m:mr>
                          <m:mr>
                            <m:e>
                              <m:r>
                                <a:rPr lang="en-US" altLang="ja-JP" sz="2400" i="1">
                                  <a:latin typeface="Cambria Math" panose="02040503050406030204" pitchFamily="18" charset="0"/>
                                </a:rPr>
                                <m:t>𝑧</m:t>
                              </m:r>
                              <m:r>
                                <a:rPr lang="en-US" altLang="ja-JP" sz="2400" b="0" i="1" smtClean="0">
                                  <a:latin typeface="Cambria Math" panose="02040503050406030204" pitchFamily="18" charset="0"/>
                                </a:rPr>
                                <m:t>′</m:t>
                              </m:r>
                            </m:e>
                          </m:mr>
                          <m:mr>
                            <m:e>
                              <m:r>
                                <a:rPr lang="en-US" altLang="ja-JP" sz="2400" i="1">
                                  <a:latin typeface="Cambria Math" panose="02040503050406030204" pitchFamily="18" charset="0"/>
                                </a:rPr>
                                <m:t>1</m:t>
                              </m:r>
                            </m:e>
                          </m:mr>
                        </m:m>
                      </m:e>
                    </m:d>
                  </m:oMath>
                </a14:m>
                <a:endParaRPr lang="en-US" altLang="ja-JP" sz="2400" dirty="0"/>
              </a:p>
              <a:p>
                <a:endParaRPr lang="en-US" altLang="ja-JP" sz="2400" dirty="0"/>
              </a:p>
              <a:p>
                <a:r>
                  <a:rPr lang="ja-JP" altLang="en-US" sz="2400" dirty="0"/>
                  <a:t>変換行列</a:t>
                </a:r>
                <a:r>
                  <a:rPr lang="en-US" altLang="ja-JP" sz="2400" dirty="0"/>
                  <a:t>×</a:t>
                </a:r>
                <a:r>
                  <a:rPr lang="ja-JP" altLang="en-US" sz="2400" dirty="0"/>
                  <a:t>座標を計算して、変換後の座標を計算します。</a:t>
                </a:r>
                <a:endParaRPr lang="en-US" altLang="ja-JP" sz="2400" dirty="0"/>
              </a:p>
              <a:p>
                <a:r>
                  <a:rPr lang="ja-JP" altLang="en-US" sz="2400" b="1" dirty="0">
                    <a:solidFill>
                      <a:srgbClr val="FF0000"/>
                    </a:solidFill>
                  </a:rPr>
                  <a:t>４</a:t>
                </a:r>
                <a:r>
                  <a:rPr lang="en-US" altLang="ja-JP" sz="2400" b="1" dirty="0">
                    <a:solidFill>
                      <a:srgbClr val="FF0000"/>
                    </a:solidFill>
                  </a:rPr>
                  <a:t>×</a:t>
                </a:r>
                <a:r>
                  <a:rPr lang="ja-JP" altLang="en-US" sz="2400" b="1" dirty="0">
                    <a:solidFill>
                      <a:srgbClr val="FF0000"/>
                    </a:solidFill>
                  </a:rPr>
                  <a:t>４行列と４</a:t>
                </a:r>
                <a:r>
                  <a:rPr lang="en-US" altLang="ja-JP" sz="2400" b="1" dirty="0">
                    <a:solidFill>
                      <a:srgbClr val="FF0000"/>
                    </a:solidFill>
                  </a:rPr>
                  <a:t>×</a:t>
                </a:r>
                <a:r>
                  <a:rPr lang="ja-JP" altLang="en-US" sz="2400" b="1" dirty="0">
                    <a:solidFill>
                      <a:srgbClr val="FF0000"/>
                    </a:solidFill>
                  </a:rPr>
                  <a:t>１行列の掛け算を計算する処理</a:t>
                </a:r>
                <a:r>
                  <a:rPr lang="ja-JP" altLang="en-US" sz="2400" dirty="0"/>
                  <a:t>を書きましょう。</a:t>
                </a:r>
                <a:endParaRPr lang="en-US" altLang="ja-JP" sz="2400" dirty="0"/>
              </a:p>
              <a:p>
                <a:r>
                  <a:rPr lang="ja-JP" altLang="en-US" sz="2400" dirty="0"/>
                  <a:t>（４</a:t>
                </a:r>
                <a:r>
                  <a:rPr lang="en-US" altLang="ja-JP" sz="2400" dirty="0"/>
                  <a:t>×</a:t>
                </a:r>
                <a:r>
                  <a:rPr lang="ja-JP" altLang="en-US" sz="2400" dirty="0"/>
                  <a:t>１行列に定義はないので配列を使う必要あり）</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716121" cy="4079258"/>
              </a:xfrm>
              <a:prstGeom prst="rect">
                <a:avLst/>
              </a:prstGeom>
              <a:blipFill>
                <a:blip r:embed="rId2"/>
                <a:stretch>
                  <a:fillRect l="-941" t="-1196" r="-188" b="-254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8773396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TotalTime>
  <Words>673</Words>
  <Application>Microsoft Office PowerPoint</Application>
  <PresentationFormat>ワイド画面</PresentationFormat>
  <Paragraphs>114</Paragraphs>
  <Slides>16</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16</vt:i4>
      </vt:variant>
    </vt:vector>
  </HeadingPairs>
  <TitlesOfParts>
    <vt:vector size="21"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55</cp:revision>
  <dcterms:created xsi:type="dcterms:W3CDTF">2024-08-27T02:15:54Z</dcterms:created>
  <dcterms:modified xsi:type="dcterms:W3CDTF">2024-09-30T01:10:13Z</dcterms:modified>
</cp:coreProperties>
</file>