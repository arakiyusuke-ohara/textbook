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荒木 優介" initials="荒木" lastIdx="1" clrIdx="0">
    <p:extLst>
      <p:ext uri="{19B8F6BF-5375-455C-9EA6-DF929625EA0E}">
        <p15:presenceInfo xmlns:p15="http://schemas.microsoft.com/office/powerpoint/2012/main" userId="S::yusuke.araki@mail.o-hara.ac.jp::8e6d17bf-8fa4-4ec7-9082-0d2d1afc5a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管理クラスは基本的に作りは同じです。</a:t>
            </a:r>
            <a:endParaRPr lang="en-US" altLang="ja-JP" sz="2400" dirty="0"/>
          </a:p>
          <a:p>
            <a:r>
              <a:rPr lang="ja-JP" altLang="en-US" sz="2400" dirty="0"/>
              <a:t>ですが、</a:t>
            </a:r>
            <a:r>
              <a:rPr lang="ja-JP" altLang="en-US" sz="2400" b="1" dirty="0">
                <a:solidFill>
                  <a:srgbClr val="FF0000"/>
                </a:solidFill>
              </a:rPr>
              <a:t>管理するオブジェクトによって作りを変えることもあります。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今回はエネミー管理クラスを作成し、</a:t>
            </a:r>
            <a:endParaRPr lang="en-US" altLang="ja-JP" sz="2400" dirty="0"/>
          </a:p>
          <a:p>
            <a:r>
              <a:rPr lang="ja-JP" altLang="en-US" sz="2400" dirty="0"/>
              <a:t>カメラ管理との違いも含めて学習していきます。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今回は</a:t>
            </a:r>
            <a:r>
              <a:rPr lang="en-US" altLang="ja-JP" sz="2400" dirty="0"/>
              <a:t>2</a:t>
            </a:r>
            <a:r>
              <a:rPr lang="ja-JP" altLang="en-US" sz="2400" dirty="0"/>
              <a:t>種類のエネミーを作成してゲームに実装します。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まずはファイルを追加しましょう。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43A998A-E826-4A2B-BA8C-08CE2425D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20" y="1988667"/>
            <a:ext cx="3373412" cy="288066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C4102B0-516A-42C2-8671-E668B1AF034A}"/>
              </a:ext>
            </a:extLst>
          </p:cNvPr>
          <p:cNvSpPr txBox="1"/>
          <p:nvPr/>
        </p:nvSpPr>
        <p:spPr>
          <a:xfrm>
            <a:off x="4773214" y="1988667"/>
            <a:ext cx="387798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■管理クラス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EnemyManager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■基底クラス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EnemyBase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■実装するエネミークラス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RedEnemy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BlueEnemy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12321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83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EnemyBase.h</a:t>
            </a:r>
            <a:r>
              <a:rPr lang="ja-JP" altLang="en-US" sz="2400" dirty="0"/>
              <a:t>を書きましょう。（その</a:t>
            </a:r>
            <a:r>
              <a:rPr lang="en-US" altLang="ja-JP" sz="2400" dirty="0"/>
              <a:t>1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4F17D0E-96AE-459F-84F9-0E0D3DFA0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674077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7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83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EnemyBase.h</a:t>
            </a:r>
            <a:r>
              <a:rPr lang="ja-JP" altLang="en-US" sz="2400" dirty="0"/>
              <a:t>を書きましょう。（その</a:t>
            </a:r>
            <a:r>
              <a:rPr lang="en-US" altLang="ja-JP" sz="2400" dirty="0"/>
              <a:t>2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A1C5C15-80BC-4B83-8CA3-5A63DC422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809411" cy="255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26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77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EnemyBase.cpp</a:t>
            </a:r>
            <a:r>
              <a:rPr lang="ja-JP" altLang="en-US" sz="2400" dirty="0"/>
              <a:t>を書きましょう。（その１）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8C3B672-1FCD-4101-AE51-86012F987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20" y="1817794"/>
            <a:ext cx="3981955" cy="468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8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77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EnemyBase.cpp</a:t>
            </a:r>
            <a:r>
              <a:rPr lang="ja-JP" altLang="en-US" sz="2400" dirty="0"/>
              <a:t>を書きましょう。（その２）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34A2AA1-7277-4F87-9EE6-29E1FAEA5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3"/>
            <a:ext cx="5626388" cy="175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92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06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今回は</a:t>
            </a:r>
            <a:r>
              <a:rPr lang="en-US" altLang="ja-JP" sz="2400" b="1" dirty="0">
                <a:solidFill>
                  <a:srgbClr val="0070C0"/>
                </a:solidFill>
              </a:rPr>
              <a:t>Update</a:t>
            </a:r>
            <a:r>
              <a:rPr lang="ja-JP" altLang="en-US" sz="2400" b="1" dirty="0">
                <a:solidFill>
                  <a:srgbClr val="0070C0"/>
                </a:solidFill>
              </a:rPr>
              <a:t>関数～</a:t>
            </a:r>
            <a:r>
              <a:rPr lang="en-US" altLang="ja-JP" sz="2400" b="1" dirty="0">
                <a:solidFill>
                  <a:srgbClr val="0070C0"/>
                </a:solidFill>
              </a:rPr>
              <a:t>Fin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まではすべての敵で共通して使えそうだったので、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EnemyBase</a:t>
            </a:r>
            <a:r>
              <a:rPr lang="ja-JP" altLang="en-US" sz="2400" dirty="0"/>
              <a:t>で処理するようにしています。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AB6BC18-F448-4155-B5B0-FF1A56FEA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717" y="2187126"/>
            <a:ext cx="6454112" cy="216113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420CEEA-9926-40B1-A5C2-4FC91192C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4145334" cy="313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48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01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EnemyManager.h</a:t>
            </a:r>
            <a:r>
              <a:rPr lang="ja-JP" altLang="en-US" sz="2400" dirty="0"/>
              <a:t>を書きましょう。（その１）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B17AD25-50AF-4022-AB78-EEDF48BC2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4"/>
            <a:ext cx="9304504" cy="436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01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EnemyManager.h</a:t>
            </a:r>
            <a:r>
              <a:rPr lang="ja-JP" altLang="en-US" sz="2400" dirty="0"/>
              <a:t>を書きましょう。（その２）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0DC6BF9-5B22-4A28-9923-E7CF119C8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5321455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28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59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EnemyManager.cpp</a:t>
            </a:r>
            <a:r>
              <a:rPr lang="ja-JP" altLang="en-US" sz="2400" dirty="0"/>
              <a:t>を書きましょう。（その１）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6109324-A644-4E70-BF79-B54B3E13B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191232" cy="446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06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59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EnemyManager.cpp</a:t>
            </a:r>
            <a:r>
              <a:rPr lang="ja-JP" altLang="en-US" sz="2400" dirty="0"/>
              <a:t>を書きましょう。（その２）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4E62D97-959A-4B17-B2CF-E40AFEB62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136604" cy="429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63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59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EnemyManager.cpp</a:t>
            </a:r>
            <a:r>
              <a:rPr lang="ja-JP" altLang="en-US" sz="2400" dirty="0"/>
              <a:t>を書きましょう。（その３）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B9C7250-F201-4B13-BF4C-8CBBF05DE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3891883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0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59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EnemyManager.cpp</a:t>
            </a:r>
            <a:r>
              <a:rPr lang="ja-JP" altLang="en-US" sz="2400" dirty="0"/>
              <a:t>を書きましょう。（その４）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89B67F0-CFA5-4434-B9C8-B98D1ED4523E}"/>
              </a:ext>
            </a:extLst>
          </p:cNvPr>
          <p:cNvSpPr txBox="1"/>
          <p:nvPr/>
        </p:nvSpPr>
        <p:spPr>
          <a:xfrm>
            <a:off x="567542" y="5904381"/>
            <a:ext cx="6200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CreateEnemy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は後程処理を書きます。</a:t>
            </a:r>
            <a:endParaRPr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D0C3F20-2BDC-4D50-B6CD-A5486B049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4782671" cy="395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97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エネミーとカメラの違いは、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複数同じものを量産する可能性がある</a:t>
            </a:r>
            <a:r>
              <a:rPr lang="ja-JP" altLang="en-US" sz="2400" dirty="0"/>
              <a:t>ことです。</a:t>
            </a:r>
            <a:endParaRPr lang="en-US" altLang="ja-JP" sz="2400" dirty="0"/>
          </a:p>
          <a:p>
            <a:r>
              <a:rPr lang="ja-JP" altLang="en-US" sz="2400" dirty="0"/>
              <a:t>今回はクローンという方法を使って、複数量産を実装します。</a:t>
            </a:r>
            <a:endParaRPr lang="en-US" altLang="ja-JP" sz="2400" dirty="0"/>
          </a:p>
        </p:txBody>
      </p:sp>
      <p:sp>
        <p:nvSpPr>
          <p:cNvPr id="11" name="スマイル 10">
            <a:extLst>
              <a:ext uri="{FF2B5EF4-FFF2-40B4-BE49-F238E27FC236}">
                <a16:creationId xmlns:a16="http://schemas.microsoft.com/office/drawing/2014/main" id="{13E4A5A5-7F80-4A56-AF8E-FAA1B5C39C3B}"/>
              </a:ext>
            </a:extLst>
          </p:cNvPr>
          <p:cNvSpPr/>
          <p:nvPr/>
        </p:nvSpPr>
        <p:spPr>
          <a:xfrm>
            <a:off x="1546208" y="3841078"/>
            <a:ext cx="1226176" cy="1200329"/>
          </a:xfrm>
          <a:prstGeom prst="smileyFace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A2EA91A-601F-4F20-ACC1-BEB4AEC93BAD}"/>
              </a:ext>
            </a:extLst>
          </p:cNvPr>
          <p:cNvSpPr txBox="1"/>
          <p:nvPr/>
        </p:nvSpPr>
        <p:spPr>
          <a:xfrm>
            <a:off x="1297521" y="517990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クローン元</a:t>
            </a:r>
            <a:endParaRPr lang="en-US" altLang="ja-JP" sz="2400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9C52653-800A-4A3C-B9BD-FFB0566BD96A}"/>
              </a:ext>
            </a:extLst>
          </p:cNvPr>
          <p:cNvCxnSpPr>
            <a:cxnSpLocks/>
          </p:cNvCxnSpPr>
          <p:nvPr/>
        </p:nvCxnSpPr>
        <p:spPr>
          <a:xfrm flipV="1">
            <a:off x="2694562" y="3198166"/>
            <a:ext cx="2538919" cy="6429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11EEA3E1-114C-4B5E-8B77-21B709C840C2}"/>
              </a:ext>
            </a:extLst>
          </p:cNvPr>
          <p:cNvCxnSpPr>
            <a:cxnSpLocks/>
          </p:cNvCxnSpPr>
          <p:nvPr/>
        </p:nvCxnSpPr>
        <p:spPr>
          <a:xfrm flipV="1">
            <a:off x="2921540" y="4476634"/>
            <a:ext cx="2311941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9AEB4ADE-37CD-48EE-BD7E-124D6F8A4196}"/>
              </a:ext>
            </a:extLst>
          </p:cNvPr>
          <p:cNvCxnSpPr>
            <a:cxnSpLocks/>
          </p:cNvCxnSpPr>
          <p:nvPr/>
        </p:nvCxnSpPr>
        <p:spPr>
          <a:xfrm>
            <a:off x="2921540" y="5059104"/>
            <a:ext cx="2418945" cy="7914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スマイル 19">
            <a:extLst>
              <a:ext uri="{FF2B5EF4-FFF2-40B4-BE49-F238E27FC236}">
                <a16:creationId xmlns:a16="http://schemas.microsoft.com/office/drawing/2014/main" id="{3169C05C-D9B6-49A8-BA20-79D3FC664387}"/>
              </a:ext>
            </a:extLst>
          </p:cNvPr>
          <p:cNvSpPr/>
          <p:nvPr/>
        </p:nvSpPr>
        <p:spPr>
          <a:xfrm>
            <a:off x="5482912" y="2598002"/>
            <a:ext cx="1226176" cy="1200329"/>
          </a:xfrm>
          <a:prstGeom prst="smileyFace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スマイル 21">
            <a:extLst>
              <a:ext uri="{FF2B5EF4-FFF2-40B4-BE49-F238E27FC236}">
                <a16:creationId xmlns:a16="http://schemas.microsoft.com/office/drawing/2014/main" id="{370F1CE3-2B8F-4581-9CEA-0B72D1695C47}"/>
              </a:ext>
            </a:extLst>
          </p:cNvPr>
          <p:cNvSpPr/>
          <p:nvPr/>
        </p:nvSpPr>
        <p:spPr>
          <a:xfrm>
            <a:off x="5482912" y="3876470"/>
            <a:ext cx="1226176" cy="1200329"/>
          </a:xfrm>
          <a:prstGeom prst="smileyFace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スマイル 23">
            <a:extLst>
              <a:ext uri="{FF2B5EF4-FFF2-40B4-BE49-F238E27FC236}">
                <a16:creationId xmlns:a16="http://schemas.microsoft.com/office/drawing/2014/main" id="{E6C4FC2C-54B0-4C38-A30B-392B0EC1B607}"/>
              </a:ext>
            </a:extLst>
          </p:cNvPr>
          <p:cNvSpPr/>
          <p:nvPr/>
        </p:nvSpPr>
        <p:spPr>
          <a:xfrm>
            <a:off x="5482912" y="5250344"/>
            <a:ext cx="1226176" cy="1200329"/>
          </a:xfrm>
          <a:prstGeom prst="smileyFace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CFF7CC0-6EDA-432E-9C68-4F4C637E9C7C}"/>
              </a:ext>
            </a:extLst>
          </p:cNvPr>
          <p:cNvSpPr txBox="1"/>
          <p:nvPr/>
        </p:nvSpPr>
        <p:spPr>
          <a:xfrm>
            <a:off x="6955031" y="4210409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クローンを作って量産する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61963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216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RedEnemy.h</a:t>
            </a:r>
            <a:r>
              <a:rPr lang="ja-JP" altLang="en-US" sz="2400" dirty="0"/>
              <a:t>を書きましょう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CD13EBB-960C-4884-BA2C-F5BF22565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658904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806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12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RedEnemy.cpp</a:t>
            </a:r>
            <a:r>
              <a:rPr lang="ja-JP" altLang="en-US" sz="2400" dirty="0"/>
              <a:t>を書きましょう（その１）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CF879EF-5B32-4388-9A2F-09E808C97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109091" cy="46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00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12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RedEnemy.cpp</a:t>
            </a:r>
            <a:r>
              <a:rPr lang="ja-JP" altLang="en-US" sz="2400" dirty="0"/>
              <a:t>を書きましょう（その２）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0AD2B63-673A-4158-8E61-4D30F3B18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094384" cy="413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35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309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BlueEnemy.h</a:t>
            </a:r>
            <a:r>
              <a:rPr lang="ja-JP" altLang="en-US" sz="2400" dirty="0"/>
              <a:t>を書きましょう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B97EB87-62A1-4C81-BF97-EC56B7AB2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6108154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954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05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BlueEnemy.cpp</a:t>
            </a:r>
            <a:r>
              <a:rPr lang="ja-JP" altLang="en-US" sz="2400" dirty="0"/>
              <a:t>を書きましょう（その１）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3068FEF-F8D4-41C0-BF49-7C8E22EF5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181505" cy="441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22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05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BlueEnemy.cpp</a:t>
            </a:r>
            <a:r>
              <a:rPr lang="ja-JP" altLang="en-US" sz="2400" dirty="0"/>
              <a:t>を書きましょう（その２）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AF7D702-E844-43C4-B351-0C684DFEC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4182300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15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05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BlueEnemy.cpp</a:t>
            </a:r>
            <a:r>
              <a:rPr lang="ja-JP" altLang="en-US" sz="2400" dirty="0"/>
              <a:t>を書きましょう（その３）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EA499E3-176A-4E02-9B28-F65829985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22658"/>
            <a:ext cx="7258313" cy="428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02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21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EnemyManager.cpp</a:t>
            </a:r>
            <a:r>
              <a:rPr lang="ja-JP" altLang="en-US" sz="2400" dirty="0"/>
              <a:t>にクローン元のオブジェクト生成を書きます。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91B5CEE-1FDF-4D41-A762-DC2AD4800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2929"/>
            <a:ext cx="8833341" cy="20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21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58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EnemyManager.cpp</a:t>
            </a:r>
            <a:r>
              <a:rPr lang="ja-JP" altLang="en-US" sz="2400" dirty="0"/>
              <a:t>の</a:t>
            </a:r>
            <a:r>
              <a:rPr lang="en-US" altLang="ja-JP" sz="2400" b="1" dirty="0" err="1">
                <a:solidFill>
                  <a:srgbClr val="0070C0"/>
                </a:solidFill>
              </a:rPr>
              <a:t>CreateEnemy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を完成させます。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19203EA-7D8F-44E4-9CC3-7CE0DD17E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7615981" cy="315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14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 解説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47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クローン元は</a:t>
            </a:r>
            <a:r>
              <a:rPr lang="en-US" altLang="ja-JP" sz="2400" b="1" dirty="0" err="1">
                <a:solidFill>
                  <a:srgbClr val="00B050"/>
                </a:solidFill>
              </a:rPr>
              <a:t>EnemyManager</a:t>
            </a:r>
            <a:r>
              <a:rPr lang="ja-JP" altLang="en-US" sz="2400" dirty="0"/>
              <a:t>クラスで管理します。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3CE025-A147-4BE6-B18C-0D8A6B959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833341" cy="20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929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 解説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クローンする処理は各エネミーに実装します。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3AF8159-AEAB-4F2F-A297-EAA044C62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157394" cy="425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113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 解説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84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エネミーを生成するときは</a:t>
            </a:r>
            <a:r>
              <a:rPr lang="en-US" altLang="ja-JP" sz="2400" b="1" dirty="0">
                <a:solidFill>
                  <a:srgbClr val="0070C0"/>
                </a:solidFill>
              </a:rPr>
              <a:t>Clone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を使って複製します。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7777CED-406E-4E30-AC24-27F0EC7C9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7944779" cy="301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48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26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にエネミーを生成する処理を書きましょう。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BD24C6A-304B-4C33-9AFB-8C713991D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992061" cy="337232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A0C30F4-F43E-48A9-B25C-37A59EE3BC48}"/>
              </a:ext>
            </a:extLst>
          </p:cNvPr>
          <p:cNvSpPr txBox="1"/>
          <p:nvPr/>
        </p:nvSpPr>
        <p:spPr>
          <a:xfrm>
            <a:off x="567541" y="5329815"/>
            <a:ext cx="10828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EnemyManger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0070C0"/>
                </a:solidFill>
              </a:rPr>
              <a:t>Step</a:t>
            </a:r>
            <a:r>
              <a:rPr lang="ja-JP" altLang="en-US" sz="2400" b="1" dirty="0">
                <a:solidFill>
                  <a:srgbClr val="0070C0"/>
                </a:solidFill>
              </a:rPr>
              <a:t>～</a:t>
            </a:r>
            <a:r>
              <a:rPr lang="en-US" altLang="ja-JP" sz="2400" b="1" dirty="0">
                <a:solidFill>
                  <a:srgbClr val="0070C0"/>
                </a:solidFill>
              </a:rPr>
              <a:t>Fin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も適した場所に書いて動作確認しましょう。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48200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継承を使ったエネミー管理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list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は</a:t>
            </a:r>
            <a:r>
              <a:rPr lang="en-US" altLang="ja-JP" sz="2400" dirty="0"/>
              <a:t>C++</a:t>
            </a:r>
            <a:r>
              <a:rPr lang="ja-JP" altLang="en-US" sz="2400" dirty="0"/>
              <a:t>の標準ライブラリにあるクラスです。</a:t>
            </a:r>
            <a:endParaRPr lang="en-US" altLang="ja-JP" sz="2400" dirty="0"/>
          </a:p>
          <a:p>
            <a:r>
              <a:rPr lang="ja-JP" altLang="en-US" sz="2400" dirty="0"/>
              <a:t>リストによる複数要素の管理を簡単に実装することができます。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D975BC7-E57C-4C02-BF14-7AAEA94C4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4744112" cy="66684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E2A9128-122C-4FB5-A801-8433AE213AC2}"/>
              </a:ext>
            </a:extLst>
          </p:cNvPr>
          <p:cNvSpPr txBox="1"/>
          <p:nvPr/>
        </p:nvSpPr>
        <p:spPr>
          <a:xfrm>
            <a:off x="560707" y="2993669"/>
            <a:ext cx="97257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ただし、</a:t>
            </a:r>
            <a:r>
              <a:rPr lang="ja-JP" altLang="en-US" sz="2400" b="1" dirty="0">
                <a:solidFill>
                  <a:srgbClr val="FF0000"/>
                </a:solidFill>
              </a:rPr>
              <a:t>配列のように添え字による直接アクセスができなかったり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lang="ja-JP" altLang="en-US" sz="2400" dirty="0"/>
              <a:t>状況によっては</a:t>
            </a:r>
            <a:r>
              <a:rPr lang="ja-JP" altLang="en-US" sz="2400" b="1" dirty="0">
                <a:solidFill>
                  <a:srgbClr val="FF0000"/>
                </a:solidFill>
              </a:rPr>
              <a:t>配列よりも処理が重くなる場合があります</a:t>
            </a:r>
            <a:r>
              <a:rPr lang="ja-JP" altLang="en-US" sz="2400" dirty="0"/>
              <a:t>。</a:t>
            </a:r>
            <a:endParaRPr lang="en-US" altLang="ja-JP" sz="2400" dirty="0"/>
          </a:p>
          <a:p>
            <a:r>
              <a:rPr lang="ja-JP" altLang="en-US" sz="2400" dirty="0"/>
              <a:t>管理するオブジェクトに合わせて使い分けましょう。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詳細は</a:t>
            </a:r>
            <a:r>
              <a:rPr lang="en-US" altLang="ja-JP" sz="2400" dirty="0"/>
              <a:t>C++</a:t>
            </a:r>
            <a:r>
              <a:rPr lang="ja-JP" altLang="en-US" sz="2400" dirty="0"/>
              <a:t>の授業で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28485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609</Words>
  <Application>Microsoft Office PowerPoint</Application>
  <PresentationFormat>ワイド画面</PresentationFormat>
  <Paragraphs>84</Paragraphs>
  <Slides>28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72</cp:revision>
  <dcterms:created xsi:type="dcterms:W3CDTF">2024-08-27T02:15:54Z</dcterms:created>
  <dcterms:modified xsi:type="dcterms:W3CDTF">2025-02-07T07:31:30Z</dcterms:modified>
</cp:coreProperties>
</file>