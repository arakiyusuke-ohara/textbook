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2025/4/7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前回はプレイヤーやカメラなど、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つで良いオブジェクトについて学びました。</a:t>
            </a:r>
            <a:endParaRPr lang="en-US" altLang="ja-JP" sz="2400" dirty="0"/>
          </a:p>
          <a:p>
            <a:r>
              <a:rPr lang="ja-JP" altLang="en-US" sz="2400" dirty="0"/>
              <a:t>今回は</a:t>
            </a:r>
            <a:r>
              <a:rPr lang="ja-JP" altLang="en-US" sz="2400" b="1" dirty="0">
                <a:solidFill>
                  <a:srgbClr val="FF0000"/>
                </a:solidFill>
              </a:rPr>
              <a:t>敵や弾丸、ブロック</a:t>
            </a:r>
            <a:r>
              <a:rPr lang="ja-JP" altLang="en-US" sz="2400" dirty="0"/>
              <a:t>など、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ゲーム中に複数存在するオブジェクト</a:t>
            </a:r>
            <a:r>
              <a:rPr lang="ja-JP" altLang="en-US" sz="2400" dirty="0"/>
              <a:t>について</a:t>
            </a:r>
            <a:endParaRPr lang="en-US" altLang="ja-JP" sz="2400" dirty="0"/>
          </a:p>
          <a:p>
            <a:r>
              <a:rPr lang="ja-JP" altLang="en-US" sz="2400" dirty="0"/>
              <a:t>学びます。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CE841F6-CBF0-437C-B467-A4F9236C6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416758"/>
            <a:ext cx="8100011" cy="421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673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ブロックを複数管理して配置まで実装します。</a:t>
            </a:r>
            <a:endParaRPr kumimoji="1" lang="en-US" altLang="ja-JP" sz="2400" dirty="0"/>
          </a:p>
          <a:p>
            <a:r>
              <a:rPr lang="ja-JP" altLang="en-US" sz="2400" dirty="0"/>
              <a:t>配布したプロジェクトの</a:t>
            </a:r>
            <a:r>
              <a:rPr lang="en-US" altLang="ja-JP" sz="2400" b="1" dirty="0" err="1">
                <a:solidFill>
                  <a:srgbClr val="FF0000"/>
                </a:solidFill>
              </a:rPr>
              <a:t>BlockManager.h</a:t>
            </a:r>
            <a:r>
              <a:rPr lang="ja-JP" altLang="en-US" sz="2400" dirty="0"/>
              <a:t>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24B0C31-A85D-48A4-8AEE-C28C30CC3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187126"/>
            <a:ext cx="5820558" cy="431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2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マネージャークラスの作りは基本的には同じです。</a:t>
            </a:r>
            <a:endParaRPr kumimoji="1" lang="en-US" altLang="ja-JP" sz="2400" dirty="0"/>
          </a:p>
          <a:p>
            <a:r>
              <a:rPr lang="ja-JP" altLang="en-US" sz="2400" dirty="0"/>
              <a:t>ただしオブジェクトを複数管理するため、</a:t>
            </a:r>
            <a:r>
              <a:rPr lang="ja-JP" altLang="en-US" sz="2400" b="1" dirty="0">
                <a:solidFill>
                  <a:srgbClr val="FF0000"/>
                </a:solidFill>
              </a:rPr>
              <a:t>管理用の変数を配列</a:t>
            </a:r>
            <a:r>
              <a:rPr lang="ja-JP" altLang="en-US" sz="2400" dirty="0"/>
              <a:t>にします。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9D977F1-497F-4615-B655-619104CD9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9353981" cy="2118174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6AFB36D-9215-43FA-A289-50A2888E95BA}"/>
              </a:ext>
            </a:extLst>
          </p:cNvPr>
          <p:cNvSpPr/>
          <p:nvPr/>
        </p:nvSpPr>
        <p:spPr>
          <a:xfrm>
            <a:off x="2246663" y="3429000"/>
            <a:ext cx="7674859" cy="1193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37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0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BlockManager.cpp</a:t>
            </a:r>
            <a:r>
              <a:rPr kumimoji="1" lang="ja-JP" altLang="en-US" sz="2400" dirty="0"/>
              <a:t>側に処理を書きます。</a:t>
            </a:r>
            <a:endParaRPr kumimoji="1" lang="en-US" altLang="ja-JP" sz="2400" dirty="0"/>
          </a:p>
          <a:p>
            <a:r>
              <a:rPr lang="ja-JP" altLang="en-US" sz="2400" dirty="0"/>
              <a:t>コンストラクタでは、配列を</a:t>
            </a:r>
            <a:r>
              <a:rPr lang="en-US" altLang="ja-JP" sz="2400" b="1" dirty="0" err="1">
                <a:solidFill>
                  <a:srgbClr val="0070C0"/>
                </a:solidFill>
              </a:rPr>
              <a:t>nullptr</a:t>
            </a:r>
            <a:r>
              <a:rPr lang="ja-JP" altLang="en-US" sz="2400" dirty="0"/>
              <a:t>で初期化しましょう。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FFA449-B660-40EE-9967-79D2551A1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5"/>
            <a:ext cx="6963558" cy="291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4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58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Init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で各ブロックを生成します。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C7F370-8514-40C7-B9F9-735472676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539267" cy="28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8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ロード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34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続いてロード処理になりますが、その前に</a:t>
            </a:r>
            <a:r>
              <a:rPr kumimoji="1" lang="en-US" altLang="ja-JP" sz="2400" dirty="0"/>
              <a:t>2D</a:t>
            </a:r>
            <a:r>
              <a:rPr kumimoji="1" lang="ja-JP" altLang="en-US" sz="2400" dirty="0"/>
              <a:t>の描画について復習します。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2D</a:t>
            </a:r>
            <a:r>
              <a:rPr lang="ja-JP" altLang="en-US" sz="2400" dirty="0"/>
              <a:t>画像を複数描画する場合は、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DrawGraph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を何度も呼ぶだけで良かったと思います。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001821B-C04C-45AA-821C-75022EB90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925789"/>
            <a:ext cx="6653909" cy="344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ロード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このとき、引数の画像ハンドルは、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同じ画像ハンドル</a:t>
            </a:r>
            <a:r>
              <a:rPr kumimoji="1" lang="ja-JP" altLang="en-US" sz="2400" dirty="0"/>
              <a:t>で問題ありませんでした。</a:t>
            </a:r>
            <a:endParaRPr kumimoji="1" lang="en-US" altLang="ja-JP" sz="2400" dirty="0"/>
          </a:p>
          <a:p>
            <a:r>
              <a:rPr lang="ja-JP" altLang="en-US" sz="2400" dirty="0"/>
              <a:t>これは</a:t>
            </a:r>
            <a:r>
              <a:rPr lang="en-US" altLang="ja-JP" sz="2400" b="1" dirty="0" err="1">
                <a:solidFill>
                  <a:srgbClr val="FF0000"/>
                </a:solidFill>
              </a:rPr>
              <a:t>DrawGraph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が、画像ハンドルに対応した画像を、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画面に直接描画</a:t>
            </a:r>
            <a:r>
              <a:rPr lang="ja-JP" altLang="en-US" sz="2400" dirty="0"/>
              <a:t>しているからです。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721B8C0-12E7-4898-B3C0-74D1BE76B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925789"/>
            <a:ext cx="6653909" cy="344025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FFD049-B147-4295-BB29-FC122A64D069}"/>
              </a:ext>
            </a:extLst>
          </p:cNvPr>
          <p:cNvSpPr txBox="1"/>
          <p:nvPr/>
        </p:nvSpPr>
        <p:spPr>
          <a:xfrm>
            <a:off x="2458123" y="5610707"/>
            <a:ext cx="374173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8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つとも同じ画像ハンドル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92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ロード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8170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3D</a:t>
            </a:r>
            <a:r>
              <a:rPr lang="ja-JP" altLang="en-US" sz="2400" b="1" dirty="0">
                <a:solidFill>
                  <a:srgbClr val="FF0000"/>
                </a:solidFill>
              </a:rPr>
              <a:t>の画像は</a:t>
            </a:r>
            <a:r>
              <a:rPr lang="en-US" altLang="ja-JP" sz="2400" b="1" dirty="0">
                <a:solidFill>
                  <a:srgbClr val="FF0000"/>
                </a:solidFill>
              </a:rPr>
              <a:t>2D</a:t>
            </a:r>
            <a:r>
              <a:rPr lang="ja-JP" altLang="en-US" sz="2400" b="1" dirty="0">
                <a:solidFill>
                  <a:srgbClr val="FF0000"/>
                </a:solidFill>
              </a:rPr>
              <a:t>の画像よりも情報量が非常に多く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kumimoji="1" lang="en-US" altLang="ja-JP" sz="2400" dirty="0"/>
              <a:t>1</a:t>
            </a:r>
            <a:r>
              <a:rPr kumimoji="1" lang="ja-JP" altLang="en-US" sz="2400" dirty="0"/>
              <a:t>つの画像データを使いまわそうとすると、不具合が発生したり、</a:t>
            </a:r>
            <a:endParaRPr kumimoji="1" lang="en-US" altLang="ja-JP" sz="2400" dirty="0"/>
          </a:p>
          <a:p>
            <a:r>
              <a:rPr lang="ja-JP" altLang="en-US" sz="2400" dirty="0"/>
              <a:t>それを防ぐための処理が必要だったりと、大変です。</a:t>
            </a:r>
            <a:endParaRPr lang="en-US" altLang="ja-JP" sz="2400" dirty="0"/>
          </a:p>
          <a:p>
            <a:r>
              <a:rPr kumimoji="1" lang="ja-JP" altLang="en-US" sz="2400" dirty="0"/>
              <a:t>（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DxLib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も推奨していません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よって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画像は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つずつロード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13127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ロード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03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Block.cpp</a:t>
            </a:r>
            <a:r>
              <a:rPr lang="ja-JP" altLang="en-US" sz="2400" dirty="0"/>
              <a:t>のロード関数にロード処理を書きます。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9462DD-68A9-49AF-A333-B9B1B079A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193553" cy="180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374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ロード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48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BlockManager.cpp</a:t>
            </a:r>
            <a:r>
              <a:rPr lang="ja-JP" altLang="en-US" sz="2400" dirty="0"/>
              <a:t>側から各ブロックのロード処理を呼びましょう。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9F2C7FF-BCA4-4801-A350-5BDE37792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483742" cy="23859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CBDAE3D-54E5-46B0-8115-23259695C4C3}"/>
              </a:ext>
            </a:extLst>
          </p:cNvPr>
          <p:cNvSpPr txBox="1"/>
          <p:nvPr/>
        </p:nvSpPr>
        <p:spPr>
          <a:xfrm>
            <a:off x="567542" y="4343400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これですべてのブロックの画像は１つずつロードされ、</a:t>
            </a:r>
            <a:endParaRPr lang="en-US" altLang="ja-JP" sz="2400" dirty="0"/>
          </a:p>
          <a:p>
            <a:r>
              <a:rPr lang="ja-JP" altLang="en-US" sz="2400" dirty="0"/>
              <a:t>別々の画像ハンドルが設定されます。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9084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BlockManager</a:t>
            </a:r>
            <a:r>
              <a:rPr lang="ja-JP" altLang="en-US" sz="2400" dirty="0"/>
              <a:t>の残りの関数も完成させましょう。（その１）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EFE4406-D534-4BF2-BA78-FD82EC9D1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911511" cy="42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8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BlockManager</a:t>
            </a:r>
            <a:r>
              <a:rPr lang="ja-JP" altLang="en-US" sz="2400" dirty="0"/>
              <a:t>の残りの関数も完成させましょう。（その２）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7564FA-4A65-4147-9DB0-35750CD48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5"/>
            <a:ext cx="4537858" cy="467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83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5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BlockManager</a:t>
            </a:r>
            <a:r>
              <a:rPr lang="ja-JP" altLang="en-US" sz="2400" dirty="0"/>
              <a:t>の残りの関数も完成させましょう。（その３）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51B1831-C54C-43C9-ACA1-3D784AC57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065478" cy="263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40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の呼び出し側はこれまで通りです。（書くのは省略）</a:t>
            </a:r>
            <a:endParaRPr lang="en-US" altLang="ja-JP" sz="2400" dirty="0"/>
          </a:p>
          <a:p>
            <a:r>
              <a:rPr lang="ja-JP" altLang="en-US" sz="2400" dirty="0"/>
              <a:t>呼び出し側を考慮しなくて良いのがマネージャークラスの利点でもあります。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66C132-D169-4DE1-A313-A86EB7EE5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415731"/>
            <a:ext cx="10584618" cy="239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9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63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ブロックが４つ表示されていれば</a:t>
            </a:r>
            <a:r>
              <a:rPr lang="en-US" altLang="ja-JP" sz="2400" dirty="0"/>
              <a:t>OK</a:t>
            </a:r>
            <a:r>
              <a:rPr lang="ja-JP" altLang="en-US" sz="2400" dirty="0"/>
              <a:t>です！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E9301F6-67D8-4133-928C-08D904C38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73542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32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今回のプログラムで問題点が１つあります。</a:t>
            </a:r>
            <a:endParaRPr lang="en-US" altLang="ja-JP" sz="2400" dirty="0"/>
          </a:p>
          <a:p>
            <a:r>
              <a:rPr lang="ja-JP" altLang="en-US" sz="2400" dirty="0"/>
              <a:t>それは、</a:t>
            </a:r>
            <a:r>
              <a:rPr lang="ja-JP" altLang="en-US" sz="2400" b="1" dirty="0">
                <a:solidFill>
                  <a:srgbClr val="FF0000"/>
                </a:solidFill>
              </a:rPr>
              <a:t>同じ画像を４つロードしている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66097B0-295D-4F24-B40F-5EF2CAD77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115832"/>
            <a:ext cx="7483742" cy="238590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3340FC7D-F54A-42C5-824A-9AF6C259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187126"/>
            <a:ext cx="9770528" cy="17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25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ロード処理は処理の中でも非常に重い処理になります。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AB42B7-0F39-4A2C-808A-33BAAEA39C08}"/>
              </a:ext>
            </a:extLst>
          </p:cNvPr>
          <p:cNvGrpSpPr/>
          <p:nvPr/>
        </p:nvGrpSpPr>
        <p:grpSpPr>
          <a:xfrm>
            <a:off x="567542" y="2258906"/>
            <a:ext cx="11251131" cy="4291804"/>
            <a:chOff x="567542" y="2258906"/>
            <a:chExt cx="11251131" cy="4291804"/>
          </a:xfrm>
        </p:grpSpPr>
        <p:sp>
          <p:nvSpPr>
            <p:cNvPr id="2" name="円: 塗りつぶしなし 1">
              <a:extLst>
                <a:ext uri="{FF2B5EF4-FFF2-40B4-BE49-F238E27FC236}">
                  <a16:creationId xmlns:a16="http://schemas.microsoft.com/office/drawing/2014/main" id="{75E31BA1-0E5D-4C87-8A0B-E70F4AAAFC5C}"/>
                </a:ext>
              </a:extLst>
            </p:cNvPr>
            <p:cNvSpPr/>
            <p:nvPr/>
          </p:nvSpPr>
          <p:spPr>
            <a:xfrm>
              <a:off x="567542" y="2258906"/>
              <a:ext cx="3458358" cy="3382665"/>
            </a:xfrm>
            <a:prstGeom prst="donut">
              <a:avLst>
                <a:gd name="adj" fmla="val 38892"/>
              </a:avLst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A7B186A-D6C7-4599-A888-B731E1BC4380}"/>
                </a:ext>
              </a:extLst>
            </p:cNvPr>
            <p:cNvSpPr txBox="1"/>
            <p:nvPr/>
          </p:nvSpPr>
          <p:spPr>
            <a:xfrm>
              <a:off x="1127170" y="5904378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ファイルを探す</a:t>
              </a:r>
              <a:endParaRPr lang="en-US" altLang="ja-JP" sz="2400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13BC1684-5942-46EB-B752-2C784C85AF3D}"/>
                </a:ext>
              </a:extLst>
            </p:cNvPr>
            <p:cNvSpPr txBox="1"/>
            <p:nvPr/>
          </p:nvSpPr>
          <p:spPr>
            <a:xfrm>
              <a:off x="937260" y="4518907"/>
              <a:ext cx="1199367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2400" dirty="0" err="1"/>
                <a:t>Block.x</a:t>
              </a:r>
              <a:endParaRPr lang="en-US" altLang="ja-JP" sz="2400" dirty="0"/>
            </a:p>
          </p:txBody>
        </p: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3CD015B2-C038-40E4-9093-DAF883F5B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1062" y="2606199"/>
              <a:ext cx="1629875" cy="2688078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13FD34E-5E75-4AA2-A13C-D65A6A984E8E}"/>
                </a:ext>
              </a:extLst>
            </p:cNvPr>
            <p:cNvSpPr txBox="1"/>
            <p:nvPr/>
          </p:nvSpPr>
          <p:spPr>
            <a:xfrm>
              <a:off x="5083188" y="5904380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ファイルを開く</a:t>
              </a:r>
              <a:endParaRPr lang="en-US" altLang="ja-JP" sz="2400" dirty="0"/>
            </a:p>
          </p:txBody>
        </p:sp>
        <p:sp>
          <p:nvSpPr>
            <p:cNvPr id="12" name="直方体 11">
              <a:extLst>
                <a:ext uri="{FF2B5EF4-FFF2-40B4-BE49-F238E27FC236}">
                  <a16:creationId xmlns:a16="http://schemas.microsoft.com/office/drawing/2014/main" id="{2A14356C-F88B-4FFB-B058-BA717B0C49E0}"/>
                </a:ext>
              </a:extLst>
            </p:cNvPr>
            <p:cNvSpPr/>
            <p:nvPr/>
          </p:nvSpPr>
          <p:spPr>
            <a:xfrm>
              <a:off x="9309100" y="3626387"/>
              <a:ext cx="1054100" cy="983976"/>
            </a:xfrm>
            <a:prstGeom prst="cub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CC54451-38D1-4F07-B54C-D9375114CDF1}"/>
                </a:ext>
              </a:extLst>
            </p:cNvPr>
            <p:cNvSpPr txBox="1"/>
            <p:nvPr/>
          </p:nvSpPr>
          <p:spPr>
            <a:xfrm>
              <a:off x="7940688" y="5719713"/>
              <a:ext cx="38779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メモリに保存して</a:t>
              </a:r>
              <a:endParaRPr lang="en-US" altLang="ja-JP" sz="2400" dirty="0"/>
            </a:p>
            <a:p>
              <a:r>
                <a:rPr lang="ja-JP" altLang="en-US" sz="2400" dirty="0"/>
                <a:t>ゲームで使える状態にする</a:t>
              </a:r>
              <a:endParaRPr lang="en-US" altLang="ja-JP" sz="2400" dirty="0"/>
            </a:p>
          </p:txBody>
        </p:sp>
        <p:sp>
          <p:nvSpPr>
            <p:cNvPr id="14" name="矢印: 右 13">
              <a:extLst>
                <a:ext uri="{FF2B5EF4-FFF2-40B4-BE49-F238E27FC236}">
                  <a16:creationId xmlns:a16="http://schemas.microsoft.com/office/drawing/2014/main" id="{023194FD-1147-4FCF-B000-8B79A45B83A9}"/>
                </a:ext>
              </a:extLst>
            </p:cNvPr>
            <p:cNvSpPr/>
            <p:nvPr/>
          </p:nvSpPr>
          <p:spPr>
            <a:xfrm>
              <a:off x="4203700" y="3568700"/>
              <a:ext cx="879488" cy="647700"/>
            </a:xfrm>
            <a:prstGeom prst="rightArrow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矢印: 右 14">
              <a:extLst>
                <a:ext uri="{FF2B5EF4-FFF2-40B4-BE49-F238E27FC236}">
                  <a16:creationId xmlns:a16="http://schemas.microsoft.com/office/drawing/2014/main" id="{BC0B8667-2645-4C28-844D-925E5CC11659}"/>
                </a:ext>
              </a:extLst>
            </p:cNvPr>
            <p:cNvSpPr/>
            <p:nvPr/>
          </p:nvSpPr>
          <p:spPr>
            <a:xfrm>
              <a:off x="7301974" y="3626387"/>
              <a:ext cx="879488" cy="647700"/>
            </a:xfrm>
            <a:prstGeom prst="rightArrow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円柱 15">
              <a:extLst>
                <a:ext uri="{FF2B5EF4-FFF2-40B4-BE49-F238E27FC236}">
                  <a16:creationId xmlns:a16="http://schemas.microsoft.com/office/drawing/2014/main" id="{9AAC01AD-4464-44AA-910E-654BF4B08FBE}"/>
                </a:ext>
              </a:extLst>
            </p:cNvPr>
            <p:cNvSpPr/>
            <p:nvPr/>
          </p:nvSpPr>
          <p:spPr>
            <a:xfrm>
              <a:off x="8572499" y="2438400"/>
              <a:ext cx="2593340" cy="2855877"/>
            </a:xfrm>
            <a:prstGeom prst="ca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4697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同じ画像が複数必要な場合は、</a:t>
            </a:r>
            <a:endParaRPr lang="en-US" altLang="ja-JP" sz="2400" dirty="0"/>
          </a:p>
          <a:p>
            <a:r>
              <a:rPr lang="ja-JP" altLang="en-US" sz="2400" dirty="0"/>
              <a:t>１度だけロードして、その後はコピーすると効率が良いです。</a:t>
            </a:r>
            <a:endParaRPr lang="en-US" altLang="ja-JP" sz="2400" dirty="0"/>
          </a:p>
        </p:txBody>
      </p:sp>
      <p:sp>
        <p:nvSpPr>
          <p:cNvPr id="29" name="直方体 28">
            <a:extLst>
              <a:ext uri="{FF2B5EF4-FFF2-40B4-BE49-F238E27FC236}">
                <a16:creationId xmlns:a16="http://schemas.microsoft.com/office/drawing/2014/main" id="{B71D7A3B-C72B-4E32-8A82-C0900EE8AA85}"/>
              </a:ext>
            </a:extLst>
          </p:cNvPr>
          <p:cNvSpPr/>
          <p:nvPr/>
        </p:nvSpPr>
        <p:spPr>
          <a:xfrm>
            <a:off x="1543151" y="3397546"/>
            <a:ext cx="1054100" cy="98397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856E0899-A956-4C92-838F-1D21DE092963}"/>
              </a:ext>
            </a:extLst>
          </p:cNvPr>
          <p:cNvSpPr/>
          <p:nvPr/>
        </p:nvSpPr>
        <p:spPr>
          <a:xfrm>
            <a:off x="806550" y="2209559"/>
            <a:ext cx="2593340" cy="2855877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1858A99-8ACD-4111-947B-0E528C87F301}"/>
              </a:ext>
            </a:extLst>
          </p:cNvPr>
          <p:cNvSpPr txBox="1"/>
          <p:nvPr/>
        </p:nvSpPr>
        <p:spPr>
          <a:xfrm>
            <a:off x="567542" y="517990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１度ロードして。。。</a:t>
            </a:r>
            <a:endParaRPr lang="en-US" altLang="ja-JP" sz="2400" dirty="0"/>
          </a:p>
        </p:txBody>
      </p:sp>
      <p:sp>
        <p:nvSpPr>
          <p:cNvPr id="32" name="直方体 31">
            <a:extLst>
              <a:ext uri="{FF2B5EF4-FFF2-40B4-BE49-F238E27FC236}">
                <a16:creationId xmlns:a16="http://schemas.microsoft.com/office/drawing/2014/main" id="{D7A13C9A-D116-47FB-B317-D1F7D52456CB}"/>
              </a:ext>
            </a:extLst>
          </p:cNvPr>
          <p:cNvSpPr/>
          <p:nvPr/>
        </p:nvSpPr>
        <p:spPr>
          <a:xfrm>
            <a:off x="6335008" y="3192017"/>
            <a:ext cx="461157" cy="4110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円柱 32">
            <a:extLst>
              <a:ext uri="{FF2B5EF4-FFF2-40B4-BE49-F238E27FC236}">
                <a16:creationId xmlns:a16="http://schemas.microsoft.com/office/drawing/2014/main" id="{2C07F27A-4C32-478E-856F-80D889F69BB5}"/>
              </a:ext>
            </a:extLst>
          </p:cNvPr>
          <p:cNvSpPr/>
          <p:nvPr/>
        </p:nvSpPr>
        <p:spPr>
          <a:xfrm>
            <a:off x="6077050" y="2209559"/>
            <a:ext cx="2593340" cy="2855877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方体 33">
            <a:extLst>
              <a:ext uri="{FF2B5EF4-FFF2-40B4-BE49-F238E27FC236}">
                <a16:creationId xmlns:a16="http://schemas.microsoft.com/office/drawing/2014/main" id="{F08B3BE9-485B-41B8-8527-5372EA142EB7}"/>
              </a:ext>
            </a:extLst>
          </p:cNvPr>
          <p:cNvSpPr/>
          <p:nvPr/>
        </p:nvSpPr>
        <p:spPr>
          <a:xfrm>
            <a:off x="6954620" y="3192016"/>
            <a:ext cx="461157" cy="4110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直方体 34">
            <a:extLst>
              <a:ext uri="{FF2B5EF4-FFF2-40B4-BE49-F238E27FC236}">
                <a16:creationId xmlns:a16="http://schemas.microsoft.com/office/drawing/2014/main" id="{709A6337-DA30-4F7E-BF00-58FB807AC70F}"/>
              </a:ext>
            </a:extLst>
          </p:cNvPr>
          <p:cNvSpPr/>
          <p:nvPr/>
        </p:nvSpPr>
        <p:spPr>
          <a:xfrm>
            <a:off x="7673735" y="3189248"/>
            <a:ext cx="461157" cy="4110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6" name="直方体 35">
            <a:extLst>
              <a:ext uri="{FF2B5EF4-FFF2-40B4-BE49-F238E27FC236}">
                <a16:creationId xmlns:a16="http://schemas.microsoft.com/office/drawing/2014/main" id="{11CC015A-DF18-4003-B919-5340E4D1DD58}"/>
              </a:ext>
            </a:extLst>
          </p:cNvPr>
          <p:cNvSpPr/>
          <p:nvPr/>
        </p:nvSpPr>
        <p:spPr>
          <a:xfrm>
            <a:off x="6335008" y="3889534"/>
            <a:ext cx="461157" cy="4110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直方体 36">
            <a:extLst>
              <a:ext uri="{FF2B5EF4-FFF2-40B4-BE49-F238E27FC236}">
                <a16:creationId xmlns:a16="http://schemas.microsoft.com/office/drawing/2014/main" id="{66E75F4B-AAFB-43E5-BFF3-A70EFA3DEC52}"/>
              </a:ext>
            </a:extLst>
          </p:cNvPr>
          <p:cNvSpPr/>
          <p:nvPr/>
        </p:nvSpPr>
        <p:spPr>
          <a:xfrm>
            <a:off x="7007400" y="3889534"/>
            <a:ext cx="461157" cy="4110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直方体 37">
            <a:extLst>
              <a:ext uri="{FF2B5EF4-FFF2-40B4-BE49-F238E27FC236}">
                <a16:creationId xmlns:a16="http://schemas.microsoft.com/office/drawing/2014/main" id="{B97CB423-24CD-461A-B596-438D5FB74BEE}"/>
              </a:ext>
            </a:extLst>
          </p:cNvPr>
          <p:cNvSpPr/>
          <p:nvPr/>
        </p:nvSpPr>
        <p:spPr>
          <a:xfrm>
            <a:off x="7677693" y="3889534"/>
            <a:ext cx="461157" cy="411057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86CCD8B-1CE2-4033-B407-543BFD007636}"/>
              </a:ext>
            </a:extLst>
          </p:cNvPr>
          <p:cNvSpPr txBox="1"/>
          <p:nvPr/>
        </p:nvSpPr>
        <p:spPr>
          <a:xfrm>
            <a:off x="6096000" y="517990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あとはコピーする</a:t>
            </a:r>
            <a:endParaRPr lang="en-US" altLang="ja-JP" sz="2400" dirty="0"/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19AC3BDC-F1BB-461D-B266-5A272E3B4D0C}"/>
              </a:ext>
            </a:extLst>
          </p:cNvPr>
          <p:cNvSpPr/>
          <p:nvPr/>
        </p:nvSpPr>
        <p:spPr>
          <a:xfrm>
            <a:off x="3696747" y="3105150"/>
            <a:ext cx="2221848" cy="647700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452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350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にはそのコピーする関数があります。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D4D1BF9-AF11-4F06-A772-39A6A1140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10392165" cy="294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28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ロード処理を修正します。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ロードは１度だけ</a:t>
            </a:r>
            <a:r>
              <a:rPr lang="ja-JP" altLang="en-US" sz="2400" dirty="0"/>
              <a:t>行うので、今回はマネージャークラスで行います。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BlockManager</a:t>
            </a:r>
            <a:r>
              <a:rPr lang="ja-JP" altLang="en-US" sz="2400" dirty="0"/>
              <a:t>にメンバ変数を追加しましょう。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CF9FAB3-4E0A-4BFB-B86A-52ED6507C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9800012" cy="252354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596066-9FE9-4973-8726-2ED0299E1E79}"/>
              </a:ext>
            </a:extLst>
          </p:cNvPr>
          <p:cNvSpPr/>
          <p:nvPr/>
        </p:nvSpPr>
        <p:spPr>
          <a:xfrm>
            <a:off x="2463800" y="3429000"/>
            <a:ext cx="7226300" cy="1295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A5F0AF-44F9-4538-8B2B-D45ECB1C2E33}"/>
              </a:ext>
            </a:extLst>
          </p:cNvPr>
          <p:cNvSpPr txBox="1"/>
          <p:nvPr/>
        </p:nvSpPr>
        <p:spPr>
          <a:xfrm>
            <a:off x="567541" y="5219700"/>
            <a:ext cx="7398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m_Handle</a:t>
            </a:r>
            <a:r>
              <a:rPr lang="ja-JP" altLang="en-US" sz="2400" dirty="0"/>
              <a:t>はコンストラクタで</a:t>
            </a:r>
            <a:r>
              <a:rPr lang="en-US" altLang="ja-JP" sz="2400" dirty="0"/>
              <a:t>0</a:t>
            </a:r>
            <a:r>
              <a:rPr lang="ja-JP" altLang="en-US" sz="2400" dirty="0"/>
              <a:t>初期化しましょう。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31176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82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BlockManager</a:t>
            </a:r>
            <a:r>
              <a:rPr lang="ja-JP" altLang="en-US" sz="2400" dirty="0"/>
              <a:t>のロード関数でモデルをロードします。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1DE565B-D5AE-49E3-98E0-00EDABAD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279162" cy="19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3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551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Block</a:t>
            </a:r>
            <a:r>
              <a:rPr lang="ja-JP" altLang="en-US" sz="2400" dirty="0"/>
              <a:t>側は画像ハンドルを受け取る形でロードしましょう。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Load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に引数を追加して処理を書きましょう。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CBD363C-2D7A-4273-A1DB-C8B2E5134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10041952" cy="219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87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3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BlockManager</a:t>
            </a:r>
            <a:r>
              <a:rPr lang="ja-JP" altLang="en-US" sz="2400" dirty="0"/>
              <a:t>のロード関数を修正します。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F40CEE0-C1C3-41EC-887A-0D75C37ED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8258137" cy="37067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10BEA6-1E28-4AA1-9EBF-1FB2781E646F}"/>
              </a:ext>
            </a:extLst>
          </p:cNvPr>
          <p:cNvSpPr/>
          <p:nvPr/>
        </p:nvSpPr>
        <p:spPr>
          <a:xfrm>
            <a:off x="2197100" y="3429000"/>
            <a:ext cx="5575300" cy="1892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103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問題点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後始末も忘れずに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7DBBBD1-B775-488F-8645-2C080A3F8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905276" cy="3122506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45E2CD-E90C-429A-9F03-189E7F56F0F6}"/>
              </a:ext>
            </a:extLst>
          </p:cNvPr>
          <p:cNvSpPr/>
          <p:nvPr/>
        </p:nvSpPr>
        <p:spPr>
          <a:xfrm>
            <a:off x="2298700" y="2247900"/>
            <a:ext cx="5295900" cy="863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39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実行して確認しましょう。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E9301F6-67D8-4133-928C-08D904C38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73542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768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オブジェクトの複数配置 演習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プログラムを解析して、ブロックを６つに増やしましょう。</a:t>
            </a:r>
            <a:endParaRPr lang="en-US" altLang="ja-JP" sz="2400" dirty="0"/>
          </a:p>
          <a:p>
            <a:r>
              <a:rPr lang="ja-JP" altLang="en-US" sz="2400" dirty="0"/>
              <a:t>必ず</a:t>
            </a:r>
            <a:r>
              <a:rPr lang="ja-JP" altLang="en-US" sz="2400" b="1" dirty="0">
                <a:solidFill>
                  <a:srgbClr val="FF0000"/>
                </a:solidFill>
              </a:rPr>
              <a:t>カメラに映る位置</a:t>
            </a:r>
            <a:r>
              <a:rPr lang="ja-JP" altLang="en-US" sz="2400" dirty="0"/>
              <a:t>に表示してください。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2062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704</Words>
  <Application>Microsoft Office PowerPoint</Application>
  <PresentationFormat>ワイド画面</PresentationFormat>
  <Paragraphs>85</Paragraphs>
  <Slides>26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48</cp:revision>
  <dcterms:created xsi:type="dcterms:W3CDTF">2024-08-27T02:15:54Z</dcterms:created>
  <dcterms:modified xsi:type="dcterms:W3CDTF">2025-04-07T06:57:12Z</dcterms:modified>
</cp:coreProperties>
</file>