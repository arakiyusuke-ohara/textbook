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4" r:id="rId8"/>
    <p:sldId id="263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6462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前回はプレイヤーやカメラなど、</a:t>
            </a:r>
            <a:r>
              <a:rPr kumimoji="1" lang="en-US" altLang="ja-JP" sz="2400" dirty="0"/>
              <a:t>1</a:t>
            </a:r>
            <a:r>
              <a:rPr kumimoji="1" lang="ja-JP" altLang="en-US" sz="2400" dirty="0"/>
              <a:t>つで良いオブジェクトについて学びました。</a:t>
            </a:r>
            <a:endParaRPr lang="en-US" altLang="ja-JP" sz="2400" dirty="0"/>
          </a:p>
          <a:p>
            <a:r>
              <a:rPr lang="ja-JP" altLang="en-US" sz="2400" dirty="0"/>
              <a:t>今回は</a:t>
            </a:r>
            <a:r>
              <a:rPr lang="ja-JP" altLang="en-US" sz="2400" b="1" dirty="0">
                <a:solidFill>
                  <a:srgbClr val="FF0000"/>
                </a:solidFill>
              </a:rPr>
              <a:t>敵や弾丸、ブロック</a:t>
            </a:r>
            <a:r>
              <a:rPr lang="ja-JP" altLang="en-US" sz="2400" dirty="0"/>
              <a:t>など、</a:t>
            </a:r>
            <a:r>
              <a:rPr lang="ja-JP" altLang="en-US" sz="2400" b="1" dirty="0">
                <a:solidFill>
                  <a:srgbClr val="FF0000"/>
                </a:solidFill>
              </a:rPr>
              <a:t>ゲーム中に複数存在するオブジェクト</a:t>
            </a:r>
            <a:r>
              <a:rPr lang="ja-JP" altLang="en-US" sz="2400" dirty="0"/>
              <a:t>について</a:t>
            </a:r>
            <a:endParaRPr lang="en-US" altLang="ja-JP" sz="2400" dirty="0"/>
          </a:p>
          <a:p>
            <a:r>
              <a:rPr lang="ja-JP" altLang="en-US" sz="2400" dirty="0"/>
              <a:t>学びます。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CE841F6-CBF0-437C-B467-A4F9236C65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416758"/>
            <a:ext cx="8100011" cy="4217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6738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ブロックを複数管理して配置まで実装します。</a:t>
            </a:r>
            <a:endParaRPr kumimoji="1" lang="en-US" altLang="ja-JP" sz="2400" dirty="0"/>
          </a:p>
          <a:p>
            <a:r>
              <a:rPr lang="ja-JP" altLang="en-US" sz="2400" dirty="0"/>
              <a:t>配布したプロジェクトの</a:t>
            </a:r>
            <a:r>
              <a:rPr lang="en-US" altLang="ja-JP" sz="2400" b="1" dirty="0" err="1">
                <a:solidFill>
                  <a:srgbClr val="FF0000"/>
                </a:solidFill>
              </a:rPr>
              <a:t>BlockManager.h</a:t>
            </a:r>
            <a:r>
              <a:rPr lang="ja-JP" altLang="en-US" sz="2400" dirty="0"/>
              <a:t>を開きましょう。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24B0C31-A85D-48A4-8AEE-C28C30CC38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2187126"/>
            <a:ext cx="5820558" cy="4310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63268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マネージャークラスの作りは基本的には同じです。</a:t>
            </a:r>
            <a:endParaRPr kumimoji="1" lang="en-US" altLang="ja-JP" sz="2400" dirty="0"/>
          </a:p>
          <a:p>
            <a:r>
              <a:rPr lang="ja-JP" altLang="en-US" sz="2400" dirty="0"/>
              <a:t>ただしオブジェクトを複数管理するため、</a:t>
            </a:r>
            <a:r>
              <a:rPr lang="ja-JP" altLang="en-US" sz="2400" b="1" dirty="0">
                <a:solidFill>
                  <a:srgbClr val="FF0000"/>
                </a:solidFill>
              </a:rPr>
              <a:t>管理用の変数を配列</a:t>
            </a:r>
            <a:r>
              <a:rPr lang="ja-JP" altLang="en-US" sz="2400" dirty="0"/>
              <a:t>にします。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9D977F1-497F-4615-B655-619104CD9F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9353981" cy="2118174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6AFB36D-9215-43FA-A289-50A2888E95BA}"/>
              </a:ext>
            </a:extLst>
          </p:cNvPr>
          <p:cNvSpPr/>
          <p:nvPr/>
        </p:nvSpPr>
        <p:spPr>
          <a:xfrm>
            <a:off x="2246663" y="3429000"/>
            <a:ext cx="7674859" cy="1193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53736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044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BlockManager.cpp</a:t>
            </a:r>
            <a:r>
              <a:rPr kumimoji="1" lang="ja-JP" altLang="en-US" sz="2400" dirty="0"/>
              <a:t>側に処理を書きます。</a:t>
            </a:r>
            <a:endParaRPr kumimoji="1" lang="en-US" altLang="ja-JP" sz="2400" dirty="0"/>
          </a:p>
          <a:p>
            <a:r>
              <a:rPr lang="ja-JP" altLang="en-US" sz="2400" dirty="0"/>
              <a:t>コンストラクタでは、配列を</a:t>
            </a:r>
            <a:r>
              <a:rPr lang="en-US" altLang="ja-JP" sz="2400" b="1" dirty="0" err="1">
                <a:solidFill>
                  <a:srgbClr val="0070C0"/>
                </a:solidFill>
              </a:rPr>
              <a:t>nullptr</a:t>
            </a:r>
            <a:r>
              <a:rPr lang="ja-JP" altLang="en-US" sz="2400" dirty="0"/>
              <a:t>で初期化しましょう。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1FFA449-B660-40EE-9967-79D2551A13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5"/>
            <a:ext cx="6963558" cy="2912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3046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2581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Init</a:t>
            </a:r>
            <a:r>
              <a:rPr kumimoji="1" lang="ja-JP" altLang="en-US" sz="2400" dirty="0"/>
              <a:t>関数で各ブロックを生成します。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9C7F370-8514-40C7-B9F9-7354726768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539267" cy="2817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5819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ロード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43426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続いてロード処理になりますが、その前に</a:t>
            </a:r>
            <a:r>
              <a:rPr kumimoji="1" lang="en-US" altLang="ja-JP" sz="2400" dirty="0"/>
              <a:t>2D</a:t>
            </a:r>
            <a:r>
              <a:rPr kumimoji="1" lang="ja-JP" altLang="en-US" sz="2400" dirty="0"/>
              <a:t>の描画について復習します。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lang="en-US" altLang="ja-JP" sz="2400" dirty="0"/>
              <a:t>2D</a:t>
            </a:r>
            <a:r>
              <a:rPr lang="ja-JP" altLang="en-US" sz="2400" dirty="0"/>
              <a:t>画像を複数描画する場合は、</a:t>
            </a:r>
            <a:endParaRPr lang="en-US" altLang="ja-JP" sz="2400" dirty="0"/>
          </a:p>
          <a:p>
            <a:r>
              <a:rPr lang="en-US" altLang="ja-JP" sz="2400" b="1" dirty="0" err="1">
                <a:solidFill>
                  <a:srgbClr val="FF0000"/>
                </a:solidFill>
              </a:rPr>
              <a:t>DrawGraph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r>
              <a:rPr lang="ja-JP" altLang="en-US" sz="2400" dirty="0"/>
              <a:t>を何度も呼ぶだけで良かったと思います。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001821B-C04C-45AA-821C-75022EB901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925789"/>
            <a:ext cx="6653909" cy="3440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066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ロード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6462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このとき、引数の画像ハンドルは、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同じ画像ハンドル</a:t>
            </a:r>
            <a:r>
              <a:rPr kumimoji="1" lang="ja-JP" altLang="en-US" sz="2400" dirty="0"/>
              <a:t>で問題ありませんでした。</a:t>
            </a:r>
            <a:endParaRPr kumimoji="1" lang="en-US" altLang="ja-JP" sz="2400" dirty="0"/>
          </a:p>
          <a:p>
            <a:r>
              <a:rPr lang="ja-JP" altLang="en-US" sz="2400" dirty="0"/>
              <a:t>これは</a:t>
            </a:r>
            <a:r>
              <a:rPr lang="en-US" altLang="ja-JP" sz="2400" b="1" dirty="0" err="1">
                <a:solidFill>
                  <a:srgbClr val="FF0000"/>
                </a:solidFill>
              </a:rPr>
              <a:t>DrawGraph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r>
              <a:rPr lang="ja-JP" altLang="en-US" sz="2400" dirty="0"/>
              <a:t>が、画像ハンドルに対応した画像を、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画面に直接描画</a:t>
            </a:r>
            <a:r>
              <a:rPr lang="ja-JP" altLang="en-US" sz="2400" dirty="0"/>
              <a:t>しているからです。（板にスタンプを押すイメージ）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721B8C0-12E7-4898-B3C0-74D1BE76B7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925789"/>
            <a:ext cx="6653909" cy="3440257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6FFD049-B147-4295-BB29-FC122A64D069}"/>
              </a:ext>
            </a:extLst>
          </p:cNvPr>
          <p:cNvSpPr txBox="1"/>
          <p:nvPr/>
        </p:nvSpPr>
        <p:spPr>
          <a:xfrm>
            <a:off x="2458123" y="5610707"/>
            <a:ext cx="3741730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8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つとも同じ画像ハンドル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60928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ロード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357596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続いて</a:t>
            </a:r>
            <a:r>
              <a:rPr kumimoji="1" lang="en-US" altLang="ja-JP" sz="2400" dirty="0"/>
              <a:t>3D</a:t>
            </a:r>
            <a:r>
              <a:rPr kumimoji="1" lang="ja-JP" altLang="en-US" sz="2400" dirty="0"/>
              <a:t>の描画を振り返ってみましょう。</a:t>
            </a:r>
            <a:endParaRPr lang="en-US" altLang="ja-JP" sz="2400" dirty="0"/>
          </a:p>
          <a:p>
            <a:r>
              <a:rPr lang="ja-JP" altLang="en-US" sz="2400" dirty="0"/>
              <a:t>モデルについては以下の関数を呼び、描画しています。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kumimoji="1" lang="en-US" altLang="ja-JP" sz="2400" dirty="0"/>
              <a:t>MV1SetPosition(int 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handle</a:t>
            </a:r>
            <a:r>
              <a:rPr kumimoji="1" lang="en-US" altLang="ja-JP" sz="2400" dirty="0"/>
              <a:t>, VECTOR position);</a:t>
            </a:r>
          </a:p>
          <a:p>
            <a:r>
              <a:rPr kumimoji="1" lang="en-US" altLang="ja-JP" sz="2400" dirty="0"/>
              <a:t>MV1SetRotationXYZ(int 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handle</a:t>
            </a:r>
            <a:r>
              <a:rPr kumimoji="1" lang="en-US" altLang="ja-JP" sz="2400" dirty="0"/>
              <a:t>, VECTOR rotation);</a:t>
            </a:r>
          </a:p>
          <a:p>
            <a:r>
              <a:rPr lang="en-US" altLang="ja-JP" sz="2400" dirty="0"/>
              <a:t>MV1SetScale(int 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handle</a:t>
            </a:r>
            <a:r>
              <a:rPr lang="en-US" altLang="ja-JP" sz="2400" dirty="0"/>
              <a:t>, VECTOR scale);</a:t>
            </a:r>
          </a:p>
          <a:p>
            <a:r>
              <a:rPr kumimoji="1" lang="en-US" altLang="ja-JP" sz="2400" dirty="0"/>
              <a:t>MV</a:t>
            </a:r>
            <a:r>
              <a:rPr lang="en-US" altLang="ja-JP" sz="2400" dirty="0"/>
              <a:t>1DrawModel(int 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handle</a:t>
            </a:r>
            <a:r>
              <a:rPr lang="en-US" altLang="ja-JP" sz="2400" dirty="0"/>
              <a:t>);</a:t>
            </a:r>
          </a:p>
          <a:p>
            <a:endParaRPr kumimoji="1" lang="en-US" altLang="ja-JP" sz="2400" dirty="0"/>
          </a:p>
          <a:p>
            <a:r>
              <a:rPr lang="en-US" altLang="ja-JP" sz="2400" dirty="0"/>
              <a:t>2D</a:t>
            </a:r>
            <a:r>
              <a:rPr lang="ja-JP" altLang="en-US" sz="2400" dirty="0"/>
              <a:t>との違いは、</a:t>
            </a:r>
            <a:r>
              <a:rPr lang="ja-JP" altLang="en-US" sz="2400" b="1" dirty="0">
                <a:solidFill>
                  <a:srgbClr val="FF0000"/>
                </a:solidFill>
              </a:rPr>
              <a:t>位置、回転、拡縮、描画が別々の関数</a:t>
            </a:r>
            <a:r>
              <a:rPr lang="ja-JP" altLang="en-US" sz="2400" dirty="0"/>
              <a:t>に分かれていることです。</a:t>
            </a:r>
            <a:endParaRPr lang="en-US" altLang="ja-JP" sz="2400" dirty="0"/>
          </a:p>
          <a:p>
            <a:r>
              <a:rPr kumimoji="1" lang="ja-JP" altLang="en-US" sz="2400" dirty="0"/>
              <a:t>そして、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それぞれの関数に画像ハンドルが必要</a:t>
            </a:r>
            <a:r>
              <a:rPr kumimoji="1" lang="ja-JP" altLang="en-US" sz="2400" dirty="0"/>
              <a:t>になります。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2131277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直方体 4">
            <a:extLst>
              <a:ext uri="{FF2B5EF4-FFF2-40B4-BE49-F238E27FC236}">
                <a16:creationId xmlns:a16="http://schemas.microsoft.com/office/drawing/2014/main" id="{395755B8-E8CE-4726-BC2D-35C66DCCDE3C}"/>
              </a:ext>
            </a:extLst>
          </p:cNvPr>
          <p:cNvSpPr/>
          <p:nvPr/>
        </p:nvSpPr>
        <p:spPr>
          <a:xfrm rot="3202373">
            <a:off x="3096604" y="3792425"/>
            <a:ext cx="988722" cy="8904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ロード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357596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これは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MV1DrawModel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関数が直接画面に描いていない</a:t>
            </a:r>
            <a:r>
              <a:rPr kumimoji="1" lang="ja-JP" altLang="en-US" sz="2400" dirty="0"/>
              <a:t>ため、</a:t>
            </a:r>
            <a:endParaRPr kumimoji="1" lang="en-US" altLang="ja-JP" sz="2400" dirty="0"/>
          </a:p>
          <a:p>
            <a:r>
              <a:rPr lang="ja-JP" altLang="en-US" sz="2400" dirty="0"/>
              <a:t>このような仕様になっています。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en-US" altLang="ja-JP" sz="2400" dirty="0"/>
              <a:t>3D</a:t>
            </a:r>
            <a:r>
              <a:rPr lang="ja-JP" altLang="en-US" sz="2400" dirty="0"/>
              <a:t>の描画は、まず画像の</a:t>
            </a:r>
            <a:r>
              <a:rPr lang="ja-JP" altLang="en-US" sz="2400" b="1" dirty="0">
                <a:solidFill>
                  <a:srgbClr val="FF0000"/>
                </a:solidFill>
              </a:rPr>
              <a:t>位置や回転、拡縮を決め、仮想の空間に配置</a:t>
            </a:r>
            <a:r>
              <a:rPr lang="ja-JP" altLang="en-US" sz="2400" dirty="0"/>
              <a:t>します。</a:t>
            </a:r>
            <a:endParaRPr lang="en-US" altLang="ja-JP" sz="2400" dirty="0"/>
          </a:p>
          <a:p>
            <a:r>
              <a:rPr lang="ja-JP" altLang="en-US" sz="2400" dirty="0"/>
              <a:t>配置するだけで、</a:t>
            </a:r>
            <a:r>
              <a:rPr lang="ja-JP" altLang="en-US" sz="2400" b="1" dirty="0">
                <a:solidFill>
                  <a:srgbClr val="FF0000"/>
                </a:solidFill>
              </a:rPr>
              <a:t>まだ描画はしません。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sp>
        <p:nvSpPr>
          <p:cNvPr id="2" name="直方体 1">
            <a:extLst>
              <a:ext uri="{FF2B5EF4-FFF2-40B4-BE49-F238E27FC236}">
                <a16:creationId xmlns:a16="http://schemas.microsoft.com/office/drawing/2014/main" id="{80291F9A-27BD-4701-9276-EBF199C18DDD}"/>
              </a:ext>
            </a:extLst>
          </p:cNvPr>
          <p:cNvSpPr/>
          <p:nvPr/>
        </p:nvSpPr>
        <p:spPr>
          <a:xfrm>
            <a:off x="2527300" y="4635500"/>
            <a:ext cx="1841500" cy="1828800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直方体 6">
            <a:extLst>
              <a:ext uri="{FF2B5EF4-FFF2-40B4-BE49-F238E27FC236}">
                <a16:creationId xmlns:a16="http://schemas.microsoft.com/office/drawing/2014/main" id="{636436CF-AAEB-47CF-9491-2E9FDE038B03}"/>
              </a:ext>
            </a:extLst>
          </p:cNvPr>
          <p:cNvSpPr/>
          <p:nvPr/>
        </p:nvSpPr>
        <p:spPr>
          <a:xfrm rot="1748454">
            <a:off x="1479287" y="3684562"/>
            <a:ext cx="917453" cy="774700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31003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直方体 4">
            <a:extLst>
              <a:ext uri="{FF2B5EF4-FFF2-40B4-BE49-F238E27FC236}">
                <a16:creationId xmlns:a16="http://schemas.microsoft.com/office/drawing/2014/main" id="{395755B8-E8CE-4726-BC2D-35C66DCCDE3C}"/>
              </a:ext>
            </a:extLst>
          </p:cNvPr>
          <p:cNvSpPr/>
          <p:nvPr/>
        </p:nvSpPr>
        <p:spPr>
          <a:xfrm rot="3202373">
            <a:off x="2469062" y="3554468"/>
            <a:ext cx="988722" cy="8904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ロード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配置された</a:t>
            </a:r>
            <a:r>
              <a:rPr lang="ja-JP" altLang="en-US" sz="2400" dirty="0"/>
              <a:t>画像</a:t>
            </a:r>
            <a:r>
              <a:rPr kumimoji="1" lang="ja-JP" altLang="en-US" sz="2400" dirty="0"/>
              <a:t>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カメラによって写真撮影</a:t>
            </a:r>
            <a:r>
              <a:rPr kumimoji="1" lang="ja-JP" altLang="en-US" sz="2400" dirty="0"/>
              <a:t>されます。</a:t>
            </a:r>
            <a:endParaRPr kumimoji="1" lang="en-US" altLang="ja-JP" sz="2400" dirty="0"/>
          </a:p>
          <a:p>
            <a:r>
              <a:rPr lang="ja-JP" altLang="en-US" sz="2400" dirty="0"/>
              <a:t>そして</a:t>
            </a:r>
            <a:r>
              <a:rPr lang="ja-JP" altLang="en-US" sz="2400" b="1" dirty="0">
                <a:solidFill>
                  <a:srgbClr val="FF0000"/>
                </a:solidFill>
              </a:rPr>
              <a:t>撮影後の写真がそのまま画面に描画されます。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sp>
        <p:nvSpPr>
          <p:cNvPr id="2" name="直方体 1">
            <a:extLst>
              <a:ext uri="{FF2B5EF4-FFF2-40B4-BE49-F238E27FC236}">
                <a16:creationId xmlns:a16="http://schemas.microsoft.com/office/drawing/2014/main" id="{80291F9A-27BD-4701-9276-EBF199C18DDD}"/>
              </a:ext>
            </a:extLst>
          </p:cNvPr>
          <p:cNvSpPr/>
          <p:nvPr/>
        </p:nvSpPr>
        <p:spPr>
          <a:xfrm>
            <a:off x="1899758" y="4397543"/>
            <a:ext cx="1841500" cy="1828800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直方体 6">
            <a:extLst>
              <a:ext uri="{FF2B5EF4-FFF2-40B4-BE49-F238E27FC236}">
                <a16:creationId xmlns:a16="http://schemas.microsoft.com/office/drawing/2014/main" id="{636436CF-AAEB-47CF-9491-2E9FDE038B03}"/>
              </a:ext>
            </a:extLst>
          </p:cNvPr>
          <p:cNvSpPr/>
          <p:nvPr/>
        </p:nvSpPr>
        <p:spPr>
          <a:xfrm rot="1748454">
            <a:off x="851745" y="3446605"/>
            <a:ext cx="917453" cy="774700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64C48475-6B89-4A51-9CE2-CF77FB0FB1CC}"/>
              </a:ext>
            </a:extLst>
          </p:cNvPr>
          <p:cNvGrpSpPr/>
          <p:nvPr/>
        </p:nvGrpSpPr>
        <p:grpSpPr>
          <a:xfrm rot="19453458">
            <a:off x="4527650" y="2414112"/>
            <a:ext cx="1389859" cy="685800"/>
            <a:chOff x="8203123" y="4824923"/>
            <a:chExt cx="1425676" cy="685800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3" name="二等辺三角形 2">
              <a:extLst>
                <a:ext uri="{FF2B5EF4-FFF2-40B4-BE49-F238E27FC236}">
                  <a16:creationId xmlns:a16="http://schemas.microsoft.com/office/drawing/2014/main" id="{02379B06-0B18-4202-A721-4AE5300CE3D9}"/>
                </a:ext>
              </a:extLst>
            </p:cNvPr>
            <p:cNvSpPr/>
            <p:nvPr/>
          </p:nvSpPr>
          <p:spPr>
            <a:xfrm rot="5400000">
              <a:off x="8128000" y="4900046"/>
              <a:ext cx="685800" cy="535554"/>
            </a:xfrm>
            <a:prstGeom prst="triangle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四角形: 角を丸くする 7">
              <a:extLst>
                <a:ext uri="{FF2B5EF4-FFF2-40B4-BE49-F238E27FC236}">
                  <a16:creationId xmlns:a16="http://schemas.microsoft.com/office/drawing/2014/main" id="{3B5DFFA1-9594-48C4-B2EB-5A2E965AE580}"/>
                </a:ext>
              </a:extLst>
            </p:cNvPr>
            <p:cNvSpPr/>
            <p:nvPr/>
          </p:nvSpPr>
          <p:spPr>
            <a:xfrm>
              <a:off x="8446622" y="4864100"/>
              <a:ext cx="1182177" cy="607446"/>
            </a:xfrm>
            <a:prstGeom prst="round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5F8F9CEC-26DE-40CC-B831-082D3450A817}"/>
              </a:ext>
            </a:extLst>
          </p:cNvPr>
          <p:cNvGrpSpPr/>
          <p:nvPr/>
        </p:nvGrpSpPr>
        <p:grpSpPr>
          <a:xfrm>
            <a:off x="4226372" y="3360760"/>
            <a:ext cx="1562100" cy="1448548"/>
            <a:chOff x="3739246" y="1961644"/>
            <a:chExt cx="1562100" cy="1448548"/>
          </a:xfrm>
        </p:grpSpPr>
        <p:sp>
          <p:nvSpPr>
            <p:cNvPr id="10" name="爆発: 8 pt 9">
              <a:extLst>
                <a:ext uri="{FF2B5EF4-FFF2-40B4-BE49-F238E27FC236}">
                  <a16:creationId xmlns:a16="http://schemas.microsoft.com/office/drawing/2014/main" id="{8218DF73-C80D-4CC5-84B9-1247CDF99AFD}"/>
                </a:ext>
              </a:extLst>
            </p:cNvPr>
            <p:cNvSpPr/>
            <p:nvPr/>
          </p:nvSpPr>
          <p:spPr>
            <a:xfrm>
              <a:off x="3739246" y="1961644"/>
              <a:ext cx="1562100" cy="1448548"/>
            </a:xfrm>
            <a:prstGeom prst="irregularSeal1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F6CEF66C-B6BD-477C-A497-2B99D2CBE388}"/>
                </a:ext>
              </a:extLst>
            </p:cNvPr>
            <p:cNvSpPr txBox="1"/>
            <p:nvPr/>
          </p:nvSpPr>
          <p:spPr>
            <a:xfrm>
              <a:off x="3977857" y="2439705"/>
              <a:ext cx="110799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 dirty="0"/>
                <a:t>パシャ</a:t>
              </a:r>
              <a:endParaRPr lang="en-US" altLang="ja-JP" sz="2400" b="1" dirty="0">
                <a:solidFill>
                  <a:srgbClr val="FF0000"/>
                </a:solidFill>
              </a:endParaRPr>
            </a:p>
          </p:txBody>
        </p:sp>
      </p:grp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33AF0EF-44E9-473E-B953-3E8B23FFC088}"/>
              </a:ext>
            </a:extLst>
          </p:cNvPr>
          <p:cNvSpPr/>
          <p:nvPr/>
        </p:nvSpPr>
        <p:spPr>
          <a:xfrm>
            <a:off x="6148015" y="3218261"/>
            <a:ext cx="4597213" cy="239238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直方体 13">
            <a:extLst>
              <a:ext uri="{FF2B5EF4-FFF2-40B4-BE49-F238E27FC236}">
                <a16:creationId xmlns:a16="http://schemas.microsoft.com/office/drawing/2014/main" id="{7CE3C910-E113-481B-A6A8-22A1943DB9AD}"/>
              </a:ext>
            </a:extLst>
          </p:cNvPr>
          <p:cNvSpPr/>
          <p:nvPr/>
        </p:nvSpPr>
        <p:spPr>
          <a:xfrm>
            <a:off x="8294468" y="4224627"/>
            <a:ext cx="949472" cy="948560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直方体 14">
            <a:extLst>
              <a:ext uri="{FF2B5EF4-FFF2-40B4-BE49-F238E27FC236}">
                <a16:creationId xmlns:a16="http://schemas.microsoft.com/office/drawing/2014/main" id="{DF1D682F-EB23-49E0-BDC7-C50877E2258C}"/>
              </a:ext>
            </a:extLst>
          </p:cNvPr>
          <p:cNvSpPr/>
          <p:nvPr/>
        </p:nvSpPr>
        <p:spPr>
          <a:xfrm rot="3202373">
            <a:off x="9195059" y="3559011"/>
            <a:ext cx="988722" cy="8904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直方体 15">
            <a:extLst>
              <a:ext uri="{FF2B5EF4-FFF2-40B4-BE49-F238E27FC236}">
                <a16:creationId xmlns:a16="http://schemas.microsoft.com/office/drawing/2014/main" id="{D34ACEFC-BC54-49DC-AB60-5245140C145E}"/>
              </a:ext>
            </a:extLst>
          </p:cNvPr>
          <p:cNvSpPr/>
          <p:nvPr/>
        </p:nvSpPr>
        <p:spPr>
          <a:xfrm rot="1748454">
            <a:off x="7676760" y="3835229"/>
            <a:ext cx="602823" cy="554624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矢印: 右 16">
            <a:extLst>
              <a:ext uri="{FF2B5EF4-FFF2-40B4-BE49-F238E27FC236}">
                <a16:creationId xmlns:a16="http://schemas.microsoft.com/office/drawing/2014/main" id="{CC21B4A6-2206-40ED-BEEC-42BE389524D4}"/>
              </a:ext>
            </a:extLst>
          </p:cNvPr>
          <p:cNvSpPr/>
          <p:nvPr/>
        </p:nvSpPr>
        <p:spPr>
          <a:xfrm>
            <a:off x="4226372" y="4809308"/>
            <a:ext cx="1661339" cy="594306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5D482F5D-F389-4AD3-AEDA-7335A26C1F65}"/>
              </a:ext>
            </a:extLst>
          </p:cNvPr>
          <p:cNvSpPr txBox="1"/>
          <p:nvPr/>
        </p:nvSpPr>
        <p:spPr>
          <a:xfrm>
            <a:off x="6353740" y="5721586"/>
            <a:ext cx="41857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写った写真を画面に描画する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08103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ロード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6462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配置されたモデルは撮影されるまで、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どれがどれかを識別する必要があります。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つまり、それぞれのモデルは</a:t>
            </a:r>
            <a:r>
              <a:rPr lang="ja-JP" altLang="en-US" sz="2400" b="1" dirty="0">
                <a:solidFill>
                  <a:srgbClr val="FF0000"/>
                </a:solidFill>
              </a:rPr>
              <a:t>別々の画像ハンドル</a:t>
            </a:r>
            <a:r>
              <a:rPr lang="ja-JP" altLang="en-US" sz="2400" dirty="0"/>
              <a:t>となります。</a:t>
            </a:r>
            <a:endParaRPr lang="en-US" altLang="ja-JP" sz="2400" dirty="0"/>
          </a:p>
        </p:txBody>
      </p:sp>
      <p:sp>
        <p:nvSpPr>
          <p:cNvPr id="19" name="直方体 18">
            <a:extLst>
              <a:ext uri="{FF2B5EF4-FFF2-40B4-BE49-F238E27FC236}">
                <a16:creationId xmlns:a16="http://schemas.microsoft.com/office/drawing/2014/main" id="{32C7B65C-DCF5-4016-A5D2-8B11616A5A06}"/>
              </a:ext>
            </a:extLst>
          </p:cNvPr>
          <p:cNvSpPr/>
          <p:nvPr/>
        </p:nvSpPr>
        <p:spPr>
          <a:xfrm rot="3202373">
            <a:off x="3096604" y="3132025"/>
            <a:ext cx="988722" cy="8904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直方体 19">
            <a:extLst>
              <a:ext uri="{FF2B5EF4-FFF2-40B4-BE49-F238E27FC236}">
                <a16:creationId xmlns:a16="http://schemas.microsoft.com/office/drawing/2014/main" id="{013499AE-310E-4178-93B7-ECF08631C02B}"/>
              </a:ext>
            </a:extLst>
          </p:cNvPr>
          <p:cNvSpPr/>
          <p:nvPr/>
        </p:nvSpPr>
        <p:spPr>
          <a:xfrm>
            <a:off x="2527300" y="3975100"/>
            <a:ext cx="1841500" cy="1828800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直方体 20">
            <a:extLst>
              <a:ext uri="{FF2B5EF4-FFF2-40B4-BE49-F238E27FC236}">
                <a16:creationId xmlns:a16="http://schemas.microsoft.com/office/drawing/2014/main" id="{C149F038-E165-48D3-9CAC-4F10D7B29C5B}"/>
              </a:ext>
            </a:extLst>
          </p:cNvPr>
          <p:cNvSpPr/>
          <p:nvPr/>
        </p:nvSpPr>
        <p:spPr>
          <a:xfrm rot="1748454">
            <a:off x="1479287" y="3024162"/>
            <a:ext cx="917453" cy="774700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99A971CF-995A-4159-BD96-1187C16C341B}"/>
              </a:ext>
            </a:extLst>
          </p:cNvPr>
          <p:cNvSpPr txBox="1"/>
          <p:nvPr/>
        </p:nvSpPr>
        <p:spPr>
          <a:xfrm>
            <a:off x="845821" y="5015850"/>
            <a:ext cx="4185761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同じ画像でもハンドルは別々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215341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ロード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1032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Block.cpp</a:t>
            </a:r>
            <a:r>
              <a:rPr lang="ja-JP" altLang="en-US" sz="2400" dirty="0"/>
              <a:t>のロード関数にロード処理を書きます。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B4322E2-4619-4A5C-A233-E9CEFBC1A4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9937254" cy="1789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3748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ロード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5894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BlockManager.cpp</a:t>
            </a:r>
            <a:r>
              <a:rPr lang="ja-JP" altLang="en-US" sz="2400" dirty="0"/>
              <a:t>側から各ブロックのロード処理を呼びましょう。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9F2C7FF-BCA4-4801-A350-5BDE377929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483742" cy="2385906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CBDAE3D-54E5-46B0-8115-23259695C4C3}"/>
              </a:ext>
            </a:extLst>
          </p:cNvPr>
          <p:cNvSpPr txBox="1"/>
          <p:nvPr/>
        </p:nvSpPr>
        <p:spPr>
          <a:xfrm>
            <a:off x="567542" y="4343400"/>
            <a:ext cx="787908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これですべてのブロックの画像は１つずつロードされ、</a:t>
            </a:r>
            <a:endParaRPr lang="en-US" altLang="ja-JP" sz="2400" dirty="0"/>
          </a:p>
          <a:p>
            <a:r>
              <a:rPr lang="ja-JP" altLang="en-US" sz="2400" dirty="0"/>
              <a:t>別々の画像ハンドルが設定されます。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090843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6869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BlockManager</a:t>
            </a:r>
            <a:r>
              <a:rPr lang="ja-JP" altLang="en-US" sz="2400" dirty="0"/>
              <a:t>の残りの関数も完成させましょう。（その１）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EFE4406-D534-4BF2-BA78-FD82EC9D15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5911511" cy="4278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2892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6869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BlockManager</a:t>
            </a:r>
            <a:r>
              <a:rPr lang="ja-JP" altLang="en-US" sz="2400" dirty="0"/>
              <a:t>の残りの関数も完成させましょう。（その２）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27564FA-4A65-4147-9DB0-35750CD489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5"/>
            <a:ext cx="4537858" cy="4672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44832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6869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BlockManager</a:t>
            </a:r>
            <a:r>
              <a:rPr lang="ja-JP" altLang="en-US" sz="2400" dirty="0"/>
              <a:t>の残りの関数も完成させましょう。（その３）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F51B1831-C54C-43C9-ACA1-3D784AC579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065478" cy="2639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31401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8157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95684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Main.cpp</a:t>
            </a:r>
            <a:r>
              <a:rPr lang="ja-JP" altLang="en-US" sz="2400" dirty="0"/>
              <a:t>の呼び出し側はこれまで通りです。（書くのは省略）</a:t>
            </a:r>
            <a:endParaRPr lang="en-US" altLang="ja-JP" sz="2400" dirty="0"/>
          </a:p>
          <a:p>
            <a:r>
              <a:rPr lang="ja-JP" altLang="en-US" sz="2400" dirty="0"/>
              <a:t>呼び出し側を考慮しなくて良いのがマネージャークラスの利点でもあります。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166C132-D169-4DE1-A313-A86EB7EE54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415731"/>
            <a:ext cx="10584618" cy="2394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11968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1638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ブロックが４つ表示されていれば</a:t>
            </a:r>
            <a:r>
              <a:rPr lang="en-US" altLang="ja-JP" sz="2400" dirty="0"/>
              <a:t>OK</a:t>
            </a:r>
            <a:r>
              <a:rPr lang="ja-JP" altLang="en-US" sz="2400" dirty="0"/>
              <a:t>です！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FE9301F6-67D8-4133-928C-08D904C389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735420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56322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問題点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今回のプログラムで問題点が１つあります。</a:t>
            </a:r>
            <a:endParaRPr lang="en-US" altLang="ja-JP" sz="2400" dirty="0"/>
          </a:p>
          <a:p>
            <a:r>
              <a:rPr lang="ja-JP" altLang="en-US" sz="2400" dirty="0"/>
              <a:t>それは、</a:t>
            </a:r>
            <a:r>
              <a:rPr lang="ja-JP" altLang="en-US" sz="2400" b="1" dirty="0">
                <a:solidFill>
                  <a:srgbClr val="FF0000"/>
                </a:solidFill>
              </a:rPr>
              <a:t>同じ画像を４つロードしている</a:t>
            </a:r>
            <a:r>
              <a:rPr lang="ja-JP" altLang="en-US" sz="2400" dirty="0"/>
              <a:t>ことです。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922A69A-9F5A-486E-94F9-FA0C7C2B0E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9937254" cy="1789006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B66097B0-295D-4F24-B40F-5EF2CAD77E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4115832"/>
            <a:ext cx="7483742" cy="2385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08259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問題点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ロード処理は処理の中でも非常に重い処理になります。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ABAB42B7-0F39-4A2C-808A-33BAAEA39C08}"/>
              </a:ext>
            </a:extLst>
          </p:cNvPr>
          <p:cNvGrpSpPr/>
          <p:nvPr/>
        </p:nvGrpSpPr>
        <p:grpSpPr>
          <a:xfrm>
            <a:off x="567542" y="2258906"/>
            <a:ext cx="11251131" cy="4291804"/>
            <a:chOff x="567542" y="2258906"/>
            <a:chExt cx="11251131" cy="4291804"/>
          </a:xfrm>
        </p:grpSpPr>
        <p:sp>
          <p:nvSpPr>
            <p:cNvPr id="2" name="円: 塗りつぶしなし 1">
              <a:extLst>
                <a:ext uri="{FF2B5EF4-FFF2-40B4-BE49-F238E27FC236}">
                  <a16:creationId xmlns:a16="http://schemas.microsoft.com/office/drawing/2014/main" id="{75E31BA1-0E5D-4C87-8A0B-E70F4AAAFC5C}"/>
                </a:ext>
              </a:extLst>
            </p:cNvPr>
            <p:cNvSpPr/>
            <p:nvPr/>
          </p:nvSpPr>
          <p:spPr>
            <a:xfrm>
              <a:off x="567542" y="2258906"/>
              <a:ext cx="3458358" cy="3382665"/>
            </a:xfrm>
            <a:prstGeom prst="donut">
              <a:avLst>
                <a:gd name="adj" fmla="val 38892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9A7B186A-D6C7-4599-A888-B731E1BC4380}"/>
                </a:ext>
              </a:extLst>
            </p:cNvPr>
            <p:cNvSpPr txBox="1"/>
            <p:nvPr/>
          </p:nvSpPr>
          <p:spPr>
            <a:xfrm>
              <a:off x="1127170" y="5904378"/>
              <a:ext cx="233910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2400" dirty="0"/>
                <a:t>ファイルを探す</a:t>
              </a:r>
              <a:endParaRPr lang="en-US" altLang="ja-JP" sz="2400" dirty="0"/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13BC1684-5942-46EB-B752-2C784C85AF3D}"/>
                </a:ext>
              </a:extLst>
            </p:cNvPr>
            <p:cNvSpPr txBox="1"/>
            <p:nvPr/>
          </p:nvSpPr>
          <p:spPr>
            <a:xfrm>
              <a:off x="937260" y="4518907"/>
              <a:ext cx="119936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altLang="ja-JP" sz="2400" dirty="0" err="1"/>
                <a:t>Block.x</a:t>
              </a:r>
              <a:endParaRPr lang="en-US" altLang="ja-JP" sz="2400" dirty="0"/>
            </a:p>
          </p:txBody>
        </p:sp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3CD015B2-C038-40E4-9093-DAF883F5BD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81062" y="2606199"/>
              <a:ext cx="1629875" cy="2688078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513FD34E-5E75-4AA2-A13C-D65A6A984E8E}"/>
                </a:ext>
              </a:extLst>
            </p:cNvPr>
            <p:cNvSpPr txBox="1"/>
            <p:nvPr/>
          </p:nvSpPr>
          <p:spPr>
            <a:xfrm>
              <a:off x="5083188" y="5904380"/>
              <a:ext cx="233910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2400" dirty="0"/>
                <a:t>ファイルを開く</a:t>
              </a:r>
              <a:endParaRPr lang="en-US" altLang="ja-JP" sz="2400" dirty="0"/>
            </a:p>
          </p:txBody>
        </p:sp>
        <p:sp>
          <p:nvSpPr>
            <p:cNvPr id="12" name="直方体 11">
              <a:extLst>
                <a:ext uri="{FF2B5EF4-FFF2-40B4-BE49-F238E27FC236}">
                  <a16:creationId xmlns:a16="http://schemas.microsoft.com/office/drawing/2014/main" id="{2A14356C-F88B-4FFB-B058-BA717B0C49E0}"/>
                </a:ext>
              </a:extLst>
            </p:cNvPr>
            <p:cNvSpPr/>
            <p:nvPr/>
          </p:nvSpPr>
          <p:spPr>
            <a:xfrm>
              <a:off x="9309100" y="3626387"/>
              <a:ext cx="1054100" cy="983976"/>
            </a:xfrm>
            <a:prstGeom prst="cub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DCC54451-38D1-4F07-B54C-D9375114CDF1}"/>
                </a:ext>
              </a:extLst>
            </p:cNvPr>
            <p:cNvSpPr txBox="1"/>
            <p:nvPr/>
          </p:nvSpPr>
          <p:spPr>
            <a:xfrm>
              <a:off x="7940688" y="5719713"/>
              <a:ext cx="3877985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2400" dirty="0"/>
                <a:t>メモリに保存して</a:t>
              </a:r>
              <a:endParaRPr lang="en-US" altLang="ja-JP" sz="2400" dirty="0"/>
            </a:p>
            <a:p>
              <a:r>
                <a:rPr lang="ja-JP" altLang="en-US" sz="2400" dirty="0"/>
                <a:t>ゲームで使える状態にする</a:t>
              </a:r>
              <a:endParaRPr lang="en-US" altLang="ja-JP" sz="2400" dirty="0"/>
            </a:p>
          </p:txBody>
        </p:sp>
        <p:sp>
          <p:nvSpPr>
            <p:cNvPr id="14" name="矢印: 右 13">
              <a:extLst>
                <a:ext uri="{FF2B5EF4-FFF2-40B4-BE49-F238E27FC236}">
                  <a16:creationId xmlns:a16="http://schemas.microsoft.com/office/drawing/2014/main" id="{023194FD-1147-4FCF-B000-8B79A45B83A9}"/>
                </a:ext>
              </a:extLst>
            </p:cNvPr>
            <p:cNvSpPr/>
            <p:nvPr/>
          </p:nvSpPr>
          <p:spPr>
            <a:xfrm>
              <a:off x="4203700" y="3568700"/>
              <a:ext cx="879488" cy="647700"/>
            </a:xfrm>
            <a:prstGeom prst="rightArrow">
              <a:avLst/>
            </a:prstGeom>
            <a:solidFill>
              <a:srgbClr val="FF0000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矢印: 右 14">
              <a:extLst>
                <a:ext uri="{FF2B5EF4-FFF2-40B4-BE49-F238E27FC236}">
                  <a16:creationId xmlns:a16="http://schemas.microsoft.com/office/drawing/2014/main" id="{BC0B8667-2645-4C28-844D-925E5CC11659}"/>
                </a:ext>
              </a:extLst>
            </p:cNvPr>
            <p:cNvSpPr/>
            <p:nvPr/>
          </p:nvSpPr>
          <p:spPr>
            <a:xfrm>
              <a:off x="7301974" y="3626387"/>
              <a:ext cx="879488" cy="647700"/>
            </a:xfrm>
            <a:prstGeom prst="rightArrow">
              <a:avLst/>
            </a:prstGeom>
            <a:solidFill>
              <a:srgbClr val="FF0000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円柱 15">
              <a:extLst>
                <a:ext uri="{FF2B5EF4-FFF2-40B4-BE49-F238E27FC236}">
                  <a16:creationId xmlns:a16="http://schemas.microsoft.com/office/drawing/2014/main" id="{9AAC01AD-4464-44AA-910E-654BF4B08FBE}"/>
                </a:ext>
              </a:extLst>
            </p:cNvPr>
            <p:cNvSpPr/>
            <p:nvPr/>
          </p:nvSpPr>
          <p:spPr>
            <a:xfrm>
              <a:off x="8572499" y="2438400"/>
              <a:ext cx="2593340" cy="2855877"/>
            </a:xfrm>
            <a:prstGeom prst="can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1946973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問題点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同じ画像が複数必要な場合は、</a:t>
            </a:r>
            <a:endParaRPr lang="en-US" altLang="ja-JP" sz="2400" dirty="0"/>
          </a:p>
          <a:p>
            <a:r>
              <a:rPr lang="ja-JP" altLang="en-US" sz="2400" dirty="0"/>
              <a:t>１度だけロードして、その後はコピーすると効率が良いです。</a:t>
            </a:r>
            <a:endParaRPr lang="en-US" altLang="ja-JP" sz="2400" dirty="0"/>
          </a:p>
        </p:txBody>
      </p:sp>
      <p:sp>
        <p:nvSpPr>
          <p:cNvPr id="29" name="直方体 28">
            <a:extLst>
              <a:ext uri="{FF2B5EF4-FFF2-40B4-BE49-F238E27FC236}">
                <a16:creationId xmlns:a16="http://schemas.microsoft.com/office/drawing/2014/main" id="{B71D7A3B-C72B-4E32-8A82-C0900EE8AA85}"/>
              </a:ext>
            </a:extLst>
          </p:cNvPr>
          <p:cNvSpPr/>
          <p:nvPr/>
        </p:nvSpPr>
        <p:spPr>
          <a:xfrm>
            <a:off x="1543151" y="3397546"/>
            <a:ext cx="1054100" cy="983976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0" name="円柱 29">
            <a:extLst>
              <a:ext uri="{FF2B5EF4-FFF2-40B4-BE49-F238E27FC236}">
                <a16:creationId xmlns:a16="http://schemas.microsoft.com/office/drawing/2014/main" id="{856E0899-A956-4C92-838F-1D21DE092963}"/>
              </a:ext>
            </a:extLst>
          </p:cNvPr>
          <p:cNvSpPr/>
          <p:nvPr/>
        </p:nvSpPr>
        <p:spPr>
          <a:xfrm>
            <a:off x="806550" y="2209559"/>
            <a:ext cx="2593340" cy="2855877"/>
          </a:xfrm>
          <a:prstGeom prst="ca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D1858A99-8ACD-4111-947B-0E528C87F301}"/>
              </a:ext>
            </a:extLst>
          </p:cNvPr>
          <p:cNvSpPr txBox="1"/>
          <p:nvPr/>
        </p:nvSpPr>
        <p:spPr>
          <a:xfrm>
            <a:off x="567542" y="5179906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１度ロードして。。。</a:t>
            </a:r>
            <a:endParaRPr lang="en-US" altLang="ja-JP" sz="2400" dirty="0"/>
          </a:p>
        </p:txBody>
      </p:sp>
      <p:sp>
        <p:nvSpPr>
          <p:cNvPr id="32" name="直方体 31">
            <a:extLst>
              <a:ext uri="{FF2B5EF4-FFF2-40B4-BE49-F238E27FC236}">
                <a16:creationId xmlns:a16="http://schemas.microsoft.com/office/drawing/2014/main" id="{D7A13C9A-D116-47FB-B317-D1F7D52456CB}"/>
              </a:ext>
            </a:extLst>
          </p:cNvPr>
          <p:cNvSpPr/>
          <p:nvPr/>
        </p:nvSpPr>
        <p:spPr>
          <a:xfrm>
            <a:off x="6335008" y="3192017"/>
            <a:ext cx="461157" cy="411057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3" name="円柱 32">
            <a:extLst>
              <a:ext uri="{FF2B5EF4-FFF2-40B4-BE49-F238E27FC236}">
                <a16:creationId xmlns:a16="http://schemas.microsoft.com/office/drawing/2014/main" id="{2C07F27A-4C32-478E-856F-80D889F69BB5}"/>
              </a:ext>
            </a:extLst>
          </p:cNvPr>
          <p:cNvSpPr/>
          <p:nvPr/>
        </p:nvSpPr>
        <p:spPr>
          <a:xfrm>
            <a:off x="6077050" y="2209559"/>
            <a:ext cx="2593340" cy="2855877"/>
          </a:xfrm>
          <a:prstGeom prst="ca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直方体 33">
            <a:extLst>
              <a:ext uri="{FF2B5EF4-FFF2-40B4-BE49-F238E27FC236}">
                <a16:creationId xmlns:a16="http://schemas.microsoft.com/office/drawing/2014/main" id="{F08B3BE9-485B-41B8-8527-5372EA142EB7}"/>
              </a:ext>
            </a:extLst>
          </p:cNvPr>
          <p:cNvSpPr/>
          <p:nvPr/>
        </p:nvSpPr>
        <p:spPr>
          <a:xfrm>
            <a:off x="6954620" y="3192016"/>
            <a:ext cx="461157" cy="411057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5" name="直方体 34">
            <a:extLst>
              <a:ext uri="{FF2B5EF4-FFF2-40B4-BE49-F238E27FC236}">
                <a16:creationId xmlns:a16="http://schemas.microsoft.com/office/drawing/2014/main" id="{709A6337-DA30-4F7E-BF00-58FB807AC70F}"/>
              </a:ext>
            </a:extLst>
          </p:cNvPr>
          <p:cNvSpPr/>
          <p:nvPr/>
        </p:nvSpPr>
        <p:spPr>
          <a:xfrm>
            <a:off x="7673735" y="3189248"/>
            <a:ext cx="461157" cy="411057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6" name="直方体 35">
            <a:extLst>
              <a:ext uri="{FF2B5EF4-FFF2-40B4-BE49-F238E27FC236}">
                <a16:creationId xmlns:a16="http://schemas.microsoft.com/office/drawing/2014/main" id="{11CC015A-DF18-4003-B919-5340E4D1DD58}"/>
              </a:ext>
            </a:extLst>
          </p:cNvPr>
          <p:cNvSpPr/>
          <p:nvPr/>
        </p:nvSpPr>
        <p:spPr>
          <a:xfrm>
            <a:off x="6335008" y="3889534"/>
            <a:ext cx="461157" cy="411057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7" name="直方体 36">
            <a:extLst>
              <a:ext uri="{FF2B5EF4-FFF2-40B4-BE49-F238E27FC236}">
                <a16:creationId xmlns:a16="http://schemas.microsoft.com/office/drawing/2014/main" id="{66E75F4B-AAFB-43E5-BFF3-A70EFA3DEC52}"/>
              </a:ext>
            </a:extLst>
          </p:cNvPr>
          <p:cNvSpPr/>
          <p:nvPr/>
        </p:nvSpPr>
        <p:spPr>
          <a:xfrm>
            <a:off x="7007400" y="3889534"/>
            <a:ext cx="461157" cy="411057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8" name="直方体 37">
            <a:extLst>
              <a:ext uri="{FF2B5EF4-FFF2-40B4-BE49-F238E27FC236}">
                <a16:creationId xmlns:a16="http://schemas.microsoft.com/office/drawing/2014/main" id="{B97CB423-24CD-461A-B596-438D5FB74BEE}"/>
              </a:ext>
            </a:extLst>
          </p:cNvPr>
          <p:cNvSpPr/>
          <p:nvPr/>
        </p:nvSpPr>
        <p:spPr>
          <a:xfrm>
            <a:off x="7677693" y="3889534"/>
            <a:ext cx="461157" cy="411057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F86CCD8B-1CE2-4033-B407-543BFD007636}"/>
              </a:ext>
            </a:extLst>
          </p:cNvPr>
          <p:cNvSpPr txBox="1"/>
          <p:nvPr/>
        </p:nvSpPr>
        <p:spPr>
          <a:xfrm>
            <a:off x="6096000" y="5179906"/>
            <a:ext cx="26468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あとはコピーする</a:t>
            </a:r>
            <a:endParaRPr lang="en-US" altLang="ja-JP" sz="2400" dirty="0"/>
          </a:p>
        </p:txBody>
      </p:sp>
      <p:sp>
        <p:nvSpPr>
          <p:cNvPr id="40" name="矢印: 右 39">
            <a:extLst>
              <a:ext uri="{FF2B5EF4-FFF2-40B4-BE49-F238E27FC236}">
                <a16:creationId xmlns:a16="http://schemas.microsoft.com/office/drawing/2014/main" id="{19AC3BDC-F1BB-461D-B266-5A272E3B4D0C}"/>
              </a:ext>
            </a:extLst>
          </p:cNvPr>
          <p:cNvSpPr/>
          <p:nvPr/>
        </p:nvSpPr>
        <p:spPr>
          <a:xfrm>
            <a:off x="3696747" y="3105150"/>
            <a:ext cx="2221848" cy="647700"/>
          </a:xfrm>
          <a:prstGeom prst="right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84521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問題点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1350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Dxlib</a:t>
            </a:r>
            <a:r>
              <a:rPr lang="ja-JP" altLang="en-US" sz="2400" dirty="0"/>
              <a:t>にはそのコピーする関数があります。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D4D1BF9-AF11-4F06-A772-39A6A11407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10392165" cy="2944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27280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問題点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ロード処理を修正します。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ロードは１度だけ</a:t>
            </a:r>
            <a:r>
              <a:rPr lang="ja-JP" altLang="en-US" sz="2400" dirty="0"/>
              <a:t>行うので、今回はマネージャークラスで行います。</a:t>
            </a:r>
            <a:endParaRPr lang="en-US" altLang="ja-JP" sz="2400" dirty="0"/>
          </a:p>
          <a:p>
            <a:r>
              <a:rPr lang="en-US" altLang="ja-JP" sz="2400" dirty="0" err="1"/>
              <a:t>BlockManager</a:t>
            </a:r>
            <a:r>
              <a:rPr lang="ja-JP" altLang="en-US" sz="2400" dirty="0"/>
              <a:t>にメンバ変数を追加しましょう。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CF9FAB3-4E0A-4BFB-B86A-52ED6507CE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556458"/>
            <a:ext cx="9800012" cy="2523542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6596066-9FE9-4973-8726-2ED0299E1E79}"/>
              </a:ext>
            </a:extLst>
          </p:cNvPr>
          <p:cNvSpPr/>
          <p:nvPr/>
        </p:nvSpPr>
        <p:spPr>
          <a:xfrm>
            <a:off x="2463800" y="3429000"/>
            <a:ext cx="7226300" cy="12954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0A5F0AF-44F9-4538-8B2B-D45ECB1C2E33}"/>
              </a:ext>
            </a:extLst>
          </p:cNvPr>
          <p:cNvSpPr txBox="1"/>
          <p:nvPr/>
        </p:nvSpPr>
        <p:spPr>
          <a:xfrm>
            <a:off x="567541" y="5219700"/>
            <a:ext cx="73228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m_Handle</a:t>
            </a:r>
            <a:r>
              <a:rPr lang="ja-JP" altLang="en-US" sz="2400" dirty="0"/>
              <a:t>はコンストラクタで</a:t>
            </a:r>
            <a:r>
              <a:rPr lang="en-US" altLang="ja-JP" sz="2400" dirty="0"/>
              <a:t>0</a:t>
            </a:r>
            <a:r>
              <a:rPr lang="ja-JP" altLang="en-US" sz="2400" dirty="0"/>
              <a:t>初期化しましょう。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7311760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問題点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7636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BlockManager</a:t>
            </a:r>
            <a:r>
              <a:rPr lang="ja-JP" altLang="en-US" sz="2400" dirty="0"/>
              <a:t>のロード関数でモデルをロードします。</a:t>
            </a:r>
            <a:endParaRPr lang="en-US" altLang="ja-JP" sz="2400" dirty="0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09F05AC2-9A35-4F06-A557-5EF8934876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10220024" cy="1801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11030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問題点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35517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Block</a:t>
            </a:r>
            <a:r>
              <a:rPr lang="ja-JP" altLang="en-US" sz="2400" dirty="0"/>
              <a:t>側は画像ハンドルを受け取る形でロードしましょう。</a:t>
            </a:r>
            <a:endParaRPr lang="en-US" altLang="ja-JP" sz="2400" dirty="0"/>
          </a:p>
          <a:p>
            <a:r>
              <a:rPr lang="en-US" altLang="ja-JP" sz="2400" dirty="0"/>
              <a:t>Load</a:t>
            </a:r>
            <a:r>
              <a:rPr lang="ja-JP" altLang="en-US" sz="2400" dirty="0"/>
              <a:t>関数に引数を追加して処理を書きましょう。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CBD363C-2D7A-4273-A1DB-C8B2E51345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10041952" cy="2195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58874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問題点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2247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BlockManager</a:t>
            </a:r>
            <a:r>
              <a:rPr lang="ja-JP" altLang="en-US" sz="2400" dirty="0"/>
              <a:t>のロード関数を修正します。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F40CEE0-C1C3-41EC-887A-0D75C37ED3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8258137" cy="3706706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710BEA6-1E28-4AA1-9EBF-1FB2781E646F}"/>
              </a:ext>
            </a:extLst>
          </p:cNvPr>
          <p:cNvSpPr/>
          <p:nvPr/>
        </p:nvSpPr>
        <p:spPr>
          <a:xfrm>
            <a:off x="2197100" y="3429000"/>
            <a:ext cx="5575300" cy="18923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291030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問題点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6468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後始末も忘れずに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7DBBBD1-B775-488F-8645-2C080A3F86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6905276" cy="3122506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D45E2CD-E90C-429A-9F03-189E7F56F0F6}"/>
              </a:ext>
            </a:extLst>
          </p:cNvPr>
          <p:cNvSpPr/>
          <p:nvPr/>
        </p:nvSpPr>
        <p:spPr>
          <a:xfrm>
            <a:off x="2298700" y="2247900"/>
            <a:ext cx="5295900" cy="863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44394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38779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実行して確認しましょう。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FE9301F6-67D8-4133-928C-08D904C389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735420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61768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演習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プログラムを解析して、ブロックを６つに増やしましょう。</a:t>
            </a:r>
            <a:endParaRPr lang="en-US" altLang="ja-JP" sz="2400" dirty="0"/>
          </a:p>
          <a:p>
            <a:r>
              <a:rPr lang="ja-JP" altLang="en-US" sz="2400" dirty="0"/>
              <a:t>必ず</a:t>
            </a:r>
            <a:r>
              <a:rPr lang="ja-JP" altLang="en-US" sz="2400" b="1" dirty="0">
                <a:solidFill>
                  <a:srgbClr val="FF0000"/>
                </a:solidFill>
              </a:rPr>
              <a:t>カメラに映る位置</a:t>
            </a:r>
            <a:r>
              <a:rPr lang="ja-JP" altLang="en-US" sz="2400" dirty="0"/>
              <a:t>に表示してください。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3206245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424</TotalTime>
  <Words>878</Words>
  <Application>Microsoft Office PowerPoint</Application>
  <PresentationFormat>ワイド画面</PresentationFormat>
  <Paragraphs>104</Paragraphs>
  <Slides>29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29</vt:i4>
      </vt:variant>
    </vt:vector>
  </HeadingPairs>
  <TitlesOfParts>
    <vt:vector size="33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43</cp:revision>
  <dcterms:created xsi:type="dcterms:W3CDTF">2024-08-27T02:15:54Z</dcterms:created>
  <dcterms:modified xsi:type="dcterms:W3CDTF">2024-09-30T01:05:10Z</dcterms:modified>
</cp:coreProperties>
</file>