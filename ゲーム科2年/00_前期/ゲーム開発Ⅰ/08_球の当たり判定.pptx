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球の当たり判定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つづいて球の当たり判定を行います。</a:t>
            </a:r>
            <a:endParaRPr kumimoji="1" lang="en-US" altLang="ja-JP" sz="2400" dirty="0"/>
          </a:p>
          <a:p>
            <a:r>
              <a:rPr lang="ja-JP" altLang="en-US" sz="2400" dirty="0"/>
              <a:t>球の形をしたゴールとプレイヤーで当たり判定をとります。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421D36-993F-406E-AB88-13538E708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287377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球の当たり判定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03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球の当たり判定は</a:t>
            </a:r>
            <a:r>
              <a:rPr kumimoji="1" lang="en-US" altLang="ja-JP" sz="2400" dirty="0"/>
              <a:t>2D</a:t>
            </a:r>
            <a:r>
              <a:rPr kumimoji="1" lang="ja-JP" altLang="en-US" sz="2400" dirty="0"/>
              <a:t>の円の当たり判定と考え方は全く同じです。</a:t>
            </a:r>
            <a:endParaRPr lang="en-US" altLang="ja-JP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2D769F0-D7E2-4E5E-BA82-BD335277DB0A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22E28D58-C5B3-417F-82D9-0AFD1757CC8A}"/>
              </a:ext>
            </a:extLst>
          </p:cNvPr>
          <p:cNvCxnSpPr>
            <a:cxnSpLocks/>
          </p:cNvCxnSpPr>
          <p:nvPr/>
        </p:nvCxnSpPr>
        <p:spPr>
          <a:xfrm>
            <a:off x="4229100" y="2552277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F6777E2B-FF32-4876-8A83-A2995E5FF605}"/>
              </a:ext>
            </a:extLst>
          </p:cNvPr>
          <p:cNvSpPr/>
          <p:nvPr/>
        </p:nvSpPr>
        <p:spPr>
          <a:xfrm>
            <a:off x="3600450" y="1898227"/>
            <a:ext cx="1257300" cy="1308100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00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円と円の当たり判定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円と円の当たり判定は、</a:t>
            </a:r>
            <a:r>
              <a:rPr lang="ja-JP" altLang="en-US" sz="2400" b="1" dirty="0">
                <a:solidFill>
                  <a:srgbClr val="FF0000"/>
                </a:solidFill>
              </a:rPr>
              <a:t>円の中心間の距離</a:t>
            </a:r>
            <a:r>
              <a:rPr lang="ja-JP" altLang="en-US" sz="2400" dirty="0"/>
              <a:t>を計算します。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C47C739E-5A3F-4CD1-9AC3-33CDA6512563}"/>
              </a:ext>
            </a:extLst>
          </p:cNvPr>
          <p:cNvSpPr/>
          <p:nvPr/>
        </p:nvSpPr>
        <p:spPr>
          <a:xfrm>
            <a:off x="5092700" y="3251200"/>
            <a:ext cx="3403600" cy="3149600"/>
          </a:xfrm>
          <a:prstGeom prst="ellipse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F0C1266C-83CA-4FE0-AD7C-03012A6CDDCC}"/>
              </a:ext>
            </a:extLst>
          </p:cNvPr>
          <p:cNvCxnSpPr>
            <a:cxnSpLocks/>
          </p:cNvCxnSpPr>
          <p:nvPr/>
        </p:nvCxnSpPr>
        <p:spPr>
          <a:xfrm>
            <a:off x="4229100" y="2552277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75AB0ABD-3DA1-4DDF-A6B2-D862C9A61670}"/>
              </a:ext>
            </a:extLst>
          </p:cNvPr>
          <p:cNvSpPr/>
          <p:nvPr/>
        </p:nvSpPr>
        <p:spPr>
          <a:xfrm>
            <a:off x="3600450" y="1898227"/>
            <a:ext cx="1257300" cy="1308100"/>
          </a:xfrm>
          <a:prstGeom prst="ellipse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125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円が当たっていないときは、距離が２つの円の半径の合計よりも長くなります。</a:t>
            </a:r>
            <a:endParaRPr lang="en-US" altLang="ja-JP" sz="24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4202A8A-EEA0-4C6C-B386-861182B3B9A9}"/>
              </a:ext>
            </a:extLst>
          </p:cNvPr>
          <p:cNvGrpSpPr/>
          <p:nvPr/>
        </p:nvGrpSpPr>
        <p:grpSpPr>
          <a:xfrm>
            <a:off x="567542" y="1863473"/>
            <a:ext cx="4895850" cy="4502573"/>
            <a:chOff x="3600450" y="1898227"/>
            <a:chExt cx="4895850" cy="4502573"/>
          </a:xfrm>
        </p:grpSpPr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FC7C1480-A291-42B6-B4E9-3E10623BBF00}"/>
                </a:ext>
              </a:extLst>
            </p:cNvPr>
            <p:cNvSpPr/>
            <p:nvPr/>
          </p:nvSpPr>
          <p:spPr>
            <a:xfrm>
              <a:off x="5092700" y="3251200"/>
              <a:ext cx="3403600" cy="3149600"/>
            </a:xfrm>
            <a:prstGeom prst="ellipse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4ECF2D55-2671-4F1B-99D1-0DEDF33527D5}"/>
                </a:ext>
              </a:extLst>
            </p:cNvPr>
            <p:cNvCxnSpPr>
              <a:cxnSpLocks/>
            </p:cNvCxnSpPr>
            <p:nvPr/>
          </p:nvCxnSpPr>
          <p:spPr>
            <a:xfrm>
              <a:off x="4229100" y="2552277"/>
              <a:ext cx="2565400" cy="2184823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5577DB98-30FD-4658-928E-D847503303DF}"/>
                </a:ext>
              </a:extLst>
            </p:cNvPr>
            <p:cNvSpPr/>
            <p:nvPr/>
          </p:nvSpPr>
          <p:spPr>
            <a:xfrm>
              <a:off x="3600450" y="1898227"/>
              <a:ext cx="1257300" cy="1308100"/>
            </a:xfrm>
            <a:prstGeom prst="ellips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1A383E7E-BFAD-4924-B235-20CEB26EAE0D}"/>
                </a:ext>
              </a:extLst>
            </p:cNvPr>
            <p:cNvCxnSpPr>
              <a:cxnSpLocks/>
            </p:cNvCxnSpPr>
            <p:nvPr/>
          </p:nvCxnSpPr>
          <p:spPr>
            <a:xfrm>
              <a:off x="5591146" y="3712448"/>
              <a:ext cx="1203354" cy="102465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4B12E65-C582-486F-A65D-A38A62A01201}"/>
                </a:ext>
              </a:extLst>
            </p:cNvPr>
            <p:cNvSpPr txBox="1"/>
            <p:nvPr/>
          </p:nvSpPr>
          <p:spPr>
            <a:xfrm>
              <a:off x="4413777" y="235244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半径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1AC031-9E87-4283-B1CD-BD12C439169D}"/>
                </a:ext>
              </a:extLst>
            </p:cNvPr>
            <p:cNvCxnSpPr>
              <a:cxnSpLocks/>
            </p:cNvCxnSpPr>
            <p:nvPr/>
          </p:nvCxnSpPr>
          <p:spPr>
            <a:xfrm>
              <a:off x="4229100" y="2551325"/>
              <a:ext cx="504825" cy="430107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0ADA859-E218-4405-9F30-E6CF4033B946}"/>
                </a:ext>
              </a:extLst>
            </p:cNvPr>
            <p:cNvSpPr txBox="1"/>
            <p:nvPr/>
          </p:nvSpPr>
          <p:spPr>
            <a:xfrm>
              <a:off x="6192823" y="38267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0070C0"/>
                  </a:solidFill>
                </a:rPr>
                <a:t>半径</a:t>
              </a:r>
              <a:endParaRPr lang="en-US" altLang="ja-JP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1786EE8-6FAA-4FA8-8890-5097066BEA62}"/>
              </a:ext>
            </a:extLst>
          </p:cNvPr>
          <p:cNvSpPr txBox="1"/>
          <p:nvPr/>
        </p:nvSpPr>
        <p:spPr>
          <a:xfrm>
            <a:off x="5863442" y="208685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矢印の長さ</a:t>
            </a:r>
            <a:endParaRPr lang="en-US" altLang="ja-JP" sz="2400" b="1" dirty="0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48A68AB-B190-4992-85B8-63200DE2121E}"/>
              </a:ext>
            </a:extLst>
          </p:cNvPr>
          <p:cNvCxnSpPr>
            <a:cxnSpLocks/>
          </p:cNvCxnSpPr>
          <p:nvPr/>
        </p:nvCxnSpPr>
        <p:spPr>
          <a:xfrm>
            <a:off x="5961838" y="2585282"/>
            <a:ext cx="2565400" cy="2184823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9F5C3A52-E6FD-4AC7-A2AD-39EA3C95B385}"/>
              </a:ext>
            </a:extLst>
          </p:cNvPr>
          <p:cNvCxnSpPr>
            <a:cxnSpLocks/>
          </p:cNvCxnSpPr>
          <p:nvPr/>
        </p:nvCxnSpPr>
        <p:spPr>
          <a:xfrm>
            <a:off x="6221295" y="2503143"/>
            <a:ext cx="504825" cy="430107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9E935AD-9CE5-4206-929B-87B6C38FF2E6}"/>
              </a:ext>
            </a:extLst>
          </p:cNvPr>
          <p:cNvCxnSpPr>
            <a:cxnSpLocks/>
          </p:cNvCxnSpPr>
          <p:nvPr/>
        </p:nvCxnSpPr>
        <p:spPr>
          <a:xfrm>
            <a:off x="6725216" y="2943383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E405CA-F025-46B9-A6D2-9014A2D8C2AA}"/>
              </a:ext>
            </a:extLst>
          </p:cNvPr>
          <p:cNvSpPr txBox="1"/>
          <p:nvPr/>
        </p:nvSpPr>
        <p:spPr>
          <a:xfrm>
            <a:off x="6096000" y="5180302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赤矢印（中心間の距離）が</a:t>
            </a:r>
            <a:endParaRPr lang="en-US" altLang="ja-JP" sz="2400" b="1" dirty="0"/>
          </a:p>
          <a:p>
            <a:r>
              <a:rPr lang="ja-JP" altLang="en-US" sz="2400" b="1" dirty="0"/>
              <a:t>長いので当たってない</a:t>
            </a:r>
            <a:endParaRPr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71895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円と点の当たり判定 復習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円が当たっていれば、半径の合計より短くなります。</a:t>
            </a:r>
            <a:endParaRPr lang="en-US" altLang="ja-JP" sz="2400" dirty="0"/>
          </a:p>
          <a:p>
            <a:r>
              <a:rPr lang="ja-JP" altLang="en-US" sz="2400" dirty="0"/>
              <a:t>このように、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中心間の距離と半径の長さ</a:t>
            </a:r>
            <a:r>
              <a:rPr lang="ja-JP" altLang="en-US" sz="2400" dirty="0"/>
              <a:t>で判定します。</a:t>
            </a:r>
            <a:endParaRPr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AE46B6C-6F5F-4A00-9EC0-DBD2DA4DD2B5}"/>
              </a:ext>
            </a:extLst>
          </p:cNvPr>
          <p:cNvGrpSpPr/>
          <p:nvPr/>
        </p:nvGrpSpPr>
        <p:grpSpPr>
          <a:xfrm>
            <a:off x="819677" y="2317689"/>
            <a:ext cx="4082523" cy="4048357"/>
            <a:chOff x="4413777" y="2352443"/>
            <a:chExt cx="4082523" cy="4048357"/>
          </a:xfrm>
        </p:grpSpPr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6A1F1636-31FE-4EA1-B0DC-222118FEFADD}"/>
                </a:ext>
              </a:extLst>
            </p:cNvPr>
            <p:cNvSpPr/>
            <p:nvPr/>
          </p:nvSpPr>
          <p:spPr>
            <a:xfrm>
              <a:off x="5092700" y="3251200"/>
              <a:ext cx="3403600" cy="3149600"/>
            </a:xfrm>
            <a:prstGeom prst="ellipse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9D7B27CF-1E51-4707-8B28-854000D63A93}"/>
                </a:ext>
              </a:extLst>
            </p:cNvPr>
            <p:cNvCxnSpPr>
              <a:cxnSpLocks/>
            </p:cNvCxnSpPr>
            <p:nvPr/>
          </p:nvCxnSpPr>
          <p:spPr>
            <a:xfrm>
              <a:off x="5437391" y="3557402"/>
              <a:ext cx="1357109" cy="1179698"/>
            </a:xfrm>
            <a:prstGeom prst="straightConnector1">
              <a:avLst/>
            </a:prstGeom>
            <a:ln w="762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A89B685A-4B5F-4470-BAE1-1DE7889F37B4}"/>
                </a:ext>
              </a:extLst>
            </p:cNvPr>
            <p:cNvSpPr/>
            <p:nvPr/>
          </p:nvSpPr>
          <p:spPr>
            <a:xfrm>
              <a:off x="4813886" y="2852552"/>
              <a:ext cx="1257300" cy="1308100"/>
            </a:xfrm>
            <a:prstGeom prst="ellips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1937433E-FF39-4602-937A-88EBB80A268F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>
              <a:off x="5591146" y="3712448"/>
              <a:ext cx="1203354" cy="1024652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4707D8A-3912-4E47-AE2B-173615AC944C}"/>
                </a:ext>
              </a:extLst>
            </p:cNvPr>
            <p:cNvSpPr txBox="1"/>
            <p:nvPr/>
          </p:nvSpPr>
          <p:spPr>
            <a:xfrm>
              <a:off x="4413777" y="235244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半径</a:t>
              </a:r>
              <a:endParaRPr lang="en-US" altLang="ja-JP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14001272-D731-44AF-8EFE-5979940CE10B}"/>
                </a:ext>
              </a:extLst>
            </p:cNvPr>
            <p:cNvCxnSpPr>
              <a:cxnSpLocks/>
              <a:endCxn id="15" idx="5"/>
            </p:cNvCxnSpPr>
            <p:nvPr/>
          </p:nvCxnSpPr>
          <p:spPr>
            <a:xfrm>
              <a:off x="5437391" y="3557402"/>
              <a:ext cx="449668" cy="411683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0D72F9D-9AC0-455C-877A-3989C9F11C45}"/>
                </a:ext>
              </a:extLst>
            </p:cNvPr>
            <p:cNvSpPr txBox="1"/>
            <p:nvPr/>
          </p:nvSpPr>
          <p:spPr>
            <a:xfrm>
              <a:off x="6192823" y="38267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0070C0"/>
                  </a:solidFill>
                </a:rPr>
                <a:t>半径</a:t>
              </a:r>
              <a:endParaRPr lang="en-US" altLang="ja-JP" sz="24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258F43-0A60-41F7-8C11-90B4660AB0FB}"/>
              </a:ext>
            </a:extLst>
          </p:cNvPr>
          <p:cNvSpPr txBox="1"/>
          <p:nvPr/>
        </p:nvSpPr>
        <p:spPr>
          <a:xfrm>
            <a:off x="5892470" y="241225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矢印の長さ</a:t>
            </a:r>
            <a:endParaRPr lang="en-US" altLang="ja-JP" sz="24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37F530D-ED30-49AA-9D30-B4B2596C84B3}"/>
              </a:ext>
            </a:extLst>
          </p:cNvPr>
          <p:cNvSpPr txBox="1"/>
          <p:nvPr/>
        </p:nvSpPr>
        <p:spPr>
          <a:xfrm>
            <a:off x="6096000" y="5093216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赤矢印（中心間の距離）が</a:t>
            </a:r>
            <a:endParaRPr lang="en-US" altLang="ja-JP" sz="2400" b="1" dirty="0"/>
          </a:p>
          <a:p>
            <a:r>
              <a:rPr lang="ja-JP" altLang="en-US" sz="2400" b="1" dirty="0"/>
              <a:t>短いので当たっている</a:t>
            </a:r>
            <a:endParaRPr lang="en-US" altLang="ja-JP" sz="2400" b="1" dirty="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A6D8282-F5E9-4A05-A649-4D8DFEB9A78D}"/>
              </a:ext>
            </a:extLst>
          </p:cNvPr>
          <p:cNvCxnSpPr>
            <a:cxnSpLocks/>
          </p:cNvCxnSpPr>
          <p:nvPr/>
        </p:nvCxnSpPr>
        <p:spPr>
          <a:xfrm>
            <a:off x="5961721" y="2951994"/>
            <a:ext cx="1357109" cy="1179698"/>
          </a:xfrm>
          <a:prstGeom prst="straightConnector1">
            <a:avLst/>
          </a:prstGeom>
          <a:ln w="762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FBE882A4-75AF-4DAE-91A7-3B99B9C02B85}"/>
              </a:ext>
            </a:extLst>
          </p:cNvPr>
          <p:cNvCxnSpPr>
            <a:cxnSpLocks/>
          </p:cNvCxnSpPr>
          <p:nvPr/>
        </p:nvCxnSpPr>
        <p:spPr>
          <a:xfrm>
            <a:off x="6290777" y="2835331"/>
            <a:ext cx="449668" cy="411683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A9319441-7084-4899-8097-E0A321FD8F29}"/>
              </a:ext>
            </a:extLst>
          </p:cNvPr>
          <p:cNvCxnSpPr>
            <a:cxnSpLocks/>
          </p:cNvCxnSpPr>
          <p:nvPr/>
        </p:nvCxnSpPr>
        <p:spPr>
          <a:xfrm>
            <a:off x="6717153" y="3242071"/>
            <a:ext cx="1203354" cy="102465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463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球の当たり判定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つまり以下の手順で判定できます。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■手順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１．球の中心間の距離を計算する</a:t>
            </a:r>
            <a:endParaRPr lang="en-US" altLang="ja-JP" sz="2400" dirty="0"/>
          </a:p>
          <a:p>
            <a:r>
              <a:rPr lang="ja-JP" altLang="en-US" sz="2400" dirty="0"/>
              <a:t>２．距離がお互いの半径の合計以下であれば当たっている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Z</a:t>
            </a:r>
            <a:r>
              <a:rPr lang="ja-JP" altLang="en-US" sz="2400" dirty="0"/>
              <a:t>軸が増えただけで、やることは同じになります。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6498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球の当たり判定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4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CollisionSphere.cpp</a:t>
            </a:r>
            <a:r>
              <a:rPr kumimoji="1" lang="ja-JP" altLang="en-US" sz="2400" dirty="0"/>
              <a:t>の</a:t>
            </a:r>
            <a:r>
              <a:rPr kumimoji="1" lang="en-US" altLang="ja-JP" sz="2400" dirty="0" err="1"/>
              <a:t>CheckSphere</a:t>
            </a:r>
            <a:r>
              <a:rPr kumimoji="1" lang="ja-JP" altLang="en-US" sz="2400" dirty="0"/>
              <a:t>関数を完成させましょう。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B0144AD-7472-48E2-B07E-463B1FBB4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640645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75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234</Words>
  <Application>Microsoft Office PowerPoint</Application>
  <PresentationFormat>ワイド画面</PresentationFormat>
  <Paragraphs>32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46</cp:revision>
  <dcterms:created xsi:type="dcterms:W3CDTF">2024-08-27T02:15:54Z</dcterms:created>
  <dcterms:modified xsi:type="dcterms:W3CDTF">2024-09-26T01:53:07Z</dcterms:modified>
</cp:coreProperties>
</file>