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1200329"/>
          </a:xfrm>
          <a:prstGeom prst="rect">
            <a:avLst/>
          </a:prstGeom>
          <a:noFill/>
        </p:spPr>
        <p:txBody>
          <a:bodyPr wrap="none" rtlCol="0">
            <a:spAutoFit/>
          </a:bodyPr>
          <a:lstStyle/>
          <a:p>
            <a:r>
              <a:rPr kumimoji="1" lang="ja-JP" altLang="en-US" sz="2400" dirty="0"/>
              <a:t>プレイヤーの移動を作ります。</a:t>
            </a:r>
            <a:endParaRPr kumimoji="1" lang="en-US" altLang="ja-JP" sz="2400" dirty="0"/>
          </a:p>
          <a:p>
            <a:r>
              <a:rPr lang="ja-JP" altLang="en-US" sz="2400" dirty="0"/>
              <a:t>移動方法は様々ですが、今回は初代バイオハザード方式の移動を作ります。</a:t>
            </a:r>
            <a:endParaRPr lang="en-US" altLang="ja-JP" sz="2400" dirty="0"/>
          </a:p>
          <a:p>
            <a:r>
              <a:rPr lang="ja-JP" altLang="en-US" sz="2400" dirty="0"/>
              <a:t>サンプルを確認してみましょう。</a:t>
            </a:r>
            <a:endParaRPr lang="en-US" altLang="ja-JP" sz="2400" dirty="0"/>
          </a:p>
        </p:txBody>
      </p:sp>
      <p:pic>
        <p:nvPicPr>
          <p:cNvPr id="5" name="図 4">
            <a:extLst>
              <a:ext uri="{FF2B5EF4-FFF2-40B4-BE49-F238E27FC236}">
                <a16:creationId xmlns:a16="http://schemas.microsoft.com/office/drawing/2014/main" id="{D52DA5BC-16AD-45B1-A98C-1152613B3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556459"/>
            <a:ext cx="7289390" cy="3809588"/>
          </a:xfrm>
          <a:prstGeom prst="rect">
            <a:avLst/>
          </a:prstGeom>
        </p:spPr>
      </p:pic>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84538" cy="1200329"/>
          </a:xfrm>
          <a:prstGeom prst="rect">
            <a:avLst/>
          </a:prstGeom>
          <a:noFill/>
        </p:spPr>
        <p:txBody>
          <a:bodyPr wrap="none" rtlCol="0">
            <a:spAutoFit/>
          </a:bodyPr>
          <a:lstStyle/>
          <a:p>
            <a:r>
              <a:rPr kumimoji="1" lang="en-US" altLang="ja-JP" sz="2400" b="1" dirty="0">
                <a:solidFill>
                  <a:srgbClr val="FF0000"/>
                </a:solidFill>
              </a:rPr>
              <a:t>Player</a:t>
            </a:r>
            <a:r>
              <a:rPr kumimoji="1" lang="ja-JP" altLang="en-US" sz="2400" b="1" dirty="0">
                <a:solidFill>
                  <a:srgbClr val="FF0000"/>
                </a:solidFill>
              </a:rPr>
              <a:t>クラス</a:t>
            </a:r>
            <a:r>
              <a:rPr kumimoji="1" lang="ja-JP" altLang="en-US" sz="2400" dirty="0"/>
              <a:t>の</a:t>
            </a:r>
            <a:r>
              <a:rPr kumimoji="1" lang="en-US" altLang="ja-JP" sz="2400" b="1" dirty="0">
                <a:solidFill>
                  <a:srgbClr val="FF0000"/>
                </a:solidFill>
              </a:rPr>
              <a:t>Step</a:t>
            </a:r>
            <a:r>
              <a:rPr kumimoji="1" lang="ja-JP" altLang="en-US" sz="2400" b="1" dirty="0">
                <a:solidFill>
                  <a:srgbClr val="FF0000"/>
                </a:solidFill>
              </a:rPr>
              <a:t>関数</a:t>
            </a:r>
            <a:r>
              <a:rPr kumimoji="1" lang="ja-JP" altLang="en-US" sz="2400" dirty="0"/>
              <a:t>に移動処理を書いていきます。</a:t>
            </a:r>
            <a:endParaRPr kumimoji="1" lang="en-US" altLang="ja-JP" sz="2400" dirty="0"/>
          </a:p>
          <a:p>
            <a:r>
              <a:rPr kumimoji="1" lang="ja-JP" altLang="en-US" sz="2400" dirty="0"/>
              <a:t>まずは</a:t>
            </a:r>
            <a:r>
              <a:rPr kumimoji="1" lang="ja-JP" altLang="en-US" sz="2400" b="1" dirty="0">
                <a:solidFill>
                  <a:srgbClr val="FF0000"/>
                </a:solidFill>
              </a:rPr>
              <a:t>左右キーで回転</a:t>
            </a:r>
            <a:r>
              <a:rPr kumimoji="1" lang="ja-JP" altLang="en-US" sz="2400" dirty="0"/>
              <a:t>させます。</a:t>
            </a:r>
            <a:endParaRPr kumimoji="1" lang="en-US" altLang="ja-JP" sz="2400" dirty="0"/>
          </a:p>
          <a:p>
            <a:r>
              <a:rPr lang="en-US" altLang="ja-JP" sz="2400" b="1" dirty="0">
                <a:solidFill>
                  <a:srgbClr val="FF0000"/>
                </a:solidFill>
              </a:rPr>
              <a:t>XYZ</a:t>
            </a:r>
            <a:r>
              <a:rPr lang="ja-JP" altLang="en-US" sz="2400" b="1" dirty="0">
                <a:solidFill>
                  <a:srgbClr val="FF0000"/>
                </a:solidFill>
              </a:rPr>
              <a:t>どの軸で回転させるか</a:t>
            </a:r>
            <a:r>
              <a:rPr lang="ja-JP" altLang="en-US" sz="2400" dirty="0"/>
              <a:t>を考えながら、空白を埋めましょう。</a:t>
            </a:r>
            <a:endParaRPr lang="en-US" altLang="ja-JP" sz="2400" dirty="0"/>
          </a:p>
        </p:txBody>
      </p:sp>
      <p:pic>
        <p:nvPicPr>
          <p:cNvPr id="3" name="図 2">
            <a:extLst>
              <a:ext uri="{FF2B5EF4-FFF2-40B4-BE49-F238E27FC236}">
                <a16:creationId xmlns:a16="http://schemas.microsoft.com/office/drawing/2014/main" id="{F768DB48-5DC3-48A6-BAA7-E65A89250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556458"/>
            <a:ext cx="5037131" cy="3996742"/>
          </a:xfrm>
          <a:prstGeom prst="rect">
            <a:avLst/>
          </a:prstGeom>
        </p:spPr>
      </p:pic>
      <p:sp>
        <p:nvSpPr>
          <p:cNvPr id="7" name="正方形/長方形 6">
            <a:extLst>
              <a:ext uri="{FF2B5EF4-FFF2-40B4-BE49-F238E27FC236}">
                <a16:creationId xmlns:a16="http://schemas.microsoft.com/office/drawing/2014/main" id="{D9014644-8438-4E27-9A4E-D6DB367DCE75}"/>
              </a:ext>
            </a:extLst>
          </p:cNvPr>
          <p:cNvSpPr/>
          <p:nvPr/>
        </p:nvSpPr>
        <p:spPr>
          <a:xfrm>
            <a:off x="2070100" y="4610101"/>
            <a:ext cx="3721100" cy="482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D253301-5DA0-4014-8ED8-1BB778E959B4}"/>
              </a:ext>
            </a:extLst>
          </p:cNvPr>
          <p:cNvSpPr/>
          <p:nvPr/>
        </p:nvSpPr>
        <p:spPr>
          <a:xfrm>
            <a:off x="2070100" y="5845347"/>
            <a:ext cx="3721100" cy="482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E011FC8-EC36-4B9A-8D44-CD41651C0F24}"/>
              </a:ext>
            </a:extLst>
          </p:cNvPr>
          <p:cNvSpPr txBox="1"/>
          <p:nvPr/>
        </p:nvSpPr>
        <p:spPr>
          <a:xfrm>
            <a:off x="6096000" y="5641571"/>
            <a:ext cx="6032421" cy="830997"/>
          </a:xfrm>
          <a:prstGeom prst="rect">
            <a:avLst/>
          </a:prstGeom>
          <a:noFill/>
        </p:spPr>
        <p:txBody>
          <a:bodyPr wrap="none" rtlCol="0">
            <a:spAutoFit/>
          </a:bodyPr>
          <a:lstStyle/>
          <a:p>
            <a:r>
              <a:rPr kumimoji="1" lang="en-US" altLang="ja-JP" sz="2400" b="1" dirty="0"/>
              <a:t>※</a:t>
            </a:r>
            <a:r>
              <a:rPr kumimoji="1" lang="ja-JP" altLang="en-US" sz="2400" b="1" dirty="0"/>
              <a:t>増減する回転値は自分で定義しましょう</a:t>
            </a:r>
            <a:endParaRPr kumimoji="1" lang="en-US" altLang="ja-JP" sz="2400" b="1" dirty="0"/>
          </a:p>
          <a:p>
            <a:r>
              <a:rPr lang="en-US" altLang="ja-JP" sz="2400" b="1" dirty="0"/>
              <a:t>※</a:t>
            </a:r>
            <a:r>
              <a:rPr lang="ja-JP" altLang="en-US" sz="2400" b="1" dirty="0"/>
              <a:t>プレイヤーの回転値の変数は</a:t>
            </a:r>
            <a:r>
              <a:rPr lang="en-US" altLang="ja-JP" sz="2400" b="1" dirty="0" err="1"/>
              <a:t>m_Rot</a:t>
            </a:r>
            <a:r>
              <a:rPr lang="ja-JP" altLang="en-US" sz="2400" b="1" dirty="0"/>
              <a:t>です</a:t>
            </a:r>
            <a:endParaRPr lang="en-US" altLang="ja-JP" sz="2400" dirty="0"/>
          </a:p>
        </p:txBody>
      </p:sp>
    </p:spTree>
    <p:extLst>
      <p:ext uri="{BB962C8B-B14F-4D97-AF65-F5344CB8AC3E}">
        <p14:creationId xmlns:p14="http://schemas.microsoft.com/office/powerpoint/2010/main" val="3721440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68782" cy="3046988"/>
              </a:xfrm>
              <a:prstGeom prst="rect">
                <a:avLst/>
              </a:prstGeom>
              <a:noFill/>
            </p:spPr>
            <p:txBody>
              <a:bodyPr wrap="none" rtlCol="0">
                <a:spAutoFit/>
              </a:bodyPr>
              <a:lstStyle/>
              <a:p>
                <a:r>
                  <a:rPr kumimoji="1" lang="ja-JP" altLang="en-US" sz="2400" dirty="0"/>
                  <a:t>回転値は基本的に　</a:t>
                </a:r>
                <a:r>
                  <a:rPr kumimoji="1" lang="en-US" altLang="ja-JP" sz="2400" b="1" dirty="0">
                    <a:solidFill>
                      <a:srgbClr val="FF0000"/>
                    </a:solidFill>
                  </a:rPr>
                  <a:t>0</a:t>
                </a:r>
                <a:r>
                  <a:rPr kumimoji="1" lang="ja-JP" altLang="en-US" sz="2400" b="1" dirty="0">
                    <a:solidFill>
                      <a:srgbClr val="FF0000"/>
                    </a:solidFill>
                  </a:rPr>
                  <a:t>～</a:t>
                </a:r>
                <a:r>
                  <a:rPr kumimoji="1" lang="en-US" altLang="ja-JP" sz="2400" b="1" dirty="0">
                    <a:solidFill>
                      <a:srgbClr val="FF0000"/>
                    </a:solidFill>
                  </a:rPr>
                  <a:t>360°</a:t>
                </a:r>
                <a:r>
                  <a:rPr kumimoji="1" lang="ja-JP" altLang="en-US" sz="2400" dirty="0"/>
                  <a:t>の値に収めます。</a:t>
                </a:r>
                <a:endParaRPr kumimoji="1" lang="en-US" altLang="ja-JP" sz="2400" dirty="0"/>
              </a:p>
              <a:p>
                <a:r>
                  <a:rPr lang="ja-JP" altLang="en-US" sz="2400" dirty="0"/>
                  <a:t>よってこの範囲外の回転値になった場合は変換しないといけません。</a:t>
                </a:r>
                <a:endParaRPr lang="en-US" altLang="ja-JP" sz="2400" dirty="0"/>
              </a:p>
              <a:p>
                <a:endParaRPr lang="en-US" altLang="ja-JP" sz="2400" dirty="0"/>
              </a:p>
              <a:p>
                <a:r>
                  <a:rPr lang="ja-JP" altLang="en-US" sz="2400" b="1" dirty="0">
                    <a:solidFill>
                      <a:srgbClr val="FF0000"/>
                    </a:solidFill>
                  </a:rPr>
                  <a:t>■変換の例</a:t>
                </a:r>
                <a:endParaRPr lang="en-US" altLang="ja-JP" sz="2400" b="1" dirty="0">
                  <a:solidFill>
                    <a:srgbClr val="FF0000"/>
                  </a:solidFill>
                </a:endParaRPr>
              </a:p>
              <a:p>
                <a:r>
                  <a:rPr lang="ja-JP" altLang="en-US" sz="2400" b="0" dirty="0">
                    <a:solidFill>
                      <a:schemeClr val="tx1"/>
                    </a:solidFill>
                  </a:rPr>
                  <a:t>・</a:t>
                </a:r>
                <a14:m>
                  <m:oMath xmlns:m="http://schemas.openxmlformats.org/officeDocument/2006/math">
                    <m:r>
                      <a:rPr lang="en-US" altLang="ja-JP" sz="2400" b="0" i="1" dirty="0" smtClean="0">
                        <a:solidFill>
                          <a:schemeClr val="tx1"/>
                        </a:solidFill>
                        <a:latin typeface="Cambria Math" panose="02040503050406030204" pitchFamily="18" charset="0"/>
                      </a:rPr>
                      <m:t>380°</m:t>
                    </m:r>
                    <m:r>
                      <a:rPr lang="ja-JP" altLang="en-US" sz="2400" i="1" dirty="0">
                        <a:latin typeface="Cambria Math" panose="02040503050406030204" pitchFamily="18" charset="0"/>
                      </a:rPr>
                      <m:t>→</m:t>
                    </m:r>
                    <m:r>
                      <a:rPr lang="en-US" altLang="ja-JP" sz="2400" b="0" i="1" smtClean="0">
                        <a:solidFill>
                          <a:schemeClr val="tx1"/>
                        </a:solidFill>
                        <a:latin typeface="Cambria Math" panose="02040503050406030204" pitchFamily="18" charset="0"/>
                      </a:rPr>
                      <m:t>20</m:t>
                    </m:r>
                    <m:r>
                      <a:rPr lang="en-US" altLang="ja-JP" sz="2400" i="1">
                        <a:latin typeface="Cambria Math" panose="02040503050406030204" pitchFamily="18" charset="0"/>
                      </a:rPr>
                      <m:t>°</m:t>
                    </m:r>
                  </m:oMath>
                </a14:m>
                <a:endParaRPr lang="en-US" altLang="ja-JP" sz="2400" dirty="0">
                  <a:solidFill>
                    <a:srgbClr val="FF0000"/>
                  </a:solidFill>
                </a:endParaRPr>
              </a:p>
              <a:p>
                <a:r>
                  <a:rPr lang="ja-JP" altLang="en-US" sz="2400" b="0" dirty="0">
                    <a:solidFill>
                      <a:schemeClr val="tx1"/>
                    </a:solidFill>
                  </a:rPr>
                  <a:t>・</a:t>
                </a:r>
                <a14:m>
                  <m:oMath xmlns:m="http://schemas.openxmlformats.org/officeDocument/2006/math">
                    <m:r>
                      <a:rPr lang="en-US" altLang="ja-JP" sz="2400" b="0" i="0" dirty="0" smtClean="0">
                        <a:solidFill>
                          <a:schemeClr val="tx1"/>
                        </a:solidFill>
                        <a:latin typeface="Cambria Math" panose="02040503050406030204" pitchFamily="18" charset="0"/>
                      </a:rPr>
                      <m:t>−40</m:t>
                    </m:r>
                    <m:r>
                      <a:rPr lang="en-US" altLang="ja-JP" sz="2400" b="0" i="1" dirty="0" smtClean="0">
                        <a:solidFill>
                          <a:schemeClr val="tx1"/>
                        </a:solidFill>
                        <a:latin typeface="Cambria Math" panose="02040503050406030204" pitchFamily="18" charset="0"/>
                      </a:rPr>
                      <m:t>°</m:t>
                    </m:r>
                    <m:r>
                      <a:rPr lang="ja-JP" altLang="en-US" sz="2400" i="1" dirty="0">
                        <a:latin typeface="Cambria Math" panose="02040503050406030204" pitchFamily="18" charset="0"/>
                      </a:rPr>
                      <m:t>→</m:t>
                    </m:r>
                    <m:r>
                      <a:rPr lang="en-US" altLang="ja-JP" sz="2400" b="0" i="1" smtClean="0">
                        <a:solidFill>
                          <a:schemeClr val="tx1"/>
                        </a:solidFill>
                        <a:latin typeface="Cambria Math" panose="02040503050406030204" pitchFamily="18" charset="0"/>
                      </a:rPr>
                      <m:t>320</m:t>
                    </m:r>
                    <m:r>
                      <a:rPr lang="en-US" altLang="ja-JP" sz="2400" i="1">
                        <a:latin typeface="Cambria Math" panose="02040503050406030204" pitchFamily="18" charset="0"/>
                      </a:rPr>
                      <m:t>°</m:t>
                    </m:r>
                  </m:oMath>
                </a14:m>
                <a:endParaRPr lang="en-US" altLang="ja-JP" sz="2400" dirty="0">
                  <a:solidFill>
                    <a:srgbClr val="FF0000"/>
                  </a:solidFill>
                </a:endParaRPr>
              </a:p>
              <a:p>
                <a:endParaRPr lang="en-US" altLang="ja-JP" sz="2400" dirty="0">
                  <a:solidFill>
                    <a:srgbClr val="FF0000"/>
                  </a:solidFill>
                </a:endParaRPr>
              </a:p>
              <a:p>
                <a:r>
                  <a:rPr lang="en-US" altLang="ja-JP" sz="2400" b="1" dirty="0">
                    <a:solidFill>
                      <a:srgbClr val="FF0000"/>
                    </a:solidFill>
                  </a:rPr>
                  <a:t>※</a:t>
                </a:r>
                <a:r>
                  <a:rPr lang="ja-JP" altLang="en-US" sz="2400" b="1" dirty="0">
                    <a:solidFill>
                      <a:srgbClr val="FF0000"/>
                    </a:solidFill>
                  </a:rPr>
                  <a:t>プログラム上の単位はラジアン（</a:t>
                </a:r>
                <a:r>
                  <a:rPr lang="en-US" altLang="ja-JP" sz="2400" b="1" dirty="0">
                    <a:solidFill>
                      <a:srgbClr val="FF0000"/>
                    </a:solidFill>
                  </a:rPr>
                  <a:t>0</a:t>
                </a:r>
                <a:r>
                  <a:rPr lang="ja-JP" altLang="en-US" sz="2400" b="1" dirty="0">
                    <a:solidFill>
                      <a:srgbClr val="FF0000"/>
                    </a:solidFill>
                  </a:rPr>
                  <a:t>～</a:t>
                </a:r>
                <a:r>
                  <a:rPr lang="en-US" altLang="ja-JP" sz="2400" b="1" dirty="0">
                    <a:solidFill>
                      <a:srgbClr val="FF0000"/>
                    </a:solidFill>
                  </a:rPr>
                  <a:t>2π</a:t>
                </a:r>
                <a:r>
                  <a:rPr lang="ja-JP" altLang="en-US" sz="2400" b="1" dirty="0">
                    <a:solidFill>
                      <a:srgbClr val="FF0000"/>
                    </a:solidFill>
                  </a:rPr>
                  <a:t>）なので気をつけましょう</a:t>
                </a:r>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068782" cy="3046988"/>
              </a:xfrm>
              <a:prstGeom prst="rect">
                <a:avLst/>
              </a:prstGeom>
              <a:blipFill>
                <a:blip r:embed="rId2"/>
                <a:stretch>
                  <a:fillRect l="-908" t="-1603" b="-380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7220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109091" cy="830997"/>
          </a:xfrm>
          <a:prstGeom prst="rect">
            <a:avLst/>
          </a:prstGeom>
          <a:noFill/>
        </p:spPr>
        <p:txBody>
          <a:bodyPr wrap="none" rtlCol="0">
            <a:spAutoFit/>
          </a:bodyPr>
          <a:lstStyle/>
          <a:p>
            <a:r>
              <a:rPr lang="ja-JP" altLang="en-US" sz="2400" dirty="0"/>
              <a:t>回転入力後に変換処理を書きます。</a:t>
            </a:r>
            <a:endParaRPr lang="en-US" altLang="ja-JP" sz="2400" dirty="0"/>
          </a:p>
          <a:p>
            <a:r>
              <a:rPr lang="ja-JP" altLang="en-US" sz="2400" dirty="0"/>
              <a:t>空欄を埋めましょう。</a:t>
            </a:r>
            <a:endParaRPr lang="en-US" altLang="ja-JP" sz="2400" dirty="0"/>
          </a:p>
        </p:txBody>
      </p:sp>
      <p:pic>
        <p:nvPicPr>
          <p:cNvPr id="3" name="図 2">
            <a:extLst>
              <a:ext uri="{FF2B5EF4-FFF2-40B4-BE49-F238E27FC236}">
                <a16:creationId xmlns:a16="http://schemas.microsoft.com/office/drawing/2014/main" id="{5009A7DC-9647-4D10-8F9A-2B5E342DF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2187126"/>
            <a:ext cx="7050597" cy="2892874"/>
          </a:xfrm>
          <a:prstGeom prst="rect">
            <a:avLst/>
          </a:prstGeom>
        </p:spPr>
      </p:pic>
      <p:sp>
        <p:nvSpPr>
          <p:cNvPr id="7" name="テキスト ボックス 6">
            <a:extLst>
              <a:ext uri="{FF2B5EF4-FFF2-40B4-BE49-F238E27FC236}">
                <a16:creationId xmlns:a16="http://schemas.microsoft.com/office/drawing/2014/main" id="{8B23D56C-DB29-4EE1-9F0C-5FA3E2FCA9D3}"/>
              </a:ext>
            </a:extLst>
          </p:cNvPr>
          <p:cNvSpPr txBox="1"/>
          <p:nvPr/>
        </p:nvSpPr>
        <p:spPr>
          <a:xfrm>
            <a:off x="567542" y="5219700"/>
            <a:ext cx="7768473" cy="461665"/>
          </a:xfrm>
          <a:prstGeom prst="rect">
            <a:avLst/>
          </a:prstGeom>
          <a:noFill/>
        </p:spPr>
        <p:txBody>
          <a:bodyPr wrap="none" rtlCol="0">
            <a:spAutoFit/>
          </a:bodyPr>
          <a:lstStyle/>
          <a:p>
            <a:r>
              <a:rPr lang="en-US" altLang="ja-JP" sz="2400" b="1" dirty="0">
                <a:solidFill>
                  <a:srgbClr val="7030A0"/>
                </a:solidFill>
              </a:rPr>
              <a:t>DX_TWO_PI_F</a:t>
            </a:r>
            <a:r>
              <a:rPr lang="ja-JP" altLang="en-US" sz="2400" dirty="0"/>
              <a:t>は</a:t>
            </a:r>
            <a:r>
              <a:rPr lang="en-US" altLang="ja-JP" sz="2400" dirty="0" err="1"/>
              <a:t>Dxlib</a:t>
            </a:r>
            <a:r>
              <a:rPr lang="ja-JP" altLang="en-US" sz="2400" dirty="0"/>
              <a:t>が用意してくれている</a:t>
            </a:r>
            <a:r>
              <a:rPr lang="en-US" altLang="ja-JP" sz="2400" b="1" dirty="0">
                <a:solidFill>
                  <a:srgbClr val="FF0000"/>
                </a:solidFill>
              </a:rPr>
              <a:t>2π</a:t>
            </a:r>
            <a:r>
              <a:rPr lang="ja-JP" altLang="en-US" sz="2400" dirty="0"/>
              <a:t>です。</a:t>
            </a:r>
            <a:endParaRPr lang="en-US" altLang="ja-JP" sz="2400" dirty="0"/>
          </a:p>
        </p:txBody>
      </p:sp>
      <p:sp>
        <p:nvSpPr>
          <p:cNvPr id="9" name="正方形/長方形 8">
            <a:extLst>
              <a:ext uri="{FF2B5EF4-FFF2-40B4-BE49-F238E27FC236}">
                <a16:creationId xmlns:a16="http://schemas.microsoft.com/office/drawing/2014/main" id="{1A65FA8A-8599-43D9-AEFB-5C84789BD54A}"/>
              </a:ext>
            </a:extLst>
          </p:cNvPr>
          <p:cNvSpPr/>
          <p:nvPr/>
        </p:nvSpPr>
        <p:spPr>
          <a:xfrm>
            <a:off x="2374900" y="2946400"/>
            <a:ext cx="3721100" cy="482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2BA9CD5-9211-432E-9215-F821F2785CD8}"/>
              </a:ext>
            </a:extLst>
          </p:cNvPr>
          <p:cNvSpPr/>
          <p:nvPr/>
        </p:nvSpPr>
        <p:spPr>
          <a:xfrm>
            <a:off x="2374900" y="4076700"/>
            <a:ext cx="3721100" cy="482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52155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lang="ja-JP" altLang="en-US" sz="2400" dirty="0"/>
              <a:t>上キーで前進させますが、前進させるには</a:t>
            </a:r>
            <a:r>
              <a:rPr lang="ja-JP" altLang="en-US" sz="2400" b="1" dirty="0">
                <a:solidFill>
                  <a:srgbClr val="FF0000"/>
                </a:solidFill>
              </a:rPr>
              <a:t>前方ベクトル</a:t>
            </a:r>
            <a:r>
              <a:rPr lang="ja-JP" altLang="en-US" sz="2400" dirty="0"/>
              <a:t>が必要です。</a:t>
            </a:r>
            <a:endParaRPr lang="en-US" altLang="ja-JP" sz="2400" dirty="0"/>
          </a:p>
        </p:txBody>
      </p:sp>
      <p:sp>
        <p:nvSpPr>
          <p:cNvPr id="8" name="スマイル 7">
            <a:extLst>
              <a:ext uri="{FF2B5EF4-FFF2-40B4-BE49-F238E27FC236}">
                <a16:creationId xmlns:a16="http://schemas.microsoft.com/office/drawing/2014/main" id="{C49F44C4-19AB-461C-9AEE-965379D2AA04}"/>
              </a:ext>
            </a:extLst>
          </p:cNvPr>
          <p:cNvSpPr/>
          <p:nvPr/>
        </p:nvSpPr>
        <p:spPr>
          <a:xfrm>
            <a:off x="1181100" y="3543300"/>
            <a:ext cx="939800" cy="927100"/>
          </a:xfrm>
          <a:prstGeom prst="smileyFac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上 10">
            <a:extLst>
              <a:ext uri="{FF2B5EF4-FFF2-40B4-BE49-F238E27FC236}">
                <a16:creationId xmlns:a16="http://schemas.microsoft.com/office/drawing/2014/main" id="{C0272353-EC19-43DA-8E69-A35CB8054AEF}"/>
              </a:ext>
            </a:extLst>
          </p:cNvPr>
          <p:cNvSpPr/>
          <p:nvPr/>
        </p:nvSpPr>
        <p:spPr>
          <a:xfrm>
            <a:off x="1416050" y="2743200"/>
            <a:ext cx="469900" cy="685800"/>
          </a:xfrm>
          <a:prstGeom prst="up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スマイル 11">
            <a:extLst>
              <a:ext uri="{FF2B5EF4-FFF2-40B4-BE49-F238E27FC236}">
                <a16:creationId xmlns:a16="http://schemas.microsoft.com/office/drawing/2014/main" id="{B0C477E5-3DA7-4098-A81B-6B58265FE005}"/>
              </a:ext>
            </a:extLst>
          </p:cNvPr>
          <p:cNvSpPr/>
          <p:nvPr/>
        </p:nvSpPr>
        <p:spPr>
          <a:xfrm rot="2141650">
            <a:off x="3095358" y="3543300"/>
            <a:ext cx="939800" cy="927100"/>
          </a:xfrm>
          <a:prstGeom prst="smileyFac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上 12">
            <a:extLst>
              <a:ext uri="{FF2B5EF4-FFF2-40B4-BE49-F238E27FC236}">
                <a16:creationId xmlns:a16="http://schemas.microsoft.com/office/drawing/2014/main" id="{812DFDB9-30A1-4516-8152-634F6262A161}"/>
              </a:ext>
            </a:extLst>
          </p:cNvPr>
          <p:cNvSpPr/>
          <p:nvPr/>
        </p:nvSpPr>
        <p:spPr>
          <a:xfrm rot="2733245">
            <a:off x="4098658" y="3013312"/>
            <a:ext cx="469900" cy="685800"/>
          </a:xfrm>
          <a:prstGeom prst="up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スマイル 13">
            <a:extLst>
              <a:ext uri="{FF2B5EF4-FFF2-40B4-BE49-F238E27FC236}">
                <a16:creationId xmlns:a16="http://schemas.microsoft.com/office/drawing/2014/main" id="{FF8F0BEF-17C1-4EA4-9401-016956BA30EB}"/>
              </a:ext>
            </a:extLst>
          </p:cNvPr>
          <p:cNvSpPr/>
          <p:nvPr/>
        </p:nvSpPr>
        <p:spPr>
          <a:xfrm rot="9081432">
            <a:off x="5626100" y="3543300"/>
            <a:ext cx="939800" cy="927100"/>
          </a:xfrm>
          <a:prstGeom prst="smileyFac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矢印: 上 14">
            <a:extLst>
              <a:ext uri="{FF2B5EF4-FFF2-40B4-BE49-F238E27FC236}">
                <a16:creationId xmlns:a16="http://schemas.microsoft.com/office/drawing/2014/main" id="{87D5EB3E-EC9A-4063-B61C-A42D82300540}"/>
              </a:ext>
            </a:extLst>
          </p:cNvPr>
          <p:cNvSpPr/>
          <p:nvPr/>
        </p:nvSpPr>
        <p:spPr>
          <a:xfrm rot="8188424">
            <a:off x="6495648" y="4521817"/>
            <a:ext cx="469900" cy="685800"/>
          </a:xfrm>
          <a:prstGeom prst="up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スマイル 15">
            <a:extLst>
              <a:ext uri="{FF2B5EF4-FFF2-40B4-BE49-F238E27FC236}">
                <a16:creationId xmlns:a16="http://schemas.microsoft.com/office/drawing/2014/main" id="{1CDE342E-71BC-48F2-8F55-346D82D65D7D}"/>
              </a:ext>
            </a:extLst>
          </p:cNvPr>
          <p:cNvSpPr/>
          <p:nvPr/>
        </p:nvSpPr>
        <p:spPr>
          <a:xfrm rot="19060116">
            <a:off x="8773948" y="3597518"/>
            <a:ext cx="939800" cy="927100"/>
          </a:xfrm>
          <a:prstGeom prst="smileyFac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上 16">
            <a:extLst>
              <a:ext uri="{FF2B5EF4-FFF2-40B4-BE49-F238E27FC236}">
                <a16:creationId xmlns:a16="http://schemas.microsoft.com/office/drawing/2014/main" id="{E813FE1B-A2A5-44C4-B0CD-D597DD13AEBB}"/>
              </a:ext>
            </a:extLst>
          </p:cNvPr>
          <p:cNvSpPr/>
          <p:nvPr/>
        </p:nvSpPr>
        <p:spPr>
          <a:xfrm rot="18890763">
            <a:off x="8349354" y="3010727"/>
            <a:ext cx="469900" cy="685800"/>
          </a:xfrm>
          <a:prstGeom prst="upArrow">
            <a:avLst/>
          </a:prstGeom>
          <a:solidFill>
            <a:srgbClr val="FF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61386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32421" cy="461665"/>
          </a:xfrm>
          <a:prstGeom prst="rect">
            <a:avLst/>
          </a:prstGeom>
          <a:noFill/>
        </p:spPr>
        <p:txBody>
          <a:bodyPr wrap="none" rtlCol="0">
            <a:spAutoFit/>
          </a:bodyPr>
          <a:lstStyle/>
          <a:p>
            <a:r>
              <a:rPr lang="ja-JP" altLang="en-US" sz="2400" dirty="0"/>
              <a:t>前方ベクトルは</a:t>
            </a:r>
            <a:r>
              <a:rPr lang="ja-JP" altLang="en-US" sz="2400" b="1" dirty="0">
                <a:solidFill>
                  <a:srgbClr val="FF0000"/>
                </a:solidFill>
              </a:rPr>
              <a:t>三角関数</a:t>
            </a:r>
            <a:r>
              <a:rPr lang="ja-JP" altLang="en-US" sz="2400" dirty="0"/>
              <a:t>で計算できます。</a:t>
            </a:r>
            <a:endParaRPr lang="en-US" altLang="ja-JP" sz="2400" dirty="0"/>
          </a:p>
        </p:txBody>
      </p:sp>
      <p:sp>
        <p:nvSpPr>
          <p:cNvPr id="24" name="テキスト ボックス 23">
            <a:extLst>
              <a:ext uri="{FF2B5EF4-FFF2-40B4-BE49-F238E27FC236}">
                <a16:creationId xmlns:a16="http://schemas.microsoft.com/office/drawing/2014/main" id="{825C89CD-0242-410C-988B-CFA008E41453}"/>
              </a:ext>
            </a:extLst>
          </p:cNvPr>
          <p:cNvSpPr txBox="1"/>
          <p:nvPr/>
        </p:nvSpPr>
        <p:spPr>
          <a:xfrm>
            <a:off x="567542" y="4944123"/>
            <a:ext cx="9110186" cy="830997"/>
          </a:xfrm>
          <a:prstGeom prst="rect">
            <a:avLst/>
          </a:prstGeom>
          <a:noFill/>
        </p:spPr>
        <p:txBody>
          <a:bodyPr wrap="none" rtlCol="0">
            <a:spAutoFit/>
          </a:bodyPr>
          <a:lstStyle/>
          <a:p>
            <a:r>
              <a:rPr lang="ja-JP" altLang="en-US" sz="2400" b="1" dirty="0">
                <a:solidFill>
                  <a:srgbClr val="FF0000"/>
                </a:solidFill>
              </a:rPr>
              <a:t>回転している角度</a:t>
            </a:r>
            <a:r>
              <a:rPr lang="ja-JP" altLang="en-US" sz="2400" dirty="0"/>
              <a:t>が分かれば、</a:t>
            </a:r>
            <a:endParaRPr lang="en-US" altLang="ja-JP" sz="2400" dirty="0"/>
          </a:p>
          <a:p>
            <a:r>
              <a:rPr lang="ja-JP" altLang="en-US" sz="2400" dirty="0"/>
              <a:t>三角関数がベクトルの縦成分と横成分の長さを返してくれます。</a:t>
            </a:r>
            <a:endParaRPr lang="en-US" altLang="ja-JP" sz="2400" dirty="0"/>
          </a:p>
        </p:txBody>
      </p:sp>
      <p:grpSp>
        <p:nvGrpSpPr>
          <p:cNvPr id="28" name="グループ化 27">
            <a:extLst>
              <a:ext uri="{FF2B5EF4-FFF2-40B4-BE49-F238E27FC236}">
                <a16:creationId xmlns:a16="http://schemas.microsoft.com/office/drawing/2014/main" id="{B24A2570-B572-4CF2-845B-DDA6F12E6295}"/>
              </a:ext>
            </a:extLst>
          </p:cNvPr>
          <p:cNvGrpSpPr/>
          <p:nvPr/>
        </p:nvGrpSpPr>
        <p:grpSpPr>
          <a:xfrm>
            <a:off x="567542" y="1817794"/>
            <a:ext cx="3549947" cy="2932003"/>
            <a:chOff x="749730" y="1817794"/>
            <a:chExt cx="3549947" cy="2932003"/>
          </a:xfrm>
        </p:grpSpPr>
        <p:sp>
          <p:nvSpPr>
            <p:cNvPr id="12" name="スマイル 11">
              <a:extLst>
                <a:ext uri="{FF2B5EF4-FFF2-40B4-BE49-F238E27FC236}">
                  <a16:creationId xmlns:a16="http://schemas.microsoft.com/office/drawing/2014/main" id="{B0C477E5-3DA7-4098-A81B-6B58265FE005}"/>
                </a:ext>
              </a:extLst>
            </p:cNvPr>
            <p:cNvSpPr/>
            <p:nvPr/>
          </p:nvSpPr>
          <p:spPr>
            <a:xfrm rot="2141650">
              <a:off x="749730" y="3708399"/>
              <a:ext cx="939800" cy="927100"/>
            </a:xfrm>
            <a:prstGeom prst="smileyFac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7" name="グループ化 26">
              <a:extLst>
                <a:ext uri="{FF2B5EF4-FFF2-40B4-BE49-F238E27FC236}">
                  <a16:creationId xmlns:a16="http://schemas.microsoft.com/office/drawing/2014/main" id="{73337987-15DB-4B6B-A258-771A0DC63DDB}"/>
                </a:ext>
              </a:extLst>
            </p:cNvPr>
            <p:cNvGrpSpPr/>
            <p:nvPr/>
          </p:nvGrpSpPr>
          <p:grpSpPr>
            <a:xfrm>
              <a:off x="1184972" y="1817794"/>
              <a:ext cx="3114705" cy="2932003"/>
              <a:chOff x="1184972" y="1817794"/>
              <a:chExt cx="3114705" cy="2932003"/>
            </a:xfrm>
          </p:grpSpPr>
          <p:sp>
            <p:nvSpPr>
              <p:cNvPr id="20" name="正方形/長方形 19">
                <a:extLst>
                  <a:ext uri="{FF2B5EF4-FFF2-40B4-BE49-F238E27FC236}">
                    <a16:creationId xmlns:a16="http://schemas.microsoft.com/office/drawing/2014/main" id="{C3B8C570-DF1B-4A86-B573-3D587DC84DAC}"/>
                  </a:ext>
                </a:extLst>
              </p:cNvPr>
              <p:cNvSpPr/>
              <p:nvPr/>
            </p:nvSpPr>
            <p:spPr>
              <a:xfrm>
                <a:off x="3042922" y="3951406"/>
                <a:ext cx="228598" cy="2251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 name="直線矢印コネクタ 2">
                <a:extLst>
                  <a:ext uri="{FF2B5EF4-FFF2-40B4-BE49-F238E27FC236}">
                    <a16:creationId xmlns:a16="http://schemas.microsoft.com/office/drawing/2014/main" id="{178083EB-1E99-4130-B2BE-689B0A75615A}"/>
                  </a:ext>
                </a:extLst>
              </p:cNvPr>
              <p:cNvCxnSpPr>
                <a:cxnSpLocks/>
              </p:cNvCxnSpPr>
              <p:nvPr/>
            </p:nvCxnSpPr>
            <p:spPr>
              <a:xfrm flipV="1">
                <a:off x="1184972" y="1817794"/>
                <a:ext cx="2078928" cy="236050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0CF39E79-B777-41B7-B2A2-D48A61296CA8}"/>
                  </a:ext>
                </a:extLst>
              </p:cNvPr>
              <p:cNvCxnSpPr>
                <a:cxnSpLocks/>
              </p:cNvCxnSpPr>
              <p:nvPr/>
            </p:nvCxnSpPr>
            <p:spPr>
              <a:xfrm>
                <a:off x="1184972" y="4178299"/>
                <a:ext cx="2078928"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2A386569-CC36-431B-B33B-633103888833}"/>
                  </a:ext>
                </a:extLst>
              </p:cNvPr>
              <p:cNvCxnSpPr/>
              <p:nvPr/>
            </p:nvCxnSpPr>
            <p:spPr>
              <a:xfrm>
                <a:off x="3263900" y="1817794"/>
                <a:ext cx="0" cy="236050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円弧 21">
                <a:extLst>
                  <a:ext uri="{FF2B5EF4-FFF2-40B4-BE49-F238E27FC236}">
                    <a16:creationId xmlns:a16="http://schemas.microsoft.com/office/drawing/2014/main" id="{D90D02E3-8805-4E62-A990-2ACA18B7C62E}"/>
                  </a:ext>
                </a:extLst>
              </p:cNvPr>
              <p:cNvSpPr/>
              <p:nvPr/>
            </p:nvSpPr>
            <p:spPr>
              <a:xfrm>
                <a:off x="1285241" y="3721100"/>
                <a:ext cx="571500" cy="914397"/>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C61E4FD2-E0D9-4B6E-B7A0-FF6A12B2D3E9}"/>
                  </a:ext>
                </a:extLst>
              </p:cNvPr>
              <p:cNvSpPr txBox="1"/>
              <p:nvPr/>
            </p:nvSpPr>
            <p:spPr>
              <a:xfrm>
                <a:off x="1757237" y="3602334"/>
                <a:ext cx="492443" cy="461665"/>
              </a:xfrm>
              <a:prstGeom prst="rect">
                <a:avLst/>
              </a:prstGeom>
              <a:noFill/>
            </p:spPr>
            <p:txBody>
              <a:bodyPr wrap="none" rtlCol="0">
                <a:spAutoFit/>
              </a:bodyPr>
              <a:lstStyle/>
              <a:p>
                <a:r>
                  <a:rPr lang="en-US" altLang="ja-JP" sz="2400" dirty="0"/>
                  <a:t>θ</a:t>
                </a:r>
              </a:p>
            </p:txBody>
          </p:sp>
          <p:sp>
            <p:nvSpPr>
              <p:cNvPr id="25" name="テキスト ボックス 24">
                <a:extLst>
                  <a:ext uri="{FF2B5EF4-FFF2-40B4-BE49-F238E27FC236}">
                    <a16:creationId xmlns:a16="http://schemas.microsoft.com/office/drawing/2014/main" id="{82FC3A0A-0BE4-48FE-B513-EFF24E7FB417}"/>
                  </a:ext>
                </a:extLst>
              </p:cNvPr>
              <p:cNvSpPr txBox="1"/>
              <p:nvPr/>
            </p:nvSpPr>
            <p:spPr>
              <a:xfrm>
                <a:off x="1795869" y="4288132"/>
                <a:ext cx="907621" cy="461665"/>
              </a:xfrm>
              <a:prstGeom prst="rect">
                <a:avLst/>
              </a:prstGeom>
              <a:noFill/>
            </p:spPr>
            <p:txBody>
              <a:bodyPr wrap="none" rtlCol="0">
                <a:spAutoFit/>
              </a:bodyPr>
              <a:lstStyle/>
              <a:p>
                <a:r>
                  <a:rPr lang="en-US" altLang="ja-JP" sz="2400" dirty="0" err="1"/>
                  <a:t>sinθ</a:t>
                </a:r>
                <a:endParaRPr lang="en-US" altLang="ja-JP" sz="2400" dirty="0"/>
              </a:p>
            </p:txBody>
          </p:sp>
          <p:sp>
            <p:nvSpPr>
              <p:cNvPr id="26" name="テキスト ボックス 25">
                <a:extLst>
                  <a:ext uri="{FF2B5EF4-FFF2-40B4-BE49-F238E27FC236}">
                    <a16:creationId xmlns:a16="http://schemas.microsoft.com/office/drawing/2014/main" id="{C760C1E5-B584-4401-9741-21EC6B9869DD}"/>
                  </a:ext>
                </a:extLst>
              </p:cNvPr>
              <p:cNvSpPr txBox="1"/>
              <p:nvPr/>
            </p:nvSpPr>
            <p:spPr>
              <a:xfrm>
                <a:off x="3318318" y="2886667"/>
                <a:ext cx="981359" cy="461665"/>
              </a:xfrm>
              <a:prstGeom prst="rect">
                <a:avLst/>
              </a:prstGeom>
              <a:noFill/>
            </p:spPr>
            <p:txBody>
              <a:bodyPr wrap="none" rtlCol="0">
                <a:spAutoFit/>
              </a:bodyPr>
              <a:lstStyle/>
              <a:p>
                <a:r>
                  <a:rPr lang="en-US" altLang="ja-JP" sz="2400" dirty="0" err="1"/>
                  <a:t>cosθ</a:t>
                </a:r>
                <a:endParaRPr lang="en-US" altLang="ja-JP" sz="2400" dirty="0"/>
              </a:p>
            </p:txBody>
          </p:sp>
        </p:grpSp>
      </p:grpSp>
    </p:spTree>
    <p:extLst>
      <p:ext uri="{BB962C8B-B14F-4D97-AF65-F5344CB8AC3E}">
        <p14:creationId xmlns:p14="http://schemas.microsoft.com/office/powerpoint/2010/main" val="240411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132902" cy="461665"/>
          </a:xfrm>
          <a:prstGeom prst="rect">
            <a:avLst/>
          </a:prstGeom>
          <a:noFill/>
        </p:spPr>
        <p:txBody>
          <a:bodyPr wrap="none" rtlCol="0">
            <a:spAutoFit/>
          </a:bodyPr>
          <a:lstStyle/>
          <a:p>
            <a:r>
              <a:rPr lang="ja-JP" altLang="en-US" sz="2400" dirty="0"/>
              <a:t>また今回は</a:t>
            </a:r>
            <a:r>
              <a:rPr lang="en-US" altLang="ja-JP" sz="2400" b="1" dirty="0">
                <a:solidFill>
                  <a:srgbClr val="FF0000"/>
                </a:solidFill>
              </a:rPr>
              <a:t>ZX</a:t>
            </a:r>
            <a:r>
              <a:rPr lang="ja-JP" altLang="en-US" sz="2400" b="1" dirty="0">
                <a:solidFill>
                  <a:srgbClr val="FF0000"/>
                </a:solidFill>
              </a:rPr>
              <a:t>平面上</a:t>
            </a:r>
            <a:r>
              <a:rPr lang="ja-JP" altLang="en-US" sz="2400" dirty="0"/>
              <a:t>の移動ということに気をつけなければいけません。</a:t>
            </a:r>
            <a:endParaRPr lang="en-US" altLang="ja-JP" sz="2400" dirty="0"/>
          </a:p>
        </p:txBody>
      </p:sp>
      <p:grpSp>
        <p:nvGrpSpPr>
          <p:cNvPr id="14" name="グループ化 13">
            <a:extLst>
              <a:ext uri="{FF2B5EF4-FFF2-40B4-BE49-F238E27FC236}">
                <a16:creationId xmlns:a16="http://schemas.microsoft.com/office/drawing/2014/main" id="{3CB78F28-6457-47FE-8D3B-17F8EE205128}"/>
              </a:ext>
            </a:extLst>
          </p:cNvPr>
          <p:cNvGrpSpPr/>
          <p:nvPr/>
        </p:nvGrpSpPr>
        <p:grpSpPr>
          <a:xfrm>
            <a:off x="567542" y="1817794"/>
            <a:ext cx="5193950" cy="4086359"/>
            <a:chOff x="1383646" y="2194329"/>
            <a:chExt cx="5193950" cy="4086359"/>
          </a:xfrm>
        </p:grpSpPr>
        <p:sp>
          <p:nvSpPr>
            <p:cNvPr id="2" name="正方形/長方形 1">
              <a:extLst>
                <a:ext uri="{FF2B5EF4-FFF2-40B4-BE49-F238E27FC236}">
                  <a16:creationId xmlns:a16="http://schemas.microsoft.com/office/drawing/2014/main" id="{BC2BBDD3-015B-4DF4-9632-E7F9F1073A3B}"/>
                </a:ext>
              </a:extLst>
            </p:cNvPr>
            <p:cNvSpPr/>
            <p:nvPr/>
          </p:nvSpPr>
          <p:spPr>
            <a:xfrm>
              <a:off x="1876158" y="2667000"/>
              <a:ext cx="4318000" cy="30861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D8D81E9C-8431-40D0-9F89-B80F6F7D20D2}"/>
                </a:ext>
              </a:extLst>
            </p:cNvPr>
            <p:cNvSpPr/>
            <p:nvPr/>
          </p:nvSpPr>
          <p:spPr>
            <a:xfrm>
              <a:off x="3571608" y="4417906"/>
              <a:ext cx="927100" cy="9017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D908842C-1265-4A7A-BB28-D12739AFC2A3}"/>
                </a:ext>
              </a:extLst>
            </p:cNvPr>
            <p:cNvCxnSpPr>
              <a:cxnSpLocks/>
            </p:cNvCxnSpPr>
            <p:nvPr/>
          </p:nvCxnSpPr>
          <p:spPr>
            <a:xfrm flipV="1">
              <a:off x="1571358" y="2667000"/>
              <a:ext cx="0" cy="30861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EC2FACF5-86EA-43FF-BAFE-0FEF843A4D04}"/>
                </a:ext>
              </a:extLst>
            </p:cNvPr>
            <p:cNvCxnSpPr>
              <a:cxnSpLocks/>
            </p:cNvCxnSpPr>
            <p:nvPr/>
          </p:nvCxnSpPr>
          <p:spPr>
            <a:xfrm>
              <a:off x="1984108" y="6049856"/>
              <a:ext cx="421005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8F0BBD1F-BCB9-4909-AC74-511142D0CBB7}"/>
                </a:ext>
              </a:extLst>
            </p:cNvPr>
            <p:cNvSpPr txBox="1"/>
            <p:nvPr/>
          </p:nvSpPr>
          <p:spPr>
            <a:xfrm>
              <a:off x="1383646" y="2194329"/>
              <a:ext cx="375424" cy="461665"/>
            </a:xfrm>
            <a:prstGeom prst="rect">
              <a:avLst/>
            </a:prstGeom>
            <a:noFill/>
          </p:spPr>
          <p:txBody>
            <a:bodyPr wrap="none" rtlCol="0">
              <a:spAutoFit/>
            </a:bodyPr>
            <a:lstStyle/>
            <a:p>
              <a:r>
                <a:rPr lang="en-US" altLang="ja-JP" sz="2400" dirty="0">
                  <a:solidFill>
                    <a:srgbClr val="0070C0"/>
                  </a:solidFill>
                </a:rPr>
                <a:t>Z</a:t>
              </a:r>
            </a:p>
          </p:txBody>
        </p:sp>
        <p:sp>
          <p:nvSpPr>
            <p:cNvPr id="28" name="テキスト ボックス 27">
              <a:extLst>
                <a:ext uri="{FF2B5EF4-FFF2-40B4-BE49-F238E27FC236}">
                  <a16:creationId xmlns:a16="http://schemas.microsoft.com/office/drawing/2014/main" id="{D94DECFC-5753-47EE-866C-ED619F74BFDF}"/>
                </a:ext>
              </a:extLst>
            </p:cNvPr>
            <p:cNvSpPr txBox="1"/>
            <p:nvPr/>
          </p:nvSpPr>
          <p:spPr>
            <a:xfrm>
              <a:off x="6194158" y="5819023"/>
              <a:ext cx="383438" cy="461665"/>
            </a:xfrm>
            <a:prstGeom prst="rect">
              <a:avLst/>
            </a:prstGeom>
            <a:noFill/>
          </p:spPr>
          <p:txBody>
            <a:bodyPr wrap="none" rtlCol="0">
              <a:spAutoFit/>
            </a:bodyPr>
            <a:lstStyle/>
            <a:p>
              <a:r>
                <a:rPr lang="en-US" altLang="ja-JP" sz="2400" dirty="0">
                  <a:solidFill>
                    <a:srgbClr val="FF0000"/>
                  </a:solidFill>
                </a:rPr>
                <a:t>X</a:t>
              </a:r>
            </a:p>
          </p:txBody>
        </p:sp>
      </p:grpSp>
    </p:spTree>
    <p:extLst>
      <p:ext uri="{BB962C8B-B14F-4D97-AF65-F5344CB8AC3E}">
        <p14:creationId xmlns:p14="http://schemas.microsoft.com/office/powerpoint/2010/main" val="231232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024172" cy="461665"/>
          </a:xfrm>
          <a:prstGeom prst="rect">
            <a:avLst/>
          </a:prstGeom>
          <a:noFill/>
        </p:spPr>
        <p:txBody>
          <a:bodyPr wrap="none" rtlCol="0">
            <a:spAutoFit/>
          </a:bodyPr>
          <a:lstStyle/>
          <a:p>
            <a:r>
              <a:rPr lang="ja-JP" altLang="en-US" sz="2400" dirty="0"/>
              <a:t>以上を踏まえて、</a:t>
            </a:r>
            <a:r>
              <a:rPr lang="en-US" altLang="ja-JP" sz="2400" b="1" dirty="0" err="1">
                <a:solidFill>
                  <a:srgbClr val="FF0000"/>
                </a:solidFill>
              </a:rPr>
              <a:t>MyMath</a:t>
            </a:r>
            <a:r>
              <a:rPr lang="ja-JP" altLang="en-US" sz="2400" b="1" dirty="0">
                <a:solidFill>
                  <a:srgbClr val="FF0000"/>
                </a:solidFill>
              </a:rPr>
              <a:t>クラス</a:t>
            </a:r>
            <a:r>
              <a:rPr lang="ja-JP" altLang="en-US" sz="2400" dirty="0"/>
              <a:t>の</a:t>
            </a:r>
            <a:r>
              <a:rPr lang="en-US" altLang="ja-JP" sz="2400" b="1" dirty="0" err="1">
                <a:solidFill>
                  <a:srgbClr val="FF0000"/>
                </a:solidFill>
              </a:rPr>
              <a:t>VecForwardZX</a:t>
            </a:r>
            <a:r>
              <a:rPr lang="ja-JP" altLang="en-US" sz="2400" b="1" dirty="0">
                <a:solidFill>
                  <a:srgbClr val="FF0000"/>
                </a:solidFill>
              </a:rPr>
              <a:t>関数</a:t>
            </a:r>
            <a:r>
              <a:rPr lang="ja-JP" altLang="en-US" sz="2400" dirty="0"/>
              <a:t>を完成させましょう。</a:t>
            </a:r>
            <a:endParaRPr lang="en-US" altLang="ja-JP" sz="2400" dirty="0"/>
          </a:p>
        </p:txBody>
      </p:sp>
      <p:pic>
        <p:nvPicPr>
          <p:cNvPr id="5" name="図 4">
            <a:extLst>
              <a:ext uri="{FF2B5EF4-FFF2-40B4-BE49-F238E27FC236}">
                <a16:creationId xmlns:a16="http://schemas.microsoft.com/office/drawing/2014/main" id="{8E5C700D-F9E8-4AAE-B94A-0B9BAAC193BA}"/>
              </a:ext>
            </a:extLst>
          </p:cNvPr>
          <p:cNvPicPr>
            <a:picLocks noChangeAspect="1"/>
          </p:cNvPicPr>
          <p:nvPr/>
        </p:nvPicPr>
        <p:blipFill>
          <a:blip r:embed="rId2"/>
          <a:stretch>
            <a:fillRect/>
          </a:stretch>
        </p:blipFill>
        <p:spPr>
          <a:xfrm>
            <a:off x="567542" y="1817794"/>
            <a:ext cx="8148468" cy="4125806"/>
          </a:xfrm>
          <a:prstGeom prst="rect">
            <a:avLst/>
          </a:prstGeom>
        </p:spPr>
      </p:pic>
      <p:sp>
        <p:nvSpPr>
          <p:cNvPr id="9" name="正方形/長方形 8">
            <a:extLst>
              <a:ext uri="{FF2B5EF4-FFF2-40B4-BE49-F238E27FC236}">
                <a16:creationId xmlns:a16="http://schemas.microsoft.com/office/drawing/2014/main" id="{2E01D210-1BF9-4F80-AB2A-6CB00E4B7CE0}"/>
              </a:ext>
            </a:extLst>
          </p:cNvPr>
          <p:cNvSpPr/>
          <p:nvPr/>
        </p:nvSpPr>
        <p:spPr>
          <a:xfrm>
            <a:off x="3139550" y="3960052"/>
            <a:ext cx="5383928" cy="12945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54490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23690" cy="461665"/>
          </a:xfrm>
          <a:prstGeom prst="rect">
            <a:avLst/>
          </a:prstGeom>
          <a:noFill/>
        </p:spPr>
        <p:txBody>
          <a:bodyPr wrap="none" rtlCol="0">
            <a:spAutoFit/>
          </a:bodyPr>
          <a:lstStyle/>
          <a:p>
            <a:r>
              <a:rPr lang="en-US" altLang="ja-JP" sz="2400" dirty="0"/>
              <a:t>Player</a:t>
            </a:r>
            <a:r>
              <a:rPr lang="ja-JP" altLang="en-US" sz="2400" dirty="0"/>
              <a:t>クラスに戻って前進処理を作りましょう。</a:t>
            </a:r>
            <a:endParaRPr lang="en-US" altLang="ja-JP" sz="2400" dirty="0"/>
          </a:p>
        </p:txBody>
      </p:sp>
      <p:pic>
        <p:nvPicPr>
          <p:cNvPr id="3" name="図 2">
            <a:extLst>
              <a:ext uri="{FF2B5EF4-FFF2-40B4-BE49-F238E27FC236}">
                <a16:creationId xmlns:a16="http://schemas.microsoft.com/office/drawing/2014/main" id="{715E7C35-4717-47EA-99FF-957B873D1F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9704354" cy="3008206"/>
          </a:xfrm>
          <a:prstGeom prst="rect">
            <a:avLst/>
          </a:prstGeom>
        </p:spPr>
      </p:pic>
      <p:sp>
        <p:nvSpPr>
          <p:cNvPr id="5" name="正方形/長方形 4">
            <a:extLst>
              <a:ext uri="{FF2B5EF4-FFF2-40B4-BE49-F238E27FC236}">
                <a16:creationId xmlns:a16="http://schemas.microsoft.com/office/drawing/2014/main" id="{9C02D783-1E05-4BBF-8299-F28B628A7B05}"/>
              </a:ext>
            </a:extLst>
          </p:cNvPr>
          <p:cNvSpPr/>
          <p:nvPr/>
        </p:nvSpPr>
        <p:spPr>
          <a:xfrm>
            <a:off x="3086100" y="3213100"/>
            <a:ext cx="3949700" cy="558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EA3644C-00C6-4E18-9A45-D4243014E167}"/>
              </a:ext>
            </a:extLst>
          </p:cNvPr>
          <p:cNvSpPr/>
          <p:nvPr/>
        </p:nvSpPr>
        <p:spPr>
          <a:xfrm>
            <a:off x="3086100" y="4216400"/>
            <a:ext cx="3949700" cy="558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949AC32-7D17-4DA8-9E5A-0BB5FCF646ED}"/>
              </a:ext>
            </a:extLst>
          </p:cNvPr>
          <p:cNvSpPr txBox="1"/>
          <p:nvPr/>
        </p:nvSpPr>
        <p:spPr>
          <a:xfrm>
            <a:off x="567542" y="5219700"/>
            <a:ext cx="7253909" cy="830997"/>
          </a:xfrm>
          <a:prstGeom prst="rect">
            <a:avLst/>
          </a:prstGeom>
          <a:noFill/>
        </p:spPr>
        <p:txBody>
          <a:bodyPr wrap="none" rtlCol="0">
            <a:spAutoFit/>
          </a:bodyPr>
          <a:lstStyle/>
          <a:p>
            <a:r>
              <a:rPr lang="en-US" altLang="ja-JP" sz="2400" dirty="0"/>
              <a:t>※</a:t>
            </a:r>
            <a:r>
              <a:rPr lang="ja-JP" altLang="en-US" sz="2400" dirty="0"/>
              <a:t>移動速度は</a:t>
            </a:r>
            <a:r>
              <a:rPr lang="en-US" altLang="ja-JP" sz="2400" b="1" dirty="0">
                <a:solidFill>
                  <a:srgbClr val="7030A0"/>
                </a:solidFill>
              </a:rPr>
              <a:t>MOVE_SPEED</a:t>
            </a:r>
            <a:r>
              <a:rPr lang="ja-JP" altLang="en-US" sz="2400" dirty="0"/>
              <a:t>で定義してあります。</a:t>
            </a:r>
            <a:endParaRPr lang="en-US" altLang="ja-JP" sz="2400" dirty="0"/>
          </a:p>
          <a:p>
            <a:r>
              <a:rPr lang="en-US" altLang="ja-JP" sz="2400" dirty="0"/>
              <a:t>※</a:t>
            </a:r>
            <a:r>
              <a:rPr lang="ja-JP" altLang="en-US" sz="2400" dirty="0"/>
              <a:t>移動量の変数は</a:t>
            </a:r>
            <a:r>
              <a:rPr lang="en-US" altLang="ja-JP" sz="2400" b="1" dirty="0" err="1"/>
              <a:t>m_Move</a:t>
            </a:r>
            <a:r>
              <a:rPr lang="ja-JP" altLang="en-US" sz="2400" dirty="0"/>
              <a:t>で定義してあります。</a:t>
            </a:r>
            <a:endParaRPr lang="en-US" altLang="ja-JP" sz="2400" dirty="0"/>
          </a:p>
        </p:txBody>
      </p:sp>
    </p:spTree>
    <p:extLst>
      <p:ext uri="{BB962C8B-B14F-4D97-AF65-F5344CB8AC3E}">
        <p14:creationId xmlns:p14="http://schemas.microsoft.com/office/powerpoint/2010/main" val="581704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kumimoji="1" lang="ja-JP" altLang="en-US" sz="3200" b="1" u="sng" dirty="0"/>
              <a:t>プレイヤーの移動</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48314" cy="461665"/>
          </a:xfrm>
          <a:prstGeom prst="rect">
            <a:avLst/>
          </a:prstGeom>
          <a:noFill/>
        </p:spPr>
        <p:txBody>
          <a:bodyPr wrap="none" rtlCol="0">
            <a:spAutoFit/>
          </a:bodyPr>
          <a:lstStyle/>
          <a:p>
            <a:r>
              <a:rPr lang="ja-JP" altLang="en-US" sz="2400" dirty="0"/>
              <a:t>サンプル通りの動きであれば</a:t>
            </a:r>
            <a:r>
              <a:rPr lang="en-US" altLang="ja-JP" sz="2400" dirty="0"/>
              <a:t>OK</a:t>
            </a:r>
            <a:r>
              <a:rPr lang="ja-JP" altLang="en-US" sz="2400" dirty="0"/>
              <a:t>です。</a:t>
            </a:r>
            <a:endParaRPr lang="en-US" altLang="ja-JP" sz="2400" dirty="0"/>
          </a:p>
        </p:txBody>
      </p:sp>
      <p:pic>
        <p:nvPicPr>
          <p:cNvPr id="10" name="図 9">
            <a:extLst>
              <a:ext uri="{FF2B5EF4-FFF2-40B4-BE49-F238E27FC236}">
                <a16:creationId xmlns:a16="http://schemas.microsoft.com/office/drawing/2014/main" id="{2F2B8F24-0235-4E1C-B2B2-319EA0D45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1" y="1831982"/>
            <a:ext cx="7964505" cy="4162417"/>
          </a:xfrm>
          <a:prstGeom prst="rect">
            <a:avLst/>
          </a:prstGeom>
        </p:spPr>
      </p:pic>
    </p:spTree>
    <p:extLst>
      <p:ext uri="{BB962C8B-B14F-4D97-AF65-F5344CB8AC3E}">
        <p14:creationId xmlns:p14="http://schemas.microsoft.com/office/powerpoint/2010/main" val="218199761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328</Words>
  <Application>Microsoft Office PowerPoint</Application>
  <PresentationFormat>ワイド画面</PresentationFormat>
  <Paragraphs>44</Paragraphs>
  <Slides>10</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48</cp:revision>
  <dcterms:created xsi:type="dcterms:W3CDTF">2024-08-27T02:15:54Z</dcterms:created>
  <dcterms:modified xsi:type="dcterms:W3CDTF">2026-02-04T03:44:25Z</dcterms:modified>
</cp:coreProperties>
</file>