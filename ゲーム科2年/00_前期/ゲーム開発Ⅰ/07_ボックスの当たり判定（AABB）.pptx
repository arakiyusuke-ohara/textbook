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642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3D</a:t>
            </a:r>
            <a:r>
              <a:rPr kumimoji="1" lang="ja-JP" altLang="en-US" sz="2400" dirty="0"/>
              <a:t>におけるボックスの当たり判定は２種類あります。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■２種類のボックス判定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AABB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OBB</a:t>
            </a:r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AABB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Axis-Aligned Bounding Box</a:t>
            </a:r>
            <a:r>
              <a:rPr lang="ja-JP" altLang="en-US" sz="2400" b="1" dirty="0">
                <a:solidFill>
                  <a:srgbClr val="FF0000"/>
                </a:solidFill>
              </a:rPr>
              <a:t>：軸並行境界ボックス）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dirty="0"/>
              <a:t>全てのボックスが軸並行であることが前提の当たり判定です。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すべてのボックスが同じ向きを向いている前提</a:t>
            </a:r>
            <a:r>
              <a:rPr lang="ja-JP" altLang="en-US" sz="2400" dirty="0"/>
              <a:t>での当たり判定になります。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CABC0E-87A2-41FE-8821-4C72A72A884B}"/>
              </a:ext>
            </a:extLst>
          </p:cNvPr>
          <p:cNvGrpSpPr/>
          <p:nvPr/>
        </p:nvGrpSpPr>
        <p:grpSpPr>
          <a:xfrm>
            <a:off x="567542" y="2925788"/>
            <a:ext cx="3420258" cy="3221011"/>
            <a:chOff x="552630" y="3365500"/>
            <a:chExt cx="2794000" cy="257810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284A16EA-33B5-419D-BAAC-6619732CC9E8}"/>
                </a:ext>
              </a:extLst>
            </p:cNvPr>
            <p:cNvSpPr/>
            <p:nvPr/>
          </p:nvSpPr>
          <p:spPr>
            <a:xfrm>
              <a:off x="567542" y="3365500"/>
              <a:ext cx="1054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1C17221-C79A-4BAC-AFC4-5499B3A7BA8A}"/>
                </a:ext>
              </a:extLst>
            </p:cNvPr>
            <p:cNvSpPr/>
            <p:nvPr/>
          </p:nvSpPr>
          <p:spPr>
            <a:xfrm>
              <a:off x="2273300" y="3365500"/>
              <a:ext cx="546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756B81A-93D3-4E02-B5B5-FDF4A93E371E}"/>
                </a:ext>
              </a:extLst>
            </p:cNvPr>
            <p:cNvSpPr/>
            <p:nvPr/>
          </p:nvSpPr>
          <p:spPr>
            <a:xfrm>
              <a:off x="552630" y="4775200"/>
              <a:ext cx="27940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1ADC4F6-472D-45BC-A972-1FCF6977C3AE}"/>
                </a:ext>
              </a:extLst>
            </p:cNvPr>
            <p:cNvSpPr/>
            <p:nvPr/>
          </p:nvSpPr>
          <p:spPr>
            <a:xfrm>
              <a:off x="2924958" y="4056818"/>
              <a:ext cx="421672" cy="46198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83B80A-14F6-4984-8F09-27871E4C3CD7}"/>
              </a:ext>
            </a:extLst>
          </p:cNvPr>
          <p:cNvSpPr txBox="1"/>
          <p:nvPr/>
        </p:nvSpPr>
        <p:spPr>
          <a:xfrm>
            <a:off x="4053155" y="5416914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このように全部向きが同じボックス用の当たり判定。</a:t>
            </a:r>
            <a:endParaRPr lang="en-US" altLang="ja-JP" sz="2400" dirty="0"/>
          </a:p>
          <a:p>
            <a:r>
              <a:rPr lang="ja-JP" altLang="en-US" sz="2400" dirty="0"/>
              <a:t>条件は縛られるが、</a:t>
            </a:r>
            <a:r>
              <a:rPr lang="ja-JP" altLang="en-US" sz="2400" b="1" dirty="0">
                <a:solidFill>
                  <a:srgbClr val="FF0000"/>
                </a:solidFill>
              </a:rPr>
              <a:t>処理が軽い</a:t>
            </a:r>
            <a:r>
              <a:rPr lang="ja-JP" altLang="en-US" sz="2400" dirty="0"/>
              <a:t>ためよく使われる。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75021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OBB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Oriented Bounding Box</a:t>
            </a:r>
            <a:r>
              <a:rPr lang="ja-JP" altLang="en-US" sz="2400" b="1" dirty="0">
                <a:solidFill>
                  <a:srgbClr val="FF0000"/>
                </a:solidFill>
              </a:rPr>
              <a:t>：有向境界ボックス）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有向のボックスについても判定が可能な当たり判定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つまり、ボックスがどのように回転していても、正確に判定ができます。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CABC0E-87A2-41FE-8821-4C72A72A884B}"/>
              </a:ext>
            </a:extLst>
          </p:cNvPr>
          <p:cNvGrpSpPr/>
          <p:nvPr/>
        </p:nvGrpSpPr>
        <p:grpSpPr>
          <a:xfrm>
            <a:off x="567542" y="2778831"/>
            <a:ext cx="3622537" cy="3367969"/>
            <a:chOff x="552630" y="3247875"/>
            <a:chExt cx="2959241" cy="2695725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284A16EA-33B5-419D-BAAC-6619732CC9E8}"/>
                </a:ext>
              </a:extLst>
            </p:cNvPr>
            <p:cNvSpPr/>
            <p:nvPr/>
          </p:nvSpPr>
          <p:spPr>
            <a:xfrm rot="21229572">
              <a:off x="566337" y="3247875"/>
              <a:ext cx="1054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1C17221-C79A-4BAC-AFC4-5499B3A7BA8A}"/>
                </a:ext>
              </a:extLst>
            </p:cNvPr>
            <p:cNvSpPr/>
            <p:nvPr/>
          </p:nvSpPr>
          <p:spPr>
            <a:xfrm rot="6246320">
              <a:off x="2648094" y="3290465"/>
              <a:ext cx="535072" cy="119248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756B81A-93D3-4E02-B5B5-FDF4A93E371E}"/>
                </a:ext>
              </a:extLst>
            </p:cNvPr>
            <p:cNvSpPr/>
            <p:nvPr/>
          </p:nvSpPr>
          <p:spPr>
            <a:xfrm rot="768587">
              <a:off x="552630" y="4775200"/>
              <a:ext cx="27940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1ADC4F6-472D-45BC-A972-1FCF6977C3AE}"/>
                </a:ext>
              </a:extLst>
            </p:cNvPr>
            <p:cNvSpPr/>
            <p:nvPr/>
          </p:nvSpPr>
          <p:spPr>
            <a:xfrm rot="4038137">
              <a:off x="1881774" y="4232670"/>
              <a:ext cx="413157" cy="4715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83B80A-14F6-4984-8F09-27871E4C3CD7}"/>
              </a:ext>
            </a:extLst>
          </p:cNvPr>
          <p:cNvSpPr txBox="1"/>
          <p:nvPr/>
        </p:nvSpPr>
        <p:spPr>
          <a:xfrm>
            <a:off x="4289985" y="5307467"/>
            <a:ext cx="6340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向きがバラバラでも正確に判定できる分、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計算が複雑で処理が重い。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正確な物理演算が必要なゲームで使われる。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21248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895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授業では</a:t>
            </a:r>
            <a:r>
              <a:rPr lang="en-US" altLang="ja-JP" sz="2400" dirty="0"/>
              <a:t>AABB</a:t>
            </a:r>
            <a:r>
              <a:rPr lang="ja-JP" altLang="en-US" sz="2400" dirty="0"/>
              <a:t>を学びます。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AABB</a:t>
            </a:r>
            <a:r>
              <a:rPr lang="ja-JP" altLang="en-US" sz="2400" b="1" dirty="0">
                <a:solidFill>
                  <a:srgbClr val="FF0000"/>
                </a:solidFill>
              </a:rPr>
              <a:t>の考え方は</a:t>
            </a:r>
            <a:r>
              <a:rPr lang="en-US" altLang="ja-JP" sz="2400" b="1" dirty="0">
                <a:solidFill>
                  <a:srgbClr val="FF0000"/>
                </a:solidFill>
              </a:rPr>
              <a:t>2D</a:t>
            </a:r>
            <a:r>
              <a:rPr lang="ja-JP" altLang="en-US" sz="2400" b="1" dirty="0">
                <a:solidFill>
                  <a:srgbClr val="FF0000"/>
                </a:solidFill>
              </a:rPr>
              <a:t>の時とほとんど同じ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（実は</a:t>
            </a:r>
            <a:r>
              <a:rPr lang="en-US" altLang="ja-JP" sz="2400" dirty="0"/>
              <a:t>2D</a:t>
            </a:r>
            <a:r>
              <a:rPr lang="ja-JP" altLang="en-US" sz="2400" dirty="0"/>
              <a:t>の矩形の当たり判定が既に</a:t>
            </a:r>
            <a:r>
              <a:rPr lang="en-US" altLang="ja-JP" sz="2400" dirty="0"/>
              <a:t>AABB</a:t>
            </a:r>
            <a:r>
              <a:rPr lang="ja-JP" altLang="en-US" sz="2400" dirty="0"/>
              <a:t>だったりします）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BE4F2A11-2E5C-46F7-B902-516D0A9967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3947435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93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横からあたっている場合は、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左辺と右辺が交差する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72D5C37-5FC1-4B07-B3C4-E29E0F720489}"/>
              </a:ext>
            </a:extLst>
          </p:cNvPr>
          <p:cNvGrpSpPr/>
          <p:nvPr/>
        </p:nvGrpSpPr>
        <p:grpSpPr>
          <a:xfrm>
            <a:off x="567542" y="1817794"/>
            <a:ext cx="3826797" cy="2082800"/>
            <a:chOff x="3439717" y="2794000"/>
            <a:chExt cx="3826797" cy="2082800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04885786-7F5D-427C-AAFA-5BE64B4DE072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C95247A-7B4A-4FB2-AEAA-31C207418625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FFD1DE14-282E-4CA1-85D8-7055221FEE2D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53D1E63-1D47-457C-9FE1-8C89286319AC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23E25929-F77C-4995-A06A-2F3A783B95E4}"/>
              </a:ext>
            </a:extLst>
          </p:cNvPr>
          <p:cNvCxnSpPr/>
          <p:nvPr/>
        </p:nvCxnSpPr>
        <p:spPr>
          <a:xfrm>
            <a:off x="1937028" y="2235200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A407B1DF-01B1-45DC-BF4C-6194EBD48AE1}"/>
              </a:ext>
            </a:extLst>
          </p:cNvPr>
          <p:cNvCxnSpPr>
            <a:cxnSpLocks/>
          </p:cNvCxnSpPr>
          <p:nvPr/>
        </p:nvCxnSpPr>
        <p:spPr>
          <a:xfrm>
            <a:off x="1486039" y="1817794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142673" y="4318000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の左辺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の右辺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68CA960-4EE5-4DCF-9777-280CC628E6BF}"/>
              </a:ext>
            </a:extLst>
          </p:cNvPr>
          <p:cNvGrpSpPr/>
          <p:nvPr/>
        </p:nvGrpSpPr>
        <p:grpSpPr>
          <a:xfrm>
            <a:off x="7273715" y="1906694"/>
            <a:ext cx="3857808" cy="2082800"/>
            <a:chOff x="4358214" y="2794000"/>
            <a:chExt cx="3857808" cy="208280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DC1E50DF-9E4D-4BA1-AC41-8B7EDB5A170B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006A4DE-7DA3-406E-86BC-D1CF9791C508}"/>
                </a:ext>
              </a:extLst>
            </p:cNvPr>
            <p:cNvSpPr/>
            <p:nvPr/>
          </p:nvSpPr>
          <p:spPr>
            <a:xfrm>
              <a:off x="6869822" y="3220566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CDE792A-F2D4-4F1D-A937-E67C73DF7C58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D99B8EB-0B2C-4993-93ED-8315FA8F9553}"/>
                </a:ext>
              </a:extLst>
            </p:cNvPr>
            <p:cNvSpPr txBox="1"/>
            <p:nvPr/>
          </p:nvSpPr>
          <p:spPr>
            <a:xfrm>
              <a:off x="7790460" y="3220566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4326235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の右辺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の左辺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BF3DC47C-2FEF-45A1-9689-B9DE79238A98}"/>
              </a:ext>
            </a:extLst>
          </p:cNvPr>
          <p:cNvCxnSpPr>
            <a:cxnSpLocks/>
          </p:cNvCxnSpPr>
          <p:nvPr/>
        </p:nvCxnSpPr>
        <p:spPr>
          <a:xfrm>
            <a:off x="10180340" y="1914160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DEFA43ED-7C52-4ABF-881F-EE20423B1A15}"/>
              </a:ext>
            </a:extLst>
          </p:cNvPr>
          <p:cNvCxnSpPr/>
          <p:nvPr/>
        </p:nvCxnSpPr>
        <p:spPr>
          <a:xfrm>
            <a:off x="9813722" y="2313094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3490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上下からあたっている場合は、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上辺と下辺が交差する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9A05098-C3A7-478B-896B-742BE478ADE2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72D5C37-5FC1-4B07-B3C4-E29E0F720489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04885786-7F5D-427C-AAFA-5BE64B4DE072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6C95247A-7B4A-4FB2-AEAA-31C20741862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FD1DE14-282E-4CA1-85D8-7055221FEE2D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453D1E63-1D47-457C-9FE1-8C89286319AC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23E25929-F77C-4995-A06A-2F3A783B95E4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A407B1DF-01B1-45DC-BF4C-6194EBD48AE1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の上辺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の下辺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538442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の下辺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の上辺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1CAFA6C-F4F8-48B9-8A51-619C9595522D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0EFC7B14-A6D0-4762-80C6-4767FDB705A0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E23683C2-DF8D-49F0-91BC-A972E03D3AE4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699BA73A-6F2F-4E36-A35D-9138AEE594DE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B7C45E5B-A924-498B-96FF-69076F24A16C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65A7E69-D5C9-4164-8728-E8DD558D6DC1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B9380D28-F8E0-40A4-9221-DF5D7027A521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0B12998D-040E-4C0C-89BA-F11EBC78CA0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8295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これらがそのまま前後（奥手前）にも同じことが言えます。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03699870-56F5-41C2-A131-7969B91A572D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5EA9FAD4-A398-4B4B-9DDE-7A90F3053435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E10A069E-66A4-425A-9B8A-138B10DDA90A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F4E949FD-0DCD-4E42-80C3-D22034D2613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50DC7E8E-1D84-4A86-B96C-755D4F05564F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1458427C-D9A5-424A-AD59-D7A4280E3C5E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1212F67F-24B4-48BA-B784-BD239968FE6E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797E801B-9617-4AF9-BF39-2ED309B0F8CA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2EF0CD4-4C93-4935-8938-FD1CE8D36D75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の奥側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の手前側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CAD1CE4-742E-4783-9C58-122792F44C1B}"/>
              </a:ext>
            </a:extLst>
          </p:cNvPr>
          <p:cNvSpPr txBox="1"/>
          <p:nvPr/>
        </p:nvSpPr>
        <p:spPr>
          <a:xfrm>
            <a:off x="6096000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の手前側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の奥側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2416C24-3E5B-43CE-A772-B03388024649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52AD2DF5-1868-45B0-87CC-31020BE699DB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C45F2011-6853-4A32-82C0-4D07F34C2260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D46CF714-54F6-451B-B22C-9C11C2DD4B32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022D1E62-9883-48D4-AB4A-B6AB1B25D1F3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92B1CC90-29ED-4FDE-90F4-6F565F18BCF3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059D9CF8-BFE7-468B-9A48-D8256DFF2A08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AE493ACF-FE7D-4738-BCDC-84F3BE443D4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3A27229-43A5-4A09-9179-6D48CD00C239}"/>
              </a:ext>
            </a:extLst>
          </p:cNvPr>
          <p:cNvSpPr txBox="1"/>
          <p:nvPr/>
        </p:nvSpPr>
        <p:spPr>
          <a:xfrm>
            <a:off x="525702" y="1991248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奥</a:t>
            </a:r>
            <a:endParaRPr lang="en-US" altLang="ja-JP" sz="2400" b="1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90B2E6B-4FF5-4C9E-8125-F6D96E19CF96}"/>
              </a:ext>
            </a:extLst>
          </p:cNvPr>
          <p:cNvSpPr txBox="1"/>
          <p:nvPr/>
        </p:nvSpPr>
        <p:spPr>
          <a:xfrm>
            <a:off x="371813" y="4650949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手前</a:t>
            </a:r>
            <a:endParaRPr lang="en-US" altLang="ja-JP" sz="2400" b="1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36CDFDCD-BE6A-4FE0-9DCE-F59A8BA232A3}"/>
              </a:ext>
            </a:extLst>
          </p:cNvPr>
          <p:cNvCxnSpPr/>
          <p:nvPr/>
        </p:nvCxnSpPr>
        <p:spPr>
          <a:xfrm>
            <a:off x="771923" y="2634388"/>
            <a:ext cx="0" cy="172071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3609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8512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これらを踏まえて</a:t>
            </a:r>
            <a:r>
              <a:rPr kumimoji="1" lang="en-US" altLang="ja-JP" sz="2400" dirty="0"/>
              <a:t>CollisoinAABB.cpp</a:t>
            </a:r>
            <a:r>
              <a:rPr kumimoji="1" lang="ja-JP" altLang="en-US" sz="2400" dirty="0"/>
              <a:t>を完成させましょう。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01D5BF94-CCE5-4626-9C50-1EE433BB19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6819759" cy="436710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EB07BF7-85F4-48EA-9C8C-B45844E848E4}"/>
              </a:ext>
            </a:extLst>
          </p:cNvPr>
          <p:cNvSpPr/>
          <p:nvPr/>
        </p:nvSpPr>
        <p:spPr>
          <a:xfrm>
            <a:off x="1638300" y="4851400"/>
            <a:ext cx="5168900" cy="914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3202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今回は当たり判定だけで、</a:t>
            </a:r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の管理や設計には詳しく触れません。</a:t>
            </a:r>
            <a:endParaRPr kumimoji="1" lang="en-US" altLang="ja-JP" sz="2400" dirty="0"/>
          </a:p>
          <a:p>
            <a:r>
              <a:rPr lang="ja-JP" altLang="en-US" sz="2400" dirty="0"/>
              <a:t>ここで軽く紹介するので、関連するコードはしっかり見ておきましょう。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5702D9-9A43-4ABA-888D-70DAA1965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238005" cy="417892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50A1E70-6E92-4DE5-A974-433C9D1297F8}"/>
              </a:ext>
            </a:extLst>
          </p:cNvPr>
          <p:cNvSpPr txBox="1"/>
          <p:nvPr/>
        </p:nvSpPr>
        <p:spPr>
          <a:xfrm>
            <a:off x="5122595" y="5535049"/>
            <a:ext cx="5311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CollisionAABB.h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AABB</a:t>
            </a:r>
            <a:r>
              <a:rPr kumimoji="1" lang="ja-JP" altLang="en-US" sz="2400" dirty="0"/>
              <a:t>に必要な情報を持たせたクラス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73397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2935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管理つづき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AC84CA-C9C3-4F3D-9BAF-BF7153FAFE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068546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49D45E5-A75B-4623-9F89-58370ADA12E7}"/>
              </a:ext>
            </a:extLst>
          </p:cNvPr>
          <p:cNvSpPr txBox="1"/>
          <p:nvPr/>
        </p:nvSpPr>
        <p:spPr>
          <a:xfrm>
            <a:off x="6828642" y="5347275"/>
            <a:ext cx="43877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CollisionManager.h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この配列で</a:t>
            </a:r>
            <a:r>
              <a:rPr lang="en-US" altLang="ja-JP" sz="2400" dirty="0"/>
              <a:t>AABB</a:t>
            </a:r>
            <a:r>
              <a:rPr lang="ja-JP" altLang="en-US" sz="2400" dirty="0"/>
              <a:t>を管理する。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54458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2935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管理つづき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A95007C-B70E-4492-9984-413256233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038553" cy="232240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AD1AC52-0467-45A4-927D-A583D2FB9E93}"/>
              </a:ext>
            </a:extLst>
          </p:cNvPr>
          <p:cNvSpPr txBox="1"/>
          <p:nvPr/>
        </p:nvSpPr>
        <p:spPr>
          <a:xfrm>
            <a:off x="567542" y="4279900"/>
            <a:ext cx="1176155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↑</a:t>
            </a:r>
            <a:r>
              <a:rPr lang="en-US" altLang="ja-JP" sz="2400" b="1" dirty="0">
                <a:solidFill>
                  <a:srgbClr val="FF0000"/>
                </a:solidFill>
              </a:rPr>
              <a:t>Block.cpp </a:t>
            </a:r>
            <a:r>
              <a:rPr lang="en-US" altLang="ja-JP" sz="2400" b="1" dirty="0">
                <a:solidFill>
                  <a:srgbClr val="0070C0"/>
                </a:solidFill>
              </a:rPr>
              <a:t>Start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</a:t>
            </a:r>
            <a:r>
              <a:rPr lang="en-US" altLang="ja-JP" sz="2400" b="1" dirty="0" err="1">
                <a:solidFill>
                  <a:srgbClr val="00B050"/>
                </a:solidFill>
              </a:rPr>
              <a:t>CollisionManager</a:t>
            </a:r>
            <a:r>
              <a:rPr lang="ja-JP" altLang="en-US" sz="2400" dirty="0"/>
              <a:t>に</a:t>
            </a:r>
            <a:r>
              <a:rPr lang="en-US" altLang="ja-JP" sz="2400" b="1" dirty="0">
                <a:solidFill>
                  <a:srgbClr val="00B050"/>
                </a:solidFill>
              </a:rPr>
              <a:t>AABB</a:t>
            </a:r>
            <a:r>
              <a:rPr lang="ja-JP" altLang="en-US" sz="2400" dirty="0"/>
              <a:t>を作るようにお願いする処理。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AABB</a:t>
            </a:r>
            <a:r>
              <a:rPr kumimoji="1" lang="ja-JP" altLang="en-US" sz="2400" dirty="0"/>
              <a:t>はすぐに</a:t>
            </a:r>
            <a:r>
              <a:rPr kumimoji="1" lang="en-US" altLang="ja-JP" sz="2400" dirty="0"/>
              <a:t>MAX</a:t>
            </a:r>
            <a:r>
              <a:rPr kumimoji="1" lang="ja-JP" altLang="en-US" sz="2400" dirty="0"/>
              <a:t>分作るのではなく、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ブロックやプレイヤーの数に合わせて生成しています</a:t>
            </a:r>
            <a:r>
              <a:rPr lang="ja-JP" altLang="en-US" sz="2400" dirty="0"/>
              <a:t>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dirty="0"/>
              <a:t>Block</a:t>
            </a:r>
            <a:r>
              <a:rPr lang="ja-JP" altLang="en-US" sz="2400" dirty="0"/>
              <a:t>側から</a:t>
            </a:r>
            <a:r>
              <a:rPr lang="en-US" altLang="ja-JP" sz="2400" b="1" dirty="0" err="1">
                <a:solidFill>
                  <a:srgbClr val="FF0000"/>
                </a:solidFill>
              </a:rPr>
              <a:t>CollisionManager</a:t>
            </a:r>
            <a:r>
              <a:rPr lang="ja-JP" altLang="en-US" sz="2400" b="1" dirty="0">
                <a:solidFill>
                  <a:srgbClr val="FF0000"/>
                </a:solidFill>
              </a:rPr>
              <a:t>に作ってくださいとお願い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  <a:p>
            <a:r>
              <a:rPr lang="ja-JP" altLang="en-US" sz="2400" dirty="0"/>
              <a:t>このような設計を</a:t>
            </a:r>
            <a:r>
              <a:rPr lang="ja-JP" altLang="en-US" sz="2400" b="1" dirty="0">
                <a:solidFill>
                  <a:srgbClr val="FF0000"/>
                </a:solidFill>
              </a:rPr>
              <a:t>ファクトリーメソッド</a:t>
            </a:r>
            <a:r>
              <a:rPr lang="ja-JP" altLang="en-US" sz="2400" dirty="0"/>
              <a:t>と呼ばれています。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0398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549</Words>
  <Application>Microsoft Office PowerPoint</Application>
  <PresentationFormat>ワイド画面</PresentationFormat>
  <Paragraphs>68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55</cp:revision>
  <dcterms:created xsi:type="dcterms:W3CDTF">2024-08-27T02:15:54Z</dcterms:created>
  <dcterms:modified xsi:type="dcterms:W3CDTF">2025-02-07T07:12:40Z</dcterms:modified>
</cp:coreProperties>
</file>