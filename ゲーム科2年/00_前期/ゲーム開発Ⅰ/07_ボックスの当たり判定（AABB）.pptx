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ボックスの当たり判定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66427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3D</a:t>
            </a:r>
            <a:r>
              <a:rPr kumimoji="1" lang="ja-JP" altLang="en-US" sz="2400" dirty="0"/>
              <a:t>におけるボックスの当たり判定は２種類あります。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■２種類のボックス当たり判定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AABB</a:t>
            </a:r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OBB</a:t>
            </a:r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ボックスの当たり判定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8801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AABB</a:t>
            </a:r>
            <a:r>
              <a:rPr lang="ja-JP" altLang="en-US" sz="2400" b="1" dirty="0">
                <a:solidFill>
                  <a:srgbClr val="FF0000"/>
                </a:solidFill>
              </a:rPr>
              <a:t>（</a:t>
            </a:r>
            <a:r>
              <a:rPr lang="en-US" altLang="ja-JP" sz="2400" b="1" dirty="0">
                <a:solidFill>
                  <a:srgbClr val="FF0000"/>
                </a:solidFill>
              </a:rPr>
              <a:t>Axis-Aligned Bounding Box</a:t>
            </a:r>
            <a:r>
              <a:rPr lang="ja-JP" altLang="en-US" sz="2400" b="1" dirty="0">
                <a:solidFill>
                  <a:srgbClr val="FF0000"/>
                </a:solidFill>
              </a:rPr>
              <a:t>：軸並行境界ボックス）</a:t>
            </a:r>
            <a:r>
              <a:rPr lang="ja-JP" altLang="en-US" sz="2400" dirty="0"/>
              <a:t>は、</a:t>
            </a:r>
            <a:endParaRPr lang="en-US" altLang="ja-JP" sz="2400" dirty="0"/>
          </a:p>
          <a:p>
            <a:r>
              <a:rPr lang="ja-JP" altLang="en-US" sz="2400" dirty="0"/>
              <a:t>全てのボックスが軸並行であることが前提の当たり判定です。</a:t>
            </a:r>
            <a:endParaRPr lang="en-US" altLang="ja-JP" sz="2400" dirty="0"/>
          </a:p>
          <a:p>
            <a:r>
              <a:rPr lang="ja-JP" altLang="en-US" sz="2400" dirty="0"/>
              <a:t>つまり、</a:t>
            </a:r>
            <a:r>
              <a:rPr lang="ja-JP" altLang="en-US" sz="2400" b="1" dirty="0">
                <a:solidFill>
                  <a:srgbClr val="FF0000"/>
                </a:solidFill>
              </a:rPr>
              <a:t>すべてのボックスが同じ向きを向いている前提</a:t>
            </a:r>
            <a:r>
              <a:rPr lang="ja-JP" altLang="en-US" sz="2400" dirty="0"/>
              <a:t>での当たり判定になります。</a:t>
            </a:r>
            <a:endParaRPr lang="en-US" altLang="ja-JP" sz="2400" dirty="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94CABC0E-87A2-41FE-8821-4C72A72A884B}"/>
              </a:ext>
            </a:extLst>
          </p:cNvPr>
          <p:cNvGrpSpPr/>
          <p:nvPr/>
        </p:nvGrpSpPr>
        <p:grpSpPr>
          <a:xfrm>
            <a:off x="567542" y="2925788"/>
            <a:ext cx="3420258" cy="3221011"/>
            <a:chOff x="552630" y="3365500"/>
            <a:chExt cx="2794000" cy="2578100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284A16EA-33B5-419D-BAAC-6619732CC9E8}"/>
                </a:ext>
              </a:extLst>
            </p:cNvPr>
            <p:cNvSpPr/>
            <p:nvPr/>
          </p:nvSpPr>
          <p:spPr>
            <a:xfrm>
              <a:off x="567542" y="3365500"/>
              <a:ext cx="1054100" cy="1168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91C17221-C79A-4BAC-AFC4-5499B3A7BA8A}"/>
                </a:ext>
              </a:extLst>
            </p:cNvPr>
            <p:cNvSpPr/>
            <p:nvPr/>
          </p:nvSpPr>
          <p:spPr>
            <a:xfrm>
              <a:off x="2273300" y="3365500"/>
              <a:ext cx="546100" cy="1168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0756B81A-93D3-4E02-B5B5-FDF4A93E371E}"/>
                </a:ext>
              </a:extLst>
            </p:cNvPr>
            <p:cNvSpPr/>
            <p:nvPr/>
          </p:nvSpPr>
          <p:spPr>
            <a:xfrm>
              <a:off x="552630" y="4775200"/>
              <a:ext cx="2794000" cy="1168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B1ADC4F6-472D-45BC-A972-1FCF6977C3AE}"/>
                </a:ext>
              </a:extLst>
            </p:cNvPr>
            <p:cNvSpPr/>
            <p:nvPr/>
          </p:nvSpPr>
          <p:spPr>
            <a:xfrm>
              <a:off x="2924958" y="4056818"/>
              <a:ext cx="421672" cy="46198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C83B80A-14F6-4984-8F09-27871E4C3CD7}"/>
              </a:ext>
            </a:extLst>
          </p:cNvPr>
          <p:cNvSpPr txBox="1"/>
          <p:nvPr/>
        </p:nvSpPr>
        <p:spPr>
          <a:xfrm>
            <a:off x="4053155" y="5416914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このように全部向きが同じボックス用の当たり判定。</a:t>
            </a:r>
            <a:endParaRPr lang="en-US" altLang="ja-JP" sz="2400" dirty="0"/>
          </a:p>
          <a:p>
            <a:r>
              <a:rPr lang="ja-JP" altLang="en-US" sz="2400" dirty="0"/>
              <a:t>条件は縛られるが、</a:t>
            </a:r>
            <a:r>
              <a:rPr lang="ja-JP" altLang="en-US" sz="2400" b="1" dirty="0">
                <a:solidFill>
                  <a:srgbClr val="FF0000"/>
                </a:solidFill>
              </a:rPr>
              <a:t>処理が軽い</a:t>
            </a:r>
            <a:r>
              <a:rPr lang="ja-JP" altLang="en-US" sz="2400" dirty="0"/>
              <a:t>ためよく使われる。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275021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ボックスの当たり判定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OBB</a:t>
            </a:r>
            <a:r>
              <a:rPr lang="ja-JP" altLang="en-US" sz="2400" b="1" dirty="0">
                <a:solidFill>
                  <a:srgbClr val="FF0000"/>
                </a:solidFill>
              </a:rPr>
              <a:t>（</a:t>
            </a:r>
            <a:r>
              <a:rPr lang="en-US" altLang="ja-JP" sz="2400" b="1" dirty="0">
                <a:solidFill>
                  <a:srgbClr val="FF0000"/>
                </a:solidFill>
              </a:rPr>
              <a:t>Oriented Bounding Box</a:t>
            </a:r>
            <a:r>
              <a:rPr lang="ja-JP" altLang="en-US" sz="2400" b="1" dirty="0">
                <a:solidFill>
                  <a:srgbClr val="FF0000"/>
                </a:solidFill>
              </a:rPr>
              <a:t>：有向境界ボックス）</a:t>
            </a:r>
            <a:r>
              <a:rPr lang="ja-JP" altLang="en-US" sz="2400" dirty="0"/>
              <a:t>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有向のボックスについても判定が可能な当たり判定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lang="ja-JP" altLang="en-US" sz="2400" dirty="0"/>
              <a:t>つまり、ボックスがどのように回転していても、正確に判定ができます。</a:t>
            </a:r>
            <a:endParaRPr lang="en-US" altLang="ja-JP" sz="2400" dirty="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94CABC0E-87A2-41FE-8821-4C72A72A884B}"/>
              </a:ext>
            </a:extLst>
          </p:cNvPr>
          <p:cNvGrpSpPr/>
          <p:nvPr/>
        </p:nvGrpSpPr>
        <p:grpSpPr>
          <a:xfrm>
            <a:off x="567542" y="2778831"/>
            <a:ext cx="3622537" cy="3367969"/>
            <a:chOff x="552630" y="3247875"/>
            <a:chExt cx="2959241" cy="2695725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284A16EA-33B5-419D-BAAC-6619732CC9E8}"/>
                </a:ext>
              </a:extLst>
            </p:cNvPr>
            <p:cNvSpPr/>
            <p:nvPr/>
          </p:nvSpPr>
          <p:spPr>
            <a:xfrm rot="21229572">
              <a:off x="566337" y="3247875"/>
              <a:ext cx="1054100" cy="1168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91C17221-C79A-4BAC-AFC4-5499B3A7BA8A}"/>
                </a:ext>
              </a:extLst>
            </p:cNvPr>
            <p:cNvSpPr/>
            <p:nvPr/>
          </p:nvSpPr>
          <p:spPr>
            <a:xfrm rot="6246320">
              <a:off x="2648094" y="3290465"/>
              <a:ext cx="535072" cy="119248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0756B81A-93D3-4E02-B5B5-FDF4A93E371E}"/>
                </a:ext>
              </a:extLst>
            </p:cNvPr>
            <p:cNvSpPr/>
            <p:nvPr/>
          </p:nvSpPr>
          <p:spPr>
            <a:xfrm rot="768587">
              <a:off x="552630" y="4775200"/>
              <a:ext cx="2794000" cy="1168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B1ADC4F6-472D-45BC-A972-1FCF6977C3AE}"/>
                </a:ext>
              </a:extLst>
            </p:cNvPr>
            <p:cNvSpPr/>
            <p:nvPr/>
          </p:nvSpPr>
          <p:spPr>
            <a:xfrm rot="4038137">
              <a:off x="1881774" y="4232670"/>
              <a:ext cx="413157" cy="47151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C83B80A-14F6-4984-8F09-27871E4C3CD7}"/>
              </a:ext>
            </a:extLst>
          </p:cNvPr>
          <p:cNvSpPr txBox="1"/>
          <p:nvPr/>
        </p:nvSpPr>
        <p:spPr>
          <a:xfrm>
            <a:off x="4289985" y="5307467"/>
            <a:ext cx="63401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向きがバラバラでも正確に判定できる分、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計算が複雑で処理が重い。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正確な物理演算が必要なゲームで使われる。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721248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ボックスの当たり判定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7895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授業では</a:t>
            </a:r>
            <a:r>
              <a:rPr lang="en-US" altLang="ja-JP" sz="2400" dirty="0"/>
              <a:t>AABB</a:t>
            </a:r>
            <a:r>
              <a:rPr lang="ja-JP" altLang="en-US" sz="2400" dirty="0"/>
              <a:t>を学びます。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AABB</a:t>
            </a:r>
            <a:r>
              <a:rPr lang="ja-JP" altLang="en-US" sz="2400" b="1" dirty="0">
                <a:solidFill>
                  <a:srgbClr val="FF0000"/>
                </a:solidFill>
              </a:rPr>
              <a:t>の考え方は</a:t>
            </a:r>
            <a:r>
              <a:rPr lang="en-US" altLang="ja-JP" sz="2400" b="1" dirty="0">
                <a:solidFill>
                  <a:srgbClr val="FF0000"/>
                </a:solidFill>
              </a:rPr>
              <a:t>2D</a:t>
            </a:r>
            <a:r>
              <a:rPr lang="ja-JP" altLang="en-US" sz="2400" b="1" dirty="0">
                <a:solidFill>
                  <a:srgbClr val="FF0000"/>
                </a:solidFill>
              </a:rPr>
              <a:t>の時とほとんど同じ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lang="ja-JP" altLang="en-US" sz="2400" dirty="0"/>
              <a:t>（実は</a:t>
            </a:r>
            <a:r>
              <a:rPr lang="en-US" altLang="ja-JP" sz="2400" dirty="0"/>
              <a:t>2D</a:t>
            </a:r>
            <a:r>
              <a:rPr lang="ja-JP" altLang="en-US" sz="2400" dirty="0"/>
              <a:t>の矩形の当たり判定が既に</a:t>
            </a:r>
            <a:r>
              <a:rPr lang="en-US" altLang="ja-JP" sz="2400" dirty="0"/>
              <a:t>AABB</a:t>
            </a:r>
            <a:r>
              <a:rPr lang="ja-JP" altLang="en-US" sz="2400" dirty="0"/>
              <a:t>だったりします）</a:t>
            </a:r>
            <a:endParaRPr lang="en-US" altLang="ja-JP" sz="24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BE4F2A11-2E5C-46F7-B902-516D0A9967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556458"/>
            <a:ext cx="3947435" cy="380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93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636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矩形と矩形の当たり判定 復習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横からあたっている場合は、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左辺と右辺が交差する</a:t>
            </a:r>
            <a:r>
              <a:rPr kumimoji="1" lang="ja-JP" altLang="en-US" sz="2400" dirty="0"/>
              <a:t>形になります。</a:t>
            </a:r>
            <a:endParaRPr lang="en-US" altLang="ja-JP" sz="2400" dirty="0"/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A72D5C37-5FC1-4B07-B3C4-E29E0F720489}"/>
              </a:ext>
            </a:extLst>
          </p:cNvPr>
          <p:cNvGrpSpPr/>
          <p:nvPr/>
        </p:nvGrpSpPr>
        <p:grpSpPr>
          <a:xfrm>
            <a:off x="567542" y="1817794"/>
            <a:ext cx="3826797" cy="2082800"/>
            <a:chOff x="3439717" y="2794000"/>
            <a:chExt cx="3826797" cy="2082800"/>
          </a:xfrm>
        </p:grpSpPr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04885786-7F5D-427C-AAFA-5BE64B4DE072}"/>
                </a:ext>
              </a:extLst>
            </p:cNvPr>
            <p:cNvSpPr/>
            <p:nvPr/>
          </p:nvSpPr>
          <p:spPr>
            <a:xfrm>
              <a:off x="4358214" y="2794000"/>
              <a:ext cx="2908300" cy="20828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6C95247A-7B4A-4FB2-AEAA-31C207418625}"/>
                </a:ext>
              </a:extLst>
            </p:cNvPr>
            <p:cNvSpPr/>
            <p:nvPr/>
          </p:nvSpPr>
          <p:spPr>
            <a:xfrm>
              <a:off x="3463003" y="3213100"/>
              <a:ext cx="1346200" cy="1244600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FFD1DE14-282E-4CA1-85D8-7055221FEE2D}"/>
                </a:ext>
              </a:extLst>
            </p:cNvPr>
            <p:cNvSpPr txBox="1"/>
            <p:nvPr/>
          </p:nvSpPr>
          <p:spPr>
            <a:xfrm>
              <a:off x="6870252" y="2794000"/>
              <a:ext cx="3962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rgbClr val="FF0000"/>
                  </a:solidFill>
                </a:rPr>
                <a:t>A</a:t>
              </a:r>
              <a:endParaRPr lang="en-US" altLang="ja-JP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453D1E63-1D47-457C-9FE1-8C89286319AC}"/>
                </a:ext>
              </a:extLst>
            </p:cNvPr>
            <p:cNvSpPr txBox="1"/>
            <p:nvPr/>
          </p:nvSpPr>
          <p:spPr>
            <a:xfrm>
              <a:off x="3439717" y="3198167"/>
              <a:ext cx="4026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accent6">
                      <a:lumMod val="75000"/>
                    </a:schemeClr>
                  </a:solidFill>
                </a:rPr>
                <a:t>B</a:t>
              </a:r>
              <a:endParaRPr lang="en-US" altLang="ja-JP" sz="2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23E25929-F77C-4995-A06A-2F3A783B95E4}"/>
              </a:ext>
            </a:extLst>
          </p:cNvPr>
          <p:cNvCxnSpPr/>
          <p:nvPr/>
        </p:nvCxnSpPr>
        <p:spPr>
          <a:xfrm>
            <a:off x="1937028" y="2235200"/>
            <a:ext cx="0" cy="127000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A407B1DF-01B1-45DC-BF4C-6194EBD48AE1}"/>
              </a:ext>
            </a:extLst>
          </p:cNvPr>
          <p:cNvCxnSpPr>
            <a:cxnSpLocks/>
          </p:cNvCxnSpPr>
          <p:nvPr/>
        </p:nvCxnSpPr>
        <p:spPr>
          <a:xfrm>
            <a:off x="1486039" y="1817794"/>
            <a:ext cx="0" cy="20828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0EDB4DE-8E90-48FE-9CF6-900794A9465A}"/>
              </a:ext>
            </a:extLst>
          </p:cNvPr>
          <p:cNvSpPr txBox="1"/>
          <p:nvPr/>
        </p:nvSpPr>
        <p:spPr>
          <a:xfrm>
            <a:off x="142673" y="4318000"/>
            <a:ext cx="55867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/>
              <a:t>↑</a:t>
            </a:r>
            <a:r>
              <a:rPr kumimoji="1" lang="en-US" altLang="ja-JP" sz="1600" dirty="0">
                <a:solidFill>
                  <a:srgbClr val="FF0000"/>
                </a:solidFill>
              </a:rPr>
              <a:t>A</a:t>
            </a:r>
            <a:r>
              <a:rPr kumimoji="1" lang="ja-JP" altLang="en-US" sz="1600" dirty="0">
                <a:solidFill>
                  <a:srgbClr val="FF0000"/>
                </a:solidFill>
              </a:rPr>
              <a:t>の左辺</a:t>
            </a:r>
            <a:r>
              <a:rPr kumimoji="1" lang="ja-JP" altLang="en-US" sz="1600" dirty="0"/>
              <a:t>と</a:t>
            </a:r>
            <a:r>
              <a:rPr kumimoji="1" lang="en-US" altLang="ja-JP" sz="1600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kumimoji="1" lang="ja-JP" altLang="en-US" sz="1600" dirty="0">
                <a:solidFill>
                  <a:schemeClr val="accent6">
                    <a:lumMod val="75000"/>
                  </a:schemeClr>
                </a:solidFill>
              </a:rPr>
              <a:t>の右辺</a:t>
            </a:r>
            <a:r>
              <a:rPr kumimoji="1" lang="ja-JP" altLang="en-US" sz="1600" dirty="0"/>
              <a:t>が交差すると当たっている可能性あり</a:t>
            </a:r>
            <a:endParaRPr lang="en-US" altLang="ja-JP" sz="1600" dirty="0"/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C68CA960-4EE5-4DCF-9777-280CC628E6BF}"/>
              </a:ext>
            </a:extLst>
          </p:cNvPr>
          <p:cNvGrpSpPr/>
          <p:nvPr/>
        </p:nvGrpSpPr>
        <p:grpSpPr>
          <a:xfrm>
            <a:off x="7273715" y="1906694"/>
            <a:ext cx="3857808" cy="2082800"/>
            <a:chOff x="4358214" y="2794000"/>
            <a:chExt cx="3857808" cy="2082800"/>
          </a:xfrm>
        </p:grpSpPr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DC1E50DF-9E4D-4BA1-AC41-8B7EDB5A170B}"/>
                </a:ext>
              </a:extLst>
            </p:cNvPr>
            <p:cNvSpPr/>
            <p:nvPr/>
          </p:nvSpPr>
          <p:spPr>
            <a:xfrm>
              <a:off x="4358214" y="2794000"/>
              <a:ext cx="2908300" cy="20828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0006A4DE-7DA3-406E-86BC-D1CF9791C508}"/>
                </a:ext>
              </a:extLst>
            </p:cNvPr>
            <p:cNvSpPr/>
            <p:nvPr/>
          </p:nvSpPr>
          <p:spPr>
            <a:xfrm>
              <a:off x="6869822" y="3220566"/>
              <a:ext cx="1346200" cy="1244600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4CDE792A-F2D4-4F1D-A937-E67C73DF7C58}"/>
                </a:ext>
              </a:extLst>
            </p:cNvPr>
            <p:cNvSpPr txBox="1"/>
            <p:nvPr/>
          </p:nvSpPr>
          <p:spPr>
            <a:xfrm>
              <a:off x="6870252" y="2794000"/>
              <a:ext cx="3962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rgbClr val="FF0000"/>
                  </a:solidFill>
                </a:rPr>
                <a:t>A</a:t>
              </a:r>
              <a:endParaRPr lang="en-US" altLang="ja-JP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3D99B8EB-0B2C-4993-93ED-8315FA8F9553}"/>
                </a:ext>
              </a:extLst>
            </p:cNvPr>
            <p:cNvSpPr txBox="1"/>
            <p:nvPr/>
          </p:nvSpPr>
          <p:spPr>
            <a:xfrm>
              <a:off x="7790460" y="3220566"/>
              <a:ext cx="4026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accent6">
                      <a:lumMod val="75000"/>
                    </a:schemeClr>
                  </a:solidFill>
                </a:rPr>
                <a:t>B</a:t>
              </a:r>
              <a:endParaRPr lang="en-US" altLang="ja-JP" sz="2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99D263D-C28A-4B12-8528-E834DCE595F5}"/>
              </a:ext>
            </a:extLst>
          </p:cNvPr>
          <p:cNvSpPr txBox="1"/>
          <p:nvPr/>
        </p:nvSpPr>
        <p:spPr>
          <a:xfrm>
            <a:off x="6096000" y="4326235"/>
            <a:ext cx="55867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/>
              <a:t>↑</a:t>
            </a:r>
            <a:r>
              <a:rPr kumimoji="1" lang="en-US" altLang="ja-JP" sz="1600" dirty="0">
                <a:solidFill>
                  <a:srgbClr val="FF0000"/>
                </a:solidFill>
              </a:rPr>
              <a:t>A</a:t>
            </a:r>
            <a:r>
              <a:rPr kumimoji="1" lang="ja-JP" altLang="en-US" sz="1600" dirty="0">
                <a:solidFill>
                  <a:srgbClr val="FF0000"/>
                </a:solidFill>
              </a:rPr>
              <a:t>の右辺</a:t>
            </a:r>
            <a:r>
              <a:rPr kumimoji="1" lang="ja-JP" altLang="en-US" sz="1600" dirty="0"/>
              <a:t>と</a:t>
            </a:r>
            <a:r>
              <a:rPr kumimoji="1" lang="en-US" altLang="ja-JP" sz="1600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kumimoji="1" lang="ja-JP" altLang="en-US" sz="1600" dirty="0">
                <a:solidFill>
                  <a:schemeClr val="accent6">
                    <a:lumMod val="75000"/>
                  </a:schemeClr>
                </a:solidFill>
              </a:rPr>
              <a:t>の左辺</a:t>
            </a:r>
            <a:r>
              <a:rPr kumimoji="1" lang="ja-JP" altLang="en-US" sz="1600" dirty="0"/>
              <a:t>が交差すると当たっている可能性あり</a:t>
            </a:r>
            <a:endParaRPr lang="en-US" altLang="ja-JP" sz="1600" dirty="0"/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BF3DC47C-2FEF-45A1-9689-B9DE79238A98}"/>
              </a:ext>
            </a:extLst>
          </p:cNvPr>
          <p:cNvCxnSpPr>
            <a:cxnSpLocks/>
          </p:cNvCxnSpPr>
          <p:nvPr/>
        </p:nvCxnSpPr>
        <p:spPr>
          <a:xfrm>
            <a:off x="10180340" y="1914160"/>
            <a:ext cx="0" cy="20828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DEFA43ED-7C52-4ABF-881F-EE20423B1A15}"/>
              </a:ext>
            </a:extLst>
          </p:cNvPr>
          <p:cNvCxnSpPr/>
          <p:nvPr/>
        </p:nvCxnSpPr>
        <p:spPr>
          <a:xfrm>
            <a:off x="9813722" y="2313094"/>
            <a:ext cx="0" cy="127000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3490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636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矩形と矩形の当たり判定 復習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上下からあたっている場合は、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上辺と下辺が交差する</a:t>
            </a:r>
            <a:r>
              <a:rPr kumimoji="1" lang="ja-JP" altLang="en-US" sz="2400" dirty="0"/>
              <a:t>形になります。</a:t>
            </a:r>
            <a:endParaRPr lang="en-US" altLang="ja-JP" sz="2400" dirty="0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69A05098-C3A7-478B-896B-742BE478ADE2}"/>
              </a:ext>
            </a:extLst>
          </p:cNvPr>
          <p:cNvGrpSpPr/>
          <p:nvPr/>
        </p:nvGrpSpPr>
        <p:grpSpPr>
          <a:xfrm>
            <a:off x="1486039" y="2091862"/>
            <a:ext cx="2908300" cy="2939032"/>
            <a:chOff x="1486039" y="961562"/>
            <a:chExt cx="2908300" cy="2939032"/>
          </a:xfrm>
        </p:grpSpPr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A72D5C37-5FC1-4B07-B3C4-E29E0F720489}"/>
                </a:ext>
              </a:extLst>
            </p:cNvPr>
            <p:cNvGrpSpPr/>
            <p:nvPr/>
          </p:nvGrpSpPr>
          <p:grpSpPr>
            <a:xfrm>
              <a:off x="1486039" y="961562"/>
              <a:ext cx="2908300" cy="2939032"/>
              <a:chOff x="4358214" y="1937768"/>
              <a:chExt cx="2908300" cy="2939032"/>
            </a:xfrm>
          </p:grpSpPr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04885786-7F5D-427C-AAFA-5BE64B4DE072}"/>
                  </a:ext>
                </a:extLst>
              </p:cNvPr>
              <p:cNvSpPr/>
              <p:nvPr/>
            </p:nvSpPr>
            <p:spPr>
              <a:xfrm>
                <a:off x="4358214" y="2794000"/>
                <a:ext cx="2908300" cy="208280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6C95247A-7B4A-4FB2-AEAA-31C207418625}"/>
                  </a:ext>
                </a:extLst>
              </p:cNvPr>
              <p:cNvSpPr/>
              <p:nvPr/>
            </p:nvSpPr>
            <p:spPr>
              <a:xfrm>
                <a:off x="5169227" y="1937768"/>
                <a:ext cx="1346200" cy="1244600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FFD1DE14-282E-4CA1-85D8-7055221FEE2D}"/>
                  </a:ext>
                </a:extLst>
              </p:cNvPr>
              <p:cNvSpPr txBox="1"/>
              <p:nvPr/>
            </p:nvSpPr>
            <p:spPr>
              <a:xfrm>
                <a:off x="6870252" y="2794000"/>
                <a:ext cx="3962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A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453D1E63-1D47-457C-9FE1-8C89286319AC}"/>
                  </a:ext>
                </a:extLst>
              </p:cNvPr>
              <p:cNvSpPr txBox="1"/>
              <p:nvPr/>
            </p:nvSpPr>
            <p:spPr>
              <a:xfrm>
                <a:off x="5146339" y="1948333"/>
                <a:ext cx="4026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B</a:t>
                </a:r>
                <a:endParaRPr lang="en-US" altLang="ja-JP" sz="24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p:grp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23E25929-F77C-4995-A06A-2F3A783B95E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2" y="2206162"/>
              <a:ext cx="1343601" cy="0"/>
            </a:xfrm>
            <a:prstGeom prst="line">
              <a:avLst/>
            </a:prstGeom>
            <a:ln w="762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A407B1DF-01B1-45DC-BF4C-6194EBD48AE1}"/>
                </a:ext>
              </a:extLst>
            </p:cNvPr>
            <p:cNvCxnSpPr>
              <a:cxnSpLocks/>
            </p:cNvCxnSpPr>
            <p:nvPr/>
          </p:nvCxnSpPr>
          <p:spPr>
            <a:xfrm>
              <a:off x="1486039" y="1817794"/>
              <a:ext cx="2908300" cy="7466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0EDB4DE-8E90-48FE-9CF6-900794A9465A}"/>
              </a:ext>
            </a:extLst>
          </p:cNvPr>
          <p:cNvSpPr txBox="1"/>
          <p:nvPr/>
        </p:nvSpPr>
        <p:spPr>
          <a:xfrm>
            <a:off x="72867" y="5384429"/>
            <a:ext cx="57919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/>
              <a:t>↑</a:t>
            </a:r>
            <a:r>
              <a:rPr kumimoji="1" lang="en-US" altLang="ja-JP" sz="1600" dirty="0">
                <a:solidFill>
                  <a:srgbClr val="FF0000"/>
                </a:solidFill>
              </a:rPr>
              <a:t>A</a:t>
            </a:r>
            <a:r>
              <a:rPr kumimoji="1" lang="ja-JP" altLang="en-US" sz="1600" dirty="0">
                <a:solidFill>
                  <a:srgbClr val="FF0000"/>
                </a:solidFill>
              </a:rPr>
              <a:t>の上辺</a:t>
            </a:r>
            <a:r>
              <a:rPr kumimoji="1" lang="ja-JP" altLang="en-US" sz="1600" dirty="0"/>
              <a:t>と</a:t>
            </a:r>
            <a:r>
              <a:rPr kumimoji="1" lang="en-US" altLang="ja-JP" sz="1600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kumimoji="1" lang="ja-JP" altLang="en-US" sz="1600" dirty="0">
                <a:solidFill>
                  <a:schemeClr val="accent6">
                    <a:lumMod val="75000"/>
                  </a:schemeClr>
                </a:solidFill>
              </a:rPr>
              <a:t>の下辺</a:t>
            </a:r>
            <a:r>
              <a:rPr kumimoji="1" lang="ja-JP" altLang="en-US" sz="1600" dirty="0"/>
              <a:t>が交差すると当たっている可能性あり</a:t>
            </a:r>
            <a:endParaRPr lang="en-US" altLang="ja-JP" sz="1600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99D263D-C28A-4B12-8528-E834DCE595F5}"/>
              </a:ext>
            </a:extLst>
          </p:cNvPr>
          <p:cNvSpPr txBox="1"/>
          <p:nvPr/>
        </p:nvSpPr>
        <p:spPr>
          <a:xfrm>
            <a:off x="6096000" y="5384429"/>
            <a:ext cx="55867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/>
              <a:t>↑</a:t>
            </a:r>
            <a:r>
              <a:rPr kumimoji="1" lang="en-US" altLang="ja-JP" sz="1600" dirty="0">
                <a:solidFill>
                  <a:srgbClr val="FF0000"/>
                </a:solidFill>
              </a:rPr>
              <a:t>A</a:t>
            </a:r>
            <a:r>
              <a:rPr kumimoji="1" lang="ja-JP" altLang="en-US" sz="1600" dirty="0">
                <a:solidFill>
                  <a:srgbClr val="FF0000"/>
                </a:solidFill>
              </a:rPr>
              <a:t>の下辺</a:t>
            </a:r>
            <a:r>
              <a:rPr kumimoji="1" lang="ja-JP" altLang="en-US" sz="1600" dirty="0"/>
              <a:t>と</a:t>
            </a:r>
            <a:r>
              <a:rPr kumimoji="1" lang="en-US" altLang="ja-JP" sz="1600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kumimoji="1" lang="ja-JP" altLang="en-US" sz="1600" dirty="0">
                <a:solidFill>
                  <a:schemeClr val="accent6">
                    <a:lumMod val="75000"/>
                  </a:schemeClr>
                </a:solidFill>
              </a:rPr>
              <a:t>の上辺</a:t>
            </a:r>
            <a:r>
              <a:rPr kumimoji="1" lang="ja-JP" altLang="en-US" sz="1600" dirty="0"/>
              <a:t>が交差すると当たっている可能性あり</a:t>
            </a:r>
            <a:endParaRPr lang="en-US" altLang="ja-JP" sz="1600" dirty="0"/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21CAFA6C-F4F8-48B9-8A51-619C9595522D}"/>
              </a:ext>
            </a:extLst>
          </p:cNvPr>
          <p:cNvGrpSpPr/>
          <p:nvPr/>
        </p:nvGrpSpPr>
        <p:grpSpPr>
          <a:xfrm>
            <a:off x="7240953" y="1991249"/>
            <a:ext cx="2908300" cy="3080025"/>
            <a:chOff x="1486039" y="1817794"/>
            <a:chExt cx="2908300" cy="3080025"/>
          </a:xfrm>
        </p:grpSpPr>
        <p:grpSp>
          <p:nvGrpSpPr>
            <p:cNvPr id="28" name="グループ化 27">
              <a:extLst>
                <a:ext uri="{FF2B5EF4-FFF2-40B4-BE49-F238E27FC236}">
                  <a16:creationId xmlns:a16="http://schemas.microsoft.com/office/drawing/2014/main" id="{0EFC7B14-A6D0-4762-80C6-4767FDB705A0}"/>
                </a:ext>
              </a:extLst>
            </p:cNvPr>
            <p:cNvGrpSpPr/>
            <p:nvPr/>
          </p:nvGrpSpPr>
          <p:grpSpPr>
            <a:xfrm>
              <a:off x="1486039" y="1817794"/>
              <a:ext cx="2908300" cy="3080025"/>
              <a:chOff x="4358214" y="2794000"/>
              <a:chExt cx="2908300" cy="3080025"/>
            </a:xfrm>
          </p:grpSpPr>
          <p:sp>
            <p:nvSpPr>
              <p:cNvPr id="31" name="正方形/長方形 30">
                <a:extLst>
                  <a:ext uri="{FF2B5EF4-FFF2-40B4-BE49-F238E27FC236}">
                    <a16:creationId xmlns:a16="http://schemas.microsoft.com/office/drawing/2014/main" id="{E23683C2-DF8D-49F0-91BC-A972E03D3AE4}"/>
                  </a:ext>
                </a:extLst>
              </p:cNvPr>
              <p:cNvSpPr/>
              <p:nvPr/>
            </p:nvSpPr>
            <p:spPr>
              <a:xfrm>
                <a:off x="4358214" y="2794000"/>
                <a:ext cx="2908300" cy="208280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" name="正方形/長方形 31">
                <a:extLst>
                  <a:ext uri="{FF2B5EF4-FFF2-40B4-BE49-F238E27FC236}">
                    <a16:creationId xmlns:a16="http://schemas.microsoft.com/office/drawing/2014/main" id="{699BA73A-6F2F-4E36-A35D-9138AEE594DE}"/>
                  </a:ext>
                </a:extLst>
              </p:cNvPr>
              <p:cNvSpPr/>
              <p:nvPr/>
            </p:nvSpPr>
            <p:spPr>
              <a:xfrm>
                <a:off x="5169227" y="4535551"/>
                <a:ext cx="1346200" cy="1244600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B7C45E5B-A924-498B-96FF-69076F24A16C}"/>
                  </a:ext>
                </a:extLst>
              </p:cNvPr>
              <p:cNvSpPr txBox="1"/>
              <p:nvPr/>
            </p:nvSpPr>
            <p:spPr>
              <a:xfrm>
                <a:off x="6870252" y="2794000"/>
                <a:ext cx="3962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A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965A7E69-D5C9-4164-8728-E8DD558D6DC1}"/>
                  </a:ext>
                </a:extLst>
              </p:cNvPr>
              <p:cNvSpPr txBox="1"/>
              <p:nvPr/>
            </p:nvSpPr>
            <p:spPr>
              <a:xfrm>
                <a:off x="5112077" y="5412360"/>
                <a:ext cx="40372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B</a:t>
                </a:r>
                <a:endParaRPr lang="en-US" altLang="ja-JP" sz="24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p:grpSp>
        <p:cxnSp>
          <p:nvCxnSpPr>
            <p:cNvPr id="29" name="直線コネクタ 28">
              <a:extLst>
                <a:ext uri="{FF2B5EF4-FFF2-40B4-BE49-F238E27FC236}">
                  <a16:creationId xmlns:a16="http://schemas.microsoft.com/office/drawing/2014/main" id="{B9380D28-F8E0-40A4-9221-DF5D7027A521}"/>
                </a:ext>
              </a:extLst>
            </p:cNvPr>
            <p:cNvCxnSpPr>
              <a:cxnSpLocks/>
            </p:cNvCxnSpPr>
            <p:nvPr/>
          </p:nvCxnSpPr>
          <p:spPr>
            <a:xfrm>
              <a:off x="2298099" y="3544105"/>
              <a:ext cx="1343601" cy="0"/>
            </a:xfrm>
            <a:prstGeom prst="line">
              <a:avLst/>
            </a:prstGeom>
            <a:ln w="762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コネクタ 29">
              <a:extLst>
                <a:ext uri="{FF2B5EF4-FFF2-40B4-BE49-F238E27FC236}">
                  <a16:creationId xmlns:a16="http://schemas.microsoft.com/office/drawing/2014/main" id="{0B12998D-040E-4C0C-89BA-F11EBC78CA05}"/>
                </a:ext>
              </a:extLst>
            </p:cNvPr>
            <p:cNvCxnSpPr>
              <a:cxnSpLocks/>
            </p:cNvCxnSpPr>
            <p:nvPr/>
          </p:nvCxnSpPr>
          <p:spPr>
            <a:xfrm>
              <a:off x="1486039" y="3878893"/>
              <a:ext cx="2908300" cy="7466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88295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ボックスの当たり判定</a:t>
            </a:r>
            <a:endParaRPr kumimoji="1" lang="en-US" altLang="ja-JP" sz="3200" b="1" u="sng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67A2B47-3098-4F1C-837F-51650A635690}"/>
              </a:ext>
            </a:extLst>
          </p:cNvPr>
          <p:cNvSpPr txBox="1"/>
          <p:nvPr/>
        </p:nvSpPr>
        <p:spPr>
          <a:xfrm>
            <a:off x="567542" y="1216429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これらがそのまま前後（奥手前）にも同じことが言えます。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03699870-56F5-41C2-A131-7969B91A572D}"/>
              </a:ext>
            </a:extLst>
          </p:cNvPr>
          <p:cNvGrpSpPr/>
          <p:nvPr/>
        </p:nvGrpSpPr>
        <p:grpSpPr>
          <a:xfrm>
            <a:off x="1486039" y="2091862"/>
            <a:ext cx="2908300" cy="2939032"/>
            <a:chOff x="1486039" y="961562"/>
            <a:chExt cx="2908300" cy="2939032"/>
          </a:xfrm>
        </p:grpSpPr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5EA9FAD4-A398-4B4B-9DDE-7A90F3053435}"/>
                </a:ext>
              </a:extLst>
            </p:cNvPr>
            <p:cNvGrpSpPr/>
            <p:nvPr/>
          </p:nvGrpSpPr>
          <p:grpSpPr>
            <a:xfrm>
              <a:off x="1486039" y="961562"/>
              <a:ext cx="2908300" cy="2939032"/>
              <a:chOff x="4358214" y="1937768"/>
              <a:chExt cx="2908300" cy="2939032"/>
            </a:xfrm>
          </p:grpSpPr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E10A069E-66A4-425A-9B8A-138B10DDA90A}"/>
                  </a:ext>
                </a:extLst>
              </p:cNvPr>
              <p:cNvSpPr/>
              <p:nvPr/>
            </p:nvSpPr>
            <p:spPr>
              <a:xfrm>
                <a:off x="4358214" y="2794000"/>
                <a:ext cx="2908300" cy="208280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F4E949FD-0DCD-4E42-80C3-D22034D26135}"/>
                  </a:ext>
                </a:extLst>
              </p:cNvPr>
              <p:cNvSpPr/>
              <p:nvPr/>
            </p:nvSpPr>
            <p:spPr>
              <a:xfrm>
                <a:off x="5169227" y="1937768"/>
                <a:ext cx="1346200" cy="1244600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50DC7E8E-1D84-4A86-B96C-755D4F05564F}"/>
                  </a:ext>
                </a:extLst>
              </p:cNvPr>
              <p:cNvSpPr txBox="1"/>
              <p:nvPr/>
            </p:nvSpPr>
            <p:spPr>
              <a:xfrm>
                <a:off x="6870252" y="2794000"/>
                <a:ext cx="3962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A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1458427C-D9A5-424A-AD59-D7A4280E3C5E}"/>
                  </a:ext>
                </a:extLst>
              </p:cNvPr>
              <p:cNvSpPr txBox="1"/>
              <p:nvPr/>
            </p:nvSpPr>
            <p:spPr>
              <a:xfrm>
                <a:off x="5146339" y="1948333"/>
                <a:ext cx="4026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B</a:t>
                </a:r>
                <a:endParaRPr lang="en-US" altLang="ja-JP" sz="24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p:grpSp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1212F67F-24B4-48BA-B784-BD239968FE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2" y="2206162"/>
              <a:ext cx="1343601" cy="0"/>
            </a:xfrm>
            <a:prstGeom prst="line">
              <a:avLst/>
            </a:prstGeom>
            <a:ln w="762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797E801B-9617-4AF9-BF39-2ED309B0F8CA}"/>
                </a:ext>
              </a:extLst>
            </p:cNvPr>
            <p:cNvCxnSpPr>
              <a:cxnSpLocks/>
            </p:cNvCxnSpPr>
            <p:nvPr/>
          </p:nvCxnSpPr>
          <p:spPr>
            <a:xfrm>
              <a:off x="1486039" y="1817794"/>
              <a:ext cx="2908300" cy="7466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2EF0CD4-4C93-4935-8938-FD1CE8D36D75}"/>
              </a:ext>
            </a:extLst>
          </p:cNvPr>
          <p:cNvSpPr txBox="1"/>
          <p:nvPr/>
        </p:nvSpPr>
        <p:spPr>
          <a:xfrm>
            <a:off x="72867" y="5384429"/>
            <a:ext cx="57919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/>
              <a:t>↑</a:t>
            </a:r>
            <a:r>
              <a:rPr kumimoji="1" lang="en-US" altLang="ja-JP" sz="1600" dirty="0">
                <a:solidFill>
                  <a:srgbClr val="FF0000"/>
                </a:solidFill>
              </a:rPr>
              <a:t>A</a:t>
            </a:r>
            <a:r>
              <a:rPr kumimoji="1" lang="ja-JP" altLang="en-US" sz="1600" dirty="0">
                <a:solidFill>
                  <a:srgbClr val="FF0000"/>
                </a:solidFill>
              </a:rPr>
              <a:t>の奥側</a:t>
            </a:r>
            <a:r>
              <a:rPr kumimoji="1" lang="ja-JP" altLang="en-US" sz="1600" dirty="0"/>
              <a:t>と</a:t>
            </a:r>
            <a:r>
              <a:rPr kumimoji="1" lang="en-US" altLang="ja-JP" sz="1600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kumimoji="1" lang="ja-JP" altLang="en-US" sz="1600" dirty="0">
                <a:solidFill>
                  <a:schemeClr val="accent6">
                    <a:lumMod val="75000"/>
                  </a:schemeClr>
                </a:solidFill>
              </a:rPr>
              <a:t>の手前側</a:t>
            </a:r>
            <a:r>
              <a:rPr kumimoji="1" lang="ja-JP" altLang="en-US" sz="1600" dirty="0"/>
              <a:t>が交差すると当たっている可能性あり</a:t>
            </a:r>
            <a:endParaRPr lang="en-US" altLang="ja-JP" sz="16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CAD1CE4-742E-4783-9C58-122792F44C1B}"/>
              </a:ext>
            </a:extLst>
          </p:cNvPr>
          <p:cNvSpPr txBox="1"/>
          <p:nvPr/>
        </p:nvSpPr>
        <p:spPr>
          <a:xfrm>
            <a:off x="6096000" y="5384429"/>
            <a:ext cx="57919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/>
              <a:t>↑</a:t>
            </a:r>
            <a:r>
              <a:rPr kumimoji="1" lang="en-US" altLang="ja-JP" sz="1600" dirty="0">
                <a:solidFill>
                  <a:srgbClr val="FF0000"/>
                </a:solidFill>
              </a:rPr>
              <a:t>A</a:t>
            </a:r>
            <a:r>
              <a:rPr kumimoji="1" lang="ja-JP" altLang="en-US" sz="1600" dirty="0">
                <a:solidFill>
                  <a:srgbClr val="FF0000"/>
                </a:solidFill>
              </a:rPr>
              <a:t>の手前側</a:t>
            </a:r>
            <a:r>
              <a:rPr kumimoji="1" lang="ja-JP" altLang="en-US" sz="1600" dirty="0"/>
              <a:t>と</a:t>
            </a:r>
            <a:r>
              <a:rPr kumimoji="1" lang="en-US" altLang="ja-JP" sz="1600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kumimoji="1" lang="ja-JP" altLang="en-US" sz="1600" dirty="0">
                <a:solidFill>
                  <a:schemeClr val="accent6">
                    <a:lumMod val="75000"/>
                  </a:schemeClr>
                </a:solidFill>
              </a:rPr>
              <a:t>の奥側</a:t>
            </a:r>
            <a:r>
              <a:rPr kumimoji="1" lang="ja-JP" altLang="en-US" sz="1600" dirty="0"/>
              <a:t>が交差すると当たっている可能性あり</a:t>
            </a:r>
            <a:endParaRPr lang="en-US" altLang="ja-JP" sz="1600" dirty="0"/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92416C24-3E5B-43CE-A772-B03388024649}"/>
              </a:ext>
            </a:extLst>
          </p:cNvPr>
          <p:cNvGrpSpPr/>
          <p:nvPr/>
        </p:nvGrpSpPr>
        <p:grpSpPr>
          <a:xfrm>
            <a:off x="7240953" y="1991249"/>
            <a:ext cx="2908300" cy="3080025"/>
            <a:chOff x="1486039" y="1817794"/>
            <a:chExt cx="2908300" cy="3080025"/>
          </a:xfrm>
        </p:grpSpPr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52AD2DF5-1868-45B0-87CC-31020BE699DB}"/>
                </a:ext>
              </a:extLst>
            </p:cNvPr>
            <p:cNvGrpSpPr/>
            <p:nvPr/>
          </p:nvGrpSpPr>
          <p:grpSpPr>
            <a:xfrm>
              <a:off x="1486039" y="1817794"/>
              <a:ext cx="2908300" cy="3080025"/>
              <a:chOff x="4358214" y="2794000"/>
              <a:chExt cx="2908300" cy="3080025"/>
            </a:xfrm>
          </p:grpSpPr>
          <p:sp>
            <p:nvSpPr>
              <p:cNvPr id="22" name="正方形/長方形 21">
                <a:extLst>
                  <a:ext uri="{FF2B5EF4-FFF2-40B4-BE49-F238E27FC236}">
                    <a16:creationId xmlns:a16="http://schemas.microsoft.com/office/drawing/2014/main" id="{C45F2011-6853-4A32-82C0-4D07F34C2260}"/>
                  </a:ext>
                </a:extLst>
              </p:cNvPr>
              <p:cNvSpPr/>
              <p:nvPr/>
            </p:nvSpPr>
            <p:spPr>
              <a:xfrm>
                <a:off x="4358214" y="2794000"/>
                <a:ext cx="2908300" cy="208280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3" name="正方形/長方形 22">
                <a:extLst>
                  <a:ext uri="{FF2B5EF4-FFF2-40B4-BE49-F238E27FC236}">
                    <a16:creationId xmlns:a16="http://schemas.microsoft.com/office/drawing/2014/main" id="{D46CF714-54F6-451B-B22C-9C11C2DD4B32}"/>
                  </a:ext>
                </a:extLst>
              </p:cNvPr>
              <p:cNvSpPr/>
              <p:nvPr/>
            </p:nvSpPr>
            <p:spPr>
              <a:xfrm>
                <a:off x="5169227" y="4535551"/>
                <a:ext cx="1346200" cy="1244600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022D1E62-9883-48D4-AB4A-B6AB1B25D1F3}"/>
                  </a:ext>
                </a:extLst>
              </p:cNvPr>
              <p:cNvSpPr txBox="1"/>
              <p:nvPr/>
            </p:nvSpPr>
            <p:spPr>
              <a:xfrm>
                <a:off x="6870252" y="2794000"/>
                <a:ext cx="3962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A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92B1CC90-29ED-4FDE-90F4-6F565F18BCF3}"/>
                  </a:ext>
                </a:extLst>
              </p:cNvPr>
              <p:cNvSpPr txBox="1"/>
              <p:nvPr/>
            </p:nvSpPr>
            <p:spPr>
              <a:xfrm>
                <a:off x="5112077" y="5412360"/>
                <a:ext cx="40372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B</a:t>
                </a:r>
                <a:endParaRPr lang="en-US" altLang="ja-JP" sz="24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p:grp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059D9CF8-BFE7-468B-9A48-D8256DFF2A08}"/>
                </a:ext>
              </a:extLst>
            </p:cNvPr>
            <p:cNvCxnSpPr>
              <a:cxnSpLocks/>
            </p:cNvCxnSpPr>
            <p:nvPr/>
          </p:nvCxnSpPr>
          <p:spPr>
            <a:xfrm>
              <a:off x="2298099" y="3544105"/>
              <a:ext cx="1343601" cy="0"/>
            </a:xfrm>
            <a:prstGeom prst="line">
              <a:avLst/>
            </a:prstGeom>
            <a:ln w="762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AE493ACF-FE7D-4738-BCDC-84F3BE443D45}"/>
                </a:ext>
              </a:extLst>
            </p:cNvPr>
            <p:cNvCxnSpPr>
              <a:cxnSpLocks/>
            </p:cNvCxnSpPr>
            <p:nvPr/>
          </p:nvCxnSpPr>
          <p:spPr>
            <a:xfrm>
              <a:off x="1486039" y="3878893"/>
              <a:ext cx="2908300" cy="7466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3A27229-43A5-4A09-9179-6D48CD00C239}"/>
              </a:ext>
            </a:extLst>
          </p:cNvPr>
          <p:cNvSpPr txBox="1"/>
          <p:nvPr/>
        </p:nvSpPr>
        <p:spPr>
          <a:xfrm>
            <a:off x="525702" y="1991248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/>
              <a:t>奥</a:t>
            </a:r>
            <a:endParaRPr lang="en-US" altLang="ja-JP" sz="2400" b="1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90B2E6B-4FF5-4C9E-8125-F6D96E19CF96}"/>
              </a:ext>
            </a:extLst>
          </p:cNvPr>
          <p:cNvSpPr txBox="1"/>
          <p:nvPr/>
        </p:nvSpPr>
        <p:spPr>
          <a:xfrm>
            <a:off x="371813" y="465094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/>
              <a:t>手前</a:t>
            </a:r>
            <a:endParaRPr lang="en-US" altLang="ja-JP" sz="2400" b="1" dirty="0"/>
          </a:p>
        </p:txBody>
      </p: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36CDFDCD-BE6A-4FE0-9DCE-F59A8BA232A3}"/>
              </a:ext>
            </a:extLst>
          </p:cNvPr>
          <p:cNvCxnSpPr/>
          <p:nvPr/>
        </p:nvCxnSpPr>
        <p:spPr>
          <a:xfrm>
            <a:off x="771923" y="2634388"/>
            <a:ext cx="0" cy="1720712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3609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ボックスの当たり判定</a:t>
            </a:r>
            <a:endParaRPr kumimoji="1" lang="en-US" altLang="ja-JP" sz="3200" b="1" u="sng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67A2B47-3098-4F1C-837F-51650A635690}"/>
              </a:ext>
            </a:extLst>
          </p:cNvPr>
          <p:cNvSpPr txBox="1"/>
          <p:nvPr/>
        </p:nvSpPr>
        <p:spPr>
          <a:xfrm>
            <a:off x="567542" y="1216429"/>
            <a:ext cx="85122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これらを踏まえて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CollisoinAABB.cpp</a:t>
            </a:r>
            <a:r>
              <a:rPr kumimoji="1" lang="ja-JP" altLang="en-US" sz="2400" dirty="0"/>
              <a:t>を完成させましょう。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C967453-EEDE-4DDA-98E1-1DB913463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888065" cy="461074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222520F-C5BB-4FA8-9269-38C45083DE95}"/>
              </a:ext>
            </a:extLst>
          </p:cNvPr>
          <p:cNvSpPr/>
          <p:nvPr/>
        </p:nvSpPr>
        <p:spPr>
          <a:xfrm>
            <a:off x="1927411" y="5514136"/>
            <a:ext cx="968189" cy="3218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3202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ボックスの当たり判定</a:t>
            </a:r>
            <a:endParaRPr kumimoji="1" lang="en-US" altLang="ja-JP" sz="3200" b="1" u="sng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67A2B47-3098-4F1C-837F-51650A635690}"/>
              </a:ext>
            </a:extLst>
          </p:cNvPr>
          <p:cNvSpPr txBox="1"/>
          <p:nvPr/>
        </p:nvSpPr>
        <p:spPr>
          <a:xfrm>
            <a:off x="567542" y="1216429"/>
            <a:ext cx="104294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今回は当たり判定だけで、</a:t>
            </a:r>
            <a:r>
              <a:rPr kumimoji="1" lang="en-US" altLang="ja-JP" sz="2000" dirty="0"/>
              <a:t>Collision</a:t>
            </a:r>
            <a:r>
              <a:rPr kumimoji="1" lang="ja-JP" altLang="en-US" sz="2000" dirty="0"/>
              <a:t>の管理や設計、押し出し処理には詳しく触れません。</a:t>
            </a:r>
            <a:endParaRPr kumimoji="1" lang="en-US" altLang="ja-JP" sz="2000" dirty="0"/>
          </a:p>
          <a:p>
            <a:r>
              <a:rPr lang="ja-JP" altLang="en-US" sz="2000" dirty="0"/>
              <a:t>ここで軽く紹介するので、関連するコードはしっかり見ておきましょう。</a:t>
            </a:r>
            <a:endParaRPr lang="en-US" altLang="ja-JP" sz="20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50A1E70-6E92-4DE5-A974-433C9D1297F8}"/>
              </a:ext>
            </a:extLst>
          </p:cNvPr>
          <p:cNvSpPr txBox="1"/>
          <p:nvPr/>
        </p:nvSpPr>
        <p:spPr>
          <a:xfrm>
            <a:off x="567542" y="5568210"/>
            <a:ext cx="53110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CollisionAABB.h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kumimoji="1" lang="en-US" altLang="ja-JP" sz="2400" dirty="0"/>
              <a:t>AABB</a:t>
            </a:r>
            <a:r>
              <a:rPr kumimoji="1" lang="ja-JP" altLang="en-US" sz="2400" dirty="0"/>
              <a:t>に必要な情報を持たせたクラス</a:t>
            </a:r>
            <a:endParaRPr lang="en-US" altLang="ja-JP" sz="24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9A12016D-707D-46A3-8E69-40F279226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064015"/>
            <a:ext cx="6350549" cy="341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397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ボックスの当たり判定</a:t>
            </a:r>
            <a:endParaRPr kumimoji="1" lang="en-US" altLang="ja-JP" sz="3200" b="1" u="sng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67A2B47-3098-4F1C-837F-51650A635690}"/>
              </a:ext>
            </a:extLst>
          </p:cNvPr>
          <p:cNvSpPr txBox="1"/>
          <p:nvPr/>
        </p:nvSpPr>
        <p:spPr>
          <a:xfrm>
            <a:off x="567542" y="1216429"/>
            <a:ext cx="30796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CollisionManager.h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0BF62C9-2E2F-4D12-99FA-951671695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478717" cy="348231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65530EF-BADE-4F37-8FD4-09D21C7C8495}"/>
              </a:ext>
            </a:extLst>
          </p:cNvPr>
          <p:cNvSpPr txBox="1"/>
          <p:nvPr/>
        </p:nvSpPr>
        <p:spPr>
          <a:xfrm>
            <a:off x="567542" y="5568210"/>
            <a:ext cx="75825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vector</a:t>
            </a:r>
            <a:r>
              <a:rPr lang="ja-JP" altLang="en-US" sz="2400" b="1" dirty="0">
                <a:solidFill>
                  <a:srgbClr val="0070C0"/>
                </a:solidFill>
              </a:rPr>
              <a:t>配列</a:t>
            </a:r>
            <a:r>
              <a:rPr lang="ja-JP" altLang="en-US" sz="2400" dirty="0"/>
              <a:t>で管理すると、必要な数だけ管理できる。</a:t>
            </a:r>
            <a:endParaRPr lang="en-US" altLang="ja-JP" sz="2400" dirty="0"/>
          </a:p>
          <a:p>
            <a:r>
              <a:rPr lang="ja-JP" altLang="en-US" sz="2400" dirty="0"/>
              <a:t>キャラクターの数だけ必要な当たり判定には最適。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054458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ボックスの当たり判定</a:t>
            </a:r>
            <a:endParaRPr kumimoji="1" lang="en-US" altLang="ja-JP" sz="3200" b="1" u="sng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67A2B47-3098-4F1C-837F-51650A635690}"/>
              </a:ext>
            </a:extLst>
          </p:cNvPr>
          <p:cNvSpPr txBox="1"/>
          <p:nvPr/>
        </p:nvSpPr>
        <p:spPr>
          <a:xfrm>
            <a:off x="567542" y="1216429"/>
            <a:ext cx="47371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AABB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をブロックに設定する処理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A95007C-B70E-4492-9984-413256233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9038553" cy="2322406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AD1AC52-0467-45A4-927D-A583D2FB9E93}"/>
              </a:ext>
            </a:extLst>
          </p:cNvPr>
          <p:cNvSpPr txBox="1"/>
          <p:nvPr/>
        </p:nvSpPr>
        <p:spPr>
          <a:xfrm>
            <a:off x="567542" y="4279900"/>
            <a:ext cx="1176155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↑</a:t>
            </a:r>
            <a:r>
              <a:rPr lang="en-US" altLang="ja-JP" sz="2400" b="1" dirty="0">
                <a:solidFill>
                  <a:srgbClr val="FF0000"/>
                </a:solidFill>
              </a:rPr>
              <a:t>Block.cpp </a:t>
            </a:r>
            <a:r>
              <a:rPr lang="en-US" altLang="ja-JP" sz="2400" b="1" dirty="0">
                <a:solidFill>
                  <a:srgbClr val="0070C0"/>
                </a:solidFill>
              </a:rPr>
              <a:t>Start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で</a:t>
            </a:r>
            <a:r>
              <a:rPr lang="en-US" altLang="ja-JP" sz="2400" b="1" dirty="0" err="1">
                <a:solidFill>
                  <a:srgbClr val="00B050"/>
                </a:solidFill>
              </a:rPr>
              <a:t>CollisionManager</a:t>
            </a:r>
            <a:r>
              <a:rPr lang="ja-JP" altLang="en-US" sz="2400" dirty="0"/>
              <a:t>に</a:t>
            </a:r>
            <a:r>
              <a:rPr lang="en-US" altLang="ja-JP" sz="2400" b="1" dirty="0">
                <a:solidFill>
                  <a:srgbClr val="00B050"/>
                </a:solidFill>
              </a:rPr>
              <a:t>AABB</a:t>
            </a:r>
            <a:r>
              <a:rPr lang="ja-JP" altLang="en-US" sz="2400" dirty="0"/>
              <a:t>を作るようにお願いする処理。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kumimoji="1" lang="en-US" altLang="ja-JP" sz="2400" dirty="0"/>
              <a:t>AABB</a:t>
            </a:r>
            <a:r>
              <a:rPr kumimoji="1" lang="ja-JP" altLang="en-US" sz="2400" dirty="0"/>
              <a:t>はすぐに</a:t>
            </a:r>
            <a:r>
              <a:rPr kumimoji="1" lang="en-US" altLang="ja-JP" sz="2400" dirty="0"/>
              <a:t>MAX</a:t>
            </a:r>
            <a:r>
              <a:rPr kumimoji="1" lang="ja-JP" altLang="en-US" sz="2400" dirty="0"/>
              <a:t>分作るのではなく、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ブロックやプレイヤーの数に合わせて生成しています</a:t>
            </a:r>
            <a:r>
              <a:rPr lang="ja-JP" altLang="en-US" sz="2400" dirty="0"/>
              <a:t>。</a:t>
            </a:r>
            <a:endParaRPr lang="en-US" altLang="ja-JP" sz="2400" dirty="0"/>
          </a:p>
          <a:p>
            <a:r>
              <a:rPr lang="ja-JP" altLang="en-US" sz="2400" dirty="0"/>
              <a:t>つまり、</a:t>
            </a:r>
            <a:r>
              <a:rPr lang="en-US" altLang="ja-JP" sz="2400" dirty="0"/>
              <a:t>Block</a:t>
            </a:r>
            <a:r>
              <a:rPr lang="ja-JP" altLang="en-US" sz="2400" dirty="0"/>
              <a:t>側から</a:t>
            </a:r>
            <a:r>
              <a:rPr lang="en-US" altLang="ja-JP" sz="2400" b="1" dirty="0" err="1">
                <a:solidFill>
                  <a:srgbClr val="FF0000"/>
                </a:solidFill>
              </a:rPr>
              <a:t>CollisionManager</a:t>
            </a:r>
            <a:r>
              <a:rPr lang="ja-JP" altLang="en-US" sz="2400" b="1" dirty="0">
                <a:solidFill>
                  <a:srgbClr val="FF0000"/>
                </a:solidFill>
              </a:rPr>
              <a:t>に作ってくださいとお願い</a:t>
            </a:r>
            <a:r>
              <a:rPr lang="ja-JP" altLang="en-US" sz="2400" dirty="0"/>
              <a:t>しています。</a:t>
            </a:r>
            <a:endParaRPr lang="en-US" altLang="ja-JP" sz="2400" dirty="0"/>
          </a:p>
          <a:p>
            <a:r>
              <a:rPr lang="ja-JP" altLang="en-US" sz="2400" dirty="0"/>
              <a:t>このような設計を</a:t>
            </a:r>
            <a:r>
              <a:rPr lang="ja-JP" altLang="en-US" sz="2400" b="1" dirty="0">
                <a:solidFill>
                  <a:srgbClr val="FF0000"/>
                </a:solidFill>
              </a:rPr>
              <a:t>ファクトリーメソッド</a:t>
            </a:r>
            <a:r>
              <a:rPr lang="ja-JP" altLang="en-US" sz="2400" dirty="0"/>
              <a:t>と呼ばれています。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10398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ボックスの当たり判定</a:t>
            </a:r>
            <a:endParaRPr kumimoji="1" lang="en-US" altLang="ja-JP" sz="3200" b="1" u="sng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67A2B47-3098-4F1C-837F-51650A635690}"/>
              </a:ext>
            </a:extLst>
          </p:cNvPr>
          <p:cNvSpPr txBox="1"/>
          <p:nvPr/>
        </p:nvSpPr>
        <p:spPr>
          <a:xfrm>
            <a:off x="567542" y="1216429"/>
            <a:ext cx="60740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当たった後の押し出し処理（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Player.cpp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）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F42E6CF9-B37F-4455-9B32-A58278568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4712670" cy="3541893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886802F-7535-4725-A776-D4FBFA7B5631}"/>
              </a:ext>
            </a:extLst>
          </p:cNvPr>
          <p:cNvSpPr txBox="1"/>
          <p:nvPr/>
        </p:nvSpPr>
        <p:spPr>
          <a:xfrm>
            <a:off x="567543" y="5423646"/>
            <a:ext cx="104052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軸別</a:t>
            </a:r>
            <a:r>
              <a:rPr lang="ja-JP" altLang="en-US" sz="2400" dirty="0"/>
              <a:t>に「</a:t>
            </a:r>
            <a:r>
              <a:rPr lang="ja-JP" altLang="en-US" sz="2400" b="1" dirty="0">
                <a:solidFill>
                  <a:srgbClr val="FF0000"/>
                </a:solidFill>
              </a:rPr>
              <a:t>移動→当たり判定→押し出し</a:t>
            </a:r>
            <a:r>
              <a:rPr lang="ja-JP" altLang="en-US" sz="2400" dirty="0"/>
              <a:t>」とすれば、</a:t>
            </a:r>
            <a:endParaRPr lang="en-US" altLang="ja-JP" sz="2400" dirty="0"/>
          </a:p>
          <a:p>
            <a:r>
              <a:rPr lang="ja-JP" altLang="en-US" sz="2400" dirty="0"/>
              <a:t>違和感なく押し出し処理を実装できます。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43613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ボックスの当たり判定</a:t>
            </a:r>
            <a:endParaRPr kumimoji="1" lang="en-US" altLang="ja-JP" sz="3200" b="1" u="sng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67A2B47-3098-4F1C-837F-51650A635690}"/>
              </a:ext>
            </a:extLst>
          </p:cNvPr>
          <p:cNvSpPr txBox="1"/>
          <p:nvPr/>
        </p:nvSpPr>
        <p:spPr>
          <a:xfrm>
            <a:off x="567542" y="1216429"/>
            <a:ext cx="73292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当たり判定結果の構造体（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CollisionParameter.h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）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886802F-7535-4725-A776-D4FBFA7B5631}"/>
              </a:ext>
            </a:extLst>
          </p:cNvPr>
          <p:cNvSpPr txBox="1"/>
          <p:nvPr/>
        </p:nvSpPr>
        <p:spPr>
          <a:xfrm>
            <a:off x="567543" y="5423646"/>
            <a:ext cx="104052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/>
              <a:t>当たったかどうかだけでなく、</a:t>
            </a:r>
            <a:endParaRPr lang="en-US" altLang="ja-JP" sz="2400" dirty="0"/>
          </a:p>
          <a:p>
            <a:r>
              <a:rPr lang="ja-JP" altLang="en-US" sz="2400" dirty="0"/>
              <a:t>当たったものの位置や大きさもあると、後の処理がしやすいです。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72AAE75-52C1-4A9F-9DC7-EB4EC2AE8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918200" cy="3363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093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645</Words>
  <Application>Microsoft Office PowerPoint</Application>
  <PresentationFormat>ワイド画面</PresentationFormat>
  <Paragraphs>76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60</cp:revision>
  <dcterms:created xsi:type="dcterms:W3CDTF">2024-08-27T02:15:54Z</dcterms:created>
  <dcterms:modified xsi:type="dcterms:W3CDTF">2026-02-05T03:36:48Z</dcterms:modified>
</cp:coreProperties>
</file>