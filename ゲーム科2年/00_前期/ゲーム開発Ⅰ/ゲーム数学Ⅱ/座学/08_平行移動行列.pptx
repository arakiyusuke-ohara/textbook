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9" r:id="rId3"/>
    <p:sldId id="261" r:id="rId4"/>
    <p:sldId id="260" r:id="rId5"/>
    <p:sldId id="262" r:id="rId6"/>
    <p:sldId id="263" r:id="rId7"/>
    <p:sldId id="264" r:id="rId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2024/11/19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13AF8780-FFFF-4D1C-B980-9819C37526E2}"/>
              </a:ext>
            </a:extLst>
          </p:cNvPr>
          <p:cNvSpPr/>
          <p:nvPr/>
        </p:nvSpPr>
        <p:spPr>
          <a:xfrm>
            <a:off x="381000" y="2167467"/>
            <a:ext cx="9389533" cy="3996266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平行移動行列</a:t>
            </a:r>
            <a:endParaRPr kumimoji="1" lang="en-US" altLang="ja-JP" sz="3200" b="1" u="sn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8494633" cy="466223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平行移動行列</a:t>
                </a:r>
                <a:r>
                  <a:rPr lang="ja-JP" altLang="en-US" sz="2400" dirty="0"/>
                  <a:t>は、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ある１点の座標を平行移動する行列</a:t>
                </a:r>
                <a:r>
                  <a:rPr lang="ja-JP" altLang="en-US" sz="2400" dirty="0"/>
                  <a:t>です。</a:t>
                </a:r>
                <a:endParaRPr lang="en-US" altLang="ja-JP" sz="2400" dirty="0"/>
              </a:p>
              <a:p>
                <a:r>
                  <a:rPr lang="ja-JP" altLang="en-US" sz="2400" dirty="0"/>
                  <a:t>まずは行列の見た目を覚えましょう。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■平行移動行列</a:t>
                </a:r>
                <a:r>
                  <a:rPr lang="en-US" altLang="ja-JP" sz="2400" b="1" dirty="0">
                    <a:solidFill>
                      <a:srgbClr val="FF0000"/>
                    </a:solidFill>
                  </a:rPr>
                  <a:t>(2D)</a:t>
                </a:r>
              </a:p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altLang="ja-JP" sz="240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ja-JP" altLang="en-US" sz="2400" i="1">
                                  <a:latin typeface="Cambria Math" panose="02040503050406030204" pitchFamily="18" charset="0"/>
                                </a:rPr>
                                <m:t>⊿</m:t>
                              </m:r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ja-JP" altLang="en-US" sz="2400" i="1">
                                  <a:latin typeface="Cambria Math" panose="02040503050406030204" pitchFamily="18" charset="0"/>
                                </a:rPr>
                                <m:t>⊿</m:t>
                              </m:r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■平行移動行列</a:t>
                </a:r>
                <a:r>
                  <a:rPr lang="en-US" altLang="ja-JP" sz="2400" b="1" dirty="0">
                    <a:solidFill>
                      <a:srgbClr val="FF0000"/>
                    </a:solidFill>
                  </a:rPr>
                  <a:t>(3D)</a:t>
                </a:r>
              </a:p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4"/>
                                  <m:mcJc m:val="center"/>
                                </m:mcPr>
                              </m:mc>
                            </m:mcs>
                            <m:ctrlPr>
                              <a:rPr lang="en-US" altLang="ja-JP" sz="240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ja-JP" altLang="en-US" sz="2400" i="1">
                                  <a:latin typeface="Cambria Math" panose="02040503050406030204" pitchFamily="18" charset="0"/>
                                </a:rPr>
                                <m:t>⊿</m:t>
                              </m:r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ja-JP" altLang="en-US" sz="2400" i="1">
                                  <a:latin typeface="Cambria Math" panose="02040503050406030204" pitchFamily="18" charset="0"/>
                                </a:rPr>
                                <m:t>⊿</m:t>
                              </m:r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ja-JP" altLang="en-US" sz="2400" i="1">
                                  <a:latin typeface="Cambria Math" panose="02040503050406030204" pitchFamily="18" charset="0"/>
                                </a:rPr>
                                <m:t>⊿</m:t>
                              </m:r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en-US" altLang="ja-JP" sz="2400" dirty="0"/>
                  <a:t> </a:t>
                </a:r>
              </a:p>
            </p:txBody>
          </p:sp>
        </mc:Choice>
        <mc:Fallback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8494633" cy="4662238"/>
              </a:xfrm>
              <a:prstGeom prst="rect">
                <a:avLst/>
              </a:prstGeom>
              <a:blipFill>
                <a:blip r:embed="rId2"/>
                <a:stretch>
                  <a:fillRect l="-1076" t="-1047" r="-14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テキスト ボックス 4">
                <a:extLst>
                  <a:ext uri="{FF2B5EF4-FFF2-40B4-BE49-F238E27FC236}">
                    <a16:creationId xmlns:a16="http://schemas.microsoft.com/office/drawing/2014/main" id="{F0796530-47F0-43BE-B20A-0CBBED11DA95}"/>
                  </a:ext>
                </a:extLst>
              </p:cNvPr>
              <p:cNvSpPr txBox="1"/>
              <p:nvPr/>
            </p:nvSpPr>
            <p:spPr>
              <a:xfrm>
                <a:off x="3920072" y="4678338"/>
                <a:ext cx="2929456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ja-JP" altLang="en-US" sz="2400" i="1" smtClean="0">
                        <a:latin typeface="Cambria Math" panose="02040503050406030204" pitchFamily="18" charset="0"/>
                      </a:rPr>
                      <m:t>⊿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ja-JP" altLang="en-US" sz="2400" dirty="0"/>
                  <a:t>・・・</a:t>
                </a:r>
                <a:r>
                  <a:rPr lang="en-US" altLang="ja-JP" sz="2400" dirty="0"/>
                  <a:t>X</a:t>
                </a:r>
                <a:r>
                  <a:rPr lang="ja-JP" altLang="en-US" sz="2400" dirty="0"/>
                  <a:t>軸の変位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ja-JP" altLang="en-US" sz="2400" i="1" smtClean="0">
                        <a:latin typeface="Cambria Math" panose="02040503050406030204" pitchFamily="18" charset="0"/>
                      </a:rPr>
                      <m:t>⊿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ja-JP" altLang="en-US" sz="2400" dirty="0"/>
                  <a:t>・・・</a:t>
                </a:r>
                <a:r>
                  <a:rPr lang="en-US" altLang="ja-JP" sz="2400" dirty="0"/>
                  <a:t>Y</a:t>
                </a:r>
                <a:r>
                  <a:rPr lang="ja-JP" altLang="en-US" sz="2400" dirty="0"/>
                  <a:t>軸の変位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ja-JP" altLang="en-US" sz="2400" i="1" smtClean="0">
                        <a:latin typeface="Cambria Math" panose="02040503050406030204" pitchFamily="18" charset="0"/>
                      </a:rPr>
                      <m:t>⊿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ja-JP" altLang="en-US" sz="2400" dirty="0"/>
                  <a:t>・・・</a:t>
                </a:r>
                <a:r>
                  <a:rPr lang="en-US" altLang="ja-JP" sz="2400" dirty="0"/>
                  <a:t>Z</a:t>
                </a:r>
                <a:r>
                  <a:rPr lang="ja-JP" altLang="en-US" sz="2400" dirty="0"/>
                  <a:t>軸の変位</a:t>
                </a:r>
                <a:endParaRPr lang="en-US" altLang="ja-JP" sz="2400" dirty="0"/>
              </a:p>
            </p:txBody>
          </p:sp>
        </mc:Choice>
        <mc:Fallback>
          <p:sp>
            <p:nvSpPr>
              <p:cNvPr id="5" name="テキスト ボックス 4">
                <a:extLst>
                  <a:ext uri="{FF2B5EF4-FFF2-40B4-BE49-F238E27FC236}">
                    <a16:creationId xmlns:a16="http://schemas.microsoft.com/office/drawing/2014/main" id="{F0796530-47F0-43BE-B20A-0CBBED11DA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20072" y="4678338"/>
                <a:ext cx="2929456" cy="1200329"/>
              </a:xfrm>
              <a:prstGeom prst="rect">
                <a:avLst/>
              </a:prstGeom>
              <a:blipFill>
                <a:blip r:embed="rId3"/>
                <a:stretch>
                  <a:fillRect t="-4061" r="-2287" b="-1066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テキスト ボックス 6">
                <a:extLst>
                  <a:ext uri="{FF2B5EF4-FFF2-40B4-BE49-F238E27FC236}">
                    <a16:creationId xmlns:a16="http://schemas.microsoft.com/office/drawing/2014/main" id="{AEB14BBD-2DE6-4B86-A433-54DED8BB946E}"/>
                  </a:ext>
                </a:extLst>
              </p:cNvPr>
              <p:cNvSpPr txBox="1"/>
              <p:nvPr/>
            </p:nvSpPr>
            <p:spPr>
              <a:xfrm>
                <a:off x="3920072" y="2934204"/>
                <a:ext cx="2931059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ja-JP" altLang="en-US" sz="2400" i="1" smtClean="0">
                        <a:latin typeface="Cambria Math" panose="02040503050406030204" pitchFamily="18" charset="0"/>
                      </a:rPr>
                      <m:t>⊿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ja-JP" altLang="en-US" sz="2400" dirty="0"/>
                  <a:t>・・・</a:t>
                </a:r>
                <a:r>
                  <a:rPr lang="en-US" altLang="ja-JP" sz="2400" dirty="0"/>
                  <a:t>X</a:t>
                </a:r>
                <a:r>
                  <a:rPr lang="ja-JP" altLang="en-US" sz="2400" dirty="0"/>
                  <a:t>軸の変位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ja-JP" altLang="en-US" sz="2400" i="1" smtClean="0">
                        <a:latin typeface="Cambria Math" panose="02040503050406030204" pitchFamily="18" charset="0"/>
                      </a:rPr>
                      <m:t>⊿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ja-JP" altLang="en-US" sz="2400" dirty="0"/>
                  <a:t>・・・</a:t>
                </a:r>
                <a:r>
                  <a:rPr lang="en-US" altLang="ja-JP" sz="2400" dirty="0"/>
                  <a:t>Y</a:t>
                </a:r>
                <a:r>
                  <a:rPr lang="ja-JP" altLang="en-US" sz="2400" dirty="0"/>
                  <a:t>軸の変位</a:t>
                </a:r>
                <a:endParaRPr lang="en-US" altLang="ja-JP" sz="2400" dirty="0"/>
              </a:p>
            </p:txBody>
          </p:sp>
        </mc:Choice>
        <mc:Fallback>
          <p:sp>
            <p:nvSpPr>
              <p:cNvPr id="7" name="テキスト ボックス 6">
                <a:extLst>
                  <a:ext uri="{FF2B5EF4-FFF2-40B4-BE49-F238E27FC236}">
                    <a16:creationId xmlns:a16="http://schemas.microsoft.com/office/drawing/2014/main" id="{AEB14BBD-2DE6-4B86-A433-54DED8BB94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20072" y="2934204"/>
                <a:ext cx="2931059" cy="830997"/>
              </a:xfrm>
              <a:prstGeom prst="rect">
                <a:avLst/>
              </a:prstGeom>
              <a:blipFill>
                <a:blip r:embed="rId4"/>
                <a:stretch>
                  <a:fillRect t="-5839" r="-2287" b="-1532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946963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平行移動行列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9813905" cy="292599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2400" dirty="0"/>
                  <a:t>X</a:t>
                </a:r>
                <a:r>
                  <a:rPr lang="ja-JP" altLang="en-US" sz="2400" dirty="0"/>
                  <a:t>軸に</a:t>
                </a:r>
                <a:r>
                  <a:rPr lang="en-US" altLang="ja-JP" sz="2400" dirty="0"/>
                  <a:t>20</a:t>
                </a:r>
                <a:r>
                  <a:rPr lang="ja-JP" altLang="en-US" sz="2400" dirty="0"/>
                  <a:t>、</a:t>
                </a:r>
                <a:r>
                  <a:rPr lang="en-US" altLang="ja-JP" sz="2400" dirty="0"/>
                  <a:t>Y</a:t>
                </a:r>
                <a:r>
                  <a:rPr lang="ja-JP" altLang="en-US" sz="2400" dirty="0"/>
                  <a:t>軸に</a:t>
                </a:r>
                <a:r>
                  <a:rPr lang="en-US" altLang="ja-JP" sz="2400" dirty="0"/>
                  <a:t>50</a:t>
                </a:r>
                <a:r>
                  <a:rPr lang="ja-JP" altLang="en-US" sz="2400" dirty="0"/>
                  <a:t>移動する平行移動行列を作りなさい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■解答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altLang="ja-JP" sz="240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ja-JP" altLang="en-US" sz="2400" i="1">
                                  <a:latin typeface="Cambria Math" panose="02040503050406030204" pitchFamily="18" charset="0"/>
                                </a:rPr>
                                <m:t>⊿</m:t>
                              </m:r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ja-JP" altLang="en-US" sz="2400" i="1">
                                  <a:latin typeface="Cambria Math" panose="02040503050406030204" pitchFamily="18" charset="0"/>
                                </a:rPr>
                                <m:t>⊿</m:t>
                              </m:r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en-US" altLang="ja-JP" sz="2400" dirty="0"/>
                  <a:t> </a:t>
                </a:r>
                <a:r>
                  <a:rPr lang="ja-JP" altLang="en-US" sz="2400" dirty="0"/>
                  <a:t>より</a:t>
                </a:r>
                <a:r>
                  <a:rPr lang="en-US" altLang="ja-JP" sz="2400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ja-JP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altLang="ja-JP" sz="240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altLang="ja-JP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altLang="ja-JP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ja-JP" sz="240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altLang="ja-JP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en-US" altLang="ja-JP" sz="2400" dirty="0">
                    <a:solidFill>
                      <a:srgbClr val="FF0000"/>
                    </a:solidFill>
                  </a:rPr>
                  <a:t> </a:t>
                </a:r>
                <a:r>
                  <a:rPr lang="ja-JP" altLang="en-US" sz="2400" dirty="0"/>
                  <a:t>となる。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行列を覚えたら、あとはどれだけ移動するかをあてはめるだけです。</a:t>
                </a:r>
                <a:r>
                  <a:rPr lang="en-US" altLang="ja-JP" sz="2400" dirty="0"/>
                  <a:t> </a:t>
                </a:r>
              </a:p>
            </p:txBody>
          </p:sp>
        </mc:Choice>
        <mc:Fallback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9813905" cy="2925994"/>
              </a:xfrm>
              <a:prstGeom prst="rect">
                <a:avLst/>
              </a:prstGeom>
              <a:blipFill>
                <a:blip r:embed="rId2"/>
                <a:stretch>
                  <a:fillRect l="-932" t="-1667" b="-375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896810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3902E391-B194-4D81-B0BE-66A77FCA43C2}"/>
              </a:ext>
            </a:extLst>
          </p:cNvPr>
          <p:cNvSpPr/>
          <p:nvPr/>
        </p:nvSpPr>
        <p:spPr>
          <a:xfrm>
            <a:off x="321734" y="1811867"/>
            <a:ext cx="11616266" cy="2099733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平行移動行列</a:t>
            </a:r>
            <a:endParaRPr kumimoji="1" lang="en-US" altLang="ja-JP" sz="3200" b="1" u="sn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10109114" cy="331443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平行移動行列を使って移動させるには行列の掛け算を使います。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■行列を使った平行移動</a:t>
                </a:r>
                <a:r>
                  <a:rPr lang="en-US" altLang="ja-JP" sz="2400" b="1" dirty="0">
                    <a:solidFill>
                      <a:srgbClr val="FF0000"/>
                    </a:solidFill>
                  </a:rPr>
                  <a:t>(2D)</a:t>
                </a:r>
              </a:p>
              <a:p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ja-JP" altLang="en-US" sz="2400" dirty="0"/>
                  <a:t>にあるものを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⊿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, ⊿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ja-JP" altLang="en-US" sz="2400" dirty="0"/>
                  <a:t>だけ移動した後の座標を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’, 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’)</m:t>
                    </m:r>
                  </m:oMath>
                </a14:m>
                <a:r>
                  <a:rPr lang="ja-JP" altLang="en-US" sz="2400" dirty="0"/>
                  <a:t>としたとき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altLang="ja-JP" sz="2400" b="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ja-JP" sz="240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sSup>
                                <m:sSupPr>
                                  <m:ctrlP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ja-JP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ja-JP" altLang="en-US" sz="2400" i="1">
                                  <a:latin typeface="Cambria Math" panose="02040503050406030204" pitchFamily="18" charset="0"/>
                                </a:rPr>
                                <m:t>⊿</m:t>
                              </m:r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ja-JP" altLang="en-US" sz="2400" i="1">
                                  <a:latin typeface="Cambria Math" panose="02040503050406030204" pitchFamily="18" charset="0"/>
                                </a:rPr>
                                <m:t>⊿</m:t>
                              </m:r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en-US" altLang="ja-JP" sz="2400" dirty="0"/>
                  <a:t> </a:t>
                </a:r>
                <a:r>
                  <a:rPr lang="ja-JP" altLang="en-US" sz="2400" dirty="0"/>
                  <a:t>となる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つまり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平行移動行列を掛け算すると、移動後の座標を求められます。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10109114" cy="3314433"/>
              </a:xfrm>
              <a:prstGeom prst="rect">
                <a:avLst/>
              </a:prstGeom>
              <a:blipFill>
                <a:blip r:embed="rId2"/>
                <a:stretch>
                  <a:fillRect l="-905" t="-1473" b="-331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797722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3902E391-B194-4D81-B0BE-66A77FCA43C2}"/>
              </a:ext>
            </a:extLst>
          </p:cNvPr>
          <p:cNvSpPr/>
          <p:nvPr/>
        </p:nvSpPr>
        <p:spPr>
          <a:xfrm>
            <a:off x="321734" y="1811867"/>
            <a:ext cx="11616266" cy="2523066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平行移動行列</a:t>
            </a:r>
            <a:endParaRPr kumimoji="1" lang="en-US" altLang="ja-JP" sz="3200" b="1" u="sn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10746403" cy="334059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2400" dirty="0"/>
                  <a:t>3D</a:t>
                </a:r>
                <a:r>
                  <a:rPr lang="ja-JP" altLang="en-US" sz="2400" dirty="0"/>
                  <a:t>では以下の通りです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■行列を使った平行移動</a:t>
                </a:r>
                <a:r>
                  <a:rPr lang="en-US" altLang="ja-JP" sz="2400" b="1" dirty="0">
                    <a:solidFill>
                      <a:srgbClr val="FF0000"/>
                    </a:solidFill>
                  </a:rPr>
                  <a:t>(3D)</a:t>
                </a:r>
              </a:p>
              <a:p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ja-JP" altLang="en-US" sz="2400" dirty="0"/>
                  <a:t>にあるものを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⊿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, ⊿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, ⊿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ja-JP" altLang="en-US" sz="2400" dirty="0"/>
                  <a:t>だけ移動した後の座標を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’, 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’, 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’)</m:t>
                    </m:r>
                  </m:oMath>
                </a14:m>
                <a:r>
                  <a:rPr lang="ja-JP" altLang="en-US" sz="2400" dirty="0"/>
                  <a:t>としたとき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altLang="ja-JP" sz="240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4"/>
                                  <m:mcJc m:val="center"/>
                                </m:mcPr>
                              </m:mc>
                            </m:mcs>
                            <m:ctrlPr>
                              <a:rPr lang="en-US" altLang="ja-JP" sz="240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ja-JP" altLang="en-US" sz="2400" i="1">
                                  <a:latin typeface="Cambria Math" panose="02040503050406030204" pitchFamily="18" charset="0"/>
                                </a:rPr>
                                <m:t>⊿</m:t>
                              </m:r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ja-JP" altLang="en-US" sz="2400" i="1">
                                  <a:latin typeface="Cambria Math" panose="02040503050406030204" pitchFamily="18" charset="0"/>
                                </a:rPr>
                                <m:t>⊿</m:t>
                              </m:r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ja-JP" altLang="en-US" sz="2400" i="1">
                                  <a:latin typeface="Cambria Math" panose="02040503050406030204" pitchFamily="18" charset="0"/>
                                </a:rPr>
                                <m:t>⊿</m:t>
                              </m:r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en-US" altLang="ja-JP" sz="2400" dirty="0"/>
                  <a:t> </a:t>
                </a:r>
                <a:r>
                  <a:rPr lang="ja-JP" altLang="en-US" sz="2400" dirty="0"/>
                  <a:t>となる</a:t>
                </a:r>
                <a:endParaRPr lang="en-US" altLang="ja-JP" sz="2400" dirty="0"/>
              </a:p>
              <a:p>
                <a:endParaRPr lang="en-US" altLang="ja-JP" sz="2400" dirty="0"/>
              </a:p>
            </p:txBody>
          </p:sp>
        </mc:Choice>
        <mc:Fallback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10746403" cy="3340594"/>
              </a:xfrm>
              <a:prstGeom prst="rect">
                <a:avLst/>
              </a:prstGeom>
              <a:blipFill>
                <a:blip r:embed="rId2"/>
                <a:stretch>
                  <a:fillRect l="-851" t="-146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913901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平行移動行列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10272364" cy="432054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座標</a:t>
                </a:r>
                <a:r>
                  <a:rPr lang="en-US" altLang="ja-JP" sz="2400" dirty="0"/>
                  <a:t>(15, 40)</a:t>
                </a:r>
                <a:r>
                  <a:rPr lang="ja-JP" altLang="en-US" sz="2400" dirty="0"/>
                  <a:t>にあるオブジェクトを</a:t>
                </a:r>
                <a:endParaRPr lang="en-US" altLang="ja-JP" sz="2400" dirty="0"/>
              </a:p>
              <a:p>
                <a:r>
                  <a:rPr lang="ja-JP" altLang="en-US" sz="2400" dirty="0"/>
                  <a:t>右に</a:t>
                </a:r>
                <a:r>
                  <a:rPr lang="en-US" altLang="ja-JP" sz="2400" dirty="0"/>
                  <a:t>10, </a:t>
                </a:r>
                <a:r>
                  <a:rPr lang="ja-JP" altLang="en-US" sz="2400" dirty="0"/>
                  <a:t>上に</a:t>
                </a:r>
                <a:r>
                  <a:rPr lang="en-US" altLang="ja-JP" sz="2400" dirty="0"/>
                  <a:t>20</a:t>
                </a:r>
                <a:r>
                  <a:rPr lang="ja-JP" altLang="en-US" sz="2400" dirty="0"/>
                  <a:t>移動する行列の計算式を作りなさい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（スクリーン座標系）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altLang="ja-JP" sz="2400" b="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ja-JP" sz="240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sSup>
                                <m:sSupPr>
                                  <m:ctrlP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ja-JP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ja-JP" altLang="en-US" sz="2400" i="1">
                                  <a:latin typeface="Cambria Math" panose="02040503050406030204" pitchFamily="18" charset="0"/>
                                </a:rPr>
                                <m:t>⊿</m:t>
                              </m:r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ja-JP" altLang="en-US" sz="2400" i="1">
                                  <a:latin typeface="Cambria Math" panose="02040503050406030204" pitchFamily="18" charset="0"/>
                                </a:rPr>
                                <m:t>⊿</m:t>
                              </m:r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en-US" altLang="ja-JP" sz="2400" dirty="0"/>
                  <a:t> </a:t>
                </a:r>
                <a:r>
                  <a:rPr lang="ja-JP" altLang="en-US" sz="2400" dirty="0"/>
                  <a:t>より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ja-JP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altLang="ja-JP" sz="2400" b="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en-US" altLang="ja-JP" sz="24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ja-JP" sz="24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altLang="ja-JP" sz="24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sSup>
                                <m:sSupPr>
                                  <m:ctrlPr>
                                    <a:rPr lang="en-US" altLang="ja-JP" sz="24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ja-JP" sz="24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altLang="ja-JP" sz="24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a:rPr lang="en-US" altLang="ja-JP" sz="24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  <m:r>
                      <a:rPr lang="en-US" altLang="ja-JP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altLang="ja-JP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altLang="ja-JP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altLang="ja-JP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ja-JP" sz="24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20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US" altLang="ja-JP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altLang="ja-JP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altLang="ja-JP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15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40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en-US" altLang="ja-JP" sz="2400" dirty="0"/>
                  <a:t> </a:t>
                </a:r>
                <a:r>
                  <a:rPr lang="ja-JP" altLang="en-US" sz="2400" dirty="0"/>
                  <a:t>となる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座標系に気をつけましょう。</a:t>
                </a:r>
                <a:endParaRPr lang="en-US" altLang="ja-JP" sz="2400" dirty="0"/>
              </a:p>
            </p:txBody>
          </p:sp>
        </mc:Choice>
        <mc:Fallback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10272364" cy="4320542"/>
              </a:xfrm>
              <a:prstGeom prst="rect">
                <a:avLst/>
              </a:prstGeom>
              <a:blipFill>
                <a:blip r:embed="rId2"/>
                <a:stretch>
                  <a:fillRect l="-890" t="-1130" b="-240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138330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平行移動行列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11070659" cy="331443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座標</a:t>
                </a:r>
                <a:r>
                  <a:rPr lang="en-US" altLang="ja-JP" sz="2400" dirty="0"/>
                  <a:t>(15, 40)</a:t>
                </a:r>
                <a:r>
                  <a:rPr lang="ja-JP" altLang="en-US" sz="2400" dirty="0"/>
                  <a:t>にあるオブジェクトを</a:t>
                </a:r>
                <a:endParaRPr lang="en-US" altLang="ja-JP" sz="2400" dirty="0"/>
              </a:p>
              <a:p>
                <a:r>
                  <a:rPr lang="ja-JP" altLang="en-US" sz="2400" dirty="0"/>
                  <a:t>右に</a:t>
                </a:r>
                <a:r>
                  <a:rPr lang="en-US" altLang="ja-JP" sz="2400" dirty="0"/>
                  <a:t>10, </a:t>
                </a:r>
                <a:r>
                  <a:rPr lang="ja-JP" altLang="en-US" sz="2400" dirty="0"/>
                  <a:t>上に</a:t>
                </a:r>
                <a:r>
                  <a:rPr lang="en-US" altLang="ja-JP" sz="2400" dirty="0"/>
                  <a:t>20</a:t>
                </a:r>
                <a:r>
                  <a:rPr lang="ja-JP" altLang="en-US" sz="2400" dirty="0"/>
                  <a:t>移動する行列の計算式を作りなさい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（スクリーン座標系）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実際に計算すると、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ja-JP" sz="2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altLang="ja-JP" sz="2400" b="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en-US" altLang="ja-JP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ja-JP" sz="240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altLang="ja-JP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sSup>
                                <m:sSupPr>
                                  <m:ctrlPr>
                                    <a:rPr lang="en-US" altLang="ja-JP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ja-JP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altLang="ja-JP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a:rPr lang="en-US" altLang="ja-JP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altLang="ja-JP" sz="2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altLang="ja-JP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altLang="ja-JP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ja-JP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20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ja-JP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US" altLang="ja-JP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altLang="ja-JP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altLang="ja-JP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15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40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15+0+10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0+40+(−20)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25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20</m:t>
                              </m:r>
                            </m:e>
                          </m:mr>
                          <m:mr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移動後の座標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’, 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’)</m:t>
                    </m:r>
                  </m:oMath>
                </a14:m>
                <a:r>
                  <a:rPr lang="ja-JP" altLang="en-US" sz="2400" dirty="0"/>
                  <a:t>は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(25, 20)</m:t>
                    </m:r>
                  </m:oMath>
                </a14:m>
                <a:r>
                  <a:rPr lang="ja-JP" altLang="en-US" sz="2400" dirty="0"/>
                  <a:t>となり、きちんと移動しているのがわかります。</a:t>
                </a:r>
                <a:endParaRPr lang="en-US" altLang="ja-JP" sz="2400" dirty="0"/>
              </a:p>
            </p:txBody>
          </p:sp>
        </mc:Choice>
        <mc:Fallback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11070659" cy="3314433"/>
              </a:xfrm>
              <a:prstGeom prst="rect">
                <a:avLst/>
              </a:prstGeom>
              <a:blipFill>
                <a:blip r:embed="rId2"/>
                <a:stretch>
                  <a:fillRect l="-826" t="-1473" b="-349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432780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平行移動行列 例題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120078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① 座標</a:t>
            </a:r>
            <a:r>
              <a:rPr lang="en-US" altLang="ja-JP" sz="2400" dirty="0"/>
              <a:t>(-20, 80)</a:t>
            </a:r>
            <a:r>
              <a:rPr lang="ja-JP" altLang="en-US" sz="2400" dirty="0"/>
              <a:t>にあるオブジェクトを左に</a:t>
            </a:r>
            <a:r>
              <a:rPr lang="en-US" altLang="ja-JP" sz="2400" dirty="0"/>
              <a:t>30</a:t>
            </a:r>
            <a:r>
              <a:rPr lang="ja-JP" altLang="en-US" sz="2400" dirty="0"/>
              <a:t>、下に</a:t>
            </a:r>
            <a:r>
              <a:rPr lang="en-US" altLang="ja-JP" sz="2400" dirty="0"/>
              <a:t>50</a:t>
            </a:r>
            <a:r>
              <a:rPr lang="ja-JP" altLang="en-US" sz="2400" dirty="0"/>
              <a:t>移動させる</a:t>
            </a:r>
            <a:endParaRPr lang="en-US" altLang="ja-JP" sz="2400" dirty="0"/>
          </a:p>
          <a:p>
            <a:r>
              <a:rPr lang="ja-JP" altLang="en-US" sz="2400" dirty="0"/>
              <a:t>　 平行移動させる行列の計算式を作りなさい（デカルト座標系）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② 座標</a:t>
            </a:r>
            <a:r>
              <a:rPr lang="en-US" altLang="ja-JP" sz="2400" dirty="0"/>
              <a:t>(10, 250, 300)</a:t>
            </a:r>
            <a:r>
              <a:rPr lang="ja-JP" altLang="en-US" sz="2400" dirty="0"/>
              <a:t>にあるオブジェクトを、</a:t>
            </a:r>
            <a:endParaRPr lang="en-US" altLang="ja-JP" sz="2400" dirty="0"/>
          </a:p>
          <a:p>
            <a:r>
              <a:rPr lang="ja-JP" altLang="en-US" sz="2400" dirty="0"/>
              <a:t>　 左に</a:t>
            </a:r>
            <a:r>
              <a:rPr lang="en-US" altLang="ja-JP" sz="2400" dirty="0"/>
              <a:t>30, </a:t>
            </a:r>
            <a:r>
              <a:rPr lang="ja-JP" altLang="en-US" sz="2400" dirty="0"/>
              <a:t>下に</a:t>
            </a:r>
            <a:r>
              <a:rPr lang="en-US" altLang="ja-JP" sz="2400" dirty="0"/>
              <a:t>100, </a:t>
            </a:r>
            <a:r>
              <a:rPr lang="ja-JP" altLang="en-US" sz="2400" dirty="0"/>
              <a:t>手前に</a:t>
            </a:r>
            <a:r>
              <a:rPr lang="en-US" altLang="ja-JP" sz="2400" dirty="0"/>
              <a:t>20</a:t>
            </a:r>
            <a:r>
              <a:rPr lang="ja-JP" altLang="en-US" sz="2400" dirty="0"/>
              <a:t>平行移動させる行列の計算式を作りなさい</a:t>
            </a:r>
            <a:endParaRPr lang="en-US" altLang="ja-JP" sz="2400" dirty="0"/>
          </a:p>
          <a:p>
            <a:r>
              <a:rPr lang="ja-JP" altLang="en-US" sz="2400" dirty="0"/>
              <a:t>　 （左手座標系）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7543284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382</TotalTime>
  <Words>483</Words>
  <Application>Microsoft Office PowerPoint</Application>
  <PresentationFormat>ワイド画面</PresentationFormat>
  <Paragraphs>59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2" baseType="lpstr">
      <vt:lpstr>游ゴシック</vt:lpstr>
      <vt:lpstr>游ゴシック Light</vt:lpstr>
      <vt:lpstr>Arial</vt:lpstr>
      <vt:lpstr>Cambria Math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47</cp:revision>
  <dcterms:created xsi:type="dcterms:W3CDTF">2024-08-27T02:15:54Z</dcterms:created>
  <dcterms:modified xsi:type="dcterms:W3CDTF">2024-11-19T06:44:34Z</dcterms:modified>
</cp:coreProperties>
</file>