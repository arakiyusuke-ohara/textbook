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1" r:id="rId4"/>
    <p:sldId id="260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2025/4/15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13AF8780-FFFF-4D1C-B980-9819C37526E2}"/>
              </a:ext>
            </a:extLst>
          </p:cNvPr>
          <p:cNvSpPr/>
          <p:nvPr/>
        </p:nvSpPr>
        <p:spPr>
          <a:xfrm>
            <a:off x="381000" y="2167467"/>
            <a:ext cx="9389533" cy="399626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平行移動行列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494633" cy="46622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平行移動行列</a:t>
                </a:r>
                <a:r>
                  <a:rPr lang="ja-JP" altLang="en-US" sz="2400" dirty="0"/>
                  <a:t>は、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ある１点の座標を平行移動する行列</a:t>
                </a:r>
                <a:r>
                  <a:rPr lang="ja-JP" altLang="en-US" sz="2400" dirty="0"/>
                  <a:t>です。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まずは行列の見た目を覚えましょう。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■平行移動行列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(2D)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ja-JP" altLang="en-US" sz="2400" i="1">
                                  <a:latin typeface="Cambria Math" panose="02040503050406030204" pitchFamily="18" charset="0"/>
                                </a:rPr>
                                <m:t>⊿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ja-JP" altLang="en-US" sz="2400" i="1">
                                  <a:latin typeface="Cambria Math" panose="02040503050406030204" pitchFamily="18" charset="0"/>
                                </a:rPr>
                                <m:t>⊿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■平行移動行列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(3D)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ja-JP" altLang="en-US" sz="2400" i="1">
                                  <a:latin typeface="Cambria Math" panose="02040503050406030204" pitchFamily="18" charset="0"/>
                                </a:rPr>
                                <m:t>⊿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ja-JP" altLang="en-US" sz="2400" i="1">
                                  <a:latin typeface="Cambria Math" panose="02040503050406030204" pitchFamily="18" charset="0"/>
                                </a:rPr>
                                <m:t>⊿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ja-JP" altLang="en-US" sz="2400" i="1">
                                  <a:latin typeface="Cambria Math" panose="02040503050406030204" pitchFamily="18" charset="0"/>
                                </a:rPr>
                                <m:t>⊿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494633" cy="4662238"/>
              </a:xfrm>
              <a:prstGeom prst="rect">
                <a:avLst/>
              </a:prstGeom>
              <a:blipFill>
                <a:blip r:embed="rId2"/>
                <a:stretch>
                  <a:fillRect l="-1076" t="-1047" r="-1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F0796530-47F0-43BE-B20A-0CBBED11DA95}"/>
                  </a:ext>
                </a:extLst>
              </p:cNvPr>
              <p:cNvSpPr txBox="1"/>
              <p:nvPr/>
            </p:nvSpPr>
            <p:spPr>
              <a:xfrm>
                <a:off x="3920072" y="4678338"/>
                <a:ext cx="292945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sz="2400" dirty="0"/>
                  <a:t>・・・</a:t>
                </a:r>
                <a:r>
                  <a:rPr lang="en-US" altLang="ja-JP" sz="2400" dirty="0"/>
                  <a:t>X</a:t>
                </a:r>
                <a:r>
                  <a:rPr lang="ja-JP" altLang="en-US" sz="2400" dirty="0"/>
                  <a:t>軸の変位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ja-JP" altLang="en-US" sz="2400" dirty="0"/>
                  <a:t>・・・</a:t>
                </a:r>
                <a:r>
                  <a:rPr lang="en-US" altLang="ja-JP" sz="2400" dirty="0"/>
                  <a:t>Y</a:t>
                </a:r>
                <a:r>
                  <a:rPr lang="ja-JP" altLang="en-US" sz="2400" dirty="0"/>
                  <a:t>軸の変位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ja-JP" altLang="en-US" sz="2400" dirty="0"/>
                  <a:t>・・・</a:t>
                </a:r>
                <a:r>
                  <a:rPr lang="en-US" altLang="ja-JP" sz="2400" dirty="0"/>
                  <a:t>Z</a:t>
                </a:r>
                <a:r>
                  <a:rPr lang="ja-JP" altLang="en-US" sz="2400" dirty="0"/>
                  <a:t>軸の変位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F0796530-47F0-43BE-B20A-0CBBED11D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072" y="4678338"/>
                <a:ext cx="2929456" cy="1200329"/>
              </a:xfrm>
              <a:prstGeom prst="rect">
                <a:avLst/>
              </a:prstGeom>
              <a:blipFill>
                <a:blip r:embed="rId3"/>
                <a:stretch>
                  <a:fillRect t="-4061" r="-2287" b="-1066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AEB14BBD-2DE6-4B86-A433-54DED8BB946E}"/>
                  </a:ext>
                </a:extLst>
              </p:cNvPr>
              <p:cNvSpPr txBox="1"/>
              <p:nvPr/>
            </p:nvSpPr>
            <p:spPr>
              <a:xfrm>
                <a:off x="3920072" y="2934204"/>
                <a:ext cx="293105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sz="2400" dirty="0"/>
                  <a:t>・・・</a:t>
                </a:r>
                <a:r>
                  <a:rPr lang="en-US" altLang="ja-JP" sz="2400" dirty="0"/>
                  <a:t>X</a:t>
                </a:r>
                <a:r>
                  <a:rPr lang="ja-JP" altLang="en-US" sz="2400" dirty="0"/>
                  <a:t>軸の変位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ja-JP" altLang="en-US" sz="2400" dirty="0"/>
                  <a:t>・・・</a:t>
                </a:r>
                <a:r>
                  <a:rPr lang="en-US" altLang="ja-JP" sz="2400" dirty="0"/>
                  <a:t>Y</a:t>
                </a:r>
                <a:r>
                  <a:rPr lang="ja-JP" altLang="en-US" sz="2400" dirty="0"/>
                  <a:t>軸の変位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AEB14BBD-2DE6-4B86-A433-54DED8BB94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072" y="2934204"/>
                <a:ext cx="2931059" cy="830997"/>
              </a:xfrm>
              <a:prstGeom prst="rect">
                <a:avLst/>
              </a:prstGeom>
              <a:blipFill>
                <a:blip r:embed="rId4"/>
                <a:stretch>
                  <a:fillRect t="-5839" r="-2287" b="-153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4696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平行移動行列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813905" cy="29259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400" dirty="0"/>
                  <a:t>X</a:t>
                </a:r>
                <a:r>
                  <a:rPr lang="ja-JP" altLang="en-US" sz="2400" dirty="0"/>
                  <a:t>軸に</a:t>
                </a:r>
                <a:r>
                  <a:rPr lang="en-US" altLang="ja-JP" sz="2400" dirty="0"/>
                  <a:t>20</a:t>
                </a:r>
                <a:r>
                  <a:rPr lang="ja-JP" altLang="en-US" sz="2400" dirty="0"/>
                  <a:t>、</a:t>
                </a:r>
                <a:r>
                  <a:rPr lang="en-US" altLang="ja-JP" sz="2400" dirty="0"/>
                  <a:t>Y</a:t>
                </a:r>
                <a:r>
                  <a:rPr lang="ja-JP" altLang="en-US" sz="2400" dirty="0"/>
                  <a:t>軸に</a:t>
                </a:r>
                <a:r>
                  <a:rPr lang="en-US" altLang="ja-JP" sz="2400" dirty="0"/>
                  <a:t>50</a:t>
                </a:r>
                <a:r>
                  <a:rPr lang="ja-JP" altLang="en-US" sz="2400" dirty="0"/>
                  <a:t>移動する平行移動行列を作りなさい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■解答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ja-JP" altLang="en-US" sz="2400" i="1">
                                  <a:latin typeface="Cambria Math" panose="02040503050406030204" pitchFamily="18" charset="0"/>
                                </a:rPr>
                                <m:t>⊿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ja-JP" altLang="en-US" sz="2400" i="1">
                                  <a:latin typeface="Cambria Math" panose="02040503050406030204" pitchFamily="18" charset="0"/>
                                </a:rPr>
                                <m:t>⊿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より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>
                    <a:solidFill>
                      <a:srgbClr val="FF0000"/>
                    </a:solidFill>
                  </a:rPr>
                  <a:t> </a:t>
                </a:r>
                <a:r>
                  <a:rPr lang="ja-JP" altLang="en-US" sz="2400" dirty="0"/>
                  <a:t>となる。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行列を覚えたら、あとはどれだけ移動するかをあてはめるだけです。</a:t>
                </a:r>
                <a:r>
                  <a:rPr lang="en-US" altLang="ja-JP" sz="2400" dirty="0"/>
                  <a:t> </a:t>
                </a: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813905" cy="2925994"/>
              </a:xfrm>
              <a:prstGeom prst="rect">
                <a:avLst/>
              </a:prstGeom>
              <a:blipFill>
                <a:blip r:embed="rId2"/>
                <a:stretch>
                  <a:fillRect l="-932" t="-1667" b="-37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9681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3902E391-B194-4D81-B0BE-66A77FCA43C2}"/>
              </a:ext>
            </a:extLst>
          </p:cNvPr>
          <p:cNvSpPr/>
          <p:nvPr/>
        </p:nvSpPr>
        <p:spPr>
          <a:xfrm>
            <a:off x="321734" y="1811867"/>
            <a:ext cx="11616266" cy="2099733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平行移動行列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109114" cy="33144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平行移動行列を使って移動させるには行列の掛け算を使います。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■行列を使った平行移動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(2D)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2400" dirty="0"/>
                  <a:t>にあるものを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, ⊿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2400" dirty="0"/>
                  <a:t>だけ移動した後の座標を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’, 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’)</m:t>
                    </m:r>
                  </m:oMath>
                </a14:m>
                <a:r>
                  <a:rPr lang="ja-JP" altLang="en-US" sz="2400" dirty="0"/>
                  <a:t>としたとき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b="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sz="24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ja-JP" altLang="en-US" sz="2400" i="1">
                                  <a:latin typeface="Cambria Math" panose="02040503050406030204" pitchFamily="18" charset="0"/>
                                </a:rPr>
                                <m:t>⊿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ja-JP" altLang="en-US" sz="2400" i="1">
                                  <a:latin typeface="Cambria Math" panose="02040503050406030204" pitchFamily="18" charset="0"/>
                                </a:rPr>
                                <m:t>⊿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となる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つまり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平行移動行列を掛け算すると、移動後の座標を求められます。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109114" cy="3314433"/>
              </a:xfrm>
              <a:prstGeom prst="rect">
                <a:avLst/>
              </a:prstGeom>
              <a:blipFill>
                <a:blip r:embed="rId2"/>
                <a:stretch>
                  <a:fillRect l="-905" t="-1473" b="-33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9772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3902E391-B194-4D81-B0BE-66A77FCA43C2}"/>
              </a:ext>
            </a:extLst>
          </p:cNvPr>
          <p:cNvSpPr/>
          <p:nvPr/>
        </p:nvSpPr>
        <p:spPr>
          <a:xfrm>
            <a:off x="321734" y="1811867"/>
            <a:ext cx="11616266" cy="252306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平行移動行列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746403" cy="33405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400" dirty="0"/>
                  <a:t>3D</a:t>
                </a:r>
                <a:r>
                  <a:rPr lang="ja-JP" altLang="en-US" sz="2400" dirty="0"/>
                  <a:t>では以下の通りです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■行列を使った平行移動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(3D)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2400" dirty="0"/>
                  <a:t>にあるものを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, ⊿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, ⊿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2400" dirty="0"/>
                  <a:t>だけ移動した後の座標を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’, 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’, 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’)</m:t>
                    </m:r>
                  </m:oMath>
                </a14:m>
                <a:r>
                  <a:rPr lang="ja-JP" altLang="en-US" sz="2400" dirty="0"/>
                  <a:t>としたとき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ja-JP" altLang="en-US" sz="2400" i="1">
                                  <a:latin typeface="Cambria Math" panose="02040503050406030204" pitchFamily="18" charset="0"/>
                                </a:rPr>
                                <m:t>⊿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ja-JP" altLang="en-US" sz="2400" i="1">
                                  <a:latin typeface="Cambria Math" panose="02040503050406030204" pitchFamily="18" charset="0"/>
                                </a:rPr>
                                <m:t>⊿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ja-JP" altLang="en-US" sz="2400" i="1">
                                  <a:latin typeface="Cambria Math" panose="02040503050406030204" pitchFamily="18" charset="0"/>
                                </a:rPr>
                                <m:t>⊿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となる</a:t>
                </a:r>
                <a:endParaRPr lang="en-US" altLang="ja-JP" sz="2400" dirty="0"/>
              </a:p>
              <a:p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746403" cy="3340594"/>
              </a:xfrm>
              <a:prstGeom prst="rect">
                <a:avLst/>
              </a:prstGeom>
              <a:blipFill>
                <a:blip r:embed="rId2"/>
                <a:stretch>
                  <a:fillRect l="-851" t="-146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1390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平行移動行列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272364" cy="43205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座標</a:t>
                </a:r>
                <a:r>
                  <a:rPr lang="en-US" altLang="ja-JP" sz="2400" dirty="0"/>
                  <a:t>(15, 40)</a:t>
                </a:r>
                <a:r>
                  <a:rPr lang="ja-JP" altLang="en-US" sz="2400" dirty="0"/>
                  <a:t>にあるオブジェクトを</a:t>
                </a:r>
                <a:endParaRPr lang="en-US" altLang="ja-JP" sz="2400" dirty="0"/>
              </a:p>
              <a:p>
                <a:r>
                  <a:rPr lang="ja-JP" altLang="en-US" sz="2400" dirty="0"/>
                  <a:t>右に</a:t>
                </a:r>
                <a:r>
                  <a:rPr lang="en-US" altLang="ja-JP" sz="2400" dirty="0"/>
                  <a:t>10, </a:t>
                </a:r>
                <a:r>
                  <a:rPr lang="ja-JP" altLang="en-US" sz="2400" dirty="0"/>
                  <a:t>上に</a:t>
                </a:r>
                <a:r>
                  <a:rPr lang="en-US" altLang="ja-JP" sz="2400" dirty="0"/>
                  <a:t>20</a:t>
                </a:r>
                <a:r>
                  <a:rPr lang="ja-JP" altLang="en-US" sz="2400" dirty="0"/>
                  <a:t>移動する行列の計算式を作りなさい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（スクリーン座標系）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b="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sz="24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ja-JP" altLang="en-US" sz="2400" i="1">
                                  <a:latin typeface="Cambria Math" panose="02040503050406030204" pitchFamily="18" charset="0"/>
                                </a:rPr>
                                <m:t>⊿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ja-JP" altLang="en-US" sz="2400" i="1">
                                  <a:latin typeface="Cambria Math" panose="02040503050406030204" pitchFamily="18" charset="0"/>
                                </a:rPr>
                                <m:t>⊿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より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sz="24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となる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座標系に気をつけましょう。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272364" cy="4320542"/>
              </a:xfrm>
              <a:prstGeom prst="rect">
                <a:avLst/>
              </a:prstGeom>
              <a:blipFill>
                <a:blip r:embed="rId2"/>
                <a:stretch>
                  <a:fillRect l="-890" t="-1130" b="-240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3833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平行移動行列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1070659" cy="33144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座標</a:t>
                </a:r>
                <a:r>
                  <a:rPr lang="en-US" altLang="ja-JP" sz="2400" dirty="0"/>
                  <a:t>(15, 40)</a:t>
                </a:r>
                <a:r>
                  <a:rPr lang="ja-JP" altLang="en-US" sz="2400" dirty="0"/>
                  <a:t>にあるオブジェクトを</a:t>
                </a:r>
                <a:endParaRPr lang="en-US" altLang="ja-JP" sz="2400" dirty="0"/>
              </a:p>
              <a:p>
                <a:r>
                  <a:rPr lang="ja-JP" altLang="en-US" sz="2400" dirty="0"/>
                  <a:t>右に</a:t>
                </a:r>
                <a:r>
                  <a:rPr lang="en-US" altLang="ja-JP" sz="2400" dirty="0"/>
                  <a:t>10, </a:t>
                </a:r>
                <a:r>
                  <a:rPr lang="ja-JP" altLang="en-US" sz="2400" dirty="0"/>
                  <a:t>上に</a:t>
                </a:r>
                <a:r>
                  <a:rPr lang="en-US" altLang="ja-JP" sz="2400" dirty="0"/>
                  <a:t>20</a:t>
                </a:r>
                <a:r>
                  <a:rPr lang="ja-JP" altLang="en-US" sz="2400" dirty="0"/>
                  <a:t>移動する行列の計算式を作りなさい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（スクリーン座標系）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実際に計算すると、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15+0+10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0+40+(−20)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移動後の座標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’, 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’)</m:t>
                    </m:r>
                  </m:oMath>
                </a14:m>
                <a:r>
                  <a:rPr lang="ja-JP" altLang="en-US" sz="2400" dirty="0"/>
                  <a:t>は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(25, 20)</m:t>
                    </m:r>
                  </m:oMath>
                </a14:m>
                <a:r>
                  <a:rPr lang="ja-JP" altLang="en-US" sz="2400" dirty="0"/>
                  <a:t>となり、きちんと移動しているのがわかります。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1070659" cy="3314433"/>
              </a:xfrm>
              <a:prstGeom prst="rect">
                <a:avLst/>
              </a:prstGeom>
              <a:blipFill>
                <a:blip r:embed="rId2"/>
                <a:stretch>
                  <a:fillRect l="-826" t="-1473" b="-349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3278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平行移動行列 例題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12007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① 座標</a:t>
            </a:r>
            <a:r>
              <a:rPr lang="en-US" altLang="ja-JP" sz="2400" dirty="0"/>
              <a:t>(-20, 80)</a:t>
            </a:r>
            <a:r>
              <a:rPr lang="ja-JP" altLang="en-US" sz="2400" dirty="0"/>
              <a:t>にあるオブジェクトを左に</a:t>
            </a:r>
            <a:r>
              <a:rPr lang="en-US" altLang="ja-JP" sz="2400" dirty="0"/>
              <a:t>30</a:t>
            </a:r>
            <a:r>
              <a:rPr lang="ja-JP" altLang="en-US" sz="2400" dirty="0"/>
              <a:t>、下に</a:t>
            </a:r>
            <a:r>
              <a:rPr lang="en-US" altLang="ja-JP" sz="2400" dirty="0"/>
              <a:t>50</a:t>
            </a:r>
            <a:r>
              <a:rPr lang="ja-JP" altLang="en-US" sz="2400" dirty="0"/>
              <a:t>移動させる</a:t>
            </a:r>
            <a:endParaRPr lang="en-US" altLang="ja-JP" sz="2400" dirty="0"/>
          </a:p>
          <a:p>
            <a:r>
              <a:rPr lang="ja-JP" altLang="en-US" sz="2400" dirty="0"/>
              <a:t>　 平行移動させる行列の計算式を作りなさい（デカルト座標系）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② 座標</a:t>
            </a:r>
            <a:r>
              <a:rPr lang="en-US" altLang="ja-JP" sz="2400" dirty="0"/>
              <a:t>(10, 250, 300)</a:t>
            </a:r>
            <a:r>
              <a:rPr lang="ja-JP" altLang="en-US" sz="2400" dirty="0"/>
              <a:t>にあるオブジェクトを、</a:t>
            </a:r>
            <a:endParaRPr lang="en-US" altLang="ja-JP" sz="2400" dirty="0"/>
          </a:p>
          <a:p>
            <a:r>
              <a:rPr lang="ja-JP" altLang="en-US" sz="2400" dirty="0"/>
              <a:t>　 左に</a:t>
            </a:r>
            <a:r>
              <a:rPr lang="en-US" altLang="ja-JP" sz="2400" dirty="0"/>
              <a:t>30, </a:t>
            </a:r>
            <a:r>
              <a:rPr lang="ja-JP" altLang="en-US" sz="2400" dirty="0"/>
              <a:t>下に</a:t>
            </a:r>
            <a:r>
              <a:rPr lang="en-US" altLang="ja-JP" sz="2400" dirty="0"/>
              <a:t>100, </a:t>
            </a:r>
            <a:r>
              <a:rPr lang="ja-JP" altLang="en-US" sz="2400" dirty="0"/>
              <a:t>手前に</a:t>
            </a:r>
            <a:r>
              <a:rPr lang="en-US" altLang="ja-JP" sz="2400" dirty="0"/>
              <a:t>20</a:t>
            </a:r>
            <a:r>
              <a:rPr lang="ja-JP" altLang="en-US" sz="2400" dirty="0"/>
              <a:t>平行移動させる行列の計算式を作りなさい</a:t>
            </a:r>
            <a:endParaRPr lang="en-US" altLang="ja-JP" sz="2400" dirty="0"/>
          </a:p>
          <a:p>
            <a:r>
              <a:rPr lang="ja-JP" altLang="en-US" sz="2400" dirty="0"/>
              <a:t>　 （左手座標系）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754328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483</Words>
  <Application>Microsoft Office PowerPoint</Application>
  <PresentationFormat>ワイド画面</PresentationFormat>
  <Paragraphs>59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49</cp:revision>
  <dcterms:created xsi:type="dcterms:W3CDTF">2024-08-27T02:15:54Z</dcterms:created>
  <dcterms:modified xsi:type="dcterms:W3CDTF">2025-04-15T01:45:37Z</dcterms:modified>
</cp:coreProperties>
</file>