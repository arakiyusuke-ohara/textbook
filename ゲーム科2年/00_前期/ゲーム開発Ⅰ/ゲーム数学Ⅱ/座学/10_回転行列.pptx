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3" r:id="rId5"/>
    <p:sldId id="262" r:id="rId6"/>
    <p:sldId id="264" r:id="rId7"/>
    <p:sldId id="265" r:id="rId8"/>
    <p:sldId id="266" r:id="rId9"/>
    <p:sldId id="267" r:id="rId10"/>
    <p:sldId id="268" r:id="rId11"/>
    <p:sldId id="269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D27082E-43C7-4E85-BDE4-E09E2674B6B4}"/>
              </a:ext>
            </a:extLst>
          </p:cNvPr>
          <p:cNvSpPr/>
          <p:nvPr/>
        </p:nvSpPr>
        <p:spPr>
          <a:xfrm>
            <a:off x="567542" y="1845733"/>
            <a:ext cx="5299858" cy="1778000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3D</a:t>
            </a:r>
            <a:r>
              <a:rPr lang="ja-JP" altLang="en-US" sz="2400" dirty="0"/>
              <a:t>の回転は</a:t>
            </a:r>
            <a:r>
              <a:rPr lang="ja-JP" altLang="en-US" sz="2400" b="1" dirty="0">
                <a:solidFill>
                  <a:srgbClr val="FF0000"/>
                </a:solidFill>
              </a:rPr>
              <a:t>３種類</a:t>
            </a:r>
            <a:r>
              <a:rPr lang="ja-JP" altLang="en-US" sz="2400" dirty="0"/>
              <a:t>存在します。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■３種類の回転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・ピッチ（</a:t>
            </a:r>
            <a:r>
              <a:rPr lang="en-US" altLang="ja-JP" sz="2400" dirty="0"/>
              <a:t>X</a:t>
            </a:r>
            <a:r>
              <a:rPr lang="ja-JP" altLang="en-US" sz="2400" dirty="0"/>
              <a:t>軸回転）</a:t>
            </a:r>
            <a:endParaRPr lang="en-US" altLang="ja-JP" sz="2400" dirty="0"/>
          </a:p>
          <a:p>
            <a:r>
              <a:rPr lang="ja-JP" altLang="en-US" sz="2400" dirty="0"/>
              <a:t>・ヨー（</a:t>
            </a:r>
            <a:r>
              <a:rPr lang="en-US" altLang="ja-JP" sz="2400" dirty="0"/>
              <a:t>Y</a:t>
            </a:r>
            <a:r>
              <a:rPr lang="ja-JP" altLang="en-US" sz="2400" dirty="0"/>
              <a:t>軸回転）</a:t>
            </a:r>
            <a:endParaRPr lang="en-US" altLang="ja-JP" sz="2400" dirty="0"/>
          </a:p>
          <a:p>
            <a:r>
              <a:rPr lang="ja-JP" altLang="en-US" sz="2400" dirty="0"/>
              <a:t>・ロール（</a:t>
            </a:r>
            <a:r>
              <a:rPr lang="en-US" altLang="ja-JP" sz="2400" dirty="0"/>
              <a:t>Z</a:t>
            </a:r>
            <a:r>
              <a:rPr lang="ja-JP" altLang="en-US" sz="2400" dirty="0"/>
              <a:t>軸回転）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それぞれ</a:t>
            </a:r>
            <a:r>
              <a:rPr lang="ja-JP" altLang="en-US" sz="2400" b="1" dirty="0">
                <a:solidFill>
                  <a:srgbClr val="FF0000"/>
                </a:solidFill>
              </a:rPr>
              <a:t>種類によって計算する行列も変わります。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まずはピッチから学習します。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946963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AE0A3B-E184-4E21-B221-83C541F5D705}"/>
              </a:ext>
            </a:extLst>
          </p:cNvPr>
          <p:cNvSpPr/>
          <p:nvPr/>
        </p:nvSpPr>
        <p:spPr>
          <a:xfrm>
            <a:off x="355875" y="2161905"/>
            <a:ext cx="6078792" cy="2122228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5873724" cy="3668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ピッチ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(X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軸回転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)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行列</a:t>
                </a:r>
                <a:r>
                  <a:rPr lang="ja-JP" altLang="en-US" sz="2400" dirty="0"/>
                  <a:t>は以下の通りです。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まずは見た目を覚えましょう。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■ピッチ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(X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軸回転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)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行列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el-GR" altLang="ja-JP" sz="2400" dirty="0"/>
                  <a:t>Θ</a:t>
                </a:r>
                <a:r>
                  <a:rPr lang="ja-JP" altLang="en-US" sz="2400" dirty="0"/>
                  <a:t>に回転角度をあてはめます。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5873724" cy="3668953"/>
              </a:xfrm>
              <a:prstGeom prst="rect">
                <a:avLst/>
              </a:prstGeom>
              <a:blipFill>
                <a:blip r:embed="rId2"/>
                <a:stretch>
                  <a:fillRect l="-1556" t="-1331" r="-622" b="-299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0113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718780" cy="32996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原点を中心に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ピッチさせる回転行列を作りなさい。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行列を覚えていれば、あてはめるだけです。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718780" cy="3299621"/>
              </a:xfrm>
              <a:prstGeom prst="rect">
                <a:avLst/>
              </a:prstGeom>
              <a:blipFill>
                <a:blip r:embed="rId2"/>
                <a:stretch>
                  <a:fillRect l="-1185" t="-1479" r="-316" b="-332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7742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AE0A3B-E184-4E21-B221-83C541F5D705}"/>
              </a:ext>
            </a:extLst>
          </p:cNvPr>
          <p:cNvSpPr/>
          <p:nvPr/>
        </p:nvSpPr>
        <p:spPr>
          <a:xfrm>
            <a:off x="355875" y="2161905"/>
            <a:ext cx="6078792" cy="2122228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6798656" cy="3668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つづいて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ヨー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(Y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軸回転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)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行列</a:t>
                </a:r>
                <a:r>
                  <a:rPr lang="ja-JP" altLang="en-US" sz="2400" dirty="0"/>
                  <a:t>は以下の通りです。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まずは見た目を覚えましょう。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■ヨー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(Y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軸回転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)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行列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el-GR" altLang="ja-JP" sz="2400" dirty="0"/>
                  <a:t>Θ</a:t>
                </a:r>
                <a:r>
                  <a:rPr lang="ja-JP" altLang="en-US" sz="2400" dirty="0"/>
                  <a:t>に回転角度をあてはめます。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6798656" cy="3668953"/>
              </a:xfrm>
              <a:prstGeom prst="rect">
                <a:avLst/>
              </a:prstGeom>
              <a:blipFill>
                <a:blip r:embed="rId2"/>
                <a:stretch>
                  <a:fillRect l="-1345" t="-1331" r="-448" b="-299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3631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411003" cy="32996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原点を中心に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ヨーさせる回転行列を作りなさい。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ja-JP" altLang="en-US" sz="2400" dirty="0"/>
                  <a:t>より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行列を覚えていれば、あてはめるだけです。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411003" cy="3299621"/>
              </a:xfrm>
              <a:prstGeom prst="rect">
                <a:avLst/>
              </a:prstGeom>
              <a:blipFill>
                <a:blip r:embed="rId2"/>
                <a:stretch>
                  <a:fillRect l="-1234" t="-1479" r="-329" b="-332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52859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AE0A3B-E184-4E21-B221-83C541F5D705}"/>
              </a:ext>
            </a:extLst>
          </p:cNvPr>
          <p:cNvSpPr/>
          <p:nvPr/>
        </p:nvSpPr>
        <p:spPr>
          <a:xfrm>
            <a:off x="355875" y="2048933"/>
            <a:ext cx="6078792" cy="4030134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6784230" cy="46455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最後に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ロール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(Z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軸回転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)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行列</a:t>
                </a:r>
                <a:r>
                  <a:rPr lang="ja-JP" altLang="en-US" sz="2400" dirty="0"/>
                  <a:t>は以下の通りです。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まずは見た目を覚えましょう。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■ロール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(Z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軸回転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)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行列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(2D)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■ロール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(Z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軸回転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)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行列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(3D)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6784230" cy="4645567"/>
              </a:xfrm>
              <a:prstGeom prst="rect">
                <a:avLst/>
              </a:prstGeom>
              <a:blipFill>
                <a:blip r:embed="rId2"/>
                <a:stretch>
                  <a:fillRect l="-1348" t="-1050" r="-44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3999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735084" cy="32996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原点を中心に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ロールさせる回転行列を作りなさい。（</a:t>
                </a:r>
                <a:r>
                  <a:rPr lang="en-US" altLang="ja-JP" sz="2400" dirty="0"/>
                  <a:t>3D</a:t>
                </a:r>
                <a:r>
                  <a:rPr lang="ja-JP" altLang="en-US" sz="2400" dirty="0"/>
                  <a:t>）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ja-JP" altLang="en-US" sz="2400" dirty="0"/>
                  <a:t>より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30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°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行列を覚えていれば、あてはめるだけです。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735084" cy="3299621"/>
              </a:xfrm>
              <a:prstGeom prst="rect">
                <a:avLst/>
              </a:prstGeom>
              <a:blipFill>
                <a:blip r:embed="rId2"/>
                <a:stretch>
                  <a:fillRect l="-1047" t="-1479" r="-140" b="-332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28311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802410" cy="33405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いずれの回転行列も、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座標変換には行列の掛け算</a:t>
                </a:r>
                <a:r>
                  <a:rPr lang="ja-JP" altLang="en-US" sz="2400" dirty="0"/>
                  <a:t>を使います。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■ピッチ行列による変換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en-US" altLang="ja-JP" sz="2400" b="1" dirty="0">
                    <a:solidFill>
                      <a:srgbClr val="FF0000"/>
                    </a:solidFill>
                  </a:rPr>
                  <a:t>※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ヨー、ロールの場合は対応した行列で掛け算します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802410" cy="3340594"/>
              </a:xfrm>
              <a:prstGeom prst="rect">
                <a:avLst/>
              </a:prstGeom>
              <a:blipFill>
                <a:blip r:embed="rId2"/>
                <a:stretch>
                  <a:fillRect l="-1039" t="-1460" r="-139" b="-328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7666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567316" cy="22064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(10, 20)</m:t>
                    </m:r>
                  </m:oMath>
                </a14:m>
                <a:r>
                  <a:rPr lang="ja-JP" altLang="en-US" sz="2400" dirty="0"/>
                  <a:t>にある画像の頂点を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ロールする行列の計算式を作りなさい</a:t>
                </a:r>
                <a:r>
                  <a:rPr lang="en-US" altLang="ja-JP" sz="2400" dirty="0"/>
                  <a:t>(2D)</a:t>
                </a: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  <m:r>
                                <m:rPr>
                                  <m:sty m:val="p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US" altLang="ja-JP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ja-JP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en-US" altLang="ja-JP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en-US" altLang="ja-JP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p>
                                  <m:r>
                                    <a:rPr lang="en-US" altLang="ja-JP" sz="2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mr>
                        </m:m>
                      </m:e>
                    </m:d>
                    <m:r>
                      <a:rPr lang="en-US" altLang="ja-JP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𝒄𝒐𝒔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𝟐𝟎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°</m:t>
                              </m:r>
                            </m:e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𝒔𝒊𝒏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𝟐𝟎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°</m:t>
                              </m:r>
                            </m:e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𝒔𝒊𝒏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𝟐𝟎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°</m:t>
                              </m:r>
                            </m:e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𝒄𝒐𝒔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𝟐𝟎</m:t>
                              </m:r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°</m:t>
                              </m:r>
                            </m:e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となる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567316" cy="2206438"/>
              </a:xfrm>
              <a:prstGeom prst="rect">
                <a:avLst/>
              </a:prstGeom>
              <a:blipFill>
                <a:blip r:embed="rId2"/>
                <a:stretch>
                  <a:fillRect l="-865" t="-221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5211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614859" cy="3078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①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原点を中心に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ヨーする行列を作りなさい</a:t>
                </a:r>
                <a:r>
                  <a:rPr lang="en-US" altLang="ja-JP" sz="2400" dirty="0"/>
                  <a:t>(3D)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②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原点を中心に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45°</m:t>
                    </m:r>
                  </m:oMath>
                </a14:m>
                <a:r>
                  <a:rPr lang="ja-JP" altLang="en-US" sz="2400" dirty="0"/>
                  <a:t>ロールする行列を作りなさい</a:t>
                </a:r>
                <a:r>
                  <a:rPr lang="en-US" altLang="ja-JP" sz="2400" dirty="0"/>
                  <a:t>(3D)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③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原点を中心に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210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ピッチする行列を作りなさい</a:t>
                </a:r>
                <a:r>
                  <a:rPr lang="en-US" altLang="ja-JP" sz="2400" dirty="0"/>
                  <a:t>(3D)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④</m:t>
                    </m:r>
                  </m:oMath>
                </a14:m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(2, 5, −8)</m:t>
                    </m:r>
                  </m:oMath>
                </a14:m>
                <a:r>
                  <a:rPr lang="ja-JP" altLang="en-US" sz="2400" dirty="0"/>
                  <a:t>にある画像の頂点を、</a:t>
                </a:r>
                <a:endParaRPr lang="en-US" altLang="ja-JP" sz="2400" dirty="0"/>
              </a:p>
              <a:p>
                <a:r>
                  <a:rPr lang="ja-JP" altLang="en-US" sz="2400" dirty="0"/>
                  <a:t>　 原点を中心に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180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ヨーする行列の計算式を作りなさい</a:t>
                </a:r>
                <a:r>
                  <a:rPr lang="en-US" altLang="ja-JP" sz="2400" dirty="0"/>
                  <a:t>(3D)</a:t>
                </a:r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614859" cy="3078279"/>
              </a:xfrm>
              <a:prstGeom prst="rect">
                <a:avLst/>
              </a:prstGeom>
              <a:blipFill>
                <a:blip r:embed="rId2"/>
                <a:stretch>
                  <a:fillRect l="-637" t="-1188" r="-142" b="-356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6146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回転行列 補足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494633" cy="4627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拡縮と同様に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回転行列も原点を中心とした回転</a:t>
                </a:r>
                <a:r>
                  <a:rPr lang="ja-JP" altLang="en-US" sz="2400" dirty="0"/>
                  <a:t>になります。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494633" cy="462755"/>
              </a:xfrm>
              <a:prstGeom prst="rect">
                <a:avLst/>
              </a:prstGeom>
              <a:blipFill>
                <a:blip r:embed="rId2"/>
                <a:stretch>
                  <a:fillRect l="-574" t="-9333" r="-143" b="-32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E1A3032F-CC32-400E-B703-1E4F2F2F3242}"/>
              </a:ext>
            </a:extLst>
          </p:cNvPr>
          <p:cNvCxnSpPr>
            <a:cxnSpLocks/>
          </p:cNvCxnSpPr>
          <p:nvPr/>
        </p:nvCxnSpPr>
        <p:spPr>
          <a:xfrm>
            <a:off x="1422400" y="3920067"/>
            <a:ext cx="2336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D7780173-1D69-4F82-BACA-5E469521766A}"/>
              </a:ext>
            </a:extLst>
          </p:cNvPr>
          <p:cNvCxnSpPr>
            <a:cxnSpLocks/>
          </p:cNvCxnSpPr>
          <p:nvPr/>
        </p:nvCxnSpPr>
        <p:spPr>
          <a:xfrm flipV="1">
            <a:off x="2548467" y="2709333"/>
            <a:ext cx="0" cy="2489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スマイル 10">
            <a:extLst>
              <a:ext uri="{FF2B5EF4-FFF2-40B4-BE49-F238E27FC236}">
                <a16:creationId xmlns:a16="http://schemas.microsoft.com/office/drawing/2014/main" id="{43FBB9BE-7638-460C-B49C-DF551A12C127}"/>
              </a:ext>
            </a:extLst>
          </p:cNvPr>
          <p:cNvSpPr/>
          <p:nvPr/>
        </p:nvSpPr>
        <p:spPr>
          <a:xfrm rot="16200000">
            <a:off x="2247901" y="3611034"/>
            <a:ext cx="601132" cy="618065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E646AA9-87AE-41F0-9335-43E99692A606}"/>
              </a:ext>
            </a:extLst>
          </p:cNvPr>
          <p:cNvSpPr txBox="1"/>
          <p:nvPr/>
        </p:nvSpPr>
        <p:spPr>
          <a:xfrm>
            <a:off x="567542" y="5506679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原点が中心であればその場で回転</a:t>
            </a:r>
            <a:endParaRPr lang="en-US" altLang="ja-JP" sz="2400" dirty="0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60361978-18D5-4661-92B6-B400B592F9B5}"/>
              </a:ext>
            </a:extLst>
          </p:cNvPr>
          <p:cNvCxnSpPr>
            <a:cxnSpLocks/>
          </p:cNvCxnSpPr>
          <p:nvPr/>
        </p:nvCxnSpPr>
        <p:spPr>
          <a:xfrm>
            <a:off x="6725375" y="3920067"/>
            <a:ext cx="2336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5167C5C2-6BFC-4DBD-96CE-866A8C3B1F0F}"/>
              </a:ext>
            </a:extLst>
          </p:cNvPr>
          <p:cNvCxnSpPr>
            <a:cxnSpLocks/>
          </p:cNvCxnSpPr>
          <p:nvPr/>
        </p:nvCxnSpPr>
        <p:spPr>
          <a:xfrm flipV="1">
            <a:off x="7851442" y="2709333"/>
            <a:ext cx="0" cy="2489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スマイル 14">
            <a:extLst>
              <a:ext uri="{FF2B5EF4-FFF2-40B4-BE49-F238E27FC236}">
                <a16:creationId xmlns:a16="http://schemas.microsoft.com/office/drawing/2014/main" id="{E7455D32-C47B-480F-861D-DA40AB1EA66A}"/>
              </a:ext>
            </a:extLst>
          </p:cNvPr>
          <p:cNvSpPr/>
          <p:nvPr/>
        </p:nvSpPr>
        <p:spPr>
          <a:xfrm rot="16200000">
            <a:off x="7550876" y="2705101"/>
            <a:ext cx="601132" cy="618065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スマイル 15">
            <a:extLst>
              <a:ext uri="{FF2B5EF4-FFF2-40B4-BE49-F238E27FC236}">
                <a16:creationId xmlns:a16="http://schemas.microsoft.com/office/drawing/2014/main" id="{F0348DA8-81BC-4BF0-AEAE-52AD5D6265C4}"/>
              </a:ext>
            </a:extLst>
          </p:cNvPr>
          <p:cNvSpPr/>
          <p:nvPr/>
        </p:nvSpPr>
        <p:spPr>
          <a:xfrm>
            <a:off x="8524542" y="3602568"/>
            <a:ext cx="601132" cy="618065"/>
          </a:xfrm>
          <a:prstGeom prst="smileyFace">
            <a:avLst/>
          </a:prstGeom>
          <a:solidFill>
            <a:srgbClr val="FFFF00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3C877FE-64E6-4897-BD69-1E0E9F2B6C9A}"/>
              </a:ext>
            </a:extLst>
          </p:cNvPr>
          <p:cNvSpPr txBox="1"/>
          <p:nvPr/>
        </p:nvSpPr>
        <p:spPr>
          <a:xfrm>
            <a:off x="5800894" y="5516032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原点になければ配置が変わる</a:t>
            </a:r>
            <a:endParaRPr lang="en-US" altLang="ja-JP" sz="2400" dirty="0"/>
          </a:p>
        </p:txBody>
      </p:sp>
      <p:sp>
        <p:nvSpPr>
          <p:cNvPr id="19" name="円弧 18">
            <a:extLst>
              <a:ext uri="{FF2B5EF4-FFF2-40B4-BE49-F238E27FC236}">
                <a16:creationId xmlns:a16="http://schemas.microsoft.com/office/drawing/2014/main" id="{D910EBA6-95E2-41DA-A55A-9DA82FAD5AFA}"/>
              </a:ext>
            </a:extLst>
          </p:cNvPr>
          <p:cNvSpPr/>
          <p:nvPr/>
        </p:nvSpPr>
        <p:spPr>
          <a:xfrm>
            <a:off x="7759004" y="3089164"/>
            <a:ext cx="1040008" cy="1007534"/>
          </a:xfrm>
          <a:prstGeom prst="arc">
            <a:avLst/>
          </a:prstGeom>
          <a:ln w="38100"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6737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</TotalTime>
  <Words>465</Words>
  <Application>Microsoft Office PowerPoint</Application>
  <PresentationFormat>ワイド画面</PresentationFormat>
  <Paragraphs>81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58</cp:revision>
  <dcterms:created xsi:type="dcterms:W3CDTF">2024-08-27T02:15:54Z</dcterms:created>
  <dcterms:modified xsi:type="dcterms:W3CDTF">2024-11-19T08:19:16Z</dcterms:modified>
</cp:coreProperties>
</file>