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A909466-57F1-4D5B-9C2F-F2B0058352D4}"/>
              </a:ext>
            </a:extLst>
          </p:cNvPr>
          <p:cNvSpPr/>
          <p:nvPr/>
        </p:nvSpPr>
        <p:spPr>
          <a:xfrm>
            <a:off x="406399" y="2163233"/>
            <a:ext cx="3776133" cy="176106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3284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/>
                  <a:t>3D</a:t>
                </a:r>
                <a:r>
                  <a:rPr kumimoji="1" lang="ja-JP" altLang="en-US" sz="2400" dirty="0"/>
                  <a:t>ゲームを作成する際は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行列</a:t>
                </a:r>
                <a:r>
                  <a:rPr kumimoji="1" lang="ja-JP" altLang="en-US" sz="2400" dirty="0"/>
                  <a:t>の知識が必要です。</a:t>
                </a:r>
                <a:endParaRPr lang="en-US" altLang="ja-JP" sz="2400" dirty="0"/>
              </a:p>
              <a:p>
                <a:r>
                  <a:rPr kumimoji="1" lang="ja-JP" altLang="en-US" sz="2400" dirty="0"/>
                  <a:t>行列とは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複数の数を格子状に並べてひとまとめにしたもの</a:t>
                </a:r>
                <a:r>
                  <a:rPr kumimoji="1" lang="ja-JP" altLang="en-US" sz="2400" dirty="0"/>
                  <a:t>です。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■行列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  <a:p>
                <a:r>
                  <a:rPr kumimoji="1" lang="en-US" altLang="ja-JP" sz="2400" dirty="0">
                    <a:solidFill>
                      <a:schemeClr val="tx1"/>
                    </a:solidFill>
                  </a:rPr>
                  <a:t> C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言語の２次元配列のようなイメージです。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3284938"/>
              </a:xfrm>
              <a:prstGeom prst="rect">
                <a:avLst/>
              </a:prstGeom>
              <a:blipFill>
                <a:blip r:embed="rId2"/>
                <a:stretch>
                  <a:fillRect l="-1003" t="-1487" r="-67" b="-35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63527" cy="4380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行列にある１つ１つの数のことを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要素</a:t>
                </a:r>
                <a:r>
                  <a:rPr lang="ja-JP" altLang="en-US" sz="2400" dirty="0"/>
                  <a:t>と言います。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そして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横の並びを行</a:t>
                </a:r>
                <a:r>
                  <a:rPr lang="ja-JP" altLang="en-US" sz="2400" dirty="0"/>
                  <a:t>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縦の並びを列</a:t>
                </a:r>
                <a:r>
                  <a:rPr lang="ja-JP" altLang="en-US" sz="2400" dirty="0"/>
                  <a:t>と言います。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6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6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63527" cy="4380686"/>
              </a:xfrm>
              <a:prstGeom prst="rect">
                <a:avLst/>
              </a:prstGeom>
              <a:blipFill>
                <a:blip r:embed="rId2"/>
                <a:stretch>
                  <a:fillRect l="-1258" t="-1114" r="-3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吹き出し: 折線 2">
            <a:extLst>
              <a:ext uri="{FF2B5EF4-FFF2-40B4-BE49-F238E27FC236}">
                <a16:creationId xmlns:a16="http://schemas.microsoft.com/office/drawing/2014/main" id="{68506513-3DC0-4A2F-B786-05134FF31E14}"/>
              </a:ext>
            </a:extLst>
          </p:cNvPr>
          <p:cNvSpPr/>
          <p:nvPr/>
        </p:nvSpPr>
        <p:spPr>
          <a:xfrm>
            <a:off x="4574610" y="2292412"/>
            <a:ext cx="772088" cy="396766"/>
          </a:xfrm>
          <a:prstGeom prst="borderCallout2">
            <a:avLst>
              <a:gd name="adj1" fmla="val 18750"/>
              <a:gd name="adj2" fmla="val -8333"/>
              <a:gd name="adj3" fmla="val 29346"/>
              <a:gd name="adj4" fmla="val -58867"/>
              <a:gd name="adj5" fmla="val 127220"/>
              <a:gd name="adj6" fmla="val -90781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要素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385F43A-E16D-4B18-BA28-17443E78A0F5}"/>
              </a:ext>
            </a:extLst>
          </p:cNvPr>
          <p:cNvSpPr/>
          <p:nvPr/>
        </p:nvSpPr>
        <p:spPr>
          <a:xfrm>
            <a:off x="3238550" y="2707914"/>
            <a:ext cx="623562" cy="7701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6277E00-E5C4-4AD9-ABF3-306B92EE1A48}"/>
              </a:ext>
            </a:extLst>
          </p:cNvPr>
          <p:cNvSpPr/>
          <p:nvPr/>
        </p:nvSpPr>
        <p:spPr>
          <a:xfrm>
            <a:off x="567542" y="3608944"/>
            <a:ext cx="3702267" cy="75885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折線 7">
            <a:extLst>
              <a:ext uri="{FF2B5EF4-FFF2-40B4-BE49-F238E27FC236}">
                <a16:creationId xmlns:a16="http://schemas.microsoft.com/office/drawing/2014/main" id="{4286A8D9-CF6B-4E1B-96B1-CA3566126F21}"/>
              </a:ext>
            </a:extLst>
          </p:cNvPr>
          <p:cNvSpPr/>
          <p:nvPr/>
        </p:nvSpPr>
        <p:spPr>
          <a:xfrm>
            <a:off x="4574610" y="3212178"/>
            <a:ext cx="772088" cy="396766"/>
          </a:xfrm>
          <a:prstGeom prst="borderCallout2">
            <a:avLst>
              <a:gd name="adj1" fmla="val 18750"/>
              <a:gd name="adj2" fmla="val -8333"/>
              <a:gd name="adj3" fmla="val 13452"/>
              <a:gd name="adj4" fmla="val -49338"/>
              <a:gd name="adj5" fmla="val 91044"/>
              <a:gd name="adj6" fmla="val -73786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行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74DA758-CFFD-401F-9487-8B10BF311B42}"/>
              </a:ext>
            </a:extLst>
          </p:cNvPr>
          <p:cNvSpPr/>
          <p:nvPr/>
        </p:nvSpPr>
        <p:spPr>
          <a:xfrm>
            <a:off x="1987819" y="2707913"/>
            <a:ext cx="772088" cy="256432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吹き出し: 折線 9">
            <a:extLst>
              <a:ext uri="{FF2B5EF4-FFF2-40B4-BE49-F238E27FC236}">
                <a16:creationId xmlns:a16="http://schemas.microsoft.com/office/drawing/2014/main" id="{BF9FCD0A-DD04-4BB4-9EFE-D0C7D41E8A82}"/>
              </a:ext>
            </a:extLst>
          </p:cNvPr>
          <p:cNvSpPr/>
          <p:nvPr/>
        </p:nvSpPr>
        <p:spPr>
          <a:xfrm>
            <a:off x="4574610" y="5597115"/>
            <a:ext cx="772088" cy="396766"/>
          </a:xfrm>
          <a:prstGeom prst="borderCallout2">
            <a:avLst>
              <a:gd name="adj1" fmla="val 18750"/>
              <a:gd name="adj2" fmla="val -8333"/>
              <a:gd name="adj3" fmla="val 21399"/>
              <a:gd name="adj4" fmla="val -137822"/>
              <a:gd name="adj5" fmla="val -86398"/>
              <a:gd name="adj6" fmla="val -25528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列</a:t>
            </a:r>
          </a:p>
        </p:txBody>
      </p:sp>
    </p:spTree>
    <p:extLst>
      <p:ext uri="{BB962C8B-B14F-4D97-AF65-F5344CB8AC3E}">
        <p14:creationId xmlns:p14="http://schemas.microsoft.com/office/powerpoint/2010/main" val="3303922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517623" cy="4380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行や列の数え方</a:t>
                </a:r>
                <a:r>
                  <a:rPr lang="ja-JP" altLang="en-US" sz="2400" dirty="0"/>
                  <a:t>はプログラムの時に合わせて、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0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から数えるものとします。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lang="en-US" altLang="ja-JP" sz="2400" dirty="0"/>
              </a:p>
              <a:p>
                <a:r>
                  <a:rPr kumimoji="1" lang="ja-JP" altLang="en-US" sz="6000" dirty="0">
                    <a:solidFill>
                      <a:schemeClr val="tx1"/>
                    </a:solidFill>
                  </a:rPr>
                  <a:t>　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6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6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kumimoji="1" lang="en-US" altLang="ja-JP" sz="6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517623" cy="4380686"/>
              </a:xfrm>
              <a:prstGeom prst="rect">
                <a:avLst/>
              </a:prstGeom>
              <a:blipFill>
                <a:blip r:embed="rId2"/>
                <a:stretch>
                  <a:fillRect l="-870" t="-11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FFF28F2-7853-4998-B01A-E62CFEC112A3}"/>
              </a:ext>
            </a:extLst>
          </p:cNvPr>
          <p:cNvSpPr txBox="1"/>
          <p:nvPr/>
        </p:nvSpPr>
        <p:spPr>
          <a:xfrm>
            <a:off x="872342" y="2945107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[0]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44A88C6-F089-451F-AD4E-FAA44192C2F4}"/>
              </a:ext>
            </a:extLst>
          </p:cNvPr>
          <p:cNvSpPr txBox="1"/>
          <p:nvPr/>
        </p:nvSpPr>
        <p:spPr>
          <a:xfrm>
            <a:off x="870876" y="38094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[1]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805BF2A-CB1E-4363-8234-1161DE06315D}"/>
              </a:ext>
            </a:extLst>
          </p:cNvPr>
          <p:cNvSpPr txBox="1"/>
          <p:nvPr/>
        </p:nvSpPr>
        <p:spPr>
          <a:xfrm>
            <a:off x="870876" y="461451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[2]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96A7101-F1C2-4C15-A933-7166D67C973B}"/>
              </a:ext>
            </a:extLst>
          </p:cNvPr>
          <p:cNvSpPr txBox="1"/>
          <p:nvPr/>
        </p:nvSpPr>
        <p:spPr>
          <a:xfrm>
            <a:off x="1641342" y="237857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[0]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81CF057-4F95-49C9-ADEE-82B5CE21C221}"/>
              </a:ext>
            </a:extLst>
          </p:cNvPr>
          <p:cNvSpPr txBox="1"/>
          <p:nvPr/>
        </p:nvSpPr>
        <p:spPr>
          <a:xfrm>
            <a:off x="2818209" y="237857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[1]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08FED82-C87F-4A63-ABB8-D22CDB6734F3}"/>
              </a:ext>
            </a:extLst>
          </p:cNvPr>
          <p:cNvSpPr txBox="1"/>
          <p:nvPr/>
        </p:nvSpPr>
        <p:spPr>
          <a:xfrm>
            <a:off x="3995076" y="236979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381691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340197" cy="4261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次の行列の１行２列目の要素を答えなさい。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１行</a:t>
                </a:r>
                <a:r>
                  <a:rPr lang="ja-JP" altLang="en-US" sz="2400" b="1" dirty="0">
                    <a:solidFill>
                      <a:srgbClr val="00B050"/>
                    </a:solidFill>
                  </a:rPr>
                  <a:t>２列</a:t>
                </a:r>
                <a:r>
                  <a:rPr lang="ja-JP" altLang="en-US" sz="2400" dirty="0"/>
                  <a:t>目の要素は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６</a:t>
                </a:r>
                <a:r>
                  <a:rPr lang="ja-JP" altLang="en-US" sz="2400" dirty="0"/>
                  <a:t>である。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340197" cy="4261551"/>
              </a:xfrm>
              <a:prstGeom prst="rect">
                <a:avLst/>
              </a:prstGeom>
              <a:blipFill>
                <a:blip r:embed="rId2"/>
                <a:stretch>
                  <a:fillRect l="-1442" t="-1144" r="-577" b="-2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72D576F-1AC7-4195-9E31-7DC4583D1E9A}"/>
              </a:ext>
            </a:extLst>
          </p:cNvPr>
          <p:cNvSpPr/>
          <p:nvPr/>
        </p:nvSpPr>
        <p:spPr>
          <a:xfrm>
            <a:off x="567542" y="4030132"/>
            <a:ext cx="1566058" cy="3556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135307-DD8D-4622-9629-7D06C1BED2D1}"/>
              </a:ext>
            </a:extLst>
          </p:cNvPr>
          <p:cNvSpPr/>
          <p:nvPr/>
        </p:nvSpPr>
        <p:spPr>
          <a:xfrm>
            <a:off x="1651000" y="3699934"/>
            <a:ext cx="364067" cy="103938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377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032421" cy="3787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次の行列について以下の問いに答えなさい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98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354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2.5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① </a:t>
                </a:r>
                <a:r>
                  <a:rPr lang="en-US" altLang="ja-JP" sz="2400" dirty="0"/>
                  <a:t>0</a:t>
                </a:r>
                <a:r>
                  <a:rPr lang="ja-JP" altLang="en-US" sz="2400" dirty="0"/>
                  <a:t>行</a:t>
                </a:r>
                <a:r>
                  <a:rPr lang="en-US" altLang="ja-JP" sz="2400" dirty="0"/>
                  <a:t>1</a:t>
                </a:r>
                <a:r>
                  <a:rPr lang="ja-JP" altLang="en-US" sz="2400" dirty="0"/>
                  <a:t>列目の要素を答えなさい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② </a:t>
                </a:r>
                <a:r>
                  <a:rPr lang="en-US" altLang="ja-JP" sz="2400" dirty="0"/>
                  <a:t>2</a:t>
                </a:r>
                <a:r>
                  <a:rPr lang="ja-JP" altLang="en-US" sz="2400" dirty="0"/>
                  <a:t>行</a:t>
                </a:r>
                <a:r>
                  <a:rPr lang="en-US" altLang="ja-JP" sz="2400" dirty="0"/>
                  <a:t>2</a:t>
                </a:r>
                <a:r>
                  <a:rPr lang="ja-JP" altLang="en-US" sz="2400" dirty="0"/>
                  <a:t>列目の要素を答えなさい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③ </a:t>
                </a:r>
                <a:r>
                  <a:rPr lang="en-US" altLang="ja-JP" sz="2400" dirty="0"/>
                  <a:t>1</a:t>
                </a:r>
                <a:r>
                  <a:rPr lang="ja-JP" altLang="en-US" sz="2400" dirty="0"/>
                  <a:t>行</a:t>
                </a:r>
                <a:r>
                  <a:rPr lang="en-US" altLang="ja-JP" sz="2400" dirty="0"/>
                  <a:t>0</a:t>
                </a:r>
                <a:r>
                  <a:rPr lang="ja-JP" altLang="en-US" sz="2400" dirty="0"/>
                  <a:t>列目の要素を答えなさい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032421" cy="3787191"/>
              </a:xfrm>
              <a:prstGeom prst="rect">
                <a:avLst/>
              </a:prstGeom>
              <a:blipFill>
                <a:blip r:embed="rId2"/>
                <a:stretch>
                  <a:fillRect l="-1515" t="-1288" r="-606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330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188</Words>
  <Application>Microsoft Office PowerPoint</Application>
  <PresentationFormat>ワイド画面</PresentationFormat>
  <Paragraphs>46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16</cp:revision>
  <dcterms:created xsi:type="dcterms:W3CDTF">2024-08-27T02:15:54Z</dcterms:created>
  <dcterms:modified xsi:type="dcterms:W3CDTF">2024-12-09T23:28:16Z</dcterms:modified>
</cp:coreProperties>
</file>