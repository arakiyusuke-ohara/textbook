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62" r:id="rId3"/>
    <p:sldId id="263" r:id="rId4"/>
    <p:sldId id="264" r:id="rId5"/>
    <p:sldId id="265" r:id="rId6"/>
    <p:sldId id="266" r:id="rId7"/>
    <p:sldId id="267" r:id="rId8"/>
    <p:sldId id="268" r:id="rId9"/>
    <p:sldId id="269" r:id="rId10"/>
    <p:sldId id="270" r:id="rId11"/>
    <p:sldId id="271" r:id="rId12"/>
    <p:sldId id="272" r:id="rId1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D5B5B"/>
    <a:srgbClr val="8C4646"/>
    <a:srgbClr val="0000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2025/10/1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2025/10/1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A6BFD611-C273-4726-A1C2-804ADBC8D23A}"/>
              </a:ext>
            </a:extLst>
          </p:cNvPr>
          <p:cNvSpPr/>
          <p:nvPr/>
        </p:nvSpPr>
        <p:spPr>
          <a:xfrm>
            <a:off x="430306" y="2241176"/>
            <a:ext cx="6983506" cy="3128683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仕事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793339" cy="563231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物理学では、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力を使って物体を移動させる</a:t>
                </a:r>
                <a:r>
                  <a:rPr lang="ja-JP" altLang="en-US" sz="2400" dirty="0"/>
                  <a:t>ことを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仕事（</a:t>
                </a:r>
                <a:r>
                  <a:rPr lang="en-US" altLang="ja-JP" sz="2400" b="1" dirty="0">
                    <a:solidFill>
                      <a:srgbClr val="FF0000"/>
                    </a:solidFill>
                  </a:rPr>
                  <a:t>Work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）</a:t>
                </a:r>
                <a:r>
                  <a:rPr lang="ja-JP" altLang="en-US" sz="2400" dirty="0"/>
                  <a:t>と言います。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仕事は以下のように公式が定義されています。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■仕事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⊿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・・・仕事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・・・力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ja-JP" altLang="en-US" sz="2400" i="1" smtClean="0">
                        <a:latin typeface="Cambria Math" panose="02040503050406030204" pitchFamily="18" charset="0"/>
                      </a:rPr>
                      <m:t>⊿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・・・変位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ただし、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力と変位は同じ向きであること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現実でよく使ってる仕事という言葉とは少し違います。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どれだけ一生懸命に箱を押しても、</a:t>
                </a:r>
                <a:endParaRPr lang="en-US" altLang="ja-JP" sz="2400" dirty="0"/>
              </a:p>
              <a:p>
                <a:r>
                  <a:rPr lang="ja-JP" altLang="en-US" sz="2400" dirty="0"/>
                  <a:t>箱が移動しなければ、物理学的には仕事</a:t>
                </a:r>
                <a:r>
                  <a:rPr lang="en-US" altLang="ja-JP" sz="2400" dirty="0"/>
                  <a:t>0</a:t>
                </a:r>
                <a:r>
                  <a:rPr lang="ja-JP" altLang="en-US" sz="2400" dirty="0"/>
                  <a:t>ということですね。。。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793339" cy="5632311"/>
              </a:xfrm>
              <a:prstGeom prst="rect">
                <a:avLst/>
              </a:prstGeom>
              <a:blipFill>
                <a:blip r:embed="rId2"/>
                <a:stretch>
                  <a:fillRect l="-847" t="-867" b="-162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39033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8EB4F522-29E1-4017-B009-759D2D435206}"/>
              </a:ext>
            </a:extLst>
          </p:cNvPr>
          <p:cNvSpPr/>
          <p:nvPr/>
        </p:nvSpPr>
        <p:spPr>
          <a:xfrm>
            <a:off x="421341" y="2232212"/>
            <a:ext cx="3863788" cy="923209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仕事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579499" cy="193899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変位の単位が 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ja-JP" altLang="en-US" sz="2400" dirty="0"/>
                  <a:t> だった場合、仕事の計算結果の単位は 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ja-JP" altLang="en-US" sz="2400" dirty="0"/>
                  <a:t> となります。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ニュートンと同様に 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ja-JP" altLang="en-US" sz="2400" dirty="0"/>
                  <a:t> は </a:t>
                </a:r>
                <a14:m>
                  <m:oMath xmlns:m="http://schemas.openxmlformats.org/officeDocument/2006/math">
                    <m:r>
                      <a:rPr lang="en-US" altLang="ja-JP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𝑱</m:t>
                    </m:r>
                    <m:r>
                      <a:rPr lang="en-US" altLang="ja-JP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ja-JP" altLang="en-US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ジュール</m:t>
                    </m:r>
                    <m:r>
                      <a:rPr lang="en-US" altLang="ja-JP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に置き換えられます。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■仕事の単位 </a:t>
                </a:r>
                <a14:m>
                  <m:oMath xmlns:m="http://schemas.openxmlformats.org/officeDocument/2006/math"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𝑱</m:t>
                    </m:r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ja-JP" alt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ジュール</m:t>
                    </m:r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=1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altLang="ja-JP" sz="2400" dirty="0"/>
                  <a:t> </a:t>
                </a:r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579499" cy="1938992"/>
              </a:xfrm>
              <a:prstGeom prst="rect">
                <a:avLst/>
              </a:prstGeom>
              <a:blipFill>
                <a:blip r:embed="rId2"/>
                <a:stretch>
                  <a:fillRect l="-864" t="-2516" b="-188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464502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9431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仕事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9809032" cy="378565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ゲームのプレイヤーが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1500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ja-JP" altLang="en-US" sz="2400" dirty="0"/>
                  <a:t>の力で箱を押している。</a:t>
                </a:r>
                <a:endParaRPr lang="en-US" altLang="ja-JP" sz="2400" dirty="0"/>
              </a:p>
              <a:p>
                <a:r>
                  <a:rPr lang="ja-JP" altLang="en-US" sz="2400" dirty="0"/>
                  <a:t>地面から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50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ja-JP" altLang="en-US" sz="2400" dirty="0"/>
                  <a:t>の摩擦がある場合、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ja-JP" altLang="en-US" sz="2400" dirty="0"/>
                  <a:t>先のスイッチまで箱を押すのに、</a:t>
                </a:r>
                <a:endParaRPr lang="en-US" altLang="ja-JP" sz="2400" dirty="0"/>
              </a:p>
              <a:p>
                <a:r>
                  <a:rPr lang="ja-JP" altLang="en-US" sz="2400" dirty="0"/>
                  <a:t>プレイヤーはどれだけ仕事をすることになるか。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:r>
                  <a:rPr lang="ja-JP" altLang="en-US" sz="2400" b="0" dirty="0"/>
                  <a:t>押す力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1500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ja-JP" altLang="en-US" sz="2400" dirty="0"/>
                  <a:t>に摩擦</a:t>
                </a:r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50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ja-JP" altLang="en-US" sz="2400" dirty="0"/>
                  <a:t>で抵抗されてるので、箱の合力は、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1500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−50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=1450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⊿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ja-JP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ja-JP" altLang="en-US" sz="2400" dirty="0"/>
                  <a:t>より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=1450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=2900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=2900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altLang="ja-JP" sz="2400" dirty="0"/>
                  <a:t> </a:t>
                </a:r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9809032" cy="3785652"/>
              </a:xfrm>
              <a:prstGeom prst="rect">
                <a:avLst/>
              </a:prstGeom>
              <a:blipFill>
                <a:blip r:embed="rId2"/>
                <a:stretch>
                  <a:fillRect l="-932" t="-1288" b="-48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725924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仕事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57239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２次元以上で仕事を計算する際は、</a:t>
            </a:r>
            <a:r>
              <a:rPr lang="ja-JP" altLang="en-US" sz="2400" b="1" dirty="0">
                <a:solidFill>
                  <a:srgbClr val="FF0000"/>
                </a:solidFill>
              </a:rPr>
              <a:t>力や変位の向きに注意</a:t>
            </a:r>
            <a:r>
              <a:rPr lang="ja-JP" altLang="en-US" sz="2400" dirty="0"/>
              <a:t>しなければいけません。</a:t>
            </a:r>
            <a:endParaRPr lang="en-US" altLang="ja-JP" sz="2400" dirty="0"/>
          </a:p>
          <a:p>
            <a:r>
              <a:rPr lang="ja-JP" altLang="en-US" sz="2400" dirty="0"/>
              <a:t>仕事は</a:t>
            </a:r>
            <a:r>
              <a:rPr lang="ja-JP" altLang="en-US" sz="2400" b="1" dirty="0">
                <a:solidFill>
                  <a:srgbClr val="FF0000"/>
                </a:solidFill>
              </a:rPr>
              <a:t>力と変位が同じ向きでなければ掛け算できない</a:t>
            </a:r>
            <a:r>
              <a:rPr lang="ja-JP" altLang="en-US" sz="2400" dirty="0"/>
              <a:t>からです。</a:t>
            </a:r>
            <a:endParaRPr lang="en-US" altLang="ja-JP" sz="2400" dirty="0"/>
          </a:p>
          <a:p>
            <a:r>
              <a:rPr lang="ja-JP" altLang="en-US" sz="2400" dirty="0"/>
              <a:t>以下は箱を斜め向きにロープで引っ張って引きずる場合の例です。</a:t>
            </a:r>
            <a:endParaRPr lang="en-US" altLang="ja-JP" sz="2400" dirty="0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6C60F4D-54E1-442D-98BA-49023C0FB8AD}"/>
              </a:ext>
            </a:extLst>
          </p:cNvPr>
          <p:cNvSpPr/>
          <p:nvPr/>
        </p:nvSpPr>
        <p:spPr>
          <a:xfrm>
            <a:off x="708211" y="3633477"/>
            <a:ext cx="2160494" cy="20080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9011E3DD-EB8B-49BF-B899-AF2FED1F4513}"/>
              </a:ext>
            </a:extLst>
          </p:cNvPr>
          <p:cNvSpPr/>
          <p:nvPr/>
        </p:nvSpPr>
        <p:spPr>
          <a:xfrm>
            <a:off x="331693" y="5649150"/>
            <a:ext cx="8444753" cy="107577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rgbClr val="AD5B5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25CCA092-5E65-4CEC-AB39-74CDC31EE972}"/>
              </a:ext>
            </a:extLst>
          </p:cNvPr>
          <p:cNvCxnSpPr>
            <a:cxnSpLocks/>
          </p:cNvCxnSpPr>
          <p:nvPr/>
        </p:nvCxnSpPr>
        <p:spPr>
          <a:xfrm flipV="1">
            <a:off x="2868705" y="3224522"/>
            <a:ext cx="1800000" cy="1440000"/>
          </a:xfrm>
          <a:prstGeom prst="straightConnector1">
            <a:avLst/>
          </a:prstGeom>
          <a:ln w="38100">
            <a:solidFill>
              <a:srgbClr val="AD5B5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8092F4DF-F46F-4642-910C-94C85C66A555}"/>
              </a:ext>
            </a:extLst>
          </p:cNvPr>
          <p:cNvCxnSpPr>
            <a:cxnSpLocks/>
            <a:stCxn id="2" idx="3"/>
          </p:cNvCxnSpPr>
          <p:nvPr/>
        </p:nvCxnSpPr>
        <p:spPr>
          <a:xfrm>
            <a:off x="2868705" y="4637524"/>
            <a:ext cx="4267201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76D8159D-D0B7-435B-98C0-41FDC50B1FCD}"/>
              </a:ext>
            </a:extLst>
          </p:cNvPr>
          <p:cNvSpPr txBox="1"/>
          <p:nvPr/>
        </p:nvSpPr>
        <p:spPr>
          <a:xfrm>
            <a:off x="331693" y="5873558"/>
            <a:ext cx="88024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斜めに引っ張っていますが水平にしか変位していません。</a:t>
            </a:r>
            <a:endParaRPr lang="en-US" altLang="ja-JP" sz="2400" dirty="0"/>
          </a:p>
          <a:p>
            <a:r>
              <a:rPr lang="ja-JP" altLang="en-US" sz="2400" dirty="0"/>
              <a:t>つまり、力の中でも水平成分だけしか計算してはいけません。</a:t>
            </a:r>
            <a:endParaRPr lang="en-US" altLang="ja-JP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ABD2289C-6A2E-4CF8-9254-805A5EEFD568}"/>
                  </a:ext>
                </a:extLst>
              </p:cNvPr>
              <p:cNvSpPr txBox="1"/>
              <p:nvPr/>
            </p:nvSpPr>
            <p:spPr>
              <a:xfrm>
                <a:off x="3532486" y="3412284"/>
                <a:ext cx="47243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sz="2400" b="0" i="1" dirty="0" smtClean="0">
                          <a:latin typeface="Cambria Math" panose="02040503050406030204" pitchFamily="18" charset="0"/>
                        </a:rPr>
                        <m:t>𝐹</m:t>
                      </m:r>
                    </m:oMath>
                  </m:oMathPara>
                </a14:m>
                <a:endParaRPr lang="en-US" altLang="ja-JP" sz="2400" dirty="0"/>
              </a:p>
            </p:txBody>
          </p:sp>
        </mc:Choice>
        <mc:Fallback xmlns=""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ABD2289C-6A2E-4CF8-9254-805A5EEFD5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2486" y="3412284"/>
                <a:ext cx="472437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B8D839F2-5DFC-44AB-BA44-FF8FC7AA1DB0}"/>
              </a:ext>
            </a:extLst>
          </p:cNvPr>
          <p:cNvSpPr txBox="1"/>
          <p:nvPr/>
        </p:nvSpPr>
        <p:spPr>
          <a:xfrm>
            <a:off x="4140530" y="4691381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実際の変位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4283686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9431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仕事 例題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このような場合は三角関数で計算できるでしょう。</a:t>
            </a:r>
            <a:endParaRPr lang="en-US" altLang="ja-JP" sz="2400" dirty="0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6C60F4D-54E1-442D-98BA-49023C0FB8AD}"/>
              </a:ext>
            </a:extLst>
          </p:cNvPr>
          <p:cNvSpPr/>
          <p:nvPr/>
        </p:nvSpPr>
        <p:spPr>
          <a:xfrm>
            <a:off x="708211" y="3633477"/>
            <a:ext cx="2160494" cy="2008094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9011E3DD-EB8B-49BF-B899-AF2FED1F4513}"/>
              </a:ext>
            </a:extLst>
          </p:cNvPr>
          <p:cNvSpPr/>
          <p:nvPr/>
        </p:nvSpPr>
        <p:spPr>
          <a:xfrm>
            <a:off x="331693" y="5649150"/>
            <a:ext cx="8444753" cy="107577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rgbClr val="AD5B5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25CCA092-5E65-4CEC-AB39-74CDC31EE972}"/>
              </a:ext>
            </a:extLst>
          </p:cNvPr>
          <p:cNvCxnSpPr>
            <a:cxnSpLocks/>
          </p:cNvCxnSpPr>
          <p:nvPr/>
        </p:nvCxnSpPr>
        <p:spPr>
          <a:xfrm flipV="1">
            <a:off x="2868705" y="3224522"/>
            <a:ext cx="1800000" cy="1440000"/>
          </a:xfrm>
          <a:prstGeom prst="straightConnector1">
            <a:avLst/>
          </a:prstGeom>
          <a:ln w="38100">
            <a:solidFill>
              <a:srgbClr val="AD5B5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テキスト ボックス 16">
                <a:extLst>
                  <a:ext uri="{FF2B5EF4-FFF2-40B4-BE49-F238E27FC236}">
                    <a16:creationId xmlns:a16="http://schemas.microsoft.com/office/drawing/2014/main" id="{76D8159D-D0B7-435B-98C0-41FDC50B1FCD}"/>
                  </a:ext>
                </a:extLst>
              </p:cNvPr>
              <p:cNvSpPr txBox="1"/>
              <p:nvPr/>
            </p:nvSpPr>
            <p:spPr>
              <a:xfrm>
                <a:off x="331693" y="6036424"/>
                <a:ext cx="556755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注意：あくまでも</a:t>
                </a:r>
                <a14:m>
                  <m:oMath xmlns:m="http://schemas.openxmlformats.org/officeDocument/2006/math">
                    <m:r>
                      <a:rPr lang="en-US" altLang="ja-JP" sz="24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𝑭𝒄𝒐𝒔</m:t>
                    </m:r>
                    <m:r>
                      <a:rPr lang="en-US" altLang="ja-JP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ja-JP" altLang="en-US" sz="2400" b="1" dirty="0">
                    <a:solidFill>
                      <a:srgbClr val="FF0000"/>
                    </a:solidFill>
                  </a:rPr>
                  <a:t>は</a:t>
                </a:r>
                <a14:m>
                  <m:oMath xmlns:m="http://schemas.openxmlformats.org/officeDocument/2006/math">
                    <m:r>
                      <a:rPr lang="en-US" altLang="ja-JP" sz="2400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𝑭</m:t>
                    </m:r>
                  </m:oMath>
                </a14:m>
                <a:r>
                  <a:rPr lang="ja-JP" altLang="en-US" sz="2400" b="1" dirty="0">
                    <a:solidFill>
                      <a:srgbClr val="FF0000"/>
                    </a:solidFill>
                  </a:rPr>
                  <a:t>の水平成分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テキスト ボックス 16">
                <a:extLst>
                  <a:ext uri="{FF2B5EF4-FFF2-40B4-BE49-F238E27FC236}">
                    <a16:creationId xmlns:a16="http://schemas.microsoft.com/office/drawing/2014/main" id="{76D8159D-D0B7-435B-98C0-41FDC50B1F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693" y="6036424"/>
                <a:ext cx="5567550" cy="461665"/>
              </a:xfrm>
              <a:prstGeom prst="rect">
                <a:avLst/>
              </a:prstGeom>
              <a:blipFill>
                <a:blip r:embed="rId2"/>
                <a:stretch>
                  <a:fillRect l="-1641" t="-10526" r="-656" b="-2894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ABD2289C-6A2E-4CF8-9254-805A5EEFD568}"/>
                  </a:ext>
                </a:extLst>
              </p:cNvPr>
              <p:cNvSpPr txBox="1"/>
              <p:nvPr/>
            </p:nvSpPr>
            <p:spPr>
              <a:xfrm>
                <a:off x="3532486" y="3412284"/>
                <a:ext cx="47243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sz="2400" b="0" i="1" dirty="0" smtClean="0">
                          <a:latin typeface="Cambria Math" panose="02040503050406030204" pitchFamily="18" charset="0"/>
                        </a:rPr>
                        <m:t>𝐹</m:t>
                      </m:r>
                    </m:oMath>
                  </m:oMathPara>
                </a14:m>
                <a:endParaRPr lang="en-US" altLang="ja-JP" sz="2400" dirty="0"/>
              </a:p>
            </p:txBody>
          </p:sp>
        </mc:Choice>
        <mc:Fallback xmlns=""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ABD2289C-6A2E-4CF8-9254-805A5EEFD5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2486" y="3412284"/>
                <a:ext cx="472437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646B9528-4948-4639-9F50-1FEFD05D2722}"/>
                  </a:ext>
                </a:extLst>
              </p:cNvPr>
              <p:cNvSpPr txBox="1"/>
              <p:nvPr/>
            </p:nvSpPr>
            <p:spPr>
              <a:xfrm>
                <a:off x="3296267" y="4183439"/>
                <a:ext cx="44114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ja-JP" sz="2400" i="1" dirty="0">
                          <a:latin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lang="en-US" altLang="ja-JP" sz="2400" dirty="0"/>
              </a:p>
            </p:txBody>
          </p:sp>
        </mc:Choice>
        <mc:Fallback xmlns=""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646B9528-4948-4639-9F50-1FEFD05D27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267" y="4183439"/>
                <a:ext cx="441146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D1615F6D-4899-4F1A-8E6F-78F5C51F8514}"/>
                  </a:ext>
                </a:extLst>
              </p:cNvPr>
              <p:cNvSpPr txBox="1"/>
              <p:nvPr/>
            </p:nvSpPr>
            <p:spPr>
              <a:xfrm>
                <a:off x="3296267" y="4868356"/>
                <a:ext cx="107593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sz="2400" b="0" i="1" dirty="0" smtClean="0">
                          <a:latin typeface="Cambria Math" panose="02040503050406030204" pitchFamily="18" charset="0"/>
                        </a:rPr>
                        <m:t>𝐹𝑐𝑜𝑠</m:t>
                      </m:r>
                      <m:r>
                        <m:rPr>
                          <m:sty m:val="p"/>
                        </m:rPr>
                        <a:rPr lang="en-US" altLang="ja-JP" sz="2400" i="1" dirty="0">
                          <a:latin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lang="en-US" altLang="ja-JP" sz="2400" dirty="0"/>
              </a:p>
            </p:txBody>
          </p:sp>
        </mc:Choice>
        <mc:Fallback xmlns=""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D1615F6D-4899-4F1A-8E6F-78F5C51F85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267" y="4868356"/>
                <a:ext cx="1075936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F15BBD1D-0F39-4C7B-BE49-CA9AEAC6F077}"/>
              </a:ext>
            </a:extLst>
          </p:cNvPr>
          <p:cNvCxnSpPr>
            <a:cxnSpLocks/>
          </p:cNvCxnSpPr>
          <p:nvPr/>
        </p:nvCxnSpPr>
        <p:spPr>
          <a:xfrm>
            <a:off x="2868705" y="4637524"/>
            <a:ext cx="4267201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BCC3CB79-D329-494F-80AB-9467095594AB}"/>
              </a:ext>
            </a:extLst>
          </p:cNvPr>
          <p:cNvCxnSpPr>
            <a:cxnSpLocks/>
          </p:cNvCxnSpPr>
          <p:nvPr/>
        </p:nvCxnSpPr>
        <p:spPr>
          <a:xfrm flipV="1">
            <a:off x="2868705" y="4793048"/>
            <a:ext cx="1800000" cy="11323"/>
          </a:xfrm>
          <a:prstGeom prst="straightConnector1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36282445-12AC-4036-823E-F6310DD916C1}"/>
              </a:ext>
            </a:extLst>
          </p:cNvPr>
          <p:cNvCxnSpPr/>
          <p:nvPr/>
        </p:nvCxnSpPr>
        <p:spPr>
          <a:xfrm>
            <a:off x="4668705" y="3224522"/>
            <a:ext cx="0" cy="1413002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43959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9431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仕事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1697882" cy="489364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ゲームのプレイヤーが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1500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ja-JP" altLang="en-US" sz="2400" dirty="0"/>
                  <a:t>の力で箱をロープで引きずっている。</a:t>
                </a:r>
                <a:endParaRPr lang="en-US" altLang="ja-JP" sz="2400" dirty="0"/>
              </a:p>
              <a:p>
                <a:r>
                  <a:rPr lang="ja-JP" altLang="en-US" sz="2400" dirty="0"/>
                  <a:t>ロープの角度が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60°</m:t>
                    </m:r>
                  </m:oMath>
                </a14:m>
                <a:r>
                  <a:rPr lang="ja-JP" altLang="en-US" sz="2400" dirty="0"/>
                  <a:t>、地面から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50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ja-JP" altLang="en-US" sz="2400" dirty="0"/>
                  <a:t>の摩擦がある場合、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ja-JP" altLang="en-US" sz="2400" dirty="0"/>
                  <a:t>先のスイッチまで箱を押すのにプレイヤーはどれだけ仕事をすることになるか。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:r>
                  <a:rPr lang="ja-JP" altLang="en-US" sz="2400" dirty="0"/>
                  <a:t>箱がロープに引きずられる力の水平成分は、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1500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𝑁𝑐𝑜𝑠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60°=1500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0.5=750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:r>
                  <a:rPr lang="ja-JP" altLang="en-US" sz="2400" dirty="0"/>
                  <a:t>引きずられる</a:t>
                </a:r>
                <a14:m>
                  <m:oMath xmlns:m="http://schemas.openxmlformats.org/officeDocument/2006/math">
                    <m:r>
                      <a:rPr lang="ja-JP" altLang="en-US" sz="2400" b="0" i="1" dirty="0" smtClean="0">
                        <a:latin typeface="Cambria Math" panose="02040503050406030204" pitchFamily="18" charset="0"/>
                      </a:rPr>
                      <m:t>力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750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ja-JP" altLang="en-US" sz="2400" dirty="0"/>
                  <a:t>に摩擦</a:t>
                </a:r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50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ja-JP" altLang="en-US" sz="2400" dirty="0"/>
                  <a:t>で抵抗されてるので、箱の合力は、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dirty="0">
                        <a:latin typeface="Cambria Math" panose="02040503050406030204" pitchFamily="18" charset="0"/>
                      </a:rPr>
                      <m:t>750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−50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=700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⊿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ja-JP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ja-JP" altLang="en-US" sz="2400" dirty="0"/>
                  <a:t>より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=700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=1400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altLang="ja-JP" sz="2400" dirty="0"/>
                  <a:t> </a:t>
                </a:r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1697882" cy="4893647"/>
              </a:xfrm>
              <a:prstGeom prst="rect">
                <a:avLst/>
              </a:prstGeom>
              <a:blipFill>
                <a:blip r:embed="rId2"/>
                <a:stretch>
                  <a:fillRect l="-782" t="-998" b="-24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923821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仕事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40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最後は坂道を引きずる場合を考えましょう。</a:t>
            </a:r>
            <a:endParaRPr lang="en-US" altLang="ja-JP" sz="2400" dirty="0"/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19169366-AAB3-407B-A60D-C2C2863C0748}"/>
              </a:ext>
            </a:extLst>
          </p:cNvPr>
          <p:cNvGrpSpPr/>
          <p:nvPr/>
        </p:nvGrpSpPr>
        <p:grpSpPr>
          <a:xfrm rot="19476608">
            <a:off x="317976" y="2240339"/>
            <a:ext cx="5086383" cy="1808099"/>
            <a:chOff x="331693" y="3145385"/>
            <a:chExt cx="8444753" cy="2611342"/>
          </a:xfrm>
        </p:grpSpPr>
        <p:sp>
          <p:nvSpPr>
            <p:cNvPr id="2" name="正方形/長方形 1">
              <a:extLst>
                <a:ext uri="{FF2B5EF4-FFF2-40B4-BE49-F238E27FC236}">
                  <a16:creationId xmlns:a16="http://schemas.microsoft.com/office/drawing/2014/main" id="{16C60F4D-54E1-442D-98BA-49023C0FB8AD}"/>
                </a:ext>
              </a:extLst>
            </p:cNvPr>
            <p:cNvSpPr/>
            <p:nvPr/>
          </p:nvSpPr>
          <p:spPr>
            <a:xfrm>
              <a:off x="708211" y="3633477"/>
              <a:ext cx="2160494" cy="2008094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9011E3DD-EB8B-49BF-B899-AF2FED1F4513}"/>
                </a:ext>
              </a:extLst>
            </p:cNvPr>
            <p:cNvSpPr/>
            <p:nvPr/>
          </p:nvSpPr>
          <p:spPr>
            <a:xfrm>
              <a:off x="331693" y="5649150"/>
              <a:ext cx="8444753" cy="107577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solidFill>
                <a:srgbClr val="AD5B5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1" name="直線矢印コネクタ 10">
              <a:extLst>
                <a:ext uri="{FF2B5EF4-FFF2-40B4-BE49-F238E27FC236}">
                  <a16:creationId xmlns:a16="http://schemas.microsoft.com/office/drawing/2014/main" id="{25CCA092-5E65-4CEC-AB39-74CDC31EE9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68705" y="3224522"/>
              <a:ext cx="1800000" cy="1440000"/>
            </a:xfrm>
            <a:prstGeom prst="straightConnector1">
              <a:avLst/>
            </a:prstGeom>
            <a:ln w="38100">
              <a:solidFill>
                <a:srgbClr val="AD5B5B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テキスト ボックス 17">
                  <a:extLst>
                    <a:ext uri="{FF2B5EF4-FFF2-40B4-BE49-F238E27FC236}">
                      <a16:creationId xmlns:a16="http://schemas.microsoft.com/office/drawing/2014/main" id="{ABD2289C-6A2E-4CF8-9254-805A5EEFD568}"/>
                    </a:ext>
                  </a:extLst>
                </p:cNvPr>
                <p:cNvSpPr txBox="1"/>
                <p:nvPr/>
              </p:nvSpPr>
              <p:spPr>
                <a:xfrm>
                  <a:off x="3303968" y="3145385"/>
                  <a:ext cx="472437" cy="46166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</m:oMath>
                    </m:oMathPara>
                  </a14:m>
                  <a:endParaRPr lang="en-US" altLang="ja-JP" sz="2400" dirty="0"/>
                </a:p>
              </p:txBody>
            </p:sp>
          </mc:Choice>
          <mc:Fallback xmlns="">
            <p:sp>
              <p:nvSpPr>
                <p:cNvPr id="18" name="テキスト ボックス 17">
                  <a:extLst>
                    <a:ext uri="{FF2B5EF4-FFF2-40B4-BE49-F238E27FC236}">
                      <a16:creationId xmlns:a16="http://schemas.microsoft.com/office/drawing/2014/main" id="{ABD2289C-6A2E-4CF8-9254-805A5EEFD5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03968" y="3145385"/>
                  <a:ext cx="472437" cy="461666"/>
                </a:xfrm>
                <a:prstGeom prst="rect">
                  <a:avLst/>
                </a:prstGeom>
                <a:blipFill>
                  <a:blip r:embed="rId2"/>
                  <a:stretch>
                    <a:fillRect t="-1408" r="-32857" b="-2253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F15BBD1D-0F39-4C7B-BE49-CA9AEAC6F077}"/>
                </a:ext>
              </a:extLst>
            </p:cNvPr>
            <p:cNvCxnSpPr>
              <a:cxnSpLocks/>
            </p:cNvCxnSpPr>
            <p:nvPr/>
          </p:nvCxnSpPr>
          <p:spPr>
            <a:xfrm>
              <a:off x="2868705" y="4637524"/>
              <a:ext cx="4267201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211873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仕事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677345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ja-JP" altLang="en-US" sz="2400" dirty="0"/>
                  <a:t>を変位に投影します。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この投影が、変位が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ja-JP" altLang="en-US" sz="2400" dirty="0"/>
                  <a:t>の場合の力になります。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6773457" cy="830997"/>
              </a:xfrm>
              <a:prstGeom prst="rect">
                <a:avLst/>
              </a:prstGeom>
              <a:blipFill>
                <a:blip r:embed="rId2"/>
                <a:stretch>
                  <a:fillRect l="-1350" t="-5882" r="-450" b="-1617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19169366-AAB3-407B-A60D-C2C2863C0748}"/>
              </a:ext>
            </a:extLst>
          </p:cNvPr>
          <p:cNvGrpSpPr/>
          <p:nvPr/>
        </p:nvGrpSpPr>
        <p:grpSpPr>
          <a:xfrm rot="19476608">
            <a:off x="317976" y="2240339"/>
            <a:ext cx="5086383" cy="1808099"/>
            <a:chOff x="331693" y="3145385"/>
            <a:chExt cx="8444753" cy="2611342"/>
          </a:xfrm>
        </p:grpSpPr>
        <p:sp>
          <p:nvSpPr>
            <p:cNvPr id="2" name="正方形/長方形 1">
              <a:extLst>
                <a:ext uri="{FF2B5EF4-FFF2-40B4-BE49-F238E27FC236}">
                  <a16:creationId xmlns:a16="http://schemas.microsoft.com/office/drawing/2014/main" id="{16C60F4D-54E1-442D-98BA-49023C0FB8AD}"/>
                </a:ext>
              </a:extLst>
            </p:cNvPr>
            <p:cNvSpPr/>
            <p:nvPr/>
          </p:nvSpPr>
          <p:spPr>
            <a:xfrm>
              <a:off x="708211" y="3633477"/>
              <a:ext cx="2160494" cy="2008094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9011E3DD-EB8B-49BF-B899-AF2FED1F4513}"/>
                </a:ext>
              </a:extLst>
            </p:cNvPr>
            <p:cNvSpPr/>
            <p:nvPr/>
          </p:nvSpPr>
          <p:spPr>
            <a:xfrm>
              <a:off x="331693" y="5649150"/>
              <a:ext cx="8444753" cy="107577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solidFill>
                <a:srgbClr val="AD5B5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1" name="直線矢印コネクタ 10">
              <a:extLst>
                <a:ext uri="{FF2B5EF4-FFF2-40B4-BE49-F238E27FC236}">
                  <a16:creationId xmlns:a16="http://schemas.microsoft.com/office/drawing/2014/main" id="{25CCA092-5E65-4CEC-AB39-74CDC31EE9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68705" y="3224522"/>
              <a:ext cx="1800000" cy="1440000"/>
            </a:xfrm>
            <a:prstGeom prst="straightConnector1">
              <a:avLst/>
            </a:prstGeom>
            <a:ln w="38100">
              <a:solidFill>
                <a:srgbClr val="AD5B5B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テキスト ボックス 17">
                  <a:extLst>
                    <a:ext uri="{FF2B5EF4-FFF2-40B4-BE49-F238E27FC236}">
                      <a16:creationId xmlns:a16="http://schemas.microsoft.com/office/drawing/2014/main" id="{ABD2289C-6A2E-4CF8-9254-805A5EEFD568}"/>
                    </a:ext>
                  </a:extLst>
                </p:cNvPr>
                <p:cNvSpPr txBox="1"/>
                <p:nvPr/>
              </p:nvSpPr>
              <p:spPr>
                <a:xfrm>
                  <a:off x="3303968" y="3145385"/>
                  <a:ext cx="472437" cy="46166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</m:oMath>
                    </m:oMathPara>
                  </a14:m>
                  <a:endParaRPr lang="en-US" altLang="ja-JP" sz="2400" dirty="0"/>
                </a:p>
              </p:txBody>
            </p:sp>
          </mc:Choice>
          <mc:Fallback xmlns="">
            <p:sp>
              <p:nvSpPr>
                <p:cNvPr id="18" name="テキスト ボックス 17">
                  <a:extLst>
                    <a:ext uri="{FF2B5EF4-FFF2-40B4-BE49-F238E27FC236}">
                      <a16:creationId xmlns:a16="http://schemas.microsoft.com/office/drawing/2014/main" id="{ABD2289C-6A2E-4CF8-9254-805A5EEFD5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03968" y="3145385"/>
                  <a:ext cx="472437" cy="461666"/>
                </a:xfrm>
                <a:prstGeom prst="rect">
                  <a:avLst/>
                </a:prstGeom>
                <a:blipFill>
                  <a:blip r:embed="rId3"/>
                  <a:stretch>
                    <a:fillRect t="-1408" r="-32857" b="-2253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F15BBD1D-0F39-4C7B-BE49-CA9AEAC6F077}"/>
                </a:ext>
              </a:extLst>
            </p:cNvPr>
            <p:cNvCxnSpPr>
              <a:cxnSpLocks/>
            </p:cNvCxnSpPr>
            <p:nvPr/>
          </p:nvCxnSpPr>
          <p:spPr>
            <a:xfrm>
              <a:off x="2868705" y="4637524"/>
              <a:ext cx="4267201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AE620E9D-4564-4324-B494-47BA49A56727}"/>
              </a:ext>
            </a:extLst>
          </p:cNvPr>
          <p:cNvCxnSpPr>
            <a:cxnSpLocks/>
          </p:cNvCxnSpPr>
          <p:nvPr/>
        </p:nvCxnSpPr>
        <p:spPr>
          <a:xfrm flipV="1">
            <a:off x="2197858" y="3375664"/>
            <a:ext cx="805197" cy="575281"/>
          </a:xfrm>
          <a:prstGeom prst="straightConnector1">
            <a:avLst/>
          </a:prstGeom>
          <a:ln w="381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AC634437-27C6-4806-9E56-085D13E860AA}"/>
                  </a:ext>
                </a:extLst>
              </p:cNvPr>
              <p:cNvSpPr txBox="1"/>
              <p:nvPr/>
            </p:nvSpPr>
            <p:spPr>
              <a:xfrm>
                <a:off x="5418656" y="2891342"/>
                <a:ext cx="5505033" cy="12102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b="1" dirty="0">
                    <a:solidFill>
                      <a:srgbClr val="00B050"/>
                    </a:solidFill>
                  </a:rPr>
                  <a:t>復習</a:t>
                </a:r>
                <a:endParaRPr lang="en-US" altLang="ja-JP" sz="2400" b="1" dirty="0">
                  <a:solidFill>
                    <a:srgbClr val="00B050"/>
                  </a:solidFill>
                </a:endParaRPr>
              </a:p>
              <a:p>
                <a:r>
                  <a:rPr lang="ja-JP" altLang="en-US" sz="2400" dirty="0"/>
                  <a:t>ベクトル</a:t>
                </a:r>
                <a:r>
                  <a:rPr lang="en-US" altLang="ja-JP" sz="2400" dirty="0"/>
                  <a:t>A</a:t>
                </a:r>
                <a:r>
                  <a:rPr lang="ja-JP" altLang="en-US" sz="2400" dirty="0"/>
                  <a:t>をベクトル</a:t>
                </a:r>
                <a:r>
                  <a:rPr lang="en-US" altLang="ja-JP" sz="2400" dirty="0"/>
                  <a:t>B</a:t>
                </a:r>
                <a:r>
                  <a:rPr lang="ja-JP" altLang="en-US" sz="2400" dirty="0"/>
                  <a:t>に投影するには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・</m:t>
                    </m:r>
                    <m:acc>
                      <m:accPr>
                        <m:chr m:val="̂"/>
                        <m:ctrlPr>
                          <a:rPr lang="ja-JP" altLang="en-US" sz="24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</m:oMath>
                </a14:m>
                <a:r>
                  <a:rPr lang="ja-JP" altLang="en-US" sz="2400" dirty="0"/>
                  <a:t>を計算する</a:t>
                </a:r>
                <a:r>
                  <a:rPr lang="en-US" altLang="ja-JP" sz="2400" dirty="0"/>
                  <a:t> </a:t>
                </a:r>
              </a:p>
            </p:txBody>
          </p:sp>
        </mc:Choice>
        <mc:Fallback xmlns=""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AC634437-27C6-4806-9E56-085D13E860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8656" y="2891342"/>
                <a:ext cx="5505033" cy="1210203"/>
              </a:xfrm>
              <a:prstGeom prst="rect">
                <a:avLst/>
              </a:prstGeom>
              <a:blipFill>
                <a:blip r:embed="rId4"/>
                <a:stretch>
                  <a:fillRect l="-1772" t="-4020" r="-886" b="-1055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7FE270DF-3D14-41AA-A2C3-DBEB0788F85C}"/>
              </a:ext>
            </a:extLst>
          </p:cNvPr>
          <p:cNvCxnSpPr>
            <a:cxnSpLocks/>
          </p:cNvCxnSpPr>
          <p:nvPr/>
        </p:nvCxnSpPr>
        <p:spPr>
          <a:xfrm>
            <a:off x="2411506" y="2412062"/>
            <a:ext cx="591549" cy="788338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テキスト ボックス 21">
                <a:extLst>
                  <a:ext uri="{FF2B5EF4-FFF2-40B4-BE49-F238E27FC236}">
                    <a16:creationId xmlns:a16="http://schemas.microsoft.com/office/drawing/2014/main" id="{CCB4A3AA-EB53-4353-B740-1EFAC9D84609}"/>
                  </a:ext>
                </a:extLst>
              </p:cNvPr>
              <p:cNvSpPr txBox="1"/>
              <p:nvPr/>
            </p:nvSpPr>
            <p:spPr>
              <a:xfrm rot="19476637">
                <a:off x="2324027" y="3655788"/>
                <a:ext cx="88838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ja-JP" altLang="en-US" sz="2400" i="1" dirty="0" smtClean="0">
                          <a:latin typeface="Cambria Math" panose="02040503050406030204" pitchFamily="18" charset="0"/>
                        </a:rPr>
                        <m:t>投影</m:t>
                      </m:r>
                    </m:oMath>
                  </m:oMathPara>
                </a14:m>
                <a:endParaRPr lang="en-US" altLang="ja-JP" sz="2400" dirty="0"/>
              </a:p>
            </p:txBody>
          </p:sp>
        </mc:Choice>
        <mc:Fallback xmlns="">
          <p:sp>
            <p:nvSpPr>
              <p:cNvPr id="22" name="テキスト ボックス 21">
                <a:extLst>
                  <a:ext uri="{FF2B5EF4-FFF2-40B4-BE49-F238E27FC236}">
                    <a16:creationId xmlns:a16="http://schemas.microsoft.com/office/drawing/2014/main" id="{CCB4A3AA-EB53-4353-B740-1EFAC9D846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9476637">
                <a:off x="2324027" y="3655788"/>
                <a:ext cx="888385" cy="461665"/>
              </a:xfrm>
              <a:prstGeom prst="rect">
                <a:avLst/>
              </a:prstGeom>
              <a:blipFill>
                <a:blip r:embed="rId5"/>
                <a:stretch>
                  <a:fillRect r="-610" b="-136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テキスト ボックス 22">
                <a:extLst>
                  <a:ext uri="{FF2B5EF4-FFF2-40B4-BE49-F238E27FC236}">
                    <a16:creationId xmlns:a16="http://schemas.microsoft.com/office/drawing/2014/main" id="{64C5C907-2780-41BE-B7EA-ADF5C23FB688}"/>
                  </a:ext>
                </a:extLst>
              </p:cNvPr>
              <p:cNvSpPr txBox="1"/>
              <p:nvPr/>
            </p:nvSpPr>
            <p:spPr>
              <a:xfrm>
                <a:off x="567542" y="5529518"/>
                <a:ext cx="634019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投影の際に変位ベクトルを正規化するので、</a:t>
                </a:r>
                <a:endParaRPr lang="en-US" altLang="ja-JP" sz="2400" dirty="0"/>
              </a:p>
              <a:p>
                <a:r>
                  <a:rPr lang="ja-JP" altLang="en-US" sz="2400" dirty="0"/>
                  <a:t>変位が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ja-JP" altLang="en-US" sz="2400" dirty="0"/>
                  <a:t>のときの力となります。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23" name="テキスト ボックス 22">
                <a:extLst>
                  <a:ext uri="{FF2B5EF4-FFF2-40B4-BE49-F238E27FC236}">
                    <a16:creationId xmlns:a16="http://schemas.microsoft.com/office/drawing/2014/main" id="{64C5C907-2780-41BE-B7EA-ADF5C23FB6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5529518"/>
                <a:ext cx="6340197" cy="830997"/>
              </a:xfrm>
              <a:prstGeom prst="rect">
                <a:avLst/>
              </a:prstGeom>
              <a:blipFill>
                <a:blip r:embed="rId6"/>
                <a:stretch>
                  <a:fillRect l="-1442" t="-5882" r="-577" b="-1617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563001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仕事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757130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あとは</m:t>
                    </m:r>
                  </m:oMath>
                </a14:m>
                <a:r>
                  <a:rPr lang="ja-JP" altLang="en-US" sz="2400" dirty="0"/>
                  <a:t>投影に対して変位の長さを掛け算するだけです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7571303" cy="461665"/>
              </a:xfrm>
              <a:prstGeom prst="rect">
                <a:avLst/>
              </a:prstGeom>
              <a:blipFill>
                <a:blip r:embed="rId2"/>
                <a:stretch>
                  <a:fillRect l="-483" t="-10667" r="-322" b="-3066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19169366-AAB3-407B-A60D-C2C2863C0748}"/>
              </a:ext>
            </a:extLst>
          </p:cNvPr>
          <p:cNvGrpSpPr/>
          <p:nvPr/>
        </p:nvGrpSpPr>
        <p:grpSpPr>
          <a:xfrm rot="19476608">
            <a:off x="317976" y="2240339"/>
            <a:ext cx="5086383" cy="1808099"/>
            <a:chOff x="331693" y="3145385"/>
            <a:chExt cx="8444753" cy="2611342"/>
          </a:xfrm>
        </p:grpSpPr>
        <p:sp>
          <p:nvSpPr>
            <p:cNvPr id="2" name="正方形/長方形 1">
              <a:extLst>
                <a:ext uri="{FF2B5EF4-FFF2-40B4-BE49-F238E27FC236}">
                  <a16:creationId xmlns:a16="http://schemas.microsoft.com/office/drawing/2014/main" id="{16C60F4D-54E1-442D-98BA-49023C0FB8AD}"/>
                </a:ext>
              </a:extLst>
            </p:cNvPr>
            <p:cNvSpPr/>
            <p:nvPr/>
          </p:nvSpPr>
          <p:spPr>
            <a:xfrm>
              <a:off x="708211" y="3633477"/>
              <a:ext cx="2160494" cy="2008094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9011E3DD-EB8B-49BF-B899-AF2FED1F4513}"/>
                </a:ext>
              </a:extLst>
            </p:cNvPr>
            <p:cNvSpPr/>
            <p:nvPr/>
          </p:nvSpPr>
          <p:spPr>
            <a:xfrm>
              <a:off x="331693" y="5649150"/>
              <a:ext cx="8444753" cy="107577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solidFill>
                <a:srgbClr val="AD5B5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1" name="直線矢印コネクタ 10">
              <a:extLst>
                <a:ext uri="{FF2B5EF4-FFF2-40B4-BE49-F238E27FC236}">
                  <a16:creationId xmlns:a16="http://schemas.microsoft.com/office/drawing/2014/main" id="{25CCA092-5E65-4CEC-AB39-74CDC31EE9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68705" y="3224522"/>
              <a:ext cx="1800000" cy="1440000"/>
            </a:xfrm>
            <a:prstGeom prst="straightConnector1">
              <a:avLst/>
            </a:prstGeom>
            <a:ln w="38100">
              <a:solidFill>
                <a:srgbClr val="AD5B5B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テキスト ボックス 17">
                  <a:extLst>
                    <a:ext uri="{FF2B5EF4-FFF2-40B4-BE49-F238E27FC236}">
                      <a16:creationId xmlns:a16="http://schemas.microsoft.com/office/drawing/2014/main" id="{ABD2289C-6A2E-4CF8-9254-805A5EEFD568}"/>
                    </a:ext>
                  </a:extLst>
                </p:cNvPr>
                <p:cNvSpPr txBox="1"/>
                <p:nvPr/>
              </p:nvSpPr>
              <p:spPr>
                <a:xfrm>
                  <a:off x="3303968" y="3145385"/>
                  <a:ext cx="472437" cy="46166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</m:oMath>
                    </m:oMathPara>
                  </a14:m>
                  <a:endParaRPr lang="en-US" altLang="ja-JP" sz="2400" dirty="0"/>
                </a:p>
              </p:txBody>
            </p:sp>
          </mc:Choice>
          <mc:Fallback xmlns="">
            <p:sp>
              <p:nvSpPr>
                <p:cNvPr id="18" name="テキスト ボックス 17">
                  <a:extLst>
                    <a:ext uri="{FF2B5EF4-FFF2-40B4-BE49-F238E27FC236}">
                      <a16:creationId xmlns:a16="http://schemas.microsoft.com/office/drawing/2014/main" id="{ABD2289C-6A2E-4CF8-9254-805A5EEFD5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03968" y="3145385"/>
                  <a:ext cx="472437" cy="461666"/>
                </a:xfrm>
                <a:prstGeom prst="rect">
                  <a:avLst/>
                </a:prstGeom>
                <a:blipFill>
                  <a:blip r:embed="rId3"/>
                  <a:stretch>
                    <a:fillRect t="-1408" r="-32857" b="-2253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F15BBD1D-0F39-4C7B-BE49-CA9AEAC6F077}"/>
                </a:ext>
              </a:extLst>
            </p:cNvPr>
            <p:cNvCxnSpPr>
              <a:cxnSpLocks/>
            </p:cNvCxnSpPr>
            <p:nvPr/>
          </p:nvCxnSpPr>
          <p:spPr>
            <a:xfrm>
              <a:off x="2868705" y="4637524"/>
              <a:ext cx="4267201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AE620E9D-4564-4324-B494-47BA49A56727}"/>
              </a:ext>
            </a:extLst>
          </p:cNvPr>
          <p:cNvCxnSpPr>
            <a:cxnSpLocks/>
          </p:cNvCxnSpPr>
          <p:nvPr/>
        </p:nvCxnSpPr>
        <p:spPr>
          <a:xfrm flipV="1">
            <a:off x="2197858" y="2504702"/>
            <a:ext cx="2067692" cy="1446244"/>
          </a:xfrm>
          <a:prstGeom prst="straightConnector1">
            <a:avLst/>
          </a:prstGeom>
          <a:ln w="381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7FE270DF-3D14-41AA-A2C3-DBEB0788F85C}"/>
              </a:ext>
            </a:extLst>
          </p:cNvPr>
          <p:cNvCxnSpPr>
            <a:cxnSpLocks/>
          </p:cNvCxnSpPr>
          <p:nvPr/>
        </p:nvCxnSpPr>
        <p:spPr>
          <a:xfrm>
            <a:off x="2411506" y="2412062"/>
            <a:ext cx="591549" cy="788338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テキスト ボックス 21">
                <a:extLst>
                  <a:ext uri="{FF2B5EF4-FFF2-40B4-BE49-F238E27FC236}">
                    <a16:creationId xmlns:a16="http://schemas.microsoft.com/office/drawing/2014/main" id="{CCB4A3AA-EB53-4353-B740-1EFAC9D84609}"/>
                  </a:ext>
                </a:extLst>
              </p:cNvPr>
              <p:cNvSpPr txBox="1"/>
              <p:nvPr/>
            </p:nvSpPr>
            <p:spPr>
              <a:xfrm rot="19476637">
                <a:off x="2072224" y="3168440"/>
                <a:ext cx="2648161" cy="46211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ja-JP" altLang="en-US" sz="2400" i="1" dirty="0" smtClean="0">
                          <a:latin typeface="Cambria Math" panose="02040503050406030204" pitchFamily="18" charset="0"/>
                        </a:rPr>
                        <m:t>投影</m:t>
                      </m:r>
                      <m:r>
                        <a:rPr lang="en-US" altLang="ja-JP" sz="2400" i="1" dirty="0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ja-JP" altLang="en-US" sz="2400" i="1" dirty="0" smtClean="0">
                          <a:latin typeface="Cambria Math" panose="02040503050406030204" pitchFamily="18" charset="0"/>
                        </a:rPr>
                        <m:t>⊿</m:t>
                      </m:r>
                      <m:r>
                        <a:rPr lang="en-US" altLang="ja-JP" sz="240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ja-JP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ja-JP" altLang="en-US" sz="2400" i="1" dirty="0">
                          <a:latin typeface="Cambria Math" panose="02040503050406030204" pitchFamily="18" charset="0"/>
                        </a:rPr>
                        <m:t>仕事</m:t>
                      </m:r>
                    </m:oMath>
                  </m:oMathPara>
                </a14:m>
                <a:endParaRPr lang="en-US" altLang="ja-JP" sz="2400" dirty="0"/>
              </a:p>
            </p:txBody>
          </p:sp>
        </mc:Choice>
        <mc:Fallback xmlns="">
          <p:sp>
            <p:nvSpPr>
              <p:cNvPr id="22" name="テキスト ボックス 21">
                <a:extLst>
                  <a:ext uri="{FF2B5EF4-FFF2-40B4-BE49-F238E27FC236}">
                    <a16:creationId xmlns:a16="http://schemas.microsoft.com/office/drawing/2014/main" id="{CCB4A3AA-EB53-4353-B740-1EFAC9D846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9476637">
                <a:off x="2072224" y="3168440"/>
                <a:ext cx="2648161" cy="462114"/>
              </a:xfrm>
              <a:prstGeom prst="rect">
                <a:avLst/>
              </a:prstGeom>
              <a:blipFill>
                <a:blip r:embed="rId4"/>
                <a:stretch>
                  <a:fillRect r="-251" b="-63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241480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9431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仕事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1697882" cy="52629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ゲームのプレイヤーが</a:t>
                </a:r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30°</m:t>
                    </m:r>
                    <m:r>
                      <m:rPr>
                        <m:nor/>
                      </m:rPr>
                      <a:rPr lang="ja-JP" altLang="en-US" sz="2400" dirty="0"/>
                      <m:t>の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坂の上で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1500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ja-JP" altLang="en-US" sz="2400" dirty="0"/>
                  <a:t>の力で箱をロープで引きずっている。</a:t>
                </a:r>
                <a:endParaRPr lang="en-US" altLang="ja-JP" sz="2400" dirty="0"/>
              </a:p>
              <a:p>
                <a:r>
                  <a:rPr lang="ja-JP" altLang="en-US" sz="2400" dirty="0"/>
                  <a:t>ロープの角度が</a:t>
                </a:r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60°</m:t>
                    </m:r>
                  </m:oMath>
                </a14:m>
                <a:r>
                  <a:rPr lang="ja-JP" altLang="en-US" sz="2400" dirty="0"/>
                  <a:t>、地面から</a:t>
                </a:r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50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ja-JP" altLang="en-US" sz="2400" dirty="0"/>
                  <a:t>の摩擦がある場合、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ja-JP" altLang="en-US" sz="2400" dirty="0"/>
                  <a:t>先のスイッチまで箱を押すのにプレイヤーはどれだけ仕事をすることになるか。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:r>
                  <a:rPr lang="ja-JP" altLang="en-US" sz="2400" dirty="0"/>
                  <a:t>ロープで引きずる力をベクトルにする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1500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𝑁𝑐𝑜𝑠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60°, 1500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𝑁𝑠𝑖𝑛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60°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=[750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, 1300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・・・①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坂の角度から、坂道のベクトルを計算する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𝑐𝑜𝑠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30°, 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𝑠𝑖𝑛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30°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=[0.86, 0.5]</m:t>
                    </m:r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・・・②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①・②が投影となり、坂道と同じ向きの力となる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750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, 1300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  <m:r>
                      <a:rPr lang="ja-JP" altLang="en-US" sz="2400" i="1">
                        <a:latin typeface="Cambria Math" panose="02040503050406030204" pitchFamily="18" charset="0"/>
                      </a:rPr>
                      <m:t>・</m:t>
                    </m:r>
                    <m:d>
                      <m:dPr>
                        <m:begChr m:val="["/>
                        <m:endChr m:val="]"/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0.86, 0.5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=1295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r>
                  <a:rPr lang="ja-JP" altLang="en-US" sz="2400" dirty="0"/>
                  <a:t>次ページに続く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1697882" cy="5262979"/>
              </a:xfrm>
              <a:prstGeom prst="rect">
                <a:avLst/>
              </a:prstGeom>
              <a:blipFill>
                <a:blip r:embed="rId2"/>
                <a:stretch>
                  <a:fillRect l="-782" t="-927" b="-173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17762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9431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仕事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1697882" cy="378565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ゲームのプレイヤーが</a:t>
                </a:r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30°</m:t>
                    </m:r>
                    <m:r>
                      <m:rPr>
                        <m:nor/>
                      </m:rPr>
                      <a:rPr lang="ja-JP" altLang="en-US" sz="2400" dirty="0"/>
                      <m:t>の</m:t>
                    </m:r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坂の上で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1500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ja-JP" altLang="en-US" sz="2400" dirty="0"/>
                  <a:t>の力で箱をロープで引きずっている。</a:t>
                </a:r>
                <a:endParaRPr lang="en-US" altLang="ja-JP" sz="2400" dirty="0"/>
              </a:p>
              <a:p>
                <a:r>
                  <a:rPr lang="ja-JP" altLang="en-US" sz="2400" dirty="0"/>
                  <a:t>ロープの角度が</a:t>
                </a:r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60°</m:t>
                    </m:r>
                  </m:oMath>
                </a14:m>
                <a:r>
                  <a:rPr lang="ja-JP" altLang="en-US" sz="2400" dirty="0"/>
                  <a:t>、地面から</a:t>
                </a:r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50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ja-JP" altLang="en-US" sz="2400" dirty="0"/>
                  <a:t>の摩擦がある場合、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ja-JP" altLang="en-US" sz="2400" dirty="0"/>
                  <a:t>先のスイッチまで箱を押すのにプレイヤーはどれだけ仕事をすることになるか。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50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ja-JP" altLang="en-US" sz="2400" dirty="0"/>
                  <a:t>の摩擦で抵抗されているため、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1295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−50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=1245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⊿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ja-JP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ja-JP" altLang="en-US" sz="2400" dirty="0"/>
                  <a:t>より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=1245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=2490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altLang="ja-JP" sz="2400" dirty="0"/>
                  <a:t> </a:t>
                </a:r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1697882" cy="3785652"/>
              </a:xfrm>
              <a:prstGeom prst="rect">
                <a:avLst/>
              </a:prstGeom>
              <a:blipFill>
                <a:blip r:embed="rId2"/>
                <a:stretch>
                  <a:fillRect l="-782" t="-1288" b="-48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89401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9431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仕事 練習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9345828" cy="456939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①ゲームのプレイヤーが</a:t>
                </a:r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1500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ja-JP" altLang="en-US" sz="2400" dirty="0"/>
                  <a:t>の力で箱を押している。</a:t>
                </a:r>
                <a:endParaRPr lang="en-US" altLang="ja-JP" sz="2400" dirty="0"/>
              </a:p>
              <a:p>
                <a:r>
                  <a:rPr lang="ja-JP" altLang="en-US" sz="2400" dirty="0"/>
                  <a:t>　地面から</a:t>
                </a:r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ja-JP" altLang="en-US" sz="2400" dirty="0"/>
                  <a:t>の摩擦がある場合、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ja-JP" altLang="en-US" sz="2400" i="1" dirty="0">
                        <a:latin typeface="Cambria Math" panose="02040503050406030204" pitchFamily="18" charset="0"/>
                      </a:rPr>
                      <m:t>　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ja-JP" altLang="en-US" sz="2400" dirty="0"/>
                  <a:t>先まで箱押すのにどれだけ仕事をすることになるか。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② ①の状況で、押すのではなくロープを使って引きずる。</a:t>
                </a:r>
                <a:endParaRPr lang="en-US" altLang="ja-JP" sz="2400" dirty="0"/>
              </a:p>
              <a:p>
                <a:r>
                  <a:rPr lang="ja-JP" altLang="en-US" sz="2400" dirty="0"/>
                  <a:t>　 ロープの角度が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30°</m:t>
                    </m:r>
                  </m:oMath>
                </a14:m>
                <a:r>
                  <a:rPr lang="ja-JP" altLang="en-US" sz="2400" dirty="0"/>
                  <a:t>のときはどれだけ仕事をすることになるか。</a:t>
                </a:r>
                <a:endParaRPr lang="en-US" altLang="ja-JP" sz="2400" dirty="0"/>
              </a:p>
              <a:p>
                <a:r>
                  <a:rPr lang="ja-JP" altLang="en-US" sz="2400" dirty="0"/>
                  <a:t>　 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𝑐𝑜𝑠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30°=0.86, 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𝑠𝑖𝑛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30°=0.5</m:t>
                    </m:r>
                  </m:oMath>
                </a14:m>
                <a:r>
                  <a:rPr lang="ja-JP" altLang="en-US" sz="2400" dirty="0"/>
                  <a:t>とする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③ ②の状況で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15°</m:t>
                    </m:r>
                  </m:oMath>
                </a14:m>
                <a:r>
                  <a:rPr lang="ja-JP" altLang="en-US" sz="2400" dirty="0"/>
                  <a:t>の坂道で箱を引きずる。</a:t>
                </a:r>
                <a:endParaRPr lang="en-US" altLang="ja-JP" sz="2400" dirty="0"/>
              </a:p>
              <a:p>
                <a:r>
                  <a:rPr lang="ja-JP" altLang="en-US" sz="2400" dirty="0"/>
                  <a:t>　 どれだけ仕事をすることになるか。</a:t>
                </a:r>
                <a:endParaRPr lang="en-US" altLang="ja-JP" sz="2400" dirty="0"/>
              </a:p>
              <a:p>
                <a:r>
                  <a:rPr lang="ja-JP" altLang="en-US" sz="2400" dirty="0"/>
                  <a:t>　 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𝑐𝑜𝑠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15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°=0.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9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6, 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𝑠𝑖𝑛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15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°=0.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lang="ja-JP" altLang="en-US" sz="2400" dirty="0"/>
                  <a:t>とする</a:t>
                </a:r>
                <a:endParaRPr lang="en-US" altLang="ja-JP" sz="2400" dirty="0"/>
              </a:p>
              <a:p>
                <a:endParaRPr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9345828" cy="4569392"/>
              </a:xfrm>
              <a:prstGeom prst="rect">
                <a:avLst/>
              </a:prstGeom>
              <a:blipFill>
                <a:blip r:embed="rId2"/>
                <a:stretch>
                  <a:fillRect l="-978" t="-1068" r="-6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135984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2030</TotalTime>
  <Words>960</Words>
  <Application>Microsoft Office PowerPoint</Application>
  <PresentationFormat>ワイド画面</PresentationFormat>
  <Paragraphs>116</Paragraphs>
  <Slides>12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7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205</cp:revision>
  <dcterms:created xsi:type="dcterms:W3CDTF">2024-08-27T02:15:54Z</dcterms:created>
  <dcterms:modified xsi:type="dcterms:W3CDTF">2025-10-01T02:32:27Z</dcterms:modified>
</cp:coreProperties>
</file>