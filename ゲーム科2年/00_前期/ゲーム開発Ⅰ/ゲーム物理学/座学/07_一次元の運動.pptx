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5322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前回学習した</a:t>
            </a:r>
            <a:r>
              <a:rPr lang="en-US" altLang="ja-JP" sz="2400" dirty="0"/>
              <a:t>5</a:t>
            </a:r>
            <a:r>
              <a:rPr lang="ja-JP" altLang="en-US" sz="2400" dirty="0"/>
              <a:t>つの式を使って、</a:t>
            </a:r>
            <a:r>
              <a:rPr lang="en-US" altLang="ja-JP" sz="2400" dirty="0"/>
              <a:t>1</a:t>
            </a:r>
            <a:r>
              <a:rPr lang="ja-JP" altLang="en-US" sz="2400" dirty="0"/>
              <a:t>次元の運動について計算します。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運動の計算で最も重要なことは、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・わかっている量を洗い出す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・求める量を明確にする</a:t>
            </a:r>
            <a:endParaRPr lang="en-US" altLang="ja-JP" sz="2400" dirty="0"/>
          </a:p>
          <a:p>
            <a:r>
              <a:rPr lang="ja-JP" altLang="en-US" sz="2400" dirty="0"/>
              <a:t>この</a:t>
            </a:r>
            <a:r>
              <a:rPr lang="en-US" altLang="ja-JP" sz="2400" dirty="0"/>
              <a:t>2</a:t>
            </a:r>
            <a:r>
              <a:rPr lang="ja-JP" altLang="en-US" sz="2400" dirty="0"/>
              <a:t>点になります。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例題を見ながら練習していきます。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802410" cy="31495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で走行する自動車がブレーキをかけて停止した。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ブレーキの加速度を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−6.5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としたとき、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ブレーキをかけて停止するまでに何秒かかるか求めなさい。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まずはわかっている量を洗い出し、求める量を明確にします。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802410" cy="3149517"/>
              </a:xfrm>
              <a:prstGeom prst="rect">
                <a:avLst/>
              </a:prstGeom>
              <a:blipFill>
                <a:blip r:embed="rId2"/>
                <a:stretch>
                  <a:fillRect l="-1039" r="-1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2FC5DB33-F3A0-4810-9F4D-5A05F11FDB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8781092"/>
                  </p:ext>
                </p:extLst>
              </p:nvPr>
            </p:nvGraphicFramePr>
            <p:xfrm>
              <a:off x="567542" y="3681442"/>
              <a:ext cx="812800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181953627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5581550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3397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=50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𝑘𝑚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dirty="0" smtClean="0">
                                  <a:latin typeface="Cambria Math" panose="02040503050406030204" pitchFamily="18" charset="0"/>
                                </a:rPr>
                                <m:t>時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=?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4871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𝑣𝑓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kumimoji="1" lang="ja-JP" altLang="en-US" dirty="0"/>
                            <a:t> 最終的に停止しているため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94041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−6.5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ja-JP" altLang="en-US" b="0" i="1" dirty="0" smtClean="0">
                                      <a:latin typeface="Cambria Math" panose="02040503050406030204" pitchFamily="18" charset="0"/>
                                    </a:rPr>
                                    <m:t>秒</m:t>
                                  </m:r>
                                </m:e>
                                <m:sup>
                                  <m: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15081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2FC5DB33-F3A0-4810-9F4D-5A05F11FDB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8781092"/>
                  </p:ext>
                </p:extLst>
              </p:nvPr>
            </p:nvGraphicFramePr>
            <p:xfrm>
              <a:off x="567542" y="3681442"/>
              <a:ext cx="812800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181953627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5581550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3397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50" t="-108197" r="-100600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00150" t="-108197" r="-600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4871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50" t="-208197" r="-100600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9404151"/>
                      </a:ext>
                    </a:extLst>
                  </a:tr>
                  <a:tr h="41725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50" t="-272464" r="-100600" b="-115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15081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8359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2FC5DB33-F3A0-4810-9F4D-5A05F11FDB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8393460"/>
                  </p:ext>
                </p:extLst>
              </p:nvPr>
            </p:nvGraphicFramePr>
            <p:xfrm>
              <a:off x="567542" y="3681442"/>
              <a:ext cx="812800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181953627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5581550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3397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=13.8</m:t>
                              </m:r>
                              <m:r>
                                <a:rPr kumimoji="1" lang="en-US" altLang="ja-JP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=?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4871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𝑣𝑓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kumimoji="1" lang="ja-JP" altLang="en-US" dirty="0"/>
                            <a:t> 最終的に停止しているため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94041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−6.5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ja-JP" altLang="en-US" b="0" i="1" dirty="0" smtClean="0">
                                      <a:latin typeface="Cambria Math" panose="02040503050406030204" pitchFamily="18" charset="0"/>
                                    </a:rPr>
                                    <m:t>秒</m:t>
                                  </m:r>
                                </m:e>
                                <m:sup>
                                  <m: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15081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2FC5DB33-F3A0-4810-9F4D-5A05F11FDB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8393460"/>
                  </p:ext>
                </p:extLst>
              </p:nvPr>
            </p:nvGraphicFramePr>
            <p:xfrm>
              <a:off x="567542" y="3681442"/>
              <a:ext cx="812800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181953627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5581550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3397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50" t="-108197" r="-100600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108197" r="-600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4871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50" t="-208197" r="-100600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9404151"/>
                      </a:ext>
                    </a:extLst>
                  </a:tr>
                  <a:tr h="41725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50" t="-272464" r="-100600" b="-115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15081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/>
              <p:nvPr/>
            </p:nvSpPr>
            <p:spPr>
              <a:xfrm>
                <a:off x="567542" y="1217490"/>
                <a:ext cx="8802410" cy="23910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で走行する自動車がブレーキをかけて停止した。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ブレーキの加速度を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−6.5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としたとき、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ブレーキをかけて停止するまでに何秒かかるか求めなさい。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次に単位を揃えます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7490"/>
                <a:ext cx="8802410" cy="2391039"/>
              </a:xfrm>
              <a:prstGeom prst="rect">
                <a:avLst/>
              </a:prstGeom>
              <a:blipFill>
                <a:blip r:embed="rId3"/>
                <a:stretch>
                  <a:fillRect l="-1039" b="-48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0D57FD96-3CEE-4D5C-A9A5-FEC3DD12F002}"/>
                  </a:ext>
                </a:extLst>
              </p:cNvPr>
              <p:cNvSpPr txBox="1"/>
              <p:nvPr/>
            </p:nvSpPr>
            <p:spPr>
              <a:xfrm>
                <a:off x="499808" y="5402784"/>
                <a:ext cx="9707914" cy="7869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𝑘𝑚</m:t>
                        </m:r>
                      </m:num>
                      <m:den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時</m:t>
                        </m:r>
                      </m:den>
                    </m:f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時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分</m:t>
                        </m:r>
                      </m:den>
                    </m:f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分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𝑘𝑚</m:t>
                        </m:r>
                      </m:den>
                    </m:f>
                    <m:r>
                      <a:rPr lang="ja-JP" altLang="en-US" sz="2400" b="0" i="1" dirty="0" smtClean="0">
                        <a:latin typeface="Cambria Math" panose="02040503050406030204" pitchFamily="18" charset="0"/>
                      </a:rPr>
                      <m:t>≒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13.8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（小数点第</a:t>
                </a:r>
                <a:r>
                  <a:rPr lang="en-US" altLang="ja-JP" sz="2400" dirty="0"/>
                  <a:t>2</a:t>
                </a:r>
                <a:r>
                  <a:rPr lang="ja-JP" altLang="en-US" sz="2400" dirty="0"/>
                  <a:t>位以下切り捨て）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0D57FD96-3CEE-4D5C-A9A5-FEC3DD12F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08" y="5402784"/>
                <a:ext cx="9707914" cy="786947"/>
              </a:xfrm>
              <a:prstGeom prst="rect">
                <a:avLst/>
              </a:prstGeom>
              <a:blipFill>
                <a:blip r:embed="rId4"/>
                <a:stretch>
                  <a:fillRect b="-7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9548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2FC5DB33-F3A0-4810-9F4D-5A05F11FDB8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7542" y="3681442"/>
              <a:ext cx="812800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181953627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5581550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3397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=13.8</m:t>
                              </m:r>
                              <m:r>
                                <a:rPr kumimoji="1" lang="en-US" altLang="ja-JP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=?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4871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𝑣𝑓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kumimoji="1" lang="ja-JP" altLang="en-US" dirty="0"/>
                            <a:t> 最終的に停止しているため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94041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−6.5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ja-JP" altLang="en-US" b="0" i="1" dirty="0" smtClean="0">
                                      <a:latin typeface="Cambria Math" panose="02040503050406030204" pitchFamily="18" charset="0"/>
                                    </a:rPr>
                                    <m:t>秒</m:t>
                                  </m:r>
                                </m:e>
                                <m:sup>
                                  <m: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15081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2FC5DB33-F3A0-4810-9F4D-5A05F11FDB8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7542" y="3681442"/>
              <a:ext cx="812800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181953627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5581550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3397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50" t="-108197" r="-100600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108197" r="-600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4871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50" t="-208197" r="-100600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9404151"/>
                      </a:ext>
                    </a:extLst>
                  </a:tr>
                  <a:tr h="41725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50" t="-272464" r="-100600" b="-115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15081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/>
              <p:nvPr/>
            </p:nvSpPr>
            <p:spPr>
              <a:xfrm>
                <a:off x="567542" y="1217490"/>
                <a:ext cx="8802410" cy="23910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で走行する自動車がブレーキをかけて停止した。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ブレーキの加速度を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−6.5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としたとき、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ブレーキをかけて停止するまでに何秒かかるか求めなさい。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𝑣𝑓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400" dirty="0"/>
                  <a:t>が使われている式を、式１～式５から探します。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7490"/>
                <a:ext cx="8802410" cy="2391039"/>
              </a:xfrm>
              <a:prstGeom prst="rect">
                <a:avLst/>
              </a:prstGeom>
              <a:blipFill>
                <a:blip r:embed="rId3"/>
                <a:stretch>
                  <a:fillRect l="-1039" b="-51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0D57FD96-3CEE-4D5C-A9A5-FEC3DD12F002}"/>
                  </a:ext>
                </a:extLst>
              </p:cNvPr>
              <p:cNvSpPr txBox="1"/>
              <p:nvPr/>
            </p:nvSpPr>
            <p:spPr>
              <a:xfrm>
                <a:off x="499808" y="5402784"/>
                <a:ext cx="7341112" cy="900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今回は式１</a:t>
                </a:r>
                <a:r>
                  <a:rPr lang="en-US" altLang="ja-JP" sz="2400" dirty="0"/>
                  <a:t>(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𝑣𝑓</m:t>
                    </m:r>
                    <m:r>
                      <a:rPr lang="en-US" altLang="ja-JP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𝑣𝑖</m:t>
                    </m:r>
                    <m:r>
                      <a:rPr lang="en-US" altLang="ja-JP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𝑎𝑡</m:t>
                    </m:r>
                  </m:oMath>
                </a14:m>
                <a:r>
                  <a:rPr lang="en-US" altLang="ja-JP" sz="2400" dirty="0"/>
                  <a:t>)</a:t>
                </a:r>
                <a:r>
                  <a:rPr lang="ja-JP" altLang="en-US" sz="2400" dirty="0"/>
                  <a:t>を使います。代入すると、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0=13.8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+(−6.5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0D57FD96-3CEE-4D5C-A9A5-FEC3DD12F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08" y="5402784"/>
                <a:ext cx="7341112" cy="900375"/>
              </a:xfrm>
              <a:prstGeom prst="rect">
                <a:avLst/>
              </a:prstGeom>
              <a:blipFill>
                <a:blip r:embed="rId4"/>
                <a:stretch>
                  <a:fillRect l="-1329" t="-5405" r="-2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6222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/>
              <p:nvPr/>
            </p:nvSpPr>
            <p:spPr>
              <a:xfrm>
                <a:off x="567542" y="1217490"/>
                <a:ext cx="8557151" cy="4042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で走行する自動車がブレーキをかけて停止した。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ブレーキの加速度を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−6.5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としたとき、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ブレーキをかけて停止するまでに何秒かかるか求めなさい。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0=13.8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+(−6.5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13.8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÷</m:t>
                    </m:r>
                    <m:d>
                      <m:d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6.5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sz="2400" i="1">
                                    <a:latin typeface="Cambria Math" panose="02040503050406030204" pitchFamily="18" charset="0"/>
                                  </a:rPr>
                                  <m:t>秒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13.8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sz="2400" i="1">
                                    <a:latin typeface="Cambria Math" panose="02040503050406030204" pitchFamily="18" charset="0"/>
                                  </a:rPr>
                                  <m:t>秒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6.5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13.8</m:t>
                        </m:r>
                      </m:num>
                      <m:den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6.5</m:t>
                        </m:r>
                      </m:den>
                    </m:f>
                  </m:oMath>
                </a14:m>
                <a:r>
                  <a:rPr lang="ja-JP" altLang="en-US" sz="2400" b="0" dirty="0">
                    <a:solidFill>
                      <a:srgbClr val="FF0000"/>
                    </a:solidFill>
                  </a:rPr>
                  <a:t>秒</a:t>
                </a:r>
                <a:endParaRPr lang="en-US" altLang="ja-JP" sz="2400" b="0" dirty="0">
                  <a:solidFill>
                    <a:srgbClr val="FF0000"/>
                  </a:solidFill>
                </a:endParaRPr>
              </a:p>
              <a:p>
                <a:endParaRPr lang="en-US" altLang="ja-JP" sz="2400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b="0" dirty="0">
                    <a:solidFill>
                      <a:schemeClr val="tx1"/>
                    </a:solidFill>
                  </a:rPr>
                  <a:t>計算が間違っていなければ、単位もぴったり合います。</a:t>
                </a:r>
                <a:endParaRPr lang="en-US" altLang="ja-JP" sz="24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7490"/>
                <a:ext cx="8557151" cy="4042582"/>
              </a:xfrm>
              <a:prstGeom prst="rect">
                <a:avLst/>
              </a:prstGeom>
              <a:blipFill>
                <a:blip r:embed="rId2"/>
                <a:stretch>
                  <a:fillRect l="-1068" b="-256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3258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/>
              <p:nvPr/>
            </p:nvSpPr>
            <p:spPr>
              <a:xfrm>
                <a:off x="567542" y="1217490"/>
                <a:ext cx="8557151" cy="4042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で走行する自動車がブレーキをかけて停止した。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ブレーキの加速度を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−6.5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としたとき、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ブレーキをかけて停止するまでに何秒かかるか求めなさい。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0=13.8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+(−6.5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13.8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÷</m:t>
                    </m:r>
                    <m:d>
                      <m:d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6.5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sz="2400" i="1">
                                    <a:latin typeface="Cambria Math" panose="02040503050406030204" pitchFamily="18" charset="0"/>
                                  </a:rPr>
                                  <m:t>秒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13.8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sz="2400" i="1">
                                    <a:latin typeface="Cambria Math" panose="02040503050406030204" pitchFamily="18" charset="0"/>
                                  </a:rPr>
                                  <m:t>秒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6.5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13.8</m:t>
                        </m:r>
                      </m:num>
                      <m:den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6.5</m:t>
                        </m:r>
                      </m:den>
                    </m:f>
                  </m:oMath>
                </a14:m>
                <a:r>
                  <a:rPr lang="ja-JP" altLang="en-US" sz="2400" b="0" dirty="0">
                    <a:solidFill>
                      <a:srgbClr val="FF0000"/>
                    </a:solidFill>
                  </a:rPr>
                  <a:t>秒</a:t>
                </a:r>
                <a:endParaRPr lang="en-US" altLang="ja-JP" sz="2400" b="0" dirty="0">
                  <a:solidFill>
                    <a:srgbClr val="FF0000"/>
                  </a:solidFill>
                </a:endParaRPr>
              </a:p>
              <a:p>
                <a:endParaRPr lang="en-US" altLang="ja-JP" sz="2400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b="0" dirty="0">
                    <a:solidFill>
                      <a:schemeClr val="tx1"/>
                    </a:solidFill>
                  </a:rPr>
                  <a:t>計算が間違っていなければ、単位もぴったり合います。</a:t>
                </a:r>
                <a:endParaRPr lang="en-US" altLang="ja-JP" sz="24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7490"/>
                <a:ext cx="8557151" cy="4042582"/>
              </a:xfrm>
              <a:prstGeom prst="rect">
                <a:avLst/>
              </a:prstGeom>
              <a:blipFill>
                <a:blip r:embed="rId2"/>
                <a:stretch>
                  <a:fillRect l="-1068" b="-256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8394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/>
              <p:nvPr/>
            </p:nvSpPr>
            <p:spPr>
              <a:xfrm>
                <a:off x="567542" y="1217490"/>
                <a:ext cx="11626901" cy="20160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で走行する自動車が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加速度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−6.5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の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ブレーキをかけ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た。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この時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先に別の車がある場合、ぶつからずに止まることができるか答えなさい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まずはわかっている量を洗い出し、求める量を明確にします。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7490"/>
                <a:ext cx="11626901" cy="2016065"/>
              </a:xfrm>
              <a:prstGeom prst="rect">
                <a:avLst/>
              </a:prstGeom>
              <a:blipFill>
                <a:blip r:embed="rId2"/>
                <a:stretch>
                  <a:fillRect l="-787" b="-606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FAE0DB7F-F03B-43CC-94D3-F009D9509FA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7540" y="3233555"/>
              <a:ext cx="883046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5230">
                      <a:extLst>
                        <a:ext uri="{9D8B030D-6E8A-4147-A177-3AD203B41FA5}">
                          <a16:colId xmlns:a16="http://schemas.microsoft.com/office/drawing/2014/main" val="37231645"/>
                        </a:ext>
                      </a:extLst>
                    </a:gridCol>
                    <a:gridCol w="4415230">
                      <a:extLst>
                        <a:ext uri="{9D8B030D-6E8A-4147-A177-3AD203B41FA5}">
                          <a16:colId xmlns:a16="http://schemas.microsoft.com/office/drawing/2014/main" val="20739401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93996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𝑣𝑖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=50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𝑘𝑚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時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=13.8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ja-JP" altLang="en-US" i="1" smtClean="0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=?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kumimoji="1" lang="ja-JP" altLang="en-US" dirty="0"/>
                            <a:t> ここが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kumimoji="1" lang="ja-JP" altLang="en-US" dirty="0"/>
                            <a:t>を超えるとぶつかる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8599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𝑣𝑓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077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=−6.5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ja-JP" altLang="en-US" b="0" i="1" smtClean="0">
                                      <a:latin typeface="Cambria Math" panose="02040503050406030204" pitchFamily="18" charset="0"/>
                                    </a:rPr>
                                    <m:t>秒</m:t>
                                  </m:r>
                                </m:e>
                                <m:sup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825415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FAE0DB7F-F03B-43CC-94D3-F009D9509FA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7540" y="3233555"/>
              <a:ext cx="883046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5230">
                      <a:extLst>
                        <a:ext uri="{9D8B030D-6E8A-4147-A177-3AD203B41FA5}">
                          <a16:colId xmlns:a16="http://schemas.microsoft.com/office/drawing/2014/main" val="37231645"/>
                        </a:ext>
                      </a:extLst>
                    </a:gridCol>
                    <a:gridCol w="4415230">
                      <a:extLst>
                        <a:ext uri="{9D8B030D-6E8A-4147-A177-3AD203B41FA5}">
                          <a16:colId xmlns:a16="http://schemas.microsoft.com/office/drawing/2014/main" val="20739401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93996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38" t="-108197" r="-10041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00276" t="-108197" r="-552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8599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38" t="-208197" r="-10041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077952"/>
                      </a:ext>
                    </a:extLst>
                  </a:tr>
                  <a:tr h="41725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38" t="-272464" r="-100414" b="-101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825415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371BA97-9FFE-4A62-8833-E06FD1081903}"/>
                  </a:ext>
                </a:extLst>
              </p:cNvPr>
              <p:cNvSpPr txBox="1"/>
              <p:nvPr/>
            </p:nvSpPr>
            <p:spPr>
              <a:xfrm>
                <a:off x="567540" y="4864948"/>
                <a:ext cx="9389558" cy="13047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今回は</m:t>
                    </m:r>
                  </m:oMath>
                </a14:m>
                <a:r>
                  <a:rPr lang="ja-JP" altLang="en-US" sz="2400" dirty="0"/>
                  <a:t>式５</a:t>
                </a:r>
                <a:r>
                  <a:rPr lang="en-US" altLang="ja-JP" sz="24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𝑣𝑓</m:t>
                        </m:r>
                      </m:e>
                      <m:sup>
                        <m:r>
                          <a:rPr lang="en-US" altLang="ja-JP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ja-JP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ja-JP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ja-JP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ja-JP" alt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2400" dirty="0">
                    <a:solidFill>
                      <a:srgbClr val="7030A0"/>
                    </a:solidFill>
                  </a:rPr>
                  <a:t> </a:t>
                </a:r>
                <a:r>
                  <a:rPr lang="en-US" altLang="ja-JP" sz="2400" dirty="0"/>
                  <a:t>)</a:t>
                </a:r>
                <a:r>
                  <a:rPr lang="ja-JP" altLang="en-US" sz="2400" dirty="0"/>
                  <a:t>にあてはめると求められそうです。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あてはめると、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(13.8</m:t>
                        </m:r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ja-JP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秒</m:t>
                        </m:r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(−6.5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ja-JP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371BA97-9FFE-4A62-8833-E06FD1081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0" y="4864948"/>
                <a:ext cx="9389558" cy="1304716"/>
              </a:xfrm>
              <a:prstGeom prst="rect">
                <a:avLst/>
              </a:prstGeom>
              <a:blipFill>
                <a:blip r:embed="rId4"/>
                <a:stretch>
                  <a:fillRect l="-974" t="-3271" r="-1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0161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/>
              <p:nvPr/>
            </p:nvSpPr>
            <p:spPr>
              <a:xfrm>
                <a:off x="567542" y="1217490"/>
                <a:ext cx="11626901" cy="45450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で走行する自動車が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加速度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−6.5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の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ブレーキをかけ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た。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この時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先に別の車がある場合、ぶつからずに止まることができるか答えなさい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(13.8</m:t>
                        </m:r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ja-JP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秒</m:t>
                        </m:r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(−6.5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ja-JP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190.44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−190.44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190.44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秒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÷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13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sz="2400" i="1">
                                    <a:latin typeface="Cambria Math" panose="02040503050406030204" pitchFamily="18" charset="0"/>
                                  </a:rPr>
                                  <m:t>秒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190.44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秒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sz="2400" i="1">
                                    <a:latin typeface="Cambria Math" panose="02040503050406030204" pitchFamily="18" charset="0"/>
                                  </a:rPr>
                                  <m:t>秒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13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ja-JP" altLang="en-US" sz="2400" b="0" i="1">
                        <a:latin typeface="Cambria Math" panose="02040503050406030204" pitchFamily="18" charset="0"/>
                      </a:rPr>
                      <m:t>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14.64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>
                    <a:solidFill>
                      <a:srgbClr val="FF0000"/>
                    </a:solidFill>
                  </a:rPr>
                  <a:t>以上進むことになるので自動車は衝突する。</a:t>
                </a:r>
                <a:endParaRPr lang="en-US" altLang="ja-JP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7490"/>
                <a:ext cx="11626901" cy="4545027"/>
              </a:xfrm>
              <a:prstGeom prst="rect">
                <a:avLst/>
              </a:prstGeom>
              <a:blipFill>
                <a:blip r:embed="rId2"/>
                <a:stretch>
                  <a:fillRect l="-787" b="-22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4605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 例題</a:t>
            </a:r>
            <a:endParaRPr kumimoji="1" lang="en-US" altLang="ja-JP" sz="3200" b="1" u="sng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1AEA830-DE7C-46CA-B059-02154763F37C}"/>
              </a:ext>
            </a:extLst>
          </p:cNvPr>
          <p:cNvSpPr txBox="1"/>
          <p:nvPr/>
        </p:nvSpPr>
        <p:spPr>
          <a:xfrm>
            <a:off x="567542" y="1217490"/>
            <a:ext cx="1094883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ゲーム中の岩が高台から落ちるとき、</a:t>
            </a:r>
            <a:r>
              <a:rPr lang="en-US" altLang="ja-JP" sz="2400" dirty="0"/>
              <a:t>50m</a:t>
            </a:r>
            <a:r>
              <a:rPr lang="ja-JP" altLang="en-US" sz="2400" dirty="0"/>
              <a:t>下の地面に落ちるまで何秒かかるか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■解答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わかっている量と求める量をまとめます。</a:t>
            </a:r>
            <a:endParaRPr lang="en-US" altLang="ja-JP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F3A95DA1-9737-4F83-84EE-77BC753954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733872"/>
                  </p:ext>
                </p:extLst>
              </p:nvPr>
            </p:nvGraphicFramePr>
            <p:xfrm>
              <a:off x="567542" y="2927911"/>
              <a:ext cx="812800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86125">
                      <a:extLst>
                        <a:ext uri="{9D8B030D-6E8A-4147-A177-3AD203B41FA5}">
                          <a16:colId xmlns:a16="http://schemas.microsoft.com/office/drawing/2014/main" val="1480429770"/>
                        </a:ext>
                      </a:extLst>
                    </a:gridCol>
                    <a:gridCol w="2641875">
                      <a:extLst>
                        <a:ext uri="{9D8B030D-6E8A-4147-A177-3AD203B41FA5}">
                          <a16:colId xmlns:a16="http://schemas.microsoft.com/office/drawing/2014/main" val="9483973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60147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i="1" dirty="0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ja-JP" altLang="en-US" dirty="0"/>
                            <a:t> 落ち始めは停止している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=?</m:t>
                              </m:r>
                              <m:r>
                                <a:rPr kumimoji="1" lang="ja-JP" altLang="en-US" b="0" i="1" dirty="0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30642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ja-JP" altLang="en-US" i="1" dirty="0" smtClean="0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=−50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kumimoji="1" lang="ja-JP" altLang="en-US" dirty="0"/>
                            <a:t>下に落ちるので負数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90751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=−9.8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ja-JP" altLang="en-US" b="0" i="1" dirty="0" smtClean="0">
                                      <a:latin typeface="Cambria Math" panose="02040503050406030204" pitchFamily="18" charset="0"/>
                                    </a:rPr>
                                    <m:t>秒</m:t>
                                  </m:r>
                                </m:e>
                                <m:sup>
                                  <m: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1" lang="ja-JP" altLang="en-US" dirty="0"/>
                            <a:t> 重力加速度は一般的に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−9.8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ja-JP" altLang="en-US" b="0" i="1" dirty="0" smtClean="0">
                                      <a:latin typeface="Cambria Math" panose="02040503050406030204" pitchFamily="18" charset="0"/>
                                    </a:rPr>
                                    <m:t>秒</m:t>
                                  </m:r>
                                </m:e>
                                <m:sup>
                                  <m: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160253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F3A95DA1-9737-4F83-84EE-77BC753954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733872"/>
                  </p:ext>
                </p:extLst>
              </p:nvPr>
            </p:nvGraphicFramePr>
            <p:xfrm>
              <a:off x="567542" y="2927911"/>
              <a:ext cx="812800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86125">
                      <a:extLst>
                        <a:ext uri="{9D8B030D-6E8A-4147-A177-3AD203B41FA5}">
                          <a16:colId xmlns:a16="http://schemas.microsoft.com/office/drawing/2014/main" val="1480429770"/>
                        </a:ext>
                      </a:extLst>
                    </a:gridCol>
                    <a:gridCol w="2641875">
                      <a:extLst>
                        <a:ext uri="{9D8B030D-6E8A-4147-A177-3AD203B41FA5}">
                          <a16:colId xmlns:a16="http://schemas.microsoft.com/office/drawing/2014/main" val="9483973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60147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11" t="-108197" r="-48667" b="-239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207604" t="-108197" r="-922" b="-2393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30642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11" t="-208197" r="-48667" b="-139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9075103"/>
                      </a:ext>
                    </a:extLst>
                  </a:tr>
                  <a:tr h="41725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11" t="-272464" r="-48667" b="-23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16025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423B066-CA42-43E8-9FA4-33AF49242824}"/>
                  </a:ext>
                </a:extLst>
              </p:cNvPr>
              <p:cNvSpPr txBox="1"/>
              <p:nvPr/>
            </p:nvSpPr>
            <p:spPr>
              <a:xfrm>
                <a:off x="567542" y="4598451"/>
                <a:ext cx="8090485" cy="11666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今回は式４（</a:t>
                </a:r>
                <a:r>
                  <a:rPr lang="ja-JP" altLang="en-US" sz="2400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ja-JP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𝑣𝑖𝑡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）が当てはまりそうです。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−9.8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秒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423B066-CA42-43E8-9FA4-33AF49242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4598451"/>
                <a:ext cx="8090485" cy="1166601"/>
              </a:xfrm>
              <a:prstGeom prst="rect">
                <a:avLst/>
              </a:prstGeom>
              <a:blipFill>
                <a:blip r:embed="rId3"/>
                <a:stretch>
                  <a:fillRect l="-1130" r="-30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0334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/>
              <p:nvPr/>
            </p:nvSpPr>
            <p:spPr>
              <a:xfrm>
                <a:off x="567542" y="1217490"/>
                <a:ext cx="10948831" cy="37868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ゲーム中の岩が高台から落ちるとき、</a:t>
                </a:r>
                <a:r>
                  <a:rPr lang="en-US" altLang="ja-JP" sz="2400" dirty="0"/>
                  <a:t>50m</a:t>
                </a:r>
                <a:r>
                  <a:rPr lang="ja-JP" altLang="en-US" sz="2400" dirty="0"/>
                  <a:t>下の地面に落ちるまで何秒かかるか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−9.8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秒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÷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4.9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sz="2400" i="1">
                                    <a:latin typeface="Cambria Math" panose="02040503050406030204" pitchFamily="18" charset="0"/>
                                  </a:rPr>
                                  <m:t>秒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sz="2400" i="1">
                                    <a:latin typeface="Cambria Math" panose="02040503050406030204" pitchFamily="18" charset="0"/>
                                  </a:rPr>
                                  <m:t>秒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4.9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/>
                  <a:t>　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US" altLang="ja-JP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den>
                        </m:f>
                      </m:e>
                    </m:rad>
                    <m:r>
                      <a:rPr lang="ja-JP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7490"/>
                <a:ext cx="10948831" cy="3786806"/>
              </a:xfrm>
              <a:prstGeom prst="rect">
                <a:avLst/>
              </a:prstGeom>
              <a:blipFill>
                <a:blip r:embed="rId2"/>
                <a:stretch>
                  <a:fillRect l="-835" t="-12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7380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/>
              <p:nvPr/>
            </p:nvSpPr>
            <p:spPr>
              <a:xfrm>
                <a:off x="567542" y="1217490"/>
                <a:ext cx="6534738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の速度でボールを真上に投げました。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最高点に達するまで何秒かかるでしょうか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わかっている量と求める量をまとめます。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7490"/>
                <a:ext cx="6534738" cy="1938992"/>
              </a:xfrm>
              <a:prstGeom prst="rect">
                <a:avLst/>
              </a:prstGeom>
              <a:blipFill>
                <a:blip r:embed="rId2"/>
                <a:stretch>
                  <a:fillRect l="-1399" t="-2516" r="-560" b="-62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表 2">
                <a:extLst>
                  <a:ext uri="{FF2B5EF4-FFF2-40B4-BE49-F238E27FC236}">
                    <a16:creationId xmlns:a16="http://schemas.microsoft.com/office/drawing/2014/main" id="{D841D575-7340-4DA7-8065-DF130FB2D4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3205344"/>
                  </p:ext>
                </p:extLst>
              </p:nvPr>
            </p:nvGraphicFramePr>
            <p:xfrm>
              <a:off x="596452" y="3156482"/>
              <a:ext cx="7404547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46948">
                      <a:extLst>
                        <a:ext uri="{9D8B030D-6E8A-4147-A177-3AD203B41FA5}">
                          <a16:colId xmlns:a16="http://schemas.microsoft.com/office/drawing/2014/main" val="1480429770"/>
                        </a:ext>
                      </a:extLst>
                    </a:gridCol>
                    <a:gridCol w="3657599">
                      <a:extLst>
                        <a:ext uri="{9D8B030D-6E8A-4147-A177-3AD203B41FA5}">
                          <a16:colId xmlns:a16="http://schemas.microsoft.com/office/drawing/2014/main" val="9483973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60147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=25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i="1" dirty="0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=?</m:t>
                              </m:r>
                              <m:r>
                                <a:rPr kumimoji="1" lang="ja-JP" altLang="en-US" b="0" i="1" dirty="0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30642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𝑣𝑓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kumimoji="1" lang="ja-JP" altLang="en-US" dirty="0"/>
                            <a:t> 投射物の最高点の速度は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90751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=−9.8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ja-JP" altLang="en-US" b="0" i="1" dirty="0" smtClean="0">
                                      <a:latin typeface="Cambria Math" panose="02040503050406030204" pitchFamily="18" charset="0"/>
                                    </a:rPr>
                                    <m:t>秒</m:t>
                                  </m:r>
                                </m:e>
                                <m:sup>
                                  <m: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1" lang="ja-JP" altLang="en-US" dirty="0"/>
                            <a:t> 重力加速度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160253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表 2">
                <a:extLst>
                  <a:ext uri="{FF2B5EF4-FFF2-40B4-BE49-F238E27FC236}">
                    <a16:creationId xmlns:a16="http://schemas.microsoft.com/office/drawing/2014/main" id="{D841D575-7340-4DA7-8065-DF130FB2D4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3205344"/>
                  </p:ext>
                </p:extLst>
              </p:nvPr>
            </p:nvGraphicFramePr>
            <p:xfrm>
              <a:off x="596452" y="3156482"/>
              <a:ext cx="7404547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46948">
                      <a:extLst>
                        <a:ext uri="{9D8B030D-6E8A-4147-A177-3AD203B41FA5}">
                          <a16:colId xmlns:a16="http://schemas.microsoft.com/office/drawing/2014/main" val="1480429770"/>
                        </a:ext>
                      </a:extLst>
                    </a:gridCol>
                    <a:gridCol w="3657599">
                      <a:extLst>
                        <a:ext uri="{9D8B030D-6E8A-4147-A177-3AD203B41FA5}">
                          <a16:colId xmlns:a16="http://schemas.microsoft.com/office/drawing/2014/main" val="9483973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60147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63" t="-108197" r="-98374" b="-239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02496" t="-108197" r="-666" b="-2393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30642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63" t="-208197" r="-98374" b="-139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9075103"/>
                      </a:ext>
                    </a:extLst>
                  </a:tr>
                  <a:tr h="41725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63" t="-272464" r="-98374" b="-23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16025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6BF67E34-AE1F-41D9-B162-4335695AC83A}"/>
                  </a:ext>
                </a:extLst>
              </p:cNvPr>
              <p:cNvSpPr txBox="1"/>
              <p:nvPr/>
            </p:nvSpPr>
            <p:spPr>
              <a:xfrm>
                <a:off x="567542" y="4707263"/>
                <a:ext cx="6198172" cy="935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今回は</m:t>
                    </m:r>
                  </m:oMath>
                </a14:m>
                <a:r>
                  <a:rPr lang="ja-JP" altLang="en-US" sz="2400" dirty="0"/>
                  <a:t>式１</a:t>
                </a:r>
                <a:r>
                  <a:rPr lang="en-US" altLang="ja-JP" sz="2400" dirty="0"/>
                  <a:t>(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𝑣𝑓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𝑣𝑖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𝑎𝑡</m:t>
                    </m:r>
                  </m:oMath>
                </a14:m>
                <a:r>
                  <a:rPr lang="en-US" altLang="ja-JP" sz="2400" dirty="0"/>
                  <a:t> )</a:t>
                </a:r>
                <a:r>
                  <a:rPr lang="ja-JP" altLang="en-US" sz="2400" dirty="0"/>
                  <a:t>が使えそうです。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0=25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+(−9.8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6BF67E34-AE1F-41D9-B162-4335695AC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4707263"/>
                <a:ext cx="6198172" cy="935384"/>
              </a:xfrm>
              <a:prstGeom prst="rect">
                <a:avLst/>
              </a:prstGeom>
              <a:blipFill>
                <a:blip r:embed="rId4"/>
                <a:stretch>
                  <a:fillRect l="-787" t="-4545" r="-5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2879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/>
              <p:nvPr/>
            </p:nvSpPr>
            <p:spPr>
              <a:xfrm>
                <a:off x="567542" y="1217490"/>
                <a:ext cx="8144153" cy="32905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US" altLang="ja-JP" sz="240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の速度でボールを真上に投げました。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最高点に達するまで何秒かかるでしょうか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0=25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+(−9.8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−25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(−9.8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÷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9.8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sz="2400" i="1">
                                    <a:latin typeface="Cambria Math" panose="02040503050406030204" pitchFamily="18" charset="0"/>
                                  </a:rPr>
                                  <m:t>秒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sz="2400" i="1">
                                    <a:latin typeface="Cambria Math" panose="02040503050406030204" pitchFamily="18" charset="0"/>
                                  </a:rPr>
                                  <m:t>秒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9.8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9.8</m:t>
                        </m:r>
                      </m:den>
                    </m:f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≒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2.55</m:t>
                    </m:r>
                    <m:r>
                      <a:rPr lang="ja-JP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7490"/>
                <a:ext cx="8144153" cy="3290581"/>
              </a:xfrm>
              <a:prstGeom prst="rect">
                <a:avLst/>
              </a:prstGeom>
              <a:blipFill>
                <a:blip r:embed="rId2"/>
                <a:stretch>
                  <a:fillRect l="-1123" t="-148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372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/>
              <p:nvPr/>
            </p:nvSpPr>
            <p:spPr>
              <a:xfrm>
                <a:off x="567542" y="1217490"/>
                <a:ext cx="8869736" cy="27252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① 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秒で走行する自転車が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秒まで加速しました。</m:t>
                    </m:r>
                  </m:oMath>
                </a14:m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　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その間に走った距離が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200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の場合、加速度を求めなさい。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②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US" altLang="ja-JP" sz="240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の速度でボールを真上に投げました。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    最高点に達するまで何秒かかるでしょうか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③ ②のボールの最高点までの高さを求めなさい。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7490"/>
                <a:ext cx="8869736" cy="2725298"/>
              </a:xfrm>
              <a:prstGeom prst="rect">
                <a:avLst/>
              </a:prstGeom>
              <a:blipFill>
                <a:blip r:embed="rId2"/>
                <a:stretch>
                  <a:fillRect l="-1031" t="-1566" b="-42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0919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1193</Words>
  <Application>Microsoft Office PowerPoint</Application>
  <PresentationFormat>ワイド画面</PresentationFormat>
  <Paragraphs>148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65</cp:revision>
  <dcterms:created xsi:type="dcterms:W3CDTF">2024-08-27T02:15:54Z</dcterms:created>
  <dcterms:modified xsi:type="dcterms:W3CDTF">2024-11-21T05:00:15Z</dcterms:modified>
</cp:coreProperties>
</file>