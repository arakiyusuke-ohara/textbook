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000000"/>
    <a:srgbClr val="FFFFFF"/>
    <a:srgbClr val="8C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力学の基礎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0000"/>
                </a:solidFill>
              </a:rPr>
              <a:t>力学</a:t>
            </a:r>
            <a:r>
              <a:rPr lang="ja-JP" altLang="en-US" sz="2400" dirty="0"/>
              <a:t>を学習するためには</a:t>
            </a:r>
            <a:r>
              <a:rPr lang="ja-JP" altLang="en-US" sz="2400" b="1" dirty="0">
                <a:solidFill>
                  <a:srgbClr val="FF0000"/>
                </a:solidFill>
              </a:rPr>
              <a:t>重さ</a:t>
            </a:r>
            <a:r>
              <a:rPr lang="ja-JP" altLang="en-US" sz="2400" dirty="0"/>
              <a:t>について理解しなければいけません。</a:t>
            </a:r>
            <a:endParaRPr lang="en-US" altLang="ja-JP" sz="2400" dirty="0"/>
          </a:p>
          <a:p>
            <a:r>
              <a:rPr lang="ja-JP" altLang="en-US" sz="2400" dirty="0"/>
              <a:t>普段、何気なく使っている重さですが、実は</a:t>
            </a:r>
            <a:r>
              <a:rPr lang="ja-JP" altLang="en-US" sz="2400" b="1" dirty="0">
                <a:solidFill>
                  <a:srgbClr val="FF0000"/>
                </a:solidFill>
              </a:rPr>
              <a:t>重力</a:t>
            </a:r>
            <a:r>
              <a:rPr lang="ja-JP" altLang="en-US" sz="2400" dirty="0"/>
              <a:t>が深くかかわっています。</a:t>
            </a:r>
            <a:endParaRPr lang="en-US" altLang="ja-JP" sz="2400" dirty="0"/>
          </a:p>
        </p:txBody>
      </p:sp>
      <p:sp>
        <p:nvSpPr>
          <p:cNvPr id="2" name="台形 1">
            <a:extLst>
              <a:ext uri="{FF2B5EF4-FFF2-40B4-BE49-F238E27FC236}">
                <a16:creationId xmlns:a16="http://schemas.microsoft.com/office/drawing/2014/main" id="{31C8DB21-756C-425B-8E45-344300EE0F69}"/>
              </a:ext>
            </a:extLst>
          </p:cNvPr>
          <p:cNvSpPr/>
          <p:nvPr/>
        </p:nvSpPr>
        <p:spPr>
          <a:xfrm>
            <a:off x="1151468" y="4810575"/>
            <a:ext cx="761999" cy="430291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10g</a:t>
            </a:r>
            <a:endParaRPr kumimoji="1" lang="ja-JP" altLang="en-US" dirty="0"/>
          </a:p>
        </p:txBody>
      </p:sp>
      <p:sp>
        <p:nvSpPr>
          <p:cNvPr id="5" name="台形 4">
            <a:extLst>
              <a:ext uri="{FF2B5EF4-FFF2-40B4-BE49-F238E27FC236}">
                <a16:creationId xmlns:a16="http://schemas.microsoft.com/office/drawing/2014/main" id="{15A00462-8CB1-4666-9381-B42A038680C7}"/>
              </a:ext>
            </a:extLst>
          </p:cNvPr>
          <p:cNvSpPr/>
          <p:nvPr/>
        </p:nvSpPr>
        <p:spPr>
          <a:xfrm>
            <a:off x="2328333" y="4292598"/>
            <a:ext cx="1652585" cy="956734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100g</a:t>
            </a:r>
            <a:endParaRPr kumimoji="1" lang="ja-JP" altLang="en-US" b="1" dirty="0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ED5888D4-801F-403F-82FF-6BA10597B126}"/>
              </a:ext>
            </a:extLst>
          </p:cNvPr>
          <p:cNvSpPr/>
          <p:nvPr/>
        </p:nvSpPr>
        <p:spPr>
          <a:xfrm>
            <a:off x="4529666" y="2785533"/>
            <a:ext cx="3903134" cy="2463799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/>
              <a:t>1kg</a:t>
            </a:r>
            <a:endParaRPr kumimoji="1" lang="ja-JP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4169292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BE5EFF50-CDD6-4603-8F19-6A7E5A854CB5}"/>
              </a:ext>
            </a:extLst>
          </p:cNvPr>
          <p:cNvSpPr/>
          <p:nvPr/>
        </p:nvSpPr>
        <p:spPr>
          <a:xfrm>
            <a:off x="305074" y="1828800"/>
            <a:ext cx="4614059" cy="2574317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力学の基礎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重さは以下のように定義されます。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■重さ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𝑚𝑔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ja-JP" altLang="en-US" sz="2400" dirty="0"/>
                  <a:t>・・・重さ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ja-JP" altLang="en-US" sz="2400" dirty="0"/>
                  <a:t>・・・質量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ja-JP" altLang="en-US" sz="2400" dirty="0"/>
                  <a:t>・・・重力加速度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つまり重さとは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物質の量（質量）に重力加速度が掛けられたもの</a:t>
                </a:r>
                <a:r>
                  <a:rPr lang="ja-JP" altLang="en-US" sz="2400" dirty="0"/>
                  <a:t>になります。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4154984"/>
              </a:xfrm>
              <a:prstGeom prst="rect">
                <a:avLst/>
              </a:prstGeom>
              <a:blipFill>
                <a:blip r:embed="rId2"/>
                <a:stretch>
                  <a:fillRect l="-835" t="-1175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732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力学の基礎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つまり力学ではこのような表記は</a:t>
            </a:r>
            <a:r>
              <a:rPr lang="ja-JP" altLang="en-US" sz="2400" b="1" dirty="0">
                <a:solidFill>
                  <a:srgbClr val="FF0000"/>
                </a:solidFill>
              </a:rPr>
              <a:t>質量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sp>
        <p:nvSpPr>
          <p:cNvPr id="2" name="台形 1">
            <a:extLst>
              <a:ext uri="{FF2B5EF4-FFF2-40B4-BE49-F238E27FC236}">
                <a16:creationId xmlns:a16="http://schemas.microsoft.com/office/drawing/2014/main" id="{31C8DB21-756C-425B-8E45-344300EE0F69}"/>
              </a:ext>
            </a:extLst>
          </p:cNvPr>
          <p:cNvSpPr/>
          <p:nvPr/>
        </p:nvSpPr>
        <p:spPr>
          <a:xfrm>
            <a:off x="1151468" y="4810575"/>
            <a:ext cx="761999" cy="430291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10g</a:t>
            </a:r>
            <a:endParaRPr kumimoji="1" lang="ja-JP" altLang="en-US" dirty="0"/>
          </a:p>
        </p:txBody>
      </p:sp>
      <p:sp>
        <p:nvSpPr>
          <p:cNvPr id="5" name="台形 4">
            <a:extLst>
              <a:ext uri="{FF2B5EF4-FFF2-40B4-BE49-F238E27FC236}">
                <a16:creationId xmlns:a16="http://schemas.microsoft.com/office/drawing/2014/main" id="{15A00462-8CB1-4666-9381-B42A038680C7}"/>
              </a:ext>
            </a:extLst>
          </p:cNvPr>
          <p:cNvSpPr/>
          <p:nvPr/>
        </p:nvSpPr>
        <p:spPr>
          <a:xfrm>
            <a:off x="2328333" y="4292598"/>
            <a:ext cx="1652585" cy="956734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100g</a:t>
            </a:r>
            <a:endParaRPr kumimoji="1" lang="ja-JP" altLang="en-US" b="1" dirty="0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ED5888D4-801F-403F-82FF-6BA10597B126}"/>
              </a:ext>
            </a:extLst>
          </p:cNvPr>
          <p:cNvSpPr/>
          <p:nvPr/>
        </p:nvSpPr>
        <p:spPr>
          <a:xfrm>
            <a:off x="4529666" y="2785533"/>
            <a:ext cx="3903134" cy="2463799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/>
              <a:t>1kg</a:t>
            </a:r>
            <a:endParaRPr kumimoji="1" lang="ja-JP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2180837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力学の基礎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これに重力加速度が掛けらると</a:t>
            </a:r>
            <a:r>
              <a:rPr lang="ja-JP" altLang="en-US" sz="2400" b="1" dirty="0">
                <a:solidFill>
                  <a:srgbClr val="FF0000"/>
                </a:solidFill>
              </a:rPr>
              <a:t>重さ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</p:txBody>
      </p:sp>
      <p:sp>
        <p:nvSpPr>
          <p:cNvPr id="2" name="台形 1">
            <a:extLst>
              <a:ext uri="{FF2B5EF4-FFF2-40B4-BE49-F238E27FC236}">
                <a16:creationId xmlns:a16="http://schemas.microsoft.com/office/drawing/2014/main" id="{31C8DB21-756C-425B-8E45-344300EE0F69}"/>
              </a:ext>
            </a:extLst>
          </p:cNvPr>
          <p:cNvSpPr/>
          <p:nvPr/>
        </p:nvSpPr>
        <p:spPr>
          <a:xfrm>
            <a:off x="1151468" y="4810575"/>
            <a:ext cx="761999" cy="430291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1000" dirty="0"/>
              <a:t>10g×G</a:t>
            </a:r>
            <a:endParaRPr kumimoji="1" lang="ja-JP" altLang="en-US" sz="1000" dirty="0"/>
          </a:p>
        </p:txBody>
      </p:sp>
      <p:sp>
        <p:nvSpPr>
          <p:cNvPr id="5" name="台形 4">
            <a:extLst>
              <a:ext uri="{FF2B5EF4-FFF2-40B4-BE49-F238E27FC236}">
                <a16:creationId xmlns:a16="http://schemas.microsoft.com/office/drawing/2014/main" id="{15A00462-8CB1-4666-9381-B42A038680C7}"/>
              </a:ext>
            </a:extLst>
          </p:cNvPr>
          <p:cNvSpPr/>
          <p:nvPr/>
        </p:nvSpPr>
        <p:spPr>
          <a:xfrm>
            <a:off x="2328333" y="4292598"/>
            <a:ext cx="1652585" cy="956734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b="1" dirty="0"/>
              <a:t>100g</a:t>
            </a:r>
            <a:r>
              <a:rPr lang="en-US" altLang="ja-JP" b="1" dirty="0"/>
              <a:t>×G</a:t>
            </a:r>
            <a:endParaRPr kumimoji="1" lang="ja-JP" altLang="en-US" b="1" dirty="0"/>
          </a:p>
        </p:txBody>
      </p:sp>
      <p:sp>
        <p:nvSpPr>
          <p:cNvPr id="7" name="台形 6">
            <a:extLst>
              <a:ext uri="{FF2B5EF4-FFF2-40B4-BE49-F238E27FC236}">
                <a16:creationId xmlns:a16="http://schemas.microsoft.com/office/drawing/2014/main" id="{ED5888D4-801F-403F-82FF-6BA10597B126}"/>
              </a:ext>
            </a:extLst>
          </p:cNvPr>
          <p:cNvSpPr/>
          <p:nvPr/>
        </p:nvSpPr>
        <p:spPr>
          <a:xfrm>
            <a:off x="4529666" y="2785533"/>
            <a:ext cx="3903134" cy="2463799"/>
          </a:xfrm>
          <a:prstGeom prst="trapezoid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4400" b="1" dirty="0"/>
              <a:t>1kg×G</a:t>
            </a:r>
            <a:endParaRPr kumimoji="1" lang="ja-JP" altLang="en-US" sz="4400" b="1" dirty="0"/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CAC945C7-C3AA-4CC5-9C1E-36F3C1C0FC99}"/>
              </a:ext>
            </a:extLst>
          </p:cNvPr>
          <p:cNvGrpSpPr/>
          <p:nvPr/>
        </p:nvGrpSpPr>
        <p:grpSpPr>
          <a:xfrm>
            <a:off x="6417733" y="1913467"/>
            <a:ext cx="2015067" cy="872066"/>
            <a:chOff x="6417733" y="1913467"/>
            <a:chExt cx="2015067" cy="872066"/>
          </a:xfrm>
        </p:grpSpPr>
        <p:cxnSp>
          <p:nvCxnSpPr>
            <p:cNvPr id="8" name="直線矢印コネクタ 7">
              <a:extLst>
                <a:ext uri="{FF2B5EF4-FFF2-40B4-BE49-F238E27FC236}">
                  <a16:creationId xmlns:a16="http://schemas.microsoft.com/office/drawing/2014/main" id="{9733C473-8A8F-4818-9C1C-F604B3C06B0C}"/>
                </a:ext>
              </a:extLst>
            </p:cNvPr>
            <p:cNvCxnSpPr/>
            <p:nvPr/>
          </p:nvCxnSpPr>
          <p:spPr>
            <a:xfrm>
              <a:off x="6417733" y="1913467"/>
              <a:ext cx="0" cy="8720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9932DD44-19AB-43B6-B624-A220E9EDAE1C}"/>
                    </a:ext>
                  </a:extLst>
                </p:cNvPr>
                <p:cNvSpPr txBox="1"/>
                <p:nvPr/>
              </p:nvSpPr>
              <p:spPr>
                <a:xfrm>
                  <a:off x="6442640" y="2118668"/>
                  <a:ext cx="1990160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400" dirty="0"/>
                    <a:t>G(</a:t>
                  </a:r>
                  <a14:m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−9.8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ja-JP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ja-JP" sz="2400" dirty="0"/>
                    <a:t>)</a:t>
                  </a:r>
                </a:p>
              </p:txBody>
            </p:sp>
          </mc:Choice>
          <mc:Fallback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9932DD44-19AB-43B6-B624-A220E9EDA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2640" y="2118668"/>
                  <a:ext cx="1990160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4908" t="-9333" r="-3681" b="-3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CB81AA61-35D1-409E-8140-CE719E79283B}"/>
              </a:ext>
            </a:extLst>
          </p:cNvPr>
          <p:cNvGrpSpPr/>
          <p:nvPr/>
        </p:nvGrpSpPr>
        <p:grpSpPr>
          <a:xfrm>
            <a:off x="3154625" y="3420532"/>
            <a:ext cx="1719473" cy="872066"/>
            <a:chOff x="6417733" y="1913467"/>
            <a:chExt cx="1719473" cy="872066"/>
          </a:xfrm>
        </p:grpSpPr>
        <p:cxnSp>
          <p:nvCxnSpPr>
            <p:cNvPr id="15" name="直線矢印コネクタ 14">
              <a:extLst>
                <a:ext uri="{FF2B5EF4-FFF2-40B4-BE49-F238E27FC236}">
                  <a16:creationId xmlns:a16="http://schemas.microsoft.com/office/drawing/2014/main" id="{B9B2E3AB-72D9-41C2-8A08-AA828B2EC5DE}"/>
                </a:ext>
              </a:extLst>
            </p:cNvPr>
            <p:cNvCxnSpPr/>
            <p:nvPr/>
          </p:nvCxnSpPr>
          <p:spPr>
            <a:xfrm>
              <a:off x="6417733" y="1913467"/>
              <a:ext cx="0" cy="8720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DAEE0861-D6C5-4236-AEAA-C07B5C9F4726}"/>
                    </a:ext>
                  </a:extLst>
                </p:cNvPr>
                <p:cNvSpPr txBox="1"/>
                <p:nvPr/>
              </p:nvSpPr>
              <p:spPr>
                <a:xfrm>
                  <a:off x="6442640" y="2118668"/>
                  <a:ext cx="1694566" cy="4001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2000" dirty="0"/>
                    <a:t>G(</a:t>
                  </a:r>
                  <a14:m>
                    <m:oMath xmlns:m="http://schemas.openxmlformats.org/officeDocument/2006/math"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−9.8</m:t>
                      </m:r>
                      <m:r>
                        <a:rPr lang="en-US" altLang="ja-JP" sz="20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ja-JP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ja-JP" sz="2000" dirty="0"/>
                    <a:t>)</a:t>
                  </a:r>
                </a:p>
              </p:txBody>
            </p:sp>
          </mc:Choice>
          <mc:Fallback>
            <p:sp>
              <p:nvSpPr>
                <p:cNvPr id="16" name="テキスト ボックス 15">
                  <a:extLst>
                    <a:ext uri="{FF2B5EF4-FFF2-40B4-BE49-F238E27FC236}">
                      <a16:creationId xmlns:a16="http://schemas.microsoft.com/office/drawing/2014/main" id="{DAEE0861-D6C5-4236-AEAA-C07B5C9F47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2640" y="2118668"/>
                  <a:ext cx="1694566" cy="400110"/>
                </a:xfrm>
                <a:prstGeom prst="rect">
                  <a:avLst/>
                </a:prstGeom>
                <a:blipFill>
                  <a:blip r:embed="rId3"/>
                  <a:stretch>
                    <a:fillRect l="-3957" t="-7692" r="-2878" b="-2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BAE3AEAA-2F20-4A89-A459-84076A3816A1}"/>
              </a:ext>
            </a:extLst>
          </p:cNvPr>
          <p:cNvGrpSpPr/>
          <p:nvPr/>
        </p:nvGrpSpPr>
        <p:grpSpPr>
          <a:xfrm>
            <a:off x="1532467" y="3906734"/>
            <a:ext cx="1113923" cy="872066"/>
            <a:chOff x="6417733" y="1913467"/>
            <a:chExt cx="1113923" cy="872066"/>
          </a:xfrm>
        </p:grpSpPr>
        <p:cxnSp>
          <p:nvCxnSpPr>
            <p:cNvPr id="18" name="直線矢印コネクタ 17">
              <a:extLst>
                <a:ext uri="{FF2B5EF4-FFF2-40B4-BE49-F238E27FC236}">
                  <a16:creationId xmlns:a16="http://schemas.microsoft.com/office/drawing/2014/main" id="{2B2BAFB3-E40E-4F14-A0C5-D5840D3390A4}"/>
                </a:ext>
              </a:extLst>
            </p:cNvPr>
            <p:cNvCxnSpPr/>
            <p:nvPr/>
          </p:nvCxnSpPr>
          <p:spPr>
            <a:xfrm>
              <a:off x="6417733" y="1913467"/>
              <a:ext cx="0" cy="87206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6DE485E2-ABEF-437F-9032-6E8E3A432D2E}"/>
                    </a:ext>
                  </a:extLst>
                </p:cNvPr>
                <p:cNvSpPr txBox="1"/>
                <p:nvPr/>
              </p:nvSpPr>
              <p:spPr>
                <a:xfrm>
                  <a:off x="6442640" y="2118668"/>
                  <a:ext cx="108901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ja-JP" sz="1200" dirty="0"/>
                    <a:t>G(</a:t>
                  </a:r>
                  <a14:m>
                    <m:oMath xmlns:m="http://schemas.openxmlformats.org/officeDocument/2006/math">
                      <m:r>
                        <a:rPr lang="en-US" altLang="ja-JP" sz="1200" b="0" i="1" smtClean="0">
                          <a:latin typeface="Cambria Math" panose="02040503050406030204" pitchFamily="18" charset="0"/>
                        </a:rPr>
                        <m:t>−9.8</m:t>
                      </m:r>
                      <m:r>
                        <a:rPr lang="en-US" altLang="ja-JP" sz="1200" b="0" i="1" smtClean="0">
                          <a:latin typeface="Cambria Math" panose="02040503050406030204" pitchFamily="18" charset="0"/>
                        </a:rPr>
                        <m:t>𝑚</m:t>
                      </m:r>
                      <m:sSup>
                        <m:sSupPr>
                          <m:ctrlPr>
                            <a:rPr lang="en-US" altLang="ja-JP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1200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US" altLang="ja-JP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altLang="ja-JP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a14:m>
                  <a:r>
                    <a:rPr lang="en-US" altLang="ja-JP" sz="1200" dirty="0"/>
                    <a:t>)</a:t>
                  </a:r>
                </a:p>
              </p:txBody>
            </p:sp>
          </mc:Choice>
          <mc:Fallback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6DE485E2-ABEF-437F-9032-6E8E3A432D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2640" y="2118668"/>
                  <a:ext cx="1089016" cy="276999"/>
                </a:xfrm>
                <a:prstGeom prst="rect">
                  <a:avLst/>
                </a:prstGeom>
                <a:blipFill>
                  <a:blip r:embed="rId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力学の基礎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このように</a:t>
            </a:r>
            <a:r>
              <a:rPr lang="ja-JP" altLang="en-US" sz="2400" b="1" dirty="0">
                <a:solidFill>
                  <a:srgbClr val="FF0000"/>
                </a:solidFill>
              </a:rPr>
              <a:t>質量と重さの違い</a:t>
            </a:r>
            <a:r>
              <a:rPr lang="ja-JP" altLang="en-US" sz="2400" dirty="0"/>
              <a:t>を理解することが力学の第一歩になります。</a:t>
            </a:r>
            <a:endParaRPr lang="en-US" altLang="ja-JP" sz="2400" dirty="0"/>
          </a:p>
          <a:p>
            <a:r>
              <a:rPr lang="ja-JP" altLang="en-US" sz="2400" dirty="0"/>
              <a:t>日常生活と混在することが多いので、冷静に整理しながら学習しましょう。</a:t>
            </a:r>
            <a:endParaRPr lang="en-US" altLang="ja-JP" sz="2400" dirty="0"/>
          </a:p>
          <a:p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質量・・・単純な物質量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b="1" dirty="0">
                <a:solidFill>
                  <a:srgbClr val="FF0000"/>
                </a:solidFill>
              </a:rPr>
              <a:t>重さ・・・質量に重力がかかったもの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</a:p>
          <a:p>
            <a:r>
              <a:rPr lang="ja-JP" altLang="en-US" sz="2400" dirty="0"/>
              <a:t>体重も重さと思いがちですが、正確には質量です。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081255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1152</TotalTime>
  <Words>222</Words>
  <Application>Microsoft Office PowerPoint</Application>
  <PresentationFormat>ワイド画面</PresentationFormat>
  <Paragraphs>42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137</cp:revision>
  <dcterms:created xsi:type="dcterms:W3CDTF">2024-08-27T02:15:54Z</dcterms:created>
  <dcterms:modified xsi:type="dcterms:W3CDTF">2025-07-29T03:12:37Z</dcterms:modified>
</cp:coreProperties>
</file>