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5B5B"/>
    <a:srgbClr val="8C46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E20C104-5E17-4C60-97B3-C56950BB5EF1}"/>
              </a:ext>
            </a:extLst>
          </p:cNvPr>
          <p:cNvSpPr/>
          <p:nvPr/>
        </p:nvSpPr>
        <p:spPr>
          <a:xfrm>
            <a:off x="340659" y="2563905"/>
            <a:ext cx="4849906" cy="29893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力学的エネルギー保存の法則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41293" cy="4336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運動エネルギーと位置エネルギーには保存の法則が成り立ちます。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運動エネルギーと位置エネルギーの合計は常に一定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このことを、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力学的エネルギー保存の法則</a:t>
                </a:r>
                <a:r>
                  <a:rPr lang="ja-JP" altLang="en-US" sz="2400" dirty="0"/>
                  <a:t>といいます。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■力学的エネルギー保存の法則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𝐾𝐸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𝐾𝐸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あるいは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𝑚𝑣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𝑚𝑔𝑦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𝑚𝑣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𝑚𝑔𝑦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𝐾𝐸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・・・運動エネルギー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・・・位置エネルギー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41293" cy="4336828"/>
              </a:xfrm>
              <a:prstGeom prst="rect">
                <a:avLst/>
              </a:prstGeom>
              <a:blipFill>
                <a:blip r:embed="rId2"/>
                <a:stretch>
                  <a:fillRect l="-884" t="-1125" b="-2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力学的エネルギー保存の法則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97393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前回の例題の箱を振り返ってみましょう。</a:t>
                </a:r>
                <a:endParaRPr lang="en-US" altLang="ja-JP" sz="2400" dirty="0"/>
              </a:p>
              <a:p>
                <a:r>
                  <a:rPr lang="ja-JP" altLang="en-US" sz="2400" dirty="0"/>
                  <a:t>落下開始時の位置エネルギーは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98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ja-JP" altLang="en-US" sz="2400" dirty="0"/>
                  <a:t>でした。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また、落下開始時は動いていないので運動エネルギーは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973932" cy="1200329"/>
              </a:xfrm>
              <a:prstGeom prst="rect">
                <a:avLst/>
              </a:prstGeom>
              <a:blipFill>
                <a:blip r:embed="rId2"/>
                <a:stretch>
                  <a:fillRect l="-1019" t="-4082" r="-136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D29908-FD82-4CC9-917A-BDF8FD4389A4}"/>
              </a:ext>
            </a:extLst>
          </p:cNvPr>
          <p:cNvSpPr/>
          <p:nvPr/>
        </p:nvSpPr>
        <p:spPr>
          <a:xfrm>
            <a:off x="1398495" y="2859741"/>
            <a:ext cx="1317812" cy="12192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1kg</a:t>
            </a:r>
            <a:endParaRPr kumimoji="1" lang="ja-JP" altLang="en-US" b="1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C7BD653-30A3-4350-8F46-73FB5DA8BB82}"/>
              </a:ext>
            </a:extLst>
          </p:cNvPr>
          <p:cNvCxnSpPr/>
          <p:nvPr/>
        </p:nvCxnSpPr>
        <p:spPr>
          <a:xfrm>
            <a:off x="824753" y="6266329"/>
            <a:ext cx="2716306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D0F99830-CB77-4D69-B6FB-A6CEA48467F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057401" y="4078941"/>
            <a:ext cx="0" cy="211567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C2E2A30-5DBE-4110-87C0-C1F435C1F6DD}"/>
              </a:ext>
            </a:extLst>
          </p:cNvPr>
          <p:cNvSpPr txBox="1"/>
          <p:nvPr/>
        </p:nvSpPr>
        <p:spPr>
          <a:xfrm>
            <a:off x="1286436" y="4918224"/>
            <a:ext cx="770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b="1" dirty="0"/>
              <a:t>10m</a:t>
            </a:r>
            <a:endParaRPr kumimoji="1" lang="ja-JP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F861F8A-E482-41FC-BF90-3971F633506A}"/>
                  </a:ext>
                </a:extLst>
              </p:cNvPr>
              <p:cNvSpPr txBox="1"/>
              <p:nvPr/>
            </p:nvSpPr>
            <p:spPr>
              <a:xfrm>
                <a:off x="2716307" y="3105834"/>
                <a:ext cx="131781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b="1" dirty="0">
                    <a:solidFill>
                      <a:srgbClr val="0070C0"/>
                    </a:solidFill>
                  </a:rPr>
                  <a:t>PE</a:t>
                </a:r>
                <a:r>
                  <a:rPr lang="ja-JP" altLang="en-US" b="1" dirty="0">
                    <a:solidFill>
                      <a:srgbClr val="0070C0"/>
                    </a:solidFill>
                  </a:rPr>
                  <a:t>：</a:t>
                </a:r>
                <a:r>
                  <a:rPr lang="en-US" altLang="ja-JP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𝟗𝟖</m:t>
                    </m:r>
                    <m:r>
                      <a:rPr lang="en-US" altLang="ja-JP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endParaRPr lang="en-US" altLang="ja-JP" b="1" dirty="0">
                  <a:solidFill>
                    <a:srgbClr val="0070C0"/>
                  </a:solidFill>
                </a:endParaRPr>
              </a:p>
              <a:p>
                <a:r>
                  <a:rPr lang="en-US" altLang="ja-JP" b="1" dirty="0">
                    <a:solidFill>
                      <a:srgbClr val="FF0000"/>
                    </a:solidFill>
                  </a:rPr>
                  <a:t>KE</a:t>
                </a:r>
                <a:r>
                  <a:rPr lang="ja-JP" altLang="en-US" b="1" dirty="0">
                    <a:solidFill>
                      <a:srgbClr val="FF0000"/>
                    </a:solidFill>
                  </a:rPr>
                  <a:t>：</a:t>
                </a:r>
                <a:r>
                  <a:rPr lang="en-US" altLang="ja-JP" sz="18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ja-JP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endParaRPr lang="en-US" altLang="ja-JP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F861F8A-E482-41FC-BF90-3971F6335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307" y="3105834"/>
                <a:ext cx="1317813" cy="646331"/>
              </a:xfrm>
              <a:prstGeom prst="rect">
                <a:avLst/>
              </a:prstGeom>
              <a:blipFill>
                <a:blip r:embed="rId3"/>
                <a:stretch>
                  <a:fillRect l="-4167" t="-4673" b="-130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375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力学的エネルギー保存の法則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19221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落下中の箱は</a:t>
                </a:r>
                <a:r>
                  <a:rPr lang="ja-JP" altLang="en-US" sz="2400" b="1" dirty="0">
                    <a:solidFill>
                      <a:srgbClr val="0070C0"/>
                    </a:solidFill>
                  </a:rPr>
                  <a:t>位置が低くなるので位置エネルギーが減少</a:t>
                </a:r>
                <a:r>
                  <a:rPr lang="ja-JP" altLang="en-US" sz="2400" dirty="0"/>
                  <a:t>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また、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重力加速度で加速するので運動エネルギーは増加</a:t>
                </a:r>
                <a:r>
                  <a:rPr lang="ja-JP" altLang="en-US" sz="2400" dirty="0"/>
                  <a:t>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ただし、</a:t>
                </a:r>
                <a:r>
                  <a:rPr lang="ja-JP" altLang="en-US" sz="2400" b="1" dirty="0">
                    <a:solidFill>
                      <a:srgbClr val="00B050"/>
                    </a:solidFill>
                  </a:rPr>
                  <a:t>位置エネルギーと運動エネルギーの合計は必ず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𝟗𝟖</m:t>
                    </m:r>
                    <m:r>
                      <a:rPr lang="en-US" altLang="ja-JP" sz="24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192214" cy="1200329"/>
              </a:xfrm>
              <a:prstGeom prst="rect">
                <a:avLst/>
              </a:prstGeom>
              <a:blipFill>
                <a:blip r:embed="rId2"/>
                <a:stretch>
                  <a:fillRect l="-897" t="-4082" r="-299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D29908-FD82-4CC9-917A-BDF8FD4389A4}"/>
              </a:ext>
            </a:extLst>
          </p:cNvPr>
          <p:cNvSpPr/>
          <p:nvPr/>
        </p:nvSpPr>
        <p:spPr>
          <a:xfrm>
            <a:off x="1398495" y="4159623"/>
            <a:ext cx="1317812" cy="12192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1kg</a:t>
            </a:r>
            <a:endParaRPr kumimoji="1" lang="ja-JP" altLang="en-US" b="1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C7BD653-30A3-4350-8F46-73FB5DA8BB82}"/>
              </a:ext>
            </a:extLst>
          </p:cNvPr>
          <p:cNvCxnSpPr/>
          <p:nvPr/>
        </p:nvCxnSpPr>
        <p:spPr>
          <a:xfrm>
            <a:off x="824753" y="6266329"/>
            <a:ext cx="2716306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F861F8A-E482-41FC-BF90-3971F633506A}"/>
                  </a:ext>
                </a:extLst>
              </p:cNvPr>
              <p:cNvSpPr txBox="1"/>
              <p:nvPr/>
            </p:nvSpPr>
            <p:spPr>
              <a:xfrm>
                <a:off x="2716307" y="4556968"/>
                <a:ext cx="18019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𝑷𝑬</m:t>
                      </m:r>
                      <m:r>
                        <a:rPr lang="en-US" altLang="ja-JP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𝑲𝑬</m:t>
                      </m:r>
                      <m:r>
                        <a:rPr lang="en-US" altLang="ja-JP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𝟗𝟖</m:t>
                      </m:r>
                      <m:r>
                        <a:rPr lang="en-US" altLang="ja-JP" sz="1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</m:oMath>
                  </m:oMathPara>
                </a14:m>
                <a:endParaRPr lang="en-US" altLang="ja-JP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F861F8A-E482-41FC-BF90-3971F6335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307" y="4556968"/>
                <a:ext cx="1801905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8413C3E-6BDF-4236-8F28-F589E800845D}"/>
              </a:ext>
            </a:extLst>
          </p:cNvPr>
          <p:cNvCxnSpPr/>
          <p:nvPr/>
        </p:nvCxnSpPr>
        <p:spPr>
          <a:xfrm>
            <a:off x="1550894" y="2965025"/>
            <a:ext cx="0" cy="728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64AA0FD-6C3A-4C12-906F-D211C6E66260}"/>
              </a:ext>
            </a:extLst>
          </p:cNvPr>
          <p:cNvCxnSpPr/>
          <p:nvPr/>
        </p:nvCxnSpPr>
        <p:spPr>
          <a:xfrm>
            <a:off x="1730188" y="3225001"/>
            <a:ext cx="0" cy="728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1605166-9CE2-4F23-B897-E0FEB1429DCB}"/>
              </a:ext>
            </a:extLst>
          </p:cNvPr>
          <p:cNvCxnSpPr/>
          <p:nvPr/>
        </p:nvCxnSpPr>
        <p:spPr>
          <a:xfrm>
            <a:off x="2312894" y="3225001"/>
            <a:ext cx="0" cy="728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1BFF0AB-7DCA-424C-A16A-DFE86FD970C1}"/>
              </a:ext>
            </a:extLst>
          </p:cNvPr>
          <p:cNvCxnSpPr/>
          <p:nvPr/>
        </p:nvCxnSpPr>
        <p:spPr>
          <a:xfrm>
            <a:off x="2554941" y="2965025"/>
            <a:ext cx="0" cy="728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057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力学的エネルギー保存の法則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そして落下直前に２つのエネルギーは交換されます。</a:t>
            </a:r>
            <a:endParaRPr lang="en-US" altLang="ja-JP" sz="2400" dirty="0"/>
          </a:p>
          <a:p>
            <a:r>
              <a:rPr lang="ja-JP" altLang="en-US" sz="2400" dirty="0"/>
              <a:t>非常に大事な法則ですので覚えておきましょう。</a:t>
            </a:r>
            <a:endParaRPr lang="en-US" altLang="ja-JP" sz="2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D29908-FD82-4CC9-917A-BDF8FD4389A4}"/>
              </a:ext>
            </a:extLst>
          </p:cNvPr>
          <p:cNvSpPr/>
          <p:nvPr/>
        </p:nvSpPr>
        <p:spPr>
          <a:xfrm>
            <a:off x="1398495" y="4993345"/>
            <a:ext cx="1317812" cy="12192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1kg</a:t>
            </a:r>
            <a:endParaRPr kumimoji="1" lang="ja-JP" altLang="en-US" b="1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C7BD653-30A3-4350-8F46-73FB5DA8BB82}"/>
              </a:ext>
            </a:extLst>
          </p:cNvPr>
          <p:cNvCxnSpPr/>
          <p:nvPr/>
        </p:nvCxnSpPr>
        <p:spPr>
          <a:xfrm>
            <a:off x="824753" y="6266329"/>
            <a:ext cx="2716306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F861F8A-E482-41FC-BF90-3971F633506A}"/>
                  </a:ext>
                </a:extLst>
              </p:cNvPr>
              <p:cNvSpPr txBox="1"/>
              <p:nvPr/>
            </p:nvSpPr>
            <p:spPr>
              <a:xfrm>
                <a:off x="2716307" y="5239438"/>
                <a:ext cx="131781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b="1" dirty="0">
                    <a:solidFill>
                      <a:srgbClr val="0070C0"/>
                    </a:solidFill>
                  </a:rPr>
                  <a:t>PE</a:t>
                </a:r>
                <a:r>
                  <a:rPr lang="ja-JP" altLang="en-US" b="1" dirty="0">
                    <a:solidFill>
                      <a:srgbClr val="0070C0"/>
                    </a:solidFill>
                  </a:rPr>
                  <a:t>：</a:t>
                </a:r>
                <a:r>
                  <a:rPr lang="en-US" altLang="ja-JP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ja-JP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endParaRPr lang="en-US" altLang="ja-JP" b="1" dirty="0">
                  <a:solidFill>
                    <a:srgbClr val="0070C0"/>
                  </a:solidFill>
                </a:endParaRPr>
              </a:p>
              <a:p>
                <a:r>
                  <a:rPr lang="en-US" altLang="ja-JP" b="1" dirty="0">
                    <a:solidFill>
                      <a:srgbClr val="FF0000"/>
                    </a:solidFill>
                  </a:rPr>
                  <a:t>KE</a:t>
                </a:r>
                <a:r>
                  <a:rPr lang="ja-JP" altLang="en-US" b="1" dirty="0">
                    <a:solidFill>
                      <a:srgbClr val="FF0000"/>
                    </a:solidFill>
                  </a:rPr>
                  <a:t>：</a:t>
                </a:r>
                <a:r>
                  <a:rPr lang="en-US" altLang="ja-JP" sz="18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𝟗𝟖</m:t>
                    </m:r>
                    <m:r>
                      <a:rPr lang="en-US" altLang="ja-JP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endParaRPr lang="en-US" altLang="ja-JP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F861F8A-E482-41FC-BF90-3971F6335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307" y="5239438"/>
                <a:ext cx="1317813" cy="646331"/>
              </a:xfrm>
              <a:prstGeom prst="rect">
                <a:avLst/>
              </a:prstGeom>
              <a:blipFill>
                <a:blip r:embed="rId2"/>
                <a:stretch>
                  <a:fillRect l="-4167" t="-4673" b="-130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7C44D7D-AE43-4C09-8AA6-FA9AA65038E2}"/>
              </a:ext>
            </a:extLst>
          </p:cNvPr>
          <p:cNvCxnSpPr/>
          <p:nvPr/>
        </p:nvCxnSpPr>
        <p:spPr>
          <a:xfrm>
            <a:off x="1532964" y="3906319"/>
            <a:ext cx="0" cy="728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712EACB-6D57-43A3-80AE-55945DEF149E}"/>
              </a:ext>
            </a:extLst>
          </p:cNvPr>
          <p:cNvCxnSpPr/>
          <p:nvPr/>
        </p:nvCxnSpPr>
        <p:spPr>
          <a:xfrm>
            <a:off x="1712258" y="4166295"/>
            <a:ext cx="0" cy="728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E1DA541-7EBC-47F5-8B58-E72E8F332046}"/>
              </a:ext>
            </a:extLst>
          </p:cNvPr>
          <p:cNvCxnSpPr/>
          <p:nvPr/>
        </p:nvCxnSpPr>
        <p:spPr>
          <a:xfrm>
            <a:off x="2294964" y="4166295"/>
            <a:ext cx="0" cy="728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ABEFD8D-DCDB-458E-AA33-BE42FE911DF3}"/>
              </a:ext>
            </a:extLst>
          </p:cNvPr>
          <p:cNvCxnSpPr/>
          <p:nvPr/>
        </p:nvCxnSpPr>
        <p:spPr>
          <a:xfrm>
            <a:off x="2537011" y="3906319"/>
            <a:ext cx="0" cy="728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759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457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力学的エネルギー保存の法則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289338" cy="5292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質量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ja-JP" altLang="en-US" sz="2400" dirty="0"/>
                  <a:t>の箱を高さ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から落とす。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落下したときの速さを求めよ。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落下開始時は停止しているので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sz="2400" dirty="0"/>
                  <a:t>とする。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𝑚𝑣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𝑚𝑔𝑦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𝑚𝑣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𝑚𝑔𝑦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ja-JP" altLang="en-US" sz="2400" dirty="0"/>
                  <a:t>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(1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)(9.8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(10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ja-JP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ja-JP" sz="2400" b="0" i="1" dirty="0" smtClean="0">
                                    <a:latin typeface="Cambria Math" panose="02040503050406030204" pitchFamily="18" charset="0"/>
                                  </a:rPr>
                                  <m:t>𝑘𝑔</m:t>
                                </m:r>
                              </m:e>
                            </m:d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+(1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)(9.8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ja-JP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ja-JP" sz="2400" b="0" i="1" dirty="0" smtClean="0">
                                    <a:latin typeface="Cambria Math" panose="02040503050406030204" pitchFamily="18" charset="0"/>
                                  </a:rPr>
                                  <m:t>𝑘𝑔</m:t>
                                </m:r>
                              </m:e>
                            </m:d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49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−49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=49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ja-JP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ja-JP" sz="2400" b="0" i="1" dirty="0" smtClean="0">
                                    <a:latin typeface="Cambria Math" panose="02040503050406030204" pitchFamily="18" charset="0"/>
                                  </a:rPr>
                                  <m:t>𝑘𝑔</m:t>
                                </m:r>
                              </m:e>
                            </m:d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49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𝑘𝑔</m:t>
                        </m:r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=98</m:t>
                    </m:r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e>
                    </m:rad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289338" cy="5292154"/>
              </a:xfrm>
              <a:prstGeom prst="rect">
                <a:avLst/>
              </a:prstGeom>
              <a:blipFill>
                <a:blip r:embed="rId2"/>
                <a:stretch>
                  <a:fillRect l="-984" t="-9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3765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457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力学的エネルギー保存の法則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このゲームキャラクターのジャンプの最高到達点を求めなさい</a:t>
            </a:r>
            <a:endParaRPr lang="en-US" altLang="ja-JP" sz="2400" dirty="0"/>
          </a:p>
          <a:p>
            <a:r>
              <a:rPr lang="ja-JP" altLang="en-US" sz="2400" dirty="0"/>
              <a:t>・質量：</a:t>
            </a:r>
            <a:r>
              <a:rPr lang="en-US" altLang="ja-JP" sz="2400" dirty="0"/>
              <a:t>2kg</a:t>
            </a:r>
          </a:p>
          <a:p>
            <a:r>
              <a:rPr lang="ja-JP" altLang="en-US" sz="2400" dirty="0"/>
              <a:t>・地面の高さ：</a:t>
            </a:r>
            <a:r>
              <a:rPr lang="en-US" altLang="ja-JP" sz="2400" dirty="0"/>
              <a:t>0</a:t>
            </a:r>
          </a:p>
          <a:p>
            <a:r>
              <a:rPr lang="ja-JP" altLang="en-US" sz="2400" dirty="0"/>
              <a:t>・ジャンプの初速：</a:t>
            </a:r>
            <a:r>
              <a:rPr lang="en-US" altLang="ja-JP" sz="2400" dirty="0"/>
              <a:t>5m/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28921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2551BE9-C5D0-4560-A014-25AB9B57A254}"/>
              </a:ext>
            </a:extLst>
          </p:cNvPr>
          <p:cNvSpPr/>
          <p:nvPr/>
        </p:nvSpPr>
        <p:spPr>
          <a:xfrm>
            <a:off x="304800" y="2047426"/>
            <a:ext cx="5987386" cy="359414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867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力学的エネルギー保存の法則 おまけ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今回の定理には摩擦など、外部のエネルギーが考慮されていません。</a:t>
            </a:r>
            <a:endParaRPr lang="en-US" altLang="ja-JP" sz="2400" dirty="0"/>
          </a:p>
          <a:p>
            <a:r>
              <a:rPr lang="ja-JP" altLang="en-US" sz="2400" dirty="0"/>
              <a:t>よりリアルな計算をする場合は、外部からのエネルギーも計算に入れます。</a:t>
            </a:r>
            <a:endParaRPr lang="en-US" altLang="ja-JP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97EF06C-33BD-435B-888D-09E9ACC62874}"/>
                  </a:ext>
                </a:extLst>
              </p:cNvPr>
              <p:cNvSpPr txBox="1"/>
              <p:nvPr/>
            </p:nvSpPr>
            <p:spPr>
              <a:xfrm>
                <a:off x="567542" y="2187126"/>
                <a:ext cx="5724644" cy="3228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■力学的エネルギー保存の法則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𝐾𝐸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𝐾𝐸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あるいは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𝑚𝑣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𝑚𝑔𝑦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𝑚𝑣</m:t>
                            </m:r>
                          </m:e>
                          <m:sub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𝑚𝑔𝑦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𝐾𝐸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・・・運動エネルギー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・・・位置エネルギー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・・・外部から受けるエネルギー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97EF06C-33BD-435B-888D-09E9ACC62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2187126"/>
                <a:ext cx="5724644" cy="3228833"/>
              </a:xfrm>
              <a:prstGeom prst="rect">
                <a:avLst/>
              </a:prstGeom>
              <a:blipFill>
                <a:blip r:embed="rId2"/>
                <a:stretch>
                  <a:fillRect l="-1597" t="-1512" r="-745" b="-35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208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2439</TotalTime>
  <Words>458</Words>
  <Application>Microsoft Office PowerPoint</Application>
  <PresentationFormat>ワイド画面</PresentationFormat>
  <Paragraphs>60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230</cp:revision>
  <dcterms:created xsi:type="dcterms:W3CDTF">2024-08-27T02:15:54Z</dcterms:created>
  <dcterms:modified xsi:type="dcterms:W3CDTF">2025-10-02T04:45:29Z</dcterms:modified>
</cp:coreProperties>
</file>