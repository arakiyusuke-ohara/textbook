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2" r:id="rId3"/>
    <p:sldId id="263" r:id="rId4"/>
    <p:sldId id="264" r:id="rId5"/>
    <p:sldId id="265" r:id="rId6"/>
    <p:sldId id="266" r:id="rId7"/>
    <p:sldId id="267" r:id="rId8"/>
    <p:sldId id="268" r:id="rId9"/>
    <p:sldId id="269" r:id="rId10"/>
    <p:sldId id="270" r:id="rId11"/>
    <p:sldId id="271" r:id="rId12"/>
    <p:sldId id="272" r:id="rId13"/>
    <p:sldId id="273" r:id="rId14"/>
    <p:sldId id="274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4646"/>
    <a:srgbClr val="AD5B5B"/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垂直抗力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重力からなる重さは常に下向きに働く力です。</a:t>
            </a:r>
            <a:endParaRPr lang="en-US" altLang="ja-JP" sz="2400" dirty="0"/>
          </a:p>
          <a:p>
            <a:r>
              <a:rPr lang="ja-JP" altLang="en-US" sz="2400" dirty="0"/>
              <a:t>それなのになぜ、物体は地面を突き抜けずに静止しているのでしょう？</a:t>
            </a:r>
            <a:endParaRPr lang="en-US" altLang="ja-JP" sz="2400" dirty="0"/>
          </a:p>
        </p:txBody>
      </p:sp>
      <p:sp>
        <p:nvSpPr>
          <p:cNvPr id="2" name="スマイル 1">
            <a:extLst>
              <a:ext uri="{FF2B5EF4-FFF2-40B4-BE49-F238E27FC236}">
                <a16:creationId xmlns:a16="http://schemas.microsoft.com/office/drawing/2014/main" id="{558AB6CD-0FBA-4B25-9D42-AD54F4350CE1}"/>
              </a:ext>
            </a:extLst>
          </p:cNvPr>
          <p:cNvSpPr/>
          <p:nvPr/>
        </p:nvSpPr>
        <p:spPr>
          <a:xfrm>
            <a:off x="5338232" y="3431771"/>
            <a:ext cx="829733" cy="728133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4CEC07F-FDEC-4A77-9F08-D751D7807A5B}"/>
              </a:ext>
            </a:extLst>
          </p:cNvPr>
          <p:cNvCxnSpPr/>
          <p:nvPr/>
        </p:nvCxnSpPr>
        <p:spPr>
          <a:xfrm>
            <a:off x="2319866" y="4165599"/>
            <a:ext cx="6866466" cy="0"/>
          </a:xfrm>
          <a:prstGeom prst="line">
            <a:avLst/>
          </a:prstGeom>
          <a:ln w="38100">
            <a:solidFill>
              <a:srgbClr val="8C46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1D6B244-3E89-4998-83A2-70DE2AC173B9}"/>
              </a:ext>
            </a:extLst>
          </p:cNvPr>
          <p:cNvCxnSpPr/>
          <p:nvPr/>
        </p:nvCxnSpPr>
        <p:spPr>
          <a:xfrm>
            <a:off x="5753098" y="4159904"/>
            <a:ext cx="0" cy="72000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2F3EA5C-1CC5-4B9F-8EB8-1273586DB709}"/>
              </a:ext>
            </a:extLst>
          </p:cNvPr>
          <p:cNvSpPr txBox="1"/>
          <p:nvPr/>
        </p:nvSpPr>
        <p:spPr>
          <a:xfrm>
            <a:off x="4965698" y="4332390"/>
            <a:ext cx="745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800" b="1" dirty="0">
                <a:solidFill>
                  <a:srgbClr val="7030A0"/>
                </a:solidFill>
              </a:rPr>
              <a:t>重さ</a:t>
            </a:r>
            <a:endParaRPr lang="ja-JP" altLang="en-US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9033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垂直抗力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57239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それは、</a:t>
            </a:r>
            <a:r>
              <a:rPr lang="ja-JP" altLang="en-US" sz="2400" b="1" dirty="0">
                <a:solidFill>
                  <a:srgbClr val="FF0000"/>
                </a:solidFill>
              </a:rPr>
              <a:t>地面からも力を受けているから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面の上に接している物体</a:t>
            </a:r>
            <a:r>
              <a:rPr lang="ja-JP" altLang="en-US" sz="2400" dirty="0"/>
              <a:t>は、</a:t>
            </a:r>
            <a:r>
              <a:rPr lang="ja-JP" altLang="en-US" sz="2400" b="1" dirty="0">
                <a:solidFill>
                  <a:srgbClr val="FF0000"/>
                </a:solidFill>
              </a:rPr>
              <a:t>面に対して垂直の力</a:t>
            </a:r>
            <a:r>
              <a:rPr lang="ja-JP" altLang="en-US" sz="2400" dirty="0"/>
              <a:t>である</a:t>
            </a:r>
            <a:r>
              <a:rPr lang="ja-JP" altLang="en-US" sz="2400" b="1" dirty="0">
                <a:solidFill>
                  <a:srgbClr val="FF0000"/>
                </a:solidFill>
              </a:rPr>
              <a:t>垂直抗力</a:t>
            </a:r>
            <a:r>
              <a:rPr lang="ja-JP" altLang="en-US" sz="2400" dirty="0"/>
              <a:t>を受けています。</a:t>
            </a:r>
            <a:endParaRPr lang="en-US" altLang="ja-JP" sz="2400" dirty="0"/>
          </a:p>
        </p:txBody>
      </p:sp>
      <p:sp>
        <p:nvSpPr>
          <p:cNvPr id="2" name="スマイル 1">
            <a:extLst>
              <a:ext uri="{FF2B5EF4-FFF2-40B4-BE49-F238E27FC236}">
                <a16:creationId xmlns:a16="http://schemas.microsoft.com/office/drawing/2014/main" id="{558AB6CD-0FBA-4B25-9D42-AD54F4350CE1}"/>
              </a:ext>
            </a:extLst>
          </p:cNvPr>
          <p:cNvSpPr/>
          <p:nvPr/>
        </p:nvSpPr>
        <p:spPr>
          <a:xfrm>
            <a:off x="5338232" y="3431771"/>
            <a:ext cx="829733" cy="728133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C4CEC07F-FDEC-4A77-9F08-D751D7807A5B}"/>
              </a:ext>
            </a:extLst>
          </p:cNvPr>
          <p:cNvCxnSpPr/>
          <p:nvPr/>
        </p:nvCxnSpPr>
        <p:spPr>
          <a:xfrm>
            <a:off x="2319866" y="4165599"/>
            <a:ext cx="6866466" cy="0"/>
          </a:xfrm>
          <a:prstGeom prst="line">
            <a:avLst/>
          </a:prstGeom>
          <a:ln w="38100">
            <a:solidFill>
              <a:srgbClr val="8C46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1D6B244-3E89-4998-83A2-70DE2AC173B9}"/>
              </a:ext>
            </a:extLst>
          </p:cNvPr>
          <p:cNvCxnSpPr/>
          <p:nvPr/>
        </p:nvCxnSpPr>
        <p:spPr>
          <a:xfrm>
            <a:off x="5600697" y="4159904"/>
            <a:ext cx="0" cy="720000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44C43FDE-FFA8-4C53-BF0C-EAC92A3994DD}"/>
              </a:ext>
            </a:extLst>
          </p:cNvPr>
          <p:cNvCxnSpPr>
            <a:cxnSpLocks/>
          </p:cNvCxnSpPr>
          <p:nvPr/>
        </p:nvCxnSpPr>
        <p:spPr>
          <a:xfrm flipV="1">
            <a:off x="5922430" y="4159904"/>
            <a:ext cx="0" cy="72000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BD179EE-6DA5-4D54-8332-170A11B5B353}"/>
              </a:ext>
            </a:extLst>
          </p:cNvPr>
          <p:cNvSpPr txBox="1"/>
          <p:nvPr/>
        </p:nvSpPr>
        <p:spPr>
          <a:xfrm>
            <a:off x="5922430" y="4412734"/>
            <a:ext cx="11006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800" b="1" dirty="0">
                <a:solidFill>
                  <a:srgbClr val="FF0000"/>
                </a:solidFill>
              </a:rPr>
              <a:t>垂直抗力</a:t>
            </a:r>
            <a:endParaRPr lang="ja-JP" altLang="en-US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1233F9D-C2C5-4BDE-A7C3-FDBEB13F1789}"/>
              </a:ext>
            </a:extLst>
          </p:cNvPr>
          <p:cNvSpPr txBox="1"/>
          <p:nvPr/>
        </p:nvSpPr>
        <p:spPr>
          <a:xfrm>
            <a:off x="4804831" y="4412734"/>
            <a:ext cx="745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>
                <a:solidFill>
                  <a:srgbClr val="7030A0"/>
                </a:solidFill>
              </a:rPr>
              <a:t>重さ</a:t>
            </a:r>
          </a:p>
        </p:txBody>
      </p:sp>
    </p:spTree>
    <p:extLst>
      <p:ext uri="{BB962C8B-B14F-4D97-AF65-F5344CB8AC3E}">
        <p14:creationId xmlns:p14="http://schemas.microsoft.com/office/powerpoint/2010/main" val="14412990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垂直抗力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どちらか片方が大きいと、その場で制止することはできません。</a:t>
            </a:r>
            <a:endParaRPr lang="en-US" altLang="ja-JP" sz="2400" dirty="0"/>
          </a:p>
          <a:p>
            <a:r>
              <a:rPr lang="ja-JP" altLang="en-US" sz="2400" dirty="0"/>
              <a:t>つまり、</a:t>
            </a:r>
            <a:r>
              <a:rPr lang="ja-JP" altLang="en-US" sz="2400" b="1" dirty="0">
                <a:solidFill>
                  <a:srgbClr val="FF0000"/>
                </a:solidFill>
              </a:rPr>
              <a:t>重さと垂直抗力の大きさは等しくなります。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DEF5B71F-9095-45DC-94C7-BEF30B0A7109}"/>
              </a:ext>
            </a:extLst>
          </p:cNvPr>
          <p:cNvGrpSpPr/>
          <p:nvPr/>
        </p:nvGrpSpPr>
        <p:grpSpPr>
          <a:xfrm>
            <a:off x="647697" y="4068067"/>
            <a:ext cx="2696633" cy="1376000"/>
            <a:chOff x="2247897" y="4159904"/>
            <a:chExt cx="2696633" cy="1376000"/>
          </a:xfrm>
        </p:grpSpPr>
        <p:sp>
          <p:nvSpPr>
            <p:cNvPr id="2" name="スマイル 1">
              <a:extLst>
                <a:ext uri="{FF2B5EF4-FFF2-40B4-BE49-F238E27FC236}">
                  <a16:creationId xmlns:a16="http://schemas.microsoft.com/office/drawing/2014/main" id="{558AB6CD-0FBA-4B25-9D42-AD54F4350CE1}"/>
                </a:ext>
              </a:extLst>
            </p:cNvPr>
            <p:cNvSpPr/>
            <p:nvPr/>
          </p:nvSpPr>
          <p:spPr>
            <a:xfrm>
              <a:off x="2942165" y="4159904"/>
              <a:ext cx="829733" cy="728133"/>
            </a:xfrm>
            <a:prstGeom prst="smileyFac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9" name="直線コネクタ 8">
              <a:extLst>
                <a:ext uri="{FF2B5EF4-FFF2-40B4-BE49-F238E27FC236}">
                  <a16:creationId xmlns:a16="http://schemas.microsoft.com/office/drawing/2014/main" id="{C4CEC07F-FDEC-4A77-9F08-D751D7807A5B}"/>
                </a:ext>
              </a:extLst>
            </p:cNvPr>
            <p:cNvCxnSpPr>
              <a:cxnSpLocks/>
            </p:cNvCxnSpPr>
            <p:nvPr/>
          </p:nvCxnSpPr>
          <p:spPr>
            <a:xfrm>
              <a:off x="2319866" y="4165599"/>
              <a:ext cx="2302934" cy="0"/>
            </a:xfrm>
            <a:prstGeom prst="line">
              <a:avLst/>
            </a:prstGeom>
            <a:ln w="38100">
              <a:solidFill>
                <a:srgbClr val="8C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F1D6B244-3E89-4998-83A2-70DE2AC173B9}"/>
                </a:ext>
              </a:extLst>
            </p:cNvPr>
            <p:cNvCxnSpPr>
              <a:cxnSpLocks/>
            </p:cNvCxnSpPr>
            <p:nvPr/>
          </p:nvCxnSpPr>
          <p:spPr>
            <a:xfrm>
              <a:off x="3280830" y="4159904"/>
              <a:ext cx="0" cy="1376000"/>
            </a:xfrm>
            <a:prstGeom prst="straightConnector1">
              <a:avLst/>
            </a:prstGeom>
            <a:ln w="3810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44C43FDE-FFA8-4C53-BF0C-EAC92A3994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8697" y="4182412"/>
              <a:ext cx="0" cy="72000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4BD179EE-6DA5-4D54-8332-170A11B5B353}"/>
                </a:ext>
              </a:extLst>
            </p:cNvPr>
            <p:cNvSpPr txBox="1"/>
            <p:nvPr/>
          </p:nvSpPr>
          <p:spPr>
            <a:xfrm>
              <a:off x="3843863" y="4365352"/>
              <a:ext cx="11006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1800" b="1" dirty="0">
                  <a:solidFill>
                    <a:srgbClr val="FF0000"/>
                  </a:solidFill>
                </a:rPr>
                <a:t>垂直抗力</a:t>
              </a:r>
              <a:endParaRPr lang="ja-JP" altLang="en-US" dirty="0"/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61233F9D-C2C5-4BDE-A7C3-FDBEB13F1789}"/>
                </a:ext>
              </a:extLst>
            </p:cNvPr>
            <p:cNvSpPr txBox="1"/>
            <p:nvPr/>
          </p:nvSpPr>
          <p:spPr>
            <a:xfrm>
              <a:off x="2247897" y="4433915"/>
              <a:ext cx="7450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b="1" dirty="0">
                  <a:solidFill>
                    <a:srgbClr val="7030A0"/>
                  </a:solidFill>
                </a:rPr>
                <a:t>重さ</a:t>
              </a:r>
            </a:p>
          </p:txBody>
        </p: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88A0B706-1794-4A96-8CC4-1298AA6C3C4B}"/>
              </a:ext>
            </a:extLst>
          </p:cNvPr>
          <p:cNvGrpSpPr/>
          <p:nvPr/>
        </p:nvGrpSpPr>
        <p:grpSpPr>
          <a:xfrm>
            <a:off x="3784602" y="2556721"/>
            <a:ext cx="2495855" cy="2253854"/>
            <a:chOff x="2247897" y="2648558"/>
            <a:chExt cx="2495855" cy="2253854"/>
          </a:xfrm>
        </p:grpSpPr>
        <p:sp>
          <p:nvSpPr>
            <p:cNvPr id="16" name="スマイル 15">
              <a:extLst>
                <a:ext uri="{FF2B5EF4-FFF2-40B4-BE49-F238E27FC236}">
                  <a16:creationId xmlns:a16="http://schemas.microsoft.com/office/drawing/2014/main" id="{8F48D551-CDFC-4F0B-8350-3CFC8EA539C1}"/>
                </a:ext>
              </a:extLst>
            </p:cNvPr>
            <p:cNvSpPr/>
            <p:nvPr/>
          </p:nvSpPr>
          <p:spPr>
            <a:xfrm>
              <a:off x="2992964" y="2648558"/>
              <a:ext cx="829733" cy="728133"/>
            </a:xfrm>
            <a:prstGeom prst="smileyFac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23920839-F379-44C5-9D7B-6A8766988FB0}"/>
                </a:ext>
              </a:extLst>
            </p:cNvPr>
            <p:cNvCxnSpPr>
              <a:cxnSpLocks/>
            </p:cNvCxnSpPr>
            <p:nvPr/>
          </p:nvCxnSpPr>
          <p:spPr>
            <a:xfrm>
              <a:off x="2319866" y="4165599"/>
              <a:ext cx="2302934" cy="0"/>
            </a:xfrm>
            <a:prstGeom prst="line">
              <a:avLst/>
            </a:prstGeom>
            <a:ln w="38100">
              <a:solidFill>
                <a:srgbClr val="8C46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FFEB4151-A941-4742-8D2F-F0C479AB19B5}"/>
                </a:ext>
              </a:extLst>
            </p:cNvPr>
            <p:cNvCxnSpPr>
              <a:cxnSpLocks/>
            </p:cNvCxnSpPr>
            <p:nvPr/>
          </p:nvCxnSpPr>
          <p:spPr>
            <a:xfrm>
              <a:off x="3280830" y="4159904"/>
              <a:ext cx="0" cy="720000"/>
            </a:xfrm>
            <a:prstGeom prst="straightConnector1">
              <a:avLst/>
            </a:prstGeom>
            <a:ln w="38100">
              <a:solidFill>
                <a:srgbClr val="7030A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F8A8242F-85CA-4D62-946D-22B1E5E908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68697" y="3362862"/>
              <a:ext cx="0" cy="15395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5BE540B9-CFFE-4DD5-9A54-E145D980727C}"/>
                </a:ext>
              </a:extLst>
            </p:cNvPr>
            <p:cNvSpPr txBox="1"/>
            <p:nvPr/>
          </p:nvSpPr>
          <p:spPr>
            <a:xfrm>
              <a:off x="3643085" y="4468474"/>
              <a:ext cx="11006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sz="1800" b="1" dirty="0">
                  <a:solidFill>
                    <a:srgbClr val="FF0000"/>
                  </a:solidFill>
                </a:rPr>
                <a:t>垂直抗力</a:t>
              </a:r>
              <a:endParaRPr lang="ja-JP" altLang="en-US" dirty="0"/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AFD3427B-4E6B-4295-B103-27BEF1C44752}"/>
                </a:ext>
              </a:extLst>
            </p:cNvPr>
            <p:cNvSpPr txBox="1"/>
            <p:nvPr/>
          </p:nvSpPr>
          <p:spPr>
            <a:xfrm>
              <a:off x="2247897" y="4433915"/>
              <a:ext cx="74506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ja-JP" altLang="en-US" b="1" dirty="0">
                  <a:solidFill>
                    <a:srgbClr val="7030A0"/>
                  </a:solidFill>
                </a:rPr>
                <a:t>重さ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55063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D69EB10F-532C-42F5-B72D-A36052E55BAE}"/>
              </a:ext>
            </a:extLst>
          </p:cNvPr>
          <p:cNvSpPr/>
          <p:nvPr/>
        </p:nvSpPr>
        <p:spPr>
          <a:xfrm>
            <a:off x="364067" y="1752600"/>
            <a:ext cx="6993466" cy="308186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垂直抗力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6647974" cy="3416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これらのことから以下のように定義できます。</a:t>
                </a:r>
                <a:endParaRPr lang="en-US" altLang="ja-JP" sz="2400" dirty="0"/>
              </a:p>
              <a:p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■水平な面での垂直抗力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(−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</a:p>
              <a:p>
                <a:r>
                  <a:rPr lang="en-US" altLang="ja-JP" sz="2400" dirty="0">
                    <a:solidFill>
                      <a:schemeClr val="tx1"/>
                    </a:solidFill>
                  </a:rPr>
                  <a:t>※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一般的な重力加速度を</a:t>
                </a:r>
                <a14:m>
                  <m:oMath xmlns:m="http://schemas.openxmlformats.org/officeDocument/2006/math"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−9.8</m:t>
                    </m:r>
                    <m:r>
                      <a:rPr lang="en-US" altLang="ja-JP" sz="24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en-US" altLang="ja-JP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altLang="ja-JP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4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としたとき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・・・垂直抗力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ja-JP" altLang="en-US" sz="2400" dirty="0">
                    <a:solidFill>
                      <a:schemeClr val="tx1"/>
                    </a:solidFill>
                  </a:rPr>
                  <a:t>・・・質量</a:t>
                </a:r>
                <a:endParaRPr lang="en-US" altLang="ja-JP" sz="2400" dirty="0">
                  <a:solidFill>
                    <a:schemeClr val="tx1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ja-JP" altLang="en-US" sz="2400" dirty="0"/>
                  <a:t>・・・重力加速度（</a:t>
                </a:r>
                <a:r>
                  <a:rPr lang="en-US" altLang="ja-JP" sz="2400" dirty="0"/>
                  <a:t> 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−9.8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𝑚</m:t>
                    </m:r>
                    <m:sSup>
                      <m:sSupPr>
                        <m:ctrlPr>
                          <a:rPr lang="en-US" altLang="ja-JP" sz="24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4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ja-JP" altLang="en-US" sz="2400" dirty="0"/>
                  <a:t>）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6647974" cy="3416320"/>
              </a:xfrm>
              <a:prstGeom prst="rect">
                <a:avLst/>
              </a:prstGeom>
              <a:blipFill>
                <a:blip r:embed="rId2"/>
                <a:stretch>
                  <a:fillRect l="-1375" t="-1429" r="-458" b="-3393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7029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垂直抗力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10939213" cy="2677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体重</a:t>
                </a:r>
                <a:r>
                  <a:rPr lang="en-US" altLang="ja-JP" sz="2400" dirty="0"/>
                  <a:t>52kg</a:t>
                </a:r>
                <a:r>
                  <a:rPr lang="ja-JP" altLang="en-US" sz="2400" dirty="0"/>
                  <a:t>の人が水平な地面に立っているときの垂直抗力は何</a:t>
                </a:r>
                <a:r>
                  <a:rPr lang="en-US" altLang="ja-JP" sz="2400" dirty="0"/>
                  <a:t>N</a:t>
                </a:r>
                <a:r>
                  <a:rPr lang="ja-JP" altLang="en-US" sz="2400" dirty="0"/>
                  <a:t>か求めなさい。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(−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400" dirty="0">
                    <a:solidFill>
                      <a:schemeClr val="tx1"/>
                    </a:solidFill>
                  </a:rPr>
                  <a:t> </a:t>
                </a:r>
                <a:r>
                  <a:rPr lang="ja-JP" altLang="en-US" sz="2400" dirty="0">
                    <a:solidFill>
                      <a:schemeClr val="tx1"/>
                    </a:solidFill>
                  </a:rPr>
                  <a:t>より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=52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(−(−9.8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=52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𝑘𝑔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(9.8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=509.6</m:t>
                    </m:r>
                    <m:r>
                      <a:rPr lang="en-US" altLang="ja-JP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𝑘𝑔𝑚</m:t>
                    </m:r>
                    <m:sSup>
                      <m:sSupPr>
                        <m:ctrlP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altLang="ja-JP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altLang="ja-JP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509.6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10939213" cy="2677656"/>
              </a:xfrm>
              <a:prstGeom prst="rect">
                <a:avLst/>
              </a:prstGeom>
              <a:blipFill>
                <a:blip r:embed="rId2"/>
                <a:stretch>
                  <a:fillRect l="-836" t="-1822" b="-227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35318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垂直抗力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では斜面に立っている時を考えてみましょう。</a:t>
            </a:r>
            <a:endParaRPr lang="en-US" altLang="ja-JP" sz="2400" dirty="0"/>
          </a:p>
        </p:txBody>
      </p:sp>
      <p:sp>
        <p:nvSpPr>
          <p:cNvPr id="5" name="スマイル 4">
            <a:extLst>
              <a:ext uri="{FF2B5EF4-FFF2-40B4-BE49-F238E27FC236}">
                <a16:creationId xmlns:a16="http://schemas.microsoft.com/office/drawing/2014/main" id="{08B7085D-D222-47D8-A5B3-F3F0061E24F9}"/>
              </a:ext>
            </a:extLst>
          </p:cNvPr>
          <p:cNvSpPr/>
          <p:nvPr/>
        </p:nvSpPr>
        <p:spPr>
          <a:xfrm rot="19402010">
            <a:off x="5106587" y="3244286"/>
            <a:ext cx="829733" cy="809898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9284649F-640B-4735-8F0D-411F757F8C61}"/>
              </a:ext>
            </a:extLst>
          </p:cNvPr>
          <p:cNvCxnSpPr>
            <a:cxnSpLocks/>
          </p:cNvCxnSpPr>
          <p:nvPr/>
        </p:nvCxnSpPr>
        <p:spPr>
          <a:xfrm rot="21420131" flipV="1">
            <a:off x="4600665" y="3242732"/>
            <a:ext cx="2302934" cy="1498599"/>
          </a:xfrm>
          <a:prstGeom prst="line">
            <a:avLst/>
          </a:prstGeom>
          <a:ln w="38100">
            <a:solidFill>
              <a:srgbClr val="8C46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36246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垂直抗力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重力は常に下向きです。つまり</a:t>
            </a:r>
            <a:r>
              <a:rPr lang="ja-JP" altLang="en-US" sz="2400" b="1" dirty="0">
                <a:solidFill>
                  <a:srgbClr val="FF0000"/>
                </a:solidFill>
              </a:rPr>
              <a:t>重さは下向き</a:t>
            </a:r>
            <a:r>
              <a:rPr lang="ja-JP" altLang="en-US" sz="2400" dirty="0"/>
              <a:t>にかかります。</a:t>
            </a:r>
            <a:endParaRPr lang="en-US" altLang="ja-JP" sz="2400" dirty="0"/>
          </a:p>
        </p:txBody>
      </p:sp>
      <p:sp>
        <p:nvSpPr>
          <p:cNvPr id="5" name="スマイル 4">
            <a:extLst>
              <a:ext uri="{FF2B5EF4-FFF2-40B4-BE49-F238E27FC236}">
                <a16:creationId xmlns:a16="http://schemas.microsoft.com/office/drawing/2014/main" id="{08B7085D-D222-47D8-A5B3-F3F0061E24F9}"/>
              </a:ext>
            </a:extLst>
          </p:cNvPr>
          <p:cNvSpPr/>
          <p:nvPr/>
        </p:nvSpPr>
        <p:spPr>
          <a:xfrm rot="19402010">
            <a:off x="5106587" y="3244286"/>
            <a:ext cx="829733" cy="809898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9284649F-640B-4735-8F0D-411F757F8C61}"/>
              </a:ext>
            </a:extLst>
          </p:cNvPr>
          <p:cNvCxnSpPr>
            <a:cxnSpLocks/>
          </p:cNvCxnSpPr>
          <p:nvPr/>
        </p:nvCxnSpPr>
        <p:spPr>
          <a:xfrm rot="21420131" flipV="1">
            <a:off x="4600665" y="3242732"/>
            <a:ext cx="2302934" cy="1498599"/>
          </a:xfrm>
          <a:prstGeom prst="line">
            <a:avLst/>
          </a:prstGeom>
          <a:ln w="38100">
            <a:solidFill>
              <a:srgbClr val="8C46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4AC603CF-857F-4191-9A84-54A71CDE794F}"/>
              </a:ext>
            </a:extLst>
          </p:cNvPr>
          <p:cNvCxnSpPr>
            <a:cxnSpLocks/>
          </p:cNvCxnSpPr>
          <p:nvPr/>
        </p:nvCxnSpPr>
        <p:spPr>
          <a:xfrm>
            <a:off x="5786964" y="3958304"/>
            <a:ext cx="0" cy="1248696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C63539D-08AE-4428-B9EA-232077C800D9}"/>
              </a:ext>
            </a:extLst>
          </p:cNvPr>
          <p:cNvSpPr txBox="1"/>
          <p:nvPr/>
        </p:nvSpPr>
        <p:spPr>
          <a:xfrm>
            <a:off x="5148919" y="4537928"/>
            <a:ext cx="745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>
                <a:solidFill>
                  <a:srgbClr val="7030A0"/>
                </a:solidFill>
              </a:rPr>
              <a:t>重さ</a:t>
            </a:r>
          </a:p>
        </p:txBody>
      </p:sp>
    </p:spTree>
    <p:extLst>
      <p:ext uri="{BB962C8B-B14F-4D97-AF65-F5344CB8AC3E}">
        <p14:creationId xmlns:p14="http://schemas.microsoft.com/office/powerpoint/2010/main" val="33298195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垂直抗力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ただし、</a:t>
            </a:r>
            <a:r>
              <a:rPr lang="ja-JP" altLang="en-US" sz="2400" b="1" dirty="0">
                <a:solidFill>
                  <a:srgbClr val="FF0000"/>
                </a:solidFill>
              </a:rPr>
              <a:t>垂直抗力は面に対して垂直</a:t>
            </a:r>
            <a:r>
              <a:rPr lang="ja-JP" altLang="en-US" sz="2400" dirty="0"/>
              <a:t>にかかります。</a:t>
            </a:r>
            <a:endParaRPr lang="en-US" altLang="ja-JP" sz="2400" dirty="0"/>
          </a:p>
          <a:p>
            <a:r>
              <a:rPr lang="ja-JP" altLang="en-US" sz="2400" dirty="0"/>
              <a:t>では垂直抗力について考えていきます。</a:t>
            </a:r>
            <a:endParaRPr lang="en-US" altLang="ja-JP" sz="2400" dirty="0"/>
          </a:p>
        </p:txBody>
      </p:sp>
      <p:sp>
        <p:nvSpPr>
          <p:cNvPr id="5" name="スマイル 4">
            <a:extLst>
              <a:ext uri="{FF2B5EF4-FFF2-40B4-BE49-F238E27FC236}">
                <a16:creationId xmlns:a16="http://schemas.microsoft.com/office/drawing/2014/main" id="{08B7085D-D222-47D8-A5B3-F3F0061E24F9}"/>
              </a:ext>
            </a:extLst>
          </p:cNvPr>
          <p:cNvSpPr/>
          <p:nvPr/>
        </p:nvSpPr>
        <p:spPr>
          <a:xfrm rot="19402010">
            <a:off x="5106587" y="3244286"/>
            <a:ext cx="829733" cy="809898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9284649F-640B-4735-8F0D-411F757F8C61}"/>
              </a:ext>
            </a:extLst>
          </p:cNvPr>
          <p:cNvCxnSpPr>
            <a:cxnSpLocks/>
          </p:cNvCxnSpPr>
          <p:nvPr/>
        </p:nvCxnSpPr>
        <p:spPr>
          <a:xfrm rot="21420131" flipV="1">
            <a:off x="4600665" y="3242732"/>
            <a:ext cx="2302934" cy="1498599"/>
          </a:xfrm>
          <a:prstGeom prst="line">
            <a:avLst/>
          </a:prstGeom>
          <a:ln w="38100">
            <a:solidFill>
              <a:srgbClr val="8C46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C63539D-08AE-4428-B9EA-232077C800D9}"/>
              </a:ext>
            </a:extLst>
          </p:cNvPr>
          <p:cNvSpPr txBox="1"/>
          <p:nvPr/>
        </p:nvSpPr>
        <p:spPr>
          <a:xfrm>
            <a:off x="5148919" y="4537928"/>
            <a:ext cx="745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>
                <a:solidFill>
                  <a:srgbClr val="7030A0"/>
                </a:solidFill>
              </a:rPr>
              <a:t>重さ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0AEA6584-10AE-430C-A5F6-0A7AD440582C}"/>
              </a:ext>
            </a:extLst>
          </p:cNvPr>
          <p:cNvCxnSpPr>
            <a:cxnSpLocks/>
          </p:cNvCxnSpPr>
          <p:nvPr/>
        </p:nvCxnSpPr>
        <p:spPr>
          <a:xfrm flipH="1" flipV="1">
            <a:off x="4851400" y="2969993"/>
            <a:ext cx="935565" cy="99917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D88548B-A966-45DB-AFB1-EC1662B48C45}"/>
              </a:ext>
            </a:extLst>
          </p:cNvPr>
          <p:cNvSpPr txBox="1"/>
          <p:nvPr/>
        </p:nvSpPr>
        <p:spPr>
          <a:xfrm>
            <a:off x="4957450" y="2666952"/>
            <a:ext cx="12133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b="1" dirty="0">
                <a:solidFill>
                  <a:srgbClr val="FF0000"/>
                </a:solidFill>
              </a:rPr>
              <a:t>垂直抗力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2B4C44F-2939-4A61-AA07-6C258CBB353A}"/>
              </a:ext>
            </a:extLst>
          </p:cNvPr>
          <p:cNvSpPr txBox="1"/>
          <p:nvPr/>
        </p:nvSpPr>
        <p:spPr>
          <a:xfrm>
            <a:off x="399497" y="3604361"/>
            <a:ext cx="403187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 b="1" dirty="0">
                <a:solidFill>
                  <a:srgbClr val="FF0000"/>
                </a:solidFill>
              </a:rPr>
              <a:t>重要！！</a:t>
            </a:r>
            <a:endParaRPr lang="en-US" altLang="ja-JP" sz="2000" b="1" dirty="0">
              <a:solidFill>
                <a:srgbClr val="FF0000"/>
              </a:solidFill>
            </a:endParaRPr>
          </a:p>
          <a:p>
            <a:r>
              <a:rPr lang="ja-JP" altLang="en-US" sz="2000" b="1" dirty="0">
                <a:solidFill>
                  <a:srgbClr val="FF0000"/>
                </a:solidFill>
              </a:rPr>
              <a:t>重さの大きさ＝垂直抗力の大きさ</a:t>
            </a:r>
            <a:endParaRPr lang="en-US" altLang="ja-JP" sz="2000" b="1" dirty="0">
              <a:solidFill>
                <a:srgbClr val="FF0000"/>
              </a:solidFill>
            </a:endParaRP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CF8A8B4-1AF1-4A06-AF53-B33619A0E19F}"/>
              </a:ext>
            </a:extLst>
          </p:cNvPr>
          <p:cNvCxnSpPr>
            <a:cxnSpLocks/>
          </p:cNvCxnSpPr>
          <p:nvPr/>
        </p:nvCxnSpPr>
        <p:spPr>
          <a:xfrm>
            <a:off x="5786964" y="3969166"/>
            <a:ext cx="0" cy="15335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2128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垂直抗力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垂直抗力を反転して重さのベクトルと結ぶと、</a:t>
            </a:r>
            <a:endParaRPr lang="en-US" altLang="ja-JP" sz="2400" dirty="0"/>
          </a:p>
          <a:p>
            <a:r>
              <a:rPr lang="ja-JP" altLang="en-US" sz="2400" dirty="0"/>
              <a:t>直角三角形ができます。</a:t>
            </a:r>
            <a:endParaRPr lang="en-US" altLang="ja-JP" sz="2400" dirty="0"/>
          </a:p>
        </p:txBody>
      </p:sp>
      <p:sp>
        <p:nvSpPr>
          <p:cNvPr id="5" name="スマイル 4">
            <a:extLst>
              <a:ext uri="{FF2B5EF4-FFF2-40B4-BE49-F238E27FC236}">
                <a16:creationId xmlns:a16="http://schemas.microsoft.com/office/drawing/2014/main" id="{08B7085D-D222-47D8-A5B3-F3F0061E24F9}"/>
              </a:ext>
            </a:extLst>
          </p:cNvPr>
          <p:cNvSpPr/>
          <p:nvPr/>
        </p:nvSpPr>
        <p:spPr>
          <a:xfrm rot="19402010">
            <a:off x="5106587" y="3244286"/>
            <a:ext cx="829733" cy="809898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9284649F-640B-4735-8F0D-411F757F8C61}"/>
              </a:ext>
            </a:extLst>
          </p:cNvPr>
          <p:cNvCxnSpPr>
            <a:cxnSpLocks/>
          </p:cNvCxnSpPr>
          <p:nvPr/>
        </p:nvCxnSpPr>
        <p:spPr>
          <a:xfrm rot="21420131" flipV="1">
            <a:off x="4600665" y="3242732"/>
            <a:ext cx="2302934" cy="1498599"/>
          </a:xfrm>
          <a:prstGeom prst="line">
            <a:avLst/>
          </a:prstGeom>
          <a:ln w="38100">
            <a:solidFill>
              <a:srgbClr val="8C46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0AEA6584-10AE-430C-A5F6-0A7AD440582C}"/>
              </a:ext>
            </a:extLst>
          </p:cNvPr>
          <p:cNvCxnSpPr>
            <a:cxnSpLocks/>
          </p:cNvCxnSpPr>
          <p:nvPr/>
        </p:nvCxnSpPr>
        <p:spPr>
          <a:xfrm flipH="1" flipV="1">
            <a:off x="4851400" y="2969993"/>
            <a:ext cx="935565" cy="99917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DF61AE8E-E5FD-48A1-809F-1BB85F3179D6}"/>
              </a:ext>
            </a:extLst>
          </p:cNvPr>
          <p:cNvCxnSpPr>
            <a:cxnSpLocks/>
          </p:cNvCxnSpPr>
          <p:nvPr/>
        </p:nvCxnSpPr>
        <p:spPr>
          <a:xfrm>
            <a:off x="5786964" y="3969166"/>
            <a:ext cx="0" cy="15335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805F6BFD-F727-4E07-B48C-D2AECB3BE58E}"/>
              </a:ext>
            </a:extLst>
          </p:cNvPr>
          <p:cNvCxnSpPr>
            <a:cxnSpLocks/>
          </p:cNvCxnSpPr>
          <p:nvPr/>
        </p:nvCxnSpPr>
        <p:spPr>
          <a:xfrm>
            <a:off x="5786964" y="3943555"/>
            <a:ext cx="936000" cy="1000800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A2FFE172-93D1-4C57-BDDD-E1A949CCB8A8}"/>
              </a:ext>
            </a:extLst>
          </p:cNvPr>
          <p:cNvCxnSpPr>
            <a:cxnSpLocks/>
          </p:cNvCxnSpPr>
          <p:nvPr/>
        </p:nvCxnSpPr>
        <p:spPr>
          <a:xfrm flipH="1">
            <a:off x="5863449" y="4952103"/>
            <a:ext cx="763575" cy="550582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1DA6BFBA-63D0-422A-AB30-3D0AA235A5B0}"/>
              </a:ext>
            </a:extLst>
          </p:cNvPr>
          <p:cNvCxnSpPr>
            <a:cxnSpLocks/>
          </p:cNvCxnSpPr>
          <p:nvPr/>
        </p:nvCxnSpPr>
        <p:spPr>
          <a:xfrm flipH="1">
            <a:off x="6424613" y="4778409"/>
            <a:ext cx="128484" cy="110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コネクタ 31">
            <a:extLst>
              <a:ext uri="{FF2B5EF4-FFF2-40B4-BE49-F238E27FC236}">
                <a16:creationId xmlns:a16="http://schemas.microsoft.com/office/drawing/2014/main" id="{0363F16A-BFE1-4943-95CA-5C7E88CB2C85}"/>
              </a:ext>
            </a:extLst>
          </p:cNvPr>
          <p:cNvCxnSpPr>
            <a:cxnSpLocks/>
          </p:cNvCxnSpPr>
          <p:nvPr/>
        </p:nvCxnSpPr>
        <p:spPr>
          <a:xfrm flipH="1" flipV="1">
            <a:off x="6424613" y="4888450"/>
            <a:ext cx="114903" cy="1233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44204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垂直抗力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直角三角形の鋭角と坂の角度は一致します。</a:t>
            </a:r>
            <a:endParaRPr lang="en-US" altLang="ja-JP" sz="2400" dirty="0"/>
          </a:p>
          <a:p>
            <a:r>
              <a:rPr lang="ja-JP" altLang="en-US" sz="2400" dirty="0"/>
              <a:t>いずれも坂の角度から水平（鉛直）までの角度になるからです。</a:t>
            </a:r>
            <a:endParaRPr lang="en-US" altLang="ja-JP" sz="2400" dirty="0"/>
          </a:p>
        </p:txBody>
      </p:sp>
      <p:sp>
        <p:nvSpPr>
          <p:cNvPr id="5" name="スマイル 4">
            <a:extLst>
              <a:ext uri="{FF2B5EF4-FFF2-40B4-BE49-F238E27FC236}">
                <a16:creationId xmlns:a16="http://schemas.microsoft.com/office/drawing/2014/main" id="{08B7085D-D222-47D8-A5B3-F3F0061E24F9}"/>
              </a:ext>
            </a:extLst>
          </p:cNvPr>
          <p:cNvSpPr/>
          <p:nvPr/>
        </p:nvSpPr>
        <p:spPr>
          <a:xfrm rot="19402010">
            <a:off x="5106587" y="3244286"/>
            <a:ext cx="829733" cy="809898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9284649F-640B-4735-8F0D-411F757F8C61}"/>
              </a:ext>
            </a:extLst>
          </p:cNvPr>
          <p:cNvCxnSpPr>
            <a:cxnSpLocks/>
          </p:cNvCxnSpPr>
          <p:nvPr/>
        </p:nvCxnSpPr>
        <p:spPr>
          <a:xfrm rot="21420131" flipV="1">
            <a:off x="4600665" y="3242732"/>
            <a:ext cx="2302934" cy="1498599"/>
          </a:xfrm>
          <a:prstGeom prst="line">
            <a:avLst/>
          </a:prstGeom>
          <a:ln w="38100">
            <a:solidFill>
              <a:srgbClr val="8C46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0AEA6584-10AE-430C-A5F6-0A7AD440582C}"/>
              </a:ext>
            </a:extLst>
          </p:cNvPr>
          <p:cNvCxnSpPr>
            <a:cxnSpLocks/>
          </p:cNvCxnSpPr>
          <p:nvPr/>
        </p:nvCxnSpPr>
        <p:spPr>
          <a:xfrm flipH="1" flipV="1">
            <a:off x="4851400" y="2969993"/>
            <a:ext cx="935565" cy="99917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C2AF96B-1A55-429D-86E3-EAC89D74D180}"/>
              </a:ext>
            </a:extLst>
          </p:cNvPr>
          <p:cNvSpPr txBox="1"/>
          <p:nvPr/>
        </p:nvSpPr>
        <p:spPr>
          <a:xfrm>
            <a:off x="5710480" y="4147839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/>
              <a:t>θ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59DCD65-3C8E-41E2-A994-5BE398F8DAD1}"/>
              </a:ext>
            </a:extLst>
          </p:cNvPr>
          <p:cNvSpPr txBox="1"/>
          <p:nvPr/>
        </p:nvSpPr>
        <p:spPr>
          <a:xfrm>
            <a:off x="4816278" y="4499168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/>
              <a:t>θ</a:t>
            </a:r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3D5D903B-10C6-4C27-9982-1AAE95D0BBE0}"/>
              </a:ext>
            </a:extLst>
          </p:cNvPr>
          <p:cNvCxnSpPr>
            <a:cxnSpLocks/>
          </p:cNvCxnSpPr>
          <p:nvPr/>
        </p:nvCxnSpPr>
        <p:spPr>
          <a:xfrm>
            <a:off x="3331440" y="4800525"/>
            <a:ext cx="1992038" cy="0"/>
          </a:xfrm>
          <a:prstGeom prst="line">
            <a:avLst/>
          </a:prstGeom>
          <a:ln w="38100">
            <a:solidFill>
              <a:srgbClr val="8C46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C9A97057-B162-4AFD-A681-E7B5A7DEE2B9}"/>
              </a:ext>
            </a:extLst>
          </p:cNvPr>
          <p:cNvCxnSpPr>
            <a:cxnSpLocks/>
          </p:cNvCxnSpPr>
          <p:nvPr/>
        </p:nvCxnSpPr>
        <p:spPr>
          <a:xfrm>
            <a:off x="5786964" y="3969166"/>
            <a:ext cx="0" cy="15335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5A56407D-C92F-4D06-8CC0-7F404956D191}"/>
              </a:ext>
            </a:extLst>
          </p:cNvPr>
          <p:cNvCxnSpPr>
            <a:cxnSpLocks/>
          </p:cNvCxnSpPr>
          <p:nvPr/>
        </p:nvCxnSpPr>
        <p:spPr>
          <a:xfrm>
            <a:off x="5786964" y="3943555"/>
            <a:ext cx="936000" cy="1000800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A7248A21-539B-40D1-83BA-A8245D51CADA}"/>
              </a:ext>
            </a:extLst>
          </p:cNvPr>
          <p:cNvCxnSpPr>
            <a:cxnSpLocks/>
          </p:cNvCxnSpPr>
          <p:nvPr/>
        </p:nvCxnSpPr>
        <p:spPr>
          <a:xfrm flipH="1">
            <a:off x="5863449" y="4952103"/>
            <a:ext cx="763575" cy="550582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521447C5-06C2-46A9-A09C-3D19F0130580}"/>
              </a:ext>
            </a:extLst>
          </p:cNvPr>
          <p:cNvCxnSpPr>
            <a:cxnSpLocks/>
          </p:cNvCxnSpPr>
          <p:nvPr/>
        </p:nvCxnSpPr>
        <p:spPr>
          <a:xfrm flipH="1">
            <a:off x="6424613" y="4778409"/>
            <a:ext cx="128484" cy="110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DE84CD5B-33DF-4704-85E8-5C7CB92F6336}"/>
              </a:ext>
            </a:extLst>
          </p:cNvPr>
          <p:cNvCxnSpPr>
            <a:cxnSpLocks/>
          </p:cNvCxnSpPr>
          <p:nvPr/>
        </p:nvCxnSpPr>
        <p:spPr>
          <a:xfrm flipH="1" flipV="1">
            <a:off x="6424613" y="4888450"/>
            <a:ext cx="114903" cy="1233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530602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垂直抗力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0302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よって</a:t>
            </a:r>
            <a:r>
              <a:rPr lang="ja-JP" altLang="en-US" sz="2400" b="1" dirty="0">
                <a:solidFill>
                  <a:srgbClr val="FF0000"/>
                </a:solidFill>
              </a:rPr>
              <a:t>垂直抗力の大きさは「重さ</a:t>
            </a:r>
            <a:r>
              <a:rPr lang="en-US" altLang="ja-JP" sz="2400" b="1" dirty="0">
                <a:solidFill>
                  <a:srgbClr val="FF0000"/>
                </a:solidFill>
              </a:rPr>
              <a:t>×</a:t>
            </a:r>
            <a:r>
              <a:rPr lang="en-US" altLang="ja-JP" sz="2400" b="1" dirty="0" err="1">
                <a:solidFill>
                  <a:srgbClr val="FF0000"/>
                </a:solidFill>
              </a:rPr>
              <a:t>cosθ</a:t>
            </a:r>
            <a:r>
              <a:rPr lang="ja-JP" altLang="en-US" sz="2400" b="1" dirty="0">
                <a:solidFill>
                  <a:srgbClr val="FF0000"/>
                </a:solidFill>
              </a:rPr>
              <a:t>」</a:t>
            </a:r>
            <a:r>
              <a:rPr lang="ja-JP" altLang="en-US" sz="2400" dirty="0"/>
              <a:t>で計算できます。</a:t>
            </a:r>
            <a:endParaRPr lang="en-US" altLang="ja-JP" sz="2400" dirty="0"/>
          </a:p>
          <a:p>
            <a:r>
              <a:rPr lang="ja-JP" altLang="en-US" sz="2400" dirty="0"/>
              <a:t>また</a:t>
            </a:r>
            <a:r>
              <a:rPr lang="ja-JP" altLang="en-US" sz="2400" b="1" dirty="0">
                <a:solidFill>
                  <a:srgbClr val="FF0000"/>
                </a:solidFill>
              </a:rPr>
              <a:t>坂を滑る力は「重さ</a:t>
            </a:r>
            <a:r>
              <a:rPr lang="en-US" altLang="ja-JP" sz="2400" b="1" dirty="0">
                <a:solidFill>
                  <a:srgbClr val="FF0000"/>
                </a:solidFill>
              </a:rPr>
              <a:t>×</a:t>
            </a:r>
            <a:r>
              <a:rPr lang="en-US" altLang="ja-JP" sz="2400" b="1" dirty="0" err="1">
                <a:solidFill>
                  <a:srgbClr val="FF0000"/>
                </a:solidFill>
              </a:rPr>
              <a:t>sinθ</a:t>
            </a:r>
            <a:r>
              <a:rPr lang="ja-JP" altLang="en-US" sz="2400" b="1" dirty="0">
                <a:solidFill>
                  <a:srgbClr val="FF0000"/>
                </a:solidFill>
              </a:rPr>
              <a:t>」</a:t>
            </a:r>
            <a:r>
              <a:rPr lang="ja-JP" altLang="en-US" sz="2400" dirty="0"/>
              <a:t>で計算できます。</a:t>
            </a:r>
            <a:endParaRPr lang="en-US" altLang="ja-JP" sz="2400" dirty="0"/>
          </a:p>
        </p:txBody>
      </p:sp>
      <p:sp>
        <p:nvSpPr>
          <p:cNvPr id="5" name="スマイル 4">
            <a:extLst>
              <a:ext uri="{FF2B5EF4-FFF2-40B4-BE49-F238E27FC236}">
                <a16:creationId xmlns:a16="http://schemas.microsoft.com/office/drawing/2014/main" id="{08B7085D-D222-47D8-A5B3-F3F0061E24F9}"/>
              </a:ext>
            </a:extLst>
          </p:cNvPr>
          <p:cNvSpPr/>
          <p:nvPr/>
        </p:nvSpPr>
        <p:spPr>
          <a:xfrm rot="19402010">
            <a:off x="5106587" y="3244286"/>
            <a:ext cx="829733" cy="809898"/>
          </a:xfrm>
          <a:prstGeom prst="smileyFace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9284649F-640B-4735-8F0D-411F757F8C61}"/>
              </a:ext>
            </a:extLst>
          </p:cNvPr>
          <p:cNvCxnSpPr>
            <a:cxnSpLocks/>
          </p:cNvCxnSpPr>
          <p:nvPr/>
        </p:nvCxnSpPr>
        <p:spPr>
          <a:xfrm rot="21420131" flipV="1">
            <a:off x="4600665" y="3242732"/>
            <a:ext cx="2302934" cy="1498599"/>
          </a:xfrm>
          <a:prstGeom prst="line">
            <a:avLst/>
          </a:prstGeom>
          <a:ln w="38100">
            <a:solidFill>
              <a:srgbClr val="8C46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4AC603CF-857F-4191-9A84-54A71CDE794F}"/>
              </a:ext>
            </a:extLst>
          </p:cNvPr>
          <p:cNvCxnSpPr>
            <a:cxnSpLocks/>
          </p:cNvCxnSpPr>
          <p:nvPr/>
        </p:nvCxnSpPr>
        <p:spPr>
          <a:xfrm>
            <a:off x="5786964" y="3969166"/>
            <a:ext cx="0" cy="1533519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0AEA6584-10AE-430C-A5F6-0A7AD440582C}"/>
              </a:ext>
            </a:extLst>
          </p:cNvPr>
          <p:cNvCxnSpPr>
            <a:cxnSpLocks/>
          </p:cNvCxnSpPr>
          <p:nvPr/>
        </p:nvCxnSpPr>
        <p:spPr>
          <a:xfrm flipH="1" flipV="1">
            <a:off x="4851400" y="2969993"/>
            <a:ext cx="935565" cy="99917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B258670C-0CE2-4C3B-8C67-2D33DA4CFE0E}"/>
              </a:ext>
            </a:extLst>
          </p:cNvPr>
          <p:cNvCxnSpPr>
            <a:cxnSpLocks/>
          </p:cNvCxnSpPr>
          <p:nvPr/>
        </p:nvCxnSpPr>
        <p:spPr>
          <a:xfrm>
            <a:off x="5786964" y="3943555"/>
            <a:ext cx="936000" cy="1000800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4015981D-6885-438F-9AD9-C41E5AD503F2}"/>
              </a:ext>
            </a:extLst>
          </p:cNvPr>
          <p:cNvCxnSpPr>
            <a:cxnSpLocks/>
          </p:cNvCxnSpPr>
          <p:nvPr/>
        </p:nvCxnSpPr>
        <p:spPr>
          <a:xfrm flipH="1">
            <a:off x="5863449" y="4952103"/>
            <a:ext cx="763575" cy="550582"/>
          </a:xfrm>
          <a:prstGeom prst="straightConnector1">
            <a:avLst/>
          </a:prstGeom>
          <a:ln w="38100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19F4A044-1C35-47AC-9E00-559AFB8F5CF5}"/>
              </a:ext>
            </a:extLst>
          </p:cNvPr>
          <p:cNvCxnSpPr>
            <a:cxnSpLocks/>
          </p:cNvCxnSpPr>
          <p:nvPr/>
        </p:nvCxnSpPr>
        <p:spPr>
          <a:xfrm flipH="1">
            <a:off x="6424613" y="4778409"/>
            <a:ext cx="128484" cy="11004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02CA80B3-D230-463B-8AAE-BDAD0B314C8D}"/>
              </a:ext>
            </a:extLst>
          </p:cNvPr>
          <p:cNvCxnSpPr>
            <a:cxnSpLocks/>
          </p:cNvCxnSpPr>
          <p:nvPr/>
        </p:nvCxnSpPr>
        <p:spPr>
          <a:xfrm flipH="1" flipV="1">
            <a:off x="6424613" y="4888450"/>
            <a:ext cx="114903" cy="1233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EC2AF96B-1A55-429D-86E3-EAC89D74D180}"/>
              </a:ext>
            </a:extLst>
          </p:cNvPr>
          <p:cNvSpPr txBox="1"/>
          <p:nvPr/>
        </p:nvSpPr>
        <p:spPr>
          <a:xfrm>
            <a:off x="5710480" y="4147839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/>
              <a:t>θ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59DCD65-3C8E-41E2-A994-5BE398F8DAD1}"/>
              </a:ext>
            </a:extLst>
          </p:cNvPr>
          <p:cNvSpPr txBox="1"/>
          <p:nvPr/>
        </p:nvSpPr>
        <p:spPr>
          <a:xfrm>
            <a:off x="4816278" y="4499168"/>
            <a:ext cx="4411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/>
              <a:t>θ</a:t>
            </a:r>
          </a:p>
        </p:txBody>
      </p: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3D5D903B-10C6-4C27-9982-1AAE95D0BBE0}"/>
              </a:ext>
            </a:extLst>
          </p:cNvPr>
          <p:cNvCxnSpPr>
            <a:cxnSpLocks/>
          </p:cNvCxnSpPr>
          <p:nvPr/>
        </p:nvCxnSpPr>
        <p:spPr>
          <a:xfrm>
            <a:off x="3331440" y="4800525"/>
            <a:ext cx="1992038" cy="0"/>
          </a:xfrm>
          <a:prstGeom prst="line">
            <a:avLst/>
          </a:prstGeom>
          <a:ln w="38100">
            <a:solidFill>
              <a:srgbClr val="8C464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BE0372A0-D33A-4323-BA01-8717BE9AB2AE}"/>
                  </a:ext>
                </a:extLst>
              </p:cNvPr>
              <p:cNvSpPr txBox="1"/>
              <p:nvPr/>
            </p:nvSpPr>
            <p:spPr>
              <a:xfrm>
                <a:off x="6151626" y="4060506"/>
                <a:ext cx="14430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ja-JP" altLang="en-US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重さ</m:t>
                      </m:r>
                      <m:r>
                        <a:rPr lang="en-US" altLang="ja-JP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𝑐𝑜𝑠</m:t>
                      </m:r>
                      <m:r>
                        <m:rPr>
                          <m:sty m:val="p"/>
                        </m:rPr>
                        <a:rPr lang="en-US" altLang="ja-JP" i="1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ja-JP" dirty="0"/>
              </a:p>
            </p:txBody>
          </p:sp>
        </mc:Choice>
        <mc:Fallback>
          <p:sp>
            <p:nvSpPr>
              <p:cNvPr id="17" name="テキスト ボックス 16">
                <a:extLst>
                  <a:ext uri="{FF2B5EF4-FFF2-40B4-BE49-F238E27FC236}">
                    <a16:creationId xmlns:a16="http://schemas.microsoft.com/office/drawing/2014/main" id="{BE0372A0-D33A-4323-BA01-8717BE9AB2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1626" y="4060506"/>
                <a:ext cx="1443024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85C42427-6602-4B36-B776-574A9A5D454A}"/>
                  </a:ext>
                </a:extLst>
              </p:cNvPr>
              <p:cNvSpPr txBox="1"/>
              <p:nvPr/>
            </p:nvSpPr>
            <p:spPr>
              <a:xfrm>
                <a:off x="6174069" y="5292926"/>
                <a:ext cx="142058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ja-JP" altLang="en-US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重さ</m:t>
                      </m:r>
                      <m:r>
                        <a:rPr lang="en-US" altLang="ja-JP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ja-JP" b="0" i="1" smtClean="0">
                          <a:latin typeface="Cambria Math" panose="02040503050406030204" pitchFamily="18" charset="0"/>
                        </a:rPr>
                        <m:t>𝑠𝑖𝑛</m:t>
                      </m:r>
                      <m:r>
                        <m:rPr>
                          <m:sty m:val="p"/>
                        </m:rPr>
                        <a:rPr lang="en-US" altLang="ja-JP" i="1">
                          <a:latin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lang="en-US" altLang="ja-JP" sz="2400" dirty="0"/>
              </a:p>
            </p:txBody>
          </p:sp>
        </mc:Choice>
        <mc:Fallback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85C42427-6602-4B36-B776-574A9A5D4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4069" y="5292926"/>
                <a:ext cx="1420581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9585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81FF0F7B-1E16-4EE4-8AE0-C96012860278}"/>
              </a:ext>
            </a:extLst>
          </p:cNvPr>
          <p:cNvSpPr/>
          <p:nvPr/>
        </p:nvSpPr>
        <p:spPr>
          <a:xfrm>
            <a:off x="5867399" y="1862667"/>
            <a:ext cx="3742267" cy="277008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660B9BD3-B31D-41E3-909F-26A31B79F3DD}"/>
              </a:ext>
            </a:extLst>
          </p:cNvPr>
          <p:cNvSpPr/>
          <p:nvPr/>
        </p:nvSpPr>
        <p:spPr>
          <a:xfrm>
            <a:off x="364067" y="1862667"/>
            <a:ext cx="5190066" cy="2909782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垂直抗力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694240" cy="34163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以下のように定義します。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■斜面での垂直抗力</a:t>
                </a:r>
                <a:r>
                  <a:rPr lang="en-US" altLang="ja-JP" sz="2400" b="1" dirty="0">
                    <a:solidFill>
                      <a:srgbClr val="FF0000"/>
                    </a:solidFill>
                  </a:rPr>
                  <a:t>			</a:t>
                </a:r>
                <a:r>
                  <a:rPr lang="ja-JP" altLang="en-US" sz="2400" b="1" dirty="0">
                    <a:solidFill>
                      <a:srgbClr val="FF0000"/>
                    </a:solidFill>
                  </a:rPr>
                  <a:t>■斜面を滑る力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𝑊𝑐𝑜𝑠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en-US" altLang="ja-JP" sz="2400" dirty="0"/>
                  <a:t> 				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𝑊𝑠𝑖𝑛</m:t>
                    </m:r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endParaRPr lang="en-US" altLang="ja-JP" sz="2400" dirty="0"/>
              </a:p>
              <a:p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ja-JP" altLang="en-US" sz="2400" dirty="0"/>
                  <a:t>・・・垂直抗力</a:t>
                </a:r>
                <a:r>
                  <a:rPr lang="en-US" altLang="ja-JP" sz="2400" dirty="0"/>
                  <a:t>				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ja-JP" altLang="en-US" sz="2400" dirty="0"/>
                  <a:t>・・・斜面を滑る力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ja-JP" altLang="en-US" sz="2400" dirty="0"/>
                  <a:t>・・・重さ</a:t>
                </a:r>
                <a:r>
                  <a:rPr lang="en-US" altLang="ja-JP" sz="2400" dirty="0"/>
                  <a:t>					</a:t>
                </a:r>
                <a14:m>
                  <m:oMath xmlns:m="http://schemas.openxmlformats.org/officeDocument/2006/math">
                    <m:r>
                      <a:rPr lang="en-US" altLang="ja-JP" sz="24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ja-JP" altLang="en-US" sz="2400" dirty="0"/>
                  <a:t>・・・重さ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ja-JP" altLang="en-US" sz="2400" dirty="0"/>
                  <a:t>・・・斜面の角度</a:t>
                </a:r>
                <a:r>
                  <a:rPr lang="en-US" altLang="ja-JP" sz="2400" dirty="0"/>
                  <a:t>		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>
                        <a:latin typeface="Cambria Math" panose="02040503050406030204" pitchFamily="18" charset="0"/>
                      </a:rPr>
                      <m:t>θ</m:t>
                    </m:r>
                  </m:oMath>
                </a14:m>
                <a:r>
                  <a:rPr lang="ja-JP" altLang="en-US" sz="2400" dirty="0"/>
                  <a:t>・・・斜面の角度</a:t>
                </a:r>
                <a:endParaRPr lang="en-US" altLang="ja-JP" sz="2400" dirty="0"/>
              </a:p>
              <a:p>
                <a:r>
                  <a:rPr lang="en-US" altLang="ja-JP" sz="2400" dirty="0"/>
                  <a:t>※</a:t>
                </a:r>
                <a:r>
                  <a:rPr lang="ja-JP" altLang="en-US" sz="2400" dirty="0"/>
                  <a:t>垂直抗力は重さとは逆向きの力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694240" cy="3416320"/>
              </a:xfrm>
              <a:prstGeom prst="rect">
                <a:avLst/>
              </a:prstGeom>
              <a:blipFill>
                <a:blip r:embed="rId2"/>
                <a:stretch>
                  <a:fillRect l="-1052" t="-1429" r="-140" b="-321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2738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垂直抗力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422947" cy="52629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体重</a:t>
                </a:r>
                <a:r>
                  <a:rPr lang="en-US" altLang="ja-JP" sz="2400" dirty="0"/>
                  <a:t>45kg</a:t>
                </a:r>
                <a:r>
                  <a:rPr lang="ja-JP" altLang="en-US" sz="2400" dirty="0"/>
                  <a:t>の人が</a:t>
                </a:r>
                <a14:m>
                  <m:oMath xmlns:m="http://schemas.openxmlformats.org/officeDocument/2006/math"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30°</m:t>
                    </m:r>
                  </m:oMath>
                </a14:m>
                <a:r>
                  <a:rPr lang="ja-JP" altLang="en-US" sz="2400" dirty="0"/>
                  <a:t>の斜面に立っているときの、</a:t>
                </a:r>
                <a:endParaRPr lang="en-US" altLang="ja-JP" sz="2400" dirty="0"/>
              </a:p>
              <a:p>
                <a:r>
                  <a:rPr lang="ja-JP" altLang="en-US" sz="2400" dirty="0"/>
                  <a:t>斜面からの垂直抗力と滑る力を計算しなさい。</a:t>
                </a:r>
                <a:endParaRPr lang="en-US" altLang="ja-JP" sz="2400" dirty="0"/>
              </a:p>
              <a:p>
                <a:r>
                  <a:rPr lang="ja-JP" altLang="en-US" sz="2400" dirty="0"/>
                  <a:t>ただし摩擦は考慮せず、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30°=0.5, </m:t>
                    </m:r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30°=0.86</m:t>
                    </m:r>
                  </m:oMath>
                </a14:m>
                <a:r>
                  <a:rPr lang="ja-JP" altLang="en-US" sz="2400" dirty="0"/>
                  <a:t>とする。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斜面にかかる重さは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=45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𝑘𝑔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−9.8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sSup>
                          <m:sSup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=−441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垂直抗力は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=−(−441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𝑐𝑜𝑠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30°=441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0.86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𝟑𝟕𝟗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𝟐𝟔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altLang="ja-JP" sz="2400" b="1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b="1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斜面を滑る力は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−441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𝑠𝑖𝑛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30°=−441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𝑁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0.5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𝟐𝟐𝟎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𝟓</m:t>
                    </m:r>
                    <m:r>
                      <a:rPr lang="en-US" altLang="ja-JP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altLang="ja-JP" sz="2400" dirty="0"/>
                  <a:t> </a:t>
                </a:r>
              </a:p>
              <a:p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422947" cy="5262979"/>
              </a:xfrm>
              <a:prstGeom prst="rect">
                <a:avLst/>
              </a:prstGeom>
              <a:blipFill>
                <a:blip r:embed="rId2"/>
                <a:stretch>
                  <a:fillRect l="-1085" t="-927" r="-14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32629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76389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垂直抗力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8592865" cy="41549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■問題１</a:t>
                </a:r>
                <a:endParaRPr lang="en-US" altLang="ja-JP" sz="2400" dirty="0"/>
              </a:p>
              <a:p>
                <a:r>
                  <a:rPr lang="ja-JP" altLang="en-US" sz="2400" dirty="0"/>
                  <a:t>重さ</a:t>
                </a:r>
                <a:r>
                  <a:rPr lang="en-US" altLang="ja-JP" sz="2400" dirty="0"/>
                  <a:t>2kg</a:t>
                </a:r>
                <a:r>
                  <a:rPr lang="ja-JP" altLang="en-US" sz="2400" dirty="0"/>
                  <a:t>の重りが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の斜面に立っているときの、</a:t>
                </a:r>
                <a:endParaRPr lang="en-US" altLang="ja-JP" sz="2400" dirty="0"/>
              </a:p>
              <a:p>
                <a:r>
                  <a:rPr lang="ja-JP" altLang="en-US" sz="2400" dirty="0"/>
                  <a:t>斜面からの垂直抗力と滑る力を計算しなさい。</a:t>
                </a:r>
                <a:endParaRPr lang="en-US" altLang="ja-JP" sz="2400" dirty="0"/>
              </a:p>
              <a:p>
                <a:r>
                  <a:rPr lang="ja-JP" altLang="en-US" sz="2400" dirty="0"/>
                  <a:t>ただし摩擦は考慮せず、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°=0.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7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50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°=0.</m:t>
                    </m:r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ja-JP" altLang="en-US" sz="2400" dirty="0"/>
                  <a:t>とする。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■問題２</a:t>
                </a:r>
                <a:endParaRPr lang="en-US" altLang="ja-JP" sz="2400" dirty="0"/>
              </a:p>
              <a:p>
                <a:r>
                  <a:rPr lang="ja-JP" altLang="en-US" sz="2400" dirty="0"/>
                  <a:t>重さ</a:t>
                </a:r>
                <a:r>
                  <a:rPr lang="en-US" altLang="ja-JP" sz="2400" dirty="0"/>
                  <a:t>70g</a:t>
                </a:r>
                <a:r>
                  <a:rPr lang="ja-JP" altLang="en-US" sz="2400" dirty="0"/>
                  <a:t>のキャラクターが</a:t>
                </a:r>
                <a14:m>
                  <m:oMath xmlns:m="http://schemas.openxmlformats.org/officeDocument/2006/math">
                    <m:r>
                      <a:rPr lang="en-US" altLang="ja-JP" sz="2400" i="1" dirty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ja-JP" altLang="en-US" sz="2400" dirty="0"/>
                  <a:t>の斜面に立っているときの、</a:t>
                </a:r>
                <a:endParaRPr lang="en-US" altLang="ja-JP" sz="2400" dirty="0"/>
              </a:p>
              <a:p>
                <a:r>
                  <a:rPr lang="ja-JP" altLang="en-US" sz="2400" dirty="0"/>
                  <a:t>斜面からの垂直抗力と滑る力を計算しなさい。</a:t>
                </a:r>
                <a:endParaRPr lang="en-US" altLang="ja-JP" sz="2400" dirty="0"/>
              </a:p>
              <a:p>
                <a:r>
                  <a:rPr lang="ja-JP" altLang="en-US" sz="2400" dirty="0"/>
                  <a:t>ただし摩擦は考慮せず、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sin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°=0.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17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m:rPr>
                        <m:sty m:val="p"/>
                      </m:rPr>
                      <a:rPr lang="en-US" altLang="ja-JP" sz="2400" i="1" dirty="0" smtClean="0"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10</m:t>
                    </m:r>
                    <m:r>
                      <a:rPr lang="en-US" altLang="ja-JP" sz="2400" i="1" dirty="0" smtClean="0">
                        <a:latin typeface="Cambria Math" panose="02040503050406030204" pitchFamily="18" charset="0"/>
                      </a:rPr>
                      <m:t>°=0.</m:t>
                    </m:r>
                    <m:r>
                      <a:rPr lang="en-US" altLang="ja-JP" sz="2400" b="0" i="1" dirty="0" smtClean="0">
                        <a:latin typeface="Cambria Math" panose="02040503050406030204" pitchFamily="18" charset="0"/>
                      </a:rPr>
                      <m:t>98</m:t>
                    </m:r>
                  </m:oMath>
                </a14:m>
                <a:r>
                  <a:rPr lang="ja-JP" altLang="en-US" sz="2400" dirty="0"/>
                  <a:t>とする。</a:t>
                </a:r>
                <a:endParaRPr lang="en-US" altLang="ja-JP" sz="2400" dirty="0"/>
              </a:p>
              <a:p>
                <a:endParaRPr lang="en-US" altLang="ja-JP" sz="2400" dirty="0"/>
              </a:p>
            </p:txBody>
          </p:sp>
        </mc:Choice>
        <mc:Fallback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8592865" cy="4154984"/>
              </a:xfrm>
              <a:prstGeom prst="rect">
                <a:avLst/>
              </a:prstGeom>
              <a:blipFill>
                <a:blip r:embed="rId2"/>
                <a:stretch>
                  <a:fillRect l="-1064" t="-1175" r="-142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554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1296</TotalTime>
  <Words>693</Words>
  <Application>Microsoft Office PowerPoint</Application>
  <PresentationFormat>ワイド画面</PresentationFormat>
  <Paragraphs>96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優介</cp:lastModifiedBy>
  <cp:revision>152</cp:revision>
  <dcterms:created xsi:type="dcterms:W3CDTF">2024-08-27T02:15:54Z</dcterms:created>
  <dcterms:modified xsi:type="dcterms:W3CDTF">2025-07-30T07:15:16Z</dcterms:modified>
</cp:coreProperties>
</file>