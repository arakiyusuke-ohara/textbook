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  <a:srgbClr val="8C4646"/>
    <a:srgbClr val="AD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これまで学習したことを総動員して、運動について学習します。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■主に使用する知識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・ベクトル</a:t>
            </a:r>
            <a:endParaRPr lang="en-US" altLang="ja-JP" sz="2400" dirty="0"/>
          </a:p>
          <a:p>
            <a:r>
              <a:rPr lang="ja-JP" altLang="en-US" sz="2400" dirty="0"/>
              <a:t>・１次元の運動</a:t>
            </a:r>
            <a:endParaRPr lang="en-US" altLang="ja-JP" sz="2400" dirty="0"/>
          </a:p>
          <a:p>
            <a:r>
              <a:rPr lang="ja-JP" altLang="en-US" sz="2400" dirty="0"/>
              <a:t>・単位計算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まずは基礎的な知識を学びます。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1692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テーブルにあるボールを転がして、テーブルから落とします。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C3F27B-7CA9-4351-8194-5C1E454A5AB9}"/>
              </a:ext>
            </a:extLst>
          </p:cNvPr>
          <p:cNvSpPr/>
          <p:nvPr/>
        </p:nvSpPr>
        <p:spPr>
          <a:xfrm>
            <a:off x="872067" y="3505200"/>
            <a:ext cx="4113627" cy="287867"/>
          </a:xfrm>
          <a:prstGeom prst="rect">
            <a:avLst/>
          </a:prstGeom>
          <a:solidFill>
            <a:srgbClr val="8C46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8EB1A49-6CDF-4100-BFA6-8A292219AF8D}"/>
              </a:ext>
            </a:extLst>
          </p:cNvPr>
          <p:cNvSpPr/>
          <p:nvPr/>
        </p:nvSpPr>
        <p:spPr>
          <a:xfrm>
            <a:off x="1955488" y="2870200"/>
            <a:ext cx="668867" cy="63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D753E05E-D97D-4294-8FA0-A2D68CB00C03}"/>
              </a:ext>
            </a:extLst>
          </p:cNvPr>
          <p:cNvCxnSpPr>
            <a:cxnSpLocks/>
          </p:cNvCxnSpPr>
          <p:nvPr/>
        </p:nvCxnSpPr>
        <p:spPr>
          <a:xfrm flipV="1">
            <a:off x="855120" y="2523067"/>
            <a:ext cx="3589880" cy="254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>
            <a:extLst>
              <a:ext uri="{FF2B5EF4-FFF2-40B4-BE49-F238E27FC236}">
                <a16:creationId xmlns:a16="http://schemas.microsoft.com/office/drawing/2014/main" id="{DEAEC6C2-7948-438F-AEEB-7A5CECD7F1D8}"/>
              </a:ext>
            </a:extLst>
          </p:cNvPr>
          <p:cNvSpPr/>
          <p:nvPr/>
        </p:nvSpPr>
        <p:spPr>
          <a:xfrm>
            <a:off x="5054288" y="2870200"/>
            <a:ext cx="668867" cy="63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B51820B4-CD63-494A-9FB6-43C65EE05266}"/>
              </a:ext>
            </a:extLst>
          </p:cNvPr>
          <p:cNvCxnSpPr/>
          <p:nvPr/>
        </p:nvCxnSpPr>
        <p:spPr>
          <a:xfrm>
            <a:off x="3479800" y="2997200"/>
            <a:ext cx="4572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8348AC66-1369-40FD-8068-29FCDD0A993F}"/>
              </a:ext>
            </a:extLst>
          </p:cNvPr>
          <p:cNvCxnSpPr/>
          <p:nvPr/>
        </p:nvCxnSpPr>
        <p:spPr>
          <a:xfrm>
            <a:off x="3632200" y="3149600"/>
            <a:ext cx="4572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BDF55861-AE49-4CAA-9559-9373F2EFA050}"/>
              </a:ext>
            </a:extLst>
          </p:cNvPr>
          <p:cNvCxnSpPr/>
          <p:nvPr/>
        </p:nvCxnSpPr>
        <p:spPr>
          <a:xfrm>
            <a:off x="3784600" y="3302000"/>
            <a:ext cx="4572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円弧 22">
            <a:extLst>
              <a:ext uri="{FF2B5EF4-FFF2-40B4-BE49-F238E27FC236}">
                <a16:creationId xmlns:a16="http://schemas.microsoft.com/office/drawing/2014/main" id="{1A6A5160-F5D0-45C3-BF3C-FE4BD9329DFA}"/>
              </a:ext>
            </a:extLst>
          </p:cNvPr>
          <p:cNvSpPr/>
          <p:nvPr/>
        </p:nvSpPr>
        <p:spPr>
          <a:xfrm>
            <a:off x="5028264" y="2726267"/>
            <a:ext cx="1270000" cy="1066800"/>
          </a:xfrm>
          <a:prstGeom prst="arc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9301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落ちるタイミングで、同じ高さから別のボールを落とします。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C3F27B-7CA9-4351-8194-5C1E454A5AB9}"/>
              </a:ext>
            </a:extLst>
          </p:cNvPr>
          <p:cNvSpPr/>
          <p:nvPr/>
        </p:nvSpPr>
        <p:spPr>
          <a:xfrm>
            <a:off x="872067" y="3505200"/>
            <a:ext cx="4113627" cy="287867"/>
          </a:xfrm>
          <a:prstGeom prst="rect">
            <a:avLst/>
          </a:prstGeom>
          <a:solidFill>
            <a:srgbClr val="8C46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D753E05E-D97D-4294-8FA0-A2D68CB00C03}"/>
              </a:ext>
            </a:extLst>
          </p:cNvPr>
          <p:cNvCxnSpPr>
            <a:cxnSpLocks/>
          </p:cNvCxnSpPr>
          <p:nvPr/>
        </p:nvCxnSpPr>
        <p:spPr>
          <a:xfrm flipV="1">
            <a:off x="855120" y="2523067"/>
            <a:ext cx="3589880" cy="254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楕円 9">
            <a:extLst>
              <a:ext uri="{FF2B5EF4-FFF2-40B4-BE49-F238E27FC236}">
                <a16:creationId xmlns:a16="http://schemas.microsoft.com/office/drawing/2014/main" id="{DEAEC6C2-7948-438F-AEEB-7A5CECD7F1D8}"/>
              </a:ext>
            </a:extLst>
          </p:cNvPr>
          <p:cNvSpPr/>
          <p:nvPr/>
        </p:nvSpPr>
        <p:spPr>
          <a:xfrm>
            <a:off x="5054288" y="2870200"/>
            <a:ext cx="668867" cy="63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3906601E-C52E-4950-B8CF-04313A1F675F}"/>
              </a:ext>
            </a:extLst>
          </p:cNvPr>
          <p:cNvSpPr/>
          <p:nvPr/>
        </p:nvSpPr>
        <p:spPr>
          <a:xfrm>
            <a:off x="8483288" y="2870200"/>
            <a:ext cx="668867" cy="635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円弧 11">
            <a:extLst>
              <a:ext uri="{FF2B5EF4-FFF2-40B4-BE49-F238E27FC236}">
                <a16:creationId xmlns:a16="http://schemas.microsoft.com/office/drawing/2014/main" id="{26290BCA-2B49-4979-8E24-ED172CCD6898}"/>
              </a:ext>
            </a:extLst>
          </p:cNvPr>
          <p:cNvSpPr/>
          <p:nvPr/>
        </p:nvSpPr>
        <p:spPr>
          <a:xfrm>
            <a:off x="5028264" y="2726267"/>
            <a:ext cx="1270000" cy="1066800"/>
          </a:xfrm>
          <a:prstGeom prst="arc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B5648C1A-E4FA-4D47-8B87-2704FE5E8C4A}"/>
              </a:ext>
            </a:extLst>
          </p:cNvPr>
          <p:cNvCxnSpPr/>
          <p:nvPr/>
        </p:nvCxnSpPr>
        <p:spPr>
          <a:xfrm>
            <a:off x="9982200" y="2870200"/>
            <a:ext cx="0" cy="14816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27D64A6B-5BDB-4A1E-A3ED-B82417C79A97}"/>
              </a:ext>
            </a:extLst>
          </p:cNvPr>
          <p:cNvCxnSpPr/>
          <p:nvPr/>
        </p:nvCxnSpPr>
        <p:spPr>
          <a:xfrm>
            <a:off x="5028264" y="3505200"/>
            <a:ext cx="4505203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6493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どちらが先に地面に落ちるでしょう？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C3F27B-7CA9-4351-8194-5C1E454A5AB9}"/>
              </a:ext>
            </a:extLst>
          </p:cNvPr>
          <p:cNvSpPr/>
          <p:nvPr/>
        </p:nvSpPr>
        <p:spPr>
          <a:xfrm>
            <a:off x="872067" y="3505200"/>
            <a:ext cx="4113627" cy="287867"/>
          </a:xfrm>
          <a:prstGeom prst="rect">
            <a:avLst/>
          </a:prstGeom>
          <a:solidFill>
            <a:srgbClr val="8C46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2F403D5-EE5A-4AA7-A81A-CE365CEFED0B}"/>
              </a:ext>
            </a:extLst>
          </p:cNvPr>
          <p:cNvSpPr/>
          <p:nvPr/>
        </p:nvSpPr>
        <p:spPr>
          <a:xfrm>
            <a:off x="4681169" y="4512733"/>
            <a:ext cx="6664162" cy="209973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7200" dirty="0"/>
              <a:t>？</a:t>
            </a:r>
          </a:p>
        </p:txBody>
      </p:sp>
    </p:spTree>
    <p:extLst>
      <p:ext uri="{BB962C8B-B14F-4D97-AF65-F5344CB8AC3E}">
        <p14:creationId xmlns:p14="http://schemas.microsoft.com/office/powerpoint/2010/main" val="2797027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この場合同じタイミングで地面につきます。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C3F27B-7CA9-4351-8194-5C1E454A5AB9}"/>
              </a:ext>
            </a:extLst>
          </p:cNvPr>
          <p:cNvSpPr/>
          <p:nvPr/>
        </p:nvSpPr>
        <p:spPr>
          <a:xfrm>
            <a:off x="872067" y="3505200"/>
            <a:ext cx="4113627" cy="287867"/>
          </a:xfrm>
          <a:prstGeom prst="rect">
            <a:avLst/>
          </a:prstGeom>
          <a:solidFill>
            <a:srgbClr val="8C46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0076C93B-7CA8-4C7A-A8E8-462CEF9EEF02}"/>
              </a:ext>
            </a:extLst>
          </p:cNvPr>
          <p:cNvSpPr/>
          <p:nvPr/>
        </p:nvSpPr>
        <p:spPr>
          <a:xfrm>
            <a:off x="7687428" y="5765800"/>
            <a:ext cx="668867" cy="635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B49DB45-C3D7-4D80-9881-2075F3336489}"/>
              </a:ext>
            </a:extLst>
          </p:cNvPr>
          <p:cNvSpPr/>
          <p:nvPr/>
        </p:nvSpPr>
        <p:spPr>
          <a:xfrm>
            <a:off x="8491441" y="5765803"/>
            <a:ext cx="668867" cy="635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0A33E99-C5EF-481D-8334-295A852063BB}"/>
              </a:ext>
            </a:extLst>
          </p:cNvPr>
          <p:cNvCxnSpPr/>
          <p:nvPr/>
        </p:nvCxnSpPr>
        <p:spPr>
          <a:xfrm>
            <a:off x="5747931" y="6400800"/>
            <a:ext cx="4505203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DA730D40-F4E0-4AC9-8C58-19F14D74CF95}"/>
              </a:ext>
            </a:extLst>
          </p:cNvPr>
          <p:cNvSpPr/>
          <p:nvPr/>
        </p:nvSpPr>
        <p:spPr>
          <a:xfrm>
            <a:off x="5054288" y="2870200"/>
            <a:ext cx="668867" cy="635000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516ED2AE-F3A7-4B3B-A841-B3B6046EF920}"/>
              </a:ext>
            </a:extLst>
          </p:cNvPr>
          <p:cNvSpPr/>
          <p:nvPr/>
        </p:nvSpPr>
        <p:spPr>
          <a:xfrm>
            <a:off x="6019488" y="3014133"/>
            <a:ext cx="668867" cy="635000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D084A74A-C580-405D-B2AE-86918EAEED04}"/>
              </a:ext>
            </a:extLst>
          </p:cNvPr>
          <p:cNvSpPr/>
          <p:nvPr/>
        </p:nvSpPr>
        <p:spPr>
          <a:xfrm>
            <a:off x="6756088" y="3640666"/>
            <a:ext cx="668867" cy="635000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41A6AB5B-8658-4F8D-9883-7FDA833C4DAB}"/>
              </a:ext>
            </a:extLst>
          </p:cNvPr>
          <p:cNvSpPr/>
          <p:nvPr/>
        </p:nvSpPr>
        <p:spPr>
          <a:xfrm>
            <a:off x="7352994" y="4593166"/>
            <a:ext cx="668867" cy="635000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2CFE7E41-6D94-49EE-A8CD-C1F5CB7465F9}"/>
              </a:ext>
            </a:extLst>
          </p:cNvPr>
          <p:cNvSpPr/>
          <p:nvPr/>
        </p:nvSpPr>
        <p:spPr>
          <a:xfrm>
            <a:off x="8483288" y="2870200"/>
            <a:ext cx="668867" cy="635000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F4001B31-4751-413B-AE7A-C567024DF721}"/>
              </a:ext>
            </a:extLst>
          </p:cNvPr>
          <p:cNvSpPr/>
          <p:nvPr/>
        </p:nvSpPr>
        <p:spPr>
          <a:xfrm>
            <a:off x="8483287" y="3014133"/>
            <a:ext cx="668867" cy="635000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E2C049AC-26D7-4C0D-A6B2-64658156CBB7}"/>
              </a:ext>
            </a:extLst>
          </p:cNvPr>
          <p:cNvSpPr/>
          <p:nvPr/>
        </p:nvSpPr>
        <p:spPr>
          <a:xfrm>
            <a:off x="8487364" y="3649133"/>
            <a:ext cx="668867" cy="635000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63B11F0D-D926-4782-8502-EE2342DA37FB}"/>
              </a:ext>
            </a:extLst>
          </p:cNvPr>
          <p:cNvSpPr/>
          <p:nvPr/>
        </p:nvSpPr>
        <p:spPr>
          <a:xfrm>
            <a:off x="8483286" y="4593166"/>
            <a:ext cx="668867" cy="635000"/>
          </a:xfrm>
          <a:prstGeom prst="ellipse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912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1711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青いボール</a:t>
            </a:r>
            <a:r>
              <a:rPr lang="ja-JP" altLang="en-US" sz="2400" dirty="0"/>
              <a:t>は横に転がりながら落下しました。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b="1" dirty="0">
                <a:solidFill>
                  <a:srgbClr val="FF0000"/>
                </a:solidFill>
              </a:rPr>
              <a:t>X</a:t>
            </a:r>
            <a:r>
              <a:rPr lang="ja-JP" altLang="en-US" sz="2400" b="1" dirty="0">
                <a:solidFill>
                  <a:srgbClr val="FF0000"/>
                </a:solidFill>
              </a:rPr>
              <a:t>軸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00B050"/>
                </a:solidFill>
              </a:rPr>
              <a:t>Y</a:t>
            </a:r>
            <a:r>
              <a:rPr lang="ja-JP" altLang="en-US" sz="2400" b="1" dirty="0">
                <a:solidFill>
                  <a:srgbClr val="00B050"/>
                </a:solidFill>
              </a:rPr>
              <a:t>軸</a:t>
            </a:r>
            <a:r>
              <a:rPr lang="ja-JP" altLang="en-US" sz="2400" dirty="0"/>
              <a:t>両方移動しています。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赤いボール</a:t>
            </a:r>
            <a:r>
              <a:rPr lang="ja-JP" altLang="en-US" sz="2400" dirty="0"/>
              <a:t>は真下に落としただけなので、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Y</a:t>
            </a:r>
            <a:r>
              <a:rPr lang="ja-JP" altLang="en-US" sz="2400" b="1" dirty="0">
                <a:solidFill>
                  <a:srgbClr val="00B050"/>
                </a:solidFill>
              </a:rPr>
              <a:t>軸</a:t>
            </a:r>
            <a:r>
              <a:rPr lang="ja-JP" altLang="en-US" sz="2400" dirty="0"/>
              <a:t>のみ移動しています。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落下するタイミングは同じ</a:t>
            </a:r>
            <a:r>
              <a:rPr lang="ja-JP" altLang="en-US" sz="2400" dirty="0"/>
              <a:t>でした。このことから、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運動の計算は軸ごとに別々に計算できる</a:t>
            </a:r>
            <a:r>
              <a:rPr lang="ja-JP" altLang="en-US" sz="2400" dirty="0"/>
              <a:t>ことが分かります。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落下（</a:t>
            </a:r>
            <a:r>
              <a:rPr lang="en-US" altLang="ja-JP" sz="2400" b="1" dirty="0">
                <a:solidFill>
                  <a:srgbClr val="00B050"/>
                </a:solidFill>
              </a:rPr>
              <a:t>Y</a:t>
            </a:r>
            <a:r>
              <a:rPr lang="ja-JP" altLang="en-US" sz="2400" b="1" dirty="0">
                <a:solidFill>
                  <a:srgbClr val="00B050"/>
                </a:solidFill>
              </a:rPr>
              <a:t>軸）</a:t>
            </a:r>
            <a:r>
              <a:rPr lang="ja-JP" altLang="en-US" sz="2400" dirty="0"/>
              <a:t>については、</a:t>
            </a:r>
            <a:r>
              <a:rPr lang="ja-JP" altLang="en-US" sz="2400" b="1" dirty="0">
                <a:solidFill>
                  <a:srgbClr val="FF0000"/>
                </a:solidFill>
              </a:rPr>
              <a:t>転がり（</a:t>
            </a:r>
            <a:r>
              <a:rPr lang="en-US" altLang="ja-JP" sz="2400" b="1" dirty="0">
                <a:solidFill>
                  <a:srgbClr val="FF0000"/>
                </a:solidFill>
              </a:rPr>
              <a:t>X</a:t>
            </a:r>
            <a:r>
              <a:rPr lang="ja-JP" altLang="en-US" sz="2400" b="1" dirty="0">
                <a:solidFill>
                  <a:srgbClr val="FF0000"/>
                </a:solidFill>
              </a:rPr>
              <a:t>軸）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関係ない</a:t>
            </a:r>
            <a:r>
              <a:rPr lang="ja-JP" altLang="en-US" sz="2400" dirty="0"/>
              <a:t>ということです。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21093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136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このことが分かれば、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１次元の運動で学んだ５つの式</a:t>
            </a:r>
            <a:r>
              <a:rPr lang="ja-JP" altLang="en-US" sz="2400" dirty="0"/>
              <a:t>と</a:t>
            </a:r>
            <a:r>
              <a:rPr lang="ja-JP" altLang="en-US" sz="2400" b="1" dirty="0">
                <a:solidFill>
                  <a:srgbClr val="FF0000"/>
                </a:solidFill>
              </a:rPr>
              <a:t>ベクトル</a:t>
            </a:r>
            <a:r>
              <a:rPr lang="ja-JP" altLang="en-US" sz="2400" dirty="0"/>
              <a:t>を使えば、</a:t>
            </a:r>
            <a:endParaRPr lang="en-US" altLang="ja-JP" sz="2400" dirty="0"/>
          </a:p>
          <a:p>
            <a:r>
              <a:rPr lang="ja-JP" altLang="en-US" sz="2400" dirty="0"/>
              <a:t>ほとんどの運動について計算ができるようになります。</a:t>
            </a:r>
            <a:endParaRPr lang="en-US" altLang="ja-JP" sz="2400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300A46-FF72-4856-80BD-B4BB7C73BE50}"/>
              </a:ext>
            </a:extLst>
          </p:cNvPr>
          <p:cNvSpPr/>
          <p:nvPr/>
        </p:nvSpPr>
        <p:spPr>
          <a:xfrm>
            <a:off x="567542" y="2898685"/>
            <a:ext cx="3395133" cy="3085113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06BB69D3-3ED4-4DD3-A0CB-D58D1EF530B6}"/>
                  </a:ext>
                </a:extLst>
              </p:cNvPr>
              <p:cNvSpPr txBox="1"/>
              <p:nvPr/>
            </p:nvSpPr>
            <p:spPr>
              <a:xfrm>
                <a:off x="982684" y="3110850"/>
                <a:ext cx="2576783" cy="2621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sz="1600" dirty="0"/>
                  <a:t>式１：</a:t>
                </a:r>
                <a14:m>
                  <m:oMath xmlns:m="http://schemas.openxmlformats.org/officeDocument/2006/math"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𝑣𝑓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𝑣𝑖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𝑎𝑡</m:t>
                    </m:r>
                  </m:oMath>
                </a14:m>
                <a:r>
                  <a:rPr lang="en-US" altLang="ja-JP" sz="1600" dirty="0"/>
                  <a:t> </a:t>
                </a:r>
              </a:p>
              <a:p>
                <a:endParaRPr lang="en-US" altLang="ja-JP" sz="1600" dirty="0"/>
              </a:p>
              <a:p>
                <a:r>
                  <a:rPr lang="ja-JP" altLang="en-US" sz="1600" dirty="0"/>
                  <a:t>式２：</a:t>
                </a:r>
                <a:r>
                  <a:rPr lang="en-US" altLang="ja-JP" sz="1600" b="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𝑣𝑓</m:t>
                        </m:r>
                      </m:num>
                      <m:den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ja-JP" sz="1600" dirty="0"/>
                  <a:t> </a:t>
                </a:r>
              </a:p>
              <a:p>
                <a:endParaRPr lang="en-US" altLang="ja-JP" sz="1600" dirty="0"/>
              </a:p>
              <a:p>
                <a:r>
                  <a:rPr lang="ja-JP" altLang="en-US" sz="1600" dirty="0"/>
                  <a:t>式３：</a:t>
                </a:r>
                <a14:m>
                  <m:oMath xmlns:m="http://schemas.openxmlformats.org/officeDocument/2006/math">
                    <m:r>
                      <a:rPr lang="ja-JP" altLang="en-US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𝑣𝑓</m:t>
                        </m:r>
                      </m:e>
                    </m:d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1600" dirty="0"/>
                  <a:t> </a:t>
                </a:r>
              </a:p>
              <a:p>
                <a:endParaRPr lang="en-US" altLang="ja-JP" sz="1600" dirty="0"/>
              </a:p>
              <a:p>
                <a:r>
                  <a:rPr lang="ja-JP" altLang="en-US" sz="1600" dirty="0"/>
                  <a:t>式４：</a:t>
                </a:r>
                <a14:m>
                  <m:oMath xmlns:m="http://schemas.openxmlformats.org/officeDocument/2006/math">
                    <m:r>
                      <a:rPr lang="ja-JP" altLang="en-US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𝑣𝑖𝑡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1600" dirty="0"/>
                  <a:t> </a:t>
                </a:r>
              </a:p>
              <a:p>
                <a:endParaRPr lang="en-US" altLang="ja-JP" sz="1600" dirty="0"/>
              </a:p>
              <a:p>
                <a:r>
                  <a:rPr lang="ja-JP" altLang="en-US" sz="1600" dirty="0"/>
                  <a:t>式５：</a:t>
                </a:r>
                <a:r>
                  <a:rPr lang="en-US" altLang="ja-JP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𝑣𝑓</m:t>
                        </m:r>
                      </m:e>
                      <m:sup>
                        <m:r>
                          <a:rPr lang="en-US" altLang="ja-JP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16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altLang="ja-JP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ja-JP" altLang="en-US" sz="16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16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1600" dirty="0"/>
                  <a:t> </a:t>
                </a: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06BB69D3-3ED4-4DD3-A0CB-D58D1EF53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684" y="3110850"/>
                <a:ext cx="2576783" cy="2621872"/>
              </a:xfrm>
              <a:prstGeom prst="rect">
                <a:avLst/>
              </a:prstGeom>
              <a:blipFill>
                <a:blip r:embed="rId2"/>
                <a:stretch>
                  <a:fillRect l="-1182" t="-698" b="-20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2791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42109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先の画面端に到達しました。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画面端へ到達するまで何秒かかったでしょう。</a:t>
                </a:r>
                <a:endParaRPr lang="en-US" altLang="ja-JP" sz="2400" dirty="0"/>
              </a:p>
              <a:p>
                <a:r>
                  <a:rPr lang="ja-JP" altLang="en-US" sz="2400" dirty="0"/>
                  <a:t>（砲塔の高さや摩擦、抵抗などは考慮しなくて良い）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42109" cy="1569660"/>
              </a:xfrm>
              <a:prstGeom prst="rect">
                <a:avLst/>
              </a:prstGeom>
              <a:blipFill>
                <a:blip r:embed="rId2"/>
                <a:stretch>
                  <a:fillRect l="-1058" t="-3113" r="-141" b="-817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79EE626-C985-4795-A4EA-5BF0D8EB8CFA}"/>
              </a:ext>
            </a:extLst>
          </p:cNvPr>
          <p:cNvCxnSpPr/>
          <p:nvPr/>
        </p:nvCxnSpPr>
        <p:spPr>
          <a:xfrm>
            <a:off x="397933" y="5757333"/>
            <a:ext cx="11260667" cy="592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830D806-C8FB-4E34-8940-992587AABFFD}"/>
              </a:ext>
            </a:extLst>
          </p:cNvPr>
          <p:cNvSpPr/>
          <p:nvPr/>
        </p:nvSpPr>
        <p:spPr>
          <a:xfrm>
            <a:off x="436070" y="5452179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19DB00F-9FB3-4072-A2CF-818C99027598}"/>
              </a:ext>
            </a:extLst>
          </p:cNvPr>
          <p:cNvCxnSpPr/>
          <p:nvPr/>
        </p:nvCxnSpPr>
        <p:spPr>
          <a:xfrm flipV="1">
            <a:off x="567542" y="5088467"/>
            <a:ext cx="829458" cy="668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6C521C3-6F47-433D-815C-13390D8A873D}"/>
                  </a:ext>
                </a:extLst>
              </p:cNvPr>
              <p:cNvSpPr txBox="1"/>
              <p:nvPr/>
            </p:nvSpPr>
            <p:spPr>
              <a:xfrm>
                <a:off x="1032958" y="5320714"/>
                <a:ext cx="7280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i="1" dirty="0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US" altLang="ja-JP" sz="2400" i="1" dirty="0" smtClean="0">
                          <a:latin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6C521C3-6F47-433D-815C-13390D8A8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58" y="5320714"/>
                <a:ext cx="728084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F8FE003-E7A4-4F0E-92C8-4A7BA5F32760}"/>
                  </a:ext>
                </a:extLst>
              </p:cNvPr>
              <p:cNvSpPr txBox="1"/>
              <p:nvPr/>
            </p:nvSpPr>
            <p:spPr>
              <a:xfrm>
                <a:off x="218049" y="4647383"/>
                <a:ext cx="14498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ja-JP" altLang="en-US" sz="2400" i="1" dirty="0">
                          <a:latin typeface="Cambria Math" panose="02040503050406030204" pitchFamily="18" charset="0"/>
                        </a:rPr>
                        <m:t>秒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F8FE003-E7A4-4F0E-92C8-4A7BA5F32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49" y="4647383"/>
                <a:ext cx="1449884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楕円 12">
            <a:extLst>
              <a:ext uri="{FF2B5EF4-FFF2-40B4-BE49-F238E27FC236}">
                <a16:creationId xmlns:a16="http://schemas.microsoft.com/office/drawing/2014/main" id="{40EC7E59-F366-4B8F-B395-4F2B9B830DC6}"/>
              </a:ext>
            </a:extLst>
          </p:cNvPr>
          <p:cNvSpPr/>
          <p:nvPr/>
        </p:nvSpPr>
        <p:spPr>
          <a:xfrm>
            <a:off x="4681169" y="3479795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99E9B443-18FF-46B9-8D64-09819CF5B209}"/>
              </a:ext>
            </a:extLst>
          </p:cNvPr>
          <p:cNvSpPr/>
          <p:nvPr/>
        </p:nvSpPr>
        <p:spPr>
          <a:xfrm>
            <a:off x="7044266" y="4024158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210DACF6-7185-4E8E-86FC-268A9A9E9DE5}"/>
              </a:ext>
            </a:extLst>
          </p:cNvPr>
          <p:cNvSpPr/>
          <p:nvPr/>
        </p:nvSpPr>
        <p:spPr>
          <a:xfrm>
            <a:off x="1935899" y="4373615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17E6B157-0712-4927-9433-11393E36E657}"/>
              </a:ext>
            </a:extLst>
          </p:cNvPr>
          <p:cNvCxnSpPr>
            <a:cxnSpLocks/>
          </p:cNvCxnSpPr>
          <p:nvPr/>
        </p:nvCxnSpPr>
        <p:spPr>
          <a:xfrm flipH="1">
            <a:off x="4191000" y="3689100"/>
            <a:ext cx="304799" cy="120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97E6E65-A629-441C-8E55-1BECEA353E39}"/>
              </a:ext>
            </a:extLst>
          </p:cNvPr>
          <p:cNvCxnSpPr>
            <a:cxnSpLocks/>
          </p:cNvCxnSpPr>
          <p:nvPr/>
        </p:nvCxnSpPr>
        <p:spPr>
          <a:xfrm flipH="1">
            <a:off x="4343400" y="3841500"/>
            <a:ext cx="304799" cy="120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D6A302F-5FBE-427A-8B96-C48E89C8D8A9}"/>
              </a:ext>
            </a:extLst>
          </p:cNvPr>
          <p:cNvCxnSpPr>
            <a:cxnSpLocks/>
          </p:cNvCxnSpPr>
          <p:nvPr/>
        </p:nvCxnSpPr>
        <p:spPr>
          <a:xfrm flipH="1">
            <a:off x="1498600" y="4642564"/>
            <a:ext cx="262443" cy="2014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DB49F911-0ECF-48E2-9BC9-233E45B1BF82}"/>
              </a:ext>
            </a:extLst>
          </p:cNvPr>
          <p:cNvCxnSpPr>
            <a:cxnSpLocks/>
          </p:cNvCxnSpPr>
          <p:nvPr/>
        </p:nvCxnSpPr>
        <p:spPr>
          <a:xfrm flipH="1">
            <a:off x="1686350" y="4878215"/>
            <a:ext cx="249549" cy="1796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1210A9F1-5196-4C6D-9687-A0FC3CB2AD73}"/>
              </a:ext>
            </a:extLst>
          </p:cNvPr>
          <p:cNvCxnSpPr>
            <a:cxnSpLocks/>
          </p:cNvCxnSpPr>
          <p:nvPr/>
        </p:nvCxnSpPr>
        <p:spPr>
          <a:xfrm flipH="1" flipV="1">
            <a:off x="6606734" y="3816164"/>
            <a:ext cx="279399" cy="1715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9D52447-EFB9-4347-9F7B-AF397099DEC4}"/>
              </a:ext>
            </a:extLst>
          </p:cNvPr>
          <p:cNvCxnSpPr>
            <a:cxnSpLocks/>
          </p:cNvCxnSpPr>
          <p:nvPr/>
        </p:nvCxnSpPr>
        <p:spPr>
          <a:xfrm flipH="1" flipV="1">
            <a:off x="6797232" y="3730381"/>
            <a:ext cx="279399" cy="1715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FF2950F-663C-4990-9066-07693BFEDDD0}"/>
              </a:ext>
            </a:extLst>
          </p:cNvPr>
          <p:cNvSpPr txBox="1"/>
          <p:nvPr/>
        </p:nvSpPr>
        <p:spPr>
          <a:xfrm>
            <a:off x="6936932" y="5865165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何秒？</a:t>
            </a:r>
            <a:endParaRPr lang="en-US" altLang="ja-JP" sz="2400" dirty="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3BCC6C4-74C8-4FE8-925E-2D0507E3E741}"/>
              </a:ext>
            </a:extLst>
          </p:cNvPr>
          <p:cNvCxnSpPr>
            <a:cxnSpLocks/>
          </p:cNvCxnSpPr>
          <p:nvPr/>
        </p:nvCxnSpPr>
        <p:spPr>
          <a:xfrm>
            <a:off x="7382933" y="3073400"/>
            <a:ext cx="0" cy="2708979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029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264622" cy="5272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先の地面に着弾しました。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着弾まで何秒かかったでしょう。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大砲の速度ベクトルは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@30°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（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極座標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）</m:t>
                    </m:r>
                  </m:oMath>
                </a14:m>
                <a:r>
                  <a:rPr lang="ja-JP" altLang="en-US" sz="2400" dirty="0"/>
                  <a:t>なので、斜めを指しています。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計算するには縦と横で分かれていた方が良いので、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デカルト座標に変換</a:t>
                </a:r>
                <a:r>
                  <a:rPr lang="ja-JP" altLang="en-US" sz="2400" dirty="0"/>
                  <a:t>します。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@30°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=20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30°=20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0.86=17.2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=20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=20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0.5=10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@30°=[17.2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n-US" altLang="ja-JP" sz="2400" dirty="0"/>
                  <a:t>※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30°=0.86,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30=0.5</m:t>
                    </m:r>
                  </m:oMath>
                </a14:m>
                <a:r>
                  <a:rPr lang="ja-JP" altLang="en-US" sz="2400" dirty="0"/>
                  <a:t>で計算してます。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264622" cy="5272918"/>
              </a:xfrm>
              <a:prstGeom prst="rect">
                <a:avLst/>
              </a:prstGeom>
              <a:blipFill>
                <a:blip r:embed="rId2"/>
                <a:stretch>
                  <a:fillRect l="-812" t="-925" b="-173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231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42109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先の画面端に到達しました。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画面端へ到達するまで何秒かかったでしょう。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わかっている量と求める量洗い出します。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42109" cy="2308324"/>
              </a:xfrm>
              <a:prstGeom prst="rect">
                <a:avLst/>
              </a:prstGeom>
              <a:blipFill>
                <a:blip r:embed="rId2"/>
                <a:stretch>
                  <a:fillRect l="-1058" t="-2116" r="-141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1416842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=17.2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𝑣𝑦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=10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距離：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dirty="0" smtClean="0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=30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1416842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108197" r="-92795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208197" r="-92795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DC72C4-5202-4095-A3FE-99F2F31BE88B}"/>
              </a:ext>
            </a:extLst>
          </p:cNvPr>
          <p:cNvSpPr txBox="1"/>
          <p:nvPr/>
        </p:nvSpPr>
        <p:spPr>
          <a:xfrm>
            <a:off x="567542" y="5179906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問題文をよく読むと、より良い表が作れます。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81061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68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89832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先の地面に着弾しました。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着弾まで何秒かかったでしょう。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求める量は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先までたどり着く時間です。つまり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𝒗𝒚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は不要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89832" cy="2308324"/>
              </a:xfrm>
              <a:prstGeom prst="rect">
                <a:avLst/>
              </a:prstGeom>
              <a:blipFill>
                <a:blip r:embed="rId2"/>
                <a:stretch>
                  <a:fillRect l="-880" t="-2116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1634490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=17.2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距離：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dirty="0" smtClean="0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=30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1634490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108197" r="-92795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208197" r="-92795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69193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68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205038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先の地面に着弾しました。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着弾まで何秒かかったでしょう。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摩擦や抵抗がない場合、速度は一定です。つまり加速度は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205038" cy="2308324"/>
              </a:xfrm>
              <a:prstGeom prst="rect">
                <a:avLst/>
              </a:prstGeom>
              <a:blipFill>
                <a:blip r:embed="rId2"/>
                <a:stretch>
                  <a:fillRect l="-896" t="-2116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0449405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=17.2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距離：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dirty="0" smtClean="0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=30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0449405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108197" r="-92795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208197" r="-92795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308197" r="-92795" b="-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E69BE46-5D46-4E94-AFA8-921175DB6DAC}"/>
                  </a:ext>
                </a:extLst>
              </p:cNvPr>
              <p:cNvSpPr txBox="1"/>
              <p:nvPr/>
            </p:nvSpPr>
            <p:spPr>
              <a:xfrm>
                <a:off x="567542" y="5090655"/>
                <a:ext cx="65934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縦の加速度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は重力があるので加速します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E69BE46-5D46-4E94-AFA8-921175DB6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5090655"/>
                <a:ext cx="6593472" cy="461665"/>
              </a:xfrm>
              <a:prstGeom prst="rect">
                <a:avLst/>
              </a:prstGeom>
              <a:blipFill>
                <a:blip r:embed="rId4"/>
                <a:stretch>
                  <a:fillRect l="-1386" t="-10526" r="-1109" b="-289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7384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68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42109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先の地面に着弾しました。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着弾まで何秒かかったでしょう。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ここまでわかれば運動の式にあてはめられます。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=30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17.2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1.74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42109" cy="3416320"/>
              </a:xfrm>
              <a:prstGeom prst="rect">
                <a:avLst/>
              </a:prstGeom>
              <a:blipFill>
                <a:blip r:embed="rId2"/>
                <a:stretch>
                  <a:fillRect l="-1058" t="-1429" r="-1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1494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11588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r>
                  <a:rPr lang="ja-JP" altLang="en-US" sz="2400" dirty="0"/>
                  <a:t>（砲塔の高さや摩擦、抵抗などは考慮しなくて良い）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11588" cy="1200329"/>
              </a:xfrm>
              <a:prstGeom prst="rect">
                <a:avLst/>
              </a:prstGeom>
              <a:blipFill>
                <a:blip r:embed="rId2"/>
                <a:stretch>
                  <a:fillRect l="-982" t="-4082" r="-65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79EE626-C985-4795-A4EA-5BF0D8EB8CFA}"/>
              </a:ext>
            </a:extLst>
          </p:cNvPr>
          <p:cNvCxnSpPr/>
          <p:nvPr/>
        </p:nvCxnSpPr>
        <p:spPr>
          <a:xfrm>
            <a:off x="397933" y="5757333"/>
            <a:ext cx="11260667" cy="592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830D806-C8FB-4E34-8940-992587AABFFD}"/>
              </a:ext>
            </a:extLst>
          </p:cNvPr>
          <p:cNvSpPr/>
          <p:nvPr/>
        </p:nvSpPr>
        <p:spPr>
          <a:xfrm>
            <a:off x="436070" y="5452179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19DB00F-9FB3-4072-A2CF-818C99027598}"/>
              </a:ext>
            </a:extLst>
          </p:cNvPr>
          <p:cNvCxnSpPr/>
          <p:nvPr/>
        </p:nvCxnSpPr>
        <p:spPr>
          <a:xfrm flipV="1">
            <a:off x="567542" y="5088467"/>
            <a:ext cx="829458" cy="668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6C521C3-6F47-433D-815C-13390D8A873D}"/>
                  </a:ext>
                </a:extLst>
              </p:cNvPr>
              <p:cNvSpPr txBox="1"/>
              <p:nvPr/>
            </p:nvSpPr>
            <p:spPr>
              <a:xfrm>
                <a:off x="1032958" y="5320714"/>
                <a:ext cx="7280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i="1" dirty="0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US" altLang="ja-JP" sz="2400" i="1" dirty="0" smtClean="0">
                          <a:latin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6C521C3-6F47-433D-815C-13390D8A8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58" y="5320714"/>
                <a:ext cx="728084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F8FE003-E7A4-4F0E-92C8-4A7BA5F32760}"/>
                  </a:ext>
                </a:extLst>
              </p:cNvPr>
              <p:cNvSpPr txBox="1"/>
              <p:nvPr/>
            </p:nvSpPr>
            <p:spPr>
              <a:xfrm>
                <a:off x="218049" y="4647383"/>
                <a:ext cx="14498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ja-JP" altLang="en-US" sz="2400" i="1" dirty="0">
                          <a:latin typeface="Cambria Math" panose="02040503050406030204" pitchFamily="18" charset="0"/>
                        </a:rPr>
                        <m:t>秒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F8FE003-E7A4-4F0E-92C8-4A7BA5F32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49" y="4647383"/>
                <a:ext cx="1449884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楕円 12">
            <a:extLst>
              <a:ext uri="{FF2B5EF4-FFF2-40B4-BE49-F238E27FC236}">
                <a16:creationId xmlns:a16="http://schemas.microsoft.com/office/drawing/2014/main" id="{40EC7E59-F366-4B8F-B395-4F2B9B830DC6}"/>
              </a:ext>
            </a:extLst>
          </p:cNvPr>
          <p:cNvSpPr/>
          <p:nvPr/>
        </p:nvSpPr>
        <p:spPr>
          <a:xfrm>
            <a:off x="4681169" y="3479795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99E9B443-18FF-46B9-8D64-09819CF5B209}"/>
              </a:ext>
            </a:extLst>
          </p:cNvPr>
          <p:cNvSpPr/>
          <p:nvPr/>
        </p:nvSpPr>
        <p:spPr>
          <a:xfrm>
            <a:off x="7044266" y="4024158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210DACF6-7185-4E8E-86FC-268A9A9E9DE5}"/>
              </a:ext>
            </a:extLst>
          </p:cNvPr>
          <p:cNvSpPr/>
          <p:nvPr/>
        </p:nvSpPr>
        <p:spPr>
          <a:xfrm>
            <a:off x="1935899" y="4373615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17E6B157-0712-4927-9433-11393E36E657}"/>
              </a:ext>
            </a:extLst>
          </p:cNvPr>
          <p:cNvCxnSpPr>
            <a:cxnSpLocks/>
          </p:cNvCxnSpPr>
          <p:nvPr/>
        </p:nvCxnSpPr>
        <p:spPr>
          <a:xfrm flipH="1">
            <a:off x="4191000" y="3689100"/>
            <a:ext cx="304799" cy="120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97E6E65-A629-441C-8E55-1BECEA353E39}"/>
              </a:ext>
            </a:extLst>
          </p:cNvPr>
          <p:cNvCxnSpPr>
            <a:cxnSpLocks/>
          </p:cNvCxnSpPr>
          <p:nvPr/>
        </p:nvCxnSpPr>
        <p:spPr>
          <a:xfrm flipH="1">
            <a:off x="4343400" y="3841500"/>
            <a:ext cx="304799" cy="120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6D6A302F-5FBE-427A-8B96-C48E89C8D8A9}"/>
              </a:ext>
            </a:extLst>
          </p:cNvPr>
          <p:cNvCxnSpPr>
            <a:cxnSpLocks/>
          </p:cNvCxnSpPr>
          <p:nvPr/>
        </p:nvCxnSpPr>
        <p:spPr>
          <a:xfrm flipH="1">
            <a:off x="1498600" y="4642564"/>
            <a:ext cx="262443" cy="2014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DB49F911-0ECF-48E2-9BC9-233E45B1BF82}"/>
              </a:ext>
            </a:extLst>
          </p:cNvPr>
          <p:cNvCxnSpPr>
            <a:cxnSpLocks/>
          </p:cNvCxnSpPr>
          <p:nvPr/>
        </p:nvCxnSpPr>
        <p:spPr>
          <a:xfrm flipH="1">
            <a:off x="1686350" y="4878215"/>
            <a:ext cx="249549" cy="1796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1210A9F1-5196-4C6D-9687-A0FC3CB2AD73}"/>
              </a:ext>
            </a:extLst>
          </p:cNvPr>
          <p:cNvCxnSpPr>
            <a:cxnSpLocks/>
          </p:cNvCxnSpPr>
          <p:nvPr/>
        </p:nvCxnSpPr>
        <p:spPr>
          <a:xfrm flipH="1" flipV="1">
            <a:off x="6606734" y="3816164"/>
            <a:ext cx="279399" cy="1715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9D52447-EFB9-4347-9F7B-AF397099DEC4}"/>
              </a:ext>
            </a:extLst>
          </p:cNvPr>
          <p:cNvCxnSpPr>
            <a:cxnSpLocks/>
          </p:cNvCxnSpPr>
          <p:nvPr/>
        </p:nvCxnSpPr>
        <p:spPr>
          <a:xfrm flipH="1" flipV="1">
            <a:off x="6797232" y="3730381"/>
            <a:ext cx="279399" cy="1715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FF2950F-663C-4990-9066-07693BFEDDD0}"/>
              </a:ext>
            </a:extLst>
          </p:cNvPr>
          <p:cNvSpPr txBox="1"/>
          <p:nvPr/>
        </p:nvSpPr>
        <p:spPr>
          <a:xfrm>
            <a:off x="9072602" y="5956654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何秒？</a:t>
            </a:r>
            <a:endParaRPr lang="en-US" altLang="ja-JP" sz="2400" dirty="0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22ED8E9B-3641-4149-8042-06EF76564D2A}"/>
              </a:ext>
            </a:extLst>
          </p:cNvPr>
          <p:cNvSpPr/>
          <p:nvPr/>
        </p:nvSpPr>
        <p:spPr>
          <a:xfrm>
            <a:off x="9287933" y="5507213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8460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11588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わかっている量と求める量洗い出します。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11588" cy="2308324"/>
              </a:xfrm>
              <a:prstGeom prst="rect">
                <a:avLst/>
              </a:prstGeom>
              <a:blipFill>
                <a:blip r:embed="rId2"/>
                <a:stretch>
                  <a:fillRect l="-982" t="-2116" r="-65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1611039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488231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639769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初速度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𝑣𝑖𝑥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=17.2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𝑣𝑖𝑦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=10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最終速度：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1611039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488231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639769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36" t="-108197" r="-81547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最終速度：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DC72C4-5202-4095-A3FE-99F2F31BE88B}"/>
              </a:ext>
            </a:extLst>
          </p:cNvPr>
          <p:cNvSpPr txBox="1"/>
          <p:nvPr/>
        </p:nvSpPr>
        <p:spPr>
          <a:xfrm>
            <a:off x="567542" y="5179906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問題文をよく読むと、より良い表が作れます。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24196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421169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今回は着弾（落下）までの計算なので、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横の情報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𝒗𝒙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は不要</a:t>
                </a:r>
                <a:r>
                  <a:rPr lang="ja-JP" altLang="en-US" sz="2400" dirty="0"/>
                  <a:t>です。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421169" cy="2308324"/>
              </a:xfrm>
              <a:prstGeom prst="rect">
                <a:avLst/>
              </a:prstGeom>
              <a:blipFill>
                <a:blip r:embed="rId2"/>
                <a:stretch>
                  <a:fillRect l="-970" t="-2116" r="-65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986308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初速度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𝑣𝑦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=10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最終速度：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986308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108197" r="-92795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最終速度：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793444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11588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砲弾が最高点に達するとき、縦の速度は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11588" cy="2308324"/>
              </a:xfrm>
              <a:prstGeom prst="rect">
                <a:avLst/>
              </a:prstGeom>
              <a:blipFill>
                <a:blip r:embed="rId2"/>
                <a:stretch>
                  <a:fillRect l="-982" t="-2116" r="-65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5856293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初速度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𝑣𝑖𝑦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=10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最終速度：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5856293"/>
                  </p:ext>
                </p:extLst>
              </p:nvPr>
            </p:nvGraphicFramePr>
            <p:xfrm>
              <a:off x="617169" y="3530599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108197" r="-92795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208197" r="-92795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8772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11588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縦の加速度には常に重力が掛かります。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11588" cy="2308324"/>
              </a:xfrm>
              <a:prstGeom prst="rect">
                <a:avLst/>
              </a:prstGeom>
              <a:blipFill>
                <a:blip r:embed="rId2"/>
                <a:stretch>
                  <a:fillRect l="-982" t="-2116" r="-65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4303939"/>
                  </p:ext>
                </p:extLst>
              </p:nvPr>
            </p:nvGraphicFramePr>
            <p:xfrm>
              <a:off x="617169" y="3530599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b="0" dirty="0"/>
                            <a:t>初速度</a:t>
                          </a:r>
                          <a14:m>
                            <m:oMath xmlns:m="http://schemas.openxmlformats.org/officeDocument/2006/math"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𝑣𝑖𝑦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=10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最終速度：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加速度：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kumimoji="1" lang="en-US" altLang="ja-JP" b="0" i="0" dirty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=−9.8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28ED951-9E8E-4491-A663-CAD2A0560B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4303939"/>
                  </p:ext>
                </p:extLst>
              </p:nvPr>
            </p:nvGraphicFramePr>
            <p:xfrm>
              <a:off x="617169" y="3530599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25764">
                      <a:extLst>
                        <a:ext uri="{9D8B030D-6E8A-4147-A177-3AD203B41FA5}">
                          <a16:colId xmlns:a16="http://schemas.microsoft.com/office/drawing/2014/main" val="3600349107"/>
                        </a:ext>
                      </a:extLst>
                    </a:gridCol>
                    <a:gridCol w="3902236">
                      <a:extLst>
                        <a:ext uri="{9D8B030D-6E8A-4147-A177-3AD203B41FA5}">
                          <a16:colId xmlns:a16="http://schemas.microsoft.com/office/drawing/2014/main" val="308627244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463837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108197" r="-92795" b="-23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時間：？秒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365734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208197" r="-92795" b="-13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6434579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44" t="-272464" r="-92795" b="-23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95869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18C73EBD-BF22-47DA-848C-E954EDA50BE5}"/>
                  </a:ext>
                </a:extLst>
              </p:cNvPr>
              <p:cNvSpPr txBox="1"/>
              <p:nvPr/>
            </p:nvSpPr>
            <p:spPr>
              <a:xfrm>
                <a:off x="617169" y="5153429"/>
                <a:ext cx="8408298" cy="531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重力加速度は、基本的に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−9.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で計算されます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18C73EBD-BF22-47DA-848C-E954EDA5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169" y="5153429"/>
                <a:ext cx="8408298" cy="531043"/>
              </a:xfrm>
              <a:prstGeom prst="rect">
                <a:avLst/>
              </a:prstGeom>
              <a:blipFill>
                <a:blip r:embed="rId4"/>
                <a:stretch>
                  <a:fillRect l="-1087" b="-2643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1834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11588" cy="53297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このことから、最高点に到達するまでの時間を計算できます。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式１：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𝑣𝑖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𝑎𝑡</m:t>
                    </m:r>
                  </m:oMath>
                </a14:m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0=10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−9.8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1.02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秒</a:t>
                </a:r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11588" cy="5329792"/>
              </a:xfrm>
              <a:prstGeom prst="rect">
                <a:avLst/>
              </a:prstGeom>
              <a:blipFill>
                <a:blip r:embed="rId2"/>
                <a:stretch>
                  <a:fillRect l="-982" t="-915" r="-6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249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0513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2</a:t>
            </a:r>
            <a:r>
              <a:rPr kumimoji="1" lang="ja-JP" altLang="en-US" sz="3200" b="1" u="sng" dirty="0"/>
              <a:t>次元、３次元の運動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41293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ゲーム中の大砲に砲弾を込めて、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の角度で発射しました。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初速度を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の時、地面に着弾するまで何秒かかるでしょう。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</a:p>
              <a:p>
                <a:r>
                  <a:rPr lang="ja-JP" altLang="en-US" sz="2400" dirty="0"/>
                  <a:t>求めたのは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最高点までの到達時間</a:t>
                </a:r>
                <a:r>
                  <a:rPr lang="ja-JP" altLang="en-US" sz="2400" dirty="0"/>
                  <a:t>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地面に落下するまでの時間は、最高点までの到達時間の２倍となります。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答えは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2.04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秒</a:t>
                </a:r>
                <a:r>
                  <a:rPr lang="ja-JP" altLang="en-US" sz="2400" dirty="0"/>
                  <a:t>となります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41293" cy="3046988"/>
              </a:xfrm>
              <a:prstGeom prst="rect">
                <a:avLst/>
              </a:prstGeom>
              <a:blipFill>
                <a:blip r:embed="rId2"/>
                <a:stretch>
                  <a:fillRect l="-884" t="-1603" b="-38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楕円 4">
            <a:extLst>
              <a:ext uri="{FF2B5EF4-FFF2-40B4-BE49-F238E27FC236}">
                <a16:creationId xmlns:a16="http://schemas.microsoft.com/office/drawing/2014/main" id="{3A0431CA-4042-49B0-A32E-D758B38C01ED}"/>
              </a:ext>
            </a:extLst>
          </p:cNvPr>
          <p:cNvSpPr/>
          <p:nvPr/>
        </p:nvSpPr>
        <p:spPr>
          <a:xfrm>
            <a:off x="567542" y="5132713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4CAC735-0EA1-4F0B-A976-C551877A1B19}"/>
              </a:ext>
            </a:extLst>
          </p:cNvPr>
          <p:cNvSpPr/>
          <p:nvPr/>
        </p:nvSpPr>
        <p:spPr>
          <a:xfrm>
            <a:off x="1126342" y="4616246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C8103F1-7EEC-4C0D-8BDC-63F149A9BE94}"/>
              </a:ext>
            </a:extLst>
          </p:cNvPr>
          <p:cNvSpPr/>
          <p:nvPr/>
        </p:nvSpPr>
        <p:spPr>
          <a:xfrm>
            <a:off x="1846009" y="4403117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5EC62AB7-ACA6-4831-918D-2A6915C58034}"/>
              </a:ext>
            </a:extLst>
          </p:cNvPr>
          <p:cNvSpPr/>
          <p:nvPr/>
        </p:nvSpPr>
        <p:spPr>
          <a:xfrm>
            <a:off x="2565676" y="4640183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04189CC-4A35-4DA4-A6FE-D31327EB9405}"/>
              </a:ext>
            </a:extLst>
          </p:cNvPr>
          <p:cNvSpPr/>
          <p:nvPr/>
        </p:nvSpPr>
        <p:spPr>
          <a:xfrm>
            <a:off x="3178176" y="5132713"/>
            <a:ext cx="338667" cy="330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37495845-ED50-4879-A5BC-092CECD3F55C}"/>
              </a:ext>
            </a:extLst>
          </p:cNvPr>
          <p:cNvCxnSpPr/>
          <p:nvPr/>
        </p:nvCxnSpPr>
        <p:spPr>
          <a:xfrm>
            <a:off x="728134" y="5632247"/>
            <a:ext cx="1278466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E053E0F-09DB-49F4-ADCC-29DBD9CAC695}"/>
              </a:ext>
            </a:extLst>
          </p:cNvPr>
          <p:cNvSpPr txBox="1"/>
          <p:nvPr/>
        </p:nvSpPr>
        <p:spPr>
          <a:xfrm>
            <a:off x="823788" y="5801582"/>
            <a:ext cx="108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1.02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327B2DD8-1DDE-4257-B4EC-3D03CF7F7829}"/>
              </a:ext>
            </a:extLst>
          </p:cNvPr>
          <p:cNvCxnSpPr/>
          <p:nvPr/>
        </p:nvCxnSpPr>
        <p:spPr>
          <a:xfrm>
            <a:off x="2015342" y="5632247"/>
            <a:ext cx="1278466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9D13FC2-18B9-4B46-A249-CAC1DC241EA3}"/>
              </a:ext>
            </a:extLst>
          </p:cNvPr>
          <p:cNvSpPr txBox="1"/>
          <p:nvPr/>
        </p:nvSpPr>
        <p:spPr>
          <a:xfrm>
            <a:off x="2110996" y="5801582"/>
            <a:ext cx="108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1.02</a:t>
            </a:r>
            <a:r>
              <a:rPr lang="ja-JP" altLang="en-US" sz="2400" dirty="0"/>
              <a:t>秒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55356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1033</TotalTime>
  <Words>1521</Words>
  <Application>Microsoft Office PowerPoint</Application>
  <PresentationFormat>ワイド画面</PresentationFormat>
  <Paragraphs>201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122</cp:revision>
  <dcterms:created xsi:type="dcterms:W3CDTF">2024-08-27T02:15:54Z</dcterms:created>
  <dcterms:modified xsi:type="dcterms:W3CDTF">2025-06-02T07:49:10Z</dcterms:modified>
</cp:coreProperties>
</file>