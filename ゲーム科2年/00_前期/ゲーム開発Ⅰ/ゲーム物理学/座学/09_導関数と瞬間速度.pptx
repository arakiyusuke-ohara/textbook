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59" r:id="rId3"/>
    <p:sldId id="260" r:id="rId4"/>
    <p:sldId id="261" r:id="rId5"/>
    <p:sldId id="262" r:id="rId6"/>
    <p:sldId id="263" r:id="rId7"/>
    <p:sldId id="264" r:id="rId8"/>
    <p:sldId id="265" r:id="rId9"/>
    <p:sldId id="266" r:id="rId10"/>
    <p:sldId id="267" r:id="rId11"/>
    <p:sldId id="268" r:id="rId12"/>
    <p:sldId id="270" r:id="rId13"/>
    <p:sldId id="272" r:id="rId14"/>
    <p:sldId id="269" r:id="rId15"/>
    <p:sldId id="271" r:id="rId16"/>
    <p:sldId id="273" r:id="rId17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45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A950417-98BD-4172-A454-C76A49B977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9F83E9AE-84BC-4452-8901-A17B27CC41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B320892-0B52-41F1-BED3-1F36AE1E3B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2024/12/17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4114070-C582-4B06-9805-0DFEFB583F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E8014BC-198B-4E5B-89B4-FDBFD423BF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455607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42C298B-DDF7-4BBD-B08C-16E40ED109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284FECC-C823-4D42-8CAA-49FC9A8C5B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8B26879-4594-4C3F-BFFA-F4CB8674F4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2024/12/17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5FC6BE6-BB12-4008-B4BA-62D249C499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6B8CAC6-4A91-4F74-9267-5C30714BF9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024735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078AD04-3137-4B16-97B1-DC1252F678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BF8FC57-7A4A-4196-89B9-B1A6197D42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CB80319-F15F-4C62-95BA-15B326F988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2024/12/17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89F0141-2F76-4B73-AAE0-1EDFEEA42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1F3A285-8438-4738-B4CE-18FC566351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814076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539AAF0-C896-4BE5-8FCC-3432085248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96C332E-2DEA-4D46-8FEF-31D60DD975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F9D3FC79-3A15-47E8-8DC1-B5A928FF7F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6AC8BB6-CC26-4AE8-B477-9A47780715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2024/12/17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D813CBF-5D01-4CF4-BD63-C8FC321B24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123F9A7-54F5-421C-9A71-CC8C4BC923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20282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E9A2E9A-2DDB-4057-9711-D792B04FFD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2E5496D-7437-4ADF-BF05-1B99ACC091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48A11600-06C5-424A-B2EA-FFEF7E75EA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43408E51-ED83-4218-8378-F0B44E296E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3D26C0C0-145F-4A52-BA72-D19A2971D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F649033F-9C86-42B4-AB90-0FE47F39E3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2024/12/17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F73F9DE8-EAB7-4A80-BF64-725C6DF460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71D0069B-43F7-430A-8C9D-C2BA7B92EC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546531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CD48D3C-20F1-4E20-8FBC-734E9D946A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B2E416B3-4C21-4278-9B88-62D41335DC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2024/12/17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3EBA727E-E9E7-4EA2-B6ED-8CF036F2B5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8DC1C47C-5B0A-471B-BB77-77BE62B991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5308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E55C2DD0-D598-4A5F-B542-7C6806B2F7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2024/12/17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2260FD2A-DF3F-46FE-B2F8-14D9A20697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2EF1C2C-6093-4ADD-9BFE-41DB125AD3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204145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A35797B-0171-40BC-BCA2-0C1BA0D4C3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79CB0DB-618C-450C-BE67-5FD277B25D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42CC888D-BF8F-439D-9FC7-2DD4A8D750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4C2FA2E-4305-4946-8BDE-7AE113CDE6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2024/12/17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BA070CF-301C-4595-8007-2A2C19DFE0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3E21C8C-DA9E-4E6B-B45C-C2C4D38971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669295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00F7326-6BA4-4DC0-9519-87D04747ED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3A1C2397-9613-4B24-A7D0-9EEE44E01C8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05462283-8239-49BE-9D96-00B24831B7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F53455D-91B5-4938-AC24-CAFF77A6CD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2024/12/17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7F23C7B-CEBC-48FC-81DC-98AFE68C2D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7E65B5D-4A4C-4A6E-8AEB-3D88DC5827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1402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2AE957E-488D-43B9-8182-2A1DEEF0F7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0E67B1EC-AFC1-41D0-BBB1-9A2E85E139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1B76048-AF91-4C32-A054-6305C2928E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2024/12/17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8C66A49-F960-4196-B16B-31B98B3401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D7A86F7-B140-4439-A33B-63EA8498D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856319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B4FA5DEF-DC74-4F38-9DA0-1EE9752F5F3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23C9EE93-ED20-4B3B-93FB-5A088C436B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370666-1A4C-42B1-8748-A0D1453943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2024/12/17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26EC7E2-E7E6-45F2-BF6D-CDF318CECC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CDE4F59-4276-46E3-AE2A-D255BC7BB3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428509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F527E70E-5441-439A-8EA3-0826A036FC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A7C9CE9-5A22-43DB-862A-3B24B2BF15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45D76C-CB70-434A-A116-22531EEB417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CC885B-4903-4D54-9A93-00025F12DED9}" type="datetimeFigureOut">
              <a:rPr kumimoji="1" lang="ja-JP" altLang="en-US" smtClean="0"/>
              <a:t>2024/12/17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505E6D4-441B-4864-8545-0FDE04F664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FFD1810-F6DD-4BB4-8465-A3A3F3BF33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517845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46761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導関数と瞬間速度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75713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前回と同じく真上に投げたボールについて考えます。</a:t>
            </a:r>
            <a:endParaRPr lang="en-US" altLang="ja-JP" sz="2400" dirty="0"/>
          </a:p>
        </p:txBody>
      </p:sp>
      <p:sp>
        <p:nvSpPr>
          <p:cNvPr id="2" name="楕円 1">
            <a:extLst>
              <a:ext uri="{FF2B5EF4-FFF2-40B4-BE49-F238E27FC236}">
                <a16:creationId xmlns:a16="http://schemas.microsoft.com/office/drawing/2014/main" id="{08203C59-1AAD-4C6B-B7F7-A54881080D94}"/>
              </a:ext>
            </a:extLst>
          </p:cNvPr>
          <p:cNvSpPr/>
          <p:nvPr/>
        </p:nvSpPr>
        <p:spPr>
          <a:xfrm>
            <a:off x="1397001" y="5048904"/>
            <a:ext cx="694266" cy="736600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楕円 4">
            <a:extLst>
              <a:ext uri="{FF2B5EF4-FFF2-40B4-BE49-F238E27FC236}">
                <a16:creationId xmlns:a16="http://schemas.microsoft.com/office/drawing/2014/main" id="{62E21816-2D46-44D6-A94A-CE7A8B1219BF}"/>
              </a:ext>
            </a:extLst>
          </p:cNvPr>
          <p:cNvSpPr/>
          <p:nvPr/>
        </p:nvSpPr>
        <p:spPr>
          <a:xfrm>
            <a:off x="1966381" y="3683953"/>
            <a:ext cx="694266" cy="736600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7" name="楕円 6">
            <a:extLst>
              <a:ext uri="{FF2B5EF4-FFF2-40B4-BE49-F238E27FC236}">
                <a16:creationId xmlns:a16="http://schemas.microsoft.com/office/drawing/2014/main" id="{4B6C2FBC-596E-463F-92CE-A8FC8D154CCA}"/>
              </a:ext>
            </a:extLst>
          </p:cNvPr>
          <p:cNvSpPr/>
          <p:nvPr/>
        </p:nvSpPr>
        <p:spPr>
          <a:xfrm>
            <a:off x="2565400" y="2805747"/>
            <a:ext cx="694266" cy="736600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楕円 7">
            <a:extLst>
              <a:ext uri="{FF2B5EF4-FFF2-40B4-BE49-F238E27FC236}">
                <a16:creationId xmlns:a16="http://schemas.microsoft.com/office/drawing/2014/main" id="{67754C83-F673-4981-A59D-12C16F51A9A2}"/>
              </a:ext>
            </a:extLst>
          </p:cNvPr>
          <p:cNvSpPr/>
          <p:nvPr/>
        </p:nvSpPr>
        <p:spPr>
          <a:xfrm>
            <a:off x="3539068" y="2437447"/>
            <a:ext cx="694266" cy="736600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楕円 8">
            <a:extLst>
              <a:ext uri="{FF2B5EF4-FFF2-40B4-BE49-F238E27FC236}">
                <a16:creationId xmlns:a16="http://schemas.microsoft.com/office/drawing/2014/main" id="{3E1DF3BB-5ADE-420A-A39D-76D189E56DD5}"/>
              </a:ext>
            </a:extLst>
          </p:cNvPr>
          <p:cNvSpPr/>
          <p:nvPr/>
        </p:nvSpPr>
        <p:spPr>
          <a:xfrm>
            <a:off x="4436535" y="2805747"/>
            <a:ext cx="694266" cy="736600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楕円 9">
            <a:extLst>
              <a:ext uri="{FF2B5EF4-FFF2-40B4-BE49-F238E27FC236}">
                <a16:creationId xmlns:a16="http://schemas.microsoft.com/office/drawing/2014/main" id="{383AB766-5023-45F4-8449-951DAB721ED0}"/>
              </a:ext>
            </a:extLst>
          </p:cNvPr>
          <p:cNvSpPr/>
          <p:nvPr/>
        </p:nvSpPr>
        <p:spPr>
          <a:xfrm>
            <a:off x="5198534" y="4052253"/>
            <a:ext cx="694266" cy="736600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楕円 10">
            <a:extLst>
              <a:ext uri="{FF2B5EF4-FFF2-40B4-BE49-F238E27FC236}">
                <a16:creationId xmlns:a16="http://schemas.microsoft.com/office/drawing/2014/main" id="{B0BFCF01-EBBA-40EF-A471-77C32E4256B7}"/>
              </a:ext>
            </a:extLst>
          </p:cNvPr>
          <p:cNvSpPr/>
          <p:nvPr/>
        </p:nvSpPr>
        <p:spPr>
          <a:xfrm>
            <a:off x="5892800" y="5771341"/>
            <a:ext cx="694266" cy="736600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169292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46761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導関数と瞬間速度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911018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>
                <a:solidFill>
                  <a:srgbClr val="00B050"/>
                </a:solidFill>
              </a:rPr>
              <a:t>ボールの高さを縦軸</a:t>
            </a:r>
            <a:r>
              <a:rPr lang="ja-JP" altLang="en-US" sz="2400" dirty="0"/>
              <a:t>、</a:t>
            </a:r>
            <a:r>
              <a:rPr lang="ja-JP" altLang="en-US" sz="2400" dirty="0">
                <a:solidFill>
                  <a:srgbClr val="FF0000"/>
                </a:solidFill>
              </a:rPr>
              <a:t>経過時間を横軸</a:t>
            </a:r>
            <a:r>
              <a:rPr lang="ja-JP" altLang="en-US" sz="2400" dirty="0"/>
              <a:t>としてグラフにします。</a:t>
            </a:r>
            <a:endParaRPr lang="en-US" altLang="ja-JP" sz="2400" dirty="0"/>
          </a:p>
        </p:txBody>
      </p:sp>
      <p:sp>
        <p:nvSpPr>
          <p:cNvPr id="2" name="楕円 1">
            <a:extLst>
              <a:ext uri="{FF2B5EF4-FFF2-40B4-BE49-F238E27FC236}">
                <a16:creationId xmlns:a16="http://schemas.microsoft.com/office/drawing/2014/main" id="{08203C59-1AAD-4C6B-B7F7-A54881080D94}"/>
              </a:ext>
            </a:extLst>
          </p:cNvPr>
          <p:cNvSpPr/>
          <p:nvPr/>
        </p:nvSpPr>
        <p:spPr>
          <a:xfrm>
            <a:off x="1397001" y="5048904"/>
            <a:ext cx="108000" cy="108000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楕円 4">
            <a:extLst>
              <a:ext uri="{FF2B5EF4-FFF2-40B4-BE49-F238E27FC236}">
                <a16:creationId xmlns:a16="http://schemas.microsoft.com/office/drawing/2014/main" id="{62E21816-2D46-44D6-A94A-CE7A8B1219BF}"/>
              </a:ext>
            </a:extLst>
          </p:cNvPr>
          <p:cNvSpPr/>
          <p:nvPr/>
        </p:nvSpPr>
        <p:spPr>
          <a:xfrm>
            <a:off x="1966381" y="3683953"/>
            <a:ext cx="108000" cy="108000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7" name="楕円 6">
            <a:extLst>
              <a:ext uri="{FF2B5EF4-FFF2-40B4-BE49-F238E27FC236}">
                <a16:creationId xmlns:a16="http://schemas.microsoft.com/office/drawing/2014/main" id="{4B6C2FBC-596E-463F-92CE-A8FC8D154CCA}"/>
              </a:ext>
            </a:extLst>
          </p:cNvPr>
          <p:cNvSpPr/>
          <p:nvPr/>
        </p:nvSpPr>
        <p:spPr>
          <a:xfrm>
            <a:off x="2565400" y="2805747"/>
            <a:ext cx="108000" cy="108000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楕円 7">
            <a:extLst>
              <a:ext uri="{FF2B5EF4-FFF2-40B4-BE49-F238E27FC236}">
                <a16:creationId xmlns:a16="http://schemas.microsoft.com/office/drawing/2014/main" id="{67754C83-F673-4981-A59D-12C16F51A9A2}"/>
              </a:ext>
            </a:extLst>
          </p:cNvPr>
          <p:cNvSpPr/>
          <p:nvPr/>
        </p:nvSpPr>
        <p:spPr>
          <a:xfrm>
            <a:off x="3539068" y="2437447"/>
            <a:ext cx="108000" cy="108000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楕円 8">
            <a:extLst>
              <a:ext uri="{FF2B5EF4-FFF2-40B4-BE49-F238E27FC236}">
                <a16:creationId xmlns:a16="http://schemas.microsoft.com/office/drawing/2014/main" id="{3E1DF3BB-5ADE-420A-A39D-76D189E56DD5}"/>
              </a:ext>
            </a:extLst>
          </p:cNvPr>
          <p:cNvSpPr/>
          <p:nvPr/>
        </p:nvSpPr>
        <p:spPr>
          <a:xfrm>
            <a:off x="4436535" y="2805747"/>
            <a:ext cx="108000" cy="108000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楕円 9">
            <a:extLst>
              <a:ext uri="{FF2B5EF4-FFF2-40B4-BE49-F238E27FC236}">
                <a16:creationId xmlns:a16="http://schemas.microsoft.com/office/drawing/2014/main" id="{383AB766-5023-45F4-8449-951DAB721ED0}"/>
              </a:ext>
            </a:extLst>
          </p:cNvPr>
          <p:cNvSpPr/>
          <p:nvPr/>
        </p:nvSpPr>
        <p:spPr>
          <a:xfrm>
            <a:off x="5198534" y="4052253"/>
            <a:ext cx="108000" cy="108000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楕円 10">
            <a:extLst>
              <a:ext uri="{FF2B5EF4-FFF2-40B4-BE49-F238E27FC236}">
                <a16:creationId xmlns:a16="http://schemas.microsoft.com/office/drawing/2014/main" id="{B0BFCF01-EBBA-40EF-A471-77C32E4256B7}"/>
              </a:ext>
            </a:extLst>
          </p:cNvPr>
          <p:cNvSpPr/>
          <p:nvPr/>
        </p:nvSpPr>
        <p:spPr>
          <a:xfrm>
            <a:off x="5892800" y="5771341"/>
            <a:ext cx="108000" cy="108000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2" name="直線矢印コネクタ 11">
            <a:extLst>
              <a:ext uri="{FF2B5EF4-FFF2-40B4-BE49-F238E27FC236}">
                <a16:creationId xmlns:a16="http://schemas.microsoft.com/office/drawing/2014/main" id="{9B44A987-615F-420F-849A-614B853F0D1E}"/>
              </a:ext>
            </a:extLst>
          </p:cNvPr>
          <p:cNvCxnSpPr>
            <a:cxnSpLocks/>
          </p:cNvCxnSpPr>
          <p:nvPr/>
        </p:nvCxnSpPr>
        <p:spPr>
          <a:xfrm flipV="1">
            <a:off x="956733" y="2545447"/>
            <a:ext cx="0" cy="3799368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線矢印コネクタ 12">
            <a:extLst>
              <a:ext uri="{FF2B5EF4-FFF2-40B4-BE49-F238E27FC236}">
                <a16:creationId xmlns:a16="http://schemas.microsoft.com/office/drawing/2014/main" id="{87FDCB3D-4E75-448B-91EF-7A3789D865D4}"/>
              </a:ext>
            </a:extLst>
          </p:cNvPr>
          <p:cNvCxnSpPr>
            <a:cxnSpLocks/>
          </p:cNvCxnSpPr>
          <p:nvPr/>
        </p:nvCxnSpPr>
        <p:spPr>
          <a:xfrm>
            <a:off x="956733" y="6344814"/>
            <a:ext cx="5044067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3C317F07-B113-4B43-8E5D-B6701C1D3E2D}"/>
              </a:ext>
            </a:extLst>
          </p:cNvPr>
          <p:cNvSpPr txBox="1"/>
          <p:nvPr/>
        </p:nvSpPr>
        <p:spPr>
          <a:xfrm>
            <a:off x="596782" y="2083782"/>
            <a:ext cx="8002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高さ</a:t>
            </a:r>
            <a:endParaRPr lang="en-US" altLang="ja-JP" sz="2400" dirty="0"/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713AA371-0E8D-4268-9A36-DB607AE25167}"/>
              </a:ext>
            </a:extLst>
          </p:cNvPr>
          <p:cNvSpPr txBox="1"/>
          <p:nvPr/>
        </p:nvSpPr>
        <p:spPr>
          <a:xfrm>
            <a:off x="6000800" y="6113981"/>
            <a:ext cx="8002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時間</a:t>
            </a:r>
            <a:endParaRPr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21745637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46761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導関数と瞬間速度</a:t>
            </a:r>
            <a:endParaRPr kumimoji="1" lang="en-US" altLang="ja-JP" sz="3200" b="1" u="sn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/>
              <p:nvPr/>
            </p:nvSpPr>
            <p:spPr>
              <a:xfrm>
                <a:off x="6801019" y="2883678"/>
                <a:ext cx="5057795" cy="284828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ja-JP" altLang="en-US" sz="2000" dirty="0"/>
                  <a:t>平均速度の計算は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ja-JP" sz="20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ja-JP" altLang="en-US" sz="2000" i="1">
                            <a:latin typeface="Cambria Math" panose="02040503050406030204" pitchFamily="18" charset="0"/>
                          </a:rPr>
                          <m:t>変位</m:t>
                        </m:r>
                      </m:num>
                      <m:den>
                        <m:r>
                          <a:rPr lang="ja-JP" altLang="en-US" sz="2000" i="1">
                            <a:latin typeface="Cambria Math" panose="02040503050406030204" pitchFamily="18" charset="0"/>
                          </a:rPr>
                          <m:t>時間</m:t>
                        </m:r>
                      </m:den>
                    </m:f>
                  </m:oMath>
                </a14:m>
                <a:r>
                  <a:rPr lang="en-US" altLang="ja-JP" sz="2000" dirty="0"/>
                  <a:t> </a:t>
                </a:r>
                <a:r>
                  <a:rPr lang="ja-JP" altLang="en-US" sz="2000" dirty="0"/>
                  <a:t>となります。</a:t>
                </a:r>
                <a:endParaRPr lang="en-US" altLang="ja-JP" sz="2000" dirty="0"/>
              </a:p>
              <a:p>
                <a:r>
                  <a:rPr lang="ja-JP" altLang="en-US" sz="2000" dirty="0"/>
                  <a:t>つまり</a:t>
                </a:r>
                <a14:m>
                  <m:oMath xmlns:m="http://schemas.openxmlformats.org/officeDocument/2006/math">
                    <m:r>
                      <a:rPr lang="en-US" altLang="ja-JP" sz="2000" b="0" i="1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ja-JP" altLang="en-US" sz="2000" i="1">
                        <a:latin typeface="Cambria Math" panose="02040503050406030204" pitchFamily="18" charset="0"/>
                      </a:rPr>
                      <m:t>≧</m:t>
                    </m:r>
                    <m:r>
                      <a:rPr lang="en-US" altLang="ja-JP" sz="2000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ja-JP" altLang="en-US" sz="2000" i="1">
                        <a:latin typeface="Cambria Math" panose="02040503050406030204" pitchFamily="18" charset="0"/>
                      </a:rPr>
                      <m:t>≧</m:t>
                    </m:r>
                    <m:r>
                      <a:rPr lang="en-US" altLang="ja-JP" sz="2000" b="0" i="1" smtClean="0">
                        <a:latin typeface="Cambria Math" panose="02040503050406030204" pitchFamily="18" charset="0"/>
                      </a:rPr>
                      <m:t>5</m:t>
                    </m:r>
                    <m:r>
                      <a:rPr lang="ja-JP" altLang="en-US" sz="2000" i="1">
                        <a:latin typeface="Cambria Math" panose="02040503050406030204" pitchFamily="18" charset="0"/>
                      </a:rPr>
                      <m:t>の</m:t>
                    </m:r>
                  </m:oMath>
                </a14:m>
                <a:r>
                  <a:rPr lang="ja-JP" altLang="en-US" sz="2000" dirty="0"/>
                  <a:t>平均速度をグラフ</a:t>
                </a:r>
                <a:endParaRPr lang="en-US" altLang="ja-JP" sz="2000" dirty="0"/>
              </a:p>
              <a:p>
                <a:r>
                  <a:rPr lang="ja-JP" altLang="en-US" sz="2000" dirty="0"/>
                  <a:t>にすると、</a:t>
                </a:r>
                <a:r>
                  <a:rPr lang="ja-JP" altLang="en-US" sz="2000" b="1" dirty="0">
                    <a:solidFill>
                      <a:srgbClr val="FF0000"/>
                    </a:solidFill>
                  </a:rPr>
                  <a:t>傾きが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ja-JP" sz="20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ja-JP" altLang="en-US" sz="20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変位</m:t>
                        </m:r>
                      </m:num>
                      <m:den>
                        <m:r>
                          <a:rPr lang="ja-JP" altLang="en-US" sz="20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時間</m:t>
                        </m:r>
                      </m:den>
                    </m:f>
                  </m:oMath>
                </a14:m>
                <a:r>
                  <a:rPr lang="ja-JP" altLang="en-US" sz="2000" b="1" dirty="0">
                    <a:solidFill>
                      <a:srgbClr val="FF0000"/>
                    </a:solidFill>
                  </a:rPr>
                  <a:t>の直線</a:t>
                </a:r>
                <a:r>
                  <a:rPr lang="ja-JP" altLang="en-US" sz="2000" dirty="0"/>
                  <a:t>となります。</a:t>
                </a:r>
                <a:endParaRPr lang="en-US" altLang="ja-JP" sz="2000" dirty="0"/>
              </a:p>
              <a:p>
                <a:endParaRPr lang="en-US" altLang="ja-JP" sz="2000" dirty="0"/>
              </a:p>
              <a:p>
                <a:r>
                  <a:rPr lang="en-US" altLang="ja-JP" sz="2000" b="1" dirty="0">
                    <a:solidFill>
                      <a:srgbClr val="00B050"/>
                    </a:solidFill>
                  </a:rPr>
                  <a:t>MEMO</a:t>
                </a:r>
              </a:p>
              <a:p>
                <a14:m>
                  <m:oMath xmlns:m="http://schemas.openxmlformats.org/officeDocument/2006/math">
                    <m:r>
                      <m:rPr>
                        <m:nor/>
                      </m:rPr>
                      <a:rPr lang="ja-JP" altLang="en-US" sz="2000" dirty="0"/>
                      <m:t>直線の傾き</m:t>
                    </m:r>
                    <m:r>
                      <m:rPr>
                        <m:nor/>
                      </m:rPr>
                      <a:rPr lang="en-US" altLang="ja-JP" sz="2000" b="0" i="0" dirty="0" smtClean="0"/>
                      <m:t>=</m:t>
                    </m:r>
                    <m:f>
                      <m:fPr>
                        <m:ctrlPr>
                          <a:rPr lang="en-US" altLang="ja-JP" sz="2000" b="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ja-JP" sz="2000" b="0" i="1" dirty="0" smtClean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ja-JP" altLang="en-US" sz="2000" i="1" dirty="0">
                            <a:latin typeface="Cambria Math" panose="02040503050406030204" pitchFamily="18" charset="0"/>
                          </a:rPr>
                          <m:t>の</m:t>
                        </m:r>
                        <m:r>
                          <a:rPr lang="ja-JP" altLang="en-US" sz="2000" i="1" dirty="0" smtClean="0">
                            <a:latin typeface="Cambria Math" panose="02040503050406030204" pitchFamily="18" charset="0"/>
                          </a:rPr>
                          <m:t>増加量</m:t>
                        </m:r>
                      </m:num>
                      <m:den>
                        <m:r>
                          <a:rPr lang="en-US" altLang="ja-JP" sz="2000" b="0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ja-JP" altLang="en-US" sz="2000" i="1" dirty="0">
                            <a:latin typeface="Cambria Math" panose="02040503050406030204" pitchFamily="18" charset="0"/>
                          </a:rPr>
                          <m:t>の</m:t>
                        </m:r>
                        <m:r>
                          <a:rPr lang="ja-JP" altLang="en-US" sz="2000" i="1" dirty="0" smtClean="0">
                            <a:latin typeface="Cambria Math" panose="02040503050406030204" pitchFamily="18" charset="0"/>
                          </a:rPr>
                          <m:t>増加量</m:t>
                        </m:r>
                      </m:den>
                    </m:f>
                  </m:oMath>
                </a14:m>
                <a:r>
                  <a:rPr lang="en-US" altLang="ja-JP" sz="2000" dirty="0"/>
                  <a:t> </a:t>
                </a:r>
              </a:p>
            </p:txBody>
          </p:sp>
        </mc:Choice>
        <mc:Fallback xmlns="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01019" y="2883678"/>
                <a:ext cx="5057795" cy="2848280"/>
              </a:xfrm>
              <a:prstGeom prst="rect">
                <a:avLst/>
              </a:prstGeom>
              <a:blipFill>
                <a:blip r:embed="rId2"/>
                <a:stretch>
                  <a:fillRect l="-1327" r="-603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楕円 1">
            <a:extLst>
              <a:ext uri="{FF2B5EF4-FFF2-40B4-BE49-F238E27FC236}">
                <a16:creationId xmlns:a16="http://schemas.microsoft.com/office/drawing/2014/main" id="{08203C59-1AAD-4C6B-B7F7-A54881080D94}"/>
              </a:ext>
            </a:extLst>
          </p:cNvPr>
          <p:cNvSpPr/>
          <p:nvPr/>
        </p:nvSpPr>
        <p:spPr>
          <a:xfrm>
            <a:off x="1397001" y="5048904"/>
            <a:ext cx="108000" cy="108000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楕円 4">
            <a:extLst>
              <a:ext uri="{FF2B5EF4-FFF2-40B4-BE49-F238E27FC236}">
                <a16:creationId xmlns:a16="http://schemas.microsoft.com/office/drawing/2014/main" id="{62E21816-2D46-44D6-A94A-CE7A8B1219BF}"/>
              </a:ext>
            </a:extLst>
          </p:cNvPr>
          <p:cNvSpPr/>
          <p:nvPr/>
        </p:nvSpPr>
        <p:spPr>
          <a:xfrm>
            <a:off x="1966381" y="3683953"/>
            <a:ext cx="108000" cy="108000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7" name="楕円 6">
            <a:extLst>
              <a:ext uri="{FF2B5EF4-FFF2-40B4-BE49-F238E27FC236}">
                <a16:creationId xmlns:a16="http://schemas.microsoft.com/office/drawing/2014/main" id="{4B6C2FBC-596E-463F-92CE-A8FC8D154CCA}"/>
              </a:ext>
            </a:extLst>
          </p:cNvPr>
          <p:cNvSpPr/>
          <p:nvPr/>
        </p:nvSpPr>
        <p:spPr>
          <a:xfrm>
            <a:off x="2565400" y="2805747"/>
            <a:ext cx="108000" cy="108000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楕円 7">
            <a:extLst>
              <a:ext uri="{FF2B5EF4-FFF2-40B4-BE49-F238E27FC236}">
                <a16:creationId xmlns:a16="http://schemas.microsoft.com/office/drawing/2014/main" id="{67754C83-F673-4981-A59D-12C16F51A9A2}"/>
              </a:ext>
            </a:extLst>
          </p:cNvPr>
          <p:cNvSpPr/>
          <p:nvPr/>
        </p:nvSpPr>
        <p:spPr>
          <a:xfrm>
            <a:off x="3539068" y="2437447"/>
            <a:ext cx="108000" cy="108000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楕円 8">
            <a:extLst>
              <a:ext uri="{FF2B5EF4-FFF2-40B4-BE49-F238E27FC236}">
                <a16:creationId xmlns:a16="http://schemas.microsoft.com/office/drawing/2014/main" id="{3E1DF3BB-5ADE-420A-A39D-76D189E56DD5}"/>
              </a:ext>
            </a:extLst>
          </p:cNvPr>
          <p:cNvSpPr/>
          <p:nvPr/>
        </p:nvSpPr>
        <p:spPr>
          <a:xfrm>
            <a:off x="4436535" y="2805747"/>
            <a:ext cx="108000" cy="108000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楕円 9">
            <a:extLst>
              <a:ext uri="{FF2B5EF4-FFF2-40B4-BE49-F238E27FC236}">
                <a16:creationId xmlns:a16="http://schemas.microsoft.com/office/drawing/2014/main" id="{383AB766-5023-45F4-8449-951DAB721ED0}"/>
              </a:ext>
            </a:extLst>
          </p:cNvPr>
          <p:cNvSpPr/>
          <p:nvPr/>
        </p:nvSpPr>
        <p:spPr>
          <a:xfrm>
            <a:off x="5198534" y="4052253"/>
            <a:ext cx="108000" cy="108000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楕円 10">
            <a:extLst>
              <a:ext uri="{FF2B5EF4-FFF2-40B4-BE49-F238E27FC236}">
                <a16:creationId xmlns:a16="http://schemas.microsoft.com/office/drawing/2014/main" id="{B0BFCF01-EBBA-40EF-A471-77C32E4256B7}"/>
              </a:ext>
            </a:extLst>
          </p:cNvPr>
          <p:cNvSpPr/>
          <p:nvPr/>
        </p:nvSpPr>
        <p:spPr>
          <a:xfrm>
            <a:off x="5892800" y="5771341"/>
            <a:ext cx="108000" cy="108000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2" name="直線矢印コネクタ 11">
            <a:extLst>
              <a:ext uri="{FF2B5EF4-FFF2-40B4-BE49-F238E27FC236}">
                <a16:creationId xmlns:a16="http://schemas.microsoft.com/office/drawing/2014/main" id="{9B44A987-615F-420F-849A-614B853F0D1E}"/>
              </a:ext>
            </a:extLst>
          </p:cNvPr>
          <p:cNvCxnSpPr>
            <a:cxnSpLocks/>
          </p:cNvCxnSpPr>
          <p:nvPr/>
        </p:nvCxnSpPr>
        <p:spPr>
          <a:xfrm flipV="1">
            <a:off x="956733" y="2545447"/>
            <a:ext cx="0" cy="3799368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線矢印コネクタ 12">
            <a:extLst>
              <a:ext uri="{FF2B5EF4-FFF2-40B4-BE49-F238E27FC236}">
                <a16:creationId xmlns:a16="http://schemas.microsoft.com/office/drawing/2014/main" id="{87FDCB3D-4E75-448B-91EF-7A3789D865D4}"/>
              </a:ext>
            </a:extLst>
          </p:cNvPr>
          <p:cNvCxnSpPr>
            <a:cxnSpLocks/>
          </p:cNvCxnSpPr>
          <p:nvPr/>
        </p:nvCxnSpPr>
        <p:spPr>
          <a:xfrm>
            <a:off x="956733" y="6344814"/>
            <a:ext cx="5044067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3C317F07-B113-4B43-8E5D-B6701C1D3E2D}"/>
              </a:ext>
            </a:extLst>
          </p:cNvPr>
          <p:cNvSpPr txBox="1"/>
          <p:nvPr/>
        </p:nvSpPr>
        <p:spPr>
          <a:xfrm>
            <a:off x="596782" y="2083782"/>
            <a:ext cx="8002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高さ</a:t>
            </a:r>
            <a:endParaRPr lang="en-US" altLang="ja-JP" sz="2400" dirty="0"/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713AA371-0E8D-4268-9A36-DB607AE25167}"/>
              </a:ext>
            </a:extLst>
          </p:cNvPr>
          <p:cNvSpPr txBox="1"/>
          <p:nvPr/>
        </p:nvSpPr>
        <p:spPr>
          <a:xfrm>
            <a:off x="6000800" y="6113981"/>
            <a:ext cx="8002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時間</a:t>
            </a:r>
            <a:endParaRPr lang="en-US" altLang="ja-JP" sz="2400" dirty="0"/>
          </a:p>
        </p:txBody>
      </p:sp>
      <p:cxnSp>
        <p:nvCxnSpPr>
          <p:cNvPr id="14" name="直線コネクタ 13">
            <a:extLst>
              <a:ext uri="{FF2B5EF4-FFF2-40B4-BE49-F238E27FC236}">
                <a16:creationId xmlns:a16="http://schemas.microsoft.com/office/drawing/2014/main" id="{16485117-6FDC-484C-916C-880D273AE956}"/>
              </a:ext>
            </a:extLst>
          </p:cNvPr>
          <p:cNvCxnSpPr>
            <a:cxnSpLocks/>
            <a:stCxn id="5" idx="6"/>
          </p:cNvCxnSpPr>
          <p:nvPr/>
        </p:nvCxnSpPr>
        <p:spPr>
          <a:xfrm>
            <a:off x="2074381" y="3737953"/>
            <a:ext cx="2416154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線コネクタ 16">
            <a:extLst>
              <a:ext uri="{FF2B5EF4-FFF2-40B4-BE49-F238E27FC236}">
                <a16:creationId xmlns:a16="http://schemas.microsoft.com/office/drawing/2014/main" id="{EC119A5D-8DEE-4E29-BE95-1C4284B87D93}"/>
              </a:ext>
            </a:extLst>
          </p:cNvPr>
          <p:cNvCxnSpPr>
            <a:cxnSpLocks/>
            <a:endCxn id="9" idx="4"/>
          </p:cNvCxnSpPr>
          <p:nvPr/>
        </p:nvCxnSpPr>
        <p:spPr>
          <a:xfrm flipV="1">
            <a:off x="4490535" y="2913747"/>
            <a:ext cx="0" cy="824206"/>
          </a:xfrm>
          <a:prstGeom prst="line">
            <a:avLst/>
          </a:prstGeom>
          <a:ln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02787A54-E1CC-4D79-B0EB-79A5CBADED71}"/>
              </a:ext>
            </a:extLst>
          </p:cNvPr>
          <p:cNvSpPr txBox="1"/>
          <p:nvPr/>
        </p:nvSpPr>
        <p:spPr>
          <a:xfrm>
            <a:off x="2677164" y="3760143"/>
            <a:ext cx="12105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000" dirty="0">
                <a:solidFill>
                  <a:srgbClr val="FF0000"/>
                </a:solidFill>
              </a:rPr>
              <a:t>経過時間</a:t>
            </a:r>
            <a:endParaRPr lang="en-US" altLang="ja-JP" sz="2000" dirty="0">
              <a:solidFill>
                <a:srgbClr val="FF0000"/>
              </a:solidFill>
            </a:endParaRPr>
          </a:p>
        </p:txBody>
      </p: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D61A8588-C842-414F-868A-E3B88D5D7039}"/>
              </a:ext>
            </a:extLst>
          </p:cNvPr>
          <p:cNvSpPr txBox="1"/>
          <p:nvPr/>
        </p:nvSpPr>
        <p:spPr>
          <a:xfrm>
            <a:off x="4490535" y="3148883"/>
            <a:ext cx="6976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000" dirty="0">
                <a:solidFill>
                  <a:srgbClr val="00B050"/>
                </a:solidFill>
              </a:rPr>
              <a:t>変位</a:t>
            </a:r>
            <a:endParaRPr lang="en-US" altLang="ja-JP" sz="2000" dirty="0">
              <a:solidFill>
                <a:srgbClr val="00B050"/>
              </a:solidFill>
            </a:endParaRPr>
          </a:p>
        </p:txBody>
      </p:sp>
      <p:cxnSp>
        <p:nvCxnSpPr>
          <p:cNvPr id="24" name="直線コネクタ 23">
            <a:extLst>
              <a:ext uri="{FF2B5EF4-FFF2-40B4-BE49-F238E27FC236}">
                <a16:creationId xmlns:a16="http://schemas.microsoft.com/office/drawing/2014/main" id="{7894DC16-1A2D-4990-98D4-0FEC8E94C3A0}"/>
              </a:ext>
            </a:extLst>
          </p:cNvPr>
          <p:cNvCxnSpPr>
            <a:stCxn id="5" idx="7"/>
            <a:endCxn id="9" idx="3"/>
          </p:cNvCxnSpPr>
          <p:nvPr/>
        </p:nvCxnSpPr>
        <p:spPr>
          <a:xfrm flipV="1">
            <a:off x="2058565" y="2897931"/>
            <a:ext cx="2393786" cy="801838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テキスト ボックス 24">
            <a:extLst>
              <a:ext uri="{FF2B5EF4-FFF2-40B4-BE49-F238E27FC236}">
                <a16:creationId xmlns:a16="http://schemas.microsoft.com/office/drawing/2014/main" id="{146AA08D-207F-457A-844E-A4C5414CEFB6}"/>
              </a:ext>
            </a:extLst>
          </p:cNvPr>
          <p:cNvSpPr txBox="1"/>
          <p:nvPr/>
        </p:nvSpPr>
        <p:spPr>
          <a:xfrm>
            <a:off x="2472340" y="2897931"/>
            <a:ext cx="12105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000" b="1" dirty="0">
                <a:solidFill>
                  <a:srgbClr val="0070C0"/>
                </a:solidFill>
              </a:rPr>
              <a:t>平均速度</a:t>
            </a:r>
            <a:endParaRPr lang="en-US" altLang="ja-JP" sz="2000" b="1" dirty="0">
              <a:solidFill>
                <a:srgbClr val="0070C0"/>
              </a:solidFill>
            </a:endParaRPr>
          </a:p>
        </p:txBody>
      </p:sp>
      <p:cxnSp>
        <p:nvCxnSpPr>
          <p:cNvPr id="29" name="直線コネクタ 28">
            <a:extLst>
              <a:ext uri="{FF2B5EF4-FFF2-40B4-BE49-F238E27FC236}">
                <a16:creationId xmlns:a16="http://schemas.microsoft.com/office/drawing/2014/main" id="{1B3A5B2E-0452-4B30-AAD0-19F07023EEFE}"/>
              </a:ext>
            </a:extLst>
          </p:cNvPr>
          <p:cNvCxnSpPr>
            <a:cxnSpLocks/>
            <a:stCxn id="5" idx="4"/>
          </p:cNvCxnSpPr>
          <p:nvPr/>
        </p:nvCxnSpPr>
        <p:spPr>
          <a:xfrm>
            <a:off x="2020381" y="3791953"/>
            <a:ext cx="0" cy="2552861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線コネクタ 31">
            <a:extLst>
              <a:ext uri="{FF2B5EF4-FFF2-40B4-BE49-F238E27FC236}">
                <a16:creationId xmlns:a16="http://schemas.microsoft.com/office/drawing/2014/main" id="{524E2047-CB06-4357-9769-52D0BFC1BE29}"/>
              </a:ext>
            </a:extLst>
          </p:cNvPr>
          <p:cNvCxnSpPr>
            <a:cxnSpLocks/>
          </p:cNvCxnSpPr>
          <p:nvPr/>
        </p:nvCxnSpPr>
        <p:spPr>
          <a:xfrm>
            <a:off x="4490535" y="3768610"/>
            <a:ext cx="0" cy="2552861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テキスト ボックス 32">
            <a:extLst>
              <a:ext uri="{FF2B5EF4-FFF2-40B4-BE49-F238E27FC236}">
                <a16:creationId xmlns:a16="http://schemas.microsoft.com/office/drawing/2014/main" id="{125F35B4-E535-4A58-B7B4-BE29E7F7DADF}"/>
              </a:ext>
            </a:extLst>
          </p:cNvPr>
          <p:cNvSpPr txBox="1"/>
          <p:nvPr/>
        </p:nvSpPr>
        <p:spPr>
          <a:xfrm>
            <a:off x="1658455" y="6393103"/>
            <a:ext cx="66396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dirty="0"/>
              <a:t>2</a:t>
            </a:r>
            <a:r>
              <a:rPr lang="ja-JP" altLang="en-US" sz="2400" dirty="0"/>
              <a:t>秒</a:t>
            </a:r>
            <a:endParaRPr lang="en-US" altLang="ja-JP" sz="2400" dirty="0"/>
          </a:p>
        </p:txBody>
      </p:sp>
      <p:sp>
        <p:nvSpPr>
          <p:cNvPr id="34" name="テキスト ボックス 33">
            <a:extLst>
              <a:ext uri="{FF2B5EF4-FFF2-40B4-BE49-F238E27FC236}">
                <a16:creationId xmlns:a16="http://schemas.microsoft.com/office/drawing/2014/main" id="{9E096341-AC58-45F9-81BC-62B11E9B4C1C}"/>
              </a:ext>
            </a:extLst>
          </p:cNvPr>
          <p:cNvSpPr txBox="1"/>
          <p:nvPr/>
        </p:nvSpPr>
        <p:spPr>
          <a:xfrm>
            <a:off x="4158553" y="6396335"/>
            <a:ext cx="66396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dirty="0"/>
              <a:t>5</a:t>
            </a:r>
            <a:r>
              <a:rPr lang="ja-JP" altLang="en-US" sz="2400" dirty="0"/>
              <a:t>秒</a:t>
            </a:r>
            <a:endParaRPr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10565690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46761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導関数と瞬間速度</a:t>
            </a:r>
            <a:endParaRPr kumimoji="1" lang="en-US" altLang="ja-JP" sz="3200" b="1" u="sn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/>
              <p:nvPr/>
            </p:nvSpPr>
            <p:spPr>
              <a:xfrm>
                <a:off x="6885468" y="3960198"/>
                <a:ext cx="4068230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ja-JP" sz="2000" b="0" i="1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ja-JP" altLang="en-US" sz="2000" i="1">
                        <a:latin typeface="Cambria Math" panose="02040503050406030204" pitchFamily="18" charset="0"/>
                      </a:rPr>
                      <m:t>≧</m:t>
                    </m:r>
                    <m:r>
                      <a:rPr lang="en-US" altLang="ja-JP" sz="2000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ja-JP" altLang="en-US" sz="2000" i="1">
                        <a:latin typeface="Cambria Math" panose="02040503050406030204" pitchFamily="18" charset="0"/>
                      </a:rPr>
                      <m:t>≧</m:t>
                    </m:r>
                    <m:r>
                      <a:rPr lang="en-US" altLang="ja-JP" sz="2000" b="0" i="1"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lang="ja-JP" altLang="en-US" sz="2000" dirty="0"/>
                  <a:t>だとこのようになります</a:t>
                </a:r>
                <a:endParaRPr lang="en-US" altLang="ja-JP" sz="2000" dirty="0"/>
              </a:p>
            </p:txBody>
          </p:sp>
        </mc:Choice>
        <mc:Fallback xmlns="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85468" y="3960198"/>
                <a:ext cx="4068230" cy="400110"/>
              </a:xfrm>
              <a:prstGeom prst="rect">
                <a:avLst/>
              </a:prstGeom>
              <a:blipFill>
                <a:blip r:embed="rId2"/>
                <a:stretch>
                  <a:fillRect t="-7692" r="-1049" b="-29231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楕円 1">
            <a:extLst>
              <a:ext uri="{FF2B5EF4-FFF2-40B4-BE49-F238E27FC236}">
                <a16:creationId xmlns:a16="http://schemas.microsoft.com/office/drawing/2014/main" id="{08203C59-1AAD-4C6B-B7F7-A54881080D94}"/>
              </a:ext>
            </a:extLst>
          </p:cNvPr>
          <p:cNvSpPr/>
          <p:nvPr/>
        </p:nvSpPr>
        <p:spPr>
          <a:xfrm>
            <a:off x="1397001" y="5048904"/>
            <a:ext cx="108000" cy="108000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楕円 4">
            <a:extLst>
              <a:ext uri="{FF2B5EF4-FFF2-40B4-BE49-F238E27FC236}">
                <a16:creationId xmlns:a16="http://schemas.microsoft.com/office/drawing/2014/main" id="{62E21816-2D46-44D6-A94A-CE7A8B1219BF}"/>
              </a:ext>
            </a:extLst>
          </p:cNvPr>
          <p:cNvSpPr/>
          <p:nvPr/>
        </p:nvSpPr>
        <p:spPr>
          <a:xfrm>
            <a:off x="1966381" y="3683953"/>
            <a:ext cx="108000" cy="108000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7" name="楕円 6">
            <a:extLst>
              <a:ext uri="{FF2B5EF4-FFF2-40B4-BE49-F238E27FC236}">
                <a16:creationId xmlns:a16="http://schemas.microsoft.com/office/drawing/2014/main" id="{4B6C2FBC-596E-463F-92CE-A8FC8D154CCA}"/>
              </a:ext>
            </a:extLst>
          </p:cNvPr>
          <p:cNvSpPr/>
          <p:nvPr/>
        </p:nvSpPr>
        <p:spPr>
          <a:xfrm>
            <a:off x="2565400" y="2805747"/>
            <a:ext cx="108000" cy="108000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楕円 7">
            <a:extLst>
              <a:ext uri="{FF2B5EF4-FFF2-40B4-BE49-F238E27FC236}">
                <a16:creationId xmlns:a16="http://schemas.microsoft.com/office/drawing/2014/main" id="{67754C83-F673-4981-A59D-12C16F51A9A2}"/>
              </a:ext>
            </a:extLst>
          </p:cNvPr>
          <p:cNvSpPr/>
          <p:nvPr/>
        </p:nvSpPr>
        <p:spPr>
          <a:xfrm>
            <a:off x="3539068" y="2437447"/>
            <a:ext cx="108000" cy="108000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楕円 8">
            <a:extLst>
              <a:ext uri="{FF2B5EF4-FFF2-40B4-BE49-F238E27FC236}">
                <a16:creationId xmlns:a16="http://schemas.microsoft.com/office/drawing/2014/main" id="{3E1DF3BB-5ADE-420A-A39D-76D189E56DD5}"/>
              </a:ext>
            </a:extLst>
          </p:cNvPr>
          <p:cNvSpPr/>
          <p:nvPr/>
        </p:nvSpPr>
        <p:spPr>
          <a:xfrm>
            <a:off x="4436535" y="2805747"/>
            <a:ext cx="108000" cy="108000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楕円 9">
            <a:extLst>
              <a:ext uri="{FF2B5EF4-FFF2-40B4-BE49-F238E27FC236}">
                <a16:creationId xmlns:a16="http://schemas.microsoft.com/office/drawing/2014/main" id="{383AB766-5023-45F4-8449-951DAB721ED0}"/>
              </a:ext>
            </a:extLst>
          </p:cNvPr>
          <p:cNvSpPr/>
          <p:nvPr/>
        </p:nvSpPr>
        <p:spPr>
          <a:xfrm>
            <a:off x="5198534" y="4052253"/>
            <a:ext cx="108000" cy="108000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楕円 10">
            <a:extLst>
              <a:ext uri="{FF2B5EF4-FFF2-40B4-BE49-F238E27FC236}">
                <a16:creationId xmlns:a16="http://schemas.microsoft.com/office/drawing/2014/main" id="{B0BFCF01-EBBA-40EF-A471-77C32E4256B7}"/>
              </a:ext>
            </a:extLst>
          </p:cNvPr>
          <p:cNvSpPr/>
          <p:nvPr/>
        </p:nvSpPr>
        <p:spPr>
          <a:xfrm>
            <a:off x="5892800" y="5771341"/>
            <a:ext cx="108000" cy="108000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2" name="直線矢印コネクタ 11">
            <a:extLst>
              <a:ext uri="{FF2B5EF4-FFF2-40B4-BE49-F238E27FC236}">
                <a16:creationId xmlns:a16="http://schemas.microsoft.com/office/drawing/2014/main" id="{9B44A987-615F-420F-849A-614B853F0D1E}"/>
              </a:ext>
            </a:extLst>
          </p:cNvPr>
          <p:cNvCxnSpPr>
            <a:cxnSpLocks/>
          </p:cNvCxnSpPr>
          <p:nvPr/>
        </p:nvCxnSpPr>
        <p:spPr>
          <a:xfrm flipV="1">
            <a:off x="956733" y="2545447"/>
            <a:ext cx="0" cy="3799368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線矢印コネクタ 12">
            <a:extLst>
              <a:ext uri="{FF2B5EF4-FFF2-40B4-BE49-F238E27FC236}">
                <a16:creationId xmlns:a16="http://schemas.microsoft.com/office/drawing/2014/main" id="{87FDCB3D-4E75-448B-91EF-7A3789D865D4}"/>
              </a:ext>
            </a:extLst>
          </p:cNvPr>
          <p:cNvCxnSpPr>
            <a:cxnSpLocks/>
          </p:cNvCxnSpPr>
          <p:nvPr/>
        </p:nvCxnSpPr>
        <p:spPr>
          <a:xfrm>
            <a:off x="956733" y="6344814"/>
            <a:ext cx="5044067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3C317F07-B113-4B43-8E5D-B6701C1D3E2D}"/>
              </a:ext>
            </a:extLst>
          </p:cNvPr>
          <p:cNvSpPr txBox="1"/>
          <p:nvPr/>
        </p:nvSpPr>
        <p:spPr>
          <a:xfrm>
            <a:off x="596782" y="2083782"/>
            <a:ext cx="8002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高さ</a:t>
            </a:r>
            <a:endParaRPr lang="en-US" altLang="ja-JP" sz="2400" dirty="0"/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713AA371-0E8D-4268-9A36-DB607AE25167}"/>
              </a:ext>
            </a:extLst>
          </p:cNvPr>
          <p:cNvSpPr txBox="1"/>
          <p:nvPr/>
        </p:nvSpPr>
        <p:spPr>
          <a:xfrm>
            <a:off x="6000800" y="6113981"/>
            <a:ext cx="8002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時間</a:t>
            </a:r>
            <a:endParaRPr lang="en-US" altLang="ja-JP" sz="2400" dirty="0"/>
          </a:p>
        </p:txBody>
      </p:sp>
      <p:cxnSp>
        <p:nvCxnSpPr>
          <p:cNvPr id="14" name="直線コネクタ 13">
            <a:extLst>
              <a:ext uri="{FF2B5EF4-FFF2-40B4-BE49-F238E27FC236}">
                <a16:creationId xmlns:a16="http://schemas.microsoft.com/office/drawing/2014/main" id="{16485117-6FDC-484C-916C-880D273AE956}"/>
              </a:ext>
            </a:extLst>
          </p:cNvPr>
          <p:cNvCxnSpPr>
            <a:cxnSpLocks/>
            <a:stCxn id="5" idx="6"/>
          </p:cNvCxnSpPr>
          <p:nvPr/>
        </p:nvCxnSpPr>
        <p:spPr>
          <a:xfrm>
            <a:off x="2074381" y="3737953"/>
            <a:ext cx="1518687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線コネクタ 16">
            <a:extLst>
              <a:ext uri="{FF2B5EF4-FFF2-40B4-BE49-F238E27FC236}">
                <a16:creationId xmlns:a16="http://schemas.microsoft.com/office/drawing/2014/main" id="{EC119A5D-8DEE-4E29-BE95-1C4284B87D93}"/>
              </a:ext>
            </a:extLst>
          </p:cNvPr>
          <p:cNvCxnSpPr>
            <a:cxnSpLocks/>
          </p:cNvCxnSpPr>
          <p:nvPr/>
        </p:nvCxnSpPr>
        <p:spPr>
          <a:xfrm flipV="1">
            <a:off x="3593068" y="2524732"/>
            <a:ext cx="0" cy="1213221"/>
          </a:xfrm>
          <a:prstGeom prst="line">
            <a:avLst/>
          </a:prstGeom>
          <a:ln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02787A54-E1CC-4D79-B0EB-79A5CBADED71}"/>
              </a:ext>
            </a:extLst>
          </p:cNvPr>
          <p:cNvSpPr txBox="1"/>
          <p:nvPr/>
        </p:nvSpPr>
        <p:spPr>
          <a:xfrm>
            <a:off x="2175093" y="3737953"/>
            <a:ext cx="12105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000" dirty="0">
                <a:solidFill>
                  <a:srgbClr val="FF0000"/>
                </a:solidFill>
              </a:rPr>
              <a:t>経過時間</a:t>
            </a:r>
            <a:endParaRPr lang="en-US" altLang="ja-JP" sz="2000" dirty="0">
              <a:solidFill>
                <a:srgbClr val="FF0000"/>
              </a:solidFill>
            </a:endParaRPr>
          </a:p>
        </p:txBody>
      </p: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D61A8588-C842-414F-868A-E3B88D5D7039}"/>
              </a:ext>
            </a:extLst>
          </p:cNvPr>
          <p:cNvSpPr txBox="1"/>
          <p:nvPr/>
        </p:nvSpPr>
        <p:spPr>
          <a:xfrm>
            <a:off x="3554884" y="2977433"/>
            <a:ext cx="6976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000" dirty="0">
                <a:solidFill>
                  <a:srgbClr val="00B050"/>
                </a:solidFill>
              </a:rPr>
              <a:t>変位</a:t>
            </a:r>
            <a:endParaRPr lang="en-US" altLang="ja-JP" sz="2000" dirty="0">
              <a:solidFill>
                <a:srgbClr val="00B050"/>
              </a:solidFill>
            </a:endParaRPr>
          </a:p>
        </p:txBody>
      </p:sp>
      <p:cxnSp>
        <p:nvCxnSpPr>
          <p:cNvPr id="24" name="直線コネクタ 23">
            <a:extLst>
              <a:ext uri="{FF2B5EF4-FFF2-40B4-BE49-F238E27FC236}">
                <a16:creationId xmlns:a16="http://schemas.microsoft.com/office/drawing/2014/main" id="{7894DC16-1A2D-4990-98D4-0FEC8E94C3A0}"/>
              </a:ext>
            </a:extLst>
          </p:cNvPr>
          <p:cNvCxnSpPr>
            <a:cxnSpLocks/>
            <a:stCxn id="5" idx="7"/>
            <a:endCxn id="8" idx="3"/>
          </p:cNvCxnSpPr>
          <p:nvPr/>
        </p:nvCxnSpPr>
        <p:spPr>
          <a:xfrm flipV="1">
            <a:off x="2058565" y="2529631"/>
            <a:ext cx="1496319" cy="1170138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テキスト ボックス 24">
            <a:extLst>
              <a:ext uri="{FF2B5EF4-FFF2-40B4-BE49-F238E27FC236}">
                <a16:creationId xmlns:a16="http://schemas.microsoft.com/office/drawing/2014/main" id="{146AA08D-207F-457A-844E-A4C5414CEFB6}"/>
              </a:ext>
            </a:extLst>
          </p:cNvPr>
          <p:cNvSpPr txBox="1"/>
          <p:nvPr/>
        </p:nvSpPr>
        <p:spPr>
          <a:xfrm>
            <a:off x="2122235" y="2359545"/>
            <a:ext cx="12105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000" b="1" dirty="0">
                <a:solidFill>
                  <a:srgbClr val="0070C0"/>
                </a:solidFill>
              </a:rPr>
              <a:t>平均速度</a:t>
            </a:r>
            <a:endParaRPr lang="en-US" altLang="ja-JP" sz="2000" b="1" dirty="0">
              <a:solidFill>
                <a:srgbClr val="0070C0"/>
              </a:solidFill>
            </a:endParaRPr>
          </a:p>
        </p:txBody>
      </p:sp>
      <p:cxnSp>
        <p:nvCxnSpPr>
          <p:cNvPr id="29" name="直線コネクタ 28">
            <a:extLst>
              <a:ext uri="{FF2B5EF4-FFF2-40B4-BE49-F238E27FC236}">
                <a16:creationId xmlns:a16="http://schemas.microsoft.com/office/drawing/2014/main" id="{1B3A5B2E-0452-4B30-AAD0-19F07023EEFE}"/>
              </a:ext>
            </a:extLst>
          </p:cNvPr>
          <p:cNvCxnSpPr>
            <a:cxnSpLocks/>
            <a:stCxn id="5" idx="4"/>
          </p:cNvCxnSpPr>
          <p:nvPr/>
        </p:nvCxnSpPr>
        <p:spPr>
          <a:xfrm>
            <a:off x="2020381" y="3791953"/>
            <a:ext cx="0" cy="2552861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線コネクタ 31">
            <a:extLst>
              <a:ext uri="{FF2B5EF4-FFF2-40B4-BE49-F238E27FC236}">
                <a16:creationId xmlns:a16="http://schemas.microsoft.com/office/drawing/2014/main" id="{524E2047-CB06-4357-9769-52D0BFC1BE29}"/>
              </a:ext>
            </a:extLst>
          </p:cNvPr>
          <p:cNvCxnSpPr>
            <a:cxnSpLocks/>
          </p:cNvCxnSpPr>
          <p:nvPr/>
        </p:nvCxnSpPr>
        <p:spPr>
          <a:xfrm>
            <a:off x="3598995" y="3753370"/>
            <a:ext cx="0" cy="2552861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テキスト ボックス 32">
            <a:extLst>
              <a:ext uri="{FF2B5EF4-FFF2-40B4-BE49-F238E27FC236}">
                <a16:creationId xmlns:a16="http://schemas.microsoft.com/office/drawing/2014/main" id="{125F35B4-E535-4A58-B7B4-BE29E7F7DADF}"/>
              </a:ext>
            </a:extLst>
          </p:cNvPr>
          <p:cNvSpPr txBox="1"/>
          <p:nvPr/>
        </p:nvSpPr>
        <p:spPr>
          <a:xfrm>
            <a:off x="1658455" y="6393103"/>
            <a:ext cx="66396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dirty="0"/>
              <a:t>2</a:t>
            </a:r>
            <a:r>
              <a:rPr lang="ja-JP" altLang="en-US" sz="2400" dirty="0"/>
              <a:t>秒</a:t>
            </a:r>
            <a:endParaRPr lang="en-US" altLang="ja-JP" sz="2400" dirty="0"/>
          </a:p>
        </p:txBody>
      </p:sp>
      <p:sp>
        <p:nvSpPr>
          <p:cNvPr id="34" name="テキスト ボックス 33">
            <a:extLst>
              <a:ext uri="{FF2B5EF4-FFF2-40B4-BE49-F238E27FC236}">
                <a16:creationId xmlns:a16="http://schemas.microsoft.com/office/drawing/2014/main" id="{9E096341-AC58-45F9-81BC-62B11E9B4C1C}"/>
              </a:ext>
            </a:extLst>
          </p:cNvPr>
          <p:cNvSpPr txBox="1"/>
          <p:nvPr/>
        </p:nvSpPr>
        <p:spPr>
          <a:xfrm>
            <a:off x="3274633" y="6393102"/>
            <a:ext cx="66396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dirty="0"/>
              <a:t>4</a:t>
            </a:r>
            <a:r>
              <a:rPr lang="ja-JP" altLang="en-US" sz="2400" dirty="0"/>
              <a:t>秒</a:t>
            </a:r>
            <a:endParaRPr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20063058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46761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導関数と瞬間速度</a:t>
            </a:r>
            <a:endParaRPr kumimoji="1" lang="en-US" altLang="ja-JP" sz="3200" b="1" u="sn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/>
              <p:nvPr/>
            </p:nvSpPr>
            <p:spPr>
              <a:xfrm>
                <a:off x="6885468" y="3960198"/>
                <a:ext cx="4068230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ja-JP" sz="2000" b="0" i="1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ja-JP" altLang="en-US" sz="2000" i="1">
                        <a:latin typeface="Cambria Math" panose="02040503050406030204" pitchFamily="18" charset="0"/>
                      </a:rPr>
                      <m:t>≧</m:t>
                    </m:r>
                    <m:r>
                      <a:rPr lang="en-US" altLang="ja-JP" sz="2000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ja-JP" altLang="en-US" sz="2000" i="1">
                        <a:latin typeface="Cambria Math" panose="02040503050406030204" pitchFamily="18" charset="0"/>
                      </a:rPr>
                      <m:t>≧</m:t>
                    </m:r>
                    <m:r>
                      <a:rPr lang="en-US" altLang="ja-JP" sz="2000" b="0" i="1" smtClean="0"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lang="ja-JP" altLang="en-US" sz="2000" dirty="0"/>
                  <a:t>だとこのようになります</a:t>
                </a:r>
                <a:endParaRPr lang="en-US" altLang="ja-JP" sz="2000" dirty="0"/>
              </a:p>
            </p:txBody>
          </p:sp>
        </mc:Choice>
        <mc:Fallback xmlns="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85468" y="3960198"/>
                <a:ext cx="4068230" cy="400110"/>
              </a:xfrm>
              <a:prstGeom prst="rect">
                <a:avLst/>
              </a:prstGeom>
              <a:blipFill>
                <a:blip r:embed="rId2"/>
                <a:stretch>
                  <a:fillRect t="-7692" r="-1049" b="-29231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楕円 1">
            <a:extLst>
              <a:ext uri="{FF2B5EF4-FFF2-40B4-BE49-F238E27FC236}">
                <a16:creationId xmlns:a16="http://schemas.microsoft.com/office/drawing/2014/main" id="{08203C59-1AAD-4C6B-B7F7-A54881080D94}"/>
              </a:ext>
            </a:extLst>
          </p:cNvPr>
          <p:cNvSpPr/>
          <p:nvPr/>
        </p:nvSpPr>
        <p:spPr>
          <a:xfrm>
            <a:off x="1397001" y="5048904"/>
            <a:ext cx="108000" cy="108000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楕円 4">
            <a:extLst>
              <a:ext uri="{FF2B5EF4-FFF2-40B4-BE49-F238E27FC236}">
                <a16:creationId xmlns:a16="http://schemas.microsoft.com/office/drawing/2014/main" id="{62E21816-2D46-44D6-A94A-CE7A8B1219BF}"/>
              </a:ext>
            </a:extLst>
          </p:cNvPr>
          <p:cNvSpPr/>
          <p:nvPr/>
        </p:nvSpPr>
        <p:spPr>
          <a:xfrm>
            <a:off x="1966381" y="3683953"/>
            <a:ext cx="108000" cy="108000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7" name="楕円 6">
            <a:extLst>
              <a:ext uri="{FF2B5EF4-FFF2-40B4-BE49-F238E27FC236}">
                <a16:creationId xmlns:a16="http://schemas.microsoft.com/office/drawing/2014/main" id="{4B6C2FBC-596E-463F-92CE-A8FC8D154CCA}"/>
              </a:ext>
            </a:extLst>
          </p:cNvPr>
          <p:cNvSpPr/>
          <p:nvPr/>
        </p:nvSpPr>
        <p:spPr>
          <a:xfrm>
            <a:off x="2565400" y="2805747"/>
            <a:ext cx="108000" cy="108000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楕円 7">
            <a:extLst>
              <a:ext uri="{FF2B5EF4-FFF2-40B4-BE49-F238E27FC236}">
                <a16:creationId xmlns:a16="http://schemas.microsoft.com/office/drawing/2014/main" id="{67754C83-F673-4981-A59D-12C16F51A9A2}"/>
              </a:ext>
            </a:extLst>
          </p:cNvPr>
          <p:cNvSpPr/>
          <p:nvPr/>
        </p:nvSpPr>
        <p:spPr>
          <a:xfrm>
            <a:off x="3539068" y="2437447"/>
            <a:ext cx="108000" cy="108000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楕円 8">
            <a:extLst>
              <a:ext uri="{FF2B5EF4-FFF2-40B4-BE49-F238E27FC236}">
                <a16:creationId xmlns:a16="http://schemas.microsoft.com/office/drawing/2014/main" id="{3E1DF3BB-5ADE-420A-A39D-76D189E56DD5}"/>
              </a:ext>
            </a:extLst>
          </p:cNvPr>
          <p:cNvSpPr/>
          <p:nvPr/>
        </p:nvSpPr>
        <p:spPr>
          <a:xfrm>
            <a:off x="4436535" y="2805747"/>
            <a:ext cx="108000" cy="108000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楕円 9">
            <a:extLst>
              <a:ext uri="{FF2B5EF4-FFF2-40B4-BE49-F238E27FC236}">
                <a16:creationId xmlns:a16="http://schemas.microsoft.com/office/drawing/2014/main" id="{383AB766-5023-45F4-8449-951DAB721ED0}"/>
              </a:ext>
            </a:extLst>
          </p:cNvPr>
          <p:cNvSpPr/>
          <p:nvPr/>
        </p:nvSpPr>
        <p:spPr>
          <a:xfrm>
            <a:off x="5198534" y="4052253"/>
            <a:ext cx="108000" cy="108000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楕円 10">
            <a:extLst>
              <a:ext uri="{FF2B5EF4-FFF2-40B4-BE49-F238E27FC236}">
                <a16:creationId xmlns:a16="http://schemas.microsoft.com/office/drawing/2014/main" id="{B0BFCF01-EBBA-40EF-A471-77C32E4256B7}"/>
              </a:ext>
            </a:extLst>
          </p:cNvPr>
          <p:cNvSpPr/>
          <p:nvPr/>
        </p:nvSpPr>
        <p:spPr>
          <a:xfrm>
            <a:off x="5892800" y="5771341"/>
            <a:ext cx="108000" cy="108000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2" name="直線矢印コネクタ 11">
            <a:extLst>
              <a:ext uri="{FF2B5EF4-FFF2-40B4-BE49-F238E27FC236}">
                <a16:creationId xmlns:a16="http://schemas.microsoft.com/office/drawing/2014/main" id="{9B44A987-615F-420F-849A-614B853F0D1E}"/>
              </a:ext>
            </a:extLst>
          </p:cNvPr>
          <p:cNvCxnSpPr>
            <a:cxnSpLocks/>
          </p:cNvCxnSpPr>
          <p:nvPr/>
        </p:nvCxnSpPr>
        <p:spPr>
          <a:xfrm flipV="1">
            <a:off x="956733" y="2545447"/>
            <a:ext cx="0" cy="3799368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線矢印コネクタ 12">
            <a:extLst>
              <a:ext uri="{FF2B5EF4-FFF2-40B4-BE49-F238E27FC236}">
                <a16:creationId xmlns:a16="http://schemas.microsoft.com/office/drawing/2014/main" id="{87FDCB3D-4E75-448B-91EF-7A3789D865D4}"/>
              </a:ext>
            </a:extLst>
          </p:cNvPr>
          <p:cNvCxnSpPr>
            <a:cxnSpLocks/>
          </p:cNvCxnSpPr>
          <p:nvPr/>
        </p:nvCxnSpPr>
        <p:spPr>
          <a:xfrm>
            <a:off x="956733" y="6344814"/>
            <a:ext cx="5044067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3C317F07-B113-4B43-8E5D-B6701C1D3E2D}"/>
              </a:ext>
            </a:extLst>
          </p:cNvPr>
          <p:cNvSpPr txBox="1"/>
          <p:nvPr/>
        </p:nvSpPr>
        <p:spPr>
          <a:xfrm>
            <a:off x="596782" y="2083782"/>
            <a:ext cx="8002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高さ</a:t>
            </a:r>
            <a:endParaRPr lang="en-US" altLang="ja-JP" sz="2400" dirty="0"/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713AA371-0E8D-4268-9A36-DB607AE25167}"/>
              </a:ext>
            </a:extLst>
          </p:cNvPr>
          <p:cNvSpPr txBox="1"/>
          <p:nvPr/>
        </p:nvSpPr>
        <p:spPr>
          <a:xfrm>
            <a:off x="6000800" y="6113981"/>
            <a:ext cx="8002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時間</a:t>
            </a:r>
            <a:endParaRPr lang="en-US" altLang="ja-JP" sz="2400" dirty="0"/>
          </a:p>
        </p:txBody>
      </p:sp>
      <p:cxnSp>
        <p:nvCxnSpPr>
          <p:cNvPr id="14" name="直線コネクタ 13">
            <a:extLst>
              <a:ext uri="{FF2B5EF4-FFF2-40B4-BE49-F238E27FC236}">
                <a16:creationId xmlns:a16="http://schemas.microsoft.com/office/drawing/2014/main" id="{16485117-6FDC-484C-916C-880D273AE956}"/>
              </a:ext>
            </a:extLst>
          </p:cNvPr>
          <p:cNvCxnSpPr>
            <a:cxnSpLocks/>
            <a:stCxn id="5" idx="6"/>
          </p:cNvCxnSpPr>
          <p:nvPr/>
        </p:nvCxnSpPr>
        <p:spPr>
          <a:xfrm>
            <a:off x="2074381" y="3737953"/>
            <a:ext cx="545019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線コネクタ 16">
            <a:extLst>
              <a:ext uri="{FF2B5EF4-FFF2-40B4-BE49-F238E27FC236}">
                <a16:creationId xmlns:a16="http://schemas.microsoft.com/office/drawing/2014/main" id="{EC119A5D-8DEE-4E29-BE95-1C4284B87D93}"/>
              </a:ext>
            </a:extLst>
          </p:cNvPr>
          <p:cNvCxnSpPr>
            <a:cxnSpLocks/>
          </p:cNvCxnSpPr>
          <p:nvPr/>
        </p:nvCxnSpPr>
        <p:spPr>
          <a:xfrm flipV="1">
            <a:off x="2619400" y="2913748"/>
            <a:ext cx="0" cy="824205"/>
          </a:xfrm>
          <a:prstGeom prst="line">
            <a:avLst/>
          </a:prstGeom>
          <a:ln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線コネクタ 23">
            <a:extLst>
              <a:ext uri="{FF2B5EF4-FFF2-40B4-BE49-F238E27FC236}">
                <a16:creationId xmlns:a16="http://schemas.microsoft.com/office/drawing/2014/main" id="{7894DC16-1A2D-4990-98D4-0FEC8E94C3A0}"/>
              </a:ext>
            </a:extLst>
          </p:cNvPr>
          <p:cNvCxnSpPr>
            <a:cxnSpLocks/>
            <a:stCxn id="5" idx="7"/>
            <a:endCxn id="7" idx="3"/>
          </p:cNvCxnSpPr>
          <p:nvPr/>
        </p:nvCxnSpPr>
        <p:spPr>
          <a:xfrm flipV="1">
            <a:off x="2058565" y="2897931"/>
            <a:ext cx="522651" cy="801838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線コネクタ 28">
            <a:extLst>
              <a:ext uri="{FF2B5EF4-FFF2-40B4-BE49-F238E27FC236}">
                <a16:creationId xmlns:a16="http://schemas.microsoft.com/office/drawing/2014/main" id="{1B3A5B2E-0452-4B30-AAD0-19F07023EEFE}"/>
              </a:ext>
            </a:extLst>
          </p:cNvPr>
          <p:cNvCxnSpPr>
            <a:cxnSpLocks/>
            <a:stCxn id="5" idx="4"/>
          </p:cNvCxnSpPr>
          <p:nvPr/>
        </p:nvCxnSpPr>
        <p:spPr>
          <a:xfrm>
            <a:off x="2020381" y="3791953"/>
            <a:ext cx="0" cy="2552861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線コネクタ 31">
            <a:extLst>
              <a:ext uri="{FF2B5EF4-FFF2-40B4-BE49-F238E27FC236}">
                <a16:creationId xmlns:a16="http://schemas.microsoft.com/office/drawing/2014/main" id="{524E2047-CB06-4357-9769-52D0BFC1BE29}"/>
              </a:ext>
            </a:extLst>
          </p:cNvPr>
          <p:cNvCxnSpPr>
            <a:cxnSpLocks/>
          </p:cNvCxnSpPr>
          <p:nvPr/>
        </p:nvCxnSpPr>
        <p:spPr>
          <a:xfrm>
            <a:off x="2619400" y="3760813"/>
            <a:ext cx="0" cy="2552861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テキスト ボックス 32">
            <a:extLst>
              <a:ext uri="{FF2B5EF4-FFF2-40B4-BE49-F238E27FC236}">
                <a16:creationId xmlns:a16="http://schemas.microsoft.com/office/drawing/2014/main" id="{125F35B4-E535-4A58-B7B4-BE29E7F7DADF}"/>
              </a:ext>
            </a:extLst>
          </p:cNvPr>
          <p:cNvSpPr txBox="1"/>
          <p:nvPr/>
        </p:nvSpPr>
        <p:spPr>
          <a:xfrm>
            <a:off x="1658455" y="6393103"/>
            <a:ext cx="66396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dirty="0"/>
              <a:t>2</a:t>
            </a:r>
            <a:r>
              <a:rPr lang="ja-JP" altLang="en-US" sz="2400" dirty="0"/>
              <a:t>秒</a:t>
            </a:r>
            <a:endParaRPr lang="en-US" altLang="ja-JP" sz="2400" dirty="0"/>
          </a:p>
        </p:txBody>
      </p:sp>
      <p:sp>
        <p:nvSpPr>
          <p:cNvPr id="34" name="テキスト ボックス 33">
            <a:extLst>
              <a:ext uri="{FF2B5EF4-FFF2-40B4-BE49-F238E27FC236}">
                <a16:creationId xmlns:a16="http://schemas.microsoft.com/office/drawing/2014/main" id="{9E096341-AC58-45F9-81BC-62B11E9B4C1C}"/>
              </a:ext>
            </a:extLst>
          </p:cNvPr>
          <p:cNvSpPr txBox="1"/>
          <p:nvPr/>
        </p:nvSpPr>
        <p:spPr>
          <a:xfrm>
            <a:off x="2287418" y="6393102"/>
            <a:ext cx="66396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dirty="0"/>
              <a:t>3</a:t>
            </a:r>
            <a:r>
              <a:rPr lang="ja-JP" altLang="en-US" sz="2400" dirty="0"/>
              <a:t>秒</a:t>
            </a:r>
            <a:endParaRPr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31913164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46761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導関数と瞬間速度</a:t>
            </a:r>
            <a:endParaRPr kumimoji="1" lang="en-US" altLang="ja-JP" sz="3200" b="1" u="sn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/>
              <p:nvPr/>
            </p:nvSpPr>
            <p:spPr>
              <a:xfrm>
                <a:off x="6885468" y="3960198"/>
                <a:ext cx="4666149" cy="7078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ja-JP" altLang="en-US" sz="2000" b="0" dirty="0"/>
                  <a:t>では</a:t>
                </a:r>
                <a14:m>
                  <m:oMath xmlns:m="http://schemas.openxmlformats.org/officeDocument/2006/math">
                    <m:r>
                      <a:rPr lang="en-US" altLang="ja-JP" sz="2000" b="0" i="1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ja-JP" altLang="en-US" sz="2000" i="1">
                        <a:latin typeface="Cambria Math" panose="02040503050406030204" pitchFamily="18" charset="0"/>
                      </a:rPr>
                      <m:t>≧</m:t>
                    </m:r>
                    <m:r>
                      <a:rPr lang="en-US" altLang="ja-JP" sz="2000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ja-JP" altLang="en-US" sz="2000" i="1">
                        <a:latin typeface="Cambria Math" panose="02040503050406030204" pitchFamily="18" charset="0"/>
                      </a:rPr>
                      <m:t>≧</m:t>
                    </m:r>
                    <m:r>
                      <a:rPr lang="en-US" altLang="ja-JP" sz="2000" b="0" i="1" smtClean="0">
                        <a:latin typeface="Cambria Math" panose="02040503050406030204" pitchFamily="18" charset="0"/>
                      </a:rPr>
                      <m:t>2.00000000000000000001</m:t>
                    </m:r>
                  </m:oMath>
                </a14:m>
                <a:endParaRPr lang="en-US" altLang="ja-JP" sz="2000" b="0" dirty="0"/>
              </a:p>
              <a:p>
                <a:r>
                  <a:rPr lang="ja-JP" altLang="en-US" sz="2000" dirty="0"/>
                  <a:t>だとどうなるでしょう？</a:t>
                </a:r>
                <a:endParaRPr lang="en-US" altLang="ja-JP" sz="2000" dirty="0"/>
              </a:p>
            </p:txBody>
          </p:sp>
        </mc:Choice>
        <mc:Fallback xmlns="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85468" y="3960198"/>
                <a:ext cx="4666149" cy="707886"/>
              </a:xfrm>
              <a:prstGeom prst="rect">
                <a:avLst/>
              </a:prstGeom>
              <a:blipFill>
                <a:blip r:embed="rId2"/>
                <a:stretch>
                  <a:fillRect l="-1438" t="-4310" b="-14655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楕円 1">
            <a:extLst>
              <a:ext uri="{FF2B5EF4-FFF2-40B4-BE49-F238E27FC236}">
                <a16:creationId xmlns:a16="http://schemas.microsoft.com/office/drawing/2014/main" id="{08203C59-1AAD-4C6B-B7F7-A54881080D94}"/>
              </a:ext>
            </a:extLst>
          </p:cNvPr>
          <p:cNvSpPr/>
          <p:nvPr/>
        </p:nvSpPr>
        <p:spPr>
          <a:xfrm>
            <a:off x="1397001" y="5048904"/>
            <a:ext cx="108000" cy="108000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楕円 4">
            <a:extLst>
              <a:ext uri="{FF2B5EF4-FFF2-40B4-BE49-F238E27FC236}">
                <a16:creationId xmlns:a16="http://schemas.microsoft.com/office/drawing/2014/main" id="{62E21816-2D46-44D6-A94A-CE7A8B1219BF}"/>
              </a:ext>
            </a:extLst>
          </p:cNvPr>
          <p:cNvSpPr/>
          <p:nvPr/>
        </p:nvSpPr>
        <p:spPr>
          <a:xfrm>
            <a:off x="1966381" y="3683953"/>
            <a:ext cx="108000" cy="108000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7" name="楕円 6">
            <a:extLst>
              <a:ext uri="{FF2B5EF4-FFF2-40B4-BE49-F238E27FC236}">
                <a16:creationId xmlns:a16="http://schemas.microsoft.com/office/drawing/2014/main" id="{4B6C2FBC-596E-463F-92CE-A8FC8D154CCA}"/>
              </a:ext>
            </a:extLst>
          </p:cNvPr>
          <p:cNvSpPr/>
          <p:nvPr/>
        </p:nvSpPr>
        <p:spPr>
          <a:xfrm>
            <a:off x="2565400" y="2805747"/>
            <a:ext cx="108000" cy="108000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楕円 7">
            <a:extLst>
              <a:ext uri="{FF2B5EF4-FFF2-40B4-BE49-F238E27FC236}">
                <a16:creationId xmlns:a16="http://schemas.microsoft.com/office/drawing/2014/main" id="{67754C83-F673-4981-A59D-12C16F51A9A2}"/>
              </a:ext>
            </a:extLst>
          </p:cNvPr>
          <p:cNvSpPr/>
          <p:nvPr/>
        </p:nvSpPr>
        <p:spPr>
          <a:xfrm>
            <a:off x="3539068" y="2437447"/>
            <a:ext cx="108000" cy="108000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楕円 8">
            <a:extLst>
              <a:ext uri="{FF2B5EF4-FFF2-40B4-BE49-F238E27FC236}">
                <a16:creationId xmlns:a16="http://schemas.microsoft.com/office/drawing/2014/main" id="{3E1DF3BB-5ADE-420A-A39D-76D189E56DD5}"/>
              </a:ext>
            </a:extLst>
          </p:cNvPr>
          <p:cNvSpPr/>
          <p:nvPr/>
        </p:nvSpPr>
        <p:spPr>
          <a:xfrm>
            <a:off x="4436535" y="2805747"/>
            <a:ext cx="108000" cy="108000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楕円 9">
            <a:extLst>
              <a:ext uri="{FF2B5EF4-FFF2-40B4-BE49-F238E27FC236}">
                <a16:creationId xmlns:a16="http://schemas.microsoft.com/office/drawing/2014/main" id="{383AB766-5023-45F4-8449-951DAB721ED0}"/>
              </a:ext>
            </a:extLst>
          </p:cNvPr>
          <p:cNvSpPr/>
          <p:nvPr/>
        </p:nvSpPr>
        <p:spPr>
          <a:xfrm>
            <a:off x="5198534" y="4052253"/>
            <a:ext cx="108000" cy="108000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楕円 10">
            <a:extLst>
              <a:ext uri="{FF2B5EF4-FFF2-40B4-BE49-F238E27FC236}">
                <a16:creationId xmlns:a16="http://schemas.microsoft.com/office/drawing/2014/main" id="{B0BFCF01-EBBA-40EF-A471-77C32E4256B7}"/>
              </a:ext>
            </a:extLst>
          </p:cNvPr>
          <p:cNvSpPr/>
          <p:nvPr/>
        </p:nvSpPr>
        <p:spPr>
          <a:xfrm>
            <a:off x="5892800" y="5771341"/>
            <a:ext cx="108000" cy="108000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2" name="直線矢印コネクタ 11">
            <a:extLst>
              <a:ext uri="{FF2B5EF4-FFF2-40B4-BE49-F238E27FC236}">
                <a16:creationId xmlns:a16="http://schemas.microsoft.com/office/drawing/2014/main" id="{9B44A987-615F-420F-849A-614B853F0D1E}"/>
              </a:ext>
            </a:extLst>
          </p:cNvPr>
          <p:cNvCxnSpPr>
            <a:cxnSpLocks/>
          </p:cNvCxnSpPr>
          <p:nvPr/>
        </p:nvCxnSpPr>
        <p:spPr>
          <a:xfrm flipV="1">
            <a:off x="956733" y="2545447"/>
            <a:ext cx="0" cy="3799368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線矢印コネクタ 12">
            <a:extLst>
              <a:ext uri="{FF2B5EF4-FFF2-40B4-BE49-F238E27FC236}">
                <a16:creationId xmlns:a16="http://schemas.microsoft.com/office/drawing/2014/main" id="{87FDCB3D-4E75-448B-91EF-7A3789D865D4}"/>
              </a:ext>
            </a:extLst>
          </p:cNvPr>
          <p:cNvCxnSpPr>
            <a:cxnSpLocks/>
          </p:cNvCxnSpPr>
          <p:nvPr/>
        </p:nvCxnSpPr>
        <p:spPr>
          <a:xfrm>
            <a:off x="956733" y="6344814"/>
            <a:ext cx="5044067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3C317F07-B113-4B43-8E5D-B6701C1D3E2D}"/>
              </a:ext>
            </a:extLst>
          </p:cNvPr>
          <p:cNvSpPr txBox="1"/>
          <p:nvPr/>
        </p:nvSpPr>
        <p:spPr>
          <a:xfrm>
            <a:off x="596782" y="2083782"/>
            <a:ext cx="8002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高さ</a:t>
            </a:r>
            <a:endParaRPr lang="en-US" altLang="ja-JP" sz="2400" dirty="0"/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713AA371-0E8D-4268-9A36-DB607AE25167}"/>
              </a:ext>
            </a:extLst>
          </p:cNvPr>
          <p:cNvSpPr txBox="1"/>
          <p:nvPr/>
        </p:nvSpPr>
        <p:spPr>
          <a:xfrm>
            <a:off x="6000800" y="6113981"/>
            <a:ext cx="8002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時間</a:t>
            </a:r>
            <a:endParaRPr lang="en-US" altLang="ja-JP" sz="2400" dirty="0"/>
          </a:p>
        </p:txBody>
      </p:sp>
      <p:cxnSp>
        <p:nvCxnSpPr>
          <p:cNvPr id="29" name="直線コネクタ 28">
            <a:extLst>
              <a:ext uri="{FF2B5EF4-FFF2-40B4-BE49-F238E27FC236}">
                <a16:creationId xmlns:a16="http://schemas.microsoft.com/office/drawing/2014/main" id="{1B3A5B2E-0452-4B30-AAD0-19F07023EEFE}"/>
              </a:ext>
            </a:extLst>
          </p:cNvPr>
          <p:cNvCxnSpPr>
            <a:cxnSpLocks/>
            <a:stCxn id="5" idx="4"/>
          </p:cNvCxnSpPr>
          <p:nvPr/>
        </p:nvCxnSpPr>
        <p:spPr>
          <a:xfrm>
            <a:off x="2020381" y="3791953"/>
            <a:ext cx="0" cy="2552861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線コネクタ 31">
            <a:extLst>
              <a:ext uri="{FF2B5EF4-FFF2-40B4-BE49-F238E27FC236}">
                <a16:creationId xmlns:a16="http://schemas.microsoft.com/office/drawing/2014/main" id="{524E2047-CB06-4357-9769-52D0BFC1BE29}"/>
              </a:ext>
            </a:extLst>
          </p:cNvPr>
          <p:cNvCxnSpPr>
            <a:cxnSpLocks/>
          </p:cNvCxnSpPr>
          <p:nvPr/>
        </p:nvCxnSpPr>
        <p:spPr>
          <a:xfrm>
            <a:off x="2036281" y="3753109"/>
            <a:ext cx="0" cy="2552861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89922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46761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導関数と瞬間速度</a:t>
            </a:r>
            <a:endParaRPr kumimoji="1" lang="en-US" altLang="ja-JP" sz="3200" b="1" u="sn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/>
              <p:nvPr/>
            </p:nvSpPr>
            <p:spPr>
              <a:xfrm>
                <a:off x="6885468" y="3960198"/>
                <a:ext cx="4409669" cy="101566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ja-JP" sz="2000" b="0" i="1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ja-JP" altLang="en-US" sz="2000" i="1">
                        <a:latin typeface="Cambria Math" panose="02040503050406030204" pitchFamily="18" charset="0"/>
                      </a:rPr>
                      <m:t>≧</m:t>
                    </m:r>
                    <m:r>
                      <a:rPr lang="en-US" altLang="ja-JP" sz="2000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ja-JP" altLang="en-US" sz="2000" i="1">
                        <a:latin typeface="Cambria Math" panose="02040503050406030204" pitchFamily="18" charset="0"/>
                      </a:rPr>
                      <m:t>≧</m:t>
                    </m:r>
                    <m:r>
                      <a:rPr lang="en-US" altLang="ja-JP" sz="2000" b="0" i="1" smtClean="0">
                        <a:latin typeface="Cambria Math" panose="02040503050406030204" pitchFamily="18" charset="0"/>
                      </a:rPr>
                      <m:t>2.00000000000000000001</m:t>
                    </m:r>
                  </m:oMath>
                </a14:m>
                <a:r>
                  <a:rPr lang="ja-JP" altLang="en-US" sz="2000" b="0" dirty="0"/>
                  <a:t>　</a:t>
                </a:r>
                <a:endParaRPr lang="en-US" altLang="ja-JP" sz="2000" b="0" dirty="0"/>
              </a:p>
              <a:p>
                <a:r>
                  <a:rPr lang="ja-JP" altLang="en-US" sz="2000" dirty="0"/>
                  <a:t>この場合でも隙間はあるので、</a:t>
                </a:r>
                <a:endParaRPr lang="en-US" altLang="ja-JP" sz="2000" dirty="0"/>
              </a:p>
              <a:p>
                <a:r>
                  <a:rPr lang="ja-JP" altLang="en-US" sz="2000" dirty="0"/>
                  <a:t>傾きや直線は発生します。</a:t>
                </a:r>
                <a:endParaRPr lang="en-US" altLang="ja-JP" sz="2000" dirty="0"/>
              </a:p>
            </p:txBody>
          </p:sp>
        </mc:Choice>
        <mc:Fallback xmlns="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85468" y="3960198"/>
                <a:ext cx="4409669" cy="1015663"/>
              </a:xfrm>
              <a:prstGeom prst="rect">
                <a:avLst/>
              </a:prstGeom>
              <a:blipFill>
                <a:blip r:embed="rId2"/>
                <a:stretch>
                  <a:fillRect l="-1521" b="-10241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楕円 1">
            <a:extLst>
              <a:ext uri="{FF2B5EF4-FFF2-40B4-BE49-F238E27FC236}">
                <a16:creationId xmlns:a16="http://schemas.microsoft.com/office/drawing/2014/main" id="{08203C59-1AAD-4C6B-B7F7-A54881080D94}"/>
              </a:ext>
            </a:extLst>
          </p:cNvPr>
          <p:cNvSpPr/>
          <p:nvPr/>
        </p:nvSpPr>
        <p:spPr>
          <a:xfrm>
            <a:off x="1397001" y="5048904"/>
            <a:ext cx="108000" cy="108000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楕円 4">
            <a:extLst>
              <a:ext uri="{FF2B5EF4-FFF2-40B4-BE49-F238E27FC236}">
                <a16:creationId xmlns:a16="http://schemas.microsoft.com/office/drawing/2014/main" id="{62E21816-2D46-44D6-A94A-CE7A8B1219BF}"/>
              </a:ext>
            </a:extLst>
          </p:cNvPr>
          <p:cNvSpPr/>
          <p:nvPr/>
        </p:nvSpPr>
        <p:spPr>
          <a:xfrm>
            <a:off x="1966381" y="3683953"/>
            <a:ext cx="108000" cy="108000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7" name="楕円 6">
            <a:extLst>
              <a:ext uri="{FF2B5EF4-FFF2-40B4-BE49-F238E27FC236}">
                <a16:creationId xmlns:a16="http://schemas.microsoft.com/office/drawing/2014/main" id="{4B6C2FBC-596E-463F-92CE-A8FC8D154CCA}"/>
              </a:ext>
            </a:extLst>
          </p:cNvPr>
          <p:cNvSpPr/>
          <p:nvPr/>
        </p:nvSpPr>
        <p:spPr>
          <a:xfrm>
            <a:off x="2565400" y="2805747"/>
            <a:ext cx="108000" cy="108000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楕円 7">
            <a:extLst>
              <a:ext uri="{FF2B5EF4-FFF2-40B4-BE49-F238E27FC236}">
                <a16:creationId xmlns:a16="http://schemas.microsoft.com/office/drawing/2014/main" id="{67754C83-F673-4981-A59D-12C16F51A9A2}"/>
              </a:ext>
            </a:extLst>
          </p:cNvPr>
          <p:cNvSpPr/>
          <p:nvPr/>
        </p:nvSpPr>
        <p:spPr>
          <a:xfrm>
            <a:off x="3539068" y="2437447"/>
            <a:ext cx="108000" cy="108000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楕円 8">
            <a:extLst>
              <a:ext uri="{FF2B5EF4-FFF2-40B4-BE49-F238E27FC236}">
                <a16:creationId xmlns:a16="http://schemas.microsoft.com/office/drawing/2014/main" id="{3E1DF3BB-5ADE-420A-A39D-76D189E56DD5}"/>
              </a:ext>
            </a:extLst>
          </p:cNvPr>
          <p:cNvSpPr/>
          <p:nvPr/>
        </p:nvSpPr>
        <p:spPr>
          <a:xfrm>
            <a:off x="4436535" y="2805747"/>
            <a:ext cx="108000" cy="108000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楕円 9">
            <a:extLst>
              <a:ext uri="{FF2B5EF4-FFF2-40B4-BE49-F238E27FC236}">
                <a16:creationId xmlns:a16="http://schemas.microsoft.com/office/drawing/2014/main" id="{383AB766-5023-45F4-8449-951DAB721ED0}"/>
              </a:ext>
            </a:extLst>
          </p:cNvPr>
          <p:cNvSpPr/>
          <p:nvPr/>
        </p:nvSpPr>
        <p:spPr>
          <a:xfrm>
            <a:off x="5198534" y="4052253"/>
            <a:ext cx="108000" cy="108000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楕円 10">
            <a:extLst>
              <a:ext uri="{FF2B5EF4-FFF2-40B4-BE49-F238E27FC236}">
                <a16:creationId xmlns:a16="http://schemas.microsoft.com/office/drawing/2014/main" id="{B0BFCF01-EBBA-40EF-A471-77C32E4256B7}"/>
              </a:ext>
            </a:extLst>
          </p:cNvPr>
          <p:cNvSpPr/>
          <p:nvPr/>
        </p:nvSpPr>
        <p:spPr>
          <a:xfrm>
            <a:off x="5892800" y="5771341"/>
            <a:ext cx="108000" cy="108000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2" name="直線矢印コネクタ 11">
            <a:extLst>
              <a:ext uri="{FF2B5EF4-FFF2-40B4-BE49-F238E27FC236}">
                <a16:creationId xmlns:a16="http://schemas.microsoft.com/office/drawing/2014/main" id="{9B44A987-615F-420F-849A-614B853F0D1E}"/>
              </a:ext>
            </a:extLst>
          </p:cNvPr>
          <p:cNvCxnSpPr>
            <a:cxnSpLocks/>
          </p:cNvCxnSpPr>
          <p:nvPr/>
        </p:nvCxnSpPr>
        <p:spPr>
          <a:xfrm flipV="1">
            <a:off x="956733" y="2545447"/>
            <a:ext cx="0" cy="3799368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線矢印コネクタ 12">
            <a:extLst>
              <a:ext uri="{FF2B5EF4-FFF2-40B4-BE49-F238E27FC236}">
                <a16:creationId xmlns:a16="http://schemas.microsoft.com/office/drawing/2014/main" id="{87FDCB3D-4E75-448B-91EF-7A3789D865D4}"/>
              </a:ext>
            </a:extLst>
          </p:cNvPr>
          <p:cNvCxnSpPr>
            <a:cxnSpLocks/>
          </p:cNvCxnSpPr>
          <p:nvPr/>
        </p:nvCxnSpPr>
        <p:spPr>
          <a:xfrm>
            <a:off x="956733" y="6344814"/>
            <a:ext cx="5044067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3C317F07-B113-4B43-8E5D-B6701C1D3E2D}"/>
              </a:ext>
            </a:extLst>
          </p:cNvPr>
          <p:cNvSpPr txBox="1"/>
          <p:nvPr/>
        </p:nvSpPr>
        <p:spPr>
          <a:xfrm>
            <a:off x="596782" y="2083782"/>
            <a:ext cx="8002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高さ</a:t>
            </a:r>
            <a:endParaRPr lang="en-US" altLang="ja-JP" sz="2400" dirty="0"/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713AA371-0E8D-4268-9A36-DB607AE25167}"/>
              </a:ext>
            </a:extLst>
          </p:cNvPr>
          <p:cNvSpPr txBox="1"/>
          <p:nvPr/>
        </p:nvSpPr>
        <p:spPr>
          <a:xfrm>
            <a:off x="6000800" y="6113981"/>
            <a:ext cx="8002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時間</a:t>
            </a:r>
            <a:endParaRPr lang="en-US" altLang="ja-JP" sz="2400" dirty="0"/>
          </a:p>
        </p:txBody>
      </p:sp>
      <p:cxnSp>
        <p:nvCxnSpPr>
          <p:cNvPr id="29" name="直線コネクタ 28">
            <a:extLst>
              <a:ext uri="{FF2B5EF4-FFF2-40B4-BE49-F238E27FC236}">
                <a16:creationId xmlns:a16="http://schemas.microsoft.com/office/drawing/2014/main" id="{1B3A5B2E-0452-4B30-AAD0-19F07023EEFE}"/>
              </a:ext>
            </a:extLst>
          </p:cNvPr>
          <p:cNvCxnSpPr>
            <a:cxnSpLocks/>
            <a:stCxn id="5" idx="4"/>
          </p:cNvCxnSpPr>
          <p:nvPr/>
        </p:nvCxnSpPr>
        <p:spPr>
          <a:xfrm>
            <a:off x="2020381" y="3791953"/>
            <a:ext cx="0" cy="2552861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線コネクタ 31">
            <a:extLst>
              <a:ext uri="{FF2B5EF4-FFF2-40B4-BE49-F238E27FC236}">
                <a16:creationId xmlns:a16="http://schemas.microsoft.com/office/drawing/2014/main" id="{524E2047-CB06-4357-9769-52D0BFC1BE29}"/>
              </a:ext>
            </a:extLst>
          </p:cNvPr>
          <p:cNvCxnSpPr>
            <a:cxnSpLocks/>
          </p:cNvCxnSpPr>
          <p:nvPr/>
        </p:nvCxnSpPr>
        <p:spPr>
          <a:xfrm>
            <a:off x="2036281" y="3753109"/>
            <a:ext cx="0" cy="2552861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線コネクタ 16">
            <a:extLst>
              <a:ext uri="{FF2B5EF4-FFF2-40B4-BE49-F238E27FC236}">
                <a16:creationId xmlns:a16="http://schemas.microsoft.com/office/drawing/2014/main" id="{91D7E747-FC00-4A10-8229-FC53709AC262}"/>
              </a:ext>
            </a:extLst>
          </p:cNvPr>
          <p:cNvCxnSpPr>
            <a:cxnSpLocks/>
          </p:cNvCxnSpPr>
          <p:nvPr/>
        </p:nvCxnSpPr>
        <p:spPr>
          <a:xfrm flipV="1">
            <a:off x="1802628" y="3267482"/>
            <a:ext cx="435505" cy="902098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90655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四角形: 角を丸くする 1">
            <a:extLst>
              <a:ext uri="{FF2B5EF4-FFF2-40B4-BE49-F238E27FC236}">
                <a16:creationId xmlns:a16="http://schemas.microsoft.com/office/drawing/2014/main" id="{7EFCB8BD-3424-47F6-AA93-58372410B1A8}"/>
              </a:ext>
            </a:extLst>
          </p:cNvPr>
          <p:cNvSpPr/>
          <p:nvPr/>
        </p:nvSpPr>
        <p:spPr>
          <a:xfrm>
            <a:off x="330200" y="2539999"/>
            <a:ext cx="7027333" cy="2691615"/>
          </a:xfrm>
          <a:prstGeom prst="round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46761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導関数と瞬間速度</a:t>
            </a:r>
            <a:endParaRPr kumimoji="1" lang="en-US" altLang="ja-JP" sz="3200" b="1" u="sn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テキスト ボックス 19">
                <a:extLst>
                  <a:ext uri="{FF2B5EF4-FFF2-40B4-BE49-F238E27FC236}">
                    <a16:creationId xmlns:a16="http://schemas.microsoft.com/office/drawing/2014/main" id="{925B49F9-A195-41D6-BF3C-0978C87BA794}"/>
                  </a:ext>
                </a:extLst>
              </p:cNvPr>
              <p:cNvSpPr txBox="1"/>
              <p:nvPr/>
            </p:nvSpPr>
            <p:spPr>
              <a:xfrm>
                <a:off x="567542" y="1216429"/>
                <a:ext cx="9110186" cy="387548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ja-JP" altLang="en-US" sz="2400" i="1">
                        <a:latin typeface="Cambria Math" panose="02040503050406030204" pitchFamily="18" charset="0"/>
                      </a:rPr>
                      <m:t>≧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ja-JP" altLang="en-US" sz="2400" i="1">
                        <a:latin typeface="Cambria Math" panose="02040503050406030204" pitchFamily="18" charset="0"/>
                      </a:rPr>
                      <m:t>≧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2.00000000000000000001</m:t>
                    </m:r>
                  </m:oMath>
                </a14:m>
                <a:r>
                  <a:rPr lang="en-US" altLang="ja-JP" sz="2400" dirty="0"/>
                  <a:t> </a:t>
                </a:r>
              </a:p>
              <a:p>
                <a:r>
                  <a:rPr lang="ja-JP" altLang="en-US" sz="2400" dirty="0"/>
                  <a:t>この間の</a:t>
                </a:r>
                <a:r>
                  <a:rPr lang="ja-JP" altLang="en-US" sz="2400" b="1" dirty="0">
                    <a:solidFill>
                      <a:srgbClr val="FF0000"/>
                    </a:solidFill>
                  </a:rPr>
                  <a:t>時間の差は限りなく</a:t>
                </a:r>
                <a:r>
                  <a:rPr lang="en-US" altLang="ja-JP" sz="2400" b="1" dirty="0">
                    <a:solidFill>
                      <a:srgbClr val="FF0000"/>
                    </a:solidFill>
                  </a:rPr>
                  <a:t>0</a:t>
                </a:r>
                <a:r>
                  <a:rPr lang="ja-JP" altLang="en-US" sz="2400" b="1" dirty="0">
                    <a:solidFill>
                      <a:srgbClr val="FF0000"/>
                    </a:solidFill>
                  </a:rPr>
                  <a:t>に近い一瞬の時間</a:t>
                </a:r>
                <a:r>
                  <a:rPr lang="ja-JP" altLang="en-US" sz="2400" dirty="0"/>
                  <a:t>になります。</a:t>
                </a:r>
                <a:endParaRPr lang="en-US" altLang="ja-JP" sz="2400" dirty="0"/>
              </a:p>
              <a:p>
                <a:r>
                  <a:rPr lang="ja-JP" altLang="en-US" sz="2400" dirty="0"/>
                  <a:t>この考え方から、ある時間の</a:t>
                </a:r>
                <a:r>
                  <a:rPr lang="ja-JP" altLang="en-US" sz="2400" b="1" dirty="0">
                    <a:solidFill>
                      <a:srgbClr val="FF0000"/>
                    </a:solidFill>
                  </a:rPr>
                  <a:t>瞬間速度</a:t>
                </a:r>
                <a:r>
                  <a:rPr lang="ja-JP" altLang="en-US" sz="2400" dirty="0"/>
                  <a:t>を求めることができます。</a:t>
                </a:r>
                <a:endParaRPr lang="en-US" altLang="ja-JP" sz="2400" dirty="0"/>
              </a:p>
              <a:p>
                <a:endParaRPr lang="en-US" altLang="ja-JP" sz="2400" dirty="0"/>
              </a:p>
              <a:p>
                <a:r>
                  <a:rPr lang="ja-JP" altLang="en-US" sz="2400" b="1" dirty="0">
                    <a:solidFill>
                      <a:srgbClr val="FF0000"/>
                    </a:solidFill>
                  </a:rPr>
                  <a:t>■瞬間速度の公式</a:t>
                </a:r>
                <a:endParaRPr lang="en-US" altLang="ja-JP" sz="2400" b="1" dirty="0">
                  <a:solidFill>
                    <a:srgbClr val="FF0000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ja-JP" sz="2400" b="0" i="1" smtClean="0"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n-US" altLang="ja-JP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altLang="ja-JP" sz="24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altLang="ja-JP" sz="2400" b="0" i="0" smtClean="0">
                                  <a:latin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  <m:r>
                                <a:rPr lang="ja-JP" altLang="en-US" sz="2400" i="1">
                                  <a:latin typeface="Cambria Math" panose="02040503050406030204" pitchFamily="18" charset="0"/>
                                </a:rPr>
                                <m:t>→</m:t>
                              </m:r>
                              <m: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lim>
                          </m:limLow>
                        </m:fName>
                        <m:e>
                          <m:f>
                            <m:fPr>
                              <m:ctrlPr>
                                <a:rPr lang="en-US" altLang="ja-JP" sz="24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d>
                                <m:dPr>
                                  <m:ctrlPr>
                                    <a:rPr lang="en-US" altLang="ja-JP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ja-JP" sz="2400" b="0" i="1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  <m:r>
                                    <a:rPr lang="en-US" altLang="ja-JP" sz="2400" b="0" i="1" smtClean="0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altLang="ja-JP" sz="2400" b="0" i="1" smtClean="0"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e>
                              </m:d>
                              <m: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num>
                            <m:den>
                              <m: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den>
                          </m:f>
                        </m:e>
                      </m:func>
                    </m:oMath>
                  </m:oMathPara>
                </a14:m>
                <a:endParaRPr lang="en-US" altLang="ja-JP" sz="2400" dirty="0"/>
              </a:p>
              <a:p>
                <a:endParaRPr lang="en-US" altLang="ja-JP" sz="2400" dirty="0"/>
              </a:p>
              <a:p>
                <a14:m>
                  <m:oMath xmlns:m="http://schemas.openxmlformats.org/officeDocument/2006/math">
                    <m:limLow>
                      <m:limLowPr>
                        <m:ctrlP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</m:ctrlPr>
                      </m:limLowPr>
                      <m:e>
                        <m:r>
                          <m:rPr>
                            <m:sty m:val="p"/>
                          </m:rPr>
                          <a:rPr lang="en-US" altLang="ja-JP" sz="2400" b="0" i="0" smtClean="0"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lim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h</m:t>
                        </m:r>
                        <m:r>
                          <a:rPr lang="ja-JP" altLang="en-US" sz="2400" i="1"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lim>
                    </m:limLow>
                  </m:oMath>
                </a14:m>
                <a:r>
                  <a:rPr lang="en-US" altLang="ja-JP" sz="2400" dirty="0"/>
                  <a:t>	</a:t>
                </a:r>
                <a:r>
                  <a:rPr lang="ja-JP" altLang="en-US" sz="2400" dirty="0"/>
                  <a:t>・・・</a:t>
                </a:r>
                <a:r>
                  <a:rPr lang="en-US" altLang="ja-JP" sz="2400" dirty="0"/>
                  <a:t> </a:t>
                </a:r>
                <a14:m>
                  <m:oMath xmlns:m="http://schemas.openxmlformats.org/officeDocument/2006/math">
                    <m:r>
                      <a:rPr lang="en-US" altLang="ja-JP" sz="2400" i="1">
                        <a:latin typeface="Cambria Math" panose="02040503050406030204" pitchFamily="18" charset="0"/>
                      </a:rPr>
                      <m:t>h</m:t>
                    </m:r>
                  </m:oMath>
                </a14:m>
                <a:r>
                  <a:rPr lang="ja-JP" altLang="en-US" sz="2400" dirty="0"/>
                  <a:t>は限りなく</a:t>
                </a:r>
                <a:r>
                  <a:rPr lang="en-US" altLang="ja-JP" sz="2400" dirty="0"/>
                  <a:t>0</a:t>
                </a:r>
                <a:r>
                  <a:rPr lang="ja-JP" altLang="en-US" sz="2400" dirty="0"/>
                  <a:t>に近いという意味</a:t>
                </a:r>
                <a:endParaRPr lang="en-US" altLang="ja-JP" sz="2400" dirty="0"/>
              </a:p>
              <a:p>
                <a14:m>
                  <m:oMath xmlns:m="http://schemas.openxmlformats.org/officeDocument/2006/math"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altLang="ja-JP" sz="2400" dirty="0"/>
                  <a:t>	</a:t>
                </a:r>
                <a:r>
                  <a:rPr lang="ja-JP" altLang="en-US" sz="2400" dirty="0"/>
                  <a:t>・・・瞬間速度を求めたいときの時間</a:t>
                </a:r>
                <a:endParaRPr lang="en-US" altLang="ja-JP" sz="2400" dirty="0"/>
              </a:p>
            </p:txBody>
          </p:sp>
        </mc:Choice>
        <mc:Fallback xmlns="">
          <p:sp>
            <p:nvSpPr>
              <p:cNvPr id="20" name="テキスト ボックス 19">
                <a:extLst>
                  <a:ext uri="{FF2B5EF4-FFF2-40B4-BE49-F238E27FC236}">
                    <a16:creationId xmlns:a16="http://schemas.microsoft.com/office/drawing/2014/main" id="{925B49F9-A195-41D6-BF3C-0978C87BA79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542" y="1216429"/>
                <a:ext cx="9110186" cy="3875485"/>
              </a:xfrm>
              <a:prstGeom prst="rect">
                <a:avLst/>
              </a:prstGeom>
              <a:blipFill>
                <a:blip r:embed="rId2"/>
                <a:stretch>
                  <a:fillRect l="-1003" r="-67" b="-2835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151260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440537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導関数と瞬間速度 例題</a:t>
            </a:r>
            <a:endParaRPr kumimoji="1" lang="en-US" altLang="ja-JP" sz="3200" b="1" u="sng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0" name="テキスト ボックス 19">
                <a:extLst>
                  <a:ext uri="{FF2B5EF4-FFF2-40B4-BE49-F238E27FC236}">
                    <a16:creationId xmlns:a16="http://schemas.microsoft.com/office/drawing/2014/main" id="{925B49F9-A195-41D6-BF3C-0978C87BA794}"/>
                  </a:ext>
                </a:extLst>
              </p:cNvPr>
              <p:cNvSpPr txBox="1"/>
              <p:nvPr/>
            </p:nvSpPr>
            <p:spPr>
              <a:xfrm>
                <a:off x="567542" y="1216429"/>
                <a:ext cx="8474821" cy="529343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ja-JP" altLang="en-US" sz="2400" dirty="0"/>
                  <a:t>ボールを真上に投げた時の、ボールの位置を表す関数が、</a:t>
                </a:r>
                <a:endParaRPr lang="en-US" altLang="ja-JP" sz="2400" dirty="0"/>
              </a:p>
              <a:p>
                <a14:m>
                  <m:oMath xmlns:m="http://schemas.openxmlformats.org/officeDocument/2006/math"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+5</m:t>
                    </m:r>
                  </m:oMath>
                </a14:m>
                <a:r>
                  <a:rPr lang="ja-JP" altLang="en-US" sz="2400" dirty="0"/>
                  <a:t>のとき、</a:t>
                </a:r>
                <a14:m>
                  <m:oMath xmlns:m="http://schemas.openxmlformats.org/officeDocument/2006/math"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=3</m:t>
                    </m:r>
                  </m:oMath>
                </a14:m>
                <a:r>
                  <a:rPr lang="ja-JP" altLang="en-US" sz="2400" dirty="0"/>
                  <a:t>での瞬間速度を求めなさい。</a:t>
                </a:r>
                <a:endParaRPr lang="en-US" altLang="ja-JP" sz="2400" dirty="0"/>
              </a:p>
              <a:p>
                <a:endParaRPr lang="en-US" altLang="ja-JP" sz="2400" dirty="0"/>
              </a:p>
              <a:p>
                <a:r>
                  <a:rPr lang="ja-JP" altLang="en-US" sz="2400" b="1" dirty="0">
                    <a:solidFill>
                      <a:srgbClr val="FF0000"/>
                    </a:solidFill>
                  </a:rPr>
                  <a:t>■解答</a:t>
                </a:r>
                <a:endParaRPr lang="en-US" altLang="ja-JP" sz="2400" b="1" dirty="0">
                  <a:solidFill>
                    <a:srgbClr val="FF0000"/>
                  </a:solidFill>
                </a:endParaRPr>
              </a:p>
              <a:p>
                <a:r>
                  <a:rPr lang="ja-JP" altLang="en-US" sz="2400" dirty="0"/>
                  <a:t>瞬間速度の公式より、</a:t>
                </a:r>
                <a:endParaRPr lang="en-US" altLang="ja-JP" sz="2400" dirty="0"/>
              </a:p>
              <a:p>
                <a14:m>
                  <m:oMath xmlns:m="http://schemas.openxmlformats.org/officeDocument/2006/math"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altLang="ja-JP" sz="2400" b="0" i="1" smtClean="0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altLang="ja-JP" sz="2400" b="0" i="0" smtClean="0">
                                <a:latin typeface="Cambria Math" panose="02040503050406030204" pitchFamily="18" charset="0"/>
                              </a:rPr>
                              <m:t>lim</m:t>
                            </m:r>
                          </m:e>
                          <m:lim>
                            <m:r>
                              <a:rPr lang="en-US" altLang="ja-JP" sz="2400" b="0" i="1" smtClean="0">
                                <a:latin typeface="Cambria Math" panose="02040503050406030204" pitchFamily="18" charset="0"/>
                              </a:rPr>
                              <m:t>h</m:t>
                            </m:r>
                            <m:r>
                              <a:rPr lang="ja-JP" altLang="en-US" sz="2400" i="1">
                                <a:latin typeface="Cambria Math" panose="02040503050406030204" pitchFamily="18" charset="0"/>
                              </a:rPr>
                              <m:t>→</m:t>
                            </m:r>
                            <m:r>
                              <a:rPr lang="en-US" altLang="ja-JP" sz="24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lim>
                        </m:limLow>
                      </m:fName>
                      <m:e>
                        <m:f>
                          <m:fPr>
                            <m:ctrlPr>
                              <a:rPr lang="en-US" altLang="ja-JP" sz="24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ja-JP" sz="24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  <m:d>
                              <m:dPr>
                                <m:ctrlPr>
                                  <a:rPr lang="en-US" altLang="ja-JP" sz="2400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ja-JP" sz="2400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3+</m:t>
                                </m:r>
                                <m:r>
                                  <a:rPr lang="en-US" altLang="ja-JP" sz="2400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h</m:t>
                                </m:r>
                              </m:e>
                            </m:d>
                            <m:r>
                              <a:rPr lang="en-US" altLang="ja-JP" sz="2400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ja-JP" sz="2400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  <m:r>
                              <a:rPr lang="en-US" altLang="ja-JP" sz="2400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(3)</m:t>
                            </m:r>
                          </m:num>
                          <m:den>
                            <m:r>
                              <a:rPr lang="en-US" altLang="ja-JP" sz="2400" b="0" i="1" smtClean="0">
                                <a:latin typeface="Cambria Math" panose="02040503050406030204" pitchFamily="18" charset="0"/>
                              </a:rPr>
                              <m:t>h</m:t>
                            </m:r>
                          </m:den>
                        </m:f>
                      </m:e>
                    </m:func>
                  </m:oMath>
                </a14:m>
                <a:r>
                  <a:rPr lang="en-US" altLang="ja-JP" sz="2400" dirty="0"/>
                  <a:t> </a:t>
                </a:r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ja-JP" sz="2400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altLang="ja-JP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altLang="ja-JP" sz="2400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ja-JP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ja-JP" sz="2400" i="1">
                        <a:latin typeface="Cambria Math" panose="02040503050406030204" pitchFamily="18" charset="0"/>
                      </a:rPr>
                      <m:t>+5</m:t>
                    </m:r>
                  </m:oMath>
                </a14:m>
                <a:r>
                  <a:rPr lang="ja-JP" altLang="en-US" sz="2400" dirty="0"/>
                  <a:t>より</a:t>
                </a:r>
                <a:endParaRPr lang="en-US" altLang="ja-JP" sz="2400" dirty="0"/>
              </a:p>
              <a:p>
                <a:r>
                  <a:rPr lang="ja-JP" altLang="en-US" sz="2400" b="0" dirty="0"/>
                  <a:t>・</a:t>
                </a:r>
                <a14:m>
                  <m:oMath xmlns:m="http://schemas.openxmlformats.org/officeDocument/2006/math">
                    <m:r>
                      <a:rPr lang="en-US" altLang="ja-JP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altLang="ja-JP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3+</m:t>
                        </m:r>
                        <m:r>
                          <a:rPr lang="en-US" altLang="ja-JP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</m:e>
                    </m:d>
                    <m:r>
                      <a:rPr lang="en-US" altLang="ja-JP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ja-JP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ja-JP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(3+</m:t>
                        </m:r>
                        <m:r>
                          <a:rPr lang="en-US" altLang="ja-JP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  <m:r>
                          <a:rPr lang="en-US" altLang="ja-JP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US" altLang="ja-JP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ja-JP" sz="2400" b="0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+5</m:t>
                    </m:r>
                  </m:oMath>
                </a14:m>
                <a:r>
                  <a:rPr lang="en-US" altLang="ja-JP" sz="2400" dirty="0">
                    <a:solidFill>
                      <a:srgbClr val="FF0000"/>
                    </a:solidFill>
                  </a:rPr>
                  <a:t> </a:t>
                </a:r>
                <a:endParaRPr lang="en-US" altLang="ja-JP" sz="2400" dirty="0"/>
              </a:p>
              <a:p>
                <a:r>
                  <a:rPr lang="ja-JP" altLang="en-US" sz="2400" b="0" dirty="0"/>
                  <a:t>・</a:t>
                </a:r>
                <a14:m>
                  <m:oMath xmlns:m="http://schemas.openxmlformats.org/officeDocument/2006/math">
                    <m:r>
                      <a:rPr lang="en-US" altLang="ja-JP" sz="2400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altLang="ja-JP" sz="2400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sz="2400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d>
                    <m:r>
                      <a:rPr lang="en-US" altLang="ja-JP" sz="2400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ja-JP" sz="2400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ja-JP" sz="2400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US" altLang="ja-JP" sz="2400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ja-JP" sz="2400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+5</m:t>
                    </m:r>
                  </m:oMath>
                </a14:m>
                <a:r>
                  <a:rPr lang="en-US" altLang="ja-JP" sz="2400" dirty="0">
                    <a:solidFill>
                      <a:srgbClr val="00B050"/>
                    </a:solidFill>
                  </a:rPr>
                  <a:t> </a:t>
                </a:r>
                <a:endParaRPr lang="en-US" altLang="ja-JP" sz="2400" dirty="0"/>
              </a:p>
              <a:p>
                <a:r>
                  <a:rPr lang="ja-JP" altLang="en-US" sz="2400" dirty="0"/>
                  <a:t>となる。よって</a:t>
                </a:r>
                <a:endParaRPr lang="en-US" altLang="ja-JP" sz="2400" dirty="0"/>
              </a:p>
              <a:p>
                <a14:m>
                  <m:oMath xmlns:m="http://schemas.openxmlformats.org/officeDocument/2006/math"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altLang="ja-JP" sz="2400" b="0" i="1" smtClean="0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altLang="ja-JP" sz="2400" b="0" i="0" smtClean="0">
                                <a:latin typeface="Cambria Math" panose="02040503050406030204" pitchFamily="18" charset="0"/>
                              </a:rPr>
                              <m:t>lim</m:t>
                            </m:r>
                          </m:e>
                          <m:lim>
                            <m:r>
                              <a:rPr lang="en-US" altLang="ja-JP" sz="2400" b="0" i="1" smtClean="0">
                                <a:latin typeface="Cambria Math" panose="02040503050406030204" pitchFamily="18" charset="0"/>
                              </a:rPr>
                              <m:t>h</m:t>
                            </m:r>
                            <m:r>
                              <a:rPr lang="ja-JP" altLang="en-US" sz="2400" i="1">
                                <a:latin typeface="Cambria Math" panose="02040503050406030204" pitchFamily="18" charset="0"/>
                              </a:rPr>
                              <m:t>→</m:t>
                            </m:r>
                            <m:r>
                              <a:rPr lang="en-US" altLang="ja-JP" sz="24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lim>
                        </m:limLow>
                      </m:fName>
                      <m:e>
                        <m:f>
                          <m:fPr>
                            <m:ctrlPr>
                              <a:rPr lang="en-US" altLang="ja-JP" sz="24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ja-JP" sz="24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sSup>
                              <m:sSupPr>
                                <m:ctrlPr>
                                  <a:rPr lang="en-US" altLang="ja-JP" sz="2400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en-US" altLang="ja-JP" sz="2400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ja-JP" sz="2400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3+</m:t>
                                    </m:r>
                                    <m:r>
                                      <a:rPr lang="en-US" altLang="ja-JP" sz="2400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h</m:t>
                                    </m:r>
                                  </m:e>
                                </m:d>
                              </m:e>
                              <m:sup>
                                <m:r>
                                  <a:rPr lang="en-US" altLang="ja-JP" sz="2400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US" altLang="ja-JP" sz="240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+5</m:t>
                            </m:r>
                            <m:r>
                              <a:rPr lang="en-US" altLang="ja-JP" sz="2400" b="0" i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  <m:r>
                              <a:rPr lang="en-US" altLang="ja-JP" sz="2400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ja-JP" sz="2400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sSup>
                              <m:sSupPr>
                                <m:ctrlPr>
                                  <a:rPr lang="en-US" altLang="ja-JP" sz="2400" i="1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ja-JP" sz="2400" i="1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  <m:sup>
                                <m:r>
                                  <a:rPr lang="en-US" altLang="ja-JP" sz="2400" i="1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US" altLang="ja-JP" sz="2400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+5</m:t>
                            </m:r>
                            <m:r>
                              <a:rPr lang="en-US" altLang="ja-JP" sz="2400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num>
                          <m:den>
                            <m:r>
                              <a:rPr lang="en-US" altLang="ja-JP" sz="2400" b="0" i="1" smtClean="0">
                                <a:latin typeface="Cambria Math" panose="02040503050406030204" pitchFamily="18" charset="0"/>
                              </a:rPr>
                              <m:t>h</m:t>
                            </m:r>
                          </m:den>
                        </m:f>
                      </m:e>
                    </m:func>
                  </m:oMath>
                </a14:m>
                <a:r>
                  <a:rPr lang="en-US" altLang="ja-JP" sz="2400" dirty="0"/>
                  <a:t> </a:t>
                </a:r>
              </a:p>
              <a:p>
                <a:pPr>
                  <a:lnSpc>
                    <a:spcPct val="150000"/>
                  </a:lnSpc>
                </a:pPr>
                <a:r>
                  <a:rPr lang="ja-JP" altLang="en-US" sz="2400" dirty="0"/>
                  <a:t>となる。</a:t>
                </a:r>
                <a:endParaRPr lang="en-US" altLang="ja-JP" sz="2400" dirty="0"/>
              </a:p>
            </p:txBody>
          </p:sp>
        </mc:Choice>
        <mc:Fallback>
          <p:sp>
            <p:nvSpPr>
              <p:cNvPr id="20" name="テキスト ボックス 19">
                <a:extLst>
                  <a:ext uri="{FF2B5EF4-FFF2-40B4-BE49-F238E27FC236}">
                    <a16:creationId xmlns:a16="http://schemas.microsoft.com/office/drawing/2014/main" id="{925B49F9-A195-41D6-BF3C-0978C87BA79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542" y="1216429"/>
                <a:ext cx="8474821" cy="5293437"/>
              </a:xfrm>
              <a:prstGeom prst="rect">
                <a:avLst/>
              </a:prstGeom>
              <a:blipFill>
                <a:blip r:embed="rId2"/>
                <a:stretch>
                  <a:fillRect l="-1079" t="-922" r="-216" b="-1728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855286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440537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導関数と瞬間速度 例題</a:t>
            </a:r>
            <a:endParaRPr kumimoji="1" lang="en-US" altLang="ja-JP" sz="3200" b="1" u="sng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0" name="テキスト ボックス 19">
                <a:extLst>
                  <a:ext uri="{FF2B5EF4-FFF2-40B4-BE49-F238E27FC236}">
                    <a16:creationId xmlns:a16="http://schemas.microsoft.com/office/drawing/2014/main" id="{925B49F9-A195-41D6-BF3C-0978C87BA794}"/>
                  </a:ext>
                </a:extLst>
              </p:cNvPr>
              <p:cNvSpPr txBox="1"/>
              <p:nvPr/>
            </p:nvSpPr>
            <p:spPr>
              <a:xfrm>
                <a:off x="567542" y="1216429"/>
                <a:ext cx="8474821" cy="472302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ja-JP" altLang="en-US" sz="2400" dirty="0"/>
                  <a:t>ボールを真上に投げた時</a:t>
                </a:r>
                <a:r>
                  <a:rPr lang="ja-JP" altLang="en-US" sz="2400"/>
                  <a:t>の、ボールの</a:t>
                </a:r>
                <a:r>
                  <a:rPr lang="ja-JP" altLang="en-US" sz="2400" dirty="0"/>
                  <a:t>位置を表す関数が、</a:t>
                </a:r>
                <a:endParaRPr lang="en-US" altLang="ja-JP" sz="2400" dirty="0"/>
              </a:p>
              <a:p>
                <a14:m>
                  <m:oMath xmlns:m="http://schemas.openxmlformats.org/officeDocument/2006/math"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+5</m:t>
                    </m:r>
                  </m:oMath>
                </a14:m>
                <a:r>
                  <a:rPr lang="ja-JP" altLang="en-US" sz="2400" dirty="0"/>
                  <a:t>のとき、</a:t>
                </a:r>
                <a14:m>
                  <m:oMath xmlns:m="http://schemas.openxmlformats.org/officeDocument/2006/math"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=3</m:t>
                    </m:r>
                  </m:oMath>
                </a14:m>
                <a:r>
                  <a:rPr lang="ja-JP" altLang="en-US" sz="2400" dirty="0"/>
                  <a:t>での瞬間速度を求めなさい。</a:t>
                </a:r>
                <a:endParaRPr lang="en-US" altLang="ja-JP" sz="2400" dirty="0"/>
              </a:p>
              <a:p>
                <a:endParaRPr lang="en-US" altLang="ja-JP" sz="2400" dirty="0"/>
              </a:p>
              <a:p>
                <a:r>
                  <a:rPr lang="ja-JP" altLang="en-US" sz="2400" b="1" dirty="0">
                    <a:solidFill>
                      <a:srgbClr val="FF0000"/>
                    </a:solidFill>
                  </a:rPr>
                  <a:t>■解答</a:t>
                </a:r>
                <a:endParaRPr lang="en-US" altLang="ja-JP" sz="2400" b="1" dirty="0">
                  <a:solidFill>
                    <a:srgbClr val="FF0000"/>
                  </a:solidFill>
                </a:endParaRPr>
              </a:p>
              <a:p>
                <a14:m>
                  <m:oMath xmlns:m="http://schemas.openxmlformats.org/officeDocument/2006/math"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altLang="ja-JP" sz="2400" b="0" i="1" smtClean="0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altLang="ja-JP" sz="2400" b="0" i="0" smtClean="0">
                                <a:latin typeface="Cambria Math" panose="02040503050406030204" pitchFamily="18" charset="0"/>
                              </a:rPr>
                              <m:t>lim</m:t>
                            </m:r>
                          </m:e>
                          <m:lim>
                            <m:r>
                              <a:rPr lang="en-US" altLang="ja-JP" sz="2400" b="0" i="1" smtClean="0">
                                <a:latin typeface="Cambria Math" panose="02040503050406030204" pitchFamily="18" charset="0"/>
                              </a:rPr>
                              <m:t>h</m:t>
                            </m:r>
                            <m:r>
                              <a:rPr lang="ja-JP" altLang="en-US" sz="2400" i="1">
                                <a:latin typeface="Cambria Math" panose="02040503050406030204" pitchFamily="18" charset="0"/>
                              </a:rPr>
                              <m:t>→</m:t>
                            </m:r>
                            <m:r>
                              <a:rPr lang="en-US" altLang="ja-JP" sz="24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lim>
                        </m:limLow>
                      </m:fName>
                      <m:e>
                        <m:f>
                          <m:fPr>
                            <m:ctrlPr>
                              <a:rPr lang="en-US" altLang="ja-JP" sz="24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ja-JP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sSup>
                              <m:sSupPr>
                                <m:ctrlPr>
                                  <a:rPr lang="en-US" altLang="ja-JP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en-US" altLang="ja-JP" sz="24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ja-JP" sz="24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3+</m:t>
                                    </m:r>
                                    <m:r>
                                      <a:rPr lang="en-US" altLang="ja-JP" sz="24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h</m:t>
                                    </m:r>
                                  </m:e>
                                </m:d>
                              </m:e>
                              <m:sup>
                                <m:r>
                                  <a:rPr lang="en-US" altLang="ja-JP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US" altLang="ja-JP" sz="24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+5</m:t>
                            </m:r>
                            <m:r>
                              <a:rPr lang="en-US" altLang="ja-JP" sz="2400" b="0" i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  <m:r>
                              <a:rPr lang="en-US" altLang="ja-JP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−(</m:t>
                            </m:r>
                            <m:sSup>
                              <m:sSupPr>
                                <m:ctrlPr>
                                  <a:rPr lang="en-US" altLang="ja-JP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ja-JP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  <m:sup>
                                <m:r>
                                  <a:rPr lang="en-US" altLang="ja-JP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US" altLang="ja-JP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+5</m:t>
                            </m:r>
                            <m:r>
                              <a:rPr lang="en-US" altLang="ja-JP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num>
                          <m:den>
                            <m:r>
                              <a:rPr lang="en-US" altLang="ja-JP" sz="2400" b="0" i="1" smtClean="0">
                                <a:latin typeface="Cambria Math" panose="02040503050406030204" pitchFamily="18" charset="0"/>
                              </a:rPr>
                              <m:t>h</m:t>
                            </m:r>
                          </m:den>
                        </m:f>
                      </m:e>
                    </m:func>
                  </m:oMath>
                </a14:m>
                <a:r>
                  <a:rPr lang="en-US" altLang="ja-JP" sz="2400" dirty="0"/>
                  <a:t> </a:t>
                </a:r>
                <a:r>
                  <a:rPr lang="ja-JP" altLang="en-US" sz="2400" dirty="0"/>
                  <a:t> これを計算すると</a:t>
                </a:r>
                <a:endParaRPr lang="en-US" altLang="ja-JP" sz="2400" dirty="0"/>
              </a:p>
              <a:p>
                <a14:m>
                  <m:oMath xmlns:m="http://schemas.openxmlformats.org/officeDocument/2006/math"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altLang="ja-JP" sz="2400" b="0" i="1" smtClean="0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altLang="ja-JP" sz="2400" b="0" i="0" smtClean="0">
                                <a:latin typeface="Cambria Math" panose="02040503050406030204" pitchFamily="18" charset="0"/>
                              </a:rPr>
                              <m:t>lim</m:t>
                            </m:r>
                          </m:e>
                          <m:lim>
                            <m:r>
                              <a:rPr lang="en-US" altLang="ja-JP" sz="2400" b="0" i="1" smtClean="0">
                                <a:latin typeface="Cambria Math" panose="02040503050406030204" pitchFamily="18" charset="0"/>
                              </a:rPr>
                              <m:t>h</m:t>
                            </m:r>
                            <m:r>
                              <a:rPr lang="ja-JP" altLang="en-US" sz="2400" i="1">
                                <a:latin typeface="Cambria Math" panose="02040503050406030204" pitchFamily="18" charset="0"/>
                              </a:rPr>
                              <m:t>→</m:t>
                            </m:r>
                            <m:r>
                              <a:rPr lang="en-US" altLang="ja-JP" sz="24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lim>
                        </m:limLow>
                      </m:fName>
                      <m:e>
                        <m:f>
                          <m:fPr>
                            <m:ctrlPr>
                              <a:rPr lang="en-US" altLang="ja-JP" sz="24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ja-JP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altLang="ja-JP" sz="2400" b="0" i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9+6</m:t>
                            </m:r>
                            <m:r>
                              <a:rPr lang="en-US" altLang="ja-JP" sz="2400" i="1">
                                <a:latin typeface="Cambria Math" panose="02040503050406030204" pitchFamily="18" charset="0"/>
                              </a:rPr>
                              <m:t>h</m:t>
                            </m:r>
                            <m:r>
                              <a:rPr lang="en-US" altLang="ja-JP" sz="2400" b="0" i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sSupPr>
                                <m:ctrlPr>
                                  <a:rPr lang="en-US" altLang="ja-JP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ja-JP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h</m:t>
                                </m:r>
                              </m:e>
                              <m:sup>
                                <m:r>
                                  <a:rPr lang="en-US" altLang="ja-JP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US" altLang="ja-JP" sz="24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+5</m:t>
                            </m:r>
                            <m:r>
                              <a:rPr lang="en-US" altLang="ja-JP" sz="2400" b="0" i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  <m:r>
                              <a:rPr lang="en-US" altLang="ja-JP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−(9</m:t>
                            </m:r>
                            <m:r>
                              <a:rPr lang="en-US" altLang="ja-JP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+5</m:t>
                            </m:r>
                            <m:r>
                              <a:rPr lang="en-US" altLang="ja-JP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num>
                          <m:den>
                            <m:r>
                              <a:rPr lang="en-US" altLang="ja-JP" sz="2400" b="0" i="1" smtClean="0">
                                <a:latin typeface="Cambria Math" panose="02040503050406030204" pitchFamily="18" charset="0"/>
                              </a:rPr>
                              <m:t>h</m:t>
                            </m:r>
                          </m:den>
                        </m:f>
                      </m:e>
                    </m:func>
                  </m:oMath>
                </a14:m>
                <a:r>
                  <a:rPr lang="ja-JP" altLang="en-US" sz="2400" dirty="0"/>
                  <a:t>　</a:t>
                </a:r>
                <a:endParaRPr lang="en-US" altLang="ja-JP" sz="2400" dirty="0"/>
              </a:p>
              <a:p>
                <a14:m>
                  <m:oMath xmlns:m="http://schemas.openxmlformats.org/officeDocument/2006/math"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altLang="ja-JP" sz="2400" b="0" i="1" smtClean="0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altLang="ja-JP" sz="2400" b="0" i="0" smtClean="0">
                                <a:latin typeface="Cambria Math" panose="02040503050406030204" pitchFamily="18" charset="0"/>
                              </a:rPr>
                              <m:t>lim</m:t>
                            </m:r>
                          </m:e>
                          <m:lim>
                            <m:r>
                              <a:rPr lang="en-US" altLang="ja-JP" sz="2400" b="0" i="1" smtClean="0">
                                <a:latin typeface="Cambria Math" panose="02040503050406030204" pitchFamily="18" charset="0"/>
                              </a:rPr>
                              <m:t>h</m:t>
                            </m:r>
                            <m:r>
                              <a:rPr lang="ja-JP" altLang="en-US" sz="2400" i="1">
                                <a:latin typeface="Cambria Math" panose="02040503050406030204" pitchFamily="18" charset="0"/>
                              </a:rPr>
                              <m:t>→</m:t>
                            </m:r>
                            <m:r>
                              <a:rPr lang="en-US" altLang="ja-JP" sz="24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lim>
                        </m:limLow>
                      </m:fName>
                      <m:e>
                        <m:f>
                          <m:fPr>
                            <m:ctrlPr>
                              <a:rPr lang="en-US" altLang="ja-JP" sz="24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ja-JP" sz="2400">
                                <a:latin typeface="Cambria Math" panose="02040503050406030204" pitchFamily="18" charset="0"/>
                              </a:rPr>
                              <m:t>9+6</m:t>
                            </m:r>
                            <m:r>
                              <a:rPr lang="en-US" altLang="ja-JP" sz="2400" i="1">
                                <a:latin typeface="Cambria Math" panose="02040503050406030204" pitchFamily="18" charset="0"/>
                              </a:rPr>
                              <m:t>h</m:t>
                            </m:r>
                            <m:r>
                              <a:rPr lang="en-US" altLang="ja-JP" sz="2400"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sSupPr>
                                <m:ctrlPr>
                                  <a:rPr lang="en-US" altLang="ja-JP" sz="24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ja-JP" sz="2400" i="1">
                                    <a:latin typeface="Cambria Math" panose="02040503050406030204" pitchFamily="18" charset="0"/>
                                  </a:rPr>
                                  <m:t>h</m:t>
                                </m:r>
                              </m:e>
                              <m:sup>
                                <m:r>
                                  <a:rPr lang="en-US" altLang="ja-JP" sz="24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US" altLang="ja-JP" sz="2400">
                                <a:latin typeface="Cambria Math" panose="02040503050406030204" pitchFamily="18" charset="0"/>
                              </a:rPr>
                              <m:t>+5</m:t>
                            </m:r>
                            <m:r>
                              <a:rPr lang="en-US" altLang="ja-JP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−9−</m:t>
                            </m:r>
                            <m:r>
                              <a:rPr lang="en-US" altLang="ja-JP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num>
                          <m:den>
                            <m:r>
                              <a:rPr lang="en-US" altLang="ja-JP" sz="2400" b="0" i="1" smtClean="0">
                                <a:latin typeface="Cambria Math" panose="02040503050406030204" pitchFamily="18" charset="0"/>
                              </a:rPr>
                              <m:t>h</m:t>
                            </m:r>
                          </m:den>
                        </m:f>
                      </m:e>
                    </m:func>
                  </m:oMath>
                </a14:m>
                <a:r>
                  <a:rPr lang="ja-JP" altLang="en-US" sz="2400" dirty="0"/>
                  <a:t>　</a:t>
                </a:r>
                <a:endParaRPr lang="en-US" altLang="ja-JP" sz="2400" dirty="0"/>
              </a:p>
              <a:p>
                <a14:m>
                  <m:oMath xmlns:m="http://schemas.openxmlformats.org/officeDocument/2006/math"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altLang="ja-JP" sz="2400" b="0" i="1" smtClean="0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altLang="ja-JP" sz="2400" b="0" i="0" smtClean="0">
                                <a:latin typeface="Cambria Math" panose="02040503050406030204" pitchFamily="18" charset="0"/>
                              </a:rPr>
                              <m:t>lim</m:t>
                            </m:r>
                          </m:e>
                          <m:lim>
                            <m:r>
                              <a:rPr lang="en-US" altLang="ja-JP" sz="2400" b="0" i="1" smtClean="0">
                                <a:latin typeface="Cambria Math" panose="02040503050406030204" pitchFamily="18" charset="0"/>
                              </a:rPr>
                              <m:t>h</m:t>
                            </m:r>
                            <m:r>
                              <a:rPr lang="ja-JP" altLang="en-US" sz="2400" i="1">
                                <a:latin typeface="Cambria Math" panose="02040503050406030204" pitchFamily="18" charset="0"/>
                              </a:rPr>
                              <m:t>→</m:t>
                            </m:r>
                            <m:r>
                              <a:rPr lang="en-US" altLang="ja-JP" sz="24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lim>
                        </m:limLow>
                      </m:fName>
                      <m:e>
                        <m:f>
                          <m:fPr>
                            <m:ctrlPr>
                              <a:rPr lang="en-US" altLang="ja-JP" sz="24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ja-JP" sz="2400">
                                <a:latin typeface="Cambria Math" panose="02040503050406030204" pitchFamily="18" charset="0"/>
                              </a:rPr>
                              <m:t>6</m:t>
                            </m:r>
                            <m:r>
                              <a:rPr lang="en-US" altLang="ja-JP" sz="2400" i="1">
                                <a:latin typeface="Cambria Math" panose="02040503050406030204" pitchFamily="18" charset="0"/>
                              </a:rPr>
                              <m:t>h</m:t>
                            </m:r>
                            <m:r>
                              <a:rPr lang="en-US" altLang="ja-JP" sz="2400"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sSupPr>
                                <m:ctrlPr>
                                  <a:rPr lang="en-US" altLang="ja-JP" sz="24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ja-JP" sz="2400" i="1">
                                    <a:latin typeface="Cambria Math" panose="02040503050406030204" pitchFamily="18" charset="0"/>
                                  </a:rPr>
                                  <m:t>h</m:t>
                                </m:r>
                              </m:e>
                              <m:sup>
                                <m:r>
                                  <a:rPr lang="en-US" altLang="ja-JP" sz="24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a:rPr lang="en-US" altLang="ja-JP" sz="2400" b="0" i="1" smtClean="0">
                                <a:latin typeface="Cambria Math" panose="02040503050406030204" pitchFamily="18" charset="0"/>
                              </a:rPr>
                              <m:t>h</m:t>
                            </m:r>
                          </m:den>
                        </m:f>
                      </m:e>
                    </m:func>
                  </m:oMath>
                </a14:m>
                <a:r>
                  <a:rPr lang="ja-JP" altLang="en-US" sz="2400" dirty="0"/>
                  <a:t>　</a:t>
                </a:r>
                <a:endParaRPr lang="en-US" altLang="ja-JP" sz="2400" dirty="0"/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altLang="ja-JP" sz="2400" b="0" i="1" smtClean="0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altLang="ja-JP" sz="2400" b="0" i="0" smtClean="0">
                                <a:latin typeface="Cambria Math" panose="02040503050406030204" pitchFamily="18" charset="0"/>
                              </a:rPr>
                              <m:t>lim</m:t>
                            </m:r>
                          </m:e>
                          <m:lim>
                            <m:r>
                              <a:rPr lang="en-US" altLang="ja-JP" sz="2400" b="0" i="1" smtClean="0">
                                <a:latin typeface="Cambria Math" panose="02040503050406030204" pitchFamily="18" charset="0"/>
                              </a:rPr>
                              <m:t>h</m:t>
                            </m:r>
                            <m:r>
                              <a:rPr lang="ja-JP" altLang="en-US" sz="2400" i="1">
                                <a:latin typeface="Cambria Math" panose="02040503050406030204" pitchFamily="18" charset="0"/>
                              </a:rPr>
                              <m:t>→</m:t>
                            </m:r>
                            <m:r>
                              <a:rPr lang="en-US" altLang="ja-JP" sz="24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lim>
                        </m:limLow>
                      </m:fName>
                      <m:e>
                        <m:r>
                          <a:rPr lang="en-US" altLang="ja-JP" sz="2400" i="1" smtClean="0">
                            <a:latin typeface="Cambria Math" panose="02040503050406030204" pitchFamily="18" charset="0"/>
                          </a:rPr>
                          <m:t>6</m:t>
                        </m:r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</m:func>
                  </m:oMath>
                </a14:m>
                <a:r>
                  <a:rPr lang="ja-JP" altLang="en-US" sz="2400" dirty="0"/>
                  <a:t>　</a:t>
                </a:r>
                <a:endParaRPr lang="en-US" altLang="ja-JP" sz="2400" dirty="0"/>
              </a:p>
            </p:txBody>
          </p:sp>
        </mc:Choice>
        <mc:Fallback>
          <p:sp>
            <p:nvSpPr>
              <p:cNvPr id="20" name="テキスト ボックス 19">
                <a:extLst>
                  <a:ext uri="{FF2B5EF4-FFF2-40B4-BE49-F238E27FC236}">
                    <a16:creationId xmlns:a16="http://schemas.microsoft.com/office/drawing/2014/main" id="{925B49F9-A195-41D6-BF3C-0978C87BA79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542" y="1216429"/>
                <a:ext cx="8474821" cy="4723024"/>
              </a:xfrm>
              <a:prstGeom prst="rect">
                <a:avLst/>
              </a:prstGeom>
              <a:blipFill>
                <a:blip r:embed="rId2"/>
                <a:stretch>
                  <a:fillRect l="-1079" t="-1034" r="-216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68089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440537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導関数と瞬間速度 例題</a:t>
            </a:r>
            <a:endParaRPr kumimoji="1" lang="en-US" altLang="ja-JP" sz="3200" b="1" u="sn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テキスト ボックス 19">
                <a:extLst>
                  <a:ext uri="{FF2B5EF4-FFF2-40B4-BE49-F238E27FC236}">
                    <a16:creationId xmlns:a16="http://schemas.microsoft.com/office/drawing/2014/main" id="{925B49F9-A195-41D6-BF3C-0978C87BA794}"/>
                  </a:ext>
                </a:extLst>
              </p:cNvPr>
              <p:cNvSpPr txBox="1"/>
              <p:nvPr/>
            </p:nvSpPr>
            <p:spPr>
              <a:xfrm>
                <a:off x="567542" y="1216429"/>
                <a:ext cx="8474821" cy="445141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ja-JP" altLang="en-US" sz="2400" dirty="0"/>
                  <a:t>ボールを真上に投げた時の、ぼるの位置を表す関数が、</a:t>
                </a:r>
                <a:endParaRPr lang="en-US" altLang="ja-JP" sz="2400" dirty="0"/>
              </a:p>
              <a:p>
                <a14:m>
                  <m:oMath xmlns:m="http://schemas.openxmlformats.org/officeDocument/2006/math"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+5</m:t>
                    </m:r>
                  </m:oMath>
                </a14:m>
                <a:r>
                  <a:rPr lang="ja-JP" altLang="en-US" sz="2400" dirty="0"/>
                  <a:t>のとき、</a:t>
                </a:r>
                <a14:m>
                  <m:oMath xmlns:m="http://schemas.openxmlformats.org/officeDocument/2006/math"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=3</m:t>
                    </m:r>
                  </m:oMath>
                </a14:m>
                <a:r>
                  <a:rPr lang="ja-JP" altLang="en-US" sz="2400" dirty="0"/>
                  <a:t>での瞬間速度を求めなさい。</a:t>
                </a:r>
                <a:endParaRPr lang="en-US" altLang="ja-JP" sz="2400" dirty="0"/>
              </a:p>
              <a:p>
                <a:endParaRPr lang="en-US" altLang="ja-JP" sz="2400" dirty="0"/>
              </a:p>
              <a:p>
                <a:r>
                  <a:rPr lang="ja-JP" altLang="en-US" sz="2400" b="1" dirty="0">
                    <a:solidFill>
                      <a:srgbClr val="FF0000"/>
                    </a:solidFill>
                  </a:rPr>
                  <a:t>■解答</a:t>
                </a:r>
                <a:endParaRPr lang="en-US" altLang="ja-JP" sz="2400" b="1" dirty="0">
                  <a:solidFill>
                    <a:srgbClr val="FF0000"/>
                  </a:solidFill>
                </a:endParaRPr>
              </a:p>
              <a:p>
                <a14:m>
                  <m:oMath xmlns:m="http://schemas.openxmlformats.org/officeDocument/2006/math"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altLang="ja-JP" sz="2400" b="0" i="1" smtClean="0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altLang="ja-JP" sz="2400" b="0" i="0" smtClean="0">
                                <a:latin typeface="Cambria Math" panose="02040503050406030204" pitchFamily="18" charset="0"/>
                              </a:rPr>
                              <m:t>lim</m:t>
                            </m:r>
                          </m:e>
                          <m:lim>
                            <m:r>
                              <a:rPr lang="en-US" altLang="ja-JP" sz="2400" b="0" i="1" smtClean="0">
                                <a:latin typeface="Cambria Math" panose="02040503050406030204" pitchFamily="18" charset="0"/>
                              </a:rPr>
                              <m:t>h</m:t>
                            </m:r>
                            <m:r>
                              <a:rPr lang="ja-JP" altLang="en-US" sz="2400" i="1">
                                <a:latin typeface="Cambria Math" panose="02040503050406030204" pitchFamily="18" charset="0"/>
                              </a:rPr>
                              <m:t>→</m:t>
                            </m:r>
                            <m:r>
                              <a:rPr lang="en-US" altLang="ja-JP" sz="24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lim>
                        </m:limLow>
                      </m:fName>
                      <m:e>
                        <m:r>
                          <a:rPr lang="en-US" altLang="ja-JP" sz="2400" i="1" smtClean="0">
                            <a:latin typeface="Cambria Math" panose="02040503050406030204" pitchFamily="18" charset="0"/>
                          </a:rPr>
                          <m:t>6</m:t>
                        </m:r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</m:func>
                  </m:oMath>
                </a14:m>
                <a:r>
                  <a:rPr lang="ja-JP" altLang="en-US" sz="2400" dirty="0"/>
                  <a:t>　</a:t>
                </a:r>
                <a:endParaRPr lang="en-US" altLang="ja-JP" sz="2400" dirty="0"/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h</m:t>
                    </m:r>
                  </m:oMath>
                </a14:m>
                <a:r>
                  <a:rPr lang="ja-JP" altLang="en-US" sz="2400" dirty="0"/>
                  <a:t>は限りなく</a:t>
                </a:r>
                <a14:m>
                  <m:oMath xmlns:m="http://schemas.openxmlformats.org/officeDocument/2006/math">
                    <m:r>
                      <a:rPr lang="en-US" altLang="ja-JP" sz="2400" i="1" dirty="0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ja-JP" altLang="en-US" sz="2400" dirty="0"/>
                  <a:t>なので</a:t>
                </a:r>
                <a14:m>
                  <m:oMath xmlns:m="http://schemas.openxmlformats.org/officeDocument/2006/math">
                    <m:r>
                      <a:rPr lang="en-US" altLang="ja-JP" sz="2400" i="1" dirty="0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ja-JP" altLang="en-US" sz="2400" dirty="0"/>
                  <a:t>として扱い、</a:t>
                </a:r>
                <a:endParaRPr lang="en-US" altLang="ja-JP" sz="2400" dirty="0"/>
              </a:p>
              <a:p>
                <a14:m>
                  <m:oMath xmlns:m="http://schemas.openxmlformats.org/officeDocument/2006/math"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=6+0=</m:t>
                    </m:r>
                    <m:r>
                      <a:rPr lang="en-US" altLang="ja-JP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𝟔</m:t>
                    </m:r>
                  </m:oMath>
                </a14:m>
                <a:r>
                  <a:rPr lang="en-US" altLang="ja-JP" sz="2400" dirty="0"/>
                  <a:t> </a:t>
                </a:r>
              </a:p>
              <a:p>
                <a:endParaRPr lang="en-US" altLang="ja-JP" sz="2400" dirty="0"/>
              </a:p>
              <a:p>
                <a:r>
                  <a:rPr lang="ja-JP" altLang="en-US" sz="2400" dirty="0"/>
                  <a:t>計算過程は長いですが、</a:t>
                </a:r>
                <a:endParaRPr lang="en-US" altLang="ja-JP" sz="2400" dirty="0"/>
              </a:p>
              <a:p>
                <a:r>
                  <a:rPr lang="ja-JP" altLang="en-US" sz="2400" b="1" dirty="0">
                    <a:solidFill>
                      <a:srgbClr val="FF0000"/>
                    </a:solidFill>
                  </a:rPr>
                  <a:t>位置を表す関数</a:t>
                </a:r>
                <a:r>
                  <a:rPr lang="ja-JP" altLang="en-US" sz="2400" dirty="0"/>
                  <a:t>が判明していれば、</a:t>
                </a:r>
                <a:endParaRPr lang="en-US" altLang="ja-JP" sz="2400" dirty="0"/>
              </a:p>
              <a:p>
                <a:r>
                  <a:rPr lang="ja-JP" altLang="en-US" sz="2400" dirty="0"/>
                  <a:t>時間ごとの</a:t>
                </a:r>
                <a:r>
                  <a:rPr lang="ja-JP" altLang="en-US" sz="2400" b="1" dirty="0">
                    <a:solidFill>
                      <a:srgbClr val="FF0000"/>
                    </a:solidFill>
                  </a:rPr>
                  <a:t>瞬間速度</a:t>
                </a:r>
                <a:r>
                  <a:rPr lang="ja-JP" altLang="en-US" sz="2400" dirty="0"/>
                  <a:t>を計算することができます。</a:t>
                </a:r>
                <a:endParaRPr lang="en-US" altLang="ja-JP" sz="2400" dirty="0"/>
              </a:p>
            </p:txBody>
          </p:sp>
        </mc:Choice>
        <mc:Fallback xmlns="">
          <p:sp>
            <p:nvSpPr>
              <p:cNvPr id="20" name="テキスト ボックス 19">
                <a:extLst>
                  <a:ext uri="{FF2B5EF4-FFF2-40B4-BE49-F238E27FC236}">
                    <a16:creationId xmlns:a16="http://schemas.microsoft.com/office/drawing/2014/main" id="{925B49F9-A195-41D6-BF3C-0978C87BA79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542" y="1216429"/>
                <a:ext cx="8474821" cy="4451411"/>
              </a:xfrm>
              <a:prstGeom prst="rect">
                <a:avLst/>
              </a:prstGeom>
              <a:blipFill>
                <a:blip r:embed="rId2"/>
                <a:stretch>
                  <a:fillRect l="-1079" t="-1096" r="-216" b="-2192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8892624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四角形: 角を丸くする 1">
            <a:extLst>
              <a:ext uri="{FF2B5EF4-FFF2-40B4-BE49-F238E27FC236}">
                <a16:creationId xmlns:a16="http://schemas.microsoft.com/office/drawing/2014/main" id="{15BBB9B1-195F-4BD9-AA42-C2AB54CE77F7}"/>
              </a:ext>
            </a:extLst>
          </p:cNvPr>
          <p:cNvSpPr/>
          <p:nvPr/>
        </p:nvSpPr>
        <p:spPr>
          <a:xfrm>
            <a:off x="330200" y="2125133"/>
            <a:ext cx="8551333" cy="1761067"/>
          </a:xfrm>
          <a:prstGeom prst="round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46761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導関数と瞬間速度</a:t>
            </a:r>
            <a:endParaRPr kumimoji="1" lang="en-US" altLang="ja-JP" sz="3200" b="1" u="sn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テキスト ボックス 19">
                <a:extLst>
                  <a:ext uri="{FF2B5EF4-FFF2-40B4-BE49-F238E27FC236}">
                    <a16:creationId xmlns:a16="http://schemas.microsoft.com/office/drawing/2014/main" id="{925B49F9-A195-41D6-BF3C-0978C87BA794}"/>
                  </a:ext>
                </a:extLst>
              </p:cNvPr>
              <p:cNvSpPr txBox="1"/>
              <p:nvPr/>
            </p:nvSpPr>
            <p:spPr>
              <a:xfrm>
                <a:off x="567542" y="1216429"/>
                <a:ext cx="10033516" cy="34163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ja-JP" altLang="en-US" sz="2400" dirty="0"/>
                  <a:t>例題のように関数から瞬間的な値を計算することを</a:t>
                </a:r>
                <a:r>
                  <a:rPr lang="ja-JP" altLang="en-US" sz="2400" b="1" dirty="0">
                    <a:solidFill>
                      <a:srgbClr val="FF0000"/>
                    </a:solidFill>
                  </a:rPr>
                  <a:t>導関数</a:t>
                </a:r>
                <a:r>
                  <a:rPr lang="ja-JP" altLang="en-US" sz="2400" dirty="0"/>
                  <a:t>と言います。</a:t>
                </a:r>
                <a:endParaRPr lang="en-US" altLang="ja-JP" sz="2400" dirty="0"/>
              </a:p>
              <a:p>
                <a:r>
                  <a:rPr lang="ja-JP" altLang="en-US" sz="2400" dirty="0"/>
                  <a:t>瞬間速度も、導関数を使って計算します。</a:t>
                </a:r>
                <a:endParaRPr lang="en-US" altLang="ja-JP" sz="2400" dirty="0"/>
              </a:p>
              <a:p>
                <a:endParaRPr lang="en-US" altLang="ja-JP" sz="2400" dirty="0"/>
              </a:p>
              <a:p>
                <a:r>
                  <a:rPr lang="ja-JP" altLang="en-US" sz="2400" b="1" dirty="0">
                    <a:solidFill>
                      <a:srgbClr val="FF0000"/>
                    </a:solidFill>
                  </a:rPr>
                  <a:t>■瞬間速度</a:t>
                </a:r>
                <a:endParaRPr lang="en-US" altLang="ja-JP" sz="2400" b="1" dirty="0">
                  <a:solidFill>
                    <a:srgbClr val="FF0000"/>
                  </a:solidFill>
                </a:endParaRPr>
              </a:p>
              <a:p>
                <a:r>
                  <a:rPr lang="ja-JP" altLang="en-US" sz="2400" dirty="0"/>
                  <a:t>位置が時間の関数</a:t>
                </a:r>
                <a14:m>
                  <m:oMath xmlns:m="http://schemas.openxmlformats.org/officeDocument/2006/math"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ja-JP" altLang="en-US" sz="2400" dirty="0"/>
                  <a:t>として表されるとき、瞬間速度は、</a:t>
                </a:r>
                <a:endParaRPr lang="en-US" altLang="ja-JP" sz="2400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ja-JP" sz="2400" b="0" i="1" smtClean="0"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n-US" altLang="ja-JP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ja-JP" sz="2400" b="0" i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altLang="ja-JP" sz="2400" b="0" i="1" smtClean="0">
                          <a:latin typeface="Cambria Math" panose="02040503050406030204" pitchFamily="18" charset="0"/>
                        </a:rPr>
                        <m:t>′(</m:t>
                      </m:r>
                      <m:r>
                        <a:rPr lang="en-US" altLang="ja-JP" sz="2400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altLang="ja-JP" sz="24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altLang="ja-JP" sz="2400" dirty="0"/>
              </a:p>
              <a:p>
                <a:endParaRPr lang="en-US" altLang="ja-JP" sz="2400" dirty="0"/>
              </a:p>
              <a:p>
                <a:endParaRPr lang="en-US" altLang="ja-JP" sz="2400" dirty="0"/>
              </a:p>
              <a:p>
                <a:r>
                  <a:rPr lang="ja-JP" altLang="en-US" sz="2400" dirty="0"/>
                  <a:t>導関数は数式上では</a:t>
                </a:r>
                <a14:m>
                  <m:oMath xmlns:m="http://schemas.openxmlformats.org/officeDocument/2006/math">
                    <m:r>
                      <a:rPr lang="en-US" altLang="ja-JP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lang="ja-JP" altLang="en-US" sz="2400" b="1" dirty="0">
                    <a:solidFill>
                      <a:srgbClr val="FF0000"/>
                    </a:solidFill>
                  </a:rPr>
                  <a:t>（ダッシュ）</a:t>
                </a:r>
                <a:r>
                  <a:rPr lang="ja-JP" altLang="en-US" sz="2400" dirty="0"/>
                  <a:t>で表されます。</a:t>
                </a:r>
                <a:endParaRPr lang="en-US" altLang="ja-JP" sz="2400" dirty="0"/>
              </a:p>
            </p:txBody>
          </p:sp>
        </mc:Choice>
        <mc:Fallback xmlns="">
          <p:sp>
            <p:nvSpPr>
              <p:cNvPr id="20" name="テキスト ボックス 19">
                <a:extLst>
                  <a:ext uri="{FF2B5EF4-FFF2-40B4-BE49-F238E27FC236}">
                    <a16:creationId xmlns:a16="http://schemas.microsoft.com/office/drawing/2014/main" id="{925B49F9-A195-41D6-BF3C-0978C87BA79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542" y="1216429"/>
                <a:ext cx="10033516" cy="3416320"/>
              </a:xfrm>
              <a:prstGeom prst="rect">
                <a:avLst/>
              </a:prstGeom>
              <a:blipFill>
                <a:blip r:embed="rId2"/>
                <a:stretch>
                  <a:fillRect l="-911" t="-1429" b="-3214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6829467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534312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導関数と瞬間速度 例題 補足</a:t>
            </a:r>
            <a:endParaRPr kumimoji="1" lang="en-US" altLang="ja-JP" sz="3200" b="1" u="sn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テキスト ボックス 19">
                <a:extLst>
                  <a:ext uri="{FF2B5EF4-FFF2-40B4-BE49-F238E27FC236}">
                    <a16:creationId xmlns:a16="http://schemas.microsoft.com/office/drawing/2014/main" id="{925B49F9-A195-41D6-BF3C-0978C87BA794}"/>
                  </a:ext>
                </a:extLst>
              </p:cNvPr>
              <p:cNvSpPr txBox="1"/>
              <p:nvPr/>
            </p:nvSpPr>
            <p:spPr>
              <a:xfrm>
                <a:off x="567542" y="1216429"/>
                <a:ext cx="8802410" cy="8309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ja-JP" altLang="en-US" sz="2400" dirty="0"/>
                  <a:t>位置と時間を表す関数 </a:t>
                </a:r>
                <a14:m>
                  <m:oMath xmlns:m="http://schemas.openxmlformats.org/officeDocument/2006/math"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+5</m:t>
                    </m:r>
                  </m:oMath>
                </a14:m>
                <a:r>
                  <a:rPr lang="en-US" altLang="ja-JP" sz="2400" dirty="0"/>
                  <a:t> </a:t>
                </a:r>
                <a:r>
                  <a:rPr lang="ja-JP" altLang="en-US" sz="2400" dirty="0"/>
                  <a:t>というのは、</a:t>
                </a:r>
                <a:endParaRPr lang="en-US" altLang="ja-JP" sz="2400" dirty="0"/>
              </a:p>
              <a:p>
                <a:r>
                  <a:rPr lang="ja-JP" altLang="en-US" sz="2400" dirty="0"/>
                  <a:t>冒頭の時間と位置の</a:t>
                </a:r>
                <a:r>
                  <a:rPr lang="ja-JP" altLang="en-US" sz="2400" b="1" dirty="0">
                    <a:solidFill>
                      <a:srgbClr val="FF0000"/>
                    </a:solidFill>
                  </a:rPr>
                  <a:t>表を１つの式にまとめたもの</a:t>
                </a:r>
                <a:r>
                  <a:rPr lang="ja-JP" altLang="en-US" sz="2400" dirty="0"/>
                  <a:t>となります。</a:t>
                </a:r>
                <a:endParaRPr lang="en-US" altLang="ja-JP" sz="2400" dirty="0"/>
              </a:p>
            </p:txBody>
          </p:sp>
        </mc:Choice>
        <mc:Fallback xmlns="">
          <p:sp>
            <p:nvSpPr>
              <p:cNvPr id="20" name="テキスト ボックス 19">
                <a:extLst>
                  <a:ext uri="{FF2B5EF4-FFF2-40B4-BE49-F238E27FC236}">
                    <a16:creationId xmlns:a16="http://schemas.microsoft.com/office/drawing/2014/main" id="{925B49F9-A195-41D6-BF3C-0978C87BA79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542" y="1216429"/>
                <a:ext cx="8802410" cy="830997"/>
              </a:xfrm>
              <a:prstGeom prst="rect">
                <a:avLst/>
              </a:prstGeom>
              <a:blipFill>
                <a:blip r:embed="rId2"/>
                <a:stretch>
                  <a:fillRect l="-1039" t="-5147" r="-139" b="-16176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2" name="表 2">
            <a:extLst>
              <a:ext uri="{FF2B5EF4-FFF2-40B4-BE49-F238E27FC236}">
                <a16:creationId xmlns:a16="http://schemas.microsoft.com/office/drawing/2014/main" id="{6376B841-E1EF-4923-815F-E19097F3F1C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00309548"/>
              </p:ext>
            </p:extLst>
          </p:nvPr>
        </p:nvGraphicFramePr>
        <p:xfrm>
          <a:off x="567542" y="2187126"/>
          <a:ext cx="3208591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81391">
                  <a:extLst>
                    <a:ext uri="{9D8B030D-6E8A-4147-A177-3AD203B41FA5}">
                      <a16:colId xmlns:a16="http://schemas.microsoft.com/office/drawing/2014/main" val="3551393643"/>
                    </a:ext>
                  </a:extLst>
                </a:gridCol>
                <a:gridCol w="1727200">
                  <a:extLst>
                    <a:ext uri="{9D8B030D-6E8A-4147-A177-3AD203B41FA5}">
                      <a16:colId xmlns:a16="http://schemas.microsoft.com/office/drawing/2014/main" val="164406972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時間（</a:t>
                      </a:r>
                      <a:r>
                        <a:rPr kumimoji="1" lang="en-US" altLang="ja-JP" dirty="0"/>
                        <a:t>t</a:t>
                      </a:r>
                      <a:r>
                        <a:rPr kumimoji="1" lang="ja-JP" altLang="en-US" dirty="0"/>
                        <a:t>）</a:t>
                      </a:r>
                      <a:endParaRPr kumimoji="1" lang="en-US" altLang="ja-JP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位置（</a:t>
                      </a:r>
                      <a:r>
                        <a:rPr kumimoji="1" lang="en-US" altLang="ja-JP" dirty="0"/>
                        <a:t>y</a:t>
                      </a:r>
                      <a:r>
                        <a:rPr kumimoji="1" lang="ja-JP" altLang="en-US" dirty="0"/>
                        <a:t>）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149285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1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6</a:t>
                      </a:r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45999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2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9</a:t>
                      </a:r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012258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3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14</a:t>
                      </a:r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371112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4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21</a:t>
                      </a:r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71283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5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30</a:t>
                      </a:r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2513711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2333882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534312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導関数と瞬間速度 例題 補足</a:t>
            </a:r>
            <a:endParaRPr kumimoji="1" lang="en-US" altLang="ja-JP" sz="3200" b="1" u="sn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テキスト ボックス 19">
                <a:extLst>
                  <a:ext uri="{FF2B5EF4-FFF2-40B4-BE49-F238E27FC236}">
                    <a16:creationId xmlns:a16="http://schemas.microsoft.com/office/drawing/2014/main" id="{925B49F9-A195-41D6-BF3C-0978C87BA794}"/>
                  </a:ext>
                </a:extLst>
              </p:cNvPr>
              <p:cNvSpPr txBox="1"/>
              <p:nvPr/>
            </p:nvSpPr>
            <p:spPr>
              <a:xfrm>
                <a:off x="567542" y="1216429"/>
                <a:ext cx="10341293" cy="304942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ja-JP" sz="2400" b="0" i="1" smtClean="0"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n-US" altLang="ja-JP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altLang="ja-JP" sz="24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altLang="ja-JP" sz="2400" b="0" i="0" smtClean="0">
                                  <a:latin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  <m:r>
                                <a:rPr lang="ja-JP" altLang="en-US" sz="2400" i="1">
                                  <a:latin typeface="Cambria Math" panose="02040503050406030204" pitchFamily="18" charset="0"/>
                                </a:rPr>
                                <m:t>→</m:t>
                              </m:r>
                              <m: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lim>
                          </m:limLow>
                        </m:fName>
                        <m:e>
                          <m:f>
                            <m:fPr>
                              <m:ctrlPr>
                                <a:rPr lang="en-US" altLang="ja-JP" sz="24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ja-JP" sz="240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9</m:t>
                              </m:r>
                              <m:r>
                                <a:rPr lang="en-US" altLang="ja-JP" sz="2400">
                                  <a:latin typeface="Cambria Math" panose="02040503050406030204" pitchFamily="18" charset="0"/>
                                </a:rPr>
                                <m:t>+6</m:t>
                              </m:r>
                              <m:r>
                                <a:rPr lang="en-US" altLang="ja-JP" sz="2400" i="1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  <m:r>
                                <a:rPr lang="en-US" altLang="ja-JP" sz="240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p>
                                <m:sSupPr>
                                  <m:ctrlPr>
                                    <a:rPr lang="en-US" altLang="ja-JP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ja-JP" sz="2400" i="1"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e>
                                <m:sup>
                                  <m:r>
                                    <a:rPr lang="en-US" altLang="ja-JP" sz="24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altLang="ja-JP" sz="2400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+5</m:t>
                              </m:r>
                              <m:r>
                                <a:rPr lang="en-US" altLang="ja-JP" sz="2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−9</m:t>
                              </m:r>
                              <m:r>
                                <a:rPr lang="en-US" altLang="ja-JP" sz="2400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ja-JP" sz="2400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num>
                            <m:den>
                              <m: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den>
                          </m:f>
                        </m:e>
                      </m:func>
                    </m:oMath>
                  </m:oMathPara>
                </a14:m>
                <a:endParaRPr lang="en-US" altLang="ja-JP" sz="2400" dirty="0"/>
              </a:p>
              <a:p>
                <a:endParaRPr lang="en-US" altLang="ja-JP" sz="2400" dirty="0"/>
              </a:p>
              <a:p>
                <a:r>
                  <a:rPr lang="ja-JP" altLang="en-US" sz="2400" dirty="0"/>
                  <a:t>導関数の計算過程ではこのように、</a:t>
                </a:r>
                <a:endParaRPr lang="en-US" altLang="ja-JP" sz="2400" dirty="0"/>
              </a:p>
              <a:p>
                <a:r>
                  <a:rPr lang="ja-JP" altLang="en-US" sz="2400" dirty="0"/>
                  <a:t>必ず</a:t>
                </a:r>
                <a:r>
                  <a:rPr lang="ja-JP" altLang="en-US" sz="2400" b="1" dirty="0">
                    <a:solidFill>
                      <a:srgbClr val="FF0000"/>
                    </a:solidFill>
                  </a:rPr>
                  <a:t>２つの数を相殺する計算</a:t>
                </a:r>
                <a:r>
                  <a:rPr lang="ja-JP" altLang="en-US" sz="2400" dirty="0"/>
                  <a:t>が発生します。</a:t>
                </a:r>
                <a:endParaRPr lang="en-US" altLang="ja-JP" sz="2400" dirty="0"/>
              </a:p>
              <a:p>
                <a:r>
                  <a:rPr lang="ja-JP" altLang="en-US" sz="2400" dirty="0"/>
                  <a:t>これが発生しない場合は、どこか計算を間違っている可能性が高いです。</a:t>
                </a:r>
                <a:endParaRPr lang="en-US" altLang="ja-JP" sz="2400" dirty="0"/>
              </a:p>
              <a:p>
                <a:endParaRPr lang="en-US" altLang="ja-JP" sz="2400" dirty="0"/>
              </a:p>
              <a:p>
                <a:r>
                  <a:rPr lang="ja-JP" altLang="en-US" sz="2400" dirty="0"/>
                  <a:t>ではもう１問例題をみてみましょう。</a:t>
                </a:r>
                <a:endParaRPr lang="en-US" altLang="ja-JP" sz="2400" dirty="0"/>
              </a:p>
            </p:txBody>
          </p:sp>
        </mc:Choice>
        <mc:Fallback xmlns="">
          <p:sp>
            <p:nvSpPr>
              <p:cNvPr id="20" name="テキスト ボックス 19">
                <a:extLst>
                  <a:ext uri="{FF2B5EF4-FFF2-40B4-BE49-F238E27FC236}">
                    <a16:creationId xmlns:a16="http://schemas.microsoft.com/office/drawing/2014/main" id="{925B49F9-A195-41D6-BF3C-0978C87BA79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542" y="1216429"/>
                <a:ext cx="10341293" cy="3049425"/>
              </a:xfrm>
              <a:prstGeom prst="rect">
                <a:avLst/>
              </a:prstGeom>
              <a:blipFill>
                <a:blip r:embed="rId2"/>
                <a:stretch>
                  <a:fillRect l="-884" b="-3600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2575029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440537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導関数と瞬間速度 例題</a:t>
            </a:r>
            <a:endParaRPr kumimoji="1" lang="en-US" altLang="ja-JP" sz="3200" b="1" u="sn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テキスト ボックス 19">
                <a:extLst>
                  <a:ext uri="{FF2B5EF4-FFF2-40B4-BE49-F238E27FC236}">
                    <a16:creationId xmlns:a16="http://schemas.microsoft.com/office/drawing/2014/main" id="{925B49F9-A195-41D6-BF3C-0978C87BA794}"/>
                  </a:ext>
                </a:extLst>
              </p:cNvPr>
              <p:cNvSpPr txBox="1"/>
              <p:nvPr/>
            </p:nvSpPr>
            <p:spPr>
              <a:xfrm>
                <a:off x="567542" y="1216429"/>
                <a:ext cx="8474821" cy="50988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ja-JP" altLang="en-US" sz="2400" dirty="0"/>
                  <a:t>ボールを真上に投げた時の、ぼるの位置を表す関数が、</a:t>
                </a:r>
                <a:endParaRPr lang="en-US" altLang="ja-JP" sz="2400" dirty="0"/>
              </a:p>
              <a:p>
                <a14:m>
                  <m:oMath xmlns:m="http://schemas.openxmlformats.org/officeDocument/2006/math"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+5</m:t>
                    </m:r>
                  </m:oMath>
                </a14:m>
                <a:r>
                  <a:rPr lang="ja-JP" altLang="en-US" sz="2400" dirty="0"/>
                  <a:t>のとき、</a:t>
                </a:r>
                <a14:m>
                  <m:oMath xmlns:m="http://schemas.openxmlformats.org/officeDocument/2006/math"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=2</m:t>
                    </m:r>
                  </m:oMath>
                </a14:m>
                <a:r>
                  <a:rPr lang="ja-JP" altLang="en-US" sz="2400" dirty="0"/>
                  <a:t>での瞬間速度を求めなさい。</a:t>
                </a:r>
                <a:endParaRPr lang="en-US" altLang="ja-JP" sz="2400" dirty="0"/>
              </a:p>
              <a:p>
                <a:endParaRPr lang="en-US" altLang="ja-JP" sz="2400" dirty="0"/>
              </a:p>
              <a:p>
                <a:r>
                  <a:rPr lang="ja-JP" altLang="en-US" sz="2400" b="1" dirty="0">
                    <a:solidFill>
                      <a:srgbClr val="FF0000"/>
                    </a:solidFill>
                  </a:rPr>
                  <a:t>■解答</a:t>
                </a:r>
                <a:endParaRPr lang="en-US" altLang="ja-JP" sz="2400" b="1" dirty="0">
                  <a:solidFill>
                    <a:srgbClr val="FF0000"/>
                  </a:solidFill>
                </a:endParaRPr>
              </a:p>
              <a:p>
                <a:r>
                  <a:rPr lang="ja-JP" altLang="en-US" sz="2400" dirty="0"/>
                  <a:t>瞬間速度の公式より、</a:t>
                </a:r>
                <a:endParaRPr lang="en-US" altLang="ja-JP" sz="2400" dirty="0"/>
              </a:p>
              <a:p>
                <a14:m>
                  <m:oMath xmlns:m="http://schemas.openxmlformats.org/officeDocument/2006/math"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′(2)=</m:t>
                    </m:r>
                    <m:func>
                      <m:funcPr>
                        <m:ctrlP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altLang="ja-JP" sz="2400" b="0" i="1" smtClean="0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altLang="ja-JP" sz="2400" b="0" i="0" smtClean="0">
                                <a:latin typeface="Cambria Math" panose="02040503050406030204" pitchFamily="18" charset="0"/>
                              </a:rPr>
                              <m:t>lim</m:t>
                            </m:r>
                          </m:e>
                          <m:lim>
                            <m:r>
                              <a:rPr lang="en-US" altLang="ja-JP" sz="2400" b="0" i="1" smtClean="0">
                                <a:latin typeface="Cambria Math" panose="02040503050406030204" pitchFamily="18" charset="0"/>
                              </a:rPr>
                              <m:t>h</m:t>
                            </m:r>
                            <m:r>
                              <a:rPr lang="ja-JP" altLang="en-US" sz="2400" i="1">
                                <a:latin typeface="Cambria Math" panose="02040503050406030204" pitchFamily="18" charset="0"/>
                              </a:rPr>
                              <m:t>→</m:t>
                            </m:r>
                            <m:r>
                              <a:rPr lang="en-US" altLang="ja-JP" sz="24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lim>
                        </m:limLow>
                      </m:fName>
                      <m:e>
                        <m:f>
                          <m:fPr>
                            <m:ctrlPr>
                              <a:rPr lang="en-US" altLang="ja-JP" sz="24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ja-JP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  <m:d>
                              <m:dPr>
                                <m:ctrlPr>
                                  <a:rPr lang="en-US" altLang="ja-JP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ja-JP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2+</m:t>
                                </m:r>
                                <m:r>
                                  <a:rPr lang="en-US" altLang="ja-JP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h</m:t>
                                </m:r>
                              </m:e>
                            </m:d>
                            <m:r>
                              <a:rPr lang="en-US" altLang="ja-JP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ja-JP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  <m:r>
                              <a:rPr lang="en-US" altLang="ja-JP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(2)</m:t>
                            </m:r>
                          </m:num>
                          <m:den>
                            <m:r>
                              <a:rPr lang="en-US" altLang="ja-JP" sz="2400" b="0" i="1" smtClean="0">
                                <a:latin typeface="Cambria Math" panose="02040503050406030204" pitchFamily="18" charset="0"/>
                              </a:rPr>
                              <m:t>h</m:t>
                            </m:r>
                          </m:den>
                        </m:f>
                      </m:e>
                    </m:func>
                  </m:oMath>
                </a14:m>
                <a:r>
                  <a:rPr lang="en-US" altLang="ja-JP" sz="2400" dirty="0"/>
                  <a:t> </a:t>
                </a:r>
              </a:p>
              <a:p>
                <a14:m>
                  <m:oMath xmlns:m="http://schemas.openxmlformats.org/officeDocument/2006/math"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′(2)=</m:t>
                    </m:r>
                    <m:func>
                      <m:funcPr>
                        <m:ctrlP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altLang="ja-JP" sz="2400" b="0" i="1" smtClean="0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altLang="ja-JP" sz="2400" b="0" i="0" smtClean="0">
                                <a:latin typeface="Cambria Math" panose="02040503050406030204" pitchFamily="18" charset="0"/>
                              </a:rPr>
                              <m:t>lim</m:t>
                            </m:r>
                          </m:e>
                          <m:lim>
                            <m:r>
                              <a:rPr lang="en-US" altLang="ja-JP" sz="2400" b="0" i="1" smtClean="0">
                                <a:latin typeface="Cambria Math" panose="02040503050406030204" pitchFamily="18" charset="0"/>
                              </a:rPr>
                              <m:t>h</m:t>
                            </m:r>
                            <m:r>
                              <a:rPr lang="ja-JP" altLang="en-US" sz="2400" i="1">
                                <a:latin typeface="Cambria Math" panose="02040503050406030204" pitchFamily="18" charset="0"/>
                              </a:rPr>
                              <m:t>→</m:t>
                            </m:r>
                            <m:r>
                              <a:rPr lang="en-US" altLang="ja-JP" sz="24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lim>
                        </m:limLow>
                      </m:fName>
                      <m:e>
                        <m:f>
                          <m:fPr>
                            <m:ctrlPr>
                              <a:rPr lang="en-US" altLang="ja-JP" sz="240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ja-JP" sz="2400" b="0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sSup>
                              <m:sSupPr>
                                <m:ctrlPr>
                                  <a:rPr lang="en-US" altLang="ja-JP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en-US" altLang="ja-JP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ja-JP" sz="2400" i="1">
                                        <a:latin typeface="Cambria Math" panose="02040503050406030204" pitchFamily="18" charset="0"/>
                                      </a:rPr>
                                      <m:t>2+</m:t>
                                    </m:r>
                                    <m:r>
                                      <a:rPr lang="en-US" altLang="ja-JP" sz="2400" i="1">
                                        <a:latin typeface="Cambria Math" panose="02040503050406030204" pitchFamily="18" charset="0"/>
                                      </a:rPr>
                                      <m:t>h</m:t>
                                    </m:r>
                                  </m:e>
                                </m:d>
                              </m:e>
                              <m:sup>
                                <m:r>
                                  <a:rPr lang="en-US" altLang="ja-JP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US" altLang="ja-JP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+5)−(</m:t>
                            </m:r>
                            <m:sSup>
                              <m:sSupPr>
                                <m:ctrlPr>
                                  <a:rPr lang="en-US" altLang="ja-JP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ja-JP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sup>
                                <m:r>
                                  <a:rPr lang="en-US" altLang="ja-JP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US" altLang="ja-JP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+5)</m:t>
                            </m:r>
                          </m:num>
                          <m:den>
                            <m:r>
                              <a:rPr lang="en-US" altLang="ja-JP" sz="2400" b="0" i="1" smtClean="0">
                                <a:latin typeface="Cambria Math" panose="02040503050406030204" pitchFamily="18" charset="0"/>
                              </a:rPr>
                              <m:t>h</m:t>
                            </m:r>
                          </m:den>
                        </m:f>
                      </m:e>
                    </m:func>
                  </m:oMath>
                </a14:m>
                <a:r>
                  <a:rPr lang="en-US" altLang="ja-JP" sz="2400" dirty="0"/>
                  <a:t> </a:t>
                </a:r>
              </a:p>
              <a:p>
                <a14:m>
                  <m:oMath xmlns:m="http://schemas.openxmlformats.org/officeDocument/2006/math"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′(2)=</m:t>
                    </m:r>
                    <m:func>
                      <m:funcPr>
                        <m:ctrlP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altLang="ja-JP" sz="2400" b="0" i="1" smtClean="0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altLang="ja-JP" sz="2400" b="0" i="0" smtClean="0">
                                <a:latin typeface="Cambria Math" panose="02040503050406030204" pitchFamily="18" charset="0"/>
                              </a:rPr>
                              <m:t>lim</m:t>
                            </m:r>
                          </m:e>
                          <m:lim>
                            <m:r>
                              <a:rPr lang="en-US" altLang="ja-JP" sz="2400" b="0" i="1" smtClean="0">
                                <a:latin typeface="Cambria Math" panose="02040503050406030204" pitchFamily="18" charset="0"/>
                              </a:rPr>
                              <m:t>h</m:t>
                            </m:r>
                            <m:r>
                              <a:rPr lang="ja-JP" altLang="en-US" sz="2400" i="1">
                                <a:latin typeface="Cambria Math" panose="02040503050406030204" pitchFamily="18" charset="0"/>
                              </a:rPr>
                              <m:t>→</m:t>
                            </m:r>
                            <m:r>
                              <a:rPr lang="en-US" altLang="ja-JP" sz="24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lim>
                        </m:limLow>
                      </m:fName>
                      <m:e>
                        <m:f>
                          <m:fPr>
                            <m:ctrlPr>
                              <a:rPr lang="en-US" altLang="ja-JP" sz="240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d>
                              <m:dPr>
                                <m:ctrlPr>
                                  <a:rPr lang="en-US" altLang="ja-JP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p>
                                  <m:sSupPr>
                                    <m:ctrlPr>
                                      <a:rPr lang="en-US" altLang="ja-JP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ja-JP" sz="2400" i="1">
                                        <a:latin typeface="Cambria Math" panose="02040503050406030204" pitchFamily="18" charset="0"/>
                                      </a:rPr>
                                      <m:t>4+4</m:t>
                                    </m:r>
                                    <m:r>
                                      <a:rPr lang="en-US" altLang="ja-JP" sz="2400" i="1">
                                        <a:latin typeface="Cambria Math" panose="02040503050406030204" pitchFamily="18" charset="0"/>
                                      </a:rPr>
                                      <m:t>h</m:t>
                                    </m:r>
                                    <m:r>
                                      <a:rPr lang="en-US" altLang="ja-JP" sz="2400" b="0" i="1" smtClean="0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n-US" altLang="ja-JP" sz="2400" b="0" i="1" smtClean="0">
                                        <a:latin typeface="Cambria Math" panose="02040503050406030204" pitchFamily="18" charset="0"/>
                                      </a:rPr>
                                      <m:t>h</m:t>
                                    </m:r>
                                  </m:e>
                                  <m:sup>
                                    <m:r>
                                      <a:rPr lang="en-US" altLang="ja-JP" sz="2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US" altLang="ja-JP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+5</m:t>
                                </m:r>
                              </m:e>
                            </m:d>
                            <m:r>
                              <a:rPr lang="en-US" altLang="ja-JP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−(4+5)</m:t>
                            </m:r>
                          </m:num>
                          <m:den>
                            <m:r>
                              <a:rPr lang="en-US" altLang="ja-JP" sz="2400" b="0" i="1" smtClean="0">
                                <a:latin typeface="Cambria Math" panose="02040503050406030204" pitchFamily="18" charset="0"/>
                              </a:rPr>
                              <m:t>h</m:t>
                            </m:r>
                          </m:den>
                        </m:f>
                      </m:e>
                    </m:func>
                  </m:oMath>
                </a14:m>
                <a:r>
                  <a:rPr lang="en-US" altLang="ja-JP" sz="2400" dirty="0"/>
                  <a:t> </a:t>
                </a:r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d>
                      <m:dPr>
                        <m:ctrlP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altLang="ja-JP" sz="2400" b="0" i="1" smtClean="0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altLang="ja-JP" sz="2400" b="0" i="0" smtClean="0">
                                <a:latin typeface="Cambria Math" panose="02040503050406030204" pitchFamily="18" charset="0"/>
                              </a:rPr>
                              <m:t>lim</m:t>
                            </m:r>
                          </m:e>
                          <m:lim>
                            <m:r>
                              <a:rPr lang="en-US" altLang="ja-JP" sz="2400" b="0" i="1" smtClean="0">
                                <a:latin typeface="Cambria Math" panose="02040503050406030204" pitchFamily="18" charset="0"/>
                              </a:rPr>
                              <m:t>h</m:t>
                            </m:r>
                            <m:r>
                              <a:rPr lang="ja-JP" altLang="en-US" sz="2400" i="1">
                                <a:latin typeface="Cambria Math" panose="02040503050406030204" pitchFamily="18" charset="0"/>
                              </a:rPr>
                              <m:t>→</m:t>
                            </m:r>
                            <m:r>
                              <a:rPr lang="en-US" altLang="ja-JP" sz="24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lim>
                        </m:limLow>
                      </m:fName>
                      <m:e>
                        <m:f>
                          <m:fPr>
                            <m:ctrlPr>
                              <a:rPr lang="en-US" altLang="ja-JP" sz="240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en-US" altLang="ja-JP" sz="24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ja-JP" sz="2400" i="1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  <m:r>
                                  <a:rPr lang="en-US" altLang="ja-JP" sz="2400" i="1">
                                    <a:latin typeface="Cambria Math" panose="02040503050406030204" pitchFamily="18" charset="0"/>
                                  </a:rPr>
                                  <m:t>h</m:t>
                                </m:r>
                                <m:r>
                                  <a:rPr lang="en-US" altLang="ja-JP" sz="2400" i="1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altLang="ja-JP" sz="2400" i="1">
                                    <a:latin typeface="Cambria Math" panose="02040503050406030204" pitchFamily="18" charset="0"/>
                                  </a:rPr>
                                  <m:t>h</m:t>
                                </m:r>
                              </m:e>
                              <m:sup>
                                <m:r>
                                  <a:rPr lang="en-US" altLang="ja-JP" sz="24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a:rPr lang="en-US" altLang="ja-JP" sz="2400" b="0" i="1" smtClean="0">
                                <a:latin typeface="Cambria Math" panose="02040503050406030204" pitchFamily="18" charset="0"/>
                              </a:rPr>
                              <m:t>h</m:t>
                            </m:r>
                          </m:den>
                        </m:f>
                      </m:e>
                    </m:func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=4+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=4</m:t>
                    </m:r>
                  </m:oMath>
                </a14:m>
                <a:r>
                  <a:rPr lang="en-US" altLang="ja-JP" sz="2400" dirty="0"/>
                  <a:t> </a:t>
                </a:r>
              </a:p>
              <a:p>
                <a:endParaRPr lang="en-US" altLang="ja-JP" sz="2400" dirty="0"/>
              </a:p>
              <a:p>
                <a:r>
                  <a:rPr lang="ja-JP" altLang="en-US" sz="2400" dirty="0"/>
                  <a:t>解き方は同じです。</a:t>
                </a:r>
                <a:endParaRPr lang="en-US" altLang="ja-JP" sz="2400" dirty="0"/>
              </a:p>
            </p:txBody>
          </p:sp>
        </mc:Choice>
        <mc:Fallback xmlns="">
          <p:sp>
            <p:nvSpPr>
              <p:cNvPr id="20" name="テキスト ボックス 19">
                <a:extLst>
                  <a:ext uri="{FF2B5EF4-FFF2-40B4-BE49-F238E27FC236}">
                    <a16:creationId xmlns:a16="http://schemas.microsoft.com/office/drawing/2014/main" id="{925B49F9-A195-41D6-BF3C-0978C87BA79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542" y="1216429"/>
                <a:ext cx="8474821" cy="5098832"/>
              </a:xfrm>
              <a:prstGeom prst="rect">
                <a:avLst/>
              </a:prstGeom>
              <a:blipFill>
                <a:blip r:embed="rId2"/>
                <a:stretch>
                  <a:fillRect l="-1079" t="-957" r="-216" b="-1794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9688282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440537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導関数と瞬間速度 練習</a:t>
            </a:r>
            <a:endParaRPr kumimoji="1" lang="en-US" altLang="ja-JP" sz="3200" b="1" u="sn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テキスト ボックス 19">
                <a:extLst>
                  <a:ext uri="{FF2B5EF4-FFF2-40B4-BE49-F238E27FC236}">
                    <a16:creationId xmlns:a16="http://schemas.microsoft.com/office/drawing/2014/main" id="{925B49F9-A195-41D6-BF3C-0978C87BA794}"/>
                  </a:ext>
                </a:extLst>
              </p:cNvPr>
              <p:cNvSpPr txBox="1"/>
              <p:nvPr/>
            </p:nvSpPr>
            <p:spPr>
              <a:xfrm>
                <a:off x="567542" y="1216429"/>
                <a:ext cx="8474821" cy="8309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ja-JP" altLang="en-US" sz="2400" dirty="0"/>
                  <a:t>ボールを真上に投げた時の、ぼるの位置を表す関数が、</a:t>
                </a:r>
                <a:endParaRPr lang="en-US" altLang="ja-JP" sz="2400" dirty="0"/>
              </a:p>
              <a:p>
                <a14:m>
                  <m:oMath xmlns:m="http://schemas.openxmlformats.org/officeDocument/2006/math"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+5</m:t>
                    </m:r>
                  </m:oMath>
                </a14:m>
                <a:r>
                  <a:rPr lang="ja-JP" altLang="en-US" sz="2400" dirty="0"/>
                  <a:t>のとき、</a:t>
                </a:r>
                <a14:m>
                  <m:oMath xmlns:m="http://schemas.openxmlformats.org/officeDocument/2006/math"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=4</m:t>
                    </m:r>
                  </m:oMath>
                </a14:m>
                <a:r>
                  <a:rPr lang="ja-JP" altLang="en-US" sz="2400" dirty="0"/>
                  <a:t>での瞬間速度を求めなさい。</a:t>
                </a:r>
                <a:endParaRPr lang="en-US" altLang="ja-JP" sz="2400" dirty="0"/>
              </a:p>
            </p:txBody>
          </p:sp>
        </mc:Choice>
        <mc:Fallback xmlns="">
          <p:sp>
            <p:nvSpPr>
              <p:cNvPr id="20" name="テキスト ボックス 19">
                <a:extLst>
                  <a:ext uri="{FF2B5EF4-FFF2-40B4-BE49-F238E27FC236}">
                    <a16:creationId xmlns:a16="http://schemas.microsoft.com/office/drawing/2014/main" id="{925B49F9-A195-41D6-BF3C-0978C87BA79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542" y="1216429"/>
                <a:ext cx="8474821" cy="830997"/>
              </a:xfrm>
              <a:prstGeom prst="rect">
                <a:avLst/>
              </a:prstGeom>
              <a:blipFill>
                <a:blip r:embed="rId2"/>
                <a:stretch>
                  <a:fillRect l="-1079" t="-5882" r="-216" b="-16912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105145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692</TotalTime>
  <Words>797</Words>
  <Application>Microsoft Office PowerPoint</Application>
  <PresentationFormat>ワイド画面</PresentationFormat>
  <Paragraphs>139</Paragraphs>
  <Slides>16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16</vt:i4>
      </vt:variant>
    </vt:vector>
  </HeadingPairs>
  <TitlesOfParts>
    <vt:vector size="21" baseType="lpstr">
      <vt:lpstr>游ゴシック</vt:lpstr>
      <vt:lpstr>游ゴシック Light</vt:lpstr>
      <vt:lpstr>Arial</vt:lpstr>
      <vt:lpstr>Cambria Math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北九州校　ゲーム</dc:creator>
  <cp:lastModifiedBy>荒木 優介</cp:lastModifiedBy>
  <cp:revision>84</cp:revision>
  <dcterms:created xsi:type="dcterms:W3CDTF">2024-08-27T02:15:54Z</dcterms:created>
  <dcterms:modified xsi:type="dcterms:W3CDTF">2024-12-17T00:14:55Z</dcterms:modified>
</cp:coreProperties>
</file>