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2024/11/21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速度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033516" cy="193899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速度</a:t>
                </a:r>
                <a:r>
                  <a:rPr lang="ja-JP" altLang="en-US" sz="2400" dirty="0"/>
                  <a:t>とは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変位と時間の割合</a:t>
                </a:r>
                <a:r>
                  <a:rPr lang="ja-JP" altLang="en-US" sz="2400" dirty="0"/>
                  <a:t>となります。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つまり、時間がたつにつれてどれだけ移動するかという値になります。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例として</a:t>
                </a:r>
                <a14:m>
                  <m:oMath xmlns:m="http://schemas.openxmlformats.org/officeDocument/2006/math">
                    <m:r>
                      <a:rPr lang="en-US" altLang="ja-JP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ja-JP" alt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時間に</m:t>
                    </m:r>
                    <m:r>
                      <a:rPr lang="en-US" altLang="ja-JP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𝟔𝟎</m:t>
                    </m:r>
                    <m:r>
                      <a:rPr lang="en-US" altLang="ja-JP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𝒌𝒎</m:t>
                    </m:r>
                  </m:oMath>
                </a14:m>
                <a:r>
                  <a:rPr lang="ja-JP" altLang="en-US" sz="2400" b="1" dirty="0">
                    <a:solidFill>
                      <a:srgbClr val="FF0000"/>
                    </a:solidFill>
                  </a:rPr>
                  <a:t>ずつ進む自動車</a:t>
                </a:r>
                <a:r>
                  <a:rPr lang="ja-JP" altLang="en-US" sz="2400" dirty="0"/>
                  <a:t>があるとします。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時間と進んだ距離を表にしてみます。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033516" cy="1938992"/>
              </a:xfrm>
              <a:prstGeom prst="rect">
                <a:avLst/>
              </a:prstGeom>
              <a:blipFill>
                <a:blip r:embed="rId2"/>
                <a:stretch>
                  <a:fillRect l="-911" t="-2516" b="-628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表 2">
            <a:extLst>
              <a:ext uri="{FF2B5EF4-FFF2-40B4-BE49-F238E27FC236}">
                <a16:creationId xmlns:a16="http://schemas.microsoft.com/office/drawing/2014/main" id="{4E1B26E3-BF5F-4DFC-957A-DFC97185A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686286"/>
              </p:ext>
            </p:extLst>
          </p:nvPr>
        </p:nvGraphicFramePr>
        <p:xfrm>
          <a:off x="567542" y="3429000"/>
          <a:ext cx="346259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8459">
                  <a:extLst>
                    <a:ext uri="{9D8B030D-6E8A-4147-A177-3AD203B41FA5}">
                      <a16:colId xmlns:a16="http://schemas.microsoft.com/office/drawing/2014/main" val="3072658122"/>
                    </a:ext>
                  </a:extLst>
                </a:gridCol>
                <a:gridCol w="1744132">
                  <a:extLst>
                    <a:ext uri="{9D8B030D-6E8A-4147-A177-3AD203B41FA5}">
                      <a16:colId xmlns:a16="http://schemas.microsoft.com/office/drawing/2014/main" val="11885078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時間（時）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変位（</a:t>
                      </a:r>
                      <a:r>
                        <a:rPr kumimoji="1" lang="en-US" altLang="ja-JP" dirty="0"/>
                        <a:t>km</a:t>
                      </a:r>
                      <a:r>
                        <a:rPr kumimoji="1" lang="ja-JP" altLang="en-US" dirty="0"/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5184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8005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047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120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66954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180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80303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240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5128499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C315684B-02C9-484E-A668-0E18B359DC89}"/>
                  </a:ext>
                </a:extLst>
              </p:cNvPr>
              <p:cNvSpPr txBox="1"/>
              <p:nvPr/>
            </p:nvSpPr>
            <p:spPr>
              <a:xfrm>
                <a:off x="4885543" y="3429000"/>
                <a:ext cx="7043916" cy="28620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変位と時間の割合</a:t>
                </a:r>
                <a:r>
                  <a:rPr lang="ja-JP" altLang="en-US" sz="2400" dirty="0"/>
                  <a:t>というのは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ja-JP" alt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変位の増加量</m:t>
                        </m:r>
                      </m:num>
                      <m:den>
                        <m:r>
                          <a:rPr lang="ja-JP" altLang="en-US" sz="2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時間の増加量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となります。（参考：直線の傾き）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en-US" altLang="ja-JP" sz="2400" dirty="0"/>
                  <a:t>0</a:t>
                </a:r>
                <a:r>
                  <a:rPr lang="ja-JP" altLang="en-US" sz="2400" dirty="0"/>
                  <a:t>どの行をとっても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60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𝑘𝑚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時</m:t>
                        </m:r>
                      </m:den>
                    </m:f>
                  </m:oMath>
                </a14:m>
                <a:r>
                  <a:rPr lang="ja-JP" altLang="en-US" sz="2400" dirty="0"/>
                  <a:t>となるので、</a:t>
                </a:r>
                <a:r>
                  <a:rPr lang="en-US" altLang="ja-JP" sz="2400" dirty="0"/>
                  <a:t> </a:t>
                </a:r>
              </a:p>
              <a:p>
                <a:r>
                  <a:rPr lang="ja-JP" altLang="en-US" sz="2400" dirty="0"/>
                  <a:t>この自動車の速度は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60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時</m:t>
                    </m:r>
                  </m:oMath>
                </a14:m>
                <a:r>
                  <a:rPr lang="ja-JP" altLang="en-US" sz="2400" dirty="0"/>
                  <a:t>となります。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（</a:t>
                </a:r>
                <a:r>
                  <a:rPr lang="en-US" altLang="ja-JP" sz="2400" dirty="0"/>
                  <a:t>0</a:t>
                </a:r>
                <a:r>
                  <a:rPr lang="ja-JP" altLang="en-US" sz="2400" dirty="0"/>
                  <a:t>の行は止まっているので含めません）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C315684B-02C9-484E-A668-0E18B359DC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5543" y="3429000"/>
                <a:ext cx="7043916" cy="2862002"/>
              </a:xfrm>
              <a:prstGeom prst="rect">
                <a:avLst/>
              </a:prstGeom>
              <a:blipFill>
                <a:blip r:embed="rId3"/>
                <a:stretch>
                  <a:fillRect l="-1298" t="-1706" r="-346" b="-383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FBA8C990-256F-435F-802E-263F4B634A60}"/>
              </a:ext>
            </a:extLst>
          </p:cNvPr>
          <p:cNvSpPr/>
          <p:nvPr/>
        </p:nvSpPr>
        <p:spPr>
          <a:xfrm>
            <a:off x="237067" y="1820333"/>
            <a:ext cx="6510866" cy="2443084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速度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802410" cy="41549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このことから以下の公式が成り立ちます。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■変位、速度、時間の公式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𝑣𝑡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・・・変位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・・・速度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・・・時間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おそらく「キハジ」や「ハジキ」などで習ったかと思います。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いくつか例題を見ていきましょう。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802410" cy="4154984"/>
              </a:xfrm>
              <a:prstGeom prst="rect">
                <a:avLst/>
              </a:prstGeom>
              <a:blipFill>
                <a:blip r:embed="rId2"/>
                <a:stretch>
                  <a:fillRect l="-1039" t="-1175" r="-139" b="-24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67357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速度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320180" cy="29112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時速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40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の自動車が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7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時間走行したとき、何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移動するでしょう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■解答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𝑣𝑡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ja-JP" sz="2400" b="0" i="0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0" dirty="0" smtClean="0">
                            <a:latin typeface="Cambria Math" panose="02040503050406030204" pitchFamily="18" charset="0"/>
                          </a:rPr>
                          <m:t>40</m:t>
                        </m:r>
                        <m:r>
                          <m:rPr>
                            <m:sty m:val="p"/>
                          </m:rPr>
                          <a:rPr lang="en-US" altLang="ja-JP" sz="2400" b="0" i="0" dirty="0" smtClean="0">
                            <a:latin typeface="Cambria Math" panose="02040503050406030204" pitchFamily="18" charset="0"/>
                          </a:rPr>
                          <m:t>km</m:t>
                        </m:r>
                      </m:num>
                      <m:den>
                        <m:r>
                          <a:rPr lang="ja-JP" altLang="en-US" sz="240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時</m:t>
                        </m:r>
                      </m:den>
                    </m:f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7</m:t>
                    </m:r>
                    <m:r>
                      <a:rPr lang="ja-JP" alt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時間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280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𝑘𝑚</m:t>
                    </m:r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単位「時間」は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相殺</a:t>
                </a:r>
                <a:r>
                  <a:rPr lang="ja-JP" altLang="en-US" sz="2400" dirty="0"/>
                  <a:t>されるところも覚えておきましょう。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320180" cy="2911246"/>
              </a:xfrm>
              <a:prstGeom prst="rect">
                <a:avLst/>
              </a:prstGeom>
              <a:blipFill>
                <a:blip r:embed="rId2"/>
                <a:stretch>
                  <a:fillRect l="-981" b="-398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6487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速度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1274240" cy="534114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100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の距離を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9.8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秒で走った。この時の速度は時速何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か。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（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小数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第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位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まで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）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𝑣𝑡</m:t>
                    </m:r>
                  </m:oMath>
                </a14:m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00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=9.8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ja-JP" sz="2400" dirty="0"/>
                  <a:t> </a:t>
                </a:r>
                <a:endParaRPr lang="en-US" altLang="ja-JP" sz="2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00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÷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9.8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ja-JP" sz="2400" dirty="0"/>
                  <a:t> </a:t>
                </a:r>
                <a:endParaRPr lang="en-US" altLang="ja-JP" sz="2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100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9.8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100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9.8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60</m:t>
                        </m:r>
                        <m:r>
                          <a:rPr lang="ja-JP" altLang="en-US" sz="2400" i="1" dirty="0" smtClean="0">
                            <a:latin typeface="Cambria Math" panose="02040503050406030204" pitchFamily="18" charset="0"/>
                          </a:rPr>
                          <m:t>秒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ja-JP" altLang="en-US" sz="2400" i="1" dirty="0" smtClean="0">
                            <a:latin typeface="Cambria Math" panose="02040503050406030204" pitchFamily="18" charset="0"/>
                          </a:rPr>
                          <m:t>分</m:t>
                        </m:r>
                      </m:den>
                    </m:f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60</m:t>
                        </m:r>
                        <m:r>
                          <a:rPr lang="ja-JP" altLang="en-US" sz="2400" i="1" dirty="0" smtClean="0">
                            <a:latin typeface="Cambria Math" panose="02040503050406030204" pitchFamily="18" charset="0"/>
                          </a:rPr>
                          <m:t>分</m:t>
                        </m:r>
                      </m:num>
                      <m:den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ja-JP" altLang="en-US" sz="2400" i="1" dirty="0" smtClean="0">
                            <a:latin typeface="Cambria Math" panose="02040503050406030204" pitchFamily="18" charset="0"/>
                          </a:rPr>
                          <m:t>時</m:t>
                        </m:r>
                      </m:den>
                    </m:f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𝑘𝑚</m:t>
                        </m:r>
                      </m:num>
                      <m:den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000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360000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𝑘𝑚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9800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時</m:t>
                        </m:r>
                      </m:den>
                    </m:f>
                    <m:r>
                      <a:rPr lang="ja-JP" altLang="en-US" sz="2400" b="0" i="1" dirty="0" smtClean="0">
                        <a:latin typeface="Cambria Math" panose="02040503050406030204" pitchFamily="18" charset="0"/>
                      </a:rPr>
                      <m:t>≒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36.7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時</m:t>
                    </m:r>
                  </m:oMath>
                </a14:m>
                <a:r>
                  <a:rPr lang="ja-JP" altLang="en-US" sz="2400" i="1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  <a:t>　</a:t>
                </a:r>
                <a:endParaRPr lang="en-US" altLang="ja-JP" sz="2400" i="1" dirty="0">
                  <a:latin typeface="Cambria Math" panose="02040503050406030204" pitchFamily="18" charset="0"/>
                </a:endParaRPr>
              </a:p>
              <a:p>
                <a:endParaRPr lang="en-US" altLang="ja-JP" sz="2400" dirty="0">
                  <a:latin typeface="Cambria Math" panose="02040503050406030204" pitchFamily="18" charset="0"/>
                </a:endParaRPr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  <a:latin typeface="Cambria Math" panose="02040503050406030204" pitchFamily="18" charset="0"/>
                  </a:rPr>
                  <a:t>単位が合わない場合は変換しましょう。</a:t>
                </a:r>
                <a:endParaRPr lang="en-US" altLang="ja-JP" sz="2400" b="1" dirty="0">
                  <a:solidFill>
                    <a:srgbClr val="FF000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1274240" cy="5341142"/>
              </a:xfrm>
              <a:prstGeom prst="rect">
                <a:avLst/>
              </a:prstGeom>
              <a:blipFill>
                <a:blip r:embed="rId2"/>
                <a:stretch>
                  <a:fillRect l="-811" b="-171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31749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速度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186857" cy="464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北九州市</m:t>
                    </m:r>
                  </m:oMath>
                </a14:m>
                <a:r>
                  <a:rPr lang="ja-JP" altLang="en-US" sz="2400" dirty="0"/>
                  <a:t>から大分市までの距離は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124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𝑘𝑚</m:t>
                    </m:r>
                  </m:oMath>
                </a14:m>
                <a:r>
                  <a:rPr lang="ja-JP" altLang="en-US" sz="2400" dirty="0"/>
                  <a:t>ある。</a:t>
                </a:r>
                <a:endParaRPr lang="en-US" altLang="ja-JP" sz="2400" dirty="0"/>
              </a:p>
              <a:p>
                <a:r>
                  <a:rPr lang="ja-JP" altLang="en-US" sz="2400" dirty="0"/>
                  <a:t>時速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80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𝑘𝑚</m:t>
                    </m:r>
                  </m:oMath>
                </a14:m>
                <a:r>
                  <a:rPr lang="ja-JP" altLang="en-US" sz="2400" dirty="0"/>
                  <a:t>の電車で移動したら何時間かかるか。</a:t>
                </a:r>
                <a:endParaRPr lang="en-US" altLang="ja-JP" sz="2400" dirty="0"/>
              </a:p>
              <a:p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𝑣𝑡</m:t>
                    </m:r>
                  </m:oMath>
                </a14:m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24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=80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時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24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÷80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時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24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÷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80</m:t>
                        </m:r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𝑘𝑚</m:t>
                        </m:r>
                      </m:num>
                      <m:den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時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24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時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80</m:t>
                        </m:r>
                        <m:r>
                          <a:rPr lang="en-US" altLang="ja-JP" sz="24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𝑘𝑚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124</m:t>
                        </m:r>
                        <m:r>
                          <a:rPr lang="ja-JP" altLang="en-US" sz="2400" i="1" dirty="0">
                            <a:latin typeface="Cambria Math" panose="02040503050406030204" pitchFamily="18" charset="0"/>
                          </a:rPr>
                          <m:t>時</m:t>
                        </m:r>
                      </m:num>
                      <m:den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80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1.55</m:t>
                    </m:r>
                    <m:r>
                      <a:rPr lang="ja-JP" altLang="en-US" sz="24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時</m:t>
                    </m:r>
                  </m:oMath>
                </a14:m>
                <a:r>
                  <a:rPr lang="ja-JP" altLang="en-US" sz="2400" dirty="0">
                    <a:solidFill>
                      <a:srgbClr val="FF0000"/>
                    </a:solidFill>
                  </a:rPr>
                  <a:t>間</a:t>
                </a:r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分数で割る計算は逆数で掛け算することと等しくなります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186857" cy="4643066"/>
              </a:xfrm>
              <a:prstGeom prst="rect">
                <a:avLst/>
              </a:prstGeom>
              <a:blipFill>
                <a:blip r:embed="rId2"/>
                <a:stretch>
                  <a:fillRect l="-1117" t="-1051" r="-223" b="-210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65751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速度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190336" cy="23083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① </a:t>
                </a:r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時速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60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の自動車は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15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分でどれだけ移動するでしょう</m:t>
                    </m:r>
                  </m:oMath>
                </a14:m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② 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20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秒間で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25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移動したキャラクターの速度は秒速何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でしょう</m:t>
                    </m:r>
                  </m:oMath>
                </a14:m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③ </a:t>
                </a:r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秒速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で移動するオブジェクトが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フレームで移動した場合</m:t>
                    </m:r>
                  </m:oMath>
                </a14:m>
                <a:r>
                  <a:rPr lang="ja-JP" altLang="en-US" sz="2400" dirty="0"/>
                  <a:t>、</a:t>
                </a:r>
                <a:endParaRPr lang="en-US" altLang="ja-JP" sz="2400" dirty="0"/>
              </a:p>
              <a:p>
                <a:r>
                  <a:rPr lang="ja-JP" altLang="en-US" sz="2400" dirty="0"/>
                  <a:t>　 </a:t>
                </a:r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何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移動するでしょう。ただしゲームの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𝐹𝑃𝑆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は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ja-JP" altLang="en-US" sz="2400" dirty="0"/>
                  <a:t>とする。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190336" cy="2308324"/>
              </a:xfrm>
              <a:prstGeom prst="rect">
                <a:avLst/>
              </a:prstGeom>
              <a:blipFill>
                <a:blip r:embed="rId2"/>
                <a:stretch>
                  <a:fillRect l="-995" t="-1852" b="-582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87386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</TotalTime>
  <Words>454</Words>
  <Application>Microsoft Office PowerPoint</Application>
  <PresentationFormat>ワイド画面</PresentationFormat>
  <Paragraphs>74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41</cp:revision>
  <dcterms:created xsi:type="dcterms:W3CDTF">2024-08-27T02:15:54Z</dcterms:created>
  <dcterms:modified xsi:type="dcterms:W3CDTF">2024-11-21T00:32:49Z</dcterms:modified>
</cp:coreProperties>
</file>