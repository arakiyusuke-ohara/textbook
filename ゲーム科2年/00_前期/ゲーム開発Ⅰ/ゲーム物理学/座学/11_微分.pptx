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　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3</c:v>
                </c:pt>
                <c:pt idx="2">
                  <c:v>12</c:v>
                </c:pt>
                <c:pt idx="3">
                  <c:v>27</c:v>
                </c:pt>
                <c:pt idx="4">
                  <c:v>48</c:v>
                </c:pt>
                <c:pt idx="5">
                  <c:v>75</c:v>
                </c:pt>
                <c:pt idx="6">
                  <c:v>108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639-4300-991E-4350185EC7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38090224"/>
        <c:axId val="538081368"/>
      </c:lineChart>
      <c:catAx>
        <c:axId val="538090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38081368"/>
        <c:crosses val="autoZero"/>
        <c:auto val="1"/>
        <c:lblAlgn val="ctr"/>
        <c:lblOffset val="100"/>
        <c:noMultiLvlLbl val="0"/>
      </c:catAx>
      <c:valAx>
        <c:axId val="5380813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3809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0.20957</cdr:x>
      <cdr:y>0.69329</cdr:y>
    </cdr:from>
    <cdr:to>
      <cdr:x>0.84348</cdr:x>
      <cdr:y>0.92142</cdr:y>
    </cdr:to>
    <cdr:cxnSp macro="">
      <cdr:nvCxnSpPr>
        <cdr:cNvPr id="2" name="直線コネクタ 1">
          <a:extLst xmlns:a="http://schemas.openxmlformats.org/drawingml/2006/main">
            <a:ext uri="{FF2B5EF4-FFF2-40B4-BE49-F238E27FC236}">
              <a16:creationId xmlns:a16="http://schemas.microsoft.com/office/drawing/2014/main" id="{1A39A437-0D6D-4378-8058-19215F8A8906}"/>
            </a:ext>
          </a:extLst>
        </cdr:cNvPr>
        <cdr:cNvCxnSpPr>
          <a:cxnSpLocks xmlns:a="http://schemas.openxmlformats.org/drawingml/2006/main"/>
        </cdr:cNvCxnSpPr>
      </cdr:nvCxnSpPr>
      <cdr:spPr>
        <a:xfrm xmlns:a="http://schemas.openxmlformats.org/drawingml/2006/main" flipV="1">
          <a:off x="1005402" y="3212088"/>
          <a:ext cx="3041247" cy="1056928"/>
        </a:xfrm>
        <a:prstGeom xmlns:a="http://schemas.openxmlformats.org/drawingml/2006/main" prst="line">
          <a:avLst/>
        </a:prstGeom>
        <a:ln xmlns:a="http://schemas.openxmlformats.org/drawingml/2006/main" w="38100">
          <a:solidFill>
            <a:srgbClr val="FF0000"/>
          </a:solidFill>
          <a:prstDash val="dash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ci-pursuit.com/math/differential-1.html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微分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導関数は、</a:t>
            </a:r>
            <a:r>
              <a:rPr lang="ja-JP" altLang="en-US" sz="2400" b="1" dirty="0">
                <a:solidFill>
                  <a:srgbClr val="FF0000"/>
                </a:solidFill>
              </a:rPr>
              <a:t>位置や速度の曲線の部分的な傾き</a:t>
            </a:r>
            <a:r>
              <a:rPr lang="ja-JP" altLang="en-US" sz="2400" dirty="0"/>
              <a:t>を求める計算です。</a:t>
            </a:r>
            <a:endParaRPr lang="en-US" altLang="ja-JP" sz="2400" dirty="0"/>
          </a:p>
        </p:txBody>
      </p:sp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9BED002E-01AF-43F2-B3AC-516D01EC0C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590617"/>
              </p:ext>
            </p:extLst>
          </p:nvPr>
        </p:nvGraphicFramePr>
        <p:xfrm>
          <a:off x="567543" y="1817794"/>
          <a:ext cx="4797560" cy="4633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B61C21C-8952-45BE-9AFF-0E4CEEC72575}"/>
              </a:ext>
            </a:extLst>
          </p:cNvPr>
          <p:cNvSpPr txBox="1"/>
          <p:nvPr/>
        </p:nvSpPr>
        <p:spPr>
          <a:xfrm>
            <a:off x="2174552" y="5989212"/>
            <a:ext cx="558838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時間が</a:t>
            </a:r>
            <a:r>
              <a:rPr lang="en-US" altLang="ja-JP" sz="2400" dirty="0"/>
              <a:t>1</a:t>
            </a:r>
            <a:r>
              <a:rPr lang="ja-JP" altLang="en-US" sz="2400" dirty="0"/>
              <a:t>の部分の傾きを計算してます。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16929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微分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曲線の一部分の傾きは</a:t>
            </a:r>
            <a:r>
              <a:rPr lang="ja-JP" altLang="en-US" sz="2400" b="1" dirty="0">
                <a:solidFill>
                  <a:srgbClr val="FF0000"/>
                </a:solidFill>
              </a:rPr>
              <a:t>微分</a:t>
            </a:r>
            <a:r>
              <a:rPr lang="ja-JP" altLang="en-US" sz="2400" dirty="0"/>
              <a:t>でも計算することができます。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■微分参考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>
                <a:hlinkClick r:id="rId2"/>
              </a:rPr>
              <a:t>https://sci-pursuit.com/math/differential-1.html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このことから、</a:t>
            </a:r>
            <a:r>
              <a:rPr lang="ja-JP" altLang="en-US" sz="2400" b="1" dirty="0">
                <a:solidFill>
                  <a:srgbClr val="FF0000"/>
                </a:solidFill>
              </a:rPr>
              <a:t>瞬間速度、瞬間加速度も微分で計算できます。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また、</a:t>
            </a:r>
            <a:r>
              <a:rPr lang="ja-JP" altLang="en-US" sz="2400" b="1" dirty="0">
                <a:solidFill>
                  <a:srgbClr val="FF0000"/>
                </a:solidFill>
              </a:rPr>
              <a:t>微分の方が計算が簡単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17367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C77175A-EFF7-48F9-8820-2B4AF3FD597F}"/>
              </a:ext>
            </a:extLst>
          </p:cNvPr>
          <p:cNvSpPr/>
          <p:nvPr/>
        </p:nvSpPr>
        <p:spPr>
          <a:xfrm>
            <a:off x="372533" y="1845733"/>
            <a:ext cx="8111067" cy="198966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微分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875093" cy="2397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微分の計算は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未知数（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など）</a:t>
                </a:r>
                <a:r>
                  <a:rPr lang="ja-JP" altLang="en-US" sz="2400" dirty="0"/>
                  <a:t>と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そのべき乗の数</a:t>
                </a:r>
                <a:r>
                  <a:rPr lang="ja-JP" altLang="en-US" sz="2400" dirty="0"/>
                  <a:t>に注目して計算します。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■微分の計算例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について微分すると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=6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875093" cy="2397516"/>
              </a:xfrm>
              <a:prstGeom prst="rect">
                <a:avLst/>
              </a:prstGeom>
              <a:blipFill>
                <a:blip r:embed="rId2"/>
                <a:stretch>
                  <a:fillRect l="-841" t="-20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4668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57E66146-16CC-4788-A6AD-AB2DBFA5B7C1}"/>
              </a:ext>
            </a:extLst>
          </p:cNvPr>
          <p:cNvSpPr/>
          <p:nvPr/>
        </p:nvSpPr>
        <p:spPr>
          <a:xfrm>
            <a:off x="175657" y="3672439"/>
            <a:ext cx="10367935" cy="146934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微分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066410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微分の計算は、べき乗の値を掛け算して</a:t>
                </a:r>
                <a:r>
                  <a:rPr lang="en-US" altLang="ja-JP" sz="2400" dirty="0"/>
                  <a:t>1</a:t>
                </a:r>
                <a:r>
                  <a:rPr lang="ja-JP" altLang="en-US" sz="2400" dirty="0"/>
                  <a:t>引きます。</a:t>
                </a:r>
                <a:endParaRPr lang="en-US" altLang="ja-JP" sz="2400" dirty="0"/>
              </a:p>
              <a:p>
                <a:endParaRPr lang="en-US" altLang="ja-JP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=6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b="1" dirty="0">
                    <a:solidFill>
                      <a:srgbClr val="00B050"/>
                    </a:solidFill>
                  </a:rPr>
                  <a:t>MEMO</a:t>
                </a:r>
              </a:p>
              <a:p>
                <a:r>
                  <a:rPr lang="ja-JP" altLang="en-US" sz="2400" dirty="0"/>
                  <a:t>・どのような数も</a:t>
                </a:r>
                <a:r>
                  <a:rPr lang="en-US" altLang="ja-JP" sz="2400" dirty="0"/>
                  <a:t>0</a:t>
                </a:r>
                <a:r>
                  <a:rPr lang="ja-JP" altLang="en-US" sz="2400" dirty="0"/>
                  <a:t>乗は</a:t>
                </a:r>
                <a:r>
                  <a:rPr lang="en-US" altLang="ja-JP" sz="2400" dirty="0"/>
                  <a:t>1</a:t>
                </a:r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+10=3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+10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なのでこのような計算になります。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066410" cy="3785652"/>
              </a:xfrm>
              <a:prstGeom prst="rect">
                <a:avLst/>
              </a:prstGeom>
              <a:blipFill>
                <a:blip r:embed="rId2"/>
                <a:stretch>
                  <a:fillRect l="-909" t="-1288" r="-61" b="-28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483A313-4B4D-4987-AEA2-835994A606DF}"/>
              </a:ext>
            </a:extLst>
          </p:cNvPr>
          <p:cNvSpPr/>
          <p:nvPr/>
        </p:nvSpPr>
        <p:spPr>
          <a:xfrm>
            <a:off x="2099733" y="1943418"/>
            <a:ext cx="541867" cy="4524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1F6E99F-6AC1-4762-A070-A9586771C5B5}"/>
              </a:ext>
            </a:extLst>
          </p:cNvPr>
          <p:cNvSpPr/>
          <p:nvPr/>
        </p:nvSpPr>
        <p:spPr>
          <a:xfrm>
            <a:off x="2870200" y="1954247"/>
            <a:ext cx="541867" cy="45247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50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358A5E-B611-418E-89C2-F2EA9D43FD2F}"/>
              </a:ext>
            </a:extLst>
          </p:cNvPr>
          <p:cNvSpPr/>
          <p:nvPr/>
        </p:nvSpPr>
        <p:spPr>
          <a:xfrm>
            <a:off x="3564464" y="1943418"/>
            <a:ext cx="541867" cy="45247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DCF836D-9FAD-4F50-828A-A9186FB6BF8A}"/>
              </a:ext>
            </a:extLst>
          </p:cNvPr>
          <p:cNvSpPr/>
          <p:nvPr/>
        </p:nvSpPr>
        <p:spPr>
          <a:xfrm>
            <a:off x="1651000" y="2672107"/>
            <a:ext cx="1413933" cy="4524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2D82498-114A-4CC6-8811-0787FB423E10}"/>
              </a:ext>
            </a:extLst>
          </p:cNvPr>
          <p:cNvSpPr/>
          <p:nvPr/>
        </p:nvSpPr>
        <p:spPr>
          <a:xfrm>
            <a:off x="3310464" y="2666004"/>
            <a:ext cx="1473203" cy="45247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B050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941B3AA-D8B7-4502-87B5-C47761E73C0B}"/>
              </a:ext>
            </a:extLst>
          </p:cNvPr>
          <p:cNvSpPr/>
          <p:nvPr/>
        </p:nvSpPr>
        <p:spPr>
          <a:xfrm>
            <a:off x="5029196" y="2666004"/>
            <a:ext cx="1735671" cy="45247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1497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微分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392858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この式を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で微分しなさい。</a:t>
                </a:r>
                <a:endParaRPr lang="en-US" altLang="ja-JP" sz="2400" dirty="0"/>
              </a:p>
              <a:p>
                <a:pPr/>
                <a:endParaRPr lang="en-US" altLang="ja-JP" sz="2400" dirty="0"/>
              </a:p>
              <a:p>
                <a:pPr/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で微分すると、</a:t>
                </a:r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のない項は消えるのを忘れないようにしましょう。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392858" cy="3046988"/>
              </a:xfrm>
              <a:prstGeom prst="rect">
                <a:avLst/>
              </a:prstGeom>
              <a:blipFill>
                <a:blip r:embed="rId2"/>
                <a:stretch>
                  <a:fillRect l="-1237" t="-1403" r="-330" b="-38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6353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微分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74821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ボールを真上に投げた時の、ボールの位置を表す関数が、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ja-JP" altLang="en-US" sz="2400" dirty="0"/>
                  <a:t>のとき、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ja-JP" altLang="en-US" sz="2400" dirty="0"/>
                  <a:t>での瞬間速度を求めなさい。</a:t>
                </a:r>
                <a:endParaRPr lang="en-US" altLang="ja-JP" sz="2400" dirty="0"/>
              </a:p>
              <a:p>
                <a:pPr/>
                <a:endParaRPr lang="en-US" altLang="ja-JP" sz="2400" dirty="0"/>
              </a:p>
              <a:p>
                <a:pPr/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で</m:t>
                    </m:r>
                  </m:oMath>
                </a14:m>
                <a:r>
                  <a:rPr lang="ja-JP" altLang="en-US" sz="2400" dirty="0"/>
                  <a:t>微分し速度を求める導関数とする、</a:t>
                </a:r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pPr/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altLang="ja-JP" sz="2400" dirty="0"/>
              </a:p>
              <a:p>
                <a:pPr/>
                <a:endParaRPr lang="en-US" altLang="ja-JP" sz="2400" dirty="0"/>
              </a:p>
              <a:p>
                <a:pPr/>
                <a:r>
                  <a:rPr lang="ja-JP" altLang="en-US" sz="2400" dirty="0"/>
                  <a:t>このように導関数より簡単に計算できます。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74821" cy="4524315"/>
              </a:xfrm>
              <a:prstGeom prst="rect">
                <a:avLst/>
              </a:prstGeom>
              <a:blipFill>
                <a:blip r:embed="rId2"/>
                <a:stretch>
                  <a:fillRect l="-1079" t="-1078" r="-216" b="-21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834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微分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891636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ボールを真上に投げた時の位置と時間の関数を、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−4.9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としたとき、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ja-JP" altLang="en-US" sz="2400" dirty="0"/>
                  <a:t>における瞬間加速度を求めなさい。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−4.9</m:t>
                      </m:r>
                      <m:sSup>
                        <m:sSup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で微分し、速度を求める導関数とする。</a:t>
                </a:r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=10−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9.8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altLang="ja-JP" sz="2400" dirty="0"/>
              </a:p>
              <a:p>
                <a:pPr/>
                <a:r>
                  <a:rPr lang="ja-JP" altLang="en-US" sz="2400" dirty="0"/>
                  <a:t>もう一度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で微分し、瞬間速度を求める導関数とする。</a:t>
                </a:r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′′(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)=−9.8</m:t>
                      </m:r>
                    </m:oMath>
                  </m:oMathPara>
                </a14:m>
                <a:endParaRPr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はいくつであっても加速度は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−9.8</m:t>
                    </m:r>
                  </m:oMath>
                </a14:m>
                <a:r>
                  <a:rPr lang="ja-JP" altLang="en-US" sz="2400" dirty="0"/>
                  <a:t>となる。</a:t>
                </a:r>
                <a:endParaRPr lang="en-US" altLang="ja-JP" sz="2400" dirty="0"/>
              </a:p>
              <a:p>
                <a:pPr/>
                <a:endParaRPr lang="en-US" altLang="ja-JP" sz="2400" dirty="0"/>
              </a:p>
              <a:p>
                <a:pPr/>
                <a:r>
                  <a:rPr lang="en-US" altLang="ja-JP" sz="2400" dirty="0"/>
                  <a:t>※</a:t>
                </a:r>
                <a:r>
                  <a:rPr lang="ja-JP" altLang="en-US" sz="2400" dirty="0"/>
                  <a:t>２次導関数の場合は２回微分しましょう。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891636" cy="4524315"/>
              </a:xfrm>
              <a:prstGeom prst="rect">
                <a:avLst/>
              </a:prstGeom>
              <a:blipFill>
                <a:blip r:embed="rId2"/>
                <a:stretch>
                  <a:fillRect l="-839" t="-1078" b="-21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419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78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微分 練習</a:t>
            </a:r>
            <a:r>
              <a:rPr kumimoji="1" lang="en-US" altLang="ja-JP" sz="3200" b="1" u="sng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025496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次の式に対して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で</a:t>
                </a:r>
                <a:r>
                  <a:rPr lang="en-US" altLang="ja-JP" sz="2400" dirty="0"/>
                  <a:t>1</a:t>
                </a:r>
                <a:r>
                  <a:rPr lang="ja-JP" altLang="en-US" sz="2400" dirty="0"/>
                  <a:t>度だけ微分しなさい。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+25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US" altLang="ja-JP" sz="24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+25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ja-JP" sz="24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US" altLang="ja-JP" sz="24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altLang="ja-JP" sz="240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+25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025496" cy="3416320"/>
              </a:xfrm>
              <a:prstGeom prst="rect">
                <a:avLst/>
              </a:prstGeom>
              <a:blipFill>
                <a:blip r:embed="rId2"/>
                <a:stretch>
                  <a:fillRect l="-1517" t="-1429" r="-6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630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78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微分 練習</a:t>
            </a:r>
            <a:r>
              <a:rPr kumimoji="1" lang="en-US" altLang="ja-JP" sz="3200" b="1" u="sng" dirty="0"/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7717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ボールを真上に投げた時の、ボールの位置を表す関数が、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1.7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ja-JP" altLang="en-US" sz="2400" dirty="0"/>
                  <a:t>のとき、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ja-JP" altLang="en-US" sz="2400" dirty="0"/>
                  <a:t>での瞬間速度を求めなさい。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77174" cy="830997"/>
              </a:xfrm>
              <a:prstGeom prst="rect">
                <a:avLst/>
              </a:prstGeom>
              <a:blipFill>
                <a:blip r:embed="rId2"/>
                <a:stretch>
                  <a:fillRect l="-1030" t="-5882" r="-206" b="-169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7458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178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微分 練習</a:t>
            </a:r>
            <a:r>
              <a:rPr kumimoji="1" lang="en-US" altLang="ja-JP" sz="3200" b="1" u="sng" dirty="0"/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58924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ボールを真上に投げた時の、ボールの位置を表す関数が、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0.81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ja-JP" altLang="en-US" sz="2400" dirty="0"/>
                  <a:t>のとき、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ja-JP" altLang="en-US" sz="2400" dirty="0"/>
                  <a:t>での瞬間加速度を求めなさい。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589245" cy="830997"/>
              </a:xfrm>
              <a:prstGeom prst="rect">
                <a:avLst/>
              </a:prstGeom>
              <a:blipFill>
                <a:blip r:embed="rId2"/>
                <a:stretch>
                  <a:fillRect l="-864" t="-5882" b="-169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0750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603</Words>
  <Application>Microsoft Office PowerPoint</Application>
  <PresentationFormat>ワイド画面</PresentationFormat>
  <Paragraphs>78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108</cp:revision>
  <dcterms:created xsi:type="dcterms:W3CDTF">2024-08-27T02:15:54Z</dcterms:created>
  <dcterms:modified xsi:type="dcterms:W3CDTF">2024-12-17T00:35:31Z</dcterms:modified>
</cp:coreProperties>
</file>