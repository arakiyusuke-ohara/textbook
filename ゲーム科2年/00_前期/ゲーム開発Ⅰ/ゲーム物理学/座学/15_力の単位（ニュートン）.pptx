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000000"/>
    <a:srgbClr val="FFFFFF"/>
    <a:srgbClr val="8C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力の単位（ニュートン）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質量に重力加速度を掛けたものが重さ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lang="ja-JP" altLang="en-US" sz="2400" dirty="0"/>
              <a:t>では実際に重さを計算してみましょう。</a:t>
            </a:r>
            <a:endParaRPr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913EFCB-04F9-4E1A-A42C-C151892CE621}"/>
              </a:ext>
            </a:extLst>
          </p:cNvPr>
          <p:cNvGrpSpPr/>
          <p:nvPr/>
        </p:nvGrpSpPr>
        <p:grpSpPr>
          <a:xfrm>
            <a:off x="567542" y="2573866"/>
            <a:ext cx="3903134" cy="3335865"/>
            <a:chOff x="4529666" y="1913467"/>
            <a:chExt cx="3903134" cy="3335865"/>
          </a:xfrm>
        </p:grpSpPr>
        <p:sp>
          <p:nvSpPr>
            <p:cNvPr id="7" name="台形 6">
              <a:extLst>
                <a:ext uri="{FF2B5EF4-FFF2-40B4-BE49-F238E27FC236}">
                  <a16:creationId xmlns:a16="http://schemas.microsoft.com/office/drawing/2014/main" id="{ED5888D4-801F-403F-82FF-6BA10597B126}"/>
                </a:ext>
              </a:extLst>
            </p:cNvPr>
            <p:cNvSpPr/>
            <p:nvPr/>
          </p:nvSpPr>
          <p:spPr>
            <a:xfrm>
              <a:off x="4529666" y="2785533"/>
              <a:ext cx="3903134" cy="2463799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400" b="1" dirty="0"/>
                <a:t>1kg×G</a:t>
              </a:r>
              <a:endParaRPr kumimoji="1" lang="ja-JP" altLang="en-US" sz="4400" b="1" dirty="0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CAC945C7-C3AA-4CC5-9C1E-36F3C1C0FC99}"/>
                </a:ext>
              </a:extLst>
            </p:cNvPr>
            <p:cNvGrpSpPr/>
            <p:nvPr/>
          </p:nvGrpSpPr>
          <p:grpSpPr>
            <a:xfrm>
              <a:off x="6417733" y="1913467"/>
              <a:ext cx="2015067" cy="872066"/>
              <a:chOff x="6417733" y="1913467"/>
              <a:chExt cx="2015067" cy="872066"/>
            </a:xfrm>
          </p:grpSpPr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9733C473-8A8F-4818-9C1C-F604B3C06B0C}"/>
                  </a:ext>
                </a:extLst>
              </p:cNvPr>
              <p:cNvCxnSpPr/>
              <p:nvPr/>
            </p:nvCxnSpPr>
            <p:spPr>
              <a:xfrm>
                <a:off x="6417733" y="1913467"/>
                <a:ext cx="0" cy="87206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9932DD44-19AB-43B6-B624-A220E9EDAE1C}"/>
                      </a:ext>
                    </a:extLst>
                  </p:cNvPr>
                  <p:cNvSpPr txBox="1"/>
                  <p:nvPr/>
                </p:nvSpPr>
                <p:spPr>
                  <a:xfrm>
                    <a:off x="6442640" y="2118668"/>
                    <a:ext cx="199016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400" dirty="0"/>
                      <a:t>G(</a:t>
                    </a:r>
                    <a14:m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altLang="ja-JP" sz="2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9932DD44-19AB-43B6-B624-A220E9EDAE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2640" y="2118668"/>
                    <a:ext cx="1990160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4908" t="-9333" r="-3681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力の単位（ニュートン）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重さの公式から以下のような計算になります。</a:t>
            </a:r>
            <a:endParaRPr lang="en-US" altLang="ja-JP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9913EFCB-04F9-4E1A-A42C-C151892CE621}"/>
              </a:ext>
            </a:extLst>
          </p:cNvPr>
          <p:cNvGrpSpPr/>
          <p:nvPr/>
        </p:nvGrpSpPr>
        <p:grpSpPr>
          <a:xfrm>
            <a:off x="567542" y="2573866"/>
            <a:ext cx="3903134" cy="3335865"/>
            <a:chOff x="4529666" y="1913467"/>
            <a:chExt cx="3903134" cy="3335865"/>
          </a:xfrm>
        </p:grpSpPr>
        <p:sp>
          <p:nvSpPr>
            <p:cNvPr id="7" name="台形 6">
              <a:extLst>
                <a:ext uri="{FF2B5EF4-FFF2-40B4-BE49-F238E27FC236}">
                  <a16:creationId xmlns:a16="http://schemas.microsoft.com/office/drawing/2014/main" id="{ED5888D4-801F-403F-82FF-6BA10597B126}"/>
                </a:ext>
              </a:extLst>
            </p:cNvPr>
            <p:cNvSpPr/>
            <p:nvPr/>
          </p:nvSpPr>
          <p:spPr>
            <a:xfrm>
              <a:off x="4529666" y="2785533"/>
              <a:ext cx="3903134" cy="2463799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4400" b="1" dirty="0"/>
                <a:t>1kg×G</a:t>
              </a:r>
              <a:endParaRPr kumimoji="1" lang="ja-JP" altLang="en-US" sz="4400" b="1" dirty="0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CAC945C7-C3AA-4CC5-9C1E-36F3C1C0FC99}"/>
                </a:ext>
              </a:extLst>
            </p:cNvPr>
            <p:cNvGrpSpPr/>
            <p:nvPr/>
          </p:nvGrpSpPr>
          <p:grpSpPr>
            <a:xfrm>
              <a:off x="6417733" y="1913467"/>
              <a:ext cx="2015067" cy="872066"/>
              <a:chOff x="6417733" y="1913467"/>
              <a:chExt cx="2015067" cy="872066"/>
            </a:xfrm>
          </p:grpSpPr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9733C473-8A8F-4818-9C1C-F604B3C06B0C}"/>
                  </a:ext>
                </a:extLst>
              </p:cNvPr>
              <p:cNvCxnSpPr/>
              <p:nvPr/>
            </p:nvCxnSpPr>
            <p:spPr>
              <a:xfrm>
                <a:off x="6417733" y="1913467"/>
                <a:ext cx="0" cy="872066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9932DD44-19AB-43B6-B624-A220E9EDAE1C}"/>
                      </a:ext>
                    </a:extLst>
                  </p:cNvPr>
                  <p:cNvSpPr txBox="1"/>
                  <p:nvPr/>
                </p:nvSpPr>
                <p:spPr>
                  <a:xfrm>
                    <a:off x="6442640" y="2118668"/>
                    <a:ext cx="199016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ja-JP" sz="2400" dirty="0"/>
                      <a:t>G(</a:t>
                    </a:r>
                    <a14:m>
                      <m:oMath xmlns:m="http://schemas.openxmlformats.org/officeDocument/2006/math"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−9.8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a14:m>
                    <a:r>
                      <a:rPr lang="en-US" altLang="ja-JP" sz="2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9932DD44-19AB-43B6-B624-A220E9EDAE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2640" y="2118668"/>
                    <a:ext cx="1990160" cy="46166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4908" t="-9333" r="-3681" b="-32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9A9B062-7E79-4652-9B96-1D622DE0A349}"/>
                  </a:ext>
                </a:extLst>
              </p:cNvPr>
              <p:cNvSpPr txBox="1"/>
              <p:nvPr/>
            </p:nvSpPr>
            <p:spPr>
              <a:xfrm>
                <a:off x="6096000" y="2677467"/>
                <a:ext cx="340067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=−9.8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𝑘𝑔𝑚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b="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0" dirty="0"/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A9A9B062-7E79-4652-9B96-1D622DE0A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77467"/>
                <a:ext cx="3400675" cy="1200329"/>
              </a:xfrm>
              <a:prstGeom prst="rect">
                <a:avLst/>
              </a:prstGeom>
              <a:blipFill>
                <a:blip r:embed="rId3"/>
                <a:stretch>
                  <a:fillRect t="-4061" b="-6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364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5B7FE9A-C2D2-4872-B860-49EA6F1AFD4B}"/>
              </a:ext>
            </a:extLst>
          </p:cNvPr>
          <p:cNvSpPr/>
          <p:nvPr/>
        </p:nvSpPr>
        <p:spPr>
          <a:xfrm>
            <a:off x="406400" y="2142067"/>
            <a:ext cx="2641600" cy="11514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力の単位（ニュートン）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273966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計算結果の単位を見てみると、かなり複雑な単位となっています。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よってこの単位を一概に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N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（ニュートン）</a:t>
                </a:r>
                <a:r>
                  <a:rPr lang="ja-JP" altLang="en-US" sz="2400" dirty="0"/>
                  <a:t>と名付けるようになりました。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■ニュートン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重さの単位は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N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（ニュートン）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重さとは、重力によって発生する力</a:t>
                </a:r>
                <a:r>
                  <a:rPr lang="ja-JP" altLang="en-US" sz="2400" dirty="0"/>
                  <a:t>でもあるので、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力の単位を総じて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N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（ニュートン）</a:t>
                </a:r>
                <a:r>
                  <a:rPr lang="ja-JP" altLang="en-US" sz="2400" dirty="0"/>
                  <a:t>と表記します。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273966" cy="3785652"/>
              </a:xfrm>
              <a:prstGeom prst="rect">
                <a:avLst/>
              </a:prstGeom>
              <a:blipFill>
                <a:blip r:embed="rId2"/>
                <a:stretch>
                  <a:fillRect l="-890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281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力の単位（ニュートン）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938392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ある人が体重計に乗ったところ</a:t>
                </a:r>
                <a:r>
                  <a:rPr lang="en-US" altLang="ja-JP" sz="2400" dirty="0"/>
                  <a:t>70kg</a:t>
                </a:r>
                <a:r>
                  <a:rPr lang="ja-JP" altLang="en-US" sz="2400" dirty="0"/>
                  <a:t>と表示されました。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体重計にかかった力は何</a:t>
                </a:r>
                <a:r>
                  <a:rPr lang="en-US" altLang="ja-JP" sz="2400" dirty="0"/>
                  <a:t>N</a:t>
                </a:r>
                <a:r>
                  <a:rPr lang="ja-JP" altLang="en-US" sz="2400" dirty="0"/>
                  <a:t>でしょうか。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=70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(−9.8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=686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𝑘𝑔𝑚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𝟔𝟖𝟔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1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938392" cy="2677656"/>
              </a:xfrm>
              <a:prstGeom prst="rect">
                <a:avLst/>
              </a:prstGeom>
              <a:blipFill>
                <a:blip r:embed="rId2"/>
                <a:stretch>
                  <a:fillRect l="-1152" t="-1822" r="-230" b="-22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2059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046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力の単位（ニュートン）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9947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ある人が体重計に乗ったところ、ー</a:t>
                </a:r>
                <a:r>
                  <a:rPr lang="en-US" altLang="ja-JP" sz="2400" dirty="0"/>
                  <a:t>548.8N</a:t>
                </a:r>
                <a:r>
                  <a:rPr lang="ja-JP" altLang="en-US" sz="2400" dirty="0"/>
                  <a:t>の力が体重計にかかった。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この人の質量は何</a:t>
                </a:r>
                <a:r>
                  <a:rPr lang="en-US" altLang="ja-JP" sz="2400" dirty="0"/>
                  <a:t>kg</a:t>
                </a:r>
                <a:r>
                  <a:rPr lang="ja-JP" altLang="en-US" sz="2400" dirty="0"/>
                  <a:t>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dirty="0">
                        <a:latin typeface="Cambria Math" panose="02040503050406030204" pitchFamily="18" charset="0"/>
                      </a:rPr>
                      <m:t>548.8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(−9.8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=−548.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÷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(−9.8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𝟓𝟔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𝒌𝒈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b="1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99478" cy="2677656"/>
              </a:xfrm>
              <a:prstGeom prst="rect">
                <a:avLst/>
              </a:prstGeom>
              <a:blipFill>
                <a:blip r:embed="rId2"/>
                <a:stretch>
                  <a:fillRect l="-933" t="-1822" b="-22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798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290</Words>
  <Application>Microsoft Office PowerPoint</Application>
  <PresentationFormat>ワイド画面</PresentationFormat>
  <Paragraphs>39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141</cp:revision>
  <dcterms:created xsi:type="dcterms:W3CDTF">2024-08-27T02:15:54Z</dcterms:created>
  <dcterms:modified xsi:type="dcterms:W3CDTF">2025-07-29T03:34:40Z</dcterms:modified>
</cp:coreProperties>
</file>