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3" r:id="rId5"/>
    <p:sldId id="262" r:id="rId6"/>
    <p:sldId id="264" r:id="rId7"/>
    <p:sldId id="260" r:id="rId8"/>
    <p:sldId id="261" r:id="rId9"/>
    <p:sldId id="266" r:id="rId10"/>
    <p:sldId id="265" r:id="rId11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4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950417-98BD-4172-A454-C76A49B9771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9F83E9AE-84BC-4452-8901-A17B27CC419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B320892-0B52-41F1-BED3-1F36AE1E3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4114070-C582-4B06-9805-0DFEFB583F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E8014BC-198B-4E5B-89B4-FDBFD423B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55607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42C298B-DDF7-4BBD-B08C-16E40ED109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F284FECC-C823-4D42-8CAA-49FC9A8C5B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26879-4594-4C3F-BFFA-F4CB8674F4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FC6BE6-BB12-4008-B4BA-62D249C49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6B8CAC6-4A91-4F74-9267-5C30714BF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473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78AD04-3137-4B16-97B1-DC1252F678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BF8FC57-7A4A-4196-89B9-B1A6197D42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CB80319-F15F-4C62-95BA-15B326F98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9F0141-2F76-4B73-AAE0-1EDFEEA42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F3A285-8438-4738-B4CE-18FC566351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814076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539AAF0-C896-4BE5-8FCC-343208524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6C332E-2DEA-4D46-8FEF-31D60DD975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9D3FC79-3A15-47E8-8DC1-B5A928FF7F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AC8BB6-CC26-4AE8-B477-9A47780715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D813CBF-5D01-4CF4-BD63-C8FC321B2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123F9A7-54F5-421C-9A71-CC8C4BC923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20282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9A2E9A-2DDB-4057-9711-D792B04FFD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E5496D-7437-4ADF-BF05-1B99ACC091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8A11600-06C5-424A-B2EA-FFEF7E75EA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3408E51-ED83-4218-8378-F0B44E296E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D26C0C0-145F-4A52-BA72-D19A2971D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649033F-9C86-42B4-AB90-0FE47F39E3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3F9DE8-EAB7-4A80-BF64-725C6DF46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1D0069B-43F7-430A-8C9D-C2BA7B92EC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546531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CD48D3C-20F1-4E20-8FBC-734E9D946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B2E416B3-4C21-4278-9B88-62D41335DC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3EBA727E-E9E7-4EA2-B6ED-8CF036F2B5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DC1C47C-5B0A-471B-BB77-77BE62B99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5308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55C2DD0-D598-4A5F-B542-7C6806B2F7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2260FD2A-DF3F-46FE-B2F8-14D9A20697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2EF1C2C-6093-4ADD-9BFE-41DB125AD3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204145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35797B-0171-40BC-BCA2-0C1BA0D4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9CB0DB-618C-450C-BE67-5FD277B25D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2CC888D-BF8F-439D-9FC7-2DD4A8D750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4C2FA2E-4305-4946-8BDE-7AE113CDE6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A070CF-301C-4595-8007-2A2C19DFE0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3E21C8C-DA9E-4E6B-B45C-C2C4D3897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69295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0F7326-6BA4-4DC0-9519-87D04747E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3A1C2397-9613-4B24-A7D0-9EEE44E01C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5462283-8239-49BE-9D96-00B24831B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F53455D-91B5-4938-AC24-CAFF77A6CD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7F23C7B-CEBC-48FC-81DC-98AFE68C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65B5D-4A4C-4A6E-8AEB-3D88DC582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140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AE957E-488D-43B9-8182-2A1DEEF0F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0E67B1EC-AFC1-41D0-BBB1-9A2E85E139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B76048-AF91-4C32-A054-6305C2928E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C66A49-F960-4196-B16B-31B98B3401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7A86F7-B140-4439-A33B-63EA8498D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3190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B4FA5DEF-DC74-4F38-9DA0-1EE9752F5F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3C9EE93-ED20-4B3B-93FB-5A088C436B2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370666-1A4C-42B1-8748-A0D1453943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26EC7E2-E7E6-45F2-BF6D-CDF318CEC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CDE4F59-4276-46E3-AE2A-D255BC7BB3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428509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527E70E-5441-439A-8EA3-0826A036FC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A7C9CE9-5A22-43DB-862A-3B24B2BF15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5D76C-CB70-434A-A116-22531EEB417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9CC885B-4903-4D54-9A93-00025F12DED9}" type="datetimeFigureOut">
              <a:rPr kumimoji="1" lang="ja-JP" altLang="en-US" smtClean="0"/>
              <a:t>2025/4/9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505E6D4-441B-4864-8545-0FDE04F664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FD1810-F6DD-4BB4-8465-A3A3F3BF335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812AE58-48EE-4ADF-80EA-6426EE982FE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17845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417963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ボールを真上に思いっきり投げた時の、</a:t>
            </a:r>
            <a:endParaRPr lang="en-US" altLang="ja-JP" sz="2400" dirty="0"/>
          </a:p>
          <a:p>
            <a:r>
              <a:rPr lang="ja-JP" altLang="en-US" sz="2400" b="1" dirty="0">
                <a:solidFill>
                  <a:srgbClr val="FF0000"/>
                </a:solidFill>
              </a:rPr>
              <a:t>投げてからの時間</a:t>
            </a:r>
            <a:r>
              <a:rPr lang="ja-JP" altLang="en-US" sz="2400" dirty="0"/>
              <a:t>と、</a:t>
            </a:r>
            <a:r>
              <a:rPr lang="ja-JP" altLang="en-US" sz="2400" b="1" dirty="0">
                <a:solidFill>
                  <a:srgbClr val="FF0000"/>
                </a:solidFill>
              </a:rPr>
              <a:t>ボールの位置</a:t>
            </a:r>
            <a:r>
              <a:rPr lang="ja-JP" altLang="en-US" sz="2400" dirty="0"/>
              <a:t>について詳しく見ていきます。</a:t>
            </a:r>
            <a:endParaRPr lang="en-US" altLang="ja-JP" sz="2400" dirty="0"/>
          </a:p>
          <a:p>
            <a:r>
              <a:rPr lang="ja-JP" altLang="en-US" sz="2400" dirty="0"/>
              <a:t>真上に投げたボールはまず上昇します。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7928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18685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いずれボールは重力によって落下します。</a:t>
            </a:r>
            <a:endParaRPr lang="en-US" altLang="ja-JP" sz="2400" dirty="0"/>
          </a:p>
          <a:p>
            <a:r>
              <a:rPr lang="ja-JP" altLang="en-US" sz="2400" dirty="0"/>
              <a:t>この時のボールの高さと経過時間を表にまとめてみます。</a:t>
            </a:r>
            <a:endParaRPr lang="en-US" altLang="ja-JP" sz="2400" dirty="0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08203C59-1AAD-4C6B-B7F7-A54881080D94}"/>
              </a:ext>
            </a:extLst>
          </p:cNvPr>
          <p:cNvSpPr/>
          <p:nvPr/>
        </p:nvSpPr>
        <p:spPr>
          <a:xfrm>
            <a:off x="1397001" y="5048904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2E21816-2D46-44D6-A94A-CE7A8B1219BF}"/>
              </a:ext>
            </a:extLst>
          </p:cNvPr>
          <p:cNvSpPr/>
          <p:nvPr/>
        </p:nvSpPr>
        <p:spPr>
          <a:xfrm>
            <a:off x="1966381" y="36839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楕円 6">
            <a:extLst>
              <a:ext uri="{FF2B5EF4-FFF2-40B4-BE49-F238E27FC236}">
                <a16:creationId xmlns:a16="http://schemas.microsoft.com/office/drawing/2014/main" id="{4B6C2FBC-596E-463F-92CE-A8FC8D154CCA}"/>
              </a:ext>
            </a:extLst>
          </p:cNvPr>
          <p:cNvSpPr/>
          <p:nvPr/>
        </p:nvSpPr>
        <p:spPr>
          <a:xfrm>
            <a:off x="2565400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67754C83-F673-4981-A59D-12C16F51A9A2}"/>
              </a:ext>
            </a:extLst>
          </p:cNvPr>
          <p:cNvSpPr/>
          <p:nvPr/>
        </p:nvSpPr>
        <p:spPr>
          <a:xfrm>
            <a:off x="3539068" y="24374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3E1DF3BB-5ADE-420A-A39D-76D189E56DD5}"/>
              </a:ext>
            </a:extLst>
          </p:cNvPr>
          <p:cNvSpPr/>
          <p:nvPr/>
        </p:nvSpPr>
        <p:spPr>
          <a:xfrm>
            <a:off x="4436535" y="2805747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楕円 9">
            <a:extLst>
              <a:ext uri="{FF2B5EF4-FFF2-40B4-BE49-F238E27FC236}">
                <a16:creationId xmlns:a16="http://schemas.microsoft.com/office/drawing/2014/main" id="{383AB766-5023-45F4-8449-951DAB721ED0}"/>
              </a:ext>
            </a:extLst>
          </p:cNvPr>
          <p:cNvSpPr/>
          <p:nvPr/>
        </p:nvSpPr>
        <p:spPr>
          <a:xfrm>
            <a:off x="5198534" y="4052253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B0BFCF01-EBBA-40EF-A471-77C32E4256B7}"/>
              </a:ext>
            </a:extLst>
          </p:cNvPr>
          <p:cNvSpPr/>
          <p:nvPr/>
        </p:nvSpPr>
        <p:spPr>
          <a:xfrm>
            <a:off x="5892800" y="5771341"/>
            <a:ext cx="694266" cy="736600"/>
          </a:xfrm>
          <a:prstGeom prst="ellipse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69292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1064906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以下の表のように時間に対して位置が移動します。</a:t>
            </a:r>
            <a:endParaRPr lang="en-US" altLang="ja-JP" sz="2400" dirty="0"/>
          </a:p>
          <a:p>
            <a:r>
              <a:rPr lang="ja-JP" altLang="en-US" sz="2400" dirty="0"/>
              <a:t>表にまとめることによって、</a:t>
            </a:r>
            <a:r>
              <a:rPr lang="ja-JP" altLang="en-US" sz="2400" b="1" dirty="0">
                <a:solidFill>
                  <a:srgbClr val="FF0000"/>
                </a:solidFill>
              </a:rPr>
              <a:t>時間が分かれば位置が分かる</a:t>
            </a:r>
            <a:r>
              <a:rPr lang="ja-JP" altLang="en-US" sz="2400" dirty="0"/>
              <a:t>ようになります。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4739371"/>
              </p:ext>
            </p:extLst>
          </p:nvPr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B7E241F3-EA0F-4CFF-840F-18DD6C44EFF5}"/>
              </a:ext>
            </a:extLst>
          </p:cNvPr>
          <p:cNvSpPr txBox="1"/>
          <p:nvPr/>
        </p:nvSpPr>
        <p:spPr>
          <a:xfrm>
            <a:off x="4817809" y="306270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0070C0"/>
                </a:solidFill>
              </a:rPr>
              <a:t>上昇</a:t>
            </a:r>
            <a:endParaRPr lang="en-US" altLang="ja-JP" sz="2400" b="1" dirty="0">
              <a:solidFill>
                <a:srgbClr val="0070C0"/>
              </a:solidFill>
            </a:endParaRPr>
          </a:p>
        </p:txBody>
      </p:sp>
      <p:cxnSp>
        <p:nvCxnSpPr>
          <p:cNvPr id="20" name="直線矢印コネクタ 19">
            <a:extLst>
              <a:ext uri="{FF2B5EF4-FFF2-40B4-BE49-F238E27FC236}">
                <a16:creationId xmlns:a16="http://schemas.microsoft.com/office/drawing/2014/main" id="{B4376E57-14E0-40A1-A512-D04F6D34BA94}"/>
              </a:ext>
            </a:extLst>
          </p:cNvPr>
          <p:cNvCxnSpPr>
            <a:cxnSpLocks/>
          </p:cNvCxnSpPr>
          <p:nvPr/>
        </p:nvCxnSpPr>
        <p:spPr>
          <a:xfrm>
            <a:off x="4741333" y="2582333"/>
            <a:ext cx="0" cy="142240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7148FBD1-A522-4768-B70E-27AFF9AAF09A}"/>
              </a:ext>
            </a:extLst>
          </p:cNvPr>
          <p:cNvCxnSpPr>
            <a:cxnSpLocks/>
          </p:cNvCxnSpPr>
          <p:nvPr/>
        </p:nvCxnSpPr>
        <p:spPr>
          <a:xfrm>
            <a:off x="4741333" y="4004733"/>
            <a:ext cx="0" cy="1149113"/>
          </a:xfrm>
          <a:prstGeom prst="straightConnector1">
            <a:avLst/>
          </a:prstGeom>
          <a:ln w="38100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D3ABAE8F-3E61-4E7D-B399-CDDA0BA8128C}"/>
              </a:ext>
            </a:extLst>
          </p:cNvPr>
          <p:cNvSpPr txBox="1"/>
          <p:nvPr/>
        </p:nvSpPr>
        <p:spPr>
          <a:xfrm>
            <a:off x="4817808" y="4348910"/>
            <a:ext cx="80021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b="1" dirty="0">
                <a:solidFill>
                  <a:srgbClr val="FF0000"/>
                </a:solidFill>
              </a:rPr>
              <a:t>落下</a:t>
            </a:r>
            <a:endParaRPr lang="en-US" altLang="ja-JP" sz="2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740470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プログラミングのように数学にも</a:t>
            </a:r>
            <a:r>
              <a:rPr lang="ja-JP" altLang="en-US" sz="2400" b="1" dirty="0">
                <a:solidFill>
                  <a:srgbClr val="FF0000"/>
                </a:solidFill>
              </a:rPr>
              <a:t>関数</a:t>
            </a:r>
            <a:r>
              <a:rPr lang="ja-JP" altLang="en-US" sz="2400" dirty="0"/>
              <a:t>があります。</a:t>
            </a:r>
            <a:endParaRPr lang="en-US" altLang="ja-JP" sz="2400" dirty="0"/>
          </a:p>
          <a:p>
            <a:r>
              <a:rPr lang="ja-JP" altLang="en-US" sz="2400" dirty="0"/>
              <a:t>関数は</a:t>
            </a:r>
            <a:r>
              <a:rPr lang="ja-JP" altLang="en-US" sz="2400" b="1" dirty="0">
                <a:solidFill>
                  <a:srgbClr val="FF0000"/>
                </a:solidFill>
              </a:rPr>
              <a:t>ある値を渡すと、対応する別の数を導くもの</a:t>
            </a:r>
            <a:r>
              <a:rPr lang="ja-JP" altLang="en-US" sz="2400" dirty="0"/>
              <a:t>になります。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>
        <mc:Choice xmlns:a14="http://schemas.microsoft.com/office/drawing/2010/main" Requires="a14"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284D782F-AEB5-4E7F-96D1-F14ADF53925D}"/>
                  </a:ext>
                </a:extLst>
              </p:cNvPr>
              <p:cNvSpPr txBox="1"/>
              <p:nvPr/>
            </p:nvSpPr>
            <p:spPr>
              <a:xfrm>
                <a:off x="4783942" y="2516479"/>
                <a:ext cx="5346335" cy="26776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今回の場合だと、</a:t>
                </a:r>
                <a:endParaRPr lang="en-US" altLang="ja-JP" sz="2400" dirty="0"/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=142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=106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r>
                  <a:rPr lang="ja-JP" altLang="en-US" sz="2400" b="0" dirty="0">
                    <a:solidFill>
                      <a:srgbClr val="FF0000"/>
                    </a:solidFill>
                  </a:rPr>
                  <a:t>・</a:t>
                </a:r>
                <a14:m>
                  <m:oMath xmlns:m="http://schemas.openxmlformats.org/officeDocument/2006/math"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</a:p>
              <a:p>
                <a:endParaRPr lang="en-US" altLang="ja-JP" sz="2400" dirty="0"/>
              </a:p>
              <a:p>
                <a:r>
                  <a:rPr lang="ja-JP" altLang="en-US" sz="2400" dirty="0"/>
                  <a:t>このように、</a:t>
                </a:r>
                <a:r>
                  <a:rPr lang="en-US" altLang="ja-JP" sz="2400" dirty="0"/>
                  <a:t>()</a:t>
                </a:r>
                <a:r>
                  <a:rPr lang="ja-JP" altLang="en-US" sz="2400" dirty="0"/>
                  <a:t>カッコ内の引数から、</a:t>
                </a:r>
                <a:endParaRPr lang="en-US" altLang="ja-JP" sz="2400" dirty="0"/>
              </a:p>
              <a:p>
                <a:r>
                  <a:rPr lang="ja-JP" altLang="en-US" sz="2400" dirty="0"/>
                  <a:t>別の数を導くことができます。</a:t>
                </a:r>
                <a:endParaRPr lang="en-US" altLang="ja-JP" sz="2400" dirty="0"/>
              </a:p>
            </p:txBody>
          </p:sp>
        </mc:Choice>
        <mc:Fallback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284D782F-AEB5-4E7F-96D1-F14ADF539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83942" y="2516479"/>
                <a:ext cx="5346335" cy="2677656"/>
              </a:xfrm>
              <a:prstGeom prst="rect">
                <a:avLst/>
              </a:prstGeom>
              <a:blipFill>
                <a:blip r:embed="rId2"/>
                <a:stretch>
                  <a:fillRect l="-1824" t="-1822" r="-684" b="-4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8630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ボールを真上に投げた際の時間と位置の関係が以下の表の場合、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(1)</m:t>
                    </m:r>
                  </m:oMath>
                </a14:m>
                <a:r>
                  <a:rPr lang="ja-JP" altLang="en-US" sz="2400" dirty="0"/>
                  <a:t>を求めなさい。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blipFill>
                <a:blip r:embed="rId2"/>
                <a:stretch>
                  <a:fillRect l="-1003" t="-5882" r="-67" b="-16176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/>
              <p:nvPr/>
            </p:nvSpPr>
            <p:spPr>
              <a:xfrm>
                <a:off x="4843209" y="2187126"/>
                <a:ext cx="5580374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:r>
                  <a:rPr lang="ja-JP" altLang="en-US" sz="2400" dirty="0"/>
                  <a:t>表より</a:t>
                </a:r>
                <a:r>
                  <a:rPr lang="en-US" altLang="ja-JP" sz="2400" dirty="0"/>
                  <a:t>1</a:t>
                </a:r>
                <a:r>
                  <a:rPr lang="ja-JP" altLang="en-US" sz="2400" dirty="0"/>
                  <a:t>に対応する位置は</a:t>
                </a:r>
                <a:r>
                  <a:rPr lang="en-US" altLang="ja-JP" sz="2400" dirty="0"/>
                  <a:t>90m</a:t>
                </a:r>
                <a:r>
                  <a:rPr lang="ja-JP" altLang="en-US" sz="2400" dirty="0"/>
                  <a:t>なので、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90</m:t>
                    </m:r>
                  </m:oMath>
                </a14:m>
                <a:r>
                  <a:rPr lang="ja-JP" altLang="en-US" sz="2400" dirty="0"/>
                  <a:t>となる。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209" y="2187126"/>
                <a:ext cx="5580374" cy="1200329"/>
              </a:xfrm>
              <a:prstGeom prst="rect">
                <a:avLst/>
              </a:prstGeom>
              <a:blipFill>
                <a:blip r:embed="rId3"/>
                <a:stretch>
                  <a:fillRect l="-1638" t="-4061" r="-764" b="-1066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CA100B4B-33E4-48C0-A3E2-264E99106EA1}"/>
              </a:ext>
            </a:extLst>
          </p:cNvPr>
          <p:cNvSpPr txBox="1"/>
          <p:nvPr/>
        </p:nvSpPr>
        <p:spPr>
          <a:xfrm>
            <a:off x="567542" y="5293546"/>
            <a:ext cx="60324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まずは関数について慣れておきましょう。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32945258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練習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ボールを真上に投げた際の時間と位置の関係が以下の表の場合、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ja-JP" altLang="en-US" sz="2400" b="0" i="1" smtClean="0">
                        <a:latin typeface="Cambria Math" panose="02040503050406030204" pitchFamily="18" charset="0"/>
                      </a:rPr>
                      <m:t>以下の問いに答えなさい</m:t>
                    </m:r>
                  </m:oMath>
                </a14:m>
                <a:r>
                  <a:rPr lang="en-US" altLang="ja-JP" sz="2400" dirty="0"/>
                  <a:t> </a:t>
                </a:r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30997"/>
              </a:xfrm>
              <a:prstGeom prst="rect">
                <a:avLst/>
              </a:prstGeom>
              <a:blipFill>
                <a:blip r:embed="rId2"/>
                <a:stretch>
                  <a:fillRect l="-1003" t="-5882" r="-67" b="-2941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/>
              <p:nvPr/>
            </p:nvSpPr>
            <p:spPr>
              <a:xfrm>
                <a:off x="4843209" y="2187126"/>
                <a:ext cx="1164101" cy="1700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①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</m:oMath>
                </a14:m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②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</m:oMath>
                </a14:m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b="0" dirty="0"/>
                  <a:t>③</a:t>
                </a:r>
                <a14:m>
                  <m:oMath xmlns:m="http://schemas.openxmlformats.org/officeDocument/2006/math">
                    <m:r>
                      <a:rPr lang="en-US" altLang="ja-JP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e>
                    </m:d>
                  </m:oMath>
                </a14:m>
                <a:endParaRPr lang="en-US" altLang="ja-JP" sz="2400" dirty="0"/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A5D57068-D1EE-44EB-8005-D702A79F1C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3209" y="2187126"/>
                <a:ext cx="1164101" cy="1700337"/>
              </a:xfrm>
              <a:prstGeom prst="rect">
                <a:avLst/>
              </a:prstGeom>
              <a:blipFill>
                <a:blip r:embed="rId3"/>
                <a:stretch>
                  <a:fillRect l="-7853" b="-75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86346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BDE69EC3-C60A-4D4A-9D5F-663317AC1225}"/>
              </a:ext>
            </a:extLst>
          </p:cNvPr>
          <p:cNvSpPr/>
          <p:nvPr/>
        </p:nvSpPr>
        <p:spPr>
          <a:xfrm>
            <a:off x="4998720" y="3596640"/>
            <a:ext cx="4258491" cy="2438400"/>
          </a:xfrm>
          <a:prstGeom prst="round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05724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880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/>
              <a:t>それではこのボールの平均速度について考えていきましょう。</a:t>
            </a:r>
            <a:endParaRPr lang="ja-JP" altLang="en-US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24617549"/>
              </p:ext>
            </p:extLst>
          </p:nvPr>
        </p:nvGraphicFramePr>
        <p:xfrm>
          <a:off x="567542" y="2373284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3574C3C-4DB1-4ADA-A9A8-E7F84509586C}"/>
                  </a:ext>
                </a:extLst>
              </p:cNvPr>
              <p:cNvSpPr txBox="1"/>
              <p:nvPr/>
            </p:nvSpPr>
            <p:spPr>
              <a:xfrm>
                <a:off x="5270145" y="2373284"/>
                <a:ext cx="4801314" cy="392492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>
                    <a:solidFill>
                      <a:srgbClr val="FF0000"/>
                    </a:solidFill>
                  </a:rPr>
                  <a:t>平均速度は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ja-JP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変位</m:t>
                        </m:r>
                      </m:num>
                      <m:den>
                        <m:r>
                          <a:rPr lang="ja-JP" alt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時間</m:t>
                        </m:r>
                      </m:den>
                    </m:f>
                  </m:oMath>
                </a14:m>
                <a:r>
                  <a:rPr lang="ja-JP" altLang="en-US" sz="2400" dirty="0"/>
                  <a:t>で求められるので</a:t>
                </a:r>
                <a:endParaRPr lang="en-US" altLang="ja-JP" sz="2400" dirty="0"/>
              </a:p>
              <a:p>
                <a:r>
                  <a:rPr lang="ja-JP" altLang="en-US" sz="2400" dirty="0"/>
                  <a:t>以下の公式が成り立ちます。</a:t>
                </a:r>
                <a:endParaRPr lang="en-US" altLang="ja-JP" sz="2400" dirty="0"/>
              </a:p>
              <a:p>
                <a:endParaRPr lang="en-US" altLang="ja-JP" sz="2400" dirty="0"/>
              </a:p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■関数を使った平均速度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平均速度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経過後の時間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ja-JP" altLang="en-US" sz="2400" dirty="0"/>
                  <a:t> </a:t>
                </a:r>
                <a14:m>
                  <m:oMath xmlns:m="http://schemas.openxmlformats.org/officeDocument/2006/math">
                    <m:r>
                      <a:rPr lang="ja-JP" altLang="en-US" sz="2400" i="1">
                        <a:latin typeface="Cambria Math" panose="02040503050406030204" pitchFamily="18" charset="0"/>
                      </a:rPr>
                      <m:t>・・・</m:t>
                    </m:r>
                  </m:oMath>
                </a14:m>
                <a:r>
                  <a:rPr lang="ja-JP" altLang="en-US" sz="2400" dirty="0"/>
                  <a:t>経過前の時間</a:t>
                </a:r>
                <a:endParaRPr lang="en-US" altLang="ja-JP" sz="2400" dirty="0"/>
              </a:p>
              <a:p>
                <a:endParaRPr lang="ja-JP" altLang="en-US" sz="2400" dirty="0"/>
              </a:p>
            </p:txBody>
          </p:sp>
        </mc:Choice>
        <mc:Fallback xmlns=""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E3574C3C-4DB1-4ADA-A9A8-E7F8450958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0145" y="2373284"/>
                <a:ext cx="4801314" cy="3924921"/>
              </a:xfrm>
              <a:prstGeom prst="rect">
                <a:avLst/>
              </a:prstGeom>
              <a:blipFill>
                <a:blip r:embed="rId2"/>
                <a:stretch>
                  <a:fillRect l="-2033" r="-101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737566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ボールを真上に投げた時の時間と位置の関係が以下の表の場合、</a:t>
            </a:r>
            <a:endParaRPr lang="en-US" altLang="ja-JP" sz="2400" dirty="0"/>
          </a:p>
          <a:p>
            <a:r>
              <a:rPr lang="ja-JP" altLang="en-US" sz="2400" dirty="0"/>
              <a:t>ボールを投げてから４秒後までの平均速度を求めなさい。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3008772" cy="26390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より、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(0)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4−0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6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144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36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3008772" cy="2639056"/>
              </a:xfrm>
              <a:prstGeom prst="rect">
                <a:avLst/>
              </a:prstGeom>
              <a:blipFill>
                <a:blip r:embed="rId2"/>
                <a:stretch>
                  <a:fillRect l="-3036" t="-18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A58F34D-03DD-4858-BA16-A01F0DAA6C2C}"/>
              </a:ext>
            </a:extLst>
          </p:cNvPr>
          <p:cNvSpPr txBox="1"/>
          <p:nvPr/>
        </p:nvSpPr>
        <p:spPr>
          <a:xfrm>
            <a:off x="567542" y="5293546"/>
            <a:ext cx="84946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このように時間と位置の関係から平均速度を求められます。</a:t>
            </a:r>
            <a:endParaRPr lang="en-US" altLang="ja-JP" sz="2400" dirty="0"/>
          </a:p>
        </p:txBody>
      </p:sp>
    </p:spTree>
    <p:extLst>
      <p:ext uri="{BB962C8B-B14F-4D97-AF65-F5344CB8AC3E}">
        <p14:creationId xmlns:p14="http://schemas.microsoft.com/office/powerpoint/2010/main" val="1589688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例題</a:t>
            </a:r>
            <a:endParaRPr kumimoji="1" lang="en-US" altLang="ja-JP" sz="3200" b="1" u="sn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/>
              <p:nvPr/>
            </p:nvSpPr>
            <p:spPr>
              <a:xfrm>
                <a:off x="567542" y="1216429"/>
                <a:ext cx="9110186" cy="84093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ボールを真上に投げた時の時間と位置の関係が以下の表の場合、</a:t>
                </a:r>
                <a:endParaRPr lang="en-US" altLang="ja-JP" sz="2400" dirty="0"/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</m:t>
                    </m:r>
                  </m:oMath>
                </a14:m>
                <a:r>
                  <a:rPr lang="ja-JP" altLang="en-US" sz="2400" dirty="0"/>
                  <a:t>の時の平均速度を求めなさい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55830AD6-028B-4C4E-80BF-B70DFC1C3A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1216429"/>
                <a:ext cx="9110186" cy="840936"/>
              </a:xfrm>
              <a:prstGeom prst="rect">
                <a:avLst/>
              </a:prstGeom>
              <a:blipFill>
                <a:blip r:embed="rId2"/>
                <a:stretch>
                  <a:fillRect l="-1003" t="-5839" r="-67" b="-1532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3268459" cy="263905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b="1" dirty="0">
                    <a:solidFill>
                      <a:srgbClr val="FF0000"/>
                    </a:solidFill>
                  </a:rPr>
                  <a:t>■解答</a:t>
                </a:r>
                <a:endParaRPr lang="en-US" altLang="ja-JP" sz="2400" b="1" dirty="0">
                  <a:solidFill>
                    <a:srgbClr val="FF0000"/>
                  </a:solidFill>
                </a:endParaRPr>
              </a:p>
              <a:p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den>
                    </m:f>
                  </m:oMath>
                </a14:m>
                <a:r>
                  <a:rPr lang="ja-JP" altLang="en-US" sz="2400" dirty="0"/>
                  <a:t> より、</a:t>
                </a:r>
                <a:endParaRPr lang="en-US" altLang="ja-JP" sz="24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d>
                          <m:dPr>
                            <m:ctrlP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e>
                        </m:d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(2)</m:t>
                        </m:r>
                      </m:num>
                      <m:den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4−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150</m:t>
                        </m:r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142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r>
                  <a:rPr lang="en-US" altLang="ja-JP" sz="2400" dirty="0"/>
                  <a:t> </a:t>
                </a:r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ja-JP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8</m:t>
                        </m:r>
                        <m:r>
                          <a:rPr lang="en-US" altLang="ja-JP" sz="2400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en-US" altLang="ja-JP" sz="2400" i="1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ja-JP" altLang="en-US" sz="2400" i="1">
                            <a:latin typeface="Cambria Math" panose="02040503050406030204" pitchFamily="18" charset="0"/>
                          </a:rPr>
                          <m:t>秒</m:t>
                        </m:r>
                      </m:den>
                    </m:f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altLang="ja-JP" sz="2400" b="0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ja-JP" altLang="en-US" sz="2400" i="1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秒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3268459" cy="2639056"/>
              </a:xfrm>
              <a:prstGeom prst="rect">
                <a:avLst/>
              </a:prstGeom>
              <a:blipFill>
                <a:blip r:embed="rId3"/>
                <a:stretch>
                  <a:fillRect l="-2793" t="-1848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A58F34D-03DD-4858-BA16-A01F0DAA6C2C}"/>
                  </a:ext>
                </a:extLst>
              </p:cNvPr>
              <p:cNvSpPr txBox="1"/>
              <p:nvPr/>
            </p:nvSpPr>
            <p:spPr>
              <a:xfrm>
                <a:off x="567542" y="5293546"/>
                <a:ext cx="7006790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/>
                  <a:t>時間間隔を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ja-JP" altLang="en-US" sz="2400" dirty="0"/>
                  <a:t>で表現する場合もあります。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9A58F34D-03DD-4858-BA16-A01F0DAA6C2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7542" y="5293546"/>
                <a:ext cx="7006790" cy="461665"/>
              </a:xfrm>
              <a:prstGeom prst="rect">
                <a:avLst/>
              </a:prstGeom>
              <a:blipFill>
                <a:blip r:embed="rId4"/>
                <a:stretch>
                  <a:fillRect l="-1304" t="-10526" r="-348" b="-2894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0048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A13BF46-B8C5-48AA-8308-C9ECFF431A18}"/>
              </a:ext>
            </a:extLst>
          </p:cNvPr>
          <p:cNvSpPr txBox="1"/>
          <p:nvPr/>
        </p:nvSpPr>
        <p:spPr>
          <a:xfrm>
            <a:off x="567542" y="491954"/>
            <a:ext cx="399500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3200" b="1" u="sng" dirty="0"/>
              <a:t>関数と平均速度 練習</a:t>
            </a:r>
            <a:endParaRPr kumimoji="1" lang="en-US" altLang="ja-JP" sz="3200" b="1" u="sng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5830AD6-028B-4C4E-80BF-B70DFC1C3A46}"/>
              </a:ext>
            </a:extLst>
          </p:cNvPr>
          <p:cNvSpPr txBox="1"/>
          <p:nvPr/>
        </p:nvSpPr>
        <p:spPr>
          <a:xfrm>
            <a:off x="567542" y="1216429"/>
            <a:ext cx="911018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ボールを真上に投げた時の時間と位置の関係が以下の表の場合、</a:t>
            </a:r>
            <a:endParaRPr lang="en-US" altLang="ja-JP" sz="2400" dirty="0"/>
          </a:p>
          <a:p>
            <a:r>
              <a:rPr lang="ja-JP" altLang="en-US" sz="2400" dirty="0"/>
              <a:t>以下の時間間隔のときの平均速度を求めなさい</a:t>
            </a:r>
            <a:endParaRPr lang="en-US" altLang="ja-JP" sz="2400" dirty="0"/>
          </a:p>
        </p:txBody>
      </p:sp>
      <p:graphicFrame>
        <p:nvGraphicFramePr>
          <p:cNvPr id="3" name="表 11">
            <a:extLst>
              <a:ext uri="{FF2B5EF4-FFF2-40B4-BE49-F238E27FC236}">
                <a16:creationId xmlns:a16="http://schemas.microsoft.com/office/drawing/2014/main" id="{8360C578-82F5-4A53-9083-ABD2B3A2BD4E}"/>
              </a:ext>
            </a:extLst>
          </p:cNvPr>
          <p:cNvGraphicFramePr>
            <a:graphicFrameLocks noGrp="1"/>
          </p:cNvGraphicFramePr>
          <p:nvPr/>
        </p:nvGraphicFramePr>
        <p:xfrm>
          <a:off x="567543" y="2187126"/>
          <a:ext cx="3953658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2889">
                  <a:extLst>
                    <a:ext uri="{9D8B030D-6E8A-4147-A177-3AD203B41FA5}">
                      <a16:colId xmlns:a16="http://schemas.microsoft.com/office/drawing/2014/main" val="4071159055"/>
                    </a:ext>
                  </a:extLst>
                </a:gridCol>
                <a:gridCol w="2350769">
                  <a:extLst>
                    <a:ext uri="{9D8B030D-6E8A-4147-A177-3AD203B41FA5}">
                      <a16:colId xmlns:a16="http://schemas.microsoft.com/office/drawing/2014/main" val="387268293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時間（秒）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 dirty="0"/>
                        <a:t>位置（</a:t>
                      </a:r>
                      <a:r>
                        <a:rPr kumimoji="1" lang="en-US" altLang="ja-JP" dirty="0"/>
                        <a:t>m</a:t>
                      </a:r>
                      <a:r>
                        <a:rPr kumimoji="1" lang="ja-JP" altLang="en-US" dirty="0"/>
                        <a:t>）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2280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0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41160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90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584034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2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142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34375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162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007321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4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150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9328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5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106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19855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6</a:t>
                      </a:r>
                      <a:endParaRPr kumimoji="1" lang="ja-JP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 dirty="0"/>
                        <a:t>30</a:t>
                      </a:r>
                      <a:endParaRPr kumimoji="1" lang="ja-JP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3518890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/>
              <p:nvPr/>
            </p:nvSpPr>
            <p:spPr>
              <a:xfrm>
                <a:off x="4818753" y="2187126"/>
                <a:ext cx="1938288" cy="170033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①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endParaRPr lang="en-US" altLang="ja-JP" sz="2400" b="0" dirty="0"/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②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en-US" altLang="ja-JP" sz="2400" dirty="0">
                  <a:solidFill>
                    <a:srgbClr val="FF0000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ja-JP" altLang="en-US" sz="2400" dirty="0"/>
                  <a:t>③</a:t>
                </a:r>
                <a:r>
                  <a:rPr lang="ja-JP" altLang="en-US" sz="2400" dirty="0">
                    <a:solidFill>
                      <a:srgbClr val="FF0000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0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ja-JP" altLang="en-US" sz="2400" i="1">
                        <a:latin typeface="Cambria Math" panose="02040503050406030204" pitchFamily="18" charset="0"/>
                      </a:rPr>
                      <m:t>≦</m:t>
                    </m:r>
                    <m:r>
                      <a:rPr lang="en-US" altLang="ja-JP" sz="2400" b="0" i="1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altLang="ja-JP" sz="2400" dirty="0">
                    <a:solidFill>
                      <a:srgbClr val="FF0000"/>
                    </a:solidFill>
                  </a:rPr>
                  <a:t> </a:t>
                </a:r>
                <a:endParaRPr lang="en-US" altLang="ja-JP" sz="2400" dirty="0"/>
              </a:p>
            </p:txBody>
          </p:sp>
        </mc:Choice>
        <mc:Fallback xmlns=""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E8A3400E-4F04-4D43-BD7E-FB2C62248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18753" y="2187126"/>
                <a:ext cx="1938288" cy="1700337"/>
              </a:xfrm>
              <a:prstGeom prst="rect">
                <a:avLst/>
              </a:prstGeom>
              <a:blipFill>
                <a:blip r:embed="rId2"/>
                <a:stretch>
                  <a:fillRect l="-4717" b="-7527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001050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590</TotalTime>
  <Words>711</Words>
  <Application>Microsoft Office PowerPoint</Application>
  <PresentationFormat>ワイド画面</PresentationFormat>
  <Paragraphs>195</Paragraphs>
  <Slides>10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10</vt:i4>
      </vt:variant>
    </vt:vector>
  </HeadingPairs>
  <TitlesOfParts>
    <vt:vector size="15" baseType="lpstr">
      <vt:lpstr>游ゴシック</vt:lpstr>
      <vt:lpstr>游ゴシック Light</vt:lpstr>
      <vt:lpstr>Arial</vt:lpstr>
      <vt:lpstr>Cambria Math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北九州校　ゲーム</dc:creator>
  <cp:lastModifiedBy>荒木 優介</cp:lastModifiedBy>
  <cp:revision>73</cp:revision>
  <dcterms:created xsi:type="dcterms:W3CDTF">2024-08-27T02:15:54Z</dcterms:created>
  <dcterms:modified xsi:type="dcterms:W3CDTF">2025-04-09T07:42:22Z</dcterms:modified>
</cp:coreProperties>
</file>