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2" r:id="rId6"/>
    <p:sldId id="264" r:id="rId7"/>
    <p:sldId id="260" r:id="rId8"/>
    <p:sldId id="261" r:id="rId9"/>
    <p:sldId id="266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ボールを真上に思いっきり投げた時の、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投げてからの時間</a:t>
            </a:r>
            <a:r>
              <a:rPr lang="ja-JP" altLang="en-US" sz="2400" dirty="0"/>
              <a:t>と、</a:t>
            </a:r>
            <a:r>
              <a:rPr lang="ja-JP" altLang="en-US" sz="2400" b="1" dirty="0">
                <a:solidFill>
                  <a:srgbClr val="FF0000"/>
                </a:solidFill>
              </a:rPr>
              <a:t>ボールの位置</a:t>
            </a:r>
            <a:r>
              <a:rPr lang="ja-JP" altLang="en-US" sz="2400" dirty="0"/>
              <a:t>について詳しく見ていきます。</a:t>
            </a:r>
            <a:endParaRPr lang="en-US" altLang="ja-JP" sz="2400" dirty="0"/>
          </a:p>
          <a:p>
            <a:r>
              <a:rPr lang="ja-JP" altLang="en-US" sz="2400" dirty="0"/>
              <a:t>真上に投げたボールはまず上昇します。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いずれボールは重力によって落下します。</a:t>
            </a:r>
            <a:endParaRPr lang="en-US" altLang="ja-JP" sz="2400" dirty="0"/>
          </a:p>
          <a:p>
            <a:r>
              <a:rPr lang="ja-JP" altLang="en-US" sz="2400" dirty="0"/>
              <a:t>この時のボールの高さと経過時間を表にまとめてみます。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92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以下の表のように時間に対して位置が移動します。</a:t>
            </a:r>
            <a:endParaRPr lang="en-US" altLang="ja-JP" sz="2400" dirty="0"/>
          </a:p>
          <a:p>
            <a:r>
              <a:rPr lang="ja-JP" altLang="en-US" sz="2400" dirty="0"/>
              <a:t>表にまとめることによって、</a:t>
            </a:r>
            <a:r>
              <a:rPr lang="ja-JP" altLang="en-US" sz="2400" b="1" dirty="0">
                <a:solidFill>
                  <a:srgbClr val="FF0000"/>
                </a:solidFill>
              </a:rPr>
              <a:t>時間が分かれば位置が分かる</a:t>
            </a:r>
            <a:r>
              <a:rPr lang="ja-JP" altLang="en-US" sz="2400" dirty="0"/>
              <a:t>ようになります。</a:t>
            </a:r>
            <a:endParaRPr lang="en-US" altLang="ja-JP" sz="2400" dirty="0"/>
          </a:p>
        </p:txBody>
      </p:sp>
      <p:graphicFrame>
        <p:nvGraphicFramePr>
          <p:cNvPr id="3" name="表 11">
            <a:extLst>
              <a:ext uri="{FF2B5EF4-FFF2-40B4-BE49-F238E27FC236}">
                <a16:creationId xmlns:a16="http://schemas.microsoft.com/office/drawing/2014/main" id="{8360C578-82F5-4A53-9083-ABD2B3A2B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39371"/>
              </p:ext>
            </p:extLst>
          </p:nvPr>
        </p:nvGraphicFramePr>
        <p:xfrm>
          <a:off x="567543" y="2187126"/>
          <a:ext cx="395365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89">
                  <a:extLst>
                    <a:ext uri="{9D8B030D-6E8A-4147-A177-3AD203B41FA5}">
                      <a16:colId xmlns:a16="http://schemas.microsoft.com/office/drawing/2014/main" val="4071159055"/>
                    </a:ext>
                  </a:extLst>
                </a:gridCol>
                <a:gridCol w="2350769">
                  <a:extLst>
                    <a:ext uri="{9D8B030D-6E8A-4147-A177-3AD203B41FA5}">
                      <a16:colId xmlns:a16="http://schemas.microsoft.com/office/drawing/2014/main" val="387268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2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0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3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2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518890"/>
                  </a:ext>
                </a:extLst>
              </a:tr>
            </a:tbl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7E241F3-EA0F-4CFF-840F-18DD6C44EFF5}"/>
              </a:ext>
            </a:extLst>
          </p:cNvPr>
          <p:cNvSpPr txBox="1"/>
          <p:nvPr/>
        </p:nvSpPr>
        <p:spPr>
          <a:xfrm>
            <a:off x="4817809" y="306270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70C0"/>
                </a:solidFill>
              </a:rPr>
              <a:t>上昇</a:t>
            </a:r>
            <a:endParaRPr lang="en-US" altLang="ja-JP" sz="2400" b="1" dirty="0">
              <a:solidFill>
                <a:srgbClr val="0070C0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B4376E57-14E0-40A1-A512-D04F6D34BA94}"/>
              </a:ext>
            </a:extLst>
          </p:cNvPr>
          <p:cNvCxnSpPr>
            <a:cxnSpLocks/>
          </p:cNvCxnSpPr>
          <p:nvPr/>
        </p:nvCxnSpPr>
        <p:spPr>
          <a:xfrm>
            <a:off x="4741333" y="2582333"/>
            <a:ext cx="0" cy="14224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7148FBD1-A522-4768-B70E-27AFF9AAF09A}"/>
              </a:ext>
            </a:extLst>
          </p:cNvPr>
          <p:cNvCxnSpPr>
            <a:cxnSpLocks/>
          </p:cNvCxnSpPr>
          <p:nvPr/>
        </p:nvCxnSpPr>
        <p:spPr>
          <a:xfrm>
            <a:off x="4741333" y="4004733"/>
            <a:ext cx="0" cy="1149113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ABAE8F-3E61-4E7D-B399-CDDA0BA8128C}"/>
              </a:ext>
            </a:extLst>
          </p:cNvPr>
          <p:cNvSpPr txBox="1"/>
          <p:nvPr/>
        </p:nvSpPr>
        <p:spPr>
          <a:xfrm>
            <a:off x="4817808" y="434891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落下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047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プログラミングのように数学にも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ja-JP" altLang="en-US" sz="2400" dirty="0"/>
              <a:t>関数は</a:t>
            </a:r>
            <a:r>
              <a:rPr lang="ja-JP" altLang="en-US" sz="2400" b="1" dirty="0">
                <a:solidFill>
                  <a:srgbClr val="FF0000"/>
                </a:solidFill>
              </a:rPr>
              <a:t>ある値を渡すと、対応する別の数を導くもの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  <p:graphicFrame>
        <p:nvGraphicFramePr>
          <p:cNvPr id="3" name="表 11">
            <a:extLst>
              <a:ext uri="{FF2B5EF4-FFF2-40B4-BE49-F238E27FC236}">
                <a16:creationId xmlns:a16="http://schemas.microsoft.com/office/drawing/2014/main" id="{8360C578-82F5-4A53-9083-ABD2B3A2BD4E}"/>
              </a:ext>
            </a:extLst>
          </p:cNvPr>
          <p:cNvGraphicFramePr>
            <a:graphicFrameLocks noGrp="1"/>
          </p:cNvGraphicFramePr>
          <p:nvPr/>
        </p:nvGraphicFramePr>
        <p:xfrm>
          <a:off x="567543" y="2187126"/>
          <a:ext cx="395365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89">
                  <a:extLst>
                    <a:ext uri="{9D8B030D-6E8A-4147-A177-3AD203B41FA5}">
                      <a16:colId xmlns:a16="http://schemas.microsoft.com/office/drawing/2014/main" val="4071159055"/>
                    </a:ext>
                  </a:extLst>
                </a:gridCol>
                <a:gridCol w="2350769">
                  <a:extLst>
                    <a:ext uri="{9D8B030D-6E8A-4147-A177-3AD203B41FA5}">
                      <a16:colId xmlns:a16="http://schemas.microsoft.com/office/drawing/2014/main" val="387268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2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0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3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2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5188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84D782F-AEB5-4E7F-96D1-F14ADF53925D}"/>
                  </a:ext>
                </a:extLst>
              </p:cNvPr>
              <p:cNvSpPr txBox="1"/>
              <p:nvPr/>
            </p:nvSpPr>
            <p:spPr>
              <a:xfrm>
                <a:off x="4783942" y="2516479"/>
                <a:ext cx="5346335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今回の場合だと、</a:t>
                </a:r>
                <a:endParaRPr lang="en-US" altLang="ja-JP" sz="2400" dirty="0"/>
              </a:p>
              <a:p>
                <a:r>
                  <a:rPr lang="ja-JP" altLang="en-US" sz="2400" b="0" dirty="0">
                    <a:solidFill>
                      <a:srgbClr val="FF0000"/>
                    </a:solidFill>
                  </a:rPr>
                  <a:t>・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=142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ja-JP" altLang="en-US" sz="2400" b="0" dirty="0">
                    <a:solidFill>
                      <a:srgbClr val="FF0000"/>
                    </a:solidFill>
                  </a:rPr>
                  <a:t>・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=106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ja-JP" altLang="en-US" sz="2400" b="0" dirty="0">
                    <a:solidFill>
                      <a:srgbClr val="FF0000"/>
                    </a:solidFill>
                  </a:rPr>
                  <a:t>・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このように、</a:t>
                </a:r>
                <a:r>
                  <a:rPr lang="en-US" altLang="ja-JP" sz="2400" dirty="0"/>
                  <a:t>()</a:t>
                </a:r>
                <a:r>
                  <a:rPr lang="ja-JP" altLang="en-US" sz="2400" dirty="0"/>
                  <a:t>カッコ内の引数から、</a:t>
                </a:r>
                <a:endParaRPr lang="en-US" altLang="ja-JP" sz="2400" dirty="0"/>
              </a:p>
              <a:p>
                <a:r>
                  <a:rPr lang="ja-JP" altLang="en-US" sz="2400" dirty="0"/>
                  <a:t>別の数を導くことができます。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84D782F-AEB5-4E7F-96D1-F14ADF539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942" y="2516479"/>
                <a:ext cx="5346335" cy="2677656"/>
              </a:xfrm>
              <a:prstGeom prst="rect">
                <a:avLst/>
              </a:prstGeom>
              <a:blipFill>
                <a:blip r:embed="rId2"/>
                <a:stretch>
                  <a:fillRect l="-1824" t="-1822" r="-684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63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ボールを真上に投げた際の時間と位置の関係が以下の表の場合、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ja-JP" altLang="en-US" sz="2400" dirty="0"/>
                  <a:t>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830997"/>
              </a:xfrm>
              <a:prstGeom prst="rect">
                <a:avLst/>
              </a:prstGeom>
              <a:blipFill>
                <a:blip r:embed="rId2"/>
                <a:stretch>
                  <a:fillRect l="-1003" t="-5882" r="-67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 11">
            <a:extLst>
              <a:ext uri="{FF2B5EF4-FFF2-40B4-BE49-F238E27FC236}">
                <a16:creationId xmlns:a16="http://schemas.microsoft.com/office/drawing/2014/main" id="{8360C578-82F5-4A53-9083-ABD2B3A2BD4E}"/>
              </a:ext>
            </a:extLst>
          </p:cNvPr>
          <p:cNvGraphicFramePr>
            <a:graphicFrameLocks noGrp="1"/>
          </p:cNvGraphicFramePr>
          <p:nvPr/>
        </p:nvGraphicFramePr>
        <p:xfrm>
          <a:off x="567543" y="2187126"/>
          <a:ext cx="395365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89">
                  <a:extLst>
                    <a:ext uri="{9D8B030D-6E8A-4147-A177-3AD203B41FA5}">
                      <a16:colId xmlns:a16="http://schemas.microsoft.com/office/drawing/2014/main" val="4071159055"/>
                    </a:ext>
                  </a:extLst>
                </a:gridCol>
                <a:gridCol w="2350769">
                  <a:extLst>
                    <a:ext uri="{9D8B030D-6E8A-4147-A177-3AD203B41FA5}">
                      <a16:colId xmlns:a16="http://schemas.microsoft.com/office/drawing/2014/main" val="387268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2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0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3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2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5188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5D57068-D1EE-44EB-8005-D702A79F1C41}"/>
                  </a:ext>
                </a:extLst>
              </p:cNvPr>
              <p:cNvSpPr txBox="1"/>
              <p:nvPr/>
            </p:nvSpPr>
            <p:spPr>
              <a:xfrm>
                <a:off x="4843209" y="2187126"/>
                <a:ext cx="558037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表より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に対応する位置は</a:t>
                </a:r>
                <a:r>
                  <a:rPr lang="en-US" altLang="ja-JP" sz="2400" dirty="0"/>
                  <a:t>90m</a:t>
                </a:r>
                <a:r>
                  <a:rPr lang="ja-JP" altLang="en-US" sz="2400" dirty="0"/>
                  <a:t>なので、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5D57068-D1EE-44EB-8005-D702A79F1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09" y="2187126"/>
                <a:ext cx="5580374" cy="1200329"/>
              </a:xfrm>
              <a:prstGeom prst="rect">
                <a:avLst/>
              </a:prstGeom>
              <a:blipFill>
                <a:blip r:embed="rId3"/>
                <a:stretch>
                  <a:fillRect l="-1638" t="-4061" r="-764" b="-10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A100B4B-33E4-48C0-A3E2-264E99106EA1}"/>
              </a:ext>
            </a:extLst>
          </p:cNvPr>
          <p:cNvSpPr txBox="1"/>
          <p:nvPr/>
        </p:nvSpPr>
        <p:spPr>
          <a:xfrm>
            <a:off x="567542" y="5293546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まずは関数について慣れておきましょう。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9452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ボールを真上に投げた際の時間と位置の関係が以下の表の場合、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以下の問いに答えなさい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830997"/>
              </a:xfrm>
              <a:prstGeom prst="rect">
                <a:avLst/>
              </a:prstGeom>
              <a:blipFill>
                <a:blip r:embed="rId2"/>
                <a:stretch>
                  <a:fillRect l="-1003" t="-5882" r="-67" b="-29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 11">
            <a:extLst>
              <a:ext uri="{FF2B5EF4-FFF2-40B4-BE49-F238E27FC236}">
                <a16:creationId xmlns:a16="http://schemas.microsoft.com/office/drawing/2014/main" id="{8360C578-82F5-4A53-9083-ABD2B3A2BD4E}"/>
              </a:ext>
            </a:extLst>
          </p:cNvPr>
          <p:cNvGraphicFramePr>
            <a:graphicFrameLocks noGrp="1"/>
          </p:cNvGraphicFramePr>
          <p:nvPr/>
        </p:nvGraphicFramePr>
        <p:xfrm>
          <a:off x="567543" y="2187126"/>
          <a:ext cx="395365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89">
                  <a:extLst>
                    <a:ext uri="{9D8B030D-6E8A-4147-A177-3AD203B41FA5}">
                      <a16:colId xmlns:a16="http://schemas.microsoft.com/office/drawing/2014/main" val="4071159055"/>
                    </a:ext>
                  </a:extLst>
                </a:gridCol>
                <a:gridCol w="2350769">
                  <a:extLst>
                    <a:ext uri="{9D8B030D-6E8A-4147-A177-3AD203B41FA5}">
                      <a16:colId xmlns:a16="http://schemas.microsoft.com/office/drawing/2014/main" val="387268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2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0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3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2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5188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5D57068-D1EE-44EB-8005-D702A79F1C41}"/>
                  </a:ext>
                </a:extLst>
              </p:cNvPr>
              <p:cNvSpPr txBox="1"/>
              <p:nvPr/>
            </p:nvSpPr>
            <p:spPr>
              <a:xfrm>
                <a:off x="4843209" y="2187126"/>
                <a:ext cx="1164101" cy="17003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ja-JP" altLang="en-US" sz="2400" b="0" dirty="0"/>
                  <a:t>①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b="0" dirty="0"/>
                  <a:t>②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b="0" dirty="0"/>
                  <a:t>③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5D57068-D1EE-44EB-8005-D702A79F1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09" y="2187126"/>
                <a:ext cx="1164101" cy="1700337"/>
              </a:xfrm>
              <a:prstGeom prst="rect">
                <a:avLst/>
              </a:prstGeom>
              <a:blipFill>
                <a:blip r:embed="rId3"/>
                <a:stretch>
                  <a:fillRect l="-7853" b="-75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34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DE69EC3-C60A-4D4A-9D5F-663317AC1225}"/>
              </a:ext>
            </a:extLst>
          </p:cNvPr>
          <p:cNvSpPr/>
          <p:nvPr/>
        </p:nvSpPr>
        <p:spPr>
          <a:xfrm>
            <a:off x="4998720" y="3596640"/>
            <a:ext cx="4258491" cy="24384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それではこのボールの平均速度について考えていきましょう。</a:t>
            </a:r>
            <a:endParaRPr lang="ja-JP" altLang="en-US" sz="2400" dirty="0"/>
          </a:p>
        </p:txBody>
      </p:sp>
      <p:graphicFrame>
        <p:nvGraphicFramePr>
          <p:cNvPr id="3" name="表 11">
            <a:extLst>
              <a:ext uri="{FF2B5EF4-FFF2-40B4-BE49-F238E27FC236}">
                <a16:creationId xmlns:a16="http://schemas.microsoft.com/office/drawing/2014/main" id="{8360C578-82F5-4A53-9083-ABD2B3A2B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617549"/>
              </p:ext>
            </p:extLst>
          </p:nvPr>
        </p:nvGraphicFramePr>
        <p:xfrm>
          <a:off x="567542" y="2373284"/>
          <a:ext cx="395365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89">
                  <a:extLst>
                    <a:ext uri="{9D8B030D-6E8A-4147-A177-3AD203B41FA5}">
                      <a16:colId xmlns:a16="http://schemas.microsoft.com/office/drawing/2014/main" val="4071159055"/>
                    </a:ext>
                  </a:extLst>
                </a:gridCol>
                <a:gridCol w="2350769">
                  <a:extLst>
                    <a:ext uri="{9D8B030D-6E8A-4147-A177-3AD203B41FA5}">
                      <a16:colId xmlns:a16="http://schemas.microsoft.com/office/drawing/2014/main" val="387268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2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0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3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2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5188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3574C3C-4DB1-4ADA-A9A8-E7F84509586C}"/>
                  </a:ext>
                </a:extLst>
              </p:cNvPr>
              <p:cNvSpPr txBox="1"/>
              <p:nvPr/>
            </p:nvSpPr>
            <p:spPr>
              <a:xfrm>
                <a:off x="5270145" y="2373284"/>
                <a:ext cx="4801314" cy="3924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rgbClr val="FF0000"/>
                    </a:solidFill>
                  </a:rPr>
                  <a:t>平均速度は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変位</m:t>
                        </m:r>
                      </m:num>
                      <m:den>
                        <m:r>
                          <a:rPr lang="ja-JP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</m:oMath>
                </a14:m>
                <a:r>
                  <a:rPr lang="ja-JP" altLang="en-US" sz="2400" dirty="0"/>
                  <a:t>で求められるので</a:t>
                </a:r>
                <a:endParaRPr lang="en-US" altLang="ja-JP" sz="2400" dirty="0"/>
              </a:p>
              <a:p>
                <a:r>
                  <a:rPr lang="ja-JP" altLang="en-US" sz="2400" dirty="0"/>
                  <a:t>以下の公式が成り立ちます。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■関数を使った平均速度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ja-JP" altLang="en-US" sz="2400" dirty="0"/>
                  <a:t> 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・・・</m:t>
                    </m:r>
                  </m:oMath>
                </a14:m>
                <a:r>
                  <a:rPr lang="ja-JP" altLang="en-US" sz="2400" dirty="0"/>
                  <a:t>平均速度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・・・</m:t>
                    </m:r>
                  </m:oMath>
                </a14:m>
                <a:r>
                  <a:rPr lang="ja-JP" altLang="en-US" sz="2400" dirty="0"/>
                  <a:t>経過後の時間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・・・</m:t>
                    </m:r>
                  </m:oMath>
                </a14:m>
                <a:r>
                  <a:rPr lang="ja-JP" altLang="en-US" sz="2400" dirty="0"/>
                  <a:t>経過前の時間</a:t>
                </a:r>
                <a:endParaRPr lang="en-US" altLang="ja-JP" sz="2400" dirty="0"/>
              </a:p>
              <a:p>
                <a:endParaRPr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3574C3C-4DB1-4ADA-A9A8-E7F845095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145" y="2373284"/>
                <a:ext cx="4801314" cy="3924921"/>
              </a:xfrm>
              <a:prstGeom prst="rect">
                <a:avLst/>
              </a:prstGeom>
              <a:blipFill>
                <a:blip r:embed="rId2"/>
                <a:stretch>
                  <a:fillRect l="-2033" r="-10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756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 例題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ボールを真上に投げた時の時間と位置の関係が以下の表の場合、</a:t>
            </a:r>
            <a:endParaRPr lang="en-US" altLang="ja-JP" sz="2400" dirty="0"/>
          </a:p>
          <a:p>
            <a:r>
              <a:rPr lang="ja-JP" altLang="en-US" sz="2400" dirty="0"/>
              <a:t>ボールを投げてから４秒後までの平均速度を求めなさい。</a:t>
            </a:r>
            <a:endParaRPr lang="en-US" altLang="ja-JP" sz="2400" dirty="0"/>
          </a:p>
        </p:txBody>
      </p:sp>
      <p:graphicFrame>
        <p:nvGraphicFramePr>
          <p:cNvPr id="3" name="表 11">
            <a:extLst>
              <a:ext uri="{FF2B5EF4-FFF2-40B4-BE49-F238E27FC236}">
                <a16:creationId xmlns:a16="http://schemas.microsoft.com/office/drawing/2014/main" id="{8360C578-82F5-4A53-9083-ABD2B3A2BD4E}"/>
              </a:ext>
            </a:extLst>
          </p:cNvPr>
          <p:cNvGraphicFramePr>
            <a:graphicFrameLocks noGrp="1"/>
          </p:cNvGraphicFramePr>
          <p:nvPr/>
        </p:nvGraphicFramePr>
        <p:xfrm>
          <a:off x="567543" y="2187126"/>
          <a:ext cx="395365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89">
                  <a:extLst>
                    <a:ext uri="{9D8B030D-6E8A-4147-A177-3AD203B41FA5}">
                      <a16:colId xmlns:a16="http://schemas.microsoft.com/office/drawing/2014/main" val="4071159055"/>
                    </a:ext>
                  </a:extLst>
                </a:gridCol>
                <a:gridCol w="2350769">
                  <a:extLst>
                    <a:ext uri="{9D8B030D-6E8A-4147-A177-3AD203B41FA5}">
                      <a16:colId xmlns:a16="http://schemas.microsoft.com/office/drawing/2014/main" val="387268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2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0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3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2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5188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3400E-4F04-4D43-BD7E-FB2C622482E5}"/>
                  </a:ext>
                </a:extLst>
              </p:cNvPr>
              <p:cNvSpPr txBox="1"/>
              <p:nvPr/>
            </p:nvSpPr>
            <p:spPr>
              <a:xfrm>
                <a:off x="4818753" y="2187126"/>
                <a:ext cx="3008772" cy="26390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ja-JP" altLang="en-US" sz="2400" dirty="0"/>
                  <a:t> より、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4−0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150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3400E-4F04-4D43-BD7E-FB2C62248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753" y="2187126"/>
                <a:ext cx="3008772" cy="2639056"/>
              </a:xfrm>
              <a:prstGeom prst="rect">
                <a:avLst/>
              </a:prstGeom>
              <a:blipFill>
                <a:blip r:embed="rId2"/>
                <a:stretch>
                  <a:fillRect l="-3036" t="-18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58F34D-03DD-4858-BA16-A01F0DAA6C2C}"/>
              </a:ext>
            </a:extLst>
          </p:cNvPr>
          <p:cNvSpPr txBox="1"/>
          <p:nvPr/>
        </p:nvSpPr>
        <p:spPr>
          <a:xfrm>
            <a:off x="567542" y="5293546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このように時間と位置の関係から平均速度を求められます。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8968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84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ボールを真上に投げた時の時間と位置の関係が以下の表の場合、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ja-JP" altLang="en-US" sz="2400" dirty="0"/>
                  <a:t>の時の平均速度を求めなさい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840936"/>
              </a:xfrm>
              <a:prstGeom prst="rect">
                <a:avLst/>
              </a:prstGeom>
              <a:blipFill>
                <a:blip r:embed="rId2"/>
                <a:stretch>
                  <a:fillRect l="-1003" t="-5839" r="-67" b="-15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 11">
            <a:extLst>
              <a:ext uri="{FF2B5EF4-FFF2-40B4-BE49-F238E27FC236}">
                <a16:creationId xmlns:a16="http://schemas.microsoft.com/office/drawing/2014/main" id="{8360C578-82F5-4A53-9083-ABD2B3A2BD4E}"/>
              </a:ext>
            </a:extLst>
          </p:cNvPr>
          <p:cNvGraphicFramePr>
            <a:graphicFrameLocks noGrp="1"/>
          </p:cNvGraphicFramePr>
          <p:nvPr/>
        </p:nvGraphicFramePr>
        <p:xfrm>
          <a:off x="567543" y="2187126"/>
          <a:ext cx="395365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89">
                  <a:extLst>
                    <a:ext uri="{9D8B030D-6E8A-4147-A177-3AD203B41FA5}">
                      <a16:colId xmlns:a16="http://schemas.microsoft.com/office/drawing/2014/main" val="4071159055"/>
                    </a:ext>
                  </a:extLst>
                </a:gridCol>
                <a:gridCol w="2350769">
                  <a:extLst>
                    <a:ext uri="{9D8B030D-6E8A-4147-A177-3AD203B41FA5}">
                      <a16:colId xmlns:a16="http://schemas.microsoft.com/office/drawing/2014/main" val="387268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2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0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3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2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51889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3400E-4F04-4D43-BD7E-FB2C622482E5}"/>
                  </a:ext>
                </a:extLst>
              </p:cNvPr>
              <p:cNvSpPr txBox="1"/>
              <p:nvPr/>
            </p:nvSpPr>
            <p:spPr>
              <a:xfrm>
                <a:off x="4818753" y="2187126"/>
                <a:ext cx="3268459" cy="26390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ja-JP" altLang="en-US" sz="2400" dirty="0"/>
                  <a:t> より、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150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142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3400E-4F04-4D43-BD7E-FB2C62248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753" y="2187126"/>
                <a:ext cx="3268459" cy="2639056"/>
              </a:xfrm>
              <a:prstGeom prst="rect">
                <a:avLst/>
              </a:prstGeom>
              <a:blipFill>
                <a:blip r:embed="rId3"/>
                <a:stretch>
                  <a:fillRect l="-2793" t="-18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A58F34D-03DD-4858-BA16-A01F0DAA6C2C}"/>
                  </a:ext>
                </a:extLst>
              </p:cNvPr>
              <p:cNvSpPr txBox="1"/>
              <p:nvPr/>
            </p:nvSpPr>
            <p:spPr>
              <a:xfrm>
                <a:off x="567542" y="5293546"/>
                <a:ext cx="7006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時間間隔を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sz="2400" dirty="0"/>
                  <a:t>で表現する場合もあります。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A58F34D-03DD-4858-BA16-A01F0DAA6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5293546"/>
                <a:ext cx="7006790" cy="461665"/>
              </a:xfrm>
              <a:prstGeom prst="rect">
                <a:avLst/>
              </a:prstGeom>
              <a:blipFill>
                <a:blip r:embed="rId4"/>
                <a:stretch>
                  <a:fillRect l="-1304" t="-10526" r="-348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4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関数と平均速度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ボールを真上に投げた時の時間と位置の関係が以下の表の場合、</a:t>
            </a:r>
            <a:endParaRPr lang="en-US" altLang="ja-JP" sz="2400" dirty="0"/>
          </a:p>
          <a:p>
            <a:r>
              <a:rPr lang="ja-JP" altLang="en-US" sz="2400" dirty="0"/>
              <a:t>以下の時間間隔のときの平均速度を求めなさい</a:t>
            </a:r>
            <a:endParaRPr lang="en-US" altLang="ja-JP" sz="2400" dirty="0"/>
          </a:p>
        </p:txBody>
      </p:sp>
      <p:graphicFrame>
        <p:nvGraphicFramePr>
          <p:cNvPr id="3" name="表 11">
            <a:extLst>
              <a:ext uri="{FF2B5EF4-FFF2-40B4-BE49-F238E27FC236}">
                <a16:creationId xmlns:a16="http://schemas.microsoft.com/office/drawing/2014/main" id="{8360C578-82F5-4A53-9083-ABD2B3A2BD4E}"/>
              </a:ext>
            </a:extLst>
          </p:cNvPr>
          <p:cNvGraphicFramePr>
            <a:graphicFrameLocks noGrp="1"/>
          </p:cNvGraphicFramePr>
          <p:nvPr/>
        </p:nvGraphicFramePr>
        <p:xfrm>
          <a:off x="567543" y="2187126"/>
          <a:ext cx="395365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89">
                  <a:extLst>
                    <a:ext uri="{9D8B030D-6E8A-4147-A177-3AD203B41FA5}">
                      <a16:colId xmlns:a16="http://schemas.microsoft.com/office/drawing/2014/main" val="4071159055"/>
                    </a:ext>
                  </a:extLst>
                </a:gridCol>
                <a:gridCol w="2350769">
                  <a:extLst>
                    <a:ext uri="{9D8B030D-6E8A-4147-A177-3AD203B41FA5}">
                      <a16:colId xmlns:a16="http://schemas.microsoft.com/office/drawing/2014/main" val="3872682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2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0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43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162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3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2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5188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3400E-4F04-4D43-BD7E-FB2C622482E5}"/>
                  </a:ext>
                </a:extLst>
              </p:cNvPr>
              <p:cNvSpPr txBox="1"/>
              <p:nvPr/>
            </p:nvSpPr>
            <p:spPr>
              <a:xfrm>
                <a:off x="4818753" y="2187126"/>
                <a:ext cx="1938288" cy="17003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①</a:t>
                </a:r>
                <a:r>
                  <a:rPr lang="ja-JP" altLang="en-US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ja-JP" sz="2400" b="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②</a:t>
                </a:r>
                <a:r>
                  <a:rPr lang="ja-JP" altLang="en-US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altLang="ja-JP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③</a:t>
                </a:r>
                <a:r>
                  <a:rPr lang="ja-JP" altLang="en-US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3400E-4F04-4D43-BD7E-FB2C62248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753" y="2187126"/>
                <a:ext cx="1938288" cy="1700337"/>
              </a:xfrm>
              <a:prstGeom prst="rect">
                <a:avLst/>
              </a:prstGeom>
              <a:blipFill>
                <a:blip r:embed="rId2"/>
                <a:stretch>
                  <a:fillRect l="-4717" b="-75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10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702</Words>
  <Application>Microsoft Office PowerPoint</Application>
  <PresentationFormat>ワイド画面</PresentationFormat>
  <Paragraphs>195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72</cp:revision>
  <dcterms:created xsi:type="dcterms:W3CDTF">2024-08-27T02:15:54Z</dcterms:created>
  <dcterms:modified xsi:type="dcterms:W3CDTF">2024-12-16T05:04:40Z</dcterms:modified>
</cp:coreProperties>
</file>