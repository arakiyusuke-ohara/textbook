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2025/4/9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加速度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加速度</a:t>
            </a:r>
            <a:r>
              <a:rPr lang="ja-JP" altLang="en-US" sz="2400" dirty="0"/>
              <a:t>とは</a:t>
            </a:r>
            <a:r>
              <a:rPr lang="ja-JP" altLang="en-US" sz="2400" b="1" dirty="0">
                <a:solidFill>
                  <a:srgbClr val="FF0000"/>
                </a:solidFill>
              </a:rPr>
              <a:t>速度と時間の割合</a:t>
            </a:r>
            <a:r>
              <a:rPr lang="ja-JP" altLang="en-US" sz="2400" dirty="0"/>
              <a:t>となります。</a:t>
            </a:r>
            <a:endParaRPr lang="en-US" altLang="ja-JP" sz="2400" dirty="0"/>
          </a:p>
          <a:p>
            <a:r>
              <a:rPr lang="ja-JP" altLang="en-US" sz="2400" dirty="0"/>
              <a:t>つまり、</a:t>
            </a:r>
            <a:r>
              <a:rPr lang="ja-JP" altLang="en-US" sz="2400" b="1" dirty="0">
                <a:solidFill>
                  <a:srgbClr val="FF0000"/>
                </a:solidFill>
              </a:rPr>
              <a:t>時間がたつにつれてどれだけ速くなったか（遅くなったか）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という値になります。</a:t>
            </a:r>
            <a:endParaRPr lang="en-US" altLang="ja-JP" sz="2400" dirty="0"/>
          </a:p>
          <a:p>
            <a:r>
              <a:rPr lang="ja-JP" altLang="en-US" sz="2400" dirty="0"/>
              <a:t>例としてボールを真上に投げた時の、投げてからの時間とボールの速度を</a:t>
            </a:r>
            <a:endParaRPr lang="en-US" altLang="ja-JP" sz="2400" dirty="0"/>
          </a:p>
          <a:p>
            <a:r>
              <a:rPr lang="ja-JP" altLang="en-US" sz="2400" dirty="0"/>
              <a:t>表にまとめてみます。</a:t>
            </a:r>
            <a:endParaRPr lang="en-US" altLang="ja-JP" sz="2400" dirty="0"/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4E1B26E3-BF5F-4DFC-957A-DFC97185A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4750"/>
              </p:ext>
            </p:extLst>
          </p:nvPr>
        </p:nvGraphicFramePr>
        <p:xfrm>
          <a:off x="567542" y="3429000"/>
          <a:ext cx="346259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459">
                  <a:extLst>
                    <a:ext uri="{9D8B030D-6E8A-4147-A177-3AD203B41FA5}">
                      <a16:colId xmlns:a16="http://schemas.microsoft.com/office/drawing/2014/main" val="3072658122"/>
                    </a:ext>
                  </a:extLst>
                </a:gridCol>
                <a:gridCol w="1744132">
                  <a:extLst>
                    <a:ext uri="{9D8B030D-6E8A-4147-A177-3AD203B41FA5}">
                      <a16:colId xmlns:a16="http://schemas.microsoft.com/office/drawing/2014/main" val="11885078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時間（秒）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速度（</a:t>
                      </a:r>
                      <a:r>
                        <a:rPr kumimoji="1" lang="en-US" altLang="ja-JP" dirty="0"/>
                        <a:t>m/</a:t>
                      </a:r>
                      <a:r>
                        <a:rPr kumimoji="1" lang="ja-JP" altLang="en-US" dirty="0"/>
                        <a:t>秒）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5184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19.6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00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9.8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47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695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-9.8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030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-19.6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128499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C315684B-02C9-484E-A668-0E18B359DC89}"/>
                  </a:ext>
                </a:extLst>
              </p:cNvPr>
              <p:cNvSpPr txBox="1"/>
              <p:nvPr/>
            </p:nvSpPr>
            <p:spPr>
              <a:xfrm>
                <a:off x="4885543" y="3429000"/>
                <a:ext cx="7043916" cy="23411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速度と時間の割合</a:t>
                </a:r>
                <a:r>
                  <a:rPr lang="ja-JP" altLang="en-US" sz="2400" dirty="0"/>
                  <a:t>というのは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速度の増加量</m:t>
                        </m:r>
                      </m:num>
                      <m:den>
                        <m:r>
                          <a:rPr lang="ja-JP" alt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時間の増加量</m:t>
                        </m:r>
                      </m:den>
                    </m:f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となります。（参考：直線の傾き）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どの行をとっても</a:t>
                </a:r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9.8</m:t>
                    </m:r>
                  </m:oMath>
                </a14:m>
                <a:r>
                  <a:rPr lang="ja-JP" altLang="en-US" sz="2400" dirty="0"/>
                  <a:t>となるので、</a:t>
                </a:r>
                <a:r>
                  <a:rPr lang="en-US" altLang="ja-JP" sz="2400" dirty="0"/>
                  <a:t> </a:t>
                </a:r>
              </a:p>
              <a:p>
                <a:r>
                  <a:rPr lang="ja-JP" altLang="en-US" sz="2400" dirty="0"/>
                  <a:t>このボールの加速度は</a:t>
                </a:r>
                <a14:m>
                  <m:oMath xmlns:m="http://schemas.openxmlformats.org/officeDocument/2006/math"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−9.8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/>
                  <a:t>となります。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C315684B-02C9-484E-A668-0E18B359D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5543" y="3429000"/>
                <a:ext cx="7043916" cy="2341154"/>
              </a:xfrm>
              <a:prstGeom prst="rect">
                <a:avLst/>
              </a:prstGeom>
              <a:blipFill>
                <a:blip r:embed="rId2"/>
                <a:stretch>
                  <a:fillRect l="-1298" t="-2083" r="-346" b="-49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FBA8C990-256F-435F-802E-263F4B634A60}"/>
              </a:ext>
            </a:extLst>
          </p:cNvPr>
          <p:cNvSpPr/>
          <p:nvPr/>
        </p:nvSpPr>
        <p:spPr>
          <a:xfrm>
            <a:off x="237067" y="1820333"/>
            <a:ext cx="6510866" cy="340360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加速度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032421" cy="46956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このことから以下の公式が成り立ちます。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■変位、速度、時間の公式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⊿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𝑣𝑓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𝑣𝑖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・・・加速度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・・・速度の増加量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𝑣𝑓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・・・最終速度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𝑣𝑖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・・・初速度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・・・経過時間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いくつか例題を見ていきましょう。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032421" cy="4695644"/>
              </a:xfrm>
              <a:prstGeom prst="rect">
                <a:avLst/>
              </a:prstGeom>
              <a:blipFill>
                <a:blip r:embed="rId2"/>
                <a:stretch>
                  <a:fillRect l="-1515" t="-1039" r="-606" b="-20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673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53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加速度</a:t>
            </a:r>
            <a:r>
              <a:rPr kumimoji="1" lang="ja-JP" altLang="en-US" sz="3200" b="1" u="sng" dirty="0"/>
              <a:t>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133958" cy="4379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時速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40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の自動車が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時間後に時速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60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になりました。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r>
                  <a:rPr lang="ja-JP" altLang="en-US" sz="2400" dirty="0"/>
                  <a:t>この自動車の加速度は何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時</m:t>
                        </m:r>
                      </m:e>
                      <m:sup>
                        <m:r>
                          <a:rPr lang="en-US" altLang="ja-JP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/>
                  <a:t>か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𝑣𝑓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𝑣𝑖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𝑘𝑚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時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−40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𝑘𝑚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時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時間</m:t>
                        </m:r>
                      </m:den>
                    </m:f>
                  </m:oMath>
                </a14:m>
                <a:r>
                  <a:rPr lang="en-US" altLang="ja-JP" sz="2400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𝑘𝑚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時</m:t>
                        </m:r>
                      </m:num>
                      <m:den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時間</m:t>
                        </m:r>
                      </m:den>
                    </m:f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𝑘𝑚</m:t>
                        </m:r>
                      </m:num>
                      <m:den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時</m:t>
                        </m:r>
                      </m:den>
                    </m:f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時間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𝑘𝑚</m:t>
                        </m:r>
                      </m:num>
                      <m:den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時</m:t>
                        </m:r>
                      </m:den>
                    </m:f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時間</m:t>
                        </m:r>
                      </m:den>
                    </m:f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時</m:t>
                        </m:r>
                      </m:e>
                      <m:sup>
                        <m:r>
                          <a:rPr lang="en-US" altLang="ja-JP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133958" cy="4379340"/>
              </a:xfrm>
              <a:prstGeom prst="rect">
                <a:avLst/>
              </a:prstGeom>
              <a:blipFill>
                <a:blip r:embed="rId2"/>
                <a:stretch>
                  <a:fillRect l="-11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6487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53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加速度</a:t>
            </a:r>
            <a:r>
              <a:rPr kumimoji="1" lang="ja-JP" altLang="en-US" sz="3200" b="1" u="sng" dirty="0"/>
              <a:t>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175910" cy="54952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時速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72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の自動車が急ブレーキを踏んで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秒後に停止しました。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r>
                  <a:rPr lang="ja-JP" altLang="en-US" sz="2400" dirty="0"/>
                  <a:t>この自動車の加速度は何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/>
                  <a:t>か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𝑣𝑓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𝑣𝑖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0−72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𝑘𝑚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時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−72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𝑘𝑚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時</m:t>
                        </m:r>
                      </m:num>
                      <m:den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</m:oMath>
                </a14:m>
                <a:r>
                  <a:rPr lang="en-US" altLang="ja-JP" sz="2400" i="1" dirty="0">
                    <a:latin typeface="Cambria Math" panose="02040503050406030204" pitchFamily="18" charset="0"/>
                  </a:rPr>
                  <a:t>	</a:t>
                </a:r>
                <a:r>
                  <a:rPr lang="ja-JP" altLang="en-US" sz="2400" i="1" dirty="0">
                    <a:latin typeface="Cambria Math" panose="02040503050406030204" pitchFamily="18" charset="0"/>
                  </a:rPr>
                  <a:t>　</a:t>
                </a:r>
                <a:r>
                  <a:rPr lang="ja-JP" altLang="en-US" sz="2400" dirty="0">
                    <a:latin typeface="Cambria Math" panose="02040503050406030204" pitchFamily="18" charset="0"/>
                  </a:rPr>
                  <a:t>・・・①</a:t>
                </a:r>
                <a:r>
                  <a:rPr lang="en-US" altLang="ja-JP" sz="2400" i="1" dirty="0"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72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𝑘𝑚</m:t>
                        </m:r>
                      </m:num>
                      <m:den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時</m:t>
                        </m:r>
                      </m:den>
                    </m:f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時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分</m:t>
                        </m:r>
                      </m:den>
                    </m:f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分</m:t>
                        </m:r>
                      </m:num>
                      <m:den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1000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𝑘𝑚</m:t>
                        </m:r>
                      </m:den>
                    </m:f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</m:oMath>
                </a14:m>
                <a:r>
                  <a:rPr lang="en-US" altLang="ja-JP" sz="2400" i="1" dirty="0">
                    <a:latin typeface="Cambria Math" panose="02040503050406030204" pitchFamily="18" charset="0"/>
                  </a:rPr>
                  <a:t> </a:t>
                </a:r>
                <a:r>
                  <a:rPr lang="ja-JP" altLang="en-US" sz="2400" dirty="0">
                    <a:latin typeface="Cambria Math" panose="02040503050406030204" pitchFamily="18" charset="0"/>
                  </a:rPr>
                  <a:t>・・・②</a:t>
                </a:r>
                <a:r>
                  <a:rPr lang="en-US" altLang="ja-JP" sz="2400" dirty="0">
                    <a:latin typeface="Cambria Math" panose="02040503050406030204" pitchFamily="18" charset="0"/>
                  </a:rPr>
                  <a:t>	</a:t>
                </a:r>
                <a:r>
                  <a:rPr lang="ja-JP" altLang="en-US" sz="2400" dirty="0">
                    <a:latin typeface="Cambria Math" panose="02040503050406030204" pitchFamily="18" charset="0"/>
                  </a:rPr>
                  <a:t>①②より</a:t>
                </a:r>
                <a:endParaRPr lang="en-US" altLang="ja-JP" sz="24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175910" cy="5495287"/>
              </a:xfrm>
              <a:prstGeom prst="rect">
                <a:avLst/>
              </a:prstGeom>
              <a:blipFill>
                <a:blip r:embed="rId2"/>
                <a:stretch>
                  <a:fillRect l="-9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7637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53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加速度</a:t>
            </a:r>
            <a:r>
              <a:rPr kumimoji="1" lang="ja-JP" altLang="en-US" sz="3200" b="1" u="sng" dirty="0"/>
              <a:t>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288120" cy="32317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次の問いに答えなさい。</a:t>
                </a:r>
                <a:endParaRPr lang="en-US" altLang="ja-JP" sz="2400" dirty="0"/>
              </a:p>
              <a:p>
                <a:r>
                  <a:rPr lang="ja-JP" altLang="en-US" sz="2400" dirty="0"/>
                  <a:t>ただし割り切れない計算は小数第</a:t>
                </a:r>
                <a:r>
                  <a:rPr lang="en-US" altLang="ja-JP" sz="2400" dirty="0"/>
                  <a:t>2</a:t>
                </a:r>
                <a:r>
                  <a:rPr lang="ja-JP" altLang="en-US" sz="2400" dirty="0"/>
                  <a:t>位以下を切り捨てること。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① </a:t>
                </a:r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時速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80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の自動車が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秒後に時速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になりました。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　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この自動車の加速度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は何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か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② </a:t>
                </a:r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時速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40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の自動車が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ブレーキを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かけて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秒後に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停車しました</m:t>
                    </m:r>
                  </m:oMath>
                </a14:m>
                <a:r>
                  <a:rPr lang="ja-JP" altLang="en-US" sz="2400" dirty="0"/>
                  <a:t>。</a:t>
                </a:r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　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この自動車の加速度は何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か</m:t>
                    </m:r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288120" cy="3231782"/>
              </a:xfrm>
              <a:prstGeom prst="rect">
                <a:avLst/>
              </a:prstGeom>
              <a:blipFill>
                <a:blip r:embed="rId2"/>
                <a:stretch>
                  <a:fillRect l="-984" t="-15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9689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397</Words>
  <Application>Microsoft Office PowerPoint</Application>
  <PresentationFormat>ワイド画面</PresentationFormat>
  <Paragraphs>62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48</cp:revision>
  <dcterms:created xsi:type="dcterms:W3CDTF">2024-08-27T02:15:54Z</dcterms:created>
  <dcterms:modified xsi:type="dcterms:W3CDTF">2025-04-09T07:38:48Z</dcterms:modified>
</cp:coreProperties>
</file>