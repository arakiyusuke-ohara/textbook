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charts/chart1.xml" ContentType="application/vnd.openxmlformats-officedocument.drawingml.chart+xml"/>
  <Override PartName="/ppt/charts/style1.xml" ContentType="application/vnd.ms-office.chartstyle+xml"/>
  <Override PartName="/ppt/charts/colors1.xml" ContentType="application/vnd.ms-office.chartcolorstyle+xml"/>
  <Override PartName="/ppt/charts/chart2.xml" ContentType="application/vnd.openxmlformats-officedocument.drawingml.chart+xml"/>
  <Override PartName="/ppt/charts/style2.xml" ContentType="application/vnd.ms-office.chartstyle+xml"/>
  <Override PartName="/ppt/charts/colors2.xml" ContentType="application/vnd.ms-office.chartcolorstyle+xml"/>
  <Override PartName="/ppt/charts/chart3.xml" ContentType="application/vnd.openxmlformats-officedocument.drawingml.chart+xml"/>
  <Override PartName="/ppt/charts/style3.xml" ContentType="application/vnd.ms-office.chartstyle+xml"/>
  <Override PartName="/ppt/charts/colors3.xml" ContentType="application/vnd.ms-office.chartcolorstyl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8" r:id="rId2"/>
    <p:sldId id="260" r:id="rId3"/>
    <p:sldId id="261" r:id="rId4"/>
    <p:sldId id="262" r:id="rId5"/>
    <p:sldId id="259" r:id="rId6"/>
    <p:sldId id="263" r:id="rId7"/>
    <p:sldId id="264" r:id="rId8"/>
    <p:sldId id="265" r:id="rId9"/>
    <p:sldId id="266" r:id="rId10"/>
    <p:sldId id="267" r:id="rId11"/>
    <p:sldId id="268" r:id="rId12"/>
    <p:sldId id="269" r:id="rId13"/>
    <p:sldId id="270" r:id="rId14"/>
    <p:sldId id="271" r:id="rId15"/>
    <p:sldId id="272" r:id="rId16"/>
  </p:sldIdLst>
  <p:sldSz cx="12192000" cy="6858000"/>
  <p:notesSz cx="6858000" cy="9144000"/>
  <p:defaultTex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中間スタイル 2 - アクセント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987" autoAdjust="0"/>
    <p:restoredTop sz="94660"/>
  </p:normalViewPr>
  <p:slideViewPr>
    <p:cSldViewPr snapToGrid="0">
      <p:cViewPr varScale="1">
        <p:scale>
          <a:sx n="113" d="100"/>
          <a:sy n="113" d="100"/>
        </p:scale>
        <p:origin x="456" y="96"/>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viewProps" Target="viewProp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presProps" Target="presProp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10" Type="http://schemas.openxmlformats.org/officeDocument/2006/relationships/slide" Target="slides/slide9.xml"/><Relationship Id="rId19"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s>
</file>

<file path=ppt/charts/_rels/chart1.xml.rels><?xml version="1.0" encoding="UTF-8" standalone="yes"?>
<Relationships xmlns="http://schemas.openxmlformats.org/package/2006/relationships"><Relationship Id="rId3" Type="http://schemas.openxmlformats.org/officeDocument/2006/relationships/package" Target="../embeddings/Microsoft_Excel_Worksheet.xlsx"/><Relationship Id="rId2" Type="http://schemas.microsoft.com/office/2011/relationships/chartColorStyle" Target="colors1.xml"/><Relationship Id="rId1" Type="http://schemas.microsoft.com/office/2011/relationships/chartStyle" Target="style1.xml"/></Relationships>
</file>

<file path=ppt/charts/_rels/chart2.xml.rels><?xml version="1.0" encoding="UTF-8" standalone="yes"?>
<Relationships xmlns="http://schemas.openxmlformats.org/package/2006/relationships"><Relationship Id="rId3" Type="http://schemas.openxmlformats.org/officeDocument/2006/relationships/package" Target="../embeddings/Microsoft_Excel_Worksheet1.xlsx"/><Relationship Id="rId2" Type="http://schemas.microsoft.com/office/2011/relationships/chartColorStyle" Target="colors2.xml"/><Relationship Id="rId1" Type="http://schemas.microsoft.com/office/2011/relationships/chartStyle" Target="style2.xml"/></Relationships>
</file>

<file path=ppt/charts/_rels/chart3.xml.rels><?xml version="1.0" encoding="UTF-8" standalone="yes"?>
<Relationships xmlns="http://schemas.openxmlformats.org/package/2006/relationships"><Relationship Id="rId3" Type="http://schemas.openxmlformats.org/officeDocument/2006/relationships/package" Target="../embeddings/Microsoft_Excel_Worksheet2.xlsx"/><Relationship Id="rId2" Type="http://schemas.microsoft.com/office/2011/relationships/chartColorStyle" Target="colors3.xml"/><Relationship Id="rId1" Type="http://schemas.microsoft.com/office/2011/relationships/chartStyle" Target="style3.xml"/></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ja-JP"/>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lineChart>
        <c:grouping val="standard"/>
        <c:varyColors val="0"/>
        <c:ser>
          <c:idx val="0"/>
          <c:order val="0"/>
          <c:tx>
            <c:strRef>
              <c:f>Sheet1!$B$1</c:f>
              <c:strCache>
                <c:ptCount val="1"/>
                <c:pt idx="0">
                  <c:v>　</c:v>
                </c:pt>
              </c:strCache>
            </c:strRef>
          </c:tx>
          <c:spPr>
            <a:ln w="28575" cap="rnd">
              <a:solidFill>
                <a:schemeClr val="accent1"/>
              </a:solidFill>
              <a:round/>
            </a:ln>
            <a:effectLst/>
          </c:spPr>
          <c:marker>
            <c:symbol val="circle"/>
            <c:size val="5"/>
            <c:spPr>
              <a:solidFill>
                <a:schemeClr val="accent1"/>
              </a:solidFill>
              <a:ln w="9525">
                <a:solidFill>
                  <a:schemeClr val="accent1"/>
                </a:solidFill>
              </a:ln>
              <a:effectLst/>
            </c:spPr>
          </c:marker>
          <c:cat>
            <c:numRef>
              <c:f>Sheet1!$A$2:$A$8</c:f>
              <c:numCache>
                <c:formatCode>General</c:formatCode>
                <c:ptCount val="7"/>
                <c:pt idx="0">
                  <c:v>0</c:v>
                </c:pt>
                <c:pt idx="1">
                  <c:v>1</c:v>
                </c:pt>
                <c:pt idx="2">
                  <c:v>2</c:v>
                </c:pt>
                <c:pt idx="3">
                  <c:v>3</c:v>
                </c:pt>
                <c:pt idx="4">
                  <c:v>4</c:v>
                </c:pt>
                <c:pt idx="5">
                  <c:v>5</c:v>
                </c:pt>
                <c:pt idx="6">
                  <c:v>6</c:v>
                </c:pt>
              </c:numCache>
            </c:numRef>
          </c:cat>
          <c:val>
            <c:numRef>
              <c:f>Sheet1!$B$2:$B$8</c:f>
              <c:numCache>
                <c:formatCode>General</c:formatCode>
                <c:ptCount val="7"/>
                <c:pt idx="0">
                  <c:v>0</c:v>
                </c:pt>
                <c:pt idx="1">
                  <c:v>3</c:v>
                </c:pt>
                <c:pt idx="2">
                  <c:v>12</c:v>
                </c:pt>
                <c:pt idx="3">
                  <c:v>27</c:v>
                </c:pt>
                <c:pt idx="4">
                  <c:v>48</c:v>
                </c:pt>
                <c:pt idx="5">
                  <c:v>75</c:v>
                </c:pt>
                <c:pt idx="6">
                  <c:v>108</c:v>
                </c:pt>
              </c:numCache>
            </c:numRef>
          </c:val>
          <c:smooth val="0"/>
          <c:extLst>
            <c:ext xmlns:c16="http://schemas.microsoft.com/office/drawing/2014/chart" uri="{C3380CC4-5D6E-409C-BE32-E72D297353CC}">
              <c16:uniqueId val="{00000000-6FB7-4605-AB5C-4F9BE4595099}"/>
            </c:ext>
          </c:extLst>
        </c:ser>
        <c:dLbls>
          <c:showLegendKey val="0"/>
          <c:showVal val="0"/>
          <c:showCatName val="0"/>
          <c:showSerName val="0"/>
          <c:showPercent val="0"/>
          <c:showBubbleSize val="0"/>
        </c:dLbls>
        <c:marker val="1"/>
        <c:smooth val="0"/>
        <c:axId val="538090224"/>
        <c:axId val="538081368"/>
      </c:lineChart>
      <c:catAx>
        <c:axId val="538090224"/>
        <c:scaling>
          <c:orientation val="minMax"/>
        </c:scaling>
        <c:delete val="0"/>
        <c:axPos val="b"/>
        <c:numFmt formatCode="General" sourceLinked="1"/>
        <c:majorTickMark val="out"/>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1197" b="0" i="0" u="none" strike="noStrike" kern="1200" baseline="0">
                <a:solidFill>
                  <a:schemeClr val="tx1">
                    <a:lumMod val="65000"/>
                    <a:lumOff val="35000"/>
                  </a:schemeClr>
                </a:solidFill>
                <a:latin typeface="+mn-lt"/>
                <a:ea typeface="+mn-ea"/>
                <a:cs typeface="+mn-cs"/>
              </a:defRPr>
            </a:pPr>
            <a:endParaRPr lang="ja-JP"/>
          </a:p>
        </c:txPr>
        <c:crossAx val="538081368"/>
        <c:crosses val="autoZero"/>
        <c:auto val="1"/>
        <c:lblAlgn val="ctr"/>
        <c:lblOffset val="100"/>
        <c:noMultiLvlLbl val="0"/>
      </c:catAx>
      <c:valAx>
        <c:axId val="538081368"/>
        <c:scaling>
          <c:orientation val="minMax"/>
        </c:scaling>
        <c:delete val="0"/>
        <c:axPos val="l"/>
        <c:numFmt formatCode="General" sourceLinked="1"/>
        <c:majorTickMark val="out"/>
        <c:minorTickMark val="none"/>
        <c:tickLblPos val="nextTo"/>
        <c:spPr>
          <a:noFill/>
          <a:ln>
            <a:noFill/>
          </a:ln>
          <a:effectLst/>
        </c:spPr>
        <c:txPr>
          <a:bodyPr rot="-60000000" spcFirstLastPara="1" vertOverflow="ellipsis" vert="horz" wrap="square" anchor="ctr" anchorCtr="1"/>
          <a:lstStyle/>
          <a:p>
            <a:pPr>
              <a:defRPr sz="1197" b="0" i="0" u="none" strike="noStrike" kern="1200" baseline="0">
                <a:solidFill>
                  <a:schemeClr val="tx1">
                    <a:lumMod val="65000"/>
                    <a:lumOff val="35000"/>
                  </a:schemeClr>
                </a:solidFill>
                <a:latin typeface="+mn-lt"/>
                <a:ea typeface="+mn-ea"/>
                <a:cs typeface="+mn-cs"/>
              </a:defRPr>
            </a:pPr>
            <a:endParaRPr lang="ja-JP"/>
          </a:p>
        </c:txPr>
        <c:crossAx val="538090224"/>
        <c:crosses val="autoZero"/>
        <c:crossBetween val="between"/>
      </c:valAx>
      <c:spPr>
        <a:noFill/>
        <a:ln>
          <a:noFill/>
        </a:ln>
        <a:effectLst/>
      </c:spPr>
    </c:plotArea>
    <c:plotVisOnly val="1"/>
    <c:dispBlanksAs val="gap"/>
    <c:extLst>
      <c:ext xmlns:c16r3="http://schemas.microsoft.com/office/drawing/2017/03/chart" uri="{56B9EC1D-385E-4148-901F-78D8002777C0}">
        <c16r3:dataDisplayOptions16>
          <c16r3:dispNaAsBlank val="1"/>
        </c16r3:dataDisplayOptions16>
      </c:ext>
    </c:extLst>
    <c:showDLblsOverMax val="0"/>
  </c:chart>
  <c:spPr>
    <a:noFill/>
    <a:ln>
      <a:noFill/>
    </a:ln>
    <a:effectLst/>
  </c:spPr>
  <c:txPr>
    <a:bodyPr/>
    <a:lstStyle/>
    <a:p>
      <a:pPr>
        <a:defRPr/>
      </a:pPr>
      <a:endParaRPr lang="ja-JP"/>
    </a:p>
  </c:txPr>
  <c:externalData r:id="rId3">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ja-JP"/>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lineChart>
        <c:grouping val="standard"/>
        <c:varyColors val="0"/>
        <c:ser>
          <c:idx val="0"/>
          <c:order val="0"/>
          <c:tx>
            <c:strRef>
              <c:f>Sheet1!$B$1</c:f>
              <c:strCache>
                <c:ptCount val="1"/>
                <c:pt idx="0">
                  <c:v>　</c:v>
                </c:pt>
              </c:strCache>
            </c:strRef>
          </c:tx>
          <c:spPr>
            <a:ln w="28575" cap="rnd">
              <a:solidFill>
                <a:schemeClr val="accent1"/>
              </a:solidFill>
              <a:round/>
            </a:ln>
            <a:effectLst/>
          </c:spPr>
          <c:marker>
            <c:symbol val="circle"/>
            <c:size val="5"/>
            <c:spPr>
              <a:solidFill>
                <a:schemeClr val="accent1"/>
              </a:solidFill>
              <a:ln w="9525">
                <a:solidFill>
                  <a:schemeClr val="accent1"/>
                </a:solidFill>
              </a:ln>
              <a:effectLst/>
            </c:spPr>
          </c:marker>
          <c:cat>
            <c:numRef>
              <c:f>Sheet1!$A$2:$A$8</c:f>
              <c:numCache>
                <c:formatCode>General</c:formatCode>
                <c:ptCount val="7"/>
                <c:pt idx="0">
                  <c:v>0</c:v>
                </c:pt>
                <c:pt idx="1">
                  <c:v>1</c:v>
                </c:pt>
                <c:pt idx="2">
                  <c:v>2</c:v>
                </c:pt>
                <c:pt idx="3">
                  <c:v>3</c:v>
                </c:pt>
                <c:pt idx="4">
                  <c:v>4</c:v>
                </c:pt>
                <c:pt idx="5">
                  <c:v>5</c:v>
                </c:pt>
                <c:pt idx="6">
                  <c:v>6</c:v>
                </c:pt>
              </c:numCache>
            </c:numRef>
          </c:cat>
          <c:val>
            <c:numRef>
              <c:f>Sheet1!$B$2:$B$8</c:f>
              <c:numCache>
                <c:formatCode>General</c:formatCode>
                <c:ptCount val="7"/>
                <c:pt idx="0">
                  <c:v>0</c:v>
                </c:pt>
                <c:pt idx="1">
                  <c:v>3</c:v>
                </c:pt>
                <c:pt idx="2">
                  <c:v>12</c:v>
                </c:pt>
                <c:pt idx="3">
                  <c:v>27</c:v>
                </c:pt>
                <c:pt idx="4">
                  <c:v>48</c:v>
                </c:pt>
                <c:pt idx="5">
                  <c:v>75</c:v>
                </c:pt>
                <c:pt idx="6">
                  <c:v>108</c:v>
                </c:pt>
              </c:numCache>
            </c:numRef>
          </c:val>
          <c:smooth val="0"/>
          <c:extLst>
            <c:ext xmlns:c16="http://schemas.microsoft.com/office/drawing/2014/chart" uri="{C3380CC4-5D6E-409C-BE32-E72D297353CC}">
              <c16:uniqueId val="{00000000-0366-4627-99ED-F474CD710A26}"/>
            </c:ext>
          </c:extLst>
        </c:ser>
        <c:dLbls>
          <c:showLegendKey val="0"/>
          <c:showVal val="0"/>
          <c:showCatName val="0"/>
          <c:showSerName val="0"/>
          <c:showPercent val="0"/>
          <c:showBubbleSize val="0"/>
        </c:dLbls>
        <c:marker val="1"/>
        <c:smooth val="0"/>
        <c:axId val="538090224"/>
        <c:axId val="538081368"/>
      </c:lineChart>
      <c:catAx>
        <c:axId val="538090224"/>
        <c:scaling>
          <c:orientation val="minMax"/>
        </c:scaling>
        <c:delete val="0"/>
        <c:axPos val="b"/>
        <c:numFmt formatCode="General" sourceLinked="1"/>
        <c:majorTickMark val="out"/>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1197" b="0" i="0" u="none" strike="noStrike" kern="1200" baseline="0">
                <a:solidFill>
                  <a:schemeClr val="tx1">
                    <a:lumMod val="65000"/>
                    <a:lumOff val="35000"/>
                  </a:schemeClr>
                </a:solidFill>
                <a:latin typeface="+mn-lt"/>
                <a:ea typeface="+mn-ea"/>
                <a:cs typeface="+mn-cs"/>
              </a:defRPr>
            </a:pPr>
            <a:endParaRPr lang="ja-JP"/>
          </a:p>
        </c:txPr>
        <c:crossAx val="538081368"/>
        <c:crosses val="autoZero"/>
        <c:auto val="1"/>
        <c:lblAlgn val="ctr"/>
        <c:lblOffset val="100"/>
        <c:noMultiLvlLbl val="0"/>
      </c:catAx>
      <c:valAx>
        <c:axId val="538081368"/>
        <c:scaling>
          <c:orientation val="minMax"/>
        </c:scaling>
        <c:delete val="0"/>
        <c:axPos val="l"/>
        <c:numFmt formatCode="General" sourceLinked="1"/>
        <c:majorTickMark val="out"/>
        <c:minorTickMark val="none"/>
        <c:tickLblPos val="nextTo"/>
        <c:spPr>
          <a:noFill/>
          <a:ln>
            <a:noFill/>
          </a:ln>
          <a:effectLst/>
        </c:spPr>
        <c:txPr>
          <a:bodyPr rot="-60000000" spcFirstLastPara="1" vertOverflow="ellipsis" vert="horz" wrap="square" anchor="ctr" anchorCtr="1"/>
          <a:lstStyle/>
          <a:p>
            <a:pPr>
              <a:defRPr sz="1197" b="0" i="0" u="none" strike="noStrike" kern="1200" baseline="0">
                <a:solidFill>
                  <a:schemeClr val="tx1">
                    <a:lumMod val="65000"/>
                    <a:lumOff val="35000"/>
                  </a:schemeClr>
                </a:solidFill>
                <a:latin typeface="+mn-lt"/>
                <a:ea typeface="+mn-ea"/>
                <a:cs typeface="+mn-cs"/>
              </a:defRPr>
            </a:pPr>
            <a:endParaRPr lang="ja-JP"/>
          </a:p>
        </c:txPr>
        <c:crossAx val="538090224"/>
        <c:crosses val="autoZero"/>
        <c:crossBetween val="between"/>
      </c:valAx>
      <c:spPr>
        <a:noFill/>
        <a:ln>
          <a:noFill/>
        </a:ln>
        <a:effectLst/>
      </c:spPr>
    </c:plotArea>
    <c:plotVisOnly val="1"/>
    <c:dispBlanksAs val="gap"/>
    <c:extLst>
      <c:ext xmlns:c16r3="http://schemas.microsoft.com/office/drawing/2017/03/chart" uri="{56B9EC1D-385E-4148-901F-78D8002777C0}">
        <c16r3:dataDisplayOptions16>
          <c16r3:dispNaAsBlank val="1"/>
        </c16r3:dataDisplayOptions16>
      </c:ext>
    </c:extLst>
    <c:showDLblsOverMax val="0"/>
  </c:chart>
  <c:spPr>
    <a:noFill/>
    <a:ln>
      <a:noFill/>
    </a:ln>
    <a:effectLst/>
  </c:spPr>
  <c:txPr>
    <a:bodyPr/>
    <a:lstStyle/>
    <a:p>
      <a:pPr>
        <a:defRPr/>
      </a:pPr>
      <a:endParaRPr lang="ja-JP"/>
    </a:p>
  </c:txPr>
  <c:externalData r:id="rId3">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ja-JP"/>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lineChart>
        <c:grouping val="standard"/>
        <c:varyColors val="0"/>
        <c:ser>
          <c:idx val="0"/>
          <c:order val="0"/>
          <c:tx>
            <c:strRef>
              <c:f>Sheet1!$B$1</c:f>
              <c:strCache>
                <c:ptCount val="1"/>
                <c:pt idx="0">
                  <c:v>　</c:v>
                </c:pt>
              </c:strCache>
            </c:strRef>
          </c:tx>
          <c:spPr>
            <a:ln w="28575" cap="rnd">
              <a:solidFill>
                <a:schemeClr val="accent1"/>
              </a:solidFill>
              <a:round/>
            </a:ln>
            <a:effectLst/>
          </c:spPr>
          <c:marker>
            <c:symbol val="circle"/>
            <c:size val="5"/>
            <c:spPr>
              <a:solidFill>
                <a:schemeClr val="accent1"/>
              </a:solidFill>
              <a:ln w="9525">
                <a:solidFill>
                  <a:schemeClr val="accent1"/>
                </a:solidFill>
              </a:ln>
              <a:effectLst/>
            </c:spPr>
          </c:marker>
          <c:cat>
            <c:numRef>
              <c:f>Sheet1!$A$2:$A$8</c:f>
              <c:numCache>
                <c:formatCode>General</c:formatCode>
                <c:ptCount val="7"/>
                <c:pt idx="0">
                  <c:v>0</c:v>
                </c:pt>
                <c:pt idx="1">
                  <c:v>1</c:v>
                </c:pt>
                <c:pt idx="2">
                  <c:v>2</c:v>
                </c:pt>
                <c:pt idx="3">
                  <c:v>3</c:v>
                </c:pt>
                <c:pt idx="4">
                  <c:v>4</c:v>
                </c:pt>
                <c:pt idx="5">
                  <c:v>5</c:v>
                </c:pt>
                <c:pt idx="6">
                  <c:v>6</c:v>
                </c:pt>
              </c:numCache>
            </c:numRef>
          </c:cat>
          <c:val>
            <c:numRef>
              <c:f>Sheet1!$B$2:$B$8</c:f>
              <c:numCache>
                <c:formatCode>General</c:formatCode>
                <c:ptCount val="7"/>
                <c:pt idx="0">
                  <c:v>0</c:v>
                </c:pt>
                <c:pt idx="1">
                  <c:v>3</c:v>
                </c:pt>
                <c:pt idx="2">
                  <c:v>12</c:v>
                </c:pt>
                <c:pt idx="3">
                  <c:v>27</c:v>
                </c:pt>
                <c:pt idx="4">
                  <c:v>48</c:v>
                </c:pt>
                <c:pt idx="5">
                  <c:v>75</c:v>
                </c:pt>
                <c:pt idx="6">
                  <c:v>108</c:v>
                </c:pt>
              </c:numCache>
            </c:numRef>
          </c:val>
          <c:smooth val="0"/>
          <c:extLst>
            <c:ext xmlns:c16="http://schemas.microsoft.com/office/drawing/2014/chart" uri="{C3380CC4-5D6E-409C-BE32-E72D297353CC}">
              <c16:uniqueId val="{00000000-0366-4627-99ED-F474CD710A26}"/>
            </c:ext>
          </c:extLst>
        </c:ser>
        <c:dLbls>
          <c:showLegendKey val="0"/>
          <c:showVal val="0"/>
          <c:showCatName val="0"/>
          <c:showSerName val="0"/>
          <c:showPercent val="0"/>
          <c:showBubbleSize val="0"/>
        </c:dLbls>
        <c:marker val="1"/>
        <c:smooth val="0"/>
        <c:axId val="538090224"/>
        <c:axId val="538081368"/>
      </c:lineChart>
      <c:catAx>
        <c:axId val="538090224"/>
        <c:scaling>
          <c:orientation val="minMax"/>
        </c:scaling>
        <c:delete val="0"/>
        <c:axPos val="b"/>
        <c:numFmt formatCode="General" sourceLinked="1"/>
        <c:majorTickMark val="out"/>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1197" b="0" i="0" u="none" strike="noStrike" kern="1200" baseline="0">
                <a:solidFill>
                  <a:schemeClr val="tx1">
                    <a:lumMod val="65000"/>
                    <a:lumOff val="35000"/>
                  </a:schemeClr>
                </a:solidFill>
                <a:latin typeface="+mn-lt"/>
                <a:ea typeface="+mn-ea"/>
                <a:cs typeface="+mn-cs"/>
              </a:defRPr>
            </a:pPr>
            <a:endParaRPr lang="ja-JP"/>
          </a:p>
        </c:txPr>
        <c:crossAx val="538081368"/>
        <c:crosses val="autoZero"/>
        <c:auto val="1"/>
        <c:lblAlgn val="ctr"/>
        <c:lblOffset val="100"/>
        <c:noMultiLvlLbl val="0"/>
      </c:catAx>
      <c:valAx>
        <c:axId val="538081368"/>
        <c:scaling>
          <c:orientation val="minMax"/>
        </c:scaling>
        <c:delete val="0"/>
        <c:axPos val="l"/>
        <c:numFmt formatCode="General" sourceLinked="1"/>
        <c:majorTickMark val="out"/>
        <c:minorTickMark val="none"/>
        <c:tickLblPos val="nextTo"/>
        <c:spPr>
          <a:noFill/>
          <a:ln>
            <a:noFill/>
          </a:ln>
          <a:effectLst/>
        </c:spPr>
        <c:txPr>
          <a:bodyPr rot="-60000000" spcFirstLastPara="1" vertOverflow="ellipsis" vert="horz" wrap="square" anchor="ctr" anchorCtr="1"/>
          <a:lstStyle/>
          <a:p>
            <a:pPr>
              <a:defRPr sz="1197" b="0" i="0" u="none" strike="noStrike" kern="1200" baseline="0">
                <a:solidFill>
                  <a:schemeClr val="tx1">
                    <a:lumMod val="65000"/>
                    <a:lumOff val="35000"/>
                  </a:schemeClr>
                </a:solidFill>
                <a:latin typeface="+mn-lt"/>
                <a:ea typeface="+mn-ea"/>
                <a:cs typeface="+mn-cs"/>
              </a:defRPr>
            </a:pPr>
            <a:endParaRPr lang="ja-JP"/>
          </a:p>
        </c:txPr>
        <c:crossAx val="538090224"/>
        <c:crosses val="autoZero"/>
        <c:crossBetween val="between"/>
      </c:valAx>
      <c:spPr>
        <a:noFill/>
        <a:ln>
          <a:noFill/>
        </a:ln>
        <a:effectLst/>
      </c:spPr>
    </c:plotArea>
    <c:plotVisOnly val="1"/>
    <c:dispBlanksAs val="gap"/>
    <c:extLst>
      <c:ext xmlns:c16r3="http://schemas.microsoft.com/office/drawing/2017/03/chart" uri="{56B9EC1D-385E-4148-901F-78D8002777C0}">
        <c16r3:dataDisplayOptions16>
          <c16r3:dispNaAsBlank val="1"/>
        </c16r3:dataDisplayOptions16>
      </c:ext>
    </c:extLst>
    <c:showDLblsOverMax val="0"/>
  </c:chart>
  <c:spPr>
    <a:noFill/>
    <a:ln>
      <a:noFill/>
    </a:ln>
    <a:effectLst/>
  </c:spPr>
  <c:txPr>
    <a:bodyPr/>
    <a:lstStyle/>
    <a:p>
      <a:pPr>
        <a:defRPr/>
      </a:pPr>
      <a:endParaRPr lang="ja-JP"/>
    </a:p>
  </c:txPr>
  <c:externalData r:id="rId3">
    <c:autoUpdate val="0"/>
  </c:externalData>
</c:chartSpace>
</file>

<file path=ppt/charts/colors1.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2.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3.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style1.xml><?xml version="1.0" encoding="utf-8"?>
<cs:chartStyle xmlns:cs="http://schemas.microsoft.com/office/drawing/2012/chartStyle" xmlns:a="http://schemas.openxmlformats.org/drawingml/2006/main" id="332">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2.xml><?xml version="1.0" encoding="utf-8"?>
<cs:chartStyle xmlns:cs="http://schemas.microsoft.com/office/drawing/2012/chartStyle" xmlns:a="http://schemas.openxmlformats.org/drawingml/2006/main" id="332">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3.xml><?xml version="1.0" encoding="utf-8"?>
<cs:chartStyle xmlns:cs="http://schemas.microsoft.com/office/drawing/2012/chartStyle" xmlns:a="http://schemas.openxmlformats.org/drawingml/2006/main" id="332">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タイトル スライド">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CA950417-98BD-4172-A454-C76A49B97717}"/>
              </a:ext>
            </a:extLst>
          </p:cNvPr>
          <p:cNvSpPr>
            <a:spLocks noGrp="1"/>
          </p:cNvSpPr>
          <p:nvPr>
            <p:ph type="ctrTitle"/>
          </p:nvPr>
        </p:nvSpPr>
        <p:spPr>
          <a:xfrm>
            <a:off x="1524000" y="1122363"/>
            <a:ext cx="9144000" cy="2387600"/>
          </a:xfrm>
        </p:spPr>
        <p:txBody>
          <a:bodyPr anchor="b"/>
          <a:lstStyle>
            <a:lvl1pPr algn="ctr">
              <a:defRPr sz="6000"/>
            </a:lvl1pPr>
          </a:lstStyle>
          <a:p>
            <a:r>
              <a:rPr kumimoji="1" lang="ja-JP" altLang="en-US"/>
              <a:t>マスター タイトルの書式設定</a:t>
            </a:r>
          </a:p>
        </p:txBody>
      </p:sp>
      <p:sp>
        <p:nvSpPr>
          <p:cNvPr id="3" name="字幕 2">
            <a:extLst>
              <a:ext uri="{FF2B5EF4-FFF2-40B4-BE49-F238E27FC236}">
                <a16:creationId xmlns:a16="http://schemas.microsoft.com/office/drawing/2014/main" id="{9F83E9AE-84BC-4452-8901-A17B27CC419C}"/>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kumimoji="1" lang="ja-JP" altLang="en-US"/>
              <a:t>マスター サブタイトルの書式設定</a:t>
            </a:r>
          </a:p>
        </p:txBody>
      </p:sp>
      <p:sp>
        <p:nvSpPr>
          <p:cNvPr id="4" name="日付プレースホルダー 3">
            <a:extLst>
              <a:ext uri="{FF2B5EF4-FFF2-40B4-BE49-F238E27FC236}">
                <a16:creationId xmlns:a16="http://schemas.microsoft.com/office/drawing/2014/main" id="{1B320892-0B52-41F1-BED3-1F36AE1E3B03}"/>
              </a:ext>
            </a:extLst>
          </p:cNvPr>
          <p:cNvSpPr>
            <a:spLocks noGrp="1"/>
          </p:cNvSpPr>
          <p:nvPr>
            <p:ph type="dt" sz="half" idx="10"/>
          </p:nvPr>
        </p:nvSpPr>
        <p:spPr/>
        <p:txBody>
          <a:bodyPr/>
          <a:lstStyle/>
          <a:p>
            <a:fld id="{E9CC885B-4903-4D54-9A93-00025F12DED9}" type="datetimeFigureOut">
              <a:rPr kumimoji="1" lang="ja-JP" altLang="en-US" smtClean="0"/>
              <a:t>2025/4/9</a:t>
            </a:fld>
            <a:endParaRPr kumimoji="1" lang="ja-JP" altLang="en-US"/>
          </a:p>
        </p:txBody>
      </p:sp>
      <p:sp>
        <p:nvSpPr>
          <p:cNvPr id="5" name="フッター プレースホルダー 4">
            <a:extLst>
              <a:ext uri="{FF2B5EF4-FFF2-40B4-BE49-F238E27FC236}">
                <a16:creationId xmlns:a16="http://schemas.microsoft.com/office/drawing/2014/main" id="{B4114070-C582-4B06-9805-0DFEFB583FE4}"/>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EE8014BC-198B-4E5B-89B4-FDBFD423BF52}"/>
              </a:ext>
            </a:extLst>
          </p:cNvPr>
          <p:cNvSpPr>
            <a:spLocks noGrp="1"/>
          </p:cNvSpPr>
          <p:nvPr>
            <p:ph type="sldNum" sz="quarter" idx="12"/>
          </p:nvPr>
        </p:nvSpPr>
        <p:spPr/>
        <p:txBody>
          <a:bodyPr/>
          <a:lstStyle/>
          <a:p>
            <a:fld id="{D812AE58-48EE-4ADF-80EA-6426EE982FE8}" type="slidenum">
              <a:rPr kumimoji="1" lang="ja-JP" altLang="en-US" smtClean="0"/>
              <a:t>‹#›</a:t>
            </a:fld>
            <a:endParaRPr kumimoji="1" lang="ja-JP" altLang="en-US"/>
          </a:p>
        </p:txBody>
      </p:sp>
    </p:spTree>
    <p:extLst>
      <p:ext uri="{BB962C8B-B14F-4D97-AF65-F5344CB8AC3E}">
        <p14:creationId xmlns:p14="http://schemas.microsoft.com/office/powerpoint/2010/main" val="374556076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タイトルとコンテンツ">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F42C298B-DDF7-4BBD-B08C-16E40ED109E3}"/>
              </a:ext>
            </a:extLst>
          </p:cNvPr>
          <p:cNvSpPr>
            <a:spLocks noGrp="1"/>
          </p:cNvSpPr>
          <p:nvPr>
            <p:ph type="title"/>
          </p:nvPr>
        </p:nvSpPr>
        <p:spPr/>
        <p:txBody>
          <a:bodyPr/>
          <a:lstStyle/>
          <a:p>
            <a:r>
              <a:rPr kumimoji="1" lang="ja-JP" altLang="en-US"/>
              <a:t>マスター タイトルの書式設定</a:t>
            </a:r>
          </a:p>
        </p:txBody>
      </p:sp>
      <p:sp>
        <p:nvSpPr>
          <p:cNvPr id="3" name="コンテンツ プレースホルダー 2">
            <a:extLst>
              <a:ext uri="{FF2B5EF4-FFF2-40B4-BE49-F238E27FC236}">
                <a16:creationId xmlns:a16="http://schemas.microsoft.com/office/drawing/2014/main" id="{F284FECC-C823-4D42-8CAA-49FC9A8C5B3E}"/>
              </a:ext>
            </a:extLst>
          </p:cNvPr>
          <p:cNvSpPr>
            <a:spLocks noGrp="1"/>
          </p:cNvSpPr>
          <p:nvPr>
            <p:ph idx="1"/>
          </p:nvPr>
        </p:nvSpPr>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ー 3">
            <a:extLst>
              <a:ext uri="{FF2B5EF4-FFF2-40B4-BE49-F238E27FC236}">
                <a16:creationId xmlns:a16="http://schemas.microsoft.com/office/drawing/2014/main" id="{98B26879-4594-4C3F-BFFA-F4CB8674F4A9}"/>
              </a:ext>
            </a:extLst>
          </p:cNvPr>
          <p:cNvSpPr>
            <a:spLocks noGrp="1"/>
          </p:cNvSpPr>
          <p:nvPr>
            <p:ph type="dt" sz="half" idx="10"/>
          </p:nvPr>
        </p:nvSpPr>
        <p:spPr/>
        <p:txBody>
          <a:bodyPr/>
          <a:lstStyle/>
          <a:p>
            <a:fld id="{E9CC885B-4903-4D54-9A93-00025F12DED9}" type="datetimeFigureOut">
              <a:rPr kumimoji="1" lang="ja-JP" altLang="en-US" smtClean="0"/>
              <a:t>2025/4/9</a:t>
            </a:fld>
            <a:endParaRPr kumimoji="1" lang="ja-JP" altLang="en-US"/>
          </a:p>
        </p:txBody>
      </p:sp>
      <p:sp>
        <p:nvSpPr>
          <p:cNvPr id="5" name="フッター プレースホルダー 4">
            <a:extLst>
              <a:ext uri="{FF2B5EF4-FFF2-40B4-BE49-F238E27FC236}">
                <a16:creationId xmlns:a16="http://schemas.microsoft.com/office/drawing/2014/main" id="{F5FC6BE6-BB12-4008-B4BA-62D249C49909}"/>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26B8CAC6-4A91-4F74-9267-5C30714BF978}"/>
              </a:ext>
            </a:extLst>
          </p:cNvPr>
          <p:cNvSpPr>
            <a:spLocks noGrp="1"/>
          </p:cNvSpPr>
          <p:nvPr>
            <p:ph type="sldNum" sz="quarter" idx="12"/>
          </p:nvPr>
        </p:nvSpPr>
        <p:spPr/>
        <p:txBody>
          <a:bodyPr/>
          <a:lstStyle/>
          <a:p>
            <a:fld id="{D812AE58-48EE-4ADF-80EA-6426EE982FE8}" type="slidenum">
              <a:rPr kumimoji="1" lang="ja-JP" altLang="en-US" smtClean="0"/>
              <a:t>‹#›</a:t>
            </a:fld>
            <a:endParaRPr kumimoji="1" lang="ja-JP" altLang="en-US"/>
          </a:p>
        </p:txBody>
      </p:sp>
    </p:spTree>
    <p:extLst>
      <p:ext uri="{BB962C8B-B14F-4D97-AF65-F5344CB8AC3E}">
        <p14:creationId xmlns:p14="http://schemas.microsoft.com/office/powerpoint/2010/main" val="380247357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セクション見出し">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8078AD04-3137-4B16-97B1-DC1252F678A1}"/>
              </a:ext>
            </a:extLst>
          </p:cNvPr>
          <p:cNvSpPr>
            <a:spLocks noGrp="1"/>
          </p:cNvSpPr>
          <p:nvPr>
            <p:ph type="title"/>
          </p:nvPr>
        </p:nvSpPr>
        <p:spPr>
          <a:xfrm>
            <a:off x="831850" y="1709738"/>
            <a:ext cx="10515600" cy="2852737"/>
          </a:xfrm>
        </p:spPr>
        <p:txBody>
          <a:bodyPr anchor="b"/>
          <a:lstStyle>
            <a:lvl1pPr>
              <a:defRPr sz="6000"/>
            </a:lvl1pPr>
          </a:lstStyle>
          <a:p>
            <a:r>
              <a:rPr kumimoji="1" lang="ja-JP" altLang="en-US"/>
              <a:t>マスター タイトルの書式設定</a:t>
            </a:r>
          </a:p>
        </p:txBody>
      </p:sp>
      <p:sp>
        <p:nvSpPr>
          <p:cNvPr id="3" name="テキスト プレースホルダー 2">
            <a:extLst>
              <a:ext uri="{FF2B5EF4-FFF2-40B4-BE49-F238E27FC236}">
                <a16:creationId xmlns:a16="http://schemas.microsoft.com/office/drawing/2014/main" id="{9BF8FC57-7A4A-4196-89B9-B1A6197D4229}"/>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kumimoji="1" lang="ja-JP" altLang="en-US"/>
              <a:t>マスター テキストの書式設定</a:t>
            </a:r>
          </a:p>
        </p:txBody>
      </p:sp>
      <p:sp>
        <p:nvSpPr>
          <p:cNvPr id="4" name="日付プレースホルダー 3">
            <a:extLst>
              <a:ext uri="{FF2B5EF4-FFF2-40B4-BE49-F238E27FC236}">
                <a16:creationId xmlns:a16="http://schemas.microsoft.com/office/drawing/2014/main" id="{5CB80319-F15F-4C62-95BA-15B326F988A2}"/>
              </a:ext>
            </a:extLst>
          </p:cNvPr>
          <p:cNvSpPr>
            <a:spLocks noGrp="1"/>
          </p:cNvSpPr>
          <p:nvPr>
            <p:ph type="dt" sz="half" idx="10"/>
          </p:nvPr>
        </p:nvSpPr>
        <p:spPr/>
        <p:txBody>
          <a:bodyPr/>
          <a:lstStyle/>
          <a:p>
            <a:fld id="{E9CC885B-4903-4D54-9A93-00025F12DED9}" type="datetimeFigureOut">
              <a:rPr kumimoji="1" lang="ja-JP" altLang="en-US" smtClean="0"/>
              <a:t>2025/4/9</a:t>
            </a:fld>
            <a:endParaRPr kumimoji="1" lang="ja-JP" altLang="en-US"/>
          </a:p>
        </p:txBody>
      </p:sp>
      <p:sp>
        <p:nvSpPr>
          <p:cNvPr id="5" name="フッター プレースホルダー 4">
            <a:extLst>
              <a:ext uri="{FF2B5EF4-FFF2-40B4-BE49-F238E27FC236}">
                <a16:creationId xmlns:a16="http://schemas.microsoft.com/office/drawing/2014/main" id="{C89F0141-2F76-4B73-AAE0-1EDFEEA42E37}"/>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11F3A285-8438-4738-B4CE-18FC566351C3}"/>
              </a:ext>
            </a:extLst>
          </p:cNvPr>
          <p:cNvSpPr>
            <a:spLocks noGrp="1"/>
          </p:cNvSpPr>
          <p:nvPr>
            <p:ph type="sldNum" sz="quarter" idx="12"/>
          </p:nvPr>
        </p:nvSpPr>
        <p:spPr/>
        <p:txBody>
          <a:bodyPr/>
          <a:lstStyle/>
          <a:p>
            <a:fld id="{D812AE58-48EE-4ADF-80EA-6426EE982FE8}" type="slidenum">
              <a:rPr kumimoji="1" lang="ja-JP" altLang="en-US" smtClean="0"/>
              <a:t>‹#›</a:t>
            </a:fld>
            <a:endParaRPr kumimoji="1" lang="ja-JP" altLang="en-US"/>
          </a:p>
        </p:txBody>
      </p:sp>
    </p:spTree>
    <p:extLst>
      <p:ext uri="{BB962C8B-B14F-4D97-AF65-F5344CB8AC3E}">
        <p14:creationId xmlns:p14="http://schemas.microsoft.com/office/powerpoint/2010/main" val="2081407608"/>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2 つのコンテンツ">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3539AAF0-C896-4BE5-8FCC-343208524824}"/>
              </a:ext>
            </a:extLst>
          </p:cNvPr>
          <p:cNvSpPr>
            <a:spLocks noGrp="1"/>
          </p:cNvSpPr>
          <p:nvPr>
            <p:ph type="title"/>
          </p:nvPr>
        </p:nvSpPr>
        <p:spPr/>
        <p:txBody>
          <a:bodyPr/>
          <a:lstStyle/>
          <a:p>
            <a:r>
              <a:rPr kumimoji="1" lang="ja-JP" altLang="en-US"/>
              <a:t>マスター タイトルの書式設定</a:t>
            </a:r>
          </a:p>
        </p:txBody>
      </p:sp>
      <p:sp>
        <p:nvSpPr>
          <p:cNvPr id="3" name="コンテンツ プレースホルダー 2">
            <a:extLst>
              <a:ext uri="{FF2B5EF4-FFF2-40B4-BE49-F238E27FC236}">
                <a16:creationId xmlns:a16="http://schemas.microsoft.com/office/drawing/2014/main" id="{A96C332E-2DEA-4D46-8FEF-31D60DD975BC}"/>
              </a:ext>
            </a:extLst>
          </p:cNvPr>
          <p:cNvSpPr>
            <a:spLocks noGrp="1"/>
          </p:cNvSpPr>
          <p:nvPr>
            <p:ph sz="half" idx="1"/>
          </p:nvPr>
        </p:nvSpPr>
        <p:spPr>
          <a:xfrm>
            <a:off x="838200" y="1825625"/>
            <a:ext cx="5181600" cy="4351338"/>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コンテンツ プレースホルダー 3">
            <a:extLst>
              <a:ext uri="{FF2B5EF4-FFF2-40B4-BE49-F238E27FC236}">
                <a16:creationId xmlns:a16="http://schemas.microsoft.com/office/drawing/2014/main" id="{F9D3FC79-3A15-47E8-8DC1-B5A928FF7FF2}"/>
              </a:ext>
            </a:extLst>
          </p:cNvPr>
          <p:cNvSpPr>
            <a:spLocks noGrp="1"/>
          </p:cNvSpPr>
          <p:nvPr>
            <p:ph sz="half" idx="2"/>
          </p:nvPr>
        </p:nvSpPr>
        <p:spPr>
          <a:xfrm>
            <a:off x="6172200" y="1825625"/>
            <a:ext cx="5181600" cy="4351338"/>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5" name="日付プレースホルダー 4">
            <a:extLst>
              <a:ext uri="{FF2B5EF4-FFF2-40B4-BE49-F238E27FC236}">
                <a16:creationId xmlns:a16="http://schemas.microsoft.com/office/drawing/2014/main" id="{E6AC8BB6-CC26-4AE8-B477-9A47780715C5}"/>
              </a:ext>
            </a:extLst>
          </p:cNvPr>
          <p:cNvSpPr>
            <a:spLocks noGrp="1"/>
          </p:cNvSpPr>
          <p:nvPr>
            <p:ph type="dt" sz="half" idx="10"/>
          </p:nvPr>
        </p:nvSpPr>
        <p:spPr/>
        <p:txBody>
          <a:bodyPr/>
          <a:lstStyle/>
          <a:p>
            <a:fld id="{E9CC885B-4903-4D54-9A93-00025F12DED9}" type="datetimeFigureOut">
              <a:rPr kumimoji="1" lang="ja-JP" altLang="en-US" smtClean="0"/>
              <a:t>2025/4/9</a:t>
            </a:fld>
            <a:endParaRPr kumimoji="1" lang="ja-JP" altLang="en-US"/>
          </a:p>
        </p:txBody>
      </p:sp>
      <p:sp>
        <p:nvSpPr>
          <p:cNvPr id="6" name="フッター プレースホルダー 5">
            <a:extLst>
              <a:ext uri="{FF2B5EF4-FFF2-40B4-BE49-F238E27FC236}">
                <a16:creationId xmlns:a16="http://schemas.microsoft.com/office/drawing/2014/main" id="{0D813CBF-5D01-4CF4-BD63-C8FC321B2429}"/>
              </a:ext>
            </a:extLst>
          </p:cNvPr>
          <p:cNvSpPr>
            <a:spLocks noGrp="1"/>
          </p:cNvSpPr>
          <p:nvPr>
            <p:ph type="ftr" sz="quarter" idx="11"/>
          </p:nvPr>
        </p:nvSpPr>
        <p:spPr/>
        <p:txBody>
          <a:bodyPr/>
          <a:lstStyle/>
          <a:p>
            <a:endParaRPr kumimoji="1" lang="ja-JP" altLang="en-US"/>
          </a:p>
        </p:txBody>
      </p:sp>
      <p:sp>
        <p:nvSpPr>
          <p:cNvPr id="7" name="スライド番号プレースホルダー 6">
            <a:extLst>
              <a:ext uri="{FF2B5EF4-FFF2-40B4-BE49-F238E27FC236}">
                <a16:creationId xmlns:a16="http://schemas.microsoft.com/office/drawing/2014/main" id="{4123F9A7-54F5-421C-9A71-CC8C4BC92376}"/>
              </a:ext>
            </a:extLst>
          </p:cNvPr>
          <p:cNvSpPr>
            <a:spLocks noGrp="1"/>
          </p:cNvSpPr>
          <p:nvPr>
            <p:ph type="sldNum" sz="quarter" idx="12"/>
          </p:nvPr>
        </p:nvSpPr>
        <p:spPr/>
        <p:txBody>
          <a:bodyPr/>
          <a:lstStyle/>
          <a:p>
            <a:fld id="{D812AE58-48EE-4ADF-80EA-6426EE982FE8}" type="slidenum">
              <a:rPr kumimoji="1" lang="ja-JP" altLang="en-US" smtClean="0"/>
              <a:t>‹#›</a:t>
            </a:fld>
            <a:endParaRPr kumimoji="1" lang="ja-JP" altLang="en-US"/>
          </a:p>
        </p:txBody>
      </p:sp>
    </p:spTree>
    <p:extLst>
      <p:ext uri="{BB962C8B-B14F-4D97-AF65-F5344CB8AC3E}">
        <p14:creationId xmlns:p14="http://schemas.microsoft.com/office/powerpoint/2010/main" val="3152028206"/>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比較">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3E9A2E9A-2DDB-4057-9711-D792B04FFD0C}"/>
              </a:ext>
            </a:extLst>
          </p:cNvPr>
          <p:cNvSpPr>
            <a:spLocks noGrp="1"/>
          </p:cNvSpPr>
          <p:nvPr>
            <p:ph type="title"/>
          </p:nvPr>
        </p:nvSpPr>
        <p:spPr>
          <a:xfrm>
            <a:off x="839788" y="365125"/>
            <a:ext cx="10515600" cy="1325563"/>
          </a:xfrm>
        </p:spPr>
        <p:txBody>
          <a:bodyPr/>
          <a:lstStyle/>
          <a:p>
            <a:r>
              <a:rPr kumimoji="1" lang="ja-JP" altLang="en-US"/>
              <a:t>マスター タイトルの書式設定</a:t>
            </a:r>
          </a:p>
        </p:txBody>
      </p:sp>
      <p:sp>
        <p:nvSpPr>
          <p:cNvPr id="3" name="テキスト プレースホルダー 2">
            <a:extLst>
              <a:ext uri="{FF2B5EF4-FFF2-40B4-BE49-F238E27FC236}">
                <a16:creationId xmlns:a16="http://schemas.microsoft.com/office/drawing/2014/main" id="{32E5496D-7437-4ADF-BF05-1B99ACC09107}"/>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kumimoji="1" lang="ja-JP" altLang="en-US"/>
              <a:t>マスター テキストの書式設定</a:t>
            </a:r>
          </a:p>
        </p:txBody>
      </p:sp>
      <p:sp>
        <p:nvSpPr>
          <p:cNvPr id="4" name="コンテンツ プレースホルダー 3">
            <a:extLst>
              <a:ext uri="{FF2B5EF4-FFF2-40B4-BE49-F238E27FC236}">
                <a16:creationId xmlns:a16="http://schemas.microsoft.com/office/drawing/2014/main" id="{48A11600-06C5-424A-B2EA-FFEF7E75EAA5}"/>
              </a:ext>
            </a:extLst>
          </p:cNvPr>
          <p:cNvSpPr>
            <a:spLocks noGrp="1"/>
          </p:cNvSpPr>
          <p:nvPr>
            <p:ph sz="half" idx="2"/>
          </p:nvPr>
        </p:nvSpPr>
        <p:spPr>
          <a:xfrm>
            <a:off x="839788" y="2505075"/>
            <a:ext cx="5157787" cy="3684588"/>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5" name="テキスト プレースホルダー 4">
            <a:extLst>
              <a:ext uri="{FF2B5EF4-FFF2-40B4-BE49-F238E27FC236}">
                <a16:creationId xmlns:a16="http://schemas.microsoft.com/office/drawing/2014/main" id="{43408E51-ED83-4218-8378-F0B44E296ECD}"/>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kumimoji="1" lang="ja-JP" altLang="en-US"/>
              <a:t>マスター テキストの書式設定</a:t>
            </a:r>
          </a:p>
        </p:txBody>
      </p:sp>
      <p:sp>
        <p:nvSpPr>
          <p:cNvPr id="6" name="コンテンツ プレースホルダー 5">
            <a:extLst>
              <a:ext uri="{FF2B5EF4-FFF2-40B4-BE49-F238E27FC236}">
                <a16:creationId xmlns:a16="http://schemas.microsoft.com/office/drawing/2014/main" id="{3D26C0C0-145F-4A52-BA72-D19A2971D5E1}"/>
              </a:ext>
            </a:extLst>
          </p:cNvPr>
          <p:cNvSpPr>
            <a:spLocks noGrp="1"/>
          </p:cNvSpPr>
          <p:nvPr>
            <p:ph sz="quarter" idx="4"/>
          </p:nvPr>
        </p:nvSpPr>
        <p:spPr>
          <a:xfrm>
            <a:off x="6172200" y="2505075"/>
            <a:ext cx="5183188" cy="3684588"/>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7" name="日付プレースホルダー 6">
            <a:extLst>
              <a:ext uri="{FF2B5EF4-FFF2-40B4-BE49-F238E27FC236}">
                <a16:creationId xmlns:a16="http://schemas.microsoft.com/office/drawing/2014/main" id="{F649033F-9C86-42B4-AB90-0FE47F39E39A}"/>
              </a:ext>
            </a:extLst>
          </p:cNvPr>
          <p:cNvSpPr>
            <a:spLocks noGrp="1"/>
          </p:cNvSpPr>
          <p:nvPr>
            <p:ph type="dt" sz="half" idx="10"/>
          </p:nvPr>
        </p:nvSpPr>
        <p:spPr/>
        <p:txBody>
          <a:bodyPr/>
          <a:lstStyle/>
          <a:p>
            <a:fld id="{E9CC885B-4903-4D54-9A93-00025F12DED9}" type="datetimeFigureOut">
              <a:rPr kumimoji="1" lang="ja-JP" altLang="en-US" smtClean="0"/>
              <a:t>2025/4/9</a:t>
            </a:fld>
            <a:endParaRPr kumimoji="1" lang="ja-JP" altLang="en-US"/>
          </a:p>
        </p:txBody>
      </p:sp>
      <p:sp>
        <p:nvSpPr>
          <p:cNvPr id="8" name="フッター プレースホルダー 7">
            <a:extLst>
              <a:ext uri="{FF2B5EF4-FFF2-40B4-BE49-F238E27FC236}">
                <a16:creationId xmlns:a16="http://schemas.microsoft.com/office/drawing/2014/main" id="{F73F9DE8-EAB7-4A80-BF64-725C6DF460D7}"/>
              </a:ext>
            </a:extLst>
          </p:cNvPr>
          <p:cNvSpPr>
            <a:spLocks noGrp="1"/>
          </p:cNvSpPr>
          <p:nvPr>
            <p:ph type="ftr" sz="quarter" idx="11"/>
          </p:nvPr>
        </p:nvSpPr>
        <p:spPr/>
        <p:txBody>
          <a:bodyPr/>
          <a:lstStyle/>
          <a:p>
            <a:endParaRPr kumimoji="1" lang="ja-JP" altLang="en-US"/>
          </a:p>
        </p:txBody>
      </p:sp>
      <p:sp>
        <p:nvSpPr>
          <p:cNvPr id="9" name="スライド番号プレースホルダー 8">
            <a:extLst>
              <a:ext uri="{FF2B5EF4-FFF2-40B4-BE49-F238E27FC236}">
                <a16:creationId xmlns:a16="http://schemas.microsoft.com/office/drawing/2014/main" id="{71D0069B-43F7-430A-8C9D-C2BA7B92ECD2}"/>
              </a:ext>
            </a:extLst>
          </p:cNvPr>
          <p:cNvSpPr>
            <a:spLocks noGrp="1"/>
          </p:cNvSpPr>
          <p:nvPr>
            <p:ph type="sldNum" sz="quarter" idx="12"/>
          </p:nvPr>
        </p:nvSpPr>
        <p:spPr/>
        <p:txBody>
          <a:bodyPr/>
          <a:lstStyle/>
          <a:p>
            <a:fld id="{D812AE58-48EE-4ADF-80EA-6426EE982FE8}" type="slidenum">
              <a:rPr kumimoji="1" lang="ja-JP" altLang="en-US" smtClean="0"/>
              <a:t>‹#›</a:t>
            </a:fld>
            <a:endParaRPr kumimoji="1" lang="ja-JP" altLang="en-US"/>
          </a:p>
        </p:txBody>
      </p:sp>
    </p:spTree>
    <p:extLst>
      <p:ext uri="{BB962C8B-B14F-4D97-AF65-F5344CB8AC3E}">
        <p14:creationId xmlns:p14="http://schemas.microsoft.com/office/powerpoint/2010/main" val="1254653158"/>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タイトルのみ">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7CD48D3C-20F1-4E20-8FBC-734E9D946A78}"/>
              </a:ext>
            </a:extLst>
          </p:cNvPr>
          <p:cNvSpPr>
            <a:spLocks noGrp="1"/>
          </p:cNvSpPr>
          <p:nvPr>
            <p:ph type="title"/>
          </p:nvPr>
        </p:nvSpPr>
        <p:spPr/>
        <p:txBody>
          <a:bodyPr/>
          <a:lstStyle/>
          <a:p>
            <a:r>
              <a:rPr kumimoji="1" lang="ja-JP" altLang="en-US"/>
              <a:t>マスター タイトルの書式設定</a:t>
            </a:r>
          </a:p>
        </p:txBody>
      </p:sp>
      <p:sp>
        <p:nvSpPr>
          <p:cNvPr id="3" name="日付プレースホルダー 2">
            <a:extLst>
              <a:ext uri="{FF2B5EF4-FFF2-40B4-BE49-F238E27FC236}">
                <a16:creationId xmlns:a16="http://schemas.microsoft.com/office/drawing/2014/main" id="{B2E416B3-4C21-4278-9B88-62D41335DC9D}"/>
              </a:ext>
            </a:extLst>
          </p:cNvPr>
          <p:cNvSpPr>
            <a:spLocks noGrp="1"/>
          </p:cNvSpPr>
          <p:nvPr>
            <p:ph type="dt" sz="half" idx="10"/>
          </p:nvPr>
        </p:nvSpPr>
        <p:spPr/>
        <p:txBody>
          <a:bodyPr/>
          <a:lstStyle/>
          <a:p>
            <a:fld id="{E9CC885B-4903-4D54-9A93-00025F12DED9}" type="datetimeFigureOut">
              <a:rPr kumimoji="1" lang="ja-JP" altLang="en-US" smtClean="0"/>
              <a:t>2025/4/9</a:t>
            </a:fld>
            <a:endParaRPr kumimoji="1" lang="ja-JP" altLang="en-US"/>
          </a:p>
        </p:txBody>
      </p:sp>
      <p:sp>
        <p:nvSpPr>
          <p:cNvPr id="4" name="フッター プレースホルダー 3">
            <a:extLst>
              <a:ext uri="{FF2B5EF4-FFF2-40B4-BE49-F238E27FC236}">
                <a16:creationId xmlns:a16="http://schemas.microsoft.com/office/drawing/2014/main" id="{3EBA727E-E9E7-4EA2-B6ED-8CF036F2B5DA}"/>
              </a:ext>
            </a:extLst>
          </p:cNvPr>
          <p:cNvSpPr>
            <a:spLocks noGrp="1"/>
          </p:cNvSpPr>
          <p:nvPr>
            <p:ph type="ftr" sz="quarter" idx="11"/>
          </p:nvPr>
        </p:nvSpPr>
        <p:spPr/>
        <p:txBody>
          <a:bodyPr/>
          <a:lstStyle/>
          <a:p>
            <a:endParaRPr kumimoji="1" lang="ja-JP" altLang="en-US"/>
          </a:p>
        </p:txBody>
      </p:sp>
      <p:sp>
        <p:nvSpPr>
          <p:cNvPr id="5" name="スライド番号プレースホルダー 4">
            <a:extLst>
              <a:ext uri="{FF2B5EF4-FFF2-40B4-BE49-F238E27FC236}">
                <a16:creationId xmlns:a16="http://schemas.microsoft.com/office/drawing/2014/main" id="{8DC1C47C-5B0A-471B-BB77-77BE62B99175}"/>
              </a:ext>
            </a:extLst>
          </p:cNvPr>
          <p:cNvSpPr>
            <a:spLocks noGrp="1"/>
          </p:cNvSpPr>
          <p:nvPr>
            <p:ph type="sldNum" sz="quarter" idx="12"/>
          </p:nvPr>
        </p:nvSpPr>
        <p:spPr/>
        <p:txBody>
          <a:bodyPr/>
          <a:lstStyle/>
          <a:p>
            <a:fld id="{D812AE58-48EE-4ADF-80EA-6426EE982FE8}" type="slidenum">
              <a:rPr kumimoji="1" lang="ja-JP" altLang="en-US" smtClean="0"/>
              <a:t>‹#›</a:t>
            </a:fld>
            <a:endParaRPr kumimoji="1" lang="ja-JP" altLang="en-US"/>
          </a:p>
        </p:txBody>
      </p:sp>
    </p:spTree>
    <p:extLst>
      <p:ext uri="{BB962C8B-B14F-4D97-AF65-F5344CB8AC3E}">
        <p14:creationId xmlns:p14="http://schemas.microsoft.com/office/powerpoint/2010/main" val="16530853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白紙">
    <p:spTree>
      <p:nvGrpSpPr>
        <p:cNvPr id="1" name=""/>
        <p:cNvGrpSpPr/>
        <p:nvPr/>
      </p:nvGrpSpPr>
      <p:grpSpPr>
        <a:xfrm>
          <a:off x="0" y="0"/>
          <a:ext cx="0" cy="0"/>
          <a:chOff x="0" y="0"/>
          <a:chExt cx="0" cy="0"/>
        </a:xfrm>
      </p:grpSpPr>
      <p:sp>
        <p:nvSpPr>
          <p:cNvPr id="2" name="日付プレースホルダー 1">
            <a:extLst>
              <a:ext uri="{FF2B5EF4-FFF2-40B4-BE49-F238E27FC236}">
                <a16:creationId xmlns:a16="http://schemas.microsoft.com/office/drawing/2014/main" id="{E55C2DD0-D598-4A5F-B542-7C6806B2F749}"/>
              </a:ext>
            </a:extLst>
          </p:cNvPr>
          <p:cNvSpPr>
            <a:spLocks noGrp="1"/>
          </p:cNvSpPr>
          <p:nvPr>
            <p:ph type="dt" sz="half" idx="10"/>
          </p:nvPr>
        </p:nvSpPr>
        <p:spPr/>
        <p:txBody>
          <a:bodyPr/>
          <a:lstStyle/>
          <a:p>
            <a:fld id="{E9CC885B-4903-4D54-9A93-00025F12DED9}" type="datetimeFigureOut">
              <a:rPr kumimoji="1" lang="ja-JP" altLang="en-US" smtClean="0"/>
              <a:t>2025/4/9</a:t>
            </a:fld>
            <a:endParaRPr kumimoji="1" lang="ja-JP" altLang="en-US"/>
          </a:p>
        </p:txBody>
      </p:sp>
      <p:sp>
        <p:nvSpPr>
          <p:cNvPr id="3" name="フッター プレースホルダー 2">
            <a:extLst>
              <a:ext uri="{FF2B5EF4-FFF2-40B4-BE49-F238E27FC236}">
                <a16:creationId xmlns:a16="http://schemas.microsoft.com/office/drawing/2014/main" id="{2260FD2A-DF3F-46FE-B2F8-14D9A2069736}"/>
              </a:ext>
            </a:extLst>
          </p:cNvPr>
          <p:cNvSpPr>
            <a:spLocks noGrp="1"/>
          </p:cNvSpPr>
          <p:nvPr>
            <p:ph type="ftr" sz="quarter" idx="11"/>
          </p:nvPr>
        </p:nvSpPr>
        <p:spPr/>
        <p:txBody>
          <a:bodyPr/>
          <a:lstStyle/>
          <a:p>
            <a:endParaRPr kumimoji="1" lang="ja-JP" altLang="en-US"/>
          </a:p>
        </p:txBody>
      </p:sp>
      <p:sp>
        <p:nvSpPr>
          <p:cNvPr id="4" name="スライド番号プレースホルダー 3">
            <a:extLst>
              <a:ext uri="{FF2B5EF4-FFF2-40B4-BE49-F238E27FC236}">
                <a16:creationId xmlns:a16="http://schemas.microsoft.com/office/drawing/2014/main" id="{52EF1C2C-6093-4ADD-9BFE-41DB125AD370}"/>
              </a:ext>
            </a:extLst>
          </p:cNvPr>
          <p:cNvSpPr>
            <a:spLocks noGrp="1"/>
          </p:cNvSpPr>
          <p:nvPr>
            <p:ph type="sldNum" sz="quarter" idx="12"/>
          </p:nvPr>
        </p:nvSpPr>
        <p:spPr/>
        <p:txBody>
          <a:bodyPr/>
          <a:lstStyle/>
          <a:p>
            <a:fld id="{D812AE58-48EE-4ADF-80EA-6426EE982FE8}" type="slidenum">
              <a:rPr kumimoji="1" lang="ja-JP" altLang="en-US" smtClean="0"/>
              <a:t>‹#›</a:t>
            </a:fld>
            <a:endParaRPr kumimoji="1" lang="ja-JP" altLang="en-US"/>
          </a:p>
        </p:txBody>
      </p:sp>
    </p:spTree>
    <p:extLst>
      <p:ext uri="{BB962C8B-B14F-4D97-AF65-F5344CB8AC3E}">
        <p14:creationId xmlns:p14="http://schemas.microsoft.com/office/powerpoint/2010/main" val="2420414555"/>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タイトル付きのコンテンツ">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8A35797B-0171-40BC-BCA2-0C1BA0D4C304}"/>
              </a:ext>
            </a:extLst>
          </p:cNvPr>
          <p:cNvSpPr>
            <a:spLocks noGrp="1"/>
          </p:cNvSpPr>
          <p:nvPr>
            <p:ph type="title"/>
          </p:nvPr>
        </p:nvSpPr>
        <p:spPr>
          <a:xfrm>
            <a:off x="839788" y="457200"/>
            <a:ext cx="3932237" cy="1600200"/>
          </a:xfrm>
        </p:spPr>
        <p:txBody>
          <a:bodyPr anchor="b"/>
          <a:lstStyle>
            <a:lvl1pPr>
              <a:defRPr sz="3200"/>
            </a:lvl1pPr>
          </a:lstStyle>
          <a:p>
            <a:r>
              <a:rPr kumimoji="1" lang="ja-JP" altLang="en-US"/>
              <a:t>マスター タイトルの書式設定</a:t>
            </a:r>
          </a:p>
        </p:txBody>
      </p:sp>
      <p:sp>
        <p:nvSpPr>
          <p:cNvPr id="3" name="コンテンツ プレースホルダー 2">
            <a:extLst>
              <a:ext uri="{FF2B5EF4-FFF2-40B4-BE49-F238E27FC236}">
                <a16:creationId xmlns:a16="http://schemas.microsoft.com/office/drawing/2014/main" id="{579CB0DB-618C-450C-BE67-5FD277B25D6D}"/>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テキスト プレースホルダー 3">
            <a:extLst>
              <a:ext uri="{FF2B5EF4-FFF2-40B4-BE49-F238E27FC236}">
                <a16:creationId xmlns:a16="http://schemas.microsoft.com/office/drawing/2014/main" id="{42CC888D-BF8F-439D-9FC7-2DD4A8D750E7}"/>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kumimoji="1" lang="ja-JP" altLang="en-US"/>
              <a:t>マスター テキストの書式設定</a:t>
            </a:r>
          </a:p>
        </p:txBody>
      </p:sp>
      <p:sp>
        <p:nvSpPr>
          <p:cNvPr id="5" name="日付プレースホルダー 4">
            <a:extLst>
              <a:ext uri="{FF2B5EF4-FFF2-40B4-BE49-F238E27FC236}">
                <a16:creationId xmlns:a16="http://schemas.microsoft.com/office/drawing/2014/main" id="{A4C2FA2E-4305-4946-8BDE-7AE113CDE687}"/>
              </a:ext>
            </a:extLst>
          </p:cNvPr>
          <p:cNvSpPr>
            <a:spLocks noGrp="1"/>
          </p:cNvSpPr>
          <p:nvPr>
            <p:ph type="dt" sz="half" idx="10"/>
          </p:nvPr>
        </p:nvSpPr>
        <p:spPr/>
        <p:txBody>
          <a:bodyPr/>
          <a:lstStyle/>
          <a:p>
            <a:fld id="{E9CC885B-4903-4D54-9A93-00025F12DED9}" type="datetimeFigureOut">
              <a:rPr kumimoji="1" lang="ja-JP" altLang="en-US" smtClean="0"/>
              <a:t>2025/4/9</a:t>
            </a:fld>
            <a:endParaRPr kumimoji="1" lang="ja-JP" altLang="en-US"/>
          </a:p>
        </p:txBody>
      </p:sp>
      <p:sp>
        <p:nvSpPr>
          <p:cNvPr id="6" name="フッター プレースホルダー 5">
            <a:extLst>
              <a:ext uri="{FF2B5EF4-FFF2-40B4-BE49-F238E27FC236}">
                <a16:creationId xmlns:a16="http://schemas.microsoft.com/office/drawing/2014/main" id="{BBA070CF-301C-4595-8007-2A2C19DFE06A}"/>
              </a:ext>
            </a:extLst>
          </p:cNvPr>
          <p:cNvSpPr>
            <a:spLocks noGrp="1"/>
          </p:cNvSpPr>
          <p:nvPr>
            <p:ph type="ftr" sz="quarter" idx="11"/>
          </p:nvPr>
        </p:nvSpPr>
        <p:spPr/>
        <p:txBody>
          <a:bodyPr/>
          <a:lstStyle/>
          <a:p>
            <a:endParaRPr kumimoji="1" lang="ja-JP" altLang="en-US"/>
          </a:p>
        </p:txBody>
      </p:sp>
      <p:sp>
        <p:nvSpPr>
          <p:cNvPr id="7" name="スライド番号プレースホルダー 6">
            <a:extLst>
              <a:ext uri="{FF2B5EF4-FFF2-40B4-BE49-F238E27FC236}">
                <a16:creationId xmlns:a16="http://schemas.microsoft.com/office/drawing/2014/main" id="{E3E21C8C-DA9E-4E6B-B45C-C2C4D38971B1}"/>
              </a:ext>
            </a:extLst>
          </p:cNvPr>
          <p:cNvSpPr>
            <a:spLocks noGrp="1"/>
          </p:cNvSpPr>
          <p:nvPr>
            <p:ph type="sldNum" sz="quarter" idx="12"/>
          </p:nvPr>
        </p:nvSpPr>
        <p:spPr/>
        <p:txBody>
          <a:bodyPr/>
          <a:lstStyle/>
          <a:p>
            <a:fld id="{D812AE58-48EE-4ADF-80EA-6426EE982FE8}" type="slidenum">
              <a:rPr kumimoji="1" lang="ja-JP" altLang="en-US" smtClean="0"/>
              <a:t>‹#›</a:t>
            </a:fld>
            <a:endParaRPr kumimoji="1" lang="ja-JP" altLang="en-US"/>
          </a:p>
        </p:txBody>
      </p:sp>
    </p:spTree>
    <p:extLst>
      <p:ext uri="{BB962C8B-B14F-4D97-AF65-F5344CB8AC3E}">
        <p14:creationId xmlns:p14="http://schemas.microsoft.com/office/powerpoint/2010/main" val="306692950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タイトル付きの図">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300F7326-6BA4-4DC0-9519-87D04747ED89}"/>
              </a:ext>
            </a:extLst>
          </p:cNvPr>
          <p:cNvSpPr>
            <a:spLocks noGrp="1"/>
          </p:cNvSpPr>
          <p:nvPr>
            <p:ph type="title"/>
          </p:nvPr>
        </p:nvSpPr>
        <p:spPr>
          <a:xfrm>
            <a:off x="839788" y="457200"/>
            <a:ext cx="3932237" cy="1600200"/>
          </a:xfrm>
        </p:spPr>
        <p:txBody>
          <a:bodyPr anchor="b"/>
          <a:lstStyle>
            <a:lvl1pPr>
              <a:defRPr sz="3200"/>
            </a:lvl1pPr>
          </a:lstStyle>
          <a:p>
            <a:r>
              <a:rPr kumimoji="1" lang="ja-JP" altLang="en-US"/>
              <a:t>マスター タイトルの書式設定</a:t>
            </a:r>
          </a:p>
        </p:txBody>
      </p:sp>
      <p:sp>
        <p:nvSpPr>
          <p:cNvPr id="3" name="図プレースホルダー 2">
            <a:extLst>
              <a:ext uri="{FF2B5EF4-FFF2-40B4-BE49-F238E27FC236}">
                <a16:creationId xmlns:a16="http://schemas.microsoft.com/office/drawing/2014/main" id="{3A1C2397-9613-4B24-A7D0-9EEE44E01C83}"/>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kumimoji="1" lang="ja-JP" altLang="en-US"/>
          </a:p>
        </p:txBody>
      </p:sp>
      <p:sp>
        <p:nvSpPr>
          <p:cNvPr id="4" name="テキスト プレースホルダー 3">
            <a:extLst>
              <a:ext uri="{FF2B5EF4-FFF2-40B4-BE49-F238E27FC236}">
                <a16:creationId xmlns:a16="http://schemas.microsoft.com/office/drawing/2014/main" id="{05462283-8239-49BE-9D96-00B24831B7C4}"/>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kumimoji="1" lang="ja-JP" altLang="en-US"/>
              <a:t>マスター テキストの書式設定</a:t>
            </a:r>
          </a:p>
        </p:txBody>
      </p:sp>
      <p:sp>
        <p:nvSpPr>
          <p:cNvPr id="5" name="日付プレースホルダー 4">
            <a:extLst>
              <a:ext uri="{FF2B5EF4-FFF2-40B4-BE49-F238E27FC236}">
                <a16:creationId xmlns:a16="http://schemas.microsoft.com/office/drawing/2014/main" id="{0F53455D-91B5-4938-AC24-CAFF77A6CD44}"/>
              </a:ext>
            </a:extLst>
          </p:cNvPr>
          <p:cNvSpPr>
            <a:spLocks noGrp="1"/>
          </p:cNvSpPr>
          <p:nvPr>
            <p:ph type="dt" sz="half" idx="10"/>
          </p:nvPr>
        </p:nvSpPr>
        <p:spPr/>
        <p:txBody>
          <a:bodyPr/>
          <a:lstStyle/>
          <a:p>
            <a:fld id="{E9CC885B-4903-4D54-9A93-00025F12DED9}" type="datetimeFigureOut">
              <a:rPr kumimoji="1" lang="ja-JP" altLang="en-US" smtClean="0"/>
              <a:t>2025/4/9</a:t>
            </a:fld>
            <a:endParaRPr kumimoji="1" lang="ja-JP" altLang="en-US"/>
          </a:p>
        </p:txBody>
      </p:sp>
      <p:sp>
        <p:nvSpPr>
          <p:cNvPr id="6" name="フッター プレースホルダー 5">
            <a:extLst>
              <a:ext uri="{FF2B5EF4-FFF2-40B4-BE49-F238E27FC236}">
                <a16:creationId xmlns:a16="http://schemas.microsoft.com/office/drawing/2014/main" id="{A7F23C7B-CEBC-48FC-81DC-98AFE68C2DE2}"/>
              </a:ext>
            </a:extLst>
          </p:cNvPr>
          <p:cNvSpPr>
            <a:spLocks noGrp="1"/>
          </p:cNvSpPr>
          <p:nvPr>
            <p:ph type="ftr" sz="quarter" idx="11"/>
          </p:nvPr>
        </p:nvSpPr>
        <p:spPr/>
        <p:txBody>
          <a:bodyPr/>
          <a:lstStyle/>
          <a:p>
            <a:endParaRPr kumimoji="1" lang="ja-JP" altLang="en-US"/>
          </a:p>
        </p:txBody>
      </p:sp>
      <p:sp>
        <p:nvSpPr>
          <p:cNvPr id="7" name="スライド番号プレースホルダー 6">
            <a:extLst>
              <a:ext uri="{FF2B5EF4-FFF2-40B4-BE49-F238E27FC236}">
                <a16:creationId xmlns:a16="http://schemas.microsoft.com/office/drawing/2014/main" id="{A7E65B5D-4A4C-4A6E-8AEB-3D88DC582730}"/>
              </a:ext>
            </a:extLst>
          </p:cNvPr>
          <p:cNvSpPr>
            <a:spLocks noGrp="1"/>
          </p:cNvSpPr>
          <p:nvPr>
            <p:ph type="sldNum" sz="quarter" idx="12"/>
          </p:nvPr>
        </p:nvSpPr>
        <p:spPr/>
        <p:txBody>
          <a:bodyPr/>
          <a:lstStyle/>
          <a:p>
            <a:fld id="{D812AE58-48EE-4ADF-80EA-6426EE982FE8}" type="slidenum">
              <a:rPr kumimoji="1" lang="ja-JP" altLang="en-US" smtClean="0"/>
              <a:t>‹#›</a:t>
            </a:fld>
            <a:endParaRPr kumimoji="1" lang="ja-JP" altLang="en-US"/>
          </a:p>
        </p:txBody>
      </p:sp>
    </p:spTree>
    <p:extLst>
      <p:ext uri="{BB962C8B-B14F-4D97-AF65-F5344CB8AC3E}">
        <p14:creationId xmlns:p14="http://schemas.microsoft.com/office/powerpoint/2010/main" val="315140241"/>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タイトルと縦書きテキスト">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62AE957E-488D-43B9-8182-2A1DEEF0F7DD}"/>
              </a:ext>
            </a:extLst>
          </p:cNvPr>
          <p:cNvSpPr>
            <a:spLocks noGrp="1"/>
          </p:cNvSpPr>
          <p:nvPr>
            <p:ph type="title"/>
          </p:nvPr>
        </p:nvSpPr>
        <p:spPr/>
        <p:txBody>
          <a:bodyPr/>
          <a:lstStyle/>
          <a:p>
            <a:r>
              <a:rPr kumimoji="1" lang="ja-JP" altLang="en-US"/>
              <a:t>マスター タイトルの書式設定</a:t>
            </a:r>
          </a:p>
        </p:txBody>
      </p:sp>
      <p:sp>
        <p:nvSpPr>
          <p:cNvPr id="3" name="縦書きテキスト プレースホルダー 2">
            <a:extLst>
              <a:ext uri="{FF2B5EF4-FFF2-40B4-BE49-F238E27FC236}">
                <a16:creationId xmlns:a16="http://schemas.microsoft.com/office/drawing/2014/main" id="{0E67B1EC-AFC1-41D0-BBB1-9A2E85E1399D}"/>
              </a:ext>
            </a:extLst>
          </p:cNvPr>
          <p:cNvSpPr>
            <a:spLocks noGrp="1"/>
          </p:cNvSpPr>
          <p:nvPr>
            <p:ph type="body" orient="vert" idx="1"/>
          </p:nvPr>
        </p:nvSpPr>
        <p:spPr/>
        <p:txBody>
          <a:bodyPr vert="eaVert"/>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ー 3">
            <a:extLst>
              <a:ext uri="{FF2B5EF4-FFF2-40B4-BE49-F238E27FC236}">
                <a16:creationId xmlns:a16="http://schemas.microsoft.com/office/drawing/2014/main" id="{31B76048-AF91-4C32-A054-6305C2928E9F}"/>
              </a:ext>
            </a:extLst>
          </p:cNvPr>
          <p:cNvSpPr>
            <a:spLocks noGrp="1"/>
          </p:cNvSpPr>
          <p:nvPr>
            <p:ph type="dt" sz="half" idx="10"/>
          </p:nvPr>
        </p:nvSpPr>
        <p:spPr/>
        <p:txBody>
          <a:bodyPr/>
          <a:lstStyle/>
          <a:p>
            <a:fld id="{E9CC885B-4903-4D54-9A93-00025F12DED9}" type="datetimeFigureOut">
              <a:rPr kumimoji="1" lang="ja-JP" altLang="en-US" smtClean="0"/>
              <a:t>2025/4/9</a:t>
            </a:fld>
            <a:endParaRPr kumimoji="1" lang="ja-JP" altLang="en-US"/>
          </a:p>
        </p:txBody>
      </p:sp>
      <p:sp>
        <p:nvSpPr>
          <p:cNvPr id="5" name="フッター プレースホルダー 4">
            <a:extLst>
              <a:ext uri="{FF2B5EF4-FFF2-40B4-BE49-F238E27FC236}">
                <a16:creationId xmlns:a16="http://schemas.microsoft.com/office/drawing/2014/main" id="{98C66A49-F960-4196-B16B-31B98B34013C}"/>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3D7A86F7-B140-4439-A33B-63EA8498DCAB}"/>
              </a:ext>
            </a:extLst>
          </p:cNvPr>
          <p:cNvSpPr>
            <a:spLocks noGrp="1"/>
          </p:cNvSpPr>
          <p:nvPr>
            <p:ph type="sldNum" sz="quarter" idx="12"/>
          </p:nvPr>
        </p:nvSpPr>
        <p:spPr/>
        <p:txBody>
          <a:bodyPr/>
          <a:lstStyle/>
          <a:p>
            <a:fld id="{D812AE58-48EE-4ADF-80EA-6426EE982FE8}" type="slidenum">
              <a:rPr kumimoji="1" lang="ja-JP" altLang="en-US" smtClean="0"/>
              <a:t>‹#›</a:t>
            </a:fld>
            <a:endParaRPr kumimoji="1" lang="ja-JP" altLang="en-US"/>
          </a:p>
        </p:txBody>
      </p:sp>
    </p:spTree>
    <p:extLst>
      <p:ext uri="{BB962C8B-B14F-4D97-AF65-F5344CB8AC3E}">
        <p14:creationId xmlns:p14="http://schemas.microsoft.com/office/powerpoint/2010/main" val="1485631909"/>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縦書きタイトルと&#10;縦書きテキスト">
    <p:spTree>
      <p:nvGrpSpPr>
        <p:cNvPr id="1" name=""/>
        <p:cNvGrpSpPr/>
        <p:nvPr/>
      </p:nvGrpSpPr>
      <p:grpSpPr>
        <a:xfrm>
          <a:off x="0" y="0"/>
          <a:ext cx="0" cy="0"/>
          <a:chOff x="0" y="0"/>
          <a:chExt cx="0" cy="0"/>
        </a:xfrm>
      </p:grpSpPr>
      <p:sp>
        <p:nvSpPr>
          <p:cNvPr id="2" name="縦書きタイトル 1">
            <a:extLst>
              <a:ext uri="{FF2B5EF4-FFF2-40B4-BE49-F238E27FC236}">
                <a16:creationId xmlns:a16="http://schemas.microsoft.com/office/drawing/2014/main" id="{B4FA5DEF-DC74-4F38-9DA0-1EE9752F5F36}"/>
              </a:ext>
            </a:extLst>
          </p:cNvPr>
          <p:cNvSpPr>
            <a:spLocks noGrp="1"/>
          </p:cNvSpPr>
          <p:nvPr>
            <p:ph type="title" orient="vert"/>
          </p:nvPr>
        </p:nvSpPr>
        <p:spPr>
          <a:xfrm>
            <a:off x="8724900" y="365125"/>
            <a:ext cx="2628900" cy="5811838"/>
          </a:xfrm>
        </p:spPr>
        <p:txBody>
          <a:bodyPr vert="eaVert"/>
          <a:lstStyle/>
          <a:p>
            <a:r>
              <a:rPr kumimoji="1" lang="ja-JP" altLang="en-US"/>
              <a:t>マスター タイトルの書式設定</a:t>
            </a:r>
          </a:p>
        </p:txBody>
      </p:sp>
      <p:sp>
        <p:nvSpPr>
          <p:cNvPr id="3" name="縦書きテキスト プレースホルダー 2">
            <a:extLst>
              <a:ext uri="{FF2B5EF4-FFF2-40B4-BE49-F238E27FC236}">
                <a16:creationId xmlns:a16="http://schemas.microsoft.com/office/drawing/2014/main" id="{23C9EE93-ED20-4B3B-93FB-5A088C436B26}"/>
              </a:ext>
            </a:extLst>
          </p:cNvPr>
          <p:cNvSpPr>
            <a:spLocks noGrp="1"/>
          </p:cNvSpPr>
          <p:nvPr>
            <p:ph type="body" orient="vert" idx="1"/>
          </p:nvPr>
        </p:nvSpPr>
        <p:spPr>
          <a:xfrm>
            <a:off x="838200" y="365125"/>
            <a:ext cx="7734300" cy="5811838"/>
          </a:xfrm>
        </p:spPr>
        <p:txBody>
          <a:bodyPr vert="eaVert"/>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ー 3">
            <a:extLst>
              <a:ext uri="{FF2B5EF4-FFF2-40B4-BE49-F238E27FC236}">
                <a16:creationId xmlns:a16="http://schemas.microsoft.com/office/drawing/2014/main" id="{A8370666-1A4C-42B1-8748-A0D1453943A4}"/>
              </a:ext>
            </a:extLst>
          </p:cNvPr>
          <p:cNvSpPr>
            <a:spLocks noGrp="1"/>
          </p:cNvSpPr>
          <p:nvPr>
            <p:ph type="dt" sz="half" idx="10"/>
          </p:nvPr>
        </p:nvSpPr>
        <p:spPr/>
        <p:txBody>
          <a:bodyPr/>
          <a:lstStyle/>
          <a:p>
            <a:fld id="{E9CC885B-4903-4D54-9A93-00025F12DED9}" type="datetimeFigureOut">
              <a:rPr kumimoji="1" lang="ja-JP" altLang="en-US" smtClean="0"/>
              <a:t>2025/4/9</a:t>
            </a:fld>
            <a:endParaRPr kumimoji="1" lang="ja-JP" altLang="en-US"/>
          </a:p>
        </p:txBody>
      </p:sp>
      <p:sp>
        <p:nvSpPr>
          <p:cNvPr id="5" name="フッター プレースホルダー 4">
            <a:extLst>
              <a:ext uri="{FF2B5EF4-FFF2-40B4-BE49-F238E27FC236}">
                <a16:creationId xmlns:a16="http://schemas.microsoft.com/office/drawing/2014/main" id="{E26EC7E2-E7E6-45F2-BF6D-CDF318CECC0E}"/>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CCDE4F59-4276-46E3-AE2A-D255BC7BB35C}"/>
              </a:ext>
            </a:extLst>
          </p:cNvPr>
          <p:cNvSpPr>
            <a:spLocks noGrp="1"/>
          </p:cNvSpPr>
          <p:nvPr>
            <p:ph type="sldNum" sz="quarter" idx="12"/>
          </p:nvPr>
        </p:nvSpPr>
        <p:spPr/>
        <p:txBody>
          <a:bodyPr/>
          <a:lstStyle/>
          <a:p>
            <a:fld id="{D812AE58-48EE-4ADF-80EA-6426EE982FE8}" type="slidenum">
              <a:rPr kumimoji="1" lang="ja-JP" altLang="en-US" smtClean="0"/>
              <a:t>‹#›</a:t>
            </a:fld>
            <a:endParaRPr kumimoji="1" lang="ja-JP" altLang="en-US"/>
          </a:p>
        </p:txBody>
      </p:sp>
    </p:spTree>
    <p:extLst>
      <p:ext uri="{BB962C8B-B14F-4D97-AF65-F5344CB8AC3E}">
        <p14:creationId xmlns:p14="http://schemas.microsoft.com/office/powerpoint/2010/main" val="1642850983"/>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タイトル プレースホルダー 1">
            <a:extLst>
              <a:ext uri="{FF2B5EF4-FFF2-40B4-BE49-F238E27FC236}">
                <a16:creationId xmlns:a16="http://schemas.microsoft.com/office/drawing/2014/main" id="{F527E70E-5441-439A-8EA3-0826A036FC74}"/>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kumimoji="1" lang="ja-JP" altLang="en-US"/>
              <a:t>マスター タイトルの書式設定</a:t>
            </a:r>
          </a:p>
        </p:txBody>
      </p:sp>
      <p:sp>
        <p:nvSpPr>
          <p:cNvPr id="3" name="テキスト プレースホルダー 2">
            <a:extLst>
              <a:ext uri="{FF2B5EF4-FFF2-40B4-BE49-F238E27FC236}">
                <a16:creationId xmlns:a16="http://schemas.microsoft.com/office/drawing/2014/main" id="{2A7C9CE9-5A22-43DB-862A-3B24B2BF1514}"/>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ー 3">
            <a:extLst>
              <a:ext uri="{FF2B5EF4-FFF2-40B4-BE49-F238E27FC236}">
                <a16:creationId xmlns:a16="http://schemas.microsoft.com/office/drawing/2014/main" id="{A845D76C-CB70-434A-A116-22531EEB417B}"/>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E9CC885B-4903-4D54-9A93-00025F12DED9}" type="datetimeFigureOut">
              <a:rPr kumimoji="1" lang="ja-JP" altLang="en-US" smtClean="0"/>
              <a:t>2025/4/9</a:t>
            </a:fld>
            <a:endParaRPr kumimoji="1" lang="ja-JP" altLang="en-US"/>
          </a:p>
        </p:txBody>
      </p:sp>
      <p:sp>
        <p:nvSpPr>
          <p:cNvPr id="5" name="フッター プレースホルダー 4">
            <a:extLst>
              <a:ext uri="{FF2B5EF4-FFF2-40B4-BE49-F238E27FC236}">
                <a16:creationId xmlns:a16="http://schemas.microsoft.com/office/drawing/2014/main" id="{2505E6D4-441B-4864-8545-0FDE04F664F6}"/>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kumimoji="1" lang="ja-JP" altLang="en-US"/>
          </a:p>
        </p:txBody>
      </p:sp>
      <p:sp>
        <p:nvSpPr>
          <p:cNvPr id="6" name="スライド番号プレースホルダー 5">
            <a:extLst>
              <a:ext uri="{FF2B5EF4-FFF2-40B4-BE49-F238E27FC236}">
                <a16:creationId xmlns:a16="http://schemas.microsoft.com/office/drawing/2014/main" id="{8FFD1810-F6DD-4BB4-8465-A3A3F3BF335E}"/>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D812AE58-48EE-4ADF-80EA-6426EE982FE8}" type="slidenum">
              <a:rPr kumimoji="1" lang="ja-JP" altLang="en-US" smtClean="0"/>
              <a:t>‹#›</a:t>
            </a:fld>
            <a:endParaRPr kumimoji="1" lang="ja-JP" altLang="en-US"/>
          </a:p>
        </p:txBody>
      </p:sp>
    </p:spTree>
    <p:extLst>
      <p:ext uri="{BB962C8B-B14F-4D97-AF65-F5344CB8AC3E}">
        <p14:creationId xmlns:p14="http://schemas.microsoft.com/office/powerpoint/2010/main" val="651784550"/>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kumimoji="1"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kumimoji="1"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kumimoji="1"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kumimoji="1"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9pPr>
    </p:bodyStyle>
    <p:other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3.png"/><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2" Type="http://schemas.openxmlformats.org/officeDocument/2006/relationships/chart" Target="../charts/chart1.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2" Type="http://schemas.openxmlformats.org/officeDocument/2006/relationships/chart" Target="../charts/chart2.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3" Type="http://schemas.openxmlformats.org/officeDocument/2006/relationships/chart" Target="../charts/chart3.xml"/><Relationship Id="rId2" Type="http://schemas.openxmlformats.org/officeDocument/2006/relationships/image" Target="../media/image5.png"/><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テキスト ボックス 3">
            <a:extLst>
              <a:ext uri="{FF2B5EF4-FFF2-40B4-BE49-F238E27FC236}">
                <a16:creationId xmlns:a16="http://schemas.microsoft.com/office/drawing/2014/main" id="{5A13BF46-B8C5-48AA-8308-C9ECFF431A18}"/>
              </a:ext>
            </a:extLst>
          </p:cNvPr>
          <p:cNvSpPr txBox="1"/>
          <p:nvPr/>
        </p:nvSpPr>
        <p:spPr>
          <a:xfrm>
            <a:off x="567542" y="491954"/>
            <a:ext cx="4523995" cy="584775"/>
          </a:xfrm>
          <a:prstGeom prst="rect">
            <a:avLst/>
          </a:prstGeom>
          <a:noFill/>
        </p:spPr>
        <p:txBody>
          <a:bodyPr wrap="none" rtlCol="0">
            <a:spAutoFit/>
          </a:bodyPr>
          <a:lstStyle/>
          <a:p>
            <a:r>
              <a:rPr kumimoji="1" lang="en-US" altLang="ja-JP" sz="3200" b="1" u="sng" dirty="0"/>
              <a:t>2</a:t>
            </a:r>
            <a:r>
              <a:rPr kumimoji="1" lang="ja-JP" altLang="en-US" sz="3200" b="1" u="sng" dirty="0"/>
              <a:t>次導関数と瞬間加速度</a:t>
            </a:r>
            <a:endParaRPr kumimoji="1" lang="en-US" altLang="ja-JP" sz="3200" b="1" u="sng" dirty="0"/>
          </a:p>
        </p:txBody>
      </p:sp>
      <p:sp>
        <p:nvSpPr>
          <p:cNvPr id="6" name="テキスト ボックス 5">
            <a:extLst>
              <a:ext uri="{FF2B5EF4-FFF2-40B4-BE49-F238E27FC236}">
                <a16:creationId xmlns:a16="http://schemas.microsoft.com/office/drawing/2014/main" id="{55830AD6-028B-4C4E-80BF-B70DFC1C3A46}"/>
              </a:ext>
            </a:extLst>
          </p:cNvPr>
          <p:cNvSpPr txBox="1"/>
          <p:nvPr/>
        </p:nvSpPr>
        <p:spPr>
          <a:xfrm>
            <a:off x="567542" y="1216429"/>
            <a:ext cx="9110186" cy="830997"/>
          </a:xfrm>
          <a:prstGeom prst="rect">
            <a:avLst/>
          </a:prstGeom>
          <a:noFill/>
        </p:spPr>
        <p:txBody>
          <a:bodyPr wrap="none" rtlCol="0">
            <a:spAutoFit/>
          </a:bodyPr>
          <a:lstStyle/>
          <a:p>
            <a:r>
              <a:rPr lang="ja-JP" altLang="en-US" sz="2400" dirty="0"/>
              <a:t>レーシングカーに乗り、アクセルを思いっきり踏んだとします。</a:t>
            </a:r>
            <a:endParaRPr lang="en-US" altLang="ja-JP" sz="2400" dirty="0"/>
          </a:p>
          <a:p>
            <a:r>
              <a:rPr lang="ja-JP" altLang="en-US" sz="2400" dirty="0"/>
              <a:t>その時の経過時間ごとの速度は以下の通りになりました。</a:t>
            </a:r>
            <a:endParaRPr lang="en-US" altLang="ja-JP" sz="2400" dirty="0"/>
          </a:p>
        </p:txBody>
      </p:sp>
      <p:graphicFrame>
        <p:nvGraphicFramePr>
          <p:cNvPr id="3" name="表 11">
            <a:extLst>
              <a:ext uri="{FF2B5EF4-FFF2-40B4-BE49-F238E27FC236}">
                <a16:creationId xmlns:a16="http://schemas.microsoft.com/office/drawing/2014/main" id="{1F61CB3A-B68E-4EBC-9A15-E15413D093E3}"/>
              </a:ext>
            </a:extLst>
          </p:cNvPr>
          <p:cNvGraphicFramePr>
            <a:graphicFrameLocks noGrp="1"/>
          </p:cNvGraphicFramePr>
          <p:nvPr>
            <p:extLst>
              <p:ext uri="{D42A27DB-BD31-4B8C-83A1-F6EECF244321}">
                <p14:modId xmlns:p14="http://schemas.microsoft.com/office/powerpoint/2010/main" val="3434276142"/>
              </p:ext>
            </p:extLst>
          </p:nvPr>
        </p:nvGraphicFramePr>
        <p:xfrm>
          <a:off x="567542" y="2187126"/>
          <a:ext cx="8128000" cy="2966720"/>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623761673"/>
                    </a:ext>
                  </a:extLst>
                </a:gridCol>
                <a:gridCol w="4064000">
                  <a:extLst>
                    <a:ext uri="{9D8B030D-6E8A-4147-A177-3AD203B41FA5}">
                      <a16:colId xmlns:a16="http://schemas.microsoft.com/office/drawing/2014/main" val="1350177872"/>
                    </a:ext>
                  </a:extLst>
                </a:gridCol>
              </a:tblGrid>
              <a:tr h="370840">
                <a:tc>
                  <a:txBody>
                    <a:bodyPr/>
                    <a:lstStyle/>
                    <a:p>
                      <a:r>
                        <a:rPr kumimoji="1" lang="ja-JP" altLang="en-US" dirty="0"/>
                        <a:t>時間（秒）</a:t>
                      </a:r>
                    </a:p>
                  </a:txBody>
                  <a:tcPr/>
                </a:tc>
                <a:tc>
                  <a:txBody>
                    <a:bodyPr/>
                    <a:lstStyle/>
                    <a:p>
                      <a:r>
                        <a:rPr kumimoji="1" lang="ja-JP" altLang="en-US" dirty="0"/>
                        <a:t>速度（</a:t>
                      </a:r>
                      <a:r>
                        <a:rPr kumimoji="1" lang="en-US" altLang="ja-JP" dirty="0"/>
                        <a:t>m/</a:t>
                      </a:r>
                      <a:r>
                        <a:rPr kumimoji="1" lang="ja-JP" altLang="en-US" dirty="0"/>
                        <a:t>秒）</a:t>
                      </a:r>
                    </a:p>
                  </a:txBody>
                  <a:tcPr/>
                </a:tc>
                <a:extLst>
                  <a:ext uri="{0D108BD9-81ED-4DB2-BD59-A6C34878D82A}">
                    <a16:rowId xmlns:a16="http://schemas.microsoft.com/office/drawing/2014/main" val="1271716605"/>
                  </a:ext>
                </a:extLst>
              </a:tr>
              <a:tr h="370840">
                <a:tc>
                  <a:txBody>
                    <a:bodyPr/>
                    <a:lstStyle/>
                    <a:p>
                      <a:r>
                        <a:rPr kumimoji="1" lang="en-US" altLang="ja-JP" dirty="0"/>
                        <a:t>0</a:t>
                      </a:r>
                      <a:endParaRPr kumimoji="1" lang="ja-JP" altLang="en-US" dirty="0"/>
                    </a:p>
                  </a:txBody>
                  <a:tcPr/>
                </a:tc>
                <a:tc>
                  <a:txBody>
                    <a:bodyPr/>
                    <a:lstStyle/>
                    <a:p>
                      <a:r>
                        <a:rPr kumimoji="1" lang="en-US" altLang="ja-JP" dirty="0"/>
                        <a:t>0</a:t>
                      </a:r>
                      <a:endParaRPr kumimoji="1" lang="ja-JP" altLang="en-US" dirty="0"/>
                    </a:p>
                  </a:txBody>
                  <a:tcPr/>
                </a:tc>
                <a:extLst>
                  <a:ext uri="{0D108BD9-81ED-4DB2-BD59-A6C34878D82A}">
                    <a16:rowId xmlns:a16="http://schemas.microsoft.com/office/drawing/2014/main" val="1843403703"/>
                  </a:ext>
                </a:extLst>
              </a:tr>
              <a:tr h="370840">
                <a:tc>
                  <a:txBody>
                    <a:bodyPr/>
                    <a:lstStyle/>
                    <a:p>
                      <a:r>
                        <a:rPr kumimoji="1" lang="en-US" altLang="ja-JP" dirty="0"/>
                        <a:t>1</a:t>
                      </a:r>
                      <a:endParaRPr kumimoji="1" lang="ja-JP" altLang="en-US" dirty="0"/>
                    </a:p>
                  </a:txBody>
                  <a:tcPr/>
                </a:tc>
                <a:tc>
                  <a:txBody>
                    <a:bodyPr/>
                    <a:lstStyle/>
                    <a:p>
                      <a:r>
                        <a:rPr kumimoji="1" lang="en-US" altLang="ja-JP" dirty="0"/>
                        <a:t>3</a:t>
                      </a:r>
                      <a:endParaRPr kumimoji="1" lang="ja-JP" altLang="en-US" dirty="0"/>
                    </a:p>
                  </a:txBody>
                  <a:tcPr/>
                </a:tc>
                <a:extLst>
                  <a:ext uri="{0D108BD9-81ED-4DB2-BD59-A6C34878D82A}">
                    <a16:rowId xmlns:a16="http://schemas.microsoft.com/office/drawing/2014/main" val="664712909"/>
                  </a:ext>
                </a:extLst>
              </a:tr>
              <a:tr h="370840">
                <a:tc>
                  <a:txBody>
                    <a:bodyPr/>
                    <a:lstStyle/>
                    <a:p>
                      <a:r>
                        <a:rPr kumimoji="1" lang="en-US" altLang="ja-JP" dirty="0"/>
                        <a:t>2</a:t>
                      </a:r>
                      <a:endParaRPr kumimoji="1" lang="ja-JP" altLang="en-US" dirty="0"/>
                    </a:p>
                  </a:txBody>
                  <a:tcPr/>
                </a:tc>
                <a:tc>
                  <a:txBody>
                    <a:bodyPr/>
                    <a:lstStyle/>
                    <a:p>
                      <a:r>
                        <a:rPr kumimoji="1" lang="en-US" altLang="ja-JP" dirty="0"/>
                        <a:t>12</a:t>
                      </a:r>
                      <a:endParaRPr kumimoji="1" lang="ja-JP" altLang="en-US" dirty="0"/>
                    </a:p>
                  </a:txBody>
                  <a:tcPr/>
                </a:tc>
                <a:extLst>
                  <a:ext uri="{0D108BD9-81ED-4DB2-BD59-A6C34878D82A}">
                    <a16:rowId xmlns:a16="http://schemas.microsoft.com/office/drawing/2014/main" val="2331909462"/>
                  </a:ext>
                </a:extLst>
              </a:tr>
              <a:tr h="370840">
                <a:tc>
                  <a:txBody>
                    <a:bodyPr/>
                    <a:lstStyle/>
                    <a:p>
                      <a:r>
                        <a:rPr kumimoji="1" lang="en-US" altLang="ja-JP" dirty="0"/>
                        <a:t>3</a:t>
                      </a:r>
                      <a:endParaRPr kumimoji="1" lang="ja-JP" altLang="en-US" dirty="0"/>
                    </a:p>
                  </a:txBody>
                  <a:tcPr/>
                </a:tc>
                <a:tc>
                  <a:txBody>
                    <a:bodyPr/>
                    <a:lstStyle/>
                    <a:p>
                      <a:r>
                        <a:rPr kumimoji="1" lang="en-US" altLang="ja-JP" dirty="0"/>
                        <a:t>27</a:t>
                      </a:r>
                      <a:endParaRPr kumimoji="1" lang="ja-JP" altLang="en-US" dirty="0"/>
                    </a:p>
                  </a:txBody>
                  <a:tcPr/>
                </a:tc>
                <a:extLst>
                  <a:ext uri="{0D108BD9-81ED-4DB2-BD59-A6C34878D82A}">
                    <a16:rowId xmlns:a16="http://schemas.microsoft.com/office/drawing/2014/main" val="3614912164"/>
                  </a:ext>
                </a:extLst>
              </a:tr>
              <a:tr h="370840">
                <a:tc>
                  <a:txBody>
                    <a:bodyPr/>
                    <a:lstStyle/>
                    <a:p>
                      <a:r>
                        <a:rPr kumimoji="1" lang="en-US" altLang="ja-JP" dirty="0"/>
                        <a:t>4</a:t>
                      </a:r>
                      <a:endParaRPr kumimoji="1" lang="ja-JP" altLang="en-US" dirty="0"/>
                    </a:p>
                  </a:txBody>
                  <a:tcPr/>
                </a:tc>
                <a:tc>
                  <a:txBody>
                    <a:bodyPr/>
                    <a:lstStyle/>
                    <a:p>
                      <a:r>
                        <a:rPr kumimoji="1" lang="en-US" altLang="ja-JP" dirty="0"/>
                        <a:t>48</a:t>
                      </a:r>
                      <a:endParaRPr kumimoji="1" lang="ja-JP" altLang="en-US" dirty="0"/>
                    </a:p>
                  </a:txBody>
                  <a:tcPr/>
                </a:tc>
                <a:extLst>
                  <a:ext uri="{0D108BD9-81ED-4DB2-BD59-A6C34878D82A}">
                    <a16:rowId xmlns:a16="http://schemas.microsoft.com/office/drawing/2014/main" val="3311389390"/>
                  </a:ext>
                </a:extLst>
              </a:tr>
              <a:tr h="370840">
                <a:tc>
                  <a:txBody>
                    <a:bodyPr/>
                    <a:lstStyle/>
                    <a:p>
                      <a:r>
                        <a:rPr kumimoji="1" lang="en-US" altLang="ja-JP" dirty="0"/>
                        <a:t>5</a:t>
                      </a:r>
                      <a:endParaRPr kumimoji="1" lang="ja-JP" altLang="en-US" dirty="0"/>
                    </a:p>
                  </a:txBody>
                  <a:tcPr/>
                </a:tc>
                <a:tc>
                  <a:txBody>
                    <a:bodyPr/>
                    <a:lstStyle/>
                    <a:p>
                      <a:r>
                        <a:rPr kumimoji="1" lang="en-US" altLang="ja-JP" dirty="0"/>
                        <a:t>75</a:t>
                      </a:r>
                      <a:endParaRPr kumimoji="1" lang="ja-JP" altLang="en-US" dirty="0"/>
                    </a:p>
                  </a:txBody>
                  <a:tcPr/>
                </a:tc>
                <a:extLst>
                  <a:ext uri="{0D108BD9-81ED-4DB2-BD59-A6C34878D82A}">
                    <a16:rowId xmlns:a16="http://schemas.microsoft.com/office/drawing/2014/main" val="2590311240"/>
                  </a:ext>
                </a:extLst>
              </a:tr>
              <a:tr h="370840">
                <a:tc>
                  <a:txBody>
                    <a:bodyPr/>
                    <a:lstStyle/>
                    <a:p>
                      <a:r>
                        <a:rPr kumimoji="1" lang="en-US" altLang="ja-JP" dirty="0"/>
                        <a:t>6</a:t>
                      </a:r>
                      <a:endParaRPr kumimoji="1" lang="ja-JP" altLang="en-US" dirty="0"/>
                    </a:p>
                  </a:txBody>
                  <a:tcPr/>
                </a:tc>
                <a:tc>
                  <a:txBody>
                    <a:bodyPr/>
                    <a:lstStyle/>
                    <a:p>
                      <a:r>
                        <a:rPr kumimoji="1" lang="en-US" altLang="ja-JP" dirty="0"/>
                        <a:t>108</a:t>
                      </a:r>
                      <a:endParaRPr kumimoji="1" lang="ja-JP" altLang="en-US" dirty="0"/>
                    </a:p>
                  </a:txBody>
                  <a:tcPr/>
                </a:tc>
                <a:extLst>
                  <a:ext uri="{0D108BD9-81ED-4DB2-BD59-A6C34878D82A}">
                    <a16:rowId xmlns:a16="http://schemas.microsoft.com/office/drawing/2014/main" val="987179435"/>
                  </a:ext>
                </a:extLst>
              </a:tr>
            </a:tbl>
          </a:graphicData>
        </a:graphic>
      </p:graphicFrame>
      <p:sp>
        <p:nvSpPr>
          <p:cNvPr id="12" name="テキスト ボックス 11">
            <a:extLst>
              <a:ext uri="{FF2B5EF4-FFF2-40B4-BE49-F238E27FC236}">
                <a16:creationId xmlns:a16="http://schemas.microsoft.com/office/drawing/2014/main" id="{AD64315F-B219-41B8-A5E6-8A3DD1B88F1C}"/>
              </a:ext>
            </a:extLst>
          </p:cNvPr>
          <p:cNvSpPr txBox="1"/>
          <p:nvPr/>
        </p:nvSpPr>
        <p:spPr>
          <a:xfrm>
            <a:off x="567542" y="5287805"/>
            <a:ext cx="7879080" cy="830997"/>
          </a:xfrm>
          <a:prstGeom prst="rect">
            <a:avLst/>
          </a:prstGeom>
          <a:noFill/>
        </p:spPr>
        <p:txBody>
          <a:bodyPr wrap="none" rtlCol="0">
            <a:spAutoFit/>
          </a:bodyPr>
          <a:lstStyle/>
          <a:p>
            <a:r>
              <a:rPr lang="ja-JP" altLang="en-US" sz="2400" dirty="0"/>
              <a:t>加速してどんどん速くなっているイメージですが、</a:t>
            </a:r>
            <a:endParaRPr lang="en-US" altLang="ja-JP" sz="2400" dirty="0"/>
          </a:p>
          <a:p>
            <a:r>
              <a:rPr lang="ja-JP" altLang="en-US" sz="2400" dirty="0"/>
              <a:t>大事なのは</a:t>
            </a:r>
            <a:r>
              <a:rPr lang="ja-JP" altLang="en-US" sz="2400" b="1" dirty="0">
                <a:solidFill>
                  <a:srgbClr val="FF0000"/>
                </a:solidFill>
              </a:rPr>
              <a:t>加速度も徐々に増えていっている</a:t>
            </a:r>
            <a:r>
              <a:rPr lang="ja-JP" altLang="en-US" sz="2400" dirty="0"/>
              <a:t>ことです。</a:t>
            </a:r>
            <a:endParaRPr lang="en-US" altLang="ja-JP" sz="2400" dirty="0"/>
          </a:p>
        </p:txBody>
      </p:sp>
    </p:spTree>
    <p:extLst>
      <p:ext uri="{BB962C8B-B14F-4D97-AF65-F5344CB8AC3E}">
        <p14:creationId xmlns:p14="http://schemas.microsoft.com/office/powerpoint/2010/main" val="1416929240"/>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テキスト ボックス 3">
            <a:extLst>
              <a:ext uri="{FF2B5EF4-FFF2-40B4-BE49-F238E27FC236}">
                <a16:creationId xmlns:a16="http://schemas.microsoft.com/office/drawing/2014/main" id="{5A13BF46-B8C5-48AA-8308-C9ECFF431A18}"/>
              </a:ext>
            </a:extLst>
          </p:cNvPr>
          <p:cNvSpPr txBox="1"/>
          <p:nvPr/>
        </p:nvSpPr>
        <p:spPr>
          <a:xfrm>
            <a:off x="567542" y="491954"/>
            <a:ext cx="4523995" cy="584775"/>
          </a:xfrm>
          <a:prstGeom prst="rect">
            <a:avLst/>
          </a:prstGeom>
          <a:noFill/>
        </p:spPr>
        <p:txBody>
          <a:bodyPr wrap="none" rtlCol="0">
            <a:spAutoFit/>
          </a:bodyPr>
          <a:lstStyle/>
          <a:p>
            <a:r>
              <a:rPr kumimoji="1" lang="en-US" altLang="ja-JP" sz="3200" b="1" u="sng" dirty="0"/>
              <a:t>2</a:t>
            </a:r>
            <a:r>
              <a:rPr kumimoji="1" lang="ja-JP" altLang="en-US" sz="3200" b="1" u="sng" dirty="0"/>
              <a:t>次導関数と瞬間加速度</a:t>
            </a:r>
            <a:endParaRPr kumimoji="1" lang="en-US" altLang="ja-JP" sz="3200" b="1" u="sng" dirty="0"/>
          </a:p>
        </p:txBody>
      </p:sp>
      <p:sp>
        <p:nvSpPr>
          <p:cNvPr id="6" name="テキスト ボックス 5">
            <a:extLst>
              <a:ext uri="{FF2B5EF4-FFF2-40B4-BE49-F238E27FC236}">
                <a16:creationId xmlns:a16="http://schemas.microsoft.com/office/drawing/2014/main" id="{55830AD6-028B-4C4E-80BF-B70DFC1C3A46}"/>
              </a:ext>
            </a:extLst>
          </p:cNvPr>
          <p:cNvSpPr txBox="1"/>
          <p:nvPr/>
        </p:nvSpPr>
        <p:spPr>
          <a:xfrm>
            <a:off x="567542" y="1216429"/>
            <a:ext cx="8973932" cy="461665"/>
          </a:xfrm>
          <a:prstGeom prst="rect">
            <a:avLst/>
          </a:prstGeom>
          <a:noFill/>
        </p:spPr>
        <p:txBody>
          <a:bodyPr wrap="none" rtlCol="0">
            <a:spAutoFit/>
          </a:bodyPr>
          <a:lstStyle/>
          <a:p>
            <a:r>
              <a:rPr lang="ja-JP" altLang="en-US" sz="2400" dirty="0"/>
              <a:t>走り始めてから</a:t>
            </a:r>
            <a:r>
              <a:rPr lang="en-US" altLang="ja-JP" sz="2400" dirty="0"/>
              <a:t>3</a:t>
            </a:r>
            <a:r>
              <a:rPr lang="ja-JP" altLang="en-US" sz="2400" dirty="0"/>
              <a:t>秒後までの加速度についてみていきましょう。</a:t>
            </a:r>
            <a:endParaRPr lang="en-US" altLang="ja-JP" sz="2400" dirty="0"/>
          </a:p>
        </p:txBody>
      </p:sp>
      <p:graphicFrame>
        <p:nvGraphicFramePr>
          <p:cNvPr id="3" name="表 11">
            <a:extLst>
              <a:ext uri="{FF2B5EF4-FFF2-40B4-BE49-F238E27FC236}">
                <a16:creationId xmlns:a16="http://schemas.microsoft.com/office/drawing/2014/main" id="{1F61CB3A-B68E-4EBC-9A15-E15413D093E3}"/>
              </a:ext>
            </a:extLst>
          </p:cNvPr>
          <p:cNvGraphicFramePr>
            <a:graphicFrameLocks noGrp="1"/>
          </p:cNvGraphicFramePr>
          <p:nvPr>
            <p:extLst>
              <p:ext uri="{D42A27DB-BD31-4B8C-83A1-F6EECF244321}">
                <p14:modId xmlns:p14="http://schemas.microsoft.com/office/powerpoint/2010/main" val="1713635330"/>
              </p:ext>
            </p:extLst>
          </p:nvPr>
        </p:nvGraphicFramePr>
        <p:xfrm>
          <a:off x="567542" y="2187126"/>
          <a:ext cx="8128000" cy="2966720"/>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623761673"/>
                    </a:ext>
                  </a:extLst>
                </a:gridCol>
                <a:gridCol w="4064000">
                  <a:extLst>
                    <a:ext uri="{9D8B030D-6E8A-4147-A177-3AD203B41FA5}">
                      <a16:colId xmlns:a16="http://schemas.microsoft.com/office/drawing/2014/main" val="1350177872"/>
                    </a:ext>
                  </a:extLst>
                </a:gridCol>
              </a:tblGrid>
              <a:tr h="370840">
                <a:tc>
                  <a:txBody>
                    <a:bodyPr/>
                    <a:lstStyle/>
                    <a:p>
                      <a:r>
                        <a:rPr kumimoji="1" lang="ja-JP" altLang="en-US" dirty="0"/>
                        <a:t>時間（秒）</a:t>
                      </a:r>
                    </a:p>
                  </a:txBody>
                  <a:tcPr/>
                </a:tc>
                <a:tc>
                  <a:txBody>
                    <a:bodyPr/>
                    <a:lstStyle/>
                    <a:p>
                      <a:r>
                        <a:rPr kumimoji="1" lang="ja-JP" altLang="en-US" dirty="0"/>
                        <a:t>速度（</a:t>
                      </a:r>
                      <a:r>
                        <a:rPr kumimoji="1" lang="en-US" altLang="ja-JP" dirty="0"/>
                        <a:t>m/</a:t>
                      </a:r>
                      <a:r>
                        <a:rPr kumimoji="1" lang="ja-JP" altLang="en-US" dirty="0"/>
                        <a:t>秒）</a:t>
                      </a:r>
                    </a:p>
                  </a:txBody>
                  <a:tcPr/>
                </a:tc>
                <a:extLst>
                  <a:ext uri="{0D108BD9-81ED-4DB2-BD59-A6C34878D82A}">
                    <a16:rowId xmlns:a16="http://schemas.microsoft.com/office/drawing/2014/main" val="1271716605"/>
                  </a:ext>
                </a:extLst>
              </a:tr>
              <a:tr h="370840">
                <a:tc>
                  <a:txBody>
                    <a:bodyPr/>
                    <a:lstStyle/>
                    <a:p>
                      <a:r>
                        <a:rPr kumimoji="1" lang="en-US" altLang="ja-JP" dirty="0"/>
                        <a:t>0</a:t>
                      </a:r>
                      <a:endParaRPr kumimoji="1" lang="ja-JP" altLang="en-US" dirty="0"/>
                    </a:p>
                  </a:txBody>
                  <a:tcPr/>
                </a:tc>
                <a:tc>
                  <a:txBody>
                    <a:bodyPr/>
                    <a:lstStyle/>
                    <a:p>
                      <a:r>
                        <a:rPr kumimoji="1" lang="en-US" altLang="ja-JP" dirty="0"/>
                        <a:t>0</a:t>
                      </a:r>
                      <a:endParaRPr kumimoji="1" lang="ja-JP" altLang="en-US" dirty="0"/>
                    </a:p>
                  </a:txBody>
                  <a:tcPr/>
                </a:tc>
                <a:extLst>
                  <a:ext uri="{0D108BD9-81ED-4DB2-BD59-A6C34878D82A}">
                    <a16:rowId xmlns:a16="http://schemas.microsoft.com/office/drawing/2014/main" val="1843403703"/>
                  </a:ext>
                </a:extLst>
              </a:tr>
              <a:tr h="370840">
                <a:tc>
                  <a:txBody>
                    <a:bodyPr/>
                    <a:lstStyle/>
                    <a:p>
                      <a:r>
                        <a:rPr kumimoji="1" lang="en-US" altLang="ja-JP" dirty="0"/>
                        <a:t>1</a:t>
                      </a:r>
                      <a:endParaRPr kumimoji="1" lang="ja-JP" altLang="en-US" dirty="0"/>
                    </a:p>
                  </a:txBody>
                  <a:tcPr/>
                </a:tc>
                <a:tc>
                  <a:txBody>
                    <a:bodyPr/>
                    <a:lstStyle/>
                    <a:p>
                      <a:r>
                        <a:rPr kumimoji="1" lang="en-US" altLang="ja-JP" dirty="0"/>
                        <a:t>3</a:t>
                      </a:r>
                      <a:endParaRPr kumimoji="1" lang="ja-JP" altLang="en-US" dirty="0"/>
                    </a:p>
                  </a:txBody>
                  <a:tcPr/>
                </a:tc>
                <a:extLst>
                  <a:ext uri="{0D108BD9-81ED-4DB2-BD59-A6C34878D82A}">
                    <a16:rowId xmlns:a16="http://schemas.microsoft.com/office/drawing/2014/main" val="664712909"/>
                  </a:ext>
                </a:extLst>
              </a:tr>
              <a:tr h="370840">
                <a:tc>
                  <a:txBody>
                    <a:bodyPr/>
                    <a:lstStyle/>
                    <a:p>
                      <a:r>
                        <a:rPr kumimoji="1" lang="en-US" altLang="ja-JP" dirty="0"/>
                        <a:t>2</a:t>
                      </a:r>
                      <a:endParaRPr kumimoji="1" lang="ja-JP" altLang="en-US" dirty="0"/>
                    </a:p>
                  </a:txBody>
                  <a:tcPr/>
                </a:tc>
                <a:tc>
                  <a:txBody>
                    <a:bodyPr/>
                    <a:lstStyle/>
                    <a:p>
                      <a:r>
                        <a:rPr kumimoji="1" lang="en-US" altLang="ja-JP" dirty="0"/>
                        <a:t>12</a:t>
                      </a:r>
                      <a:endParaRPr kumimoji="1" lang="ja-JP" altLang="en-US" dirty="0"/>
                    </a:p>
                  </a:txBody>
                  <a:tcPr/>
                </a:tc>
                <a:extLst>
                  <a:ext uri="{0D108BD9-81ED-4DB2-BD59-A6C34878D82A}">
                    <a16:rowId xmlns:a16="http://schemas.microsoft.com/office/drawing/2014/main" val="2331909462"/>
                  </a:ext>
                </a:extLst>
              </a:tr>
              <a:tr h="370840">
                <a:tc>
                  <a:txBody>
                    <a:bodyPr/>
                    <a:lstStyle/>
                    <a:p>
                      <a:r>
                        <a:rPr kumimoji="1" lang="en-US" altLang="ja-JP" dirty="0"/>
                        <a:t>3</a:t>
                      </a:r>
                      <a:endParaRPr kumimoji="1" lang="ja-JP" altLang="en-US" dirty="0"/>
                    </a:p>
                  </a:txBody>
                  <a:tcPr/>
                </a:tc>
                <a:tc>
                  <a:txBody>
                    <a:bodyPr/>
                    <a:lstStyle/>
                    <a:p>
                      <a:r>
                        <a:rPr kumimoji="1" lang="en-US" altLang="ja-JP" dirty="0"/>
                        <a:t>27</a:t>
                      </a:r>
                      <a:endParaRPr kumimoji="1" lang="ja-JP" altLang="en-US" dirty="0"/>
                    </a:p>
                  </a:txBody>
                  <a:tcPr/>
                </a:tc>
                <a:extLst>
                  <a:ext uri="{0D108BD9-81ED-4DB2-BD59-A6C34878D82A}">
                    <a16:rowId xmlns:a16="http://schemas.microsoft.com/office/drawing/2014/main" val="3614912164"/>
                  </a:ext>
                </a:extLst>
              </a:tr>
              <a:tr h="370840">
                <a:tc>
                  <a:txBody>
                    <a:bodyPr/>
                    <a:lstStyle/>
                    <a:p>
                      <a:r>
                        <a:rPr kumimoji="1" lang="en-US" altLang="ja-JP" dirty="0"/>
                        <a:t>4</a:t>
                      </a:r>
                      <a:endParaRPr kumimoji="1" lang="ja-JP" altLang="en-US" dirty="0"/>
                    </a:p>
                  </a:txBody>
                  <a:tcPr/>
                </a:tc>
                <a:tc>
                  <a:txBody>
                    <a:bodyPr/>
                    <a:lstStyle/>
                    <a:p>
                      <a:r>
                        <a:rPr kumimoji="1" lang="en-US" altLang="ja-JP" dirty="0"/>
                        <a:t>48</a:t>
                      </a:r>
                      <a:endParaRPr kumimoji="1" lang="ja-JP" altLang="en-US" dirty="0"/>
                    </a:p>
                  </a:txBody>
                  <a:tcPr/>
                </a:tc>
                <a:extLst>
                  <a:ext uri="{0D108BD9-81ED-4DB2-BD59-A6C34878D82A}">
                    <a16:rowId xmlns:a16="http://schemas.microsoft.com/office/drawing/2014/main" val="3311389390"/>
                  </a:ext>
                </a:extLst>
              </a:tr>
              <a:tr h="370840">
                <a:tc>
                  <a:txBody>
                    <a:bodyPr/>
                    <a:lstStyle/>
                    <a:p>
                      <a:r>
                        <a:rPr kumimoji="1" lang="en-US" altLang="ja-JP" dirty="0"/>
                        <a:t>5</a:t>
                      </a:r>
                      <a:endParaRPr kumimoji="1" lang="ja-JP" altLang="en-US" dirty="0"/>
                    </a:p>
                  </a:txBody>
                  <a:tcPr/>
                </a:tc>
                <a:tc>
                  <a:txBody>
                    <a:bodyPr/>
                    <a:lstStyle/>
                    <a:p>
                      <a:r>
                        <a:rPr kumimoji="1" lang="en-US" altLang="ja-JP" dirty="0"/>
                        <a:t>75</a:t>
                      </a:r>
                      <a:endParaRPr kumimoji="1" lang="ja-JP" altLang="en-US" dirty="0"/>
                    </a:p>
                  </a:txBody>
                  <a:tcPr/>
                </a:tc>
                <a:extLst>
                  <a:ext uri="{0D108BD9-81ED-4DB2-BD59-A6C34878D82A}">
                    <a16:rowId xmlns:a16="http://schemas.microsoft.com/office/drawing/2014/main" val="2590311240"/>
                  </a:ext>
                </a:extLst>
              </a:tr>
              <a:tr h="370840">
                <a:tc>
                  <a:txBody>
                    <a:bodyPr/>
                    <a:lstStyle/>
                    <a:p>
                      <a:r>
                        <a:rPr kumimoji="1" lang="en-US" altLang="ja-JP" dirty="0"/>
                        <a:t>6</a:t>
                      </a:r>
                      <a:endParaRPr kumimoji="1" lang="ja-JP" altLang="en-US" dirty="0"/>
                    </a:p>
                  </a:txBody>
                  <a:tcPr/>
                </a:tc>
                <a:tc>
                  <a:txBody>
                    <a:bodyPr/>
                    <a:lstStyle/>
                    <a:p>
                      <a:r>
                        <a:rPr kumimoji="1" lang="en-US" altLang="ja-JP" dirty="0"/>
                        <a:t>108</a:t>
                      </a:r>
                      <a:endParaRPr kumimoji="1" lang="ja-JP" altLang="en-US" dirty="0"/>
                    </a:p>
                  </a:txBody>
                  <a:tcPr/>
                </a:tc>
                <a:extLst>
                  <a:ext uri="{0D108BD9-81ED-4DB2-BD59-A6C34878D82A}">
                    <a16:rowId xmlns:a16="http://schemas.microsoft.com/office/drawing/2014/main" val="987179435"/>
                  </a:ext>
                </a:extLst>
              </a:tr>
            </a:tbl>
          </a:graphicData>
        </a:graphic>
      </p:graphicFrame>
      <mc:AlternateContent xmlns:mc="http://schemas.openxmlformats.org/markup-compatibility/2006" xmlns:a14="http://schemas.microsoft.com/office/drawing/2010/main">
        <mc:Choice Requires="a14">
          <p:sp>
            <p:nvSpPr>
              <p:cNvPr id="12" name="テキスト ボックス 11">
                <a:extLst>
                  <a:ext uri="{FF2B5EF4-FFF2-40B4-BE49-F238E27FC236}">
                    <a16:creationId xmlns:a16="http://schemas.microsoft.com/office/drawing/2014/main" id="{AD64315F-B219-41B8-A5E6-8A3DD1B88F1C}"/>
                  </a:ext>
                </a:extLst>
              </p:cNvPr>
              <p:cNvSpPr txBox="1"/>
              <p:nvPr/>
            </p:nvSpPr>
            <p:spPr>
              <a:xfrm>
                <a:off x="567542" y="5287805"/>
                <a:ext cx="9730549" cy="1269707"/>
              </a:xfrm>
              <a:prstGeom prst="rect">
                <a:avLst/>
              </a:prstGeom>
              <a:noFill/>
            </p:spPr>
            <p:txBody>
              <a:bodyPr wrap="none" rtlCol="0">
                <a:spAutoFit/>
              </a:bodyPr>
              <a:lstStyle/>
              <a:p>
                <a:r>
                  <a:rPr lang="ja-JP" altLang="en-US" sz="2400" dirty="0"/>
                  <a:t>レーシングカーは</a:t>
                </a:r>
                <a:r>
                  <a:rPr lang="en-US" altLang="ja-JP" sz="2400" b="1" dirty="0">
                    <a:solidFill>
                      <a:srgbClr val="FF0000"/>
                    </a:solidFill>
                  </a:rPr>
                  <a:t>3</a:t>
                </a:r>
                <a:r>
                  <a:rPr lang="ja-JP" altLang="en-US" sz="2400" b="1" dirty="0">
                    <a:solidFill>
                      <a:srgbClr val="FF0000"/>
                    </a:solidFill>
                  </a:rPr>
                  <a:t>秒間で</a:t>
                </a:r>
                <a:r>
                  <a:rPr lang="en-US" altLang="ja-JP" sz="2400" b="1" dirty="0">
                    <a:solidFill>
                      <a:srgbClr val="FF0000"/>
                    </a:solidFill>
                  </a:rPr>
                  <a:t>27m/</a:t>
                </a:r>
                <a:r>
                  <a:rPr lang="ja-JP" altLang="en-US" sz="2400" b="1" dirty="0">
                    <a:solidFill>
                      <a:srgbClr val="FF0000"/>
                    </a:solidFill>
                  </a:rPr>
                  <a:t>秒速くなっている</a:t>
                </a:r>
                <a:r>
                  <a:rPr lang="ja-JP" altLang="en-US" sz="2400" dirty="0"/>
                  <a:t>ので、平均の計算は</a:t>
                </a:r>
                <a:endParaRPr lang="en-US" altLang="ja-JP" sz="2400" dirty="0"/>
              </a:p>
              <a:p>
                <a:pPr/>
                <a14:m>
                  <m:oMathPara xmlns:m="http://schemas.openxmlformats.org/officeDocument/2006/math">
                    <m:oMathParaPr>
                      <m:jc m:val="left"/>
                    </m:oMathParaPr>
                    <m:oMath xmlns:m="http://schemas.openxmlformats.org/officeDocument/2006/math">
                      <m:r>
                        <a:rPr lang="en-US" altLang="ja-JP" sz="2400" b="0" i="1" dirty="0" smtClean="0">
                          <a:latin typeface="Cambria Math" panose="02040503050406030204" pitchFamily="18" charset="0"/>
                        </a:rPr>
                        <m:t>27</m:t>
                      </m:r>
                      <m:r>
                        <a:rPr lang="en-US" altLang="ja-JP" sz="2400" b="0" i="1" dirty="0" smtClean="0">
                          <a:latin typeface="Cambria Math" panose="02040503050406030204" pitchFamily="18" charset="0"/>
                        </a:rPr>
                        <m:t>𝑚</m:t>
                      </m:r>
                      <m:r>
                        <a:rPr lang="en-US" altLang="ja-JP" sz="2400" b="0" i="1" dirty="0" smtClean="0">
                          <a:latin typeface="Cambria Math" panose="02040503050406030204" pitchFamily="18" charset="0"/>
                        </a:rPr>
                        <m:t>/</m:t>
                      </m:r>
                      <m:r>
                        <a:rPr lang="ja-JP" altLang="en-US" sz="2400" i="1" dirty="0">
                          <a:latin typeface="Cambria Math" panose="02040503050406030204" pitchFamily="18" charset="0"/>
                        </a:rPr>
                        <m:t>秒</m:t>
                      </m:r>
                      <m:r>
                        <a:rPr lang="en-US" altLang="ja-JP" sz="2400" i="1" dirty="0" smtClean="0">
                          <a:latin typeface="Cambria Math" panose="02040503050406030204" pitchFamily="18" charset="0"/>
                        </a:rPr>
                        <m:t>÷3</m:t>
                      </m:r>
                      <m:r>
                        <a:rPr lang="ja-JP" altLang="en-US" sz="2400" i="1" dirty="0" smtClean="0">
                          <a:latin typeface="Cambria Math" panose="02040503050406030204" pitchFamily="18" charset="0"/>
                        </a:rPr>
                        <m:t>秒</m:t>
                      </m:r>
                      <m:r>
                        <a:rPr lang="en-US" altLang="ja-JP" sz="2400" b="0" i="1" dirty="0" smtClean="0">
                          <a:latin typeface="Cambria Math" panose="02040503050406030204" pitchFamily="18" charset="0"/>
                        </a:rPr>
                        <m:t>=</m:t>
                      </m:r>
                      <m:r>
                        <a:rPr lang="en-US" altLang="ja-JP" sz="2400" b="1" i="1" dirty="0" smtClean="0">
                          <a:solidFill>
                            <a:srgbClr val="FF0000"/>
                          </a:solidFill>
                          <a:latin typeface="Cambria Math" panose="02040503050406030204" pitchFamily="18" charset="0"/>
                        </a:rPr>
                        <m:t>𝟗</m:t>
                      </m:r>
                      <m:r>
                        <a:rPr lang="en-US" altLang="ja-JP" sz="2400" b="1" i="1" dirty="0" smtClean="0">
                          <a:solidFill>
                            <a:srgbClr val="FF0000"/>
                          </a:solidFill>
                          <a:latin typeface="Cambria Math" panose="02040503050406030204" pitchFamily="18" charset="0"/>
                        </a:rPr>
                        <m:t>𝒎</m:t>
                      </m:r>
                      <m:r>
                        <a:rPr lang="en-US" altLang="ja-JP" sz="2400" b="1" i="1" dirty="0" smtClean="0">
                          <a:solidFill>
                            <a:srgbClr val="FF0000"/>
                          </a:solidFill>
                          <a:latin typeface="Cambria Math" panose="02040503050406030204" pitchFamily="18" charset="0"/>
                        </a:rPr>
                        <m:t>/</m:t>
                      </m:r>
                      <m:sSup>
                        <m:sSupPr>
                          <m:ctrlPr>
                            <a:rPr lang="en-US" altLang="ja-JP" sz="2400" b="1" i="1" dirty="0" smtClean="0">
                              <a:solidFill>
                                <a:srgbClr val="FF0000"/>
                              </a:solidFill>
                              <a:latin typeface="Cambria Math" panose="02040503050406030204" pitchFamily="18" charset="0"/>
                            </a:rPr>
                          </m:ctrlPr>
                        </m:sSupPr>
                        <m:e>
                          <m:r>
                            <a:rPr lang="ja-JP" altLang="en-US" sz="2400" b="1" i="1" dirty="0">
                              <a:solidFill>
                                <a:srgbClr val="FF0000"/>
                              </a:solidFill>
                              <a:latin typeface="Cambria Math" panose="02040503050406030204" pitchFamily="18" charset="0"/>
                            </a:rPr>
                            <m:t>秒</m:t>
                          </m:r>
                        </m:e>
                        <m:sup>
                          <m:r>
                            <a:rPr lang="en-US" altLang="ja-JP" sz="2400" b="1" i="1" dirty="0" smtClean="0">
                              <a:solidFill>
                                <a:srgbClr val="FF0000"/>
                              </a:solidFill>
                              <a:latin typeface="Cambria Math" panose="02040503050406030204" pitchFamily="18" charset="0"/>
                            </a:rPr>
                            <m:t>𝟐</m:t>
                          </m:r>
                        </m:sup>
                      </m:sSup>
                      <m:r>
                        <a:rPr lang="ja-JP" altLang="en-US" sz="2400" i="1" dirty="0">
                          <a:latin typeface="Cambria Math" panose="02040503050406030204" pitchFamily="18" charset="0"/>
                        </a:rPr>
                        <m:t>となります。</m:t>
                      </m:r>
                    </m:oMath>
                  </m:oMathPara>
                </a14:m>
                <a:endParaRPr lang="en-US" altLang="ja-JP" sz="2400" dirty="0"/>
              </a:p>
              <a:p>
                <a:r>
                  <a:rPr lang="ja-JP" altLang="en-US" sz="2400" dirty="0"/>
                  <a:t>つまり</a:t>
                </a:r>
                <a:r>
                  <a:rPr lang="en-US" altLang="ja-JP" sz="2400" b="1" dirty="0">
                    <a:solidFill>
                      <a:srgbClr val="FF0000"/>
                    </a:solidFill>
                  </a:rPr>
                  <a:t>1</a:t>
                </a:r>
                <a:r>
                  <a:rPr lang="ja-JP" altLang="en-US" sz="2400" b="1" dirty="0">
                    <a:solidFill>
                      <a:srgbClr val="FF0000"/>
                    </a:solidFill>
                  </a:rPr>
                  <a:t>秒間に</a:t>
                </a:r>
                <a14:m>
                  <m:oMath xmlns:m="http://schemas.openxmlformats.org/officeDocument/2006/math">
                    <m:r>
                      <a:rPr lang="en-US" altLang="ja-JP" sz="2400" b="1" i="1" dirty="0" smtClean="0">
                        <a:solidFill>
                          <a:srgbClr val="FF0000"/>
                        </a:solidFill>
                        <a:latin typeface="Cambria Math" panose="02040503050406030204" pitchFamily="18" charset="0"/>
                      </a:rPr>
                      <m:t>𝟗</m:t>
                    </m:r>
                    <m:r>
                      <a:rPr lang="en-US" altLang="ja-JP" sz="2400" b="1" i="1" dirty="0" smtClean="0">
                        <a:solidFill>
                          <a:srgbClr val="FF0000"/>
                        </a:solidFill>
                        <a:latin typeface="Cambria Math" panose="02040503050406030204" pitchFamily="18" charset="0"/>
                      </a:rPr>
                      <m:t>𝒎</m:t>
                    </m:r>
                    <m:r>
                      <a:rPr lang="en-US" altLang="ja-JP" sz="2400" b="1" i="1" dirty="0" smtClean="0">
                        <a:solidFill>
                          <a:srgbClr val="FF0000"/>
                        </a:solidFill>
                        <a:latin typeface="Cambria Math" panose="02040503050406030204" pitchFamily="18" charset="0"/>
                      </a:rPr>
                      <m:t>/</m:t>
                    </m:r>
                    <m:r>
                      <a:rPr lang="ja-JP" altLang="en-US" sz="2400" b="1" i="1" dirty="0">
                        <a:solidFill>
                          <a:srgbClr val="FF0000"/>
                        </a:solidFill>
                        <a:latin typeface="Cambria Math" panose="02040503050406030204" pitchFamily="18" charset="0"/>
                      </a:rPr>
                      <m:t>秒</m:t>
                    </m:r>
                  </m:oMath>
                </a14:m>
                <a:r>
                  <a:rPr lang="ja-JP" altLang="en-US" sz="2400" b="1" dirty="0">
                    <a:solidFill>
                      <a:srgbClr val="FF0000"/>
                    </a:solidFill>
                  </a:rPr>
                  <a:t>ずつ速くなっていく計算</a:t>
                </a:r>
                <a:r>
                  <a:rPr lang="ja-JP" altLang="en-US" sz="2400" dirty="0"/>
                  <a:t>になります。</a:t>
                </a:r>
                <a:endParaRPr lang="en-US" altLang="ja-JP" sz="2400" dirty="0"/>
              </a:p>
            </p:txBody>
          </p:sp>
        </mc:Choice>
        <mc:Fallback xmlns="">
          <p:sp>
            <p:nvSpPr>
              <p:cNvPr id="12" name="テキスト ボックス 11">
                <a:extLst>
                  <a:ext uri="{FF2B5EF4-FFF2-40B4-BE49-F238E27FC236}">
                    <a16:creationId xmlns:a16="http://schemas.microsoft.com/office/drawing/2014/main" id="{AD64315F-B219-41B8-A5E6-8A3DD1B88F1C}"/>
                  </a:ext>
                </a:extLst>
              </p:cNvPr>
              <p:cNvSpPr txBox="1">
                <a:spLocks noRot="1" noChangeAspect="1" noMove="1" noResize="1" noEditPoints="1" noAdjustHandles="1" noChangeArrowheads="1" noChangeShapeType="1" noTextEdit="1"/>
              </p:cNvSpPr>
              <p:nvPr/>
            </p:nvSpPr>
            <p:spPr>
              <a:xfrm>
                <a:off x="567542" y="5287805"/>
                <a:ext cx="9730549" cy="1269707"/>
              </a:xfrm>
              <a:prstGeom prst="rect">
                <a:avLst/>
              </a:prstGeom>
              <a:blipFill>
                <a:blip r:embed="rId2"/>
                <a:stretch>
                  <a:fillRect l="-940" t="-3828" r="-501" b="-10526"/>
                </a:stretch>
              </a:blipFill>
            </p:spPr>
            <p:txBody>
              <a:bodyPr/>
              <a:lstStyle/>
              <a:p>
                <a:r>
                  <a:rPr lang="ja-JP" altLang="en-US">
                    <a:noFill/>
                  </a:rPr>
                  <a:t> </a:t>
                </a:r>
              </a:p>
            </p:txBody>
          </p:sp>
        </mc:Fallback>
      </mc:AlternateContent>
    </p:spTree>
    <p:extLst>
      <p:ext uri="{BB962C8B-B14F-4D97-AF65-F5344CB8AC3E}">
        <p14:creationId xmlns:p14="http://schemas.microsoft.com/office/powerpoint/2010/main" val="464617202"/>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四角形: 角を丸くする 1">
            <a:extLst>
              <a:ext uri="{FF2B5EF4-FFF2-40B4-BE49-F238E27FC236}">
                <a16:creationId xmlns:a16="http://schemas.microsoft.com/office/drawing/2014/main" id="{99397D64-23DD-4E01-81A3-DB71C9BDD469}"/>
              </a:ext>
            </a:extLst>
          </p:cNvPr>
          <p:cNvSpPr/>
          <p:nvPr/>
        </p:nvSpPr>
        <p:spPr>
          <a:xfrm>
            <a:off x="279917" y="1800808"/>
            <a:ext cx="9787813" cy="2052735"/>
          </a:xfrm>
          <a:prstGeom prst="roundRect">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4" name="テキスト ボックス 3">
            <a:extLst>
              <a:ext uri="{FF2B5EF4-FFF2-40B4-BE49-F238E27FC236}">
                <a16:creationId xmlns:a16="http://schemas.microsoft.com/office/drawing/2014/main" id="{5A13BF46-B8C5-48AA-8308-C9ECFF431A18}"/>
              </a:ext>
            </a:extLst>
          </p:cNvPr>
          <p:cNvSpPr txBox="1"/>
          <p:nvPr/>
        </p:nvSpPr>
        <p:spPr>
          <a:xfrm>
            <a:off x="567542" y="491954"/>
            <a:ext cx="4523995" cy="584775"/>
          </a:xfrm>
          <a:prstGeom prst="rect">
            <a:avLst/>
          </a:prstGeom>
          <a:noFill/>
        </p:spPr>
        <p:txBody>
          <a:bodyPr wrap="none" rtlCol="0">
            <a:spAutoFit/>
          </a:bodyPr>
          <a:lstStyle/>
          <a:p>
            <a:r>
              <a:rPr kumimoji="1" lang="en-US" altLang="ja-JP" sz="3200" b="1" u="sng" dirty="0"/>
              <a:t>2</a:t>
            </a:r>
            <a:r>
              <a:rPr kumimoji="1" lang="ja-JP" altLang="en-US" sz="3200" b="1" u="sng" dirty="0"/>
              <a:t>次導関数と瞬間加速度</a:t>
            </a:r>
            <a:endParaRPr kumimoji="1" lang="en-US" altLang="ja-JP" sz="3200" b="1" u="sng" dirty="0"/>
          </a:p>
        </p:txBody>
      </p:sp>
      <mc:AlternateContent xmlns:mc="http://schemas.openxmlformats.org/markup-compatibility/2006" xmlns:a14="http://schemas.microsoft.com/office/drawing/2010/main">
        <mc:Choice Requires="a14">
          <p:sp>
            <p:nvSpPr>
              <p:cNvPr id="6" name="テキスト ボックス 5">
                <a:extLst>
                  <a:ext uri="{FF2B5EF4-FFF2-40B4-BE49-F238E27FC236}">
                    <a16:creationId xmlns:a16="http://schemas.microsoft.com/office/drawing/2014/main" id="{55830AD6-028B-4C4E-80BF-B70DFC1C3A46}"/>
                  </a:ext>
                </a:extLst>
              </p:cNvPr>
              <p:cNvSpPr txBox="1"/>
              <p:nvPr/>
            </p:nvSpPr>
            <p:spPr>
              <a:xfrm>
                <a:off x="567542" y="1216429"/>
                <a:ext cx="9474773" cy="3639522"/>
              </a:xfrm>
              <a:prstGeom prst="rect">
                <a:avLst/>
              </a:prstGeom>
              <a:noFill/>
            </p:spPr>
            <p:txBody>
              <a:bodyPr wrap="none" rtlCol="0">
                <a:spAutoFit/>
              </a:bodyPr>
              <a:lstStyle/>
              <a:p>
                <a:r>
                  <a:rPr lang="ja-JP" altLang="en-US" sz="2400" dirty="0"/>
                  <a:t>このことから</a:t>
                </a:r>
                <a:r>
                  <a:rPr lang="ja-JP" altLang="en-US" sz="2400" b="1" dirty="0">
                    <a:solidFill>
                      <a:srgbClr val="FF0000"/>
                    </a:solidFill>
                  </a:rPr>
                  <a:t>平均加速度</a:t>
                </a:r>
                <a:r>
                  <a:rPr lang="ja-JP" altLang="en-US" sz="2400" dirty="0"/>
                  <a:t>の計算方法が定義できます。</a:t>
                </a:r>
                <a:endParaRPr lang="en-US" altLang="ja-JP" sz="2400" dirty="0"/>
              </a:p>
              <a:p>
                <a:endParaRPr lang="en-US" altLang="ja-JP" sz="2400" dirty="0"/>
              </a:p>
              <a:p>
                <a:r>
                  <a:rPr lang="ja-JP" altLang="en-US" sz="2400" b="1" dirty="0">
                    <a:solidFill>
                      <a:srgbClr val="FF0000"/>
                    </a:solidFill>
                  </a:rPr>
                  <a:t>■平均加速度</a:t>
                </a:r>
                <a:endParaRPr lang="en-US" altLang="ja-JP" sz="2400" b="1" dirty="0">
                  <a:solidFill>
                    <a:srgbClr val="FF0000"/>
                  </a:solidFill>
                </a:endParaRPr>
              </a:p>
              <a:p>
                <a:pPr/>
                <a14:m>
                  <m:oMathPara xmlns:m="http://schemas.openxmlformats.org/officeDocument/2006/math">
                    <m:oMathParaPr>
                      <m:jc m:val="left"/>
                    </m:oMathParaPr>
                    <m:oMath xmlns:m="http://schemas.openxmlformats.org/officeDocument/2006/math">
                      <m:bar>
                        <m:barPr>
                          <m:pos m:val="top"/>
                          <m:ctrlPr>
                            <a:rPr lang="en-US" altLang="ja-JP" sz="2400" i="1" smtClean="0">
                              <a:latin typeface="Cambria Math" panose="02040503050406030204" pitchFamily="18" charset="0"/>
                            </a:rPr>
                          </m:ctrlPr>
                        </m:barPr>
                        <m:e>
                          <m:r>
                            <a:rPr lang="en-US" altLang="ja-JP" sz="2400" b="0" i="1" smtClean="0">
                              <a:latin typeface="Cambria Math" panose="02040503050406030204" pitchFamily="18" charset="0"/>
                            </a:rPr>
                            <m:t>𝑎</m:t>
                          </m:r>
                        </m:e>
                      </m:bar>
                      <m:r>
                        <a:rPr lang="en-US" altLang="ja-JP" sz="2400" b="0" i="1" smtClean="0">
                          <a:latin typeface="Cambria Math" panose="02040503050406030204" pitchFamily="18" charset="0"/>
                        </a:rPr>
                        <m:t>=</m:t>
                      </m:r>
                      <m:f>
                        <m:fPr>
                          <m:ctrlPr>
                            <a:rPr lang="en-US" altLang="ja-JP" sz="2400" b="0" i="1" smtClean="0">
                              <a:latin typeface="Cambria Math" panose="02040503050406030204" pitchFamily="18" charset="0"/>
                            </a:rPr>
                          </m:ctrlPr>
                        </m:fPr>
                        <m:num>
                          <m:r>
                            <a:rPr lang="en-US" altLang="ja-JP" sz="2400" b="0" i="1" smtClean="0">
                              <a:latin typeface="Cambria Math" panose="02040503050406030204" pitchFamily="18" charset="0"/>
                            </a:rPr>
                            <m:t>𝑓</m:t>
                          </m:r>
                          <m:d>
                            <m:dPr>
                              <m:ctrlPr>
                                <a:rPr lang="en-US" altLang="ja-JP" sz="2400" b="0" i="1" smtClean="0">
                                  <a:latin typeface="Cambria Math" panose="02040503050406030204" pitchFamily="18" charset="0"/>
                                </a:rPr>
                              </m:ctrlPr>
                            </m:dPr>
                            <m:e>
                              <m:sSub>
                                <m:sSubPr>
                                  <m:ctrlPr>
                                    <a:rPr lang="en-US" altLang="ja-JP" sz="2400" b="0" i="1" smtClean="0">
                                      <a:latin typeface="Cambria Math" panose="02040503050406030204" pitchFamily="18" charset="0"/>
                                    </a:rPr>
                                  </m:ctrlPr>
                                </m:sSubPr>
                                <m:e>
                                  <m:r>
                                    <a:rPr lang="en-US" altLang="ja-JP" sz="2400" b="0" i="1" smtClean="0">
                                      <a:latin typeface="Cambria Math" panose="02040503050406030204" pitchFamily="18" charset="0"/>
                                    </a:rPr>
                                    <m:t>𝑡</m:t>
                                  </m:r>
                                </m:e>
                                <m:sub>
                                  <m:r>
                                    <a:rPr lang="en-US" altLang="ja-JP" sz="2400" b="0" i="1" smtClean="0">
                                      <a:latin typeface="Cambria Math" panose="02040503050406030204" pitchFamily="18" charset="0"/>
                                    </a:rPr>
                                    <m:t>2</m:t>
                                  </m:r>
                                </m:sub>
                              </m:sSub>
                            </m:e>
                          </m:d>
                          <m:r>
                            <a:rPr lang="en-US" altLang="ja-JP" sz="2400" b="0" i="1" smtClean="0">
                              <a:latin typeface="Cambria Math" panose="02040503050406030204" pitchFamily="18" charset="0"/>
                            </a:rPr>
                            <m:t>−</m:t>
                          </m:r>
                          <m:r>
                            <a:rPr lang="en-US" altLang="ja-JP" sz="2400" b="0" i="1" smtClean="0">
                              <a:latin typeface="Cambria Math" panose="02040503050406030204" pitchFamily="18" charset="0"/>
                            </a:rPr>
                            <m:t>𝑓</m:t>
                          </m:r>
                          <m:r>
                            <a:rPr lang="en-US" altLang="ja-JP" sz="2400" b="0" i="1" smtClean="0">
                              <a:latin typeface="Cambria Math" panose="02040503050406030204" pitchFamily="18" charset="0"/>
                            </a:rPr>
                            <m:t>(</m:t>
                          </m:r>
                          <m:sSub>
                            <m:sSubPr>
                              <m:ctrlPr>
                                <a:rPr lang="en-US" altLang="ja-JP" sz="2400" i="1">
                                  <a:latin typeface="Cambria Math" panose="02040503050406030204" pitchFamily="18" charset="0"/>
                                </a:rPr>
                              </m:ctrlPr>
                            </m:sSubPr>
                            <m:e>
                              <m:r>
                                <a:rPr lang="en-US" altLang="ja-JP" sz="2400" i="1">
                                  <a:latin typeface="Cambria Math" panose="02040503050406030204" pitchFamily="18" charset="0"/>
                                </a:rPr>
                                <m:t>𝑡</m:t>
                              </m:r>
                            </m:e>
                            <m:sub>
                              <m:r>
                                <a:rPr lang="en-US" altLang="ja-JP" sz="2400" b="0" i="1" smtClean="0">
                                  <a:latin typeface="Cambria Math" panose="02040503050406030204" pitchFamily="18" charset="0"/>
                                </a:rPr>
                                <m:t>1</m:t>
                              </m:r>
                            </m:sub>
                          </m:sSub>
                          <m:r>
                            <a:rPr lang="en-US" altLang="ja-JP" sz="2400" b="0" i="1" smtClean="0">
                              <a:latin typeface="Cambria Math" panose="02040503050406030204" pitchFamily="18" charset="0"/>
                            </a:rPr>
                            <m:t>)</m:t>
                          </m:r>
                        </m:num>
                        <m:den>
                          <m:sSub>
                            <m:sSubPr>
                              <m:ctrlPr>
                                <a:rPr lang="en-US" altLang="ja-JP" sz="2400" i="1">
                                  <a:latin typeface="Cambria Math" panose="02040503050406030204" pitchFamily="18" charset="0"/>
                                </a:rPr>
                              </m:ctrlPr>
                            </m:sSubPr>
                            <m:e>
                              <m:r>
                                <a:rPr lang="en-US" altLang="ja-JP" sz="2400" i="1">
                                  <a:latin typeface="Cambria Math" panose="02040503050406030204" pitchFamily="18" charset="0"/>
                                </a:rPr>
                                <m:t>𝑡</m:t>
                              </m:r>
                            </m:e>
                            <m:sub>
                              <m:r>
                                <a:rPr lang="en-US" altLang="ja-JP" sz="2400" i="1">
                                  <a:latin typeface="Cambria Math" panose="02040503050406030204" pitchFamily="18" charset="0"/>
                                </a:rPr>
                                <m:t>2</m:t>
                              </m:r>
                            </m:sub>
                          </m:sSub>
                          <m:r>
                            <a:rPr lang="en-US" altLang="ja-JP" sz="2400" b="0" i="1" smtClean="0">
                              <a:latin typeface="Cambria Math" panose="02040503050406030204" pitchFamily="18" charset="0"/>
                            </a:rPr>
                            <m:t>−</m:t>
                          </m:r>
                          <m:sSub>
                            <m:sSubPr>
                              <m:ctrlPr>
                                <a:rPr lang="en-US" altLang="ja-JP" sz="2400" i="1">
                                  <a:latin typeface="Cambria Math" panose="02040503050406030204" pitchFamily="18" charset="0"/>
                                </a:rPr>
                              </m:ctrlPr>
                            </m:sSubPr>
                            <m:e>
                              <m:r>
                                <a:rPr lang="en-US" altLang="ja-JP" sz="2400" i="1">
                                  <a:latin typeface="Cambria Math" panose="02040503050406030204" pitchFamily="18" charset="0"/>
                                </a:rPr>
                                <m:t>𝑡</m:t>
                              </m:r>
                            </m:e>
                            <m:sub>
                              <m:r>
                                <a:rPr lang="en-US" altLang="ja-JP" sz="2400" b="0" i="1" smtClean="0">
                                  <a:latin typeface="Cambria Math" panose="02040503050406030204" pitchFamily="18" charset="0"/>
                                </a:rPr>
                                <m:t>1</m:t>
                              </m:r>
                            </m:sub>
                          </m:sSub>
                        </m:den>
                      </m:f>
                    </m:oMath>
                  </m:oMathPara>
                </a14:m>
                <a:endParaRPr lang="en-US" altLang="ja-JP" sz="2400" b="0" dirty="0"/>
              </a:p>
              <a:p>
                <a:pPr>
                  <a:lnSpc>
                    <a:spcPct val="150000"/>
                  </a:lnSpc>
                </a:pPr>
                <a:r>
                  <a:rPr lang="ja-JP" altLang="en-US" sz="2400" dirty="0"/>
                  <a:t>時間と速度の関係を</a:t>
                </a:r>
                <a14:m>
                  <m:oMath xmlns:m="http://schemas.openxmlformats.org/officeDocument/2006/math">
                    <m:r>
                      <a:rPr lang="en-US" altLang="ja-JP" sz="2400" i="1">
                        <a:latin typeface="Cambria Math" panose="02040503050406030204" pitchFamily="18" charset="0"/>
                      </a:rPr>
                      <m:t>𝑣</m:t>
                    </m:r>
                    <m:r>
                      <a:rPr lang="en-US" altLang="ja-JP" sz="2400" b="0" i="0" smtClean="0">
                        <a:latin typeface="Cambria Math" panose="02040503050406030204" pitchFamily="18" charset="0"/>
                      </a:rPr>
                      <m:t>=</m:t>
                    </m:r>
                    <m:r>
                      <a:rPr lang="en-US" altLang="ja-JP" sz="2400" b="0" i="1" smtClean="0">
                        <a:latin typeface="Cambria Math" panose="02040503050406030204" pitchFamily="18" charset="0"/>
                      </a:rPr>
                      <m:t>𝑓</m:t>
                    </m:r>
                    <m:r>
                      <a:rPr lang="en-US" altLang="ja-JP" sz="2400" b="0" i="1" smtClean="0">
                        <a:latin typeface="Cambria Math" panose="02040503050406030204" pitchFamily="18" charset="0"/>
                      </a:rPr>
                      <m:t> (</m:t>
                    </m:r>
                    <m:r>
                      <a:rPr lang="en-US" altLang="ja-JP" sz="2400" b="0" i="1" smtClean="0">
                        <a:latin typeface="Cambria Math" panose="02040503050406030204" pitchFamily="18" charset="0"/>
                      </a:rPr>
                      <m:t>𝑡</m:t>
                    </m:r>
                    <m:r>
                      <a:rPr lang="en-US" altLang="ja-JP" sz="2400" b="0" i="1" smtClean="0">
                        <a:latin typeface="Cambria Math" panose="02040503050406030204" pitchFamily="18" charset="0"/>
                      </a:rPr>
                      <m:t>)</m:t>
                    </m:r>
                  </m:oMath>
                </a14:m>
                <a:r>
                  <a:rPr lang="ja-JP" altLang="en-US" sz="2400" b="0" dirty="0"/>
                  <a:t>とし、</a:t>
                </a:r>
                <a:r>
                  <a:rPr lang="ja-JP" altLang="en-US" sz="2400" dirty="0"/>
                  <a:t>時間経過を </a:t>
                </a:r>
                <a14:m>
                  <m:oMath xmlns:m="http://schemas.openxmlformats.org/officeDocument/2006/math">
                    <m:sSub>
                      <m:sSubPr>
                        <m:ctrlPr>
                          <a:rPr lang="en-US" altLang="ja-JP" sz="2400" i="1">
                            <a:latin typeface="Cambria Math" panose="02040503050406030204" pitchFamily="18" charset="0"/>
                          </a:rPr>
                        </m:ctrlPr>
                      </m:sSubPr>
                      <m:e>
                        <m:r>
                          <a:rPr lang="en-US" altLang="ja-JP" sz="2400" i="1">
                            <a:latin typeface="Cambria Math" panose="02040503050406030204" pitchFamily="18" charset="0"/>
                          </a:rPr>
                          <m:t>𝑡</m:t>
                        </m:r>
                      </m:e>
                      <m:sub>
                        <m:r>
                          <a:rPr lang="en-US" altLang="ja-JP" sz="2400" b="0" i="1" smtClean="0">
                            <a:latin typeface="Cambria Math" panose="02040503050406030204" pitchFamily="18" charset="0"/>
                          </a:rPr>
                          <m:t>1</m:t>
                        </m:r>
                      </m:sub>
                    </m:sSub>
                    <m:r>
                      <a:rPr lang="ja-JP" altLang="en-US" sz="2400" i="1">
                        <a:latin typeface="Cambria Math" panose="02040503050406030204" pitchFamily="18" charset="0"/>
                      </a:rPr>
                      <m:t>≦</m:t>
                    </m:r>
                    <m:r>
                      <a:rPr lang="en-US" altLang="ja-JP" sz="2400" b="0" i="1" smtClean="0">
                        <a:latin typeface="Cambria Math" panose="02040503050406030204" pitchFamily="18" charset="0"/>
                      </a:rPr>
                      <m:t>𝑡</m:t>
                    </m:r>
                    <m:r>
                      <a:rPr lang="ja-JP" altLang="en-US" sz="2400" i="1">
                        <a:latin typeface="Cambria Math" panose="02040503050406030204" pitchFamily="18" charset="0"/>
                      </a:rPr>
                      <m:t>≦</m:t>
                    </m:r>
                    <m:sSub>
                      <m:sSubPr>
                        <m:ctrlPr>
                          <a:rPr lang="en-US" altLang="ja-JP" sz="2400" i="1">
                            <a:latin typeface="Cambria Math" panose="02040503050406030204" pitchFamily="18" charset="0"/>
                          </a:rPr>
                        </m:ctrlPr>
                      </m:sSubPr>
                      <m:e>
                        <m:r>
                          <a:rPr lang="en-US" altLang="ja-JP" sz="2400" i="1">
                            <a:latin typeface="Cambria Math" panose="02040503050406030204" pitchFamily="18" charset="0"/>
                          </a:rPr>
                          <m:t>𝑡</m:t>
                        </m:r>
                      </m:e>
                      <m:sub>
                        <m:r>
                          <a:rPr lang="en-US" altLang="ja-JP" sz="2400" i="1">
                            <a:latin typeface="Cambria Math" panose="02040503050406030204" pitchFamily="18" charset="0"/>
                          </a:rPr>
                          <m:t>2</m:t>
                        </m:r>
                      </m:sub>
                    </m:sSub>
                  </m:oMath>
                </a14:m>
                <a:r>
                  <a:rPr lang="ja-JP" altLang="en-US" sz="2400" dirty="0"/>
                  <a:t> で表す。</a:t>
                </a:r>
                <a:endParaRPr lang="en-US" altLang="ja-JP" sz="2400" dirty="0"/>
              </a:p>
              <a:p>
                <a:endParaRPr lang="en-US" altLang="ja-JP" sz="2400" dirty="0"/>
              </a:p>
              <a:p>
                <a:r>
                  <a:rPr lang="ja-JP" altLang="en-US" sz="2400" dirty="0"/>
                  <a:t>ここまでは、導関数までと同じ考え方です。</a:t>
                </a:r>
                <a:endParaRPr lang="en-US" altLang="ja-JP" sz="2400" dirty="0"/>
              </a:p>
              <a:p>
                <a:r>
                  <a:rPr lang="ja-JP" altLang="en-US" sz="2400" dirty="0"/>
                  <a:t>（単位が変わっただけ）</a:t>
                </a:r>
                <a:endParaRPr lang="en-US" altLang="ja-JP" sz="2400" dirty="0"/>
              </a:p>
            </p:txBody>
          </p:sp>
        </mc:Choice>
        <mc:Fallback xmlns="">
          <p:sp>
            <p:nvSpPr>
              <p:cNvPr id="6" name="テキスト ボックス 5">
                <a:extLst>
                  <a:ext uri="{FF2B5EF4-FFF2-40B4-BE49-F238E27FC236}">
                    <a16:creationId xmlns:a16="http://schemas.microsoft.com/office/drawing/2014/main" id="{55830AD6-028B-4C4E-80BF-B70DFC1C3A46}"/>
                  </a:ext>
                </a:extLst>
              </p:cNvPr>
              <p:cNvSpPr txBox="1">
                <a:spLocks noRot="1" noChangeAspect="1" noMove="1" noResize="1" noEditPoints="1" noAdjustHandles="1" noChangeArrowheads="1" noChangeShapeType="1" noTextEdit="1"/>
              </p:cNvSpPr>
              <p:nvPr/>
            </p:nvSpPr>
            <p:spPr>
              <a:xfrm>
                <a:off x="567542" y="1216429"/>
                <a:ext cx="9474773" cy="3639522"/>
              </a:xfrm>
              <a:prstGeom prst="rect">
                <a:avLst/>
              </a:prstGeom>
              <a:blipFill>
                <a:blip r:embed="rId2"/>
                <a:stretch>
                  <a:fillRect l="-965" t="-1340" r="-64" b="-2848"/>
                </a:stretch>
              </a:blipFill>
            </p:spPr>
            <p:txBody>
              <a:bodyPr/>
              <a:lstStyle/>
              <a:p>
                <a:r>
                  <a:rPr lang="ja-JP" altLang="en-US">
                    <a:noFill/>
                  </a:rPr>
                  <a:t> </a:t>
                </a:r>
              </a:p>
            </p:txBody>
          </p:sp>
        </mc:Fallback>
      </mc:AlternateContent>
    </p:spTree>
    <p:extLst>
      <p:ext uri="{BB962C8B-B14F-4D97-AF65-F5344CB8AC3E}">
        <p14:creationId xmlns:p14="http://schemas.microsoft.com/office/powerpoint/2010/main" val="3813632776"/>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テキスト ボックス 3">
            <a:extLst>
              <a:ext uri="{FF2B5EF4-FFF2-40B4-BE49-F238E27FC236}">
                <a16:creationId xmlns:a16="http://schemas.microsoft.com/office/drawing/2014/main" id="{5A13BF46-B8C5-48AA-8308-C9ECFF431A18}"/>
              </a:ext>
            </a:extLst>
          </p:cNvPr>
          <p:cNvSpPr txBox="1"/>
          <p:nvPr/>
        </p:nvSpPr>
        <p:spPr>
          <a:xfrm>
            <a:off x="567542" y="491954"/>
            <a:ext cx="5461752" cy="584775"/>
          </a:xfrm>
          <a:prstGeom prst="rect">
            <a:avLst/>
          </a:prstGeom>
          <a:noFill/>
        </p:spPr>
        <p:txBody>
          <a:bodyPr wrap="none" rtlCol="0">
            <a:spAutoFit/>
          </a:bodyPr>
          <a:lstStyle/>
          <a:p>
            <a:r>
              <a:rPr kumimoji="1" lang="en-US" altLang="ja-JP" sz="3200" b="1" u="sng" dirty="0"/>
              <a:t>2</a:t>
            </a:r>
            <a:r>
              <a:rPr kumimoji="1" lang="ja-JP" altLang="en-US" sz="3200" b="1" u="sng" dirty="0"/>
              <a:t>次導関数と瞬間加速度 例題</a:t>
            </a:r>
            <a:endParaRPr kumimoji="1" lang="en-US" altLang="ja-JP" sz="3200" b="1" u="sng" dirty="0"/>
          </a:p>
        </p:txBody>
      </p:sp>
      <mc:AlternateContent xmlns:mc="http://schemas.openxmlformats.org/markup-compatibility/2006" xmlns:a14="http://schemas.microsoft.com/office/drawing/2010/main">
        <mc:Choice Requires="a14">
          <p:sp>
            <p:nvSpPr>
              <p:cNvPr id="6" name="テキスト ボックス 5">
                <a:extLst>
                  <a:ext uri="{FF2B5EF4-FFF2-40B4-BE49-F238E27FC236}">
                    <a16:creationId xmlns:a16="http://schemas.microsoft.com/office/drawing/2014/main" id="{55830AD6-028B-4C4E-80BF-B70DFC1C3A46}"/>
                  </a:ext>
                </a:extLst>
              </p:cNvPr>
              <p:cNvSpPr txBox="1"/>
              <p:nvPr/>
            </p:nvSpPr>
            <p:spPr>
              <a:xfrm>
                <a:off x="567542" y="1216429"/>
                <a:ext cx="5631606" cy="830997"/>
              </a:xfrm>
              <a:prstGeom prst="rect">
                <a:avLst/>
              </a:prstGeom>
              <a:noFill/>
            </p:spPr>
            <p:txBody>
              <a:bodyPr wrap="none" rtlCol="0">
                <a:spAutoFit/>
              </a:bodyPr>
              <a:lstStyle/>
              <a:p>
                <a:r>
                  <a:rPr lang="ja-JP" altLang="en-US" sz="2400" dirty="0"/>
                  <a:t>時間と速度の関係が以下の表の場合、</a:t>
                </a:r>
                <a:endParaRPr lang="en-US" altLang="ja-JP" sz="2400" dirty="0"/>
              </a:p>
              <a:p>
                <a:r>
                  <a:rPr lang="en-US" altLang="ja-JP" sz="2400" dirty="0"/>
                  <a:t> </a:t>
                </a:r>
                <a14:m>
                  <m:oMath xmlns:m="http://schemas.openxmlformats.org/officeDocument/2006/math">
                    <m:r>
                      <a:rPr lang="en-US" altLang="ja-JP" sz="2400" i="1" dirty="0">
                        <a:latin typeface="Cambria Math" panose="02040503050406030204" pitchFamily="18" charset="0"/>
                      </a:rPr>
                      <m:t>3</m:t>
                    </m:r>
                    <m:r>
                      <a:rPr lang="ja-JP" altLang="en-US" sz="2400" i="1">
                        <a:latin typeface="Cambria Math" panose="02040503050406030204" pitchFamily="18" charset="0"/>
                      </a:rPr>
                      <m:t>≦</m:t>
                    </m:r>
                    <m:r>
                      <a:rPr lang="en-US" altLang="ja-JP" sz="2400" b="0" i="1" smtClean="0">
                        <a:latin typeface="Cambria Math" panose="02040503050406030204" pitchFamily="18" charset="0"/>
                      </a:rPr>
                      <m:t>𝑡</m:t>
                    </m:r>
                    <m:r>
                      <a:rPr lang="ja-JP" altLang="en-US" sz="2400" i="1">
                        <a:latin typeface="Cambria Math" panose="02040503050406030204" pitchFamily="18" charset="0"/>
                      </a:rPr>
                      <m:t>≦</m:t>
                    </m:r>
                    <m:r>
                      <a:rPr lang="en-US" altLang="ja-JP" sz="2400" i="1">
                        <a:latin typeface="Cambria Math" panose="02040503050406030204" pitchFamily="18" charset="0"/>
                      </a:rPr>
                      <m:t>5</m:t>
                    </m:r>
                  </m:oMath>
                </a14:m>
                <a:r>
                  <a:rPr lang="ja-JP" altLang="en-US" sz="2400" dirty="0"/>
                  <a:t> の平均加速度を求めなさい。</a:t>
                </a:r>
                <a:endParaRPr lang="en-US" altLang="ja-JP" sz="2400" dirty="0"/>
              </a:p>
            </p:txBody>
          </p:sp>
        </mc:Choice>
        <mc:Fallback xmlns="">
          <p:sp>
            <p:nvSpPr>
              <p:cNvPr id="6" name="テキスト ボックス 5">
                <a:extLst>
                  <a:ext uri="{FF2B5EF4-FFF2-40B4-BE49-F238E27FC236}">
                    <a16:creationId xmlns:a16="http://schemas.microsoft.com/office/drawing/2014/main" id="{55830AD6-028B-4C4E-80BF-B70DFC1C3A46}"/>
                  </a:ext>
                </a:extLst>
              </p:cNvPr>
              <p:cNvSpPr txBox="1">
                <a:spLocks noRot="1" noChangeAspect="1" noMove="1" noResize="1" noEditPoints="1" noAdjustHandles="1" noChangeArrowheads="1" noChangeShapeType="1" noTextEdit="1"/>
              </p:cNvSpPr>
              <p:nvPr/>
            </p:nvSpPr>
            <p:spPr>
              <a:xfrm>
                <a:off x="567542" y="1216429"/>
                <a:ext cx="5631606" cy="830997"/>
              </a:xfrm>
              <a:prstGeom prst="rect">
                <a:avLst/>
              </a:prstGeom>
              <a:blipFill>
                <a:blip r:embed="rId2"/>
                <a:stretch>
                  <a:fillRect l="-1623" t="-5882" r="-758" b="-16176"/>
                </a:stretch>
              </a:blipFill>
            </p:spPr>
            <p:txBody>
              <a:bodyPr/>
              <a:lstStyle/>
              <a:p>
                <a:r>
                  <a:rPr lang="ja-JP" altLang="en-US">
                    <a:noFill/>
                  </a:rPr>
                  <a:t> </a:t>
                </a:r>
              </a:p>
            </p:txBody>
          </p:sp>
        </mc:Fallback>
      </mc:AlternateContent>
      <p:graphicFrame>
        <p:nvGraphicFramePr>
          <p:cNvPr id="8" name="表 11">
            <a:extLst>
              <a:ext uri="{FF2B5EF4-FFF2-40B4-BE49-F238E27FC236}">
                <a16:creationId xmlns:a16="http://schemas.microsoft.com/office/drawing/2014/main" id="{D0ECD509-DECF-40ED-8527-FF9A153FB948}"/>
              </a:ext>
            </a:extLst>
          </p:cNvPr>
          <p:cNvGraphicFramePr>
            <a:graphicFrameLocks noGrp="1"/>
          </p:cNvGraphicFramePr>
          <p:nvPr>
            <p:extLst>
              <p:ext uri="{D42A27DB-BD31-4B8C-83A1-F6EECF244321}">
                <p14:modId xmlns:p14="http://schemas.microsoft.com/office/powerpoint/2010/main" val="1383920673"/>
              </p:ext>
            </p:extLst>
          </p:nvPr>
        </p:nvGraphicFramePr>
        <p:xfrm>
          <a:off x="567542" y="2187126"/>
          <a:ext cx="8128000" cy="2966720"/>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623761673"/>
                    </a:ext>
                  </a:extLst>
                </a:gridCol>
                <a:gridCol w="4064000">
                  <a:extLst>
                    <a:ext uri="{9D8B030D-6E8A-4147-A177-3AD203B41FA5}">
                      <a16:colId xmlns:a16="http://schemas.microsoft.com/office/drawing/2014/main" val="1350177872"/>
                    </a:ext>
                  </a:extLst>
                </a:gridCol>
              </a:tblGrid>
              <a:tr h="370840">
                <a:tc>
                  <a:txBody>
                    <a:bodyPr/>
                    <a:lstStyle/>
                    <a:p>
                      <a:r>
                        <a:rPr kumimoji="1" lang="ja-JP" altLang="en-US" dirty="0"/>
                        <a:t>時間（秒）</a:t>
                      </a:r>
                    </a:p>
                  </a:txBody>
                  <a:tcPr/>
                </a:tc>
                <a:tc>
                  <a:txBody>
                    <a:bodyPr/>
                    <a:lstStyle/>
                    <a:p>
                      <a:r>
                        <a:rPr kumimoji="1" lang="ja-JP" altLang="en-US" dirty="0"/>
                        <a:t>速度（</a:t>
                      </a:r>
                      <a:r>
                        <a:rPr kumimoji="1" lang="en-US" altLang="ja-JP" dirty="0"/>
                        <a:t>m/</a:t>
                      </a:r>
                      <a:r>
                        <a:rPr kumimoji="1" lang="ja-JP" altLang="en-US" dirty="0"/>
                        <a:t>秒）</a:t>
                      </a:r>
                    </a:p>
                  </a:txBody>
                  <a:tcPr/>
                </a:tc>
                <a:extLst>
                  <a:ext uri="{0D108BD9-81ED-4DB2-BD59-A6C34878D82A}">
                    <a16:rowId xmlns:a16="http://schemas.microsoft.com/office/drawing/2014/main" val="1271716605"/>
                  </a:ext>
                </a:extLst>
              </a:tr>
              <a:tr h="370840">
                <a:tc>
                  <a:txBody>
                    <a:bodyPr/>
                    <a:lstStyle/>
                    <a:p>
                      <a:r>
                        <a:rPr kumimoji="1" lang="en-US" altLang="ja-JP" dirty="0"/>
                        <a:t>0</a:t>
                      </a:r>
                      <a:endParaRPr kumimoji="1" lang="ja-JP" altLang="en-US" dirty="0"/>
                    </a:p>
                  </a:txBody>
                  <a:tcPr/>
                </a:tc>
                <a:tc>
                  <a:txBody>
                    <a:bodyPr/>
                    <a:lstStyle/>
                    <a:p>
                      <a:r>
                        <a:rPr kumimoji="1" lang="en-US" altLang="ja-JP" dirty="0"/>
                        <a:t>0</a:t>
                      </a:r>
                      <a:endParaRPr kumimoji="1" lang="ja-JP" altLang="en-US" dirty="0"/>
                    </a:p>
                  </a:txBody>
                  <a:tcPr/>
                </a:tc>
                <a:extLst>
                  <a:ext uri="{0D108BD9-81ED-4DB2-BD59-A6C34878D82A}">
                    <a16:rowId xmlns:a16="http://schemas.microsoft.com/office/drawing/2014/main" val="1843403703"/>
                  </a:ext>
                </a:extLst>
              </a:tr>
              <a:tr h="370840">
                <a:tc>
                  <a:txBody>
                    <a:bodyPr/>
                    <a:lstStyle/>
                    <a:p>
                      <a:r>
                        <a:rPr kumimoji="1" lang="en-US" altLang="ja-JP" dirty="0"/>
                        <a:t>1</a:t>
                      </a:r>
                      <a:endParaRPr kumimoji="1" lang="ja-JP" altLang="en-US" dirty="0"/>
                    </a:p>
                  </a:txBody>
                  <a:tcPr/>
                </a:tc>
                <a:tc>
                  <a:txBody>
                    <a:bodyPr/>
                    <a:lstStyle/>
                    <a:p>
                      <a:r>
                        <a:rPr kumimoji="1" lang="en-US" altLang="ja-JP" dirty="0"/>
                        <a:t>3</a:t>
                      </a:r>
                      <a:endParaRPr kumimoji="1" lang="ja-JP" altLang="en-US" dirty="0"/>
                    </a:p>
                  </a:txBody>
                  <a:tcPr/>
                </a:tc>
                <a:extLst>
                  <a:ext uri="{0D108BD9-81ED-4DB2-BD59-A6C34878D82A}">
                    <a16:rowId xmlns:a16="http://schemas.microsoft.com/office/drawing/2014/main" val="664712909"/>
                  </a:ext>
                </a:extLst>
              </a:tr>
              <a:tr h="370840">
                <a:tc>
                  <a:txBody>
                    <a:bodyPr/>
                    <a:lstStyle/>
                    <a:p>
                      <a:r>
                        <a:rPr kumimoji="1" lang="en-US" altLang="ja-JP" dirty="0"/>
                        <a:t>2</a:t>
                      </a:r>
                      <a:endParaRPr kumimoji="1" lang="ja-JP" altLang="en-US" dirty="0"/>
                    </a:p>
                  </a:txBody>
                  <a:tcPr/>
                </a:tc>
                <a:tc>
                  <a:txBody>
                    <a:bodyPr/>
                    <a:lstStyle/>
                    <a:p>
                      <a:r>
                        <a:rPr kumimoji="1" lang="en-US" altLang="ja-JP" dirty="0"/>
                        <a:t>12</a:t>
                      </a:r>
                      <a:endParaRPr kumimoji="1" lang="ja-JP" altLang="en-US" dirty="0"/>
                    </a:p>
                  </a:txBody>
                  <a:tcPr/>
                </a:tc>
                <a:extLst>
                  <a:ext uri="{0D108BD9-81ED-4DB2-BD59-A6C34878D82A}">
                    <a16:rowId xmlns:a16="http://schemas.microsoft.com/office/drawing/2014/main" val="2331909462"/>
                  </a:ext>
                </a:extLst>
              </a:tr>
              <a:tr h="370840">
                <a:tc>
                  <a:txBody>
                    <a:bodyPr/>
                    <a:lstStyle/>
                    <a:p>
                      <a:r>
                        <a:rPr kumimoji="1" lang="en-US" altLang="ja-JP" dirty="0"/>
                        <a:t>3</a:t>
                      </a:r>
                      <a:endParaRPr kumimoji="1" lang="ja-JP" altLang="en-US" dirty="0"/>
                    </a:p>
                  </a:txBody>
                  <a:tcPr/>
                </a:tc>
                <a:tc>
                  <a:txBody>
                    <a:bodyPr/>
                    <a:lstStyle/>
                    <a:p>
                      <a:r>
                        <a:rPr kumimoji="1" lang="en-US" altLang="ja-JP" dirty="0"/>
                        <a:t>27</a:t>
                      </a:r>
                      <a:endParaRPr kumimoji="1" lang="ja-JP" altLang="en-US" dirty="0"/>
                    </a:p>
                  </a:txBody>
                  <a:tcPr/>
                </a:tc>
                <a:extLst>
                  <a:ext uri="{0D108BD9-81ED-4DB2-BD59-A6C34878D82A}">
                    <a16:rowId xmlns:a16="http://schemas.microsoft.com/office/drawing/2014/main" val="3614912164"/>
                  </a:ext>
                </a:extLst>
              </a:tr>
              <a:tr h="370840">
                <a:tc>
                  <a:txBody>
                    <a:bodyPr/>
                    <a:lstStyle/>
                    <a:p>
                      <a:r>
                        <a:rPr kumimoji="1" lang="en-US" altLang="ja-JP" dirty="0"/>
                        <a:t>4</a:t>
                      </a:r>
                      <a:endParaRPr kumimoji="1" lang="ja-JP" altLang="en-US" dirty="0"/>
                    </a:p>
                  </a:txBody>
                  <a:tcPr/>
                </a:tc>
                <a:tc>
                  <a:txBody>
                    <a:bodyPr/>
                    <a:lstStyle/>
                    <a:p>
                      <a:r>
                        <a:rPr kumimoji="1" lang="en-US" altLang="ja-JP" dirty="0"/>
                        <a:t>48</a:t>
                      </a:r>
                      <a:endParaRPr kumimoji="1" lang="ja-JP" altLang="en-US" dirty="0"/>
                    </a:p>
                  </a:txBody>
                  <a:tcPr/>
                </a:tc>
                <a:extLst>
                  <a:ext uri="{0D108BD9-81ED-4DB2-BD59-A6C34878D82A}">
                    <a16:rowId xmlns:a16="http://schemas.microsoft.com/office/drawing/2014/main" val="3311389390"/>
                  </a:ext>
                </a:extLst>
              </a:tr>
              <a:tr h="370840">
                <a:tc>
                  <a:txBody>
                    <a:bodyPr/>
                    <a:lstStyle/>
                    <a:p>
                      <a:r>
                        <a:rPr kumimoji="1" lang="en-US" altLang="ja-JP" dirty="0"/>
                        <a:t>5</a:t>
                      </a:r>
                      <a:endParaRPr kumimoji="1" lang="ja-JP" altLang="en-US" dirty="0"/>
                    </a:p>
                  </a:txBody>
                  <a:tcPr/>
                </a:tc>
                <a:tc>
                  <a:txBody>
                    <a:bodyPr/>
                    <a:lstStyle/>
                    <a:p>
                      <a:r>
                        <a:rPr kumimoji="1" lang="en-US" altLang="ja-JP" dirty="0"/>
                        <a:t>75</a:t>
                      </a:r>
                      <a:endParaRPr kumimoji="1" lang="ja-JP" altLang="en-US" dirty="0"/>
                    </a:p>
                  </a:txBody>
                  <a:tcPr/>
                </a:tc>
                <a:extLst>
                  <a:ext uri="{0D108BD9-81ED-4DB2-BD59-A6C34878D82A}">
                    <a16:rowId xmlns:a16="http://schemas.microsoft.com/office/drawing/2014/main" val="2590311240"/>
                  </a:ext>
                </a:extLst>
              </a:tr>
              <a:tr h="370840">
                <a:tc>
                  <a:txBody>
                    <a:bodyPr/>
                    <a:lstStyle/>
                    <a:p>
                      <a:r>
                        <a:rPr kumimoji="1" lang="en-US" altLang="ja-JP" dirty="0"/>
                        <a:t>6</a:t>
                      </a:r>
                      <a:endParaRPr kumimoji="1" lang="ja-JP" altLang="en-US" dirty="0"/>
                    </a:p>
                  </a:txBody>
                  <a:tcPr/>
                </a:tc>
                <a:tc>
                  <a:txBody>
                    <a:bodyPr/>
                    <a:lstStyle/>
                    <a:p>
                      <a:r>
                        <a:rPr kumimoji="1" lang="en-US" altLang="ja-JP" dirty="0"/>
                        <a:t>108</a:t>
                      </a:r>
                      <a:endParaRPr kumimoji="1" lang="ja-JP" altLang="en-US" dirty="0"/>
                    </a:p>
                  </a:txBody>
                  <a:tcPr/>
                </a:tc>
                <a:extLst>
                  <a:ext uri="{0D108BD9-81ED-4DB2-BD59-A6C34878D82A}">
                    <a16:rowId xmlns:a16="http://schemas.microsoft.com/office/drawing/2014/main" val="987179435"/>
                  </a:ext>
                </a:extLst>
              </a:tr>
            </a:tbl>
          </a:graphicData>
        </a:graphic>
      </p:graphicFrame>
      <mc:AlternateContent xmlns:mc="http://schemas.openxmlformats.org/markup-compatibility/2006" xmlns:a14="http://schemas.microsoft.com/office/drawing/2010/main">
        <mc:Choice Requires="a14">
          <p:sp>
            <p:nvSpPr>
              <p:cNvPr id="9" name="テキスト ボックス 8">
                <a:extLst>
                  <a:ext uri="{FF2B5EF4-FFF2-40B4-BE49-F238E27FC236}">
                    <a16:creationId xmlns:a16="http://schemas.microsoft.com/office/drawing/2014/main" id="{9160146C-BBBF-451B-AABF-A2FFB9F5B07B}"/>
                  </a:ext>
                </a:extLst>
              </p:cNvPr>
              <p:cNvSpPr txBox="1"/>
              <p:nvPr/>
            </p:nvSpPr>
            <p:spPr>
              <a:xfrm>
                <a:off x="567542" y="5293546"/>
                <a:ext cx="6712222" cy="1178400"/>
              </a:xfrm>
              <a:prstGeom prst="rect">
                <a:avLst/>
              </a:prstGeom>
              <a:noFill/>
            </p:spPr>
            <p:txBody>
              <a:bodyPr wrap="none" rtlCol="0">
                <a:spAutoFit/>
              </a:bodyPr>
              <a:lstStyle/>
              <a:p>
                <a:r>
                  <a:rPr lang="ja-JP" altLang="en-US" sz="2400" dirty="0"/>
                  <a:t>■解答</a:t>
                </a:r>
                <a:endParaRPr lang="en-US" altLang="ja-JP" sz="2400" dirty="0"/>
              </a:p>
              <a:p>
                <a:pPr/>
                <a14:m>
                  <m:oMathPara xmlns:m="http://schemas.openxmlformats.org/officeDocument/2006/math">
                    <m:oMathParaPr>
                      <m:jc m:val="centerGroup"/>
                    </m:oMathParaPr>
                    <m:oMath xmlns:m="http://schemas.openxmlformats.org/officeDocument/2006/math">
                      <m:bar>
                        <m:barPr>
                          <m:pos m:val="top"/>
                          <m:ctrlPr>
                            <a:rPr lang="en-US" altLang="ja-JP" sz="2400" i="1">
                              <a:latin typeface="Cambria Math" panose="02040503050406030204" pitchFamily="18" charset="0"/>
                            </a:rPr>
                          </m:ctrlPr>
                        </m:barPr>
                        <m:e>
                          <m:r>
                            <a:rPr lang="en-US" altLang="ja-JP" sz="2400" i="1">
                              <a:latin typeface="Cambria Math" panose="02040503050406030204" pitchFamily="18" charset="0"/>
                            </a:rPr>
                            <m:t>𝑎</m:t>
                          </m:r>
                        </m:e>
                      </m:bar>
                      <m:r>
                        <a:rPr lang="en-US" altLang="ja-JP" sz="2400" i="1">
                          <a:latin typeface="Cambria Math" panose="02040503050406030204" pitchFamily="18" charset="0"/>
                        </a:rPr>
                        <m:t>=</m:t>
                      </m:r>
                      <m:f>
                        <m:fPr>
                          <m:ctrlPr>
                            <a:rPr lang="en-US" altLang="ja-JP" sz="2400" i="1">
                              <a:latin typeface="Cambria Math" panose="02040503050406030204" pitchFamily="18" charset="0"/>
                            </a:rPr>
                          </m:ctrlPr>
                        </m:fPr>
                        <m:num>
                          <m:r>
                            <a:rPr lang="en-US" altLang="ja-JP" sz="2400" i="1">
                              <a:latin typeface="Cambria Math" panose="02040503050406030204" pitchFamily="18" charset="0"/>
                            </a:rPr>
                            <m:t>𝑓</m:t>
                          </m:r>
                          <m:d>
                            <m:dPr>
                              <m:ctrlPr>
                                <a:rPr lang="en-US" altLang="ja-JP" sz="2400" i="1">
                                  <a:latin typeface="Cambria Math" panose="02040503050406030204" pitchFamily="18" charset="0"/>
                                </a:rPr>
                              </m:ctrlPr>
                            </m:dPr>
                            <m:e>
                              <m:r>
                                <a:rPr lang="en-US" altLang="ja-JP" sz="2400" b="0" i="1" smtClean="0">
                                  <a:latin typeface="Cambria Math" panose="02040503050406030204" pitchFamily="18" charset="0"/>
                                </a:rPr>
                                <m:t>5</m:t>
                              </m:r>
                            </m:e>
                          </m:d>
                          <m:r>
                            <a:rPr lang="en-US" altLang="ja-JP" sz="2400" i="1">
                              <a:latin typeface="Cambria Math" panose="02040503050406030204" pitchFamily="18" charset="0"/>
                            </a:rPr>
                            <m:t>−</m:t>
                          </m:r>
                          <m:r>
                            <a:rPr lang="en-US" altLang="ja-JP" sz="2400" i="1">
                              <a:latin typeface="Cambria Math" panose="02040503050406030204" pitchFamily="18" charset="0"/>
                            </a:rPr>
                            <m:t>𝑓</m:t>
                          </m:r>
                          <m:r>
                            <a:rPr lang="en-US" altLang="ja-JP" sz="2400" i="1">
                              <a:latin typeface="Cambria Math" panose="02040503050406030204" pitchFamily="18" charset="0"/>
                            </a:rPr>
                            <m:t>(3)</m:t>
                          </m:r>
                        </m:num>
                        <m:den>
                          <m:r>
                            <a:rPr lang="en-US" altLang="ja-JP" sz="2400" b="0" i="1" smtClean="0">
                              <a:latin typeface="Cambria Math" panose="02040503050406030204" pitchFamily="18" charset="0"/>
                            </a:rPr>
                            <m:t>5</m:t>
                          </m:r>
                          <m:r>
                            <a:rPr lang="en-US" altLang="ja-JP" sz="2400" i="1">
                              <a:latin typeface="Cambria Math" panose="02040503050406030204" pitchFamily="18" charset="0"/>
                            </a:rPr>
                            <m:t>−</m:t>
                          </m:r>
                          <m:r>
                            <a:rPr lang="en-US" altLang="ja-JP" sz="2400" b="0" i="1" smtClean="0">
                              <a:latin typeface="Cambria Math" panose="02040503050406030204" pitchFamily="18" charset="0"/>
                            </a:rPr>
                            <m:t>3</m:t>
                          </m:r>
                        </m:den>
                      </m:f>
                      <m:r>
                        <a:rPr lang="en-US" altLang="ja-JP" sz="2400" b="0" i="1" smtClean="0">
                          <a:latin typeface="Cambria Math" panose="02040503050406030204" pitchFamily="18" charset="0"/>
                        </a:rPr>
                        <m:t>=</m:t>
                      </m:r>
                      <m:f>
                        <m:fPr>
                          <m:ctrlPr>
                            <a:rPr lang="en-US" altLang="ja-JP" sz="2400" i="1">
                              <a:latin typeface="Cambria Math" panose="02040503050406030204" pitchFamily="18" charset="0"/>
                            </a:rPr>
                          </m:ctrlPr>
                        </m:fPr>
                        <m:num>
                          <m:r>
                            <a:rPr lang="en-US" altLang="ja-JP" sz="2400" i="1" smtClean="0">
                              <a:latin typeface="Cambria Math" panose="02040503050406030204" pitchFamily="18" charset="0"/>
                            </a:rPr>
                            <m:t>7</m:t>
                          </m:r>
                          <m:r>
                            <a:rPr lang="en-US" altLang="ja-JP" sz="2400" b="0" i="1" smtClean="0">
                              <a:latin typeface="Cambria Math" panose="02040503050406030204" pitchFamily="18" charset="0"/>
                            </a:rPr>
                            <m:t>5</m:t>
                          </m:r>
                          <m:r>
                            <a:rPr lang="en-US" altLang="ja-JP" sz="2400" i="1">
                              <a:latin typeface="Cambria Math" panose="02040503050406030204" pitchFamily="18" charset="0"/>
                            </a:rPr>
                            <m:t>−</m:t>
                          </m:r>
                          <m:r>
                            <a:rPr lang="en-US" altLang="ja-JP" sz="2400" b="0" i="1" smtClean="0">
                              <a:latin typeface="Cambria Math" panose="02040503050406030204" pitchFamily="18" charset="0"/>
                            </a:rPr>
                            <m:t>27</m:t>
                          </m:r>
                        </m:num>
                        <m:den>
                          <m:r>
                            <a:rPr lang="en-US" altLang="ja-JP" sz="2400" b="0" i="1" smtClean="0">
                              <a:latin typeface="Cambria Math" panose="02040503050406030204" pitchFamily="18" charset="0"/>
                            </a:rPr>
                            <m:t>5</m:t>
                          </m:r>
                          <m:r>
                            <a:rPr lang="en-US" altLang="ja-JP" sz="2400" i="1">
                              <a:latin typeface="Cambria Math" panose="02040503050406030204" pitchFamily="18" charset="0"/>
                            </a:rPr>
                            <m:t>−</m:t>
                          </m:r>
                          <m:r>
                            <a:rPr lang="en-US" altLang="ja-JP" sz="2400" b="0" i="1" smtClean="0">
                              <a:latin typeface="Cambria Math" panose="02040503050406030204" pitchFamily="18" charset="0"/>
                            </a:rPr>
                            <m:t>3</m:t>
                          </m:r>
                        </m:den>
                      </m:f>
                      <m:r>
                        <a:rPr lang="en-US" altLang="ja-JP" sz="2400" b="0" i="1" smtClean="0">
                          <a:latin typeface="Cambria Math" panose="02040503050406030204" pitchFamily="18" charset="0"/>
                        </a:rPr>
                        <m:t>=</m:t>
                      </m:r>
                      <m:f>
                        <m:fPr>
                          <m:ctrlPr>
                            <a:rPr lang="en-US" altLang="ja-JP" sz="2400" i="1">
                              <a:latin typeface="Cambria Math" panose="02040503050406030204" pitchFamily="18" charset="0"/>
                            </a:rPr>
                          </m:ctrlPr>
                        </m:fPr>
                        <m:num>
                          <m:r>
                            <a:rPr lang="en-US" altLang="ja-JP" sz="2400" b="0" i="1" smtClean="0">
                              <a:latin typeface="Cambria Math" panose="02040503050406030204" pitchFamily="18" charset="0"/>
                            </a:rPr>
                            <m:t>48</m:t>
                          </m:r>
                        </m:num>
                        <m:den>
                          <m:r>
                            <a:rPr lang="en-US" altLang="ja-JP" sz="2400" b="0" i="1" smtClean="0">
                              <a:latin typeface="Cambria Math" panose="02040503050406030204" pitchFamily="18" charset="0"/>
                            </a:rPr>
                            <m:t>2</m:t>
                          </m:r>
                        </m:den>
                      </m:f>
                      <m:r>
                        <a:rPr lang="en-US" altLang="ja-JP" sz="2400" b="0" i="1" smtClean="0">
                          <a:latin typeface="Cambria Math" panose="02040503050406030204" pitchFamily="18" charset="0"/>
                        </a:rPr>
                        <m:t>=</m:t>
                      </m:r>
                      <m:r>
                        <a:rPr lang="en-US" altLang="ja-JP" sz="2400" b="0" i="1" smtClean="0">
                          <a:solidFill>
                            <a:srgbClr val="FF0000"/>
                          </a:solidFill>
                          <a:latin typeface="Cambria Math" panose="02040503050406030204" pitchFamily="18" charset="0"/>
                        </a:rPr>
                        <m:t>24</m:t>
                      </m:r>
                      <m:r>
                        <a:rPr lang="en-US" altLang="ja-JP" sz="2400" b="0" i="1" smtClean="0">
                          <a:solidFill>
                            <a:srgbClr val="FF0000"/>
                          </a:solidFill>
                          <a:latin typeface="Cambria Math" panose="02040503050406030204" pitchFamily="18" charset="0"/>
                        </a:rPr>
                        <m:t>𝑚</m:t>
                      </m:r>
                      <m:r>
                        <a:rPr lang="en-US" altLang="ja-JP" sz="2400" b="0" i="1" smtClean="0">
                          <a:solidFill>
                            <a:srgbClr val="FF0000"/>
                          </a:solidFill>
                          <a:latin typeface="Cambria Math" panose="02040503050406030204" pitchFamily="18" charset="0"/>
                        </a:rPr>
                        <m:t>/</m:t>
                      </m:r>
                      <m:sSup>
                        <m:sSupPr>
                          <m:ctrlPr>
                            <a:rPr lang="en-US" altLang="ja-JP" sz="2400" b="0" i="1" smtClean="0">
                              <a:solidFill>
                                <a:srgbClr val="FF0000"/>
                              </a:solidFill>
                              <a:latin typeface="Cambria Math" panose="02040503050406030204" pitchFamily="18" charset="0"/>
                            </a:rPr>
                          </m:ctrlPr>
                        </m:sSupPr>
                        <m:e>
                          <m:r>
                            <a:rPr lang="ja-JP" altLang="en-US" sz="2400" i="1">
                              <a:solidFill>
                                <a:srgbClr val="FF0000"/>
                              </a:solidFill>
                              <a:latin typeface="Cambria Math" panose="02040503050406030204" pitchFamily="18" charset="0"/>
                            </a:rPr>
                            <m:t>秒</m:t>
                          </m:r>
                        </m:e>
                        <m:sup>
                          <m:r>
                            <a:rPr lang="en-US" altLang="ja-JP" sz="2400" b="0" i="1" smtClean="0">
                              <a:solidFill>
                                <a:srgbClr val="FF0000"/>
                              </a:solidFill>
                              <a:latin typeface="Cambria Math" panose="02040503050406030204" pitchFamily="18" charset="0"/>
                            </a:rPr>
                            <m:t>2</m:t>
                          </m:r>
                        </m:sup>
                      </m:sSup>
                    </m:oMath>
                  </m:oMathPara>
                </a14:m>
                <a:endParaRPr lang="en-US" altLang="ja-JP" sz="2400" dirty="0"/>
              </a:p>
            </p:txBody>
          </p:sp>
        </mc:Choice>
        <mc:Fallback xmlns="">
          <p:sp>
            <p:nvSpPr>
              <p:cNvPr id="9" name="テキスト ボックス 8">
                <a:extLst>
                  <a:ext uri="{FF2B5EF4-FFF2-40B4-BE49-F238E27FC236}">
                    <a16:creationId xmlns:a16="http://schemas.microsoft.com/office/drawing/2014/main" id="{9160146C-BBBF-451B-AABF-A2FFB9F5B07B}"/>
                  </a:ext>
                </a:extLst>
              </p:cNvPr>
              <p:cNvSpPr txBox="1">
                <a:spLocks noRot="1" noChangeAspect="1" noMove="1" noResize="1" noEditPoints="1" noAdjustHandles="1" noChangeArrowheads="1" noChangeShapeType="1" noTextEdit="1"/>
              </p:cNvSpPr>
              <p:nvPr/>
            </p:nvSpPr>
            <p:spPr>
              <a:xfrm>
                <a:off x="567542" y="5293546"/>
                <a:ext cx="6712222" cy="1178400"/>
              </a:xfrm>
              <a:prstGeom prst="rect">
                <a:avLst/>
              </a:prstGeom>
              <a:blipFill>
                <a:blip r:embed="rId3"/>
                <a:stretch>
                  <a:fillRect l="-1362" t="-4124"/>
                </a:stretch>
              </a:blipFill>
            </p:spPr>
            <p:txBody>
              <a:bodyPr/>
              <a:lstStyle/>
              <a:p>
                <a:r>
                  <a:rPr lang="ja-JP" altLang="en-US">
                    <a:noFill/>
                  </a:rPr>
                  <a:t> </a:t>
                </a:r>
              </a:p>
            </p:txBody>
          </p:sp>
        </mc:Fallback>
      </mc:AlternateContent>
    </p:spTree>
    <p:extLst>
      <p:ext uri="{BB962C8B-B14F-4D97-AF65-F5344CB8AC3E}">
        <p14:creationId xmlns:p14="http://schemas.microsoft.com/office/powerpoint/2010/main" val="2675160066"/>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テキスト ボックス 3">
            <a:extLst>
              <a:ext uri="{FF2B5EF4-FFF2-40B4-BE49-F238E27FC236}">
                <a16:creationId xmlns:a16="http://schemas.microsoft.com/office/drawing/2014/main" id="{5A13BF46-B8C5-48AA-8308-C9ECFF431A18}"/>
              </a:ext>
            </a:extLst>
          </p:cNvPr>
          <p:cNvSpPr txBox="1"/>
          <p:nvPr/>
        </p:nvSpPr>
        <p:spPr>
          <a:xfrm>
            <a:off x="567542" y="491954"/>
            <a:ext cx="4523995" cy="584775"/>
          </a:xfrm>
          <a:prstGeom prst="rect">
            <a:avLst/>
          </a:prstGeom>
          <a:noFill/>
        </p:spPr>
        <p:txBody>
          <a:bodyPr wrap="none" rtlCol="0">
            <a:spAutoFit/>
          </a:bodyPr>
          <a:lstStyle/>
          <a:p>
            <a:r>
              <a:rPr kumimoji="1" lang="en-US" altLang="ja-JP" sz="3200" b="1" u="sng" dirty="0"/>
              <a:t>2</a:t>
            </a:r>
            <a:r>
              <a:rPr kumimoji="1" lang="ja-JP" altLang="en-US" sz="3200" b="1" u="sng" dirty="0"/>
              <a:t>次導関数と瞬間加速度</a:t>
            </a:r>
            <a:endParaRPr kumimoji="1" lang="en-US" altLang="ja-JP" sz="3200" b="1" u="sng" dirty="0"/>
          </a:p>
        </p:txBody>
      </p:sp>
      <p:sp>
        <p:nvSpPr>
          <p:cNvPr id="6" name="テキスト ボックス 5">
            <a:extLst>
              <a:ext uri="{FF2B5EF4-FFF2-40B4-BE49-F238E27FC236}">
                <a16:creationId xmlns:a16="http://schemas.microsoft.com/office/drawing/2014/main" id="{55830AD6-028B-4C4E-80BF-B70DFC1C3A46}"/>
              </a:ext>
            </a:extLst>
          </p:cNvPr>
          <p:cNvSpPr txBox="1"/>
          <p:nvPr/>
        </p:nvSpPr>
        <p:spPr>
          <a:xfrm>
            <a:off x="567542" y="1216429"/>
            <a:ext cx="9725739" cy="461665"/>
          </a:xfrm>
          <a:prstGeom prst="rect">
            <a:avLst/>
          </a:prstGeom>
          <a:noFill/>
        </p:spPr>
        <p:txBody>
          <a:bodyPr wrap="none" rtlCol="0">
            <a:spAutoFit/>
          </a:bodyPr>
          <a:lstStyle/>
          <a:p>
            <a:r>
              <a:rPr lang="ja-JP" altLang="en-US" sz="2400" dirty="0"/>
              <a:t>先ほどの表をグラフにすると、徐々に増加していく</a:t>
            </a:r>
            <a:r>
              <a:rPr lang="ja-JP" altLang="en-US" sz="2400" b="1" dirty="0">
                <a:solidFill>
                  <a:srgbClr val="FF0000"/>
                </a:solidFill>
              </a:rPr>
              <a:t>曲線</a:t>
            </a:r>
            <a:r>
              <a:rPr lang="ja-JP" altLang="en-US" sz="2400" dirty="0"/>
              <a:t>となります。</a:t>
            </a:r>
            <a:endParaRPr lang="en-US" altLang="ja-JP" sz="2400" dirty="0"/>
          </a:p>
        </p:txBody>
      </p:sp>
      <p:graphicFrame>
        <p:nvGraphicFramePr>
          <p:cNvPr id="7" name="グラフ 6">
            <a:extLst>
              <a:ext uri="{FF2B5EF4-FFF2-40B4-BE49-F238E27FC236}">
                <a16:creationId xmlns:a16="http://schemas.microsoft.com/office/drawing/2014/main" id="{30D6878C-FF41-4F6A-AE09-8E6794BBAA07}"/>
              </a:ext>
            </a:extLst>
          </p:cNvPr>
          <p:cNvGraphicFramePr/>
          <p:nvPr/>
        </p:nvGraphicFramePr>
        <p:xfrm>
          <a:off x="567543" y="1817794"/>
          <a:ext cx="4797560" cy="4633083"/>
        </p:xfrm>
        <a:graphic>
          <a:graphicData uri="http://schemas.openxmlformats.org/drawingml/2006/chart">
            <c:chart xmlns:c="http://schemas.openxmlformats.org/drawingml/2006/chart" xmlns:r="http://schemas.openxmlformats.org/officeDocument/2006/relationships" r:id="rId2"/>
          </a:graphicData>
        </a:graphic>
      </p:graphicFrame>
    </p:spTree>
    <p:extLst>
      <p:ext uri="{BB962C8B-B14F-4D97-AF65-F5344CB8AC3E}">
        <p14:creationId xmlns:p14="http://schemas.microsoft.com/office/powerpoint/2010/main" val="3864658659"/>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テキスト ボックス 3">
            <a:extLst>
              <a:ext uri="{FF2B5EF4-FFF2-40B4-BE49-F238E27FC236}">
                <a16:creationId xmlns:a16="http://schemas.microsoft.com/office/drawing/2014/main" id="{5A13BF46-B8C5-48AA-8308-C9ECFF431A18}"/>
              </a:ext>
            </a:extLst>
          </p:cNvPr>
          <p:cNvSpPr txBox="1"/>
          <p:nvPr/>
        </p:nvSpPr>
        <p:spPr>
          <a:xfrm>
            <a:off x="567542" y="491954"/>
            <a:ext cx="4523995" cy="584775"/>
          </a:xfrm>
          <a:prstGeom prst="rect">
            <a:avLst/>
          </a:prstGeom>
          <a:noFill/>
        </p:spPr>
        <p:txBody>
          <a:bodyPr wrap="none" rtlCol="0">
            <a:spAutoFit/>
          </a:bodyPr>
          <a:lstStyle/>
          <a:p>
            <a:r>
              <a:rPr kumimoji="1" lang="en-US" altLang="ja-JP" sz="3200" b="1" u="sng" dirty="0"/>
              <a:t>2</a:t>
            </a:r>
            <a:r>
              <a:rPr kumimoji="1" lang="ja-JP" altLang="en-US" sz="3200" b="1" u="sng" dirty="0"/>
              <a:t>次導関数と瞬間加速度</a:t>
            </a:r>
            <a:endParaRPr kumimoji="1" lang="en-US" altLang="ja-JP" sz="3200" b="1" u="sng" dirty="0"/>
          </a:p>
        </p:txBody>
      </p:sp>
      <p:sp>
        <p:nvSpPr>
          <p:cNvPr id="6" name="テキスト ボックス 5">
            <a:extLst>
              <a:ext uri="{FF2B5EF4-FFF2-40B4-BE49-F238E27FC236}">
                <a16:creationId xmlns:a16="http://schemas.microsoft.com/office/drawing/2014/main" id="{55830AD6-028B-4C4E-80BF-B70DFC1C3A46}"/>
              </a:ext>
            </a:extLst>
          </p:cNvPr>
          <p:cNvSpPr txBox="1"/>
          <p:nvPr/>
        </p:nvSpPr>
        <p:spPr>
          <a:xfrm>
            <a:off x="567542" y="1216429"/>
            <a:ext cx="6647974" cy="461665"/>
          </a:xfrm>
          <a:prstGeom prst="rect">
            <a:avLst/>
          </a:prstGeom>
          <a:noFill/>
        </p:spPr>
        <p:txBody>
          <a:bodyPr wrap="none" rtlCol="0">
            <a:spAutoFit/>
          </a:bodyPr>
          <a:lstStyle/>
          <a:p>
            <a:r>
              <a:rPr lang="ja-JP" altLang="en-US" sz="2400" b="1" dirty="0">
                <a:solidFill>
                  <a:srgbClr val="FF0000"/>
                </a:solidFill>
              </a:rPr>
              <a:t>平均加速度</a:t>
            </a:r>
            <a:r>
              <a:rPr lang="ja-JP" altLang="en-US" sz="2400" dirty="0"/>
              <a:t>は経過時間を結ぶ</a:t>
            </a:r>
            <a:r>
              <a:rPr lang="ja-JP" altLang="en-US" sz="2400" b="1" dirty="0">
                <a:solidFill>
                  <a:srgbClr val="FF0000"/>
                </a:solidFill>
              </a:rPr>
              <a:t>直線</a:t>
            </a:r>
            <a:r>
              <a:rPr lang="ja-JP" altLang="en-US" sz="2400" dirty="0"/>
              <a:t>となります。</a:t>
            </a:r>
            <a:endParaRPr lang="en-US" altLang="ja-JP" sz="2400" dirty="0"/>
          </a:p>
        </p:txBody>
      </p:sp>
      <p:graphicFrame>
        <p:nvGraphicFramePr>
          <p:cNvPr id="18" name="グラフ 17">
            <a:extLst>
              <a:ext uri="{FF2B5EF4-FFF2-40B4-BE49-F238E27FC236}">
                <a16:creationId xmlns:a16="http://schemas.microsoft.com/office/drawing/2014/main" id="{0825E195-D68B-4C5B-9F76-6FB7E92C23CB}"/>
              </a:ext>
            </a:extLst>
          </p:cNvPr>
          <p:cNvGraphicFramePr/>
          <p:nvPr/>
        </p:nvGraphicFramePr>
        <p:xfrm>
          <a:off x="567543" y="1817794"/>
          <a:ext cx="4797560" cy="4633083"/>
        </p:xfrm>
        <a:graphic>
          <a:graphicData uri="http://schemas.openxmlformats.org/drawingml/2006/chart">
            <c:chart xmlns:c="http://schemas.openxmlformats.org/drawingml/2006/chart" xmlns:r="http://schemas.openxmlformats.org/officeDocument/2006/relationships" r:id="rId2"/>
          </a:graphicData>
        </a:graphic>
      </p:graphicFrame>
      <p:cxnSp>
        <p:nvCxnSpPr>
          <p:cNvPr id="8" name="直線コネクタ 7">
            <a:extLst>
              <a:ext uri="{FF2B5EF4-FFF2-40B4-BE49-F238E27FC236}">
                <a16:creationId xmlns:a16="http://schemas.microsoft.com/office/drawing/2014/main" id="{1A39A437-0D6D-4378-8058-19215F8A8906}"/>
              </a:ext>
            </a:extLst>
          </p:cNvPr>
          <p:cNvCxnSpPr>
            <a:cxnSpLocks/>
          </p:cNvCxnSpPr>
          <p:nvPr/>
        </p:nvCxnSpPr>
        <p:spPr>
          <a:xfrm flipV="1">
            <a:off x="1959429" y="3517641"/>
            <a:ext cx="2360644" cy="2435290"/>
          </a:xfrm>
          <a:prstGeom prst="line">
            <a:avLst/>
          </a:prstGeom>
          <a:ln w="38100">
            <a:solidFill>
              <a:srgbClr val="FF0000"/>
            </a:solidFill>
            <a:prstDash val="dash"/>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01886261"/>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テキスト ボックス 3">
            <a:extLst>
              <a:ext uri="{FF2B5EF4-FFF2-40B4-BE49-F238E27FC236}">
                <a16:creationId xmlns:a16="http://schemas.microsoft.com/office/drawing/2014/main" id="{5A13BF46-B8C5-48AA-8308-C9ECFF431A18}"/>
              </a:ext>
            </a:extLst>
          </p:cNvPr>
          <p:cNvSpPr txBox="1"/>
          <p:nvPr/>
        </p:nvSpPr>
        <p:spPr>
          <a:xfrm>
            <a:off x="567542" y="491954"/>
            <a:ext cx="4523995" cy="584775"/>
          </a:xfrm>
          <a:prstGeom prst="rect">
            <a:avLst/>
          </a:prstGeom>
          <a:noFill/>
        </p:spPr>
        <p:txBody>
          <a:bodyPr wrap="none" rtlCol="0">
            <a:spAutoFit/>
          </a:bodyPr>
          <a:lstStyle/>
          <a:p>
            <a:r>
              <a:rPr kumimoji="1" lang="en-US" altLang="ja-JP" sz="3200" b="1" u="sng" dirty="0"/>
              <a:t>2</a:t>
            </a:r>
            <a:r>
              <a:rPr kumimoji="1" lang="ja-JP" altLang="en-US" sz="3200" b="1" u="sng" dirty="0"/>
              <a:t>次導関数と瞬間加速度</a:t>
            </a:r>
            <a:endParaRPr kumimoji="1" lang="en-US" altLang="ja-JP" sz="3200" b="1" u="sng" dirty="0"/>
          </a:p>
        </p:txBody>
      </p:sp>
      <mc:AlternateContent xmlns:mc="http://schemas.openxmlformats.org/markup-compatibility/2006" xmlns:a14="http://schemas.microsoft.com/office/drawing/2010/main">
        <mc:Choice Requires="a14">
          <p:sp>
            <p:nvSpPr>
              <p:cNvPr id="6" name="テキスト ボックス 5">
                <a:extLst>
                  <a:ext uri="{FF2B5EF4-FFF2-40B4-BE49-F238E27FC236}">
                    <a16:creationId xmlns:a16="http://schemas.microsoft.com/office/drawing/2014/main" id="{55830AD6-028B-4C4E-80BF-B70DFC1C3A46}"/>
                  </a:ext>
                </a:extLst>
              </p:cNvPr>
              <p:cNvSpPr txBox="1"/>
              <p:nvPr/>
            </p:nvSpPr>
            <p:spPr>
              <a:xfrm>
                <a:off x="567542" y="1216429"/>
                <a:ext cx="6421886" cy="461665"/>
              </a:xfrm>
              <a:prstGeom prst="rect">
                <a:avLst/>
              </a:prstGeom>
              <a:noFill/>
            </p:spPr>
            <p:txBody>
              <a:bodyPr wrap="none" rtlCol="0">
                <a:spAutoFit/>
              </a:bodyPr>
              <a:lstStyle/>
              <a:p>
                <a:r>
                  <a:rPr lang="ja-JP" altLang="en-US" sz="2400" dirty="0"/>
                  <a:t>では</a:t>
                </a:r>
                <a14:m>
                  <m:oMath xmlns:m="http://schemas.openxmlformats.org/officeDocument/2006/math">
                    <m:r>
                      <a:rPr lang="en-US" altLang="ja-JP" sz="2400" b="0" i="1" dirty="0" smtClean="0">
                        <a:latin typeface="Cambria Math" panose="02040503050406030204" pitchFamily="18" charset="0"/>
                      </a:rPr>
                      <m:t>1</m:t>
                    </m:r>
                    <m:r>
                      <a:rPr lang="ja-JP" altLang="en-US" sz="2400" i="1">
                        <a:latin typeface="Cambria Math" panose="02040503050406030204" pitchFamily="18" charset="0"/>
                      </a:rPr>
                      <m:t>≦</m:t>
                    </m:r>
                    <m:r>
                      <a:rPr lang="en-US" altLang="ja-JP" sz="2400" b="0" i="1" smtClean="0">
                        <a:latin typeface="Cambria Math" panose="02040503050406030204" pitchFamily="18" charset="0"/>
                      </a:rPr>
                      <m:t>𝑡</m:t>
                    </m:r>
                    <m:r>
                      <a:rPr lang="ja-JP" altLang="en-US" sz="2400" i="1">
                        <a:latin typeface="Cambria Math" panose="02040503050406030204" pitchFamily="18" charset="0"/>
                      </a:rPr>
                      <m:t>≦</m:t>
                    </m:r>
                    <m:r>
                      <a:rPr lang="en-US" altLang="ja-JP" sz="2400" b="0" i="1" smtClean="0">
                        <a:latin typeface="Cambria Math" panose="02040503050406030204" pitchFamily="18" charset="0"/>
                      </a:rPr>
                      <m:t>1.000000000000000001</m:t>
                    </m:r>
                  </m:oMath>
                </a14:m>
                <a:r>
                  <a:rPr lang="ja-JP" altLang="en-US" sz="2400" dirty="0"/>
                  <a:t>だと。。</a:t>
                </a:r>
                <a:endParaRPr lang="en-US" altLang="ja-JP" sz="2400" dirty="0"/>
              </a:p>
            </p:txBody>
          </p:sp>
        </mc:Choice>
        <mc:Fallback xmlns="">
          <p:sp>
            <p:nvSpPr>
              <p:cNvPr id="6" name="テキスト ボックス 5">
                <a:extLst>
                  <a:ext uri="{FF2B5EF4-FFF2-40B4-BE49-F238E27FC236}">
                    <a16:creationId xmlns:a16="http://schemas.microsoft.com/office/drawing/2014/main" id="{55830AD6-028B-4C4E-80BF-B70DFC1C3A46}"/>
                  </a:ext>
                </a:extLst>
              </p:cNvPr>
              <p:cNvSpPr txBox="1">
                <a:spLocks noRot="1" noChangeAspect="1" noMove="1" noResize="1" noEditPoints="1" noAdjustHandles="1" noChangeArrowheads="1" noChangeShapeType="1" noTextEdit="1"/>
              </p:cNvSpPr>
              <p:nvPr/>
            </p:nvSpPr>
            <p:spPr>
              <a:xfrm>
                <a:off x="567542" y="1216429"/>
                <a:ext cx="6421886" cy="461665"/>
              </a:xfrm>
              <a:prstGeom prst="rect">
                <a:avLst/>
              </a:prstGeom>
              <a:blipFill>
                <a:blip r:embed="rId2"/>
                <a:stretch>
                  <a:fillRect l="-1423" t="-10667" r="-474" b="-30667"/>
                </a:stretch>
              </a:blipFill>
            </p:spPr>
            <p:txBody>
              <a:bodyPr/>
              <a:lstStyle/>
              <a:p>
                <a:r>
                  <a:rPr lang="ja-JP" altLang="en-US">
                    <a:noFill/>
                  </a:rPr>
                  <a:t> </a:t>
                </a:r>
              </a:p>
            </p:txBody>
          </p:sp>
        </mc:Fallback>
      </mc:AlternateContent>
      <p:graphicFrame>
        <p:nvGraphicFramePr>
          <p:cNvPr id="18" name="グラフ 17">
            <a:extLst>
              <a:ext uri="{FF2B5EF4-FFF2-40B4-BE49-F238E27FC236}">
                <a16:creationId xmlns:a16="http://schemas.microsoft.com/office/drawing/2014/main" id="{0825E195-D68B-4C5B-9F76-6FB7E92C23CB}"/>
              </a:ext>
            </a:extLst>
          </p:cNvPr>
          <p:cNvGraphicFramePr/>
          <p:nvPr/>
        </p:nvGraphicFramePr>
        <p:xfrm>
          <a:off x="567543" y="1817794"/>
          <a:ext cx="4797560" cy="4633083"/>
        </p:xfrm>
        <a:graphic>
          <a:graphicData uri="http://schemas.openxmlformats.org/drawingml/2006/chart">
            <c:chart xmlns:c="http://schemas.openxmlformats.org/drawingml/2006/chart" xmlns:r="http://schemas.openxmlformats.org/officeDocument/2006/relationships" r:id="rId3"/>
          </a:graphicData>
        </a:graphic>
      </p:graphicFrame>
      <p:cxnSp>
        <p:nvCxnSpPr>
          <p:cNvPr id="8" name="直線コネクタ 7">
            <a:extLst>
              <a:ext uri="{FF2B5EF4-FFF2-40B4-BE49-F238E27FC236}">
                <a16:creationId xmlns:a16="http://schemas.microsoft.com/office/drawing/2014/main" id="{1A39A437-0D6D-4378-8058-19215F8A8906}"/>
              </a:ext>
            </a:extLst>
          </p:cNvPr>
          <p:cNvCxnSpPr>
            <a:cxnSpLocks/>
          </p:cNvCxnSpPr>
          <p:nvPr/>
        </p:nvCxnSpPr>
        <p:spPr>
          <a:xfrm flipV="1">
            <a:off x="1624059" y="5038531"/>
            <a:ext cx="3041247" cy="1056928"/>
          </a:xfrm>
          <a:prstGeom prst="line">
            <a:avLst/>
          </a:prstGeom>
          <a:ln w="38100">
            <a:solidFill>
              <a:srgbClr val="FF0000"/>
            </a:solidFill>
            <a:prstDash val="dash"/>
          </a:ln>
        </p:spPr>
        <p:style>
          <a:lnRef idx="1">
            <a:schemeClr val="accent1"/>
          </a:lnRef>
          <a:fillRef idx="0">
            <a:schemeClr val="accent1"/>
          </a:fillRef>
          <a:effectRef idx="0">
            <a:schemeClr val="accent1"/>
          </a:effectRef>
          <a:fontRef idx="minor">
            <a:schemeClr val="tx1"/>
          </a:fontRef>
        </p:style>
      </p:cxnSp>
      <p:sp>
        <p:nvSpPr>
          <p:cNvPr id="10" name="テキスト ボックス 9">
            <a:extLst>
              <a:ext uri="{FF2B5EF4-FFF2-40B4-BE49-F238E27FC236}">
                <a16:creationId xmlns:a16="http://schemas.microsoft.com/office/drawing/2014/main" id="{E6E990DE-12BB-404F-B6AA-8490D642DC6E}"/>
              </a:ext>
            </a:extLst>
          </p:cNvPr>
          <p:cNvSpPr txBox="1"/>
          <p:nvPr/>
        </p:nvSpPr>
        <p:spPr>
          <a:xfrm>
            <a:off x="6015267" y="3429000"/>
            <a:ext cx="5109091" cy="1200329"/>
          </a:xfrm>
          <a:prstGeom prst="rect">
            <a:avLst/>
          </a:prstGeom>
          <a:noFill/>
        </p:spPr>
        <p:txBody>
          <a:bodyPr wrap="none" rtlCol="0">
            <a:spAutoFit/>
          </a:bodyPr>
          <a:lstStyle/>
          <a:p>
            <a:r>
              <a:rPr lang="ja-JP" altLang="en-US" sz="2400" dirty="0"/>
              <a:t>このように</a:t>
            </a:r>
            <a:endParaRPr lang="en-US" altLang="ja-JP" sz="2400" dirty="0"/>
          </a:p>
          <a:p>
            <a:r>
              <a:rPr lang="ja-JP" altLang="en-US" sz="2400" b="1" dirty="0">
                <a:solidFill>
                  <a:srgbClr val="FF0000"/>
                </a:solidFill>
              </a:rPr>
              <a:t>瞬間速度と同じ考え方</a:t>
            </a:r>
            <a:r>
              <a:rPr lang="ja-JP" altLang="en-US" sz="2400" dirty="0"/>
              <a:t>で、</a:t>
            </a:r>
            <a:endParaRPr lang="en-US" altLang="ja-JP" sz="2400" dirty="0"/>
          </a:p>
          <a:p>
            <a:r>
              <a:rPr lang="ja-JP" altLang="en-US" sz="2400" b="1" dirty="0">
                <a:solidFill>
                  <a:srgbClr val="FF0000"/>
                </a:solidFill>
              </a:rPr>
              <a:t>瞬間加速度</a:t>
            </a:r>
            <a:r>
              <a:rPr lang="ja-JP" altLang="en-US" sz="2400" dirty="0"/>
              <a:t>も求めることができます</a:t>
            </a:r>
            <a:endParaRPr lang="en-US" altLang="ja-JP" sz="2400" dirty="0"/>
          </a:p>
        </p:txBody>
      </p:sp>
    </p:spTree>
    <p:extLst>
      <p:ext uri="{BB962C8B-B14F-4D97-AF65-F5344CB8AC3E}">
        <p14:creationId xmlns:p14="http://schemas.microsoft.com/office/powerpoint/2010/main" val="3833685979"/>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四角形: 角を丸くする 1">
            <a:extLst>
              <a:ext uri="{FF2B5EF4-FFF2-40B4-BE49-F238E27FC236}">
                <a16:creationId xmlns:a16="http://schemas.microsoft.com/office/drawing/2014/main" id="{54E75C70-07AC-450F-AB27-EDCE24E3ADF9}"/>
              </a:ext>
            </a:extLst>
          </p:cNvPr>
          <p:cNvSpPr/>
          <p:nvPr/>
        </p:nvSpPr>
        <p:spPr>
          <a:xfrm>
            <a:off x="298580" y="1800808"/>
            <a:ext cx="10916816" cy="1841716"/>
          </a:xfrm>
          <a:prstGeom prst="roundRect">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4" name="テキスト ボックス 3">
            <a:extLst>
              <a:ext uri="{FF2B5EF4-FFF2-40B4-BE49-F238E27FC236}">
                <a16:creationId xmlns:a16="http://schemas.microsoft.com/office/drawing/2014/main" id="{5A13BF46-B8C5-48AA-8308-C9ECFF431A18}"/>
              </a:ext>
            </a:extLst>
          </p:cNvPr>
          <p:cNvSpPr txBox="1"/>
          <p:nvPr/>
        </p:nvSpPr>
        <p:spPr>
          <a:xfrm>
            <a:off x="567542" y="491954"/>
            <a:ext cx="4523995" cy="584775"/>
          </a:xfrm>
          <a:prstGeom prst="rect">
            <a:avLst/>
          </a:prstGeom>
          <a:noFill/>
        </p:spPr>
        <p:txBody>
          <a:bodyPr wrap="none" rtlCol="0">
            <a:spAutoFit/>
          </a:bodyPr>
          <a:lstStyle/>
          <a:p>
            <a:r>
              <a:rPr kumimoji="1" lang="en-US" altLang="ja-JP" sz="3200" b="1" u="sng" dirty="0"/>
              <a:t>2</a:t>
            </a:r>
            <a:r>
              <a:rPr kumimoji="1" lang="ja-JP" altLang="en-US" sz="3200" b="1" u="sng" dirty="0"/>
              <a:t>次導関数と瞬間加速度</a:t>
            </a:r>
            <a:endParaRPr kumimoji="1" lang="en-US" altLang="ja-JP" sz="3200" b="1" u="sng" dirty="0"/>
          </a:p>
        </p:txBody>
      </p:sp>
      <mc:AlternateContent xmlns:mc="http://schemas.openxmlformats.org/markup-compatibility/2006" xmlns:a14="http://schemas.microsoft.com/office/drawing/2010/main">
        <mc:Choice Requires="a14">
          <p:sp>
            <p:nvSpPr>
              <p:cNvPr id="6" name="テキスト ボックス 5">
                <a:extLst>
                  <a:ext uri="{FF2B5EF4-FFF2-40B4-BE49-F238E27FC236}">
                    <a16:creationId xmlns:a16="http://schemas.microsoft.com/office/drawing/2014/main" id="{55830AD6-028B-4C4E-80BF-B70DFC1C3A46}"/>
                  </a:ext>
                </a:extLst>
              </p:cNvPr>
              <p:cNvSpPr txBox="1"/>
              <p:nvPr/>
            </p:nvSpPr>
            <p:spPr>
              <a:xfrm>
                <a:off x="567542" y="1216429"/>
                <a:ext cx="10419840" cy="3394391"/>
              </a:xfrm>
              <a:prstGeom prst="rect">
                <a:avLst/>
              </a:prstGeom>
              <a:noFill/>
            </p:spPr>
            <p:txBody>
              <a:bodyPr wrap="none" rtlCol="0">
                <a:spAutoFit/>
              </a:bodyPr>
              <a:lstStyle/>
              <a:p>
                <a:r>
                  <a:rPr lang="ja-JP" altLang="en-US" sz="2400" dirty="0"/>
                  <a:t>瞬間加速度の定義です。</a:t>
                </a:r>
                <a:endParaRPr lang="en-US" altLang="ja-JP" sz="2400" dirty="0"/>
              </a:p>
              <a:p>
                <a:endParaRPr lang="en-US" altLang="ja-JP" sz="2400" dirty="0"/>
              </a:p>
              <a:p>
                <a:r>
                  <a:rPr lang="ja-JP" altLang="en-US" sz="2400" b="1" dirty="0">
                    <a:solidFill>
                      <a:srgbClr val="FF0000"/>
                    </a:solidFill>
                  </a:rPr>
                  <a:t>■瞬間加速度</a:t>
                </a:r>
                <a:endParaRPr lang="en-US" altLang="ja-JP" sz="2400" b="1" dirty="0">
                  <a:solidFill>
                    <a:srgbClr val="FF0000"/>
                  </a:solidFill>
                </a:endParaRPr>
              </a:p>
              <a:p>
                <a:r>
                  <a:rPr lang="ja-JP" altLang="en-US" sz="2400" dirty="0"/>
                  <a:t>速度が時間の関数</a:t>
                </a:r>
                <a14:m>
                  <m:oMath xmlns:m="http://schemas.openxmlformats.org/officeDocument/2006/math">
                    <m:r>
                      <a:rPr lang="en-US" altLang="ja-JP" sz="2400" b="0" i="1" smtClean="0">
                        <a:latin typeface="Cambria Math" panose="02040503050406030204" pitchFamily="18" charset="0"/>
                      </a:rPr>
                      <m:t>𝑓</m:t>
                    </m:r>
                    <m:r>
                      <a:rPr lang="en-US" altLang="ja-JP" sz="2400" b="0" i="1" smtClean="0">
                        <a:latin typeface="Cambria Math" panose="02040503050406030204" pitchFamily="18" charset="0"/>
                      </a:rPr>
                      <m:t>(</m:t>
                    </m:r>
                    <m:r>
                      <a:rPr lang="en-US" altLang="ja-JP" sz="2400" b="0" i="1" smtClean="0">
                        <a:latin typeface="Cambria Math" panose="02040503050406030204" pitchFamily="18" charset="0"/>
                      </a:rPr>
                      <m:t>𝑡</m:t>
                    </m:r>
                    <m:r>
                      <a:rPr lang="en-US" altLang="ja-JP" sz="2400" b="0" i="1" smtClean="0">
                        <a:latin typeface="Cambria Math" panose="02040503050406030204" pitchFamily="18" charset="0"/>
                      </a:rPr>
                      <m:t>)</m:t>
                    </m:r>
                  </m:oMath>
                </a14:m>
                <a:r>
                  <a:rPr lang="ja-JP" altLang="en-US" sz="2400" dirty="0"/>
                  <a:t>として表されるとき、時間</a:t>
                </a:r>
                <a14:m>
                  <m:oMath xmlns:m="http://schemas.openxmlformats.org/officeDocument/2006/math">
                    <m:r>
                      <a:rPr lang="en-US" altLang="ja-JP" sz="2400" i="1">
                        <a:latin typeface="Cambria Math" panose="02040503050406030204" pitchFamily="18" charset="0"/>
                      </a:rPr>
                      <m:t>𝑡</m:t>
                    </m:r>
                  </m:oMath>
                </a14:m>
                <a:r>
                  <a:rPr lang="ja-JP" altLang="en-US" sz="2400" dirty="0"/>
                  <a:t>における瞬間加速度は、</a:t>
                </a:r>
                <a:endParaRPr lang="en-US" altLang="ja-JP" sz="2400" dirty="0"/>
              </a:p>
              <a:p>
                <a:pPr/>
                <a14:m>
                  <m:oMathPara xmlns:m="http://schemas.openxmlformats.org/officeDocument/2006/math">
                    <m:oMathParaPr>
                      <m:jc m:val="left"/>
                    </m:oMathParaPr>
                    <m:oMath xmlns:m="http://schemas.openxmlformats.org/officeDocument/2006/math">
                      <m:r>
                        <a:rPr lang="en-US" altLang="ja-JP" sz="2400" b="0" i="1" smtClean="0">
                          <a:latin typeface="Cambria Math" panose="02040503050406030204" pitchFamily="18" charset="0"/>
                        </a:rPr>
                        <m:t>𝑎</m:t>
                      </m:r>
                      <m:r>
                        <a:rPr lang="en-US" altLang="ja-JP" sz="2400" b="0" i="1" smtClean="0">
                          <a:latin typeface="Cambria Math" panose="02040503050406030204" pitchFamily="18" charset="0"/>
                        </a:rPr>
                        <m:t>=</m:t>
                      </m:r>
                      <m:func>
                        <m:funcPr>
                          <m:ctrlPr>
                            <a:rPr lang="en-US" altLang="ja-JP" sz="2400" b="0" i="1" smtClean="0">
                              <a:latin typeface="Cambria Math" panose="02040503050406030204" pitchFamily="18" charset="0"/>
                            </a:rPr>
                          </m:ctrlPr>
                        </m:funcPr>
                        <m:fName>
                          <m:limLow>
                            <m:limLowPr>
                              <m:ctrlPr>
                                <a:rPr lang="en-US" altLang="ja-JP" sz="2400" i="1">
                                  <a:latin typeface="Cambria Math" panose="02040503050406030204" pitchFamily="18" charset="0"/>
                                </a:rPr>
                              </m:ctrlPr>
                            </m:limLowPr>
                            <m:e>
                              <m:r>
                                <m:rPr>
                                  <m:sty m:val="p"/>
                                </m:rPr>
                                <a:rPr lang="en-US" altLang="ja-JP" sz="2400">
                                  <a:latin typeface="Cambria Math" panose="02040503050406030204" pitchFamily="18" charset="0"/>
                                </a:rPr>
                                <m:t>lim</m:t>
                              </m:r>
                            </m:e>
                            <m:lim>
                              <m:r>
                                <a:rPr lang="en-US" altLang="ja-JP" sz="2400" i="1">
                                  <a:latin typeface="Cambria Math" panose="02040503050406030204" pitchFamily="18" charset="0"/>
                                </a:rPr>
                                <m:t>h</m:t>
                              </m:r>
                              <m:r>
                                <a:rPr lang="ja-JP" altLang="en-US" sz="2400" i="1">
                                  <a:latin typeface="Cambria Math" panose="02040503050406030204" pitchFamily="18" charset="0"/>
                                </a:rPr>
                                <m:t>→</m:t>
                              </m:r>
                              <m:r>
                                <a:rPr lang="en-US" altLang="ja-JP" sz="2400" i="1">
                                  <a:latin typeface="Cambria Math" panose="02040503050406030204" pitchFamily="18" charset="0"/>
                                </a:rPr>
                                <m:t>0</m:t>
                              </m:r>
                            </m:lim>
                          </m:limLow>
                        </m:fName>
                        <m:e>
                          <m:f>
                            <m:fPr>
                              <m:ctrlPr>
                                <a:rPr lang="en-US" altLang="ja-JP" sz="2400" b="0" i="1" smtClean="0">
                                  <a:latin typeface="Cambria Math" panose="02040503050406030204" pitchFamily="18" charset="0"/>
                                </a:rPr>
                              </m:ctrlPr>
                            </m:fPr>
                            <m:num>
                              <m:r>
                                <a:rPr lang="en-US" altLang="ja-JP" sz="2400" b="0" i="1" smtClean="0">
                                  <a:latin typeface="Cambria Math" panose="02040503050406030204" pitchFamily="18" charset="0"/>
                                </a:rPr>
                                <m:t>𝑓</m:t>
                              </m:r>
                              <m:d>
                                <m:dPr>
                                  <m:ctrlPr>
                                    <a:rPr lang="en-US" altLang="ja-JP" sz="2400" b="0" i="1" smtClean="0">
                                      <a:latin typeface="Cambria Math" panose="02040503050406030204" pitchFamily="18" charset="0"/>
                                    </a:rPr>
                                  </m:ctrlPr>
                                </m:dPr>
                                <m:e>
                                  <m:r>
                                    <a:rPr lang="en-US" altLang="ja-JP" sz="2400" b="0" i="1" smtClean="0">
                                      <a:latin typeface="Cambria Math" panose="02040503050406030204" pitchFamily="18" charset="0"/>
                                    </a:rPr>
                                    <m:t>𝑡</m:t>
                                  </m:r>
                                  <m:r>
                                    <a:rPr lang="en-US" altLang="ja-JP" sz="2400" b="0" i="1" smtClean="0">
                                      <a:latin typeface="Cambria Math" panose="02040503050406030204" pitchFamily="18" charset="0"/>
                                    </a:rPr>
                                    <m:t>+</m:t>
                                  </m:r>
                                  <m:r>
                                    <a:rPr lang="en-US" altLang="ja-JP" sz="2400" b="0" i="1" smtClean="0">
                                      <a:latin typeface="Cambria Math" panose="02040503050406030204" pitchFamily="18" charset="0"/>
                                    </a:rPr>
                                    <m:t>h</m:t>
                                  </m:r>
                                </m:e>
                              </m:d>
                              <m:r>
                                <a:rPr lang="en-US" altLang="ja-JP" sz="2400" b="0" i="1" smtClean="0">
                                  <a:latin typeface="Cambria Math" panose="02040503050406030204" pitchFamily="18" charset="0"/>
                                </a:rPr>
                                <m:t>−</m:t>
                              </m:r>
                              <m:r>
                                <a:rPr lang="en-US" altLang="ja-JP" sz="2400" b="0" i="1" smtClean="0">
                                  <a:latin typeface="Cambria Math" panose="02040503050406030204" pitchFamily="18" charset="0"/>
                                </a:rPr>
                                <m:t>𝑓</m:t>
                              </m:r>
                              <m:r>
                                <a:rPr lang="en-US" altLang="ja-JP" sz="2400" b="0" i="1" smtClean="0">
                                  <a:latin typeface="Cambria Math" panose="02040503050406030204" pitchFamily="18" charset="0"/>
                                </a:rPr>
                                <m:t>(</m:t>
                              </m:r>
                              <m:r>
                                <a:rPr lang="en-US" altLang="ja-JP" sz="2400" b="0" i="1" smtClean="0">
                                  <a:latin typeface="Cambria Math" panose="02040503050406030204" pitchFamily="18" charset="0"/>
                                </a:rPr>
                                <m:t>𝑡</m:t>
                              </m:r>
                              <m:r>
                                <a:rPr lang="en-US" altLang="ja-JP" sz="2400" b="0" i="1" smtClean="0">
                                  <a:latin typeface="Cambria Math" panose="02040503050406030204" pitchFamily="18" charset="0"/>
                                </a:rPr>
                                <m:t>)</m:t>
                              </m:r>
                            </m:num>
                            <m:den>
                              <m:r>
                                <a:rPr lang="en-US" altLang="ja-JP" sz="2400" b="0" i="1" smtClean="0">
                                  <a:latin typeface="Cambria Math" panose="02040503050406030204" pitchFamily="18" charset="0"/>
                                </a:rPr>
                                <m:t>h</m:t>
                              </m:r>
                            </m:den>
                          </m:f>
                        </m:e>
                      </m:func>
                    </m:oMath>
                  </m:oMathPara>
                </a14:m>
                <a:endParaRPr lang="en-US" altLang="ja-JP" sz="2400" dirty="0"/>
              </a:p>
              <a:p>
                <a:endParaRPr lang="en-US" altLang="ja-JP" sz="2400" dirty="0"/>
              </a:p>
              <a:p>
                <a:r>
                  <a:rPr lang="ja-JP" altLang="en-US" sz="2400" b="1" dirty="0">
                    <a:solidFill>
                      <a:srgbClr val="FF0000"/>
                    </a:solidFill>
                  </a:rPr>
                  <a:t>瞬間速度とは計算が同じですが単位が違います。</a:t>
                </a:r>
                <a:endParaRPr lang="en-US" altLang="ja-JP" sz="2400" b="1" dirty="0">
                  <a:solidFill>
                    <a:srgbClr val="FF0000"/>
                  </a:solidFill>
                </a:endParaRPr>
              </a:p>
              <a:p>
                <a:r>
                  <a:rPr lang="ja-JP" altLang="en-US" sz="2400" dirty="0"/>
                  <a:t>（瞬間速度は</a:t>
                </a:r>
                <a:r>
                  <a:rPr lang="ja-JP" altLang="en-US" sz="2400" b="1" dirty="0">
                    <a:solidFill>
                      <a:srgbClr val="FF0000"/>
                    </a:solidFill>
                  </a:rPr>
                  <a:t>位置</a:t>
                </a:r>
                <a:r>
                  <a:rPr lang="ja-JP" altLang="en-US" sz="2400" dirty="0"/>
                  <a:t>が時間の関数</a:t>
                </a:r>
                <a14:m>
                  <m:oMath xmlns:m="http://schemas.openxmlformats.org/officeDocument/2006/math">
                    <m:r>
                      <a:rPr lang="en-US" altLang="ja-JP" sz="2400" b="0" i="1" smtClean="0">
                        <a:latin typeface="Cambria Math" panose="02040503050406030204" pitchFamily="18" charset="0"/>
                      </a:rPr>
                      <m:t>𝑓</m:t>
                    </m:r>
                    <m:r>
                      <a:rPr lang="en-US" altLang="ja-JP" sz="2400" b="0" i="1" smtClean="0">
                        <a:latin typeface="Cambria Math" panose="02040503050406030204" pitchFamily="18" charset="0"/>
                      </a:rPr>
                      <m:t>(</m:t>
                    </m:r>
                    <m:r>
                      <a:rPr lang="en-US" altLang="ja-JP" sz="2400" b="0" i="1" smtClean="0">
                        <a:latin typeface="Cambria Math" panose="02040503050406030204" pitchFamily="18" charset="0"/>
                      </a:rPr>
                      <m:t>𝑡</m:t>
                    </m:r>
                    <m:r>
                      <a:rPr lang="en-US" altLang="ja-JP" sz="2400" b="0" i="1" smtClean="0">
                        <a:latin typeface="Cambria Math" panose="02040503050406030204" pitchFamily="18" charset="0"/>
                      </a:rPr>
                      <m:t>)</m:t>
                    </m:r>
                  </m:oMath>
                </a14:m>
                <a:r>
                  <a:rPr lang="ja-JP" altLang="en-US" sz="2400" dirty="0"/>
                  <a:t>）</a:t>
                </a:r>
                <a:endParaRPr lang="en-US" altLang="ja-JP" sz="2400" dirty="0"/>
              </a:p>
            </p:txBody>
          </p:sp>
        </mc:Choice>
        <mc:Fallback xmlns="">
          <p:sp>
            <p:nvSpPr>
              <p:cNvPr id="6" name="テキスト ボックス 5">
                <a:extLst>
                  <a:ext uri="{FF2B5EF4-FFF2-40B4-BE49-F238E27FC236}">
                    <a16:creationId xmlns:a16="http://schemas.microsoft.com/office/drawing/2014/main" id="{55830AD6-028B-4C4E-80BF-B70DFC1C3A46}"/>
                  </a:ext>
                </a:extLst>
              </p:cNvPr>
              <p:cNvSpPr txBox="1">
                <a:spLocks noRot="1" noChangeAspect="1" noMove="1" noResize="1" noEditPoints="1" noAdjustHandles="1" noChangeArrowheads="1" noChangeShapeType="1" noTextEdit="1"/>
              </p:cNvSpPr>
              <p:nvPr/>
            </p:nvSpPr>
            <p:spPr>
              <a:xfrm>
                <a:off x="567542" y="1216429"/>
                <a:ext cx="10419840" cy="3394391"/>
              </a:xfrm>
              <a:prstGeom prst="rect">
                <a:avLst/>
              </a:prstGeom>
              <a:blipFill>
                <a:blip r:embed="rId2"/>
                <a:stretch>
                  <a:fillRect l="-878" t="-1439" b="-3417"/>
                </a:stretch>
              </a:blipFill>
            </p:spPr>
            <p:txBody>
              <a:bodyPr/>
              <a:lstStyle/>
              <a:p>
                <a:r>
                  <a:rPr lang="ja-JP" altLang="en-US">
                    <a:noFill/>
                  </a:rPr>
                  <a:t> </a:t>
                </a:r>
              </a:p>
            </p:txBody>
          </p:sp>
        </mc:Fallback>
      </mc:AlternateContent>
    </p:spTree>
    <p:extLst>
      <p:ext uri="{BB962C8B-B14F-4D97-AF65-F5344CB8AC3E}">
        <p14:creationId xmlns:p14="http://schemas.microsoft.com/office/powerpoint/2010/main" val="1168059927"/>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テキスト ボックス 3">
            <a:extLst>
              <a:ext uri="{FF2B5EF4-FFF2-40B4-BE49-F238E27FC236}">
                <a16:creationId xmlns:a16="http://schemas.microsoft.com/office/drawing/2014/main" id="{5A13BF46-B8C5-48AA-8308-C9ECFF431A18}"/>
              </a:ext>
            </a:extLst>
          </p:cNvPr>
          <p:cNvSpPr txBox="1"/>
          <p:nvPr/>
        </p:nvSpPr>
        <p:spPr>
          <a:xfrm>
            <a:off x="567542" y="491954"/>
            <a:ext cx="5461752" cy="584775"/>
          </a:xfrm>
          <a:prstGeom prst="rect">
            <a:avLst/>
          </a:prstGeom>
          <a:noFill/>
        </p:spPr>
        <p:txBody>
          <a:bodyPr wrap="none" rtlCol="0">
            <a:spAutoFit/>
          </a:bodyPr>
          <a:lstStyle/>
          <a:p>
            <a:r>
              <a:rPr kumimoji="1" lang="en-US" altLang="ja-JP" sz="3200" b="1" u="sng" dirty="0"/>
              <a:t>2</a:t>
            </a:r>
            <a:r>
              <a:rPr kumimoji="1" lang="ja-JP" altLang="en-US" sz="3200" b="1" u="sng" dirty="0"/>
              <a:t>次導関数と瞬間加速度 例題</a:t>
            </a:r>
            <a:endParaRPr kumimoji="1" lang="en-US" altLang="ja-JP" sz="3200" b="1" u="sng" dirty="0"/>
          </a:p>
        </p:txBody>
      </p:sp>
      <mc:AlternateContent xmlns:mc="http://schemas.openxmlformats.org/markup-compatibility/2006" xmlns:a14="http://schemas.microsoft.com/office/drawing/2010/main">
        <mc:Choice Requires="a14">
          <p:sp>
            <p:nvSpPr>
              <p:cNvPr id="6" name="テキスト ボックス 5">
                <a:extLst>
                  <a:ext uri="{FF2B5EF4-FFF2-40B4-BE49-F238E27FC236}">
                    <a16:creationId xmlns:a16="http://schemas.microsoft.com/office/drawing/2014/main" id="{55830AD6-028B-4C4E-80BF-B70DFC1C3A46}"/>
                  </a:ext>
                </a:extLst>
              </p:cNvPr>
              <p:cNvSpPr txBox="1"/>
              <p:nvPr/>
            </p:nvSpPr>
            <p:spPr>
              <a:xfrm>
                <a:off x="567542" y="1216429"/>
                <a:ext cx="8115748" cy="5481822"/>
              </a:xfrm>
              <a:prstGeom prst="rect">
                <a:avLst/>
              </a:prstGeom>
              <a:noFill/>
            </p:spPr>
            <p:txBody>
              <a:bodyPr wrap="none" rtlCol="0">
                <a:spAutoFit/>
              </a:bodyPr>
              <a:lstStyle/>
              <a:p>
                <a:r>
                  <a:rPr lang="ja-JP" altLang="en-US" sz="2400" dirty="0"/>
                  <a:t>ボールを真上に投げた時の</a:t>
                </a:r>
                <a:endParaRPr lang="en-US" altLang="ja-JP" sz="2400" dirty="0"/>
              </a:p>
              <a:p>
                <a:r>
                  <a:rPr lang="ja-JP" altLang="en-US" sz="2400" dirty="0"/>
                  <a:t>速度が時間の関数</a:t>
                </a:r>
                <a14:m>
                  <m:oMath xmlns:m="http://schemas.openxmlformats.org/officeDocument/2006/math">
                    <m:r>
                      <a:rPr lang="en-US" altLang="ja-JP" sz="2400" b="0" i="1" smtClean="0">
                        <a:latin typeface="Cambria Math" panose="02040503050406030204" pitchFamily="18" charset="0"/>
                      </a:rPr>
                      <m:t>𝑣</m:t>
                    </m:r>
                    <m:r>
                      <a:rPr lang="en-US" altLang="ja-JP" sz="2400" b="0" i="1" smtClean="0">
                        <a:latin typeface="Cambria Math" panose="02040503050406030204" pitchFamily="18" charset="0"/>
                      </a:rPr>
                      <m:t>=</m:t>
                    </m:r>
                    <m:r>
                      <a:rPr lang="en-US" altLang="ja-JP" sz="2400" b="0" i="1" smtClean="0">
                        <a:latin typeface="Cambria Math" panose="02040503050406030204" pitchFamily="18" charset="0"/>
                      </a:rPr>
                      <m:t>𝑓</m:t>
                    </m:r>
                    <m:d>
                      <m:dPr>
                        <m:ctrlPr>
                          <a:rPr lang="en-US" altLang="ja-JP" sz="2400" b="0" i="1" smtClean="0">
                            <a:latin typeface="Cambria Math" panose="02040503050406030204" pitchFamily="18" charset="0"/>
                          </a:rPr>
                        </m:ctrlPr>
                      </m:dPr>
                      <m:e>
                        <m:r>
                          <a:rPr lang="en-US" altLang="ja-JP" sz="2400" b="0" i="1" smtClean="0">
                            <a:latin typeface="Cambria Math" panose="02040503050406030204" pitchFamily="18" charset="0"/>
                          </a:rPr>
                          <m:t>𝑡</m:t>
                        </m:r>
                      </m:e>
                    </m:d>
                    <m:r>
                      <a:rPr lang="en-US" altLang="ja-JP" sz="2400" b="0" i="1" smtClean="0">
                        <a:latin typeface="Cambria Math" panose="02040503050406030204" pitchFamily="18" charset="0"/>
                      </a:rPr>
                      <m:t>=−9.8</m:t>
                    </m:r>
                    <m:r>
                      <a:rPr lang="en-US" altLang="ja-JP" sz="2400" b="0" i="1" smtClean="0">
                        <a:latin typeface="Cambria Math" panose="02040503050406030204" pitchFamily="18" charset="0"/>
                      </a:rPr>
                      <m:t>𝑡</m:t>
                    </m:r>
                    <m:r>
                      <a:rPr lang="en-US" altLang="ja-JP" sz="2400" b="0" i="1" smtClean="0">
                        <a:latin typeface="Cambria Math" panose="02040503050406030204" pitchFamily="18" charset="0"/>
                      </a:rPr>
                      <m:t>+25</m:t>
                    </m:r>
                  </m:oMath>
                </a14:m>
                <a:r>
                  <a:rPr lang="ja-JP" altLang="en-US" sz="2400" dirty="0"/>
                  <a:t>で表されるとき、</a:t>
                </a:r>
                <a:endParaRPr lang="en-US" altLang="ja-JP" sz="2400" dirty="0"/>
              </a:p>
              <a:p>
                <a14:m>
                  <m:oMath xmlns:m="http://schemas.openxmlformats.org/officeDocument/2006/math">
                    <m:r>
                      <a:rPr lang="en-US" altLang="ja-JP" sz="2400" b="0" i="1" smtClean="0">
                        <a:latin typeface="Cambria Math" panose="02040503050406030204" pitchFamily="18" charset="0"/>
                      </a:rPr>
                      <m:t>𝑡</m:t>
                    </m:r>
                    <m:r>
                      <a:rPr lang="en-US" altLang="ja-JP" sz="2400" b="0" i="1" smtClean="0">
                        <a:latin typeface="Cambria Math" panose="02040503050406030204" pitchFamily="18" charset="0"/>
                      </a:rPr>
                      <m:t>=3</m:t>
                    </m:r>
                  </m:oMath>
                </a14:m>
                <a:r>
                  <a:rPr lang="ja-JP" altLang="en-US" sz="2400" dirty="0"/>
                  <a:t>における瞬間加速度を求めなさい。</a:t>
                </a:r>
                <a:endParaRPr lang="en-US" altLang="ja-JP" sz="2400" dirty="0"/>
              </a:p>
              <a:p>
                <a:endParaRPr lang="en-US" altLang="ja-JP" sz="2400" dirty="0"/>
              </a:p>
              <a:p>
                <a:r>
                  <a:rPr lang="ja-JP" altLang="en-US" sz="2400" dirty="0"/>
                  <a:t>■解答</a:t>
                </a:r>
                <a:endParaRPr lang="en-US" altLang="ja-JP" sz="2400" dirty="0"/>
              </a:p>
              <a:p>
                <a14:m>
                  <m:oMath xmlns:m="http://schemas.openxmlformats.org/officeDocument/2006/math">
                    <m:r>
                      <a:rPr lang="en-US" altLang="ja-JP" sz="2400" b="0" i="1" smtClean="0">
                        <a:latin typeface="Cambria Math" panose="02040503050406030204" pitchFamily="18" charset="0"/>
                      </a:rPr>
                      <m:t>𝑎</m:t>
                    </m:r>
                    <m:r>
                      <a:rPr lang="en-US" altLang="ja-JP" sz="2400" b="0" i="1" smtClean="0">
                        <a:latin typeface="Cambria Math" panose="02040503050406030204" pitchFamily="18" charset="0"/>
                      </a:rPr>
                      <m:t>=</m:t>
                    </m:r>
                    <m:func>
                      <m:funcPr>
                        <m:ctrlPr>
                          <a:rPr lang="en-US" altLang="ja-JP" sz="2400" b="0" i="1" smtClean="0">
                            <a:latin typeface="Cambria Math" panose="02040503050406030204" pitchFamily="18" charset="0"/>
                          </a:rPr>
                        </m:ctrlPr>
                      </m:funcPr>
                      <m:fName>
                        <m:limLow>
                          <m:limLowPr>
                            <m:ctrlPr>
                              <a:rPr lang="en-US" altLang="ja-JP" sz="2400" i="1">
                                <a:latin typeface="Cambria Math" panose="02040503050406030204" pitchFamily="18" charset="0"/>
                              </a:rPr>
                            </m:ctrlPr>
                          </m:limLowPr>
                          <m:e>
                            <m:r>
                              <m:rPr>
                                <m:sty m:val="p"/>
                              </m:rPr>
                              <a:rPr lang="en-US" altLang="ja-JP" sz="2400">
                                <a:latin typeface="Cambria Math" panose="02040503050406030204" pitchFamily="18" charset="0"/>
                              </a:rPr>
                              <m:t>lim</m:t>
                            </m:r>
                          </m:e>
                          <m:lim>
                            <m:r>
                              <a:rPr lang="en-US" altLang="ja-JP" sz="2400" i="1">
                                <a:latin typeface="Cambria Math" panose="02040503050406030204" pitchFamily="18" charset="0"/>
                              </a:rPr>
                              <m:t>h</m:t>
                            </m:r>
                            <m:r>
                              <a:rPr lang="ja-JP" altLang="en-US" sz="2400" i="1">
                                <a:latin typeface="Cambria Math" panose="02040503050406030204" pitchFamily="18" charset="0"/>
                              </a:rPr>
                              <m:t>→</m:t>
                            </m:r>
                            <m:r>
                              <a:rPr lang="en-US" altLang="ja-JP" sz="2400" i="1">
                                <a:latin typeface="Cambria Math" panose="02040503050406030204" pitchFamily="18" charset="0"/>
                              </a:rPr>
                              <m:t>0</m:t>
                            </m:r>
                          </m:lim>
                        </m:limLow>
                      </m:fName>
                      <m:e>
                        <m:f>
                          <m:fPr>
                            <m:ctrlPr>
                              <a:rPr lang="en-US" altLang="ja-JP" sz="2400" b="0" i="1" smtClean="0">
                                <a:latin typeface="Cambria Math" panose="02040503050406030204" pitchFamily="18" charset="0"/>
                              </a:rPr>
                            </m:ctrlPr>
                          </m:fPr>
                          <m:num>
                            <m:r>
                              <a:rPr lang="en-US" altLang="ja-JP" sz="2400" b="0" i="1" smtClean="0">
                                <a:latin typeface="Cambria Math" panose="02040503050406030204" pitchFamily="18" charset="0"/>
                              </a:rPr>
                              <m:t>𝑓</m:t>
                            </m:r>
                            <m:d>
                              <m:dPr>
                                <m:ctrlPr>
                                  <a:rPr lang="en-US" altLang="ja-JP" sz="2400" b="0" i="1" smtClean="0">
                                    <a:latin typeface="Cambria Math" panose="02040503050406030204" pitchFamily="18" charset="0"/>
                                  </a:rPr>
                                </m:ctrlPr>
                              </m:dPr>
                              <m:e>
                                <m:r>
                                  <a:rPr lang="en-US" altLang="ja-JP" sz="2400" i="1">
                                    <a:latin typeface="Cambria Math" panose="02040503050406030204" pitchFamily="18" charset="0"/>
                                  </a:rPr>
                                  <m:t>3</m:t>
                                </m:r>
                                <m:r>
                                  <a:rPr lang="en-US" altLang="ja-JP" sz="2400" b="0" i="1" smtClean="0">
                                    <a:latin typeface="Cambria Math" panose="02040503050406030204" pitchFamily="18" charset="0"/>
                                  </a:rPr>
                                  <m:t>+</m:t>
                                </m:r>
                                <m:r>
                                  <a:rPr lang="en-US" altLang="ja-JP" sz="2400" b="0" i="1" smtClean="0">
                                    <a:latin typeface="Cambria Math" panose="02040503050406030204" pitchFamily="18" charset="0"/>
                                  </a:rPr>
                                  <m:t>h</m:t>
                                </m:r>
                              </m:e>
                            </m:d>
                            <m:r>
                              <a:rPr lang="en-US" altLang="ja-JP" sz="2400" b="0" i="1" smtClean="0">
                                <a:latin typeface="Cambria Math" panose="02040503050406030204" pitchFamily="18" charset="0"/>
                              </a:rPr>
                              <m:t>−</m:t>
                            </m:r>
                            <m:r>
                              <a:rPr lang="en-US" altLang="ja-JP" sz="2400" b="0" i="1" smtClean="0">
                                <a:latin typeface="Cambria Math" panose="02040503050406030204" pitchFamily="18" charset="0"/>
                              </a:rPr>
                              <m:t>𝑓</m:t>
                            </m:r>
                            <m:r>
                              <a:rPr lang="en-US" altLang="ja-JP" sz="2400" b="0" i="1" smtClean="0">
                                <a:latin typeface="Cambria Math" panose="02040503050406030204" pitchFamily="18" charset="0"/>
                              </a:rPr>
                              <m:t>(3)</m:t>
                            </m:r>
                          </m:num>
                          <m:den>
                            <m:r>
                              <a:rPr lang="en-US" altLang="ja-JP" sz="2400" b="0" i="1" smtClean="0">
                                <a:latin typeface="Cambria Math" panose="02040503050406030204" pitchFamily="18" charset="0"/>
                              </a:rPr>
                              <m:t>h</m:t>
                            </m:r>
                          </m:den>
                        </m:f>
                      </m:e>
                    </m:func>
                  </m:oMath>
                </a14:m>
                <a:r>
                  <a:rPr lang="en-US" altLang="ja-JP" sz="2400" dirty="0"/>
                  <a:t> </a:t>
                </a:r>
              </a:p>
              <a:p>
                <a:pPr>
                  <a:lnSpc>
                    <a:spcPct val="150000"/>
                  </a:lnSpc>
                </a:pPr>
                <a14:m>
                  <m:oMath xmlns:m="http://schemas.openxmlformats.org/officeDocument/2006/math">
                    <m:r>
                      <a:rPr lang="en-US" altLang="ja-JP" sz="2400" b="0" i="1" smtClean="0">
                        <a:latin typeface="Cambria Math" panose="02040503050406030204" pitchFamily="18" charset="0"/>
                      </a:rPr>
                      <m:t>𝑎</m:t>
                    </m:r>
                    <m:r>
                      <a:rPr lang="en-US" altLang="ja-JP" sz="2400" b="0" i="1" smtClean="0">
                        <a:latin typeface="Cambria Math" panose="02040503050406030204" pitchFamily="18" charset="0"/>
                      </a:rPr>
                      <m:t>=</m:t>
                    </m:r>
                    <m:func>
                      <m:funcPr>
                        <m:ctrlPr>
                          <a:rPr lang="en-US" altLang="ja-JP" sz="2400" b="0" i="1" smtClean="0">
                            <a:latin typeface="Cambria Math" panose="02040503050406030204" pitchFamily="18" charset="0"/>
                          </a:rPr>
                        </m:ctrlPr>
                      </m:funcPr>
                      <m:fName>
                        <m:limLow>
                          <m:limLowPr>
                            <m:ctrlPr>
                              <a:rPr lang="en-US" altLang="ja-JP" sz="2400" i="1">
                                <a:latin typeface="Cambria Math" panose="02040503050406030204" pitchFamily="18" charset="0"/>
                              </a:rPr>
                            </m:ctrlPr>
                          </m:limLowPr>
                          <m:e>
                            <m:r>
                              <m:rPr>
                                <m:sty m:val="p"/>
                              </m:rPr>
                              <a:rPr lang="en-US" altLang="ja-JP" sz="2400">
                                <a:latin typeface="Cambria Math" panose="02040503050406030204" pitchFamily="18" charset="0"/>
                              </a:rPr>
                              <m:t>lim</m:t>
                            </m:r>
                          </m:e>
                          <m:lim>
                            <m:r>
                              <a:rPr lang="en-US" altLang="ja-JP" sz="2400" i="1">
                                <a:latin typeface="Cambria Math" panose="02040503050406030204" pitchFamily="18" charset="0"/>
                              </a:rPr>
                              <m:t>h</m:t>
                            </m:r>
                            <m:r>
                              <a:rPr lang="ja-JP" altLang="en-US" sz="2400" i="1">
                                <a:latin typeface="Cambria Math" panose="02040503050406030204" pitchFamily="18" charset="0"/>
                              </a:rPr>
                              <m:t>→</m:t>
                            </m:r>
                            <m:r>
                              <a:rPr lang="en-US" altLang="ja-JP" sz="2400" i="1">
                                <a:latin typeface="Cambria Math" panose="02040503050406030204" pitchFamily="18" charset="0"/>
                              </a:rPr>
                              <m:t>0</m:t>
                            </m:r>
                          </m:lim>
                        </m:limLow>
                      </m:fName>
                      <m:e>
                        <m:f>
                          <m:fPr>
                            <m:ctrlPr>
                              <a:rPr lang="en-US" altLang="ja-JP" sz="2400" b="0" i="1" smtClean="0">
                                <a:latin typeface="Cambria Math" panose="02040503050406030204" pitchFamily="18" charset="0"/>
                              </a:rPr>
                            </m:ctrlPr>
                          </m:fPr>
                          <m:num>
                            <m:r>
                              <a:rPr lang="en-US" altLang="ja-JP" sz="2400" b="0" i="1" smtClean="0">
                                <a:latin typeface="Cambria Math" panose="02040503050406030204" pitchFamily="18" charset="0"/>
                              </a:rPr>
                              <m:t>(−9.8</m:t>
                            </m:r>
                            <m:d>
                              <m:dPr>
                                <m:ctrlPr>
                                  <a:rPr lang="en-US" altLang="ja-JP" sz="2400" b="0" i="1" smtClean="0">
                                    <a:latin typeface="Cambria Math" panose="02040503050406030204" pitchFamily="18" charset="0"/>
                                  </a:rPr>
                                </m:ctrlPr>
                              </m:dPr>
                              <m:e>
                                <m:r>
                                  <a:rPr lang="en-US" altLang="ja-JP" sz="2400" i="1">
                                    <a:latin typeface="Cambria Math" panose="02040503050406030204" pitchFamily="18" charset="0"/>
                                  </a:rPr>
                                  <m:t>3</m:t>
                                </m:r>
                                <m:r>
                                  <a:rPr lang="en-US" altLang="ja-JP" sz="2400" b="0" i="1" smtClean="0">
                                    <a:latin typeface="Cambria Math" panose="02040503050406030204" pitchFamily="18" charset="0"/>
                                  </a:rPr>
                                  <m:t>+</m:t>
                                </m:r>
                                <m:r>
                                  <a:rPr lang="en-US" altLang="ja-JP" sz="2400" b="0" i="1" smtClean="0">
                                    <a:latin typeface="Cambria Math" panose="02040503050406030204" pitchFamily="18" charset="0"/>
                                  </a:rPr>
                                  <m:t>h</m:t>
                                </m:r>
                              </m:e>
                            </m:d>
                            <m:r>
                              <a:rPr lang="en-US" altLang="ja-JP" sz="2400" b="0" i="1" smtClean="0">
                                <a:latin typeface="Cambria Math" panose="02040503050406030204" pitchFamily="18" charset="0"/>
                              </a:rPr>
                              <m:t>+25)−(−9.8</m:t>
                            </m:r>
                            <m:d>
                              <m:dPr>
                                <m:ctrlPr>
                                  <a:rPr lang="en-US" altLang="ja-JP" sz="2400" b="0" i="1" smtClean="0">
                                    <a:latin typeface="Cambria Math" panose="02040503050406030204" pitchFamily="18" charset="0"/>
                                  </a:rPr>
                                </m:ctrlPr>
                              </m:dPr>
                              <m:e>
                                <m:r>
                                  <a:rPr lang="en-US" altLang="ja-JP" sz="2400" b="0" i="1" smtClean="0">
                                    <a:latin typeface="Cambria Math" panose="02040503050406030204" pitchFamily="18" charset="0"/>
                                  </a:rPr>
                                  <m:t>3</m:t>
                                </m:r>
                              </m:e>
                            </m:d>
                            <m:r>
                              <a:rPr lang="en-US" altLang="ja-JP" sz="2400" b="0" i="1" smtClean="0">
                                <a:latin typeface="Cambria Math" panose="02040503050406030204" pitchFamily="18" charset="0"/>
                              </a:rPr>
                              <m:t>+25)</m:t>
                            </m:r>
                          </m:num>
                          <m:den>
                            <m:r>
                              <a:rPr lang="en-US" altLang="ja-JP" sz="2400" b="0" i="1" smtClean="0">
                                <a:latin typeface="Cambria Math" panose="02040503050406030204" pitchFamily="18" charset="0"/>
                              </a:rPr>
                              <m:t>h</m:t>
                            </m:r>
                          </m:den>
                        </m:f>
                      </m:e>
                    </m:func>
                  </m:oMath>
                </a14:m>
                <a:r>
                  <a:rPr lang="en-US" altLang="ja-JP" sz="2400" dirty="0"/>
                  <a:t> </a:t>
                </a:r>
              </a:p>
              <a:p>
                <a:pPr>
                  <a:lnSpc>
                    <a:spcPct val="150000"/>
                  </a:lnSpc>
                </a:pPr>
                <a14:m>
                  <m:oMath xmlns:m="http://schemas.openxmlformats.org/officeDocument/2006/math">
                    <m:r>
                      <a:rPr lang="en-US" altLang="ja-JP" sz="2400" b="0" i="1" smtClean="0">
                        <a:latin typeface="Cambria Math" panose="02040503050406030204" pitchFamily="18" charset="0"/>
                      </a:rPr>
                      <m:t>𝑎</m:t>
                    </m:r>
                    <m:r>
                      <a:rPr lang="en-US" altLang="ja-JP" sz="2400" b="0" i="1" smtClean="0">
                        <a:latin typeface="Cambria Math" panose="02040503050406030204" pitchFamily="18" charset="0"/>
                      </a:rPr>
                      <m:t>=</m:t>
                    </m:r>
                    <m:func>
                      <m:funcPr>
                        <m:ctrlPr>
                          <a:rPr lang="en-US" altLang="ja-JP" sz="2400" b="0" i="1" smtClean="0">
                            <a:latin typeface="Cambria Math" panose="02040503050406030204" pitchFamily="18" charset="0"/>
                          </a:rPr>
                        </m:ctrlPr>
                      </m:funcPr>
                      <m:fName>
                        <m:limLow>
                          <m:limLowPr>
                            <m:ctrlPr>
                              <a:rPr lang="en-US" altLang="ja-JP" sz="2400" i="1">
                                <a:latin typeface="Cambria Math" panose="02040503050406030204" pitchFamily="18" charset="0"/>
                              </a:rPr>
                            </m:ctrlPr>
                          </m:limLowPr>
                          <m:e>
                            <m:r>
                              <m:rPr>
                                <m:sty m:val="p"/>
                              </m:rPr>
                              <a:rPr lang="en-US" altLang="ja-JP" sz="2400">
                                <a:latin typeface="Cambria Math" panose="02040503050406030204" pitchFamily="18" charset="0"/>
                              </a:rPr>
                              <m:t>lim</m:t>
                            </m:r>
                          </m:e>
                          <m:lim>
                            <m:r>
                              <a:rPr lang="en-US" altLang="ja-JP" sz="2400" i="1">
                                <a:latin typeface="Cambria Math" panose="02040503050406030204" pitchFamily="18" charset="0"/>
                              </a:rPr>
                              <m:t>h</m:t>
                            </m:r>
                            <m:r>
                              <a:rPr lang="ja-JP" altLang="en-US" sz="2400" i="1">
                                <a:latin typeface="Cambria Math" panose="02040503050406030204" pitchFamily="18" charset="0"/>
                              </a:rPr>
                              <m:t>→</m:t>
                            </m:r>
                            <m:r>
                              <a:rPr lang="en-US" altLang="ja-JP" sz="2400" i="1">
                                <a:latin typeface="Cambria Math" panose="02040503050406030204" pitchFamily="18" charset="0"/>
                              </a:rPr>
                              <m:t>0</m:t>
                            </m:r>
                          </m:lim>
                        </m:limLow>
                      </m:fName>
                      <m:e>
                        <m:f>
                          <m:fPr>
                            <m:ctrlPr>
                              <a:rPr lang="en-US" altLang="ja-JP" sz="2400" b="0" i="1" smtClean="0">
                                <a:latin typeface="Cambria Math" panose="02040503050406030204" pitchFamily="18" charset="0"/>
                              </a:rPr>
                            </m:ctrlPr>
                          </m:fPr>
                          <m:num>
                            <m:r>
                              <a:rPr lang="en-US" altLang="ja-JP" sz="2400" b="0" i="1" smtClean="0">
                                <a:latin typeface="Cambria Math" panose="02040503050406030204" pitchFamily="18" charset="0"/>
                              </a:rPr>
                              <m:t>−29.4−9.8</m:t>
                            </m:r>
                            <m:r>
                              <a:rPr lang="en-US" altLang="ja-JP" sz="2400" b="0" i="1" smtClean="0">
                                <a:latin typeface="Cambria Math" panose="02040503050406030204" pitchFamily="18" charset="0"/>
                              </a:rPr>
                              <m:t>h</m:t>
                            </m:r>
                            <m:r>
                              <a:rPr lang="en-US" altLang="ja-JP" sz="2400" b="0" i="1" smtClean="0">
                                <a:latin typeface="Cambria Math" panose="02040503050406030204" pitchFamily="18" charset="0"/>
                              </a:rPr>
                              <m:t>+25+29.4−25)</m:t>
                            </m:r>
                          </m:num>
                          <m:den>
                            <m:r>
                              <a:rPr lang="en-US" altLang="ja-JP" sz="2400" b="0" i="1" smtClean="0">
                                <a:latin typeface="Cambria Math" panose="02040503050406030204" pitchFamily="18" charset="0"/>
                              </a:rPr>
                              <m:t>h</m:t>
                            </m:r>
                          </m:den>
                        </m:f>
                      </m:e>
                    </m:func>
                  </m:oMath>
                </a14:m>
                <a:r>
                  <a:rPr lang="en-US" altLang="ja-JP" sz="2400" dirty="0"/>
                  <a:t> </a:t>
                </a:r>
              </a:p>
              <a:p>
                <a:pPr>
                  <a:lnSpc>
                    <a:spcPct val="150000"/>
                  </a:lnSpc>
                </a:pPr>
                <a14:m>
                  <m:oMath xmlns:m="http://schemas.openxmlformats.org/officeDocument/2006/math">
                    <m:r>
                      <a:rPr lang="en-US" altLang="ja-JP" sz="2400" b="0" i="1" smtClean="0">
                        <a:latin typeface="Cambria Math" panose="02040503050406030204" pitchFamily="18" charset="0"/>
                      </a:rPr>
                      <m:t>𝑎</m:t>
                    </m:r>
                    <m:r>
                      <a:rPr lang="en-US" altLang="ja-JP" sz="2400" b="0" i="1" smtClean="0">
                        <a:latin typeface="Cambria Math" panose="02040503050406030204" pitchFamily="18" charset="0"/>
                      </a:rPr>
                      <m:t>=</m:t>
                    </m:r>
                    <m:func>
                      <m:funcPr>
                        <m:ctrlPr>
                          <a:rPr lang="en-US" altLang="ja-JP" sz="2400" b="0" i="1" smtClean="0">
                            <a:latin typeface="Cambria Math" panose="02040503050406030204" pitchFamily="18" charset="0"/>
                          </a:rPr>
                        </m:ctrlPr>
                      </m:funcPr>
                      <m:fName>
                        <m:limLow>
                          <m:limLowPr>
                            <m:ctrlPr>
                              <a:rPr lang="en-US" altLang="ja-JP" sz="2400" i="1">
                                <a:latin typeface="Cambria Math" panose="02040503050406030204" pitchFamily="18" charset="0"/>
                              </a:rPr>
                            </m:ctrlPr>
                          </m:limLowPr>
                          <m:e>
                            <m:r>
                              <m:rPr>
                                <m:sty m:val="p"/>
                              </m:rPr>
                              <a:rPr lang="en-US" altLang="ja-JP" sz="2400">
                                <a:latin typeface="Cambria Math" panose="02040503050406030204" pitchFamily="18" charset="0"/>
                              </a:rPr>
                              <m:t>lim</m:t>
                            </m:r>
                          </m:e>
                          <m:lim>
                            <m:r>
                              <a:rPr lang="en-US" altLang="ja-JP" sz="2400" i="1">
                                <a:latin typeface="Cambria Math" panose="02040503050406030204" pitchFamily="18" charset="0"/>
                              </a:rPr>
                              <m:t>h</m:t>
                            </m:r>
                            <m:r>
                              <a:rPr lang="ja-JP" altLang="en-US" sz="2400" i="1">
                                <a:latin typeface="Cambria Math" panose="02040503050406030204" pitchFamily="18" charset="0"/>
                              </a:rPr>
                              <m:t>→</m:t>
                            </m:r>
                            <m:r>
                              <a:rPr lang="en-US" altLang="ja-JP" sz="2400" i="1">
                                <a:latin typeface="Cambria Math" panose="02040503050406030204" pitchFamily="18" charset="0"/>
                              </a:rPr>
                              <m:t>0</m:t>
                            </m:r>
                          </m:lim>
                        </m:limLow>
                      </m:fName>
                      <m:e>
                        <m:f>
                          <m:fPr>
                            <m:ctrlPr>
                              <a:rPr lang="en-US" altLang="ja-JP" sz="2400" b="0" i="1" smtClean="0">
                                <a:latin typeface="Cambria Math" panose="02040503050406030204" pitchFamily="18" charset="0"/>
                              </a:rPr>
                            </m:ctrlPr>
                          </m:fPr>
                          <m:num>
                            <m:r>
                              <a:rPr lang="en-US" altLang="ja-JP" sz="2400" b="0" i="1" smtClean="0">
                                <a:latin typeface="Cambria Math" panose="02040503050406030204" pitchFamily="18" charset="0"/>
                              </a:rPr>
                              <m:t>−9.8</m:t>
                            </m:r>
                            <m:r>
                              <a:rPr lang="en-US" altLang="ja-JP" sz="2400" b="0" i="1" smtClean="0">
                                <a:latin typeface="Cambria Math" panose="02040503050406030204" pitchFamily="18" charset="0"/>
                              </a:rPr>
                              <m:t>h</m:t>
                            </m:r>
                          </m:num>
                          <m:den>
                            <m:r>
                              <a:rPr lang="en-US" altLang="ja-JP" sz="2400" b="0" i="1" smtClean="0">
                                <a:latin typeface="Cambria Math" panose="02040503050406030204" pitchFamily="18" charset="0"/>
                              </a:rPr>
                              <m:t>h</m:t>
                            </m:r>
                          </m:den>
                        </m:f>
                      </m:e>
                    </m:func>
                    <m:r>
                      <a:rPr lang="en-US" altLang="ja-JP" sz="2400" b="0" i="1" smtClean="0">
                        <a:latin typeface="Cambria Math" panose="02040503050406030204" pitchFamily="18" charset="0"/>
                      </a:rPr>
                      <m:t>=</m:t>
                    </m:r>
                    <m:r>
                      <a:rPr lang="en-US" altLang="ja-JP" sz="2400" b="0" i="1" smtClean="0">
                        <a:solidFill>
                          <a:srgbClr val="FF0000"/>
                        </a:solidFill>
                        <a:latin typeface="Cambria Math" panose="02040503050406030204" pitchFamily="18" charset="0"/>
                      </a:rPr>
                      <m:t>−9.8</m:t>
                    </m:r>
                  </m:oMath>
                </a14:m>
                <a:r>
                  <a:rPr lang="en-US" altLang="ja-JP" sz="2400" dirty="0">
                    <a:solidFill>
                      <a:srgbClr val="FF0000"/>
                    </a:solidFill>
                  </a:rPr>
                  <a:t> </a:t>
                </a:r>
                <a:endParaRPr lang="en-US" altLang="ja-JP" sz="2400" dirty="0"/>
              </a:p>
              <a:p>
                <a:endParaRPr lang="en-US" altLang="ja-JP" sz="2400" dirty="0"/>
              </a:p>
            </p:txBody>
          </p:sp>
        </mc:Choice>
        <mc:Fallback xmlns="">
          <p:sp>
            <p:nvSpPr>
              <p:cNvPr id="6" name="テキスト ボックス 5">
                <a:extLst>
                  <a:ext uri="{FF2B5EF4-FFF2-40B4-BE49-F238E27FC236}">
                    <a16:creationId xmlns:a16="http://schemas.microsoft.com/office/drawing/2014/main" id="{55830AD6-028B-4C4E-80BF-B70DFC1C3A46}"/>
                  </a:ext>
                </a:extLst>
              </p:cNvPr>
              <p:cNvSpPr txBox="1">
                <a:spLocks noRot="1" noChangeAspect="1" noMove="1" noResize="1" noEditPoints="1" noAdjustHandles="1" noChangeArrowheads="1" noChangeShapeType="1" noTextEdit="1"/>
              </p:cNvSpPr>
              <p:nvPr/>
            </p:nvSpPr>
            <p:spPr>
              <a:xfrm>
                <a:off x="567542" y="1216429"/>
                <a:ext cx="8115748" cy="5481822"/>
              </a:xfrm>
              <a:prstGeom prst="rect">
                <a:avLst/>
              </a:prstGeom>
              <a:blipFill>
                <a:blip r:embed="rId2"/>
                <a:stretch>
                  <a:fillRect l="-1127" t="-890" r="-225"/>
                </a:stretch>
              </a:blipFill>
            </p:spPr>
            <p:txBody>
              <a:bodyPr/>
              <a:lstStyle/>
              <a:p>
                <a:r>
                  <a:rPr lang="ja-JP" altLang="en-US">
                    <a:noFill/>
                  </a:rPr>
                  <a:t> </a:t>
                </a:r>
              </a:p>
            </p:txBody>
          </p:sp>
        </mc:Fallback>
      </mc:AlternateContent>
    </p:spTree>
    <p:extLst>
      <p:ext uri="{BB962C8B-B14F-4D97-AF65-F5344CB8AC3E}">
        <p14:creationId xmlns:p14="http://schemas.microsoft.com/office/powerpoint/2010/main" val="1250533908"/>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四角形: 角を丸くする 4">
            <a:extLst>
              <a:ext uri="{FF2B5EF4-FFF2-40B4-BE49-F238E27FC236}">
                <a16:creationId xmlns:a16="http://schemas.microsoft.com/office/drawing/2014/main" id="{8E73CF26-3112-4B30-9010-C039FDCBF32E}"/>
              </a:ext>
            </a:extLst>
          </p:cNvPr>
          <p:cNvSpPr/>
          <p:nvPr/>
        </p:nvSpPr>
        <p:spPr>
          <a:xfrm>
            <a:off x="279918" y="4036446"/>
            <a:ext cx="10692882" cy="1408923"/>
          </a:xfrm>
          <a:prstGeom prst="roundRect">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 name="四角形: 角を丸くする 1">
            <a:extLst>
              <a:ext uri="{FF2B5EF4-FFF2-40B4-BE49-F238E27FC236}">
                <a16:creationId xmlns:a16="http://schemas.microsoft.com/office/drawing/2014/main" id="{5BDE4326-9A5C-40B9-9883-6BF9F195CD47}"/>
              </a:ext>
            </a:extLst>
          </p:cNvPr>
          <p:cNvSpPr/>
          <p:nvPr/>
        </p:nvSpPr>
        <p:spPr>
          <a:xfrm>
            <a:off x="279918" y="1819469"/>
            <a:ext cx="10692882" cy="1408923"/>
          </a:xfrm>
          <a:prstGeom prst="roundRect">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4" name="テキスト ボックス 3">
            <a:extLst>
              <a:ext uri="{FF2B5EF4-FFF2-40B4-BE49-F238E27FC236}">
                <a16:creationId xmlns:a16="http://schemas.microsoft.com/office/drawing/2014/main" id="{5A13BF46-B8C5-48AA-8308-C9ECFF431A18}"/>
              </a:ext>
            </a:extLst>
          </p:cNvPr>
          <p:cNvSpPr txBox="1"/>
          <p:nvPr/>
        </p:nvSpPr>
        <p:spPr>
          <a:xfrm>
            <a:off x="567542" y="491954"/>
            <a:ext cx="4641014" cy="584775"/>
          </a:xfrm>
          <a:prstGeom prst="rect">
            <a:avLst/>
          </a:prstGeom>
          <a:noFill/>
        </p:spPr>
        <p:txBody>
          <a:bodyPr wrap="none" rtlCol="0">
            <a:spAutoFit/>
          </a:bodyPr>
          <a:lstStyle/>
          <a:p>
            <a:r>
              <a:rPr kumimoji="1" lang="en-US" altLang="ja-JP" sz="3200" b="1" u="sng" dirty="0"/>
              <a:t>2</a:t>
            </a:r>
            <a:r>
              <a:rPr kumimoji="1" lang="ja-JP" altLang="en-US" sz="3200" b="1" u="sng" dirty="0"/>
              <a:t>次導関数と瞬間加速度</a:t>
            </a:r>
            <a:endParaRPr kumimoji="1" lang="en-US" altLang="ja-JP" sz="3200" b="1" u="sng" dirty="0"/>
          </a:p>
        </p:txBody>
      </p:sp>
      <mc:AlternateContent xmlns:mc="http://schemas.openxmlformats.org/markup-compatibility/2006">
        <mc:Choice xmlns:a14="http://schemas.microsoft.com/office/drawing/2010/main" Requires="a14">
          <p:sp>
            <p:nvSpPr>
              <p:cNvPr id="6" name="テキスト ボックス 5">
                <a:extLst>
                  <a:ext uri="{FF2B5EF4-FFF2-40B4-BE49-F238E27FC236}">
                    <a16:creationId xmlns:a16="http://schemas.microsoft.com/office/drawing/2014/main" id="{55830AD6-028B-4C4E-80BF-B70DFC1C3A46}"/>
                  </a:ext>
                </a:extLst>
              </p:cNvPr>
              <p:cNvSpPr txBox="1"/>
              <p:nvPr/>
            </p:nvSpPr>
            <p:spPr>
              <a:xfrm>
                <a:off x="567542" y="1216429"/>
                <a:ext cx="10548657" cy="4893647"/>
              </a:xfrm>
              <a:prstGeom prst="rect">
                <a:avLst/>
              </a:prstGeom>
              <a:noFill/>
            </p:spPr>
            <p:txBody>
              <a:bodyPr wrap="none" rtlCol="0">
                <a:spAutoFit/>
              </a:bodyPr>
              <a:lstStyle/>
              <a:p>
                <a:r>
                  <a:rPr lang="ja-JP" altLang="en-US" sz="2400" dirty="0"/>
                  <a:t>導関数による計算ができるので以下のように定義できます。</a:t>
                </a:r>
                <a:endParaRPr lang="en-US" altLang="ja-JP" sz="2400" dirty="0"/>
              </a:p>
              <a:p>
                <a:endParaRPr lang="en-US" altLang="ja-JP" sz="2400" dirty="0"/>
              </a:p>
              <a:p>
                <a:r>
                  <a:rPr lang="ja-JP" altLang="en-US" sz="2400" b="1" dirty="0">
                    <a:solidFill>
                      <a:srgbClr val="FF0000"/>
                    </a:solidFill>
                  </a:rPr>
                  <a:t>■瞬間加速度</a:t>
                </a:r>
                <a:endParaRPr lang="en-US" altLang="ja-JP" sz="2400" b="1" dirty="0">
                  <a:solidFill>
                    <a:srgbClr val="FF0000"/>
                  </a:solidFill>
                </a:endParaRPr>
              </a:p>
              <a:p>
                <a:r>
                  <a:rPr lang="ja-JP" altLang="en-US" sz="2400" dirty="0"/>
                  <a:t>速度が時間の関数</a:t>
                </a:r>
                <a14:m>
                  <m:oMath xmlns:m="http://schemas.openxmlformats.org/officeDocument/2006/math">
                    <m:r>
                      <a:rPr lang="en-US" altLang="ja-JP" sz="2400" i="1">
                        <a:latin typeface="Cambria Math" panose="02040503050406030204" pitchFamily="18" charset="0"/>
                      </a:rPr>
                      <m:t>𝑣</m:t>
                    </m:r>
                    <m:r>
                      <a:rPr lang="en-US" altLang="ja-JP" sz="2400" b="0" i="1" smtClean="0">
                        <a:latin typeface="Cambria Math" panose="02040503050406030204" pitchFamily="18" charset="0"/>
                      </a:rPr>
                      <m:t>(</m:t>
                    </m:r>
                    <m:r>
                      <a:rPr lang="en-US" altLang="ja-JP" sz="2400" b="0" i="1" smtClean="0">
                        <a:latin typeface="Cambria Math" panose="02040503050406030204" pitchFamily="18" charset="0"/>
                      </a:rPr>
                      <m:t>𝑡</m:t>
                    </m:r>
                    <m:r>
                      <a:rPr lang="en-US" altLang="ja-JP" sz="2400" b="0" i="1" smtClean="0">
                        <a:latin typeface="Cambria Math" panose="02040503050406030204" pitchFamily="18" charset="0"/>
                      </a:rPr>
                      <m:t>)</m:t>
                    </m:r>
                  </m:oMath>
                </a14:m>
                <a:r>
                  <a:rPr lang="ja-JP" altLang="en-US" sz="2400" dirty="0"/>
                  <a:t>として表されるとき、時間</a:t>
                </a:r>
                <a14:m>
                  <m:oMath xmlns:m="http://schemas.openxmlformats.org/officeDocument/2006/math">
                    <m:r>
                      <a:rPr lang="en-US" altLang="ja-JP" sz="2400" i="1">
                        <a:latin typeface="Cambria Math" panose="02040503050406030204" pitchFamily="18" charset="0"/>
                      </a:rPr>
                      <m:t>𝑡</m:t>
                    </m:r>
                  </m:oMath>
                </a14:m>
                <a:r>
                  <a:rPr lang="ja-JP" altLang="en-US" sz="2400" dirty="0"/>
                  <a:t>における瞬間加速度は、</a:t>
                </a:r>
                <a:endParaRPr lang="en-US" altLang="ja-JP" sz="2400" dirty="0"/>
              </a:p>
              <a:p>
                <a:pPr/>
                <a14:m>
                  <m:oMathPara xmlns:m="http://schemas.openxmlformats.org/officeDocument/2006/math">
                    <m:oMathParaPr>
                      <m:jc m:val="left"/>
                    </m:oMathParaPr>
                    <m:oMath xmlns:m="http://schemas.openxmlformats.org/officeDocument/2006/math">
                      <m:r>
                        <a:rPr lang="en-US" altLang="ja-JP" sz="2400" b="0" i="1" smtClean="0">
                          <a:latin typeface="Cambria Math" panose="02040503050406030204" pitchFamily="18" charset="0"/>
                        </a:rPr>
                        <m:t>𝑎</m:t>
                      </m:r>
                      <m:r>
                        <a:rPr lang="en-US" altLang="ja-JP" sz="2400" b="0" i="1" smtClean="0">
                          <a:latin typeface="Cambria Math" panose="02040503050406030204" pitchFamily="18" charset="0"/>
                        </a:rPr>
                        <m:t>=</m:t>
                      </m:r>
                      <m:r>
                        <a:rPr lang="en-US" altLang="ja-JP" sz="2400" b="0" i="1" smtClean="0">
                          <a:latin typeface="Cambria Math" panose="02040503050406030204" pitchFamily="18" charset="0"/>
                        </a:rPr>
                        <m:t>𝑣</m:t>
                      </m:r>
                      <m:r>
                        <a:rPr lang="en-US" altLang="ja-JP" sz="2400" b="0" i="1" smtClean="0">
                          <a:latin typeface="Cambria Math" panose="02040503050406030204" pitchFamily="18" charset="0"/>
                        </a:rPr>
                        <m:t>′(</m:t>
                      </m:r>
                      <m:r>
                        <a:rPr lang="en-US" altLang="ja-JP" sz="2400" b="0" i="1" smtClean="0">
                          <a:latin typeface="Cambria Math" panose="02040503050406030204" pitchFamily="18" charset="0"/>
                        </a:rPr>
                        <m:t>𝑡</m:t>
                      </m:r>
                      <m:r>
                        <a:rPr lang="en-US" altLang="ja-JP" sz="2400" b="0" i="1" smtClean="0">
                          <a:latin typeface="Cambria Math" panose="02040503050406030204" pitchFamily="18" charset="0"/>
                        </a:rPr>
                        <m:t>)</m:t>
                      </m:r>
                    </m:oMath>
                  </m:oMathPara>
                </a14:m>
                <a:endParaRPr lang="en-US" altLang="ja-JP" sz="2400" dirty="0"/>
              </a:p>
              <a:p>
                <a:endParaRPr lang="en-US" altLang="ja-JP" sz="2400" dirty="0"/>
              </a:p>
              <a:p>
                <a:r>
                  <a:rPr lang="ja-JP" altLang="en-US" sz="2400" dirty="0"/>
                  <a:t>ここで前回の瞬間速度の定義を思い出します。</a:t>
                </a:r>
                <a:endParaRPr lang="en-US" altLang="ja-JP" sz="2400" dirty="0"/>
              </a:p>
              <a:p>
                <a:endParaRPr lang="en-US" altLang="ja-JP" sz="2400" dirty="0"/>
              </a:p>
              <a:p>
                <a:r>
                  <a:rPr lang="ja-JP" altLang="en-US" sz="2400" b="1" dirty="0">
                    <a:solidFill>
                      <a:srgbClr val="FF0000"/>
                    </a:solidFill>
                  </a:rPr>
                  <a:t>■瞬間速度</a:t>
                </a:r>
                <a:endParaRPr lang="en-US" altLang="ja-JP" sz="2400" b="1" dirty="0">
                  <a:solidFill>
                    <a:srgbClr val="FF0000"/>
                  </a:solidFill>
                </a:endParaRPr>
              </a:p>
              <a:p>
                <a:r>
                  <a:rPr lang="ja-JP" altLang="en-US" sz="2400" dirty="0"/>
                  <a:t>位置が時間の関数</a:t>
                </a:r>
                <a14:m>
                  <m:oMath xmlns:m="http://schemas.openxmlformats.org/officeDocument/2006/math">
                    <m:r>
                      <a:rPr lang="en-US" altLang="ja-JP" sz="2400" i="1">
                        <a:latin typeface="Cambria Math" panose="02040503050406030204" pitchFamily="18" charset="0"/>
                      </a:rPr>
                      <m:t>𝑦</m:t>
                    </m:r>
                    <m:r>
                      <a:rPr lang="en-US" altLang="ja-JP" sz="2400" b="0" i="1" smtClean="0">
                        <a:latin typeface="Cambria Math" panose="02040503050406030204" pitchFamily="18" charset="0"/>
                      </a:rPr>
                      <m:t>(</m:t>
                    </m:r>
                    <m:r>
                      <a:rPr lang="en-US" altLang="ja-JP" sz="2400" b="0" i="1" smtClean="0">
                        <a:latin typeface="Cambria Math" panose="02040503050406030204" pitchFamily="18" charset="0"/>
                      </a:rPr>
                      <m:t>𝑡</m:t>
                    </m:r>
                    <m:r>
                      <a:rPr lang="en-US" altLang="ja-JP" sz="2400" b="0" i="1" smtClean="0">
                        <a:latin typeface="Cambria Math" panose="02040503050406030204" pitchFamily="18" charset="0"/>
                      </a:rPr>
                      <m:t>)</m:t>
                    </m:r>
                  </m:oMath>
                </a14:m>
                <a:r>
                  <a:rPr lang="ja-JP" altLang="en-US" sz="2400" dirty="0"/>
                  <a:t>として表されるとき、瞬間速度は、</a:t>
                </a:r>
                <a:endParaRPr lang="en-US" altLang="ja-JP" sz="2400" dirty="0"/>
              </a:p>
              <a:p>
                <a:pPr/>
                <a14:m>
                  <m:oMathPara xmlns:m="http://schemas.openxmlformats.org/officeDocument/2006/math">
                    <m:oMathParaPr>
                      <m:jc m:val="left"/>
                    </m:oMathParaPr>
                    <m:oMath xmlns:m="http://schemas.openxmlformats.org/officeDocument/2006/math">
                      <m:r>
                        <a:rPr lang="en-US" altLang="ja-JP" sz="2400" b="0" i="1" smtClean="0">
                          <a:latin typeface="Cambria Math" panose="02040503050406030204" pitchFamily="18" charset="0"/>
                        </a:rPr>
                        <m:t>𝑣</m:t>
                      </m:r>
                      <m:r>
                        <a:rPr lang="en-US" altLang="ja-JP" sz="2400" b="0" i="1" smtClean="0">
                          <a:latin typeface="Cambria Math" panose="02040503050406030204" pitchFamily="18" charset="0"/>
                        </a:rPr>
                        <m:t>=</m:t>
                      </m:r>
                      <m:r>
                        <a:rPr lang="en-US" altLang="ja-JP" sz="2400" b="0" i="1" smtClean="0">
                          <a:latin typeface="Cambria Math" panose="02040503050406030204" pitchFamily="18" charset="0"/>
                        </a:rPr>
                        <m:t>𝑦</m:t>
                      </m:r>
                      <m:r>
                        <a:rPr lang="en-US" altLang="ja-JP" sz="2400" b="0" i="1" smtClean="0">
                          <a:latin typeface="Cambria Math" panose="02040503050406030204" pitchFamily="18" charset="0"/>
                        </a:rPr>
                        <m:t>′(</m:t>
                      </m:r>
                      <m:r>
                        <a:rPr lang="en-US" altLang="ja-JP" sz="2400" b="0" i="1" smtClean="0">
                          <a:latin typeface="Cambria Math" panose="02040503050406030204" pitchFamily="18" charset="0"/>
                        </a:rPr>
                        <m:t>𝑡</m:t>
                      </m:r>
                      <m:r>
                        <a:rPr lang="en-US" altLang="ja-JP" sz="2400" b="0" i="1" smtClean="0">
                          <a:latin typeface="Cambria Math" panose="02040503050406030204" pitchFamily="18" charset="0"/>
                        </a:rPr>
                        <m:t>)</m:t>
                      </m:r>
                    </m:oMath>
                  </m:oMathPara>
                </a14:m>
                <a:endParaRPr lang="en-US" altLang="ja-JP" sz="2400" dirty="0"/>
              </a:p>
              <a:p>
                <a:endParaRPr lang="en-US" altLang="ja-JP" sz="2400" dirty="0"/>
              </a:p>
              <a:p>
                <a:r>
                  <a:rPr lang="ja-JP" altLang="en-US" sz="2400" dirty="0"/>
                  <a:t>お互いの式の</a:t>
                </a:r>
                <a14:m>
                  <m:oMath xmlns:m="http://schemas.openxmlformats.org/officeDocument/2006/math">
                    <m:r>
                      <a:rPr lang="en-US" altLang="ja-JP" sz="2400" b="0" i="1" smtClean="0">
                        <a:latin typeface="Cambria Math" panose="02040503050406030204" pitchFamily="18" charset="0"/>
                      </a:rPr>
                      <m:t>𝑣</m:t>
                    </m:r>
                    <m:r>
                      <a:rPr lang="ja-JP" altLang="en-US" sz="2400" i="1">
                        <a:latin typeface="Cambria Math" panose="02040503050406030204" pitchFamily="18" charset="0"/>
                      </a:rPr>
                      <m:t>に</m:t>
                    </m:r>
                  </m:oMath>
                </a14:m>
                <a:r>
                  <a:rPr lang="ja-JP" altLang="en-US" sz="2400" dirty="0"/>
                  <a:t>注目します。</a:t>
                </a:r>
                <a:endParaRPr lang="en-US" altLang="ja-JP" sz="2400" dirty="0"/>
              </a:p>
            </p:txBody>
          </p:sp>
        </mc:Choice>
        <mc:Fallback>
          <p:sp>
            <p:nvSpPr>
              <p:cNvPr id="6" name="テキスト ボックス 5">
                <a:extLst>
                  <a:ext uri="{FF2B5EF4-FFF2-40B4-BE49-F238E27FC236}">
                    <a16:creationId xmlns:a16="http://schemas.microsoft.com/office/drawing/2014/main" id="{55830AD6-028B-4C4E-80BF-B70DFC1C3A46}"/>
                  </a:ext>
                </a:extLst>
              </p:cNvPr>
              <p:cNvSpPr txBox="1">
                <a:spLocks noRot="1" noChangeAspect="1" noMove="1" noResize="1" noEditPoints="1" noAdjustHandles="1" noChangeArrowheads="1" noChangeShapeType="1" noTextEdit="1"/>
              </p:cNvSpPr>
              <p:nvPr/>
            </p:nvSpPr>
            <p:spPr>
              <a:xfrm>
                <a:off x="567542" y="1216429"/>
                <a:ext cx="10548657" cy="4893647"/>
              </a:xfrm>
              <a:prstGeom prst="rect">
                <a:avLst/>
              </a:prstGeom>
              <a:blipFill>
                <a:blip r:embed="rId2"/>
                <a:stretch>
                  <a:fillRect l="-867" t="-998" b="-1995"/>
                </a:stretch>
              </a:blipFill>
            </p:spPr>
            <p:txBody>
              <a:bodyPr/>
              <a:lstStyle/>
              <a:p>
                <a:r>
                  <a:rPr lang="ja-JP" altLang="en-US">
                    <a:noFill/>
                  </a:rPr>
                  <a:t> </a:t>
                </a:r>
              </a:p>
            </p:txBody>
          </p:sp>
        </mc:Fallback>
      </mc:AlternateContent>
    </p:spTree>
    <p:extLst>
      <p:ext uri="{BB962C8B-B14F-4D97-AF65-F5344CB8AC3E}">
        <p14:creationId xmlns:p14="http://schemas.microsoft.com/office/powerpoint/2010/main" val="1515258655"/>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テキスト ボックス 3">
            <a:extLst>
              <a:ext uri="{FF2B5EF4-FFF2-40B4-BE49-F238E27FC236}">
                <a16:creationId xmlns:a16="http://schemas.microsoft.com/office/drawing/2014/main" id="{5A13BF46-B8C5-48AA-8308-C9ECFF431A18}"/>
              </a:ext>
            </a:extLst>
          </p:cNvPr>
          <p:cNvSpPr txBox="1"/>
          <p:nvPr/>
        </p:nvSpPr>
        <p:spPr>
          <a:xfrm>
            <a:off x="567542" y="491954"/>
            <a:ext cx="4641014" cy="584775"/>
          </a:xfrm>
          <a:prstGeom prst="rect">
            <a:avLst/>
          </a:prstGeom>
          <a:noFill/>
        </p:spPr>
        <p:txBody>
          <a:bodyPr wrap="none" rtlCol="0">
            <a:spAutoFit/>
          </a:bodyPr>
          <a:lstStyle/>
          <a:p>
            <a:r>
              <a:rPr kumimoji="1" lang="en-US" altLang="ja-JP" sz="3200" b="1" u="sng" dirty="0"/>
              <a:t>2</a:t>
            </a:r>
            <a:r>
              <a:rPr kumimoji="1" lang="ja-JP" altLang="en-US" sz="3200" b="1" u="sng" dirty="0"/>
              <a:t>次導関数と瞬間加速度</a:t>
            </a:r>
            <a:endParaRPr kumimoji="1" lang="en-US" altLang="ja-JP" sz="3200" b="1" u="sng" dirty="0"/>
          </a:p>
        </p:txBody>
      </p:sp>
      <mc:AlternateContent xmlns:mc="http://schemas.openxmlformats.org/markup-compatibility/2006">
        <mc:Choice xmlns:a14="http://schemas.microsoft.com/office/drawing/2010/main" Requires="a14">
          <p:sp>
            <p:nvSpPr>
              <p:cNvPr id="6" name="テキスト ボックス 5">
                <a:extLst>
                  <a:ext uri="{FF2B5EF4-FFF2-40B4-BE49-F238E27FC236}">
                    <a16:creationId xmlns:a16="http://schemas.microsoft.com/office/drawing/2014/main" id="{55830AD6-028B-4C4E-80BF-B70DFC1C3A46}"/>
                  </a:ext>
                </a:extLst>
              </p:cNvPr>
              <p:cNvSpPr txBox="1"/>
              <p:nvPr/>
            </p:nvSpPr>
            <p:spPr>
              <a:xfrm>
                <a:off x="567542" y="1216429"/>
                <a:ext cx="10956846" cy="3046988"/>
              </a:xfrm>
              <a:prstGeom prst="rect">
                <a:avLst/>
              </a:prstGeom>
              <a:noFill/>
            </p:spPr>
            <p:txBody>
              <a:bodyPr wrap="none" rtlCol="0">
                <a:spAutoFit/>
              </a:bodyPr>
              <a:lstStyle/>
              <a:p>
                <a14:m>
                  <m:oMath xmlns:m="http://schemas.openxmlformats.org/officeDocument/2006/math">
                    <m:r>
                      <a:rPr lang="en-US" altLang="ja-JP" sz="2400" b="0" i="1" smtClean="0">
                        <a:latin typeface="Cambria Math" panose="02040503050406030204" pitchFamily="18" charset="0"/>
                      </a:rPr>
                      <m:t>𝑣</m:t>
                    </m:r>
                    <m:r>
                      <a:rPr lang="en-US" altLang="ja-JP" sz="2400" b="0" i="1" smtClean="0">
                        <a:latin typeface="Cambria Math" panose="02040503050406030204" pitchFamily="18" charset="0"/>
                      </a:rPr>
                      <m:t>=</m:t>
                    </m:r>
                    <m:r>
                      <a:rPr lang="en-US" altLang="ja-JP" sz="2400" b="0" i="1" smtClean="0">
                        <a:latin typeface="Cambria Math" panose="02040503050406030204" pitchFamily="18" charset="0"/>
                      </a:rPr>
                      <m:t>𝑦</m:t>
                    </m:r>
                    <m:r>
                      <a:rPr lang="en-US" altLang="ja-JP" sz="2400" b="0" i="1" smtClean="0">
                        <a:latin typeface="Cambria Math" panose="02040503050406030204" pitchFamily="18" charset="0"/>
                      </a:rPr>
                      <m:t>′(</m:t>
                    </m:r>
                    <m:r>
                      <a:rPr lang="en-US" altLang="ja-JP" sz="2400" b="0" i="1" smtClean="0">
                        <a:latin typeface="Cambria Math" panose="02040503050406030204" pitchFamily="18" charset="0"/>
                      </a:rPr>
                      <m:t>𝑡</m:t>
                    </m:r>
                    <m:r>
                      <a:rPr lang="en-US" altLang="ja-JP" sz="2400" b="0" i="1" smtClean="0">
                        <a:latin typeface="Cambria Math" panose="02040503050406030204" pitchFamily="18" charset="0"/>
                      </a:rPr>
                      <m:t>)</m:t>
                    </m:r>
                  </m:oMath>
                </a14:m>
                <a:r>
                  <a:rPr lang="en-US" altLang="ja-JP" sz="2400" dirty="0"/>
                  <a:t> </a:t>
                </a:r>
                <a:r>
                  <a:rPr lang="ja-JP" altLang="en-US" sz="2400" dirty="0"/>
                  <a:t>・・・位置と時間の導関数から瞬間速度を計算</a:t>
                </a:r>
                <a:endParaRPr lang="en-US" altLang="ja-JP" sz="2400" dirty="0"/>
              </a:p>
              <a:p>
                <a14:m>
                  <m:oMath xmlns:m="http://schemas.openxmlformats.org/officeDocument/2006/math">
                    <m:r>
                      <a:rPr lang="en-US" altLang="ja-JP" sz="2400" b="0" i="1" smtClean="0">
                        <a:latin typeface="Cambria Math" panose="02040503050406030204" pitchFamily="18" charset="0"/>
                      </a:rPr>
                      <m:t>𝑎</m:t>
                    </m:r>
                    <m:r>
                      <a:rPr lang="en-US" altLang="ja-JP" sz="2400" b="0" i="1" smtClean="0">
                        <a:latin typeface="Cambria Math" panose="02040503050406030204" pitchFamily="18" charset="0"/>
                      </a:rPr>
                      <m:t>=</m:t>
                    </m:r>
                    <m:r>
                      <a:rPr lang="en-US" altLang="ja-JP" sz="2400" b="0" i="1" smtClean="0">
                        <a:latin typeface="Cambria Math" panose="02040503050406030204" pitchFamily="18" charset="0"/>
                      </a:rPr>
                      <m:t>𝑣</m:t>
                    </m:r>
                    <m:r>
                      <a:rPr lang="en-US" altLang="ja-JP" sz="2400" b="0" i="1" smtClean="0">
                        <a:latin typeface="Cambria Math" panose="02040503050406030204" pitchFamily="18" charset="0"/>
                      </a:rPr>
                      <m:t>′(</m:t>
                    </m:r>
                    <m:r>
                      <a:rPr lang="en-US" altLang="ja-JP" sz="2400" b="0" i="1" smtClean="0">
                        <a:latin typeface="Cambria Math" panose="02040503050406030204" pitchFamily="18" charset="0"/>
                      </a:rPr>
                      <m:t>𝑡</m:t>
                    </m:r>
                    <m:r>
                      <a:rPr lang="en-US" altLang="ja-JP" sz="2400" b="0" i="1" smtClean="0">
                        <a:latin typeface="Cambria Math" panose="02040503050406030204" pitchFamily="18" charset="0"/>
                      </a:rPr>
                      <m:t>)</m:t>
                    </m:r>
                  </m:oMath>
                </a14:m>
                <a:r>
                  <a:rPr lang="en-US" altLang="ja-JP" sz="2400" dirty="0"/>
                  <a:t> </a:t>
                </a:r>
                <a:r>
                  <a:rPr lang="ja-JP" altLang="en-US" sz="2400" dirty="0"/>
                  <a:t>・・・速度と時間の導関数から瞬間加速度を計算</a:t>
                </a:r>
                <a:endParaRPr lang="en-US" altLang="ja-JP" sz="2400" dirty="0"/>
              </a:p>
              <a:p>
                <a:endParaRPr lang="en-US" altLang="ja-JP" sz="2400" dirty="0"/>
              </a:p>
              <a:p>
                <a:r>
                  <a:rPr lang="ja-JP" altLang="en-US" sz="2400" dirty="0"/>
                  <a:t>上の式は</a:t>
                </a:r>
                <a14:m>
                  <m:oMath xmlns:m="http://schemas.openxmlformats.org/officeDocument/2006/math">
                    <m:r>
                      <a:rPr lang="en-US" altLang="ja-JP" sz="2400" b="0" i="1" smtClean="0">
                        <a:latin typeface="Cambria Math" panose="02040503050406030204" pitchFamily="18" charset="0"/>
                      </a:rPr>
                      <m:t>𝑣</m:t>
                    </m:r>
                    <m:r>
                      <a:rPr lang="en-US" altLang="ja-JP" sz="2400" b="0" i="1" smtClean="0">
                        <a:latin typeface="Cambria Math" panose="02040503050406030204" pitchFamily="18" charset="0"/>
                      </a:rPr>
                      <m:t>=</m:t>
                    </m:r>
                  </m:oMath>
                </a14:m>
                <a:r>
                  <a:rPr lang="ja-JP" altLang="en-US" sz="2400" dirty="0"/>
                  <a:t>の形なので下の式の</a:t>
                </a:r>
                <a14:m>
                  <m:oMath xmlns:m="http://schemas.openxmlformats.org/officeDocument/2006/math">
                    <m:r>
                      <a:rPr lang="en-US" altLang="ja-JP" sz="2400" i="1">
                        <a:latin typeface="Cambria Math" panose="02040503050406030204" pitchFamily="18" charset="0"/>
                      </a:rPr>
                      <m:t>𝑣</m:t>
                    </m:r>
                    <m:r>
                      <a:rPr lang="ja-JP" altLang="en-US" sz="2400" i="1" smtClean="0">
                        <a:latin typeface="Cambria Math" panose="02040503050406030204" pitchFamily="18" charset="0"/>
                      </a:rPr>
                      <m:t>に</m:t>
                    </m:r>
                  </m:oMath>
                </a14:m>
                <a:r>
                  <a:rPr lang="ja-JP" altLang="en-US" sz="2400" dirty="0"/>
                  <a:t>代入できます。</a:t>
                </a:r>
                <a:endParaRPr lang="en-US" altLang="ja-JP" sz="2400" dirty="0"/>
              </a:p>
              <a:p>
                <a:pPr/>
                <a14:m>
                  <m:oMathPara xmlns:m="http://schemas.openxmlformats.org/officeDocument/2006/math">
                    <m:oMathParaPr>
                      <m:jc m:val="left"/>
                    </m:oMathParaPr>
                    <m:oMath xmlns:m="http://schemas.openxmlformats.org/officeDocument/2006/math">
                      <m:r>
                        <a:rPr lang="en-US" altLang="ja-JP" sz="2400" b="0" i="1" smtClean="0">
                          <a:latin typeface="Cambria Math" panose="02040503050406030204" pitchFamily="18" charset="0"/>
                        </a:rPr>
                        <m:t>𝑎</m:t>
                      </m:r>
                      <m:r>
                        <a:rPr lang="en-US" altLang="ja-JP" sz="2400" b="0" i="1" smtClean="0">
                          <a:latin typeface="Cambria Math" panose="02040503050406030204" pitchFamily="18" charset="0"/>
                        </a:rPr>
                        <m:t>=(</m:t>
                      </m:r>
                      <m:r>
                        <a:rPr lang="en-US" altLang="ja-JP" sz="2400" b="0" i="1" smtClean="0">
                          <a:latin typeface="Cambria Math" panose="02040503050406030204" pitchFamily="18" charset="0"/>
                        </a:rPr>
                        <m:t>𝑦</m:t>
                      </m:r>
                      <m:r>
                        <a:rPr lang="en-US" altLang="ja-JP" sz="2400" b="0" i="1" smtClean="0">
                          <a:latin typeface="Cambria Math" panose="02040503050406030204" pitchFamily="18" charset="0"/>
                        </a:rPr>
                        <m:t>′(</m:t>
                      </m:r>
                      <m:r>
                        <a:rPr lang="en-US" altLang="ja-JP" sz="2400" b="0" i="1" smtClean="0">
                          <a:latin typeface="Cambria Math" panose="02040503050406030204" pitchFamily="18" charset="0"/>
                        </a:rPr>
                        <m:t>𝑡</m:t>
                      </m:r>
                      <m:r>
                        <a:rPr lang="en-US" altLang="ja-JP" sz="2400" b="0" i="1" smtClean="0">
                          <a:latin typeface="Cambria Math" panose="02040503050406030204" pitchFamily="18" charset="0"/>
                        </a:rPr>
                        <m:t>))′(</m:t>
                      </m:r>
                      <m:r>
                        <a:rPr lang="en-US" altLang="ja-JP" sz="2400" b="0" i="1" smtClean="0">
                          <a:latin typeface="Cambria Math" panose="02040503050406030204" pitchFamily="18" charset="0"/>
                        </a:rPr>
                        <m:t>𝑡</m:t>
                      </m:r>
                      <m:r>
                        <a:rPr lang="en-US" altLang="ja-JP" sz="2400" b="0" i="1" smtClean="0">
                          <a:latin typeface="Cambria Math" panose="02040503050406030204" pitchFamily="18" charset="0"/>
                        </a:rPr>
                        <m:t>)</m:t>
                      </m:r>
                    </m:oMath>
                  </m:oMathPara>
                </a14:m>
                <a:endParaRPr lang="en-US" altLang="ja-JP" sz="2400" dirty="0"/>
              </a:p>
              <a:p>
                <a:endParaRPr lang="en-US" altLang="ja-JP" sz="2400" dirty="0"/>
              </a:p>
              <a:p>
                <a:r>
                  <a:rPr lang="ja-JP" altLang="en-US" sz="2400" dirty="0"/>
                  <a:t>つまり、瞬間加速度は、</a:t>
                </a:r>
                <a:endParaRPr lang="en-US" altLang="ja-JP" sz="2400" dirty="0"/>
              </a:p>
              <a:p>
                <a:r>
                  <a:rPr lang="ja-JP" altLang="en-US" sz="2400" b="1" dirty="0">
                    <a:solidFill>
                      <a:srgbClr val="FF0000"/>
                    </a:solidFill>
                  </a:rPr>
                  <a:t>位置と時間の導関数</a:t>
                </a:r>
                <a:r>
                  <a:rPr lang="ja-JP" altLang="en-US" sz="2400" dirty="0"/>
                  <a:t>から</a:t>
                </a:r>
                <a:r>
                  <a:rPr lang="ja-JP" altLang="en-US" sz="2400" b="1" dirty="0">
                    <a:solidFill>
                      <a:srgbClr val="FF0000"/>
                    </a:solidFill>
                  </a:rPr>
                  <a:t>もう一度導関数</a:t>
                </a:r>
                <a:r>
                  <a:rPr lang="ja-JP" altLang="en-US" sz="2400" dirty="0"/>
                  <a:t>を計算すると求めることができます。</a:t>
                </a:r>
                <a:endParaRPr lang="en-US" altLang="ja-JP" sz="2400" dirty="0"/>
              </a:p>
            </p:txBody>
          </p:sp>
        </mc:Choice>
        <mc:Fallback>
          <p:sp>
            <p:nvSpPr>
              <p:cNvPr id="6" name="テキスト ボックス 5">
                <a:extLst>
                  <a:ext uri="{FF2B5EF4-FFF2-40B4-BE49-F238E27FC236}">
                    <a16:creationId xmlns:a16="http://schemas.microsoft.com/office/drawing/2014/main" id="{55830AD6-028B-4C4E-80BF-B70DFC1C3A46}"/>
                  </a:ext>
                </a:extLst>
              </p:cNvPr>
              <p:cNvSpPr txBox="1">
                <a:spLocks noRot="1" noChangeAspect="1" noMove="1" noResize="1" noEditPoints="1" noAdjustHandles="1" noChangeArrowheads="1" noChangeShapeType="1" noTextEdit="1"/>
              </p:cNvSpPr>
              <p:nvPr/>
            </p:nvSpPr>
            <p:spPr>
              <a:xfrm>
                <a:off x="567542" y="1216429"/>
                <a:ext cx="10956846" cy="3046988"/>
              </a:xfrm>
              <a:prstGeom prst="rect">
                <a:avLst/>
              </a:prstGeom>
              <a:blipFill>
                <a:blip r:embed="rId2"/>
                <a:stretch>
                  <a:fillRect l="-835" t="-1603" b="-3808"/>
                </a:stretch>
              </a:blipFill>
            </p:spPr>
            <p:txBody>
              <a:bodyPr/>
              <a:lstStyle/>
              <a:p>
                <a:r>
                  <a:rPr lang="ja-JP" altLang="en-US">
                    <a:noFill/>
                  </a:rPr>
                  <a:t> </a:t>
                </a:r>
              </a:p>
            </p:txBody>
          </p:sp>
        </mc:Fallback>
      </mc:AlternateContent>
    </p:spTree>
    <p:extLst>
      <p:ext uri="{BB962C8B-B14F-4D97-AF65-F5344CB8AC3E}">
        <p14:creationId xmlns:p14="http://schemas.microsoft.com/office/powerpoint/2010/main" val="3755361580"/>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四角形: 角を丸くする 1">
            <a:extLst>
              <a:ext uri="{FF2B5EF4-FFF2-40B4-BE49-F238E27FC236}">
                <a16:creationId xmlns:a16="http://schemas.microsoft.com/office/drawing/2014/main" id="{920032A1-360A-413A-A95C-B40606475464}"/>
              </a:ext>
            </a:extLst>
          </p:cNvPr>
          <p:cNvSpPr/>
          <p:nvPr/>
        </p:nvSpPr>
        <p:spPr>
          <a:xfrm>
            <a:off x="317241" y="1856792"/>
            <a:ext cx="7128588" cy="1807661"/>
          </a:xfrm>
          <a:prstGeom prst="roundRect">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4" name="テキスト ボックス 3">
            <a:extLst>
              <a:ext uri="{FF2B5EF4-FFF2-40B4-BE49-F238E27FC236}">
                <a16:creationId xmlns:a16="http://schemas.microsoft.com/office/drawing/2014/main" id="{5A13BF46-B8C5-48AA-8308-C9ECFF431A18}"/>
              </a:ext>
            </a:extLst>
          </p:cNvPr>
          <p:cNvSpPr txBox="1"/>
          <p:nvPr/>
        </p:nvSpPr>
        <p:spPr>
          <a:xfrm>
            <a:off x="567542" y="491954"/>
            <a:ext cx="4641014" cy="584775"/>
          </a:xfrm>
          <a:prstGeom prst="rect">
            <a:avLst/>
          </a:prstGeom>
          <a:noFill/>
        </p:spPr>
        <p:txBody>
          <a:bodyPr wrap="none" rtlCol="0">
            <a:spAutoFit/>
          </a:bodyPr>
          <a:lstStyle/>
          <a:p>
            <a:r>
              <a:rPr kumimoji="1" lang="en-US" altLang="ja-JP" sz="3200" b="1" u="sng" dirty="0"/>
              <a:t>2</a:t>
            </a:r>
            <a:r>
              <a:rPr kumimoji="1" lang="ja-JP" altLang="en-US" sz="3200" b="1" u="sng" dirty="0"/>
              <a:t>次導関数と瞬間加速度</a:t>
            </a:r>
            <a:endParaRPr kumimoji="1" lang="en-US" altLang="ja-JP" sz="3200" b="1" u="sng" dirty="0"/>
          </a:p>
        </p:txBody>
      </p:sp>
      <mc:AlternateContent xmlns:mc="http://schemas.openxmlformats.org/markup-compatibility/2006">
        <mc:Choice xmlns:a14="http://schemas.microsoft.com/office/drawing/2010/main" Requires="a14">
          <p:sp>
            <p:nvSpPr>
              <p:cNvPr id="6" name="テキスト ボックス 5">
                <a:extLst>
                  <a:ext uri="{FF2B5EF4-FFF2-40B4-BE49-F238E27FC236}">
                    <a16:creationId xmlns:a16="http://schemas.microsoft.com/office/drawing/2014/main" id="{55830AD6-028B-4C4E-80BF-B70DFC1C3A46}"/>
                  </a:ext>
                </a:extLst>
              </p:cNvPr>
              <p:cNvSpPr txBox="1"/>
              <p:nvPr/>
            </p:nvSpPr>
            <p:spPr>
              <a:xfrm>
                <a:off x="567542" y="1216429"/>
                <a:ext cx="6647974" cy="2308324"/>
              </a:xfrm>
              <a:prstGeom prst="rect">
                <a:avLst/>
              </a:prstGeom>
              <a:noFill/>
            </p:spPr>
            <p:txBody>
              <a:bodyPr wrap="none" rtlCol="0">
                <a:spAutoFit/>
              </a:bodyPr>
              <a:lstStyle/>
              <a:p>
                <a14:m>
                  <m:oMath xmlns:m="http://schemas.openxmlformats.org/officeDocument/2006/math">
                    <m:r>
                      <a:rPr lang="ja-JP" altLang="en-US" sz="2400" b="0" i="1" smtClean="0">
                        <a:latin typeface="Cambria Math" panose="02040503050406030204" pitchFamily="18" charset="0"/>
                      </a:rPr>
                      <m:t>これらの</m:t>
                    </m:r>
                  </m:oMath>
                </a14:m>
                <a:r>
                  <a:rPr lang="ja-JP" altLang="en-US" sz="2400" dirty="0"/>
                  <a:t>ことから以下のことが定義できます。</a:t>
                </a:r>
                <a:endParaRPr lang="en-US" altLang="ja-JP" sz="2400" dirty="0"/>
              </a:p>
              <a:p>
                <a:endParaRPr lang="en-US" altLang="ja-JP" sz="2400" dirty="0"/>
              </a:p>
              <a:p>
                <a:r>
                  <a:rPr lang="ja-JP" altLang="en-US" sz="2400" b="1" dirty="0">
                    <a:solidFill>
                      <a:srgbClr val="FF0000"/>
                    </a:solidFill>
                  </a:rPr>
                  <a:t>■瞬間加速度（</a:t>
                </a:r>
                <a:r>
                  <a:rPr lang="en-US" altLang="ja-JP" sz="2400" b="1" dirty="0">
                    <a:solidFill>
                      <a:srgbClr val="FF0000"/>
                    </a:solidFill>
                  </a:rPr>
                  <a:t>2</a:t>
                </a:r>
                <a:r>
                  <a:rPr lang="ja-JP" altLang="en-US" sz="2400" b="1" dirty="0">
                    <a:solidFill>
                      <a:srgbClr val="FF0000"/>
                    </a:solidFill>
                  </a:rPr>
                  <a:t>次導関数）</a:t>
                </a:r>
                <a:endParaRPr lang="en-US" altLang="ja-JP" sz="2400" b="1" dirty="0">
                  <a:solidFill>
                    <a:srgbClr val="FF0000"/>
                  </a:solidFill>
                </a:endParaRPr>
              </a:p>
              <a:p>
                <a:pPr/>
                <a14:m>
                  <m:oMathPara xmlns:m="http://schemas.openxmlformats.org/officeDocument/2006/math">
                    <m:oMathParaPr>
                      <m:jc m:val="left"/>
                    </m:oMathParaPr>
                    <m:oMath xmlns:m="http://schemas.openxmlformats.org/officeDocument/2006/math">
                      <m:r>
                        <a:rPr lang="en-US" altLang="ja-JP" sz="2400" i="1">
                          <a:latin typeface="Cambria Math" panose="02040503050406030204" pitchFamily="18" charset="0"/>
                        </a:rPr>
                        <m:t>𝑎</m:t>
                      </m:r>
                      <m:r>
                        <a:rPr lang="en-US" altLang="ja-JP" sz="2400" i="1">
                          <a:latin typeface="Cambria Math" panose="02040503050406030204" pitchFamily="18" charset="0"/>
                        </a:rPr>
                        <m:t>=</m:t>
                      </m:r>
                      <m:sSup>
                        <m:sSupPr>
                          <m:ctrlPr>
                            <a:rPr lang="en-US" altLang="ja-JP" sz="2400" i="1">
                              <a:latin typeface="Cambria Math" panose="02040503050406030204" pitchFamily="18" charset="0"/>
                            </a:rPr>
                          </m:ctrlPr>
                        </m:sSupPr>
                        <m:e>
                          <m:r>
                            <a:rPr lang="en-US" altLang="ja-JP" sz="2400" i="1">
                              <a:latin typeface="Cambria Math" panose="02040503050406030204" pitchFamily="18" charset="0"/>
                            </a:rPr>
                            <m:t>𝑣</m:t>
                          </m:r>
                        </m:e>
                        <m:sup>
                          <m:r>
                            <a:rPr lang="en-US" altLang="ja-JP" sz="2400" i="1">
                              <a:latin typeface="Cambria Math" panose="02040503050406030204" pitchFamily="18" charset="0"/>
                            </a:rPr>
                            <m:t>′</m:t>
                          </m:r>
                        </m:sup>
                      </m:sSup>
                      <m:d>
                        <m:dPr>
                          <m:ctrlPr>
                            <a:rPr lang="en-US" altLang="ja-JP" sz="2400" i="1">
                              <a:latin typeface="Cambria Math" panose="02040503050406030204" pitchFamily="18" charset="0"/>
                            </a:rPr>
                          </m:ctrlPr>
                        </m:dPr>
                        <m:e>
                          <m:r>
                            <a:rPr lang="en-US" altLang="ja-JP" sz="2400" i="1">
                              <a:latin typeface="Cambria Math" panose="02040503050406030204" pitchFamily="18" charset="0"/>
                            </a:rPr>
                            <m:t>𝑡</m:t>
                          </m:r>
                        </m:e>
                      </m:d>
                      <m:r>
                        <a:rPr lang="en-US" altLang="ja-JP" sz="2400" b="0" i="1" smtClean="0">
                          <a:latin typeface="Cambria Math" panose="02040503050406030204" pitchFamily="18" charset="0"/>
                        </a:rPr>
                        <m:t>=</m:t>
                      </m:r>
                      <m:r>
                        <a:rPr lang="en-US" altLang="ja-JP" sz="2400" b="0" i="1" smtClean="0">
                          <a:latin typeface="Cambria Math" panose="02040503050406030204" pitchFamily="18" charset="0"/>
                        </a:rPr>
                        <m:t>𝑦</m:t>
                      </m:r>
                      <m:r>
                        <a:rPr lang="en-US" altLang="ja-JP" sz="2400" b="0" i="1" smtClean="0">
                          <a:latin typeface="Cambria Math" panose="02040503050406030204" pitchFamily="18" charset="0"/>
                        </a:rPr>
                        <m:t>′′(</m:t>
                      </m:r>
                      <m:r>
                        <a:rPr lang="en-US" altLang="ja-JP" sz="2400" b="0" i="1" smtClean="0">
                          <a:latin typeface="Cambria Math" panose="02040503050406030204" pitchFamily="18" charset="0"/>
                        </a:rPr>
                        <m:t>𝑡</m:t>
                      </m:r>
                      <m:r>
                        <a:rPr lang="en-US" altLang="ja-JP" sz="2400" b="0" i="1" smtClean="0">
                          <a:latin typeface="Cambria Math" panose="02040503050406030204" pitchFamily="18" charset="0"/>
                        </a:rPr>
                        <m:t>)</m:t>
                      </m:r>
                    </m:oMath>
                  </m:oMathPara>
                </a14:m>
                <a:endParaRPr lang="en-US" altLang="ja-JP" sz="2400" dirty="0"/>
              </a:p>
              <a:p>
                <a14:m>
                  <m:oMath xmlns:m="http://schemas.openxmlformats.org/officeDocument/2006/math">
                    <m:sSup>
                      <m:sSupPr>
                        <m:ctrlPr>
                          <a:rPr lang="en-US" altLang="ja-JP" sz="2400" i="1" smtClean="0">
                            <a:latin typeface="Cambria Math" panose="02040503050406030204" pitchFamily="18" charset="0"/>
                          </a:rPr>
                        </m:ctrlPr>
                      </m:sSupPr>
                      <m:e>
                        <m:r>
                          <a:rPr lang="en-US" altLang="ja-JP" sz="2400" i="1">
                            <a:latin typeface="Cambria Math" panose="02040503050406030204" pitchFamily="18" charset="0"/>
                          </a:rPr>
                          <m:t>𝑣</m:t>
                        </m:r>
                      </m:e>
                      <m:sup>
                        <m:r>
                          <a:rPr lang="en-US" altLang="ja-JP" sz="2400" i="1">
                            <a:latin typeface="Cambria Math" panose="02040503050406030204" pitchFamily="18" charset="0"/>
                          </a:rPr>
                          <m:t>′</m:t>
                        </m:r>
                      </m:sup>
                    </m:sSup>
                    <m:d>
                      <m:dPr>
                        <m:ctrlPr>
                          <a:rPr lang="en-US" altLang="ja-JP" sz="2400" i="1">
                            <a:latin typeface="Cambria Math" panose="02040503050406030204" pitchFamily="18" charset="0"/>
                          </a:rPr>
                        </m:ctrlPr>
                      </m:dPr>
                      <m:e>
                        <m:r>
                          <a:rPr lang="en-US" altLang="ja-JP" sz="2400" i="1">
                            <a:latin typeface="Cambria Math" panose="02040503050406030204" pitchFamily="18" charset="0"/>
                          </a:rPr>
                          <m:t>𝑡</m:t>
                        </m:r>
                      </m:e>
                    </m:d>
                  </m:oMath>
                </a14:m>
                <a:r>
                  <a:rPr lang="ja-JP" altLang="en-US" sz="2400" dirty="0"/>
                  <a:t>は速度と時間の導関数</a:t>
                </a:r>
                <a:endParaRPr lang="en-US" altLang="ja-JP" sz="2400" dirty="0"/>
              </a:p>
              <a:p>
                <a14:m>
                  <m:oMath xmlns:m="http://schemas.openxmlformats.org/officeDocument/2006/math">
                    <m:r>
                      <a:rPr lang="en-US" altLang="ja-JP" sz="2400" b="0" i="1" smtClean="0">
                        <a:latin typeface="Cambria Math" panose="02040503050406030204" pitchFamily="18" charset="0"/>
                      </a:rPr>
                      <m:t>𝑦</m:t>
                    </m:r>
                    <m:r>
                      <a:rPr lang="en-US" altLang="ja-JP" sz="2400" b="0" i="1" smtClean="0">
                        <a:latin typeface="Cambria Math" panose="02040503050406030204" pitchFamily="18" charset="0"/>
                      </a:rPr>
                      <m:t>′′(</m:t>
                    </m:r>
                    <m:r>
                      <a:rPr lang="en-US" altLang="ja-JP" sz="2400" b="0" i="1" smtClean="0">
                        <a:latin typeface="Cambria Math" panose="02040503050406030204" pitchFamily="18" charset="0"/>
                      </a:rPr>
                      <m:t>𝑡</m:t>
                    </m:r>
                    <m:r>
                      <a:rPr lang="en-US" altLang="ja-JP" sz="2400" b="0" i="1" smtClean="0">
                        <a:latin typeface="Cambria Math" panose="02040503050406030204" pitchFamily="18" charset="0"/>
                      </a:rPr>
                      <m:t>)</m:t>
                    </m:r>
                  </m:oMath>
                </a14:m>
                <a:r>
                  <a:rPr lang="ja-JP" altLang="en-US" sz="2400" dirty="0"/>
                  <a:t>は位置と時間の</a:t>
                </a:r>
                <a:r>
                  <a:rPr lang="en-US" altLang="ja-JP" sz="2400" dirty="0"/>
                  <a:t>2</a:t>
                </a:r>
                <a:r>
                  <a:rPr lang="ja-JP" altLang="en-US" sz="2400" dirty="0"/>
                  <a:t>次導関数</a:t>
                </a:r>
                <a:endParaRPr lang="en-US" altLang="ja-JP" sz="2400" dirty="0"/>
              </a:p>
            </p:txBody>
          </p:sp>
        </mc:Choice>
        <mc:Fallback>
          <p:sp>
            <p:nvSpPr>
              <p:cNvPr id="6" name="テキスト ボックス 5">
                <a:extLst>
                  <a:ext uri="{FF2B5EF4-FFF2-40B4-BE49-F238E27FC236}">
                    <a16:creationId xmlns:a16="http://schemas.microsoft.com/office/drawing/2014/main" id="{55830AD6-028B-4C4E-80BF-B70DFC1C3A46}"/>
                  </a:ext>
                </a:extLst>
              </p:cNvPr>
              <p:cNvSpPr txBox="1">
                <a:spLocks noRot="1" noChangeAspect="1" noMove="1" noResize="1" noEditPoints="1" noAdjustHandles="1" noChangeArrowheads="1" noChangeShapeType="1" noTextEdit="1"/>
              </p:cNvSpPr>
              <p:nvPr/>
            </p:nvSpPr>
            <p:spPr>
              <a:xfrm>
                <a:off x="567542" y="1216429"/>
                <a:ext cx="6647974" cy="2308324"/>
              </a:xfrm>
              <a:prstGeom prst="rect">
                <a:avLst/>
              </a:prstGeom>
              <a:blipFill>
                <a:blip r:embed="rId2"/>
                <a:stretch>
                  <a:fillRect l="-1375" t="-2116" r="-458" b="-5291"/>
                </a:stretch>
              </a:blipFill>
            </p:spPr>
            <p:txBody>
              <a:bodyPr/>
              <a:lstStyle/>
              <a:p>
                <a:r>
                  <a:rPr lang="ja-JP" altLang="en-US">
                    <a:noFill/>
                  </a:rPr>
                  <a:t> </a:t>
                </a:r>
              </a:p>
            </p:txBody>
          </p:sp>
        </mc:Fallback>
      </mc:AlternateContent>
    </p:spTree>
    <p:extLst>
      <p:ext uri="{BB962C8B-B14F-4D97-AF65-F5344CB8AC3E}">
        <p14:creationId xmlns:p14="http://schemas.microsoft.com/office/powerpoint/2010/main" val="744451357"/>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テキスト ボックス 3">
            <a:extLst>
              <a:ext uri="{FF2B5EF4-FFF2-40B4-BE49-F238E27FC236}">
                <a16:creationId xmlns:a16="http://schemas.microsoft.com/office/drawing/2014/main" id="{5A13BF46-B8C5-48AA-8308-C9ECFF431A18}"/>
              </a:ext>
            </a:extLst>
          </p:cNvPr>
          <p:cNvSpPr txBox="1"/>
          <p:nvPr/>
        </p:nvSpPr>
        <p:spPr>
          <a:xfrm>
            <a:off x="567542" y="491954"/>
            <a:ext cx="5461752" cy="584775"/>
          </a:xfrm>
          <a:prstGeom prst="rect">
            <a:avLst/>
          </a:prstGeom>
          <a:noFill/>
        </p:spPr>
        <p:txBody>
          <a:bodyPr wrap="none" rtlCol="0">
            <a:spAutoFit/>
          </a:bodyPr>
          <a:lstStyle/>
          <a:p>
            <a:r>
              <a:rPr kumimoji="1" lang="en-US" altLang="ja-JP" sz="3200" b="1" u="sng" dirty="0"/>
              <a:t>2</a:t>
            </a:r>
            <a:r>
              <a:rPr kumimoji="1" lang="ja-JP" altLang="en-US" sz="3200" b="1" u="sng" dirty="0"/>
              <a:t>次導関数と瞬間加速度 例題</a:t>
            </a:r>
            <a:endParaRPr kumimoji="1" lang="en-US" altLang="ja-JP" sz="3200" b="1" u="sng" dirty="0"/>
          </a:p>
        </p:txBody>
      </p:sp>
      <mc:AlternateContent xmlns:mc="http://schemas.openxmlformats.org/markup-compatibility/2006" xmlns:a14="http://schemas.microsoft.com/office/drawing/2010/main">
        <mc:Choice Requires="a14">
          <p:sp>
            <p:nvSpPr>
              <p:cNvPr id="6" name="テキスト ボックス 5">
                <a:extLst>
                  <a:ext uri="{FF2B5EF4-FFF2-40B4-BE49-F238E27FC236}">
                    <a16:creationId xmlns:a16="http://schemas.microsoft.com/office/drawing/2014/main" id="{55830AD6-028B-4C4E-80BF-B70DFC1C3A46}"/>
                  </a:ext>
                </a:extLst>
              </p:cNvPr>
              <p:cNvSpPr txBox="1"/>
              <p:nvPr/>
            </p:nvSpPr>
            <p:spPr>
              <a:xfrm>
                <a:off x="567542" y="1216429"/>
                <a:ext cx="10891636" cy="5620128"/>
              </a:xfrm>
              <a:prstGeom prst="rect">
                <a:avLst/>
              </a:prstGeom>
              <a:noFill/>
            </p:spPr>
            <p:txBody>
              <a:bodyPr wrap="none" rtlCol="0">
                <a:spAutoFit/>
              </a:bodyPr>
              <a:lstStyle/>
              <a:p>
                <a:r>
                  <a:rPr lang="ja-JP" altLang="en-US" sz="2400" dirty="0"/>
                  <a:t>ボールを真上に投げた時の</a:t>
                </a:r>
                <a:r>
                  <a:rPr lang="ja-JP" altLang="en-US" sz="2400" b="1" dirty="0">
                    <a:solidFill>
                      <a:srgbClr val="FF0000"/>
                    </a:solidFill>
                  </a:rPr>
                  <a:t>位置と時間の関数</a:t>
                </a:r>
                <a:r>
                  <a:rPr lang="ja-JP" altLang="en-US" sz="2400" dirty="0"/>
                  <a:t>を、</a:t>
                </a:r>
                <a:endParaRPr lang="en-US" altLang="ja-JP" sz="2400" dirty="0"/>
              </a:p>
              <a:p>
                <a14:m>
                  <m:oMath xmlns:m="http://schemas.openxmlformats.org/officeDocument/2006/math">
                    <m:r>
                      <a:rPr lang="en-US" altLang="ja-JP" sz="2400" b="0" i="1" smtClean="0">
                        <a:latin typeface="Cambria Math" panose="02040503050406030204" pitchFamily="18" charset="0"/>
                      </a:rPr>
                      <m:t>𝑦</m:t>
                    </m:r>
                    <m:r>
                      <a:rPr lang="en-US" altLang="ja-JP" sz="2400" b="0" i="1" smtClean="0">
                        <a:latin typeface="Cambria Math" panose="02040503050406030204" pitchFamily="18" charset="0"/>
                      </a:rPr>
                      <m:t>=</m:t>
                    </m:r>
                    <m:r>
                      <a:rPr lang="en-US" altLang="ja-JP" sz="2400" b="0" i="1" smtClean="0">
                        <a:latin typeface="Cambria Math" panose="02040503050406030204" pitchFamily="18" charset="0"/>
                      </a:rPr>
                      <m:t>𝑓</m:t>
                    </m:r>
                    <m:d>
                      <m:dPr>
                        <m:ctrlPr>
                          <a:rPr lang="en-US" altLang="ja-JP" sz="2400" b="0" i="1" smtClean="0">
                            <a:latin typeface="Cambria Math" panose="02040503050406030204" pitchFamily="18" charset="0"/>
                          </a:rPr>
                        </m:ctrlPr>
                      </m:dPr>
                      <m:e>
                        <m:r>
                          <a:rPr lang="en-US" altLang="ja-JP" sz="2400" b="0" i="1" smtClean="0">
                            <a:latin typeface="Cambria Math" panose="02040503050406030204" pitchFamily="18" charset="0"/>
                          </a:rPr>
                          <m:t>𝑡</m:t>
                        </m:r>
                      </m:e>
                    </m:d>
                    <m:r>
                      <a:rPr lang="en-US" altLang="ja-JP" sz="2400" b="0" i="1" smtClean="0">
                        <a:latin typeface="Cambria Math" panose="02040503050406030204" pitchFamily="18" charset="0"/>
                      </a:rPr>
                      <m:t>=10</m:t>
                    </m:r>
                    <m:r>
                      <a:rPr lang="en-US" altLang="ja-JP" sz="2400" b="0" i="1" smtClean="0">
                        <a:latin typeface="Cambria Math" panose="02040503050406030204" pitchFamily="18" charset="0"/>
                      </a:rPr>
                      <m:t>𝑡</m:t>
                    </m:r>
                    <m:r>
                      <a:rPr lang="en-US" altLang="ja-JP" sz="2400" b="0" i="1" smtClean="0">
                        <a:latin typeface="Cambria Math" panose="02040503050406030204" pitchFamily="18" charset="0"/>
                      </a:rPr>
                      <m:t>−4.9</m:t>
                    </m:r>
                    <m:sSup>
                      <m:sSupPr>
                        <m:ctrlPr>
                          <a:rPr lang="en-US" altLang="ja-JP" sz="2400" b="0" i="1" smtClean="0">
                            <a:latin typeface="Cambria Math" panose="02040503050406030204" pitchFamily="18" charset="0"/>
                          </a:rPr>
                        </m:ctrlPr>
                      </m:sSupPr>
                      <m:e>
                        <m:r>
                          <a:rPr lang="en-US" altLang="ja-JP" sz="2400" b="0" i="1" smtClean="0">
                            <a:latin typeface="Cambria Math" panose="02040503050406030204" pitchFamily="18" charset="0"/>
                          </a:rPr>
                          <m:t>𝑡</m:t>
                        </m:r>
                      </m:e>
                      <m:sup>
                        <m:r>
                          <a:rPr lang="en-US" altLang="ja-JP" sz="2400" b="0" i="1" smtClean="0">
                            <a:latin typeface="Cambria Math" panose="02040503050406030204" pitchFamily="18" charset="0"/>
                          </a:rPr>
                          <m:t>2</m:t>
                        </m:r>
                      </m:sup>
                    </m:sSup>
                  </m:oMath>
                </a14:m>
                <a:r>
                  <a:rPr lang="en-US" altLang="ja-JP" sz="2400" dirty="0"/>
                  <a:t> </a:t>
                </a:r>
                <a:r>
                  <a:rPr lang="ja-JP" altLang="en-US" sz="2400" dirty="0"/>
                  <a:t>としたとき、</a:t>
                </a:r>
                <a:r>
                  <a:rPr lang="en-US" altLang="ja-JP" sz="2400" dirty="0"/>
                  <a:t> </a:t>
                </a:r>
                <a14:m>
                  <m:oMath xmlns:m="http://schemas.openxmlformats.org/officeDocument/2006/math">
                    <m:r>
                      <a:rPr lang="en-US" altLang="ja-JP" sz="2400" i="1">
                        <a:latin typeface="Cambria Math" panose="02040503050406030204" pitchFamily="18" charset="0"/>
                      </a:rPr>
                      <m:t>𝑡</m:t>
                    </m:r>
                    <m:r>
                      <a:rPr lang="en-US" altLang="ja-JP" sz="2400" b="0" i="1" smtClean="0">
                        <a:latin typeface="Cambria Math" panose="02040503050406030204" pitchFamily="18" charset="0"/>
                      </a:rPr>
                      <m:t>=2</m:t>
                    </m:r>
                  </m:oMath>
                </a14:m>
                <a:r>
                  <a:rPr lang="ja-JP" altLang="en-US" sz="2400" dirty="0"/>
                  <a:t>における瞬間加速度を求めなさい。</a:t>
                </a:r>
                <a:endParaRPr lang="en-US" altLang="ja-JP" sz="2400" dirty="0"/>
              </a:p>
              <a:p>
                <a:endParaRPr lang="en-US" altLang="ja-JP" sz="2400" dirty="0"/>
              </a:p>
              <a:p>
                <a:r>
                  <a:rPr lang="ja-JP" altLang="en-US" sz="2400" b="1" dirty="0">
                    <a:solidFill>
                      <a:srgbClr val="FF0000"/>
                    </a:solidFill>
                  </a:rPr>
                  <a:t>■解答</a:t>
                </a:r>
                <a:endParaRPr lang="en-US" altLang="ja-JP" sz="2400" b="1" dirty="0">
                  <a:solidFill>
                    <a:srgbClr val="FF0000"/>
                  </a:solidFill>
                </a:endParaRPr>
              </a:p>
              <a:p>
                <a:pPr/>
                <a14:m>
                  <m:oMathPara xmlns:m="http://schemas.openxmlformats.org/officeDocument/2006/math">
                    <m:oMathParaPr>
                      <m:jc m:val="left"/>
                    </m:oMathParaPr>
                    <m:oMath xmlns:m="http://schemas.openxmlformats.org/officeDocument/2006/math">
                      <m:sSup>
                        <m:sSupPr>
                          <m:ctrlPr>
                            <a:rPr lang="en-US" altLang="ja-JP" sz="2400" b="0" i="1" smtClean="0">
                              <a:latin typeface="Cambria Math" panose="02040503050406030204" pitchFamily="18" charset="0"/>
                            </a:rPr>
                          </m:ctrlPr>
                        </m:sSupPr>
                        <m:e>
                          <m:r>
                            <a:rPr lang="en-US" altLang="ja-JP" sz="2400" b="0" i="1" smtClean="0">
                              <a:latin typeface="Cambria Math" panose="02040503050406030204" pitchFamily="18" charset="0"/>
                            </a:rPr>
                            <m:t>𝑓</m:t>
                          </m:r>
                        </m:e>
                        <m:sup>
                          <m:r>
                            <a:rPr lang="en-US" altLang="ja-JP" sz="2400" b="0" i="1" smtClean="0">
                              <a:latin typeface="Cambria Math" panose="02040503050406030204" pitchFamily="18" charset="0"/>
                            </a:rPr>
                            <m:t>′</m:t>
                          </m:r>
                        </m:sup>
                      </m:sSup>
                      <m:d>
                        <m:dPr>
                          <m:ctrlPr>
                            <a:rPr lang="en-US" altLang="ja-JP" sz="2400" b="0" i="1" smtClean="0">
                              <a:latin typeface="Cambria Math" panose="02040503050406030204" pitchFamily="18" charset="0"/>
                            </a:rPr>
                          </m:ctrlPr>
                        </m:dPr>
                        <m:e>
                          <m:r>
                            <a:rPr lang="en-US" altLang="ja-JP" sz="2400" b="0" i="1" smtClean="0">
                              <a:latin typeface="Cambria Math" panose="02040503050406030204" pitchFamily="18" charset="0"/>
                            </a:rPr>
                            <m:t>𝑡</m:t>
                          </m:r>
                        </m:e>
                      </m:d>
                      <m:r>
                        <a:rPr lang="en-US" altLang="ja-JP" sz="2400" b="0" i="1" smtClean="0">
                          <a:latin typeface="Cambria Math" panose="02040503050406030204" pitchFamily="18" charset="0"/>
                        </a:rPr>
                        <m:t>=</m:t>
                      </m:r>
                      <m:func>
                        <m:funcPr>
                          <m:ctrlPr>
                            <a:rPr lang="en-US" altLang="ja-JP" sz="2400" b="0" i="1" smtClean="0">
                              <a:latin typeface="Cambria Math" panose="02040503050406030204" pitchFamily="18" charset="0"/>
                            </a:rPr>
                          </m:ctrlPr>
                        </m:funcPr>
                        <m:fName>
                          <m:limLow>
                            <m:limLowPr>
                              <m:ctrlPr>
                                <a:rPr lang="en-US" altLang="ja-JP" sz="2400" b="0" i="1" smtClean="0">
                                  <a:latin typeface="Cambria Math" panose="02040503050406030204" pitchFamily="18" charset="0"/>
                                </a:rPr>
                              </m:ctrlPr>
                            </m:limLowPr>
                            <m:e>
                              <m:r>
                                <m:rPr>
                                  <m:sty m:val="p"/>
                                </m:rPr>
                                <a:rPr lang="en-US" altLang="ja-JP" sz="2400" b="0" i="0" smtClean="0">
                                  <a:latin typeface="Cambria Math" panose="02040503050406030204" pitchFamily="18" charset="0"/>
                                </a:rPr>
                                <m:t>lim</m:t>
                              </m:r>
                            </m:e>
                            <m:lim>
                              <m:r>
                                <a:rPr lang="en-US" altLang="ja-JP" sz="2400" b="0" i="1" smtClean="0">
                                  <a:latin typeface="Cambria Math" panose="02040503050406030204" pitchFamily="18" charset="0"/>
                                </a:rPr>
                                <m:t>h</m:t>
                              </m:r>
                              <m:r>
                                <a:rPr lang="ja-JP" altLang="en-US" sz="2400" i="1">
                                  <a:latin typeface="Cambria Math" panose="02040503050406030204" pitchFamily="18" charset="0"/>
                                </a:rPr>
                                <m:t>→</m:t>
                              </m:r>
                              <m:r>
                                <a:rPr lang="en-US" altLang="ja-JP" sz="2400" b="0" i="1" smtClean="0">
                                  <a:latin typeface="Cambria Math" panose="02040503050406030204" pitchFamily="18" charset="0"/>
                                </a:rPr>
                                <m:t>0</m:t>
                              </m:r>
                            </m:lim>
                          </m:limLow>
                        </m:fName>
                        <m:e>
                          <m:f>
                            <m:fPr>
                              <m:ctrlPr>
                                <a:rPr lang="en-US" altLang="ja-JP" sz="2400" b="0" i="1" smtClean="0">
                                  <a:latin typeface="Cambria Math" panose="02040503050406030204" pitchFamily="18" charset="0"/>
                                </a:rPr>
                              </m:ctrlPr>
                            </m:fPr>
                            <m:num>
                              <m:r>
                                <a:rPr lang="en-US" altLang="ja-JP" sz="2400" b="0" i="1" smtClean="0">
                                  <a:latin typeface="Cambria Math" panose="02040503050406030204" pitchFamily="18" charset="0"/>
                                </a:rPr>
                                <m:t>𝑓</m:t>
                              </m:r>
                              <m:d>
                                <m:dPr>
                                  <m:ctrlPr>
                                    <a:rPr lang="en-US" altLang="ja-JP" sz="2400" b="0" i="1" smtClean="0">
                                      <a:latin typeface="Cambria Math" panose="02040503050406030204" pitchFamily="18" charset="0"/>
                                    </a:rPr>
                                  </m:ctrlPr>
                                </m:dPr>
                                <m:e>
                                  <m:r>
                                    <a:rPr lang="en-US" altLang="ja-JP" sz="2400" b="0" i="1" smtClean="0">
                                      <a:latin typeface="Cambria Math" panose="02040503050406030204" pitchFamily="18" charset="0"/>
                                    </a:rPr>
                                    <m:t>𝑡</m:t>
                                  </m:r>
                                  <m:r>
                                    <a:rPr lang="en-US" altLang="ja-JP" sz="2400" b="0" i="1" smtClean="0">
                                      <a:latin typeface="Cambria Math" panose="02040503050406030204" pitchFamily="18" charset="0"/>
                                    </a:rPr>
                                    <m:t>+</m:t>
                                  </m:r>
                                  <m:r>
                                    <a:rPr lang="en-US" altLang="ja-JP" sz="2400" b="0" i="1" smtClean="0">
                                      <a:latin typeface="Cambria Math" panose="02040503050406030204" pitchFamily="18" charset="0"/>
                                    </a:rPr>
                                    <m:t>h</m:t>
                                  </m:r>
                                </m:e>
                              </m:d>
                              <m:r>
                                <a:rPr lang="en-US" altLang="ja-JP" sz="2400" b="0" i="1" smtClean="0">
                                  <a:latin typeface="Cambria Math" panose="02040503050406030204" pitchFamily="18" charset="0"/>
                                </a:rPr>
                                <m:t>−</m:t>
                              </m:r>
                              <m:r>
                                <a:rPr lang="en-US" altLang="ja-JP" sz="2400" b="0" i="1" smtClean="0">
                                  <a:latin typeface="Cambria Math" panose="02040503050406030204" pitchFamily="18" charset="0"/>
                                </a:rPr>
                                <m:t>𝑓</m:t>
                              </m:r>
                              <m:r>
                                <a:rPr lang="en-US" altLang="ja-JP" sz="2400" b="0" i="1" smtClean="0">
                                  <a:latin typeface="Cambria Math" panose="02040503050406030204" pitchFamily="18" charset="0"/>
                                </a:rPr>
                                <m:t>(</m:t>
                              </m:r>
                              <m:r>
                                <a:rPr lang="en-US" altLang="ja-JP" sz="2400" b="0" i="1" smtClean="0">
                                  <a:latin typeface="Cambria Math" panose="02040503050406030204" pitchFamily="18" charset="0"/>
                                </a:rPr>
                                <m:t>𝑡</m:t>
                              </m:r>
                              <m:r>
                                <a:rPr lang="en-US" altLang="ja-JP" sz="2400" b="0" i="1" smtClean="0">
                                  <a:latin typeface="Cambria Math" panose="02040503050406030204" pitchFamily="18" charset="0"/>
                                </a:rPr>
                                <m:t>)</m:t>
                              </m:r>
                            </m:num>
                            <m:den>
                              <m:r>
                                <a:rPr lang="en-US" altLang="ja-JP" sz="2400" b="0" i="1" smtClean="0">
                                  <a:latin typeface="Cambria Math" panose="02040503050406030204" pitchFamily="18" charset="0"/>
                                </a:rPr>
                                <m:t>h</m:t>
                              </m:r>
                            </m:den>
                          </m:f>
                        </m:e>
                      </m:func>
                    </m:oMath>
                  </m:oMathPara>
                </a14:m>
                <a:endParaRPr lang="en-US" altLang="ja-JP" sz="2400" dirty="0"/>
              </a:p>
              <a:p>
                <a:pPr/>
                <a14:m>
                  <m:oMathPara xmlns:m="http://schemas.openxmlformats.org/officeDocument/2006/math">
                    <m:oMathParaPr>
                      <m:jc m:val="left"/>
                    </m:oMathParaPr>
                    <m:oMath xmlns:m="http://schemas.openxmlformats.org/officeDocument/2006/math">
                      <m:sSup>
                        <m:sSupPr>
                          <m:ctrlPr>
                            <a:rPr lang="en-US" altLang="ja-JP" sz="2400" b="0" i="1" smtClean="0">
                              <a:latin typeface="Cambria Math" panose="02040503050406030204" pitchFamily="18" charset="0"/>
                            </a:rPr>
                          </m:ctrlPr>
                        </m:sSupPr>
                        <m:e>
                          <m:r>
                            <a:rPr lang="en-US" altLang="ja-JP" sz="2400" b="0" i="1" smtClean="0">
                              <a:latin typeface="Cambria Math" panose="02040503050406030204" pitchFamily="18" charset="0"/>
                            </a:rPr>
                            <m:t>𝑓</m:t>
                          </m:r>
                        </m:e>
                        <m:sup>
                          <m:r>
                            <a:rPr lang="en-US" altLang="ja-JP" sz="2400" b="0" i="1" smtClean="0">
                              <a:latin typeface="Cambria Math" panose="02040503050406030204" pitchFamily="18" charset="0"/>
                            </a:rPr>
                            <m:t>′</m:t>
                          </m:r>
                        </m:sup>
                      </m:sSup>
                      <m:d>
                        <m:dPr>
                          <m:ctrlPr>
                            <a:rPr lang="en-US" altLang="ja-JP" sz="2400" b="0" i="1" smtClean="0">
                              <a:latin typeface="Cambria Math" panose="02040503050406030204" pitchFamily="18" charset="0"/>
                            </a:rPr>
                          </m:ctrlPr>
                        </m:dPr>
                        <m:e>
                          <m:r>
                            <a:rPr lang="en-US" altLang="ja-JP" sz="2400" b="0" i="1" smtClean="0">
                              <a:latin typeface="Cambria Math" panose="02040503050406030204" pitchFamily="18" charset="0"/>
                            </a:rPr>
                            <m:t>𝑡</m:t>
                          </m:r>
                        </m:e>
                      </m:d>
                      <m:r>
                        <a:rPr lang="en-US" altLang="ja-JP" sz="2400" b="0" i="1" smtClean="0">
                          <a:latin typeface="Cambria Math" panose="02040503050406030204" pitchFamily="18" charset="0"/>
                        </a:rPr>
                        <m:t>=</m:t>
                      </m:r>
                      <m:func>
                        <m:funcPr>
                          <m:ctrlPr>
                            <a:rPr lang="en-US" altLang="ja-JP" sz="2400" b="0" i="1" smtClean="0">
                              <a:latin typeface="Cambria Math" panose="02040503050406030204" pitchFamily="18" charset="0"/>
                            </a:rPr>
                          </m:ctrlPr>
                        </m:funcPr>
                        <m:fName>
                          <m:limLow>
                            <m:limLowPr>
                              <m:ctrlPr>
                                <a:rPr lang="en-US" altLang="ja-JP" sz="2400" b="0" i="1" smtClean="0">
                                  <a:latin typeface="Cambria Math" panose="02040503050406030204" pitchFamily="18" charset="0"/>
                                </a:rPr>
                              </m:ctrlPr>
                            </m:limLowPr>
                            <m:e>
                              <m:r>
                                <m:rPr>
                                  <m:sty m:val="p"/>
                                </m:rPr>
                                <a:rPr lang="en-US" altLang="ja-JP" sz="2400" b="0" i="0" smtClean="0">
                                  <a:latin typeface="Cambria Math" panose="02040503050406030204" pitchFamily="18" charset="0"/>
                                </a:rPr>
                                <m:t>lim</m:t>
                              </m:r>
                            </m:e>
                            <m:lim>
                              <m:r>
                                <a:rPr lang="en-US" altLang="ja-JP" sz="2400" b="0" i="1" smtClean="0">
                                  <a:latin typeface="Cambria Math" panose="02040503050406030204" pitchFamily="18" charset="0"/>
                                </a:rPr>
                                <m:t>h</m:t>
                              </m:r>
                              <m:r>
                                <a:rPr lang="ja-JP" altLang="en-US" sz="2400" i="1">
                                  <a:latin typeface="Cambria Math" panose="02040503050406030204" pitchFamily="18" charset="0"/>
                                </a:rPr>
                                <m:t>→</m:t>
                              </m:r>
                              <m:r>
                                <a:rPr lang="en-US" altLang="ja-JP" sz="2400" b="0" i="1" smtClean="0">
                                  <a:latin typeface="Cambria Math" panose="02040503050406030204" pitchFamily="18" charset="0"/>
                                </a:rPr>
                                <m:t>0</m:t>
                              </m:r>
                            </m:lim>
                          </m:limLow>
                        </m:fName>
                        <m:e>
                          <m:f>
                            <m:fPr>
                              <m:ctrlPr>
                                <a:rPr lang="en-US" altLang="ja-JP" sz="2400" b="0" i="1" smtClean="0">
                                  <a:latin typeface="Cambria Math" panose="02040503050406030204" pitchFamily="18" charset="0"/>
                                </a:rPr>
                              </m:ctrlPr>
                            </m:fPr>
                            <m:num>
                              <m:r>
                                <a:rPr lang="en-US" altLang="ja-JP" sz="2400" b="0" i="1" smtClean="0">
                                  <a:latin typeface="Cambria Math" panose="02040503050406030204" pitchFamily="18" charset="0"/>
                                </a:rPr>
                                <m:t>10</m:t>
                              </m:r>
                              <m:d>
                                <m:dPr>
                                  <m:ctrlPr>
                                    <a:rPr lang="en-US" altLang="ja-JP" sz="2400" b="0" i="1" smtClean="0">
                                      <a:latin typeface="Cambria Math" panose="02040503050406030204" pitchFamily="18" charset="0"/>
                                    </a:rPr>
                                  </m:ctrlPr>
                                </m:dPr>
                                <m:e>
                                  <m:r>
                                    <a:rPr lang="en-US" altLang="ja-JP" sz="2400" b="0" i="1" smtClean="0">
                                      <a:latin typeface="Cambria Math" panose="02040503050406030204" pitchFamily="18" charset="0"/>
                                    </a:rPr>
                                    <m:t>𝑡</m:t>
                                  </m:r>
                                  <m:r>
                                    <a:rPr lang="en-US" altLang="ja-JP" sz="2400" b="0" i="1" smtClean="0">
                                      <a:latin typeface="Cambria Math" panose="02040503050406030204" pitchFamily="18" charset="0"/>
                                    </a:rPr>
                                    <m:t>+</m:t>
                                  </m:r>
                                  <m:r>
                                    <a:rPr lang="en-US" altLang="ja-JP" sz="2400" b="0" i="1" smtClean="0">
                                      <a:latin typeface="Cambria Math" panose="02040503050406030204" pitchFamily="18" charset="0"/>
                                    </a:rPr>
                                    <m:t>h</m:t>
                                  </m:r>
                                </m:e>
                              </m:d>
                              <m:r>
                                <a:rPr lang="en-US" altLang="ja-JP" sz="2400" b="0" i="1" smtClean="0">
                                  <a:latin typeface="Cambria Math" panose="02040503050406030204" pitchFamily="18" charset="0"/>
                                </a:rPr>
                                <m:t>−</m:t>
                              </m:r>
                              <m:sSup>
                                <m:sSupPr>
                                  <m:ctrlPr>
                                    <a:rPr lang="en-US" altLang="ja-JP" sz="2400" b="0" i="1" smtClean="0">
                                      <a:latin typeface="Cambria Math" panose="02040503050406030204" pitchFamily="18" charset="0"/>
                                    </a:rPr>
                                  </m:ctrlPr>
                                </m:sSupPr>
                                <m:e>
                                  <m:r>
                                    <a:rPr lang="en-US" altLang="ja-JP" sz="2400" b="0" i="1" smtClean="0">
                                      <a:latin typeface="Cambria Math" panose="02040503050406030204" pitchFamily="18" charset="0"/>
                                    </a:rPr>
                                    <m:t>4.9</m:t>
                                  </m:r>
                                  <m:d>
                                    <m:dPr>
                                      <m:ctrlPr>
                                        <a:rPr lang="en-US" altLang="ja-JP" sz="2400" b="0" i="1" smtClean="0">
                                          <a:latin typeface="Cambria Math" panose="02040503050406030204" pitchFamily="18" charset="0"/>
                                        </a:rPr>
                                      </m:ctrlPr>
                                    </m:dPr>
                                    <m:e>
                                      <m:r>
                                        <a:rPr lang="en-US" altLang="ja-JP" sz="2400" b="0" i="1" smtClean="0">
                                          <a:latin typeface="Cambria Math" panose="02040503050406030204" pitchFamily="18" charset="0"/>
                                        </a:rPr>
                                        <m:t>𝑡</m:t>
                                      </m:r>
                                      <m:r>
                                        <a:rPr lang="en-US" altLang="ja-JP" sz="2400" b="0" i="1" smtClean="0">
                                          <a:latin typeface="Cambria Math" panose="02040503050406030204" pitchFamily="18" charset="0"/>
                                        </a:rPr>
                                        <m:t>+</m:t>
                                      </m:r>
                                      <m:r>
                                        <a:rPr lang="en-US" altLang="ja-JP" sz="2400" b="0" i="1" smtClean="0">
                                          <a:latin typeface="Cambria Math" panose="02040503050406030204" pitchFamily="18" charset="0"/>
                                        </a:rPr>
                                        <m:t>h</m:t>
                                      </m:r>
                                    </m:e>
                                  </m:d>
                                </m:e>
                                <m:sup>
                                  <m:r>
                                    <a:rPr lang="en-US" altLang="ja-JP" sz="2400" b="0" i="1" smtClean="0">
                                      <a:latin typeface="Cambria Math" panose="02040503050406030204" pitchFamily="18" charset="0"/>
                                    </a:rPr>
                                    <m:t>2</m:t>
                                  </m:r>
                                </m:sup>
                              </m:sSup>
                              <m:r>
                                <a:rPr lang="en-US" altLang="ja-JP" sz="2400" b="0" i="1" smtClean="0">
                                  <a:latin typeface="Cambria Math" panose="02040503050406030204" pitchFamily="18" charset="0"/>
                                </a:rPr>
                                <m:t>−(10</m:t>
                              </m:r>
                              <m:r>
                                <a:rPr lang="en-US" altLang="ja-JP" sz="2400" b="0" i="1" smtClean="0">
                                  <a:latin typeface="Cambria Math" panose="02040503050406030204" pitchFamily="18" charset="0"/>
                                </a:rPr>
                                <m:t>𝑡</m:t>
                              </m:r>
                              <m:r>
                                <a:rPr lang="en-US" altLang="ja-JP" sz="2400" b="0" i="1" smtClean="0">
                                  <a:latin typeface="Cambria Math" panose="02040503050406030204" pitchFamily="18" charset="0"/>
                                </a:rPr>
                                <m:t>−</m:t>
                              </m:r>
                              <m:sSup>
                                <m:sSupPr>
                                  <m:ctrlPr>
                                    <a:rPr lang="en-US" altLang="ja-JP" sz="2400" b="0" i="1" smtClean="0">
                                      <a:latin typeface="Cambria Math" panose="02040503050406030204" pitchFamily="18" charset="0"/>
                                    </a:rPr>
                                  </m:ctrlPr>
                                </m:sSupPr>
                                <m:e>
                                  <m:r>
                                    <a:rPr lang="en-US" altLang="ja-JP" sz="2400" b="0" i="1" smtClean="0">
                                      <a:latin typeface="Cambria Math" panose="02040503050406030204" pitchFamily="18" charset="0"/>
                                    </a:rPr>
                                    <m:t>4.9</m:t>
                                  </m:r>
                                  <m:r>
                                    <a:rPr lang="en-US" altLang="ja-JP" sz="2400" b="0" i="1" smtClean="0">
                                      <a:latin typeface="Cambria Math" panose="02040503050406030204" pitchFamily="18" charset="0"/>
                                    </a:rPr>
                                    <m:t>𝑡</m:t>
                                  </m:r>
                                </m:e>
                                <m:sup>
                                  <m:r>
                                    <a:rPr lang="en-US" altLang="ja-JP" sz="2400" b="0" i="1" smtClean="0">
                                      <a:latin typeface="Cambria Math" panose="02040503050406030204" pitchFamily="18" charset="0"/>
                                    </a:rPr>
                                    <m:t>2</m:t>
                                  </m:r>
                                </m:sup>
                              </m:sSup>
                              <m:r>
                                <a:rPr lang="en-US" altLang="ja-JP" sz="2400" b="0" i="1" smtClean="0">
                                  <a:latin typeface="Cambria Math" panose="02040503050406030204" pitchFamily="18" charset="0"/>
                                </a:rPr>
                                <m:t>)</m:t>
                              </m:r>
                            </m:num>
                            <m:den>
                              <m:r>
                                <a:rPr lang="en-US" altLang="ja-JP" sz="2400" b="0" i="1" smtClean="0">
                                  <a:latin typeface="Cambria Math" panose="02040503050406030204" pitchFamily="18" charset="0"/>
                                </a:rPr>
                                <m:t>h</m:t>
                              </m:r>
                            </m:den>
                          </m:f>
                        </m:e>
                      </m:func>
                    </m:oMath>
                  </m:oMathPara>
                </a14:m>
                <a:endParaRPr lang="en-US" altLang="ja-JP" sz="2400" dirty="0"/>
              </a:p>
              <a:p>
                <a:pPr/>
                <a14:m>
                  <m:oMathPara xmlns:m="http://schemas.openxmlformats.org/officeDocument/2006/math">
                    <m:oMathParaPr>
                      <m:jc m:val="left"/>
                    </m:oMathParaPr>
                    <m:oMath xmlns:m="http://schemas.openxmlformats.org/officeDocument/2006/math">
                      <m:sSup>
                        <m:sSupPr>
                          <m:ctrlPr>
                            <a:rPr lang="en-US" altLang="ja-JP" sz="2400" b="0" i="1" smtClean="0">
                              <a:latin typeface="Cambria Math" panose="02040503050406030204" pitchFamily="18" charset="0"/>
                            </a:rPr>
                          </m:ctrlPr>
                        </m:sSupPr>
                        <m:e>
                          <m:r>
                            <a:rPr lang="en-US" altLang="ja-JP" sz="2400" b="0" i="1" smtClean="0">
                              <a:latin typeface="Cambria Math" panose="02040503050406030204" pitchFamily="18" charset="0"/>
                            </a:rPr>
                            <m:t>𝑓</m:t>
                          </m:r>
                        </m:e>
                        <m:sup>
                          <m:r>
                            <a:rPr lang="en-US" altLang="ja-JP" sz="2400" b="0" i="1" smtClean="0">
                              <a:latin typeface="Cambria Math" panose="02040503050406030204" pitchFamily="18" charset="0"/>
                            </a:rPr>
                            <m:t>′</m:t>
                          </m:r>
                        </m:sup>
                      </m:sSup>
                      <m:d>
                        <m:dPr>
                          <m:ctrlPr>
                            <a:rPr lang="en-US" altLang="ja-JP" sz="2400" b="0" i="1" smtClean="0">
                              <a:latin typeface="Cambria Math" panose="02040503050406030204" pitchFamily="18" charset="0"/>
                            </a:rPr>
                          </m:ctrlPr>
                        </m:dPr>
                        <m:e>
                          <m:r>
                            <a:rPr lang="en-US" altLang="ja-JP" sz="2400" b="0" i="1" smtClean="0">
                              <a:latin typeface="Cambria Math" panose="02040503050406030204" pitchFamily="18" charset="0"/>
                            </a:rPr>
                            <m:t>𝑡</m:t>
                          </m:r>
                        </m:e>
                      </m:d>
                      <m:r>
                        <a:rPr lang="en-US" altLang="ja-JP" sz="2400" b="0" i="1" smtClean="0">
                          <a:latin typeface="Cambria Math" panose="02040503050406030204" pitchFamily="18" charset="0"/>
                        </a:rPr>
                        <m:t>=</m:t>
                      </m:r>
                      <m:func>
                        <m:funcPr>
                          <m:ctrlPr>
                            <a:rPr lang="en-US" altLang="ja-JP" sz="2400" b="0" i="1" smtClean="0">
                              <a:latin typeface="Cambria Math" panose="02040503050406030204" pitchFamily="18" charset="0"/>
                            </a:rPr>
                          </m:ctrlPr>
                        </m:funcPr>
                        <m:fName>
                          <m:limLow>
                            <m:limLowPr>
                              <m:ctrlPr>
                                <a:rPr lang="en-US" altLang="ja-JP" sz="2400" b="0" i="1" smtClean="0">
                                  <a:latin typeface="Cambria Math" panose="02040503050406030204" pitchFamily="18" charset="0"/>
                                </a:rPr>
                              </m:ctrlPr>
                            </m:limLowPr>
                            <m:e>
                              <m:r>
                                <m:rPr>
                                  <m:sty m:val="p"/>
                                </m:rPr>
                                <a:rPr lang="en-US" altLang="ja-JP" sz="2400" b="0" i="0" smtClean="0">
                                  <a:latin typeface="Cambria Math" panose="02040503050406030204" pitchFamily="18" charset="0"/>
                                </a:rPr>
                                <m:t>lim</m:t>
                              </m:r>
                            </m:e>
                            <m:lim>
                              <m:r>
                                <a:rPr lang="en-US" altLang="ja-JP" sz="2400" b="0" i="1" smtClean="0">
                                  <a:latin typeface="Cambria Math" panose="02040503050406030204" pitchFamily="18" charset="0"/>
                                </a:rPr>
                                <m:t>h</m:t>
                              </m:r>
                              <m:r>
                                <a:rPr lang="ja-JP" altLang="en-US" sz="2400" i="1">
                                  <a:latin typeface="Cambria Math" panose="02040503050406030204" pitchFamily="18" charset="0"/>
                                </a:rPr>
                                <m:t>→</m:t>
                              </m:r>
                              <m:r>
                                <a:rPr lang="en-US" altLang="ja-JP" sz="2400" b="0" i="1" smtClean="0">
                                  <a:latin typeface="Cambria Math" panose="02040503050406030204" pitchFamily="18" charset="0"/>
                                </a:rPr>
                                <m:t>0</m:t>
                              </m:r>
                            </m:lim>
                          </m:limLow>
                        </m:fName>
                        <m:e>
                          <m:f>
                            <m:fPr>
                              <m:ctrlPr>
                                <a:rPr lang="en-US" altLang="ja-JP" sz="2400" b="0" i="1" smtClean="0">
                                  <a:latin typeface="Cambria Math" panose="02040503050406030204" pitchFamily="18" charset="0"/>
                                </a:rPr>
                              </m:ctrlPr>
                            </m:fPr>
                            <m:num>
                              <m:r>
                                <a:rPr lang="en-US" altLang="ja-JP" sz="2400" b="0" i="1" smtClean="0">
                                  <a:latin typeface="Cambria Math" panose="02040503050406030204" pitchFamily="18" charset="0"/>
                                </a:rPr>
                                <m:t>10</m:t>
                              </m:r>
                              <m:r>
                                <a:rPr lang="en-US" altLang="ja-JP" sz="2400" b="0" i="1" smtClean="0">
                                  <a:latin typeface="Cambria Math" panose="02040503050406030204" pitchFamily="18" charset="0"/>
                                </a:rPr>
                                <m:t>𝑡</m:t>
                              </m:r>
                              <m:r>
                                <a:rPr lang="en-US" altLang="ja-JP" sz="2400" b="0" i="1" smtClean="0">
                                  <a:latin typeface="Cambria Math" panose="02040503050406030204" pitchFamily="18" charset="0"/>
                                </a:rPr>
                                <m:t>+10</m:t>
                              </m:r>
                              <m:r>
                                <a:rPr lang="en-US" altLang="ja-JP" sz="2400" b="0" i="1" smtClean="0">
                                  <a:latin typeface="Cambria Math" panose="02040503050406030204" pitchFamily="18" charset="0"/>
                                </a:rPr>
                                <m:t>h</m:t>
                              </m:r>
                              <m:r>
                                <a:rPr lang="en-US" altLang="ja-JP" sz="2400" b="0" i="1" smtClean="0">
                                  <a:latin typeface="Cambria Math" panose="02040503050406030204" pitchFamily="18" charset="0"/>
                                </a:rPr>
                                <m:t>−4.9</m:t>
                              </m:r>
                              <m:d>
                                <m:dPr>
                                  <m:ctrlPr>
                                    <a:rPr lang="en-US" altLang="ja-JP" sz="2400" b="0" i="1" smtClean="0">
                                      <a:latin typeface="Cambria Math" panose="02040503050406030204" pitchFamily="18" charset="0"/>
                                    </a:rPr>
                                  </m:ctrlPr>
                                </m:dPr>
                                <m:e>
                                  <m:sSup>
                                    <m:sSupPr>
                                      <m:ctrlPr>
                                        <a:rPr lang="en-US" altLang="ja-JP" sz="2400" i="1">
                                          <a:latin typeface="Cambria Math" panose="02040503050406030204" pitchFamily="18" charset="0"/>
                                        </a:rPr>
                                      </m:ctrlPr>
                                    </m:sSupPr>
                                    <m:e>
                                      <m:r>
                                        <a:rPr lang="en-US" altLang="ja-JP" sz="2400" i="1">
                                          <a:latin typeface="Cambria Math" panose="02040503050406030204" pitchFamily="18" charset="0"/>
                                        </a:rPr>
                                        <m:t>𝑡</m:t>
                                      </m:r>
                                    </m:e>
                                    <m:sup>
                                      <m:r>
                                        <a:rPr lang="en-US" altLang="ja-JP" sz="2400" i="1">
                                          <a:latin typeface="Cambria Math" panose="02040503050406030204" pitchFamily="18" charset="0"/>
                                        </a:rPr>
                                        <m:t>2</m:t>
                                      </m:r>
                                    </m:sup>
                                  </m:sSup>
                                  <m:r>
                                    <a:rPr lang="en-US" altLang="ja-JP" sz="2400" i="1">
                                      <a:latin typeface="Cambria Math" panose="02040503050406030204" pitchFamily="18" charset="0"/>
                                    </a:rPr>
                                    <m:t>+2</m:t>
                                  </m:r>
                                  <m:r>
                                    <a:rPr lang="en-US" altLang="ja-JP" sz="2400" i="1">
                                      <a:latin typeface="Cambria Math" panose="02040503050406030204" pitchFamily="18" charset="0"/>
                                    </a:rPr>
                                    <m:t>𝑡h</m:t>
                                  </m:r>
                                  <m:r>
                                    <a:rPr lang="en-US" altLang="ja-JP" sz="2400" i="1">
                                      <a:latin typeface="Cambria Math" panose="02040503050406030204" pitchFamily="18" charset="0"/>
                                    </a:rPr>
                                    <m:t>+</m:t>
                                  </m:r>
                                  <m:sSup>
                                    <m:sSupPr>
                                      <m:ctrlPr>
                                        <a:rPr lang="en-US" altLang="ja-JP" sz="2400" i="1">
                                          <a:latin typeface="Cambria Math" panose="02040503050406030204" pitchFamily="18" charset="0"/>
                                        </a:rPr>
                                      </m:ctrlPr>
                                    </m:sSupPr>
                                    <m:e>
                                      <m:r>
                                        <a:rPr lang="en-US" altLang="ja-JP" sz="2400" i="1">
                                          <a:latin typeface="Cambria Math" panose="02040503050406030204" pitchFamily="18" charset="0"/>
                                        </a:rPr>
                                        <m:t>h</m:t>
                                      </m:r>
                                    </m:e>
                                    <m:sup>
                                      <m:r>
                                        <a:rPr lang="en-US" altLang="ja-JP" sz="2400" i="1">
                                          <a:latin typeface="Cambria Math" panose="02040503050406030204" pitchFamily="18" charset="0"/>
                                        </a:rPr>
                                        <m:t>2</m:t>
                                      </m:r>
                                    </m:sup>
                                  </m:sSup>
                                </m:e>
                              </m:d>
                              <m:r>
                                <a:rPr lang="en-US" altLang="ja-JP" sz="2400" b="0" i="1" smtClean="0">
                                  <a:latin typeface="Cambria Math" panose="02040503050406030204" pitchFamily="18" charset="0"/>
                                </a:rPr>
                                <m:t>−10</m:t>
                              </m:r>
                              <m:r>
                                <a:rPr lang="en-US" altLang="ja-JP" sz="2400" b="0" i="1" smtClean="0">
                                  <a:latin typeface="Cambria Math" panose="02040503050406030204" pitchFamily="18" charset="0"/>
                                </a:rPr>
                                <m:t>𝑡</m:t>
                              </m:r>
                              <m:r>
                                <a:rPr lang="en-US" altLang="ja-JP" sz="2400" b="0" i="1" smtClean="0">
                                  <a:latin typeface="Cambria Math" panose="02040503050406030204" pitchFamily="18" charset="0"/>
                                </a:rPr>
                                <m:t>+</m:t>
                              </m:r>
                              <m:sSup>
                                <m:sSupPr>
                                  <m:ctrlPr>
                                    <a:rPr lang="en-US" altLang="ja-JP" sz="2400" b="0" i="1" smtClean="0">
                                      <a:latin typeface="Cambria Math" panose="02040503050406030204" pitchFamily="18" charset="0"/>
                                    </a:rPr>
                                  </m:ctrlPr>
                                </m:sSupPr>
                                <m:e>
                                  <m:r>
                                    <a:rPr lang="en-US" altLang="ja-JP" sz="2400" b="0" i="1" smtClean="0">
                                      <a:latin typeface="Cambria Math" panose="02040503050406030204" pitchFamily="18" charset="0"/>
                                    </a:rPr>
                                    <m:t>4.9</m:t>
                                  </m:r>
                                  <m:r>
                                    <a:rPr lang="en-US" altLang="ja-JP" sz="2400" b="0" i="1" smtClean="0">
                                      <a:latin typeface="Cambria Math" panose="02040503050406030204" pitchFamily="18" charset="0"/>
                                    </a:rPr>
                                    <m:t>𝑡</m:t>
                                  </m:r>
                                </m:e>
                                <m:sup>
                                  <m:r>
                                    <a:rPr lang="en-US" altLang="ja-JP" sz="2400" b="0" i="1" smtClean="0">
                                      <a:latin typeface="Cambria Math" panose="02040503050406030204" pitchFamily="18" charset="0"/>
                                    </a:rPr>
                                    <m:t>2</m:t>
                                  </m:r>
                                </m:sup>
                              </m:sSup>
                            </m:num>
                            <m:den>
                              <m:r>
                                <a:rPr lang="en-US" altLang="ja-JP" sz="2400" b="0" i="1" smtClean="0">
                                  <a:latin typeface="Cambria Math" panose="02040503050406030204" pitchFamily="18" charset="0"/>
                                </a:rPr>
                                <m:t>h</m:t>
                              </m:r>
                            </m:den>
                          </m:f>
                        </m:e>
                      </m:func>
                    </m:oMath>
                  </m:oMathPara>
                </a14:m>
                <a:endParaRPr lang="en-US" altLang="ja-JP" sz="2400" dirty="0"/>
              </a:p>
              <a:p>
                <a:pPr/>
                <a14:m>
                  <m:oMathPara xmlns:m="http://schemas.openxmlformats.org/officeDocument/2006/math">
                    <m:oMathParaPr>
                      <m:jc m:val="left"/>
                    </m:oMathParaPr>
                    <m:oMath xmlns:m="http://schemas.openxmlformats.org/officeDocument/2006/math">
                      <m:sSup>
                        <m:sSupPr>
                          <m:ctrlPr>
                            <a:rPr lang="en-US" altLang="ja-JP" sz="2400" b="0" i="1" smtClean="0">
                              <a:latin typeface="Cambria Math" panose="02040503050406030204" pitchFamily="18" charset="0"/>
                            </a:rPr>
                          </m:ctrlPr>
                        </m:sSupPr>
                        <m:e>
                          <m:r>
                            <a:rPr lang="en-US" altLang="ja-JP" sz="2400" b="0" i="1" smtClean="0">
                              <a:latin typeface="Cambria Math" panose="02040503050406030204" pitchFamily="18" charset="0"/>
                            </a:rPr>
                            <m:t>𝑓</m:t>
                          </m:r>
                        </m:e>
                        <m:sup>
                          <m:r>
                            <a:rPr lang="en-US" altLang="ja-JP" sz="2400" b="0" i="1" smtClean="0">
                              <a:latin typeface="Cambria Math" panose="02040503050406030204" pitchFamily="18" charset="0"/>
                            </a:rPr>
                            <m:t>′</m:t>
                          </m:r>
                        </m:sup>
                      </m:sSup>
                      <m:d>
                        <m:dPr>
                          <m:ctrlPr>
                            <a:rPr lang="en-US" altLang="ja-JP" sz="2400" b="0" i="1" smtClean="0">
                              <a:latin typeface="Cambria Math" panose="02040503050406030204" pitchFamily="18" charset="0"/>
                            </a:rPr>
                          </m:ctrlPr>
                        </m:dPr>
                        <m:e>
                          <m:r>
                            <a:rPr lang="en-US" altLang="ja-JP" sz="2400" b="0" i="1" smtClean="0">
                              <a:latin typeface="Cambria Math" panose="02040503050406030204" pitchFamily="18" charset="0"/>
                            </a:rPr>
                            <m:t>𝑡</m:t>
                          </m:r>
                        </m:e>
                      </m:d>
                      <m:r>
                        <a:rPr lang="en-US" altLang="ja-JP" sz="2400" b="0" i="1" smtClean="0">
                          <a:latin typeface="Cambria Math" panose="02040503050406030204" pitchFamily="18" charset="0"/>
                        </a:rPr>
                        <m:t>=</m:t>
                      </m:r>
                      <m:func>
                        <m:funcPr>
                          <m:ctrlPr>
                            <a:rPr lang="en-US" altLang="ja-JP" sz="2400" b="0" i="1" smtClean="0">
                              <a:latin typeface="Cambria Math" panose="02040503050406030204" pitchFamily="18" charset="0"/>
                            </a:rPr>
                          </m:ctrlPr>
                        </m:funcPr>
                        <m:fName>
                          <m:limLow>
                            <m:limLowPr>
                              <m:ctrlPr>
                                <a:rPr lang="en-US" altLang="ja-JP" sz="2400" b="0" i="1" smtClean="0">
                                  <a:latin typeface="Cambria Math" panose="02040503050406030204" pitchFamily="18" charset="0"/>
                                </a:rPr>
                              </m:ctrlPr>
                            </m:limLowPr>
                            <m:e>
                              <m:r>
                                <m:rPr>
                                  <m:sty m:val="p"/>
                                </m:rPr>
                                <a:rPr lang="en-US" altLang="ja-JP" sz="2400" b="0" i="0" smtClean="0">
                                  <a:latin typeface="Cambria Math" panose="02040503050406030204" pitchFamily="18" charset="0"/>
                                </a:rPr>
                                <m:t>lim</m:t>
                              </m:r>
                            </m:e>
                            <m:lim>
                              <m:r>
                                <a:rPr lang="en-US" altLang="ja-JP" sz="2400" b="0" i="1" smtClean="0">
                                  <a:latin typeface="Cambria Math" panose="02040503050406030204" pitchFamily="18" charset="0"/>
                                </a:rPr>
                                <m:t>h</m:t>
                              </m:r>
                              <m:r>
                                <a:rPr lang="ja-JP" altLang="en-US" sz="2400" i="1">
                                  <a:latin typeface="Cambria Math" panose="02040503050406030204" pitchFamily="18" charset="0"/>
                                </a:rPr>
                                <m:t>→</m:t>
                              </m:r>
                              <m:r>
                                <a:rPr lang="en-US" altLang="ja-JP" sz="2400" b="0" i="1" smtClean="0">
                                  <a:latin typeface="Cambria Math" panose="02040503050406030204" pitchFamily="18" charset="0"/>
                                </a:rPr>
                                <m:t>0</m:t>
                              </m:r>
                            </m:lim>
                          </m:limLow>
                        </m:fName>
                        <m:e>
                          <m:f>
                            <m:fPr>
                              <m:ctrlPr>
                                <a:rPr lang="en-US" altLang="ja-JP" sz="2400" b="0" i="1" smtClean="0">
                                  <a:latin typeface="Cambria Math" panose="02040503050406030204" pitchFamily="18" charset="0"/>
                                </a:rPr>
                              </m:ctrlPr>
                            </m:fPr>
                            <m:num>
                              <m:r>
                                <a:rPr lang="en-US" altLang="ja-JP" sz="2400" b="0" i="1" smtClean="0">
                                  <a:solidFill>
                                    <a:srgbClr val="FF0000"/>
                                  </a:solidFill>
                                  <a:latin typeface="Cambria Math" panose="02040503050406030204" pitchFamily="18" charset="0"/>
                                </a:rPr>
                                <m:t>10</m:t>
                              </m:r>
                              <m:r>
                                <a:rPr lang="en-US" altLang="ja-JP" sz="2400" b="0" i="1" smtClean="0">
                                  <a:solidFill>
                                    <a:srgbClr val="FF0000"/>
                                  </a:solidFill>
                                  <a:latin typeface="Cambria Math" panose="02040503050406030204" pitchFamily="18" charset="0"/>
                                </a:rPr>
                                <m:t>𝑡</m:t>
                              </m:r>
                              <m:r>
                                <a:rPr lang="en-US" altLang="ja-JP" sz="2400" b="0" i="1" smtClean="0">
                                  <a:latin typeface="Cambria Math" panose="02040503050406030204" pitchFamily="18" charset="0"/>
                                </a:rPr>
                                <m:t>+10</m:t>
                              </m:r>
                              <m:r>
                                <a:rPr lang="en-US" altLang="ja-JP" sz="2400" b="0" i="1" smtClean="0">
                                  <a:latin typeface="Cambria Math" panose="02040503050406030204" pitchFamily="18" charset="0"/>
                                </a:rPr>
                                <m:t>h</m:t>
                              </m:r>
                              <m:r>
                                <a:rPr lang="en-US" altLang="ja-JP" sz="2400" b="0" i="1" smtClean="0">
                                  <a:solidFill>
                                    <a:srgbClr val="00B050"/>
                                  </a:solidFill>
                                  <a:latin typeface="Cambria Math" panose="02040503050406030204" pitchFamily="18" charset="0"/>
                                </a:rPr>
                                <m:t>−4.9</m:t>
                              </m:r>
                              <m:sSup>
                                <m:sSupPr>
                                  <m:ctrlPr>
                                    <a:rPr lang="en-US" altLang="ja-JP" sz="2400" i="1">
                                      <a:solidFill>
                                        <a:srgbClr val="00B050"/>
                                      </a:solidFill>
                                      <a:latin typeface="Cambria Math" panose="02040503050406030204" pitchFamily="18" charset="0"/>
                                    </a:rPr>
                                  </m:ctrlPr>
                                </m:sSupPr>
                                <m:e>
                                  <m:r>
                                    <a:rPr lang="en-US" altLang="ja-JP" sz="2400" i="1">
                                      <a:solidFill>
                                        <a:srgbClr val="00B050"/>
                                      </a:solidFill>
                                      <a:latin typeface="Cambria Math" panose="02040503050406030204" pitchFamily="18" charset="0"/>
                                    </a:rPr>
                                    <m:t>𝑡</m:t>
                                  </m:r>
                                </m:e>
                                <m:sup>
                                  <m:r>
                                    <a:rPr lang="en-US" altLang="ja-JP" sz="2400" i="1">
                                      <a:solidFill>
                                        <a:srgbClr val="00B050"/>
                                      </a:solidFill>
                                      <a:latin typeface="Cambria Math" panose="02040503050406030204" pitchFamily="18" charset="0"/>
                                    </a:rPr>
                                    <m:t>2</m:t>
                                  </m:r>
                                </m:sup>
                              </m:sSup>
                              <m:r>
                                <a:rPr lang="en-US" altLang="ja-JP" sz="2400" b="0" i="1" smtClean="0">
                                  <a:latin typeface="Cambria Math" panose="02040503050406030204" pitchFamily="18" charset="0"/>
                                </a:rPr>
                                <m:t>−9.8</m:t>
                              </m:r>
                              <m:r>
                                <a:rPr lang="en-US" altLang="ja-JP" sz="2400" b="0" i="1" smtClean="0">
                                  <a:latin typeface="Cambria Math" panose="02040503050406030204" pitchFamily="18" charset="0"/>
                                </a:rPr>
                                <m:t>𝑡h</m:t>
                              </m:r>
                              <m:r>
                                <a:rPr lang="en-US" altLang="ja-JP" sz="2400" b="0" i="1" smtClean="0">
                                  <a:latin typeface="Cambria Math" panose="02040503050406030204" pitchFamily="18" charset="0"/>
                                </a:rPr>
                                <m:t>−4.9</m:t>
                              </m:r>
                              <m:sSup>
                                <m:sSupPr>
                                  <m:ctrlPr>
                                    <a:rPr lang="en-US" altLang="ja-JP" sz="2400" i="1">
                                      <a:latin typeface="Cambria Math" panose="02040503050406030204" pitchFamily="18" charset="0"/>
                                    </a:rPr>
                                  </m:ctrlPr>
                                </m:sSupPr>
                                <m:e>
                                  <m:r>
                                    <a:rPr lang="en-US" altLang="ja-JP" sz="2400" i="1">
                                      <a:latin typeface="Cambria Math" panose="02040503050406030204" pitchFamily="18" charset="0"/>
                                    </a:rPr>
                                    <m:t>h</m:t>
                                  </m:r>
                                </m:e>
                                <m:sup>
                                  <m:r>
                                    <a:rPr lang="en-US" altLang="ja-JP" sz="2400" i="1">
                                      <a:latin typeface="Cambria Math" panose="02040503050406030204" pitchFamily="18" charset="0"/>
                                    </a:rPr>
                                    <m:t>2</m:t>
                                  </m:r>
                                </m:sup>
                              </m:sSup>
                              <m:r>
                                <a:rPr lang="en-US" altLang="ja-JP" sz="2400" b="0" i="1" smtClean="0">
                                  <a:solidFill>
                                    <a:srgbClr val="FF0000"/>
                                  </a:solidFill>
                                  <a:latin typeface="Cambria Math" panose="02040503050406030204" pitchFamily="18" charset="0"/>
                                </a:rPr>
                                <m:t>−10</m:t>
                              </m:r>
                              <m:r>
                                <a:rPr lang="en-US" altLang="ja-JP" sz="2400" b="0" i="1" smtClean="0">
                                  <a:solidFill>
                                    <a:srgbClr val="FF0000"/>
                                  </a:solidFill>
                                  <a:latin typeface="Cambria Math" panose="02040503050406030204" pitchFamily="18" charset="0"/>
                                </a:rPr>
                                <m:t>𝑡</m:t>
                              </m:r>
                              <m:r>
                                <a:rPr lang="en-US" altLang="ja-JP" sz="2400" b="0" i="1" smtClean="0">
                                  <a:solidFill>
                                    <a:srgbClr val="00B050"/>
                                  </a:solidFill>
                                  <a:latin typeface="Cambria Math" panose="02040503050406030204" pitchFamily="18" charset="0"/>
                                </a:rPr>
                                <m:t>+</m:t>
                              </m:r>
                              <m:sSup>
                                <m:sSupPr>
                                  <m:ctrlPr>
                                    <a:rPr lang="en-US" altLang="ja-JP" sz="2400" b="0" i="1" smtClean="0">
                                      <a:solidFill>
                                        <a:srgbClr val="00B050"/>
                                      </a:solidFill>
                                      <a:latin typeface="Cambria Math" panose="02040503050406030204" pitchFamily="18" charset="0"/>
                                    </a:rPr>
                                  </m:ctrlPr>
                                </m:sSupPr>
                                <m:e>
                                  <m:r>
                                    <a:rPr lang="en-US" altLang="ja-JP" sz="2400" b="0" i="1" smtClean="0">
                                      <a:solidFill>
                                        <a:srgbClr val="00B050"/>
                                      </a:solidFill>
                                      <a:latin typeface="Cambria Math" panose="02040503050406030204" pitchFamily="18" charset="0"/>
                                    </a:rPr>
                                    <m:t>4.9</m:t>
                                  </m:r>
                                  <m:r>
                                    <a:rPr lang="en-US" altLang="ja-JP" sz="2400" b="0" i="1" smtClean="0">
                                      <a:solidFill>
                                        <a:srgbClr val="00B050"/>
                                      </a:solidFill>
                                      <a:latin typeface="Cambria Math" panose="02040503050406030204" pitchFamily="18" charset="0"/>
                                    </a:rPr>
                                    <m:t>𝑡</m:t>
                                  </m:r>
                                </m:e>
                                <m:sup>
                                  <m:r>
                                    <a:rPr lang="en-US" altLang="ja-JP" sz="2400" b="0" i="1" smtClean="0">
                                      <a:solidFill>
                                        <a:srgbClr val="00B050"/>
                                      </a:solidFill>
                                      <a:latin typeface="Cambria Math" panose="02040503050406030204" pitchFamily="18" charset="0"/>
                                    </a:rPr>
                                    <m:t>2</m:t>
                                  </m:r>
                                </m:sup>
                              </m:sSup>
                            </m:num>
                            <m:den>
                              <m:r>
                                <a:rPr lang="en-US" altLang="ja-JP" sz="2400" b="0" i="1" smtClean="0">
                                  <a:latin typeface="Cambria Math" panose="02040503050406030204" pitchFamily="18" charset="0"/>
                                </a:rPr>
                                <m:t>h</m:t>
                              </m:r>
                            </m:den>
                          </m:f>
                        </m:e>
                      </m:func>
                    </m:oMath>
                  </m:oMathPara>
                </a14:m>
                <a:endParaRPr lang="en-US" altLang="ja-JP" sz="2400" dirty="0"/>
              </a:p>
              <a:p>
                <a:pPr/>
                <a14:m>
                  <m:oMathPara xmlns:m="http://schemas.openxmlformats.org/officeDocument/2006/math">
                    <m:oMathParaPr>
                      <m:jc m:val="left"/>
                    </m:oMathParaPr>
                    <m:oMath xmlns:m="http://schemas.openxmlformats.org/officeDocument/2006/math">
                      <m:sSup>
                        <m:sSupPr>
                          <m:ctrlPr>
                            <a:rPr lang="en-US" altLang="ja-JP" sz="2400" b="0" i="1" smtClean="0">
                              <a:latin typeface="Cambria Math" panose="02040503050406030204" pitchFamily="18" charset="0"/>
                            </a:rPr>
                          </m:ctrlPr>
                        </m:sSupPr>
                        <m:e>
                          <m:r>
                            <a:rPr lang="en-US" altLang="ja-JP" sz="2400" b="0" i="1" smtClean="0">
                              <a:latin typeface="Cambria Math" panose="02040503050406030204" pitchFamily="18" charset="0"/>
                            </a:rPr>
                            <m:t>𝑓</m:t>
                          </m:r>
                        </m:e>
                        <m:sup>
                          <m:r>
                            <a:rPr lang="en-US" altLang="ja-JP" sz="2400" b="0" i="1" smtClean="0">
                              <a:latin typeface="Cambria Math" panose="02040503050406030204" pitchFamily="18" charset="0"/>
                            </a:rPr>
                            <m:t>′</m:t>
                          </m:r>
                        </m:sup>
                      </m:sSup>
                      <m:d>
                        <m:dPr>
                          <m:ctrlPr>
                            <a:rPr lang="en-US" altLang="ja-JP" sz="2400" b="0" i="1" smtClean="0">
                              <a:latin typeface="Cambria Math" panose="02040503050406030204" pitchFamily="18" charset="0"/>
                            </a:rPr>
                          </m:ctrlPr>
                        </m:dPr>
                        <m:e>
                          <m:r>
                            <a:rPr lang="en-US" altLang="ja-JP" sz="2400" b="0" i="1" smtClean="0">
                              <a:latin typeface="Cambria Math" panose="02040503050406030204" pitchFamily="18" charset="0"/>
                            </a:rPr>
                            <m:t>𝑡</m:t>
                          </m:r>
                        </m:e>
                      </m:d>
                      <m:r>
                        <a:rPr lang="en-US" altLang="ja-JP" sz="2400" b="0" i="1" smtClean="0">
                          <a:latin typeface="Cambria Math" panose="02040503050406030204" pitchFamily="18" charset="0"/>
                        </a:rPr>
                        <m:t>=</m:t>
                      </m:r>
                      <m:func>
                        <m:funcPr>
                          <m:ctrlPr>
                            <a:rPr lang="en-US" altLang="ja-JP" sz="2400" b="0" i="1" smtClean="0">
                              <a:latin typeface="Cambria Math" panose="02040503050406030204" pitchFamily="18" charset="0"/>
                            </a:rPr>
                          </m:ctrlPr>
                        </m:funcPr>
                        <m:fName>
                          <m:limLow>
                            <m:limLowPr>
                              <m:ctrlPr>
                                <a:rPr lang="en-US" altLang="ja-JP" sz="2400" b="0" i="1" smtClean="0">
                                  <a:latin typeface="Cambria Math" panose="02040503050406030204" pitchFamily="18" charset="0"/>
                                </a:rPr>
                              </m:ctrlPr>
                            </m:limLowPr>
                            <m:e>
                              <m:r>
                                <m:rPr>
                                  <m:sty m:val="p"/>
                                </m:rPr>
                                <a:rPr lang="en-US" altLang="ja-JP" sz="2400" b="0" i="0" smtClean="0">
                                  <a:latin typeface="Cambria Math" panose="02040503050406030204" pitchFamily="18" charset="0"/>
                                </a:rPr>
                                <m:t>lim</m:t>
                              </m:r>
                            </m:e>
                            <m:lim>
                              <m:r>
                                <a:rPr lang="en-US" altLang="ja-JP" sz="2400" b="0" i="1" smtClean="0">
                                  <a:latin typeface="Cambria Math" panose="02040503050406030204" pitchFamily="18" charset="0"/>
                                </a:rPr>
                                <m:t>h</m:t>
                              </m:r>
                              <m:r>
                                <a:rPr lang="ja-JP" altLang="en-US" sz="2400" i="1">
                                  <a:latin typeface="Cambria Math" panose="02040503050406030204" pitchFamily="18" charset="0"/>
                                </a:rPr>
                                <m:t>→</m:t>
                              </m:r>
                              <m:r>
                                <a:rPr lang="en-US" altLang="ja-JP" sz="2400" b="0" i="1" smtClean="0">
                                  <a:latin typeface="Cambria Math" panose="02040503050406030204" pitchFamily="18" charset="0"/>
                                </a:rPr>
                                <m:t>0</m:t>
                              </m:r>
                            </m:lim>
                          </m:limLow>
                        </m:fName>
                        <m:e>
                          <m:f>
                            <m:fPr>
                              <m:ctrlPr>
                                <a:rPr lang="en-US" altLang="ja-JP" sz="2400" b="0" i="1" smtClean="0">
                                  <a:latin typeface="Cambria Math" panose="02040503050406030204" pitchFamily="18" charset="0"/>
                                </a:rPr>
                              </m:ctrlPr>
                            </m:fPr>
                            <m:num>
                              <m:r>
                                <a:rPr lang="en-US" altLang="ja-JP" sz="2400" i="1">
                                  <a:latin typeface="Cambria Math" panose="02040503050406030204" pitchFamily="18" charset="0"/>
                                </a:rPr>
                                <m:t>10</m:t>
                              </m:r>
                              <m:r>
                                <a:rPr lang="en-US" altLang="ja-JP" sz="2400" i="1">
                                  <a:latin typeface="Cambria Math" panose="02040503050406030204" pitchFamily="18" charset="0"/>
                                </a:rPr>
                                <m:t>h</m:t>
                              </m:r>
                              <m:r>
                                <a:rPr lang="en-US" altLang="ja-JP" sz="2400" i="1">
                                  <a:latin typeface="Cambria Math" panose="02040503050406030204" pitchFamily="18" charset="0"/>
                                </a:rPr>
                                <m:t>−9.8</m:t>
                              </m:r>
                              <m:r>
                                <a:rPr lang="en-US" altLang="ja-JP" sz="2400" i="1">
                                  <a:latin typeface="Cambria Math" panose="02040503050406030204" pitchFamily="18" charset="0"/>
                                </a:rPr>
                                <m:t>𝑡h</m:t>
                              </m:r>
                              <m:r>
                                <a:rPr lang="en-US" altLang="ja-JP" sz="2400" i="1">
                                  <a:latin typeface="Cambria Math" panose="02040503050406030204" pitchFamily="18" charset="0"/>
                                </a:rPr>
                                <m:t>−4.9</m:t>
                              </m:r>
                              <m:sSup>
                                <m:sSupPr>
                                  <m:ctrlPr>
                                    <a:rPr lang="en-US" altLang="ja-JP" sz="2400" i="1">
                                      <a:latin typeface="Cambria Math" panose="02040503050406030204" pitchFamily="18" charset="0"/>
                                    </a:rPr>
                                  </m:ctrlPr>
                                </m:sSupPr>
                                <m:e>
                                  <m:r>
                                    <a:rPr lang="en-US" altLang="ja-JP" sz="2400" i="1">
                                      <a:latin typeface="Cambria Math" panose="02040503050406030204" pitchFamily="18" charset="0"/>
                                    </a:rPr>
                                    <m:t>h</m:t>
                                  </m:r>
                                </m:e>
                                <m:sup>
                                  <m:r>
                                    <a:rPr lang="en-US" altLang="ja-JP" sz="2400" i="1">
                                      <a:latin typeface="Cambria Math" panose="02040503050406030204" pitchFamily="18" charset="0"/>
                                    </a:rPr>
                                    <m:t>2</m:t>
                                  </m:r>
                                </m:sup>
                              </m:sSup>
                            </m:num>
                            <m:den>
                              <m:r>
                                <a:rPr lang="en-US" altLang="ja-JP" sz="2400" b="0" i="1" smtClean="0">
                                  <a:latin typeface="Cambria Math" panose="02040503050406030204" pitchFamily="18" charset="0"/>
                                </a:rPr>
                                <m:t>h</m:t>
                              </m:r>
                            </m:den>
                          </m:f>
                          <m:r>
                            <a:rPr lang="en-US" altLang="ja-JP" sz="2400" b="0" i="1" smtClean="0">
                              <a:latin typeface="Cambria Math" panose="02040503050406030204" pitchFamily="18" charset="0"/>
                            </a:rPr>
                            <m:t>=</m:t>
                          </m:r>
                          <m:r>
                            <a:rPr lang="en-US" altLang="ja-JP" sz="2400" i="1">
                              <a:latin typeface="Cambria Math" panose="02040503050406030204" pitchFamily="18" charset="0"/>
                            </a:rPr>
                            <m:t>10−9.8</m:t>
                          </m:r>
                          <m:r>
                            <a:rPr lang="en-US" altLang="ja-JP" sz="2400" i="1">
                              <a:latin typeface="Cambria Math" panose="02040503050406030204" pitchFamily="18" charset="0"/>
                            </a:rPr>
                            <m:t>𝑡</m:t>
                          </m:r>
                          <m:r>
                            <a:rPr lang="en-US" altLang="ja-JP" sz="2400" i="1">
                              <a:latin typeface="Cambria Math" panose="02040503050406030204" pitchFamily="18" charset="0"/>
                            </a:rPr>
                            <m:t>−4.9</m:t>
                          </m:r>
                          <m:r>
                            <a:rPr lang="en-US" altLang="ja-JP" sz="2400" b="0" i="1" smtClean="0">
                              <a:latin typeface="Cambria Math" panose="02040503050406030204" pitchFamily="18" charset="0"/>
                            </a:rPr>
                            <m:t>h</m:t>
                          </m:r>
                        </m:e>
                      </m:func>
                    </m:oMath>
                  </m:oMathPara>
                </a14:m>
                <a:endParaRPr lang="en-US" altLang="ja-JP" sz="2400" dirty="0"/>
              </a:p>
              <a:p>
                <a:pPr/>
                <a14:m>
                  <m:oMathPara xmlns:m="http://schemas.openxmlformats.org/officeDocument/2006/math">
                    <m:oMathParaPr>
                      <m:jc m:val="left"/>
                    </m:oMathParaPr>
                    <m:oMath xmlns:m="http://schemas.openxmlformats.org/officeDocument/2006/math">
                      <m:sSup>
                        <m:sSupPr>
                          <m:ctrlPr>
                            <a:rPr lang="en-US" altLang="ja-JP" sz="2400" b="0" i="1" smtClean="0">
                              <a:latin typeface="Cambria Math" panose="02040503050406030204" pitchFamily="18" charset="0"/>
                            </a:rPr>
                          </m:ctrlPr>
                        </m:sSupPr>
                        <m:e>
                          <m:r>
                            <a:rPr lang="en-US" altLang="ja-JP" sz="2400" b="0" i="1" smtClean="0">
                              <a:latin typeface="Cambria Math" panose="02040503050406030204" pitchFamily="18" charset="0"/>
                            </a:rPr>
                            <m:t>𝑓</m:t>
                          </m:r>
                        </m:e>
                        <m:sup>
                          <m:r>
                            <a:rPr lang="en-US" altLang="ja-JP" sz="2400" b="0" i="1" smtClean="0">
                              <a:latin typeface="Cambria Math" panose="02040503050406030204" pitchFamily="18" charset="0"/>
                            </a:rPr>
                            <m:t>′</m:t>
                          </m:r>
                        </m:sup>
                      </m:sSup>
                      <m:d>
                        <m:dPr>
                          <m:ctrlPr>
                            <a:rPr lang="en-US" altLang="ja-JP" sz="2400" b="0" i="1" smtClean="0">
                              <a:latin typeface="Cambria Math" panose="02040503050406030204" pitchFamily="18" charset="0"/>
                            </a:rPr>
                          </m:ctrlPr>
                        </m:dPr>
                        <m:e>
                          <m:r>
                            <a:rPr lang="en-US" altLang="ja-JP" sz="2400" b="0" i="1" smtClean="0">
                              <a:latin typeface="Cambria Math" panose="02040503050406030204" pitchFamily="18" charset="0"/>
                            </a:rPr>
                            <m:t>𝑡</m:t>
                          </m:r>
                        </m:e>
                      </m:d>
                      <m:r>
                        <a:rPr lang="en-US" altLang="ja-JP" sz="2400" b="0" i="1" smtClean="0">
                          <a:latin typeface="Cambria Math" panose="02040503050406030204" pitchFamily="18" charset="0"/>
                        </a:rPr>
                        <m:t>=10−9.8</m:t>
                      </m:r>
                      <m:r>
                        <a:rPr lang="en-US" altLang="ja-JP" sz="2400" b="0" i="1" smtClean="0">
                          <a:latin typeface="Cambria Math" panose="02040503050406030204" pitchFamily="18" charset="0"/>
                        </a:rPr>
                        <m:t>𝑡</m:t>
                      </m:r>
                    </m:oMath>
                  </m:oMathPara>
                </a14:m>
                <a:endParaRPr lang="en-US" altLang="ja-JP" sz="2400" dirty="0"/>
              </a:p>
            </p:txBody>
          </p:sp>
        </mc:Choice>
        <mc:Fallback xmlns="">
          <p:sp>
            <p:nvSpPr>
              <p:cNvPr id="6" name="テキスト ボックス 5">
                <a:extLst>
                  <a:ext uri="{FF2B5EF4-FFF2-40B4-BE49-F238E27FC236}">
                    <a16:creationId xmlns:a16="http://schemas.microsoft.com/office/drawing/2014/main" id="{55830AD6-028B-4C4E-80BF-B70DFC1C3A46}"/>
                  </a:ext>
                </a:extLst>
              </p:cNvPr>
              <p:cNvSpPr txBox="1">
                <a:spLocks noRot="1" noChangeAspect="1" noMove="1" noResize="1" noEditPoints="1" noAdjustHandles="1" noChangeArrowheads="1" noChangeShapeType="1" noTextEdit="1"/>
              </p:cNvSpPr>
              <p:nvPr/>
            </p:nvSpPr>
            <p:spPr>
              <a:xfrm>
                <a:off x="567542" y="1216429"/>
                <a:ext cx="10891636" cy="5620128"/>
              </a:xfrm>
              <a:prstGeom prst="rect">
                <a:avLst/>
              </a:prstGeom>
              <a:blipFill>
                <a:blip r:embed="rId2"/>
                <a:stretch>
                  <a:fillRect l="-839" t="-869" b="-543"/>
                </a:stretch>
              </a:blipFill>
            </p:spPr>
            <p:txBody>
              <a:bodyPr/>
              <a:lstStyle/>
              <a:p>
                <a:r>
                  <a:rPr lang="ja-JP" altLang="en-US">
                    <a:noFill/>
                  </a:rPr>
                  <a:t> </a:t>
                </a:r>
              </a:p>
            </p:txBody>
          </p:sp>
        </mc:Fallback>
      </mc:AlternateContent>
    </p:spTree>
    <p:extLst>
      <p:ext uri="{BB962C8B-B14F-4D97-AF65-F5344CB8AC3E}">
        <p14:creationId xmlns:p14="http://schemas.microsoft.com/office/powerpoint/2010/main" val="1726915242"/>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テキスト ボックス 3">
            <a:extLst>
              <a:ext uri="{FF2B5EF4-FFF2-40B4-BE49-F238E27FC236}">
                <a16:creationId xmlns:a16="http://schemas.microsoft.com/office/drawing/2014/main" id="{5A13BF46-B8C5-48AA-8308-C9ECFF431A18}"/>
              </a:ext>
            </a:extLst>
          </p:cNvPr>
          <p:cNvSpPr txBox="1"/>
          <p:nvPr/>
        </p:nvSpPr>
        <p:spPr>
          <a:xfrm>
            <a:off x="567542" y="491954"/>
            <a:ext cx="5461752" cy="584775"/>
          </a:xfrm>
          <a:prstGeom prst="rect">
            <a:avLst/>
          </a:prstGeom>
          <a:noFill/>
        </p:spPr>
        <p:txBody>
          <a:bodyPr wrap="none" rtlCol="0">
            <a:spAutoFit/>
          </a:bodyPr>
          <a:lstStyle/>
          <a:p>
            <a:r>
              <a:rPr kumimoji="1" lang="en-US" altLang="ja-JP" sz="3200" b="1" u="sng" dirty="0"/>
              <a:t>2</a:t>
            </a:r>
            <a:r>
              <a:rPr kumimoji="1" lang="ja-JP" altLang="en-US" sz="3200" b="1" u="sng" dirty="0"/>
              <a:t>次導関数と瞬間加速度 例題</a:t>
            </a:r>
            <a:endParaRPr kumimoji="1" lang="en-US" altLang="ja-JP" sz="3200" b="1" u="sng" dirty="0"/>
          </a:p>
        </p:txBody>
      </p:sp>
      <mc:AlternateContent xmlns:mc="http://schemas.openxmlformats.org/markup-compatibility/2006" xmlns:a14="http://schemas.microsoft.com/office/drawing/2010/main">
        <mc:Choice Requires="a14">
          <p:sp>
            <p:nvSpPr>
              <p:cNvPr id="6" name="テキスト ボックス 5">
                <a:extLst>
                  <a:ext uri="{FF2B5EF4-FFF2-40B4-BE49-F238E27FC236}">
                    <a16:creationId xmlns:a16="http://schemas.microsoft.com/office/drawing/2014/main" id="{55830AD6-028B-4C4E-80BF-B70DFC1C3A46}"/>
                  </a:ext>
                </a:extLst>
              </p:cNvPr>
              <p:cNvSpPr txBox="1"/>
              <p:nvPr/>
            </p:nvSpPr>
            <p:spPr>
              <a:xfrm>
                <a:off x="567542" y="1216429"/>
                <a:ext cx="10891636" cy="4780091"/>
              </a:xfrm>
              <a:prstGeom prst="rect">
                <a:avLst/>
              </a:prstGeom>
              <a:noFill/>
            </p:spPr>
            <p:txBody>
              <a:bodyPr wrap="none" rtlCol="0">
                <a:spAutoFit/>
              </a:bodyPr>
              <a:lstStyle/>
              <a:p>
                <a:r>
                  <a:rPr lang="ja-JP" altLang="en-US" sz="2400" dirty="0"/>
                  <a:t>ボールを真上に投げた時の</a:t>
                </a:r>
                <a:r>
                  <a:rPr lang="ja-JP" altLang="en-US" sz="2400" b="1" dirty="0">
                    <a:solidFill>
                      <a:srgbClr val="FF0000"/>
                    </a:solidFill>
                  </a:rPr>
                  <a:t>位置と時間の関数</a:t>
                </a:r>
                <a:r>
                  <a:rPr lang="ja-JP" altLang="en-US" sz="2400" dirty="0"/>
                  <a:t>を、</a:t>
                </a:r>
                <a:endParaRPr lang="en-US" altLang="ja-JP" sz="2400" dirty="0"/>
              </a:p>
              <a:p>
                <a14:m>
                  <m:oMath xmlns:m="http://schemas.openxmlformats.org/officeDocument/2006/math">
                    <m:r>
                      <a:rPr lang="en-US" altLang="ja-JP" sz="2400" b="0" i="1" smtClean="0">
                        <a:latin typeface="Cambria Math" panose="02040503050406030204" pitchFamily="18" charset="0"/>
                      </a:rPr>
                      <m:t>𝑦</m:t>
                    </m:r>
                    <m:r>
                      <a:rPr lang="en-US" altLang="ja-JP" sz="2400" b="0" i="1" smtClean="0">
                        <a:latin typeface="Cambria Math" panose="02040503050406030204" pitchFamily="18" charset="0"/>
                      </a:rPr>
                      <m:t>=</m:t>
                    </m:r>
                    <m:r>
                      <a:rPr lang="en-US" altLang="ja-JP" sz="2400" b="0" i="1" smtClean="0">
                        <a:latin typeface="Cambria Math" panose="02040503050406030204" pitchFamily="18" charset="0"/>
                      </a:rPr>
                      <m:t>𝑓</m:t>
                    </m:r>
                    <m:d>
                      <m:dPr>
                        <m:ctrlPr>
                          <a:rPr lang="en-US" altLang="ja-JP" sz="2400" b="0" i="1" smtClean="0">
                            <a:latin typeface="Cambria Math" panose="02040503050406030204" pitchFamily="18" charset="0"/>
                          </a:rPr>
                        </m:ctrlPr>
                      </m:dPr>
                      <m:e>
                        <m:r>
                          <a:rPr lang="en-US" altLang="ja-JP" sz="2400" b="0" i="1" smtClean="0">
                            <a:latin typeface="Cambria Math" panose="02040503050406030204" pitchFamily="18" charset="0"/>
                          </a:rPr>
                          <m:t>𝑡</m:t>
                        </m:r>
                      </m:e>
                    </m:d>
                    <m:r>
                      <a:rPr lang="en-US" altLang="ja-JP" sz="2400" b="0" i="1" smtClean="0">
                        <a:latin typeface="Cambria Math" panose="02040503050406030204" pitchFamily="18" charset="0"/>
                      </a:rPr>
                      <m:t>=10</m:t>
                    </m:r>
                    <m:r>
                      <a:rPr lang="en-US" altLang="ja-JP" sz="2400" b="0" i="1" smtClean="0">
                        <a:latin typeface="Cambria Math" panose="02040503050406030204" pitchFamily="18" charset="0"/>
                      </a:rPr>
                      <m:t>𝑡</m:t>
                    </m:r>
                    <m:r>
                      <a:rPr lang="en-US" altLang="ja-JP" sz="2400" b="0" i="1" smtClean="0">
                        <a:latin typeface="Cambria Math" panose="02040503050406030204" pitchFamily="18" charset="0"/>
                      </a:rPr>
                      <m:t>−4.9</m:t>
                    </m:r>
                    <m:sSup>
                      <m:sSupPr>
                        <m:ctrlPr>
                          <a:rPr lang="en-US" altLang="ja-JP" sz="2400" b="0" i="1" smtClean="0">
                            <a:latin typeface="Cambria Math" panose="02040503050406030204" pitchFamily="18" charset="0"/>
                          </a:rPr>
                        </m:ctrlPr>
                      </m:sSupPr>
                      <m:e>
                        <m:r>
                          <a:rPr lang="en-US" altLang="ja-JP" sz="2400" b="0" i="1" smtClean="0">
                            <a:latin typeface="Cambria Math" panose="02040503050406030204" pitchFamily="18" charset="0"/>
                          </a:rPr>
                          <m:t>𝑡</m:t>
                        </m:r>
                      </m:e>
                      <m:sup>
                        <m:r>
                          <a:rPr lang="en-US" altLang="ja-JP" sz="2400" b="0" i="1" smtClean="0">
                            <a:latin typeface="Cambria Math" panose="02040503050406030204" pitchFamily="18" charset="0"/>
                          </a:rPr>
                          <m:t>2</m:t>
                        </m:r>
                      </m:sup>
                    </m:sSup>
                  </m:oMath>
                </a14:m>
                <a:r>
                  <a:rPr lang="en-US" altLang="ja-JP" sz="2400" dirty="0"/>
                  <a:t> </a:t>
                </a:r>
                <a:r>
                  <a:rPr lang="ja-JP" altLang="en-US" sz="2400" dirty="0"/>
                  <a:t>としたとき、</a:t>
                </a:r>
                <a:r>
                  <a:rPr lang="en-US" altLang="ja-JP" sz="2400" dirty="0"/>
                  <a:t> </a:t>
                </a:r>
                <a14:m>
                  <m:oMath xmlns:m="http://schemas.openxmlformats.org/officeDocument/2006/math">
                    <m:r>
                      <a:rPr lang="en-US" altLang="ja-JP" sz="2400" i="1">
                        <a:latin typeface="Cambria Math" panose="02040503050406030204" pitchFamily="18" charset="0"/>
                      </a:rPr>
                      <m:t>𝑡</m:t>
                    </m:r>
                    <m:r>
                      <a:rPr lang="en-US" altLang="ja-JP" sz="2400" b="0" i="1" smtClean="0">
                        <a:latin typeface="Cambria Math" panose="02040503050406030204" pitchFamily="18" charset="0"/>
                      </a:rPr>
                      <m:t>=2</m:t>
                    </m:r>
                  </m:oMath>
                </a14:m>
                <a:r>
                  <a:rPr lang="ja-JP" altLang="en-US" sz="2400"/>
                  <a:t>における瞬間加速度を</a:t>
                </a:r>
                <a:r>
                  <a:rPr lang="ja-JP" altLang="en-US" sz="2400" dirty="0"/>
                  <a:t>求めなさい。</a:t>
                </a:r>
                <a:endParaRPr lang="en-US" altLang="ja-JP" sz="2400" dirty="0"/>
              </a:p>
              <a:p>
                <a:endParaRPr lang="en-US" altLang="ja-JP" sz="2400" dirty="0"/>
              </a:p>
              <a:p>
                <a:r>
                  <a:rPr lang="ja-JP" altLang="en-US" sz="2400" b="1" dirty="0">
                    <a:solidFill>
                      <a:srgbClr val="FF0000"/>
                    </a:solidFill>
                  </a:rPr>
                  <a:t>■解答</a:t>
                </a:r>
                <a:endParaRPr lang="en-US" altLang="ja-JP" sz="2400" b="1" dirty="0">
                  <a:solidFill>
                    <a:srgbClr val="FF0000"/>
                  </a:solidFill>
                </a:endParaRPr>
              </a:p>
              <a:p>
                <a14:m>
                  <m:oMath xmlns:m="http://schemas.openxmlformats.org/officeDocument/2006/math">
                    <m:sSup>
                      <m:sSupPr>
                        <m:ctrlPr>
                          <a:rPr lang="en-US" altLang="ja-JP" sz="2400" b="0" i="1" smtClean="0">
                            <a:latin typeface="Cambria Math" panose="02040503050406030204" pitchFamily="18" charset="0"/>
                          </a:rPr>
                        </m:ctrlPr>
                      </m:sSupPr>
                      <m:e>
                        <m:r>
                          <a:rPr lang="en-US" altLang="ja-JP" sz="2400" b="0" i="1" smtClean="0">
                            <a:latin typeface="Cambria Math" panose="02040503050406030204" pitchFamily="18" charset="0"/>
                          </a:rPr>
                          <m:t>𝑓</m:t>
                        </m:r>
                      </m:e>
                      <m:sup>
                        <m:r>
                          <a:rPr lang="en-US" altLang="ja-JP" sz="2400" b="0" i="1" smtClean="0">
                            <a:latin typeface="Cambria Math" panose="02040503050406030204" pitchFamily="18" charset="0"/>
                          </a:rPr>
                          <m:t>′</m:t>
                        </m:r>
                      </m:sup>
                    </m:sSup>
                    <m:d>
                      <m:dPr>
                        <m:ctrlPr>
                          <a:rPr lang="en-US" altLang="ja-JP" sz="2400" b="0" i="1" smtClean="0">
                            <a:latin typeface="Cambria Math" panose="02040503050406030204" pitchFamily="18" charset="0"/>
                          </a:rPr>
                        </m:ctrlPr>
                      </m:dPr>
                      <m:e>
                        <m:r>
                          <a:rPr lang="en-US" altLang="ja-JP" sz="2400" b="0" i="1" smtClean="0">
                            <a:latin typeface="Cambria Math" panose="02040503050406030204" pitchFamily="18" charset="0"/>
                          </a:rPr>
                          <m:t>𝑡</m:t>
                        </m:r>
                      </m:e>
                    </m:d>
                    <m:r>
                      <a:rPr lang="en-US" altLang="ja-JP" sz="2400" b="0" i="1" smtClean="0">
                        <a:latin typeface="Cambria Math" panose="02040503050406030204" pitchFamily="18" charset="0"/>
                      </a:rPr>
                      <m:t>=10−9.8</m:t>
                    </m:r>
                    <m:r>
                      <a:rPr lang="en-US" altLang="ja-JP" sz="2400" b="0" i="1" smtClean="0">
                        <a:latin typeface="Cambria Math" panose="02040503050406030204" pitchFamily="18" charset="0"/>
                      </a:rPr>
                      <m:t>𝑡</m:t>
                    </m:r>
                  </m:oMath>
                </a14:m>
                <a:r>
                  <a:rPr lang="ja-JP" altLang="en-US" sz="2400" dirty="0"/>
                  <a:t>よりもう一度導関数を計算する。</a:t>
                </a:r>
                <a:endParaRPr lang="en-US" altLang="ja-JP" sz="2400" b="1" dirty="0">
                  <a:solidFill>
                    <a:srgbClr val="FF0000"/>
                  </a:solidFill>
                </a:endParaRPr>
              </a:p>
              <a:p>
                <a:pPr/>
                <a14:m>
                  <m:oMathPara xmlns:m="http://schemas.openxmlformats.org/officeDocument/2006/math">
                    <m:oMathParaPr>
                      <m:jc m:val="left"/>
                    </m:oMathParaPr>
                    <m:oMath xmlns:m="http://schemas.openxmlformats.org/officeDocument/2006/math">
                      <m:sSup>
                        <m:sSupPr>
                          <m:ctrlPr>
                            <a:rPr lang="en-US" altLang="ja-JP" sz="2400" b="0" i="1" smtClean="0">
                              <a:latin typeface="Cambria Math" panose="02040503050406030204" pitchFamily="18" charset="0"/>
                            </a:rPr>
                          </m:ctrlPr>
                        </m:sSupPr>
                        <m:e>
                          <m:r>
                            <a:rPr lang="en-US" altLang="ja-JP" sz="2400" b="0" i="1" smtClean="0">
                              <a:latin typeface="Cambria Math" panose="02040503050406030204" pitchFamily="18" charset="0"/>
                            </a:rPr>
                            <m:t>𝑓</m:t>
                          </m:r>
                        </m:e>
                        <m:sup>
                          <m:r>
                            <a:rPr lang="en-US" altLang="ja-JP" sz="2400" b="0" i="1" smtClean="0">
                              <a:latin typeface="Cambria Math" panose="02040503050406030204" pitchFamily="18" charset="0"/>
                            </a:rPr>
                            <m:t>′′</m:t>
                          </m:r>
                        </m:sup>
                      </m:sSup>
                      <m:d>
                        <m:dPr>
                          <m:ctrlPr>
                            <a:rPr lang="en-US" altLang="ja-JP" sz="2400" b="0" i="1" smtClean="0">
                              <a:latin typeface="Cambria Math" panose="02040503050406030204" pitchFamily="18" charset="0"/>
                            </a:rPr>
                          </m:ctrlPr>
                        </m:dPr>
                        <m:e>
                          <m:r>
                            <a:rPr lang="en-US" altLang="ja-JP" sz="2400" b="0" i="1" smtClean="0">
                              <a:latin typeface="Cambria Math" panose="02040503050406030204" pitchFamily="18" charset="0"/>
                            </a:rPr>
                            <m:t>𝑡</m:t>
                          </m:r>
                        </m:e>
                      </m:d>
                      <m:r>
                        <a:rPr lang="en-US" altLang="ja-JP" sz="2400" b="0" i="1" smtClean="0">
                          <a:latin typeface="Cambria Math" panose="02040503050406030204" pitchFamily="18" charset="0"/>
                        </a:rPr>
                        <m:t>=</m:t>
                      </m:r>
                      <m:func>
                        <m:funcPr>
                          <m:ctrlPr>
                            <a:rPr lang="en-US" altLang="ja-JP" sz="2400" b="0" i="1" smtClean="0">
                              <a:latin typeface="Cambria Math" panose="02040503050406030204" pitchFamily="18" charset="0"/>
                            </a:rPr>
                          </m:ctrlPr>
                        </m:funcPr>
                        <m:fName>
                          <m:limLow>
                            <m:limLowPr>
                              <m:ctrlPr>
                                <a:rPr lang="en-US" altLang="ja-JP" sz="2400" b="0" i="1" smtClean="0">
                                  <a:latin typeface="Cambria Math" panose="02040503050406030204" pitchFamily="18" charset="0"/>
                                </a:rPr>
                              </m:ctrlPr>
                            </m:limLowPr>
                            <m:e>
                              <m:r>
                                <m:rPr>
                                  <m:sty m:val="p"/>
                                </m:rPr>
                                <a:rPr lang="en-US" altLang="ja-JP" sz="2400" b="0" i="0" smtClean="0">
                                  <a:latin typeface="Cambria Math" panose="02040503050406030204" pitchFamily="18" charset="0"/>
                                </a:rPr>
                                <m:t>lim</m:t>
                              </m:r>
                            </m:e>
                            <m:lim>
                              <m:r>
                                <a:rPr lang="en-US" altLang="ja-JP" sz="2400" b="0" i="1" smtClean="0">
                                  <a:latin typeface="Cambria Math" panose="02040503050406030204" pitchFamily="18" charset="0"/>
                                </a:rPr>
                                <m:t>h</m:t>
                              </m:r>
                              <m:r>
                                <a:rPr lang="ja-JP" altLang="en-US" sz="2400" i="1">
                                  <a:latin typeface="Cambria Math" panose="02040503050406030204" pitchFamily="18" charset="0"/>
                                </a:rPr>
                                <m:t>→</m:t>
                              </m:r>
                              <m:r>
                                <a:rPr lang="en-US" altLang="ja-JP" sz="2400" b="0" i="1" smtClean="0">
                                  <a:latin typeface="Cambria Math" panose="02040503050406030204" pitchFamily="18" charset="0"/>
                                </a:rPr>
                                <m:t>0</m:t>
                              </m:r>
                            </m:lim>
                          </m:limLow>
                        </m:fName>
                        <m:e>
                          <m:f>
                            <m:fPr>
                              <m:ctrlPr>
                                <a:rPr lang="en-US" altLang="ja-JP" sz="2400" b="0" i="1" smtClean="0">
                                  <a:latin typeface="Cambria Math" panose="02040503050406030204" pitchFamily="18" charset="0"/>
                                </a:rPr>
                              </m:ctrlPr>
                            </m:fPr>
                            <m:num>
                              <m:r>
                                <a:rPr lang="en-US" altLang="ja-JP" sz="2400" b="0" i="1" smtClean="0">
                                  <a:latin typeface="Cambria Math" panose="02040503050406030204" pitchFamily="18" charset="0"/>
                                </a:rPr>
                                <m:t>𝑓</m:t>
                              </m:r>
                              <m:r>
                                <a:rPr lang="en-US" altLang="ja-JP" sz="2400" b="0" i="1" smtClean="0">
                                  <a:latin typeface="Cambria Math" panose="02040503050406030204" pitchFamily="18" charset="0"/>
                                </a:rPr>
                                <m:t>′</m:t>
                              </m:r>
                              <m:d>
                                <m:dPr>
                                  <m:ctrlPr>
                                    <a:rPr lang="en-US" altLang="ja-JP" sz="2400" b="0" i="1" smtClean="0">
                                      <a:latin typeface="Cambria Math" panose="02040503050406030204" pitchFamily="18" charset="0"/>
                                    </a:rPr>
                                  </m:ctrlPr>
                                </m:dPr>
                                <m:e>
                                  <m:r>
                                    <a:rPr lang="en-US" altLang="ja-JP" sz="2400" b="0" i="1" smtClean="0">
                                      <a:latin typeface="Cambria Math" panose="02040503050406030204" pitchFamily="18" charset="0"/>
                                    </a:rPr>
                                    <m:t>𝑡</m:t>
                                  </m:r>
                                  <m:r>
                                    <a:rPr lang="en-US" altLang="ja-JP" sz="2400" b="0" i="1" smtClean="0">
                                      <a:latin typeface="Cambria Math" panose="02040503050406030204" pitchFamily="18" charset="0"/>
                                    </a:rPr>
                                    <m:t>+</m:t>
                                  </m:r>
                                  <m:r>
                                    <a:rPr lang="en-US" altLang="ja-JP" sz="2400" b="0" i="1" smtClean="0">
                                      <a:latin typeface="Cambria Math" panose="02040503050406030204" pitchFamily="18" charset="0"/>
                                    </a:rPr>
                                    <m:t>h</m:t>
                                  </m:r>
                                </m:e>
                              </m:d>
                              <m:r>
                                <a:rPr lang="en-US" altLang="ja-JP" sz="2400" b="0" i="1" smtClean="0">
                                  <a:latin typeface="Cambria Math" panose="02040503050406030204" pitchFamily="18" charset="0"/>
                                </a:rPr>
                                <m:t>−</m:t>
                              </m:r>
                              <m:r>
                                <a:rPr lang="en-US" altLang="ja-JP" sz="2400" b="0" i="1" smtClean="0">
                                  <a:latin typeface="Cambria Math" panose="02040503050406030204" pitchFamily="18" charset="0"/>
                                </a:rPr>
                                <m:t>𝑓</m:t>
                              </m:r>
                              <m:r>
                                <a:rPr lang="en-US" altLang="ja-JP" sz="2400" b="0" i="1" smtClean="0">
                                  <a:latin typeface="Cambria Math" panose="02040503050406030204" pitchFamily="18" charset="0"/>
                                </a:rPr>
                                <m:t>′(</m:t>
                              </m:r>
                              <m:r>
                                <a:rPr lang="en-US" altLang="ja-JP" sz="2400" b="0" i="1" smtClean="0">
                                  <a:latin typeface="Cambria Math" panose="02040503050406030204" pitchFamily="18" charset="0"/>
                                </a:rPr>
                                <m:t>𝑡</m:t>
                              </m:r>
                              <m:r>
                                <a:rPr lang="en-US" altLang="ja-JP" sz="2400" b="0" i="1" smtClean="0">
                                  <a:latin typeface="Cambria Math" panose="02040503050406030204" pitchFamily="18" charset="0"/>
                                </a:rPr>
                                <m:t>)</m:t>
                              </m:r>
                            </m:num>
                            <m:den>
                              <m:r>
                                <a:rPr lang="en-US" altLang="ja-JP" sz="2400" b="0" i="1" smtClean="0">
                                  <a:latin typeface="Cambria Math" panose="02040503050406030204" pitchFamily="18" charset="0"/>
                                </a:rPr>
                                <m:t>h</m:t>
                              </m:r>
                            </m:den>
                          </m:f>
                        </m:e>
                      </m:func>
                    </m:oMath>
                  </m:oMathPara>
                </a14:m>
                <a:endParaRPr lang="en-US" altLang="ja-JP" sz="2400" dirty="0"/>
              </a:p>
              <a:p>
                <a:pPr/>
                <a14:m>
                  <m:oMathPara xmlns:m="http://schemas.openxmlformats.org/officeDocument/2006/math">
                    <m:oMathParaPr>
                      <m:jc m:val="left"/>
                    </m:oMathParaPr>
                    <m:oMath xmlns:m="http://schemas.openxmlformats.org/officeDocument/2006/math">
                      <m:sSup>
                        <m:sSupPr>
                          <m:ctrlPr>
                            <a:rPr lang="en-US" altLang="ja-JP" sz="2400" b="0" i="1" smtClean="0">
                              <a:latin typeface="Cambria Math" panose="02040503050406030204" pitchFamily="18" charset="0"/>
                            </a:rPr>
                          </m:ctrlPr>
                        </m:sSupPr>
                        <m:e>
                          <m:r>
                            <a:rPr lang="en-US" altLang="ja-JP" sz="2400" b="0" i="1" smtClean="0">
                              <a:latin typeface="Cambria Math" panose="02040503050406030204" pitchFamily="18" charset="0"/>
                            </a:rPr>
                            <m:t>𝑓</m:t>
                          </m:r>
                        </m:e>
                        <m:sup>
                          <m:r>
                            <a:rPr lang="en-US" altLang="ja-JP" sz="2400" b="0" i="1" smtClean="0">
                              <a:latin typeface="Cambria Math" panose="02040503050406030204" pitchFamily="18" charset="0"/>
                            </a:rPr>
                            <m:t>′′</m:t>
                          </m:r>
                        </m:sup>
                      </m:sSup>
                      <m:d>
                        <m:dPr>
                          <m:ctrlPr>
                            <a:rPr lang="en-US" altLang="ja-JP" sz="2400" b="0" i="1" smtClean="0">
                              <a:latin typeface="Cambria Math" panose="02040503050406030204" pitchFamily="18" charset="0"/>
                            </a:rPr>
                          </m:ctrlPr>
                        </m:dPr>
                        <m:e>
                          <m:r>
                            <a:rPr lang="en-US" altLang="ja-JP" sz="2400" b="0" i="1" smtClean="0">
                              <a:latin typeface="Cambria Math" panose="02040503050406030204" pitchFamily="18" charset="0"/>
                            </a:rPr>
                            <m:t>𝑡</m:t>
                          </m:r>
                        </m:e>
                      </m:d>
                      <m:r>
                        <a:rPr lang="en-US" altLang="ja-JP" sz="2400" b="0" i="1" smtClean="0">
                          <a:latin typeface="Cambria Math" panose="02040503050406030204" pitchFamily="18" charset="0"/>
                        </a:rPr>
                        <m:t>=</m:t>
                      </m:r>
                      <m:func>
                        <m:funcPr>
                          <m:ctrlPr>
                            <a:rPr lang="en-US" altLang="ja-JP" sz="2400" b="0" i="1" smtClean="0">
                              <a:latin typeface="Cambria Math" panose="02040503050406030204" pitchFamily="18" charset="0"/>
                            </a:rPr>
                          </m:ctrlPr>
                        </m:funcPr>
                        <m:fName>
                          <m:limLow>
                            <m:limLowPr>
                              <m:ctrlPr>
                                <a:rPr lang="en-US" altLang="ja-JP" sz="2400" b="0" i="1" smtClean="0">
                                  <a:latin typeface="Cambria Math" panose="02040503050406030204" pitchFamily="18" charset="0"/>
                                </a:rPr>
                              </m:ctrlPr>
                            </m:limLowPr>
                            <m:e>
                              <m:r>
                                <m:rPr>
                                  <m:sty m:val="p"/>
                                </m:rPr>
                                <a:rPr lang="en-US" altLang="ja-JP" sz="2400" b="0" i="0" smtClean="0">
                                  <a:latin typeface="Cambria Math" panose="02040503050406030204" pitchFamily="18" charset="0"/>
                                </a:rPr>
                                <m:t>lim</m:t>
                              </m:r>
                            </m:e>
                            <m:lim>
                              <m:r>
                                <a:rPr lang="en-US" altLang="ja-JP" sz="2400" b="0" i="1" smtClean="0">
                                  <a:latin typeface="Cambria Math" panose="02040503050406030204" pitchFamily="18" charset="0"/>
                                </a:rPr>
                                <m:t>h</m:t>
                              </m:r>
                              <m:r>
                                <a:rPr lang="ja-JP" altLang="en-US" sz="2400" i="1">
                                  <a:latin typeface="Cambria Math" panose="02040503050406030204" pitchFamily="18" charset="0"/>
                                </a:rPr>
                                <m:t>→</m:t>
                              </m:r>
                              <m:r>
                                <a:rPr lang="en-US" altLang="ja-JP" sz="2400" b="0" i="1" smtClean="0">
                                  <a:latin typeface="Cambria Math" panose="02040503050406030204" pitchFamily="18" charset="0"/>
                                </a:rPr>
                                <m:t>0</m:t>
                              </m:r>
                            </m:lim>
                          </m:limLow>
                        </m:fName>
                        <m:e>
                          <m:f>
                            <m:fPr>
                              <m:ctrlPr>
                                <a:rPr lang="en-US" altLang="ja-JP" sz="2400" b="0" i="1" smtClean="0">
                                  <a:latin typeface="Cambria Math" panose="02040503050406030204" pitchFamily="18" charset="0"/>
                                </a:rPr>
                              </m:ctrlPr>
                            </m:fPr>
                            <m:num>
                              <m:r>
                                <a:rPr lang="en-US" altLang="ja-JP" sz="2400" b="0" i="1" smtClean="0">
                                  <a:latin typeface="Cambria Math" panose="02040503050406030204" pitchFamily="18" charset="0"/>
                                </a:rPr>
                                <m:t>10−9.8</m:t>
                              </m:r>
                              <m:d>
                                <m:dPr>
                                  <m:ctrlPr>
                                    <a:rPr lang="en-US" altLang="ja-JP" sz="2400" b="0" i="1" smtClean="0">
                                      <a:latin typeface="Cambria Math" panose="02040503050406030204" pitchFamily="18" charset="0"/>
                                    </a:rPr>
                                  </m:ctrlPr>
                                </m:dPr>
                                <m:e>
                                  <m:r>
                                    <a:rPr lang="en-US" altLang="ja-JP" sz="2400" b="0" i="1" smtClean="0">
                                      <a:latin typeface="Cambria Math" panose="02040503050406030204" pitchFamily="18" charset="0"/>
                                    </a:rPr>
                                    <m:t>𝑡</m:t>
                                  </m:r>
                                  <m:r>
                                    <a:rPr lang="en-US" altLang="ja-JP" sz="2400" b="0" i="1" smtClean="0">
                                      <a:latin typeface="Cambria Math" panose="02040503050406030204" pitchFamily="18" charset="0"/>
                                    </a:rPr>
                                    <m:t>+</m:t>
                                  </m:r>
                                  <m:r>
                                    <a:rPr lang="en-US" altLang="ja-JP" sz="2400" b="0" i="1" smtClean="0">
                                      <a:latin typeface="Cambria Math" panose="02040503050406030204" pitchFamily="18" charset="0"/>
                                    </a:rPr>
                                    <m:t>h</m:t>
                                  </m:r>
                                </m:e>
                              </m:d>
                              <m:r>
                                <a:rPr lang="en-US" altLang="ja-JP" sz="2400" b="0" i="1" smtClean="0">
                                  <a:latin typeface="Cambria Math" panose="02040503050406030204" pitchFamily="18" charset="0"/>
                                </a:rPr>
                                <m:t>−(10−9.8</m:t>
                              </m:r>
                              <m:r>
                                <a:rPr lang="en-US" altLang="ja-JP" sz="2400" b="0" i="1" smtClean="0">
                                  <a:latin typeface="Cambria Math" panose="02040503050406030204" pitchFamily="18" charset="0"/>
                                </a:rPr>
                                <m:t>𝑡</m:t>
                              </m:r>
                              <m:r>
                                <a:rPr lang="en-US" altLang="ja-JP" sz="2400" b="0" i="1" smtClean="0">
                                  <a:latin typeface="Cambria Math" panose="02040503050406030204" pitchFamily="18" charset="0"/>
                                </a:rPr>
                                <m:t>)</m:t>
                              </m:r>
                            </m:num>
                            <m:den>
                              <m:r>
                                <a:rPr lang="en-US" altLang="ja-JP" sz="2400" b="0" i="1" smtClean="0">
                                  <a:latin typeface="Cambria Math" panose="02040503050406030204" pitchFamily="18" charset="0"/>
                                </a:rPr>
                                <m:t>h</m:t>
                              </m:r>
                            </m:den>
                          </m:f>
                        </m:e>
                      </m:func>
                    </m:oMath>
                  </m:oMathPara>
                </a14:m>
                <a:endParaRPr lang="en-US" altLang="ja-JP" sz="2400" dirty="0"/>
              </a:p>
              <a:p>
                <a:pPr/>
                <a14:m>
                  <m:oMathPara xmlns:m="http://schemas.openxmlformats.org/officeDocument/2006/math">
                    <m:oMathParaPr>
                      <m:jc m:val="left"/>
                    </m:oMathParaPr>
                    <m:oMath xmlns:m="http://schemas.openxmlformats.org/officeDocument/2006/math">
                      <m:sSup>
                        <m:sSupPr>
                          <m:ctrlPr>
                            <a:rPr lang="en-US" altLang="ja-JP" sz="2400" b="0" i="1" smtClean="0">
                              <a:latin typeface="Cambria Math" panose="02040503050406030204" pitchFamily="18" charset="0"/>
                            </a:rPr>
                          </m:ctrlPr>
                        </m:sSupPr>
                        <m:e>
                          <m:r>
                            <a:rPr lang="en-US" altLang="ja-JP" sz="2400" b="0" i="1" smtClean="0">
                              <a:latin typeface="Cambria Math" panose="02040503050406030204" pitchFamily="18" charset="0"/>
                            </a:rPr>
                            <m:t>𝑓</m:t>
                          </m:r>
                        </m:e>
                        <m:sup>
                          <m:r>
                            <a:rPr lang="en-US" altLang="ja-JP" sz="2400" b="0" i="1" smtClean="0">
                              <a:latin typeface="Cambria Math" panose="02040503050406030204" pitchFamily="18" charset="0"/>
                            </a:rPr>
                            <m:t>′′</m:t>
                          </m:r>
                        </m:sup>
                      </m:sSup>
                      <m:d>
                        <m:dPr>
                          <m:ctrlPr>
                            <a:rPr lang="en-US" altLang="ja-JP" sz="2400" b="0" i="1" smtClean="0">
                              <a:latin typeface="Cambria Math" panose="02040503050406030204" pitchFamily="18" charset="0"/>
                            </a:rPr>
                          </m:ctrlPr>
                        </m:dPr>
                        <m:e>
                          <m:r>
                            <a:rPr lang="en-US" altLang="ja-JP" sz="2400" b="0" i="1" smtClean="0">
                              <a:latin typeface="Cambria Math" panose="02040503050406030204" pitchFamily="18" charset="0"/>
                            </a:rPr>
                            <m:t>𝑡</m:t>
                          </m:r>
                        </m:e>
                      </m:d>
                      <m:r>
                        <a:rPr lang="en-US" altLang="ja-JP" sz="2400" b="0" i="1" smtClean="0">
                          <a:latin typeface="Cambria Math" panose="02040503050406030204" pitchFamily="18" charset="0"/>
                        </a:rPr>
                        <m:t>=</m:t>
                      </m:r>
                      <m:func>
                        <m:funcPr>
                          <m:ctrlPr>
                            <a:rPr lang="en-US" altLang="ja-JP" sz="2400" b="0" i="1" smtClean="0">
                              <a:latin typeface="Cambria Math" panose="02040503050406030204" pitchFamily="18" charset="0"/>
                            </a:rPr>
                          </m:ctrlPr>
                        </m:funcPr>
                        <m:fName>
                          <m:limLow>
                            <m:limLowPr>
                              <m:ctrlPr>
                                <a:rPr lang="en-US" altLang="ja-JP" sz="2400" b="0" i="1" smtClean="0">
                                  <a:latin typeface="Cambria Math" panose="02040503050406030204" pitchFamily="18" charset="0"/>
                                </a:rPr>
                              </m:ctrlPr>
                            </m:limLowPr>
                            <m:e>
                              <m:r>
                                <m:rPr>
                                  <m:sty m:val="p"/>
                                </m:rPr>
                                <a:rPr lang="en-US" altLang="ja-JP" sz="2400" b="0" i="0" smtClean="0">
                                  <a:latin typeface="Cambria Math" panose="02040503050406030204" pitchFamily="18" charset="0"/>
                                </a:rPr>
                                <m:t>lim</m:t>
                              </m:r>
                            </m:e>
                            <m:lim>
                              <m:r>
                                <a:rPr lang="en-US" altLang="ja-JP" sz="2400" b="0" i="1" smtClean="0">
                                  <a:latin typeface="Cambria Math" panose="02040503050406030204" pitchFamily="18" charset="0"/>
                                </a:rPr>
                                <m:t>h</m:t>
                              </m:r>
                              <m:r>
                                <a:rPr lang="ja-JP" altLang="en-US" sz="2400" i="1">
                                  <a:latin typeface="Cambria Math" panose="02040503050406030204" pitchFamily="18" charset="0"/>
                                </a:rPr>
                                <m:t>→</m:t>
                              </m:r>
                              <m:r>
                                <a:rPr lang="en-US" altLang="ja-JP" sz="2400" b="0" i="1" smtClean="0">
                                  <a:latin typeface="Cambria Math" panose="02040503050406030204" pitchFamily="18" charset="0"/>
                                </a:rPr>
                                <m:t>0</m:t>
                              </m:r>
                            </m:lim>
                          </m:limLow>
                        </m:fName>
                        <m:e>
                          <m:f>
                            <m:fPr>
                              <m:ctrlPr>
                                <a:rPr lang="en-US" altLang="ja-JP" sz="2400" b="0" i="1" smtClean="0">
                                  <a:latin typeface="Cambria Math" panose="02040503050406030204" pitchFamily="18" charset="0"/>
                                </a:rPr>
                              </m:ctrlPr>
                            </m:fPr>
                            <m:num>
                              <m:r>
                                <a:rPr lang="en-US" altLang="ja-JP" sz="2400" b="0" i="1" smtClean="0">
                                  <a:solidFill>
                                    <a:srgbClr val="FF0000"/>
                                  </a:solidFill>
                                  <a:latin typeface="Cambria Math" panose="02040503050406030204" pitchFamily="18" charset="0"/>
                                </a:rPr>
                                <m:t>10</m:t>
                              </m:r>
                              <m:r>
                                <a:rPr lang="en-US" altLang="ja-JP" sz="2400" b="0" i="1" smtClean="0">
                                  <a:solidFill>
                                    <a:srgbClr val="00B050"/>
                                  </a:solidFill>
                                  <a:latin typeface="Cambria Math" panose="02040503050406030204" pitchFamily="18" charset="0"/>
                                </a:rPr>
                                <m:t>−</m:t>
                              </m:r>
                              <m:r>
                                <a:rPr lang="en-US" altLang="ja-JP" sz="2400" i="1">
                                  <a:solidFill>
                                    <a:srgbClr val="00B050"/>
                                  </a:solidFill>
                                  <a:latin typeface="Cambria Math" panose="02040503050406030204" pitchFamily="18" charset="0"/>
                                </a:rPr>
                                <m:t>9.8</m:t>
                              </m:r>
                              <m:r>
                                <a:rPr lang="en-US" altLang="ja-JP" sz="2400" i="1">
                                  <a:solidFill>
                                    <a:srgbClr val="00B050"/>
                                  </a:solidFill>
                                  <a:latin typeface="Cambria Math" panose="02040503050406030204" pitchFamily="18" charset="0"/>
                                </a:rPr>
                                <m:t>𝑡</m:t>
                              </m:r>
                              <m:r>
                                <a:rPr lang="en-US" altLang="ja-JP" sz="2400" i="1">
                                  <a:latin typeface="Cambria Math" panose="02040503050406030204" pitchFamily="18" charset="0"/>
                                </a:rPr>
                                <m:t>−9.8</m:t>
                              </m:r>
                              <m:r>
                                <a:rPr lang="en-US" altLang="ja-JP" sz="2400" i="1">
                                  <a:latin typeface="Cambria Math" panose="02040503050406030204" pitchFamily="18" charset="0"/>
                                </a:rPr>
                                <m:t>h</m:t>
                              </m:r>
                              <m:r>
                                <a:rPr lang="en-US" altLang="ja-JP" sz="2400" i="1" smtClean="0">
                                  <a:solidFill>
                                    <a:srgbClr val="FF0000"/>
                                  </a:solidFill>
                                  <a:latin typeface="Cambria Math" panose="02040503050406030204" pitchFamily="18" charset="0"/>
                                </a:rPr>
                                <m:t>−10</m:t>
                              </m:r>
                              <m:r>
                                <a:rPr lang="en-US" altLang="ja-JP" sz="2400" b="0" i="1" smtClean="0">
                                  <a:solidFill>
                                    <a:srgbClr val="00B050"/>
                                  </a:solidFill>
                                  <a:latin typeface="Cambria Math" panose="02040503050406030204" pitchFamily="18" charset="0"/>
                                </a:rPr>
                                <m:t>+</m:t>
                              </m:r>
                              <m:r>
                                <a:rPr lang="en-US" altLang="ja-JP" sz="2400" i="1">
                                  <a:solidFill>
                                    <a:srgbClr val="00B050"/>
                                  </a:solidFill>
                                  <a:latin typeface="Cambria Math" panose="02040503050406030204" pitchFamily="18" charset="0"/>
                                </a:rPr>
                                <m:t>9.8</m:t>
                              </m:r>
                              <m:r>
                                <a:rPr lang="en-US" altLang="ja-JP" sz="2400" i="1">
                                  <a:solidFill>
                                    <a:srgbClr val="00B050"/>
                                  </a:solidFill>
                                  <a:latin typeface="Cambria Math" panose="02040503050406030204" pitchFamily="18" charset="0"/>
                                </a:rPr>
                                <m:t>𝑡</m:t>
                              </m:r>
                            </m:num>
                            <m:den>
                              <m:r>
                                <a:rPr lang="en-US" altLang="ja-JP" sz="2400" b="0" i="1" smtClean="0">
                                  <a:latin typeface="Cambria Math" panose="02040503050406030204" pitchFamily="18" charset="0"/>
                                </a:rPr>
                                <m:t>h</m:t>
                              </m:r>
                            </m:den>
                          </m:f>
                        </m:e>
                      </m:func>
                    </m:oMath>
                  </m:oMathPara>
                </a14:m>
                <a:endParaRPr lang="en-US" altLang="ja-JP" sz="2400" dirty="0"/>
              </a:p>
              <a:p>
                <a:pPr/>
                <a14:m>
                  <m:oMathPara xmlns:m="http://schemas.openxmlformats.org/officeDocument/2006/math">
                    <m:oMathParaPr>
                      <m:jc m:val="left"/>
                    </m:oMathParaPr>
                    <m:oMath xmlns:m="http://schemas.openxmlformats.org/officeDocument/2006/math">
                      <m:sSup>
                        <m:sSupPr>
                          <m:ctrlPr>
                            <a:rPr lang="en-US" altLang="ja-JP" sz="2400" b="0" i="1" smtClean="0">
                              <a:latin typeface="Cambria Math" panose="02040503050406030204" pitchFamily="18" charset="0"/>
                            </a:rPr>
                          </m:ctrlPr>
                        </m:sSupPr>
                        <m:e>
                          <m:r>
                            <a:rPr lang="en-US" altLang="ja-JP" sz="2400" b="0" i="1" smtClean="0">
                              <a:latin typeface="Cambria Math" panose="02040503050406030204" pitchFamily="18" charset="0"/>
                            </a:rPr>
                            <m:t>𝑓</m:t>
                          </m:r>
                        </m:e>
                        <m:sup>
                          <m:r>
                            <a:rPr lang="en-US" altLang="ja-JP" sz="2400" b="0" i="1" smtClean="0">
                              <a:latin typeface="Cambria Math" panose="02040503050406030204" pitchFamily="18" charset="0"/>
                            </a:rPr>
                            <m:t>′′</m:t>
                          </m:r>
                        </m:sup>
                      </m:sSup>
                      <m:d>
                        <m:dPr>
                          <m:ctrlPr>
                            <a:rPr lang="en-US" altLang="ja-JP" sz="2400" b="0" i="1" smtClean="0">
                              <a:latin typeface="Cambria Math" panose="02040503050406030204" pitchFamily="18" charset="0"/>
                            </a:rPr>
                          </m:ctrlPr>
                        </m:dPr>
                        <m:e>
                          <m:r>
                            <a:rPr lang="en-US" altLang="ja-JP" sz="2400" b="0" i="1" smtClean="0">
                              <a:latin typeface="Cambria Math" panose="02040503050406030204" pitchFamily="18" charset="0"/>
                            </a:rPr>
                            <m:t>𝑡</m:t>
                          </m:r>
                        </m:e>
                      </m:d>
                      <m:r>
                        <a:rPr lang="en-US" altLang="ja-JP" sz="2400" b="0" i="1" smtClean="0">
                          <a:latin typeface="Cambria Math" panose="02040503050406030204" pitchFamily="18" charset="0"/>
                        </a:rPr>
                        <m:t>=</m:t>
                      </m:r>
                      <m:func>
                        <m:funcPr>
                          <m:ctrlPr>
                            <a:rPr lang="en-US" altLang="ja-JP" sz="2400" b="0" i="1" smtClean="0">
                              <a:latin typeface="Cambria Math" panose="02040503050406030204" pitchFamily="18" charset="0"/>
                            </a:rPr>
                          </m:ctrlPr>
                        </m:funcPr>
                        <m:fName>
                          <m:limLow>
                            <m:limLowPr>
                              <m:ctrlPr>
                                <a:rPr lang="en-US" altLang="ja-JP" sz="2400" b="0" i="1" smtClean="0">
                                  <a:latin typeface="Cambria Math" panose="02040503050406030204" pitchFamily="18" charset="0"/>
                                </a:rPr>
                              </m:ctrlPr>
                            </m:limLowPr>
                            <m:e>
                              <m:r>
                                <m:rPr>
                                  <m:sty m:val="p"/>
                                </m:rPr>
                                <a:rPr lang="en-US" altLang="ja-JP" sz="2400" b="0" i="0" smtClean="0">
                                  <a:latin typeface="Cambria Math" panose="02040503050406030204" pitchFamily="18" charset="0"/>
                                </a:rPr>
                                <m:t>lim</m:t>
                              </m:r>
                            </m:e>
                            <m:lim>
                              <m:r>
                                <a:rPr lang="en-US" altLang="ja-JP" sz="2400" b="0" i="1" smtClean="0">
                                  <a:latin typeface="Cambria Math" panose="02040503050406030204" pitchFamily="18" charset="0"/>
                                </a:rPr>
                                <m:t>h</m:t>
                              </m:r>
                              <m:r>
                                <a:rPr lang="ja-JP" altLang="en-US" sz="2400" i="1">
                                  <a:latin typeface="Cambria Math" panose="02040503050406030204" pitchFamily="18" charset="0"/>
                                </a:rPr>
                                <m:t>→</m:t>
                              </m:r>
                              <m:r>
                                <a:rPr lang="en-US" altLang="ja-JP" sz="2400" b="0" i="1" smtClean="0">
                                  <a:latin typeface="Cambria Math" panose="02040503050406030204" pitchFamily="18" charset="0"/>
                                </a:rPr>
                                <m:t>0</m:t>
                              </m:r>
                            </m:lim>
                          </m:limLow>
                        </m:fName>
                        <m:e>
                          <m:f>
                            <m:fPr>
                              <m:ctrlPr>
                                <a:rPr lang="en-US" altLang="ja-JP" sz="2400" b="0" i="1" smtClean="0">
                                  <a:latin typeface="Cambria Math" panose="02040503050406030204" pitchFamily="18" charset="0"/>
                                </a:rPr>
                              </m:ctrlPr>
                            </m:fPr>
                            <m:num>
                              <m:r>
                                <a:rPr lang="en-US" altLang="ja-JP" sz="2400" i="1">
                                  <a:latin typeface="Cambria Math" panose="02040503050406030204" pitchFamily="18" charset="0"/>
                                </a:rPr>
                                <m:t>−9.8</m:t>
                              </m:r>
                              <m:r>
                                <a:rPr lang="en-US" altLang="ja-JP" sz="2400" i="1">
                                  <a:latin typeface="Cambria Math" panose="02040503050406030204" pitchFamily="18" charset="0"/>
                                </a:rPr>
                                <m:t>h</m:t>
                              </m:r>
                            </m:num>
                            <m:den>
                              <m:r>
                                <a:rPr lang="en-US" altLang="ja-JP" sz="2400" b="0" i="1" smtClean="0">
                                  <a:latin typeface="Cambria Math" panose="02040503050406030204" pitchFamily="18" charset="0"/>
                                </a:rPr>
                                <m:t>h</m:t>
                              </m:r>
                            </m:den>
                          </m:f>
                          <m:r>
                            <a:rPr lang="en-US" altLang="ja-JP" sz="2400" b="0" i="1" smtClean="0">
                              <a:latin typeface="Cambria Math" panose="02040503050406030204" pitchFamily="18" charset="0"/>
                            </a:rPr>
                            <m:t>=</m:t>
                          </m:r>
                          <m:r>
                            <a:rPr lang="en-US" altLang="ja-JP" sz="2400" b="0" i="1" smtClean="0">
                              <a:solidFill>
                                <a:srgbClr val="FF0000"/>
                              </a:solidFill>
                              <a:latin typeface="Cambria Math" panose="02040503050406030204" pitchFamily="18" charset="0"/>
                            </a:rPr>
                            <m:t>−9.8</m:t>
                          </m:r>
                        </m:e>
                      </m:func>
                    </m:oMath>
                  </m:oMathPara>
                </a14:m>
                <a:endParaRPr lang="en-US" altLang="ja-JP" sz="2400" dirty="0"/>
              </a:p>
            </p:txBody>
          </p:sp>
        </mc:Choice>
        <mc:Fallback xmlns="">
          <p:sp>
            <p:nvSpPr>
              <p:cNvPr id="6" name="テキスト ボックス 5">
                <a:extLst>
                  <a:ext uri="{FF2B5EF4-FFF2-40B4-BE49-F238E27FC236}">
                    <a16:creationId xmlns:a16="http://schemas.microsoft.com/office/drawing/2014/main" id="{55830AD6-028B-4C4E-80BF-B70DFC1C3A46}"/>
                  </a:ext>
                </a:extLst>
              </p:cNvPr>
              <p:cNvSpPr txBox="1">
                <a:spLocks noRot="1" noChangeAspect="1" noMove="1" noResize="1" noEditPoints="1" noAdjustHandles="1" noChangeArrowheads="1" noChangeShapeType="1" noTextEdit="1"/>
              </p:cNvSpPr>
              <p:nvPr/>
            </p:nvSpPr>
            <p:spPr>
              <a:xfrm>
                <a:off x="567542" y="1216429"/>
                <a:ext cx="10891636" cy="4780091"/>
              </a:xfrm>
              <a:prstGeom prst="rect">
                <a:avLst/>
              </a:prstGeom>
              <a:blipFill>
                <a:blip r:embed="rId2"/>
                <a:stretch>
                  <a:fillRect l="-839" t="-1020"/>
                </a:stretch>
              </a:blipFill>
            </p:spPr>
            <p:txBody>
              <a:bodyPr/>
              <a:lstStyle/>
              <a:p>
                <a:r>
                  <a:rPr lang="ja-JP" altLang="en-US">
                    <a:noFill/>
                  </a:rPr>
                  <a:t> </a:t>
                </a:r>
              </a:p>
            </p:txBody>
          </p:sp>
        </mc:Fallback>
      </mc:AlternateContent>
    </p:spTree>
    <p:extLst>
      <p:ext uri="{BB962C8B-B14F-4D97-AF65-F5344CB8AC3E}">
        <p14:creationId xmlns:p14="http://schemas.microsoft.com/office/powerpoint/2010/main" val="1280154628"/>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四角形: 角を丸くする 1">
            <a:extLst>
              <a:ext uri="{FF2B5EF4-FFF2-40B4-BE49-F238E27FC236}">
                <a16:creationId xmlns:a16="http://schemas.microsoft.com/office/drawing/2014/main" id="{75EBFC82-F374-43A7-8175-43F8E5CD4A8F}"/>
              </a:ext>
            </a:extLst>
          </p:cNvPr>
          <p:cNvSpPr/>
          <p:nvPr/>
        </p:nvSpPr>
        <p:spPr>
          <a:xfrm>
            <a:off x="279918" y="2164702"/>
            <a:ext cx="10431625" cy="1875453"/>
          </a:xfrm>
          <a:prstGeom prst="roundRect">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4" name="テキスト ボックス 3">
            <a:extLst>
              <a:ext uri="{FF2B5EF4-FFF2-40B4-BE49-F238E27FC236}">
                <a16:creationId xmlns:a16="http://schemas.microsoft.com/office/drawing/2014/main" id="{5A13BF46-B8C5-48AA-8308-C9ECFF431A18}"/>
              </a:ext>
            </a:extLst>
          </p:cNvPr>
          <p:cNvSpPr txBox="1"/>
          <p:nvPr/>
        </p:nvSpPr>
        <p:spPr>
          <a:xfrm>
            <a:off x="567542" y="491954"/>
            <a:ext cx="4641014" cy="584775"/>
          </a:xfrm>
          <a:prstGeom prst="rect">
            <a:avLst/>
          </a:prstGeom>
          <a:noFill/>
        </p:spPr>
        <p:txBody>
          <a:bodyPr wrap="none" rtlCol="0">
            <a:spAutoFit/>
          </a:bodyPr>
          <a:lstStyle/>
          <a:p>
            <a:r>
              <a:rPr kumimoji="1" lang="en-US" altLang="ja-JP" sz="3200" b="1" u="sng" dirty="0"/>
              <a:t>2</a:t>
            </a:r>
            <a:r>
              <a:rPr kumimoji="1" lang="ja-JP" altLang="en-US" sz="3200" b="1" u="sng" dirty="0"/>
              <a:t>次導関数と瞬間加速度</a:t>
            </a:r>
            <a:endParaRPr kumimoji="1" lang="en-US" altLang="ja-JP" sz="3200" b="1" u="sng" dirty="0"/>
          </a:p>
        </p:txBody>
      </p:sp>
      <p:sp>
        <p:nvSpPr>
          <p:cNvPr id="6" name="テキスト ボックス 5">
            <a:extLst>
              <a:ext uri="{FF2B5EF4-FFF2-40B4-BE49-F238E27FC236}">
                <a16:creationId xmlns:a16="http://schemas.microsoft.com/office/drawing/2014/main" id="{55830AD6-028B-4C4E-80BF-B70DFC1C3A46}"/>
              </a:ext>
            </a:extLst>
          </p:cNvPr>
          <p:cNvSpPr txBox="1"/>
          <p:nvPr/>
        </p:nvSpPr>
        <p:spPr>
          <a:xfrm>
            <a:off x="567542" y="1216429"/>
            <a:ext cx="9725739" cy="4154984"/>
          </a:xfrm>
          <a:prstGeom prst="rect">
            <a:avLst/>
          </a:prstGeom>
          <a:noFill/>
        </p:spPr>
        <p:txBody>
          <a:bodyPr wrap="none" rtlCol="0">
            <a:spAutoFit/>
          </a:bodyPr>
          <a:lstStyle/>
          <a:p>
            <a:r>
              <a:rPr lang="ja-JP" altLang="en-US" sz="2400" dirty="0"/>
              <a:t>このように位置と時間の関数からでも瞬間加速度は求められました。</a:t>
            </a:r>
            <a:endParaRPr lang="en-US" altLang="ja-JP" sz="2400" dirty="0"/>
          </a:p>
          <a:p>
            <a:r>
              <a:rPr lang="ja-JP" altLang="en-US" sz="2400" dirty="0"/>
              <a:t>最後に以下の箇所は非常に重要なので押さえておきましょう。</a:t>
            </a:r>
            <a:endParaRPr lang="en-US" altLang="ja-JP" sz="2400" dirty="0"/>
          </a:p>
          <a:p>
            <a:endParaRPr lang="en-US" altLang="ja-JP" sz="2400" dirty="0"/>
          </a:p>
          <a:p>
            <a:r>
              <a:rPr lang="ja-JP" altLang="en-US" sz="2400" b="1" dirty="0">
                <a:solidFill>
                  <a:srgbClr val="FF0000"/>
                </a:solidFill>
              </a:rPr>
              <a:t>■覚えておきたいこと</a:t>
            </a:r>
            <a:endParaRPr lang="en-US" altLang="ja-JP" sz="2400" b="1" dirty="0">
              <a:solidFill>
                <a:srgbClr val="FF0000"/>
              </a:solidFill>
            </a:endParaRPr>
          </a:p>
          <a:p>
            <a:r>
              <a:rPr lang="ja-JP" altLang="en-US" sz="2400" dirty="0"/>
              <a:t>・</a:t>
            </a:r>
            <a:r>
              <a:rPr lang="ja-JP" altLang="en-US" sz="2400" b="1" dirty="0">
                <a:solidFill>
                  <a:srgbClr val="FF0000"/>
                </a:solidFill>
              </a:rPr>
              <a:t>位置</a:t>
            </a:r>
            <a:r>
              <a:rPr lang="ja-JP" altLang="en-US" sz="2400" dirty="0"/>
              <a:t>と</a:t>
            </a:r>
            <a:r>
              <a:rPr lang="ja-JP" altLang="en-US" sz="2400" b="1" dirty="0">
                <a:solidFill>
                  <a:srgbClr val="FF0000"/>
                </a:solidFill>
              </a:rPr>
              <a:t>時間</a:t>
            </a:r>
            <a:r>
              <a:rPr lang="ja-JP" altLang="en-US" sz="2400" dirty="0"/>
              <a:t>の</a:t>
            </a:r>
            <a:r>
              <a:rPr lang="ja-JP" altLang="en-US" sz="2400" b="1" dirty="0">
                <a:solidFill>
                  <a:srgbClr val="FF0000"/>
                </a:solidFill>
              </a:rPr>
              <a:t>導関数</a:t>
            </a:r>
            <a:r>
              <a:rPr lang="ja-JP" altLang="en-US" sz="2400" dirty="0"/>
              <a:t>から</a:t>
            </a:r>
            <a:r>
              <a:rPr lang="ja-JP" altLang="en-US" sz="2400" b="1" dirty="0">
                <a:solidFill>
                  <a:srgbClr val="FF0000"/>
                </a:solidFill>
              </a:rPr>
              <a:t>瞬間速度</a:t>
            </a:r>
            <a:r>
              <a:rPr lang="ja-JP" altLang="en-US" sz="2400" dirty="0"/>
              <a:t>を求められる</a:t>
            </a:r>
            <a:endParaRPr lang="en-US" altLang="ja-JP" sz="2400" dirty="0"/>
          </a:p>
          <a:p>
            <a:r>
              <a:rPr lang="ja-JP" altLang="en-US" sz="2400" dirty="0"/>
              <a:t>・</a:t>
            </a:r>
            <a:r>
              <a:rPr lang="ja-JP" altLang="en-US" sz="2400" b="1" dirty="0">
                <a:solidFill>
                  <a:srgbClr val="FF0000"/>
                </a:solidFill>
              </a:rPr>
              <a:t>速度</a:t>
            </a:r>
            <a:r>
              <a:rPr lang="ja-JP" altLang="en-US" sz="2400" dirty="0"/>
              <a:t>と</a:t>
            </a:r>
            <a:r>
              <a:rPr lang="ja-JP" altLang="en-US" sz="2400" b="1" dirty="0">
                <a:solidFill>
                  <a:srgbClr val="FF0000"/>
                </a:solidFill>
              </a:rPr>
              <a:t>時間</a:t>
            </a:r>
            <a:r>
              <a:rPr lang="ja-JP" altLang="en-US" sz="2400" dirty="0"/>
              <a:t>の</a:t>
            </a:r>
            <a:r>
              <a:rPr lang="ja-JP" altLang="en-US" sz="2400" b="1" dirty="0">
                <a:solidFill>
                  <a:srgbClr val="FF0000"/>
                </a:solidFill>
              </a:rPr>
              <a:t>導関数</a:t>
            </a:r>
            <a:r>
              <a:rPr lang="ja-JP" altLang="en-US" sz="2400" dirty="0"/>
              <a:t>から</a:t>
            </a:r>
            <a:r>
              <a:rPr lang="ja-JP" altLang="en-US" sz="2400" b="1" dirty="0">
                <a:solidFill>
                  <a:srgbClr val="FF0000"/>
                </a:solidFill>
              </a:rPr>
              <a:t>瞬間加速度</a:t>
            </a:r>
            <a:r>
              <a:rPr lang="ja-JP" altLang="en-US" sz="2400" dirty="0"/>
              <a:t>が求められる</a:t>
            </a:r>
            <a:endParaRPr lang="en-US" altLang="ja-JP" sz="2400" dirty="0"/>
          </a:p>
          <a:p>
            <a:r>
              <a:rPr lang="ja-JP" altLang="en-US" sz="2400" dirty="0"/>
              <a:t>・</a:t>
            </a:r>
            <a:r>
              <a:rPr lang="ja-JP" altLang="en-US" sz="2400" b="1" dirty="0">
                <a:solidFill>
                  <a:srgbClr val="FF0000"/>
                </a:solidFill>
              </a:rPr>
              <a:t>位置</a:t>
            </a:r>
            <a:r>
              <a:rPr lang="ja-JP" altLang="en-US" sz="2400" dirty="0"/>
              <a:t>と</a:t>
            </a:r>
            <a:r>
              <a:rPr lang="ja-JP" altLang="en-US" sz="2400" b="1" dirty="0">
                <a:solidFill>
                  <a:srgbClr val="FF0000"/>
                </a:solidFill>
              </a:rPr>
              <a:t>時間</a:t>
            </a:r>
            <a:r>
              <a:rPr lang="ja-JP" altLang="en-US" sz="2400" dirty="0"/>
              <a:t>の</a:t>
            </a:r>
            <a:r>
              <a:rPr lang="en-US" altLang="ja-JP" sz="2400" b="1" dirty="0">
                <a:solidFill>
                  <a:srgbClr val="FF0000"/>
                </a:solidFill>
              </a:rPr>
              <a:t>2</a:t>
            </a:r>
            <a:r>
              <a:rPr lang="ja-JP" altLang="en-US" sz="2400" b="1" dirty="0">
                <a:solidFill>
                  <a:srgbClr val="FF0000"/>
                </a:solidFill>
              </a:rPr>
              <a:t>次導関数</a:t>
            </a:r>
            <a:r>
              <a:rPr lang="ja-JP" altLang="en-US" sz="2400" dirty="0"/>
              <a:t>から</a:t>
            </a:r>
            <a:r>
              <a:rPr lang="ja-JP" altLang="en-US" sz="2400" b="1" dirty="0">
                <a:solidFill>
                  <a:srgbClr val="FF0000"/>
                </a:solidFill>
              </a:rPr>
              <a:t>瞬間加速度</a:t>
            </a:r>
            <a:r>
              <a:rPr lang="ja-JP" altLang="en-US" sz="2400" dirty="0"/>
              <a:t>が求められる</a:t>
            </a:r>
            <a:endParaRPr lang="en-US" altLang="ja-JP" sz="2400" dirty="0"/>
          </a:p>
          <a:p>
            <a:endParaRPr lang="en-US" altLang="ja-JP" sz="2400" dirty="0"/>
          </a:p>
          <a:p>
            <a:endParaRPr lang="en-US" altLang="ja-JP" sz="2400" dirty="0"/>
          </a:p>
          <a:p>
            <a:r>
              <a:rPr lang="ja-JP" altLang="en-US" sz="2400" dirty="0"/>
              <a:t>計算が大変ですが実は裏技があります。</a:t>
            </a:r>
            <a:endParaRPr lang="en-US" altLang="ja-JP" sz="2400" dirty="0"/>
          </a:p>
          <a:p>
            <a:r>
              <a:rPr lang="ja-JP" altLang="en-US" sz="2400" dirty="0"/>
              <a:t>後のスライドで紹介します。</a:t>
            </a:r>
            <a:endParaRPr lang="en-US" altLang="ja-JP" sz="2400" dirty="0"/>
          </a:p>
        </p:txBody>
      </p:sp>
    </p:spTree>
    <p:extLst>
      <p:ext uri="{BB962C8B-B14F-4D97-AF65-F5344CB8AC3E}">
        <p14:creationId xmlns:p14="http://schemas.microsoft.com/office/powerpoint/2010/main" val="3464272767"/>
      </p:ext>
    </p:extLst>
  </p:cSld>
  <p:clrMapOvr>
    <a:masterClrMapping/>
  </p:clrMapOvr>
</p:sld>
</file>

<file path=ppt/theme/theme1.xml><?xml version="1.0" encoding="utf-8"?>
<a:theme xmlns:a="http://schemas.openxmlformats.org/drawingml/2006/main" name="Office テーマ">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游ゴシック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游ゴシック"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882</TotalTime>
  <Words>991</Words>
  <Application>Microsoft Office PowerPoint</Application>
  <PresentationFormat>ワイド画面</PresentationFormat>
  <Paragraphs>163</Paragraphs>
  <Slides>15</Slides>
  <Notes>0</Notes>
  <HiddenSlides>0</HiddenSlides>
  <MMClips>0</MMClips>
  <ScaleCrop>false</ScaleCrop>
  <HeadingPairs>
    <vt:vector size="6" baseType="variant">
      <vt:variant>
        <vt:lpstr>使用されているフォント</vt:lpstr>
      </vt:variant>
      <vt:variant>
        <vt:i4>4</vt:i4>
      </vt:variant>
      <vt:variant>
        <vt:lpstr>テーマ</vt:lpstr>
      </vt:variant>
      <vt:variant>
        <vt:i4>1</vt:i4>
      </vt:variant>
      <vt:variant>
        <vt:lpstr>スライド タイトル</vt:lpstr>
      </vt:variant>
      <vt:variant>
        <vt:i4>15</vt:i4>
      </vt:variant>
    </vt:vector>
  </HeadingPairs>
  <TitlesOfParts>
    <vt:vector size="20" baseType="lpstr">
      <vt:lpstr>游ゴシック</vt:lpstr>
      <vt:lpstr>游ゴシック Light</vt:lpstr>
      <vt:lpstr>Arial</vt:lpstr>
      <vt:lpstr>Cambria Math</vt:lpstr>
      <vt:lpstr>Office テーマ</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プレゼンテーション</dc:title>
  <dc:creator>北九州校　ゲーム</dc:creator>
  <cp:lastModifiedBy>荒木 優介</cp:lastModifiedBy>
  <cp:revision>104</cp:revision>
  <dcterms:created xsi:type="dcterms:W3CDTF">2024-08-27T02:15:54Z</dcterms:created>
  <dcterms:modified xsi:type="dcterms:W3CDTF">2025-04-09T07:52:34Z</dcterms:modified>
</cp:coreProperties>
</file>