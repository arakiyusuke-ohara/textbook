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斜面に接している場合、滑る力が働くことが前回わかりました。</a:t>
            </a:r>
            <a:endParaRPr lang="en-US" altLang="ja-JP" sz="2400" dirty="0"/>
          </a:p>
          <a:p>
            <a:r>
              <a:rPr lang="ja-JP" altLang="en-US" sz="2400" dirty="0"/>
              <a:t>今回はこの滑る力について詳しく見ていきます。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19F7B5E-C158-418B-B7E2-42E441A6F554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A218DEE-DEEE-473F-BEC3-115A78F32D98}"/>
              </a:ext>
            </a:extLst>
          </p:cNvPr>
          <p:cNvCxnSpPr>
            <a:cxnSpLocks/>
          </p:cNvCxnSpPr>
          <p:nvPr/>
        </p:nvCxnSpPr>
        <p:spPr>
          <a:xfrm>
            <a:off x="5786964" y="3943555"/>
            <a:ext cx="936000" cy="10008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7BA5A4F-E275-450C-9B01-679CAA9088CD}"/>
              </a:ext>
            </a:extLst>
          </p:cNvPr>
          <p:cNvCxnSpPr>
            <a:cxnSpLocks/>
          </p:cNvCxnSpPr>
          <p:nvPr/>
        </p:nvCxnSpPr>
        <p:spPr>
          <a:xfrm flipH="1">
            <a:off x="5863449" y="4952103"/>
            <a:ext cx="763575" cy="5505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EEDD9F9-2A27-4227-B1C7-68559597E285}"/>
              </a:ext>
            </a:extLst>
          </p:cNvPr>
          <p:cNvCxnSpPr>
            <a:cxnSpLocks/>
          </p:cNvCxnSpPr>
          <p:nvPr/>
        </p:nvCxnSpPr>
        <p:spPr>
          <a:xfrm flipH="1">
            <a:off x="6424613" y="4778409"/>
            <a:ext cx="128484" cy="11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A215C62-D64A-450B-A240-C7DB008E0621}"/>
              </a:ext>
            </a:extLst>
          </p:cNvPr>
          <p:cNvCxnSpPr>
            <a:cxnSpLocks/>
          </p:cNvCxnSpPr>
          <p:nvPr/>
        </p:nvCxnSpPr>
        <p:spPr>
          <a:xfrm flipH="1" flipV="1">
            <a:off x="6424613" y="4888450"/>
            <a:ext cx="114903" cy="1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CA1E186-9447-415F-872D-707CEACCCB88}"/>
              </a:ext>
            </a:extLst>
          </p:cNvPr>
          <p:cNvSpPr txBox="1"/>
          <p:nvPr/>
        </p:nvSpPr>
        <p:spPr>
          <a:xfrm>
            <a:off x="5710480" y="41478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0B20CB-A7E6-461C-9ABF-34F2AA5D4CE9}"/>
              </a:ext>
            </a:extLst>
          </p:cNvPr>
          <p:cNvSpPr txBox="1"/>
          <p:nvPr/>
        </p:nvSpPr>
        <p:spPr>
          <a:xfrm>
            <a:off x="4816278" y="44991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EB7A77-371A-4101-AEAC-3FAC13A1C086}"/>
              </a:ext>
            </a:extLst>
          </p:cNvPr>
          <p:cNvCxnSpPr>
            <a:cxnSpLocks/>
          </p:cNvCxnSpPr>
          <p:nvPr/>
        </p:nvCxnSpPr>
        <p:spPr>
          <a:xfrm>
            <a:off x="3331440" y="4800525"/>
            <a:ext cx="1992038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C79B41D-FEAA-4A27-B295-B55DC3FDDF1B}"/>
                  </a:ext>
                </a:extLst>
              </p:cNvPr>
              <p:cNvSpPr txBox="1"/>
              <p:nvPr/>
            </p:nvSpPr>
            <p:spPr>
              <a:xfrm>
                <a:off x="6174069" y="5292926"/>
                <a:ext cx="2278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滑る力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ja-JP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重さ</m:t>
                    </m:r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C79B41D-FEAA-4A27-B295-B55DC3FD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69" y="5292926"/>
                <a:ext cx="2278188" cy="369332"/>
              </a:xfrm>
              <a:prstGeom prst="rect">
                <a:avLst/>
              </a:prstGeom>
              <a:blipFill>
                <a:blip r:embed="rId2"/>
                <a:stretch>
                  <a:fillRect l="-2406" t="-655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斜面の素材が</a:t>
            </a:r>
            <a:r>
              <a:rPr lang="ja-JP" altLang="en-US" sz="2400" b="1" dirty="0">
                <a:solidFill>
                  <a:schemeClr val="accent4">
                    <a:lumMod val="75000"/>
                  </a:schemeClr>
                </a:solidFill>
              </a:rPr>
              <a:t>ゴム</a:t>
            </a:r>
            <a:r>
              <a:rPr lang="ja-JP" altLang="en-US" sz="2400" dirty="0"/>
              <a:t>の場合を想像しましょう。</a:t>
            </a:r>
            <a:endParaRPr lang="en-US" altLang="ja-JP" sz="2400" dirty="0"/>
          </a:p>
          <a:p>
            <a:r>
              <a:rPr lang="ja-JP" altLang="en-US" sz="2400" dirty="0"/>
              <a:t>ゴムの上は滑りにくいので、</a:t>
            </a:r>
            <a:r>
              <a:rPr lang="ja-JP" altLang="en-US" sz="2400" b="1" dirty="0">
                <a:solidFill>
                  <a:srgbClr val="0070C0"/>
                </a:solidFill>
              </a:rPr>
              <a:t>滑る力も弱くなりそう</a:t>
            </a:r>
            <a:r>
              <a:rPr lang="ja-JP" altLang="en-US" sz="2400" dirty="0"/>
              <a:t>ですし、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斜面の角度によっては滑らない</a:t>
            </a:r>
            <a:r>
              <a:rPr lang="ja-JP" altLang="en-US" sz="2400" dirty="0"/>
              <a:t>かもしれません。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1406654" y="3024050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900732" y="3022496"/>
            <a:ext cx="2302934" cy="1498599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26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斜面の素材も、キャラクターの素材も</a:t>
            </a:r>
            <a:r>
              <a:rPr lang="ja-JP" altLang="en-US" sz="2400" b="1" dirty="0">
                <a:solidFill>
                  <a:srgbClr val="0070C0"/>
                </a:solidFill>
              </a:rPr>
              <a:t>氷</a:t>
            </a:r>
            <a:r>
              <a:rPr lang="ja-JP" altLang="en-US" sz="2400" dirty="0"/>
              <a:t>だとどうでしょう。</a:t>
            </a:r>
            <a:endParaRPr lang="en-US" altLang="ja-JP" sz="2400" dirty="0"/>
          </a:p>
          <a:p>
            <a:r>
              <a:rPr lang="ja-JP" altLang="en-US" sz="2400" dirty="0"/>
              <a:t>この場合は</a:t>
            </a:r>
            <a:r>
              <a:rPr lang="ja-JP" altLang="en-US" sz="2400" b="1" dirty="0">
                <a:solidFill>
                  <a:srgbClr val="0070C0"/>
                </a:solidFill>
              </a:rPr>
              <a:t>簡単に滑ってしまいそう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448252" y="3709850"/>
            <a:ext cx="829733" cy="809898"/>
          </a:xfrm>
          <a:prstGeom prst="smileyFac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900732" y="3022496"/>
            <a:ext cx="2302934" cy="1498599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134507C-781F-4739-9C03-A6350C8924A0}"/>
              </a:ext>
            </a:extLst>
          </p:cNvPr>
          <p:cNvCxnSpPr>
            <a:cxnSpLocks/>
          </p:cNvCxnSpPr>
          <p:nvPr/>
        </p:nvCxnSpPr>
        <p:spPr>
          <a:xfrm flipV="1">
            <a:off x="1275428" y="2856285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4CFCF1-DC05-46B3-A048-E32A5BC5ECD8}"/>
              </a:ext>
            </a:extLst>
          </p:cNvPr>
          <p:cNvCxnSpPr>
            <a:cxnSpLocks/>
          </p:cNvCxnSpPr>
          <p:nvPr/>
        </p:nvCxnSpPr>
        <p:spPr>
          <a:xfrm flipV="1">
            <a:off x="1623831" y="2963302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E66FF90-7A3C-4F9E-AE2A-0C506A938628}"/>
              </a:ext>
            </a:extLst>
          </p:cNvPr>
          <p:cNvCxnSpPr>
            <a:cxnSpLocks/>
          </p:cNvCxnSpPr>
          <p:nvPr/>
        </p:nvCxnSpPr>
        <p:spPr>
          <a:xfrm flipV="1">
            <a:off x="1562701" y="3291993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81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このように滑り方が素材によって違うのは、</a:t>
            </a:r>
            <a:endParaRPr lang="en-US" altLang="ja-JP" sz="2400" dirty="0"/>
          </a:p>
          <a:p>
            <a:r>
              <a:rPr lang="ja-JP" altLang="en-US" sz="2400" dirty="0"/>
              <a:t>滑る力は</a:t>
            </a:r>
            <a:r>
              <a:rPr lang="ja-JP" altLang="en-US" sz="2400" b="1" dirty="0">
                <a:solidFill>
                  <a:srgbClr val="FF0000"/>
                </a:solidFill>
              </a:rPr>
              <a:t>摩擦力</a:t>
            </a:r>
            <a:r>
              <a:rPr lang="ja-JP" altLang="en-US" sz="2400" dirty="0"/>
              <a:t>によって抵抗されているからになります。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摩擦力が強くなる素材の組み合わせほど滑りにくく、</a:t>
            </a:r>
            <a:endParaRPr lang="en-US" altLang="ja-JP" sz="2400" dirty="0"/>
          </a:p>
          <a:p>
            <a:r>
              <a:rPr lang="ja-JP" altLang="en-US" sz="2400" dirty="0"/>
              <a:t>弱い素材の組み合わせほど滑りやすいです。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0514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DF1F73E-7F82-407A-8160-3A8A46BDE7A5}"/>
              </a:ext>
            </a:extLst>
          </p:cNvPr>
          <p:cNvSpPr/>
          <p:nvPr/>
        </p:nvSpPr>
        <p:spPr>
          <a:xfrm>
            <a:off x="414867" y="1761067"/>
            <a:ext cx="8322733" cy="3124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また、摩擦力は別々の異なる２種類の力があります。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■静止摩擦力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接触している互いが静止しているときの摩擦力。</a:t>
            </a:r>
            <a:endParaRPr lang="en-US" altLang="ja-JP" sz="2400" dirty="0"/>
          </a:p>
          <a:p>
            <a:r>
              <a:rPr lang="ja-JP" altLang="en-US" sz="2400" dirty="0"/>
              <a:t>お互いが滑り出さないようにする力。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■運動摩擦力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接触している互いのいずれかが動いているときの摩擦力。</a:t>
            </a:r>
            <a:endParaRPr lang="en-US" altLang="ja-JP" sz="2400" dirty="0"/>
          </a:p>
          <a:p>
            <a:r>
              <a:rPr lang="ja-JP" altLang="en-US" sz="2400" dirty="0"/>
              <a:t>動いているものを動きにくくしている力。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4250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金属の板に金属の重りを乗せたとしましょう。</a:t>
            </a:r>
            <a:endParaRPr lang="en-US" altLang="ja-JP" sz="2400" dirty="0"/>
          </a:p>
          <a:p>
            <a:r>
              <a:rPr lang="ja-JP" altLang="en-US" sz="2400" dirty="0"/>
              <a:t>ほんの少しだけ傾けても滑り出しはしないと思います。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16E17-1560-44BA-9E5E-E771DEC8005D}"/>
              </a:ext>
            </a:extLst>
          </p:cNvPr>
          <p:cNvGrpSpPr/>
          <p:nvPr/>
        </p:nvGrpSpPr>
        <p:grpSpPr>
          <a:xfrm>
            <a:off x="567542" y="3710147"/>
            <a:ext cx="3638550" cy="773445"/>
            <a:chOff x="2114550" y="4805030"/>
            <a:chExt cx="3638550" cy="77344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8D49477-76D4-45C2-89E6-A89B9813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5403851"/>
              <a:ext cx="3638550" cy="17462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55E80D41-E85A-436E-9CBF-7E904F4495E5}"/>
                </a:ext>
              </a:extLst>
            </p:cNvPr>
            <p:cNvSpPr/>
            <p:nvPr/>
          </p:nvSpPr>
          <p:spPr>
            <a:xfrm rot="21422328">
              <a:off x="3158067" y="4805030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BA52111-0895-44E0-8F9A-DEAEFD9B83C1}"/>
              </a:ext>
            </a:extLst>
          </p:cNvPr>
          <p:cNvSpPr txBox="1"/>
          <p:nvPr/>
        </p:nvSpPr>
        <p:spPr>
          <a:xfrm>
            <a:off x="567542" y="5051150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斜面を傾けるほど滑る力は強くなるので、静止摩擦力も同時に強くなります。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3498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斜面をある角度まで傾けると滑り出します。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静止摩擦力よりも滑る力が上回った</a:t>
            </a:r>
            <a:r>
              <a:rPr lang="ja-JP" altLang="en-US" sz="2400" dirty="0"/>
              <a:t>ということです。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16E17-1560-44BA-9E5E-E771DEC8005D}"/>
              </a:ext>
            </a:extLst>
          </p:cNvPr>
          <p:cNvGrpSpPr/>
          <p:nvPr/>
        </p:nvGrpSpPr>
        <p:grpSpPr>
          <a:xfrm>
            <a:off x="567542" y="2531534"/>
            <a:ext cx="2901673" cy="2341525"/>
            <a:chOff x="1735668" y="3236950"/>
            <a:chExt cx="2901673" cy="234152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8D49477-76D4-45C2-89E6-A89B9813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3236950"/>
              <a:ext cx="2522791" cy="234152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55E80D41-E85A-436E-9CBF-7E904F4495E5}"/>
                </a:ext>
              </a:extLst>
            </p:cNvPr>
            <p:cNvSpPr/>
            <p:nvPr/>
          </p:nvSpPr>
          <p:spPr>
            <a:xfrm rot="19022851">
              <a:off x="1735668" y="4592151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C0F2CD6-77FD-44FE-96AF-AAB674898F6E}"/>
              </a:ext>
            </a:extLst>
          </p:cNvPr>
          <p:cNvCxnSpPr>
            <a:cxnSpLocks/>
          </p:cNvCxnSpPr>
          <p:nvPr/>
        </p:nvCxnSpPr>
        <p:spPr>
          <a:xfrm flipV="1">
            <a:off x="1383264" y="2709333"/>
            <a:ext cx="764820" cy="719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71A576D-9F92-4531-AA9B-AE7766AF5EB6}"/>
              </a:ext>
            </a:extLst>
          </p:cNvPr>
          <p:cNvCxnSpPr>
            <a:cxnSpLocks/>
          </p:cNvCxnSpPr>
          <p:nvPr/>
        </p:nvCxnSpPr>
        <p:spPr>
          <a:xfrm flipV="1">
            <a:off x="1799009" y="2467790"/>
            <a:ext cx="961679" cy="9292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53668F6-A2DA-4A16-9388-FB27F78D6700}"/>
              </a:ext>
            </a:extLst>
          </p:cNvPr>
          <p:cNvCxnSpPr>
            <a:cxnSpLocks/>
          </p:cNvCxnSpPr>
          <p:nvPr/>
        </p:nvCxnSpPr>
        <p:spPr>
          <a:xfrm flipV="1">
            <a:off x="1817770" y="3170941"/>
            <a:ext cx="596299" cy="53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4610B23-3C08-45D0-8B58-E4E748D798DB}"/>
              </a:ext>
            </a:extLst>
          </p:cNvPr>
          <p:cNvSpPr txBox="1"/>
          <p:nvPr/>
        </p:nvSpPr>
        <p:spPr>
          <a:xfrm>
            <a:off x="567541" y="5334667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この時の滑り出し始めるまでの静止摩擦力のことを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最大静止摩擦力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滑る力＞最大静止摩擦力だと物体は滑り始めます。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823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B0AAC35-247A-4E88-8E43-CEA41A3AA70A}"/>
              </a:ext>
            </a:extLst>
          </p:cNvPr>
          <p:cNvSpPr/>
          <p:nvPr/>
        </p:nvSpPr>
        <p:spPr>
          <a:xfrm>
            <a:off x="414868" y="1761067"/>
            <a:ext cx="4318000" cy="28278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以下は公式となります。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■最大静止摩擦力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ja-JP" altLang="en-US" sz="2400" dirty="0"/>
                  <a:t>・・・最大静止摩擦力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ja-JP" altLang="en-US" sz="2400" b="0" dirty="0"/>
                  <a:t>・・・静止摩擦係数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b="0" dirty="0"/>
                  <a:t>・・・垂直抗力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摩擦係数に関してはのちほど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blipFill>
                <a:blip r:embed="rId2"/>
                <a:stretch>
                  <a:fillRect l="-2035" t="-1175" r="-1221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44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運動摩擦力は動いているものに対して働く摩擦力です。</a:t>
            </a:r>
            <a:endParaRPr lang="en-US" altLang="ja-JP" sz="2400" b="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B69A5F0-E23F-4035-A684-28D16776EF7E}"/>
              </a:ext>
            </a:extLst>
          </p:cNvPr>
          <p:cNvGrpSpPr/>
          <p:nvPr/>
        </p:nvGrpSpPr>
        <p:grpSpPr>
          <a:xfrm>
            <a:off x="567542" y="2622603"/>
            <a:ext cx="2522791" cy="2341525"/>
            <a:chOff x="2114550" y="3236950"/>
            <a:chExt cx="2522791" cy="2341525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FF5C351-82D3-42FC-AB35-1732EF0DA1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3236950"/>
              <a:ext cx="2522791" cy="234152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F64C426F-B3E6-4881-91F5-58871260F313}"/>
                </a:ext>
              </a:extLst>
            </p:cNvPr>
            <p:cNvSpPr/>
            <p:nvPr/>
          </p:nvSpPr>
          <p:spPr>
            <a:xfrm rot="19022851">
              <a:off x="2521895" y="3850813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18A324A-0A74-454F-B6FF-D2F6D0644CB4}"/>
              </a:ext>
            </a:extLst>
          </p:cNvPr>
          <p:cNvCxnSpPr>
            <a:cxnSpLocks/>
          </p:cNvCxnSpPr>
          <p:nvPr/>
        </p:nvCxnSpPr>
        <p:spPr>
          <a:xfrm flipV="1">
            <a:off x="1604432" y="2059337"/>
            <a:ext cx="764820" cy="719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F3C9F56-5ABC-470E-9D8F-1470E08B0A6D}"/>
              </a:ext>
            </a:extLst>
          </p:cNvPr>
          <p:cNvCxnSpPr>
            <a:cxnSpLocks/>
          </p:cNvCxnSpPr>
          <p:nvPr/>
        </p:nvCxnSpPr>
        <p:spPr>
          <a:xfrm flipV="1">
            <a:off x="2020177" y="1817794"/>
            <a:ext cx="961679" cy="9292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0F344DC-E54C-4B63-A2C3-34CD54608A53}"/>
              </a:ext>
            </a:extLst>
          </p:cNvPr>
          <p:cNvCxnSpPr>
            <a:cxnSpLocks/>
          </p:cNvCxnSpPr>
          <p:nvPr/>
        </p:nvCxnSpPr>
        <p:spPr>
          <a:xfrm flipV="1">
            <a:off x="2038938" y="2520945"/>
            <a:ext cx="596299" cy="53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714CCAD-8BA9-4ECA-99E3-ED81FDB3E9B0}"/>
              </a:ext>
            </a:extLst>
          </p:cNvPr>
          <p:cNvCxnSpPr/>
          <p:nvPr/>
        </p:nvCxnSpPr>
        <p:spPr>
          <a:xfrm flipH="1">
            <a:off x="2252133" y="3141133"/>
            <a:ext cx="838200" cy="846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EFC35B-4CD9-45E6-B486-2C5CB5A368A0}"/>
              </a:ext>
            </a:extLst>
          </p:cNvPr>
          <p:cNvSpPr txBox="1"/>
          <p:nvPr/>
        </p:nvSpPr>
        <p:spPr>
          <a:xfrm>
            <a:off x="2671233" y="357936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滑る力</a:t>
            </a:r>
            <a:endParaRPr lang="en-US" altLang="ja-JP" sz="2400" dirty="0"/>
          </a:p>
          <a:p>
            <a:r>
              <a:rPr lang="ja-JP" altLang="en-US" sz="1200" b="0" dirty="0"/>
              <a:t>だけでなく</a:t>
            </a:r>
            <a:endParaRPr lang="en-US" altLang="ja-JP" sz="1200" b="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FA122FC-A037-4D45-98B4-95CF45C4F5CF}"/>
              </a:ext>
            </a:extLst>
          </p:cNvPr>
          <p:cNvCxnSpPr>
            <a:cxnSpLocks/>
          </p:cNvCxnSpPr>
          <p:nvPr/>
        </p:nvCxnSpPr>
        <p:spPr>
          <a:xfrm flipV="1">
            <a:off x="1359593" y="4605468"/>
            <a:ext cx="339720" cy="3586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0F5EA89-254C-4FA0-B7E7-A9A57BC38A62}"/>
              </a:ext>
            </a:extLst>
          </p:cNvPr>
          <p:cNvSpPr txBox="1"/>
          <p:nvPr/>
        </p:nvSpPr>
        <p:spPr>
          <a:xfrm>
            <a:off x="1557469" y="478479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運動摩擦力が抵抗している</a:t>
            </a:r>
            <a:endParaRPr lang="en-US" altLang="ja-JP" sz="1200" b="0" dirty="0"/>
          </a:p>
        </p:txBody>
      </p:sp>
    </p:spTree>
    <p:extLst>
      <p:ext uri="{BB962C8B-B14F-4D97-AF65-F5344CB8AC3E}">
        <p14:creationId xmlns:p14="http://schemas.microsoft.com/office/powerpoint/2010/main" val="142204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B0AAC35-247A-4E88-8E43-CEA41A3AA70A}"/>
              </a:ext>
            </a:extLst>
          </p:cNvPr>
          <p:cNvSpPr/>
          <p:nvPr/>
        </p:nvSpPr>
        <p:spPr>
          <a:xfrm>
            <a:off x="414868" y="1761067"/>
            <a:ext cx="4318000" cy="28278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以下は公式となります。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■運動摩擦力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en-US" sz="2400" dirty="0"/>
                  <a:t>・・・運動摩擦力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ja-JP" altLang="en-US" sz="2400" b="0" dirty="0"/>
                  <a:t>・・・運動摩擦係数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b="0" dirty="0"/>
                  <a:t>・・・垂直抗力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摩擦係数に関してはのちほど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blipFill>
                <a:blip r:embed="rId2"/>
                <a:stretch>
                  <a:fillRect l="-2035" t="-1175" r="-1221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53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摩擦係数の値は素材の組み合わせごとに定義されています。</a:t>
            </a:r>
            <a:endParaRPr lang="en-US" altLang="ja-JP" sz="2400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F5725C3-7E38-498D-8E57-77F471C1C2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177300"/>
                  </p:ext>
                </p:extLst>
              </p:nvPr>
            </p:nvGraphicFramePr>
            <p:xfrm>
              <a:off x="567542" y="1817794"/>
              <a:ext cx="8127999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983945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373448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96064333"/>
                        </a:ext>
                      </a:extLst>
                    </a:gridCol>
                  </a:tblGrid>
                  <a:tr h="18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素材の組み合わせ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静止摩擦係数（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i="1" dirty="0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dirty="0"/>
                            <a:t>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運動摩擦係数（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i="1" dirty="0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dirty="0"/>
                            <a:t>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9983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鋼鉄と鋼鉄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0.74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0.57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3626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ゴムとコンクリート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1.0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7119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金属と氷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956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ガラスとガラス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7874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F5725C3-7E38-498D-8E57-77F471C1C2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177300"/>
                  </p:ext>
                </p:extLst>
              </p:nvPr>
            </p:nvGraphicFramePr>
            <p:xfrm>
              <a:off x="567542" y="1817794"/>
              <a:ext cx="8127999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983945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373448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960643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素材の組み合わせ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8333" r="-101126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983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鋼鉄と鋼鉄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0.74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0.57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3626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ゴムとコンクリート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1.0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7119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金属と氷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956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ガラスとガラス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7874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6BEBAB8-41F1-47A0-BA92-30BCD686E33B}"/>
              </a:ext>
            </a:extLst>
          </p:cNvPr>
          <p:cNvSpPr txBox="1"/>
          <p:nvPr/>
        </p:nvSpPr>
        <p:spPr>
          <a:xfrm>
            <a:off x="567541" y="3951163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他にも様々な組み合わせがあります。</a:t>
            </a:r>
            <a:endParaRPr lang="en-US" altLang="ja-JP" sz="2400" b="0" dirty="0"/>
          </a:p>
        </p:txBody>
      </p:sp>
    </p:spTree>
    <p:extLst>
      <p:ext uri="{BB962C8B-B14F-4D97-AF65-F5344CB8AC3E}">
        <p14:creationId xmlns:p14="http://schemas.microsoft.com/office/powerpoint/2010/main" val="2273915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42109" cy="383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鋼鉄の板に</a:t>
                </a:r>
                <a:r>
                  <a:rPr lang="en-US" altLang="ja-JP" sz="2400" dirty="0"/>
                  <a:t>500g</a:t>
                </a:r>
                <a:r>
                  <a:rPr lang="ja-JP" altLang="en-US" sz="2400" dirty="0"/>
                  <a:t>の鋼鉄の重りを乗せました。</a:t>
                </a:r>
                <a:endParaRPr lang="en-US" altLang="ja-JP" sz="2400" dirty="0"/>
              </a:p>
              <a:p>
                <a:r>
                  <a:rPr lang="ja-JP" altLang="en-US" sz="2400" b="0" dirty="0"/>
                  <a:t>板を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b="0" dirty="0"/>
                  <a:t>傾けた場合の最大静止摩擦力を求めなさい。ただし、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30°=0.86</m:t>
                    </m:r>
                  </m:oMath>
                </a14:m>
                <a:r>
                  <a:rPr lang="ja-JP" altLang="en-US" sz="2400" b="0" dirty="0"/>
                  <a:t>、鋼鉄と鋼鉄の静止摩擦係数を</a:t>
                </a:r>
                <a:r>
                  <a:rPr lang="en-US" altLang="ja-JP" sz="2400" b="0" dirty="0"/>
                  <a:t>0.74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重りに働く垂直抗力は、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−9.8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30°=4.9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0.86=4.214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0.74</m:t>
                    </m:r>
                    <m:d>
                      <m:dPr>
                        <m:ctrl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4.214</m:t>
                        </m:r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𝟏𝟏𝟖𝟑𝟔𝐍</m:t>
                    </m:r>
                  </m:oMath>
                </a14:m>
                <a:r>
                  <a:rPr lang="en-US" altLang="ja-JP" sz="2400" b="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42109" cy="3833165"/>
              </a:xfrm>
              <a:prstGeom prst="rect">
                <a:avLst/>
              </a:prstGeom>
              <a:blipFill>
                <a:blip r:embed="rId2"/>
                <a:stretch>
                  <a:fillRect l="-1058" t="-1274" r="-1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480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0681" cy="383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例題１の重りを指でつつくと斜面を滑り始めた。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この時の運動摩擦力を求めなさい。ただし、</a:t>
                </a:r>
                <a:endParaRPr lang="en-US" altLang="ja-JP" sz="2400" dirty="0"/>
              </a:p>
              <a:p>
                <a:r>
                  <a:rPr lang="ja-JP" altLang="en-US" sz="2400" dirty="0"/>
                  <a:t>鋼鉄と鋼鉄の運動摩擦係数は</a:t>
                </a:r>
                <a:r>
                  <a:rPr lang="en-US" altLang="ja-JP" sz="2400" dirty="0"/>
                  <a:t>0.57</a:t>
                </a:r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重りに働く垂直抗力は、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−9.8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30°=4.9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0.86=4.214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0.57</m:t>
                    </m:r>
                    <m:d>
                      <m:dPr>
                        <m:ctrl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4.214</m:t>
                        </m:r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𝟒𝟎𝟏𝟗𝟖𝐍</m:t>
                    </m:r>
                  </m:oMath>
                </a14:m>
                <a:r>
                  <a:rPr lang="en-US" altLang="ja-JP" sz="2400" b="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0681" cy="3833165"/>
              </a:xfrm>
              <a:prstGeom prst="rect">
                <a:avLst/>
              </a:prstGeom>
              <a:blipFill>
                <a:blip r:embed="rId2"/>
                <a:stretch>
                  <a:fillRect l="-1162" t="-12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24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57663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ゴムで出来た置物をコンクリートブロックの上に置きました。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ブロックを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20°</m:t>
                    </m:r>
                  </m:oMath>
                </a14:m>
                <a:r>
                  <a:rPr lang="ja-JP" altLang="en-US" sz="2400" b="0" dirty="0"/>
                  <a:t>傾けた時の最大静止摩擦力を求めなさい。ただし、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20°=0.93</m:t>
                    </m:r>
                  </m:oMath>
                </a14:m>
                <a:r>
                  <a:rPr lang="ja-JP" altLang="en-US" sz="2400" b="0" dirty="0"/>
                  <a:t>、ゴムとコンクリートの静止摩擦係数を</a:t>
                </a:r>
                <a:r>
                  <a:rPr lang="en-US" altLang="ja-JP" sz="2400" b="0" dirty="0"/>
                  <a:t>1.0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b="0" dirty="0"/>
                  <a:t>金属の板の上に氷を置いて、板を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10°</m:t>
                    </m:r>
                  </m:oMath>
                </a14:m>
                <a:r>
                  <a:rPr lang="ja-JP" altLang="en-US" sz="2400" b="0" dirty="0"/>
                  <a:t>傾けると氷が滑り始めた。</a:t>
                </a:r>
                <a:endParaRPr lang="en-US" altLang="ja-JP" sz="2400" b="0" dirty="0"/>
              </a:p>
              <a:p>
                <a:r>
                  <a:rPr lang="ja-JP" altLang="en-US" sz="2400" dirty="0"/>
                  <a:t>この時の氷の運動摩擦力を計算しなさい。ただし、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10°=0.98</m:t>
                    </m:r>
                  </m:oMath>
                </a14:m>
                <a:r>
                  <a:rPr lang="ja-JP" altLang="en-US" sz="2400" b="0" dirty="0"/>
                  <a:t>、金属と氷の運動摩擦係数を</a:t>
                </a:r>
                <a:r>
                  <a:rPr lang="en-US" altLang="ja-JP" sz="2400" b="0" dirty="0"/>
                  <a:t>0.022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57663" cy="3785652"/>
              </a:xfrm>
              <a:prstGeom prst="rect">
                <a:avLst/>
              </a:prstGeom>
              <a:blipFill>
                <a:blip r:embed="rId2"/>
                <a:stretch>
                  <a:fillRect l="-987" t="-1288" r="-6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7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727</Words>
  <Application>Microsoft Office PowerPoint</Application>
  <PresentationFormat>ワイド画面</PresentationFormat>
  <Paragraphs>122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169</cp:revision>
  <dcterms:created xsi:type="dcterms:W3CDTF">2024-08-27T02:15:54Z</dcterms:created>
  <dcterms:modified xsi:type="dcterms:W3CDTF">2025-07-31T05:12:25Z</dcterms:modified>
</cp:coreProperties>
</file>