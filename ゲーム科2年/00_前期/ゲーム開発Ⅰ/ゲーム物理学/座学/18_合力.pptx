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4" r:id="rId4"/>
    <p:sldId id="265" r:id="rId5"/>
    <p:sldId id="267" r:id="rId6"/>
    <p:sldId id="262" r:id="rId7"/>
    <p:sldId id="268" r:id="rId8"/>
    <p:sldId id="269" r:id="rId9"/>
    <p:sldId id="270" r:id="rId10"/>
    <p:sldId id="271" r:id="rId11"/>
    <p:sldId id="272" r:id="rId12"/>
    <p:sldId id="273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これまで以下の力について学習してきました。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・重さ</a:t>
            </a:r>
            <a:endParaRPr lang="en-US" altLang="ja-JP" sz="2400" dirty="0"/>
          </a:p>
          <a:p>
            <a:r>
              <a:rPr lang="ja-JP" altLang="en-US" sz="2400" dirty="0"/>
              <a:t>・垂直抗力</a:t>
            </a:r>
            <a:endParaRPr lang="en-US" altLang="ja-JP" sz="2400" dirty="0"/>
          </a:p>
          <a:p>
            <a:r>
              <a:rPr lang="ja-JP" altLang="en-US" sz="2400" dirty="0"/>
              <a:t>・静止摩擦力</a:t>
            </a:r>
            <a:endParaRPr lang="en-US" altLang="ja-JP" sz="2400" dirty="0"/>
          </a:p>
          <a:p>
            <a:r>
              <a:rPr lang="ja-JP" altLang="en-US" sz="2400" dirty="0"/>
              <a:t>・運動摩擦力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物体を動かすには、動かす力とこれらをすべて合計することにより、</a:t>
            </a:r>
            <a:endParaRPr lang="en-US" altLang="ja-JP" sz="2400" dirty="0"/>
          </a:p>
          <a:p>
            <a:r>
              <a:rPr lang="ja-JP" altLang="en-US" sz="2400" dirty="0"/>
              <a:t>最終的な物体が動く力を計算することができます。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このとき、合計された動く力のことを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合力（ごうりょく）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例えば、このように箱を押すとします。</a:t>
            </a:r>
            <a:endParaRPr lang="en-US" altLang="ja-JP" sz="2400" dirty="0"/>
          </a:p>
        </p:txBody>
      </p:sp>
      <p:pic>
        <p:nvPicPr>
          <p:cNvPr id="7" name="Picture 2" descr="押す人デフォルメイラスト｜無料イラスト・フリー素材なら「イラストAC」">
            <a:extLst>
              <a:ext uri="{FF2B5EF4-FFF2-40B4-BE49-F238E27FC236}">
                <a16:creationId xmlns:a16="http://schemas.microsoft.com/office/drawing/2014/main" id="{7B4D26E1-EC1B-481F-9B05-D64E6015E2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723326" y="2892964"/>
            <a:ext cx="2900862" cy="2213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6AA6489-9456-4212-9214-40DE9AAC0960}"/>
              </a:ext>
            </a:extLst>
          </p:cNvPr>
          <p:cNvSpPr/>
          <p:nvPr/>
        </p:nvSpPr>
        <p:spPr>
          <a:xfrm>
            <a:off x="3191434" y="4829976"/>
            <a:ext cx="5118847" cy="9840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728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この場合、箱には以下のような力が与えられます。</a:t>
            </a:r>
            <a:endParaRPr lang="en-US" altLang="ja-JP" sz="2400" dirty="0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06D004C-863F-4C24-913D-03E56ABD465D}"/>
              </a:ext>
            </a:extLst>
          </p:cNvPr>
          <p:cNvGrpSpPr/>
          <p:nvPr/>
        </p:nvGrpSpPr>
        <p:grpSpPr>
          <a:xfrm>
            <a:off x="3191434" y="2094803"/>
            <a:ext cx="5118847" cy="3902584"/>
            <a:chOff x="4294094" y="2417533"/>
            <a:chExt cx="3239484" cy="2512821"/>
          </a:xfrm>
        </p:grpSpPr>
        <p:pic>
          <p:nvPicPr>
            <p:cNvPr id="9" name="Picture 2" descr="押す人デフォルメイラスト｜無料イラスト・フリー素材なら「イラストAC」">
              <a:extLst>
                <a:ext uri="{FF2B5EF4-FFF2-40B4-BE49-F238E27FC236}">
                  <a16:creationId xmlns:a16="http://schemas.microsoft.com/office/drawing/2014/main" id="{36EDE852-A892-452E-87CF-DCE2ECDA51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630704" y="2931457"/>
              <a:ext cx="1835823" cy="14253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545BD1E-44B3-41BC-A8E9-9C2FFFB09E3B}"/>
                </a:ext>
              </a:extLst>
            </p:cNvPr>
            <p:cNvSpPr/>
            <p:nvPr/>
          </p:nvSpPr>
          <p:spPr>
            <a:xfrm>
              <a:off x="4294094" y="4178673"/>
              <a:ext cx="3239484" cy="633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C053AD29-A9E9-432F-B197-86B2D9209990}"/>
                </a:ext>
              </a:extLst>
            </p:cNvPr>
            <p:cNvCxnSpPr>
              <a:cxnSpLocks/>
            </p:cNvCxnSpPr>
            <p:nvPr/>
          </p:nvCxnSpPr>
          <p:spPr>
            <a:xfrm>
              <a:off x="5334000" y="3720353"/>
              <a:ext cx="87854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FFDB24D-8055-4416-8EE0-68B7A876CE5A}"/>
                </a:ext>
              </a:extLst>
            </p:cNvPr>
            <p:cNvSpPr txBox="1"/>
            <p:nvPr/>
          </p:nvSpPr>
          <p:spPr>
            <a:xfrm>
              <a:off x="5466786" y="3480681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FF0000"/>
                  </a:solidFill>
                </a:rPr>
                <a:t>押す力</a:t>
              </a:r>
              <a:endParaRPr lang="en-US" altLang="ja-JP" sz="16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76B7FE50-AECD-4964-BF32-250F1416896F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69" y="2417533"/>
              <a:ext cx="0" cy="720000"/>
            </a:xfrm>
            <a:prstGeom prst="straightConnector1">
              <a:avLst/>
            </a:prstGeom>
            <a:ln w="3810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57E510C-366D-4561-BE26-05804E3F7C19}"/>
                </a:ext>
              </a:extLst>
            </p:cNvPr>
            <p:cNvSpPr txBox="1"/>
            <p:nvPr/>
          </p:nvSpPr>
          <p:spPr>
            <a:xfrm>
              <a:off x="5764304" y="2644809"/>
              <a:ext cx="376570" cy="217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7030A0"/>
                  </a:solidFill>
                </a:rPr>
                <a:t>重さ</a:t>
              </a:r>
              <a:endParaRPr lang="en-US" altLang="ja-JP" sz="1600" b="1" dirty="0">
                <a:solidFill>
                  <a:srgbClr val="7030A0"/>
                </a:solidFill>
              </a:endParaRPr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95C2BC4F-EB7D-4C35-BF86-2A3E98B66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64304" y="4210354"/>
              <a:ext cx="1" cy="72000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932DCF6-B0A6-4B34-B314-671A7249CF6B}"/>
                </a:ext>
              </a:extLst>
            </p:cNvPr>
            <p:cNvSpPr txBox="1"/>
            <p:nvPr/>
          </p:nvSpPr>
          <p:spPr>
            <a:xfrm>
              <a:off x="5764303" y="4463590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B050"/>
                  </a:solidFill>
                </a:rPr>
                <a:t>垂直抗力</a:t>
              </a:r>
              <a:endParaRPr lang="en-US" altLang="ja-JP" sz="1600" b="1" dirty="0">
                <a:solidFill>
                  <a:srgbClr val="00B050"/>
                </a:solidFill>
              </a:endParaRPr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F99BC580-850D-4ED5-96CC-7F68D76A5B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59339" y="4071929"/>
              <a:ext cx="453152" cy="23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13FE4404-033A-4047-A7F8-4CCF2BE2FC14}"/>
                </a:ext>
              </a:extLst>
            </p:cNvPr>
            <p:cNvSpPr txBox="1"/>
            <p:nvPr/>
          </p:nvSpPr>
          <p:spPr>
            <a:xfrm>
              <a:off x="6359339" y="3805181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70C0"/>
                  </a:solidFill>
                </a:rPr>
                <a:t>摩擦力</a:t>
              </a:r>
              <a:endParaRPr lang="en-US" altLang="ja-JP" sz="1600" b="1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30043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箱はこれらすべての力の合力によって移動することになります。</a:t>
            </a:r>
            <a:endParaRPr lang="en-US" altLang="ja-JP" sz="2400" dirty="0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06D004C-863F-4C24-913D-03E56ABD465D}"/>
              </a:ext>
            </a:extLst>
          </p:cNvPr>
          <p:cNvGrpSpPr/>
          <p:nvPr/>
        </p:nvGrpSpPr>
        <p:grpSpPr>
          <a:xfrm>
            <a:off x="3191434" y="2094804"/>
            <a:ext cx="5118847" cy="3902585"/>
            <a:chOff x="4294094" y="2417533"/>
            <a:chExt cx="3239484" cy="2512821"/>
          </a:xfrm>
        </p:grpSpPr>
        <p:pic>
          <p:nvPicPr>
            <p:cNvPr id="9" name="Picture 2" descr="押す人デフォルメイラスト｜無料イラスト・フリー素材なら「イラストAC」">
              <a:extLst>
                <a:ext uri="{FF2B5EF4-FFF2-40B4-BE49-F238E27FC236}">
                  <a16:creationId xmlns:a16="http://schemas.microsoft.com/office/drawing/2014/main" id="{36EDE852-A892-452E-87CF-DCE2ECDA51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630704" y="2931457"/>
              <a:ext cx="1835823" cy="14253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545BD1E-44B3-41BC-A8E9-9C2FFFB09E3B}"/>
                </a:ext>
              </a:extLst>
            </p:cNvPr>
            <p:cNvSpPr/>
            <p:nvPr/>
          </p:nvSpPr>
          <p:spPr>
            <a:xfrm>
              <a:off x="4294094" y="4178673"/>
              <a:ext cx="3239484" cy="633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C053AD29-A9E9-432F-B197-86B2D9209990}"/>
                </a:ext>
              </a:extLst>
            </p:cNvPr>
            <p:cNvCxnSpPr>
              <a:cxnSpLocks/>
            </p:cNvCxnSpPr>
            <p:nvPr/>
          </p:nvCxnSpPr>
          <p:spPr>
            <a:xfrm>
              <a:off x="5334000" y="3720353"/>
              <a:ext cx="87854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FFDB24D-8055-4416-8EE0-68B7A876CE5A}"/>
                </a:ext>
              </a:extLst>
            </p:cNvPr>
            <p:cNvSpPr txBox="1"/>
            <p:nvPr/>
          </p:nvSpPr>
          <p:spPr>
            <a:xfrm>
              <a:off x="5466786" y="3480681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FF0000"/>
                  </a:solidFill>
                </a:rPr>
                <a:t>押す力</a:t>
              </a:r>
              <a:endParaRPr lang="en-US" altLang="ja-JP" sz="16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76B7FE50-AECD-4964-BF32-250F1416896F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69" y="2417533"/>
              <a:ext cx="0" cy="720000"/>
            </a:xfrm>
            <a:prstGeom prst="straightConnector1">
              <a:avLst/>
            </a:prstGeom>
            <a:ln w="3810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57E510C-366D-4561-BE26-05804E3F7C19}"/>
                </a:ext>
              </a:extLst>
            </p:cNvPr>
            <p:cNvSpPr txBox="1"/>
            <p:nvPr/>
          </p:nvSpPr>
          <p:spPr>
            <a:xfrm>
              <a:off x="5764304" y="2644809"/>
              <a:ext cx="376570" cy="217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7030A0"/>
                  </a:solidFill>
                </a:rPr>
                <a:t>重さ</a:t>
              </a:r>
              <a:endParaRPr lang="en-US" altLang="ja-JP" sz="1600" b="1" dirty="0">
                <a:solidFill>
                  <a:srgbClr val="7030A0"/>
                </a:solidFill>
              </a:endParaRPr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95C2BC4F-EB7D-4C35-BF86-2A3E98B66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64304" y="4210354"/>
              <a:ext cx="1" cy="72000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932DCF6-B0A6-4B34-B314-671A7249CF6B}"/>
                </a:ext>
              </a:extLst>
            </p:cNvPr>
            <p:cNvSpPr txBox="1"/>
            <p:nvPr/>
          </p:nvSpPr>
          <p:spPr>
            <a:xfrm>
              <a:off x="5764303" y="4463590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B050"/>
                  </a:solidFill>
                </a:rPr>
                <a:t>垂直抗力</a:t>
              </a:r>
              <a:endParaRPr lang="en-US" altLang="ja-JP" sz="1600" b="1" dirty="0">
                <a:solidFill>
                  <a:srgbClr val="00B050"/>
                </a:solidFill>
              </a:endParaRPr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F99BC580-850D-4ED5-96CC-7F68D76A5B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59339" y="4071929"/>
              <a:ext cx="453152" cy="23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13FE4404-033A-4047-A7F8-4CCF2BE2FC14}"/>
                </a:ext>
              </a:extLst>
            </p:cNvPr>
            <p:cNvSpPr txBox="1"/>
            <p:nvPr/>
          </p:nvSpPr>
          <p:spPr>
            <a:xfrm>
              <a:off x="6359339" y="3805181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70C0"/>
                  </a:solidFill>
                </a:rPr>
                <a:t>摩擦力</a:t>
              </a:r>
              <a:endParaRPr lang="en-US" altLang="ja-JP" sz="16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2" name="矢印: 右 1">
            <a:extLst>
              <a:ext uri="{FF2B5EF4-FFF2-40B4-BE49-F238E27FC236}">
                <a16:creationId xmlns:a16="http://schemas.microsoft.com/office/drawing/2014/main" id="{4558DFAE-4389-4FA5-BAC7-C05247B75B10}"/>
              </a:ext>
            </a:extLst>
          </p:cNvPr>
          <p:cNvSpPr/>
          <p:nvPr/>
        </p:nvSpPr>
        <p:spPr>
          <a:xfrm>
            <a:off x="6454816" y="2893289"/>
            <a:ext cx="1909482" cy="1217899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合力</a:t>
            </a:r>
          </a:p>
        </p:txBody>
      </p:sp>
    </p:spTree>
    <p:extLst>
      <p:ext uri="{BB962C8B-B14F-4D97-AF65-F5344CB8AC3E}">
        <p14:creationId xmlns:p14="http://schemas.microsoft.com/office/powerpoint/2010/main" val="3380339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合力を計算するには</a:t>
            </a:r>
            <a:r>
              <a:rPr lang="ja-JP" altLang="en-US" sz="2400" b="1" dirty="0">
                <a:solidFill>
                  <a:srgbClr val="FF0000"/>
                </a:solidFill>
              </a:rPr>
              <a:t>自由物体図</a:t>
            </a:r>
            <a:r>
              <a:rPr lang="ja-JP" altLang="en-US" sz="2400" dirty="0"/>
              <a:t>を記述します。</a:t>
            </a:r>
            <a:endParaRPr lang="en-US" altLang="ja-JP" sz="2400" dirty="0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06D004C-863F-4C24-913D-03E56ABD465D}"/>
              </a:ext>
            </a:extLst>
          </p:cNvPr>
          <p:cNvGrpSpPr/>
          <p:nvPr/>
        </p:nvGrpSpPr>
        <p:grpSpPr>
          <a:xfrm>
            <a:off x="4086286" y="2063233"/>
            <a:ext cx="3833178" cy="3884589"/>
            <a:chOff x="4860405" y="2397205"/>
            <a:chExt cx="2425843" cy="2501234"/>
          </a:xfrm>
        </p:grpSpPr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C053AD29-A9E9-432F-B197-86B2D9209990}"/>
                </a:ext>
              </a:extLst>
            </p:cNvPr>
            <p:cNvCxnSpPr>
              <a:cxnSpLocks/>
            </p:cNvCxnSpPr>
            <p:nvPr/>
          </p:nvCxnSpPr>
          <p:spPr>
            <a:xfrm>
              <a:off x="6319482" y="3647822"/>
              <a:ext cx="87854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FFDB24D-8055-4416-8EE0-68B7A876CE5A}"/>
                </a:ext>
              </a:extLst>
            </p:cNvPr>
            <p:cNvSpPr txBox="1"/>
            <p:nvPr/>
          </p:nvSpPr>
          <p:spPr>
            <a:xfrm>
              <a:off x="6486029" y="3381799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FF0000"/>
                  </a:solidFill>
                </a:rPr>
                <a:t>押す力</a:t>
              </a:r>
              <a:endParaRPr lang="en-US" altLang="ja-JP" sz="16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76B7FE50-AECD-4964-BF32-250F1416896F}"/>
                </a:ext>
              </a:extLst>
            </p:cNvPr>
            <p:cNvCxnSpPr>
              <a:cxnSpLocks/>
            </p:cNvCxnSpPr>
            <p:nvPr/>
          </p:nvCxnSpPr>
          <p:spPr>
            <a:xfrm>
              <a:off x="5818076" y="4178439"/>
              <a:ext cx="0" cy="720000"/>
            </a:xfrm>
            <a:prstGeom prst="straightConnector1">
              <a:avLst/>
            </a:prstGeom>
            <a:ln w="3810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57E510C-366D-4561-BE26-05804E3F7C19}"/>
                </a:ext>
              </a:extLst>
            </p:cNvPr>
            <p:cNvSpPr txBox="1"/>
            <p:nvPr/>
          </p:nvSpPr>
          <p:spPr>
            <a:xfrm>
              <a:off x="5851412" y="4437035"/>
              <a:ext cx="376570" cy="217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7030A0"/>
                  </a:solidFill>
                </a:rPr>
                <a:t>重さ</a:t>
              </a:r>
              <a:endParaRPr lang="en-US" altLang="ja-JP" sz="1600" b="1" dirty="0">
                <a:solidFill>
                  <a:srgbClr val="7030A0"/>
                </a:solidFill>
              </a:endParaRPr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95C2BC4F-EB7D-4C35-BF86-2A3E98B66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18076" y="2397205"/>
              <a:ext cx="1" cy="72000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932DCF6-B0A6-4B34-B314-671A7249CF6B}"/>
                </a:ext>
              </a:extLst>
            </p:cNvPr>
            <p:cNvSpPr txBox="1"/>
            <p:nvPr/>
          </p:nvSpPr>
          <p:spPr>
            <a:xfrm>
              <a:off x="5818076" y="2678871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B050"/>
                  </a:solidFill>
                </a:rPr>
                <a:t>垂直抗力</a:t>
              </a:r>
              <a:endParaRPr lang="en-US" altLang="ja-JP" sz="1600" b="1" dirty="0">
                <a:solidFill>
                  <a:srgbClr val="00B050"/>
                </a:solidFill>
              </a:endParaRPr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F99BC580-850D-4ED5-96CC-7F68D76A5B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79035" y="3647822"/>
              <a:ext cx="453152" cy="23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13FE4404-033A-4047-A7F8-4CCF2BE2FC14}"/>
                </a:ext>
              </a:extLst>
            </p:cNvPr>
            <p:cNvSpPr txBox="1"/>
            <p:nvPr/>
          </p:nvSpPr>
          <p:spPr>
            <a:xfrm>
              <a:off x="4860405" y="3381799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70C0"/>
                  </a:solidFill>
                </a:rPr>
                <a:t>摩擦力</a:t>
              </a:r>
              <a:endParaRPr lang="en-US" altLang="ja-JP" sz="16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CFA6CEB-78B3-47C3-B5E6-90A23A7C63F8}"/>
              </a:ext>
            </a:extLst>
          </p:cNvPr>
          <p:cNvSpPr/>
          <p:nvPr/>
        </p:nvSpPr>
        <p:spPr>
          <a:xfrm>
            <a:off x="4812218" y="3181444"/>
            <a:ext cx="1579617" cy="16481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箱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84FDA51-8639-49C8-AA1F-AE178B31291C}"/>
              </a:ext>
            </a:extLst>
          </p:cNvPr>
          <p:cNvSpPr txBox="1"/>
          <p:nvPr/>
        </p:nvSpPr>
        <p:spPr>
          <a:xfrm>
            <a:off x="495531" y="4377604"/>
            <a:ext cx="41857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自由物体図は、力を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・物体の中心から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・力の強さと比例した長さで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記述した図です。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075618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969F263-444C-403B-A94E-2C8A9B1BB2AB}"/>
              </a:ext>
            </a:extLst>
          </p:cNvPr>
          <p:cNvSpPr/>
          <p:nvPr/>
        </p:nvSpPr>
        <p:spPr>
          <a:xfrm>
            <a:off x="567542" y="5486401"/>
            <a:ext cx="4894729" cy="730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E875718C-F6A2-4FCA-9B38-2922A7FA5964}"/>
                  </a:ext>
                </a:extLst>
              </p:cNvPr>
              <p:cNvSpPr txBox="1"/>
              <p:nvPr/>
            </p:nvSpPr>
            <p:spPr>
              <a:xfrm>
                <a:off x="3403299" y="4614592"/>
                <a:ext cx="72808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i="1" dirty="0" smtClean="0">
                          <a:latin typeface="Cambria Math" panose="02040503050406030204" pitchFamily="18" charset="0"/>
                        </a:rPr>
                        <m:t>60</m:t>
                      </m:r>
                      <m:r>
                        <a:rPr lang="en-US" altLang="ja-JP" sz="2400" i="1" dirty="0">
                          <a:latin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E875718C-F6A2-4FCA-9B38-2922A7FA5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299" y="4614592"/>
                <a:ext cx="728084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077C820-506E-4C68-AD02-1D94E0B9FFE9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3247988" y="3572436"/>
            <a:ext cx="1332832" cy="134918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A00EC97-2962-46C1-9297-D5B87EF8F61D}"/>
              </a:ext>
            </a:extLst>
          </p:cNvPr>
          <p:cNvSpPr txBox="1"/>
          <p:nvPr/>
        </p:nvSpPr>
        <p:spPr>
          <a:xfrm>
            <a:off x="3297150" y="3762038"/>
            <a:ext cx="76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 b="1" dirty="0"/>
              <a:t>100N</a:t>
            </a:r>
            <a:endParaRPr lang="ja-JP" altLang="en-US" b="1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7B09C6C-6D01-4872-BA3C-08158207807E}"/>
              </a:ext>
            </a:extLst>
          </p:cNvPr>
          <p:cNvSpPr txBox="1"/>
          <p:nvPr/>
        </p:nvSpPr>
        <p:spPr>
          <a:xfrm>
            <a:off x="5974688" y="2846764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■解答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まずは問題を元に自由物体図を作ります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16098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4178131" cy="20083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箱の重さは、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−9.8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=−196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r>
                  <a:rPr lang="ja-JP" altLang="en-US" sz="2400" dirty="0"/>
                  <a:t>重さは必ず下向きなので、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4178131" cy="2008370"/>
              </a:xfrm>
              <a:prstGeom prst="rect">
                <a:avLst/>
              </a:prstGeom>
              <a:blipFill>
                <a:blip r:embed="rId3"/>
                <a:stretch>
                  <a:fillRect l="-2190" t="-2432" b="-33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F0ACBCE-2D2F-433A-B104-99D2859E34E3}"/>
              </a:ext>
            </a:extLst>
          </p:cNvPr>
          <p:cNvSpPr txBox="1"/>
          <p:nvPr/>
        </p:nvSpPr>
        <p:spPr>
          <a:xfrm>
            <a:off x="5956169" y="5285140"/>
            <a:ext cx="48013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力には向きもあるので、</a:t>
            </a:r>
            <a:endParaRPr lang="en-US" altLang="ja-JP" sz="2400" dirty="0"/>
          </a:p>
          <a:p>
            <a:r>
              <a:rPr lang="ja-JP" altLang="en-US" sz="2400" dirty="0"/>
              <a:t>必ず</a:t>
            </a:r>
            <a:r>
              <a:rPr lang="ja-JP" altLang="en-US" sz="2400" b="1" dirty="0">
                <a:solidFill>
                  <a:srgbClr val="FF0000"/>
                </a:solidFill>
              </a:rPr>
              <a:t>ベクトルで表記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48009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5341527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ロープで引く力は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@60°</m:t>
                    </m:r>
                  </m:oMath>
                </a14:m>
                <a:r>
                  <a:rPr lang="ja-JP" altLang="en-US" sz="2400" dirty="0"/>
                  <a:t>なので、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60°,100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𝑁𝑠𝑖𝑛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60°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86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</p:txBody>
          </p:sp>
        </mc:Choice>
        <mc:Fallback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5341527" cy="1938992"/>
              </a:xfrm>
              <a:prstGeom prst="rect">
                <a:avLst/>
              </a:prstGeom>
              <a:blipFill>
                <a:blip r:embed="rId3"/>
                <a:stretch>
                  <a:fillRect l="-1712" t="-2516" r="-91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A53EC50-58D3-40C5-8C2F-BABEE5FA8DD1}"/>
              </a:ext>
            </a:extLst>
          </p:cNvPr>
          <p:cNvCxnSpPr/>
          <p:nvPr/>
        </p:nvCxnSpPr>
        <p:spPr>
          <a:xfrm flipV="1">
            <a:off x="3247988" y="3466938"/>
            <a:ext cx="880259" cy="103094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7FBF351D-41A1-44E3-83E6-35918AEF404E}"/>
                  </a:ext>
                </a:extLst>
              </p:cNvPr>
              <p:cNvSpPr txBox="1"/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,86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7FBF351D-41A1-44E3-83E6-35918AEF4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2167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6475940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箱にかかる鉛直の力は、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−196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+86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=−110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地面からの垂直抗力は、</a:t>
                </a:r>
                <a:endParaRPr lang="en-US" altLang="ja-JP" sz="2400" dirty="0"/>
              </a:p>
              <a:p>
                <a:r>
                  <a:rPr lang="ja-JP" altLang="en-US" sz="2400" dirty="0"/>
                  <a:t>下向きの力に釣り合うので、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[0,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r>
                  <a:rPr lang="en-US" altLang="ja-JP" sz="2400" dirty="0"/>
                  <a:t> </a:t>
                </a:r>
              </a:p>
            </p:txBody>
          </p:sp>
        </mc:Choice>
        <mc:Fallback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6475940" cy="2308324"/>
              </a:xfrm>
              <a:prstGeom prst="rect">
                <a:avLst/>
              </a:prstGeom>
              <a:blipFill>
                <a:blip r:embed="rId3"/>
                <a:stretch>
                  <a:fillRect l="-1412" t="-2111" b="-501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A53EC50-58D3-40C5-8C2F-BABEE5FA8DD1}"/>
              </a:ext>
            </a:extLst>
          </p:cNvPr>
          <p:cNvCxnSpPr/>
          <p:nvPr/>
        </p:nvCxnSpPr>
        <p:spPr>
          <a:xfrm flipV="1">
            <a:off x="3247988" y="3466938"/>
            <a:ext cx="880259" cy="103094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/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,86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8B65E137-FF19-45DC-B8AB-48CF040F4DA9}"/>
              </a:ext>
            </a:extLst>
          </p:cNvPr>
          <p:cNvCxnSpPr>
            <a:cxnSpLocks/>
          </p:cNvCxnSpPr>
          <p:nvPr/>
        </p:nvCxnSpPr>
        <p:spPr>
          <a:xfrm flipV="1">
            <a:off x="2605331" y="3466938"/>
            <a:ext cx="0" cy="88991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/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00B05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blipFill>
                <a:blip r:embed="rId6"/>
                <a:stretch>
                  <a:fillRect l="-2083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48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5703806" cy="3046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金属と氷の運動摩擦係数は</a:t>
                </a:r>
                <a:r>
                  <a:rPr lang="en-US" altLang="ja-JP" sz="2400" dirty="0"/>
                  <a:t>0.02</a:t>
                </a:r>
                <a:r>
                  <a:rPr lang="ja-JP" altLang="en-US" sz="2400" dirty="0"/>
                  <a:t>なので、</a:t>
                </a:r>
                <a:endParaRPr lang="en-US" altLang="ja-JP" sz="2400" dirty="0"/>
              </a:p>
              <a:p>
                <a:r>
                  <a:rPr lang="ja-JP" altLang="en-US" sz="2400" dirty="0"/>
                  <a:t>運動摩擦力は、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0.02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=2.2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ロープは右向きにひかれているので</a:t>
                </a:r>
                <a:endParaRPr lang="en-US" altLang="ja-JP" sz="2400" dirty="0"/>
              </a:p>
              <a:p>
                <a:r>
                  <a:rPr lang="ja-JP" altLang="en-US" sz="2400" dirty="0"/>
                  <a:t>摩擦力はその逆向きに加わる。よって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[−2.2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0]</m:t>
                    </m:r>
                  </m:oMath>
                </a14:m>
                <a:r>
                  <a:rPr lang="ja-JP" altLang="en-US" sz="2400" dirty="0"/>
                  <a:t>となる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5703806" cy="3046988"/>
              </a:xfrm>
              <a:prstGeom prst="rect">
                <a:avLst/>
              </a:prstGeom>
              <a:blipFill>
                <a:blip r:embed="rId3"/>
                <a:stretch>
                  <a:fillRect l="-1603" t="-1600" r="-748" b="-36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A53EC50-58D3-40C5-8C2F-BABEE5FA8DD1}"/>
              </a:ext>
            </a:extLst>
          </p:cNvPr>
          <p:cNvCxnSpPr/>
          <p:nvPr/>
        </p:nvCxnSpPr>
        <p:spPr>
          <a:xfrm flipV="1">
            <a:off x="3247988" y="3466938"/>
            <a:ext cx="880259" cy="103094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/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,86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8B65E137-FF19-45DC-B8AB-48CF040F4DA9}"/>
              </a:ext>
            </a:extLst>
          </p:cNvPr>
          <p:cNvCxnSpPr>
            <a:cxnSpLocks/>
          </p:cNvCxnSpPr>
          <p:nvPr/>
        </p:nvCxnSpPr>
        <p:spPr>
          <a:xfrm flipV="1">
            <a:off x="2605331" y="3466938"/>
            <a:ext cx="0" cy="88991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/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00B05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blipFill>
                <a:blip r:embed="rId6"/>
                <a:stretch>
                  <a:fillRect l="-2083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E94B9AAC-5287-4FAF-8053-B1E8E393C1A0}"/>
              </a:ext>
            </a:extLst>
          </p:cNvPr>
          <p:cNvCxnSpPr>
            <a:cxnSpLocks/>
          </p:cNvCxnSpPr>
          <p:nvPr/>
        </p:nvCxnSpPr>
        <p:spPr>
          <a:xfrm flipH="1">
            <a:off x="1747484" y="4921623"/>
            <a:ext cx="326128" cy="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0685C82F-52F8-4C79-B1EC-BF6E1AD00595}"/>
                  </a:ext>
                </a:extLst>
              </p:cNvPr>
              <p:cNvSpPr txBox="1"/>
              <p:nvPr/>
            </p:nvSpPr>
            <p:spPr>
              <a:xfrm>
                <a:off x="825145" y="5004722"/>
                <a:ext cx="132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[−2.2</m:t>
                      </m:r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 0]</m:t>
                      </m:r>
                    </m:oMath>
                  </m:oMathPara>
                </a14:m>
                <a:endParaRPr lang="ja-JP" alt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0685C82F-52F8-4C79-B1EC-BF6E1AD00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145" y="5004722"/>
                <a:ext cx="1322557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2934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5832815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全ての力の合計が合力となる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0, −196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, 86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0, 110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−2.2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  <m:r>
                      <a:rPr lang="en-US" altLang="ja-JP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=[47.8</m:t>
                    </m:r>
                    <m:r>
                      <a:rPr lang="en-US" altLang="ja-JP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0]</m:t>
                    </m:r>
                  </m:oMath>
                </a14:m>
                <a:r>
                  <a:rPr lang="en-US" altLang="ja-JP" sz="1600" dirty="0">
                    <a:solidFill>
                      <a:srgbClr val="FF0000"/>
                    </a:solidFill>
                  </a:rPr>
                  <a:t> </a:t>
                </a:r>
                <a:endParaRPr lang="en-US" altLang="ja-JP" sz="1600" dirty="0"/>
              </a:p>
            </p:txBody>
          </p:sp>
        </mc:Choice>
        <mc:Fallback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5832815" cy="1077218"/>
              </a:xfrm>
              <a:prstGeom prst="rect">
                <a:avLst/>
              </a:prstGeom>
              <a:blipFill>
                <a:blip r:embed="rId3"/>
                <a:stretch>
                  <a:fillRect l="-1567" t="-4520" b="-22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A53EC50-58D3-40C5-8C2F-BABEE5FA8DD1}"/>
              </a:ext>
            </a:extLst>
          </p:cNvPr>
          <p:cNvCxnSpPr/>
          <p:nvPr/>
        </p:nvCxnSpPr>
        <p:spPr>
          <a:xfrm flipV="1">
            <a:off x="3247988" y="3466938"/>
            <a:ext cx="880259" cy="103094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/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,86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8B65E137-FF19-45DC-B8AB-48CF040F4DA9}"/>
              </a:ext>
            </a:extLst>
          </p:cNvPr>
          <p:cNvCxnSpPr>
            <a:cxnSpLocks/>
          </p:cNvCxnSpPr>
          <p:nvPr/>
        </p:nvCxnSpPr>
        <p:spPr>
          <a:xfrm flipV="1">
            <a:off x="2605331" y="3466938"/>
            <a:ext cx="0" cy="88991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/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00B05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blipFill>
                <a:blip r:embed="rId6"/>
                <a:stretch>
                  <a:fillRect l="-2083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E94B9AAC-5287-4FAF-8053-B1E8E393C1A0}"/>
              </a:ext>
            </a:extLst>
          </p:cNvPr>
          <p:cNvCxnSpPr>
            <a:cxnSpLocks/>
          </p:cNvCxnSpPr>
          <p:nvPr/>
        </p:nvCxnSpPr>
        <p:spPr>
          <a:xfrm flipH="1">
            <a:off x="1747484" y="4921623"/>
            <a:ext cx="326128" cy="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0685C82F-52F8-4C79-B1EC-BF6E1AD00595}"/>
                  </a:ext>
                </a:extLst>
              </p:cNvPr>
              <p:cNvSpPr txBox="1"/>
              <p:nvPr/>
            </p:nvSpPr>
            <p:spPr>
              <a:xfrm>
                <a:off x="825145" y="5004722"/>
                <a:ext cx="132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[−2.2</m:t>
                      </m:r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 0]</m:t>
                      </m:r>
                    </m:oMath>
                  </m:oMathPara>
                </a14:m>
                <a:endParaRPr lang="ja-JP" alt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0685C82F-52F8-4C79-B1EC-BF6E1AD00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145" y="5004722"/>
                <a:ext cx="1322557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A56A348-F5D9-47BE-A50D-300AF878C024}"/>
              </a:ext>
            </a:extLst>
          </p:cNvPr>
          <p:cNvSpPr txBox="1"/>
          <p:nvPr/>
        </p:nvSpPr>
        <p:spPr>
          <a:xfrm>
            <a:off x="5974688" y="5260675"/>
            <a:ext cx="57246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垂直抗力の計算には気を付けましょう。</a:t>
            </a:r>
            <a:endParaRPr lang="en-US" altLang="ja-JP" sz="2400" dirty="0"/>
          </a:p>
          <a:p>
            <a:r>
              <a:rPr lang="ja-JP" altLang="en-US" sz="2400" dirty="0"/>
              <a:t>（</a:t>
            </a:r>
            <a:r>
              <a:rPr lang="ja-JP" altLang="en-US" sz="2400" b="1" dirty="0">
                <a:solidFill>
                  <a:srgbClr val="FF0000"/>
                </a:solidFill>
              </a:rPr>
              <a:t>安易に重さの反対にしないこと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8215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15kg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80N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3048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1688</TotalTime>
  <Words>815</Words>
  <Application>Microsoft Office PowerPoint</Application>
  <PresentationFormat>ワイド画面</PresentationFormat>
  <Paragraphs>122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179</cp:revision>
  <dcterms:created xsi:type="dcterms:W3CDTF">2024-08-27T02:15:54Z</dcterms:created>
  <dcterms:modified xsi:type="dcterms:W3CDTF">2025-09-29T05:54:07Z</dcterms:modified>
</cp:coreProperties>
</file>