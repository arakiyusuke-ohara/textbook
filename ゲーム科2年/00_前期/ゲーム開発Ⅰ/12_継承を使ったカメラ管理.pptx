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現在のカメラ管理には１つ大きな問題があります。</a:t>
            </a:r>
            <a:endParaRPr lang="en-US" altLang="ja-JP" sz="2400" dirty="0"/>
          </a:p>
          <a:p>
            <a:r>
              <a:rPr lang="ja-JP" altLang="en-US" sz="2400" dirty="0"/>
              <a:t>それは、</a:t>
            </a:r>
            <a:r>
              <a:rPr lang="ja-JP" altLang="en-US" sz="2400" b="1" dirty="0">
                <a:solidFill>
                  <a:srgbClr val="FF0000"/>
                </a:solidFill>
              </a:rPr>
              <a:t>カメラの種類を増やした時の対応が面倒</a:t>
            </a:r>
            <a:r>
              <a:rPr lang="ja-JP" altLang="en-US" sz="2400" dirty="0"/>
              <a:t>ということです。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EE8A473-5BC7-4006-A8EF-B40B9A543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510" y="2188906"/>
            <a:ext cx="5201376" cy="88594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68DB7F-2034-490B-85F5-1E74361D651C}"/>
              </a:ext>
            </a:extLst>
          </p:cNvPr>
          <p:cNvSpPr txBox="1"/>
          <p:nvPr/>
        </p:nvSpPr>
        <p:spPr>
          <a:xfrm>
            <a:off x="567542" y="4673275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このままイベント用のカメラなど種類を増やすほど、</a:t>
            </a:r>
            <a:endParaRPr lang="en-US" altLang="ja-JP" sz="2400" dirty="0"/>
          </a:p>
          <a:p>
            <a:r>
              <a:rPr lang="ja-JP" altLang="en-US" sz="2400" dirty="0"/>
              <a:t>上記の部分が増えていってしまいます。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92363EB-8F45-40B3-9619-CE0558D3E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3238498" cy="192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7A4D730-EACC-491F-AF01-0A4BB3981FE8}"/>
              </a:ext>
            </a:extLst>
          </p:cNvPr>
          <p:cNvSpPr/>
          <p:nvPr/>
        </p:nvSpPr>
        <p:spPr>
          <a:xfrm>
            <a:off x="397933" y="2954867"/>
            <a:ext cx="7740912" cy="181758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クラスの継承</a:t>
            </a:r>
            <a:r>
              <a:rPr lang="ja-JP" altLang="en-US" sz="2400" dirty="0"/>
              <a:t>を使いこなすと、</a:t>
            </a:r>
            <a:endParaRPr lang="en-US" altLang="ja-JP" sz="2400" dirty="0"/>
          </a:p>
          <a:p>
            <a:r>
              <a:rPr lang="ja-JP" altLang="en-US" sz="2400" dirty="0"/>
              <a:t>このような種類の追加に対して柔軟に対応できます。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カメラ管理で練習してみましょう。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クラスの継承とは、</a:t>
            </a:r>
            <a:endParaRPr lang="en-US" altLang="ja-JP" sz="2400" dirty="0"/>
          </a:p>
          <a:p>
            <a:r>
              <a:rPr lang="ja-JP" altLang="en-US" sz="2400" dirty="0"/>
              <a:t>ベースとなる基底クラスを準備しておき、</a:t>
            </a:r>
            <a:endParaRPr lang="en-US" altLang="ja-JP" sz="2400" dirty="0"/>
          </a:p>
          <a:p>
            <a:r>
              <a:rPr lang="ja-JP" altLang="en-US" sz="2400" dirty="0"/>
              <a:t>そこから機能を派生させた派生クラスを作ること。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47819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以下のように設計していきます。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 err="1">
                <a:solidFill>
                  <a:srgbClr val="FF0000"/>
                </a:solidFill>
              </a:rPr>
              <a:t>CameraBase</a:t>
            </a:r>
            <a:r>
              <a:rPr lang="ja-JP" altLang="en-US" sz="2400" b="1" dirty="0">
                <a:solidFill>
                  <a:srgbClr val="FF0000"/>
                </a:solidFill>
              </a:rPr>
              <a:t>クラス（基底）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・カメラに必要な最低限の変数や関数を持っているクラス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Camera</a:t>
            </a:r>
            <a:r>
              <a:rPr lang="ja-JP" altLang="en-US" sz="2400" b="1" dirty="0">
                <a:solidFill>
                  <a:srgbClr val="FF0000"/>
                </a:solidFill>
              </a:rPr>
              <a:t>クラス（</a:t>
            </a:r>
            <a:r>
              <a:rPr lang="en-US" altLang="ja-JP" sz="2400" b="1" dirty="0" err="1">
                <a:solidFill>
                  <a:srgbClr val="FF0000"/>
                </a:solidFill>
              </a:rPr>
              <a:t>CameraBase</a:t>
            </a:r>
            <a:r>
              <a:rPr lang="ja-JP" altLang="en-US" sz="2400" b="1" dirty="0">
                <a:solidFill>
                  <a:srgbClr val="FF0000"/>
                </a:solidFill>
              </a:rPr>
              <a:t>から派生）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・最低限の機能は</a:t>
            </a:r>
            <a:r>
              <a:rPr lang="en-US" altLang="ja-JP" sz="2400" b="1" dirty="0" err="1">
                <a:solidFill>
                  <a:srgbClr val="00B050"/>
                </a:solidFill>
              </a:rPr>
              <a:t>CameraBase</a:t>
            </a:r>
            <a:r>
              <a:rPr lang="ja-JP" altLang="en-US" sz="2400" dirty="0"/>
              <a:t>が持っている</a:t>
            </a:r>
            <a:endParaRPr lang="en-US" altLang="ja-JP" sz="2400" dirty="0"/>
          </a:p>
          <a:p>
            <a:r>
              <a:rPr lang="ja-JP" altLang="en-US" sz="2400" dirty="0"/>
              <a:t>・従来通りプレイヤーを追従する機能だけ持っている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 err="1">
                <a:solidFill>
                  <a:srgbClr val="FF0000"/>
                </a:solidFill>
              </a:rPr>
              <a:t>DebugCamera</a:t>
            </a:r>
            <a:r>
              <a:rPr lang="ja-JP" altLang="en-US" sz="2400" b="1" dirty="0">
                <a:solidFill>
                  <a:srgbClr val="FF0000"/>
                </a:solidFill>
              </a:rPr>
              <a:t>クラス（</a:t>
            </a:r>
            <a:r>
              <a:rPr lang="en-US" altLang="ja-JP" sz="2400" b="1" dirty="0" err="1">
                <a:solidFill>
                  <a:srgbClr val="FF0000"/>
                </a:solidFill>
              </a:rPr>
              <a:t>CameraBase</a:t>
            </a:r>
            <a:r>
              <a:rPr lang="ja-JP" altLang="en-US" sz="2400" b="1" dirty="0">
                <a:solidFill>
                  <a:srgbClr val="FF0000"/>
                </a:solidFill>
              </a:rPr>
              <a:t>から派生）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・最低限の機能は</a:t>
            </a:r>
            <a:r>
              <a:rPr lang="en-US" altLang="ja-JP" sz="2400" b="1" dirty="0" err="1">
                <a:solidFill>
                  <a:srgbClr val="00B050"/>
                </a:solidFill>
              </a:rPr>
              <a:t>CameraBase</a:t>
            </a:r>
            <a:r>
              <a:rPr lang="ja-JP" altLang="en-US" sz="2400" dirty="0"/>
              <a:t>が持っている</a:t>
            </a:r>
            <a:endParaRPr lang="en-US" altLang="ja-JP" sz="2400" dirty="0"/>
          </a:p>
          <a:p>
            <a:r>
              <a:rPr lang="ja-JP" altLang="en-US" sz="2400" dirty="0"/>
              <a:t>・従来通り自由移動の機能を持っている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60502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61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</a:t>
            </a:r>
            <a:r>
              <a:rPr lang="en-US" altLang="ja-JP" sz="2400" b="1" dirty="0">
                <a:solidFill>
                  <a:srgbClr val="FF0000"/>
                </a:solidFill>
              </a:rPr>
              <a:t>CameraBase.cpp/h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98E7B15-03D0-4987-B68E-F8352B046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3984361" cy="413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88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86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</a:t>
            </a:r>
            <a:r>
              <a:rPr lang="en-US" altLang="ja-JP" sz="2400" b="1" dirty="0" err="1">
                <a:solidFill>
                  <a:srgbClr val="FF0000"/>
                </a:solidFill>
              </a:rPr>
              <a:t>CameraBase</a:t>
            </a:r>
            <a:r>
              <a:rPr lang="en-US" altLang="ja-JP" sz="2400" b="1" dirty="0">
                <a:solidFill>
                  <a:srgbClr val="FF0000"/>
                </a:solidFill>
              </a:rPr>
              <a:t>. h</a:t>
            </a:r>
            <a:r>
              <a:rPr lang="ja-JP" altLang="en-US" sz="2400" dirty="0"/>
              <a:t>を書いていきます。（その１）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B63F1EA-725A-42F9-A20E-35A44BA42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8167896" cy="427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63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86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</a:t>
            </a:r>
            <a:r>
              <a:rPr lang="en-US" altLang="ja-JP" sz="2400" b="1" dirty="0" err="1">
                <a:solidFill>
                  <a:srgbClr val="FF0000"/>
                </a:solidFill>
              </a:rPr>
              <a:t>CameraBase</a:t>
            </a:r>
            <a:r>
              <a:rPr lang="en-US" altLang="ja-JP" sz="2400" b="1" dirty="0">
                <a:solidFill>
                  <a:srgbClr val="FF0000"/>
                </a:solidFill>
              </a:rPr>
              <a:t>. h</a:t>
            </a:r>
            <a:r>
              <a:rPr lang="ja-JP" altLang="en-US" sz="2400" dirty="0"/>
              <a:t>を書いていきます。（その２）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88ED0B2-A261-4AB0-8516-0B438C958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631456" cy="223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687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93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CameraBase.cpp</a:t>
            </a:r>
            <a:r>
              <a:rPr lang="ja-JP" altLang="en-US" sz="2400" dirty="0"/>
              <a:t>を書いていきます。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FD175E6-E80F-4EC1-9093-C70BA43BF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753638" cy="298174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219FD42-B23A-42E8-B108-8477E00F72D6}"/>
              </a:ext>
            </a:extLst>
          </p:cNvPr>
          <p:cNvSpPr txBox="1"/>
          <p:nvPr/>
        </p:nvSpPr>
        <p:spPr>
          <a:xfrm>
            <a:off x="567542" y="4939235"/>
            <a:ext cx="1126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純粋仮想関数は定義を書く必要はありません（オーバーライド必須のため）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08622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基底クラスとなるクラスのデストラクタは必ず仮想関数</a:t>
            </a:r>
            <a:r>
              <a:rPr lang="ja-JP" altLang="en-US" sz="2400" dirty="0"/>
              <a:t>にしましょう。</a:t>
            </a:r>
            <a:endParaRPr lang="en-US" altLang="ja-JP" sz="2400" dirty="0"/>
          </a:p>
          <a:p>
            <a:r>
              <a:rPr lang="ja-JP" altLang="en-US" sz="2400" dirty="0"/>
              <a:t>仮想関数にしないと、派生先のクラスを削除したときに、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基底クラスのデストラクタが呼ばれません</a:t>
            </a:r>
            <a:r>
              <a:rPr lang="ja-JP" altLang="en-US" sz="2400" dirty="0"/>
              <a:t>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9F22358-80A1-436B-A4DD-E57CE2875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556458"/>
            <a:ext cx="10555173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13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初期化～終了処理はほとんどのオブジェクトには必要なものになります。</a:t>
            </a:r>
            <a:endParaRPr lang="en-US" altLang="ja-JP" sz="2400" dirty="0"/>
          </a:p>
          <a:p>
            <a:r>
              <a:rPr lang="ja-JP" altLang="en-US" sz="2400" dirty="0"/>
              <a:t>そのような関数は、基底クラスに</a:t>
            </a:r>
            <a:r>
              <a:rPr lang="ja-JP" altLang="en-US" sz="2400" b="1" dirty="0">
                <a:solidFill>
                  <a:srgbClr val="FF0000"/>
                </a:solidFill>
              </a:rPr>
              <a:t>純粋仮想関数</a:t>
            </a:r>
            <a:r>
              <a:rPr lang="ja-JP" altLang="en-US" sz="2400" dirty="0"/>
              <a:t>として宣言しておくと、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派生したときは必ず実装しなければいけない関数</a:t>
            </a:r>
            <a:r>
              <a:rPr lang="ja-JP" altLang="en-US" sz="2400" dirty="0"/>
              <a:t>とすることができます。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FD01DEE-CAE7-4FC7-A574-61A866A7E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556458"/>
            <a:ext cx="10553497" cy="248247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733EA2F-4306-46F5-8729-C872D8E19D6C}"/>
              </a:ext>
            </a:extLst>
          </p:cNvPr>
          <p:cNvSpPr txBox="1"/>
          <p:nvPr/>
        </p:nvSpPr>
        <p:spPr>
          <a:xfrm>
            <a:off x="567541" y="5318328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派生先で実装しないとコンパイルエラーが発生します。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578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全てのカメラに必要そうな関数や変数は基底クラスで宣言します。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A0F72E3-4942-4260-912D-3AC7ECE7B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049484" cy="174331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B0DA62-723A-4AF0-BF75-425B52FC3B65}"/>
              </a:ext>
            </a:extLst>
          </p:cNvPr>
          <p:cNvSpPr txBox="1"/>
          <p:nvPr/>
        </p:nvSpPr>
        <p:spPr>
          <a:xfrm>
            <a:off x="567542" y="3700812"/>
            <a:ext cx="91101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アクセス制限である</a:t>
            </a:r>
            <a:r>
              <a:rPr lang="en-US" altLang="ja-JP" sz="2400" b="1" dirty="0">
                <a:solidFill>
                  <a:srgbClr val="FF0000"/>
                </a:solidFill>
              </a:rPr>
              <a:t>protected</a:t>
            </a:r>
            <a:r>
              <a:rPr lang="ja-JP" altLang="en-US" sz="2400" dirty="0"/>
              <a:t>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自身と派生先のクラスにのみアクセスを許すアクセス制限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つまり、これらは</a:t>
            </a:r>
            <a:r>
              <a:rPr lang="en-US" altLang="ja-JP" sz="2400" b="1" dirty="0" err="1">
                <a:solidFill>
                  <a:srgbClr val="00B050"/>
                </a:solidFill>
              </a:rPr>
              <a:t>CameraBase</a:t>
            </a:r>
            <a:r>
              <a:rPr lang="ja-JP" altLang="en-US" sz="2400" dirty="0"/>
              <a:t>を継承しないと使用できません。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40679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756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では</a:t>
            </a:r>
            <a:r>
              <a:rPr lang="en-US" altLang="ja-JP" sz="2400" b="1" dirty="0">
                <a:solidFill>
                  <a:srgbClr val="00B050"/>
                </a:solidFill>
              </a:rPr>
              <a:t>Camera</a:t>
            </a:r>
            <a:r>
              <a:rPr lang="ja-JP" altLang="en-US" sz="2400" dirty="0"/>
              <a:t>クラスに</a:t>
            </a:r>
            <a:r>
              <a:rPr lang="en-US" altLang="ja-JP" sz="2400" b="1" dirty="0" err="1">
                <a:solidFill>
                  <a:srgbClr val="00B050"/>
                </a:solidFill>
              </a:rPr>
              <a:t>CameraBase</a:t>
            </a:r>
            <a:r>
              <a:rPr lang="ja-JP" altLang="en-US" sz="2400" dirty="0"/>
              <a:t>を継承させましょう。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9760C93-61E6-4F1F-9F10-B0D919DE6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1817794"/>
            <a:ext cx="5255758" cy="454825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52F8A3D-4A10-4FFF-8AE2-F7E07E7C533C}"/>
              </a:ext>
            </a:extLst>
          </p:cNvPr>
          <p:cNvSpPr txBox="1"/>
          <p:nvPr/>
        </p:nvSpPr>
        <p:spPr>
          <a:xfrm>
            <a:off x="3584105" y="2771105"/>
            <a:ext cx="179889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600" dirty="0" err="1">
                <a:solidFill>
                  <a:srgbClr val="FF0000"/>
                </a:solidFill>
              </a:rPr>
              <a:t>CamreaBase</a:t>
            </a:r>
            <a:r>
              <a:rPr lang="ja-JP" altLang="en-US" sz="1600" dirty="0">
                <a:solidFill>
                  <a:srgbClr val="FF0000"/>
                </a:solidFill>
              </a:rPr>
              <a:t>継承</a:t>
            </a:r>
            <a:endParaRPr lang="en-US" altLang="ja-JP" sz="1600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7C09484-10DE-4BEF-A6CC-F21A7F684AD2}"/>
              </a:ext>
            </a:extLst>
          </p:cNvPr>
          <p:cNvSpPr txBox="1"/>
          <p:nvPr/>
        </p:nvSpPr>
        <p:spPr>
          <a:xfrm>
            <a:off x="3327943" y="4568575"/>
            <a:ext cx="244169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solidFill>
                  <a:srgbClr val="FF0000"/>
                </a:solidFill>
              </a:rPr>
              <a:t>各関数をオーバーライド</a:t>
            </a:r>
            <a:endParaRPr lang="en-US" altLang="ja-JP" sz="1600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C47DDD-1370-401B-BA47-1A26EF4D35F5}"/>
              </a:ext>
            </a:extLst>
          </p:cNvPr>
          <p:cNvSpPr txBox="1"/>
          <p:nvPr/>
        </p:nvSpPr>
        <p:spPr>
          <a:xfrm>
            <a:off x="5240680" y="5641571"/>
            <a:ext cx="285206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solidFill>
                  <a:srgbClr val="FF0000"/>
                </a:solidFill>
              </a:rPr>
              <a:t>基底クラスにあるものは削除</a:t>
            </a:r>
            <a:endParaRPr lang="en-US" altLang="ja-JP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071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コンストラクタでは基底クラスのコンストラクタを呼びましょう。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DBAB47E-1B33-46A3-BFF5-9AA694536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3"/>
            <a:ext cx="8769933" cy="1703619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652722F-35E8-4EB2-9E44-66CD964FA339}"/>
              </a:ext>
            </a:extLst>
          </p:cNvPr>
          <p:cNvSpPr txBox="1"/>
          <p:nvPr/>
        </p:nvSpPr>
        <p:spPr>
          <a:xfrm>
            <a:off x="567542" y="3661111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基底クラスで初期化しているものは不要なので削除しましょう。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56611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3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Camera</a:t>
            </a:r>
            <a:r>
              <a:rPr lang="ja-JP" altLang="en-US" sz="2400" dirty="0"/>
              <a:t>と同じ要領で</a:t>
            </a:r>
            <a:r>
              <a:rPr lang="en-US" altLang="ja-JP" sz="2400" dirty="0" err="1"/>
              <a:t>DebugCamera</a:t>
            </a:r>
            <a:r>
              <a:rPr lang="ja-JP" altLang="en-US" sz="2400" dirty="0"/>
              <a:t>も対応しましょう。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71686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80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最後に</a:t>
            </a:r>
            <a:r>
              <a:rPr lang="en-US" altLang="ja-JP" sz="2400" b="1" dirty="0" err="1">
                <a:solidFill>
                  <a:srgbClr val="00B050"/>
                </a:solidFill>
              </a:rPr>
              <a:t>CameraManager</a:t>
            </a:r>
            <a:r>
              <a:rPr lang="ja-JP" altLang="en-US" sz="2400" dirty="0"/>
              <a:t>を整えます。まずはカメラの種類を定義しましょう。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1EB1A1D-0D98-432F-B706-B7827E7EE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355557" cy="3823777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6614CC0-C27E-4F3A-BC21-CECFBA7923C5}"/>
              </a:ext>
            </a:extLst>
          </p:cNvPr>
          <p:cNvSpPr/>
          <p:nvPr/>
        </p:nvSpPr>
        <p:spPr>
          <a:xfrm>
            <a:off x="1507787" y="2490282"/>
            <a:ext cx="4066162" cy="22470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801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全てのカメラを配列で管理します。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5D38317-4306-49EC-911D-9CF972770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580761" cy="2540197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17EACE-AAD1-4EB1-B425-EE33A6CEAD19}"/>
              </a:ext>
            </a:extLst>
          </p:cNvPr>
          <p:cNvSpPr/>
          <p:nvPr/>
        </p:nvSpPr>
        <p:spPr>
          <a:xfrm>
            <a:off x="1507787" y="2490282"/>
            <a:ext cx="7850222" cy="10408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0237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配列にしたことによる修正を入れます。（その１）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EFF4113-B5AE-415C-877F-5E48E8F30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9902650" cy="2248368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8BC0412-8F81-49FD-8FED-D338405664BB}"/>
              </a:ext>
            </a:extLst>
          </p:cNvPr>
          <p:cNvSpPr/>
          <p:nvPr/>
        </p:nvSpPr>
        <p:spPr>
          <a:xfrm>
            <a:off x="1507787" y="2490282"/>
            <a:ext cx="9163456" cy="10408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265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配列にしたことによる修正を入れます。（その２）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BE79600-629E-4899-8606-D3E71DCF4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8269085" cy="339623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1ACCF0B-6CA9-4592-A9F9-8817FE11308D}"/>
              </a:ext>
            </a:extLst>
          </p:cNvPr>
          <p:cNvSpPr/>
          <p:nvPr/>
        </p:nvSpPr>
        <p:spPr>
          <a:xfrm>
            <a:off x="2402157" y="2694562"/>
            <a:ext cx="7140677" cy="18190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0255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配列にしたことによる修正を入れます。（その３）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3BDFC88-E08E-4C61-AFCB-BFF93F855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0544710" cy="296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865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配列にしたことによる修正を入れます。（その４）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346373E-46FC-4ED1-8B5E-B2D275C2C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7837762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95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配列にしたことによる修正を入れます。（その５）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702B288-B54B-4C8A-9337-4331B74C5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0031706" cy="308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904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配列にしたことによる修正を入れます。（その６）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788AD66-6BEC-4F11-A4C1-5C9D2CB5D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3"/>
            <a:ext cx="7615725" cy="340595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BFEF290-D5CF-4FF7-92E5-0C199F0CD0C7}"/>
              </a:ext>
            </a:extLst>
          </p:cNvPr>
          <p:cNvSpPr txBox="1"/>
          <p:nvPr/>
        </p:nvSpPr>
        <p:spPr>
          <a:xfrm>
            <a:off x="567542" y="5410738"/>
            <a:ext cx="4937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Draw</a:t>
            </a:r>
            <a:r>
              <a:rPr lang="ja-JP" altLang="en-US" sz="2400" b="1" dirty="0">
                <a:solidFill>
                  <a:srgbClr val="FF0000"/>
                </a:solidFill>
              </a:rPr>
              <a:t>関数まで同様に修正します。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948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配列にしたことによる修正を入れます。（その７）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37F1AE7-77DF-45D9-8B0E-C64C3A909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410955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03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95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最後に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側の呼び出しを修正します。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731ADCB-3A36-4FE0-A111-EF5749ADB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9886553" cy="326977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FD2AAD0-B2D3-4998-9288-4B8B5291462B}"/>
              </a:ext>
            </a:extLst>
          </p:cNvPr>
          <p:cNvSpPr/>
          <p:nvPr/>
        </p:nvSpPr>
        <p:spPr>
          <a:xfrm>
            <a:off x="2227635" y="2996119"/>
            <a:ext cx="7315200" cy="8463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884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000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Camera</a:t>
            </a:r>
            <a:r>
              <a:rPr lang="ja-JP" altLang="en-US" sz="2400" dirty="0"/>
              <a:t>も</a:t>
            </a:r>
            <a:r>
              <a:rPr lang="en-US" altLang="ja-JP" sz="2400" b="1" dirty="0" err="1">
                <a:solidFill>
                  <a:srgbClr val="00B050"/>
                </a:solidFill>
              </a:rPr>
              <a:t>DebugCamera</a:t>
            </a:r>
            <a:r>
              <a:rPr lang="ja-JP" altLang="en-US" sz="2400" dirty="0"/>
              <a:t>も、</a:t>
            </a:r>
            <a:r>
              <a:rPr lang="en-US" altLang="ja-JP" sz="2400" b="1" dirty="0" err="1">
                <a:solidFill>
                  <a:srgbClr val="00B050"/>
                </a:solidFill>
              </a:rPr>
              <a:t>CameraBase</a:t>
            </a:r>
            <a:r>
              <a:rPr lang="ja-JP" altLang="en-US" sz="2400" dirty="0"/>
              <a:t>を継承したことにより、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CameraBase</a:t>
            </a:r>
            <a:r>
              <a:rPr lang="ja-JP" altLang="en-US" sz="2400" dirty="0"/>
              <a:t>のポインタで管理できるようになりました。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5DA651E-6F52-41CA-A44B-FF00DDDB6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87126"/>
            <a:ext cx="8662451" cy="124187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07DBC8-43F6-4C54-8960-97CA54D695D2}"/>
              </a:ext>
            </a:extLst>
          </p:cNvPr>
          <p:cNvSpPr txBox="1"/>
          <p:nvPr/>
        </p:nvSpPr>
        <p:spPr>
          <a:xfrm>
            <a:off x="567541" y="4123898"/>
            <a:ext cx="112646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基底クラスのポインタ変数は、継承された派生クラスを参照することもできる。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7496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827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カメラの種類を増やしたい場合は、</a:t>
            </a:r>
            <a:r>
              <a:rPr lang="en-US" altLang="ja-JP" sz="2400" b="1" dirty="0" err="1">
                <a:solidFill>
                  <a:srgbClr val="0070C0"/>
                </a:solidFill>
              </a:rPr>
              <a:t>enum</a:t>
            </a:r>
            <a:r>
              <a:rPr lang="ja-JP" altLang="en-US" sz="2400" dirty="0"/>
              <a:t>のタイプと生成処理を追加します。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AB9E3FC-B14B-447F-94CE-9BE4E66B0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61732"/>
            <a:ext cx="2774375" cy="161120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DF9B567-7BDA-47D7-8509-C08D4259E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852" y="2161732"/>
            <a:ext cx="7681513" cy="216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08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945AA5A-4989-4927-B636-BB63AEDDC7A4}"/>
              </a:ext>
            </a:extLst>
          </p:cNvPr>
          <p:cNvSpPr/>
          <p:nvPr/>
        </p:nvSpPr>
        <p:spPr>
          <a:xfrm>
            <a:off x="499533" y="4445000"/>
            <a:ext cx="11159506" cy="2311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継承を使ったカメラ管理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50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あとは</a:t>
            </a:r>
            <a:r>
              <a:rPr lang="en-US" altLang="ja-JP" sz="2400" b="1" dirty="0">
                <a:solidFill>
                  <a:srgbClr val="0070C0"/>
                </a:solidFill>
              </a:rPr>
              <a:t>Init</a:t>
            </a:r>
            <a:r>
              <a:rPr lang="ja-JP" altLang="en-US" sz="2400" dirty="0"/>
              <a:t>～</a:t>
            </a:r>
            <a:r>
              <a:rPr lang="en-US" altLang="ja-JP" sz="2400" b="1" dirty="0">
                <a:solidFill>
                  <a:srgbClr val="0070C0"/>
                </a:solidFill>
              </a:rPr>
              <a:t>Fin</a:t>
            </a:r>
            <a:r>
              <a:rPr lang="ja-JP" altLang="en-US" sz="2400" dirty="0"/>
              <a:t>関数が自動で関数を呼んでくれます。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178D4C2-74EE-4A67-B723-4EDCADCBC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344271" cy="238158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B2FD5DB-4573-4350-818B-8C5ADFACC90F}"/>
              </a:ext>
            </a:extLst>
          </p:cNvPr>
          <p:cNvSpPr txBox="1"/>
          <p:nvPr/>
        </p:nvSpPr>
        <p:spPr>
          <a:xfrm>
            <a:off x="567541" y="4540046"/>
            <a:ext cx="110914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en-US" altLang="ja-JP" sz="2400" dirty="0"/>
              <a:t>camera</a:t>
            </a:r>
            <a:r>
              <a:rPr lang="ja-JP" altLang="en-US" sz="2400" dirty="0"/>
              <a:t>は</a:t>
            </a:r>
            <a:r>
              <a:rPr lang="en-US" altLang="ja-JP" sz="2400" b="1" dirty="0" err="1">
                <a:solidFill>
                  <a:srgbClr val="00B050"/>
                </a:solidFill>
              </a:rPr>
              <a:t>CameraBase</a:t>
            </a:r>
            <a:r>
              <a:rPr lang="ja-JP" altLang="en-US" sz="2400" dirty="0"/>
              <a:t>ポインタ型だが、</a:t>
            </a:r>
            <a:endParaRPr lang="en-US" altLang="ja-JP" sz="2400" dirty="0"/>
          </a:p>
          <a:p>
            <a:r>
              <a:rPr lang="ja-JP" altLang="en-US" sz="2400" dirty="0"/>
              <a:t>参照先が</a:t>
            </a:r>
            <a:r>
              <a:rPr lang="en-US" altLang="ja-JP" sz="2400" b="1" dirty="0">
                <a:solidFill>
                  <a:srgbClr val="00B050"/>
                </a:solidFill>
              </a:rPr>
              <a:t>Camera</a:t>
            </a:r>
            <a:r>
              <a:rPr lang="ja-JP" altLang="en-US" sz="2400" dirty="0"/>
              <a:t>で</a:t>
            </a:r>
            <a:r>
              <a:rPr lang="en-US" altLang="ja-JP" sz="2400" b="1" dirty="0">
                <a:solidFill>
                  <a:srgbClr val="0070C0"/>
                </a:solidFill>
              </a:rPr>
              <a:t>new</a:t>
            </a:r>
            <a:r>
              <a:rPr lang="ja-JP" altLang="en-US" sz="2400" dirty="0"/>
              <a:t>されていれば</a:t>
            </a:r>
            <a:r>
              <a:rPr lang="en-US" altLang="ja-JP" sz="2400" b="1" dirty="0">
                <a:solidFill>
                  <a:srgbClr val="00B050"/>
                </a:solidFill>
              </a:rPr>
              <a:t>Camera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0070C0"/>
                </a:solidFill>
              </a:rPr>
              <a:t>Init</a:t>
            </a:r>
            <a:r>
              <a:rPr lang="en-US" altLang="ja-JP" sz="2400" dirty="0"/>
              <a:t>,</a:t>
            </a:r>
          </a:p>
          <a:p>
            <a:r>
              <a:rPr lang="ja-JP" altLang="en-US" sz="2400" dirty="0"/>
              <a:t>参照先が</a:t>
            </a:r>
            <a:r>
              <a:rPr lang="en-US" altLang="ja-JP" sz="2400" b="1" dirty="0" err="1">
                <a:solidFill>
                  <a:srgbClr val="00B050"/>
                </a:solidFill>
              </a:rPr>
              <a:t>DebugCamera</a:t>
            </a:r>
            <a:r>
              <a:rPr lang="ja-JP" altLang="en-US" sz="2400" dirty="0"/>
              <a:t>で</a:t>
            </a:r>
            <a:r>
              <a:rPr lang="en-US" altLang="ja-JP" sz="2400" b="1" dirty="0">
                <a:solidFill>
                  <a:srgbClr val="0070C0"/>
                </a:solidFill>
              </a:rPr>
              <a:t>new</a:t>
            </a:r>
            <a:r>
              <a:rPr lang="ja-JP" altLang="en-US" sz="2400" dirty="0"/>
              <a:t>されていれば</a:t>
            </a:r>
            <a:r>
              <a:rPr lang="en-US" altLang="ja-JP" sz="2400" b="1" dirty="0" err="1">
                <a:solidFill>
                  <a:srgbClr val="00B050"/>
                </a:solidFill>
              </a:rPr>
              <a:t>DebugCamera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0070C0"/>
                </a:solidFill>
              </a:rPr>
              <a:t>Init</a:t>
            </a:r>
            <a:r>
              <a:rPr lang="ja-JP" altLang="en-US" sz="2400" dirty="0"/>
              <a:t>が呼ばれる。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ブレークポイントを置いて確認してみましょう。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20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851</Words>
  <Application>Microsoft Office PowerPoint</Application>
  <PresentationFormat>ワイド画面</PresentationFormat>
  <Paragraphs>97</Paragraphs>
  <Slides>26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62</cp:revision>
  <dcterms:created xsi:type="dcterms:W3CDTF">2024-08-27T02:15:54Z</dcterms:created>
  <dcterms:modified xsi:type="dcterms:W3CDTF">2025-02-07T07:24:01Z</dcterms:modified>
</cp:coreProperties>
</file>