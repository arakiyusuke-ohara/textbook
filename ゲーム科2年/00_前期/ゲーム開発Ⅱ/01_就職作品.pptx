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59" r:id="rId5"/>
    <p:sldId id="261" r:id="rId6"/>
    <p:sldId id="262" r:id="rId7"/>
    <p:sldId id="263" r:id="rId8"/>
    <p:sldId id="264"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2024/12/19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2024/12/19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kumimoji="1" lang="ja-JP" altLang="en-US" sz="2400" dirty="0"/>
              <a:t>ゲームプランニングの授業で企画した就職作品を制作します。</a:t>
            </a:r>
            <a:endParaRPr kumimoji="1" lang="en-US" altLang="ja-JP" sz="2400" dirty="0"/>
          </a:p>
          <a:p>
            <a:r>
              <a:rPr lang="ja-JP" altLang="en-US" sz="2400" dirty="0"/>
              <a:t>まずは</a:t>
            </a:r>
            <a:r>
              <a:rPr lang="ja-JP" altLang="en-US" sz="2400" b="1" dirty="0">
                <a:solidFill>
                  <a:srgbClr val="FF0000"/>
                </a:solidFill>
              </a:rPr>
              <a:t>企画を元に実装に必要なものを洗い出します。</a:t>
            </a:r>
            <a:endParaRPr lang="en-US" altLang="ja-JP" sz="2400" b="1" dirty="0">
              <a:solidFill>
                <a:srgbClr val="FF0000"/>
              </a:solidFill>
            </a:endParaRPr>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830997"/>
          </a:xfrm>
          <a:prstGeom prst="rect">
            <a:avLst/>
          </a:prstGeom>
          <a:noFill/>
        </p:spPr>
        <p:txBody>
          <a:bodyPr wrap="none" rtlCol="0">
            <a:spAutoFit/>
          </a:bodyPr>
          <a:lstStyle/>
          <a:p>
            <a:r>
              <a:rPr kumimoji="1" lang="ja-JP" altLang="en-US" sz="2400" dirty="0"/>
              <a:t>配布した資料を参考に、可能な限りゲームに必要な要素を書きましょう。</a:t>
            </a:r>
            <a:endParaRPr kumimoji="1" lang="en-US" altLang="ja-JP" sz="2400" b="1" dirty="0">
              <a:solidFill>
                <a:srgbClr val="FF0000"/>
              </a:solidFill>
            </a:endParaRPr>
          </a:p>
          <a:p>
            <a:r>
              <a:rPr lang="ja-JP" altLang="en-US" sz="2400" b="1" dirty="0">
                <a:solidFill>
                  <a:srgbClr val="FF0000"/>
                </a:solidFill>
              </a:rPr>
              <a:t>細かく書くほど、この後のガントチャートが書きやすくなります。</a:t>
            </a:r>
            <a:endParaRPr kumimoji="1" lang="en-US" altLang="ja-JP" sz="2400" dirty="0"/>
          </a:p>
        </p:txBody>
      </p:sp>
      <p:pic>
        <p:nvPicPr>
          <p:cNvPr id="3" name="図 2">
            <a:extLst>
              <a:ext uri="{FF2B5EF4-FFF2-40B4-BE49-F238E27FC236}">
                <a16:creationId xmlns:a16="http://schemas.microsoft.com/office/drawing/2014/main" id="{F0F2338C-5C7B-4C91-B5B3-BEF129D2952D}"/>
              </a:ext>
            </a:extLst>
          </p:cNvPr>
          <p:cNvPicPr>
            <a:picLocks noChangeAspect="1"/>
          </p:cNvPicPr>
          <p:nvPr/>
        </p:nvPicPr>
        <p:blipFill>
          <a:blip r:embed="rId2"/>
          <a:stretch>
            <a:fillRect/>
          </a:stretch>
        </p:blipFill>
        <p:spPr>
          <a:xfrm>
            <a:off x="567542" y="2288780"/>
            <a:ext cx="4241525" cy="3932489"/>
          </a:xfrm>
          <a:prstGeom prst="rect">
            <a:avLst/>
          </a:prstGeom>
        </p:spPr>
      </p:pic>
    </p:spTree>
    <p:extLst>
      <p:ext uri="{BB962C8B-B14F-4D97-AF65-F5344CB8AC3E}">
        <p14:creationId xmlns:p14="http://schemas.microsoft.com/office/powerpoint/2010/main" val="648277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830997"/>
          </a:xfrm>
          <a:prstGeom prst="rect">
            <a:avLst/>
          </a:prstGeom>
          <a:noFill/>
        </p:spPr>
        <p:txBody>
          <a:bodyPr wrap="none" rtlCol="0">
            <a:spAutoFit/>
          </a:bodyPr>
          <a:lstStyle/>
          <a:p>
            <a:r>
              <a:rPr kumimoji="1" lang="ja-JP" altLang="en-US" sz="2400" dirty="0"/>
              <a:t>スケジュール管理で最もよく使われるものが</a:t>
            </a:r>
            <a:r>
              <a:rPr kumimoji="1" lang="ja-JP" altLang="en-US" sz="2400" b="1" dirty="0">
                <a:solidFill>
                  <a:srgbClr val="FF0000"/>
                </a:solidFill>
              </a:rPr>
              <a:t>ガントチャート</a:t>
            </a:r>
            <a:r>
              <a:rPr kumimoji="1" lang="ja-JP" altLang="en-US" sz="2400" dirty="0"/>
              <a:t>です。</a:t>
            </a:r>
            <a:endParaRPr kumimoji="1" lang="en-US" altLang="ja-JP" sz="2400" dirty="0"/>
          </a:p>
          <a:p>
            <a:r>
              <a:rPr lang="ja-JP" altLang="en-US" sz="2400" b="1" dirty="0">
                <a:solidFill>
                  <a:srgbClr val="FF0000"/>
                </a:solidFill>
              </a:rPr>
              <a:t>タスク（作業）ごとに、進捗をまとめたグラフ</a:t>
            </a:r>
            <a:r>
              <a:rPr lang="ja-JP" altLang="en-US" sz="2400" dirty="0"/>
              <a:t>になります。</a:t>
            </a:r>
            <a:endParaRPr kumimoji="1" lang="en-US" altLang="ja-JP" sz="2400" dirty="0"/>
          </a:p>
        </p:txBody>
      </p:sp>
      <p:pic>
        <p:nvPicPr>
          <p:cNvPr id="7" name="図 6">
            <a:extLst>
              <a:ext uri="{FF2B5EF4-FFF2-40B4-BE49-F238E27FC236}">
                <a16:creationId xmlns:a16="http://schemas.microsoft.com/office/drawing/2014/main" id="{440A9FA3-F708-458D-B8C9-21598A2CE5E6}"/>
              </a:ext>
            </a:extLst>
          </p:cNvPr>
          <p:cNvPicPr>
            <a:picLocks noChangeAspect="1"/>
          </p:cNvPicPr>
          <p:nvPr/>
        </p:nvPicPr>
        <p:blipFill>
          <a:blip r:embed="rId2"/>
          <a:stretch>
            <a:fillRect/>
          </a:stretch>
        </p:blipFill>
        <p:spPr>
          <a:xfrm>
            <a:off x="567542" y="2187126"/>
            <a:ext cx="9693146" cy="4191492"/>
          </a:xfrm>
          <a:prstGeom prst="rect">
            <a:avLst/>
          </a:prstGeom>
        </p:spPr>
      </p:pic>
    </p:spTree>
    <p:extLst>
      <p:ext uri="{BB962C8B-B14F-4D97-AF65-F5344CB8AC3E}">
        <p14:creationId xmlns:p14="http://schemas.microsoft.com/office/powerpoint/2010/main" val="2462224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461665"/>
          </a:xfrm>
          <a:prstGeom prst="rect">
            <a:avLst/>
          </a:prstGeom>
          <a:noFill/>
        </p:spPr>
        <p:txBody>
          <a:bodyPr wrap="none" rtlCol="0">
            <a:spAutoFit/>
          </a:bodyPr>
          <a:lstStyle/>
          <a:p>
            <a:r>
              <a:rPr kumimoji="1" lang="ja-JP" altLang="en-US" sz="2400" dirty="0"/>
              <a:t>左側にいつから作業を開始するか、その作業が何日かかるのかを書きます。</a:t>
            </a:r>
            <a:endParaRPr kumimoji="1" lang="en-US" altLang="ja-JP" sz="2400" dirty="0"/>
          </a:p>
        </p:txBody>
      </p:sp>
      <p:pic>
        <p:nvPicPr>
          <p:cNvPr id="5" name="図 4">
            <a:extLst>
              <a:ext uri="{FF2B5EF4-FFF2-40B4-BE49-F238E27FC236}">
                <a16:creationId xmlns:a16="http://schemas.microsoft.com/office/drawing/2014/main" id="{3B75878E-789F-4FE2-B159-6B1B7DE2CAF2}"/>
              </a:ext>
            </a:extLst>
          </p:cNvPr>
          <p:cNvPicPr>
            <a:picLocks noChangeAspect="1"/>
          </p:cNvPicPr>
          <p:nvPr/>
        </p:nvPicPr>
        <p:blipFill>
          <a:blip r:embed="rId2"/>
          <a:stretch>
            <a:fillRect/>
          </a:stretch>
        </p:blipFill>
        <p:spPr>
          <a:xfrm>
            <a:off x="567542" y="2187126"/>
            <a:ext cx="9693146" cy="4191492"/>
          </a:xfrm>
          <a:prstGeom prst="rect">
            <a:avLst/>
          </a:prstGeom>
        </p:spPr>
      </p:pic>
      <p:sp>
        <p:nvSpPr>
          <p:cNvPr id="7" name="正方形/長方形 6">
            <a:extLst>
              <a:ext uri="{FF2B5EF4-FFF2-40B4-BE49-F238E27FC236}">
                <a16:creationId xmlns:a16="http://schemas.microsoft.com/office/drawing/2014/main" id="{42409BA7-D966-4EFA-B248-AF9B507F803E}"/>
              </a:ext>
            </a:extLst>
          </p:cNvPr>
          <p:cNvSpPr/>
          <p:nvPr/>
        </p:nvSpPr>
        <p:spPr>
          <a:xfrm>
            <a:off x="1540933" y="3141133"/>
            <a:ext cx="1100667" cy="192193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05982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830997"/>
          </a:xfrm>
          <a:prstGeom prst="rect">
            <a:avLst/>
          </a:prstGeom>
          <a:noFill/>
        </p:spPr>
        <p:txBody>
          <a:bodyPr wrap="none" rtlCol="0">
            <a:spAutoFit/>
          </a:bodyPr>
          <a:lstStyle/>
          <a:p>
            <a:r>
              <a:rPr kumimoji="1" lang="ja-JP" altLang="en-US" sz="2400" dirty="0"/>
              <a:t>右側に実際に開始した日と、完了までにかかった日を入力します。</a:t>
            </a:r>
            <a:endParaRPr kumimoji="1" lang="en-US" altLang="ja-JP" sz="2400" dirty="0"/>
          </a:p>
          <a:p>
            <a:r>
              <a:rPr lang="ja-JP" altLang="en-US" sz="2400" dirty="0"/>
              <a:t>これは</a:t>
            </a:r>
            <a:r>
              <a:rPr lang="ja-JP" altLang="en-US" sz="2400" b="1" dirty="0">
                <a:solidFill>
                  <a:srgbClr val="FF0000"/>
                </a:solidFill>
              </a:rPr>
              <a:t>毎日帰宅前</a:t>
            </a:r>
            <a:r>
              <a:rPr lang="ja-JP" altLang="en-US" sz="2400" dirty="0"/>
              <a:t>につけていきます。</a:t>
            </a:r>
            <a:endParaRPr kumimoji="1" lang="en-US" altLang="ja-JP" sz="2400" dirty="0"/>
          </a:p>
        </p:txBody>
      </p:sp>
      <p:pic>
        <p:nvPicPr>
          <p:cNvPr id="5" name="図 4">
            <a:extLst>
              <a:ext uri="{FF2B5EF4-FFF2-40B4-BE49-F238E27FC236}">
                <a16:creationId xmlns:a16="http://schemas.microsoft.com/office/drawing/2014/main" id="{3B75878E-789F-4FE2-B159-6B1B7DE2CAF2}"/>
              </a:ext>
            </a:extLst>
          </p:cNvPr>
          <p:cNvPicPr>
            <a:picLocks noChangeAspect="1"/>
          </p:cNvPicPr>
          <p:nvPr/>
        </p:nvPicPr>
        <p:blipFill>
          <a:blip r:embed="rId2"/>
          <a:stretch>
            <a:fillRect/>
          </a:stretch>
        </p:blipFill>
        <p:spPr>
          <a:xfrm>
            <a:off x="567542" y="2187126"/>
            <a:ext cx="9693146" cy="4191492"/>
          </a:xfrm>
          <a:prstGeom prst="rect">
            <a:avLst/>
          </a:prstGeom>
        </p:spPr>
      </p:pic>
      <p:sp>
        <p:nvSpPr>
          <p:cNvPr id="7" name="正方形/長方形 6">
            <a:extLst>
              <a:ext uri="{FF2B5EF4-FFF2-40B4-BE49-F238E27FC236}">
                <a16:creationId xmlns:a16="http://schemas.microsoft.com/office/drawing/2014/main" id="{42409BA7-D966-4EFA-B248-AF9B507F803E}"/>
              </a:ext>
            </a:extLst>
          </p:cNvPr>
          <p:cNvSpPr/>
          <p:nvPr/>
        </p:nvSpPr>
        <p:spPr>
          <a:xfrm>
            <a:off x="2616199" y="3141133"/>
            <a:ext cx="1100667" cy="192193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70311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kumimoji="1" lang="ja-JP" altLang="en-US" sz="2400" dirty="0"/>
              <a:t>自動でグラフが生成されます。</a:t>
            </a:r>
            <a:r>
              <a:rPr kumimoji="1" lang="ja-JP" altLang="en-US" sz="2400" b="1" dirty="0">
                <a:solidFill>
                  <a:srgbClr val="FF0000"/>
                </a:solidFill>
              </a:rPr>
              <a:t>黄色の部分が予定通りに進んでいない</a:t>
            </a:r>
            <a:r>
              <a:rPr kumimoji="1" lang="ja-JP" altLang="en-US" sz="2400" dirty="0"/>
              <a:t>ので、</a:t>
            </a:r>
            <a:endParaRPr kumimoji="1" lang="en-US" altLang="ja-JP" sz="2400" dirty="0"/>
          </a:p>
          <a:p>
            <a:r>
              <a:rPr lang="ja-JP" altLang="en-US" sz="2400" dirty="0"/>
              <a:t>対策を考える必要が出てきます。</a:t>
            </a:r>
            <a:endParaRPr kumimoji="1" lang="en-US" altLang="ja-JP" sz="2400" dirty="0"/>
          </a:p>
        </p:txBody>
      </p:sp>
      <p:pic>
        <p:nvPicPr>
          <p:cNvPr id="5" name="図 4">
            <a:extLst>
              <a:ext uri="{FF2B5EF4-FFF2-40B4-BE49-F238E27FC236}">
                <a16:creationId xmlns:a16="http://schemas.microsoft.com/office/drawing/2014/main" id="{3B75878E-789F-4FE2-B159-6B1B7DE2CAF2}"/>
              </a:ext>
            </a:extLst>
          </p:cNvPr>
          <p:cNvPicPr>
            <a:picLocks noChangeAspect="1"/>
          </p:cNvPicPr>
          <p:nvPr/>
        </p:nvPicPr>
        <p:blipFill>
          <a:blip r:embed="rId2"/>
          <a:stretch>
            <a:fillRect/>
          </a:stretch>
        </p:blipFill>
        <p:spPr>
          <a:xfrm>
            <a:off x="567542" y="2187126"/>
            <a:ext cx="9693146" cy="4191492"/>
          </a:xfrm>
          <a:prstGeom prst="rect">
            <a:avLst/>
          </a:prstGeom>
        </p:spPr>
      </p:pic>
      <p:sp>
        <p:nvSpPr>
          <p:cNvPr id="7" name="正方形/長方形 6">
            <a:extLst>
              <a:ext uri="{FF2B5EF4-FFF2-40B4-BE49-F238E27FC236}">
                <a16:creationId xmlns:a16="http://schemas.microsoft.com/office/drawing/2014/main" id="{42409BA7-D966-4EFA-B248-AF9B507F803E}"/>
              </a:ext>
            </a:extLst>
          </p:cNvPr>
          <p:cNvSpPr/>
          <p:nvPr/>
        </p:nvSpPr>
        <p:spPr>
          <a:xfrm>
            <a:off x="4313448" y="3242732"/>
            <a:ext cx="6176752" cy="32755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1839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830997"/>
          </a:xfrm>
          <a:prstGeom prst="rect">
            <a:avLst/>
          </a:prstGeom>
          <a:noFill/>
        </p:spPr>
        <p:txBody>
          <a:bodyPr wrap="none" rtlCol="0">
            <a:spAutoFit/>
          </a:bodyPr>
          <a:lstStyle/>
          <a:p>
            <a:r>
              <a:rPr kumimoji="1" lang="ja-JP" altLang="en-US" sz="2400" dirty="0"/>
              <a:t>洗い出した要素を参考に必要な作業をアクティビティに書きましょう。</a:t>
            </a:r>
            <a:endParaRPr kumimoji="1" lang="en-US" altLang="ja-JP" sz="2400" dirty="0"/>
          </a:p>
          <a:p>
            <a:r>
              <a:rPr lang="ja-JP" altLang="en-US" sz="2400" dirty="0"/>
              <a:t>そして計画開始日と計画継続期間を埋めていきましょう。</a:t>
            </a:r>
            <a:endParaRPr kumimoji="1" lang="en-US" altLang="ja-JP" sz="2400" dirty="0"/>
          </a:p>
        </p:txBody>
      </p:sp>
      <p:pic>
        <p:nvPicPr>
          <p:cNvPr id="5" name="図 4">
            <a:extLst>
              <a:ext uri="{FF2B5EF4-FFF2-40B4-BE49-F238E27FC236}">
                <a16:creationId xmlns:a16="http://schemas.microsoft.com/office/drawing/2014/main" id="{3B75878E-789F-4FE2-B159-6B1B7DE2CAF2}"/>
              </a:ext>
            </a:extLst>
          </p:cNvPr>
          <p:cNvPicPr>
            <a:picLocks noChangeAspect="1"/>
          </p:cNvPicPr>
          <p:nvPr/>
        </p:nvPicPr>
        <p:blipFill>
          <a:blip r:embed="rId2"/>
          <a:stretch>
            <a:fillRect/>
          </a:stretch>
        </p:blipFill>
        <p:spPr>
          <a:xfrm>
            <a:off x="567542" y="2187126"/>
            <a:ext cx="9693146" cy="4191492"/>
          </a:xfrm>
          <a:prstGeom prst="rect">
            <a:avLst/>
          </a:prstGeom>
        </p:spPr>
      </p:pic>
      <p:sp>
        <p:nvSpPr>
          <p:cNvPr id="7" name="正方形/長方形 6">
            <a:extLst>
              <a:ext uri="{FF2B5EF4-FFF2-40B4-BE49-F238E27FC236}">
                <a16:creationId xmlns:a16="http://schemas.microsoft.com/office/drawing/2014/main" id="{42409BA7-D966-4EFA-B248-AF9B507F803E}"/>
              </a:ext>
            </a:extLst>
          </p:cNvPr>
          <p:cNvSpPr/>
          <p:nvPr/>
        </p:nvSpPr>
        <p:spPr>
          <a:xfrm>
            <a:off x="444181" y="3172782"/>
            <a:ext cx="2180486" cy="19156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6882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1938992"/>
          </a:xfrm>
          <a:prstGeom prst="rect">
            <a:avLst/>
          </a:prstGeom>
          <a:noFill/>
        </p:spPr>
        <p:txBody>
          <a:bodyPr wrap="none" rtlCol="0">
            <a:spAutoFit/>
          </a:bodyPr>
          <a:lstStyle/>
          <a:p>
            <a:r>
              <a:rPr kumimoji="1" lang="ja-JP" altLang="en-US" sz="2400" dirty="0"/>
              <a:t>膨大な量になりますが、</a:t>
            </a:r>
            <a:endParaRPr kumimoji="1" lang="en-US" altLang="ja-JP" sz="2400" dirty="0"/>
          </a:p>
          <a:p>
            <a:r>
              <a:rPr lang="ja-JP" altLang="en-US" sz="2400" dirty="0"/>
              <a:t>ここで</a:t>
            </a:r>
            <a:r>
              <a:rPr lang="ja-JP" altLang="en-US" sz="2400" b="1" dirty="0">
                <a:solidFill>
                  <a:srgbClr val="FF0000"/>
                </a:solidFill>
              </a:rPr>
              <a:t>漏れ、抜けがないほど計画通りに制作が進みます。</a:t>
            </a:r>
            <a:endParaRPr lang="en-US" altLang="ja-JP" sz="2400" b="1" dirty="0">
              <a:solidFill>
                <a:srgbClr val="FF0000"/>
              </a:solidFill>
            </a:endParaRPr>
          </a:p>
          <a:p>
            <a:r>
              <a:rPr kumimoji="1" lang="ja-JP" altLang="en-US" sz="2400" dirty="0"/>
              <a:t>じっくり時間をかけて作成しましょう。</a:t>
            </a:r>
            <a:endParaRPr kumimoji="1" lang="en-US" altLang="ja-JP" sz="2400" dirty="0"/>
          </a:p>
          <a:p>
            <a:endParaRPr lang="en-US" altLang="ja-JP" sz="2400" dirty="0"/>
          </a:p>
          <a:p>
            <a:r>
              <a:rPr kumimoji="1" lang="en-US" altLang="ja-JP" sz="2400" dirty="0"/>
              <a:t>※</a:t>
            </a:r>
            <a:r>
              <a:rPr kumimoji="1" lang="ja-JP" altLang="en-US" sz="2400"/>
              <a:t>かといって最初から完璧なものはできないのでほどほどで</a:t>
            </a:r>
            <a:endParaRPr kumimoji="1" lang="en-US" altLang="ja-JP" sz="2400" dirty="0"/>
          </a:p>
        </p:txBody>
      </p:sp>
    </p:spTree>
    <p:extLst>
      <p:ext uri="{BB962C8B-B14F-4D97-AF65-F5344CB8AC3E}">
        <p14:creationId xmlns:p14="http://schemas.microsoft.com/office/powerpoint/2010/main" val="132453563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235</Words>
  <Application>Microsoft Office PowerPoint</Application>
  <PresentationFormat>ワイド画面</PresentationFormat>
  <Paragraphs>26</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26</cp:revision>
  <dcterms:created xsi:type="dcterms:W3CDTF">2024-08-27T02:15:54Z</dcterms:created>
  <dcterms:modified xsi:type="dcterms:W3CDTF">2024-12-19T02:44:12Z</dcterms:modified>
</cp:coreProperties>
</file>