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70" r:id="rId5"/>
    <p:sldId id="261" r:id="rId6"/>
    <p:sldId id="262" r:id="rId7"/>
    <p:sldId id="306" r:id="rId8"/>
    <p:sldId id="263" r:id="rId9"/>
    <p:sldId id="264" r:id="rId10"/>
    <p:sldId id="265" r:id="rId11"/>
    <p:sldId id="266" r:id="rId12"/>
    <p:sldId id="267" r:id="rId13"/>
    <p:sldId id="268" r:id="rId14"/>
    <p:sldId id="269" r:id="rId15"/>
    <p:sldId id="279" r:id="rId16"/>
    <p:sldId id="271" r:id="rId17"/>
    <p:sldId id="260" r:id="rId18"/>
    <p:sldId id="272" r:id="rId19"/>
    <p:sldId id="273" r:id="rId20"/>
    <p:sldId id="274" r:id="rId21"/>
    <p:sldId id="275" r:id="rId22"/>
    <p:sldId id="276" r:id="rId23"/>
    <p:sldId id="280" r:id="rId24"/>
    <p:sldId id="281" r:id="rId25"/>
    <p:sldId id="283" r:id="rId26"/>
    <p:sldId id="284" r:id="rId27"/>
    <p:sldId id="285" r:id="rId28"/>
    <p:sldId id="286" r:id="rId29"/>
    <p:sldId id="287" r:id="rId30"/>
    <p:sldId id="282"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7" r:id="rId5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2026/4/27</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https://github.com/nlohmann/json"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939173" cy="584775"/>
          </a:xfrm>
          <a:prstGeom prst="rect">
            <a:avLst/>
          </a:prstGeom>
          <a:noFill/>
        </p:spPr>
        <p:txBody>
          <a:bodyPr wrap="none" rtlCol="0">
            <a:spAutoFit/>
          </a:bodyPr>
          <a:lstStyle/>
          <a:p>
            <a:r>
              <a:rPr kumimoji="1" lang="en-US" altLang="ja-JP" sz="3200" b="1" u="sng" dirty="0"/>
              <a:t>Unity</a:t>
            </a:r>
            <a:r>
              <a:rPr kumimoji="1" lang="ja-JP" altLang="en-US" sz="3200" b="1" u="sng" dirty="0"/>
              <a:t>でステージエディタ</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4154984"/>
          </a:xfrm>
          <a:prstGeom prst="rect">
            <a:avLst/>
          </a:prstGeom>
          <a:noFill/>
        </p:spPr>
        <p:txBody>
          <a:bodyPr wrap="none" rtlCol="0">
            <a:spAutoFit/>
          </a:bodyPr>
          <a:lstStyle/>
          <a:p>
            <a:r>
              <a:rPr lang="ja-JP" altLang="en-US" sz="2400" dirty="0"/>
              <a:t>アクションゲームなどのステージには様々なオブジェクトが配置されます。</a:t>
            </a:r>
            <a:endParaRPr lang="en-US" altLang="ja-JP" sz="2400" dirty="0"/>
          </a:p>
          <a:p>
            <a:r>
              <a:rPr kumimoji="1" lang="ja-JP" altLang="en-US" sz="2400" dirty="0"/>
              <a:t>配置するデータを１つずつプログラムで書くのは非常に面倒です。</a:t>
            </a:r>
            <a:endParaRPr lang="en-US" altLang="ja-JP" sz="2400" dirty="0"/>
          </a:p>
          <a:p>
            <a:endParaRPr kumimoji="1" lang="en-US" altLang="ja-JP" sz="2400" dirty="0"/>
          </a:p>
          <a:p>
            <a:r>
              <a:rPr lang="en-US" altLang="ja-JP" sz="2400" dirty="0"/>
              <a:t>{</a:t>
            </a:r>
          </a:p>
          <a:p>
            <a:pPr lvl="1"/>
            <a:r>
              <a:rPr lang="en-US" altLang="ja-JP" sz="2400" dirty="0"/>
              <a:t>0, 0, 0, 0, 0, 0, 0, 0, 0, 0, 0, 0, 0, 0, 0, </a:t>
            </a:r>
          </a:p>
          <a:p>
            <a:pPr lvl="1"/>
            <a:r>
              <a:rPr lang="en-US" altLang="ja-JP" sz="2400" dirty="0"/>
              <a:t>1, 0, 0, 0, 0, 0, 0, 0, 0, 0, 0, 0, 0, 0, 0, </a:t>
            </a:r>
          </a:p>
          <a:p>
            <a:pPr lvl="1"/>
            <a:r>
              <a:rPr lang="en-US" altLang="ja-JP" sz="2400" dirty="0"/>
              <a:t>0, 0, 0, 0, 0, 1, 2, 0, 0, 0, 0, 0, 0, 0, 0, </a:t>
            </a:r>
          </a:p>
          <a:p>
            <a:r>
              <a:rPr lang="en-US" altLang="ja-JP" sz="2400" dirty="0"/>
              <a:t>}</a:t>
            </a:r>
          </a:p>
          <a:p>
            <a:endParaRPr kumimoji="1" lang="en-US" altLang="ja-JP" sz="2400" dirty="0"/>
          </a:p>
          <a:p>
            <a:r>
              <a:rPr lang="ja-JP" altLang="en-US" sz="2400" dirty="0"/>
              <a:t>↑マップチップを使ってもいいけど限界はありますし、</a:t>
            </a:r>
            <a:endParaRPr lang="en-US" altLang="ja-JP" sz="2400" dirty="0"/>
          </a:p>
          <a:p>
            <a:r>
              <a:rPr kumimoji="1" lang="ja-JP" altLang="en-US" sz="2400" dirty="0"/>
              <a:t>　同じ場所に複数のものを置けなかったりします。</a:t>
            </a:r>
            <a:endParaRPr kumimoji="1" lang="en-US" altLang="ja-JP" sz="2400" dirty="0"/>
          </a:p>
        </p:txBody>
      </p:sp>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939173" cy="584775"/>
          </a:xfrm>
          <a:prstGeom prst="rect">
            <a:avLst/>
          </a:prstGeom>
          <a:noFill/>
        </p:spPr>
        <p:txBody>
          <a:bodyPr wrap="none" rtlCol="0">
            <a:spAutoFit/>
          </a:bodyPr>
          <a:lstStyle/>
          <a:p>
            <a:r>
              <a:rPr kumimoji="1" lang="en-US" altLang="ja-JP" sz="3200" b="1" u="sng" dirty="0"/>
              <a:t>Unity</a:t>
            </a:r>
            <a:r>
              <a:rPr kumimoji="1" lang="ja-JP" altLang="en-US" sz="3200" b="1" u="sng" dirty="0"/>
              <a:t>でステージエディタ</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1938992"/>
          </a:xfrm>
          <a:prstGeom prst="rect">
            <a:avLst/>
          </a:prstGeom>
          <a:noFill/>
        </p:spPr>
        <p:txBody>
          <a:bodyPr wrap="none" rtlCol="0">
            <a:spAutoFit/>
          </a:bodyPr>
          <a:lstStyle/>
          <a:p>
            <a:r>
              <a:rPr lang="ja-JP" altLang="en-US" sz="2400" dirty="0"/>
              <a:t>実際にゲームエンジンを使わない開発でも、</a:t>
            </a:r>
            <a:endParaRPr lang="en-US" altLang="ja-JP" sz="2400" dirty="0"/>
          </a:p>
          <a:p>
            <a:r>
              <a:rPr kumimoji="1" lang="ja-JP" altLang="en-US" sz="2400" b="1" dirty="0">
                <a:solidFill>
                  <a:srgbClr val="FF0000"/>
                </a:solidFill>
              </a:rPr>
              <a:t>ゲームエンジンをステージエディタとして活用</a:t>
            </a:r>
            <a:r>
              <a:rPr kumimoji="1" lang="ja-JP" altLang="en-US" sz="2400" dirty="0"/>
              <a:t>することがあります。</a:t>
            </a:r>
            <a:endParaRPr kumimoji="1" lang="en-US" altLang="ja-JP" sz="2400" dirty="0"/>
          </a:p>
          <a:p>
            <a:endParaRPr lang="en-US" altLang="ja-JP" sz="2400" dirty="0"/>
          </a:p>
          <a:p>
            <a:r>
              <a:rPr kumimoji="1" lang="ja-JP" altLang="en-US" sz="2400" dirty="0"/>
              <a:t>ここでは</a:t>
            </a:r>
            <a:r>
              <a:rPr kumimoji="1" lang="en-US" altLang="ja-JP" sz="2400" dirty="0"/>
              <a:t>Unity</a:t>
            </a:r>
            <a:r>
              <a:rPr kumimoji="1" lang="ja-JP" altLang="en-US" sz="2400" dirty="0"/>
              <a:t>を使って、</a:t>
            </a:r>
            <a:endParaRPr kumimoji="1" lang="en-US" altLang="ja-JP" sz="2400" dirty="0"/>
          </a:p>
          <a:p>
            <a:r>
              <a:rPr lang="en-US" altLang="ja-JP" sz="2400" b="1" dirty="0">
                <a:solidFill>
                  <a:srgbClr val="FF0000"/>
                </a:solidFill>
              </a:rPr>
              <a:t>Unity</a:t>
            </a:r>
            <a:r>
              <a:rPr lang="ja-JP" altLang="en-US" sz="2400" b="1" dirty="0">
                <a:solidFill>
                  <a:srgbClr val="FF0000"/>
                </a:solidFill>
              </a:rPr>
              <a:t>で作ったステージを</a:t>
            </a:r>
            <a:r>
              <a:rPr lang="en-US" altLang="ja-JP" sz="2400" b="1" dirty="0" err="1">
                <a:solidFill>
                  <a:srgbClr val="FF0000"/>
                </a:solidFill>
              </a:rPr>
              <a:t>DxLib</a:t>
            </a:r>
            <a:r>
              <a:rPr lang="ja-JP" altLang="en-US" sz="2400" b="1" dirty="0">
                <a:solidFill>
                  <a:srgbClr val="FF0000"/>
                </a:solidFill>
              </a:rPr>
              <a:t>に反映する方法</a:t>
            </a:r>
            <a:r>
              <a:rPr lang="ja-JP" altLang="en-US" sz="2400" dirty="0"/>
              <a:t>を練習します。</a:t>
            </a:r>
            <a:endParaRPr kumimoji="1" lang="en-US" altLang="ja-JP" sz="2400" dirty="0"/>
          </a:p>
        </p:txBody>
      </p:sp>
      <p:pic>
        <p:nvPicPr>
          <p:cNvPr id="3" name="図 2">
            <a:extLst>
              <a:ext uri="{FF2B5EF4-FFF2-40B4-BE49-F238E27FC236}">
                <a16:creationId xmlns:a16="http://schemas.microsoft.com/office/drawing/2014/main" id="{8B5E1BB2-8FB8-4776-978F-4BEB126F5194}"/>
              </a:ext>
            </a:extLst>
          </p:cNvPr>
          <p:cNvPicPr>
            <a:picLocks noChangeAspect="1"/>
          </p:cNvPicPr>
          <p:nvPr/>
        </p:nvPicPr>
        <p:blipFill>
          <a:blip r:embed="rId2"/>
          <a:stretch>
            <a:fillRect/>
          </a:stretch>
        </p:blipFill>
        <p:spPr>
          <a:xfrm>
            <a:off x="567542" y="3429000"/>
            <a:ext cx="4661647" cy="2505635"/>
          </a:xfrm>
          <a:prstGeom prst="rect">
            <a:avLst/>
          </a:prstGeom>
        </p:spPr>
      </p:pic>
      <p:sp>
        <p:nvSpPr>
          <p:cNvPr id="5" name="矢印: 右 4">
            <a:extLst>
              <a:ext uri="{FF2B5EF4-FFF2-40B4-BE49-F238E27FC236}">
                <a16:creationId xmlns:a16="http://schemas.microsoft.com/office/drawing/2014/main" id="{25E8553A-5344-40C0-B17C-1B1DEDF2B182}"/>
              </a:ext>
            </a:extLst>
          </p:cNvPr>
          <p:cNvSpPr/>
          <p:nvPr/>
        </p:nvSpPr>
        <p:spPr>
          <a:xfrm>
            <a:off x="5506715" y="4338918"/>
            <a:ext cx="849261" cy="55581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39B6D14D-DE69-4432-AF35-1102EB1DB7E9}"/>
              </a:ext>
            </a:extLst>
          </p:cNvPr>
          <p:cNvPicPr>
            <a:picLocks noChangeAspect="1"/>
          </p:cNvPicPr>
          <p:nvPr/>
        </p:nvPicPr>
        <p:blipFill>
          <a:blip r:embed="rId3"/>
          <a:stretch>
            <a:fillRect/>
          </a:stretch>
        </p:blipFill>
        <p:spPr>
          <a:xfrm>
            <a:off x="6702836" y="3429000"/>
            <a:ext cx="4306897" cy="2505635"/>
          </a:xfrm>
          <a:prstGeom prst="rect">
            <a:avLst/>
          </a:prstGeom>
        </p:spPr>
      </p:pic>
    </p:spTree>
    <p:extLst>
      <p:ext uri="{BB962C8B-B14F-4D97-AF65-F5344CB8AC3E}">
        <p14:creationId xmlns:p14="http://schemas.microsoft.com/office/powerpoint/2010/main" val="3372440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05403" cy="584775"/>
          </a:xfrm>
          <a:prstGeom prst="rect">
            <a:avLst/>
          </a:prstGeom>
          <a:noFill/>
        </p:spPr>
        <p:txBody>
          <a:bodyPr wrap="none" rtlCol="0">
            <a:spAutoFit/>
          </a:bodyPr>
          <a:lstStyle/>
          <a:p>
            <a:r>
              <a:rPr kumimoji="1" lang="ja-JP" altLang="en-US" sz="3200" b="1" u="sng" dirty="0"/>
              <a:t>目次</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416868" cy="5262979"/>
          </a:xfrm>
          <a:prstGeom prst="rect">
            <a:avLst/>
          </a:prstGeom>
          <a:noFill/>
        </p:spPr>
        <p:txBody>
          <a:bodyPr wrap="none" rtlCol="0">
            <a:spAutoFit/>
          </a:bodyPr>
          <a:lstStyle/>
          <a:p>
            <a:r>
              <a:rPr lang="ja-JP" altLang="en-US" sz="2400" dirty="0"/>
              <a:t>いくつかの工程に分けて練習します。</a:t>
            </a:r>
            <a:endParaRPr lang="en-US" altLang="ja-JP" sz="2400" dirty="0"/>
          </a:p>
          <a:p>
            <a:endParaRPr kumimoji="1" lang="en-US" altLang="ja-JP" sz="2400" dirty="0"/>
          </a:p>
          <a:p>
            <a:r>
              <a:rPr lang="ja-JP" altLang="en-US" sz="2400" dirty="0"/>
              <a:t>１．はじめに</a:t>
            </a:r>
            <a:endParaRPr lang="en-US" altLang="ja-JP" sz="2400" dirty="0"/>
          </a:p>
          <a:p>
            <a:endParaRPr kumimoji="1" lang="en-US" altLang="ja-JP" sz="2400" dirty="0"/>
          </a:p>
          <a:p>
            <a:r>
              <a:rPr lang="ja-JP" altLang="en-US" sz="2400" dirty="0"/>
              <a:t>２．</a:t>
            </a:r>
            <a:r>
              <a:rPr lang="en-US" altLang="ja-JP" sz="2400" dirty="0"/>
              <a:t>Unity</a:t>
            </a:r>
            <a:r>
              <a:rPr lang="ja-JP" altLang="en-US" sz="2400" dirty="0"/>
              <a:t>の機能拡張</a:t>
            </a:r>
            <a:endParaRPr lang="en-US" altLang="ja-JP" sz="2400" dirty="0"/>
          </a:p>
          <a:p>
            <a:r>
              <a:rPr lang="ja-JP" altLang="en-US" sz="2400" dirty="0"/>
              <a:t>　　・自作メニュー</a:t>
            </a:r>
            <a:endParaRPr lang="en-US" altLang="ja-JP" sz="2400" dirty="0"/>
          </a:p>
          <a:p>
            <a:r>
              <a:rPr lang="ja-JP" altLang="en-US" sz="2400" dirty="0"/>
              <a:t>　　・ステージデータ出力</a:t>
            </a:r>
            <a:endParaRPr lang="en-US" altLang="ja-JP" sz="2400" dirty="0"/>
          </a:p>
          <a:p>
            <a:endParaRPr kumimoji="1" lang="en-US" altLang="ja-JP" sz="2400" dirty="0"/>
          </a:p>
          <a:p>
            <a:r>
              <a:rPr lang="ja-JP" altLang="en-US" sz="2400" dirty="0"/>
              <a:t>３．</a:t>
            </a:r>
            <a:r>
              <a:rPr lang="en-US" altLang="ja-JP" sz="2400" dirty="0"/>
              <a:t>json</a:t>
            </a:r>
            <a:r>
              <a:rPr lang="ja-JP" altLang="en-US" sz="2400" dirty="0"/>
              <a:t>ファイル</a:t>
            </a:r>
            <a:endParaRPr lang="en-US" altLang="ja-JP" sz="2400" dirty="0"/>
          </a:p>
          <a:p>
            <a:r>
              <a:rPr lang="ja-JP" altLang="en-US" sz="2400" dirty="0"/>
              <a:t>　　・</a:t>
            </a:r>
            <a:r>
              <a:rPr lang="en-US" altLang="ja-JP" sz="2400" dirty="0"/>
              <a:t>json</a:t>
            </a:r>
            <a:r>
              <a:rPr lang="ja-JP" altLang="en-US" sz="2400" dirty="0"/>
              <a:t>ファイルとは</a:t>
            </a:r>
            <a:endParaRPr lang="en-US" altLang="ja-JP" sz="2400" dirty="0"/>
          </a:p>
          <a:p>
            <a:r>
              <a:rPr lang="ja-JP" altLang="en-US" sz="2400" dirty="0"/>
              <a:t>　　・</a:t>
            </a:r>
            <a:r>
              <a:rPr lang="en-US" altLang="ja-JP" sz="2400" dirty="0"/>
              <a:t>json</a:t>
            </a:r>
            <a:r>
              <a:rPr lang="ja-JP" altLang="en-US" sz="2400" dirty="0"/>
              <a:t>ファイルの読み込み</a:t>
            </a:r>
            <a:endParaRPr lang="en-US" altLang="ja-JP" sz="2400" dirty="0"/>
          </a:p>
          <a:p>
            <a:endParaRPr kumimoji="1" lang="en-US" altLang="ja-JP" sz="2400" dirty="0"/>
          </a:p>
          <a:p>
            <a:r>
              <a:rPr lang="ja-JP" altLang="en-US" sz="2400" dirty="0"/>
              <a:t>４．</a:t>
            </a:r>
            <a:r>
              <a:rPr lang="en-US" altLang="ja-JP" sz="2400" dirty="0" err="1"/>
              <a:t>DxLib</a:t>
            </a:r>
            <a:r>
              <a:rPr lang="ja-JP" altLang="en-US" sz="2400" dirty="0"/>
              <a:t>に反映</a:t>
            </a:r>
            <a:endParaRPr lang="en-US" altLang="ja-JP" sz="2400" dirty="0"/>
          </a:p>
          <a:p>
            <a:r>
              <a:rPr kumimoji="1" lang="ja-JP" altLang="en-US" sz="2400" dirty="0"/>
              <a:t>　　・オブジェクト配置</a:t>
            </a:r>
            <a:endParaRPr kumimoji="1" lang="en-US" altLang="ja-JP" sz="2400" dirty="0"/>
          </a:p>
        </p:txBody>
      </p:sp>
    </p:spTree>
    <p:extLst>
      <p:ext uri="{BB962C8B-B14F-4D97-AF65-F5344CB8AC3E}">
        <p14:creationId xmlns:p14="http://schemas.microsoft.com/office/powerpoint/2010/main" val="2476932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182930" y="3136613"/>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Tree>
    <p:extLst>
      <p:ext uri="{BB962C8B-B14F-4D97-AF65-F5344CB8AC3E}">
        <p14:creationId xmlns:p14="http://schemas.microsoft.com/office/powerpoint/2010/main" val="1637265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088292" cy="2308324"/>
          </a:xfrm>
          <a:prstGeom prst="rect">
            <a:avLst/>
          </a:prstGeom>
          <a:noFill/>
        </p:spPr>
        <p:txBody>
          <a:bodyPr wrap="none" rtlCol="0">
            <a:spAutoFit/>
          </a:bodyPr>
          <a:lstStyle/>
          <a:p>
            <a:r>
              <a:rPr lang="en-US" altLang="ja-JP" sz="2400" dirty="0"/>
              <a:t>Unity</a:t>
            </a:r>
            <a:r>
              <a:rPr lang="ja-JP" altLang="en-US" sz="2400" dirty="0"/>
              <a:t>プロジェクトを新規作成して、以下の３つのフォルダを追加しましょう。</a:t>
            </a:r>
            <a:endParaRPr lang="en-US" altLang="ja-JP" sz="2400" dirty="0"/>
          </a:p>
          <a:p>
            <a:endParaRPr kumimoji="1" lang="en-US" altLang="ja-JP" sz="2400" dirty="0"/>
          </a:p>
          <a:p>
            <a:r>
              <a:rPr lang="ja-JP" altLang="en-US" sz="2400" b="1" dirty="0">
                <a:solidFill>
                  <a:srgbClr val="FF0000"/>
                </a:solidFill>
              </a:rPr>
              <a:t>■追加するフォルダ</a:t>
            </a:r>
            <a:endParaRPr lang="en-US" altLang="ja-JP" sz="2400" b="1" dirty="0">
              <a:solidFill>
                <a:srgbClr val="FF0000"/>
              </a:solidFill>
            </a:endParaRPr>
          </a:p>
          <a:p>
            <a:r>
              <a:rPr kumimoji="1" lang="ja-JP" altLang="en-US" sz="2400" dirty="0"/>
              <a:t>・</a:t>
            </a:r>
            <a:r>
              <a:rPr kumimoji="1" lang="en-US" altLang="ja-JP" sz="2400" dirty="0"/>
              <a:t>Models</a:t>
            </a:r>
          </a:p>
          <a:p>
            <a:r>
              <a:rPr kumimoji="1" lang="ja-JP" altLang="en-US" sz="2400" dirty="0"/>
              <a:t>・</a:t>
            </a:r>
            <a:r>
              <a:rPr kumimoji="1" lang="en-US" altLang="ja-JP" sz="2400" dirty="0"/>
              <a:t>Prefabs</a:t>
            </a:r>
          </a:p>
          <a:p>
            <a:r>
              <a:rPr lang="ja-JP" altLang="en-US" sz="2400" dirty="0"/>
              <a:t>・</a:t>
            </a:r>
            <a:r>
              <a:rPr lang="en-US" altLang="ja-JP" sz="2400" dirty="0"/>
              <a:t>Scripts</a:t>
            </a:r>
            <a:endParaRPr kumimoji="1" lang="en-US" altLang="ja-JP" sz="2400" dirty="0"/>
          </a:p>
        </p:txBody>
      </p:sp>
    </p:spTree>
    <p:extLst>
      <p:ext uri="{BB962C8B-B14F-4D97-AF65-F5344CB8AC3E}">
        <p14:creationId xmlns:p14="http://schemas.microsoft.com/office/powerpoint/2010/main" val="2126347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613255" cy="830997"/>
          </a:xfrm>
          <a:prstGeom prst="rect">
            <a:avLst/>
          </a:prstGeom>
          <a:noFill/>
        </p:spPr>
        <p:txBody>
          <a:bodyPr wrap="none" rtlCol="0">
            <a:spAutoFit/>
          </a:bodyPr>
          <a:lstStyle/>
          <a:p>
            <a:r>
              <a:rPr lang="en-US" altLang="ja-JP" sz="2400" dirty="0"/>
              <a:t>Models</a:t>
            </a:r>
            <a:r>
              <a:rPr lang="ja-JP" altLang="en-US" sz="2400" dirty="0"/>
              <a:t>には、ステージに配置するモデルを保存しましょう。</a:t>
            </a:r>
            <a:endParaRPr lang="en-US" altLang="ja-JP" sz="2400" dirty="0"/>
          </a:p>
          <a:p>
            <a:r>
              <a:rPr kumimoji="1" lang="ja-JP" altLang="en-US" sz="2400" dirty="0"/>
              <a:t>見分けがつくのであれば、仮モデルでも大丈夫です。</a:t>
            </a:r>
            <a:endParaRPr kumimoji="1" lang="en-US" altLang="ja-JP" sz="2400" dirty="0"/>
          </a:p>
        </p:txBody>
      </p:sp>
      <p:pic>
        <p:nvPicPr>
          <p:cNvPr id="3" name="図 2">
            <a:extLst>
              <a:ext uri="{FF2B5EF4-FFF2-40B4-BE49-F238E27FC236}">
                <a16:creationId xmlns:a16="http://schemas.microsoft.com/office/drawing/2014/main" id="{103B7D9F-680B-4796-BAB2-2478CA9CDF80}"/>
              </a:ext>
            </a:extLst>
          </p:cNvPr>
          <p:cNvPicPr>
            <a:picLocks noChangeAspect="1"/>
          </p:cNvPicPr>
          <p:nvPr/>
        </p:nvPicPr>
        <p:blipFill>
          <a:blip r:embed="rId2"/>
          <a:stretch>
            <a:fillRect/>
          </a:stretch>
        </p:blipFill>
        <p:spPr>
          <a:xfrm>
            <a:off x="567542" y="2187126"/>
            <a:ext cx="6848553" cy="4052309"/>
          </a:xfrm>
          <a:prstGeom prst="rect">
            <a:avLst/>
          </a:prstGeom>
        </p:spPr>
      </p:pic>
    </p:spTree>
    <p:extLst>
      <p:ext uri="{BB962C8B-B14F-4D97-AF65-F5344CB8AC3E}">
        <p14:creationId xmlns:p14="http://schemas.microsoft.com/office/powerpoint/2010/main" val="159422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10222" cy="1200329"/>
          </a:xfrm>
          <a:prstGeom prst="rect">
            <a:avLst/>
          </a:prstGeom>
          <a:noFill/>
        </p:spPr>
        <p:txBody>
          <a:bodyPr wrap="none" rtlCol="0">
            <a:spAutoFit/>
          </a:bodyPr>
          <a:lstStyle/>
          <a:p>
            <a:r>
              <a:rPr lang="en-US" altLang="ja-JP" sz="2400" dirty="0"/>
              <a:t>Unity</a:t>
            </a:r>
            <a:r>
              <a:rPr lang="ja-JP" altLang="en-US" sz="2400" dirty="0"/>
              <a:t>の仕様で</a:t>
            </a:r>
            <a:r>
              <a:rPr lang="en-US" altLang="ja-JP" sz="2400" dirty="0"/>
              <a:t>Z</a:t>
            </a:r>
            <a:r>
              <a:rPr lang="ja-JP" altLang="en-US" sz="2400" dirty="0"/>
              <a:t>軸に反転した状態で保存されます。</a:t>
            </a:r>
            <a:endParaRPr lang="en-US" altLang="ja-JP" sz="2400" dirty="0"/>
          </a:p>
          <a:p>
            <a:r>
              <a:rPr lang="ja-JP" altLang="en-US" sz="2400" dirty="0"/>
              <a:t>インスペクターから </a:t>
            </a:r>
            <a:r>
              <a:rPr lang="en-US" altLang="ja-JP" sz="2400" b="1" dirty="0">
                <a:solidFill>
                  <a:srgbClr val="FF0000"/>
                </a:solidFill>
              </a:rPr>
              <a:t>Bake Axis Conversion </a:t>
            </a:r>
            <a:r>
              <a:rPr lang="ja-JP" altLang="en-US" sz="2400" b="1" dirty="0">
                <a:solidFill>
                  <a:srgbClr val="FF0000"/>
                </a:solidFill>
              </a:rPr>
              <a:t>を </a:t>
            </a:r>
            <a:r>
              <a:rPr lang="en-US" altLang="ja-JP" sz="2400" b="1" dirty="0">
                <a:solidFill>
                  <a:srgbClr val="FF0000"/>
                </a:solidFill>
              </a:rPr>
              <a:t>ON </a:t>
            </a:r>
            <a:r>
              <a:rPr lang="ja-JP" altLang="en-US" sz="2400" dirty="0"/>
              <a:t>にすると改善します。</a:t>
            </a:r>
            <a:endParaRPr lang="en-US" altLang="ja-JP" sz="2400" dirty="0"/>
          </a:p>
          <a:p>
            <a:r>
              <a:rPr lang="en-US" altLang="ja-JP" sz="2400" dirty="0"/>
              <a:t>ON </a:t>
            </a:r>
            <a:r>
              <a:rPr lang="ja-JP" altLang="en-US" sz="2400" dirty="0"/>
              <a:t>にした後に </a:t>
            </a:r>
            <a:r>
              <a:rPr lang="en-US" altLang="ja-JP" sz="2400" b="1" dirty="0">
                <a:solidFill>
                  <a:srgbClr val="FF0000"/>
                </a:solidFill>
              </a:rPr>
              <a:t>Apply </a:t>
            </a:r>
            <a:r>
              <a:rPr lang="ja-JP" altLang="en-US" sz="2400" dirty="0"/>
              <a:t>を忘れないように押しましょう。</a:t>
            </a:r>
            <a:endParaRPr lang="en-US" altLang="ja-JP" sz="2400" dirty="0"/>
          </a:p>
        </p:txBody>
      </p:sp>
      <p:pic>
        <p:nvPicPr>
          <p:cNvPr id="8" name="図 7">
            <a:extLst>
              <a:ext uri="{FF2B5EF4-FFF2-40B4-BE49-F238E27FC236}">
                <a16:creationId xmlns:a16="http://schemas.microsoft.com/office/drawing/2014/main" id="{9112818B-0E57-42D9-B6ED-B399879254FD}"/>
              </a:ext>
            </a:extLst>
          </p:cNvPr>
          <p:cNvPicPr>
            <a:picLocks noChangeAspect="1"/>
          </p:cNvPicPr>
          <p:nvPr/>
        </p:nvPicPr>
        <p:blipFill>
          <a:blip r:embed="rId2"/>
          <a:stretch>
            <a:fillRect/>
          </a:stretch>
        </p:blipFill>
        <p:spPr>
          <a:xfrm>
            <a:off x="567542" y="2556458"/>
            <a:ext cx="2650787" cy="4054782"/>
          </a:xfrm>
          <a:prstGeom prst="rect">
            <a:avLst/>
          </a:prstGeom>
        </p:spPr>
      </p:pic>
      <p:sp>
        <p:nvSpPr>
          <p:cNvPr id="9" name="正方形/長方形 8">
            <a:extLst>
              <a:ext uri="{FF2B5EF4-FFF2-40B4-BE49-F238E27FC236}">
                <a16:creationId xmlns:a16="http://schemas.microsoft.com/office/drawing/2014/main" id="{B3601215-0674-44CF-968F-5D8ABBB86D52}"/>
              </a:ext>
            </a:extLst>
          </p:cNvPr>
          <p:cNvSpPr/>
          <p:nvPr/>
        </p:nvSpPr>
        <p:spPr>
          <a:xfrm>
            <a:off x="619126" y="3493295"/>
            <a:ext cx="1214438" cy="1190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224B8607-30E1-4708-92A4-82CAD9D638D4}"/>
              </a:ext>
            </a:extLst>
          </p:cNvPr>
          <p:cNvSpPr/>
          <p:nvPr/>
        </p:nvSpPr>
        <p:spPr>
          <a:xfrm>
            <a:off x="2871788" y="6429375"/>
            <a:ext cx="283368" cy="1432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13701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748729" cy="830997"/>
          </a:xfrm>
          <a:prstGeom prst="rect">
            <a:avLst/>
          </a:prstGeom>
          <a:noFill/>
        </p:spPr>
        <p:txBody>
          <a:bodyPr wrap="none" rtlCol="0">
            <a:spAutoFit/>
          </a:bodyPr>
          <a:lstStyle/>
          <a:p>
            <a:r>
              <a:rPr lang="en-US" altLang="ja-JP" sz="2400" dirty="0"/>
              <a:t>Prefabs</a:t>
            </a:r>
            <a:r>
              <a:rPr lang="ja-JP" altLang="en-US" sz="2400" dirty="0"/>
              <a:t>には、ステージに配置するオブジェクトをプレハブにまとめて保存します。</a:t>
            </a:r>
            <a:endParaRPr lang="en-US" altLang="ja-JP" sz="2400" dirty="0"/>
          </a:p>
          <a:p>
            <a:r>
              <a:rPr kumimoji="1" lang="ja-JP" altLang="en-US" sz="2400" dirty="0"/>
              <a:t>種類が多いときはフォルダ分けしましょう。</a:t>
            </a:r>
            <a:endParaRPr kumimoji="1" lang="en-US" altLang="ja-JP" sz="2400" dirty="0"/>
          </a:p>
        </p:txBody>
      </p:sp>
      <p:pic>
        <p:nvPicPr>
          <p:cNvPr id="5" name="図 4">
            <a:extLst>
              <a:ext uri="{FF2B5EF4-FFF2-40B4-BE49-F238E27FC236}">
                <a16:creationId xmlns:a16="http://schemas.microsoft.com/office/drawing/2014/main" id="{E1649DB8-9D09-46A4-9309-36B2FA11747F}"/>
              </a:ext>
            </a:extLst>
          </p:cNvPr>
          <p:cNvPicPr>
            <a:picLocks noChangeAspect="1"/>
          </p:cNvPicPr>
          <p:nvPr/>
        </p:nvPicPr>
        <p:blipFill>
          <a:blip r:embed="rId2"/>
          <a:stretch>
            <a:fillRect/>
          </a:stretch>
        </p:blipFill>
        <p:spPr>
          <a:xfrm>
            <a:off x="567541" y="2187126"/>
            <a:ext cx="9860891" cy="3299274"/>
          </a:xfrm>
          <a:prstGeom prst="rect">
            <a:avLst/>
          </a:prstGeom>
        </p:spPr>
      </p:pic>
    </p:spTree>
    <p:extLst>
      <p:ext uri="{BB962C8B-B14F-4D97-AF65-F5344CB8AC3E}">
        <p14:creationId xmlns:p14="http://schemas.microsoft.com/office/powerpoint/2010/main" val="2805435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2308324"/>
          </a:xfrm>
          <a:prstGeom prst="rect">
            <a:avLst/>
          </a:prstGeom>
          <a:noFill/>
        </p:spPr>
        <p:txBody>
          <a:bodyPr wrap="none" rtlCol="0">
            <a:spAutoFit/>
          </a:bodyPr>
          <a:lstStyle/>
          <a:p>
            <a:r>
              <a:rPr lang="ja-JP" altLang="en-US" sz="2400" dirty="0"/>
              <a:t>以下のような仕組みを作ります。</a:t>
            </a:r>
            <a:endParaRPr lang="en-US" altLang="ja-JP" sz="2400" dirty="0"/>
          </a:p>
          <a:p>
            <a:endParaRPr kumimoji="1" lang="en-US" altLang="ja-JP" sz="2400" dirty="0"/>
          </a:p>
          <a:p>
            <a:r>
              <a:rPr lang="ja-JP" altLang="en-US" sz="2400" dirty="0"/>
              <a:t>１．プレハブを配置したら自動で配列に登録</a:t>
            </a:r>
            <a:endParaRPr lang="en-US" altLang="ja-JP" sz="2400" dirty="0"/>
          </a:p>
          <a:p>
            <a:r>
              <a:rPr kumimoji="1" lang="ja-JP" altLang="en-US" sz="2400" dirty="0"/>
              <a:t>２．登録された配列をデータで出力</a:t>
            </a:r>
            <a:endParaRPr kumimoji="1" lang="en-US" altLang="ja-JP" sz="2400" dirty="0"/>
          </a:p>
          <a:p>
            <a:endParaRPr lang="en-US" altLang="ja-JP" sz="2400" dirty="0"/>
          </a:p>
          <a:p>
            <a:r>
              <a:rPr kumimoji="1" lang="ja-JP" altLang="en-US" sz="2400" dirty="0"/>
              <a:t>まずは自動登録機能を作って各プレハブに付与します。</a:t>
            </a:r>
            <a:endParaRPr kumimoji="1" lang="en-US" altLang="ja-JP" sz="2400" dirty="0"/>
          </a:p>
        </p:txBody>
      </p:sp>
    </p:spTree>
    <p:extLst>
      <p:ext uri="{BB962C8B-B14F-4D97-AF65-F5344CB8AC3E}">
        <p14:creationId xmlns:p14="http://schemas.microsoft.com/office/powerpoint/2010/main" val="2833394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52443" cy="461665"/>
          </a:xfrm>
          <a:prstGeom prst="rect">
            <a:avLst/>
          </a:prstGeom>
          <a:noFill/>
        </p:spPr>
        <p:txBody>
          <a:bodyPr wrap="none" rtlCol="0">
            <a:spAutoFit/>
          </a:bodyPr>
          <a:lstStyle/>
          <a:p>
            <a:r>
              <a:rPr lang="en-US" altLang="ja-JP" sz="2400" dirty="0"/>
              <a:t>Scripts</a:t>
            </a:r>
            <a:r>
              <a:rPr lang="ja-JP" altLang="en-US" sz="2400" dirty="0"/>
              <a:t>フォルダに「</a:t>
            </a:r>
            <a:r>
              <a:rPr lang="en-US" altLang="ja-JP" sz="2400" b="1" dirty="0" err="1">
                <a:solidFill>
                  <a:srgbClr val="FF0000"/>
                </a:solidFill>
              </a:rPr>
              <a:t>StageObject.cs</a:t>
            </a:r>
            <a:r>
              <a:rPr lang="ja-JP" altLang="en-US" sz="2400" dirty="0"/>
              <a:t>」を追加します。</a:t>
            </a:r>
            <a:endParaRPr kumimoji="1" lang="en-US" altLang="ja-JP" sz="2400" dirty="0"/>
          </a:p>
        </p:txBody>
      </p:sp>
      <p:pic>
        <p:nvPicPr>
          <p:cNvPr id="3" name="図 2">
            <a:extLst>
              <a:ext uri="{FF2B5EF4-FFF2-40B4-BE49-F238E27FC236}">
                <a16:creationId xmlns:a16="http://schemas.microsoft.com/office/drawing/2014/main" id="{B9043259-7491-4CC9-B7B7-68689BB693BD}"/>
              </a:ext>
            </a:extLst>
          </p:cNvPr>
          <p:cNvPicPr>
            <a:picLocks noChangeAspect="1"/>
          </p:cNvPicPr>
          <p:nvPr/>
        </p:nvPicPr>
        <p:blipFill>
          <a:blip r:embed="rId2"/>
          <a:stretch>
            <a:fillRect/>
          </a:stretch>
        </p:blipFill>
        <p:spPr>
          <a:xfrm>
            <a:off x="567542" y="1817794"/>
            <a:ext cx="2510506" cy="3121759"/>
          </a:xfrm>
          <a:prstGeom prst="rect">
            <a:avLst/>
          </a:prstGeom>
        </p:spPr>
      </p:pic>
    </p:spTree>
    <p:extLst>
      <p:ext uri="{BB962C8B-B14F-4D97-AF65-F5344CB8AC3E}">
        <p14:creationId xmlns:p14="http://schemas.microsoft.com/office/powerpoint/2010/main" val="1143449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840060" cy="461665"/>
          </a:xfrm>
          <a:prstGeom prst="rect">
            <a:avLst/>
          </a:prstGeom>
          <a:noFill/>
        </p:spPr>
        <p:txBody>
          <a:bodyPr wrap="none" rtlCol="0">
            <a:spAutoFit/>
          </a:bodyPr>
          <a:lstStyle/>
          <a:p>
            <a:r>
              <a:rPr lang="en-US" altLang="ja-JP" sz="2400" b="1" dirty="0" err="1">
                <a:solidFill>
                  <a:srgbClr val="FF0000"/>
                </a:solidFill>
              </a:rPr>
              <a:t>StageObject.cs</a:t>
            </a:r>
            <a:r>
              <a:rPr lang="ja-JP" altLang="en-US" sz="2400" dirty="0"/>
              <a:t>を書きます。（その１）</a:t>
            </a:r>
            <a:endParaRPr kumimoji="1" lang="en-US" altLang="ja-JP" sz="2400" dirty="0"/>
          </a:p>
        </p:txBody>
      </p:sp>
      <p:pic>
        <p:nvPicPr>
          <p:cNvPr id="5" name="図 4">
            <a:extLst>
              <a:ext uri="{FF2B5EF4-FFF2-40B4-BE49-F238E27FC236}">
                <a16:creationId xmlns:a16="http://schemas.microsoft.com/office/drawing/2014/main" id="{270D5648-C284-48CD-8353-D4F5C0E38E07}"/>
              </a:ext>
            </a:extLst>
          </p:cNvPr>
          <p:cNvPicPr>
            <a:picLocks noChangeAspect="1"/>
          </p:cNvPicPr>
          <p:nvPr/>
        </p:nvPicPr>
        <p:blipFill>
          <a:blip r:embed="rId2"/>
          <a:stretch>
            <a:fillRect/>
          </a:stretch>
        </p:blipFill>
        <p:spPr>
          <a:xfrm>
            <a:off x="567542" y="1817795"/>
            <a:ext cx="5016559" cy="4548252"/>
          </a:xfrm>
          <a:prstGeom prst="rect">
            <a:avLst/>
          </a:prstGeom>
        </p:spPr>
      </p:pic>
    </p:spTree>
    <p:extLst>
      <p:ext uri="{BB962C8B-B14F-4D97-AF65-F5344CB8AC3E}">
        <p14:creationId xmlns:p14="http://schemas.microsoft.com/office/powerpoint/2010/main" val="719624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840060" cy="461665"/>
          </a:xfrm>
          <a:prstGeom prst="rect">
            <a:avLst/>
          </a:prstGeom>
          <a:noFill/>
        </p:spPr>
        <p:txBody>
          <a:bodyPr wrap="none" rtlCol="0">
            <a:spAutoFit/>
          </a:bodyPr>
          <a:lstStyle/>
          <a:p>
            <a:r>
              <a:rPr lang="en-US" altLang="ja-JP" sz="2400" b="1" dirty="0" err="1">
                <a:solidFill>
                  <a:srgbClr val="FF0000"/>
                </a:solidFill>
              </a:rPr>
              <a:t>StageObject.cs</a:t>
            </a:r>
            <a:r>
              <a:rPr lang="ja-JP" altLang="en-US" sz="2400" dirty="0"/>
              <a:t>を書きます。（その２）</a:t>
            </a:r>
            <a:endParaRPr kumimoji="1" lang="en-US" altLang="ja-JP" sz="2400" dirty="0"/>
          </a:p>
        </p:txBody>
      </p:sp>
      <p:pic>
        <p:nvPicPr>
          <p:cNvPr id="3" name="図 2">
            <a:extLst>
              <a:ext uri="{FF2B5EF4-FFF2-40B4-BE49-F238E27FC236}">
                <a16:creationId xmlns:a16="http://schemas.microsoft.com/office/drawing/2014/main" id="{07DF1E93-D965-499E-8D47-552CB503E096}"/>
              </a:ext>
            </a:extLst>
          </p:cNvPr>
          <p:cNvPicPr>
            <a:picLocks noChangeAspect="1"/>
          </p:cNvPicPr>
          <p:nvPr/>
        </p:nvPicPr>
        <p:blipFill>
          <a:blip r:embed="rId2"/>
          <a:stretch>
            <a:fillRect/>
          </a:stretch>
        </p:blipFill>
        <p:spPr>
          <a:xfrm>
            <a:off x="567542" y="1817794"/>
            <a:ext cx="7832387" cy="4581046"/>
          </a:xfrm>
          <a:prstGeom prst="rect">
            <a:avLst/>
          </a:prstGeom>
        </p:spPr>
      </p:pic>
    </p:spTree>
    <p:extLst>
      <p:ext uri="{BB962C8B-B14F-4D97-AF65-F5344CB8AC3E}">
        <p14:creationId xmlns:p14="http://schemas.microsoft.com/office/powerpoint/2010/main" val="3131920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09198" cy="830997"/>
          </a:xfrm>
          <a:prstGeom prst="rect">
            <a:avLst/>
          </a:prstGeom>
          <a:noFill/>
        </p:spPr>
        <p:txBody>
          <a:bodyPr wrap="none" rtlCol="0">
            <a:spAutoFit/>
          </a:bodyPr>
          <a:lstStyle/>
          <a:p>
            <a:r>
              <a:rPr kumimoji="1" lang="ja-JP" altLang="en-US" sz="2400" dirty="0"/>
              <a:t>配置するオブジェクトの</a:t>
            </a:r>
            <a:r>
              <a:rPr kumimoji="1" lang="ja-JP" altLang="en-US" sz="2400" b="1" dirty="0">
                <a:solidFill>
                  <a:srgbClr val="FF0000"/>
                </a:solidFill>
              </a:rPr>
              <a:t>種類ごとに</a:t>
            </a:r>
            <a:r>
              <a:rPr kumimoji="1" lang="en-US" altLang="ja-JP" sz="2400" b="1" dirty="0">
                <a:solidFill>
                  <a:srgbClr val="FF0000"/>
                </a:solidFill>
              </a:rPr>
              <a:t>ID</a:t>
            </a:r>
            <a:r>
              <a:rPr kumimoji="1" lang="ja-JP" altLang="en-US" sz="2400" b="1" dirty="0">
                <a:solidFill>
                  <a:srgbClr val="FF0000"/>
                </a:solidFill>
              </a:rPr>
              <a:t>が必要</a:t>
            </a:r>
            <a:r>
              <a:rPr kumimoji="1" lang="ja-JP" altLang="en-US" sz="2400" dirty="0"/>
              <a:t>になります。</a:t>
            </a:r>
            <a:endParaRPr kumimoji="1" lang="en-US" altLang="ja-JP" sz="2400" dirty="0"/>
          </a:p>
          <a:p>
            <a:r>
              <a:rPr lang="ja-JP" altLang="en-US" sz="2400" dirty="0"/>
              <a:t>これがないと、何を配置したか</a:t>
            </a:r>
            <a:r>
              <a:rPr lang="en-US" altLang="ja-JP" sz="2400" dirty="0" err="1"/>
              <a:t>DxLib</a:t>
            </a:r>
            <a:r>
              <a:rPr lang="ja-JP" altLang="en-US" sz="2400" dirty="0"/>
              <a:t>側がわからないからです。</a:t>
            </a:r>
            <a:endParaRPr kumimoji="1" lang="en-US" altLang="ja-JP" sz="2400" dirty="0"/>
          </a:p>
        </p:txBody>
      </p:sp>
      <p:pic>
        <p:nvPicPr>
          <p:cNvPr id="5" name="図 4">
            <a:extLst>
              <a:ext uri="{FF2B5EF4-FFF2-40B4-BE49-F238E27FC236}">
                <a16:creationId xmlns:a16="http://schemas.microsoft.com/office/drawing/2014/main" id="{E597263A-E44F-43E9-9901-BD1392A515A2}"/>
              </a:ext>
            </a:extLst>
          </p:cNvPr>
          <p:cNvPicPr>
            <a:picLocks noChangeAspect="1"/>
          </p:cNvPicPr>
          <p:nvPr/>
        </p:nvPicPr>
        <p:blipFill>
          <a:blip r:embed="rId2"/>
          <a:stretch>
            <a:fillRect/>
          </a:stretch>
        </p:blipFill>
        <p:spPr>
          <a:xfrm>
            <a:off x="567542" y="2187126"/>
            <a:ext cx="3537796" cy="4070239"/>
          </a:xfrm>
          <a:prstGeom prst="rect">
            <a:avLst/>
          </a:prstGeom>
        </p:spPr>
      </p:pic>
    </p:spTree>
    <p:extLst>
      <p:ext uri="{BB962C8B-B14F-4D97-AF65-F5344CB8AC3E}">
        <p14:creationId xmlns:p14="http://schemas.microsoft.com/office/powerpoint/2010/main" val="2485971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17826" cy="461665"/>
          </a:xfrm>
          <a:prstGeom prst="rect">
            <a:avLst/>
          </a:prstGeom>
          <a:noFill/>
        </p:spPr>
        <p:txBody>
          <a:bodyPr wrap="none" rtlCol="0">
            <a:spAutoFit/>
          </a:bodyPr>
          <a:lstStyle/>
          <a:p>
            <a:r>
              <a:rPr lang="en-US" altLang="ja-JP" sz="2400" b="1" dirty="0" err="1">
                <a:solidFill>
                  <a:srgbClr val="FF0000"/>
                </a:solidFill>
              </a:rPr>
              <a:t>StageObject.cs</a:t>
            </a:r>
            <a:r>
              <a:rPr lang="ja-JP" altLang="en-US" sz="2400" dirty="0"/>
              <a:t>がついているオブジェクトを自動登録します。</a:t>
            </a:r>
            <a:endParaRPr kumimoji="1" lang="en-US" altLang="ja-JP" sz="2400" dirty="0"/>
          </a:p>
        </p:txBody>
      </p:sp>
      <p:pic>
        <p:nvPicPr>
          <p:cNvPr id="3" name="図 2">
            <a:extLst>
              <a:ext uri="{FF2B5EF4-FFF2-40B4-BE49-F238E27FC236}">
                <a16:creationId xmlns:a16="http://schemas.microsoft.com/office/drawing/2014/main" id="{07DF1E93-D965-499E-8D47-552CB503E096}"/>
              </a:ext>
            </a:extLst>
          </p:cNvPr>
          <p:cNvPicPr>
            <a:picLocks noChangeAspect="1"/>
          </p:cNvPicPr>
          <p:nvPr/>
        </p:nvPicPr>
        <p:blipFill>
          <a:blip r:embed="rId2"/>
          <a:stretch>
            <a:fillRect/>
          </a:stretch>
        </p:blipFill>
        <p:spPr>
          <a:xfrm>
            <a:off x="567542" y="1817794"/>
            <a:ext cx="7832387" cy="4581046"/>
          </a:xfrm>
          <a:prstGeom prst="rect">
            <a:avLst/>
          </a:prstGeom>
        </p:spPr>
      </p:pic>
      <p:sp>
        <p:nvSpPr>
          <p:cNvPr id="5" name="テキスト ボックス 4">
            <a:extLst>
              <a:ext uri="{FF2B5EF4-FFF2-40B4-BE49-F238E27FC236}">
                <a16:creationId xmlns:a16="http://schemas.microsoft.com/office/drawing/2014/main" id="{193FC95C-DAA4-4222-BC39-376947C186DE}"/>
              </a:ext>
            </a:extLst>
          </p:cNvPr>
          <p:cNvSpPr txBox="1"/>
          <p:nvPr/>
        </p:nvSpPr>
        <p:spPr>
          <a:xfrm>
            <a:off x="5157471" y="5567843"/>
            <a:ext cx="6647974" cy="830997"/>
          </a:xfrm>
          <a:prstGeom prst="rect">
            <a:avLst/>
          </a:prstGeom>
          <a:noFill/>
        </p:spPr>
        <p:txBody>
          <a:bodyPr wrap="none" rtlCol="0">
            <a:spAutoFit/>
          </a:bodyPr>
          <a:lstStyle/>
          <a:p>
            <a:r>
              <a:rPr kumimoji="1" lang="en-US" altLang="ja-JP" sz="2400" b="1" dirty="0">
                <a:solidFill>
                  <a:srgbClr val="00B050"/>
                </a:solidFill>
              </a:rPr>
              <a:t>MEMO</a:t>
            </a:r>
          </a:p>
          <a:p>
            <a:r>
              <a:rPr kumimoji="1" lang="ja-JP" altLang="en-US" sz="2400" dirty="0"/>
              <a:t>後でブレークポイントを置いて確認してみよう</a:t>
            </a:r>
            <a:endParaRPr kumimoji="1" lang="en-US" altLang="ja-JP" sz="2400" dirty="0"/>
          </a:p>
        </p:txBody>
      </p:sp>
    </p:spTree>
    <p:extLst>
      <p:ext uri="{BB962C8B-B14F-4D97-AF65-F5344CB8AC3E}">
        <p14:creationId xmlns:p14="http://schemas.microsoft.com/office/powerpoint/2010/main" val="1261068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t>はじめに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40167" cy="461665"/>
          </a:xfrm>
          <a:prstGeom prst="rect">
            <a:avLst/>
          </a:prstGeom>
          <a:noFill/>
        </p:spPr>
        <p:txBody>
          <a:bodyPr wrap="none" rtlCol="0">
            <a:spAutoFit/>
          </a:bodyPr>
          <a:lstStyle/>
          <a:p>
            <a:r>
              <a:rPr kumimoji="1" lang="ja-JP" altLang="en-US" sz="2400" dirty="0"/>
              <a:t>各プレハブに</a:t>
            </a:r>
            <a:r>
              <a:rPr kumimoji="1" lang="en-US" altLang="ja-JP" sz="2400" b="1" dirty="0" err="1">
                <a:solidFill>
                  <a:srgbClr val="FF0000"/>
                </a:solidFill>
              </a:rPr>
              <a:t>StageObject</a:t>
            </a:r>
            <a:r>
              <a:rPr kumimoji="1" lang="ja-JP" altLang="en-US" sz="2400" dirty="0"/>
              <a:t>を追加して、</a:t>
            </a:r>
            <a:r>
              <a:rPr lang="en-US" altLang="ja-JP" sz="2400" dirty="0"/>
              <a:t>ID</a:t>
            </a:r>
            <a:r>
              <a:rPr lang="ja-JP" altLang="en-US" sz="2400" dirty="0"/>
              <a:t>を設定してあげましょう。</a:t>
            </a:r>
            <a:endParaRPr kumimoji="1" lang="en-US" altLang="ja-JP" sz="2400" dirty="0"/>
          </a:p>
        </p:txBody>
      </p:sp>
      <p:pic>
        <p:nvPicPr>
          <p:cNvPr id="7" name="図 6">
            <a:extLst>
              <a:ext uri="{FF2B5EF4-FFF2-40B4-BE49-F238E27FC236}">
                <a16:creationId xmlns:a16="http://schemas.microsoft.com/office/drawing/2014/main" id="{E44CAA51-2C04-4EB9-8504-1FE3D23603C7}"/>
              </a:ext>
            </a:extLst>
          </p:cNvPr>
          <p:cNvPicPr>
            <a:picLocks noChangeAspect="1"/>
          </p:cNvPicPr>
          <p:nvPr/>
        </p:nvPicPr>
        <p:blipFill>
          <a:blip r:embed="rId2"/>
          <a:stretch>
            <a:fillRect/>
          </a:stretch>
        </p:blipFill>
        <p:spPr>
          <a:xfrm>
            <a:off x="567542" y="1817795"/>
            <a:ext cx="10282212" cy="4548252"/>
          </a:xfrm>
          <a:prstGeom prst="rect">
            <a:avLst/>
          </a:prstGeom>
        </p:spPr>
      </p:pic>
      <p:sp>
        <p:nvSpPr>
          <p:cNvPr id="8" name="矢印: 右 7">
            <a:extLst>
              <a:ext uri="{FF2B5EF4-FFF2-40B4-BE49-F238E27FC236}">
                <a16:creationId xmlns:a16="http://schemas.microsoft.com/office/drawing/2014/main" id="{9BFF1245-B9B7-480F-9C43-5961AB52DC96}"/>
              </a:ext>
            </a:extLst>
          </p:cNvPr>
          <p:cNvSpPr/>
          <p:nvPr/>
        </p:nvSpPr>
        <p:spPr>
          <a:xfrm rot="14099625">
            <a:off x="9930849" y="5683623"/>
            <a:ext cx="493059" cy="31376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44414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4447151" y="3136613"/>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Tree>
    <p:extLst>
      <p:ext uri="{BB962C8B-B14F-4D97-AF65-F5344CB8AC3E}">
        <p14:creationId xmlns:p14="http://schemas.microsoft.com/office/powerpoint/2010/main" val="4059549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676047" cy="830997"/>
          </a:xfrm>
          <a:prstGeom prst="rect">
            <a:avLst/>
          </a:prstGeom>
          <a:noFill/>
        </p:spPr>
        <p:txBody>
          <a:bodyPr wrap="none" rtlCol="0">
            <a:spAutoFit/>
          </a:bodyPr>
          <a:lstStyle/>
          <a:p>
            <a:r>
              <a:rPr lang="en-US" altLang="ja-JP" sz="2400" dirty="0"/>
              <a:t>Unity</a:t>
            </a:r>
            <a:r>
              <a:rPr lang="ja-JP" altLang="en-US" sz="2400" dirty="0"/>
              <a:t>には</a:t>
            </a:r>
            <a:r>
              <a:rPr lang="ja-JP" altLang="en-US" sz="2400" b="1" dirty="0">
                <a:solidFill>
                  <a:srgbClr val="FF0000"/>
                </a:solidFill>
              </a:rPr>
              <a:t>自作の機能を追加</a:t>
            </a:r>
            <a:r>
              <a:rPr lang="ja-JP" altLang="en-US" sz="2400" dirty="0"/>
              <a:t>することができます。</a:t>
            </a:r>
            <a:endParaRPr lang="en-US" altLang="ja-JP" sz="2400" dirty="0"/>
          </a:p>
          <a:p>
            <a:r>
              <a:rPr kumimoji="1" lang="ja-JP" altLang="en-US" sz="2400" dirty="0"/>
              <a:t>今回は、</a:t>
            </a:r>
            <a:r>
              <a:rPr kumimoji="1" lang="en-US" altLang="ja-JP" sz="2400" b="1" dirty="0">
                <a:solidFill>
                  <a:srgbClr val="FF0000"/>
                </a:solidFill>
              </a:rPr>
              <a:t>Scene</a:t>
            </a:r>
            <a:r>
              <a:rPr kumimoji="1" lang="ja-JP" altLang="en-US" sz="2400" b="1" dirty="0">
                <a:solidFill>
                  <a:srgbClr val="FF0000"/>
                </a:solidFill>
              </a:rPr>
              <a:t>に配置したものをデータ出力する機能</a:t>
            </a:r>
            <a:r>
              <a:rPr kumimoji="1" lang="ja-JP" altLang="en-US" sz="2400" dirty="0"/>
              <a:t>を追加します。</a:t>
            </a:r>
            <a:endParaRPr kumimoji="1" lang="en-US" altLang="ja-JP" sz="2400" dirty="0"/>
          </a:p>
        </p:txBody>
      </p:sp>
      <p:pic>
        <p:nvPicPr>
          <p:cNvPr id="5" name="図 4">
            <a:extLst>
              <a:ext uri="{FF2B5EF4-FFF2-40B4-BE49-F238E27FC236}">
                <a16:creationId xmlns:a16="http://schemas.microsoft.com/office/drawing/2014/main" id="{24316E90-CEFA-432F-B1C3-CDB7A497C075}"/>
              </a:ext>
            </a:extLst>
          </p:cNvPr>
          <p:cNvPicPr>
            <a:picLocks noChangeAspect="1"/>
          </p:cNvPicPr>
          <p:nvPr/>
        </p:nvPicPr>
        <p:blipFill>
          <a:blip r:embed="rId2"/>
          <a:stretch>
            <a:fillRect/>
          </a:stretch>
        </p:blipFill>
        <p:spPr>
          <a:xfrm>
            <a:off x="567542" y="2187126"/>
            <a:ext cx="7774736" cy="4178920"/>
          </a:xfrm>
          <a:prstGeom prst="rect">
            <a:avLst/>
          </a:prstGeom>
        </p:spPr>
      </p:pic>
    </p:spTree>
    <p:extLst>
      <p:ext uri="{BB962C8B-B14F-4D97-AF65-F5344CB8AC3E}">
        <p14:creationId xmlns:p14="http://schemas.microsoft.com/office/powerpoint/2010/main" val="57683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036174" cy="461665"/>
          </a:xfrm>
          <a:prstGeom prst="rect">
            <a:avLst/>
          </a:prstGeom>
          <a:noFill/>
        </p:spPr>
        <p:txBody>
          <a:bodyPr wrap="none" rtlCol="0">
            <a:spAutoFit/>
          </a:bodyPr>
          <a:lstStyle/>
          <a:p>
            <a:r>
              <a:rPr lang="en-US" altLang="ja-JP" sz="2400" dirty="0"/>
              <a:t>Scripts</a:t>
            </a:r>
            <a:r>
              <a:rPr lang="ja-JP" altLang="en-US" sz="2400" dirty="0"/>
              <a:t>フォルダに「</a:t>
            </a:r>
            <a:r>
              <a:rPr lang="en-US" altLang="ja-JP" sz="2400" b="1" dirty="0" err="1">
                <a:solidFill>
                  <a:srgbClr val="FF0000"/>
                </a:solidFill>
              </a:rPr>
              <a:t>StageExproter.cs</a:t>
            </a:r>
            <a:r>
              <a:rPr lang="ja-JP" altLang="en-US" sz="2400" dirty="0"/>
              <a:t>」を追加します。</a:t>
            </a:r>
            <a:endParaRPr kumimoji="1" lang="en-US" altLang="ja-JP" sz="2400" dirty="0"/>
          </a:p>
        </p:txBody>
      </p:sp>
      <p:pic>
        <p:nvPicPr>
          <p:cNvPr id="3" name="図 2">
            <a:extLst>
              <a:ext uri="{FF2B5EF4-FFF2-40B4-BE49-F238E27FC236}">
                <a16:creationId xmlns:a16="http://schemas.microsoft.com/office/drawing/2014/main" id="{E062BF18-BC44-402D-9B79-D60198BFB4D9}"/>
              </a:ext>
            </a:extLst>
          </p:cNvPr>
          <p:cNvPicPr>
            <a:picLocks noChangeAspect="1"/>
          </p:cNvPicPr>
          <p:nvPr/>
        </p:nvPicPr>
        <p:blipFill>
          <a:blip r:embed="rId2"/>
          <a:stretch>
            <a:fillRect/>
          </a:stretch>
        </p:blipFill>
        <p:spPr>
          <a:xfrm>
            <a:off x="567542" y="1817794"/>
            <a:ext cx="1646740" cy="2162385"/>
          </a:xfrm>
          <a:prstGeom prst="rect">
            <a:avLst/>
          </a:prstGeom>
        </p:spPr>
      </p:pic>
    </p:spTree>
    <p:extLst>
      <p:ext uri="{BB962C8B-B14F-4D97-AF65-F5344CB8AC3E}">
        <p14:creationId xmlns:p14="http://schemas.microsoft.com/office/powerpoint/2010/main" val="1759753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816016" cy="461665"/>
          </a:xfrm>
          <a:prstGeom prst="rect">
            <a:avLst/>
          </a:prstGeom>
          <a:noFill/>
        </p:spPr>
        <p:txBody>
          <a:bodyPr wrap="none" rtlCol="0">
            <a:spAutoFit/>
          </a:bodyPr>
          <a:lstStyle/>
          <a:p>
            <a:r>
              <a:rPr lang="en-US" altLang="ja-JP" sz="2400" b="1" dirty="0" err="1">
                <a:solidFill>
                  <a:srgbClr val="FF0000"/>
                </a:solidFill>
              </a:rPr>
              <a:t>StageExproter.cs</a:t>
            </a:r>
            <a:r>
              <a:rPr lang="ja-JP" altLang="en-US" sz="2400" dirty="0"/>
              <a:t>を書きます（その１）</a:t>
            </a:r>
            <a:endParaRPr kumimoji="1" lang="en-US" altLang="ja-JP" sz="2400" dirty="0"/>
          </a:p>
        </p:txBody>
      </p:sp>
      <p:pic>
        <p:nvPicPr>
          <p:cNvPr id="5" name="図 4">
            <a:extLst>
              <a:ext uri="{FF2B5EF4-FFF2-40B4-BE49-F238E27FC236}">
                <a16:creationId xmlns:a16="http://schemas.microsoft.com/office/drawing/2014/main" id="{9A1B1FB3-FB59-474B-B972-DE2367FB99CC}"/>
              </a:ext>
            </a:extLst>
          </p:cNvPr>
          <p:cNvPicPr>
            <a:picLocks noChangeAspect="1"/>
          </p:cNvPicPr>
          <p:nvPr/>
        </p:nvPicPr>
        <p:blipFill>
          <a:blip r:embed="rId2"/>
          <a:stretch>
            <a:fillRect/>
          </a:stretch>
        </p:blipFill>
        <p:spPr>
          <a:xfrm>
            <a:off x="567542" y="1817794"/>
            <a:ext cx="5645749" cy="4807124"/>
          </a:xfrm>
          <a:prstGeom prst="rect">
            <a:avLst/>
          </a:prstGeom>
        </p:spPr>
      </p:pic>
    </p:spTree>
    <p:extLst>
      <p:ext uri="{BB962C8B-B14F-4D97-AF65-F5344CB8AC3E}">
        <p14:creationId xmlns:p14="http://schemas.microsoft.com/office/powerpoint/2010/main" val="4164812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816016" cy="461665"/>
          </a:xfrm>
          <a:prstGeom prst="rect">
            <a:avLst/>
          </a:prstGeom>
          <a:noFill/>
        </p:spPr>
        <p:txBody>
          <a:bodyPr wrap="none" rtlCol="0">
            <a:spAutoFit/>
          </a:bodyPr>
          <a:lstStyle/>
          <a:p>
            <a:r>
              <a:rPr lang="en-US" altLang="ja-JP" sz="2400" b="1" dirty="0" err="1">
                <a:solidFill>
                  <a:srgbClr val="FF0000"/>
                </a:solidFill>
              </a:rPr>
              <a:t>StageExproter.cs</a:t>
            </a:r>
            <a:r>
              <a:rPr lang="ja-JP" altLang="en-US" sz="2400" dirty="0"/>
              <a:t>を書きます（その２）</a:t>
            </a:r>
            <a:endParaRPr kumimoji="1" lang="en-US" altLang="ja-JP" sz="2400" dirty="0"/>
          </a:p>
        </p:txBody>
      </p:sp>
      <p:pic>
        <p:nvPicPr>
          <p:cNvPr id="3" name="図 2">
            <a:extLst>
              <a:ext uri="{FF2B5EF4-FFF2-40B4-BE49-F238E27FC236}">
                <a16:creationId xmlns:a16="http://schemas.microsoft.com/office/drawing/2014/main" id="{0BD09154-67C9-4136-80E1-F9DD9D7F751B}"/>
              </a:ext>
            </a:extLst>
          </p:cNvPr>
          <p:cNvPicPr>
            <a:picLocks noChangeAspect="1"/>
          </p:cNvPicPr>
          <p:nvPr/>
        </p:nvPicPr>
        <p:blipFill>
          <a:blip r:embed="rId2"/>
          <a:stretch>
            <a:fillRect/>
          </a:stretch>
        </p:blipFill>
        <p:spPr>
          <a:xfrm>
            <a:off x="567542" y="1817794"/>
            <a:ext cx="6433893" cy="4692957"/>
          </a:xfrm>
          <a:prstGeom prst="rect">
            <a:avLst/>
          </a:prstGeom>
        </p:spPr>
      </p:pic>
    </p:spTree>
    <p:extLst>
      <p:ext uri="{BB962C8B-B14F-4D97-AF65-F5344CB8AC3E}">
        <p14:creationId xmlns:p14="http://schemas.microsoft.com/office/powerpoint/2010/main" val="1363899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816016" cy="461665"/>
          </a:xfrm>
          <a:prstGeom prst="rect">
            <a:avLst/>
          </a:prstGeom>
          <a:noFill/>
        </p:spPr>
        <p:txBody>
          <a:bodyPr wrap="none" rtlCol="0">
            <a:spAutoFit/>
          </a:bodyPr>
          <a:lstStyle/>
          <a:p>
            <a:r>
              <a:rPr lang="en-US" altLang="ja-JP" sz="2400" b="1" dirty="0" err="1">
                <a:solidFill>
                  <a:srgbClr val="FF0000"/>
                </a:solidFill>
              </a:rPr>
              <a:t>StageExproter.cs</a:t>
            </a:r>
            <a:r>
              <a:rPr lang="ja-JP" altLang="en-US" sz="2400" dirty="0"/>
              <a:t>を書きます（その３）</a:t>
            </a:r>
            <a:endParaRPr kumimoji="1" lang="en-US" altLang="ja-JP" sz="2400" dirty="0"/>
          </a:p>
        </p:txBody>
      </p:sp>
      <p:pic>
        <p:nvPicPr>
          <p:cNvPr id="5" name="図 4">
            <a:extLst>
              <a:ext uri="{FF2B5EF4-FFF2-40B4-BE49-F238E27FC236}">
                <a16:creationId xmlns:a16="http://schemas.microsoft.com/office/drawing/2014/main" id="{9096244D-737C-4D0B-9036-7352585411A1}"/>
              </a:ext>
            </a:extLst>
          </p:cNvPr>
          <p:cNvPicPr>
            <a:picLocks noChangeAspect="1"/>
          </p:cNvPicPr>
          <p:nvPr/>
        </p:nvPicPr>
        <p:blipFill>
          <a:blip r:embed="rId2"/>
          <a:stretch>
            <a:fillRect/>
          </a:stretch>
        </p:blipFill>
        <p:spPr>
          <a:xfrm>
            <a:off x="567542" y="1817794"/>
            <a:ext cx="10421804" cy="2743583"/>
          </a:xfrm>
          <a:prstGeom prst="rect">
            <a:avLst/>
          </a:prstGeom>
        </p:spPr>
      </p:pic>
    </p:spTree>
    <p:extLst>
      <p:ext uri="{BB962C8B-B14F-4D97-AF65-F5344CB8AC3E}">
        <p14:creationId xmlns:p14="http://schemas.microsoft.com/office/powerpoint/2010/main" val="2283137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94567" cy="830997"/>
          </a:xfrm>
          <a:prstGeom prst="rect">
            <a:avLst/>
          </a:prstGeom>
          <a:noFill/>
        </p:spPr>
        <p:txBody>
          <a:bodyPr wrap="none" rtlCol="0">
            <a:spAutoFit/>
          </a:bodyPr>
          <a:lstStyle/>
          <a:p>
            <a:r>
              <a:rPr kumimoji="1" lang="ja-JP" altLang="en-US" sz="2400" dirty="0"/>
              <a:t>保存して</a:t>
            </a:r>
            <a:r>
              <a:rPr kumimoji="1" lang="en-US" altLang="ja-JP" sz="2400" dirty="0"/>
              <a:t>Unity</a:t>
            </a:r>
            <a:r>
              <a:rPr kumimoji="1" lang="ja-JP" altLang="en-US" sz="2400" dirty="0"/>
              <a:t>エディタに戻ると、「</a:t>
            </a:r>
            <a:r>
              <a:rPr kumimoji="1" lang="en-US" altLang="ja-JP" sz="2400" b="1" dirty="0">
                <a:solidFill>
                  <a:srgbClr val="FF0000"/>
                </a:solidFill>
              </a:rPr>
              <a:t>Tools </a:t>
            </a:r>
            <a:r>
              <a:rPr kumimoji="1" lang="ja-JP" altLang="en-US" sz="2400" b="1" dirty="0">
                <a:solidFill>
                  <a:srgbClr val="FF0000"/>
                </a:solidFill>
              </a:rPr>
              <a:t>＞ </a:t>
            </a:r>
            <a:r>
              <a:rPr kumimoji="1" lang="en-US" altLang="ja-JP" sz="2400" b="1" dirty="0">
                <a:solidFill>
                  <a:srgbClr val="FF0000"/>
                </a:solidFill>
              </a:rPr>
              <a:t>Export Stage JSON</a:t>
            </a:r>
            <a:r>
              <a:rPr lang="ja-JP" altLang="en-US" sz="2400" dirty="0"/>
              <a:t>」という</a:t>
            </a:r>
            <a:endParaRPr lang="en-US" altLang="ja-JP" sz="2400" dirty="0"/>
          </a:p>
          <a:p>
            <a:r>
              <a:rPr kumimoji="1" lang="ja-JP" altLang="en-US" sz="2400" dirty="0"/>
              <a:t>メニューが追加されています。</a:t>
            </a:r>
            <a:endParaRPr kumimoji="1" lang="en-US" altLang="ja-JP" sz="2400" dirty="0"/>
          </a:p>
        </p:txBody>
      </p:sp>
      <p:pic>
        <p:nvPicPr>
          <p:cNvPr id="3" name="図 2">
            <a:extLst>
              <a:ext uri="{FF2B5EF4-FFF2-40B4-BE49-F238E27FC236}">
                <a16:creationId xmlns:a16="http://schemas.microsoft.com/office/drawing/2014/main" id="{7D0BC43B-0903-4444-AED7-86150DFF0129}"/>
              </a:ext>
            </a:extLst>
          </p:cNvPr>
          <p:cNvPicPr>
            <a:picLocks noChangeAspect="1"/>
          </p:cNvPicPr>
          <p:nvPr/>
        </p:nvPicPr>
        <p:blipFill>
          <a:blip r:embed="rId2"/>
          <a:stretch>
            <a:fillRect/>
          </a:stretch>
        </p:blipFill>
        <p:spPr>
          <a:xfrm>
            <a:off x="567542" y="2187126"/>
            <a:ext cx="4891964" cy="4406364"/>
          </a:xfrm>
          <a:prstGeom prst="rect">
            <a:avLst/>
          </a:prstGeom>
        </p:spPr>
      </p:pic>
      <p:sp>
        <p:nvSpPr>
          <p:cNvPr id="7" name="矢印: 右 6">
            <a:extLst>
              <a:ext uri="{FF2B5EF4-FFF2-40B4-BE49-F238E27FC236}">
                <a16:creationId xmlns:a16="http://schemas.microsoft.com/office/drawing/2014/main" id="{1E6000CA-1C5A-4260-B6E1-51230C26B204}"/>
              </a:ext>
            </a:extLst>
          </p:cNvPr>
          <p:cNvSpPr/>
          <p:nvPr/>
        </p:nvSpPr>
        <p:spPr>
          <a:xfrm rot="14099625">
            <a:off x="3888637" y="2671481"/>
            <a:ext cx="493059" cy="31376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69861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784777" cy="830997"/>
          </a:xfrm>
          <a:prstGeom prst="rect">
            <a:avLst/>
          </a:prstGeom>
          <a:noFill/>
        </p:spPr>
        <p:txBody>
          <a:bodyPr wrap="none" rtlCol="0">
            <a:spAutoFit/>
          </a:bodyPr>
          <a:lstStyle/>
          <a:p>
            <a:r>
              <a:rPr kumimoji="1" lang="en-US" altLang="ja-JP" sz="2400" b="1" dirty="0">
                <a:solidFill>
                  <a:srgbClr val="FF0000"/>
                </a:solidFill>
              </a:rPr>
              <a:t>Stage01</a:t>
            </a:r>
            <a:r>
              <a:rPr kumimoji="1" lang="ja-JP" altLang="en-US" sz="2400" dirty="0"/>
              <a:t>というシーンを追加して、適当にステージを作り、</a:t>
            </a:r>
            <a:endParaRPr kumimoji="1" lang="en-US" altLang="ja-JP" sz="2400" dirty="0"/>
          </a:p>
          <a:p>
            <a:r>
              <a:rPr lang="en-US" altLang="ja-JP" sz="2400" b="1" dirty="0">
                <a:solidFill>
                  <a:srgbClr val="FF0000"/>
                </a:solidFill>
              </a:rPr>
              <a:t>Export Stage JSON</a:t>
            </a:r>
            <a:r>
              <a:rPr lang="en-US" altLang="ja-JP" sz="2400" dirty="0"/>
              <a:t> </a:t>
            </a:r>
            <a:r>
              <a:rPr lang="ja-JP" altLang="en-US" sz="2400" dirty="0"/>
              <a:t>をクリックしましょう。</a:t>
            </a:r>
            <a:endParaRPr kumimoji="1" lang="en-US" altLang="ja-JP" sz="2400" dirty="0"/>
          </a:p>
        </p:txBody>
      </p:sp>
      <p:pic>
        <p:nvPicPr>
          <p:cNvPr id="8" name="図 7">
            <a:extLst>
              <a:ext uri="{FF2B5EF4-FFF2-40B4-BE49-F238E27FC236}">
                <a16:creationId xmlns:a16="http://schemas.microsoft.com/office/drawing/2014/main" id="{3DB20F7A-5671-4D1F-B4DA-88704C92AACB}"/>
              </a:ext>
            </a:extLst>
          </p:cNvPr>
          <p:cNvPicPr>
            <a:picLocks noChangeAspect="1"/>
          </p:cNvPicPr>
          <p:nvPr/>
        </p:nvPicPr>
        <p:blipFill>
          <a:blip r:embed="rId2"/>
          <a:stretch>
            <a:fillRect/>
          </a:stretch>
        </p:blipFill>
        <p:spPr>
          <a:xfrm>
            <a:off x="567542" y="2187126"/>
            <a:ext cx="7774736" cy="4178920"/>
          </a:xfrm>
          <a:prstGeom prst="rect">
            <a:avLst/>
          </a:prstGeom>
        </p:spPr>
      </p:pic>
    </p:spTree>
    <p:extLst>
      <p:ext uri="{BB962C8B-B14F-4D97-AF65-F5344CB8AC3E}">
        <p14:creationId xmlns:p14="http://schemas.microsoft.com/office/powerpoint/2010/main" val="3624573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86177" cy="461665"/>
          </a:xfrm>
          <a:prstGeom prst="rect">
            <a:avLst/>
          </a:prstGeom>
          <a:noFill/>
        </p:spPr>
        <p:txBody>
          <a:bodyPr wrap="none" rtlCol="0">
            <a:spAutoFit/>
          </a:bodyPr>
          <a:lstStyle/>
          <a:p>
            <a:r>
              <a:rPr kumimoji="1" lang="ja-JP" altLang="en-US" sz="2400" dirty="0"/>
              <a:t>プロジェクトに</a:t>
            </a:r>
            <a:r>
              <a:rPr kumimoji="1" lang="en-US" altLang="ja-JP" sz="2400" b="1" dirty="0">
                <a:solidFill>
                  <a:srgbClr val="FF0000"/>
                </a:solidFill>
              </a:rPr>
              <a:t>json</a:t>
            </a:r>
            <a:r>
              <a:rPr kumimoji="1" lang="ja-JP" altLang="en-US" sz="2400" b="1" dirty="0">
                <a:solidFill>
                  <a:srgbClr val="FF0000"/>
                </a:solidFill>
              </a:rPr>
              <a:t>フォルダ</a:t>
            </a:r>
            <a:r>
              <a:rPr kumimoji="1" lang="ja-JP" altLang="en-US" sz="2400" dirty="0"/>
              <a:t>が追加され、</a:t>
            </a:r>
            <a:r>
              <a:rPr kumimoji="1" lang="ja-JP" altLang="en-US" sz="2400" b="1" dirty="0">
                <a:solidFill>
                  <a:srgbClr val="FF0000"/>
                </a:solidFill>
              </a:rPr>
              <a:t>シーン名</a:t>
            </a:r>
            <a:r>
              <a:rPr kumimoji="1" lang="en-US" altLang="ja-JP" sz="2400" b="1" dirty="0">
                <a:solidFill>
                  <a:srgbClr val="FF0000"/>
                </a:solidFill>
              </a:rPr>
              <a:t>.json</a:t>
            </a:r>
            <a:r>
              <a:rPr kumimoji="1" lang="ja-JP" altLang="en-US" sz="2400" dirty="0"/>
              <a:t>が追加されます。</a:t>
            </a:r>
            <a:endParaRPr kumimoji="1" lang="en-US" altLang="ja-JP" sz="2400" dirty="0"/>
          </a:p>
        </p:txBody>
      </p:sp>
      <p:pic>
        <p:nvPicPr>
          <p:cNvPr id="3" name="図 2">
            <a:extLst>
              <a:ext uri="{FF2B5EF4-FFF2-40B4-BE49-F238E27FC236}">
                <a16:creationId xmlns:a16="http://schemas.microsoft.com/office/drawing/2014/main" id="{EA297981-BE5A-4BB8-B06A-E2C84FCE4E39}"/>
              </a:ext>
            </a:extLst>
          </p:cNvPr>
          <p:cNvPicPr>
            <a:picLocks noChangeAspect="1"/>
          </p:cNvPicPr>
          <p:nvPr/>
        </p:nvPicPr>
        <p:blipFill>
          <a:blip r:embed="rId2"/>
          <a:stretch>
            <a:fillRect/>
          </a:stretch>
        </p:blipFill>
        <p:spPr>
          <a:xfrm>
            <a:off x="567542" y="1817794"/>
            <a:ext cx="3270604" cy="1947382"/>
          </a:xfrm>
          <a:prstGeom prst="rect">
            <a:avLst/>
          </a:prstGeom>
        </p:spPr>
      </p:pic>
      <p:pic>
        <p:nvPicPr>
          <p:cNvPr id="7" name="図 6">
            <a:extLst>
              <a:ext uri="{FF2B5EF4-FFF2-40B4-BE49-F238E27FC236}">
                <a16:creationId xmlns:a16="http://schemas.microsoft.com/office/drawing/2014/main" id="{A9983464-DFD4-452D-A86E-52BF4D4C9C24}"/>
              </a:ext>
            </a:extLst>
          </p:cNvPr>
          <p:cNvPicPr>
            <a:picLocks noChangeAspect="1"/>
          </p:cNvPicPr>
          <p:nvPr/>
        </p:nvPicPr>
        <p:blipFill>
          <a:blip r:embed="rId3"/>
          <a:stretch>
            <a:fillRect/>
          </a:stretch>
        </p:blipFill>
        <p:spPr>
          <a:xfrm>
            <a:off x="4671835" y="1817794"/>
            <a:ext cx="2543530" cy="1695687"/>
          </a:xfrm>
          <a:prstGeom prst="rect">
            <a:avLst/>
          </a:prstGeom>
        </p:spPr>
      </p:pic>
      <p:sp>
        <p:nvSpPr>
          <p:cNvPr id="9" name="テキスト ボックス 8">
            <a:extLst>
              <a:ext uri="{FF2B5EF4-FFF2-40B4-BE49-F238E27FC236}">
                <a16:creationId xmlns:a16="http://schemas.microsoft.com/office/drawing/2014/main" id="{F5BA5F75-F57F-40C2-AFBA-83A2857BE0E2}"/>
              </a:ext>
            </a:extLst>
          </p:cNvPr>
          <p:cNvSpPr txBox="1"/>
          <p:nvPr/>
        </p:nvSpPr>
        <p:spPr>
          <a:xfrm>
            <a:off x="567541" y="3904876"/>
            <a:ext cx="4185761" cy="461665"/>
          </a:xfrm>
          <a:prstGeom prst="rect">
            <a:avLst/>
          </a:prstGeom>
          <a:noFill/>
        </p:spPr>
        <p:txBody>
          <a:bodyPr wrap="none" rtlCol="0">
            <a:spAutoFit/>
          </a:bodyPr>
          <a:lstStyle/>
          <a:p>
            <a:r>
              <a:rPr kumimoji="1" lang="ja-JP" altLang="en-US" sz="2400" dirty="0"/>
              <a:t>次ページからプログラム解説</a:t>
            </a:r>
            <a:endParaRPr kumimoji="1" lang="en-US" altLang="ja-JP" sz="2400" dirty="0"/>
          </a:p>
        </p:txBody>
      </p:sp>
    </p:spTree>
    <p:extLst>
      <p:ext uri="{BB962C8B-B14F-4D97-AF65-F5344CB8AC3E}">
        <p14:creationId xmlns:p14="http://schemas.microsoft.com/office/powerpoint/2010/main" val="1446298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830997"/>
          </a:xfrm>
          <a:prstGeom prst="rect">
            <a:avLst/>
          </a:prstGeom>
          <a:noFill/>
        </p:spPr>
        <p:txBody>
          <a:bodyPr wrap="none" rtlCol="0">
            <a:spAutoFit/>
          </a:bodyPr>
          <a:lstStyle/>
          <a:p>
            <a:r>
              <a:rPr kumimoji="1" lang="en-US" altLang="ja-JP" sz="2400" dirty="0"/>
              <a:t>Unity</a:t>
            </a:r>
            <a:r>
              <a:rPr kumimoji="1" lang="ja-JP" altLang="en-US" sz="2400" dirty="0"/>
              <a:t>には、簡単に変数の中身を</a:t>
            </a:r>
            <a:r>
              <a:rPr kumimoji="1" lang="en-US" altLang="ja-JP" sz="2400" dirty="0"/>
              <a:t>json</a:t>
            </a:r>
            <a:r>
              <a:rPr kumimoji="1" lang="ja-JP" altLang="en-US" sz="2400" dirty="0"/>
              <a:t>に出力する機能があります。</a:t>
            </a:r>
            <a:endParaRPr kumimoji="1" lang="en-US" altLang="ja-JP" sz="2400" dirty="0"/>
          </a:p>
          <a:p>
            <a:r>
              <a:rPr lang="ja-JP" altLang="en-US" sz="2400" dirty="0"/>
              <a:t>その機能を使うためには、出力データ形式を決定する</a:t>
            </a:r>
            <a:r>
              <a:rPr lang="ja-JP" altLang="en-US" sz="2400" b="1" dirty="0">
                <a:solidFill>
                  <a:srgbClr val="FF0000"/>
                </a:solidFill>
              </a:rPr>
              <a:t>ラッパー</a:t>
            </a:r>
            <a:r>
              <a:rPr lang="ja-JP" altLang="en-US" sz="2400" dirty="0"/>
              <a:t>が必要です。</a:t>
            </a:r>
            <a:endParaRPr kumimoji="1" lang="en-US" altLang="ja-JP" sz="2400" dirty="0"/>
          </a:p>
        </p:txBody>
      </p:sp>
      <p:pic>
        <p:nvPicPr>
          <p:cNvPr id="5" name="図 4">
            <a:extLst>
              <a:ext uri="{FF2B5EF4-FFF2-40B4-BE49-F238E27FC236}">
                <a16:creationId xmlns:a16="http://schemas.microsoft.com/office/drawing/2014/main" id="{2AB504E7-4F71-4F03-A1A6-F61E9155CF35}"/>
              </a:ext>
            </a:extLst>
          </p:cNvPr>
          <p:cNvPicPr>
            <a:picLocks noChangeAspect="1"/>
          </p:cNvPicPr>
          <p:nvPr/>
        </p:nvPicPr>
        <p:blipFill>
          <a:blip r:embed="rId2"/>
          <a:stretch>
            <a:fillRect/>
          </a:stretch>
        </p:blipFill>
        <p:spPr>
          <a:xfrm>
            <a:off x="567542" y="2187126"/>
            <a:ext cx="7106642" cy="4220164"/>
          </a:xfrm>
          <a:prstGeom prst="rect">
            <a:avLst/>
          </a:prstGeom>
        </p:spPr>
      </p:pic>
    </p:spTree>
    <p:extLst>
      <p:ext uri="{BB962C8B-B14F-4D97-AF65-F5344CB8AC3E}">
        <p14:creationId xmlns:p14="http://schemas.microsoft.com/office/powerpoint/2010/main" val="16081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830997"/>
          </a:xfrm>
          <a:prstGeom prst="rect">
            <a:avLst/>
          </a:prstGeom>
          <a:noFill/>
        </p:spPr>
        <p:txBody>
          <a:bodyPr wrap="none" rtlCol="0">
            <a:spAutoFit/>
          </a:bodyPr>
          <a:lstStyle/>
          <a:p>
            <a:r>
              <a:rPr kumimoji="1" lang="en-US" altLang="ja-JP" sz="2400" dirty="0" err="1"/>
              <a:t>Linq</a:t>
            </a:r>
            <a:r>
              <a:rPr kumimoji="1" lang="ja-JP" altLang="en-US" sz="2400" dirty="0"/>
              <a:t>の</a:t>
            </a:r>
            <a:r>
              <a:rPr kumimoji="1" lang="ja-JP" altLang="en-US" sz="2400" b="1" dirty="0">
                <a:solidFill>
                  <a:srgbClr val="FF0000"/>
                </a:solidFill>
              </a:rPr>
              <a:t>投影</a:t>
            </a:r>
            <a:r>
              <a:rPr kumimoji="1" lang="ja-JP" altLang="en-US" sz="2400" dirty="0"/>
              <a:t>を使えば、</a:t>
            </a:r>
            <a:r>
              <a:rPr kumimoji="1" lang="ja-JP" altLang="en-US" sz="2400" b="1" dirty="0">
                <a:solidFill>
                  <a:srgbClr val="FF0000"/>
                </a:solidFill>
              </a:rPr>
              <a:t>配列とリスト間の変換</a:t>
            </a:r>
            <a:r>
              <a:rPr kumimoji="1" lang="ja-JP" altLang="en-US" sz="2400" dirty="0"/>
              <a:t>が簡単にできます。</a:t>
            </a:r>
            <a:endParaRPr kumimoji="1" lang="en-US" altLang="ja-JP" sz="2400" dirty="0"/>
          </a:p>
          <a:p>
            <a:r>
              <a:rPr lang="ja-JP" altLang="en-US" sz="2400" dirty="0"/>
              <a:t>以下は配置オブジェクトリストを固定配列に変換しているプログラムです。</a:t>
            </a:r>
            <a:endParaRPr kumimoji="1" lang="en-US" altLang="ja-JP" sz="2400" dirty="0"/>
          </a:p>
        </p:txBody>
      </p:sp>
      <p:pic>
        <p:nvPicPr>
          <p:cNvPr id="3" name="図 2">
            <a:extLst>
              <a:ext uri="{FF2B5EF4-FFF2-40B4-BE49-F238E27FC236}">
                <a16:creationId xmlns:a16="http://schemas.microsoft.com/office/drawing/2014/main" id="{C75DB366-3DF5-4B42-944D-CF7A10A3C0FC}"/>
              </a:ext>
            </a:extLst>
          </p:cNvPr>
          <p:cNvPicPr>
            <a:picLocks noChangeAspect="1"/>
          </p:cNvPicPr>
          <p:nvPr/>
        </p:nvPicPr>
        <p:blipFill>
          <a:blip r:embed="rId2"/>
          <a:stretch>
            <a:fillRect/>
          </a:stretch>
        </p:blipFill>
        <p:spPr>
          <a:xfrm>
            <a:off x="567542" y="2187125"/>
            <a:ext cx="7280336" cy="3454445"/>
          </a:xfrm>
          <a:prstGeom prst="rect">
            <a:avLst/>
          </a:prstGeom>
        </p:spPr>
      </p:pic>
    </p:spTree>
    <p:extLst>
      <p:ext uri="{BB962C8B-B14F-4D97-AF65-F5344CB8AC3E}">
        <p14:creationId xmlns:p14="http://schemas.microsoft.com/office/powerpoint/2010/main" val="422938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461665"/>
          </a:xfrm>
          <a:prstGeom prst="rect">
            <a:avLst/>
          </a:prstGeom>
          <a:noFill/>
        </p:spPr>
        <p:txBody>
          <a:bodyPr wrap="none" rtlCol="0">
            <a:spAutoFit/>
          </a:bodyPr>
          <a:lstStyle/>
          <a:p>
            <a:r>
              <a:rPr kumimoji="1" lang="ja-JP" altLang="en-US" sz="2400" dirty="0"/>
              <a:t>ラッパー内のデータが揃えば、ラップして出力できます。</a:t>
            </a:r>
            <a:endParaRPr kumimoji="1" lang="en-US" altLang="ja-JP" sz="2400" dirty="0"/>
          </a:p>
        </p:txBody>
      </p:sp>
      <p:pic>
        <p:nvPicPr>
          <p:cNvPr id="5" name="図 4">
            <a:extLst>
              <a:ext uri="{FF2B5EF4-FFF2-40B4-BE49-F238E27FC236}">
                <a16:creationId xmlns:a16="http://schemas.microsoft.com/office/drawing/2014/main" id="{DED4EC62-5D5C-4FB3-85DD-2B27340D1AFA}"/>
              </a:ext>
            </a:extLst>
          </p:cNvPr>
          <p:cNvPicPr>
            <a:picLocks noChangeAspect="1"/>
          </p:cNvPicPr>
          <p:nvPr/>
        </p:nvPicPr>
        <p:blipFill>
          <a:blip r:embed="rId2"/>
          <a:stretch>
            <a:fillRect/>
          </a:stretch>
        </p:blipFill>
        <p:spPr>
          <a:xfrm>
            <a:off x="567542" y="1817793"/>
            <a:ext cx="9908212" cy="1705335"/>
          </a:xfrm>
          <a:prstGeom prst="rect">
            <a:avLst/>
          </a:prstGeom>
        </p:spPr>
      </p:pic>
      <p:sp>
        <p:nvSpPr>
          <p:cNvPr id="7" name="テキスト ボックス 6">
            <a:extLst>
              <a:ext uri="{FF2B5EF4-FFF2-40B4-BE49-F238E27FC236}">
                <a16:creationId xmlns:a16="http://schemas.microsoft.com/office/drawing/2014/main" id="{58AF8D64-116A-4104-A298-35D57BA946D4}"/>
              </a:ext>
            </a:extLst>
          </p:cNvPr>
          <p:cNvSpPr txBox="1"/>
          <p:nvPr/>
        </p:nvSpPr>
        <p:spPr>
          <a:xfrm>
            <a:off x="567541" y="3660287"/>
            <a:ext cx="8186857" cy="830997"/>
          </a:xfrm>
          <a:prstGeom prst="rect">
            <a:avLst/>
          </a:prstGeom>
          <a:noFill/>
        </p:spPr>
        <p:txBody>
          <a:bodyPr wrap="none" rtlCol="0">
            <a:spAutoFit/>
          </a:bodyPr>
          <a:lstStyle/>
          <a:p>
            <a:r>
              <a:rPr kumimoji="1" lang="en-US" altLang="ja-JP" sz="2400" b="1" dirty="0"/>
              <a:t>※</a:t>
            </a:r>
            <a:r>
              <a:rPr kumimoji="1" lang="ja-JP" altLang="en-US" sz="2400" b="1" dirty="0"/>
              <a:t>ラップとはいろんなデータを一つにまとめること。</a:t>
            </a:r>
            <a:endParaRPr kumimoji="1" lang="en-US" altLang="ja-JP" sz="2400" b="1" dirty="0"/>
          </a:p>
          <a:p>
            <a:r>
              <a:rPr lang="ja-JP" altLang="en-US" sz="2400" b="1" dirty="0"/>
              <a:t>　ごはんやおかずの入った弁当にラップをするイメージ。</a:t>
            </a:r>
            <a:endParaRPr kumimoji="1" lang="en-US" altLang="ja-JP" sz="2400" b="1" dirty="0"/>
          </a:p>
        </p:txBody>
      </p:sp>
    </p:spTree>
    <p:extLst>
      <p:ext uri="{BB962C8B-B14F-4D97-AF65-F5344CB8AC3E}">
        <p14:creationId xmlns:p14="http://schemas.microsoft.com/office/powerpoint/2010/main" val="1183630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297698" cy="584775"/>
          </a:xfrm>
          <a:prstGeom prst="rect">
            <a:avLst/>
          </a:prstGeom>
          <a:noFill/>
        </p:spPr>
        <p:txBody>
          <a:bodyPr wrap="none" rtlCol="0">
            <a:spAutoFit/>
          </a:bodyPr>
          <a:lstStyle/>
          <a:p>
            <a:r>
              <a:rPr kumimoji="1" lang="en-US" altLang="ja-JP" sz="3200" b="1" u="sng" dirty="0"/>
              <a:t>Unity</a:t>
            </a:r>
            <a:r>
              <a:rPr kumimoji="1" lang="ja-JP" altLang="en-US" sz="3200" b="1" u="sng" dirty="0"/>
              <a:t>の機能拡張</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990235" cy="830997"/>
          </a:xfrm>
          <a:prstGeom prst="rect">
            <a:avLst/>
          </a:prstGeom>
          <a:noFill/>
        </p:spPr>
        <p:txBody>
          <a:bodyPr wrap="none" rtlCol="0">
            <a:spAutoFit/>
          </a:bodyPr>
          <a:lstStyle/>
          <a:p>
            <a:r>
              <a:rPr kumimoji="1" lang="en-US" altLang="ja-JP" sz="2400" b="1" dirty="0">
                <a:solidFill>
                  <a:srgbClr val="00B050"/>
                </a:solidFill>
              </a:rPr>
              <a:t>Menu Item</a:t>
            </a:r>
            <a:r>
              <a:rPr kumimoji="1" lang="ja-JP" altLang="en-US" sz="2400" dirty="0"/>
              <a:t>属性は、</a:t>
            </a:r>
            <a:r>
              <a:rPr kumimoji="1" lang="en-US" altLang="ja-JP" sz="2400" b="1" dirty="0">
                <a:solidFill>
                  <a:srgbClr val="FF0000"/>
                </a:solidFill>
              </a:rPr>
              <a:t>Unity</a:t>
            </a:r>
            <a:r>
              <a:rPr kumimoji="1" lang="ja-JP" altLang="en-US" sz="2400" b="1" dirty="0">
                <a:solidFill>
                  <a:srgbClr val="FF0000"/>
                </a:solidFill>
              </a:rPr>
              <a:t>のメニュー画面に追加する属性</a:t>
            </a:r>
            <a:r>
              <a:rPr kumimoji="1" lang="ja-JP" altLang="en-US" sz="2400" dirty="0"/>
              <a:t>になります。</a:t>
            </a:r>
            <a:endParaRPr kumimoji="1" lang="en-US" altLang="ja-JP" sz="2400" dirty="0"/>
          </a:p>
          <a:p>
            <a:r>
              <a:rPr kumimoji="1" lang="ja-JP" altLang="en-US" sz="2400" dirty="0"/>
              <a:t>メニューをクリックすると、下の</a:t>
            </a:r>
            <a:r>
              <a:rPr kumimoji="1" lang="ja-JP" altLang="en-US" sz="2400" b="1" dirty="0">
                <a:solidFill>
                  <a:srgbClr val="FF0000"/>
                </a:solidFill>
              </a:rPr>
              <a:t>静的関数</a:t>
            </a:r>
            <a:r>
              <a:rPr kumimoji="1" lang="ja-JP" altLang="en-US" sz="2400" dirty="0"/>
              <a:t>が呼び出されます。</a:t>
            </a:r>
            <a:endParaRPr kumimoji="1" lang="en-US" altLang="ja-JP" sz="2400" dirty="0"/>
          </a:p>
        </p:txBody>
      </p:sp>
      <p:pic>
        <p:nvPicPr>
          <p:cNvPr id="3" name="図 2">
            <a:extLst>
              <a:ext uri="{FF2B5EF4-FFF2-40B4-BE49-F238E27FC236}">
                <a16:creationId xmlns:a16="http://schemas.microsoft.com/office/drawing/2014/main" id="{19C161FC-176C-4B51-B8C0-3FFD3B5EE820}"/>
              </a:ext>
            </a:extLst>
          </p:cNvPr>
          <p:cNvPicPr>
            <a:picLocks noChangeAspect="1"/>
          </p:cNvPicPr>
          <p:nvPr/>
        </p:nvPicPr>
        <p:blipFill>
          <a:blip r:embed="rId2"/>
          <a:stretch>
            <a:fillRect/>
          </a:stretch>
        </p:blipFill>
        <p:spPr>
          <a:xfrm>
            <a:off x="567542" y="2187126"/>
            <a:ext cx="5015010" cy="1846992"/>
          </a:xfrm>
          <a:prstGeom prst="rect">
            <a:avLst/>
          </a:prstGeom>
        </p:spPr>
      </p:pic>
    </p:spTree>
    <p:extLst>
      <p:ext uri="{BB962C8B-B14F-4D97-AF65-F5344CB8AC3E}">
        <p14:creationId xmlns:p14="http://schemas.microsoft.com/office/powerpoint/2010/main" val="3518399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4737295" y="3136613"/>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Tree>
    <p:extLst>
      <p:ext uri="{BB962C8B-B14F-4D97-AF65-F5344CB8AC3E}">
        <p14:creationId xmlns:p14="http://schemas.microsoft.com/office/powerpoint/2010/main" val="3429774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43373" cy="830997"/>
          </a:xfrm>
          <a:prstGeom prst="rect">
            <a:avLst/>
          </a:prstGeom>
          <a:noFill/>
        </p:spPr>
        <p:txBody>
          <a:bodyPr wrap="none" rtlCol="0">
            <a:spAutoFit/>
          </a:bodyPr>
          <a:lstStyle/>
          <a:p>
            <a:r>
              <a:rPr kumimoji="1" lang="en-US" altLang="ja-JP" sz="2400" b="1" dirty="0">
                <a:solidFill>
                  <a:srgbClr val="FF0000"/>
                </a:solidFill>
              </a:rPr>
              <a:t>json</a:t>
            </a:r>
            <a:r>
              <a:rPr kumimoji="1" lang="ja-JP" altLang="en-US" sz="2400" b="1" dirty="0">
                <a:solidFill>
                  <a:srgbClr val="FF0000"/>
                </a:solidFill>
              </a:rPr>
              <a:t>ファイル</a:t>
            </a:r>
            <a:r>
              <a:rPr kumimoji="1" lang="ja-JP" altLang="en-US" sz="2400" dirty="0"/>
              <a:t>とは、</a:t>
            </a:r>
            <a:r>
              <a:rPr kumimoji="1" lang="ja-JP" altLang="en-US" sz="2400" b="1" dirty="0">
                <a:solidFill>
                  <a:srgbClr val="FF0000"/>
                </a:solidFill>
              </a:rPr>
              <a:t>データをカッコで区切ったファイル</a:t>
            </a:r>
            <a:r>
              <a:rPr kumimoji="1" lang="ja-JP" altLang="en-US" sz="2400" dirty="0"/>
              <a:t>となります。</a:t>
            </a:r>
            <a:endParaRPr kumimoji="1" lang="en-US" altLang="ja-JP" sz="2400" dirty="0"/>
          </a:p>
          <a:p>
            <a:r>
              <a:rPr kumimoji="1" lang="ja-JP" altLang="en-US" sz="2400" dirty="0"/>
              <a:t>プログラム上での扱い方が簡単で、開発現場でもよく使われます。</a:t>
            </a:r>
            <a:endParaRPr kumimoji="1" lang="en-US" altLang="ja-JP" sz="2400" dirty="0"/>
          </a:p>
        </p:txBody>
      </p:sp>
      <p:pic>
        <p:nvPicPr>
          <p:cNvPr id="5" name="図 4">
            <a:extLst>
              <a:ext uri="{FF2B5EF4-FFF2-40B4-BE49-F238E27FC236}">
                <a16:creationId xmlns:a16="http://schemas.microsoft.com/office/drawing/2014/main" id="{1E3BBA96-FF27-4BFA-A11D-BC3AAB3743A6}"/>
              </a:ext>
            </a:extLst>
          </p:cNvPr>
          <p:cNvPicPr>
            <a:picLocks noChangeAspect="1"/>
          </p:cNvPicPr>
          <p:nvPr/>
        </p:nvPicPr>
        <p:blipFill>
          <a:blip r:embed="rId2"/>
          <a:stretch>
            <a:fillRect/>
          </a:stretch>
        </p:blipFill>
        <p:spPr>
          <a:xfrm>
            <a:off x="567542" y="2187126"/>
            <a:ext cx="8280623" cy="4450835"/>
          </a:xfrm>
          <a:prstGeom prst="rect">
            <a:avLst/>
          </a:prstGeom>
        </p:spPr>
      </p:pic>
    </p:spTree>
    <p:extLst>
      <p:ext uri="{BB962C8B-B14F-4D97-AF65-F5344CB8AC3E}">
        <p14:creationId xmlns:p14="http://schemas.microsoft.com/office/powerpoint/2010/main" val="34034747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61447" cy="2308324"/>
          </a:xfrm>
          <a:prstGeom prst="rect">
            <a:avLst/>
          </a:prstGeom>
          <a:noFill/>
        </p:spPr>
        <p:txBody>
          <a:bodyPr wrap="none" rtlCol="0">
            <a:spAutoFit/>
          </a:bodyPr>
          <a:lstStyle/>
          <a:p>
            <a:r>
              <a:rPr lang="en-US" altLang="ja-JP" sz="2400" dirty="0"/>
              <a:t>json</a:t>
            </a:r>
            <a:r>
              <a:rPr lang="ja-JP" altLang="en-US" sz="2400" dirty="0"/>
              <a:t>は普及率も高く、</a:t>
            </a:r>
            <a:r>
              <a:rPr lang="en-US" altLang="ja-JP" sz="2400" dirty="0"/>
              <a:t>C++</a:t>
            </a:r>
            <a:r>
              <a:rPr lang="ja-JP" altLang="en-US" sz="2400" dirty="0"/>
              <a:t>でも簡単に扱えます。</a:t>
            </a:r>
            <a:endParaRPr lang="en-US" altLang="ja-JP" sz="2400" dirty="0"/>
          </a:p>
          <a:p>
            <a:r>
              <a:rPr lang="en-US" altLang="ja-JP" sz="2400" dirty="0"/>
              <a:t>json</a:t>
            </a:r>
            <a:r>
              <a:rPr lang="ja-JP" altLang="en-US" sz="2400" dirty="0"/>
              <a:t>をサポートしたライブラリはいくつかありますが、</a:t>
            </a:r>
            <a:endParaRPr lang="en-US" altLang="ja-JP" sz="2400" dirty="0"/>
          </a:p>
          <a:p>
            <a:r>
              <a:rPr lang="ja-JP" altLang="en-US" sz="2400" dirty="0"/>
              <a:t>今回は「</a:t>
            </a:r>
            <a:r>
              <a:rPr lang="en-US" altLang="ja-JP" sz="2400" b="1" dirty="0" err="1">
                <a:solidFill>
                  <a:srgbClr val="FF0000"/>
                </a:solidFill>
              </a:rPr>
              <a:t>nlohmann</a:t>
            </a:r>
            <a:r>
              <a:rPr lang="en-US" altLang="ja-JP" sz="2400" b="1" dirty="0">
                <a:solidFill>
                  <a:srgbClr val="FF0000"/>
                </a:solidFill>
              </a:rPr>
              <a:t> json</a:t>
            </a:r>
            <a:r>
              <a:rPr lang="ja-JP" altLang="en-US" sz="2400" dirty="0"/>
              <a:t>」を使用します。</a:t>
            </a:r>
            <a:endParaRPr lang="en-US" altLang="ja-JP" sz="2400" dirty="0"/>
          </a:p>
          <a:p>
            <a:endParaRPr lang="en-US" altLang="ja-JP" sz="2400" dirty="0"/>
          </a:p>
          <a:p>
            <a:r>
              <a:rPr lang="ja-JP" altLang="en-US" sz="2400" b="1" dirty="0">
                <a:solidFill>
                  <a:srgbClr val="FF0000"/>
                </a:solidFill>
              </a:rPr>
              <a:t>■</a:t>
            </a:r>
            <a:r>
              <a:rPr lang="en-US" altLang="ja-JP" sz="2400" b="1" dirty="0" err="1">
                <a:solidFill>
                  <a:srgbClr val="FF0000"/>
                </a:solidFill>
              </a:rPr>
              <a:t>nlohmann</a:t>
            </a:r>
            <a:r>
              <a:rPr lang="en-US" altLang="ja-JP" sz="2400" b="1" dirty="0">
                <a:solidFill>
                  <a:srgbClr val="FF0000"/>
                </a:solidFill>
              </a:rPr>
              <a:t> json</a:t>
            </a:r>
            <a:r>
              <a:rPr lang="ja-JP" altLang="en-US" sz="2400" b="1" dirty="0">
                <a:solidFill>
                  <a:srgbClr val="FF0000"/>
                </a:solidFill>
              </a:rPr>
              <a:t>の</a:t>
            </a:r>
            <a:r>
              <a:rPr lang="en-US" altLang="ja-JP" sz="2400" b="1" dirty="0">
                <a:solidFill>
                  <a:srgbClr val="FF0000"/>
                </a:solidFill>
              </a:rPr>
              <a:t>Git Hub</a:t>
            </a:r>
          </a:p>
          <a:p>
            <a:r>
              <a:rPr lang="en-US" altLang="ja-JP" sz="2400" dirty="0">
                <a:hlinkClick r:id="rId2"/>
              </a:rPr>
              <a:t>GitHub - </a:t>
            </a:r>
            <a:r>
              <a:rPr lang="en-US" altLang="ja-JP" sz="2400" dirty="0" err="1">
                <a:hlinkClick r:id="rId2"/>
              </a:rPr>
              <a:t>nlohmann</a:t>
            </a:r>
            <a:r>
              <a:rPr lang="en-US" altLang="ja-JP" sz="2400" dirty="0">
                <a:hlinkClick r:id="rId2"/>
              </a:rPr>
              <a:t>/json: JSON for Modern C++</a:t>
            </a:r>
            <a:endParaRPr lang="en-US" altLang="ja-JP" sz="2400" dirty="0"/>
          </a:p>
        </p:txBody>
      </p:sp>
    </p:spTree>
    <p:extLst>
      <p:ext uri="{BB962C8B-B14F-4D97-AF65-F5344CB8AC3E}">
        <p14:creationId xmlns:p14="http://schemas.microsoft.com/office/powerpoint/2010/main" val="570218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889246" cy="1200329"/>
          </a:xfrm>
          <a:prstGeom prst="rect">
            <a:avLst/>
          </a:prstGeom>
          <a:noFill/>
        </p:spPr>
        <p:txBody>
          <a:bodyPr wrap="none" rtlCol="0">
            <a:spAutoFit/>
          </a:bodyPr>
          <a:lstStyle/>
          <a:p>
            <a:r>
              <a:rPr lang="ja-JP" altLang="en-US" sz="2400" dirty="0"/>
              <a:t>セットアップは簡単で、</a:t>
            </a:r>
            <a:r>
              <a:rPr lang="en-US" altLang="ja-JP" sz="2400" dirty="0"/>
              <a:t>Git Hub</a:t>
            </a:r>
            <a:r>
              <a:rPr lang="ja-JP" altLang="en-US" sz="2400" dirty="0"/>
              <a:t>からダウンロードしたデータにある、</a:t>
            </a:r>
            <a:endParaRPr lang="en-US" altLang="ja-JP" sz="2400" dirty="0"/>
          </a:p>
          <a:p>
            <a:r>
              <a:rPr lang="ja-JP" altLang="en-US" sz="2400" dirty="0"/>
              <a:t>「</a:t>
            </a:r>
            <a:r>
              <a:rPr lang="en-US" altLang="ja-JP" sz="2400" b="1" dirty="0">
                <a:solidFill>
                  <a:srgbClr val="FF0000"/>
                </a:solidFill>
              </a:rPr>
              <a:t>json.hpp</a:t>
            </a:r>
            <a:r>
              <a:rPr lang="ja-JP" altLang="en-US" sz="2400" dirty="0"/>
              <a:t>」ファイルをプロジェクトに入れるだけです。</a:t>
            </a:r>
            <a:endParaRPr lang="en-US" altLang="ja-JP" sz="2400" dirty="0"/>
          </a:p>
          <a:p>
            <a:r>
              <a:rPr lang="ja-JP" altLang="en-US" sz="2400" dirty="0"/>
              <a:t>プロジェクト設定も何もいりません。</a:t>
            </a:r>
            <a:endParaRPr lang="en-US" altLang="ja-JP" sz="2400" dirty="0"/>
          </a:p>
        </p:txBody>
      </p:sp>
      <p:pic>
        <p:nvPicPr>
          <p:cNvPr id="3" name="図 2">
            <a:extLst>
              <a:ext uri="{FF2B5EF4-FFF2-40B4-BE49-F238E27FC236}">
                <a16:creationId xmlns:a16="http://schemas.microsoft.com/office/drawing/2014/main" id="{91EDCA16-E025-4D20-BD9A-1C87B54670D1}"/>
              </a:ext>
            </a:extLst>
          </p:cNvPr>
          <p:cNvPicPr>
            <a:picLocks noChangeAspect="1"/>
          </p:cNvPicPr>
          <p:nvPr/>
        </p:nvPicPr>
        <p:blipFill>
          <a:blip r:embed="rId2"/>
          <a:stretch>
            <a:fillRect/>
          </a:stretch>
        </p:blipFill>
        <p:spPr>
          <a:xfrm>
            <a:off x="567541" y="2556459"/>
            <a:ext cx="2443071" cy="1255280"/>
          </a:xfrm>
          <a:prstGeom prst="rect">
            <a:avLst/>
          </a:prstGeom>
        </p:spPr>
      </p:pic>
      <p:sp>
        <p:nvSpPr>
          <p:cNvPr id="7" name="テキスト ボックス 6">
            <a:extLst>
              <a:ext uri="{FF2B5EF4-FFF2-40B4-BE49-F238E27FC236}">
                <a16:creationId xmlns:a16="http://schemas.microsoft.com/office/drawing/2014/main" id="{C1803F7E-3C4A-4FB6-9CD7-82CD68E45257}"/>
              </a:ext>
            </a:extLst>
          </p:cNvPr>
          <p:cNvSpPr txBox="1"/>
          <p:nvPr/>
        </p:nvSpPr>
        <p:spPr>
          <a:xfrm>
            <a:off x="567541" y="3954733"/>
            <a:ext cx="6647974" cy="461665"/>
          </a:xfrm>
          <a:prstGeom prst="rect">
            <a:avLst/>
          </a:prstGeom>
          <a:noFill/>
        </p:spPr>
        <p:txBody>
          <a:bodyPr wrap="none" rtlCol="0">
            <a:spAutoFit/>
          </a:bodyPr>
          <a:lstStyle/>
          <a:p>
            <a:r>
              <a:rPr lang="ja-JP" altLang="en-US" sz="2400" dirty="0"/>
              <a:t>今回は配布プロジェクトに既に入れています。</a:t>
            </a:r>
            <a:endParaRPr lang="en-US" altLang="ja-JP" sz="2400" dirty="0"/>
          </a:p>
        </p:txBody>
      </p:sp>
    </p:spTree>
    <p:extLst>
      <p:ext uri="{BB962C8B-B14F-4D97-AF65-F5344CB8AC3E}">
        <p14:creationId xmlns:p14="http://schemas.microsoft.com/office/powerpoint/2010/main" val="3972200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84604" cy="461665"/>
          </a:xfrm>
          <a:prstGeom prst="rect">
            <a:avLst/>
          </a:prstGeom>
          <a:noFill/>
        </p:spPr>
        <p:txBody>
          <a:bodyPr wrap="none" rtlCol="0">
            <a:spAutoFit/>
          </a:bodyPr>
          <a:lstStyle/>
          <a:p>
            <a:r>
              <a:rPr lang="en-US" altLang="ja-JP" sz="2400" b="1" dirty="0" err="1">
                <a:solidFill>
                  <a:srgbClr val="FF0000"/>
                </a:solidFill>
              </a:rPr>
              <a:t>StageParameter.h</a:t>
            </a:r>
            <a:r>
              <a:rPr lang="en-US" altLang="ja-JP" sz="2400" dirty="0"/>
              <a:t> </a:t>
            </a:r>
            <a:r>
              <a:rPr lang="ja-JP" altLang="en-US" sz="2400" dirty="0"/>
              <a:t>を開いて書きます（その１）</a:t>
            </a:r>
            <a:endParaRPr lang="en-US" altLang="ja-JP" sz="2400" dirty="0"/>
          </a:p>
        </p:txBody>
      </p:sp>
      <p:pic>
        <p:nvPicPr>
          <p:cNvPr id="5" name="図 4">
            <a:extLst>
              <a:ext uri="{FF2B5EF4-FFF2-40B4-BE49-F238E27FC236}">
                <a16:creationId xmlns:a16="http://schemas.microsoft.com/office/drawing/2014/main" id="{6A02A5B5-E5B8-4F0E-9C70-C567F339022D}"/>
              </a:ext>
            </a:extLst>
          </p:cNvPr>
          <p:cNvPicPr>
            <a:picLocks noChangeAspect="1"/>
          </p:cNvPicPr>
          <p:nvPr/>
        </p:nvPicPr>
        <p:blipFill>
          <a:blip r:embed="rId2"/>
          <a:stretch>
            <a:fillRect/>
          </a:stretch>
        </p:blipFill>
        <p:spPr>
          <a:xfrm>
            <a:off x="567542" y="1817793"/>
            <a:ext cx="5902120" cy="4287171"/>
          </a:xfrm>
          <a:prstGeom prst="rect">
            <a:avLst/>
          </a:prstGeom>
        </p:spPr>
      </p:pic>
    </p:spTree>
    <p:extLst>
      <p:ext uri="{BB962C8B-B14F-4D97-AF65-F5344CB8AC3E}">
        <p14:creationId xmlns:p14="http://schemas.microsoft.com/office/powerpoint/2010/main" val="38375529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84604" cy="461665"/>
          </a:xfrm>
          <a:prstGeom prst="rect">
            <a:avLst/>
          </a:prstGeom>
          <a:noFill/>
        </p:spPr>
        <p:txBody>
          <a:bodyPr wrap="none" rtlCol="0">
            <a:spAutoFit/>
          </a:bodyPr>
          <a:lstStyle/>
          <a:p>
            <a:r>
              <a:rPr lang="en-US" altLang="ja-JP" sz="2400" b="1" dirty="0" err="1">
                <a:solidFill>
                  <a:srgbClr val="FF0000"/>
                </a:solidFill>
              </a:rPr>
              <a:t>StageParameter.h</a:t>
            </a:r>
            <a:r>
              <a:rPr lang="en-US" altLang="ja-JP" sz="2400" dirty="0"/>
              <a:t> </a:t>
            </a:r>
            <a:r>
              <a:rPr lang="ja-JP" altLang="en-US" sz="2400" dirty="0"/>
              <a:t>を開いて書きます（その２）</a:t>
            </a:r>
            <a:endParaRPr lang="en-US" altLang="ja-JP" sz="2400" dirty="0"/>
          </a:p>
        </p:txBody>
      </p:sp>
      <p:pic>
        <p:nvPicPr>
          <p:cNvPr id="3" name="図 2">
            <a:extLst>
              <a:ext uri="{FF2B5EF4-FFF2-40B4-BE49-F238E27FC236}">
                <a16:creationId xmlns:a16="http://schemas.microsoft.com/office/drawing/2014/main" id="{C93C0DC6-D279-4243-BECB-622A5064BFC7}"/>
              </a:ext>
            </a:extLst>
          </p:cNvPr>
          <p:cNvPicPr>
            <a:picLocks noChangeAspect="1"/>
          </p:cNvPicPr>
          <p:nvPr/>
        </p:nvPicPr>
        <p:blipFill>
          <a:blip r:embed="rId2"/>
          <a:stretch>
            <a:fillRect/>
          </a:stretch>
        </p:blipFill>
        <p:spPr>
          <a:xfrm>
            <a:off x="567542" y="1822276"/>
            <a:ext cx="6163306" cy="4345442"/>
          </a:xfrm>
          <a:prstGeom prst="rect">
            <a:avLst/>
          </a:prstGeom>
        </p:spPr>
      </p:pic>
    </p:spTree>
    <p:extLst>
      <p:ext uri="{BB962C8B-B14F-4D97-AF65-F5344CB8AC3E}">
        <p14:creationId xmlns:p14="http://schemas.microsoft.com/office/powerpoint/2010/main" val="3602684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84604" cy="461665"/>
          </a:xfrm>
          <a:prstGeom prst="rect">
            <a:avLst/>
          </a:prstGeom>
          <a:noFill/>
        </p:spPr>
        <p:txBody>
          <a:bodyPr wrap="none" rtlCol="0">
            <a:spAutoFit/>
          </a:bodyPr>
          <a:lstStyle/>
          <a:p>
            <a:r>
              <a:rPr lang="en-US" altLang="ja-JP" sz="2400" b="1" dirty="0" err="1">
                <a:solidFill>
                  <a:srgbClr val="FF0000"/>
                </a:solidFill>
              </a:rPr>
              <a:t>StageParameter.h</a:t>
            </a:r>
            <a:r>
              <a:rPr lang="en-US" altLang="ja-JP" sz="2400" dirty="0"/>
              <a:t> </a:t>
            </a:r>
            <a:r>
              <a:rPr lang="ja-JP" altLang="en-US" sz="2400" dirty="0"/>
              <a:t>を開いて書きます（その３）</a:t>
            </a:r>
            <a:endParaRPr lang="en-US" altLang="ja-JP" sz="2400" dirty="0"/>
          </a:p>
        </p:txBody>
      </p:sp>
      <p:pic>
        <p:nvPicPr>
          <p:cNvPr id="5" name="図 4">
            <a:extLst>
              <a:ext uri="{FF2B5EF4-FFF2-40B4-BE49-F238E27FC236}">
                <a16:creationId xmlns:a16="http://schemas.microsoft.com/office/drawing/2014/main" id="{EF02B7CA-8201-4475-AB50-2A85C01F5414}"/>
              </a:ext>
            </a:extLst>
          </p:cNvPr>
          <p:cNvPicPr>
            <a:picLocks noChangeAspect="1"/>
          </p:cNvPicPr>
          <p:nvPr/>
        </p:nvPicPr>
        <p:blipFill>
          <a:blip r:embed="rId2"/>
          <a:stretch>
            <a:fillRect/>
          </a:stretch>
        </p:blipFill>
        <p:spPr>
          <a:xfrm>
            <a:off x="567542" y="1817794"/>
            <a:ext cx="8268854" cy="4020111"/>
          </a:xfrm>
          <a:prstGeom prst="rect">
            <a:avLst/>
          </a:prstGeom>
        </p:spPr>
      </p:pic>
    </p:spTree>
    <p:extLst>
      <p:ext uri="{BB962C8B-B14F-4D97-AF65-F5344CB8AC3E}">
        <p14:creationId xmlns:p14="http://schemas.microsoft.com/office/powerpoint/2010/main" val="8850558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631396" cy="461665"/>
          </a:xfrm>
          <a:prstGeom prst="rect">
            <a:avLst/>
          </a:prstGeom>
          <a:noFill/>
        </p:spPr>
        <p:txBody>
          <a:bodyPr wrap="none" rtlCol="0">
            <a:spAutoFit/>
          </a:bodyPr>
          <a:lstStyle/>
          <a:p>
            <a:r>
              <a:rPr lang="en-US" altLang="ja-JP" sz="2400" b="1" dirty="0">
                <a:solidFill>
                  <a:srgbClr val="FF0000"/>
                </a:solidFill>
              </a:rPr>
              <a:t>StageManager.cpp</a:t>
            </a:r>
            <a:r>
              <a:rPr lang="en-US" altLang="ja-JP" sz="2400" dirty="0"/>
              <a:t> </a:t>
            </a:r>
            <a:r>
              <a:rPr lang="ja-JP" altLang="en-US" sz="2400" dirty="0"/>
              <a:t>を書きます</a:t>
            </a:r>
            <a:endParaRPr lang="en-US" altLang="ja-JP" sz="2400" dirty="0"/>
          </a:p>
        </p:txBody>
      </p:sp>
      <p:pic>
        <p:nvPicPr>
          <p:cNvPr id="3" name="図 2">
            <a:extLst>
              <a:ext uri="{FF2B5EF4-FFF2-40B4-BE49-F238E27FC236}">
                <a16:creationId xmlns:a16="http://schemas.microsoft.com/office/drawing/2014/main" id="{AA3A67F9-659F-4719-80D4-72440EF4D4F1}"/>
              </a:ext>
            </a:extLst>
          </p:cNvPr>
          <p:cNvPicPr>
            <a:picLocks noChangeAspect="1"/>
          </p:cNvPicPr>
          <p:nvPr/>
        </p:nvPicPr>
        <p:blipFill>
          <a:blip r:embed="rId2"/>
          <a:stretch>
            <a:fillRect/>
          </a:stretch>
        </p:blipFill>
        <p:spPr>
          <a:xfrm>
            <a:off x="567542" y="1817794"/>
            <a:ext cx="7167362" cy="1938418"/>
          </a:xfrm>
          <a:prstGeom prst="rect">
            <a:avLst/>
          </a:prstGeom>
        </p:spPr>
      </p:pic>
    </p:spTree>
    <p:extLst>
      <p:ext uri="{BB962C8B-B14F-4D97-AF65-F5344CB8AC3E}">
        <p14:creationId xmlns:p14="http://schemas.microsoft.com/office/powerpoint/2010/main" val="26385347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07559" cy="461665"/>
          </a:xfrm>
          <a:prstGeom prst="rect">
            <a:avLst/>
          </a:prstGeom>
          <a:noFill/>
        </p:spPr>
        <p:txBody>
          <a:bodyPr wrap="none" rtlCol="0">
            <a:spAutoFit/>
          </a:bodyPr>
          <a:lstStyle/>
          <a:p>
            <a:r>
              <a:rPr lang="en-US" altLang="ja-JP" sz="2400" b="1" dirty="0" err="1">
                <a:solidFill>
                  <a:srgbClr val="00B050"/>
                </a:solidFill>
              </a:rPr>
              <a:t>StageManager</a:t>
            </a:r>
            <a:r>
              <a:rPr lang="en-US" altLang="ja-JP" sz="2400" b="1" dirty="0">
                <a:solidFill>
                  <a:srgbClr val="FF0000"/>
                </a:solidFill>
              </a:rPr>
              <a:t> </a:t>
            </a:r>
            <a:r>
              <a:rPr lang="ja-JP" altLang="en-US" sz="2400" dirty="0"/>
              <a:t>の</a:t>
            </a:r>
            <a:r>
              <a:rPr lang="ja-JP" altLang="en-US" sz="2400" b="1" dirty="0">
                <a:solidFill>
                  <a:srgbClr val="0070C0"/>
                </a:solidFill>
              </a:rPr>
              <a:t>ロード関数</a:t>
            </a:r>
            <a:r>
              <a:rPr lang="ja-JP" altLang="en-US" sz="2400" dirty="0"/>
              <a:t>で</a:t>
            </a:r>
            <a:r>
              <a:rPr lang="en-US" altLang="ja-JP" sz="2400" dirty="0"/>
              <a:t>json</a:t>
            </a:r>
            <a:r>
              <a:rPr lang="ja-JP" altLang="en-US" sz="2400" dirty="0"/>
              <a:t>を読み込みます。</a:t>
            </a:r>
            <a:endParaRPr lang="en-US" altLang="ja-JP" sz="2400" dirty="0"/>
          </a:p>
        </p:txBody>
      </p:sp>
      <p:pic>
        <p:nvPicPr>
          <p:cNvPr id="5" name="図 4">
            <a:extLst>
              <a:ext uri="{FF2B5EF4-FFF2-40B4-BE49-F238E27FC236}">
                <a16:creationId xmlns:a16="http://schemas.microsoft.com/office/drawing/2014/main" id="{3C39A79E-4911-47D5-9984-826114B7DD03}"/>
              </a:ext>
            </a:extLst>
          </p:cNvPr>
          <p:cNvPicPr>
            <a:picLocks noChangeAspect="1"/>
          </p:cNvPicPr>
          <p:nvPr/>
        </p:nvPicPr>
        <p:blipFill>
          <a:blip r:embed="rId2"/>
          <a:stretch>
            <a:fillRect/>
          </a:stretch>
        </p:blipFill>
        <p:spPr>
          <a:xfrm>
            <a:off x="567542" y="1817794"/>
            <a:ext cx="8597798" cy="4233382"/>
          </a:xfrm>
          <a:prstGeom prst="rect">
            <a:avLst/>
          </a:prstGeom>
        </p:spPr>
      </p:pic>
      <p:sp>
        <p:nvSpPr>
          <p:cNvPr id="7" name="テキスト ボックス 6">
            <a:extLst>
              <a:ext uri="{FF2B5EF4-FFF2-40B4-BE49-F238E27FC236}">
                <a16:creationId xmlns:a16="http://schemas.microsoft.com/office/drawing/2014/main" id="{01E2A777-23C7-439E-BE47-7DA54489466A}"/>
              </a:ext>
            </a:extLst>
          </p:cNvPr>
          <p:cNvSpPr txBox="1"/>
          <p:nvPr/>
        </p:nvSpPr>
        <p:spPr>
          <a:xfrm>
            <a:off x="567541" y="6190876"/>
            <a:ext cx="4185761" cy="461665"/>
          </a:xfrm>
          <a:prstGeom prst="rect">
            <a:avLst/>
          </a:prstGeom>
          <a:noFill/>
        </p:spPr>
        <p:txBody>
          <a:bodyPr wrap="none" rtlCol="0">
            <a:spAutoFit/>
          </a:bodyPr>
          <a:lstStyle/>
          <a:p>
            <a:r>
              <a:rPr lang="ja-JP" altLang="en-US" sz="2400" dirty="0"/>
              <a:t>次ページからプログラム解説</a:t>
            </a:r>
            <a:endParaRPr lang="en-US" altLang="ja-JP" sz="2400" dirty="0"/>
          </a:p>
        </p:txBody>
      </p:sp>
    </p:spTree>
    <p:extLst>
      <p:ext uri="{BB962C8B-B14F-4D97-AF65-F5344CB8AC3E}">
        <p14:creationId xmlns:p14="http://schemas.microsoft.com/office/powerpoint/2010/main" val="8445905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60052" cy="1200329"/>
          </a:xfrm>
          <a:prstGeom prst="rect">
            <a:avLst/>
          </a:prstGeom>
          <a:noFill/>
        </p:spPr>
        <p:txBody>
          <a:bodyPr wrap="none" rtlCol="0">
            <a:spAutoFit/>
          </a:bodyPr>
          <a:lstStyle/>
          <a:p>
            <a:r>
              <a:rPr lang="en-US" altLang="ja-JP" sz="2400" dirty="0"/>
              <a:t>json</a:t>
            </a:r>
            <a:r>
              <a:rPr lang="ja-JP" altLang="en-US" sz="2400" dirty="0"/>
              <a:t>→</a:t>
            </a:r>
            <a:r>
              <a:rPr lang="en-US" altLang="ja-JP" sz="2400" dirty="0"/>
              <a:t>C++</a:t>
            </a:r>
            <a:r>
              <a:rPr lang="ja-JP" altLang="en-US" sz="2400" dirty="0"/>
              <a:t>にデータを格納するには、</a:t>
            </a:r>
            <a:r>
              <a:rPr lang="en-US" altLang="ja-JP" sz="2400" b="1" dirty="0" err="1">
                <a:solidFill>
                  <a:srgbClr val="0070C0"/>
                </a:solidFill>
              </a:rPr>
              <a:t>from_json</a:t>
            </a:r>
            <a:r>
              <a:rPr lang="ja-JP" altLang="en-US" sz="2400" b="1" dirty="0">
                <a:solidFill>
                  <a:srgbClr val="0070C0"/>
                </a:solidFill>
              </a:rPr>
              <a:t>関数</a:t>
            </a:r>
            <a:r>
              <a:rPr lang="ja-JP" altLang="en-US" sz="2400" dirty="0"/>
              <a:t>を作る必要があります。</a:t>
            </a:r>
            <a:endParaRPr lang="en-US" altLang="ja-JP" sz="2400" dirty="0"/>
          </a:p>
          <a:p>
            <a:r>
              <a:rPr lang="ja-JP" altLang="en-US" sz="2400" dirty="0"/>
              <a:t>また</a:t>
            </a:r>
            <a:r>
              <a:rPr lang="en-US" altLang="ja-JP" sz="2400" b="1" dirty="0">
                <a:solidFill>
                  <a:srgbClr val="00B050"/>
                </a:solidFill>
              </a:rPr>
              <a:t>VECTOR</a:t>
            </a:r>
            <a:r>
              <a:rPr lang="ja-JP" altLang="en-US" sz="2400" dirty="0"/>
              <a:t>など、構造体に格納する場合は、</a:t>
            </a:r>
            <a:endParaRPr lang="en-US" altLang="ja-JP" sz="2400" dirty="0"/>
          </a:p>
          <a:p>
            <a:r>
              <a:rPr lang="en-US" altLang="ja-JP" sz="2400" dirty="0"/>
              <a:t>json</a:t>
            </a:r>
            <a:r>
              <a:rPr lang="ja-JP" altLang="en-US" sz="2400" dirty="0"/>
              <a:t>→構造体に変換する関数も必要です。</a:t>
            </a:r>
            <a:endParaRPr lang="en-US" altLang="ja-JP" sz="2400" dirty="0"/>
          </a:p>
        </p:txBody>
      </p:sp>
      <p:pic>
        <p:nvPicPr>
          <p:cNvPr id="3" name="図 2">
            <a:extLst>
              <a:ext uri="{FF2B5EF4-FFF2-40B4-BE49-F238E27FC236}">
                <a16:creationId xmlns:a16="http://schemas.microsoft.com/office/drawing/2014/main" id="{865F01AC-FF62-4C60-95A2-67C01B58E5CF}"/>
              </a:ext>
            </a:extLst>
          </p:cNvPr>
          <p:cNvPicPr>
            <a:picLocks noChangeAspect="1"/>
          </p:cNvPicPr>
          <p:nvPr/>
        </p:nvPicPr>
        <p:blipFill>
          <a:blip r:embed="rId2"/>
          <a:stretch>
            <a:fillRect/>
          </a:stretch>
        </p:blipFill>
        <p:spPr>
          <a:xfrm>
            <a:off x="567542" y="2556458"/>
            <a:ext cx="8221222" cy="4029637"/>
          </a:xfrm>
          <a:prstGeom prst="rect">
            <a:avLst/>
          </a:prstGeom>
        </p:spPr>
      </p:pic>
      <p:sp>
        <p:nvSpPr>
          <p:cNvPr id="8" name="テキスト ボックス 7">
            <a:extLst>
              <a:ext uri="{FF2B5EF4-FFF2-40B4-BE49-F238E27FC236}">
                <a16:creationId xmlns:a16="http://schemas.microsoft.com/office/drawing/2014/main" id="{4F999B77-C3B0-433F-A4DF-6E147C396BA3}"/>
              </a:ext>
            </a:extLst>
          </p:cNvPr>
          <p:cNvSpPr txBox="1"/>
          <p:nvPr/>
        </p:nvSpPr>
        <p:spPr>
          <a:xfrm>
            <a:off x="7845136" y="5253065"/>
            <a:ext cx="3425938" cy="1200329"/>
          </a:xfrm>
          <a:prstGeom prst="rect">
            <a:avLst/>
          </a:prstGeom>
          <a:noFill/>
        </p:spPr>
        <p:txBody>
          <a:bodyPr wrap="none" rtlCol="0">
            <a:spAutoFit/>
          </a:bodyPr>
          <a:lstStyle/>
          <a:p>
            <a:r>
              <a:rPr lang="en-US" altLang="ja-JP" sz="2400" b="1" dirty="0">
                <a:solidFill>
                  <a:srgbClr val="00B050"/>
                </a:solidFill>
              </a:rPr>
              <a:t>MEMO</a:t>
            </a:r>
          </a:p>
          <a:p>
            <a:r>
              <a:rPr lang="en-US" altLang="ja-JP" sz="2400" b="1" dirty="0" err="1">
                <a:solidFill>
                  <a:srgbClr val="0070C0"/>
                </a:solidFill>
              </a:rPr>
              <a:t>to_json</a:t>
            </a:r>
            <a:r>
              <a:rPr lang="ja-JP" altLang="en-US" sz="2400" b="1" dirty="0">
                <a:solidFill>
                  <a:srgbClr val="0070C0"/>
                </a:solidFill>
              </a:rPr>
              <a:t>関数</a:t>
            </a:r>
            <a:r>
              <a:rPr lang="ja-JP" altLang="en-US" sz="2400" dirty="0"/>
              <a:t>もあります</a:t>
            </a:r>
            <a:endParaRPr lang="en-US" altLang="ja-JP" sz="2400" dirty="0"/>
          </a:p>
          <a:p>
            <a:r>
              <a:rPr lang="ja-JP" altLang="en-US" sz="2400" dirty="0"/>
              <a:t>（</a:t>
            </a:r>
            <a:r>
              <a:rPr lang="en-US" altLang="ja-JP" sz="2400" dirty="0"/>
              <a:t>C++</a:t>
            </a:r>
            <a:r>
              <a:rPr lang="ja-JP" altLang="en-US" sz="2400" dirty="0"/>
              <a:t>→</a:t>
            </a:r>
            <a:r>
              <a:rPr lang="en-US" altLang="ja-JP" sz="2400" dirty="0"/>
              <a:t>json</a:t>
            </a:r>
            <a:r>
              <a:rPr lang="ja-JP" altLang="en-US" sz="2400" dirty="0"/>
              <a:t>に使用）</a:t>
            </a:r>
            <a:endParaRPr lang="en-US" altLang="ja-JP" sz="2400" dirty="0"/>
          </a:p>
        </p:txBody>
      </p:sp>
    </p:spTree>
    <p:extLst>
      <p:ext uri="{BB962C8B-B14F-4D97-AF65-F5344CB8AC3E}">
        <p14:creationId xmlns:p14="http://schemas.microsoft.com/office/powerpoint/2010/main" val="190870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416868" cy="461665"/>
          </a:xfrm>
          <a:prstGeom prst="rect">
            <a:avLst/>
          </a:prstGeom>
          <a:noFill/>
        </p:spPr>
        <p:txBody>
          <a:bodyPr wrap="none" rtlCol="0">
            <a:spAutoFit/>
          </a:bodyPr>
          <a:lstStyle/>
          <a:p>
            <a:r>
              <a:rPr lang="ja-JP" altLang="en-US" sz="2400" dirty="0"/>
              <a:t>読み込み処理は非常にシンプルです。</a:t>
            </a:r>
            <a:endParaRPr lang="en-US" altLang="ja-JP" sz="2400" dirty="0"/>
          </a:p>
        </p:txBody>
      </p:sp>
      <p:pic>
        <p:nvPicPr>
          <p:cNvPr id="7" name="図 6">
            <a:extLst>
              <a:ext uri="{FF2B5EF4-FFF2-40B4-BE49-F238E27FC236}">
                <a16:creationId xmlns:a16="http://schemas.microsoft.com/office/drawing/2014/main" id="{DC3898FF-EE68-40B7-8070-0F6CB426C7C4}"/>
              </a:ext>
            </a:extLst>
          </p:cNvPr>
          <p:cNvPicPr>
            <a:picLocks noChangeAspect="1"/>
          </p:cNvPicPr>
          <p:nvPr/>
        </p:nvPicPr>
        <p:blipFill>
          <a:blip r:embed="rId2"/>
          <a:stretch>
            <a:fillRect/>
          </a:stretch>
        </p:blipFill>
        <p:spPr>
          <a:xfrm>
            <a:off x="567542" y="1817794"/>
            <a:ext cx="8597798" cy="4233382"/>
          </a:xfrm>
          <a:prstGeom prst="rect">
            <a:avLst/>
          </a:prstGeom>
        </p:spPr>
      </p:pic>
    </p:spTree>
    <p:extLst>
      <p:ext uri="{BB962C8B-B14F-4D97-AF65-F5344CB8AC3E}">
        <p14:creationId xmlns:p14="http://schemas.microsoft.com/office/powerpoint/2010/main" val="3320417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717411" cy="584775"/>
          </a:xfrm>
          <a:prstGeom prst="rect">
            <a:avLst/>
          </a:prstGeom>
          <a:noFill/>
        </p:spPr>
        <p:txBody>
          <a:bodyPr wrap="none" rtlCol="0">
            <a:spAutoFit/>
          </a:bodyPr>
          <a:lstStyle/>
          <a:p>
            <a:r>
              <a:rPr kumimoji="1" lang="en-US" altLang="ja-JP" sz="3200" b="1" u="sng" dirty="0"/>
              <a:t>Json</a:t>
            </a:r>
            <a:r>
              <a:rPr kumimoji="1" lang="ja-JP" altLang="en-US" sz="3200" b="1" u="sng" dirty="0"/>
              <a:t>ファイル</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41769" cy="461665"/>
          </a:xfrm>
          <a:prstGeom prst="rect">
            <a:avLst/>
          </a:prstGeom>
          <a:noFill/>
        </p:spPr>
        <p:txBody>
          <a:bodyPr wrap="none" rtlCol="0">
            <a:spAutoFit/>
          </a:bodyPr>
          <a:lstStyle/>
          <a:p>
            <a:r>
              <a:rPr lang="en-US" altLang="ja-JP" sz="2400" dirty="0"/>
              <a:t>json</a:t>
            </a:r>
            <a:r>
              <a:rPr lang="ja-JP" altLang="en-US" sz="2400" dirty="0"/>
              <a:t>ファイルと見比べながら処理を確認すると、理解が深まります。</a:t>
            </a:r>
            <a:endParaRPr lang="en-US" altLang="ja-JP" sz="2400" dirty="0"/>
          </a:p>
        </p:txBody>
      </p:sp>
      <p:pic>
        <p:nvPicPr>
          <p:cNvPr id="5" name="図 4">
            <a:extLst>
              <a:ext uri="{FF2B5EF4-FFF2-40B4-BE49-F238E27FC236}">
                <a16:creationId xmlns:a16="http://schemas.microsoft.com/office/drawing/2014/main" id="{472EB93E-C378-4144-9E96-CFEBDCFA4167}"/>
              </a:ext>
            </a:extLst>
          </p:cNvPr>
          <p:cNvPicPr>
            <a:picLocks noChangeAspect="1"/>
          </p:cNvPicPr>
          <p:nvPr/>
        </p:nvPicPr>
        <p:blipFill>
          <a:blip r:embed="rId2"/>
          <a:stretch>
            <a:fillRect/>
          </a:stretch>
        </p:blipFill>
        <p:spPr>
          <a:xfrm>
            <a:off x="567542" y="2187126"/>
            <a:ext cx="8280623" cy="4450835"/>
          </a:xfrm>
          <a:prstGeom prst="rect">
            <a:avLst/>
          </a:prstGeom>
        </p:spPr>
      </p:pic>
    </p:spTree>
    <p:extLst>
      <p:ext uri="{BB962C8B-B14F-4D97-AF65-F5344CB8AC3E}">
        <p14:creationId xmlns:p14="http://schemas.microsoft.com/office/powerpoint/2010/main" val="7668633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4807025" y="3136613"/>
            <a:ext cx="2577950" cy="584775"/>
          </a:xfrm>
          <a:prstGeom prst="rect">
            <a:avLst/>
          </a:prstGeom>
          <a:noFill/>
        </p:spPr>
        <p:txBody>
          <a:bodyPr wrap="none" rtlCol="0">
            <a:spAutoFit/>
          </a:bodyPr>
          <a:lstStyle/>
          <a:p>
            <a:r>
              <a:rPr kumimoji="1" lang="en-US" altLang="ja-JP" sz="3200" b="1" u="sng" dirty="0" err="1"/>
              <a:t>DxLib</a:t>
            </a:r>
            <a:r>
              <a:rPr kumimoji="1" lang="ja-JP" altLang="en-US" sz="3200" b="1" u="sng" dirty="0"/>
              <a:t>に反映</a:t>
            </a:r>
            <a:endParaRPr kumimoji="1" lang="en-US" altLang="ja-JP" sz="3200" b="1" u="sng" dirty="0"/>
          </a:p>
        </p:txBody>
      </p:sp>
    </p:spTree>
    <p:extLst>
      <p:ext uri="{BB962C8B-B14F-4D97-AF65-F5344CB8AC3E}">
        <p14:creationId xmlns:p14="http://schemas.microsoft.com/office/powerpoint/2010/main" val="21192206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577950" cy="584775"/>
          </a:xfrm>
          <a:prstGeom prst="rect">
            <a:avLst/>
          </a:prstGeom>
          <a:noFill/>
        </p:spPr>
        <p:txBody>
          <a:bodyPr wrap="none" rtlCol="0">
            <a:spAutoFit/>
          </a:bodyPr>
          <a:lstStyle/>
          <a:p>
            <a:r>
              <a:rPr kumimoji="1" lang="en-US" altLang="ja-JP" sz="3200" b="1" u="sng" dirty="0" err="1"/>
              <a:t>DxLib</a:t>
            </a:r>
            <a:r>
              <a:rPr kumimoji="1" lang="ja-JP" altLang="en-US" sz="3200" b="1" u="sng" dirty="0"/>
              <a:t>に反映</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092554" cy="461665"/>
          </a:xfrm>
          <a:prstGeom prst="rect">
            <a:avLst/>
          </a:prstGeom>
          <a:noFill/>
        </p:spPr>
        <p:txBody>
          <a:bodyPr wrap="none" rtlCol="0">
            <a:spAutoFit/>
          </a:bodyPr>
          <a:lstStyle/>
          <a:p>
            <a:r>
              <a:rPr lang="en-US" altLang="ja-JP" sz="2400" dirty="0"/>
              <a:t>json</a:t>
            </a:r>
            <a:r>
              <a:rPr lang="ja-JP" altLang="en-US" sz="2400" dirty="0"/>
              <a:t>で読み込んだデータを使って、オブジェクトを配置します。</a:t>
            </a:r>
            <a:endParaRPr lang="en-US" altLang="ja-JP" sz="2400" dirty="0"/>
          </a:p>
        </p:txBody>
      </p:sp>
      <p:pic>
        <p:nvPicPr>
          <p:cNvPr id="7" name="図 6">
            <a:extLst>
              <a:ext uri="{FF2B5EF4-FFF2-40B4-BE49-F238E27FC236}">
                <a16:creationId xmlns:a16="http://schemas.microsoft.com/office/drawing/2014/main" id="{BBBA1166-466C-47F9-8B3F-7F7F4CF2CB05}"/>
              </a:ext>
            </a:extLst>
          </p:cNvPr>
          <p:cNvPicPr>
            <a:picLocks noChangeAspect="1"/>
          </p:cNvPicPr>
          <p:nvPr/>
        </p:nvPicPr>
        <p:blipFill>
          <a:blip r:embed="rId2"/>
          <a:stretch>
            <a:fillRect/>
          </a:stretch>
        </p:blipFill>
        <p:spPr>
          <a:xfrm>
            <a:off x="567542" y="1817794"/>
            <a:ext cx="7554062" cy="4394747"/>
          </a:xfrm>
          <a:prstGeom prst="rect">
            <a:avLst/>
          </a:prstGeom>
        </p:spPr>
      </p:pic>
    </p:spTree>
    <p:extLst>
      <p:ext uri="{BB962C8B-B14F-4D97-AF65-F5344CB8AC3E}">
        <p14:creationId xmlns:p14="http://schemas.microsoft.com/office/powerpoint/2010/main" val="28186591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577950" cy="584775"/>
          </a:xfrm>
          <a:prstGeom prst="rect">
            <a:avLst/>
          </a:prstGeom>
          <a:noFill/>
        </p:spPr>
        <p:txBody>
          <a:bodyPr wrap="none" rtlCol="0">
            <a:spAutoFit/>
          </a:bodyPr>
          <a:lstStyle/>
          <a:p>
            <a:r>
              <a:rPr kumimoji="1" lang="en-US" altLang="ja-JP" sz="3200" b="1" u="sng" dirty="0" err="1"/>
              <a:t>DxLib</a:t>
            </a:r>
            <a:r>
              <a:rPr kumimoji="1" lang="ja-JP" altLang="en-US" sz="3200" b="1" u="sng" dirty="0"/>
              <a:t>に反映</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374135" cy="461665"/>
          </a:xfrm>
          <a:prstGeom prst="rect">
            <a:avLst/>
          </a:prstGeom>
          <a:noFill/>
        </p:spPr>
        <p:txBody>
          <a:bodyPr wrap="none" rtlCol="0">
            <a:spAutoFit/>
          </a:bodyPr>
          <a:lstStyle/>
          <a:p>
            <a:r>
              <a:rPr lang="en-US" altLang="ja-JP" sz="2400" b="1" dirty="0" err="1">
                <a:solidFill>
                  <a:srgbClr val="00B050"/>
                </a:solidFill>
              </a:rPr>
              <a:t>StageManager</a:t>
            </a:r>
            <a:r>
              <a:rPr lang="ja-JP" altLang="en-US" sz="2400" dirty="0"/>
              <a:t>の</a:t>
            </a:r>
            <a:r>
              <a:rPr lang="en-US" altLang="ja-JP" sz="2400" b="1" dirty="0">
                <a:solidFill>
                  <a:srgbClr val="0070C0"/>
                </a:solidFill>
              </a:rPr>
              <a:t>Start</a:t>
            </a:r>
            <a:r>
              <a:rPr lang="ja-JP" altLang="en-US" sz="2400" b="1" dirty="0">
                <a:solidFill>
                  <a:srgbClr val="0070C0"/>
                </a:solidFill>
              </a:rPr>
              <a:t>関数</a:t>
            </a:r>
            <a:r>
              <a:rPr lang="ja-JP" altLang="en-US" sz="2400" dirty="0"/>
              <a:t>に配置処理を書きます。</a:t>
            </a:r>
            <a:endParaRPr lang="en-US" altLang="ja-JP" sz="2400" dirty="0"/>
          </a:p>
        </p:txBody>
      </p:sp>
      <p:pic>
        <p:nvPicPr>
          <p:cNvPr id="3" name="図 2">
            <a:extLst>
              <a:ext uri="{FF2B5EF4-FFF2-40B4-BE49-F238E27FC236}">
                <a16:creationId xmlns:a16="http://schemas.microsoft.com/office/drawing/2014/main" id="{9C8B3C14-9860-4414-8EAE-286B607BA58F}"/>
              </a:ext>
            </a:extLst>
          </p:cNvPr>
          <p:cNvPicPr>
            <a:picLocks noChangeAspect="1"/>
          </p:cNvPicPr>
          <p:nvPr/>
        </p:nvPicPr>
        <p:blipFill>
          <a:blip r:embed="rId2"/>
          <a:stretch>
            <a:fillRect/>
          </a:stretch>
        </p:blipFill>
        <p:spPr>
          <a:xfrm>
            <a:off x="567542" y="1817794"/>
            <a:ext cx="10517068" cy="3781953"/>
          </a:xfrm>
          <a:prstGeom prst="rect">
            <a:avLst/>
          </a:prstGeom>
        </p:spPr>
      </p:pic>
    </p:spTree>
    <p:extLst>
      <p:ext uri="{BB962C8B-B14F-4D97-AF65-F5344CB8AC3E}">
        <p14:creationId xmlns:p14="http://schemas.microsoft.com/office/powerpoint/2010/main" val="39517302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577950" cy="584775"/>
          </a:xfrm>
          <a:prstGeom prst="rect">
            <a:avLst/>
          </a:prstGeom>
          <a:noFill/>
        </p:spPr>
        <p:txBody>
          <a:bodyPr wrap="none" rtlCol="0">
            <a:spAutoFit/>
          </a:bodyPr>
          <a:lstStyle/>
          <a:p>
            <a:r>
              <a:rPr kumimoji="1" lang="en-US" altLang="ja-JP" sz="3200" b="1" u="sng" dirty="0" err="1"/>
              <a:t>DxLib</a:t>
            </a:r>
            <a:r>
              <a:rPr kumimoji="1" lang="ja-JP" altLang="en-US" sz="3200" b="1" u="sng" dirty="0"/>
              <a:t>に反映</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54695" cy="461665"/>
          </a:xfrm>
          <a:prstGeom prst="rect">
            <a:avLst/>
          </a:prstGeom>
          <a:noFill/>
        </p:spPr>
        <p:txBody>
          <a:bodyPr wrap="none" rtlCol="0">
            <a:spAutoFit/>
          </a:bodyPr>
          <a:lstStyle/>
          <a:p>
            <a:r>
              <a:rPr lang="en-US" altLang="ja-JP" sz="2400" b="1" dirty="0" err="1">
                <a:solidFill>
                  <a:srgbClr val="00B050"/>
                </a:solidFill>
              </a:rPr>
              <a:t>StageManager</a:t>
            </a:r>
            <a:r>
              <a:rPr lang="ja-JP" altLang="en-US" sz="2400" dirty="0"/>
              <a:t>の</a:t>
            </a:r>
            <a:r>
              <a:rPr lang="en-US" altLang="ja-JP" sz="2400" b="1" dirty="0">
                <a:solidFill>
                  <a:srgbClr val="0070C0"/>
                </a:solidFill>
              </a:rPr>
              <a:t>Start</a:t>
            </a:r>
            <a:r>
              <a:rPr lang="ja-JP" altLang="en-US" sz="2400" b="1" dirty="0">
                <a:solidFill>
                  <a:srgbClr val="0070C0"/>
                </a:solidFill>
              </a:rPr>
              <a:t>関数</a:t>
            </a:r>
            <a:r>
              <a:rPr lang="ja-JP" altLang="en-US" sz="2400" dirty="0"/>
              <a:t>に配置処理を書きます。（その２）</a:t>
            </a:r>
            <a:endParaRPr lang="en-US" altLang="ja-JP" sz="2400" dirty="0"/>
          </a:p>
        </p:txBody>
      </p:sp>
      <p:pic>
        <p:nvPicPr>
          <p:cNvPr id="5" name="図 4">
            <a:extLst>
              <a:ext uri="{FF2B5EF4-FFF2-40B4-BE49-F238E27FC236}">
                <a16:creationId xmlns:a16="http://schemas.microsoft.com/office/drawing/2014/main" id="{1A9FB7C9-11B8-4535-817F-F34EAF864297}"/>
              </a:ext>
            </a:extLst>
          </p:cNvPr>
          <p:cNvPicPr>
            <a:picLocks noChangeAspect="1"/>
          </p:cNvPicPr>
          <p:nvPr/>
        </p:nvPicPr>
        <p:blipFill>
          <a:blip r:embed="rId2"/>
          <a:stretch>
            <a:fillRect/>
          </a:stretch>
        </p:blipFill>
        <p:spPr>
          <a:xfrm>
            <a:off x="567542" y="1817794"/>
            <a:ext cx="9813587" cy="4717563"/>
          </a:xfrm>
          <a:prstGeom prst="rect">
            <a:avLst/>
          </a:prstGeom>
        </p:spPr>
      </p:pic>
    </p:spTree>
    <p:extLst>
      <p:ext uri="{BB962C8B-B14F-4D97-AF65-F5344CB8AC3E}">
        <p14:creationId xmlns:p14="http://schemas.microsoft.com/office/powerpoint/2010/main" val="4283899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577950" cy="584775"/>
          </a:xfrm>
          <a:prstGeom prst="rect">
            <a:avLst/>
          </a:prstGeom>
          <a:noFill/>
        </p:spPr>
        <p:txBody>
          <a:bodyPr wrap="none" rtlCol="0">
            <a:spAutoFit/>
          </a:bodyPr>
          <a:lstStyle/>
          <a:p>
            <a:r>
              <a:rPr kumimoji="1" lang="en-US" altLang="ja-JP" sz="3200" b="1" u="sng" dirty="0" err="1"/>
              <a:t>DxLib</a:t>
            </a:r>
            <a:r>
              <a:rPr kumimoji="1" lang="ja-JP" altLang="en-US" sz="3200" b="1" u="sng" dirty="0"/>
              <a:t>に反映</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2954655" cy="461665"/>
          </a:xfrm>
          <a:prstGeom prst="rect">
            <a:avLst/>
          </a:prstGeom>
          <a:noFill/>
        </p:spPr>
        <p:txBody>
          <a:bodyPr wrap="none" rtlCol="0">
            <a:spAutoFit/>
          </a:bodyPr>
          <a:lstStyle/>
          <a:p>
            <a:r>
              <a:rPr lang="ja-JP" altLang="en-US" sz="2400" dirty="0"/>
              <a:t>動作確認しましょう</a:t>
            </a:r>
            <a:endParaRPr lang="en-US" altLang="ja-JP" sz="2400" dirty="0"/>
          </a:p>
        </p:txBody>
      </p:sp>
      <p:pic>
        <p:nvPicPr>
          <p:cNvPr id="7" name="図 6">
            <a:extLst>
              <a:ext uri="{FF2B5EF4-FFF2-40B4-BE49-F238E27FC236}">
                <a16:creationId xmlns:a16="http://schemas.microsoft.com/office/drawing/2014/main" id="{BBBA1166-466C-47F9-8B3F-7F7F4CF2CB05}"/>
              </a:ext>
            </a:extLst>
          </p:cNvPr>
          <p:cNvPicPr>
            <a:picLocks noChangeAspect="1"/>
          </p:cNvPicPr>
          <p:nvPr/>
        </p:nvPicPr>
        <p:blipFill>
          <a:blip r:embed="rId2"/>
          <a:stretch>
            <a:fillRect/>
          </a:stretch>
        </p:blipFill>
        <p:spPr>
          <a:xfrm>
            <a:off x="567542" y="1817794"/>
            <a:ext cx="7554062" cy="4394747"/>
          </a:xfrm>
          <a:prstGeom prst="rect">
            <a:avLst/>
          </a:prstGeom>
        </p:spPr>
      </p:pic>
    </p:spTree>
    <p:extLst>
      <p:ext uri="{BB962C8B-B14F-4D97-AF65-F5344CB8AC3E}">
        <p14:creationId xmlns:p14="http://schemas.microsoft.com/office/powerpoint/2010/main" val="1421794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改善点</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2677656"/>
          </a:xfrm>
          <a:prstGeom prst="rect">
            <a:avLst/>
          </a:prstGeom>
          <a:noFill/>
        </p:spPr>
        <p:txBody>
          <a:bodyPr wrap="none" rtlCol="0">
            <a:spAutoFit/>
          </a:bodyPr>
          <a:lstStyle/>
          <a:p>
            <a:r>
              <a:rPr lang="ja-JP" altLang="en-US" sz="2400" dirty="0"/>
              <a:t>これで最低限のステージエディタはできました。</a:t>
            </a:r>
            <a:endParaRPr lang="en-US" altLang="ja-JP" sz="2400" dirty="0"/>
          </a:p>
          <a:p>
            <a:r>
              <a:rPr lang="ja-JP" altLang="en-US" sz="2400" dirty="0"/>
              <a:t>このまま使ってもらってもいいですが、</a:t>
            </a:r>
            <a:endParaRPr lang="en-US" altLang="ja-JP" sz="2400" dirty="0"/>
          </a:p>
          <a:p>
            <a:r>
              <a:rPr lang="ja-JP" altLang="en-US" sz="2400" dirty="0"/>
              <a:t>ぜひオリジナルゲーム制作では、使いやすく改善していきましょう。</a:t>
            </a:r>
            <a:endParaRPr lang="en-US" altLang="ja-JP" sz="2400" dirty="0"/>
          </a:p>
          <a:p>
            <a:endParaRPr lang="en-US" altLang="ja-JP" sz="2400" dirty="0"/>
          </a:p>
          <a:p>
            <a:r>
              <a:rPr lang="ja-JP" altLang="en-US" sz="2400" dirty="0"/>
              <a:t>ここからはいくつか改善点を挙げていきます。</a:t>
            </a:r>
            <a:endParaRPr lang="en-US" altLang="ja-JP" sz="2400" dirty="0"/>
          </a:p>
          <a:p>
            <a:endParaRPr lang="en-US" altLang="ja-JP" sz="2400" dirty="0"/>
          </a:p>
          <a:p>
            <a:r>
              <a:rPr lang="en-US" altLang="ja-JP" sz="2400" b="1" dirty="0">
                <a:solidFill>
                  <a:srgbClr val="FF0000"/>
                </a:solidFill>
              </a:rPr>
              <a:t>※</a:t>
            </a:r>
            <a:r>
              <a:rPr lang="ja-JP" altLang="en-US" sz="2400" b="1" dirty="0">
                <a:solidFill>
                  <a:srgbClr val="FF0000"/>
                </a:solidFill>
              </a:rPr>
              <a:t>改善できれば強力なアピールポイントになります</a:t>
            </a:r>
            <a:endParaRPr lang="en-US" altLang="ja-JP" sz="2400" b="1" dirty="0">
              <a:solidFill>
                <a:srgbClr val="FF0000"/>
              </a:solidFill>
            </a:endParaRPr>
          </a:p>
        </p:txBody>
      </p:sp>
    </p:spTree>
    <p:extLst>
      <p:ext uri="{BB962C8B-B14F-4D97-AF65-F5344CB8AC3E}">
        <p14:creationId xmlns:p14="http://schemas.microsoft.com/office/powerpoint/2010/main" val="38145225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改善点</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71750" cy="830997"/>
          </a:xfrm>
          <a:prstGeom prst="rect">
            <a:avLst/>
          </a:prstGeom>
          <a:noFill/>
        </p:spPr>
        <p:txBody>
          <a:bodyPr wrap="none" rtlCol="0">
            <a:spAutoFit/>
          </a:bodyPr>
          <a:lstStyle/>
          <a:p>
            <a:r>
              <a:rPr lang="en-US" altLang="ja-JP" sz="2400" dirty="0"/>
              <a:t>ID</a:t>
            </a:r>
            <a:r>
              <a:rPr lang="ja-JP" altLang="en-US" sz="2400" dirty="0"/>
              <a:t>や構造体は</a:t>
            </a:r>
            <a:r>
              <a:rPr lang="en-US" altLang="ja-JP" sz="2400" b="1" dirty="0">
                <a:solidFill>
                  <a:srgbClr val="FF0000"/>
                </a:solidFill>
              </a:rPr>
              <a:t>Unity</a:t>
            </a:r>
            <a:r>
              <a:rPr lang="ja-JP" altLang="en-US" sz="2400" b="1" dirty="0">
                <a:solidFill>
                  <a:srgbClr val="FF0000"/>
                </a:solidFill>
              </a:rPr>
              <a:t>と一致することが絶対</a:t>
            </a:r>
            <a:r>
              <a:rPr lang="ja-JP" altLang="en-US" sz="2400" dirty="0"/>
              <a:t>となります。</a:t>
            </a:r>
            <a:endParaRPr lang="en-US" altLang="ja-JP" sz="2400" dirty="0"/>
          </a:p>
          <a:p>
            <a:r>
              <a:rPr lang="ja-JP" altLang="en-US" sz="2400" dirty="0"/>
              <a:t>できれば</a:t>
            </a:r>
            <a:r>
              <a:rPr lang="en-US" altLang="ja-JP" sz="2400" dirty="0"/>
              <a:t>Unity</a:t>
            </a:r>
            <a:r>
              <a:rPr lang="ja-JP" altLang="en-US" sz="2400" dirty="0"/>
              <a:t>側を修正すれば</a:t>
            </a:r>
            <a:r>
              <a:rPr lang="en-US" altLang="ja-JP" sz="2400" dirty="0" err="1"/>
              <a:t>DxLib</a:t>
            </a:r>
            <a:r>
              <a:rPr lang="ja-JP" altLang="en-US" sz="2400" dirty="0"/>
              <a:t>側は</a:t>
            </a:r>
            <a:r>
              <a:rPr lang="ja-JP" altLang="en-US" sz="2400" b="1" dirty="0">
                <a:solidFill>
                  <a:srgbClr val="FF0000"/>
                </a:solidFill>
              </a:rPr>
              <a:t>自動で書き換わってほしい</a:t>
            </a:r>
            <a:r>
              <a:rPr lang="ja-JP" altLang="en-US" sz="2400" dirty="0"/>
              <a:t>です。</a:t>
            </a:r>
            <a:endParaRPr lang="en-US" altLang="ja-JP" sz="2400" dirty="0"/>
          </a:p>
        </p:txBody>
      </p:sp>
      <p:pic>
        <p:nvPicPr>
          <p:cNvPr id="5" name="図 4">
            <a:extLst>
              <a:ext uri="{FF2B5EF4-FFF2-40B4-BE49-F238E27FC236}">
                <a16:creationId xmlns:a16="http://schemas.microsoft.com/office/drawing/2014/main" id="{22CB4E5C-0950-4E7E-A697-A45973D9A2DE}"/>
              </a:ext>
            </a:extLst>
          </p:cNvPr>
          <p:cNvPicPr>
            <a:picLocks noChangeAspect="1"/>
          </p:cNvPicPr>
          <p:nvPr/>
        </p:nvPicPr>
        <p:blipFill>
          <a:blip r:embed="rId2"/>
          <a:stretch>
            <a:fillRect/>
          </a:stretch>
        </p:blipFill>
        <p:spPr>
          <a:xfrm>
            <a:off x="567542" y="2187126"/>
            <a:ext cx="6163306" cy="4345442"/>
          </a:xfrm>
          <a:prstGeom prst="rect">
            <a:avLst/>
          </a:prstGeom>
        </p:spPr>
      </p:pic>
    </p:spTree>
    <p:extLst>
      <p:ext uri="{BB962C8B-B14F-4D97-AF65-F5344CB8AC3E}">
        <p14:creationId xmlns:p14="http://schemas.microsoft.com/office/powerpoint/2010/main" val="1816869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改善点</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780515" cy="4154984"/>
          </a:xfrm>
          <a:prstGeom prst="rect">
            <a:avLst/>
          </a:prstGeom>
          <a:noFill/>
        </p:spPr>
        <p:txBody>
          <a:bodyPr wrap="none" rtlCol="0">
            <a:spAutoFit/>
          </a:bodyPr>
          <a:lstStyle/>
          <a:p>
            <a:r>
              <a:rPr lang="ja-JP" altLang="en-US" sz="2400" dirty="0"/>
              <a:t>敵やギミックは多くの場合、専用のパラメータを持っています。</a:t>
            </a:r>
            <a:endParaRPr lang="en-US" altLang="ja-JP" sz="2400" dirty="0"/>
          </a:p>
          <a:p>
            <a:r>
              <a:rPr lang="ja-JP" altLang="en-US" sz="2400" dirty="0"/>
              <a:t>今回は全てのオブジェクトを配置するだけですが、</a:t>
            </a:r>
            <a:endParaRPr lang="en-US" altLang="ja-JP" sz="2400" dirty="0"/>
          </a:p>
          <a:p>
            <a:r>
              <a:rPr lang="ja-JP" altLang="en-US" sz="2400" dirty="0"/>
              <a:t>敵専用の設定やギミック専用の設定が</a:t>
            </a:r>
            <a:r>
              <a:rPr lang="en-US" altLang="ja-JP" sz="2400" dirty="0"/>
              <a:t>Unity</a:t>
            </a:r>
            <a:r>
              <a:rPr lang="ja-JP" altLang="en-US" sz="2400" dirty="0"/>
              <a:t>でできると更に制作が捗ります。</a:t>
            </a:r>
            <a:endParaRPr lang="en-US" altLang="ja-JP" sz="2400" dirty="0"/>
          </a:p>
          <a:p>
            <a:endParaRPr lang="en-US" altLang="ja-JP" sz="2400" dirty="0"/>
          </a:p>
          <a:p>
            <a:r>
              <a:rPr lang="ja-JP" altLang="en-US" sz="2400" dirty="0"/>
              <a:t>たとえば</a:t>
            </a:r>
            <a:r>
              <a:rPr lang="en-US" altLang="ja-JP" sz="2400" dirty="0"/>
              <a:t>Unity</a:t>
            </a:r>
            <a:r>
              <a:rPr lang="ja-JP" altLang="en-US" sz="2400" dirty="0"/>
              <a:t>側で、</a:t>
            </a:r>
            <a:endParaRPr lang="en-US" altLang="ja-JP" sz="2400" dirty="0"/>
          </a:p>
          <a:p>
            <a:r>
              <a:rPr lang="ja-JP" altLang="en-US" sz="2400" dirty="0"/>
              <a:t>・</a:t>
            </a:r>
            <a:r>
              <a:rPr lang="en-US" altLang="ja-JP" sz="2400" dirty="0" err="1"/>
              <a:t>StageObject.cs</a:t>
            </a:r>
            <a:r>
              <a:rPr lang="ja-JP" altLang="en-US" sz="2400" dirty="0"/>
              <a:t>の他にも</a:t>
            </a:r>
            <a:r>
              <a:rPr lang="en-US" altLang="ja-JP" sz="2400" dirty="0" err="1"/>
              <a:t>EnemyObject.cs</a:t>
            </a:r>
            <a:r>
              <a:rPr lang="ja-JP" altLang="en-US" sz="2400" dirty="0"/>
              <a:t>や</a:t>
            </a:r>
            <a:r>
              <a:rPr lang="en-US" altLang="ja-JP" sz="2400" dirty="0" err="1"/>
              <a:t>GimmickObject.cs</a:t>
            </a:r>
            <a:r>
              <a:rPr lang="ja-JP" altLang="en-US" sz="2400" dirty="0"/>
              <a:t>を作る。</a:t>
            </a:r>
            <a:endParaRPr lang="en-US" altLang="ja-JP" sz="2400" dirty="0"/>
          </a:p>
          <a:p>
            <a:r>
              <a:rPr lang="ja-JP" altLang="en-US" sz="2400" dirty="0"/>
              <a:t>・敵やギミックは別シーンで配置する（</a:t>
            </a:r>
            <a:r>
              <a:rPr lang="en-US" altLang="ja-JP" sz="2400" dirty="0"/>
              <a:t>Stage01_Enemy.scene</a:t>
            </a:r>
            <a:r>
              <a:rPr lang="ja-JP" altLang="en-US" sz="2400" dirty="0"/>
              <a:t>など）</a:t>
            </a:r>
            <a:endParaRPr lang="en-US" altLang="ja-JP" sz="2400" dirty="0"/>
          </a:p>
          <a:p>
            <a:r>
              <a:rPr lang="ja-JP" altLang="en-US" sz="2400" dirty="0"/>
              <a:t>とかすればできるかも。。</a:t>
            </a:r>
            <a:endParaRPr lang="en-US" altLang="ja-JP" sz="2400" dirty="0"/>
          </a:p>
          <a:p>
            <a:endParaRPr lang="en-US" altLang="ja-JP" sz="2400" dirty="0"/>
          </a:p>
          <a:p>
            <a:r>
              <a:rPr lang="ja-JP" altLang="en-US" sz="2400" dirty="0"/>
              <a:t>動くブロックの始点、終点や、敵の徘徊エリアなど、</a:t>
            </a:r>
            <a:endParaRPr lang="en-US" altLang="ja-JP" sz="2400" dirty="0"/>
          </a:p>
          <a:p>
            <a:r>
              <a:rPr lang="en-US" altLang="ja-JP" sz="2400" dirty="0"/>
              <a:t>Unity</a:t>
            </a:r>
            <a:r>
              <a:rPr lang="ja-JP" altLang="en-US" sz="2400" dirty="0"/>
              <a:t>側で設定できれば便利なものはたくさんあります。</a:t>
            </a:r>
            <a:endParaRPr lang="en-US" altLang="ja-JP" sz="2400" dirty="0"/>
          </a:p>
        </p:txBody>
      </p:sp>
    </p:spTree>
    <p:extLst>
      <p:ext uri="{BB962C8B-B14F-4D97-AF65-F5344CB8AC3E}">
        <p14:creationId xmlns:p14="http://schemas.microsoft.com/office/powerpoint/2010/main" val="42201329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改善点</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393644" cy="4893647"/>
          </a:xfrm>
          <a:prstGeom prst="rect">
            <a:avLst/>
          </a:prstGeom>
          <a:noFill/>
        </p:spPr>
        <p:txBody>
          <a:bodyPr wrap="none" rtlCol="0">
            <a:spAutoFit/>
          </a:bodyPr>
          <a:lstStyle/>
          <a:p>
            <a:r>
              <a:rPr lang="ja-JP" altLang="en-US" sz="2400" dirty="0"/>
              <a:t>あくまで</a:t>
            </a:r>
            <a:r>
              <a:rPr lang="ja-JP" altLang="en-US" sz="2400" b="1" dirty="0">
                <a:solidFill>
                  <a:srgbClr val="FF0000"/>
                </a:solidFill>
              </a:rPr>
              <a:t>配置のみ</a:t>
            </a:r>
            <a:r>
              <a:rPr lang="ja-JP" altLang="en-US" sz="2400" dirty="0"/>
              <a:t>なので、</a:t>
            </a:r>
            <a:endParaRPr lang="en-US" altLang="ja-JP" sz="2400" dirty="0"/>
          </a:p>
          <a:p>
            <a:r>
              <a:rPr lang="ja-JP" altLang="en-US" sz="2400" dirty="0"/>
              <a:t>回転や拡縮をしても当たり判定には影響がありません。</a:t>
            </a:r>
            <a:endParaRPr lang="en-US" altLang="ja-JP" sz="2400" dirty="0"/>
          </a:p>
          <a:p>
            <a:endParaRPr lang="en-US" altLang="ja-JP" sz="2400" dirty="0"/>
          </a:p>
          <a:p>
            <a:r>
              <a:rPr lang="ja-JP" altLang="en-US" sz="2400" dirty="0"/>
              <a:t>当たり判定まで対応するとなると、非常に大変ですので、</a:t>
            </a:r>
            <a:endParaRPr lang="en-US" altLang="ja-JP" sz="2400" dirty="0"/>
          </a:p>
          <a:p>
            <a:r>
              <a:rPr lang="ja-JP" altLang="en-US" sz="2400" dirty="0"/>
              <a:t>どのようにするかを、あらかじめ考えておきましょう。</a:t>
            </a:r>
            <a:endParaRPr lang="en-US" altLang="ja-JP" sz="2400" dirty="0"/>
          </a:p>
          <a:p>
            <a:endParaRPr lang="en-US" altLang="ja-JP" sz="2400" dirty="0"/>
          </a:p>
          <a:p>
            <a:r>
              <a:rPr lang="ja-JP" altLang="en-US" sz="2400" b="1" dirty="0">
                <a:solidFill>
                  <a:srgbClr val="FF0000"/>
                </a:solidFill>
              </a:rPr>
              <a:t>■対応例</a:t>
            </a:r>
            <a:endParaRPr lang="en-US" altLang="ja-JP" sz="2400" b="1" dirty="0">
              <a:solidFill>
                <a:srgbClr val="FF0000"/>
              </a:solidFill>
            </a:endParaRPr>
          </a:p>
          <a:p>
            <a:r>
              <a:rPr lang="ja-JP" altLang="en-US" sz="2400" dirty="0"/>
              <a:t>・回転、拡縮は使用しない。</a:t>
            </a:r>
            <a:endParaRPr lang="en-US" altLang="ja-JP" sz="2400" dirty="0"/>
          </a:p>
          <a:p>
            <a:r>
              <a:rPr lang="ja-JP" altLang="en-US" sz="2400" dirty="0"/>
              <a:t>　・必要であれば別モデルで作る</a:t>
            </a:r>
            <a:endParaRPr lang="en-US" altLang="ja-JP" sz="2400" dirty="0"/>
          </a:p>
          <a:p>
            <a:endParaRPr lang="en-US" altLang="ja-JP" sz="2400" dirty="0"/>
          </a:p>
          <a:p>
            <a:r>
              <a:rPr lang="ja-JP" altLang="en-US" sz="2400" dirty="0"/>
              <a:t>・回転、拡縮も対応する</a:t>
            </a:r>
            <a:endParaRPr lang="en-US" altLang="ja-JP" sz="2400" dirty="0"/>
          </a:p>
          <a:p>
            <a:r>
              <a:rPr lang="ja-JP" altLang="en-US" sz="2400" dirty="0"/>
              <a:t>　・最低限</a:t>
            </a:r>
            <a:r>
              <a:rPr lang="en-US" altLang="ja-JP" sz="2400" dirty="0"/>
              <a:t>OBB</a:t>
            </a:r>
            <a:r>
              <a:rPr lang="ja-JP" altLang="en-US" sz="2400" dirty="0"/>
              <a:t>（有向ボックス判定）が必要になる</a:t>
            </a:r>
            <a:endParaRPr lang="en-US" altLang="ja-JP" sz="2400" dirty="0"/>
          </a:p>
          <a:p>
            <a:r>
              <a:rPr lang="ja-JP" altLang="en-US" sz="2400" dirty="0"/>
              <a:t>　・配置数の少ないものは</a:t>
            </a:r>
            <a:r>
              <a:rPr lang="en-US" altLang="ja-JP" sz="2400" dirty="0" err="1"/>
              <a:t>DxLib</a:t>
            </a:r>
            <a:r>
              <a:rPr lang="ja-JP" altLang="en-US" sz="2400" dirty="0"/>
              <a:t>の当たり判定でも対応可能</a:t>
            </a:r>
            <a:endParaRPr lang="en-US" altLang="ja-JP" sz="2400" dirty="0"/>
          </a:p>
        </p:txBody>
      </p:sp>
    </p:spTree>
    <p:extLst>
      <p:ext uri="{BB962C8B-B14F-4D97-AF65-F5344CB8AC3E}">
        <p14:creationId xmlns:p14="http://schemas.microsoft.com/office/powerpoint/2010/main" val="266709964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TotalTime>
  <Words>1473</Words>
  <Application>Microsoft Office PowerPoint</Application>
  <PresentationFormat>ワイド画面</PresentationFormat>
  <Paragraphs>191</Paragraphs>
  <Slides>49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49</vt:i4>
      </vt:variant>
    </vt:vector>
  </HeadingPairs>
  <TitlesOfParts>
    <vt:vector size="5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44</cp:revision>
  <dcterms:created xsi:type="dcterms:W3CDTF">2024-08-27T02:15:54Z</dcterms:created>
  <dcterms:modified xsi:type="dcterms:W3CDTF">2026-04-27T02:50:41Z</dcterms:modified>
</cp:coreProperties>
</file>