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70" r:id="rId5"/>
    <p:sldId id="261" r:id="rId6"/>
    <p:sldId id="262" r:id="rId7"/>
    <p:sldId id="306" r:id="rId8"/>
    <p:sldId id="263" r:id="rId9"/>
    <p:sldId id="264" r:id="rId10"/>
    <p:sldId id="265" r:id="rId11"/>
    <p:sldId id="266" r:id="rId12"/>
    <p:sldId id="267" r:id="rId13"/>
    <p:sldId id="268" r:id="rId14"/>
    <p:sldId id="269" r:id="rId15"/>
    <p:sldId id="279" r:id="rId16"/>
    <p:sldId id="271" r:id="rId17"/>
    <p:sldId id="260" r:id="rId18"/>
    <p:sldId id="272" r:id="rId19"/>
    <p:sldId id="273" r:id="rId20"/>
    <p:sldId id="274" r:id="rId21"/>
    <p:sldId id="275" r:id="rId22"/>
    <p:sldId id="276" r:id="rId23"/>
    <p:sldId id="280" r:id="rId24"/>
    <p:sldId id="281" r:id="rId25"/>
    <p:sldId id="283" r:id="rId26"/>
    <p:sldId id="284" r:id="rId27"/>
    <p:sldId id="285" r:id="rId28"/>
    <p:sldId id="286" r:id="rId29"/>
    <p:sldId id="287" r:id="rId30"/>
    <p:sldId id="282"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2026/1/29</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2026/1/29</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2026/1/29</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2026/1/29</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2026/1/29</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2026/1/29</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2026/1/29</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2026/1/29</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2026/1/29</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2026/1/29</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2026/1/29</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2026/1/29</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hyperlink" Target="https://github.com/nlohmann/json" TargetMode="Externa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939173" cy="584775"/>
          </a:xfrm>
          <a:prstGeom prst="rect">
            <a:avLst/>
          </a:prstGeom>
          <a:noFill/>
        </p:spPr>
        <p:txBody>
          <a:bodyPr wrap="none" rtlCol="0">
            <a:spAutoFit/>
          </a:bodyPr>
          <a:lstStyle/>
          <a:p>
            <a:r>
              <a:rPr kumimoji="1" lang="en-US" altLang="ja-JP" sz="3200" b="1" u="sng" dirty="0"/>
              <a:t>Unity</a:t>
            </a:r>
            <a:r>
              <a:rPr kumimoji="1" lang="ja-JP" altLang="en-US" sz="3200" b="1" u="sng" dirty="0"/>
              <a:t>でステージエディタ</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4154984"/>
          </a:xfrm>
          <a:prstGeom prst="rect">
            <a:avLst/>
          </a:prstGeom>
          <a:noFill/>
        </p:spPr>
        <p:txBody>
          <a:bodyPr wrap="none" rtlCol="0">
            <a:spAutoFit/>
          </a:bodyPr>
          <a:lstStyle/>
          <a:p>
            <a:r>
              <a:rPr lang="ja-JP" altLang="en-US" sz="2400" dirty="0"/>
              <a:t>アクションゲームなどのステージには様々なオブジェクトが配置されます。</a:t>
            </a:r>
            <a:endParaRPr lang="en-US" altLang="ja-JP" sz="2400" dirty="0"/>
          </a:p>
          <a:p>
            <a:r>
              <a:rPr kumimoji="1" lang="ja-JP" altLang="en-US" sz="2400" dirty="0"/>
              <a:t>配置するデータを１つずつプログラムで書くのは非常に面倒です。</a:t>
            </a:r>
            <a:endParaRPr lang="en-US" altLang="ja-JP" sz="2400" dirty="0"/>
          </a:p>
          <a:p>
            <a:endParaRPr kumimoji="1" lang="en-US" altLang="ja-JP" sz="2400" dirty="0"/>
          </a:p>
          <a:p>
            <a:r>
              <a:rPr lang="en-US" altLang="ja-JP" sz="2400" dirty="0"/>
              <a:t>{</a:t>
            </a:r>
          </a:p>
          <a:p>
            <a:pPr lvl="1"/>
            <a:r>
              <a:rPr lang="en-US" altLang="ja-JP" sz="2400" dirty="0"/>
              <a:t>0, 0, 0, 0, 0, 0, 0, 0, 0, 0, 0, 0, 0, 0, 0, </a:t>
            </a:r>
          </a:p>
          <a:p>
            <a:pPr lvl="1"/>
            <a:r>
              <a:rPr lang="en-US" altLang="ja-JP" sz="2400" dirty="0"/>
              <a:t>1, 0, 0, 0, 0, 0, 0, 0, 0, 0, 0, 0, 0, 0, 0, </a:t>
            </a:r>
          </a:p>
          <a:p>
            <a:pPr lvl="1"/>
            <a:r>
              <a:rPr lang="en-US" altLang="ja-JP" sz="2400" dirty="0"/>
              <a:t>0, 0, 0, 0, 0, 1, 2, 0, 0, 0, 0, 0, 0, 0, 0, </a:t>
            </a:r>
          </a:p>
          <a:p>
            <a:r>
              <a:rPr lang="en-US" altLang="ja-JP" sz="2400" dirty="0"/>
              <a:t>}</a:t>
            </a:r>
          </a:p>
          <a:p>
            <a:endParaRPr kumimoji="1" lang="en-US" altLang="ja-JP" sz="2400" dirty="0"/>
          </a:p>
          <a:p>
            <a:r>
              <a:rPr lang="ja-JP" altLang="en-US" sz="2400" dirty="0"/>
              <a:t>↑マップチップを使ってもいいけど限界はありますし、</a:t>
            </a:r>
            <a:endParaRPr lang="en-US" altLang="ja-JP" sz="2400" dirty="0"/>
          </a:p>
          <a:p>
            <a:r>
              <a:rPr kumimoji="1" lang="ja-JP" altLang="en-US" sz="2400" dirty="0"/>
              <a:t>　同じ場所に複数のものを置けなかったりします。</a:t>
            </a:r>
            <a:endParaRPr kumimoji="1" lang="en-US" altLang="ja-JP" sz="2400" dirty="0"/>
          </a:p>
        </p:txBody>
      </p:sp>
    </p:spTree>
    <p:extLst>
      <p:ext uri="{BB962C8B-B14F-4D97-AF65-F5344CB8AC3E}">
        <p14:creationId xmlns:p14="http://schemas.microsoft.com/office/powerpoint/2010/main" val="38792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939173" cy="584775"/>
          </a:xfrm>
          <a:prstGeom prst="rect">
            <a:avLst/>
          </a:prstGeom>
          <a:noFill/>
        </p:spPr>
        <p:txBody>
          <a:bodyPr wrap="none" rtlCol="0">
            <a:spAutoFit/>
          </a:bodyPr>
          <a:lstStyle/>
          <a:p>
            <a:r>
              <a:rPr kumimoji="1" lang="en-US" altLang="ja-JP" sz="3200" b="1" u="sng" dirty="0"/>
              <a:t>Unity</a:t>
            </a:r>
            <a:r>
              <a:rPr kumimoji="1" lang="ja-JP" altLang="en-US" sz="3200" b="1" u="sng" dirty="0"/>
              <a:t>でステージエディタ</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1938992"/>
          </a:xfrm>
          <a:prstGeom prst="rect">
            <a:avLst/>
          </a:prstGeom>
          <a:noFill/>
        </p:spPr>
        <p:txBody>
          <a:bodyPr wrap="none" rtlCol="0">
            <a:spAutoFit/>
          </a:bodyPr>
          <a:lstStyle/>
          <a:p>
            <a:r>
              <a:rPr lang="ja-JP" altLang="en-US" sz="2400" dirty="0"/>
              <a:t>実際にゲームエンジンを使わない開発でも、</a:t>
            </a:r>
            <a:endParaRPr lang="en-US" altLang="ja-JP" sz="2400" dirty="0"/>
          </a:p>
          <a:p>
            <a:r>
              <a:rPr kumimoji="1" lang="ja-JP" altLang="en-US" sz="2400" b="1" dirty="0">
                <a:solidFill>
                  <a:srgbClr val="FF0000"/>
                </a:solidFill>
              </a:rPr>
              <a:t>ゲームエンジンをステージエディタとして活用</a:t>
            </a:r>
            <a:r>
              <a:rPr kumimoji="1" lang="ja-JP" altLang="en-US" sz="2400" dirty="0"/>
              <a:t>することがあります。</a:t>
            </a:r>
            <a:endParaRPr kumimoji="1" lang="en-US" altLang="ja-JP" sz="2400" dirty="0"/>
          </a:p>
          <a:p>
            <a:endParaRPr lang="en-US" altLang="ja-JP" sz="2400" dirty="0"/>
          </a:p>
          <a:p>
            <a:r>
              <a:rPr kumimoji="1" lang="ja-JP" altLang="en-US" sz="2400" dirty="0"/>
              <a:t>ここでは</a:t>
            </a:r>
            <a:r>
              <a:rPr kumimoji="1" lang="en-US" altLang="ja-JP" sz="2400" dirty="0"/>
              <a:t>Unity</a:t>
            </a:r>
            <a:r>
              <a:rPr kumimoji="1" lang="ja-JP" altLang="en-US" sz="2400" dirty="0"/>
              <a:t>を使って、</a:t>
            </a:r>
            <a:endParaRPr kumimoji="1" lang="en-US" altLang="ja-JP" sz="2400" dirty="0"/>
          </a:p>
          <a:p>
            <a:r>
              <a:rPr lang="en-US" altLang="ja-JP" sz="2400" b="1" dirty="0">
                <a:solidFill>
                  <a:srgbClr val="FF0000"/>
                </a:solidFill>
              </a:rPr>
              <a:t>Unity</a:t>
            </a:r>
            <a:r>
              <a:rPr lang="ja-JP" altLang="en-US" sz="2400" b="1" dirty="0">
                <a:solidFill>
                  <a:srgbClr val="FF0000"/>
                </a:solidFill>
              </a:rPr>
              <a:t>で作ったステージを</a:t>
            </a:r>
            <a:r>
              <a:rPr lang="en-US" altLang="ja-JP" sz="2400" b="1" dirty="0" err="1">
                <a:solidFill>
                  <a:srgbClr val="FF0000"/>
                </a:solidFill>
              </a:rPr>
              <a:t>DxLib</a:t>
            </a:r>
            <a:r>
              <a:rPr lang="ja-JP" altLang="en-US" sz="2400" b="1" dirty="0">
                <a:solidFill>
                  <a:srgbClr val="FF0000"/>
                </a:solidFill>
              </a:rPr>
              <a:t>に反映する方法</a:t>
            </a:r>
            <a:r>
              <a:rPr lang="ja-JP" altLang="en-US" sz="2400" dirty="0"/>
              <a:t>を練習します。</a:t>
            </a:r>
            <a:endParaRPr kumimoji="1" lang="en-US" altLang="ja-JP" sz="2400" dirty="0"/>
          </a:p>
        </p:txBody>
      </p:sp>
      <p:pic>
        <p:nvPicPr>
          <p:cNvPr id="3" name="図 2">
            <a:extLst>
              <a:ext uri="{FF2B5EF4-FFF2-40B4-BE49-F238E27FC236}">
                <a16:creationId xmlns:a16="http://schemas.microsoft.com/office/drawing/2014/main" id="{8B5E1BB2-8FB8-4776-978F-4BEB126F5194}"/>
              </a:ext>
            </a:extLst>
          </p:cNvPr>
          <p:cNvPicPr>
            <a:picLocks noChangeAspect="1"/>
          </p:cNvPicPr>
          <p:nvPr/>
        </p:nvPicPr>
        <p:blipFill>
          <a:blip r:embed="rId2"/>
          <a:stretch>
            <a:fillRect/>
          </a:stretch>
        </p:blipFill>
        <p:spPr>
          <a:xfrm>
            <a:off x="567542" y="3429000"/>
            <a:ext cx="4661647" cy="2505635"/>
          </a:xfrm>
          <a:prstGeom prst="rect">
            <a:avLst/>
          </a:prstGeom>
        </p:spPr>
      </p:pic>
      <p:sp>
        <p:nvSpPr>
          <p:cNvPr id="5" name="矢印: 右 4">
            <a:extLst>
              <a:ext uri="{FF2B5EF4-FFF2-40B4-BE49-F238E27FC236}">
                <a16:creationId xmlns:a16="http://schemas.microsoft.com/office/drawing/2014/main" id="{25E8553A-5344-40C0-B17C-1B1DEDF2B182}"/>
              </a:ext>
            </a:extLst>
          </p:cNvPr>
          <p:cNvSpPr/>
          <p:nvPr/>
        </p:nvSpPr>
        <p:spPr>
          <a:xfrm>
            <a:off x="5506715" y="4338918"/>
            <a:ext cx="849261" cy="555811"/>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図 9">
            <a:extLst>
              <a:ext uri="{FF2B5EF4-FFF2-40B4-BE49-F238E27FC236}">
                <a16:creationId xmlns:a16="http://schemas.microsoft.com/office/drawing/2014/main" id="{39B6D14D-DE69-4432-AF35-1102EB1DB7E9}"/>
              </a:ext>
            </a:extLst>
          </p:cNvPr>
          <p:cNvPicPr>
            <a:picLocks noChangeAspect="1"/>
          </p:cNvPicPr>
          <p:nvPr/>
        </p:nvPicPr>
        <p:blipFill>
          <a:blip r:embed="rId3"/>
          <a:stretch>
            <a:fillRect/>
          </a:stretch>
        </p:blipFill>
        <p:spPr>
          <a:xfrm>
            <a:off x="6702836" y="3429000"/>
            <a:ext cx="4306897" cy="2505635"/>
          </a:xfrm>
          <a:prstGeom prst="rect">
            <a:avLst/>
          </a:prstGeom>
        </p:spPr>
      </p:pic>
    </p:spTree>
    <p:extLst>
      <p:ext uri="{BB962C8B-B14F-4D97-AF65-F5344CB8AC3E}">
        <p14:creationId xmlns:p14="http://schemas.microsoft.com/office/powerpoint/2010/main" val="3372440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005403" cy="584775"/>
          </a:xfrm>
          <a:prstGeom prst="rect">
            <a:avLst/>
          </a:prstGeom>
          <a:noFill/>
        </p:spPr>
        <p:txBody>
          <a:bodyPr wrap="none" rtlCol="0">
            <a:spAutoFit/>
          </a:bodyPr>
          <a:lstStyle/>
          <a:p>
            <a:r>
              <a:rPr kumimoji="1" lang="ja-JP" altLang="en-US" sz="3200" b="1" u="sng" dirty="0"/>
              <a:t>目次</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416868" cy="5262979"/>
          </a:xfrm>
          <a:prstGeom prst="rect">
            <a:avLst/>
          </a:prstGeom>
          <a:noFill/>
        </p:spPr>
        <p:txBody>
          <a:bodyPr wrap="none" rtlCol="0">
            <a:spAutoFit/>
          </a:bodyPr>
          <a:lstStyle/>
          <a:p>
            <a:r>
              <a:rPr lang="ja-JP" altLang="en-US" sz="2400" dirty="0"/>
              <a:t>いくつかの工程に分けて練習します。</a:t>
            </a:r>
            <a:endParaRPr lang="en-US" altLang="ja-JP" sz="2400" dirty="0"/>
          </a:p>
          <a:p>
            <a:endParaRPr kumimoji="1" lang="en-US" altLang="ja-JP" sz="2400" dirty="0"/>
          </a:p>
          <a:p>
            <a:r>
              <a:rPr lang="ja-JP" altLang="en-US" sz="2400" dirty="0"/>
              <a:t>１．はじめに</a:t>
            </a:r>
            <a:endParaRPr lang="en-US" altLang="ja-JP" sz="2400" dirty="0"/>
          </a:p>
          <a:p>
            <a:endParaRPr kumimoji="1" lang="en-US" altLang="ja-JP" sz="2400" dirty="0"/>
          </a:p>
          <a:p>
            <a:r>
              <a:rPr lang="ja-JP" altLang="en-US" sz="2400" dirty="0"/>
              <a:t>２．</a:t>
            </a:r>
            <a:r>
              <a:rPr lang="en-US" altLang="ja-JP" sz="2400" dirty="0"/>
              <a:t>Unity</a:t>
            </a:r>
            <a:r>
              <a:rPr lang="ja-JP" altLang="en-US" sz="2400" dirty="0"/>
              <a:t>の機能拡張</a:t>
            </a:r>
            <a:endParaRPr lang="en-US" altLang="ja-JP" sz="2400" dirty="0"/>
          </a:p>
          <a:p>
            <a:r>
              <a:rPr lang="ja-JP" altLang="en-US" sz="2400" dirty="0"/>
              <a:t>　　・自作メニュー</a:t>
            </a:r>
            <a:endParaRPr lang="en-US" altLang="ja-JP" sz="2400" dirty="0"/>
          </a:p>
          <a:p>
            <a:r>
              <a:rPr lang="ja-JP" altLang="en-US" sz="2400" dirty="0"/>
              <a:t>　　・ステージデータ出力</a:t>
            </a:r>
            <a:endParaRPr lang="en-US" altLang="ja-JP" sz="2400" dirty="0"/>
          </a:p>
          <a:p>
            <a:endParaRPr kumimoji="1" lang="en-US" altLang="ja-JP" sz="2400" dirty="0"/>
          </a:p>
          <a:p>
            <a:r>
              <a:rPr lang="ja-JP" altLang="en-US" sz="2400" dirty="0"/>
              <a:t>３．</a:t>
            </a:r>
            <a:r>
              <a:rPr lang="en-US" altLang="ja-JP" sz="2400" dirty="0"/>
              <a:t>json</a:t>
            </a:r>
            <a:r>
              <a:rPr lang="ja-JP" altLang="en-US" sz="2400" dirty="0"/>
              <a:t>ファイル</a:t>
            </a:r>
            <a:endParaRPr lang="en-US" altLang="ja-JP" sz="2400" dirty="0"/>
          </a:p>
          <a:p>
            <a:r>
              <a:rPr lang="ja-JP" altLang="en-US" sz="2400" dirty="0"/>
              <a:t>　　・</a:t>
            </a:r>
            <a:r>
              <a:rPr lang="en-US" altLang="ja-JP" sz="2400" dirty="0"/>
              <a:t>json</a:t>
            </a:r>
            <a:r>
              <a:rPr lang="ja-JP" altLang="en-US" sz="2400" dirty="0"/>
              <a:t>ファイルとは</a:t>
            </a:r>
            <a:endParaRPr lang="en-US" altLang="ja-JP" sz="2400" dirty="0"/>
          </a:p>
          <a:p>
            <a:r>
              <a:rPr lang="ja-JP" altLang="en-US" sz="2400" dirty="0"/>
              <a:t>　　・</a:t>
            </a:r>
            <a:r>
              <a:rPr lang="en-US" altLang="ja-JP" sz="2400" dirty="0"/>
              <a:t>json</a:t>
            </a:r>
            <a:r>
              <a:rPr lang="ja-JP" altLang="en-US" sz="2400" dirty="0"/>
              <a:t>ファイルの読み込み</a:t>
            </a:r>
            <a:endParaRPr lang="en-US" altLang="ja-JP" sz="2400" dirty="0"/>
          </a:p>
          <a:p>
            <a:endParaRPr kumimoji="1" lang="en-US" altLang="ja-JP" sz="2400" dirty="0"/>
          </a:p>
          <a:p>
            <a:r>
              <a:rPr lang="ja-JP" altLang="en-US" sz="2400" dirty="0"/>
              <a:t>４．</a:t>
            </a:r>
            <a:r>
              <a:rPr lang="en-US" altLang="ja-JP" sz="2400" dirty="0" err="1"/>
              <a:t>DxLib</a:t>
            </a:r>
            <a:r>
              <a:rPr lang="ja-JP" altLang="en-US" sz="2400" dirty="0"/>
              <a:t>に反映</a:t>
            </a:r>
            <a:endParaRPr lang="en-US" altLang="ja-JP" sz="2400" dirty="0"/>
          </a:p>
          <a:p>
            <a:r>
              <a:rPr kumimoji="1" lang="ja-JP" altLang="en-US" sz="2400" dirty="0"/>
              <a:t>　　・オブジェクト配置</a:t>
            </a:r>
            <a:endParaRPr kumimoji="1" lang="en-US" altLang="ja-JP" sz="2400" dirty="0"/>
          </a:p>
        </p:txBody>
      </p:sp>
    </p:spTree>
    <p:extLst>
      <p:ext uri="{BB962C8B-B14F-4D97-AF65-F5344CB8AC3E}">
        <p14:creationId xmlns:p14="http://schemas.microsoft.com/office/powerpoint/2010/main" val="2476932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182930" y="3136613"/>
            <a:ext cx="1826141" cy="584775"/>
          </a:xfrm>
          <a:prstGeom prst="rect">
            <a:avLst/>
          </a:prstGeom>
          <a:noFill/>
        </p:spPr>
        <p:txBody>
          <a:bodyPr wrap="none" rtlCol="0">
            <a:spAutoFit/>
          </a:bodyPr>
          <a:lstStyle/>
          <a:p>
            <a:r>
              <a:rPr kumimoji="1" lang="ja-JP" altLang="en-US" sz="3200" b="1" u="sng" dirty="0"/>
              <a:t>はじめに</a:t>
            </a:r>
            <a:endParaRPr kumimoji="1" lang="en-US" altLang="ja-JP" sz="3200" b="1" u="sng" dirty="0"/>
          </a:p>
        </p:txBody>
      </p:sp>
    </p:spTree>
    <p:extLst>
      <p:ext uri="{BB962C8B-B14F-4D97-AF65-F5344CB8AC3E}">
        <p14:creationId xmlns:p14="http://schemas.microsoft.com/office/powerpoint/2010/main" val="1637265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はじめに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088292" cy="2308324"/>
          </a:xfrm>
          <a:prstGeom prst="rect">
            <a:avLst/>
          </a:prstGeom>
          <a:noFill/>
        </p:spPr>
        <p:txBody>
          <a:bodyPr wrap="none" rtlCol="0">
            <a:spAutoFit/>
          </a:bodyPr>
          <a:lstStyle/>
          <a:p>
            <a:r>
              <a:rPr lang="en-US" altLang="ja-JP" sz="2400" dirty="0"/>
              <a:t>Unity</a:t>
            </a:r>
            <a:r>
              <a:rPr lang="ja-JP" altLang="en-US" sz="2400" dirty="0"/>
              <a:t>プロジェクトを新規作成して、以下の３つのフォルダを追加しましょう。</a:t>
            </a:r>
            <a:endParaRPr lang="en-US" altLang="ja-JP" sz="2400" dirty="0"/>
          </a:p>
          <a:p>
            <a:endParaRPr kumimoji="1" lang="en-US" altLang="ja-JP" sz="2400" dirty="0"/>
          </a:p>
          <a:p>
            <a:r>
              <a:rPr lang="ja-JP" altLang="en-US" sz="2400" b="1" dirty="0">
                <a:solidFill>
                  <a:srgbClr val="FF0000"/>
                </a:solidFill>
              </a:rPr>
              <a:t>■追加するフォルダ</a:t>
            </a:r>
            <a:endParaRPr lang="en-US" altLang="ja-JP" sz="2400" b="1" dirty="0">
              <a:solidFill>
                <a:srgbClr val="FF0000"/>
              </a:solidFill>
            </a:endParaRPr>
          </a:p>
          <a:p>
            <a:r>
              <a:rPr kumimoji="1" lang="ja-JP" altLang="en-US" sz="2400" dirty="0"/>
              <a:t>・</a:t>
            </a:r>
            <a:r>
              <a:rPr kumimoji="1" lang="en-US" altLang="ja-JP" sz="2400" dirty="0"/>
              <a:t>Models</a:t>
            </a:r>
          </a:p>
          <a:p>
            <a:r>
              <a:rPr kumimoji="1" lang="ja-JP" altLang="en-US" sz="2400" dirty="0"/>
              <a:t>・</a:t>
            </a:r>
            <a:r>
              <a:rPr kumimoji="1" lang="en-US" altLang="ja-JP" sz="2400" dirty="0"/>
              <a:t>Prefabs</a:t>
            </a:r>
          </a:p>
          <a:p>
            <a:r>
              <a:rPr lang="ja-JP" altLang="en-US" sz="2400" dirty="0"/>
              <a:t>・</a:t>
            </a:r>
            <a:r>
              <a:rPr lang="en-US" altLang="ja-JP" sz="2400" dirty="0"/>
              <a:t>Scripts</a:t>
            </a:r>
            <a:endParaRPr kumimoji="1" lang="en-US" altLang="ja-JP" sz="2400" dirty="0"/>
          </a:p>
        </p:txBody>
      </p:sp>
    </p:spTree>
    <p:extLst>
      <p:ext uri="{BB962C8B-B14F-4D97-AF65-F5344CB8AC3E}">
        <p14:creationId xmlns:p14="http://schemas.microsoft.com/office/powerpoint/2010/main" val="2126347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はじめに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613255" cy="830997"/>
          </a:xfrm>
          <a:prstGeom prst="rect">
            <a:avLst/>
          </a:prstGeom>
          <a:noFill/>
        </p:spPr>
        <p:txBody>
          <a:bodyPr wrap="none" rtlCol="0">
            <a:spAutoFit/>
          </a:bodyPr>
          <a:lstStyle/>
          <a:p>
            <a:r>
              <a:rPr lang="en-US" altLang="ja-JP" sz="2400" dirty="0"/>
              <a:t>Models</a:t>
            </a:r>
            <a:r>
              <a:rPr lang="ja-JP" altLang="en-US" sz="2400" dirty="0"/>
              <a:t>には、ステージに配置するモデルを保存しましょう。</a:t>
            </a:r>
            <a:endParaRPr lang="en-US" altLang="ja-JP" sz="2400" dirty="0"/>
          </a:p>
          <a:p>
            <a:r>
              <a:rPr kumimoji="1" lang="ja-JP" altLang="en-US" sz="2400" dirty="0"/>
              <a:t>見分けがつくのであれば、仮モデルでも大丈夫です。</a:t>
            </a:r>
            <a:endParaRPr kumimoji="1" lang="en-US" altLang="ja-JP" sz="2400" dirty="0"/>
          </a:p>
        </p:txBody>
      </p:sp>
      <p:pic>
        <p:nvPicPr>
          <p:cNvPr id="3" name="図 2">
            <a:extLst>
              <a:ext uri="{FF2B5EF4-FFF2-40B4-BE49-F238E27FC236}">
                <a16:creationId xmlns:a16="http://schemas.microsoft.com/office/drawing/2014/main" id="{103B7D9F-680B-4796-BAB2-2478CA9CDF80}"/>
              </a:ext>
            </a:extLst>
          </p:cNvPr>
          <p:cNvPicPr>
            <a:picLocks noChangeAspect="1"/>
          </p:cNvPicPr>
          <p:nvPr/>
        </p:nvPicPr>
        <p:blipFill>
          <a:blip r:embed="rId2"/>
          <a:stretch>
            <a:fillRect/>
          </a:stretch>
        </p:blipFill>
        <p:spPr>
          <a:xfrm>
            <a:off x="567542" y="2187126"/>
            <a:ext cx="6848553" cy="4052309"/>
          </a:xfrm>
          <a:prstGeom prst="rect">
            <a:avLst/>
          </a:prstGeom>
        </p:spPr>
      </p:pic>
    </p:spTree>
    <p:extLst>
      <p:ext uri="{BB962C8B-B14F-4D97-AF65-F5344CB8AC3E}">
        <p14:creationId xmlns:p14="http://schemas.microsoft.com/office/powerpoint/2010/main" val="1594223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はじめに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410222" cy="1200329"/>
          </a:xfrm>
          <a:prstGeom prst="rect">
            <a:avLst/>
          </a:prstGeom>
          <a:noFill/>
        </p:spPr>
        <p:txBody>
          <a:bodyPr wrap="none" rtlCol="0">
            <a:spAutoFit/>
          </a:bodyPr>
          <a:lstStyle/>
          <a:p>
            <a:r>
              <a:rPr lang="en-US" altLang="ja-JP" sz="2400" dirty="0"/>
              <a:t>Unity</a:t>
            </a:r>
            <a:r>
              <a:rPr lang="ja-JP" altLang="en-US" sz="2400" dirty="0"/>
              <a:t>の仕様で</a:t>
            </a:r>
            <a:r>
              <a:rPr lang="en-US" altLang="ja-JP" sz="2400" dirty="0"/>
              <a:t>Z</a:t>
            </a:r>
            <a:r>
              <a:rPr lang="ja-JP" altLang="en-US" sz="2400" dirty="0"/>
              <a:t>軸に反転した状態で保存されます。</a:t>
            </a:r>
            <a:endParaRPr lang="en-US" altLang="ja-JP" sz="2400" dirty="0"/>
          </a:p>
          <a:p>
            <a:r>
              <a:rPr lang="ja-JP" altLang="en-US" sz="2400" dirty="0"/>
              <a:t>インスペクターから </a:t>
            </a:r>
            <a:r>
              <a:rPr lang="en-US" altLang="ja-JP" sz="2400" b="1" dirty="0">
                <a:solidFill>
                  <a:srgbClr val="FF0000"/>
                </a:solidFill>
              </a:rPr>
              <a:t>Bake Axis Conversion </a:t>
            </a:r>
            <a:r>
              <a:rPr lang="ja-JP" altLang="en-US" sz="2400" b="1" dirty="0">
                <a:solidFill>
                  <a:srgbClr val="FF0000"/>
                </a:solidFill>
              </a:rPr>
              <a:t>を </a:t>
            </a:r>
            <a:r>
              <a:rPr lang="en-US" altLang="ja-JP" sz="2400" b="1" dirty="0">
                <a:solidFill>
                  <a:srgbClr val="FF0000"/>
                </a:solidFill>
              </a:rPr>
              <a:t>ON </a:t>
            </a:r>
            <a:r>
              <a:rPr lang="ja-JP" altLang="en-US" sz="2400" dirty="0"/>
              <a:t>にすると改善します。</a:t>
            </a:r>
            <a:endParaRPr lang="en-US" altLang="ja-JP" sz="2400" dirty="0"/>
          </a:p>
          <a:p>
            <a:r>
              <a:rPr lang="en-US" altLang="ja-JP" sz="2400" dirty="0"/>
              <a:t>ON </a:t>
            </a:r>
            <a:r>
              <a:rPr lang="ja-JP" altLang="en-US" sz="2400" dirty="0"/>
              <a:t>にした後に </a:t>
            </a:r>
            <a:r>
              <a:rPr lang="en-US" altLang="ja-JP" sz="2400" b="1" dirty="0">
                <a:solidFill>
                  <a:srgbClr val="FF0000"/>
                </a:solidFill>
              </a:rPr>
              <a:t>Apply </a:t>
            </a:r>
            <a:r>
              <a:rPr lang="ja-JP" altLang="en-US" sz="2400" dirty="0"/>
              <a:t>を忘れないように押しましょう。</a:t>
            </a:r>
            <a:endParaRPr lang="en-US" altLang="ja-JP" sz="2400" dirty="0"/>
          </a:p>
        </p:txBody>
      </p:sp>
      <p:pic>
        <p:nvPicPr>
          <p:cNvPr id="8" name="図 7">
            <a:extLst>
              <a:ext uri="{FF2B5EF4-FFF2-40B4-BE49-F238E27FC236}">
                <a16:creationId xmlns:a16="http://schemas.microsoft.com/office/drawing/2014/main" id="{9112818B-0E57-42D9-B6ED-B399879254FD}"/>
              </a:ext>
            </a:extLst>
          </p:cNvPr>
          <p:cNvPicPr>
            <a:picLocks noChangeAspect="1"/>
          </p:cNvPicPr>
          <p:nvPr/>
        </p:nvPicPr>
        <p:blipFill>
          <a:blip r:embed="rId2"/>
          <a:stretch>
            <a:fillRect/>
          </a:stretch>
        </p:blipFill>
        <p:spPr>
          <a:xfrm>
            <a:off x="567542" y="2556458"/>
            <a:ext cx="2650787" cy="4054782"/>
          </a:xfrm>
          <a:prstGeom prst="rect">
            <a:avLst/>
          </a:prstGeom>
        </p:spPr>
      </p:pic>
      <p:sp>
        <p:nvSpPr>
          <p:cNvPr id="9" name="正方形/長方形 8">
            <a:extLst>
              <a:ext uri="{FF2B5EF4-FFF2-40B4-BE49-F238E27FC236}">
                <a16:creationId xmlns:a16="http://schemas.microsoft.com/office/drawing/2014/main" id="{B3601215-0674-44CF-968F-5D8ABBB86D52}"/>
              </a:ext>
            </a:extLst>
          </p:cNvPr>
          <p:cNvSpPr/>
          <p:nvPr/>
        </p:nvSpPr>
        <p:spPr>
          <a:xfrm>
            <a:off x="619126" y="3493295"/>
            <a:ext cx="1214438" cy="1190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224B8607-30E1-4708-92A4-82CAD9D638D4}"/>
              </a:ext>
            </a:extLst>
          </p:cNvPr>
          <p:cNvSpPr/>
          <p:nvPr/>
        </p:nvSpPr>
        <p:spPr>
          <a:xfrm>
            <a:off x="2871788" y="6429375"/>
            <a:ext cx="283368" cy="1432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13701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はじめに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748729" cy="830997"/>
          </a:xfrm>
          <a:prstGeom prst="rect">
            <a:avLst/>
          </a:prstGeom>
          <a:noFill/>
        </p:spPr>
        <p:txBody>
          <a:bodyPr wrap="none" rtlCol="0">
            <a:spAutoFit/>
          </a:bodyPr>
          <a:lstStyle/>
          <a:p>
            <a:r>
              <a:rPr lang="en-US" altLang="ja-JP" sz="2400" dirty="0"/>
              <a:t>Prefabs</a:t>
            </a:r>
            <a:r>
              <a:rPr lang="ja-JP" altLang="en-US" sz="2400" dirty="0"/>
              <a:t>には、ステージに配置するオブジェクトをプレハブにまとめて保存します。</a:t>
            </a:r>
            <a:endParaRPr lang="en-US" altLang="ja-JP" sz="2400" dirty="0"/>
          </a:p>
          <a:p>
            <a:r>
              <a:rPr kumimoji="1" lang="ja-JP" altLang="en-US" sz="2400" dirty="0"/>
              <a:t>種類が多いときはフォルダ分けしましょう。</a:t>
            </a:r>
            <a:endParaRPr kumimoji="1" lang="en-US" altLang="ja-JP" sz="2400" dirty="0"/>
          </a:p>
        </p:txBody>
      </p:sp>
      <p:pic>
        <p:nvPicPr>
          <p:cNvPr id="5" name="図 4">
            <a:extLst>
              <a:ext uri="{FF2B5EF4-FFF2-40B4-BE49-F238E27FC236}">
                <a16:creationId xmlns:a16="http://schemas.microsoft.com/office/drawing/2014/main" id="{E1649DB8-9D09-46A4-9309-36B2FA11747F}"/>
              </a:ext>
            </a:extLst>
          </p:cNvPr>
          <p:cNvPicPr>
            <a:picLocks noChangeAspect="1"/>
          </p:cNvPicPr>
          <p:nvPr/>
        </p:nvPicPr>
        <p:blipFill>
          <a:blip r:embed="rId2"/>
          <a:stretch>
            <a:fillRect/>
          </a:stretch>
        </p:blipFill>
        <p:spPr>
          <a:xfrm>
            <a:off x="567541" y="2187126"/>
            <a:ext cx="9860891" cy="3299274"/>
          </a:xfrm>
          <a:prstGeom prst="rect">
            <a:avLst/>
          </a:prstGeom>
        </p:spPr>
      </p:pic>
    </p:spTree>
    <p:extLst>
      <p:ext uri="{BB962C8B-B14F-4D97-AF65-F5344CB8AC3E}">
        <p14:creationId xmlns:p14="http://schemas.microsoft.com/office/powerpoint/2010/main" val="2805435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はじめに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186857" cy="2308324"/>
          </a:xfrm>
          <a:prstGeom prst="rect">
            <a:avLst/>
          </a:prstGeom>
          <a:noFill/>
        </p:spPr>
        <p:txBody>
          <a:bodyPr wrap="none" rtlCol="0">
            <a:spAutoFit/>
          </a:bodyPr>
          <a:lstStyle/>
          <a:p>
            <a:r>
              <a:rPr lang="ja-JP" altLang="en-US" sz="2400" dirty="0"/>
              <a:t>以下のような仕組みを作ります。</a:t>
            </a:r>
            <a:endParaRPr lang="en-US" altLang="ja-JP" sz="2400" dirty="0"/>
          </a:p>
          <a:p>
            <a:endParaRPr kumimoji="1" lang="en-US" altLang="ja-JP" sz="2400" dirty="0"/>
          </a:p>
          <a:p>
            <a:r>
              <a:rPr lang="ja-JP" altLang="en-US" sz="2400" dirty="0"/>
              <a:t>１．プレハブを配置したら自動で配列に登録</a:t>
            </a:r>
            <a:endParaRPr lang="en-US" altLang="ja-JP" sz="2400" dirty="0"/>
          </a:p>
          <a:p>
            <a:r>
              <a:rPr kumimoji="1" lang="ja-JP" altLang="en-US" sz="2400" dirty="0"/>
              <a:t>２．登録された配列をデータで出力</a:t>
            </a:r>
            <a:endParaRPr kumimoji="1" lang="en-US" altLang="ja-JP" sz="2400" dirty="0"/>
          </a:p>
          <a:p>
            <a:endParaRPr lang="en-US" altLang="ja-JP" sz="2400" dirty="0"/>
          </a:p>
          <a:p>
            <a:r>
              <a:rPr kumimoji="1" lang="ja-JP" altLang="en-US" sz="2400" dirty="0"/>
              <a:t>まずは自動登録機能を作って各プレハブに付与します。</a:t>
            </a:r>
            <a:endParaRPr kumimoji="1" lang="en-US" altLang="ja-JP" sz="2400" dirty="0"/>
          </a:p>
        </p:txBody>
      </p:sp>
    </p:spTree>
    <p:extLst>
      <p:ext uri="{BB962C8B-B14F-4D97-AF65-F5344CB8AC3E}">
        <p14:creationId xmlns:p14="http://schemas.microsoft.com/office/powerpoint/2010/main" val="2833394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はじめに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752443" cy="461665"/>
          </a:xfrm>
          <a:prstGeom prst="rect">
            <a:avLst/>
          </a:prstGeom>
          <a:noFill/>
        </p:spPr>
        <p:txBody>
          <a:bodyPr wrap="none" rtlCol="0">
            <a:spAutoFit/>
          </a:bodyPr>
          <a:lstStyle/>
          <a:p>
            <a:r>
              <a:rPr lang="en-US" altLang="ja-JP" sz="2400" dirty="0"/>
              <a:t>Scripts</a:t>
            </a:r>
            <a:r>
              <a:rPr lang="ja-JP" altLang="en-US" sz="2400" dirty="0"/>
              <a:t>フォルダに「</a:t>
            </a:r>
            <a:r>
              <a:rPr lang="en-US" altLang="ja-JP" sz="2400" b="1" dirty="0" err="1">
                <a:solidFill>
                  <a:srgbClr val="FF0000"/>
                </a:solidFill>
              </a:rPr>
              <a:t>StageObject.cs</a:t>
            </a:r>
            <a:r>
              <a:rPr lang="ja-JP" altLang="en-US" sz="2400" dirty="0"/>
              <a:t>」を追加します。</a:t>
            </a:r>
            <a:endParaRPr kumimoji="1" lang="en-US" altLang="ja-JP" sz="2400" dirty="0"/>
          </a:p>
        </p:txBody>
      </p:sp>
      <p:pic>
        <p:nvPicPr>
          <p:cNvPr id="3" name="図 2">
            <a:extLst>
              <a:ext uri="{FF2B5EF4-FFF2-40B4-BE49-F238E27FC236}">
                <a16:creationId xmlns:a16="http://schemas.microsoft.com/office/drawing/2014/main" id="{B9043259-7491-4CC9-B7B7-68689BB693BD}"/>
              </a:ext>
            </a:extLst>
          </p:cNvPr>
          <p:cNvPicPr>
            <a:picLocks noChangeAspect="1"/>
          </p:cNvPicPr>
          <p:nvPr/>
        </p:nvPicPr>
        <p:blipFill>
          <a:blip r:embed="rId2"/>
          <a:stretch>
            <a:fillRect/>
          </a:stretch>
        </p:blipFill>
        <p:spPr>
          <a:xfrm>
            <a:off x="567542" y="1817794"/>
            <a:ext cx="2510506" cy="3121759"/>
          </a:xfrm>
          <a:prstGeom prst="rect">
            <a:avLst/>
          </a:prstGeom>
        </p:spPr>
      </p:pic>
    </p:spTree>
    <p:extLst>
      <p:ext uri="{BB962C8B-B14F-4D97-AF65-F5344CB8AC3E}">
        <p14:creationId xmlns:p14="http://schemas.microsoft.com/office/powerpoint/2010/main" val="1143449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はじめに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840060" cy="461665"/>
          </a:xfrm>
          <a:prstGeom prst="rect">
            <a:avLst/>
          </a:prstGeom>
          <a:noFill/>
        </p:spPr>
        <p:txBody>
          <a:bodyPr wrap="none" rtlCol="0">
            <a:spAutoFit/>
          </a:bodyPr>
          <a:lstStyle/>
          <a:p>
            <a:r>
              <a:rPr lang="en-US" altLang="ja-JP" sz="2400" b="1" dirty="0" err="1">
                <a:solidFill>
                  <a:srgbClr val="FF0000"/>
                </a:solidFill>
              </a:rPr>
              <a:t>StageObject.cs</a:t>
            </a:r>
            <a:r>
              <a:rPr lang="ja-JP" altLang="en-US" sz="2400" dirty="0"/>
              <a:t>を書きます。（その１）</a:t>
            </a:r>
            <a:endParaRPr kumimoji="1" lang="en-US" altLang="ja-JP" sz="2400" dirty="0"/>
          </a:p>
        </p:txBody>
      </p:sp>
      <p:pic>
        <p:nvPicPr>
          <p:cNvPr id="5" name="図 4">
            <a:extLst>
              <a:ext uri="{FF2B5EF4-FFF2-40B4-BE49-F238E27FC236}">
                <a16:creationId xmlns:a16="http://schemas.microsoft.com/office/drawing/2014/main" id="{270D5648-C284-48CD-8353-D4F5C0E38E07}"/>
              </a:ext>
            </a:extLst>
          </p:cNvPr>
          <p:cNvPicPr>
            <a:picLocks noChangeAspect="1"/>
          </p:cNvPicPr>
          <p:nvPr/>
        </p:nvPicPr>
        <p:blipFill>
          <a:blip r:embed="rId2"/>
          <a:stretch>
            <a:fillRect/>
          </a:stretch>
        </p:blipFill>
        <p:spPr>
          <a:xfrm>
            <a:off x="567542" y="1817795"/>
            <a:ext cx="5016559" cy="4548252"/>
          </a:xfrm>
          <a:prstGeom prst="rect">
            <a:avLst/>
          </a:prstGeom>
        </p:spPr>
      </p:pic>
    </p:spTree>
    <p:extLst>
      <p:ext uri="{BB962C8B-B14F-4D97-AF65-F5344CB8AC3E}">
        <p14:creationId xmlns:p14="http://schemas.microsoft.com/office/powerpoint/2010/main" val="719624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はじめに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840060" cy="461665"/>
          </a:xfrm>
          <a:prstGeom prst="rect">
            <a:avLst/>
          </a:prstGeom>
          <a:noFill/>
        </p:spPr>
        <p:txBody>
          <a:bodyPr wrap="none" rtlCol="0">
            <a:spAutoFit/>
          </a:bodyPr>
          <a:lstStyle/>
          <a:p>
            <a:r>
              <a:rPr lang="en-US" altLang="ja-JP" sz="2400" b="1" dirty="0" err="1">
                <a:solidFill>
                  <a:srgbClr val="FF0000"/>
                </a:solidFill>
              </a:rPr>
              <a:t>StageObject.cs</a:t>
            </a:r>
            <a:r>
              <a:rPr lang="ja-JP" altLang="en-US" sz="2400" dirty="0"/>
              <a:t>を書きます。（その２）</a:t>
            </a:r>
            <a:endParaRPr kumimoji="1" lang="en-US" altLang="ja-JP" sz="2400" dirty="0"/>
          </a:p>
        </p:txBody>
      </p:sp>
      <p:pic>
        <p:nvPicPr>
          <p:cNvPr id="3" name="図 2">
            <a:extLst>
              <a:ext uri="{FF2B5EF4-FFF2-40B4-BE49-F238E27FC236}">
                <a16:creationId xmlns:a16="http://schemas.microsoft.com/office/drawing/2014/main" id="{07DF1E93-D965-499E-8D47-552CB503E096}"/>
              </a:ext>
            </a:extLst>
          </p:cNvPr>
          <p:cNvPicPr>
            <a:picLocks noChangeAspect="1"/>
          </p:cNvPicPr>
          <p:nvPr/>
        </p:nvPicPr>
        <p:blipFill>
          <a:blip r:embed="rId2"/>
          <a:stretch>
            <a:fillRect/>
          </a:stretch>
        </p:blipFill>
        <p:spPr>
          <a:xfrm>
            <a:off x="567542" y="1817794"/>
            <a:ext cx="7832387" cy="4581046"/>
          </a:xfrm>
          <a:prstGeom prst="rect">
            <a:avLst/>
          </a:prstGeom>
        </p:spPr>
      </p:pic>
    </p:spTree>
    <p:extLst>
      <p:ext uri="{BB962C8B-B14F-4D97-AF65-F5344CB8AC3E}">
        <p14:creationId xmlns:p14="http://schemas.microsoft.com/office/powerpoint/2010/main" val="3131920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はじめに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009198" cy="830997"/>
          </a:xfrm>
          <a:prstGeom prst="rect">
            <a:avLst/>
          </a:prstGeom>
          <a:noFill/>
        </p:spPr>
        <p:txBody>
          <a:bodyPr wrap="none" rtlCol="0">
            <a:spAutoFit/>
          </a:bodyPr>
          <a:lstStyle/>
          <a:p>
            <a:r>
              <a:rPr kumimoji="1" lang="ja-JP" altLang="en-US" sz="2400" dirty="0"/>
              <a:t>配置するオブジェクトの</a:t>
            </a:r>
            <a:r>
              <a:rPr kumimoji="1" lang="ja-JP" altLang="en-US" sz="2400" b="1" dirty="0">
                <a:solidFill>
                  <a:srgbClr val="FF0000"/>
                </a:solidFill>
              </a:rPr>
              <a:t>種類ごとに</a:t>
            </a:r>
            <a:r>
              <a:rPr kumimoji="1" lang="en-US" altLang="ja-JP" sz="2400" b="1" dirty="0">
                <a:solidFill>
                  <a:srgbClr val="FF0000"/>
                </a:solidFill>
              </a:rPr>
              <a:t>ID</a:t>
            </a:r>
            <a:r>
              <a:rPr kumimoji="1" lang="ja-JP" altLang="en-US" sz="2400" b="1" dirty="0">
                <a:solidFill>
                  <a:srgbClr val="FF0000"/>
                </a:solidFill>
              </a:rPr>
              <a:t>が必要</a:t>
            </a:r>
            <a:r>
              <a:rPr kumimoji="1" lang="ja-JP" altLang="en-US" sz="2400" dirty="0"/>
              <a:t>になります。</a:t>
            </a:r>
            <a:endParaRPr kumimoji="1" lang="en-US" altLang="ja-JP" sz="2400" dirty="0"/>
          </a:p>
          <a:p>
            <a:r>
              <a:rPr lang="ja-JP" altLang="en-US" sz="2400" dirty="0"/>
              <a:t>これがないと、何を配置したか</a:t>
            </a:r>
            <a:r>
              <a:rPr lang="en-US" altLang="ja-JP" sz="2400" dirty="0" err="1"/>
              <a:t>DxLib</a:t>
            </a:r>
            <a:r>
              <a:rPr lang="ja-JP" altLang="en-US" sz="2400" dirty="0"/>
              <a:t>側がわからないからです。</a:t>
            </a:r>
            <a:endParaRPr kumimoji="1" lang="en-US" altLang="ja-JP" sz="2400" dirty="0"/>
          </a:p>
        </p:txBody>
      </p:sp>
      <p:pic>
        <p:nvPicPr>
          <p:cNvPr id="5" name="図 4">
            <a:extLst>
              <a:ext uri="{FF2B5EF4-FFF2-40B4-BE49-F238E27FC236}">
                <a16:creationId xmlns:a16="http://schemas.microsoft.com/office/drawing/2014/main" id="{E597263A-E44F-43E9-9901-BD1392A515A2}"/>
              </a:ext>
            </a:extLst>
          </p:cNvPr>
          <p:cNvPicPr>
            <a:picLocks noChangeAspect="1"/>
          </p:cNvPicPr>
          <p:nvPr/>
        </p:nvPicPr>
        <p:blipFill>
          <a:blip r:embed="rId2"/>
          <a:stretch>
            <a:fillRect/>
          </a:stretch>
        </p:blipFill>
        <p:spPr>
          <a:xfrm>
            <a:off x="567542" y="2187126"/>
            <a:ext cx="3537796" cy="4070239"/>
          </a:xfrm>
          <a:prstGeom prst="rect">
            <a:avLst/>
          </a:prstGeom>
        </p:spPr>
      </p:pic>
    </p:spTree>
    <p:extLst>
      <p:ext uri="{BB962C8B-B14F-4D97-AF65-F5344CB8AC3E}">
        <p14:creationId xmlns:p14="http://schemas.microsoft.com/office/powerpoint/2010/main" val="2485971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はじめに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917826" cy="461665"/>
          </a:xfrm>
          <a:prstGeom prst="rect">
            <a:avLst/>
          </a:prstGeom>
          <a:noFill/>
        </p:spPr>
        <p:txBody>
          <a:bodyPr wrap="none" rtlCol="0">
            <a:spAutoFit/>
          </a:bodyPr>
          <a:lstStyle/>
          <a:p>
            <a:r>
              <a:rPr lang="en-US" altLang="ja-JP" sz="2400" b="1" dirty="0" err="1">
                <a:solidFill>
                  <a:srgbClr val="FF0000"/>
                </a:solidFill>
              </a:rPr>
              <a:t>StageObject.cs</a:t>
            </a:r>
            <a:r>
              <a:rPr lang="ja-JP" altLang="en-US" sz="2400" dirty="0"/>
              <a:t>がついているオブジェクトを自動登録します。</a:t>
            </a:r>
            <a:endParaRPr kumimoji="1" lang="en-US" altLang="ja-JP" sz="2400" dirty="0"/>
          </a:p>
        </p:txBody>
      </p:sp>
      <p:pic>
        <p:nvPicPr>
          <p:cNvPr id="3" name="図 2">
            <a:extLst>
              <a:ext uri="{FF2B5EF4-FFF2-40B4-BE49-F238E27FC236}">
                <a16:creationId xmlns:a16="http://schemas.microsoft.com/office/drawing/2014/main" id="{07DF1E93-D965-499E-8D47-552CB503E096}"/>
              </a:ext>
            </a:extLst>
          </p:cNvPr>
          <p:cNvPicPr>
            <a:picLocks noChangeAspect="1"/>
          </p:cNvPicPr>
          <p:nvPr/>
        </p:nvPicPr>
        <p:blipFill>
          <a:blip r:embed="rId2"/>
          <a:stretch>
            <a:fillRect/>
          </a:stretch>
        </p:blipFill>
        <p:spPr>
          <a:xfrm>
            <a:off x="567542" y="1817794"/>
            <a:ext cx="7832387" cy="4581046"/>
          </a:xfrm>
          <a:prstGeom prst="rect">
            <a:avLst/>
          </a:prstGeom>
        </p:spPr>
      </p:pic>
      <p:sp>
        <p:nvSpPr>
          <p:cNvPr id="5" name="テキスト ボックス 4">
            <a:extLst>
              <a:ext uri="{FF2B5EF4-FFF2-40B4-BE49-F238E27FC236}">
                <a16:creationId xmlns:a16="http://schemas.microsoft.com/office/drawing/2014/main" id="{193FC95C-DAA4-4222-BC39-376947C186DE}"/>
              </a:ext>
            </a:extLst>
          </p:cNvPr>
          <p:cNvSpPr txBox="1"/>
          <p:nvPr/>
        </p:nvSpPr>
        <p:spPr>
          <a:xfrm>
            <a:off x="5157471" y="5567843"/>
            <a:ext cx="6647974" cy="830997"/>
          </a:xfrm>
          <a:prstGeom prst="rect">
            <a:avLst/>
          </a:prstGeom>
          <a:noFill/>
        </p:spPr>
        <p:txBody>
          <a:bodyPr wrap="none" rtlCol="0">
            <a:spAutoFit/>
          </a:bodyPr>
          <a:lstStyle/>
          <a:p>
            <a:r>
              <a:rPr kumimoji="1" lang="en-US" altLang="ja-JP" sz="2400" b="1" dirty="0">
                <a:solidFill>
                  <a:srgbClr val="00B050"/>
                </a:solidFill>
              </a:rPr>
              <a:t>MEMO</a:t>
            </a:r>
          </a:p>
          <a:p>
            <a:r>
              <a:rPr kumimoji="1" lang="ja-JP" altLang="en-US" sz="2400" dirty="0"/>
              <a:t>後でブレークポイントを置いて確認してみよう</a:t>
            </a:r>
            <a:endParaRPr kumimoji="1" lang="en-US" altLang="ja-JP" sz="2400" dirty="0"/>
          </a:p>
        </p:txBody>
      </p:sp>
    </p:spTree>
    <p:extLst>
      <p:ext uri="{BB962C8B-B14F-4D97-AF65-F5344CB8AC3E}">
        <p14:creationId xmlns:p14="http://schemas.microsoft.com/office/powerpoint/2010/main" val="12610681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はじめに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40167" cy="461665"/>
          </a:xfrm>
          <a:prstGeom prst="rect">
            <a:avLst/>
          </a:prstGeom>
          <a:noFill/>
        </p:spPr>
        <p:txBody>
          <a:bodyPr wrap="none" rtlCol="0">
            <a:spAutoFit/>
          </a:bodyPr>
          <a:lstStyle/>
          <a:p>
            <a:r>
              <a:rPr kumimoji="1" lang="ja-JP" altLang="en-US" sz="2400" dirty="0"/>
              <a:t>各プレハブに</a:t>
            </a:r>
            <a:r>
              <a:rPr kumimoji="1" lang="en-US" altLang="ja-JP" sz="2400" b="1" dirty="0" err="1">
                <a:solidFill>
                  <a:srgbClr val="FF0000"/>
                </a:solidFill>
              </a:rPr>
              <a:t>StageObject</a:t>
            </a:r>
            <a:r>
              <a:rPr kumimoji="1" lang="ja-JP" altLang="en-US" sz="2400" dirty="0"/>
              <a:t>を追加して、</a:t>
            </a:r>
            <a:r>
              <a:rPr lang="en-US" altLang="ja-JP" sz="2400" dirty="0"/>
              <a:t>ID</a:t>
            </a:r>
            <a:r>
              <a:rPr lang="ja-JP" altLang="en-US" sz="2400" dirty="0"/>
              <a:t>を設定してあげましょう。</a:t>
            </a:r>
            <a:endParaRPr kumimoji="1" lang="en-US" altLang="ja-JP" sz="2400" dirty="0"/>
          </a:p>
        </p:txBody>
      </p:sp>
      <p:pic>
        <p:nvPicPr>
          <p:cNvPr id="7" name="図 6">
            <a:extLst>
              <a:ext uri="{FF2B5EF4-FFF2-40B4-BE49-F238E27FC236}">
                <a16:creationId xmlns:a16="http://schemas.microsoft.com/office/drawing/2014/main" id="{E44CAA51-2C04-4EB9-8504-1FE3D23603C7}"/>
              </a:ext>
            </a:extLst>
          </p:cNvPr>
          <p:cNvPicPr>
            <a:picLocks noChangeAspect="1"/>
          </p:cNvPicPr>
          <p:nvPr/>
        </p:nvPicPr>
        <p:blipFill>
          <a:blip r:embed="rId2"/>
          <a:stretch>
            <a:fillRect/>
          </a:stretch>
        </p:blipFill>
        <p:spPr>
          <a:xfrm>
            <a:off x="567542" y="1817795"/>
            <a:ext cx="10282212" cy="4548252"/>
          </a:xfrm>
          <a:prstGeom prst="rect">
            <a:avLst/>
          </a:prstGeom>
        </p:spPr>
      </p:pic>
      <p:sp>
        <p:nvSpPr>
          <p:cNvPr id="8" name="矢印: 右 7">
            <a:extLst>
              <a:ext uri="{FF2B5EF4-FFF2-40B4-BE49-F238E27FC236}">
                <a16:creationId xmlns:a16="http://schemas.microsoft.com/office/drawing/2014/main" id="{9BFF1245-B9B7-480F-9C43-5961AB52DC96}"/>
              </a:ext>
            </a:extLst>
          </p:cNvPr>
          <p:cNvSpPr/>
          <p:nvPr/>
        </p:nvSpPr>
        <p:spPr>
          <a:xfrm rot="14099625">
            <a:off x="9930849" y="5683623"/>
            <a:ext cx="493059" cy="313765"/>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8444142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4447151" y="3136613"/>
            <a:ext cx="3297698" cy="584775"/>
          </a:xfrm>
          <a:prstGeom prst="rect">
            <a:avLst/>
          </a:prstGeom>
          <a:noFill/>
        </p:spPr>
        <p:txBody>
          <a:bodyPr wrap="none" rtlCol="0">
            <a:spAutoFit/>
          </a:bodyPr>
          <a:lstStyle/>
          <a:p>
            <a:r>
              <a:rPr kumimoji="1" lang="en-US" altLang="ja-JP" sz="3200" b="1" u="sng" dirty="0"/>
              <a:t>Unity</a:t>
            </a:r>
            <a:r>
              <a:rPr kumimoji="1" lang="ja-JP" altLang="en-US" sz="3200" b="1" u="sng" dirty="0"/>
              <a:t>の機能拡張</a:t>
            </a:r>
            <a:endParaRPr kumimoji="1" lang="en-US" altLang="ja-JP" sz="3200" b="1" u="sng" dirty="0"/>
          </a:p>
        </p:txBody>
      </p:sp>
    </p:spTree>
    <p:extLst>
      <p:ext uri="{BB962C8B-B14F-4D97-AF65-F5344CB8AC3E}">
        <p14:creationId xmlns:p14="http://schemas.microsoft.com/office/powerpoint/2010/main" val="4059549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297698" cy="584775"/>
          </a:xfrm>
          <a:prstGeom prst="rect">
            <a:avLst/>
          </a:prstGeom>
          <a:noFill/>
        </p:spPr>
        <p:txBody>
          <a:bodyPr wrap="none" rtlCol="0">
            <a:spAutoFit/>
          </a:bodyPr>
          <a:lstStyle/>
          <a:p>
            <a:r>
              <a:rPr kumimoji="1" lang="en-US" altLang="ja-JP" sz="3200" b="1" u="sng" dirty="0"/>
              <a:t>Unity</a:t>
            </a:r>
            <a:r>
              <a:rPr kumimoji="1" lang="ja-JP" altLang="en-US" sz="3200" b="1" u="sng" dirty="0"/>
              <a:t>の機能拡張</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676047" cy="830997"/>
          </a:xfrm>
          <a:prstGeom prst="rect">
            <a:avLst/>
          </a:prstGeom>
          <a:noFill/>
        </p:spPr>
        <p:txBody>
          <a:bodyPr wrap="none" rtlCol="0">
            <a:spAutoFit/>
          </a:bodyPr>
          <a:lstStyle/>
          <a:p>
            <a:r>
              <a:rPr lang="en-US" altLang="ja-JP" sz="2400" dirty="0"/>
              <a:t>Unity</a:t>
            </a:r>
            <a:r>
              <a:rPr lang="ja-JP" altLang="en-US" sz="2400" dirty="0"/>
              <a:t>には</a:t>
            </a:r>
            <a:r>
              <a:rPr lang="ja-JP" altLang="en-US" sz="2400" b="1" dirty="0">
                <a:solidFill>
                  <a:srgbClr val="FF0000"/>
                </a:solidFill>
              </a:rPr>
              <a:t>自作の機能を追加</a:t>
            </a:r>
            <a:r>
              <a:rPr lang="ja-JP" altLang="en-US" sz="2400" dirty="0"/>
              <a:t>することができます。</a:t>
            </a:r>
            <a:endParaRPr lang="en-US" altLang="ja-JP" sz="2400" dirty="0"/>
          </a:p>
          <a:p>
            <a:r>
              <a:rPr kumimoji="1" lang="ja-JP" altLang="en-US" sz="2400" dirty="0"/>
              <a:t>今回は、</a:t>
            </a:r>
            <a:r>
              <a:rPr kumimoji="1" lang="en-US" altLang="ja-JP" sz="2400" b="1" dirty="0">
                <a:solidFill>
                  <a:srgbClr val="FF0000"/>
                </a:solidFill>
              </a:rPr>
              <a:t>Scene</a:t>
            </a:r>
            <a:r>
              <a:rPr kumimoji="1" lang="ja-JP" altLang="en-US" sz="2400" b="1" dirty="0">
                <a:solidFill>
                  <a:srgbClr val="FF0000"/>
                </a:solidFill>
              </a:rPr>
              <a:t>に配置したものをデータ出力する機能</a:t>
            </a:r>
            <a:r>
              <a:rPr kumimoji="1" lang="ja-JP" altLang="en-US" sz="2400" dirty="0"/>
              <a:t>を追加します。</a:t>
            </a:r>
            <a:endParaRPr kumimoji="1" lang="en-US" altLang="ja-JP" sz="2400" dirty="0"/>
          </a:p>
        </p:txBody>
      </p:sp>
      <p:pic>
        <p:nvPicPr>
          <p:cNvPr id="5" name="図 4">
            <a:extLst>
              <a:ext uri="{FF2B5EF4-FFF2-40B4-BE49-F238E27FC236}">
                <a16:creationId xmlns:a16="http://schemas.microsoft.com/office/drawing/2014/main" id="{24316E90-CEFA-432F-B1C3-CDB7A497C075}"/>
              </a:ext>
            </a:extLst>
          </p:cNvPr>
          <p:cNvPicPr>
            <a:picLocks noChangeAspect="1"/>
          </p:cNvPicPr>
          <p:nvPr/>
        </p:nvPicPr>
        <p:blipFill>
          <a:blip r:embed="rId2"/>
          <a:stretch>
            <a:fillRect/>
          </a:stretch>
        </p:blipFill>
        <p:spPr>
          <a:xfrm>
            <a:off x="567542" y="2187126"/>
            <a:ext cx="7774736" cy="4178920"/>
          </a:xfrm>
          <a:prstGeom prst="rect">
            <a:avLst/>
          </a:prstGeom>
        </p:spPr>
      </p:pic>
    </p:spTree>
    <p:extLst>
      <p:ext uri="{BB962C8B-B14F-4D97-AF65-F5344CB8AC3E}">
        <p14:creationId xmlns:p14="http://schemas.microsoft.com/office/powerpoint/2010/main" val="576838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297698" cy="584775"/>
          </a:xfrm>
          <a:prstGeom prst="rect">
            <a:avLst/>
          </a:prstGeom>
          <a:noFill/>
        </p:spPr>
        <p:txBody>
          <a:bodyPr wrap="none" rtlCol="0">
            <a:spAutoFit/>
          </a:bodyPr>
          <a:lstStyle/>
          <a:p>
            <a:r>
              <a:rPr kumimoji="1" lang="en-US" altLang="ja-JP" sz="3200" b="1" u="sng" dirty="0"/>
              <a:t>Unity</a:t>
            </a:r>
            <a:r>
              <a:rPr kumimoji="1" lang="ja-JP" altLang="en-US" sz="3200" b="1" u="sng" dirty="0"/>
              <a:t>の機能拡張</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036174" cy="461665"/>
          </a:xfrm>
          <a:prstGeom prst="rect">
            <a:avLst/>
          </a:prstGeom>
          <a:noFill/>
        </p:spPr>
        <p:txBody>
          <a:bodyPr wrap="none" rtlCol="0">
            <a:spAutoFit/>
          </a:bodyPr>
          <a:lstStyle/>
          <a:p>
            <a:r>
              <a:rPr lang="en-US" altLang="ja-JP" sz="2400" dirty="0"/>
              <a:t>Scripts</a:t>
            </a:r>
            <a:r>
              <a:rPr lang="ja-JP" altLang="en-US" sz="2400" dirty="0"/>
              <a:t>フォルダに「</a:t>
            </a:r>
            <a:r>
              <a:rPr lang="en-US" altLang="ja-JP" sz="2400" b="1" dirty="0" err="1">
                <a:solidFill>
                  <a:srgbClr val="FF0000"/>
                </a:solidFill>
              </a:rPr>
              <a:t>StageExproter.cs</a:t>
            </a:r>
            <a:r>
              <a:rPr lang="ja-JP" altLang="en-US" sz="2400" dirty="0"/>
              <a:t>」を追加します。</a:t>
            </a:r>
            <a:endParaRPr kumimoji="1" lang="en-US" altLang="ja-JP" sz="2400" dirty="0"/>
          </a:p>
        </p:txBody>
      </p:sp>
      <p:pic>
        <p:nvPicPr>
          <p:cNvPr id="3" name="図 2">
            <a:extLst>
              <a:ext uri="{FF2B5EF4-FFF2-40B4-BE49-F238E27FC236}">
                <a16:creationId xmlns:a16="http://schemas.microsoft.com/office/drawing/2014/main" id="{E062BF18-BC44-402D-9B79-D60198BFB4D9}"/>
              </a:ext>
            </a:extLst>
          </p:cNvPr>
          <p:cNvPicPr>
            <a:picLocks noChangeAspect="1"/>
          </p:cNvPicPr>
          <p:nvPr/>
        </p:nvPicPr>
        <p:blipFill>
          <a:blip r:embed="rId2"/>
          <a:stretch>
            <a:fillRect/>
          </a:stretch>
        </p:blipFill>
        <p:spPr>
          <a:xfrm>
            <a:off x="567542" y="1817794"/>
            <a:ext cx="1646740" cy="2162385"/>
          </a:xfrm>
          <a:prstGeom prst="rect">
            <a:avLst/>
          </a:prstGeom>
        </p:spPr>
      </p:pic>
    </p:spTree>
    <p:extLst>
      <p:ext uri="{BB962C8B-B14F-4D97-AF65-F5344CB8AC3E}">
        <p14:creationId xmlns:p14="http://schemas.microsoft.com/office/powerpoint/2010/main" val="1759753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297698" cy="584775"/>
          </a:xfrm>
          <a:prstGeom prst="rect">
            <a:avLst/>
          </a:prstGeom>
          <a:noFill/>
        </p:spPr>
        <p:txBody>
          <a:bodyPr wrap="none" rtlCol="0">
            <a:spAutoFit/>
          </a:bodyPr>
          <a:lstStyle/>
          <a:p>
            <a:r>
              <a:rPr kumimoji="1" lang="en-US" altLang="ja-JP" sz="3200" b="1" u="sng" dirty="0"/>
              <a:t>Unity</a:t>
            </a:r>
            <a:r>
              <a:rPr kumimoji="1" lang="ja-JP" altLang="en-US" sz="3200" b="1" u="sng" dirty="0"/>
              <a:t>の機能拡張</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816016" cy="461665"/>
          </a:xfrm>
          <a:prstGeom prst="rect">
            <a:avLst/>
          </a:prstGeom>
          <a:noFill/>
        </p:spPr>
        <p:txBody>
          <a:bodyPr wrap="none" rtlCol="0">
            <a:spAutoFit/>
          </a:bodyPr>
          <a:lstStyle/>
          <a:p>
            <a:r>
              <a:rPr lang="en-US" altLang="ja-JP" sz="2400" b="1" dirty="0" err="1">
                <a:solidFill>
                  <a:srgbClr val="FF0000"/>
                </a:solidFill>
              </a:rPr>
              <a:t>StageExproter.cs</a:t>
            </a:r>
            <a:r>
              <a:rPr lang="ja-JP" altLang="en-US" sz="2400" dirty="0"/>
              <a:t>を書きます（その１）</a:t>
            </a:r>
            <a:endParaRPr kumimoji="1" lang="en-US" altLang="ja-JP" sz="2400" dirty="0"/>
          </a:p>
        </p:txBody>
      </p:sp>
      <p:pic>
        <p:nvPicPr>
          <p:cNvPr id="5" name="図 4">
            <a:extLst>
              <a:ext uri="{FF2B5EF4-FFF2-40B4-BE49-F238E27FC236}">
                <a16:creationId xmlns:a16="http://schemas.microsoft.com/office/drawing/2014/main" id="{9A1B1FB3-FB59-474B-B972-DE2367FB99CC}"/>
              </a:ext>
            </a:extLst>
          </p:cNvPr>
          <p:cNvPicPr>
            <a:picLocks noChangeAspect="1"/>
          </p:cNvPicPr>
          <p:nvPr/>
        </p:nvPicPr>
        <p:blipFill>
          <a:blip r:embed="rId2"/>
          <a:stretch>
            <a:fillRect/>
          </a:stretch>
        </p:blipFill>
        <p:spPr>
          <a:xfrm>
            <a:off x="567542" y="1817794"/>
            <a:ext cx="5645749" cy="4807124"/>
          </a:xfrm>
          <a:prstGeom prst="rect">
            <a:avLst/>
          </a:prstGeom>
        </p:spPr>
      </p:pic>
    </p:spTree>
    <p:extLst>
      <p:ext uri="{BB962C8B-B14F-4D97-AF65-F5344CB8AC3E}">
        <p14:creationId xmlns:p14="http://schemas.microsoft.com/office/powerpoint/2010/main" val="41648123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297698" cy="584775"/>
          </a:xfrm>
          <a:prstGeom prst="rect">
            <a:avLst/>
          </a:prstGeom>
          <a:noFill/>
        </p:spPr>
        <p:txBody>
          <a:bodyPr wrap="none" rtlCol="0">
            <a:spAutoFit/>
          </a:bodyPr>
          <a:lstStyle/>
          <a:p>
            <a:r>
              <a:rPr kumimoji="1" lang="en-US" altLang="ja-JP" sz="3200" b="1" u="sng" dirty="0"/>
              <a:t>Unity</a:t>
            </a:r>
            <a:r>
              <a:rPr kumimoji="1" lang="ja-JP" altLang="en-US" sz="3200" b="1" u="sng" dirty="0"/>
              <a:t>の機能拡張</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816016" cy="461665"/>
          </a:xfrm>
          <a:prstGeom prst="rect">
            <a:avLst/>
          </a:prstGeom>
          <a:noFill/>
        </p:spPr>
        <p:txBody>
          <a:bodyPr wrap="none" rtlCol="0">
            <a:spAutoFit/>
          </a:bodyPr>
          <a:lstStyle/>
          <a:p>
            <a:r>
              <a:rPr lang="en-US" altLang="ja-JP" sz="2400" b="1" dirty="0" err="1">
                <a:solidFill>
                  <a:srgbClr val="FF0000"/>
                </a:solidFill>
              </a:rPr>
              <a:t>StageExproter.cs</a:t>
            </a:r>
            <a:r>
              <a:rPr lang="ja-JP" altLang="en-US" sz="2400" dirty="0"/>
              <a:t>を書きます（その２）</a:t>
            </a:r>
            <a:endParaRPr kumimoji="1" lang="en-US" altLang="ja-JP" sz="2400" dirty="0"/>
          </a:p>
        </p:txBody>
      </p:sp>
      <p:pic>
        <p:nvPicPr>
          <p:cNvPr id="3" name="図 2">
            <a:extLst>
              <a:ext uri="{FF2B5EF4-FFF2-40B4-BE49-F238E27FC236}">
                <a16:creationId xmlns:a16="http://schemas.microsoft.com/office/drawing/2014/main" id="{0BD09154-67C9-4136-80E1-F9DD9D7F751B}"/>
              </a:ext>
            </a:extLst>
          </p:cNvPr>
          <p:cNvPicPr>
            <a:picLocks noChangeAspect="1"/>
          </p:cNvPicPr>
          <p:nvPr/>
        </p:nvPicPr>
        <p:blipFill>
          <a:blip r:embed="rId2"/>
          <a:stretch>
            <a:fillRect/>
          </a:stretch>
        </p:blipFill>
        <p:spPr>
          <a:xfrm>
            <a:off x="567542" y="1817794"/>
            <a:ext cx="6433893" cy="4692957"/>
          </a:xfrm>
          <a:prstGeom prst="rect">
            <a:avLst/>
          </a:prstGeom>
        </p:spPr>
      </p:pic>
    </p:spTree>
    <p:extLst>
      <p:ext uri="{BB962C8B-B14F-4D97-AF65-F5344CB8AC3E}">
        <p14:creationId xmlns:p14="http://schemas.microsoft.com/office/powerpoint/2010/main" val="13638999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297698" cy="584775"/>
          </a:xfrm>
          <a:prstGeom prst="rect">
            <a:avLst/>
          </a:prstGeom>
          <a:noFill/>
        </p:spPr>
        <p:txBody>
          <a:bodyPr wrap="none" rtlCol="0">
            <a:spAutoFit/>
          </a:bodyPr>
          <a:lstStyle/>
          <a:p>
            <a:r>
              <a:rPr kumimoji="1" lang="en-US" altLang="ja-JP" sz="3200" b="1" u="sng" dirty="0"/>
              <a:t>Unity</a:t>
            </a:r>
            <a:r>
              <a:rPr kumimoji="1" lang="ja-JP" altLang="en-US" sz="3200" b="1" u="sng" dirty="0"/>
              <a:t>の機能拡張</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816016" cy="461665"/>
          </a:xfrm>
          <a:prstGeom prst="rect">
            <a:avLst/>
          </a:prstGeom>
          <a:noFill/>
        </p:spPr>
        <p:txBody>
          <a:bodyPr wrap="none" rtlCol="0">
            <a:spAutoFit/>
          </a:bodyPr>
          <a:lstStyle/>
          <a:p>
            <a:r>
              <a:rPr lang="en-US" altLang="ja-JP" sz="2400" b="1" dirty="0" err="1">
                <a:solidFill>
                  <a:srgbClr val="FF0000"/>
                </a:solidFill>
              </a:rPr>
              <a:t>StageExproter.cs</a:t>
            </a:r>
            <a:r>
              <a:rPr lang="ja-JP" altLang="en-US" sz="2400" dirty="0"/>
              <a:t>を書きます（その３）</a:t>
            </a:r>
            <a:endParaRPr kumimoji="1" lang="en-US" altLang="ja-JP" sz="2400" dirty="0"/>
          </a:p>
        </p:txBody>
      </p:sp>
      <p:pic>
        <p:nvPicPr>
          <p:cNvPr id="5" name="図 4">
            <a:extLst>
              <a:ext uri="{FF2B5EF4-FFF2-40B4-BE49-F238E27FC236}">
                <a16:creationId xmlns:a16="http://schemas.microsoft.com/office/drawing/2014/main" id="{9096244D-737C-4D0B-9036-7352585411A1}"/>
              </a:ext>
            </a:extLst>
          </p:cNvPr>
          <p:cNvPicPr>
            <a:picLocks noChangeAspect="1"/>
          </p:cNvPicPr>
          <p:nvPr/>
        </p:nvPicPr>
        <p:blipFill>
          <a:blip r:embed="rId2"/>
          <a:stretch>
            <a:fillRect/>
          </a:stretch>
        </p:blipFill>
        <p:spPr>
          <a:xfrm>
            <a:off x="567542" y="1817794"/>
            <a:ext cx="10421804" cy="2743583"/>
          </a:xfrm>
          <a:prstGeom prst="rect">
            <a:avLst/>
          </a:prstGeom>
        </p:spPr>
      </p:pic>
    </p:spTree>
    <p:extLst>
      <p:ext uri="{BB962C8B-B14F-4D97-AF65-F5344CB8AC3E}">
        <p14:creationId xmlns:p14="http://schemas.microsoft.com/office/powerpoint/2010/main" val="22831379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297698" cy="584775"/>
          </a:xfrm>
          <a:prstGeom prst="rect">
            <a:avLst/>
          </a:prstGeom>
          <a:noFill/>
        </p:spPr>
        <p:txBody>
          <a:bodyPr wrap="none" rtlCol="0">
            <a:spAutoFit/>
          </a:bodyPr>
          <a:lstStyle/>
          <a:p>
            <a:r>
              <a:rPr kumimoji="1" lang="en-US" altLang="ja-JP" sz="3200" b="1" u="sng" dirty="0"/>
              <a:t>Unity</a:t>
            </a:r>
            <a:r>
              <a:rPr kumimoji="1" lang="ja-JP" altLang="en-US" sz="3200" b="1" u="sng" dirty="0"/>
              <a:t>の機能拡張</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594567" cy="830997"/>
          </a:xfrm>
          <a:prstGeom prst="rect">
            <a:avLst/>
          </a:prstGeom>
          <a:noFill/>
        </p:spPr>
        <p:txBody>
          <a:bodyPr wrap="none" rtlCol="0">
            <a:spAutoFit/>
          </a:bodyPr>
          <a:lstStyle/>
          <a:p>
            <a:r>
              <a:rPr kumimoji="1" lang="ja-JP" altLang="en-US" sz="2400" dirty="0"/>
              <a:t>保存して</a:t>
            </a:r>
            <a:r>
              <a:rPr kumimoji="1" lang="en-US" altLang="ja-JP" sz="2400" dirty="0"/>
              <a:t>Unity</a:t>
            </a:r>
            <a:r>
              <a:rPr kumimoji="1" lang="ja-JP" altLang="en-US" sz="2400" dirty="0"/>
              <a:t>エディタに戻ると、「</a:t>
            </a:r>
            <a:r>
              <a:rPr kumimoji="1" lang="en-US" altLang="ja-JP" sz="2400" b="1" dirty="0">
                <a:solidFill>
                  <a:srgbClr val="FF0000"/>
                </a:solidFill>
              </a:rPr>
              <a:t>Tools </a:t>
            </a:r>
            <a:r>
              <a:rPr kumimoji="1" lang="ja-JP" altLang="en-US" sz="2400" b="1" dirty="0">
                <a:solidFill>
                  <a:srgbClr val="FF0000"/>
                </a:solidFill>
              </a:rPr>
              <a:t>＞ </a:t>
            </a:r>
            <a:r>
              <a:rPr kumimoji="1" lang="en-US" altLang="ja-JP" sz="2400" b="1" dirty="0">
                <a:solidFill>
                  <a:srgbClr val="FF0000"/>
                </a:solidFill>
              </a:rPr>
              <a:t>Export Stage JSON</a:t>
            </a:r>
            <a:r>
              <a:rPr lang="ja-JP" altLang="en-US" sz="2400" dirty="0"/>
              <a:t>」という</a:t>
            </a:r>
            <a:endParaRPr lang="en-US" altLang="ja-JP" sz="2400" dirty="0"/>
          </a:p>
          <a:p>
            <a:r>
              <a:rPr kumimoji="1" lang="ja-JP" altLang="en-US" sz="2400" dirty="0"/>
              <a:t>メニューが追加されています。</a:t>
            </a:r>
            <a:endParaRPr kumimoji="1" lang="en-US" altLang="ja-JP" sz="2400" dirty="0"/>
          </a:p>
        </p:txBody>
      </p:sp>
      <p:pic>
        <p:nvPicPr>
          <p:cNvPr id="3" name="図 2">
            <a:extLst>
              <a:ext uri="{FF2B5EF4-FFF2-40B4-BE49-F238E27FC236}">
                <a16:creationId xmlns:a16="http://schemas.microsoft.com/office/drawing/2014/main" id="{7D0BC43B-0903-4444-AED7-86150DFF0129}"/>
              </a:ext>
            </a:extLst>
          </p:cNvPr>
          <p:cNvPicPr>
            <a:picLocks noChangeAspect="1"/>
          </p:cNvPicPr>
          <p:nvPr/>
        </p:nvPicPr>
        <p:blipFill>
          <a:blip r:embed="rId2"/>
          <a:stretch>
            <a:fillRect/>
          </a:stretch>
        </p:blipFill>
        <p:spPr>
          <a:xfrm>
            <a:off x="567542" y="2187126"/>
            <a:ext cx="4891964" cy="4406364"/>
          </a:xfrm>
          <a:prstGeom prst="rect">
            <a:avLst/>
          </a:prstGeom>
        </p:spPr>
      </p:pic>
      <p:sp>
        <p:nvSpPr>
          <p:cNvPr id="7" name="矢印: 右 6">
            <a:extLst>
              <a:ext uri="{FF2B5EF4-FFF2-40B4-BE49-F238E27FC236}">
                <a16:creationId xmlns:a16="http://schemas.microsoft.com/office/drawing/2014/main" id="{1E6000CA-1C5A-4260-B6E1-51230C26B204}"/>
              </a:ext>
            </a:extLst>
          </p:cNvPr>
          <p:cNvSpPr/>
          <p:nvPr/>
        </p:nvSpPr>
        <p:spPr>
          <a:xfrm rot="14099625">
            <a:off x="3888637" y="2671481"/>
            <a:ext cx="493059" cy="313765"/>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8698618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297698" cy="584775"/>
          </a:xfrm>
          <a:prstGeom prst="rect">
            <a:avLst/>
          </a:prstGeom>
          <a:noFill/>
        </p:spPr>
        <p:txBody>
          <a:bodyPr wrap="none" rtlCol="0">
            <a:spAutoFit/>
          </a:bodyPr>
          <a:lstStyle/>
          <a:p>
            <a:r>
              <a:rPr kumimoji="1" lang="en-US" altLang="ja-JP" sz="3200" b="1" u="sng" dirty="0"/>
              <a:t>Unity</a:t>
            </a:r>
            <a:r>
              <a:rPr kumimoji="1" lang="ja-JP" altLang="en-US" sz="3200" b="1" u="sng" dirty="0"/>
              <a:t>の機能拡張</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784777" cy="830997"/>
          </a:xfrm>
          <a:prstGeom prst="rect">
            <a:avLst/>
          </a:prstGeom>
          <a:noFill/>
        </p:spPr>
        <p:txBody>
          <a:bodyPr wrap="none" rtlCol="0">
            <a:spAutoFit/>
          </a:bodyPr>
          <a:lstStyle/>
          <a:p>
            <a:r>
              <a:rPr kumimoji="1" lang="en-US" altLang="ja-JP" sz="2400" b="1" dirty="0">
                <a:solidFill>
                  <a:srgbClr val="FF0000"/>
                </a:solidFill>
              </a:rPr>
              <a:t>Stage01</a:t>
            </a:r>
            <a:r>
              <a:rPr kumimoji="1" lang="ja-JP" altLang="en-US" sz="2400" dirty="0"/>
              <a:t>というシーンを追加して、適当にステージを作り、</a:t>
            </a:r>
            <a:endParaRPr kumimoji="1" lang="en-US" altLang="ja-JP" sz="2400" dirty="0"/>
          </a:p>
          <a:p>
            <a:r>
              <a:rPr lang="en-US" altLang="ja-JP" sz="2400" b="1" dirty="0">
                <a:solidFill>
                  <a:srgbClr val="FF0000"/>
                </a:solidFill>
              </a:rPr>
              <a:t>Export Stage JSON</a:t>
            </a:r>
            <a:r>
              <a:rPr lang="en-US" altLang="ja-JP" sz="2400" dirty="0"/>
              <a:t> </a:t>
            </a:r>
            <a:r>
              <a:rPr lang="ja-JP" altLang="en-US" sz="2400" dirty="0"/>
              <a:t>をクリックしましょう。</a:t>
            </a:r>
            <a:endParaRPr kumimoji="1" lang="en-US" altLang="ja-JP" sz="2400" dirty="0"/>
          </a:p>
        </p:txBody>
      </p:sp>
      <p:pic>
        <p:nvPicPr>
          <p:cNvPr id="8" name="図 7">
            <a:extLst>
              <a:ext uri="{FF2B5EF4-FFF2-40B4-BE49-F238E27FC236}">
                <a16:creationId xmlns:a16="http://schemas.microsoft.com/office/drawing/2014/main" id="{3DB20F7A-5671-4D1F-B4DA-88704C92AACB}"/>
              </a:ext>
            </a:extLst>
          </p:cNvPr>
          <p:cNvPicPr>
            <a:picLocks noChangeAspect="1"/>
          </p:cNvPicPr>
          <p:nvPr/>
        </p:nvPicPr>
        <p:blipFill>
          <a:blip r:embed="rId2"/>
          <a:stretch>
            <a:fillRect/>
          </a:stretch>
        </p:blipFill>
        <p:spPr>
          <a:xfrm>
            <a:off x="567542" y="2187126"/>
            <a:ext cx="7774736" cy="4178920"/>
          </a:xfrm>
          <a:prstGeom prst="rect">
            <a:avLst/>
          </a:prstGeom>
        </p:spPr>
      </p:pic>
    </p:spTree>
    <p:extLst>
      <p:ext uri="{BB962C8B-B14F-4D97-AF65-F5344CB8AC3E}">
        <p14:creationId xmlns:p14="http://schemas.microsoft.com/office/powerpoint/2010/main" val="36245733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297698" cy="584775"/>
          </a:xfrm>
          <a:prstGeom prst="rect">
            <a:avLst/>
          </a:prstGeom>
          <a:noFill/>
        </p:spPr>
        <p:txBody>
          <a:bodyPr wrap="none" rtlCol="0">
            <a:spAutoFit/>
          </a:bodyPr>
          <a:lstStyle/>
          <a:p>
            <a:r>
              <a:rPr kumimoji="1" lang="en-US" altLang="ja-JP" sz="3200" b="1" u="sng" dirty="0"/>
              <a:t>Unity</a:t>
            </a:r>
            <a:r>
              <a:rPr kumimoji="1" lang="ja-JP" altLang="en-US" sz="3200" b="1" u="sng" dirty="0"/>
              <a:t>の機能拡張</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386177" cy="461665"/>
          </a:xfrm>
          <a:prstGeom prst="rect">
            <a:avLst/>
          </a:prstGeom>
          <a:noFill/>
        </p:spPr>
        <p:txBody>
          <a:bodyPr wrap="none" rtlCol="0">
            <a:spAutoFit/>
          </a:bodyPr>
          <a:lstStyle/>
          <a:p>
            <a:r>
              <a:rPr kumimoji="1" lang="ja-JP" altLang="en-US" sz="2400" dirty="0"/>
              <a:t>プロジェクトに</a:t>
            </a:r>
            <a:r>
              <a:rPr kumimoji="1" lang="en-US" altLang="ja-JP" sz="2400" b="1" dirty="0">
                <a:solidFill>
                  <a:srgbClr val="FF0000"/>
                </a:solidFill>
              </a:rPr>
              <a:t>json</a:t>
            </a:r>
            <a:r>
              <a:rPr kumimoji="1" lang="ja-JP" altLang="en-US" sz="2400" b="1" dirty="0">
                <a:solidFill>
                  <a:srgbClr val="FF0000"/>
                </a:solidFill>
              </a:rPr>
              <a:t>フォルダ</a:t>
            </a:r>
            <a:r>
              <a:rPr kumimoji="1" lang="ja-JP" altLang="en-US" sz="2400" dirty="0"/>
              <a:t>が追加され、</a:t>
            </a:r>
            <a:r>
              <a:rPr kumimoji="1" lang="ja-JP" altLang="en-US" sz="2400" b="1" dirty="0">
                <a:solidFill>
                  <a:srgbClr val="FF0000"/>
                </a:solidFill>
              </a:rPr>
              <a:t>シーン名</a:t>
            </a:r>
            <a:r>
              <a:rPr kumimoji="1" lang="en-US" altLang="ja-JP" sz="2400" b="1" dirty="0">
                <a:solidFill>
                  <a:srgbClr val="FF0000"/>
                </a:solidFill>
              </a:rPr>
              <a:t>.json</a:t>
            </a:r>
            <a:r>
              <a:rPr kumimoji="1" lang="ja-JP" altLang="en-US" sz="2400" dirty="0"/>
              <a:t>が追加されます。</a:t>
            </a:r>
            <a:endParaRPr kumimoji="1" lang="en-US" altLang="ja-JP" sz="2400" dirty="0"/>
          </a:p>
        </p:txBody>
      </p:sp>
      <p:pic>
        <p:nvPicPr>
          <p:cNvPr id="3" name="図 2">
            <a:extLst>
              <a:ext uri="{FF2B5EF4-FFF2-40B4-BE49-F238E27FC236}">
                <a16:creationId xmlns:a16="http://schemas.microsoft.com/office/drawing/2014/main" id="{EA297981-BE5A-4BB8-B06A-E2C84FCE4E39}"/>
              </a:ext>
            </a:extLst>
          </p:cNvPr>
          <p:cNvPicPr>
            <a:picLocks noChangeAspect="1"/>
          </p:cNvPicPr>
          <p:nvPr/>
        </p:nvPicPr>
        <p:blipFill>
          <a:blip r:embed="rId2"/>
          <a:stretch>
            <a:fillRect/>
          </a:stretch>
        </p:blipFill>
        <p:spPr>
          <a:xfrm>
            <a:off x="567542" y="1817794"/>
            <a:ext cx="3270604" cy="1947382"/>
          </a:xfrm>
          <a:prstGeom prst="rect">
            <a:avLst/>
          </a:prstGeom>
        </p:spPr>
      </p:pic>
      <p:pic>
        <p:nvPicPr>
          <p:cNvPr id="7" name="図 6">
            <a:extLst>
              <a:ext uri="{FF2B5EF4-FFF2-40B4-BE49-F238E27FC236}">
                <a16:creationId xmlns:a16="http://schemas.microsoft.com/office/drawing/2014/main" id="{A9983464-DFD4-452D-A86E-52BF4D4C9C24}"/>
              </a:ext>
            </a:extLst>
          </p:cNvPr>
          <p:cNvPicPr>
            <a:picLocks noChangeAspect="1"/>
          </p:cNvPicPr>
          <p:nvPr/>
        </p:nvPicPr>
        <p:blipFill>
          <a:blip r:embed="rId3"/>
          <a:stretch>
            <a:fillRect/>
          </a:stretch>
        </p:blipFill>
        <p:spPr>
          <a:xfrm>
            <a:off x="4671835" y="1817794"/>
            <a:ext cx="2543530" cy="1695687"/>
          </a:xfrm>
          <a:prstGeom prst="rect">
            <a:avLst/>
          </a:prstGeom>
        </p:spPr>
      </p:pic>
      <p:sp>
        <p:nvSpPr>
          <p:cNvPr id="9" name="テキスト ボックス 8">
            <a:extLst>
              <a:ext uri="{FF2B5EF4-FFF2-40B4-BE49-F238E27FC236}">
                <a16:creationId xmlns:a16="http://schemas.microsoft.com/office/drawing/2014/main" id="{F5BA5F75-F57F-40C2-AFBA-83A2857BE0E2}"/>
              </a:ext>
            </a:extLst>
          </p:cNvPr>
          <p:cNvSpPr txBox="1"/>
          <p:nvPr/>
        </p:nvSpPr>
        <p:spPr>
          <a:xfrm>
            <a:off x="567541" y="3904876"/>
            <a:ext cx="4185761" cy="461665"/>
          </a:xfrm>
          <a:prstGeom prst="rect">
            <a:avLst/>
          </a:prstGeom>
          <a:noFill/>
        </p:spPr>
        <p:txBody>
          <a:bodyPr wrap="none" rtlCol="0">
            <a:spAutoFit/>
          </a:bodyPr>
          <a:lstStyle/>
          <a:p>
            <a:r>
              <a:rPr kumimoji="1" lang="ja-JP" altLang="en-US" sz="2400" dirty="0"/>
              <a:t>次ページからプログラム解説</a:t>
            </a:r>
            <a:endParaRPr kumimoji="1" lang="en-US" altLang="ja-JP" sz="2400" dirty="0"/>
          </a:p>
        </p:txBody>
      </p:sp>
    </p:spTree>
    <p:extLst>
      <p:ext uri="{BB962C8B-B14F-4D97-AF65-F5344CB8AC3E}">
        <p14:creationId xmlns:p14="http://schemas.microsoft.com/office/powerpoint/2010/main" val="14462986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297698" cy="584775"/>
          </a:xfrm>
          <a:prstGeom prst="rect">
            <a:avLst/>
          </a:prstGeom>
          <a:noFill/>
        </p:spPr>
        <p:txBody>
          <a:bodyPr wrap="none" rtlCol="0">
            <a:spAutoFit/>
          </a:bodyPr>
          <a:lstStyle/>
          <a:p>
            <a:r>
              <a:rPr kumimoji="1" lang="en-US" altLang="ja-JP" sz="3200" b="1" u="sng" dirty="0"/>
              <a:t>Unity</a:t>
            </a:r>
            <a:r>
              <a:rPr kumimoji="1" lang="ja-JP" altLang="en-US" sz="3200" b="1" u="sng" dirty="0"/>
              <a:t>の機能拡張</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830997"/>
          </a:xfrm>
          <a:prstGeom prst="rect">
            <a:avLst/>
          </a:prstGeom>
          <a:noFill/>
        </p:spPr>
        <p:txBody>
          <a:bodyPr wrap="none" rtlCol="0">
            <a:spAutoFit/>
          </a:bodyPr>
          <a:lstStyle/>
          <a:p>
            <a:r>
              <a:rPr kumimoji="1" lang="en-US" altLang="ja-JP" sz="2400" dirty="0"/>
              <a:t>Unity</a:t>
            </a:r>
            <a:r>
              <a:rPr kumimoji="1" lang="ja-JP" altLang="en-US" sz="2400" dirty="0"/>
              <a:t>には、簡単に変数の中身を</a:t>
            </a:r>
            <a:r>
              <a:rPr kumimoji="1" lang="en-US" altLang="ja-JP" sz="2400" dirty="0"/>
              <a:t>json</a:t>
            </a:r>
            <a:r>
              <a:rPr kumimoji="1" lang="ja-JP" altLang="en-US" sz="2400" dirty="0"/>
              <a:t>に出力する機能があります。</a:t>
            </a:r>
            <a:endParaRPr kumimoji="1" lang="en-US" altLang="ja-JP" sz="2400" dirty="0"/>
          </a:p>
          <a:p>
            <a:r>
              <a:rPr lang="ja-JP" altLang="en-US" sz="2400" dirty="0"/>
              <a:t>その機能を使うためには、出力データ形式を決定する</a:t>
            </a:r>
            <a:r>
              <a:rPr lang="ja-JP" altLang="en-US" sz="2400" b="1" dirty="0">
                <a:solidFill>
                  <a:srgbClr val="FF0000"/>
                </a:solidFill>
              </a:rPr>
              <a:t>ラッパー</a:t>
            </a:r>
            <a:r>
              <a:rPr lang="ja-JP" altLang="en-US" sz="2400" dirty="0"/>
              <a:t>が必要です。</a:t>
            </a:r>
            <a:endParaRPr kumimoji="1" lang="en-US" altLang="ja-JP" sz="2400" dirty="0"/>
          </a:p>
        </p:txBody>
      </p:sp>
      <p:pic>
        <p:nvPicPr>
          <p:cNvPr id="5" name="図 4">
            <a:extLst>
              <a:ext uri="{FF2B5EF4-FFF2-40B4-BE49-F238E27FC236}">
                <a16:creationId xmlns:a16="http://schemas.microsoft.com/office/drawing/2014/main" id="{2AB504E7-4F71-4F03-A1A6-F61E9155CF35}"/>
              </a:ext>
            </a:extLst>
          </p:cNvPr>
          <p:cNvPicPr>
            <a:picLocks noChangeAspect="1"/>
          </p:cNvPicPr>
          <p:nvPr/>
        </p:nvPicPr>
        <p:blipFill>
          <a:blip r:embed="rId2"/>
          <a:stretch>
            <a:fillRect/>
          </a:stretch>
        </p:blipFill>
        <p:spPr>
          <a:xfrm>
            <a:off x="567542" y="2187126"/>
            <a:ext cx="7106642" cy="4220164"/>
          </a:xfrm>
          <a:prstGeom prst="rect">
            <a:avLst/>
          </a:prstGeom>
        </p:spPr>
      </p:pic>
    </p:spTree>
    <p:extLst>
      <p:ext uri="{BB962C8B-B14F-4D97-AF65-F5344CB8AC3E}">
        <p14:creationId xmlns:p14="http://schemas.microsoft.com/office/powerpoint/2010/main" val="160818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297698" cy="584775"/>
          </a:xfrm>
          <a:prstGeom prst="rect">
            <a:avLst/>
          </a:prstGeom>
          <a:noFill/>
        </p:spPr>
        <p:txBody>
          <a:bodyPr wrap="none" rtlCol="0">
            <a:spAutoFit/>
          </a:bodyPr>
          <a:lstStyle/>
          <a:p>
            <a:r>
              <a:rPr kumimoji="1" lang="en-US" altLang="ja-JP" sz="3200" b="1" u="sng" dirty="0"/>
              <a:t>Unity</a:t>
            </a:r>
            <a:r>
              <a:rPr kumimoji="1" lang="ja-JP" altLang="en-US" sz="3200" b="1" u="sng" dirty="0"/>
              <a:t>の機能拡張</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830997"/>
          </a:xfrm>
          <a:prstGeom prst="rect">
            <a:avLst/>
          </a:prstGeom>
          <a:noFill/>
        </p:spPr>
        <p:txBody>
          <a:bodyPr wrap="none" rtlCol="0">
            <a:spAutoFit/>
          </a:bodyPr>
          <a:lstStyle/>
          <a:p>
            <a:r>
              <a:rPr kumimoji="1" lang="en-US" altLang="ja-JP" sz="2400" dirty="0" err="1"/>
              <a:t>Linq</a:t>
            </a:r>
            <a:r>
              <a:rPr kumimoji="1" lang="ja-JP" altLang="en-US" sz="2400" dirty="0"/>
              <a:t>の</a:t>
            </a:r>
            <a:r>
              <a:rPr kumimoji="1" lang="ja-JP" altLang="en-US" sz="2400" b="1" dirty="0">
                <a:solidFill>
                  <a:srgbClr val="FF0000"/>
                </a:solidFill>
              </a:rPr>
              <a:t>投影</a:t>
            </a:r>
            <a:r>
              <a:rPr kumimoji="1" lang="ja-JP" altLang="en-US" sz="2400" dirty="0"/>
              <a:t>を使えば、</a:t>
            </a:r>
            <a:r>
              <a:rPr kumimoji="1" lang="ja-JP" altLang="en-US" sz="2400" b="1" dirty="0">
                <a:solidFill>
                  <a:srgbClr val="FF0000"/>
                </a:solidFill>
              </a:rPr>
              <a:t>配列とリスト間の変換</a:t>
            </a:r>
            <a:r>
              <a:rPr kumimoji="1" lang="ja-JP" altLang="en-US" sz="2400" dirty="0"/>
              <a:t>が簡単にできます。</a:t>
            </a:r>
            <a:endParaRPr kumimoji="1" lang="en-US" altLang="ja-JP" sz="2400" dirty="0"/>
          </a:p>
          <a:p>
            <a:r>
              <a:rPr lang="ja-JP" altLang="en-US" sz="2400" dirty="0"/>
              <a:t>以下は配置オブジェクトリストを固定配列に変化しているプログラムです。</a:t>
            </a:r>
            <a:endParaRPr kumimoji="1" lang="en-US" altLang="ja-JP" sz="2400" dirty="0"/>
          </a:p>
        </p:txBody>
      </p:sp>
      <p:pic>
        <p:nvPicPr>
          <p:cNvPr id="3" name="図 2">
            <a:extLst>
              <a:ext uri="{FF2B5EF4-FFF2-40B4-BE49-F238E27FC236}">
                <a16:creationId xmlns:a16="http://schemas.microsoft.com/office/drawing/2014/main" id="{C75DB366-3DF5-4B42-944D-CF7A10A3C0FC}"/>
              </a:ext>
            </a:extLst>
          </p:cNvPr>
          <p:cNvPicPr>
            <a:picLocks noChangeAspect="1"/>
          </p:cNvPicPr>
          <p:nvPr/>
        </p:nvPicPr>
        <p:blipFill>
          <a:blip r:embed="rId2"/>
          <a:stretch>
            <a:fillRect/>
          </a:stretch>
        </p:blipFill>
        <p:spPr>
          <a:xfrm>
            <a:off x="567542" y="2187125"/>
            <a:ext cx="7280336" cy="3454445"/>
          </a:xfrm>
          <a:prstGeom prst="rect">
            <a:avLst/>
          </a:prstGeom>
        </p:spPr>
      </p:pic>
    </p:spTree>
    <p:extLst>
      <p:ext uri="{BB962C8B-B14F-4D97-AF65-F5344CB8AC3E}">
        <p14:creationId xmlns:p14="http://schemas.microsoft.com/office/powerpoint/2010/main" val="422938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297698" cy="584775"/>
          </a:xfrm>
          <a:prstGeom prst="rect">
            <a:avLst/>
          </a:prstGeom>
          <a:noFill/>
        </p:spPr>
        <p:txBody>
          <a:bodyPr wrap="none" rtlCol="0">
            <a:spAutoFit/>
          </a:bodyPr>
          <a:lstStyle/>
          <a:p>
            <a:r>
              <a:rPr kumimoji="1" lang="en-US" altLang="ja-JP" sz="3200" b="1" u="sng" dirty="0"/>
              <a:t>Unity</a:t>
            </a:r>
            <a:r>
              <a:rPr kumimoji="1" lang="ja-JP" altLang="en-US" sz="3200" b="1" u="sng" dirty="0"/>
              <a:t>の機能拡張</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186857" cy="461665"/>
          </a:xfrm>
          <a:prstGeom prst="rect">
            <a:avLst/>
          </a:prstGeom>
          <a:noFill/>
        </p:spPr>
        <p:txBody>
          <a:bodyPr wrap="none" rtlCol="0">
            <a:spAutoFit/>
          </a:bodyPr>
          <a:lstStyle/>
          <a:p>
            <a:r>
              <a:rPr kumimoji="1" lang="ja-JP" altLang="en-US" sz="2400" dirty="0"/>
              <a:t>ラッパー内のデータが揃えば、ラップして出力できます。</a:t>
            </a:r>
            <a:endParaRPr kumimoji="1" lang="en-US" altLang="ja-JP" sz="2400" dirty="0"/>
          </a:p>
        </p:txBody>
      </p:sp>
      <p:pic>
        <p:nvPicPr>
          <p:cNvPr id="5" name="図 4">
            <a:extLst>
              <a:ext uri="{FF2B5EF4-FFF2-40B4-BE49-F238E27FC236}">
                <a16:creationId xmlns:a16="http://schemas.microsoft.com/office/drawing/2014/main" id="{DED4EC62-5D5C-4FB3-85DD-2B27340D1AFA}"/>
              </a:ext>
            </a:extLst>
          </p:cNvPr>
          <p:cNvPicPr>
            <a:picLocks noChangeAspect="1"/>
          </p:cNvPicPr>
          <p:nvPr/>
        </p:nvPicPr>
        <p:blipFill>
          <a:blip r:embed="rId2"/>
          <a:stretch>
            <a:fillRect/>
          </a:stretch>
        </p:blipFill>
        <p:spPr>
          <a:xfrm>
            <a:off x="567542" y="1817793"/>
            <a:ext cx="9908212" cy="1705335"/>
          </a:xfrm>
          <a:prstGeom prst="rect">
            <a:avLst/>
          </a:prstGeom>
        </p:spPr>
      </p:pic>
    </p:spTree>
    <p:extLst>
      <p:ext uri="{BB962C8B-B14F-4D97-AF65-F5344CB8AC3E}">
        <p14:creationId xmlns:p14="http://schemas.microsoft.com/office/powerpoint/2010/main" val="11836307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297698" cy="584775"/>
          </a:xfrm>
          <a:prstGeom prst="rect">
            <a:avLst/>
          </a:prstGeom>
          <a:noFill/>
        </p:spPr>
        <p:txBody>
          <a:bodyPr wrap="none" rtlCol="0">
            <a:spAutoFit/>
          </a:bodyPr>
          <a:lstStyle/>
          <a:p>
            <a:r>
              <a:rPr kumimoji="1" lang="en-US" altLang="ja-JP" sz="3200" b="1" u="sng" dirty="0"/>
              <a:t>Unity</a:t>
            </a:r>
            <a:r>
              <a:rPr kumimoji="1" lang="ja-JP" altLang="en-US" sz="3200" b="1" u="sng" dirty="0"/>
              <a:t>の機能拡張</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990235" cy="830997"/>
          </a:xfrm>
          <a:prstGeom prst="rect">
            <a:avLst/>
          </a:prstGeom>
          <a:noFill/>
        </p:spPr>
        <p:txBody>
          <a:bodyPr wrap="none" rtlCol="0">
            <a:spAutoFit/>
          </a:bodyPr>
          <a:lstStyle/>
          <a:p>
            <a:r>
              <a:rPr kumimoji="1" lang="en-US" altLang="ja-JP" sz="2400" b="1" dirty="0">
                <a:solidFill>
                  <a:srgbClr val="00B050"/>
                </a:solidFill>
              </a:rPr>
              <a:t>Menu Item</a:t>
            </a:r>
            <a:r>
              <a:rPr kumimoji="1" lang="ja-JP" altLang="en-US" sz="2400" dirty="0"/>
              <a:t>属性は、</a:t>
            </a:r>
            <a:r>
              <a:rPr kumimoji="1" lang="en-US" altLang="ja-JP" sz="2400" b="1" dirty="0">
                <a:solidFill>
                  <a:srgbClr val="FF0000"/>
                </a:solidFill>
              </a:rPr>
              <a:t>Unity</a:t>
            </a:r>
            <a:r>
              <a:rPr kumimoji="1" lang="ja-JP" altLang="en-US" sz="2400" b="1" dirty="0">
                <a:solidFill>
                  <a:srgbClr val="FF0000"/>
                </a:solidFill>
              </a:rPr>
              <a:t>のメニュー画面に追加する属性</a:t>
            </a:r>
            <a:r>
              <a:rPr kumimoji="1" lang="ja-JP" altLang="en-US" sz="2400" dirty="0"/>
              <a:t>になります。</a:t>
            </a:r>
            <a:endParaRPr kumimoji="1" lang="en-US" altLang="ja-JP" sz="2400" dirty="0"/>
          </a:p>
          <a:p>
            <a:r>
              <a:rPr kumimoji="1" lang="ja-JP" altLang="en-US" sz="2400" dirty="0"/>
              <a:t>メニューをクリックすると、下の</a:t>
            </a:r>
            <a:r>
              <a:rPr kumimoji="1" lang="ja-JP" altLang="en-US" sz="2400" b="1" dirty="0">
                <a:solidFill>
                  <a:srgbClr val="FF0000"/>
                </a:solidFill>
              </a:rPr>
              <a:t>静的関数</a:t>
            </a:r>
            <a:r>
              <a:rPr kumimoji="1" lang="ja-JP" altLang="en-US" sz="2400" dirty="0"/>
              <a:t>が呼び出されます。</a:t>
            </a:r>
            <a:endParaRPr kumimoji="1" lang="en-US" altLang="ja-JP" sz="2400" dirty="0"/>
          </a:p>
        </p:txBody>
      </p:sp>
      <p:pic>
        <p:nvPicPr>
          <p:cNvPr id="3" name="図 2">
            <a:extLst>
              <a:ext uri="{FF2B5EF4-FFF2-40B4-BE49-F238E27FC236}">
                <a16:creationId xmlns:a16="http://schemas.microsoft.com/office/drawing/2014/main" id="{19C161FC-176C-4B51-B8C0-3FFD3B5EE820}"/>
              </a:ext>
            </a:extLst>
          </p:cNvPr>
          <p:cNvPicPr>
            <a:picLocks noChangeAspect="1"/>
          </p:cNvPicPr>
          <p:nvPr/>
        </p:nvPicPr>
        <p:blipFill>
          <a:blip r:embed="rId2"/>
          <a:stretch>
            <a:fillRect/>
          </a:stretch>
        </p:blipFill>
        <p:spPr>
          <a:xfrm>
            <a:off x="567542" y="2187126"/>
            <a:ext cx="5015010" cy="1846992"/>
          </a:xfrm>
          <a:prstGeom prst="rect">
            <a:avLst/>
          </a:prstGeom>
        </p:spPr>
      </p:pic>
    </p:spTree>
    <p:extLst>
      <p:ext uri="{BB962C8B-B14F-4D97-AF65-F5344CB8AC3E}">
        <p14:creationId xmlns:p14="http://schemas.microsoft.com/office/powerpoint/2010/main" val="35183990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4737295" y="3136613"/>
            <a:ext cx="2717411" cy="584775"/>
          </a:xfrm>
          <a:prstGeom prst="rect">
            <a:avLst/>
          </a:prstGeom>
          <a:noFill/>
        </p:spPr>
        <p:txBody>
          <a:bodyPr wrap="none" rtlCol="0">
            <a:spAutoFit/>
          </a:bodyPr>
          <a:lstStyle/>
          <a:p>
            <a:r>
              <a:rPr kumimoji="1" lang="en-US" altLang="ja-JP" sz="3200" b="1" u="sng" dirty="0"/>
              <a:t>Json</a:t>
            </a:r>
            <a:r>
              <a:rPr kumimoji="1" lang="ja-JP" altLang="en-US" sz="3200" b="1" u="sng" dirty="0"/>
              <a:t>ファイル</a:t>
            </a:r>
            <a:endParaRPr kumimoji="1" lang="en-US" altLang="ja-JP" sz="3200" b="1" u="sng" dirty="0"/>
          </a:p>
        </p:txBody>
      </p:sp>
    </p:spTree>
    <p:extLst>
      <p:ext uri="{BB962C8B-B14F-4D97-AF65-F5344CB8AC3E}">
        <p14:creationId xmlns:p14="http://schemas.microsoft.com/office/powerpoint/2010/main" val="34297742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717411" cy="584775"/>
          </a:xfrm>
          <a:prstGeom prst="rect">
            <a:avLst/>
          </a:prstGeom>
          <a:noFill/>
        </p:spPr>
        <p:txBody>
          <a:bodyPr wrap="none" rtlCol="0">
            <a:spAutoFit/>
          </a:bodyPr>
          <a:lstStyle/>
          <a:p>
            <a:r>
              <a:rPr kumimoji="1" lang="en-US" altLang="ja-JP" sz="3200" b="1" u="sng" dirty="0"/>
              <a:t>Json</a:t>
            </a:r>
            <a:r>
              <a:rPr kumimoji="1" lang="ja-JP" altLang="en-US" sz="3200" b="1" u="sng" dirty="0"/>
              <a:t>ファイル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43373" cy="830997"/>
          </a:xfrm>
          <a:prstGeom prst="rect">
            <a:avLst/>
          </a:prstGeom>
          <a:noFill/>
        </p:spPr>
        <p:txBody>
          <a:bodyPr wrap="none" rtlCol="0">
            <a:spAutoFit/>
          </a:bodyPr>
          <a:lstStyle/>
          <a:p>
            <a:r>
              <a:rPr kumimoji="1" lang="en-US" altLang="ja-JP" sz="2400" b="1" dirty="0">
                <a:solidFill>
                  <a:srgbClr val="FF0000"/>
                </a:solidFill>
              </a:rPr>
              <a:t>json</a:t>
            </a:r>
            <a:r>
              <a:rPr kumimoji="1" lang="ja-JP" altLang="en-US" sz="2400" b="1" dirty="0">
                <a:solidFill>
                  <a:srgbClr val="FF0000"/>
                </a:solidFill>
              </a:rPr>
              <a:t>ファイル</a:t>
            </a:r>
            <a:r>
              <a:rPr kumimoji="1" lang="ja-JP" altLang="en-US" sz="2400" dirty="0"/>
              <a:t>とは、</a:t>
            </a:r>
            <a:r>
              <a:rPr kumimoji="1" lang="ja-JP" altLang="en-US" sz="2400" b="1" dirty="0">
                <a:solidFill>
                  <a:srgbClr val="FF0000"/>
                </a:solidFill>
              </a:rPr>
              <a:t>データをカッコで区切ったファイル</a:t>
            </a:r>
            <a:r>
              <a:rPr kumimoji="1" lang="ja-JP" altLang="en-US" sz="2400" dirty="0"/>
              <a:t>となります。</a:t>
            </a:r>
            <a:endParaRPr kumimoji="1" lang="en-US" altLang="ja-JP" sz="2400" dirty="0"/>
          </a:p>
          <a:p>
            <a:r>
              <a:rPr kumimoji="1" lang="ja-JP" altLang="en-US" sz="2400" dirty="0"/>
              <a:t>プログラム上での扱い方が簡単で、開発現場でもよく使われます。</a:t>
            </a:r>
            <a:endParaRPr kumimoji="1" lang="en-US" altLang="ja-JP" sz="2400" dirty="0"/>
          </a:p>
        </p:txBody>
      </p:sp>
      <p:pic>
        <p:nvPicPr>
          <p:cNvPr id="5" name="図 4">
            <a:extLst>
              <a:ext uri="{FF2B5EF4-FFF2-40B4-BE49-F238E27FC236}">
                <a16:creationId xmlns:a16="http://schemas.microsoft.com/office/drawing/2014/main" id="{1E3BBA96-FF27-4BFA-A11D-BC3AAB3743A6}"/>
              </a:ext>
            </a:extLst>
          </p:cNvPr>
          <p:cNvPicPr>
            <a:picLocks noChangeAspect="1"/>
          </p:cNvPicPr>
          <p:nvPr/>
        </p:nvPicPr>
        <p:blipFill>
          <a:blip r:embed="rId2"/>
          <a:stretch>
            <a:fillRect/>
          </a:stretch>
        </p:blipFill>
        <p:spPr>
          <a:xfrm>
            <a:off x="567542" y="2187126"/>
            <a:ext cx="8280623" cy="4450835"/>
          </a:xfrm>
          <a:prstGeom prst="rect">
            <a:avLst/>
          </a:prstGeom>
        </p:spPr>
      </p:pic>
    </p:spTree>
    <p:extLst>
      <p:ext uri="{BB962C8B-B14F-4D97-AF65-F5344CB8AC3E}">
        <p14:creationId xmlns:p14="http://schemas.microsoft.com/office/powerpoint/2010/main" val="34034747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717411" cy="584775"/>
          </a:xfrm>
          <a:prstGeom prst="rect">
            <a:avLst/>
          </a:prstGeom>
          <a:noFill/>
        </p:spPr>
        <p:txBody>
          <a:bodyPr wrap="none" rtlCol="0">
            <a:spAutoFit/>
          </a:bodyPr>
          <a:lstStyle/>
          <a:p>
            <a:r>
              <a:rPr kumimoji="1" lang="en-US" altLang="ja-JP" sz="3200" b="1" u="sng" dirty="0"/>
              <a:t>Json</a:t>
            </a:r>
            <a:r>
              <a:rPr kumimoji="1" lang="ja-JP" altLang="en-US" sz="3200" b="1" u="sng" dirty="0"/>
              <a:t>ファイル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861447" cy="2308324"/>
          </a:xfrm>
          <a:prstGeom prst="rect">
            <a:avLst/>
          </a:prstGeom>
          <a:noFill/>
        </p:spPr>
        <p:txBody>
          <a:bodyPr wrap="none" rtlCol="0">
            <a:spAutoFit/>
          </a:bodyPr>
          <a:lstStyle/>
          <a:p>
            <a:r>
              <a:rPr lang="en-US" altLang="ja-JP" sz="2400" dirty="0"/>
              <a:t>json</a:t>
            </a:r>
            <a:r>
              <a:rPr lang="ja-JP" altLang="en-US" sz="2400" dirty="0"/>
              <a:t>は普及率も高く、</a:t>
            </a:r>
            <a:r>
              <a:rPr lang="en-US" altLang="ja-JP" sz="2400" dirty="0"/>
              <a:t>C++</a:t>
            </a:r>
            <a:r>
              <a:rPr lang="ja-JP" altLang="en-US" sz="2400" dirty="0"/>
              <a:t>でも簡単に扱えます。</a:t>
            </a:r>
            <a:endParaRPr lang="en-US" altLang="ja-JP" sz="2400" dirty="0"/>
          </a:p>
          <a:p>
            <a:r>
              <a:rPr lang="en-US" altLang="ja-JP" sz="2400" dirty="0"/>
              <a:t>json</a:t>
            </a:r>
            <a:r>
              <a:rPr lang="ja-JP" altLang="en-US" sz="2400" dirty="0"/>
              <a:t>をサポートしたライブラリはいくつかありますが、</a:t>
            </a:r>
            <a:endParaRPr lang="en-US" altLang="ja-JP" sz="2400" dirty="0"/>
          </a:p>
          <a:p>
            <a:r>
              <a:rPr lang="ja-JP" altLang="en-US" sz="2400" dirty="0"/>
              <a:t>今回は「</a:t>
            </a:r>
            <a:r>
              <a:rPr lang="en-US" altLang="ja-JP" sz="2400" b="1" dirty="0" err="1">
                <a:solidFill>
                  <a:srgbClr val="FF0000"/>
                </a:solidFill>
              </a:rPr>
              <a:t>nlohmann</a:t>
            </a:r>
            <a:r>
              <a:rPr lang="en-US" altLang="ja-JP" sz="2400" b="1" dirty="0">
                <a:solidFill>
                  <a:srgbClr val="FF0000"/>
                </a:solidFill>
              </a:rPr>
              <a:t> json</a:t>
            </a:r>
            <a:r>
              <a:rPr lang="ja-JP" altLang="en-US" sz="2400" dirty="0"/>
              <a:t>」を使用します。</a:t>
            </a:r>
            <a:endParaRPr lang="en-US" altLang="ja-JP" sz="2400" dirty="0"/>
          </a:p>
          <a:p>
            <a:endParaRPr lang="en-US" altLang="ja-JP" sz="2400" dirty="0"/>
          </a:p>
          <a:p>
            <a:r>
              <a:rPr lang="ja-JP" altLang="en-US" sz="2400" b="1" dirty="0">
                <a:solidFill>
                  <a:srgbClr val="FF0000"/>
                </a:solidFill>
              </a:rPr>
              <a:t>■</a:t>
            </a:r>
            <a:r>
              <a:rPr lang="en-US" altLang="ja-JP" sz="2400" b="1" dirty="0" err="1">
                <a:solidFill>
                  <a:srgbClr val="FF0000"/>
                </a:solidFill>
              </a:rPr>
              <a:t>nlohmann</a:t>
            </a:r>
            <a:r>
              <a:rPr lang="en-US" altLang="ja-JP" sz="2400" b="1" dirty="0">
                <a:solidFill>
                  <a:srgbClr val="FF0000"/>
                </a:solidFill>
              </a:rPr>
              <a:t> json</a:t>
            </a:r>
            <a:r>
              <a:rPr lang="ja-JP" altLang="en-US" sz="2400" b="1" dirty="0">
                <a:solidFill>
                  <a:srgbClr val="FF0000"/>
                </a:solidFill>
              </a:rPr>
              <a:t>の</a:t>
            </a:r>
            <a:r>
              <a:rPr lang="en-US" altLang="ja-JP" sz="2400" b="1" dirty="0">
                <a:solidFill>
                  <a:srgbClr val="FF0000"/>
                </a:solidFill>
              </a:rPr>
              <a:t>Git Hub</a:t>
            </a:r>
          </a:p>
          <a:p>
            <a:r>
              <a:rPr lang="en-US" altLang="ja-JP" sz="2400" dirty="0">
                <a:hlinkClick r:id="rId2"/>
              </a:rPr>
              <a:t>GitHub - </a:t>
            </a:r>
            <a:r>
              <a:rPr lang="en-US" altLang="ja-JP" sz="2400" dirty="0" err="1">
                <a:hlinkClick r:id="rId2"/>
              </a:rPr>
              <a:t>nlohmann</a:t>
            </a:r>
            <a:r>
              <a:rPr lang="en-US" altLang="ja-JP" sz="2400" dirty="0">
                <a:hlinkClick r:id="rId2"/>
              </a:rPr>
              <a:t>/json: JSON for Modern C++</a:t>
            </a:r>
            <a:endParaRPr lang="en-US" altLang="ja-JP" sz="2400" dirty="0"/>
          </a:p>
        </p:txBody>
      </p:sp>
    </p:spTree>
    <p:extLst>
      <p:ext uri="{BB962C8B-B14F-4D97-AF65-F5344CB8AC3E}">
        <p14:creationId xmlns:p14="http://schemas.microsoft.com/office/powerpoint/2010/main" val="5702185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717411" cy="584775"/>
          </a:xfrm>
          <a:prstGeom prst="rect">
            <a:avLst/>
          </a:prstGeom>
          <a:noFill/>
        </p:spPr>
        <p:txBody>
          <a:bodyPr wrap="none" rtlCol="0">
            <a:spAutoFit/>
          </a:bodyPr>
          <a:lstStyle/>
          <a:p>
            <a:r>
              <a:rPr kumimoji="1" lang="en-US" altLang="ja-JP" sz="3200" b="1" u="sng" dirty="0"/>
              <a:t>Json</a:t>
            </a:r>
            <a:r>
              <a:rPr kumimoji="1" lang="ja-JP" altLang="en-US" sz="3200" b="1" u="sng" dirty="0"/>
              <a:t>ファイル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889246" cy="1200329"/>
          </a:xfrm>
          <a:prstGeom prst="rect">
            <a:avLst/>
          </a:prstGeom>
          <a:noFill/>
        </p:spPr>
        <p:txBody>
          <a:bodyPr wrap="none" rtlCol="0">
            <a:spAutoFit/>
          </a:bodyPr>
          <a:lstStyle/>
          <a:p>
            <a:r>
              <a:rPr lang="ja-JP" altLang="en-US" sz="2400" dirty="0"/>
              <a:t>セットアップは簡単で、</a:t>
            </a:r>
            <a:r>
              <a:rPr lang="en-US" altLang="ja-JP" sz="2400" dirty="0"/>
              <a:t>Git Hub</a:t>
            </a:r>
            <a:r>
              <a:rPr lang="ja-JP" altLang="en-US" sz="2400" dirty="0"/>
              <a:t>からダウンロードしたデータにある、</a:t>
            </a:r>
            <a:endParaRPr lang="en-US" altLang="ja-JP" sz="2400" dirty="0"/>
          </a:p>
          <a:p>
            <a:r>
              <a:rPr lang="ja-JP" altLang="en-US" sz="2400" dirty="0"/>
              <a:t>「</a:t>
            </a:r>
            <a:r>
              <a:rPr lang="en-US" altLang="ja-JP" sz="2400" b="1" dirty="0">
                <a:solidFill>
                  <a:srgbClr val="FF0000"/>
                </a:solidFill>
              </a:rPr>
              <a:t>json.hpp</a:t>
            </a:r>
            <a:r>
              <a:rPr lang="ja-JP" altLang="en-US" sz="2400" dirty="0"/>
              <a:t>」ファイルをプロジェクトに入れるだけです。</a:t>
            </a:r>
            <a:endParaRPr lang="en-US" altLang="ja-JP" sz="2400" dirty="0"/>
          </a:p>
          <a:p>
            <a:r>
              <a:rPr lang="ja-JP" altLang="en-US" sz="2400" dirty="0"/>
              <a:t>プロジェクト設定も何もいりません。</a:t>
            </a:r>
            <a:endParaRPr lang="en-US" altLang="ja-JP" sz="2400" dirty="0"/>
          </a:p>
        </p:txBody>
      </p:sp>
      <p:pic>
        <p:nvPicPr>
          <p:cNvPr id="3" name="図 2">
            <a:extLst>
              <a:ext uri="{FF2B5EF4-FFF2-40B4-BE49-F238E27FC236}">
                <a16:creationId xmlns:a16="http://schemas.microsoft.com/office/drawing/2014/main" id="{91EDCA16-E025-4D20-BD9A-1C87B54670D1}"/>
              </a:ext>
            </a:extLst>
          </p:cNvPr>
          <p:cNvPicPr>
            <a:picLocks noChangeAspect="1"/>
          </p:cNvPicPr>
          <p:nvPr/>
        </p:nvPicPr>
        <p:blipFill>
          <a:blip r:embed="rId2"/>
          <a:stretch>
            <a:fillRect/>
          </a:stretch>
        </p:blipFill>
        <p:spPr>
          <a:xfrm>
            <a:off x="567541" y="2556459"/>
            <a:ext cx="2443071" cy="1255280"/>
          </a:xfrm>
          <a:prstGeom prst="rect">
            <a:avLst/>
          </a:prstGeom>
        </p:spPr>
      </p:pic>
      <p:sp>
        <p:nvSpPr>
          <p:cNvPr id="7" name="テキスト ボックス 6">
            <a:extLst>
              <a:ext uri="{FF2B5EF4-FFF2-40B4-BE49-F238E27FC236}">
                <a16:creationId xmlns:a16="http://schemas.microsoft.com/office/drawing/2014/main" id="{C1803F7E-3C4A-4FB6-9CD7-82CD68E45257}"/>
              </a:ext>
            </a:extLst>
          </p:cNvPr>
          <p:cNvSpPr txBox="1"/>
          <p:nvPr/>
        </p:nvSpPr>
        <p:spPr>
          <a:xfrm>
            <a:off x="567541" y="3954733"/>
            <a:ext cx="6647974" cy="461665"/>
          </a:xfrm>
          <a:prstGeom prst="rect">
            <a:avLst/>
          </a:prstGeom>
          <a:noFill/>
        </p:spPr>
        <p:txBody>
          <a:bodyPr wrap="none" rtlCol="0">
            <a:spAutoFit/>
          </a:bodyPr>
          <a:lstStyle/>
          <a:p>
            <a:r>
              <a:rPr lang="ja-JP" altLang="en-US" sz="2400" dirty="0"/>
              <a:t>今回は配布プロジェクトに既に入れています。</a:t>
            </a:r>
            <a:endParaRPr lang="en-US" altLang="ja-JP" sz="2400" dirty="0"/>
          </a:p>
        </p:txBody>
      </p:sp>
    </p:spTree>
    <p:extLst>
      <p:ext uri="{BB962C8B-B14F-4D97-AF65-F5344CB8AC3E}">
        <p14:creationId xmlns:p14="http://schemas.microsoft.com/office/powerpoint/2010/main" val="3972200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717411" cy="584775"/>
          </a:xfrm>
          <a:prstGeom prst="rect">
            <a:avLst/>
          </a:prstGeom>
          <a:noFill/>
        </p:spPr>
        <p:txBody>
          <a:bodyPr wrap="none" rtlCol="0">
            <a:spAutoFit/>
          </a:bodyPr>
          <a:lstStyle/>
          <a:p>
            <a:r>
              <a:rPr kumimoji="1" lang="en-US" altLang="ja-JP" sz="3200" b="1" u="sng" dirty="0"/>
              <a:t>Json</a:t>
            </a:r>
            <a:r>
              <a:rPr kumimoji="1" lang="ja-JP" altLang="en-US" sz="3200" b="1" u="sng" dirty="0"/>
              <a:t>ファイル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84604" cy="461665"/>
          </a:xfrm>
          <a:prstGeom prst="rect">
            <a:avLst/>
          </a:prstGeom>
          <a:noFill/>
        </p:spPr>
        <p:txBody>
          <a:bodyPr wrap="none" rtlCol="0">
            <a:spAutoFit/>
          </a:bodyPr>
          <a:lstStyle/>
          <a:p>
            <a:r>
              <a:rPr lang="en-US" altLang="ja-JP" sz="2400" b="1" dirty="0" err="1">
                <a:solidFill>
                  <a:srgbClr val="FF0000"/>
                </a:solidFill>
              </a:rPr>
              <a:t>StageParameter.h</a:t>
            </a:r>
            <a:r>
              <a:rPr lang="en-US" altLang="ja-JP" sz="2400" dirty="0"/>
              <a:t> </a:t>
            </a:r>
            <a:r>
              <a:rPr lang="ja-JP" altLang="en-US" sz="2400" dirty="0"/>
              <a:t>を開いて書きます（その１）</a:t>
            </a:r>
            <a:endParaRPr lang="en-US" altLang="ja-JP" sz="2400" dirty="0"/>
          </a:p>
        </p:txBody>
      </p:sp>
      <p:pic>
        <p:nvPicPr>
          <p:cNvPr id="5" name="図 4">
            <a:extLst>
              <a:ext uri="{FF2B5EF4-FFF2-40B4-BE49-F238E27FC236}">
                <a16:creationId xmlns:a16="http://schemas.microsoft.com/office/drawing/2014/main" id="{6A02A5B5-E5B8-4F0E-9C70-C567F339022D}"/>
              </a:ext>
            </a:extLst>
          </p:cNvPr>
          <p:cNvPicPr>
            <a:picLocks noChangeAspect="1"/>
          </p:cNvPicPr>
          <p:nvPr/>
        </p:nvPicPr>
        <p:blipFill>
          <a:blip r:embed="rId2"/>
          <a:stretch>
            <a:fillRect/>
          </a:stretch>
        </p:blipFill>
        <p:spPr>
          <a:xfrm>
            <a:off x="567542" y="1817793"/>
            <a:ext cx="5902120" cy="4287171"/>
          </a:xfrm>
          <a:prstGeom prst="rect">
            <a:avLst/>
          </a:prstGeom>
        </p:spPr>
      </p:pic>
    </p:spTree>
    <p:extLst>
      <p:ext uri="{BB962C8B-B14F-4D97-AF65-F5344CB8AC3E}">
        <p14:creationId xmlns:p14="http://schemas.microsoft.com/office/powerpoint/2010/main" val="38375529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717411" cy="584775"/>
          </a:xfrm>
          <a:prstGeom prst="rect">
            <a:avLst/>
          </a:prstGeom>
          <a:noFill/>
        </p:spPr>
        <p:txBody>
          <a:bodyPr wrap="none" rtlCol="0">
            <a:spAutoFit/>
          </a:bodyPr>
          <a:lstStyle/>
          <a:p>
            <a:r>
              <a:rPr kumimoji="1" lang="en-US" altLang="ja-JP" sz="3200" b="1" u="sng" dirty="0"/>
              <a:t>Json</a:t>
            </a:r>
            <a:r>
              <a:rPr kumimoji="1" lang="ja-JP" altLang="en-US" sz="3200" b="1" u="sng" dirty="0"/>
              <a:t>ファイル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84604" cy="461665"/>
          </a:xfrm>
          <a:prstGeom prst="rect">
            <a:avLst/>
          </a:prstGeom>
          <a:noFill/>
        </p:spPr>
        <p:txBody>
          <a:bodyPr wrap="none" rtlCol="0">
            <a:spAutoFit/>
          </a:bodyPr>
          <a:lstStyle/>
          <a:p>
            <a:r>
              <a:rPr lang="en-US" altLang="ja-JP" sz="2400" b="1" dirty="0" err="1">
                <a:solidFill>
                  <a:srgbClr val="FF0000"/>
                </a:solidFill>
              </a:rPr>
              <a:t>StageParameter.h</a:t>
            </a:r>
            <a:r>
              <a:rPr lang="en-US" altLang="ja-JP" sz="2400" dirty="0"/>
              <a:t> </a:t>
            </a:r>
            <a:r>
              <a:rPr lang="ja-JP" altLang="en-US" sz="2400" dirty="0"/>
              <a:t>を開いて書きます（その２）</a:t>
            </a:r>
            <a:endParaRPr lang="en-US" altLang="ja-JP" sz="2400" dirty="0"/>
          </a:p>
        </p:txBody>
      </p:sp>
      <p:pic>
        <p:nvPicPr>
          <p:cNvPr id="3" name="図 2">
            <a:extLst>
              <a:ext uri="{FF2B5EF4-FFF2-40B4-BE49-F238E27FC236}">
                <a16:creationId xmlns:a16="http://schemas.microsoft.com/office/drawing/2014/main" id="{C93C0DC6-D279-4243-BECB-622A5064BFC7}"/>
              </a:ext>
            </a:extLst>
          </p:cNvPr>
          <p:cNvPicPr>
            <a:picLocks noChangeAspect="1"/>
          </p:cNvPicPr>
          <p:nvPr/>
        </p:nvPicPr>
        <p:blipFill>
          <a:blip r:embed="rId2"/>
          <a:stretch>
            <a:fillRect/>
          </a:stretch>
        </p:blipFill>
        <p:spPr>
          <a:xfrm>
            <a:off x="567542" y="1822276"/>
            <a:ext cx="6163306" cy="4345442"/>
          </a:xfrm>
          <a:prstGeom prst="rect">
            <a:avLst/>
          </a:prstGeom>
        </p:spPr>
      </p:pic>
    </p:spTree>
    <p:extLst>
      <p:ext uri="{BB962C8B-B14F-4D97-AF65-F5344CB8AC3E}">
        <p14:creationId xmlns:p14="http://schemas.microsoft.com/office/powerpoint/2010/main" val="36026845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717411" cy="584775"/>
          </a:xfrm>
          <a:prstGeom prst="rect">
            <a:avLst/>
          </a:prstGeom>
          <a:noFill/>
        </p:spPr>
        <p:txBody>
          <a:bodyPr wrap="none" rtlCol="0">
            <a:spAutoFit/>
          </a:bodyPr>
          <a:lstStyle/>
          <a:p>
            <a:r>
              <a:rPr kumimoji="1" lang="en-US" altLang="ja-JP" sz="3200" b="1" u="sng" dirty="0"/>
              <a:t>Json</a:t>
            </a:r>
            <a:r>
              <a:rPr kumimoji="1" lang="ja-JP" altLang="en-US" sz="3200" b="1" u="sng" dirty="0"/>
              <a:t>ファイル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84604" cy="461665"/>
          </a:xfrm>
          <a:prstGeom prst="rect">
            <a:avLst/>
          </a:prstGeom>
          <a:noFill/>
        </p:spPr>
        <p:txBody>
          <a:bodyPr wrap="none" rtlCol="0">
            <a:spAutoFit/>
          </a:bodyPr>
          <a:lstStyle/>
          <a:p>
            <a:r>
              <a:rPr lang="en-US" altLang="ja-JP" sz="2400" b="1" dirty="0" err="1">
                <a:solidFill>
                  <a:srgbClr val="FF0000"/>
                </a:solidFill>
              </a:rPr>
              <a:t>StageParameter.h</a:t>
            </a:r>
            <a:r>
              <a:rPr lang="en-US" altLang="ja-JP" sz="2400" dirty="0"/>
              <a:t> </a:t>
            </a:r>
            <a:r>
              <a:rPr lang="ja-JP" altLang="en-US" sz="2400" dirty="0"/>
              <a:t>を開いて書きます（その３）</a:t>
            </a:r>
            <a:endParaRPr lang="en-US" altLang="ja-JP" sz="2400" dirty="0"/>
          </a:p>
        </p:txBody>
      </p:sp>
      <p:pic>
        <p:nvPicPr>
          <p:cNvPr id="5" name="図 4">
            <a:extLst>
              <a:ext uri="{FF2B5EF4-FFF2-40B4-BE49-F238E27FC236}">
                <a16:creationId xmlns:a16="http://schemas.microsoft.com/office/drawing/2014/main" id="{EF02B7CA-8201-4475-AB50-2A85C01F5414}"/>
              </a:ext>
            </a:extLst>
          </p:cNvPr>
          <p:cNvPicPr>
            <a:picLocks noChangeAspect="1"/>
          </p:cNvPicPr>
          <p:nvPr/>
        </p:nvPicPr>
        <p:blipFill>
          <a:blip r:embed="rId2"/>
          <a:stretch>
            <a:fillRect/>
          </a:stretch>
        </p:blipFill>
        <p:spPr>
          <a:xfrm>
            <a:off x="567542" y="1817794"/>
            <a:ext cx="8268854" cy="4020111"/>
          </a:xfrm>
          <a:prstGeom prst="rect">
            <a:avLst/>
          </a:prstGeom>
        </p:spPr>
      </p:pic>
    </p:spTree>
    <p:extLst>
      <p:ext uri="{BB962C8B-B14F-4D97-AF65-F5344CB8AC3E}">
        <p14:creationId xmlns:p14="http://schemas.microsoft.com/office/powerpoint/2010/main" val="8850558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717411" cy="584775"/>
          </a:xfrm>
          <a:prstGeom prst="rect">
            <a:avLst/>
          </a:prstGeom>
          <a:noFill/>
        </p:spPr>
        <p:txBody>
          <a:bodyPr wrap="none" rtlCol="0">
            <a:spAutoFit/>
          </a:bodyPr>
          <a:lstStyle/>
          <a:p>
            <a:r>
              <a:rPr kumimoji="1" lang="en-US" altLang="ja-JP" sz="3200" b="1" u="sng" dirty="0"/>
              <a:t>Json</a:t>
            </a:r>
            <a:r>
              <a:rPr kumimoji="1" lang="ja-JP" altLang="en-US" sz="3200" b="1" u="sng" dirty="0"/>
              <a:t>ファイル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631396" cy="461665"/>
          </a:xfrm>
          <a:prstGeom prst="rect">
            <a:avLst/>
          </a:prstGeom>
          <a:noFill/>
        </p:spPr>
        <p:txBody>
          <a:bodyPr wrap="none" rtlCol="0">
            <a:spAutoFit/>
          </a:bodyPr>
          <a:lstStyle/>
          <a:p>
            <a:r>
              <a:rPr lang="en-US" altLang="ja-JP" sz="2400" b="1" dirty="0">
                <a:solidFill>
                  <a:srgbClr val="FF0000"/>
                </a:solidFill>
              </a:rPr>
              <a:t>StageManager.cpp</a:t>
            </a:r>
            <a:r>
              <a:rPr lang="en-US" altLang="ja-JP" sz="2400" dirty="0"/>
              <a:t> </a:t>
            </a:r>
            <a:r>
              <a:rPr lang="ja-JP" altLang="en-US" sz="2400" dirty="0"/>
              <a:t>を書きます</a:t>
            </a:r>
            <a:endParaRPr lang="en-US" altLang="ja-JP" sz="2400" dirty="0"/>
          </a:p>
        </p:txBody>
      </p:sp>
      <p:pic>
        <p:nvPicPr>
          <p:cNvPr id="3" name="図 2">
            <a:extLst>
              <a:ext uri="{FF2B5EF4-FFF2-40B4-BE49-F238E27FC236}">
                <a16:creationId xmlns:a16="http://schemas.microsoft.com/office/drawing/2014/main" id="{AA3A67F9-659F-4719-80D4-72440EF4D4F1}"/>
              </a:ext>
            </a:extLst>
          </p:cNvPr>
          <p:cNvPicPr>
            <a:picLocks noChangeAspect="1"/>
          </p:cNvPicPr>
          <p:nvPr/>
        </p:nvPicPr>
        <p:blipFill>
          <a:blip r:embed="rId2"/>
          <a:stretch>
            <a:fillRect/>
          </a:stretch>
        </p:blipFill>
        <p:spPr>
          <a:xfrm>
            <a:off x="567542" y="1817794"/>
            <a:ext cx="7167362" cy="1938418"/>
          </a:xfrm>
          <a:prstGeom prst="rect">
            <a:avLst/>
          </a:prstGeom>
        </p:spPr>
      </p:pic>
    </p:spTree>
    <p:extLst>
      <p:ext uri="{BB962C8B-B14F-4D97-AF65-F5344CB8AC3E}">
        <p14:creationId xmlns:p14="http://schemas.microsoft.com/office/powerpoint/2010/main" val="26385347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717411" cy="584775"/>
          </a:xfrm>
          <a:prstGeom prst="rect">
            <a:avLst/>
          </a:prstGeom>
          <a:noFill/>
        </p:spPr>
        <p:txBody>
          <a:bodyPr wrap="none" rtlCol="0">
            <a:spAutoFit/>
          </a:bodyPr>
          <a:lstStyle/>
          <a:p>
            <a:r>
              <a:rPr kumimoji="1" lang="en-US" altLang="ja-JP" sz="3200" b="1" u="sng" dirty="0"/>
              <a:t>Json</a:t>
            </a:r>
            <a:r>
              <a:rPr kumimoji="1" lang="ja-JP" altLang="en-US" sz="3200" b="1" u="sng" dirty="0"/>
              <a:t>ファイル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707559" cy="461665"/>
          </a:xfrm>
          <a:prstGeom prst="rect">
            <a:avLst/>
          </a:prstGeom>
          <a:noFill/>
        </p:spPr>
        <p:txBody>
          <a:bodyPr wrap="none" rtlCol="0">
            <a:spAutoFit/>
          </a:bodyPr>
          <a:lstStyle/>
          <a:p>
            <a:r>
              <a:rPr lang="en-US" altLang="ja-JP" sz="2400" b="1" dirty="0" err="1">
                <a:solidFill>
                  <a:srgbClr val="00B050"/>
                </a:solidFill>
              </a:rPr>
              <a:t>StageManager</a:t>
            </a:r>
            <a:r>
              <a:rPr lang="en-US" altLang="ja-JP" sz="2400" b="1" dirty="0">
                <a:solidFill>
                  <a:srgbClr val="FF0000"/>
                </a:solidFill>
              </a:rPr>
              <a:t> </a:t>
            </a:r>
            <a:r>
              <a:rPr lang="ja-JP" altLang="en-US" sz="2400" dirty="0"/>
              <a:t>の</a:t>
            </a:r>
            <a:r>
              <a:rPr lang="ja-JP" altLang="en-US" sz="2400" b="1" dirty="0">
                <a:solidFill>
                  <a:srgbClr val="0070C0"/>
                </a:solidFill>
              </a:rPr>
              <a:t>ロード関数</a:t>
            </a:r>
            <a:r>
              <a:rPr lang="ja-JP" altLang="en-US" sz="2400" dirty="0"/>
              <a:t>で</a:t>
            </a:r>
            <a:r>
              <a:rPr lang="en-US" altLang="ja-JP" sz="2400" dirty="0"/>
              <a:t>json</a:t>
            </a:r>
            <a:r>
              <a:rPr lang="ja-JP" altLang="en-US" sz="2400" dirty="0"/>
              <a:t>を読み込みます。</a:t>
            </a:r>
            <a:endParaRPr lang="en-US" altLang="ja-JP" sz="2400" dirty="0"/>
          </a:p>
        </p:txBody>
      </p:sp>
      <p:pic>
        <p:nvPicPr>
          <p:cNvPr id="5" name="図 4">
            <a:extLst>
              <a:ext uri="{FF2B5EF4-FFF2-40B4-BE49-F238E27FC236}">
                <a16:creationId xmlns:a16="http://schemas.microsoft.com/office/drawing/2014/main" id="{3C39A79E-4911-47D5-9984-826114B7DD03}"/>
              </a:ext>
            </a:extLst>
          </p:cNvPr>
          <p:cNvPicPr>
            <a:picLocks noChangeAspect="1"/>
          </p:cNvPicPr>
          <p:nvPr/>
        </p:nvPicPr>
        <p:blipFill>
          <a:blip r:embed="rId2"/>
          <a:stretch>
            <a:fillRect/>
          </a:stretch>
        </p:blipFill>
        <p:spPr>
          <a:xfrm>
            <a:off x="567542" y="1817794"/>
            <a:ext cx="8597798" cy="4233382"/>
          </a:xfrm>
          <a:prstGeom prst="rect">
            <a:avLst/>
          </a:prstGeom>
        </p:spPr>
      </p:pic>
      <p:sp>
        <p:nvSpPr>
          <p:cNvPr id="7" name="テキスト ボックス 6">
            <a:extLst>
              <a:ext uri="{FF2B5EF4-FFF2-40B4-BE49-F238E27FC236}">
                <a16:creationId xmlns:a16="http://schemas.microsoft.com/office/drawing/2014/main" id="{01E2A777-23C7-439E-BE47-7DA54489466A}"/>
              </a:ext>
            </a:extLst>
          </p:cNvPr>
          <p:cNvSpPr txBox="1"/>
          <p:nvPr/>
        </p:nvSpPr>
        <p:spPr>
          <a:xfrm>
            <a:off x="567541" y="6190876"/>
            <a:ext cx="4185761" cy="461665"/>
          </a:xfrm>
          <a:prstGeom prst="rect">
            <a:avLst/>
          </a:prstGeom>
          <a:noFill/>
        </p:spPr>
        <p:txBody>
          <a:bodyPr wrap="none" rtlCol="0">
            <a:spAutoFit/>
          </a:bodyPr>
          <a:lstStyle/>
          <a:p>
            <a:r>
              <a:rPr lang="ja-JP" altLang="en-US" sz="2400" dirty="0"/>
              <a:t>次ページからプログラム解説</a:t>
            </a:r>
            <a:endParaRPr lang="en-US" altLang="ja-JP" sz="2400" dirty="0"/>
          </a:p>
        </p:txBody>
      </p:sp>
    </p:spTree>
    <p:extLst>
      <p:ext uri="{BB962C8B-B14F-4D97-AF65-F5344CB8AC3E}">
        <p14:creationId xmlns:p14="http://schemas.microsoft.com/office/powerpoint/2010/main" val="8445905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717411" cy="584775"/>
          </a:xfrm>
          <a:prstGeom prst="rect">
            <a:avLst/>
          </a:prstGeom>
          <a:noFill/>
        </p:spPr>
        <p:txBody>
          <a:bodyPr wrap="none" rtlCol="0">
            <a:spAutoFit/>
          </a:bodyPr>
          <a:lstStyle/>
          <a:p>
            <a:r>
              <a:rPr kumimoji="1" lang="en-US" altLang="ja-JP" sz="3200" b="1" u="sng" dirty="0"/>
              <a:t>Json</a:t>
            </a:r>
            <a:r>
              <a:rPr kumimoji="1" lang="ja-JP" altLang="en-US" sz="3200" b="1" u="sng" dirty="0"/>
              <a:t>ファイル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960052" cy="1200329"/>
          </a:xfrm>
          <a:prstGeom prst="rect">
            <a:avLst/>
          </a:prstGeom>
          <a:noFill/>
        </p:spPr>
        <p:txBody>
          <a:bodyPr wrap="none" rtlCol="0">
            <a:spAutoFit/>
          </a:bodyPr>
          <a:lstStyle/>
          <a:p>
            <a:r>
              <a:rPr lang="en-US" altLang="ja-JP" sz="2400" dirty="0"/>
              <a:t>json</a:t>
            </a:r>
            <a:r>
              <a:rPr lang="ja-JP" altLang="en-US" sz="2400" dirty="0"/>
              <a:t>→</a:t>
            </a:r>
            <a:r>
              <a:rPr lang="en-US" altLang="ja-JP" sz="2400" dirty="0"/>
              <a:t>C++</a:t>
            </a:r>
            <a:r>
              <a:rPr lang="ja-JP" altLang="en-US" sz="2400" dirty="0"/>
              <a:t>にデータを格納するには、</a:t>
            </a:r>
            <a:r>
              <a:rPr lang="en-US" altLang="ja-JP" sz="2400" b="1" dirty="0" err="1">
                <a:solidFill>
                  <a:srgbClr val="0070C0"/>
                </a:solidFill>
              </a:rPr>
              <a:t>from_json</a:t>
            </a:r>
            <a:r>
              <a:rPr lang="ja-JP" altLang="en-US" sz="2400" b="1" dirty="0">
                <a:solidFill>
                  <a:srgbClr val="0070C0"/>
                </a:solidFill>
              </a:rPr>
              <a:t>関数</a:t>
            </a:r>
            <a:r>
              <a:rPr lang="ja-JP" altLang="en-US" sz="2400" dirty="0"/>
              <a:t>を作る必要があります。</a:t>
            </a:r>
            <a:endParaRPr lang="en-US" altLang="ja-JP" sz="2400" dirty="0"/>
          </a:p>
          <a:p>
            <a:r>
              <a:rPr lang="ja-JP" altLang="en-US" sz="2400" dirty="0"/>
              <a:t>また</a:t>
            </a:r>
            <a:r>
              <a:rPr lang="en-US" altLang="ja-JP" sz="2400" b="1" dirty="0">
                <a:solidFill>
                  <a:srgbClr val="00B050"/>
                </a:solidFill>
              </a:rPr>
              <a:t>VECTOR</a:t>
            </a:r>
            <a:r>
              <a:rPr lang="ja-JP" altLang="en-US" sz="2400" dirty="0"/>
              <a:t>など、構造体に格納する場合は、</a:t>
            </a:r>
            <a:endParaRPr lang="en-US" altLang="ja-JP" sz="2400" dirty="0"/>
          </a:p>
          <a:p>
            <a:r>
              <a:rPr lang="en-US" altLang="ja-JP" sz="2400" dirty="0"/>
              <a:t>json</a:t>
            </a:r>
            <a:r>
              <a:rPr lang="ja-JP" altLang="en-US" sz="2400" dirty="0"/>
              <a:t>→構造体に変換する関数も必要です。</a:t>
            </a:r>
            <a:endParaRPr lang="en-US" altLang="ja-JP" sz="2400" dirty="0"/>
          </a:p>
        </p:txBody>
      </p:sp>
      <p:pic>
        <p:nvPicPr>
          <p:cNvPr id="3" name="図 2">
            <a:extLst>
              <a:ext uri="{FF2B5EF4-FFF2-40B4-BE49-F238E27FC236}">
                <a16:creationId xmlns:a16="http://schemas.microsoft.com/office/drawing/2014/main" id="{865F01AC-FF62-4C60-95A2-67C01B58E5CF}"/>
              </a:ext>
            </a:extLst>
          </p:cNvPr>
          <p:cNvPicPr>
            <a:picLocks noChangeAspect="1"/>
          </p:cNvPicPr>
          <p:nvPr/>
        </p:nvPicPr>
        <p:blipFill>
          <a:blip r:embed="rId2"/>
          <a:stretch>
            <a:fillRect/>
          </a:stretch>
        </p:blipFill>
        <p:spPr>
          <a:xfrm>
            <a:off x="567542" y="2556458"/>
            <a:ext cx="8221222" cy="4029637"/>
          </a:xfrm>
          <a:prstGeom prst="rect">
            <a:avLst/>
          </a:prstGeom>
        </p:spPr>
      </p:pic>
      <p:sp>
        <p:nvSpPr>
          <p:cNvPr id="8" name="テキスト ボックス 7">
            <a:extLst>
              <a:ext uri="{FF2B5EF4-FFF2-40B4-BE49-F238E27FC236}">
                <a16:creationId xmlns:a16="http://schemas.microsoft.com/office/drawing/2014/main" id="{4F999B77-C3B0-433F-A4DF-6E147C396BA3}"/>
              </a:ext>
            </a:extLst>
          </p:cNvPr>
          <p:cNvSpPr txBox="1"/>
          <p:nvPr/>
        </p:nvSpPr>
        <p:spPr>
          <a:xfrm>
            <a:off x="7845136" y="5253065"/>
            <a:ext cx="3425938" cy="1200329"/>
          </a:xfrm>
          <a:prstGeom prst="rect">
            <a:avLst/>
          </a:prstGeom>
          <a:noFill/>
        </p:spPr>
        <p:txBody>
          <a:bodyPr wrap="none" rtlCol="0">
            <a:spAutoFit/>
          </a:bodyPr>
          <a:lstStyle/>
          <a:p>
            <a:r>
              <a:rPr lang="en-US" altLang="ja-JP" sz="2400" b="1" dirty="0">
                <a:solidFill>
                  <a:srgbClr val="00B050"/>
                </a:solidFill>
              </a:rPr>
              <a:t>MEMO</a:t>
            </a:r>
          </a:p>
          <a:p>
            <a:r>
              <a:rPr lang="en-US" altLang="ja-JP" sz="2400" b="1" dirty="0" err="1">
                <a:solidFill>
                  <a:srgbClr val="0070C0"/>
                </a:solidFill>
              </a:rPr>
              <a:t>to_json</a:t>
            </a:r>
            <a:r>
              <a:rPr lang="ja-JP" altLang="en-US" sz="2400" b="1" dirty="0">
                <a:solidFill>
                  <a:srgbClr val="0070C0"/>
                </a:solidFill>
              </a:rPr>
              <a:t>関数</a:t>
            </a:r>
            <a:r>
              <a:rPr lang="ja-JP" altLang="en-US" sz="2400" dirty="0"/>
              <a:t>もあります</a:t>
            </a:r>
            <a:endParaRPr lang="en-US" altLang="ja-JP" sz="2400" dirty="0"/>
          </a:p>
          <a:p>
            <a:r>
              <a:rPr lang="ja-JP" altLang="en-US" sz="2400" dirty="0"/>
              <a:t>（</a:t>
            </a:r>
            <a:r>
              <a:rPr lang="en-US" altLang="ja-JP" sz="2400" dirty="0"/>
              <a:t>C++</a:t>
            </a:r>
            <a:r>
              <a:rPr lang="ja-JP" altLang="en-US" sz="2400" dirty="0"/>
              <a:t>→</a:t>
            </a:r>
            <a:r>
              <a:rPr lang="en-US" altLang="ja-JP" sz="2400" dirty="0"/>
              <a:t>json</a:t>
            </a:r>
            <a:r>
              <a:rPr lang="ja-JP" altLang="en-US" sz="2400" dirty="0"/>
              <a:t>に使用）</a:t>
            </a:r>
            <a:endParaRPr lang="en-US" altLang="ja-JP" sz="2400" dirty="0"/>
          </a:p>
        </p:txBody>
      </p:sp>
    </p:spTree>
    <p:extLst>
      <p:ext uri="{BB962C8B-B14F-4D97-AF65-F5344CB8AC3E}">
        <p14:creationId xmlns:p14="http://schemas.microsoft.com/office/powerpoint/2010/main" val="1908704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717411" cy="584775"/>
          </a:xfrm>
          <a:prstGeom prst="rect">
            <a:avLst/>
          </a:prstGeom>
          <a:noFill/>
        </p:spPr>
        <p:txBody>
          <a:bodyPr wrap="none" rtlCol="0">
            <a:spAutoFit/>
          </a:bodyPr>
          <a:lstStyle/>
          <a:p>
            <a:r>
              <a:rPr kumimoji="1" lang="en-US" altLang="ja-JP" sz="3200" b="1" u="sng" dirty="0"/>
              <a:t>Json</a:t>
            </a:r>
            <a:r>
              <a:rPr kumimoji="1" lang="ja-JP" altLang="en-US" sz="3200" b="1" u="sng" dirty="0"/>
              <a:t>ファイル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416868" cy="461665"/>
          </a:xfrm>
          <a:prstGeom prst="rect">
            <a:avLst/>
          </a:prstGeom>
          <a:noFill/>
        </p:spPr>
        <p:txBody>
          <a:bodyPr wrap="none" rtlCol="0">
            <a:spAutoFit/>
          </a:bodyPr>
          <a:lstStyle/>
          <a:p>
            <a:r>
              <a:rPr lang="ja-JP" altLang="en-US" sz="2400" dirty="0"/>
              <a:t>読み込み処理は非常にシンプルです。</a:t>
            </a:r>
            <a:endParaRPr lang="en-US" altLang="ja-JP" sz="2400" dirty="0"/>
          </a:p>
        </p:txBody>
      </p:sp>
      <p:pic>
        <p:nvPicPr>
          <p:cNvPr id="7" name="図 6">
            <a:extLst>
              <a:ext uri="{FF2B5EF4-FFF2-40B4-BE49-F238E27FC236}">
                <a16:creationId xmlns:a16="http://schemas.microsoft.com/office/drawing/2014/main" id="{DC3898FF-EE68-40B7-8070-0F6CB426C7C4}"/>
              </a:ext>
            </a:extLst>
          </p:cNvPr>
          <p:cNvPicPr>
            <a:picLocks noChangeAspect="1"/>
          </p:cNvPicPr>
          <p:nvPr/>
        </p:nvPicPr>
        <p:blipFill>
          <a:blip r:embed="rId2"/>
          <a:stretch>
            <a:fillRect/>
          </a:stretch>
        </p:blipFill>
        <p:spPr>
          <a:xfrm>
            <a:off x="567542" y="1817794"/>
            <a:ext cx="8597798" cy="4233382"/>
          </a:xfrm>
          <a:prstGeom prst="rect">
            <a:avLst/>
          </a:prstGeom>
        </p:spPr>
      </p:pic>
    </p:spTree>
    <p:extLst>
      <p:ext uri="{BB962C8B-B14F-4D97-AF65-F5344CB8AC3E}">
        <p14:creationId xmlns:p14="http://schemas.microsoft.com/office/powerpoint/2010/main" val="3320417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717411" cy="584775"/>
          </a:xfrm>
          <a:prstGeom prst="rect">
            <a:avLst/>
          </a:prstGeom>
          <a:noFill/>
        </p:spPr>
        <p:txBody>
          <a:bodyPr wrap="none" rtlCol="0">
            <a:spAutoFit/>
          </a:bodyPr>
          <a:lstStyle/>
          <a:p>
            <a:r>
              <a:rPr kumimoji="1" lang="en-US" altLang="ja-JP" sz="3200" b="1" u="sng" dirty="0"/>
              <a:t>Json</a:t>
            </a:r>
            <a:r>
              <a:rPr kumimoji="1" lang="ja-JP" altLang="en-US" sz="3200" b="1" u="sng" dirty="0"/>
              <a:t>ファイル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41769" cy="461665"/>
          </a:xfrm>
          <a:prstGeom prst="rect">
            <a:avLst/>
          </a:prstGeom>
          <a:noFill/>
        </p:spPr>
        <p:txBody>
          <a:bodyPr wrap="none" rtlCol="0">
            <a:spAutoFit/>
          </a:bodyPr>
          <a:lstStyle/>
          <a:p>
            <a:r>
              <a:rPr lang="en-US" altLang="ja-JP" sz="2400" dirty="0"/>
              <a:t>json</a:t>
            </a:r>
            <a:r>
              <a:rPr lang="ja-JP" altLang="en-US" sz="2400" dirty="0"/>
              <a:t>ファイルと見比べながら処理を確認すると、理解が深まります。</a:t>
            </a:r>
            <a:endParaRPr lang="en-US" altLang="ja-JP" sz="2400" dirty="0"/>
          </a:p>
        </p:txBody>
      </p:sp>
      <p:pic>
        <p:nvPicPr>
          <p:cNvPr id="5" name="図 4">
            <a:extLst>
              <a:ext uri="{FF2B5EF4-FFF2-40B4-BE49-F238E27FC236}">
                <a16:creationId xmlns:a16="http://schemas.microsoft.com/office/drawing/2014/main" id="{472EB93E-C378-4144-9E96-CFEBDCFA4167}"/>
              </a:ext>
            </a:extLst>
          </p:cNvPr>
          <p:cNvPicPr>
            <a:picLocks noChangeAspect="1"/>
          </p:cNvPicPr>
          <p:nvPr/>
        </p:nvPicPr>
        <p:blipFill>
          <a:blip r:embed="rId2"/>
          <a:stretch>
            <a:fillRect/>
          </a:stretch>
        </p:blipFill>
        <p:spPr>
          <a:xfrm>
            <a:off x="567542" y="2187126"/>
            <a:ext cx="8280623" cy="4450835"/>
          </a:xfrm>
          <a:prstGeom prst="rect">
            <a:avLst/>
          </a:prstGeom>
        </p:spPr>
      </p:pic>
    </p:spTree>
    <p:extLst>
      <p:ext uri="{BB962C8B-B14F-4D97-AF65-F5344CB8AC3E}">
        <p14:creationId xmlns:p14="http://schemas.microsoft.com/office/powerpoint/2010/main" val="7668633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4807025" y="3136613"/>
            <a:ext cx="2577950" cy="584775"/>
          </a:xfrm>
          <a:prstGeom prst="rect">
            <a:avLst/>
          </a:prstGeom>
          <a:noFill/>
        </p:spPr>
        <p:txBody>
          <a:bodyPr wrap="none" rtlCol="0">
            <a:spAutoFit/>
          </a:bodyPr>
          <a:lstStyle/>
          <a:p>
            <a:r>
              <a:rPr kumimoji="1" lang="en-US" altLang="ja-JP" sz="3200" b="1" u="sng" dirty="0" err="1"/>
              <a:t>DxLib</a:t>
            </a:r>
            <a:r>
              <a:rPr kumimoji="1" lang="ja-JP" altLang="en-US" sz="3200" b="1" u="sng" dirty="0"/>
              <a:t>に反映</a:t>
            </a:r>
            <a:endParaRPr kumimoji="1" lang="en-US" altLang="ja-JP" sz="3200" b="1" u="sng" dirty="0"/>
          </a:p>
        </p:txBody>
      </p:sp>
    </p:spTree>
    <p:extLst>
      <p:ext uri="{BB962C8B-B14F-4D97-AF65-F5344CB8AC3E}">
        <p14:creationId xmlns:p14="http://schemas.microsoft.com/office/powerpoint/2010/main" val="21192206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577950" cy="584775"/>
          </a:xfrm>
          <a:prstGeom prst="rect">
            <a:avLst/>
          </a:prstGeom>
          <a:noFill/>
        </p:spPr>
        <p:txBody>
          <a:bodyPr wrap="none" rtlCol="0">
            <a:spAutoFit/>
          </a:bodyPr>
          <a:lstStyle/>
          <a:p>
            <a:r>
              <a:rPr kumimoji="1" lang="en-US" altLang="ja-JP" sz="3200" b="1" u="sng" dirty="0" err="1"/>
              <a:t>DxLib</a:t>
            </a:r>
            <a:r>
              <a:rPr kumimoji="1" lang="ja-JP" altLang="en-US" sz="3200" b="1" u="sng" dirty="0"/>
              <a:t>に反映</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092554" cy="461665"/>
          </a:xfrm>
          <a:prstGeom prst="rect">
            <a:avLst/>
          </a:prstGeom>
          <a:noFill/>
        </p:spPr>
        <p:txBody>
          <a:bodyPr wrap="none" rtlCol="0">
            <a:spAutoFit/>
          </a:bodyPr>
          <a:lstStyle/>
          <a:p>
            <a:r>
              <a:rPr lang="en-US" altLang="ja-JP" sz="2400" dirty="0"/>
              <a:t>json</a:t>
            </a:r>
            <a:r>
              <a:rPr lang="ja-JP" altLang="en-US" sz="2400" dirty="0"/>
              <a:t>で読み込んだデータを使って、オブジェクトを配置します。</a:t>
            </a:r>
            <a:endParaRPr lang="en-US" altLang="ja-JP" sz="2400" dirty="0"/>
          </a:p>
        </p:txBody>
      </p:sp>
      <p:pic>
        <p:nvPicPr>
          <p:cNvPr id="7" name="図 6">
            <a:extLst>
              <a:ext uri="{FF2B5EF4-FFF2-40B4-BE49-F238E27FC236}">
                <a16:creationId xmlns:a16="http://schemas.microsoft.com/office/drawing/2014/main" id="{BBBA1166-466C-47F9-8B3F-7F7F4CF2CB05}"/>
              </a:ext>
            </a:extLst>
          </p:cNvPr>
          <p:cNvPicPr>
            <a:picLocks noChangeAspect="1"/>
          </p:cNvPicPr>
          <p:nvPr/>
        </p:nvPicPr>
        <p:blipFill>
          <a:blip r:embed="rId2"/>
          <a:stretch>
            <a:fillRect/>
          </a:stretch>
        </p:blipFill>
        <p:spPr>
          <a:xfrm>
            <a:off x="567542" y="1817794"/>
            <a:ext cx="7554062" cy="4394747"/>
          </a:xfrm>
          <a:prstGeom prst="rect">
            <a:avLst/>
          </a:prstGeom>
        </p:spPr>
      </p:pic>
    </p:spTree>
    <p:extLst>
      <p:ext uri="{BB962C8B-B14F-4D97-AF65-F5344CB8AC3E}">
        <p14:creationId xmlns:p14="http://schemas.microsoft.com/office/powerpoint/2010/main" val="28186591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577950" cy="584775"/>
          </a:xfrm>
          <a:prstGeom prst="rect">
            <a:avLst/>
          </a:prstGeom>
          <a:noFill/>
        </p:spPr>
        <p:txBody>
          <a:bodyPr wrap="none" rtlCol="0">
            <a:spAutoFit/>
          </a:bodyPr>
          <a:lstStyle/>
          <a:p>
            <a:r>
              <a:rPr kumimoji="1" lang="en-US" altLang="ja-JP" sz="3200" b="1" u="sng" dirty="0" err="1"/>
              <a:t>DxLib</a:t>
            </a:r>
            <a:r>
              <a:rPr kumimoji="1" lang="ja-JP" altLang="en-US" sz="3200" b="1" u="sng" dirty="0"/>
              <a:t>に反映</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374135" cy="461665"/>
          </a:xfrm>
          <a:prstGeom prst="rect">
            <a:avLst/>
          </a:prstGeom>
          <a:noFill/>
        </p:spPr>
        <p:txBody>
          <a:bodyPr wrap="none" rtlCol="0">
            <a:spAutoFit/>
          </a:bodyPr>
          <a:lstStyle/>
          <a:p>
            <a:r>
              <a:rPr lang="en-US" altLang="ja-JP" sz="2400" b="1" dirty="0" err="1">
                <a:solidFill>
                  <a:srgbClr val="00B050"/>
                </a:solidFill>
              </a:rPr>
              <a:t>StageManager</a:t>
            </a:r>
            <a:r>
              <a:rPr lang="ja-JP" altLang="en-US" sz="2400" dirty="0"/>
              <a:t>の</a:t>
            </a:r>
            <a:r>
              <a:rPr lang="en-US" altLang="ja-JP" sz="2400" b="1" dirty="0">
                <a:solidFill>
                  <a:srgbClr val="0070C0"/>
                </a:solidFill>
              </a:rPr>
              <a:t>Start</a:t>
            </a:r>
            <a:r>
              <a:rPr lang="ja-JP" altLang="en-US" sz="2400" b="1" dirty="0">
                <a:solidFill>
                  <a:srgbClr val="0070C0"/>
                </a:solidFill>
              </a:rPr>
              <a:t>関数</a:t>
            </a:r>
            <a:r>
              <a:rPr lang="ja-JP" altLang="en-US" sz="2400" dirty="0"/>
              <a:t>に配置処理を書きます。</a:t>
            </a:r>
            <a:endParaRPr lang="en-US" altLang="ja-JP" sz="2400" dirty="0"/>
          </a:p>
        </p:txBody>
      </p:sp>
      <p:pic>
        <p:nvPicPr>
          <p:cNvPr id="3" name="図 2">
            <a:extLst>
              <a:ext uri="{FF2B5EF4-FFF2-40B4-BE49-F238E27FC236}">
                <a16:creationId xmlns:a16="http://schemas.microsoft.com/office/drawing/2014/main" id="{9C8B3C14-9860-4414-8EAE-286B607BA58F}"/>
              </a:ext>
            </a:extLst>
          </p:cNvPr>
          <p:cNvPicPr>
            <a:picLocks noChangeAspect="1"/>
          </p:cNvPicPr>
          <p:nvPr/>
        </p:nvPicPr>
        <p:blipFill>
          <a:blip r:embed="rId2"/>
          <a:stretch>
            <a:fillRect/>
          </a:stretch>
        </p:blipFill>
        <p:spPr>
          <a:xfrm>
            <a:off x="567542" y="1817794"/>
            <a:ext cx="10517068" cy="3781953"/>
          </a:xfrm>
          <a:prstGeom prst="rect">
            <a:avLst/>
          </a:prstGeom>
        </p:spPr>
      </p:pic>
    </p:spTree>
    <p:extLst>
      <p:ext uri="{BB962C8B-B14F-4D97-AF65-F5344CB8AC3E}">
        <p14:creationId xmlns:p14="http://schemas.microsoft.com/office/powerpoint/2010/main" val="39517302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577950" cy="584775"/>
          </a:xfrm>
          <a:prstGeom prst="rect">
            <a:avLst/>
          </a:prstGeom>
          <a:noFill/>
        </p:spPr>
        <p:txBody>
          <a:bodyPr wrap="none" rtlCol="0">
            <a:spAutoFit/>
          </a:bodyPr>
          <a:lstStyle/>
          <a:p>
            <a:r>
              <a:rPr kumimoji="1" lang="en-US" altLang="ja-JP" sz="3200" b="1" u="sng" dirty="0" err="1"/>
              <a:t>DxLib</a:t>
            </a:r>
            <a:r>
              <a:rPr kumimoji="1" lang="ja-JP" altLang="en-US" sz="3200" b="1" u="sng" dirty="0"/>
              <a:t>に反映</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954695" cy="461665"/>
          </a:xfrm>
          <a:prstGeom prst="rect">
            <a:avLst/>
          </a:prstGeom>
          <a:noFill/>
        </p:spPr>
        <p:txBody>
          <a:bodyPr wrap="none" rtlCol="0">
            <a:spAutoFit/>
          </a:bodyPr>
          <a:lstStyle/>
          <a:p>
            <a:r>
              <a:rPr lang="en-US" altLang="ja-JP" sz="2400" b="1" dirty="0" err="1">
                <a:solidFill>
                  <a:srgbClr val="00B050"/>
                </a:solidFill>
              </a:rPr>
              <a:t>StageManager</a:t>
            </a:r>
            <a:r>
              <a:rPr lang="ja-JP" altLang="en-US" sz="2400" dirty="0"/>
              <a:t>の</a:t>
            </a:r>
            <a:r>
              <a:rPr lang="en-US" altLang="ja-JP" sz="2400" b="1" dirty="0">
                <a:solidFill>
                  <a:srgbClr val="0070C0"/>
                </a:solidFill>
              </a:rPr>
              <a:t>Start</a:t>
            </a:r>
            <a:r>
              <a:rPr lang="ja-JP" altLang="en-US" sz="2400" b="1" dirty="0">
                <a:solidFill>
                  <a:srgbClr val="0070C0"/>
                </a:solidFill>
              </a:rPr>
              <a:t>関数</a:t>
            </a:r>
            <a:r>
              <a:rPr lang="ja-JP" altLang="en-US" sz="2400" dirty="0"/>
              <a:t>に配置処理を書きます。（その２）</a:t>
            </a:r>
            <a:endParaRPr lang="en-US" altLang="ja-JP" sz="2400" dirty="0"/>
          </a:p>
        </p:txBody>
      </p:sp>
      <p:pic>
        <p:nvPicPr>
          <p:cNvPr id="5" name="図 4">
            <a:extLst>
              <a:ext uri="{FF2B5EF4-FFF2-40B4-BE49-F238E27FC236}">
                <a16:creationId xmlns:a16="http://schemas.microsoft.com/office/drawing/2014/main" id="{1A9FB7C9-11B8-4535-817F-F34EAF864297}"/>
              </a:ext>
            </a:extLst>
          </p:cNvPr>
          <p:cNvPicPr>
            <a:picLocks noChangeAspect="1"/>
          </p:cNvPicPr>
          <p:nvPr/>
        </p:nvPicPr>
        <p:blipFill>
          <a:blip r:embed="rId2"/>
          <a:stretch>
            <a:fillRect/>
          </a:stretch>
        </p:blipFill>
        <p:spPr>
          <a:xfrm>
            <a:off x="567542" y="1817794"/>
            <a:ext cx="9813587" cy="4717563"/>
          </a:xfrm>
          <a:prstGeom prst="rect">
            <a:avLst/>
          </a:prstGeom>
        </p:spPr>
      </p:pic>
    </p:spTree>
    <p:extLst>
      <p:ext uri="{BB962C8B-B14F-4D97-AF65-F5344CB8AC3E}">
        <p14:creationId xmlns:p14="http://schemas.microsoft.com/office/powerpoint/2010/main" val="42838993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577950" cy="584775"/>
          </a:xfrm>
          <a:prstGeom prst="rect">
            <a:avLst/>
          </a:prstGeom>
          <a:noFill/>
        </p:spPr>
        <p:txBody>
          <a:bodyPr wrap="none" rtlCol="0">
            <a:spAutoFit/>
          </a:bodyPr>
          <a:lstStyle/>
          <a:p>
            <a:r>
              <a:rPr kumimoji="1" lang="en-US" altLang="ja-JP" sz="3200" b="1" u="sng" dirty="0" err="1"/>
              <a:t>DxLib</a:t>
            </a:r>
            <a:r>
              <a:rPr kumimoji="1" lang="ja-JP" altLang="en-US" sz="3200" b="1" u="sng" dirty="0"/>
              <a:t>に反映</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2954655" cy="461665"/>
          </a:xfrm>
          <a:prstGeom prst="rect">
            <a:avLst/>
          </a:prstGeom>
          <a:noFill/>
        </p:spPr>
        <p:txBody>
          <a:bodyPr wrap="none" rtlCol="0">
            <a:spAutoFit/>
          </a:bodyPr>
          <a:lstStyle/>
          <a:p>
            <a:r>
              <a:rPr lang="ja-JP" altLang="en-US" sz="2400" dirty="0"/>
              <a:t>動作確認しましょう</a:t>
            </a:r>
            <a:endParaRPr lang="en-US" altLang="ja-JP" sz="2400" dirty="0"/>
          </a:p>
        </p:txBody>
      </p:sp>
      <p:pic>
        <p:nvPicPr>
          <p:cNvPr id="7" name="図 6">
            <a:extLst>
              <a:ext uri="{FF2B5EF4-FFF2-40B4-BE49-F238E27FC236}">
                <a16:creationId xmlns:a16="http://schemas.microsoft.com/office/drawing/2014/main" id="{BBBA1166-466C-47F9-8B3F-7F7F4CF2CB05}"/>
              </a:ext>
            </a:extLst>
          </p:cNvPr>
          <p:cNvPicPr>
            <a:picLocks noChangeAspect="1"/>
          </p:cNvPicPr>
          <p:nvPr/>
        </p:nvPicPr>
        <p:blipFill>
          <a:blip r:embed="rId2"/>
          <a:stretch>
            <a:fillRect/>
          </a:stretch>
        </p:blipFill>
        <p:spPr>
          <a:xfrm>
            <a:off x="567542" y="1817794"/>
            <a:ext cx="7554062" cy="4394747"/>
          </a:xfrm>
          <a:prstGeom prst="rect">
            <a:avLst/>
          </a:prstGeom>
        </p:spPr>
      </p:pic>
    </p:spTree>
    <p:extLst>
      <p:ext uri="{BB962C8B-B14F-4D97-AF65-F5344CB8AC3E}">
        <p14:creationId xmlns:p14="http://schemas.microsoft.com/office/powerpoint/2010/main" val="14217944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改善点</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2677656"/>
          </a:xfrm>
          <a:prstGeom prst="rect">
            <a:avLst/>
          </a:prstGeom>
          <a:noFill/>
        </p:spPr>
        <p:txBody>
          <a:bodyPr wrap="none" rtlCol="0">
            <a:spAutoFit/>
          </a:bodyPr>
          <a:lstStyle/>
          <a:p>
            <a:r>
              <a:rPr lang="ja-JP" altLang="en-US" sz="2400" dirty="0"/>
              <a:t>これで最低限のステージエディタはできました。</a:t>
            </a:r>
            <a:endParaRPr lang="en-US" altLang="ja-JP" sz="2400" dirty="0"/>
          </a:p>
          <a:p>
            <a:r>
              <a:rPr lang="ja-JP" altLang="en-US" sz="2400" dirty="0"/>
              <a:t>このまま使ってもらってもいいですが、</a:t>
            </a:r>
            <a:endParaRPr lang="en-US" altLang="ja-JP" sz="2400" dirty="0"/>
          </a:p>
          <a:p>
            <a:r>
              <a:rPr lang="ja-JP" altLang="en-US" sz="2400" dirty="0"/>
              <a:t>ぜひオリジナルゲーム制作では、使いやすく改善していきましょう。</a:t>
            </a:r>
            <a:endParaRPr lang="en-US" altLang="ja-JP" sz="2400" dirty="0"/>
          </a:p>
          <a:p>
            <a:endParaRPr lang="en-US" altLang="ja-JP" sz="2400" dirty="0"/>
          </a:p>
          <a:p>
            <a:r>
              <a:rPr lang="ja-JP" altLang="en-US" sz="2400" dirty="0"/>
              <a:t>ここからはいくつか改善点を挙げていきます。</a:t>
            </a:r>
            <a:endParaRPr lang="en-US" altLang="ja-JP" sz="2400" dirty="0"/>
          </a:p>
          <a:p>
            <a:endParaRPr lang="en-US" altLang="ja-JP" sz="2400" dirty="0"/>
          </a:p>
          <a:p>
            <a:r>
              <a:rPr lang="en-US" altLang="ja-JP" sz="2400" b="1" dirty="0">
                <a:solidFill>
                  <a:srgbClr val="FF0000"/>
                </a:solidFill>
              </a:rPr>
              <a:t>※</a:t>
            </a:r>
            <a:r>
              <a:rPr lang="ja-JP" altLang="en-US" sz="2400" b="1" dirty="0">
                <a:solidFill>
                  <a:srgbClr val="FF0000"/>
                </a:solidFill>
              </a:rPr>
              <a:t>改善できれば強力なアピールポイントになります</a:t>
            </a:r>
            <a:endParaRPr lang="en-US" altLang="ja-JP" sz="2400" b="1" dirty="0">
              <a:solidFill>
                <a:srgbClr val="FF0000"/>
              </a:solidFill>
            </a:endParaRPr>
          </a:p>
        </p:txBody>
      </p:sp>
    </p:spTree>
    <p:extLst>
      <p:ext uri="{BB962C8B-B14F-4D97-AF65-F5344CB8AC3E}">
        <p14:creationId xmlns:p14="http://schemas.microsoft.com/office/powerpoint/2010/main" val="38145225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改善点</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371750" cy="830997"/>
          </a:xfrm>
          <a:prstGeom prst="rect">
            <a:avLst/>
          </a:prstGeom>
          <a:noFill/>
        </p:spPr>
        <p:txBody>
          <a:bodyPr wrap="none" rtlCol="0">
            <a:spAutoFit/>
          </a:bodyPr>
          <a:lstStyle/>
          <a:p>
            <a:r>
              <a:rPr lang="en-US" altLang="ja-JP" sz="2400" dirty="0"/>
              <a:t>ID</a:t>
            </a:r>
            <a:r>
              <a:rPr lang="ja-JP" altLang="en-US" sz="2400" dirty="0"/>
              <a:t>や構造体は</a:t>
            </a:r>
            <a:r>
              <a:rPr lang="en-US" altLang="ja-JP" sz="2400" b="1" dirty="0">
                <a:solidFill>
                  <a:srgbClr val="FF0000"/>
                </a:solidFill>
              </a:rPr>
              <a:t>Unity</a:t>
            </a:r>
            <a:r>
              <a:rPr lang="ja-JP" altLang="en-US" sz="2400" b="1" dirty="0">
                <a:solidFill>
                  <a:srgbClr val="FF0000"/>
                </a:solidFill>
              </a:rPr>
              <a:t>と一致することが絶対</a:t>
            </a:r>
            <a:r>
              <a:rPr lang="ja-JP" altLang="en-US" sz="2400" dirty="0"/>
              <a:t>となります。</a:t>
            </a:r>
            <a:endParaRPr lang="en-US" altLang="ja-JP" sz="2400" dirty="0"/>
          </a:p>
          <a:p>
            <a:r>
              <a:rPr lang="ja-JP" altLang="en-US" sz="2400" dirty="0"/>
              <a:t>できれば</a:t>
            </a:r>
            <a:r>
              <a:rPr lang="en-US" altLang="ja-JP" sz="2400" dirty="0"/>
              <a:t>Unity</a:t>
            </a:r>
            <a:r>
              <a:rPr lang="ja-JP" altLang="en-US" sz="2400" dirty="0"/>
              <a:t>側を修正すれば</a:t>
            </a:r>
            <a:r>
              <a:rPr lang="en-US" altLang="ja-JP" sz="2400" dirty="0" err="1"/>
              <a:t>DxLib</a:t>
            </a:r>
            <a:r>
              <a:rPr lang="ja-JP" altLang="en-US" sz="2400" dirty="0"/>
              <a:t>側は</a:t>
            </a:r>
            <a:r>
              <a:rPr lang="ja-JP" altLang="en-US" sz="2400" b="1" dirty="0">
                <a:solidFill>
                  <a:srgbClr val="FF0000"/>
                </a:solidFill>
              </a:rPr>
              <a:t>自動で書き換わってほしい</a:t>
            </a:r>
            <a:r>
              <a:rPr lang="ja-JP" altLang="en-US" sz="2400" dirty="0"/>
              <a:t>です。</a:t>
            </a:r>
            <a:endParaRPr lang="en-US" altLang="ja-JP" sz="2400" dirty="0"/>
          </a:p>
        </p:txBody>
      </p:sp>
      <p:pic>
        <p:nvPicPr>
          <p:cNvPr id="5" name="図 4">
            <a:extLst>
              <a:ext uri="{FF2B5EF4-FFF2-40B4-BE49-F238E27FC236}">
                <a16:creationId xmlns:a16="http://schemas.microsoft.com/office/drawing/2014/main" id="{22CB4E5C-0950-4E7E-A697-A45973D9A2DE}"/>
              </a:ext>
            </a:extLst>
          </p:cNvPr>
          <p:cNvPicPr>
            <a:picLocks noChangeAspect="1"/>
          </p:cNvPicPr>
          <p:nvPr/>
        </p:nvPicPr>
        <p:blipFill>
          <a:blip r:embed="rId2"/>
          <a:stretch>
            <a:fillRect/>
          </a:stretch>
        </p:blipFill>
        <p:spPr>
          <a:xfrm>
            <a:off x="567542" y="2187126"/>
            <a:ext cx="6163306" cy="4345442"/>
          </a:xfrm>
          <a:prstGeom prst="rect">
            <a:avLst/>
          </a:prstGeom>
        </p:spPr>
      </p:pic>
    </p:spTree>
    <p:extLst>
      <p:ext uri="{BB962C8B-B14F-4D97-AF65-F5344CB8AC3E}">
        <p14:creationId xmlns:p14="http://schemas.microsoft.com/office/powerpoint/2010/main" val="1816869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改善点</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780515" cy="4154984"/>
          </a:xfrm>
          <a:prstGeom prst="rect">
            <a:avLst/>
          </a:prstGeom>
          <a:noFill/>
        </p:spPr>
        <p:txBody>
          <a:bodyPr wrap="none" rtlCol="0">
            <a:spAutoFit/>
          </a:bodyPr>
          <a:lstStyle/>
          <a:p>
            <a:r>
              <a:rPr lang="ja-JP" altLang="en-US" sz="2400" dirty="0"/>
              <a:t>敵やギミックは多くの場合、専用のパラメータを持っています。</a:t>
            </a:r>
            <a:endParaRPr lang="en-US" altLang="ja-JP" sz="2400" dirty="0"/>
          </a:p>
          <a:p>
            <a:r>
              <a:rPr lang="ja-JP" altLang="en-US" sz="2400" dirty="0"/>
              <a:t>今回は全てのオブジェクトを配置するだけですが、</a:t>
            </a:r>
            <a:endParaRPr lang="en-US" altLang="ja-JP" sz="2400" dirty="0"/>
          </a:p>
          <a:p>
            <a:r>
              <a:rPr lang="ja-JP" altLang="en-US" sz="2400" dirty="0"/>
              <a:t>敵専用の設定やギミック専用の設定が</a:t>
            </a:r>
            <a:r>
              <a:rPr lang="en-US" altLang="ja-JP" sz="2400" dirty="0"/>
              <a:t>Unity</a:t>
            </a:r>
            <a:r>
              <a:rPr lang="ja-JP" altLang="en-US" sz="2400" dirty="0"/>
              <a:t>でできると更に制作が捗ります。</a:t>
            </a:r>
            <a:endParaRPr lang="en-US" altLang="ja-JP" sz="2400" dirty="0"/>
          </a:p>
          <a:p>
            <a:endParaRPr lang="en-US" altLang="ja-JP" sz="2400" dirty="0"/>
          </a:p>
          <a:p>
            <a:r>
              <a:rPr lang="ja-JP" altLang="en-US" sz="2400" dirty="0"/>
              <a:t>たとえば</a:t>
            </a:r>
            <a:r>
              <a:rPr lang="en-US" altLang="ja-JP" sz="2400" dirty="0"/>
              <a:t>Unity</a:t>
            </a:r>
            <a:r>
              <a:rPr lang="ja-JP" altLang="en-US" sz="2400" dirty="0"/>
              <a:t>側で、</a:t>
            </a:r>
            <a:endParaRPr lang="en-US" altLang="ja-JP" sz="2400" dirty="0"/>
          </a:p>
          <a:p>
            <a:r>
              <a:rPr lang="ja-JP" altLang="en-US" sz="2400" dirty="0"/>
              <a:t>・</a:t>
            </a:r>
            <a:r>
              <a:rPr lang="en-US" altLang="ja-JP" sz="2400" dirty="0" err="1"/>
              <a:t>StageObject.cs</a:t>
            </a:r>
            <a:r>
              <a:rPr lang="ja-JP" altLang="en-US" sz="2400" dirty="0"/>
              <a:t>の他にも</a:t>
            </a:r>
            <a:r>
              <a:rPr lang="en-US" altLang="ja-JP" sz="2400" dirty="0" err="1"/>
              <a:t>EnemyObject.cs</a:t>
            </a:r>
            <a:r>
              <a:rPr lang="ja-JP" altLang="en-US" sz="2400" dirty="0"/>
              <a:t>や</a:t>
            </a:r>
            <a:r>
              <a:rPr lang="en-US" altLang="ja-JP" sz="2400" dirty="0" err="1"/>
              <a:t>GimmickObject.cs</a:t>
            </a:r>
            <a:r>
              <a:rPr lang="ja-JP" altLang="en-US" sz="2400" dirty="0"/>
              <a:t>を作る。</a:t>
            </a:r>
            <a:endParaRPr lang="en-US" altLang="ja-JP" sz="2400" dirty="0"/>
          </a:p>
          <a:p>
            <a:r>
              <a:rPr lang="ja-JP" altLang="en-US" sz="2400" dirty="0"/>
              <a:t>・敵やギミックは別シーンで配置する（</a:t>
            </a:r>
            <a:r>
              <a:rPr lang="en-US" altLang="ja-JP" sz="2400" dirty="0"/>
              <a:t>Stage01_Enemy.scene</a:t>
            </a:r>
            <a:r>
              <a:rPr lang="ja-JP" altLang="en-US" sz="2400" dirty="0"/>
              <a:t>など）</a:t>
            </a:r>
            <a:endParaRPr lang="en-US" altLang="ja-JP" sz="2400" dirty="0"/>
          </a:p>
          <a:p>
            <a:r>
              <a:rPr lang="ja-JP" altLang="en-US" sz="2400" dirty="0"/>
              <a:t>とかすればできるかも。。</a:t>
            </a:r>
            <a:endParaRPr lang="en-US" altLang="ja-JP" sz="2400" dirty="0"/>
          </a:p>
          <a:p>
            <a:endParaRPr lang="en-US" altLang="ja-JP" sz="2400" dirty="0"/>
          </a:p>
          <a:p>
            <a:r>
              <a:rPr lang="ja-JP" altLang="en-US" sz="2400" dirty="0"/>
              <a:t>動くブロックの始点、終点や、敵の徘徊エリアなど、</a:t>
            </a:r>
            <a:endParaRPr lang="en-US" altLang="ja-JP" sz="2400" dirty="0"/>
          </a:p>
          <a:p>
            <a:r>
              <a:rPr lang="en-US" altLang="ja-JP" sz="2400" dirty="0"/>
              <a:t>Unity</a:t>
            </a:r>
            <a:r>
              <a:rPr lang="ja-JP" altLang="en-US" sz="2400" dirty="0"/>
              <a:t>側で設定できれば便利なものはたくさんあります。</a:t>
            </a:r>
            <a:endParaRPr lang="en-US" altLang="ja-JP" sz="2400" dirty="0"/>
          </a:p>
        </p:txBody>
      </p:sp>
    </p:spTree>
    <p:extLst>
      <p:ext uri="{BB962C8B-B14F-4D97-AF65-F5344CB8AC3E}">
        <p14:creationId xmlns:p14="http://schemas.microsoft.com/office/powerpoint/2010/main" val="422013293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360</TotalTime>
  <Words>1345</Words>
  <Application>Microsoft Office PowerPoint</Application>
  <PresentationFormat>ワイド画面</PresentationFormat>
  <Paragraphs>175</Paragraphs>
  <Slides>48</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48</vt:i4>
      </vt:variant>
    </vt:vector>
  </HeadingPairs>
  <TitlesOfParts>
    <vt:vector size="52"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北九州校　ゲーム</cp:lastModifiedBy>
  <cp:revision>40</cp:revision>
  <dcterms:created xsi:type="dcterms:W3CDTF">2024-08-27T02:15:54Z</dcterms:created>
  <dcterms:modified xsi:type="dcterms:W3CDTF">2026-01-29T03:25:48Z</dcterms:modified>
</cp:coreProperties>
</file>