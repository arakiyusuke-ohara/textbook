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2" r:id="rId4"/>
    <p:sldId id="264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ハンマー投げをイメージしてみましょう。</a:t>
            </a:r>
            <a:endParaRPr lang="en-US" altLang="ja-JP" sz="2400" dirty="0"/>
          </a:p>
          <a:p>
            <a:r>
              <a:rPr lang="ja-JP" altLang="en-US" sz="2400" dirty="0"/>
              <a:t>鉄球を手放すと、回転している方向に向かって飛んでいきます。</a:t>
            </a:r>
            <a:endParaRPr lang="en-US" altLang="ja-JP" sz="2400" dirty="0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202E0F4B-C4EC-47AF-B334-9357A5F88461}"/>
              </a:ext>
            </a:extLst>
          </p:cNvPr>
          <p:cNvGrpSpPr/>
          <p:nvPr/>
        </p:nvGrpSpPr>
        <p:grpSpPr>
          <a:xfrm>
            <a:off x="567542" y="2593477"/>
            <a:ext cx="2479199" cy="3223098"/>
            <a:chOff x="927542" y="2847477"/>
            <a:chExt cx="2479199" cy="3223098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0B3F328-573A-44F4-8005-E79087FFBF6D}"/>
                </a:ext>
              </a:extLst>
            </p:cNvPr>
            <p:cNvGrpSpPr/>
            <p:nvPr/>
          </p:nvGrpSpPr>
          <p:grpSpPr>
            <a:xfrm>
              <a:off x="927542" y="3550575"/>
              <a:ext cx="2479199" cy="2520000"/>
              <a:chOff x="593683" y="2766046"/>
              <a:chExt cx="3600000" cy="3600000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8554B375-31EF-4C43-A6AE-E5B1E9440549}"/>
                  </a:ext>
                </a:extLst>
              </p:cNvPr>
              <p:cNvGrpSpPr/>
              <p:nvPr/>
            </p:nvGrpSpPr>
            <p:grpSpPr>
              <a:xfrm>
                <a:off x="593683" y="2766046"/>
                <a:ext cx="3600000" cy="3600000"/>
                <a:chOff x="2496639" y="3127933"/>
                <a:chExt cx="2160000" cy="2160000"/>
              </a:xfrm>
            </p:grpSpPr>
            <p:sp>
              <p:nvSpPr>
                <p:cNvPr id="14" name="楕円 13">
                  <a:extLst>
                    <a:ext uri="{FF2B5EF4-FFF2-40B4-BE49-F238E27FC236}">
                      <a16:creationId xmlns:a16="http://schemas.microsoft.com/office/drawing/2014/main" id="{A1C72879-7663-4CFB-88E9-34EA650B9E42}"/>
                    </a:ext>
                  </a:extLst>
                </p:cNvPr>
                <p:cNvSpPr/>
                <p:nvPr/>
              </p:nvSpPr>
              <p:spPr>
                <a:xfrm>
                  <a:off x="3522639" y="4153933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6" name="円弧 15">
                  <a:extLst>
                    <a:ext uri="{FF2B5EF4-FFF2-40B4-BE49-F238E27FC236}">
                      <a16:creationId xmlns:a16="http://schemas.microsoft.com/office/drawing/2014/main" id="{21443D1A-AC81-4E2C-9F08-A2F5FE195ACB}"/>
                    </a:ext>
                  </a:extLst>
                </p:cNvPr>
                <p:cNvSpPr/>
                <p:nvPr/>
              </p:nvSpPr>
              <p:spPr>
                <a:xfrm>
                  <a:off x="2496639" y="3127933"/>
                  <a:ext cx="2160000" cy="2160000"/>
                </a:xfrm>
                <a:prstGeom prst="arc">
                  <a:avLst>
                    <a:gd name="adj1" fmla="val 17662870"/>
                    <a:gd name="adj2" fmla="val 0"/>
                  </a:avLst>
                </a:prstGeom>
                <a:ln w="38100">
                  <a:prstDash val="sysDash"/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2" name="円弧 11">
                <a:extLst>
                  <a:ext uri="{FF2B5EF4-FFF2-40B4-BE49-F238E27FC236}">
                    <a16:creationId xmlns:a16="http://schemas.microsoft.com/office/drawing/2014/main" id="{0C0D5BF1-D002-4C2F-AE00-5CF4DB5367DC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円弧 12">
                <a:extLst>
                  <a:ext uri="{FF2B5EF4-FFF2-40B4-BE49-F238E27FC236}">
                    <a16:creationId xmlns:a16="http://schemas.microsoft.com/office/drawing/2014/main" id="{DB4A5309-DBD8-48D5-84E2-9969FDA8CE9D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17662870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22146863-7B32-4646-9F9C-ADE0B576324E}"/>
                </a:ext>
              </a:extLst>
            </p:cNvPr>
            <p:cNvSpPr/>
            <p:nvPr/>
          </p:nvSpPr>
          <p:spPr>
            <a:xfrm>
              <a:off x="969267" y="2847477"/>
              <a:ext cx="360000" cy="36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34639F53-5E2C-4A62-9328-2ACD46525583}"/>
                </a:ext>
              </a:extLst>
            </p:cNvPr>
            <p:cNvCxnSpPr>
              <a:stCxn id="13" idx="0"/>
            </p:cNvCxnSpPr>
            <p:nvPr/>
          </p:nvCxnSpPr>
          <p:spPr>
            <a:xfrm flipH="1" flipV="1">
              <a:off x="1329267" y="3090333"/>
              <a:ext cx="1356544" cy="575841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02D28F6-462D-4054-9015-D8054A2C15B9}"/>
              </a:ext>
            </a:extLst>
          </p:cNvPr>
          <p:cNvGrpSpPr/>
          <p:nvPr/>
        </p:nvGrpSpPr>
        <p:grpSpPr>
          <a:xfrm>
            <a:off x="3692936" y="3248107"/>
            <a:ext cx="2659199" cy="3223098"/>
            <a:chOff x="747542" y="3550575"/>
            <a:chExt cx="2659199" cy="3223098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A6B7D2FC-85B6-4B94-AABE-E91B55CD0E87}"/>
                </a:ext>
              </a:extLst>
            </p:cNvPr>
            <p:cNvGrpSpPr/>
            <p:nvPr/>
          </p:nvGrpSpPr>
          <p:grpSpPr>
            <a:xfrm>
              <a:off x="927542" y="3550575"/>
              <a:ext cx="2479199" cy="2520000"/>
              <a:chOff x="593683" y="2766046"/>
              <a:chExt cx="3600000" cy="3600000"/>
            </a:xfrm>
          </p:grpSpPr>
          <p:sp>
            <p:nvSpPr>
              <p:cNvPr id="29" name="円弧 28">
                <a:extLst>
                  <a:ext uri="{FF2B5EF4-FFF2-40B4-BE49-F238E27FC236}">
                    <a16:creationId xmlns:a16="http://schemas.microsoft.com/office/drawing/2014/main" id="{88BAFBCF-6142-4DBF-B680-CD79B15140D6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3312DE93-091A-4787-9872-DBA19DFF5C4C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10998630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楕円 30">
                <a:extLst>
                  <a:ext uri="{FF2B5EF4-FFF2-40B4-BE49-F238E27FC236}">
                    <a16:creationId xmlns:a16="http://schemas.microsoft.com/office/drawing/2014/main" id="{64A109DC-0563-4581-851A-F542F4BD7BFC}"/>
                  </a:ext>
                </a:extLst>
              </p:cNvPr>
              <p:cNvSpPr/>
              <p:nvPr/>
            </p:nvSpPr>
            <p:spPr>
              <a:xfrm>
                <a:off x="2303684" y="4476085"/>
                <a:ext cx="180000" cy="18000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11BF89E6-054A-4406-93D2-583EE750BD37}"/>
                </a:ext>
              </a:extLst>
            </p:cNvPr>
            <p:cNvSpPr/>
            <p:nvPr/>
          </p:nvSpPr>
          <p:spPr>
            <a:xfrm>
              <a:off x="747542" y="6413673"/>
              <a:ext cx="360000" cy="36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B90EE920-BF0C-4F96-955C-09CA501F6431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>
              <a:off x="929544" y="4738988"/>
              <a:ext cx="0" cy="1674685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5B433BE6-92E3-4433-AC8B-7AA386B5F99B}"/>
              </a:ext>
            </a:extLst>
          </p:cNvPr>
          <p:cNvGrpSpPr/>
          <p:nvPr/>
        </p:nvGrpSpPr>
        <p:grpSpPr>
          <a:xfrm>
            <a:off x="7437402" y="3124253"/>
            <a:ext cx="3472065" cy="2520000"/>
            <a:chOff x="927542" y="3550575"/>
            <a:chExt cx="3472065" cy="2520000"/>
          </a:xfrm>
        </p:grpSpPr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71FE1D83-262E-4F9F-A02B-B417351265B1}"/>
                </a:ext>
              </a:extLst>
            </p:cNvPr>
            <p:cNvGrpSpPr/>
            <p:nvPr/>
          </p:nvGrpSpPr>
          <p:grpSpPr>
            <a:xfrm>
              <a:off x="927542" y="3550575"/>
              <a:ext cx="2479199" cy="2520000"/>
              <a:chOff x="593683" y="2766046"/>
              <a:chExt cx="3600000" cy="3600000"/>
            </a:xfrm>
          </p:grpSpPr>
          <p:sp>
            <p:nvSpPr>
              <p:cNvPr id="43" name="円弧 42">
                <a:extLst>
                  <a:ext uri="{FF2B5EF4-FFF2-40B4-BE49-F238E27FC236}">
                    <a16:creationId xmlns:a16="http://schemas.microsoft.com/office/drawing/2014/main" id="{109F6AE3-7E65-4052-BA57-CAC4C8D3B9FC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円弧 43">
                <a:extLst>
                  <a:ext uri="{FF2B5EF4-FFF2-40B4-BE49-F238E27FC236}">
                    <a16:creationId xmlns:a16="http://schemas.microsoft.com/office/drawing/2014/main" id="{EC86C8E4-E74F-487C-A6D3-BFC70F1AF37D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4073156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楕円 44">
                <a:extLst>
                  <a:ext uri="{FF2B5EF4-FFF2-40B4-BE49-F238E27FC236}">
                    <a16:creationId xmlns:a16="http://schemas.microsoft.com/office/drawing/2014/main" id="{3466FBB8-9AB3-4416-AC83-A87A548ED99C}"/>
                  </a:ext>
                </a:extLst>
              </p:cNvPr>
              <p:cNvSpPr/>
              <p:nvPr/>
            </p:nvSpPr>
            <p:spPr>
              <a:xfrm>
                <a:off x="2303684" y="4476085"/>
                <a:ext cx="180000" cy="18000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AA250ADA-9E52-423F-BD29-BCD6DC1035AE}"/>
                </a:ext>
              </a:extLst>
            </p:cNvPr>
            <p:cNvSpPr/>
            <p:nvPr/>
          </p:nvSpPr>
          <p:spPr>
            <a:xfrm>
              <a:off x="4039607" y="4977401"/>
              <a:ext cx="360000" cy="36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E7BEF152-D95C-4A44-A843-0E34D190CFF5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2640359" y="5252827"/>
              <a:ext cx="1399248" cy="722322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回転運動には、常に円の接線に沿った運動が発生します。</a:t>
            </a:r>
            <a:endParaRPr lang="en-US" altLang="ja-JP" sz="2400" dirty="0"/>
          </a:p>
          <a:p>
            <a:r>
              <a:rPr lang="ja-JP" altLang="en-US" sz="2400" dirty="0"/>
              <a:t>その</a:t>
            </a:r>
            <a:r>
              <a:rPr lang="ja-JP" altLang="en-US" sz="2400" b="1" dirty="0">
                <a:solidFill>
                  <a:srgbClr val="FF0000"/>
                </a:solidFill>
              </a:rPr>
              <a:t>接線に沿った運動ベクトルを接線速度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202E0F4B-C4EC-47AF-B334-9357A5F88461}"/>
              </a:ext>
            </a:extLst>
          </p:cNvPr>
          <p:cNvGrpSpPr/>
          <p:nvPr/>
        </p:nvGrpSpPr>
        <p:grpSpPr>
          <a:xfrm>
            <a:off x="567542" y="2593477"/>
            <a:ext cx="2479199" cy="3223098"/>
            <a:chOff x="927542" y="2847477"/>
            <a:chExt cx="2479199" cy="3223098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0B3F328-573A-44F4-8005-E79087FFBF6D}"/>
                </a:ext>
              </a:extLst>
            </p:cNvPr>
            <p:cNvGrpSpPr/>
            <p:nvPr/>
          </p:nvGrpSpPr>
          <p:grpSpPr>
            <a:xfrm>
              <a:off x="927542" y="3550575"/>
              <a:ext cx="2479199" cy="2520000"/>
              <a:chOff x="593683" y="2766046"/>
              <a:chExt cx="3600000" cy="3600000"/>
            </a:xfrm>
          </p:grpSpPr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8554B375-31EF-4C43-A6AE-E5B1E9440549}"/>
                  </a:ext>
                </a:extLst>
              </p:cNvPr>
              <p:cNvGrpSpPr/>
              <p:nvPr/>
            </p:nvGrpSpPr>
            <p:grpSpPr>
              <a:xfrm>
                <a:off x="593683" y="2766046"/>
                <a:ext cx="3600000" cy="3600000"/>
                <a:chOff x="2496639" y="3127933"/>
                <a:chExt cx="2160000" cy="2160000"/>
              </a:xfrm>
            </p:grpSpPr>
            <p:sp>
              <p:nvSpPr>
                <p:cNvPr id="14" name="楕円 13">
                  <a:extLst>
                    <a:ext uri="{FF2B5EF4-FFF2-40B4-BE49-F238E27FC236}">
                      <a16:creationId xmlns:a16="http://schemas.microsoft.com/office/drawing/2014/main" id="{A1C72879-7663-4CFB-88E9-34EA650B9E42}"/>
                    </a:ext>
                  </a:extLst>
                </p:cNvPr>
                <p:cNvSpPr/>
                <p:nvPr/>
              </p:nvSpPr>
              <p:spPr>
                <a:xfrm>
                  <a:off x="3522639" y="4153933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6" name="円弧 15">
                  <a:extLst>
                    <a:ext uri="{FF2B5EF4-FFF2-40B4-BE49-F238E27FC236}">
                      <a16:creationId xmlns:a16="http://schemas.microsoft.com/office/drawing/2014/main" id="{21443D1A-AC81-4E2C-9F08-A2F5FE195ACB}"/>
                    </a:ext>
                  </a:extLst>
                </p:cNvPr>
                <p:cNvSpPr/>
                <p:nvPr/>
              </p:nvSpPr>
              <p:spPr>
                <a:xfrm>
                  <a:off x="2496639" y="3127933"/>
                  <a:ext cx="2160000" cy="2160000"/>
                </a:xfrm>
                <a:prstGeom prst="arc">
                  <a:avLst>
                    <a:gd name="adj1" fmla="val 17662870"/>
                    <a:gd name="adj2" fmla="val 0"/>
                  </a:avLst>
                </a:prstGeom>
                <a:ln w="38100">
                  <a:prstDash val="sysDash"/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2" name="円弧 11">
                <a:extLst>
                  <a:ext uri="{FF2B5EF4-FFF2-40B4-BE49-F238E27FC236}">
                    <a16:creationId xmlns:a16="http://schemas.microsoft.com/office/drawing/2014/main" id="{0C0D5BF1-D002-4C2F-AE00-5CF4DB5367DC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円弧 12">
                <a:extLst>
                  <a:ext uri="{FF2B5EF4-FFF2-40B4-BE49-F238E27FC236}">
                    <a16:creationId xmlns:a16="http://schemas.microsoft.com/office/drawing/2014/main" id="{DB4A5309-DBD8-48D5-84E2-9969FDA8CE9D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17662870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22146863-7B32-4646-9F9C-ADE0B576324E}"/>
                </a:ext>
              </a:extLst>
            </p:cNvPr>
            <p:cNvSpPr/>
            <p:nvPr/>
          </p:nvSpPr>
          <p:spPr>
            <a:xfrm>
              <a:off x="969267" y="2847477"/>
              <a:ext cx="360000" cy="36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34639F53-5E2C-4A62-9328-2ACD46525583}"/>
                </a:ext>
              </a:extLst>
            </p:cNvPr>
            <p:cNvCxnSpPr>
              <a:stCxn id="13" idx="0"/>
            </p:cNvCxnSpPr>
            <p:nvPr/>
          </p:nvCxnSpPr>
          <p:spPr>
            <a:xfrm flipH="1" flipV="1">
              <a:off x="1329267" y="3090333"/>
              <a:ext cx="1356544" cy="57584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85FD065-2049-4EC8-BADE-67FF4B49A39D}"/>
              </a:ext>
            </a:extLst>
          </p:cNvPr>
          <p:cNvGrpSpPr/>
          <p:nvPr/>
        </p:nvGrpSpPr>
        <p:grpSpPr>
          <a:xfrm>
            <a:off x="3692936" y="3248107"/>
            <a:ext cx="2659199" cy="3223098"/>
            <a:chOff x="747542" y="3550575"/>
            <a:chExt cx="2659199" cy="3223098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AA174ABC-48C3-4E08-AD6F-D0643A6C85C7}"/>
                </a:ext>
              </a:extLst>
            </p:cNvPr>
            <p:cNvGrpSpPr/>
            <p:nvPr/>
          </p:nvGrpSpPr>
          <p:grpSpPr>
            <a:xfrm>
              <a:off x="927542" y="3550575"/>
              <a:ext cx="2479199" cy="2520000"/>
              <a:chOff x="593683" y="2766046"/>
              <a:chExt cx="3600000" cy="3600000"/>
            </a:xfrm>
          </p:grpSpPr>
          <p:sp>
            <p:nvSpPr>
              <p:cNvPr id="34" name="円弧 33">
                <a:extLst>
                  <a:ext uri="{FF2B5EF4-FFF2-40B4-BE49-F238E27FC236}">
                    <a16:creationId xmlns:a16="http://schemas.microsoft.com/office/drawing/2014/main" id="{B2025B20-8CE4-4AED-9228-A997C1C9B99D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弧 34">
                <a:extLst>
                  <a:ext uri="{FF2B5EF4-FFF2-40B4-BE49-F238E27FC236}">
                    <a16:creationId xmlns:a16="http://schemas.microsoft.com/office/drawing/2014/main" id="{F64D87DB-5C60-46F5-9453-C165C10E7C52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10998630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7097DBF6-A118-4032-82BF-702D38A18C7D}"/>
                  </a:ext>
                </a:extLst>
              </p:cNvPr>
              <p:cNvSpPr/>
              <p:nvPr/>
            </p:nvSpPr>
            <p:spPr>
              <a:xfrm>
                <a:off x="2303684" y="4476085"/>
                <a:ext cx="180000" cy="18000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64A5CBB7-09BA-4C2D-8FDE-67E289AA6E6F}"/>
                </a:ext>
              </a:extLst>
            </p:cNvPr>
            <p:cNvSpPr/>
            <p:nvPr/>
          </p:nvSpPr>
          <p:spPr>
            <a:xfrm>
              <a:off x="747542" y="6413673"/>
              <a:ext cx="360000" cy="36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0F80D780-6381-4049-9B8E-D482997D6DA8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>
              <a:off x="929544" y="4738988"/>
              <a:ext cx="0" cy="167468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7F91356-B684-4031-85A0-07D2E400D286}"/>
              </a:ext>
            </a:extLst>
          </p:cNvPr>
          <p:cNvGrpSpPr/>
          <p:nvPr/>
        </p:nvGrpSpPr>
        <p:grpSpPr>
          <a:xfrm>
            <a:off x="7437402" y="3124253"/>
            <a:ext cx="3472065" cy="2520000"/>
            <a:chOff x="927542" y="3550575"/>
            <a:chExt cx="3472065" cy="2520000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EF9E5D9A-5CCB-4A18-A690-53C96D84334D}"/>
                </a:ext>
              </a:extLst>
            </p:cNvPr>
            <p:cNvGrpSpPr/>
            <p:nvPr/>
          </p:nvGrpSpPr>
          <p:grpSpPr>
            <a:xfrm>
              <a:off x="927542" y="3550575"/>
              <a:ext cx="2479199" cy="2520000"/>
              <a:chOff x="593683" y="2766046"/>
              <a:chExt cx="3600000" cy="3600000"/>
            </a:xfrm>
          </p:grpSpPr>
          <p:sp>
            <p:nvSpPr>
              <p:cNvPr id="48" name="円弧 47">
                <a:extLst>
                  <a:ext uri="{FF2B5EF4-FFF2-40B4-BE49-F238E27FC236}">
                    <a16:creationId xmlns:a16="http://schemas.microsoft.com/office/drawing/2014/main" id="{5506628E-13C9-4B0E-B374-0565355FF0CF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24790"/>
                  <a:gd name="adj2" fmla="val 0"/>
                </a:avLst>
              </a:prstGeom>
              <a:ln w="12700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9" name="円弧 48">
                <a:extLst>
                  <a:ext uri="{FF2B5EF4-FFF2-40B4-BE49-F238E27FC236}">
                    <a16:creationId xmlns:a16="http://schemas.microsoft.com/office/drawing/2014/main" id="{7DF20A0D-81C6-4D72-A183-0026F099DB5A}"/>
                  </a:ext>
                </a:extLst>
              </p:cNvPr>
              <p:cNvSpPr/>
              <p:nvPr/>
            </p:nvSpPr>
            <p:spPr>
              <a:xfrm>
                <a:off x="593683" y="2766046"/>
                <a:ext cx="3600000" cy="3600000"/>
              </a:xfrm>
              <a:prstGeom prst="arc">
                <a:avLst>
                  <a:gd name="adj1" fmla="val 4073156"/>
                  <a:gd name="adj2" fmla="val 0"/>
                </a:avLst>
              </a:prstGeom>
              <a:ln w="38100">
                <a:prstDash val="solid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0" name="楕円 49">
                <a:extLst>
                  <a:ext uri="{FF2B5EF4-FFF2-40B4-BE49-F238E27FC236}">
                    <a16:creationId xmlns:a16="http://schemas.microsoft.com/office/drawing/2014/main" id="{03F70108-1C46-4C97-BEC8-CD3E1D1FE2C6}"/>
                  </a:ext>
                </a:extLst>
              </p:cNvPr>
              <p:cNvSpPr/>
              <p:nvPr/>
            </p:nvSpPr>
            <p:spPr>
              <a:xfrm>
                <a:off x="2303684" y="4476085"/>
                <a:ext cx="180000" cy="180001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3A683BDB-B068-439C-9A0E-1B978749A79D}"/>
                </a:ext>
              </a:extLst>
            </p:cNvPr>
            <p:cNvSpPr/>
            <p:nvPr/>
          </p:nvSpPr>
          <p:spPr>
            <a:xfrm>
              <a:off x="4039607" y="4977401"/>
              <a:ext cx="360000" cy="3600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5B2825EA-FA55-456E-BED1-F85C8B21BB9D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flipV="1">
              <a:off x="2640359" y="5252827"/>
              <a:ext cx="1399248" cy="7223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61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83B590F-7F17-4919-92C9-9B1E963C098E}"/>
              </a:ext>
            </a:extLst>
          </p:cNvPr>
          <p:cNvSpPr/>
          <p:nvPr/>
        </p:nvSpPr>
        <p:spPr>
          <a:xfrm>
            <a:off x="347133" y="1837267"/>
            <a:ext cx="5410200" cy="2531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接線速度の定義です。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■接線速度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・・・接線速度（速さのみ）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・・・瞬間角速度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・・・半径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lang="ja-JP" altLang="en-US" sz="2400" dirty="0"/>
                  <a:t>接線速度の向きは、</a:t>
                </a:r>
                <a:endParaRPr lang="en-US" altLang="ja-JP" sz="2400" dirty="0"/>
              </a:p>
              <a:p>
                <a:r>
                  <a:rPr lang="ja-JP" altLang="en-US" sz="2400" dirty="0"/>
                  <a:t>円の中心から物体までのベクトルと、</a:t>
                </a:r>
                <a:endParaRPr lang="en-US" altLang="ja-JP" sz="2400" dirty="0"/>
              </a:p>
              <a:p>
                <a:r>
                  <a:rPr lang="ja-JP" altLang="en-US" sz="2400" dirty="0"/>
                  <a:t>円を描く平面上の法線ベクトルで外積を計算します。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4893647"/>
              </a:xfrm>
              <a:prstGeom prst="rect">
                <a:avLst/>
              </a:prstGeom>
              <a:blipFill>
                <a:blip r:embed="rId2"/>
                <a:stretch>
                  <a:fillRect l="-1208" t="-998" r="-322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75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346883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野球選手がボールを投げました。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選手の肘からボールまでの距離が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ｍ</m:t>
                    </m:r>
                  </m:oMath>
                </a14:m>
                <a:r>
                  <a:rPr lang="ja-JP" altLang="en-US" sz="2400" dirty="0"/>
                  <a:t>、</a:t>
                </a:r>
                <a:endParaRPr lang="en-US" altLang="ja-JP" sz="2400" dirty="0"/>
              </a:p>
              <a:p>
                <a:r>
                  <a:rPr lang="ja-JP" altLang="en-US" sz="2400" dirty="0"/>
                  <a:t>ボールを離す瞬間の角速度を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:r>
                  <a:rPr lang="ja-JP" altLang="en-US" sz="2400" dirty="0"/>
                  <a:t>投げられたボールの速さを求めなさい。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ラジアンは単位として含めないです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346883" cy="3785652"/>
              </a:xfrm>
              <a:prstGeom prst="rect">
                <a:avLst/>
              </a:prstGeom>
              <a:blipFill>
                <a:blip r:embed="rId2"/>
                <a:stretch>
                  <a:fillRect l="-1245" t="-1288" r="-415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891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65DF977-AAFB-4E15-957A-1C1A2A0A2466}"/>
              </a:ext>
            </a:extLst>
          </p:cNvPr>
          <p:cNvSpPr/>
          <p:nvPr/>
        </p:nvSpPr>
        <p:spPr>
          <a:xfrm>
            <a:off x="338666" y="2163233"/>
            <a:ext cx="5858933" cy="25315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接線加速度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5632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角速度により接線速度が計算できるのであれば、</a:t>
                </a:r>
                <a:endParaRPr lang="en-US" altLang="ja-JP" sz="2400" dirty="0"/>
              </a:p>
              <a:p>
                <a:r>
                  <a:rPr lang="ja-JP" altLang="en-US" sz="2400" dirty="0"/>
                  <a:t>同様に角加速度から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接線加速度</a:t>
                </a:r>
                <a:r>
                  <a:rPr lang="ja-JP" altLang="en-US" sz="2400" dirty="0"/>
                  <a:t>を計算することができます。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■接線加速度</a:t>
                </a:r>
                <a:endParaRPr lang="en-US" altLang="ja-JP" sz="2400" b="1" baseline="-250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・・・接線加速度（大きさのみ）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・・・瞬間角加速度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・・・半径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lang="ja-JP" altLang="en-US" sz="2400" dirty="0"/>
                  <a:t>接線加速度の向きは、</a:t>
                </a:r>
                <a:endParaRPr lang="en-US" altLang="ja-JP" sz="2400" dirty="0"/>
              </a:p>
              <a:p>
                <a:r>
                  <a:rPr lang="ja-JP" altLang="en-US" sz="2400" dirty="0"/>
                  <a:t>円の中心から物体までのベクトルと、</a:t>
                </a:r>
                <a:endParaRPr lang="en-US" altLang="ja-JP" sz="2400" dirty="0"/>
              </a:p>
              <a:p>
                <a:r>
                  <a:rPr lang="ja-JP" altLang="en-US" sz="2400" dirty="0"/>
                  <a:t>円を描く平面上の法線ベクトルで外積を計算します。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ただし、加速してるか減速してるかによって向きが反転します。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5632311"/>
              </a:xfrm>
              <a:prstGeom prst="rect">
                <a:avLst/>
              </a:prstGeom>
              <a:blipFill>
                <a:blip r:embed="rId2"/>
                <a:stretch>
                  <a:fillRect l="-1003" t="-867" r="-67" b="-16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37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接線加速度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854429" cy="4602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ゲーム中のルーレットを、初期角速度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6.0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で回転させた。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ルーレットは減速していき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後に停止した。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ルーレットの半径が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0.4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の場合、回転中の接線加速度を求めなさい。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ただし、ルーレットの角加速度は一定とする。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ルーレットの角加速度は、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0−6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baseline="30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ja-JP" sz="2400" baseline="30000" dirty="0"/>
                  <a:t> </a:t>
                </a:r>
              </a:p>
              <a:p>
                <a:endParaRPr lang="en-US" altLang="ja-JP" sz="2400" baseline="30000" dirty="0"/>
              </a:p>
              <a:p>
                <a:endParaRPr lang="en-US" altLang="ja-JP" sz="2400" baseline="300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baseline="-2500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baseline="300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=−0.8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baseline="30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854429" cy="4602157"/>
              </a:xfrm>
              <a:prstGeom prst="rect">
                <a:avLst/>
              </a:prstGeom>
              <a:blipFill>
                <a:blip r:embed="rId2"/>
                <a:stretch>
                  <a:fillRect l="-928" t="-1061" b="-9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0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接線加速度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75881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■問題１</a:t>
                </a:r>
                <a:endParaRPr lang="en-US" altLang="ja-JP" sz="2400" dirty="0"/>
              </a:p>
              <a:p>
                <a:r>
                  <a:rPr lang="ja-JP" altLang="en-US" sz="2400" dirty="0"/>
                  <a:t>ハンマー投げの方法で鉄球を投げた。</a:t>
                </a:r>
                <a:endParaRPr lang="en-US" altLang="ja-JP" sz="2400" dirty="0"/>
              </a:p>
              <a:p>
                <a:r>
                  <a:rPr lang="ja-JP" altLang="en-US" sz="2400" dirty="0"/>
                  <a:t>選手から鉄球までの距離を</a:t>
                </a:r>
                <a:r>
                  <a:rPr lang="en-US" altLang="ja-JP" sz="2400" dirty="0"/>
                  <a:t>1.2m</a:t>
                </a:r>
                <a:r>
                  <a:rPr lang="ja-JP" altLang="en-US" sz="2400" dirty="0"/>
                  <a:t>、</a:t>
                </a:r>
                <a:endParaRPr lang="en-US" altLang="ja-JP" sz="2400" dirty="0"/>
              </a:p>
              <a:p>
                <a:r>
                  <a:rPr lang="ja-JP" altLang="en-US" sz="2400" dirty="0"/>
                  <a:t>手から離れた瞬間の角速度を</a:t>
                </a:r>
                <a:r>
                  <a:rPr lang="en-US" altLang="ja-JP" sz="2400" dirty="0"/>
                  <a:t>24rad/</a:t>
                </a:r>
                <a:r>
                  <a:rPr lang="ja-JP" altLang="en-US" sz="2400" dirty="0"/>
                  <a:t>秒とすると、</a:t>
                </a:r>
                <a:endParaRPr lang="en-US" altLang="ja-JP" sz="2400" dirty="0"/>
              </a:p>
              <a:p>
                <a:r>
                  <a:rPr lang="ja-JP" altLang="en-US" sz="2400" dirty="0"/>
                  <a:t>投げられた鉄球の速さはいくつか求めなさい。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■問題２</a:t>
                </a:r>
                <a:endParaRPr lang="en-US" altLang="ja-JP" sz="2400" dirty="0"/>
              </a:p>
              <a:p>
                <a:r>
                  <a:rPr lang="ja-JP" altLang="en-US" sz="2400" dirty="0"/>
                  <a:t>ゲーム中のルーレットを、初期角速度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で回転させた。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ルーレットは減速していき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後に停止した。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ルーレットの半径が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の場合、回転中の接線加速度を求めなさい。</a:t>
                </a:r>
                <a:endParaRPr lang="en-US" altLang="ja-JP" sz="2400" dirty="0"/>
              </a:p>
              <a:p>
                <a:r>
                  <a:rPr lang="ja-JP" altLang="en-US" sz="2400" dirty="0"/>
                  <a:t>ただし、ルーレットの角加速度は一定とする。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75881" cy="4524315"/>
              </a:xfrm>
              <a:prstGeom prst="rect">
                <a:avLst/>
              </a:prstGeom>
              <a:blipFill>
                <a:blip r:embed="rId2"/>
                <a:stretch>
                  <a:fillRect l="-935" t="-10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63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接線加速度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18814" cy="5362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■接線速度の成り立ち</a:t>
                </a:r>
                <a:endParaRPr lang="en-US" altLang="ja-JP" sz="2400" dirty="0"/>
              </a:p>
              <a:p>
                <a:r>
                  <a:rPr lang="ja-JP" altLang="en-US" sz="2400" dirty="0"/>
                  <a:t>変位角の定義を、弧の長さを求める式に変形すると、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両辺を時間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 で割ると、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ja-JP" altLang="en-US" sz="2400" dirty="0"/>
                  <a:t> は弧の長さを時間で割ったもの、つまり速度である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は変位角を時間で割ったもの、つまり角速度である</a:t>
                </a:r>
                <a14:m>
                  <m:oMath xmlns:m="http://schemas.openxmlformats.org/officeDocument/2006/math">
                    <m:r>
                      <a:rPr lang="en-US" altLang="ja-JP" sz="240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瞬間速度と同様に、接線上の速度なので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は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に極限に近づけるため、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baseline="-2500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興味がある方は時間微分について調べてみよう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18814" cy="5362943"/>
              </a:xfrm>
              <a:prstGeom prst="rect">
                <a:avLst/>
              </a:prstGeom>
              <a:blipFill>
                <a:blip r:embed="rId2"/>
                <a:stretch>
                  <a:fillRect l="-941" t="-910" r="-63" b="-1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49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接線加速度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34368" cy="37917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■接線加速度の成り立ち</a:t>
                </a:r>
                <a:endParaRPr lang="en-US" altLang="ja-JP" sz="2400" dirty="0"/>
              </a:p>
              <a:p>
                <a:r>
                  <a:rPr lang="ja-JP" altLang="en-US" sz="2400" dirty="0"/>
                  <a:t>接線速度の定義を時間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 で割ると、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b="0" i="1" baseline="-250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b="0" i="1" baseline="-25000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ja-JP" altLang="en-US" sz="2400" dirty="0"/>
                  <a:t>は速度を時間で割ったもの、つまり加速度である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2400" i="1" baseline="-25000" dirty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ja-JP" altLang="en-US" sz="2400" dirty="0"/>
                  <a:t>は角速度を時間で割ったもの、つまり角加速度である</a:t>
                </a:r>
                <a14:m>
                  <m:oMath xmlns:m="http://schemas.openxmlformats.org/officeDocument/2006/math">
                    <m:r>
                      <a:rPr lang="en-US" altLang="ja-JP" sz="2400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ω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瞬間加速度と同様に、接線上の加速度なので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は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に極限に近づけるため、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i="1" baseline="-250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34368" cy="3791744"/>
              </a:xfrm>
              <a:prstGeom prst="rect">
                <a:avLst/>
              </a:prstGeom>
              <a:blipFill>
                <a:blip r:embed="rId2"/>
                <a:stretch>
                  <a:fillRect l="-885" t="-1286" b="-27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38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708</Words>
  <Application>Microsoft Office PowerPoint</Application>
  <PresentationFormat>ワイド画面</PresentationFormat>
  <Paragraphs>96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301</cp:revision>
  <dcterms:created xsi:type="dcterms:W3CDTF">2024-08-27T02:15:54Z</dcterms:created>
  <dcterms:modified xsi:type="dcterms:W3CDTF">2025-11-04T05:50:59Z</dcterms:modified>
</cp:coreProperties>
</file>