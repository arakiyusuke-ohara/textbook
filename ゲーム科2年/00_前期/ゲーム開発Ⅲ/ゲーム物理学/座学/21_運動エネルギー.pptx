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5" r:id="rId5"/>
    <p:sldId id="264" r:id="rId6"/>
    <p:sldId id="266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5B5B"/>
    <a:srgbClr val="8C46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D35CD48-1C83-4484-8360-9998F6FD9AE0}"/>
              </a:ext>
            </a:extLst>
          </p:cNvPr>
          <p:cNvSpPr/>
          <p:nvPr/>
        </p:nvSpPr>
        <p:spPr>
          <a:xfrm>
            <a:off x="376518" y="2160494"/>
            <a:ext cx="4912658" cy="276417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運動エネルギー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54152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動いている物体は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運動エネルギー</a:t>
                </a:r>
                <a:r>
                  <a:rPr lang="ja-JP" altLang="en-US" sz="2400" dirty="0"/>
                  <a:t>を持っています。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まずは定義を確認します。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■運動エネルギー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𝐾𝐸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𝐾𝐸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・・・運動エネルギー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・・・質量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・・・速さ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b="1" dirty="0">
                    <a:solidFill>
                      <a:srgbClr val="00B050"/>
                    </a:solidFill>
                  </a:rPr>
                  <a:t>※</a:t>
                </a:r>
                <a:r>
                  <a:rPr lang="ja-JP" altLang="en-US" sz="2400" b="1" dirty="0">
                    <a:solidFill>
                      <a:srgbClr val="00B050"/>
                    </a:solidFill>
                  </a:rPr>
                  <a:t>要点</a:t>
                </a:r>
                <a:endParaRPr lang="en-US" altLang="ja-JP" sz="2400" b="1" dirty="0">
                  <a:solidFill>
                    <a:srgbClr val="00B050"/>
                  </a:solidFill>
                </a:endParaRPr>
              </a:p>
              <a:p>
                <a:r>
                  <a:rPr lang="ja-JP" altLang="en-US" sz="2400" dirty="0"/>
                  <a:t>・重いものが移動するほど運動エネルギーは大きくなります</a:t>
                </a:r>
                <a:endParaRPr lang="en-US" altLang="ja-JP" sz="2400" dirty="0"/>
              </a:p>
              <a:p>
                <a:r>
                  <a:rPr lang="ja-JP" altLang="en-US" sz="2400" dirty="0"/>
                  <a:t>・早く移動するほど運動エネルギーは大きくなります</a:t>
                </a:r>
                <a:endParaRPr lang="en-US" altLang="ja-JP" sz="2400" dirty="0"/>
              </a:p>
              <a:p>
                <a:r>
                  <a:rPr lang="ja-JP" altLang="en-US" sz="2400" dirty="0"/>
                  <a:t>・質量も速さもスカラーなので、運動エネルギーもスカラーです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5415200"/>
              </a:xfrm>
              <a:prstGeom prst="rect">
                <a:avLst/>
              </a:prstGeom>
              <a:blipFill>
                <a:blip r:embed="rId2"/>
                <a:stretch>
                  <a:fillRect l="-1003" t="-901" r="-67" b="-16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D35CD48-1C83-4484-8360-9998F6FD9AE0}"/>
              </a:ext>
            </a:extLst>
          </p:cNvPr>
          <p:cNvSpPr/>
          <p:nvPr/>
        </p:nvSpPr>
        <p:spPr>
          <a:xfrm>
            <a:off x="412377" y="1766046"/>
            <a:ext cx="8973670" cy="208877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運動エネルギー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334478" cy="32303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また、運動エネルギーの単位は、仕事と同じ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ジュール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■運動エネルギーの単位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で質量の単位が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ja-JP" altLang="en-US" sz="2400" dirty="0"/>
                  <a:t>、速さの単位が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の場合、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ja-JP" altLang="en-US" sz="2400" i="1" dirty="0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</m:d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 dirty="0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r>
                  <a:rPr lang="ja-JP" altLang="en-US" sz="2400" b="0" dirty="0"/>
                  <a:t>このように</a:t>
                </a:r>
                <a:r>
                  <a:rPr lang="en-US" altLang="ja-JP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ジュール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b="0" dirty="0"/>
                  <a:t>となる。</a:t>
                </a:r>
                <a:endParaRPr lang="en-US" altLang="ja-JP" sz="2400" b="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計算する際は質量の単位を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𝒌𝒈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、速さの単位を</a:t>
                </a:r>
                <a14:m>
                  <m:oMath xmlns:m="http://schemas.openxmlformats.org/officeDocument/2006/math"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にしましょう。</a:t>
                </a:r>
                <a:endParaRPr lang="en-US" altLang="ja-JP" sz="2400" b="1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334478" cy="3230372"/>
              </a:xfrm>
              <a:prstGeom prst="rect">
                <a:avLst/>
              </a:prstGeom>
              <a:blipFill>
                <a:blip r:embed="rId2"/>
                <a:stretch>
                  <a:fillRect l="-980" t="-1323" r="-653" b="-35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81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運動エネルギー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203884" cy="51593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野球のピッチャーが投げたボールが、速度計で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</m:t>
                    </m:r>
                  </m:oMath>
                </a14:m>
                <a:r>
                  <a:rPr lang="ja-JP" altLang="en-US" sz="2400" dirty="0"/>
                  <a:t>をマークした。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ボールの質量が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145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ja-JP" altLang="en-US" sz="2400" dirty="0"/>
                  <a:t>の場合、この時の運動エネルギーはいくつか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ja-JP" altLang="en-US" sz="2400" dirty="0"/>
                  <a:t>に合わせて単位変換すると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150</m:t>
                        </m:r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時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分</m:t>
                        </m:r>
                      </m:den>
                    </m:f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分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=41.66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145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𝑘𝑔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=0.145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𝐾𝐸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b="0" dirty="0"/>
                  <a:t> </a:t>
                </a:r>
                <a:r>
                  <a:rPr lang="ja-JP" altLang="en-US" sz="2400" b="0" dirty="0"/>
                  <a:t>より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𝐾𝐸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0.145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(41.66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𝟏𝟐𝟓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𝟖𝟐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b="1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203884" cy="5159361"/>
              </a:xfrm>
              <a:prstGeom prst="rect">
                <a:avLst/>
              </a:prstGeom>
              <a:blipFill>
                <a:blip r:embed="rId2"/>
                <a:stretch>
                  <a:fillRect l="-896" t="-9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037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DE3CAC9-8C0A-4C66-BC24-1CAB9786DAA4}"/>
              </a:ext>
            </a:extLst>
          </p:cNvPr>
          <p:cNvSpPr/>
          <p:nvPr/>
        </p:nvSpPr>
        <p:spPr>
          <a:xfrm>
            <a:off x="340659" y="1828800"/>
            <a:ext cx="5549153" cy="423348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運動エネルギー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033516" cy="54448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前回学習した仕事と、今回の運動エネルギーを使った定理があります。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■仕事とエネルギーの定理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𝐾𝐸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𝐾𝐸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𝐾𝐸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あるいは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𝑚𝑣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𝑚𝑣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・・・仕事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𝐾𝐸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・・・運動エネルギー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・・・力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・・・質量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・・・速さ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これを使えば変位と力から速さを計算することができます。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033516" cy="5444824"/>
              </a:xfrm>
              <a:prstGeom prst="rect">
                <a:avLst/>
              </a:prstGeom>
              <a:blipFill>
                <a:blip r:embed="rId2"/>
                <a:stretch>
                  <a:fillRect l="-911" t="-896" b="-15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8119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/>
              <a:t>運動エネルギー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649069" cy="5377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野球のボールを振りかぶって投げました。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ボールが手から離れたときの状況が以下のとき、ボールの速さを求めなさい</a:t>
                </a:r>
                <a:endParaRPr lang="en-US" altLang="ja-JP" sz="2400" dirty="0"/>
              </a:p>
              <a:p>
                <a:r>
                  <a:rPr lang="ja-JP" altLang="en-US" sz="2400" dirty="0"/>
                  <a:t>・振りかぶってボールが手から離れるまでの距離：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0.75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ja-JP" sz="2400" dirty="0"/>
              </a:p>
              <a:p>
                <a:r>
                  <a:rPr lang="ja-JP" altLang="en-US" sz="2400" dirty="0"/>
                  <a:t>・手から離れたときにボールに伝わる力：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400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altLang="ja-JP" sz="2400" dirty="0"/>
              </a:p>
              <a:p>
                <a:r>
                  <a:rPr lang="ja-JP" altLang="en-US" sz="2400" dirty="0"/>
                  <a:t>・ボールの質量：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145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ボールは手から離れるまでは動かないので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である</m:t>
                    </m:r>
                  </m:oMath>
                </a14:m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𝑚𝑣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𝑚𝑣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400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0.75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(0.145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𝑘𝑔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)(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−0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0.0725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𝑘𝑔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137.93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4137.93</m:t>
                        </m:r>
                      </m:e>
                    </m:ra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64.33</m:t>
                    </m:r>
                    <m:r>
                      <a:rPr lang="en-US" altLang="ja-JP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b="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649069" cy="5377498"/>
              </a:xfrm>
              <a:prstGeom prst="rect">
                <a:avLst/>
              </a:prstGeom>
              <a:blipFill>
                <a:blip r:embed="rId2"/>
                <a:stretch>
                  <a:fillRect l="-859" t="-9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0182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運動エネルギー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549683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0" dirty="0"/>
                  <a:t>①勇者は質量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2.0 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b="0" dirty="0"/>
                  <a:t>の木箱を押して道を開こうとしている。</a:t>
                </a:r>
                <a:endParaRPr lang="en-US" altLang="ja-JP" sz="2400" b="0" dirty="0"/>
              </a:p>
              <a:p>
                <a:r>
                  <a:rPr lang="en-US" altLang="ja-JP" sz="2400" dirty="0"/>
                  <a:t>   </a:t>
                </a:r>
                <a:r>
                  <a:rPr lang="ja-JP" altLang="en-US" sz="2400" b="0" dirty="0"/>
                  <a:t>力を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b="0" dirty="0"/>
                  <a:t> </a:t>
                </a:r>
                <a:r>
                  <a:rPr lang="ja-JP" altLang="en-US" sz="2400" b="0" dirty="0"/>
                  <a:t>で押し続け、箱は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4.0 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b="0" dirty="0"/>
                  <a:t> </a:t>
                </a:r>
                <a:r>
                  <a:rPr lang="ja-JP" altLang="en-US" sz="2400" b="0" dirty="0"/>
                  <a:t>動いた。最初は静止していたとする。</a:t>
                </a:r>
                <a:endParaRPr lang="en-US" altLang="ja-JP" sz="2400" b="0" dirty="0"/>
              </a:p>
              <a:p>
                <a:r>
                  <a:rPr lang="ja-JP" altLang="en-US" sz="2400" dirty="0"/>
                  <a:t>　木箱の最終速度を求めよ。</a:t>
                </a:r>
                <a:endParaRPr lang="en-US" altLang="ja-JP" sz="2400" dirty="0"/>
              </a:p>
              <a:p>
                <a:endParaRPr lang="en-US" altLang="ja-JP" sz="2400" b="0" dirty="0"/>
              </a:p>
              <a:p>
                <a:r>
                  <a:rPr lang="ja-JP" altLang="en-US" sz="2400" dirty="0"/>
                  <a:t>②ゲームキャラ（質量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1.0 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ja-JP" altLang="en-US" sz="2400" dirty="0"/>
                  <a:t>）が、すでに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6.0 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dirty="0"/>
                  <a:t>で走っているときに、</a:t>
                </a:r>
                <a:endParaRPr lang="en-US" altLang="ja-JP" sz="2400" dirty="0"/>
              </a:p>
              <a:p>
                <a:r>
                  <a:rPr lang="ja-JP" altLang="en-US" sz="2400" dirty="0"/>
                  <a:t>　パワーアップして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20 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の推進力を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2.0 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の間かけ続けた。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　キャラのスピードはいくつになるか？</a:t>
                </a:r>
                <a:endParaRPr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549683" cy="2677656"/>
              </a:xfrm>
              <a:prstGeom prst="rect">
                <a:avLst/>
              </a:prstGeom>
              <a:blipFill>
                <a:blip r:embed="rId2"/>
                <a:stretch>
                  <a:fillRect l="-867" t="-1822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722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2294</TotalTime>
  <Words>559</Words>
  <Application>Microsoft Office PowerPoint</Application>
  <PresentationFormat>ワイド画面</PresentationFormat>
  <Paragraphs>73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220</cp:revision>
  <dcterms:created xsi:type="dcterms:W3CDTF">2024-08-27T02:15:54Z</dcterms:created>
  <dcterms:modified xsi:type="dcterms:W3CDTF">2025-10-31T01:34:25Z</dcterms:modified>
</cp:coreProperties>
</file>