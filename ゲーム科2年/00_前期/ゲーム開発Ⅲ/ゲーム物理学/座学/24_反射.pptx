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4" r:id="rId4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これまでは１つの物体に対する運動について計算しました。</a:t>
            </a:r>
            <a:endParaRPr lang="en-US" altLang="ja-JP" sz="2400" dirty="0"/>
          </a:p>
          <a:p>
            <a:r>
              <a:rPr lang="ja-JP" altLang="en-US" sz="2400" dirty="0"/>
              <a:t>ここからは、物体同士が衝突したときについて見ていきます。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まずは</a:t>
            </a:r>
            <a:r>
              <a:rPr lang="ja-JP" altLang="en-US" sz="2400" b="1" dirty="0">
                <a:solidFill>
                  <a:srgbClr val="FF0000"/>
                </a:solidFill>
              </a:rPr>
              <a:t>動いているものと、動いていないものの衝突</a:t>
            </a:r>
            <a:r>
              <a:rPr lang="ja-JP" altLang="en-US" sz="2400" dirty="0"/>
              <a:t>について見ていきます。</a:t>
            </a:r>
            <a:endParaRPr lang="en-US" altLang="ja-JP" sz="2400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51223436-60DF-4A27-8CF6-8C17E503AA9C}"/>
              </a:ext>
            </a:extLst>
          </p:cNvPr>
          <p:cNvGrpSpPr/>
          <p:nvPr/>
        </p:nvGrpSpPr>
        <p:grpSpPr>
          <a:xfrm>
            <a:off x="1063886" y="3133334"/>
            <a:ext cx="2160000" cy="3240000"/>
            <a:chOff x="2452419" y="3057134"/>
            <a:chExt cx="2331247" cy="3318933"/>
          </a:xfrm>
        </p:grpSpPr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6CD9ABA9-18CF-472D-8B80-79B4855133DD}"/>
                </a:ext>
              </a:extLst>
            </p:cNvPr>
            <p:cNvSpPr/>
            <p:nvPr/>
          </p:nvSpPr>
          <p:spPr>
            <a:xfrm>
              <a:off x="2452419" y="6016067"/>
              <a:ext cx="360000" cy="36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32B4E90E-B84B-4742-8F18-C6E9E4320B85}"/>
                </a:ext>
              </a:extLst>
            </p:cNvPr>
            <p:cNvCxnSpPr>
              <a:cxnSpLocks/>
            </p:cNvCxnSpPr>
            <p:nvPr/>
          </p:nvCxnSpPr>
          <p:spPr>
            <a:xfrm>
              <a:off x="4783666" y="3057134"/>
              <a:ext cx="0" cy="3318933"/>
            </a:xfrm>
            <a:prstGeom prst="line">
              <a:avLst/>
            </a:prstGeom>
            <a:ln w="76200">
              <a:solidFill>
                <a:srgbClr val="8C46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5C9374A2-A9CC-4F02-82AC-04585B589A01}"/>
                </a:ext>
              </a:extLst>
            </p:cNvPr>
            <p:cNvCxnSpPr>
              <a:cxnSpLocks/>
              <a:stCxn id="16" idx="7"/>
            </p:cNvCxnSpPr>
            <p:nvPr/>
          </p:nvCxnSpPr>
          <p:spPr>
            <a:xfrm flipV="1">
              <a:off x="2759698" y="4394200"/>
              <a:ext cx="1942706" cy="1659467"/>
            </a:xfrm>
            <a:prstGeom prst="straightConnector1">
              <a:avLst/>
            </a:prstGeom>
            <a:ln w="76200">
              <a:solidFill>
                <a:srgbClr val="0070C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動いている物体が何かに衝突した場合、</a:t>
            </a:r>
            <a:endParaRPr lang="en-US" altLang="ja-JP" sz="2400" dirty="0"/>
          </a:p>
          <a:p>
            <a:r>
              <a:rPr lang="ja-JP" altLang="en-US" sz="2400" dirty="0"/>
              <a:t>一般的には反射して別の方向へと動き始めます。</a:t>
            </a:r>
            <a:endParaRPr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F238B88F-569D-46AE-BCAB-862F75DE8FF7}"/>
              </a:ext>
            </a:extLst>
          </p:cNvPr>
          <p:cNvGrpSpPr/>
          <p:nvPr/>
        </p:nvGrpSpPr>
        <p:grpSpPr>
          <a:xfrm>
            <a:off x="1063886" y="2800249"/>
            <a:ext cx="2160000" cy="3573085"/>
            <a:chOff x="1063886" y="2800249"/>
            <a:chExt cx="2160000" cy="3573085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0DF1AE58-6D24-4740-BC67-13AE2DC090BC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17" name="楕円 16">
                <a:extLst>
                  <a:ext uri="{FF2B5EF4-FFF2-40B4-BE49-F238E27FC236}">
                    <a16:creationId xmlns:a16="http://schemas.microsoft.com/office/drawing/2014/main" id="{2C9BF2EF-798F-43A0-8BDE-9A566DF71C0E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C402C0F0-71C2-4CFA-92AE-903046AB6C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矢印コネクタ 18">
                <a:extLst>
                  <a:ext uri="{FF2B5EF4-FFF2-40B4-BE49-F238E27FC236}">
                    <a16:creationId xmlns:a16="http://schemas.microsoft.com/office/drawing/2014/main" id="{C20507BF-C0B1-4034-B8E0-D252C1092D6C}"/>
                  </a:ext>
                </a:extLst>
              </p:cNvPr>
              <p:cNvCxnSpPr>
                <a:cxnSpLocks/>
                <a:stCxn id="17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0070C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741F91F5-976D-4DC1-A372-0D6D4BE1C1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70C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648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反射する前のベクトルを</a:t>
            </a:r>
            <a:r>
              <a:rPr lang="ja-JP" altLang="en-US" sz="2400" b="1" dirty="0">
                <a:solidFill>
                  <a:srgbClr val="FF0000"/>
                </a:solidFill>
              </a:rPr>
              <a:t>入射ベクトル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ja-JP" altLang="en-US" sz="2400" dirty="0"/>
              <a:t>反射する後のベクトルを</a:t>
            </a:r>
            <a:r>
              <a:rPr lang="ja-JP" altLang="en-US" sz="2400" b="1" dirty="0">
                <a:solidFill>
                  <a:srgbClr val="00B050"/>
                </a:solidFill>
              </a:rPr>
              <a:t>反射ベクトル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>
            <a:off x="1063886" y="2800249"/>
            <a:ext cx="2160000" cy="3573085"/>
            <a:chOff x="1063886" y="2800249"/>
            <a:chExt cx="2160000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71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6231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衝突した物体と入射ベクトルがなす角を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入射角（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）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衝突した物体と反射ベクトルがなす角を</a:t>
                </a:r>
                <a:r>
                  <a:rPr lang="ja-JP" altLang="en-US" sz="2400" b="1" dirty="0">
                    <a:solidFill>
                      <a:srgbClr val="00B050"/>
                    </a:solidFill>
                  </a:rPr>
                  <a:t>反射角（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ja-JP" sz="24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ja-JP" altLang="en-US" sz="2400" b="1" dirty="0">
                    <a:solidFill>
                      <a:srgbClr val="00B050"/>
                    </a:solidFill>
                  </a:rPr>
                  <a:t>）</a:t>
                </a:r>
                <a:r>
                  <a:rPr lang="ja-JP" altLang="en-US" sz="2400" dirty="0"/>
                  <a:t>と言います。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623147" cy="830997"/>
              </a:xfrm>
              <a:prstGeom prst="rect">
                <a:avLst/>
              </a:prstGeom>
              <a:blipFill>
                <a:blip r:embed="rId2"/>
                <a:stretch>
                  <a:fillRect l="-950" t="-5882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>
            <a:off x="1063886" y="2800249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0617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43727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このとき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4372736" cy="461665"/>
              </a:xfrm>
              <a:prstGeom prst="rect">
                <a:avLst/>
              </a:prstGeom>
              <a:blipFill>
                <a:blip r:embed="rId2"/>
                <a:stretch>
                  <a:fillRect l="-2092" t="-10667" r="-1255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>
            <a:off x="1063886" y="2800249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244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DD692DF-BB9D-4CAF-81FB-57DBEE0E9393}"/>
              </a:ext>
            </a:extLst>
          </p:cNvPr>
          <p:cNvSpPr/>
          <p:nvPr/>
        </p:nvSpPr>
        <p:spPr>
          <a:xfrm>
            <a:off x="372533" y="1744133"/>
            <a:ext cx="8356600" cy="234800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25540" cy="4213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このことから以下のことが定義できます。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■座標軸に平行な場合のベクトル反射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固定された物体の境界線が鉛直の場合、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固定された物体の境界線が水平の場合、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・・・入射ベクトルもしくは入射速度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鉛直の物に衝突すると、左右が反転、</a:t>
                </a:r>
                <a:endParaRPr lang="en-US" altLang="ja-JP" sz="2400" dirty="0"/>
              </a:p>
              <a:p>
                <a:r>
                  <a:rPr lang="ja-JP" altLang="en-US" sz="2400" dirty="0"/>
                  <a:t>水平の物に衝突すると、上下が反転するだけです。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25540" cy="4213333"/>
              </a:xfrm>
              <a:prstGeom prst="rect">
                <a:avLst/>
              </a:prstGeom>
              <a:blipFill>
                <a:blip r:embed="rId2"/>
                <a:stretch>
                  <a:fillRect l="-1168" t="-1158" b="-23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0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2337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ブロック崩しゲームのボールが、画面端の鉛直な壁に衝突して反射しました。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衝突前の速度が</a:t>
                </a:r>
                <a:r>
                  <a:rPr lang="en-US" altLang="ja-JP" sz="2400" dirty="0"/>
                  <a:t>[40, 75]</a:t>
                </a:r>
                <a:r>
                  <a:rPr lang="ja-JP" altLang="en-US" sz="2400" dirty="0"/>
                  <a:t>の場合、反射後のベクトルを求めなさい。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2337499"/>
              </a:xfrm>
              <a:prstGeom prst="rect">
                <a:avLst/>
              </a:prstGeom>
              <a:blipFill>
                <a:blip r:embed="rId2"/>
                <a:stretch>
                  <a:fillRect l="-835" t="-2089" b="-26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588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では斜面と衝突した場合はどうでしょう？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 rot="2687370">
            <a:off x="1489016" y="2715583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0951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この場合、斜面の</a:t>
            </a:r>
            <a:r>
              <a:rPr lang="ja-JP" altLang="en-US" sz="2400" b="1" dirty="0"/>
              <a:t>法線ベクトル</a:t>
            </a:r>
            <a:r>
              <a:rPr lang="ja-JP" altLang="en-US" sz="2400" dirty="0"/>
              <a:t>が必要になります。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 rot="2687370">
            <a:off x="1489016" y="2715583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 flipV="1">
                <a:off x="2759698" y="4394200"/>
                <a:ext cx="1942706" cy="165946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18D88CB-D74C-4EC9-8810-02B923809E2B}"/>
              </a:ext>
            </a:extLst>
          </p:cNvPr>
          <p:cNvCxnSpPr>
            <a:cxnSpLocks/>
          </p:cNvCxnSpPr>
          <p:nvPr/>
        </p:nvCxnSpPr>
        <p:spPr>
          <a:xfrm flipH="1" flipV="1">
            <a:off x="2667001" y="4385734"/>
            <a:ext cx="812799" cy="719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882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8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入射ベクトルの反転</a:t>
            </a:r>
            <a:r>
              <a:rPr lang="ja-JP" altLang="en-US" sz="2400" dirty="0"/>
              <a:t>を</a:t>
            </a:r>
            <a:r>
              <a:rPr lang="ja-JP" altLang="en-US" sz="2400" b="1" dirty="0"/>
              <a:t>法線に投影</a:t>
            </a:r>
            <a:r>
              <a:rPr lang="ja-JP" altLang="en-US" sz="2400" dirty="0"/>
              <a:t>します（</a:t>
            </a:r>
            <a:r>
              <a:rPr lang="ja-JP" altLang="en-US" sz="2400" b="1" dirty="0"/>
              <a:t>ベクトル</a:t>
            </a:r>
            <a:r>
              <a:rPr lang="en-US" altLang="ja-JP" sz="2400" b="1" dirty="0"/>
              <a:t>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 rot="2687370">
            <a:off x="1477091" y="2736095"/>
            <a:ext cx="2387956" cy="3573085"/>
            <a:chOff x="1060413" y="2800249"/>
            <a:chExt cx="2387956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0413" y="3133334"/>
              <a:ext cx="2387956" cy="3240000"/>
              <a:chOff x="2448671" y="3057134"/>
              <a:chExt cx="2577276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E677388A-7157-4A31-9FEF-1F07A02926F0}"/>
                  </a:ext>
                </a:extLst>
              </p:cNvPr>
              <p:cNvCxnSpPr>
                <a:cxnSpLocks/>
                <a:endCxn id="2" idx="7"/>
              </p:cNvCxnSpPr>
              <p:nvPr/>
            </p:nvCxnSpPr>
            <p:spPr>
              <a:xfrm rot="18912630" flipH="1" flipV="1">
                <a:off x="2448671" y="5182468"/>
                <a:ext cx="2577276" cy="16992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18D88CB-D74C-4EC9-8810-02B923809E2B}"/>
              </a:ext>
            </a:extLst>
          </p:cNvPr>
          <p:cNvCxnSpPr>
            <a:cxnSpLocks/>
          </p:cNvCxnSpPr>
          <p:nvPr/>
        </p:nvCxnSpPr>
        <p:spPr>
          <a:xfrm flipH="1" flipV="1">
            <a:off x="1879600" y="3649133"/>
            <a:ext cx="1600201" cy="145626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F53DF36-2566-4CC9-A655-B1E2937BA84D}"/>
              </a:ext>
            </a:extLst>
          </p:cNvPr>
          <p:cNvSpPr txBox="1"/>
          <p:nvPr/>
        </p:nvSpPr>
        <p:spPr>
          <a:xfrm>
            <a:off x="2621544" y="3986224"/>
            <a:ext cx="28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/>
              <a:t>P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1458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55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入射ベクトル＋</a:t>
            </a:r>
            <a:r>
              <a:rPr lang="en-US" altLang="ja-JP" sz="2400" dirty="0"/>
              <a:t>P</a:t>
            </a:r>
            <a:r>
              <a:rPr lang="ja-JP" altLang="en-US" sz="2400" dirty="0"/>
              <a:t>を計算します。（</a:t>
            </a:r>
            <a:r>
              <a:rPr lang="ja-JP" altLang="en-US" sz="2400" b="1" dirty="0">
                <a:solidFill>
                  <a:srgbClr val="7030A0"/>
                </a:solidFill>
              </a:rPr>
              <a:t>ベクトル</a:t>
            </a:r>
            <a:r>
              <a:rPr lang="en-US" altLang="ja-JP" sz="2400" b="1" dirty="0">
                <a:solidFill>
                  <a:srgbClr val="7030A0"/>
                </a:solidFill>
              </a:rPr>
              <a:t>V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 rot="2687370">
            <a:off x="1489016" y="2715583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18D88CB-D74C-4EC9-8810-02B923809E2B}"/>
              </a:ext>
            </a:extLst>
          </p:cNvPr>
          <p:cNvCxnSpPr>
            <a:cxnSpLocks/>
          </p:cNvCxnSpPr>
          <p:nvPr/>
        </p:nvCxnSpPr>
        <p:spPr>
          <a:xfrm flipH="1" flipV="1">
            <a:off x="1879600" y="3649133"/>
            <a:ext cx="1600201" cy="145626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35CFBFE-8D56-4060-974E-905E3BC35AEC}"/>
              </a:ext>
            </a:extLst>
          </p:cNvPr>
          <p:cNvSpPr txBox="1"/>
          <p:nvPr/>
        </p:nvSpPr>
        <p:spPr>
          <a:xfrm>
            <a:off x="2621544" y="3986224"/>
            <a:ext cx="28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/>
              <a:t>P</a:t>
            </a:r>
            <a:endParaRPr lang="ja-JP" altLang="en-US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D4668FF-6056-41F1-9E51-D233F795D5F2}"/>
              </a:ext>
            </a:extLst>
          </p:cNvPr>
          <p:cNvCxnSpPr>
            <a:cxnSpLocks/>
          </p:cNvCxnSpPr>
          <p:nvPr/>
        </p:nvCxnSpPr>
        <p:spPr>
          <a:xfrm flipV="1">
            <a:off x="921611" y="3649134"/>
            <a:ext cx="957989" cy="1066637"/>
          </a:xfrm>
          <a:prstGeom prst="straightConnector1">
            <a:avLst/>
          </a:prstGeom>
          <a:ln w="762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ED21A87-F0F6-4A84-9444-D09CFD20E1C2}"/>
              </a:ext>
            </a:extLst>
          </p:cNvPr>
          <p:cNvSpPr txBox="1"/>
          <p:nvPr/>
        </p:nvSpPr>
        <p:spPr>
          <a:xfrm>
            <a:off x="1077625" y="3813120"/>
            <a:ext cx="28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rgbClr val="7030A0"/>
                </a:solidFill>
              </a:rPr>
              <a:t>V</a:t>
            </a:r>
            <a:endParaRPr lang="ja-JP" altLang="en-US" dirty="0"/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11BBE96E-BAFC-423B-B37F-CDBD5947A68B}"/>
              </a:ext>
            </a:extLst>
          </p:cNvPr>
          <p:cNvCxnSpPr>
            <a:cxnSpLocks/>
          </p:cNvCxnSpPr>
          <p:nvPr/>
        </p:nvCxnSpPr>
        <p:spPr>
          <a:xfrm rot="2687370" flipV="1">
            <a:off x="1300706" y="4178239"/>
            <a:ext cx="1800000" cy="1620000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633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13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反射ベクトルは</a:t>
            </a:r>
            <a:r>
              <a:rPr lang="en-US" altLang="ja-JP" sz="2400" dirty="0"/>
              <a:t>P</a:t>
            </a:r>
            <a:r>
              <a:rPr lang="ja-JP" altLang="en-US" sz="2400" dirty="0"/>
              <a:t>＋</a:t>
            </a:r>
            <a:r>
              <a:rPr lang="en-US" altLang="ja-JP" sz="2400" dirty="0"/>
              <a:t>V</a:t>
            </a:r>
            <a:r>
              <a:rPr lang="ja-JP" altLang="en-US" sz="2400" dirty="0"/>
              <a:t>だとわかります。</a:t>
            </a:r>
            <a:endParaRPr lang="en-US" altLang="ja-JP" sz="2400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865280-8F64-44BD-92D9-4800AD68A285}"/>
              </a:ext>
            </a:extLst>
          </p:cNvPr>
          <p:cNvGrpSpPr/>
          <p:nvPr/>
        </p:nvGrpSpPr>
        <p:grpSpPr>
          <a:xfrm rot="2687370">
            <a:off x="1489016" y="2715583"/>
            <a:ext cx="2322779" cy="3573085"/>
            <a:chOff x="1063886" y="2800249"/>
            <a:chExt cx="2322779" cy="3573085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A09C9C7-17CB-4926-9AF4-854FBAE6D1E6}"/>
                </a:ext>
              </a:extLst>
            </p:cNvPr>
            <p:cNvGrpSpPr/>
            <p:nvPr/>
          </p:nvGrpSpPr>
          <p:grpSpPr>
            <a:xfrm>
              <a:off x="1063886" y="3133334"/>
              <a:ext cx="2160000" cy="3240000"/>
              <a:chOff x="2452419" y="3057134"/>
              <a:chExt cx="2331247" cy="3318933"/>
            </a:xfrm>
          </p:grpSpPr>
          <p:sp>
            <p:nvSpPr>
              <p:cNvPr id="2" name="楕円 1">
                <a:extLst>
                  <a:ext uri="{FF2B5EF4-FFF2-40B4-BE49-F238E27FC236}">
                    <a16:creationId xmlns:a16="http://schemas.microsoft.com/office/drawing/2014/main" id="{845E4BD9-CBB2-4DB4-887A-24DF03F75F43}"/>
                  </a:ext>
                </a:extLst>
              </p:cNvPr>
              <p:cNvSpPr/>
              <p:nvPr/>
            </p:nvSpPr>
            <p:spPr>
              <a:xfrm>
                <a:off x="2452419" y="6016067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02E6D21-7EB9-4387-B12E-B9EBA2A7A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3666" y="3057134"/>
                <a:ext cx="0" cy="3318933"/>
              </a:xfrm>
              <a:prstGeom prst="line">
                <a:avLst/>
              </a:prstGeom>
              <a:ln w="76200">
                <a:solidFill>
                  <a:srgbClr val="8C46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6FA0C522-2B10-41AA-8A48-D0789B8CEC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8593" y="2800249"/>
              <a:ext cx="1800000" cy="1620000"/>
            </a:xfrm>
            <a:prstGeom prst="straightConnector1">
              <a:avLst/>
            </a:prstGeom>
            <a:ln w="76200">
              <a:solidFill>
                <a:srgbClr val="00B05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/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2A42C47-4960-4649-8DC5-C7E6D392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933" y="4810575"/>
                  <a:ext cx="6011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/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ja-JP" sz="1800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C5660D79-04C3-4A17-B114-107C73E83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333" y="3607081"/>
                  <a:ext cx="8043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18D88CB-D74C-4EC9-8810-02B923809E2B}"/>
              </a:ext>
            </a:extLst>
          </p:cNvPr>
          <p:cNvCxnSpPr>
            <a:cxnSpLocks/>
          </p:cNvCxnSpPr>
          <p:nvPr/>
        </p:nvCxnSpPr>
        <p:spPr>
          <a:xfrm flipH="1" flipV="1">
            <a:off x="1879600" y="3649133"/>
            <a:ext cx="1600201" cy="145626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35CFBFE-8D56-4060-974E-905E3BC35AEC}"/>
              </a:ext>
            </a:extLst>
          </p:cNvPr>
          <p:cNvSpPr txBox="1"/>
          <p:nvPr/>
        </p:nvSpPr>
        <p:spPr>
          <a:xfrm>
            <a:off x="2621544" y="3986224"/>
            <a:ext cx="28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/>
              <a:t>P</a:t>
            </a:r>
            <a:endParaRPr lang="ja-JP" altLang="en-US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D4668FF-6056-41F1-9E51-D233F795D5F2}"/>
              </a:ext>
            </a:extLst>
          </p:cNvPr>
          <p:cNvCxnSpPr>
            <a:cxnSpLocks/>
          </p:cNvCxnSpPr>
          <p:nvPr/>
        </p:nvCxnSpPr>
        <p:spPr>
          <a:xfrm flipV="1">
            <a:off x="1891093" y="2639341"/>
            <a:ext cx="1350696" cy="1046034"/>
          </a:xfrm>
          <a:prstGeom prst="straightConnector1">
            <a:avLst/>
          </a:prstGeom>
          <a:ln w="7620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ED21A87-F0F6-4A84-9444-D09CFD20E1C2}"/>
              </a:ext>
            </a:extLst>
          </p:cNvPr>
          <p:cNvSpPr txBox="1"/>
          <p:nvPr/>
        </p:nvSpPr>
        <p:spPr>
          <a:xfrm>
            <a:off x="2200706" y="2839535"/>
            <a:ext cx="28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rgbClr val="7030A0"/>
                </a:solidFill>
              </a:rPr>
              <a:t>V</a:t>
            </a:r>
            <a:endParaRPr lang="ja-JP" altLang="en-US" dirty="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E487D6C-FDCD-42FA-863F-6C605A8C291C}"/>
              </a:ext>
            </a:extLst>
          </p:cNvPr>
          <p:cNvCxnSpPr>
            <a:cxnSpLocks/>
          </p:cNvCxnSpPr>
          <p:nvPr/>
        </p:nvCxnSpPr>
        <p:spPr>
          <a:xfrm rot="2687370" flipV="1">
            <a:off x="1300706" y="4178239"/>
            <a:ext cx="1800000" cy="1620000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907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D09B7E5-7466-42BF-BBBB-74015124C832}"/>
              </a:ext>
            </a:extLst>
          </p:cNvPr>
          <p:cNvSpPr/>
          <p:nvPr/>
        </p:nvSpPr>
        <p:spPr>
          <a:xfrm>
            <a:off x="321732" y="1845733"/>
            <a:ext cx="9025468" cy="25992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50121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これより以下の公式が定義できます。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■座標軸に平行でない場合のベクトル反射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・・・反射ベクトル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・・・入射ベクトルの反転を法線に投影したベクトル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・・・入射ベクトル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00B050"/>
                    </a:solidFill>
                  </a:rPr>
                  <a:t>MEMO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ja-JP" altLang="en-US" sz="2400" dirty="0"/>
                  <a:t> 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ja-JP" altLang="en-US" sz="2400" dirty="0"/>
                  <a:t> 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から公式が成り立つ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5012141"/>
              </a:xfrm>
              <a:prstGeom prst="rect">
                <a:avLst/>
              </a:prstGeom>
              <a:blipFill>
                <a:blip r:embed="rId2"/>
                <a:stretch>
                  <a:fillRect l="-1076" t="-973" r="-143" b="-14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640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2570</TotalTime>
  <Words>444</Words>
  <Application>Microsoft Office PowerPoint</Application>
  <PresentationFormat>ワイド画面</PresentationFormat>
  <Paragraphs>78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245</cp:revision>
  <dcterms:created xsi:type="dcterms:W3CDTF">2024-08-27T02:15:54Z</dcterms:created>
  <dcterms:modified xsi:type="dcterms:W3CDTF">2025-10-21T05:58:30Z</dcterms:modified>
</cp:coreProperties>
</file>