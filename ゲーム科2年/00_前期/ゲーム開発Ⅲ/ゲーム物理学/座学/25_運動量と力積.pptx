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2" r:id="rId3"/>
    <p:sldId id="263" r:id="rId4"/>
    <p:sldId id="264" r:id="rId5"/>
    <p:sldId id="265" r:id="rId6"/>
    <p:sldId id="266" r:id="rId7"/>
    <p:sldId id="267" r:id="rId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C4646"/>
    <a:srgbClr val="AD5B5B"/>
    <a:srgbClr val="000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2025/10/28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2025/10/28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2025/10/28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2025/10/28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B8AD7F75-75A8-41B0-B702-380DE6179F82}"/>
              </a:ext>
            </a:extLst>
          </p:cNvPr>
          <p:cNvSpPr/>
          <p:nvPr/>
        </p:nvSpPr>
        <p:spPr>
          <a:xfrm>
            <a:off x="355600" y="2252133"/>
            <a:ext cx="7137400" cy="23876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運動量と力積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10341293" cy="489364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動いている物体同士の衝突を計算するには、</a:t>
                </a:r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運動量と力積</a:t>
                </a:r>
                <a:r>
                  <a:rPr lang="ja-JP" altLang="en-US" sz="2400" dirty="0"/>
                  <a:t>について知らなければいけません。まずは運動量からです。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■運動量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𝑚𝑣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altLang="ja-JP" sz="2400" dirty="0"/>
                  <a:t>	</a:t>
                </a:r>
                <a:r>
                  <a:rPr lang="ja-JP" altLang="en-US" sz="2400" dirty="0"/>
                  <a:t>・・・運動量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altLang="ja-JP" sz="2400" dirty="0"/>
                  <a:t>	</a:t>
                </a:r>
                <a:r>
                  <a:rPr lang="ja-JP" altLang="en-US" sz="2400" dirty="0"/>
                  <a:t>・・・質量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altLang="ja-JP" sz="2400" dirty="0"/>
                  <a:t>	</a:t>
                </a:r>
                <a:r>
                  <a:rPr lang="ja-JP" altLang="en-US" sz="2400" dirty="0"/>
                  <a:t>・・・速度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・質量の大きいものほど運動量は大きくなる</a:t>
                </a:r>
                <a:endParaRPr lang="en-US" altLang="ja-JP" sz="2400" dirty="0"/>
              </a:p>
              <a:p>
                <a:r>
                  <a:rPr lang="ja-JP" altLang="en-US" sz="2400" dirty="0"/>
                  <a:t>・速度が速いものほど運動量は大きくなる</a:t>
                </a:r>
                <a:endParaRPr lang="en-US" altLang="ja-JP" sz="2400" dirty="0"/>
              </a:p>
              <a:p>
                <a:r>
                  <a:rPr lang="ja-JP" altLang="en-US" sz="2400" dirty="0"/>
                  <a:t>・どれだけ質量が大きくても、動いてなければ運動量は</a:t>
                </a:r>
                <a:r>
                  <a:rPr lang="en-US" altLang="ja-JP" sz="2400" dirty="0"/>
                  <a:t>0</a:t>
                </a:r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10341293" cy="4893647"/>
              </a:xfrm>
              <a:prstGeom prst="rect">
                <a:avLst/>
              </a:prstGeom>
              <a:blipFill>
                <a:blip r:embed="rId2"/>
                <a:stretch>
                  <a:fillRect l="-884" t="-998" b="-199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390335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5846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運動量と力積 例題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10868103" cy="37856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2500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𝑘𝑔</m:t>
                    </m:r>
                  </m:oMath>
                </a14:m>
                <a:r>
                  <a:rPr lang="ja-JP" altLang="en-US" sz="2400" dirty="0"/>
                  <a:t>のトラックが</a:t>
                </a:r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10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秒</m:t>
                    </m:r>
                  </m:oMath>
                </a14:m>
                <a:r>
                  <a:rPr lang="ja-JP" altLang="en-US" sz="2400" dirty="0"/>
                  <a:t>で走行しているとき、</a:t>
                </a:r>
                <a:endParaRPr lang="en-US" altLang="ja-JP" sz="2400" dirty="0"/>
              </a:p>
              <a:p>
                <a:r>
                  <a:rPr lang="ja-JP" altLang="en-US" sz="2400" dirty="0"/>
                  <a:t>このトラックの運動量を求めなさい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■解答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𝑚𝑣</m:t>
                    </m:r>
                  </m:oMath>
                </a14:m>
                <a:r>
                  <a:rPr lang="en-US" altLang="ja-JP" sz="2400" dirty="0"/>
                  <a:t> </a:t>
                </a:r>
                <a:r>
                  <a:rPr lang="ja-JP" altLang="en-US" sz="2400" dirty="0"/>
                  <a:t>より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=2500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𝑘𝑔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10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秒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25000</m:t>
                    </m:r>
                    <m:r>
                      <a:rPr lang="en-US" altLang="ja-JP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𝑘𝑔𝑚</m:t>
                    </m:r>
                    <m:r>
                      <a:rPr lang="en-US" altLang="ja-JP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ja-JP" alt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秒</m:t>
                    </m:r>
                  </m:oMath>
                </a14:m>
                <a:r>
                  <a:rPr lang="en-US" altLang="ja-JP" sz="2400" dirty="0">
                    <a:solidFill>
                      <a:srgbClr val="FF0000"/>
                    </a:solidFill>
                  </a:rPr>
                  <a:t> 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en-US" altLang="ja-JP" sz="2400" dirty="0"/>
                  <a:t>※</a:t>
                </a:r>
                <a:r>
                  <a:rPr lang="ja-JP" altLang="en-US" sz="2400" dirty="0"/>
                  <a:t>運動量の単位はそのまま</a:t>
                </a:r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𝑘𝑔𝑚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秒</m:t>
                    </m:r>
                  </m:oMath>
                </a14:m>
                <a:r>
                  <a:rPr lang="ja-JP" altLang="en-US" sz="2400" dirty="0"/>
                  <a:t>（キログラムメートル毎秒）を使います。</a:t>
                </a:r>
                <a:endParaRPr lang="en-US" altLang="ja-JP" sz="2400" dirty="0"/>
              </a:p>
              <a:p>
                <a:r>
                  <a:rPr lang="ja-JP" altLang="en-US" sz="2400" dirty="0"/>
                  <a:t>　まれに</a:t>
                </a:r>
                <a:r>
                  <a:rPr lang="en-US" altLang="ja-JP" sz="2400" dirty="0"/>
                  <a:t>N</a:t>
                </a:r>
                <a:r>
                  <a:rPr lang="ja-JP" altLang="en-US" sz="2400" dirty="0"/>
                  <a:t>・秒（ニュートンドット秒）とも呼ばれます。</a:t>
                </a:r>
                <a:endParaRPr lang="en-US" altLang="ja-JP" sz="2400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10868103" cy="3785652"/>
              </a:xfrm>
              <a:prstGeom prst="rect">
                <a:avLst/>
              </a:prstGeom>
              <a:blipFill>
                <a:blip r:embed="rId2"/>
                <a:stretch>
                  <a:fillRect l="-841" t="-1288" b="-273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652072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運動量と力積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11264622" cy="45835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続いて</m:t>
                    </m:r>
                  </m:oMath>
                </a14:m>
                <a:r>
                  <a:rPr lang="ja-JP" altLang="en-US" sz="2400" dirty="0"/>
                  <a:t>力積ですが、</a:t>
                </a:r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力積</a:t>
                </a:r>
                <a:r>
                  <a:rPr lang="ja-JP" altLang="en-US" sz="2400" dirty="0"/>
                  <a:t>とは、「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力がどれくらいの時間かかったか</a:t>
                </a:r>
                <a:r>
                  <a:rPr lang="ja-JP" altLang="en-US" sz="2400" dirty="0"/>
                  <a:t>」を表します。</a:t>
                </a:r>
                <a:endParaRPr lang="en-US" altLang="ja-JP" sz="2400" dirty="0"/>
              </a:p>
              <a:p>
                <a:r>
                  <a:rPr lang="ja-JP" altLang="en-US" sz="2400" dirty="0"/>
                  <a:t>理解を深めるために、まずはニュートンの運動の第二法則を思い出しましょう。</a:t>
                </a:r>
                <a:endParaRPr lang="en-US" altLang="ja-JP" sz="2400" dirty="0"/>
              </a:p>
              <a:p>
                <a:endParaRPr lang="en-US" altLang="ja-JP" sz="2400" dirty="0">
                  <a:latin typeface="Cambria Math" panose="02040503050406030204" pitchFamily="18" charset="0"/>
                </a:endParaRPr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■ニュートンの運動の第二法則</a:t>
                </a:r>
                <a:endParaRPr lang="en-US" altLang="ja-JP" sz="2400" b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𝑚𝑎</m:t>
                    </m:r>
                  </m:oMath>
                </a14:m>
                <a:r>
                  <a:rPr lang="en-US" altLang="ja-JP" sz="2400" dirty="0"/>
                  <a:t> </a:t>
                </a:r>
                <a:endParaRPr lang="ja-JP" altLang="en-US" sz="2400" dirty="0"/>
              </a:p>
              <a:p>
                <a:r>
                  <a:rPr lang="ja-JP" altLang="en-US" sz="2400" dirty="0"/>
                  <a:t>合力＝質量</a:t>
                </a:r>
                <a:r>
                  <a:rPr lang="en-US" altLang="ja-JP" sz="2400" dirty="0"/>
                  <a:t>×</a:t>
                </a:r>
                <a:r>
                  <a:rPr lang="ja-JP" altLang="en-US" sz="2400" dirty="0"/>
                  <a:t>加速度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加速度は時間による速度の変化割合なので、（</a:t>
                </a:r>
                <a:r>
                  <a:rPr lang="en-US" altLang="ja-JP" sz="2400" dirty="0"/>
                  <a:t>05_</a:t>
                </a:r>
                <a:r>
                  <a:rPr lang="ja-JP" altLang="en-US" sz="2400" dirty="0"/>
                  <a:t>加速度参照）</a:t>
                </a:r>
                <a:endParaRPr lang="en-US" altLang="ja-JP" sz="2400" dirty="0"/>
              </a:p>
              <a:p>
                <a:r>
                  <a:rPr lang="ja-JP" altLang="en-US" sz="2400" dirty="0"/>
                  <a:t>以下のように置き換えられます。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)/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𝑚</m:t>
                    </m:r>
                    <m:sSub>
                      <m:sSub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𝑚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)/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ja-JP" sz="2400" dirty="0"/>
                  <a:t> </a:t>
                </a:r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11264622" cy="4583562"/>
              </a:xfrm>
              <a:prstGeom prst="rect">
                <a:avLst/>
              </a:prstGeom>
              <a:blipFill>
                <a:blip r:embed="rId2"/>
                <a:stretch>
                  <a:fillRect l="-812" t="-932" b="-39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409614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運動量と力積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6340197" cy="42438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先ほどの運動量の公式は、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𝑚𝑣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:r>
                  <a:rPr lang="ja-JP" altLang="en-US" sz="2400" dirty="0"/>
                  <a:t>つまり以下のように式を置き換えられます。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𝑚</m:t>
                    </m:r>
                    <m:sSub>
                      <m:sSub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𝑚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)/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)/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両辺を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ja-JP" altLang="en-US" sz="2400" dirty="0"/>
                  <a:t>で掛けると、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𝐹𝑡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ここで合力に時間が掛け算されます。</a:t>
                </a:r>
                <a:endParaRPr lang="en-US" altLang="ja-JP" sz="2400" dirty="0"/>
              </a:p>
              <a:p>
                <a:r>
                  <a:rPr lang="ja-JP" altLang="en-US" sz="2400" dirty="0"/>
                  <a:t>つまりこれが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力積</a:t>
                </a:r>
                <a:r>
                  <a:rPr lang="ja-JP" altLang="en-US" sz="2400" dirty="0"/>
                  <a:t>となります。</a:t>
                </a:r>
                <a:endParaRPr lang="en-US" altLang="ja-JP" sz="2400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6340197" cy="4243854"/>
              </a:xfrm>
              <a:prstGeom prst="rect">
                <a:avLst/>
              </a:prstGeom>
              <a:blipFill>
                <a:blip r:embed="rId2"/>
                <a:stretch>
                  <a:fillRect l="-1442" t="-1149" r="-577" b="-229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649354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8CDD104D-14B7-4BDC-9E69-2E0F8B82F12F}"/>
              </a:ext>
            </a:extLst>
          </p:cNvPr>
          <p:cNvSpPr/>
          <p:nvPr/>
        </p:nvSpPr>
        <p:spPr>
          <a:xfrm>
            <a:off x="296333" y="1854200"/>
            <a:ext cx="7450667" cy="2918249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運動量と力積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9725739" cy="45243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これまでのことをまとめて、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力積と運動量の定理</a:t>
                </a:r>
                <a:r>
                  <a:rPr lang="ja-JP" altLang="en-US" sz="2400" dirty="0"/>
                  <a:t>と呼ばれています。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■力積と運動量の定理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𝐹𝑡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=⊿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altLang="ja-JP" sz="2400" dirty="0"/>
                  <a:t>	</a:t>
                </a:r>
                <a:r>
                  <a:rPr lang="ja-JP" altLang="en-US" sz="2400" dirty="0"/>
                  <a:t>・・・力積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altLang="ja-JP" sz="2400" dirty="0"/>
                  <a:t>	</a:t>
                </a:r>
                <a:r>
                  <a:rPr lang="ja-JP" altLang="en-US" sz="2400" dirty="0"/>
                  <a:t>・・・合力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ja-JP" sz="2400" dirty="0"/>
                  <a:t>	</a:t>
                </a:r>
                <a:r>
                  <a:rPr lang="ja-JP" altLang="en-US" sz="2400" dirty="0"/>
                  <a:t>・・・時間（一般的に衝突時の一瞬の長さ）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ja-JP" altLang="en-US" sz="2400" i="1" smtClean="0">
                        <a:latin typeface="Cambria Math" panose="02040503050406030204" pitchFamily="18" charset="0"/>
                      </a:rPr>
                      <m:t>⊿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altLang="ja-JP" sz="2400" dirty="0"/>
                  <a:t>	</a:t>
                </a:r>
                <a:r>
                  <a:rPr lang="ja-JP" altLang="en-US" sz="2400" dirty="0"/>
                  <a:t>・・・運動量の変化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・力積が大きいほど運動量の変化は大きくなる</a:t>
                </a:r>
                <a:endParaRPr lang="en-US" altLang="ja-JP" sz="2400" dirty="0"/>
              </a:p>
              <a:p>
                <a:r>
                  <a:rPr lang="ja-JP" altLang="en-US" sz="2400" dirty="0"/>
                  <a:t>　つまり、大きな衝突ほど運動量は大きくなる</a:t>
                </a:r>
                <a:endParaRPr lang="en-US" altLang="ja-JP" sz="2400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9725739" cy="4524315"/>
              </a:xfrm>
              <a:prstGeom prst="rect">
                <a:avLst/>
              </a:prstGeom>
              <a:blipFill>
                <a:blip r:embed="rId2"/>
                <a:stretch>
                  <a:fillRect l="-940" t="-1078" b="-215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82145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5846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運動量と力積 例題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8719503" cy="545938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ゲーム内で</a:t>
                </a:r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45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ja-JP" altLang="en-US" sz="2400" dirty="0"/>
                  <a:t>のゴルフボールをゴルフクラブで打ちました。</a:t>
                </a:r>
                <a:endParaRPr lang="en-US" altLang="ja-JP" sz="2400" dirty="0"/>
              </a:p>
              <a:p>
                <a:r>
                  <a:rPr lang="ja-JP" altLang="en-US" sz="2400" dirty="0"/>
                  <a:t>打つ前のパワーゲージや、インパクト場所の設定から、</a:t>
                </a:r>
                <a:endParaRPr lang="en-US" altLang="ja-JP" sz="2400" dirty="0"/>
              </a:p>
              <a:p>
                <a:r>
                  <a:rPr lang="ja-JP" altLang="en-US" sz="2400" dirty="0"/>
                  <a:t>ボールを打った時の力積を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ja-JP" sz="2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i="1" dirty="0" smtClean="0">
                            <a:latin typeface="Cambria Math" panose="02040503050406030204" pitchFamily="18" charset="0"/>
                          </a:rPr>
                          <m:t>3, 2, −4</m:t>
                        </m:r>
                      </m:e>
                    </m:d>
                  </m:oMath>
                </a14:m>
                <a:r>
                  <a:rPr lang="ja-JP" altLang="en-US" sz="2400" dirty="0"/>
                  <a:t>と設定された場合、</a:t>
                </a:r>
                <a:endParaRPr lang="en-US" altLang="ja-JP" sz="2400" dirty="0"/>
              </a:p>
              <a:p>
                <a:r>
                  <a:rPr lang="ja-JP" altLang="en-US" sz="2400" dirty="0"/>
                  <a:t>打ったボールの速度を求めなさい。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■解答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=⊿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altLang="ja-JP" sz="2400" i="1" dirty="0">
                    <a:latin typeface="Cambria Math" panose="02040503050406030204" pitchFamily="18" charset="0"/>
                  </a:rPr>
                  <a:t> </a:t>
                </a:r>
                <a:r>
                  <a:rPr lang="ja-JP" altLang="en-US" sz="2400" dirty="0">
                    <a:latin typeface="Cambria Math" panose="02040503050406030204" pitchFamily="18" charset="0"/>
                  </a:rPr>
                  <a:t>で</a:t>
                </a:r>
                <a:r>
                  <a:rPr lang="en-US" altLang="ja-JP" sz="2400" i="1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⊿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𝑚𝑣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𝑚𝑣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ja-JP" sz="2400" dirty="0"/>
                  <a:t> </a:t>
                </a:r>
                <a:r>
                  <a:rPr lang="ja-JP" altLang="en-US" sz="2400" dirty="0"/>
                  <a:t>であり、</a:t>
                </a:r>
                <a:endParaRPr lang="en-US" altLang="ja-JP" sz="2400" dirty="0"/>
              </a:p>
              <a:p>
                <a:r>
                  <a:rPr lang="ja-JP" altLang="en-US" sz="2400" dirty="0"/>
                  <a:t>打つ前のボールは停止しているため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ja-JP" sz="2400" dirty="0"/>
                  <a:t> </a:t>
                </a:r>
                <a:r>
                  <a:rPr lang="ja-JP" altLang="en-US" sz="2400" dirty="0"/>
                  <a:t>である。よって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ja-JP" sz="2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i="1" dirty="0" smtClean="0">
                            <a:latin typeface="Cambria Math" panose="02040503050406030204" pitchFamily="18" charset="0"/>
                          </a:rPr>
                          <m:t>3, 2, −4</m:t>
                        </m:r>
                      </m:e>
                    </m:d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=0.045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</m:sSub>
                      </m:e>
                    </m:d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ja-JP" sz="2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i="1" dirty="0" smtClean="0">
                            <a:latin typeface="Cambria Math" panose="02040503050406030204" pitchFamily="18" charset="0"/>
                          </a:rPr>
                          <m:t>3, 2, −4</m:t>
                        </m:r>
                      </m:e>
                    </m:d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÷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0.045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ja-JP" sz="2400" dirty="0"/>
                  <a:t> </a:t>
                </a:r>
              </a:p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</m:sSub>
                      </m:e>
                    </m:d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𝟔𝟔</m:t>
                        </m:r>
                        <m:r>
                          <a:rPr lang="en-US" altLang="ja-JP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altLang="ja-JP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𝟔𝟕</m:t>
                        </m:r>
                        <m:r>
                          <a:rPr lang="en-US" altLang="ja-JP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ja-JP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𝟒𝟒</m:t>
                        </m:r>
                        <m:r>
                          <a:rPr lang="en-US" altLang="ja-JP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altLang="ja-JP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𝟒𝟒</m:t>
                        </m:r>
                        <m:r>
                          <a:rPr lang="en-US" altLang="ja-JP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 −</m:t>
                        </m:r>
                        <m:r>
                          <a:rPr lang="en-US" altLang="ja-JP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𝟖𝟖</m:t>
                        </m:r>
                        <m:r>
                          <a:rPr lang="en-US" altLang="ja-JP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altLang="ja-JP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𝟖𝟗</m:t>
                        </m:r>
                      </m:e>
                    </m:d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ja-JP" alt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秒</m:t>
                    </m:r>
                  </m:oMath>
                </a14:m>
                <a:r>
                  <a:rPr lang="en-US" altLang="ja-JP" sz="2400" b="1" dirty="0">
                    <a:solidFill>
                      <a:srgbClr val="FF0000"/>
                    </a:solidFill>
                  </a:rPr>
                  <a:t> </a:t>
                </a:r>
              </a:p>
              <a:p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:r>
                  <a:rPr lang="en-US" altLang="ja-JP" sz="2400" dirty="0"/>
                  <a:t>※</a:t>
                </a:r>
                <a:r>
                  <a:rPr lang="ja-JP" altLang="en-US" sz="2400" dirty="0"/>
                  <a:t>力積から速度を計算できるようになりましょう</a:t>
                </a:r>
                <a:endParaRPr lang="en-US" altLang="ja-JP" sz="2400" dirty="0"/>
              </a:p>
              <a:p>
                <a:r>
                  <a:rPr lang="en-US" altLang="ja-JP" sz="2400" dirty="0"/>
                  <a:t>※</a:t>
                </a:r>
                <a:r>
                  <a:rPr lang="ja-JP" altLang="en-US" sz="2400" dirty="0"/>
                  <a:t>力積の単位は</a:t>
                </a:r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𝑘𝑔𝑚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秒</m:t>
                    </m:r>
                  </m:oMath>
                </a14:m>
                <a:r>
                  <a:rPr lang="ja-JP" altLang="en-US" sz="2400" dirty="0"/>
                  <a:t>なので質量の単位は</a:t>
                </a:r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𝑘𝑔</m:t>
                    </m:r>
                  </m:oMath>
                </a14:m>
                <a:r>
                  <a:rPr lang="ja-JP" altLang="en-US" sz="2400" dirty="0"/>
                  <a:t>にしましょう</a:t>
                </a:r>
                <a:endParaRPr lang="en-US" altLang="ja-JP" sz="2400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8719503" cy="5459380"/>
              </a:xfrm>
              <a:prstGeom prst="rect">
                <a:avLst/>
              </a:prstGeom>
              <a:blipFill>
                <a:blip r:embed="rId2"/>
                <a:stretch>
                  <a:fillRect l="-1049" t="-894" r="-210" b="-167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591199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5846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運動量と力積 練習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237098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① </a:t>
            </a:r>
            <a:r>
              <a:rPr lang="en-US" altLang="ja-JP" sz="2400" dirty="0"/>
              <a:t>150kg</a:t>
            </a:r>
            <a:r>
              <a:rPr lang="ja-JP" altLang="en-US" sz="2400" dirty="0"/>
              <a:t>の大岩が</a:t>
            </a:r>
            <a:r>
              <a:rPr lang="en-US" altLang="ja-JP" sz="2400" dirty="0"/>
              <a:t>15m/</a:t>
            </a:r>
            <a:r>
              <a:rPr lang="ja-JP" altLang="en-US" sz="2400" dirty="0"/>
              <a:t>秒の速度で転がっています。</a:t>
            </a:r>
            <a:endParaRPr lang="en-US" altLang="ja-JP" sz="2400" dirty="0"/>
          </a:p>
          <a:p>
            <a:r>
              <a:rPr lang="ja-JP" altLang="en-US" sz="2400" dirty="0"/>
              <a:t>　 この大岩の運動量を求めなさい。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② ある格闘ゲームで、</a:t>
            </a:r>
            <a:r>
              <a:rPr lang="en-US" altLang="ja-JP" sz="2400" dirty="0"/>
              <a:t>10m/</a:t>
            </a:r>
            <a:r>
              <a:rPr lang="ja-JP" altLang="en-US" sz="2400" dirty="0"/>
              <a:t>秒で移動している</a:t>
            </a:r>
            <a:r>
              <a:rPr lang="en-US" altLang="ja-JP" sz="2400" dirty="0"/>
              <a:t>25kg</a:t>
            </a:r>
            <a:r>
              <a:rPr lang="ja-JP" altLang="en-US" sz="2400" dirty="0"/>
              <a:t>のキャラクターを</a:t>
            </a:r>
            <a:endParaRPr lang="en-US" altLang="ja-JP" sz="2400" dirty="0"/>
          </a:p>
          <a:p>
            <a:r>
              <a:rPr lang="ja-JP" altLang="en-US" sz="2400" dirty="0"/>
              <a:t>　 強力な攻撃で蹴り飛ばしました。蹴った時の力積が</a:t>
            </a:r>
            <a:r>
              <a:rPr lang="en-US" altLang="ja-JP" sz="2400" dirty="0"/>
              <a:t>5000</a:t>
            </a:r>
            <a:r>
              <a:rPr lang="ja-JP" altLang="en-US" sz="2400" dirty="0"/>
              <a:t>の場合、</a:t>
            </a:r>
            <a:endParaRPr lang="en-US" altLang="ja-JP" sz="2400" dirty="0"/>
          </a:p>
          <a:p>
            <a:r>
              <a:rPr lang="ja-JP" altLang="en-US" sz="2400" dirty="0"/>
              <a:t>　 蹴られたプレイヤーはどれだけの速度で吹っ飛ぶか求めなさい。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③ ②の吹っ飛ばされたキャラクターが</a:t>
            </a:r>
            <a:r>
              <a:rPr lang="en-US" altLang="ja-JP" sz="2400" dirty="0"/>
              <a:t>0.7</a:t>
            </a:r>
            <a:r>
              <a:rPr lang="ja-JP" altLang="en-US" sz="2400" dirty="0"/>
              <a:t>秒間そのまま吹っ飛んだ場合、</a:t>
            </a:r>
            <a:endParaRPr lang="en-US" altLang="ja-JP" sz="2400" dirty="0"/>
          </a:p>
          <a:p>
            <a:r>
              <a:rPr lang="ja-JP" altLang="en-US" sz="2400" dirty="0"/>
              <a:t>　 </a:t>
            </a:r>
            <a:r>
              <a:rPr lang="en-US" altLang="ja-JP" sz="2400" dirty="0"/>
              <a:t>20m</a:t>
            </a:r>
            <a:r>
              <a:rPr lang="ja-JP" altLang="en-US" sz="2400" dirty="0"/>
              <a:t>先の画面端を超えてしまうかどうか答えなさい。</a:t>
            </a:r>
            <a:endParaRPr lang="en-US" altLang="ja-JP" sz="2400" dirty="0"/>
          </a:p>
          <a:p>
            <a:r>
              <a:rPr lang="ja-JP" altLang="en-US" sz="2400" dirty="0"/>
              <a:t>　 </a:t>
            </a:r>
            <a:r>
              <a:rPr lang="en-US" altLang="ja-JP" sz="2400" dirty="0"/>
              <a:t>(</a:t>
            </a:r>
            <a:r>
              <a:rPr lang="ja-JP" altLang="en-US" sz="2400" dirty="0"/>
              <a:t>抵抗や摩擦は考慮しなくてよい</a:t>
            </a:r>
            <a:r>
              <a:rPr lang="en-US" altLang="ja-JP" sz="2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728632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2760</TotalTime>
  <Words>649</Words>
  <Application>Microsoft Office PowerPoint</Application>
  <PresentationFormat>ワイド画面</PresentationFormat>
  <Paragraphs>89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2" baseType="lpstr"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情報北九州校 倉掛</cp:lastModifiedBy>
  <cp:revision>258</cp:revision>
  <dcterms:created xsi:type="dcterms:W3CDTF">2024-08-27T02:15:54Z</dcterms:created>
  <dcterms:modified xsi:type="dcterms:W3CDTF">2025-10-28T03:39:40Z</dcterms:modified>
</cp:coreProperties>
</file>