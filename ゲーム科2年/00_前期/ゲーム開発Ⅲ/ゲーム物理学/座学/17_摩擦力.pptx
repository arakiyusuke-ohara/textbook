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63" r:id="rId3"/>
    <p:sldId id="264" r:id="rId4"/>
    <p:sldId id="265" r:id="rId5"/>
    <p:sldId id="266" r:id="rId6"/>
    <p:sldId id="267" r:id="rId7"/>
    <p:sldId id="276" r:id="rId8"/>
    <p:sldId id="268" r:id="rId9"/>
    <p:sldId id="269" r:id="rId10"/>
    <p:sldId id="270" r:id="rId11"/>
    <p:sldId id="271" r:id="rId12"/>
    <p:sldId id="272" r:id="rId13"/>
    <p:sldId id="273" r:id="rId14"/>
    <p:sldId id="274" r:id="rId15"/>
    <p:sldId id="275" r:id="rId1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C4646"/>
    <a:srgbClr val="AD5B5B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3" d="100"/>
          <a:sy n="73" d="100"/>
        </p:scale>
        <p:origin x="66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2025/10/31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斜面に接している場合、滑る力が働くことが前回わかりました。</a:t>
            </a:r>
            <a:endParaRPr lang="en-US" altLang="ja-JP" sz="2400" dirty="0"/>
          </a:p>
          <a:p>
            <a:r>
              <a:rPr lang="ja-JP" altLang="en-US" sz="2400" dirty="0"/>
              <a:t>今回はこの滑る力について詳しく見ていきます。</a:t>
            </a:r>
            <a:endParaRPr lang="en-US" altLang="ja-JP" sz="2400" dirty="0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07DF1A4-D920-458F-BE12-74983F062DAF}"/>
              </a:ext>
            </a:extLst>
          </p:cNvPr>
          <p:cNvSpPr/>
          <p:nvPr/>
        </p:nvSpPr>
        <p:spPr>
          <a:xfrm rot="19402010">
            <a:off x="5106587" y="3244286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3E10C0-0920-4304-A674-1A1590736C76}"/>
              </a:ext>
            </a:extLst>
          </p:cNvPr>
          <p:cNvCxnSpPr>
            <a:cxnSpLocks/>
          </p:cNvCxnSpPr>
          <p:nvPr/>
        </p:nvCxnSpPr>
        <p:spPr>
          <a:xfrm rot="21420131" flipV="1">
            <a:off x="4600665" y="3242732"/>
            <a:ext cx="2302934" cy="1498599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矢印コネクタ 10">
            <a:extLst>
              <a:ext uri="{FF2B5EF4-FFF2-40B4-BE49-F238E27FC236}">
                <a16:creationId xmlns:a16="http://schemas.microsoft.com/office/drawing/2014/main" id="{C19F7B5E-C158-418B-B7E2-42E441A6F554}"/>
              </a:ext>
            </a:extLst>
          </p:cNvPr>
          <p:cNvCxnSpPr>
            <a:cxnSpLocks/>
          </p:cNvCxnSpPr>
          <p:nvPr/>
        </p:nvCxnSpPr>
        <p:spPr>
          <a:xfrm>
            <a:off x="5786964" y="3969166"/>
            <a:ext cx="0" cy="1533519"/>
          </a:xfrm>
          <a:prstGeom prst="straightConnector1">
            <a:avLst/>
          </a:prstGeom>
          <a:ln w="38100">
            <a:solidFill>
              <a:srgbClr val="7030A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矢印コネクタ 13">
            <a:extLst>
              <a:ext uri="{FF2B5EF4-FFF2-40B4-BE49-F238E27FC236}">
                <a16:creationId xmlns:a16="http://schemas.microsoft.com/office/drawing/2014/main" id="{AA218DEE-DEEE-473F-BEC3-115A78F32D98}"/>
              </a:ext>
            </a:extLst>
          </p:cNvPr>
          <p:cNvCxnSpPr>
            <a:cxnSpLocks/>
          </p:cNvCxnSpPr>
          <p:nvPr/>
        </p:nvCxnSpPr>
        <p:spPr>
          <a:xfrm>
            <a:off x="5786964" y="3943555"/>
            <a:ext cx="936000" cy="1000800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67BA5A4F-E275-450C-9B01-679CAA9088CD}"/>
              </a:ext>
            </a:extLst>
          </p:cNvPr>
          <p:cNvCxnSpPr>
            <a:cxnSpLocks/>
          </p:cNvCxnSpPr>
          <p:nvPr/>
        </p:nvCxnSpPr>
        <p:spPr>
          <a:xfrm flipH="1">
            <a:off x="5863449" y="4952103"/>
            <a:ext cx="763575" cy="550582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DEEDD9F9-2A27-4227-B1C7-68559597E285}"/>
              </a:ext>
            </a:extLst>
          </p:cNvPr>
          <p:cNvCxnSpPr>
            <a:cxnSpLocks/>
          </p:cNvCxnSpPr>
          <p:nvPr/>
        </p:nvCxnSpPr>
        <p:spPr>
          <a:xfrm flipH="1">
            <a:off x="6424613" y="4778409"/>
            <a:ext cx="128484" cy="1100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7A215C62-D64A-450B-A240-C7DB008E0621}"/>
              </a:ext>
            </a:extLst>
          </p:cNvPr>
          <p:cNvCxnSpPr>
            <a:cxnSpLocks/>
          </p:cNvCxnSpPr>
          <p:nvPr/>
        </p:nvCxnSpPr>
        <p:spPr>
          <a:xfrm flipH="1" flipV="1">
            <a:off x="6424613" y="4888450"/>
            <a:ext cx="114903" cy="1233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ECA1E186-9447-415F-872D-707CEACCCB88}"/>
              </a:ext>
            </a:extLst>
          </p:cNvPr>
          <p:cNvSpPr txBox="1"/>
          <p:nvPr/>
        </p:nvSpPr>
        <p:spPr>
          <a:xfrm>
            <a:off x="5710480" y="4147839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560B20CB-A7E6-461C-9ABF-34F2AA5D4CE9}"/>
              </a:ext>
            </a:extLst>
          </p:cNvPr>
          <p:cNvSpPr txBox="1"/>
          <p:nvPr/>
        </p:nvSpPr>
        <p:spPr>
          <a:xfrm>
            <a:off x="4816278" y="4499168"/>
            <a:ext cx="4411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000" dirty="0"/>
              <a:t>θ</a:t>
            </a:r>
          </a:p>
        </p:txBody>
      </p:sp>
      <p:cxnSp>
        <p:nvCxnSpPr>
          <p:cNvPr id="21" name="直線コネクタ 20">
            <a:extLst>
              <a:ext uri="{FF2B5EF4-FFF2-40B4-BE49-F238E27FC236}">
                <a16:creationId xmlns:a16="http://schemas.microsoft.com/office/drawing/2014/main" id="{0DEB7A77-371A-4101-AEAC-3FAC13A1C086}"/>
              </a:ext>
            </a:extLst>
          </p:cNvPr>
          <p:cNvCxnSpPr>
            <a:cxnSpLocks/>
          </p:cNvCxnSpPr>
          <p:nvPr/>
        </p:nvCxnSpPr>
        <p:spPr>
          <a:xfrm>
            <a:off x="3331440" y="4800525"/>
            <a:ext cx="1992038" cy="0"/>
          </a:xfrm>
          <a:prstGeom prst="line">
            <a:avLst/>
          </a:prstGeom>
          <a:ln w="38100">
            <a:solidFill>
              <a:srgbClr val="8C464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C79B41D-FEAA-4A27-B295-B55DC3FDDF1B}"/>
                  </a:ext>
                </a:extLst>
              </p:cNvPr>
              <p:cNvSpPr txBox="1"/>
              <p:nvPr/>
            </p:nvSpPr>
            <p:spPr>
              <a:xfrm>
                <a:off x="6174069" y="5292926"/>
                <a:ext cx="227818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dirty="0">
                    <a:solidFill>
                      <a:schemeClr val="tx1"/>
                    </a:solidFill>
                  </a:rPr>
                  <a:t>滑る力</a:t>
                </a:r>
                <a14:m>
                  <m:oMath xmlns:m="http://schemas.openxmlformats.org/officeDocument/2006/math">
                    <m:r>
                      <a:rPr lang="ja-JP" alt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：</m:t>
                    </m:r>
                    <m:r>
                      <a:rPr lang="ja-JP" altLang="en-US" i="1" smtClean="0">
                        <a:solidFill>
                          <a:srgbClr val="7030A0"/>
                        </a:solidFill>
                        <a:latin typeface="Cambria Math" panose="02040503050406030204" pitchFamily="18" charset="0"/>
                      </a:rPr>
                      <m:t>重さ</m:t>
                    </m:r>
                    <m:r>
                      <a:rPr lang="en-US" altLang="ja-JP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m:rPr>
                        <m:sty m:val="p"/>
                      </m:rPr>
                      <a:rPr lang="en-US" altLang="ja-JP" i="1"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endParaRPr lang="en-US" altLang="ja-JP" sz="2400" dirty="0"/>
              </a:p>
            </p:txBody>
          </p:sp>
        </mc:Choice>
        <mc:Fallback xmlns="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CC79B41D-FEAA-4A27-B295-B55DC3FDDF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4069" y="5292926"/>
                <a:ext cx="2278188" cy="369332"/>
              </a:xfrm>
              <a:prstGeom prst="rect">
                <a:avLst/>
              </a:prstGeom>
              <a:blipFill>
                <a:blip r:embed="rId2"/>
                <a:stretch>
                  <a:fillRect l="-2406" t="-6557" b="-26230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390335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斜面の素材が</a:t>
            </a:r>
            <a:r>
              <a:rPr lang="ja-JP" altLang="en-US" sz="2400" b="1" dirty="0">
                <a:solidFill>
                  <a:schemeClr val="accent4">
                    <a:lumMod val="75000"/>
                  </a:schemeClr>
                </a:solidFill>
              </a:rPr>
              <a:t>ゴム</a:t>
            </a:r>
            <a:r>
              <a:rPr lang="ja-JP" altLang="en-US" sz="2400" dirty="0"/>
              <a:t>の場合を想像しましょう。</a:t>
            </a:r>
            <a:endParaRPr lang="en-US" altLang="ja-JP" sz="2400" dirty="0"/>
          </a:p>
          <a:p>
            <a:r>
              <a:rPr lang="ja-JP" altLang="en-US" sz="2400" dirty="0"/>
              <a:t>ゴムの上は滑りにくいので、</a:t>
            </a:r>
            <a:r>
              <a:rPr lang="ja-JP" altLang="en-US" sz="2400" b="1" dirty="0">
                <a:solidFill>
                  <a:srgbClr val="0070C0"/>
                </a:solidFill>
              </a:rPr>
              <a:t>滑る力も弱くなりそう</a:t>
            </a:r>
            <a:r>
              <a:rPr lang="ja-JP" altLang="en-US" sz="2400" dirty="0"/>
              <a:t>ですし、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0070C0"/>
                </a:solidFill>
              </a:rPr>
              <a:t>斜面の角度によっては滑らない</a:t>
            </a:r>
            <a:r>
              <a:rPr lang="ja-JP" altLang="en-US" sz="2400" dirty="0"/>
              <a:t>かもしれません。</a:t>
            </a:r>
            <a:endParaRPr lang="en-US" altLang="ja-JP" sz="2400" dirty="0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07DF1A4-D920-458F-BE12-74983F062DAF}"/>
              </a:ext>
            </a:extLst>
          </p:cNvPr>
          <p:cNvSpPr/>
          <p:nvPr/>
        </p:nvSpPr>
        <p:spPr>
          <a:xfrm rot="19402010">
            <a:off x="1406654" y="3024050"/>
            <a:ext cx="829733" cy="809898"/>
          </a:xfrm>
          <a:prstGeom prst="smileyFac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3E10C0-0920-4304-A674-1A1590736C76}"/>
              </a:ext>
            </a:extLst>
          </p:cNvPr>
          <p:cNvCxnSpPr>
            <a:cxnSpLocks/>
          </p:cNvCxnSpPr>
          <p:nvPr/>
        </p:nvCxnSpPr>
        <p:spPr>
          <a:xfrm rot="21420131" flipV="1">
            <a:off x="900732" y="3022496"/>
            <a:ext cx="2302934" cy="1498599"/>
          </a:xfrm>
          <a:prstGeom prst="line">
            <a:avLst/>
          </a:prstGeom>
          <a:ln w="38100">
            <a:solidFill>
              <a:schemeClr val="accent4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2607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4946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斜面の素材も、キャラクターの素材も</a:t>
            </a:r>
            <a:r>
              <a:rPr lang="ja-JP" altLang="en-US" sz="2400" b="1" dirty="0">
                <a:solidFill>
                  <a:srgbClr val="0070C0"/>
                </a:solidFill>
              </a:rPr>
              <a:t>氷</a:t>
            </a:r>
            <a:r>
              <a:rPr lang="ja-JP" altLang="en-US" sz="2400" dirty="0"/>
              <a:t>だとどうでしょう。</a:t>
            </a:r>
            <a:endParaRPr lang="en-US" altLang="ja-JP" sz="2400" dirty="0"/>
          </a:p>
          <a:p>
            <a:r>
              <a:rPr lang="ja-JP" altLang="en-US" sz="2400" dirty="0"/>
              <a:t>この場合は</a:t>
            </a:r>
            <a:r>
              <a:rPr lang="ja-JP" altLang="en-US" sz="2400" b="1" dirty="0">
                <a:solidFill>
                  <a:srgbClr val="0070C0"/>
                </a:solidFill>
              </a:rPr>
              <a:t>簡単に滑ってしまいそう</a:t>
            </a:r>
            <a:r>
              <a:rPr lang="ja-JP" altLang="en-US" sz="2400" dirty="0"/>
              <a:t>です。</a:t>
            </a:r>
            <a:endParaRPr lang="en-US" altLang="ja-JP" sz="2400" dirty="0"/>
          </a:p>
        </p:txBody>
      </p:sp>
      <p:sp>
        <p:nvSpPr>
          <p:cNvPr id="8" name="スマイル 7">
            <a:extLst>
              <a:ext uri="{FF2B5EF4-FFF2-40B4-BE49-F238E27FC236}">
                <a16:creationId xmlns:a16="http://schemas.microsoft.com/office/drawing/2014/main" id="{907DF1A4-D920-458F-BE12-74983F062DAF}"/>
              </a:ext>
            </a:extLst>
          </p:cNvPr>
          <p:cNvSpPr/>
          <p:nvPr/>
        </p:nvSpPr>
        <p:spPr>
          <a:xfrm rot="19402010">
            <a:off x="448252" y="3709850"/>
            <a:ext cx="829733" cy="809898"/>
          </a:xfrm>
          <a:prstGeom prst="smileyFac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>
              <a:solidFill>
                <a:schemeClr val="tx1"/>
              </a:solidFill>
            </a:endParaRPr>
          </a:p>
        </p:txBody>
      </p: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223E10C0-0920-4304-A674-1A1590736C76}"/>
              </a:ext>
            </a:extLst>
          </p:cNvPr>
          <p:cNvCxnSpPr>
            <a:cxnSpLocks/>
          </p:cNvCxnSpPr>
          <p:nvPr/>
        </p:nvCxnSpPr>
        <p:spPr>
          <a:xfrm rot="21420131" flipV="1">
            <a:off x="900732" y="3022496"/>
            <a:ext cx="2302934" cy="1498599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コネクタ 2">
            <a:extLst>
              <a:ext uri="{FF2B5EF4-FFF2-40B4-BE49-F238E27FC236}">
                <a16:creationId xmlns:a16="http://schemas.microsoft.com/office/drawing/2014/main" id="{1134507C-781F-4739-9C03-A6350C8924A0}"/>
              </a:ext>
            </a:extLst>
          </p:cNvPr>
          <p:cNvCxnSpPr>
            <a:cxnSpLocks/>
          </p:cNvCxnSpPr>
          <p:nvPr/>
        </p:nvCxnSpPr>
        <p:spPr>
          <a:xfrm flipV="1">
            <a:off x="1275428" y="2856285"/>
            <a:ext cx="776771" cy="5727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F24CFCF1-DC05-46B3-A048-E32A5BC5ECD8}"/>
              </a:ext>
            </a:extLst>
          </p:cNvPr>
          <p:cNvCxnSpPr>
            <a:cxnSpLocks/>
          </p:cNvCxnSpPr>
          <p:nvPr/>
        </p:nvCxnSpPr>
        <p:spPr>
          <a:xfrm flipV="1">
            <a:off x="1623831" y="2963302"/>
            <a:ext cx="776771" cy="5727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BE66FF90-7A3C-4F9E-AE2A-0C506A938628}"/>
              </a:ext>
            </a:extLst>
          </p:cNvPr>
          <p:cNvCxnSpPr>
            <a:cxnSpLocks/>
          </p:cNvCxnSpPr>
          <p:nvPr/>
        </p:nvCxnSpPr>
        <p:spPr>
          <a:xfrm flipV="1">
            <a:off x="1562701" y="3291993"/>
            <a:ext cx="776771" cy="57271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38150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571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滑る力が存在するのに滑らない場合があるのは、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摩擦力</a:t>
            </a:r>
            <a:r>
              <a:rPr lang="ja-JP" altLang="en-US" sz="2400" dirty="0"/>
              <a:t>により抵抗されているからです。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そして摩擦力は、</a:t>
            </a:r>
            <a:r>
              <a:rPr lang="ja-JP" altLang="en-US" sz="2400" b="1" dirty="0">
                <a:solidFill>
                  <a:srgbClr val="FF0000"/>
                </a:solidFill>
              </a:rPr>
              <a:t>素材によって大きさが変わります。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1410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DF1F73E-7F82-407A-8160-3A8A46BDE7A5}"/>
              </a:ext>
            </a:extLst>
          </p:cNvPr>
          <p:cNvSpPr/>
          <p:nvPr/>
        </p:nvSpPr>
        <p:spPr>
          <a:xfrm>
            <a:off x="414867" y="1761067"/>
            <a:ext cx="8322733" cy="3124200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186857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また、摩擦力は別々の異なる２種類の力があります。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■静止摩擦力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接触している互いが静止しているときの摩擦力。</a:t>
            </a:r>
            <a:endParaRPr lang="en-US" altLang="ja-JP" sz="2400" dirty="0"/>
          </a:p>
          <a:p>
            <a:r>
              <a:rPr lang="ja-JP" altLang="en-US" sz="2400" dirty="0"/>
              <a:t>お互いが滑り出さないようにする力。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■運動摩擦力</a:t>
            </a:r>
            <a:endParaRPr lang="en-US" altLang="ja-JP" sz="2400" b="1" dirty="0">
              <a:solidFill>
                <a:srgbClr val="FF0000"/>
              </a:solidFill>
            </a:endParaRPr>
          </a:p>
          <a:p>
            <a:r>
              <a:rPr lang="ja-JP" altLang="en-US" sz="2400" dirty="0"/>
              <a:t>接触している互いのいずれかが動いているときの摩擦力。</a:t>
            </a:r>
            <a:endParaRPr lang="en-US" altLang="ja-JP" sz="2400" dirty="0"/>
          </a:p>
          <a:p>
            <a:r>
              <a:rPr lang="ja-JP" altLang="en-US" sz="2400" dirty="0"/>
              <a:t>動いているものを動きにくくしている力。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542509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金属の板に金属の重りを乗せたとしましょう。</a:t>
            </a:r>
            <a:endParaRPr lang="en-US" altLang="ja-JP" sz="2400" dirty="0"/>
          </a:p>
          <a:p>
            <a:r>
              <a:rPr lang="ja-JP" altLang="en-US" sz="2400" dirty="0"/>
              <a:t>ほんの少しだけ傾けても滑り出しはしないと思います。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16E17-1560-44BA-9E5E-E771DEC8005D}"/>
              </a:ext>
            </a:extLst>
          </p:cNvPr>
          <p:cNvGrpSpPr/>
          <p:nvPr/>
        </p:nvGrpSpPr>
        <p:grpSpPr>
          <a:xfrm>
            <a:off x="567542" y="3710147"/>
            <a:ext cx="3638550" cy="773445"/>
            <a:chOff x="2114550" y="4805030"/>
            <a:chExt cx="3638550" cy="77344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8D49477-76D4-45C2-89E6-A89B9813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5403851"/>
              <a:ext cx="3638550" cy="17462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55E80D41-E85A-436E-9CBF-7E904F4495E5}"/>
                </a:ext>
              </a:extLst>
            </p:cNvPr>
            <p:cNvSpPr/>
            <p:nvPr/>
          </p:nvSpPr>
          <p:spPr>
            <a:xfrm rot="21422328">
              <a:off x="3158067" y="4805030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49839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ある程度傾けるまでは滑りません。</a:t>
            </a:r>
            <a:endParaRPr lang="en-US" altLang="ja-JP" sz="2400" dirty="0"/>
          </a:p>
          <a:p>
            <a:r>
              <a:rPr lang="ja-JP" altLang="en-US" sz="2400" dirty="0"/>
              <a:t>これは</a:t>
            </a:r>
            <a:r>
              <a:rPr lang="ja-JP" altLang="en-US" sz="2400" b="1" dirty="0">
                <a:solidFill>
                  <a:srgbClr val="FF0000"/>
                </a:solidFill>
              </a:rPr>
              <a:t>滑る力と静止摩擦力が等しい状態</a:t>
            </a:r>
            <a:r>
              <a:rPr lang="ja-JP" altLang="en-US" sz="2400" dirty="0"/>
              <a:t>が続いているからです。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傾けると滑る力が強く</a:t>
            </a:r>
            <a:r>
              <a:rPr lang="ja-JP" altLang="en-US" sz="2400" dirty="0"/>
              <a:t>なりますが、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滑らないということは静止摩擦力も強く</a:t>
            </a:r>
            <a:r>
              <a:rPr lang="ja-JP" altLang="en-US" sz="2400" dirty="0"/>
              <a:t>なります。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16E17-1560-44BA-9E5E-E771DEC8005D}"/>
              </a:ext>
            </a:extLst>
          </p:cNvPr>
          <p:cNvGrpSpPr/>
          <p:nvPr/>
        </p:nvGrpSpPr>
        <p:grpSpPr>
          <a:xfrm>
            <a:off x="567542" y="3710147"/>
            <a:ext cx="3638550" cy="773445"/>
            <a:chOff x="2114550" y="4805030"/>
            <a:chExt cx="3638550" cy="77344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8D49477-76D4-45C2-89E6-A89B9813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5403851"/>
              <a:ext cx="3638550" cy="17462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55E80D41-E85A-436E-9CBF-7E904F4495E5}"/>
                </a:ext>
              </a:extLst>
            </p:cNvPr>
            <p:cNvSpPr/>
            <p:nvPr/>
          </p:nvSpPr>
          <p:spPr>
            <a:xfrm rot="21422328">
              <a:off x="3158067" y="4805030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9F981AA-7C78-47D6-A67D-0CF78B7E6E4F}"/>
              </a:ext>
            </a:extLst>
          </p:cNvPr>
          <p:cNvSpPr txBox="1"/>
          <p:nvPr/>
        </p:nvSpPr>
        <p:spPr>
          <a:xfrm>
            <a:off x="1217266" y="4904506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滑る力：弱</a:t>
            </a:r>
            <a:endParaRPr lang="en-US" altLang="ja-JP" sz="2400" dirty="0"/>
          </a:p>
          <a:p>
            <a:r>
              <a:rPr lang="ja-JP" altLang="en-US" sz="2400" dirty="0"/>
              <a:t>静止摩擦力：弱</a:t>
            </a:r>
            <a:endParaRPr lang="en-US" altLang="ja-JP" sz="2400" dirty="0"/>
          </a:p>
        </p:txBody>
      </p:sp>
      <p:grpSp>
        <p:nvGrpSpPr>
          <p:cNvPr id="10" name="グループ化 9">
            <a:extLst>
              <a:ext uri="{FF2B5EF4-FFF2-40B4-BE49-F238E27FC236}">
                <a16:creationId xmlns:a16="http://schemas.microsoft.com/office/drawing/2014/main" id="{9B220131-12B0-41BA-8490-B72E8FE7D94F}"/>
              </a:ext>
            </a:extLst>
          </p:cNvPr>
          <p:cNvGrpSpPr/>
          <p:nvPr/>
        </p:nvGrpSpPr>
        <p:grpSpPr>
          <a:xfrm rot="20970380">
            <a:off x="5842276" y="3650693"/>
            <a:ext cx="3638550" cy="773445"/>
            <a:chOff x="2114550" y="4805030"/>
            <a:chExt cx="3638550" cy="773445"/>
          </a:xfrm>
        </p:grpSpPr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D2B73053-DF4E-4615-92EB-AB46487C7DB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5403851"/>
              <a:ext cx="3638550" cy="174624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台形 12">
              <a:extLst>
                <a:ext uri="{FF2B5EF4-FFF2-40B4-BE49-F238E27FC236}">
                  <a16:creationId xmlns:a16="http://schemas.microsoft.com/office/drawing/2014/main" id="{CD069B56-DE43-4C6D-BA72-2453DEF64B9A}"/>
                </a:ext>
              </a:extLst>
            </p:cNvPr>
            <p:cNvSpPr/>
            <p:nvPr/>
          </p:nvSpPr>
          <p:spPr>
            <a:xfrm rot="21422328">
              <a:off x="3158067" y="4805030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93BB7161-2782-4310-9C5B-AEE3D873AB71}"/>
              </a:ext>
            </a:extLst>
          </p:cNvPr>
          <p:cNvSpPr txBox="1"/>
          <p:nvPr/>
        </p:nvSpPr>
        <p:spPr>
          <a:xfrm>
            <a:off x="6644399" y="4904506"/>
            <a:ext cx="23391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滑る力：強</a:t>
            </a:r>
            <a:endParaRPr lang="en-US" altLang="ja-JP" sz="2400" dirty="0"/>
          </a:p>
          <a:p>
            <a:r>
              <a:rPr lang="ja-JP" altLang="en-US" sz="2400" dirty="0"/>
              <a:t>静止摩擦力：強</a:t>
            </a:r>
            <a:endParaRPr lang="en-US" altLang="ja-JP" sz="2400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BCED2973-D602-4253-AD0A-1466E6AA42E8}"/>
              </a:ext>
            </a:extLst>
          </p:cNvPr>
          <p:cNvSpPr txBox="1"/>
          <p:nvPr/>
        </p:nvSpPr>
        <p:spPr>
          <a:xfrm>
            <a:off x="567542" y="6041055"/>
            <a:ext cx="69557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滑らない間は、滑る力＝静止摩擦力となります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64455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136400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ある角度まで傾けると滑り出します。</a:t>
            </a:r>
            <a:endParaRPr lang="en-US" altLang="ja-JP" sz="2400" dirty="0"/>
          </a:p>
          <a:p>
            <a:r>
              <a:rPr lang="ja-JP" altLang="en-US" sz="2400" dirty="0"/>
              <a:t>つまり</a:t>
            </a:r>
            <a:r>
              <a:rPr lang="ja-JP" altLang="en-US" sz="2400" b="1" dirty="0">
                <a:solidFill>
                  <a:srgbClr val="FF0000"/>
                </a:solidFill>
              </a:rPr>
              <a:t>静止摩擦力には</a:t>
            </a:r>
            <a:r>
              <a:rPr lang="en-US" altLang="ja-JP" sz="2400" b="1" dirty="0">
                <a:solidFill>
                  <a:srgbClr val="FF0000"/>
                </a:solidFill>
              </a:rPr>
              <a:t>MAX</a:t>
            </a:r>
            <a:r>
              <a:rPr lang="ja-JP" altLang="en-US" sz="2400" b="1" dirty="0">
                <a:solidFill>
                  <a:srgbClr val="FF0000"/>
                </a:solidFill>
              </a:rPr>
              <a:t>値があり、それを滑る力が上回った</a:t>
            </a:r>
            <a:r>
              <a:rPr lang="ja-JP" altLang="en-US" sz="2400" dirty="0"/>
              <a:t>ということです。</a:t>
            </a:r>
            <a:endParaRPr lang="en-US" altLang="ja-JP" sz="2400" dirty="0"/>
          </a:p>
        </p:txBody>
      </p:sp>
      <p:grpSp>
        <p:nvGrpSpPr>
          <p:cNvPr id="11" name="グループ化 10">
            <a:extLst>
              <a:ext uri="{FF2B5EF4-FFF2-40B4-BE49-F238E27FC236}">
                <a16:creationId xmlns:a16="http://schemas.microsoft.com/office/drawing/2014/main" id="{80D16E17-1560-44BA-9E5E-E771DEC8005D}"/>
              </a:ext>
            </a:extLst>
          </p:cNvPr>
          <p:cNvGrpSpPr/>
          <p:nvPr/>
        </p:nvGrpSpPr>
        <p:grpSpPr>
          <a:xfrm>
            <a:off x="567542" y="2531534"/>
            <a:ext cx="2901673" cy="2341525"/>
            <a:chOff x="1735668" y="3236950"/>
            <a:chExt cx="2901673" cy="2341525"/>
          </a:xfrm>
        </p:grpSpPr>
        <p:cxnSp>
          <p:nvCxnSpPr>
            <p:cNvPr id="5" name="直線コネクタ 4">
              <a:extLst>
                <a:ext uri="{FF2B5EF4-FFF2-40B4-BE49-F238E27FC236}">
                  <a16:creationId xmlns:a16="http://schemas.microsoft.com/office/drawing/2014/main" id="{88D49477-76D4-45C2-89E6-A89B9813CE3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3236950"/>
              <a:ext cx="2522791" cy="234152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55E80D41-E85A-436E-9CBF-7E904F4495E5}"/>
                </a:ext>
              </a:extLst>
            </p:cNvPr>
            <p:cNvSpPr/>
            <p:nvPr/>
          </p:nvSpPr>
          <p:spPr>
            <a:xfrm rot="19022851">
              <a:off x="1735668" y="4592151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4C0F2CD6-77FD-44FE-96AF-AAB674898F6E}"/>
              </a:ext>
            </a:extLst>
          </p:cNvPr>
          <p:cNvCxnSpPr>
            <a:cxnSpLocks/>
          </p:cNvCxnSpPr>
          <p:nvPr/>
        </p:nvCxnSpPr>
        <p:spPr>
          <a:xfrm flipV="1">
            <a:off x="1383264" y="2709333"/>
            <a:ext cx="764820" cy="719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071A576D-9F92-4531-AA9B-AE7766AF5EB6}"/>
              </a:ext>
            </a:extLst>
          </p:cNvPr>
          <p:cNvCxnSpPr>
            <a:cxnSpLocks/>
          </p:cNvCxnSpPr>
          <p:nvPr/>
        </p:nvCxnSpPr>
        <p:spPr>
          <a:xfrm flipV="1">
            <a:off x="1799009" y="2467790"/>
            <a:ext cx="961679" cy="9292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コネクタ 11">
            <a:extLst>
              <a:ext uri="{FF2B5EF4-FFF2-40B4-BE49-F238E27FC236}">
                <a16:creationId xmlns:a16="http://schemas.microsoft.com/office/drawing/2014/main" id="{E53668F6-A2DA-4A16-9388-FB27F78D6700}"/>
              </a:ext>
            </a:extLst>
          </p:cNvPr>
          <p:cNvCxnSpPr>
            <a:cxnSpLocks/>
          </p:cNvCxnSpPr>
          <p:nvPr/>
        </p:nvCxnSpPr>
        <p:spPr>
          <a:xfrm flipV="1">
            <a:off x="1817770" y="3170941"/>
            <a:ext cx="596299" cy="531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14610B23-3C08-45D0-8B58-E4E748D798DB}"/>
              </a:ext>
            </a:extLst>
          </p:cNvPr>
          <p:cNvSpPr txBox="1"/>
          <p:nvPr/>
        </p:nvSpPr>
        <p:spPr>
          <a:xfrm>
            <a:off x="567541" y="5334667"/>
            <a:ext cx="849463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この時の滑り出し始めるまでの静止摩擦力のことを</a:t>
            </a:r>
            <a:endParaRPr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最大静止摩擦力</a:t>
            </a:r>
            <a:r>
              <a:rPr lang="ja-JP" altLang="en-US" sz="2400" dirty="0"/>
              <a:t>と言います。</a:t>
            </a:r>
            <a:endParaRPr lang="en-US" altLang="ja-JP" sz="2400" dirty="0"/>
          </a:p>
          <a:p>
            <a:r>
              <a:rPr lang="ja-JP" altLang="en-US" sz="2400" dirty="0"/>
              <a:t>つまり、</a:t>
            </a:r>
            <a:r>
              <a:rPr lang="ja-JP" altLang="en-US" sz="2400" b="1" dirty="0">
                <a:solidFill>
                  <a:srgbClr val="FF0000"/>
                </a:solidFill>
              </a:rPr>
              <a:t>滑る力＞最大静止摩擦力だと物体は滑り始めます。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368239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B0AAC35-247A-4E88-8E43-CEA41A3AA70A}"/>
              </a:ext>
            </a:extLst>
          </p:cNvPr>
          <p:cNvSpPr/>
          <p:nvPr/>
        </p:nvSpPr>
        <p:spPr>
          <a:xfrm>
            <a:off x="414868" y="1761067"/>
            <a:ext cx="4318000" cy="28278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以下は公式となります。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■最大静止摩擦力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</m:oMath>
                </a14:m>
                <a:r>
                  <a:rPr lang="ja-JP" altLang="en-US" sz="2400" dirty="0"/>
                  <a:t>・・・最大静止摩擦力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</m:oMath>
                </a14:m>
                <a:r>
                  <a:rPr lang="ja-JP" altLang="en-US" sz="2400" b="0" dirty="0"/>
                  <a:t>・・・静止摩擦係数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b="0" dirty="0"/>
                  <a:t>・・・垂直抗力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摩擦係数に関してはのちほど</a:t>
                </a:r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blipFill>
                <a:blip r:embed="rId2"/>
                <a:stretch>
                  <a:fillRect l="-2035" t="-1175" r="-1221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84400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87908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運動摩擦力は動いているものに対して働く摩擦力です。</a:t>
            </a:r>
            <a:endParaRPr lang="en-US" altLang="ja-JP" sz="2400" b="0" dirty="0"/>
          </a:p>
        </p:txBody>
      </p:sp>
      <p:grpSp>
        <p:nvGrpSpPr>
          <p:cNvPr id="5" name="グループ化 4">
            <a:extLst>
              <a:ext uri="{FF2B5EF4-FFF2-40B4-BE49-F238E27FC236}">
                <a16:creationId xmlns:a16="http://schemas.microsoft.com/office/drawing/2014/main" id="{1B69A5F0-E23F-4035-A684-28D16776EF7E}"/>
              </a:ext>
            </a:extLst>
          </p:cNvPr>
          <p:cNvGrpSpPr/>
          <p:nvPr/>
        </p:nvGrpSpPr>
        <p:grpSpPr>
          <a:xfrm>
            <a:off x="567542" y="2622603"/>
            <a:ext cx="2522791" cy="2341525"/>
            <a:chOff x="2114550" y="3236950"/>
            <a:chExt cx="2522791" cy="2341525"/>
          </a:xfrm>
        </p:grpSpPr>
        <p:cxnSp>
          <p:nvCxnSpPr>
            <p:cNvPr id="7" name="直線コネクタ 6">
              <a:extLst>
                <a:ext uri="{FF2B5EF4-FFF2-40B4-BE49-F238E27FC236}">
                  <a16:creationId xmlns:a16="http://schemas.microsoft.com/office/drawing/2014/main" id="{2FF5C351-82D3-42FC-AB35-1732EF0DA162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14550" y="3236950"/>
              <a:ext cx="2522791" cy="2341525"/>
            </a:xfrm>
            <a:prstGeom prst="line">
              <a:avLst/>
            </a:prstGeom>
            <a:ln w="381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台形 7">
              <a:extLst>
                <a:ext uri="{FF2B5EF4-FFF2-40B4-BE49-F238E27FC236}">
                  <a16:creationId xmlns:a16="http://schemas.microsoft.com/office/drawing/2014/main" id="{F64C426F-B3E6-4881-91F5-58871260F313}"/>
                </a:ext>
              </a:extLst>
            </p:cNvPr>
            <p:cNvSpPr/>
            <p:nvPr/>
          </p:nvSpPr>
          <p:spPr>
            <a:xfrm rot="19022851">
              <a:off x="2521895" y="3850813"/>
              <a:ext cx="1109133" cy="685800"/>
            </a:xfrm>
            <a:prstGeom prst="trapezoid">
              <a:avLst/>
            </a:prstGeom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ja-JP" altLang="en-US" b="1" dirty="0"/>
                <a:t>重り</a:t>
              </a:r>
            </a:p>
          </p:txBody>
        </p:sp>
      </p:grpSp>
      <p:cxnSp>
        <p:nvCxnSpPr>
          <p:cNvPr id="9" name="直線コネクタ 8">
            <a:extLst>
              <a:ext uri="{FF2B5EF4-FFF2-40B4-BE49-F238E27FC236}">
                <a16:creationId xmlns:a16="http://schemas.microsoft.com/office/drawing/2014/main" id="{718A324A-0A74-454F-B6FF-D2F6D0644CB4}"/>
              </a:ext>
            </a:extLst>
          </p:cNvPr>
          <p:cNvCxnSpPr>
            <a:cxnSpLocks/>
          </p:cNvCxnSpPr>
          <p:nvPr/>
        </p:nvCxnSpPr>
        <p:spPr>
          <a:xfrm flipV="1">
            <a:off x="1604432" y="2059337"/>
            <a:ext cx="764820" cy="719667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コネクタ 9">
            <a:extLst>
              <a:ext uri="{FF2B5EF4-FFF2-40B4-BE49-F238E27FC236}">
                <a16:creationId xmlns:a16="http://schemas.microsoft.com/office/drawing/2014/main" id="{BF3C9F56-5ABC-470E-9D8F-1470E08B0A6D}"/>
              </a:ext>
            </a:extLst>
          </p:cNvPr>
          <p:cNvCxnSpPr>
            <a:cxnSpLocks/>
          </p:cNvCxnSpPr>
          <p:nvPr/>
        </p:nvCxnSpPr>
        <p:spPr>
          <a:xfrm flipV="1">
            <a:off x="2020177" y="1817794"/>
            <a:ext cx="961679" cy="929276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10F344DC-E54C-4B63-A2C3-34CD54608A53}"/>
              </a:ext>
            </a:extLst>
          </p:cNvPr>
          <p:cNvCxnSpPr>
            <a:cxnSpLocks/>
          </p:cNvCxnSpPr>
          <p:nvPr/>
        </p:nvCxnSpPr>
        <p:spPr>
          <a:xfrm flipV="1">
            <a:off x="2038938" y="2520945"/>
            <a:ext cx="596299" cy="531355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2714CCAD-8BA9-4ECA-99E3-ED81FDB3E9B0}"/>
              </a:ext>
            </a:extLst>
          </p:cNvPr>
          <p:cNvCxnSpPr/>
          <p:nvPr/>
        </p:nvCxnSpPr>
        <p:spPr>
          <a:xfrm flipH="1">
            <a:off x="2252133" y="3141133"/>
            <a:ext cx="838200" cy="846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C7EFC35B-4CD9-45E6-B486-2C5CB5A368A0}"/>
              </a:ext>
            </a:extLst>
          </p:cNvPr>
          <p:cNvSpPr txBox="1"/>
          <p:nvPr/>
        </p:nvSpPr>
        <p:spPr>
          <a:xfrm>
            <a:off x="2671233" y="3579366"/>
            <a:ext cx="11079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滑る力</a:t>
            </a:r>
            <a:endParaRPr lang="en-US" altLang="ja-JP" sz="2400" dirty="0"/>
          </a:p>
          <a:p>
            <a:r>
              <a:rPr lang="ja-JP" altLang="en-US" sz="1200" b="0" dirty="0"/>
              <a:t>だけでなく</a:t>
            </a:r>
            <a:endParaRPr lang="en-US" altLang="ja-JP" sz="1200" b="0" dirty="0"/>
          </a:p>
        </p:txBody>
      </p:sp>
      <p:cxnSp>
        <p:nvCxnSpPr>
          <p:cNvPr id="15" name="直線矢印コネクタ 14">
            <a:extLst>
              <a:ext uri="{FF2B5EF4-FFF2-40B4-BE49-F238E27FC236}">
                <a16:creationId xmlns:a16="http://schemas.microsoft.com/office/drawing/2014/main" id="{FFA122FC-A037-4D45-98B4-95CF45C4F5CF}"/>
              </a:ext>
            </a:extLst>
          </p:cNvPr>
          <p:cNvCxnSpPr>
            <a:cxnSpLocks/>
          </p:cNvCxnSpPr>
          <p:nvPr/>
        </p:nvCxnSpPr>
        <p:spPr>
          <a:xfrm flipV="1">
            <a:off x="1359593" y="4605468"/>
            <a:ext cx="339720" cy="358660"/>
          </a:xfrm>
          <a:prstGeom prst="straightConnector1">
            <a:avLst/>
          </a:prstGeom>
          <a:ln w="3810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0F5EA89-254C-4FA0-B7E7-A9A57BC38A62}"/>
              </a:ext>
            </a:extLst>
          </p:cNvPr>
          <p:cNvSpPr txBox="1"/>
          <p:nvPr/>
        </p:nvSpPr>
        <p:spPr>
          <a:xfrm>
            <a:off x="1557469" y="4784798"/>
            <a:ext cx="38779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運動摩擦力が抵抗している</a:t>
            </a:r>
            <a:endParaRPr lang="en-US" altLang="ja-JP" sz="1200" b="0" dirty="0"/>
          </a:p>
        </p:txBody>
      </p:sp>
    </p:spTree>
    <p:extLst>
      <p:ext uri="{BB962C8B-B14F-4D97-AF65-F5344CB8AC3E}">
        <p14:creationId xmlns:p14="http://schemas.microsoft.com/office/powerpoint/2010/main" val="1422042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四角形: 角を丸くする 12">
            <a:extLst>
              <a:ext uri="{FF2B5EF4-FFF2-40B4-BE49-F238E27FC236}">
                <a16:creationId xmlns:a16="http://schemas.microsoft.com/office/drawing/2014/main" id="{3B0AAC35-247A-4E88-8E43-CEA41A3AA70A}"/>
              </a:ext>
            </a:extLst>
          </p:cNvPr>
          <p:cNvSpPr/>
          <p:nvPr/>
        </p:nvSpPr>
        <p:spPr>
          <a:xfrm>
            <a:off x="414868" y="1761067"/>
            <a:ext cx="4318000" cy="2827866"/>
          </a:xfrm>
          <a:prstGeom prst="round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以下は公式となります。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■運動摩擦力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</m:oMath>
                </a14:m>
                <a:r>
                  <a:rPr lang="ja-JP" altLang="en-US" sz="2400" dirty="0"/>
                  <a:t>・・・運動摩擦力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ja-JP" altLang="en-US" sz="2400" b="0" dirty="0"/>
                  <a:t>・・・運動摩擦係数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b="0" dirty="0"/>
                  <a:t>・・・垂直抗力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en-US" altLang="ja-JP" sz="2400" dirty="0"/>
                  <a:t>※</a:t>
                </a:r>
                <a:r>
                  <a:rPr lang="ja-JP" altLang="en-US" sz="2400" dirty="0"/>
                  <a:t>摩擦係数に関してはのちほど</a:t>
                </a:r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4493538" cy="4154984"/>
              </a:xfrm>
              <a:prstGeom prst="rect">
                <a:avLst/>
              </a:prstGeom>
              <a:blipFill>
                <a:blip r:embed="rId2"/>
                <a:stretch>
                  <a:fillRect l="-2035" t="-1175" r="-1221" b="-2496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5537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141577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</a:t>
            </a:r>
            <a:endParaRPr kumimoji="1" lang="en-US" altLang="ja-JP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8024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摩擦係数の値は素材の組み合わせごとに定義されています。</a:t>
            </a:r>
            <a:endParaRPr lang="en-US" altLang="ja-JP" sz="2400" b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F5725C3-7E38-498D-8E57-77F471C1C2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3177300"/>
                  </p:ext>
                </p:extLst>
              </p:nvPr>
            </p:nvGraphicFramePr>
            <p:xfrm>
              <a:off x="567542" y="1817794"/>
              <a:ext cx="8127999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0983945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94373448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96064333"/>
                        </a:ext>
                      </a:extLst>
                    </a:gridCol>
                  </a:tblGrid>
                  <a:tr h="18000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素材の組み合わせ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静止摩擦係数（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i="1" dirty="0" smtClean="0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  <m:t>𝑺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dirty="0"/>
                            <a:t>）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運動摩擦係数（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kumimoji="1" lang="en-US" altLang="ja-JP" i="1" dirty="0" smtClean="0">
                                      <a:latin typeface="Cambria Math" panose="02040503050406030204" pitchFamily="18" charset="0"/>
                                    </a:rPr>
                                    <m:t>μ</m:t>
                                  </m:r>
                                </m:e>
                                <m:sub>
                                  <m:r>
                                    <a:rPr kumimoji="1" lang="en-US" altLang="ja-JP" b="1" i="1" dirty="0" smtClean="0">
                                      <a:latin typeface="Cambria Math" panose="02040503050406030204" pitchFamily="18" charset="0"/>
                                    </a:rPr>
                                    <m:t>𝑲</m:t>
                                  </m:r>
                                </m:sub>
                              </m:sSub>
                            </m:oMath>
                          </a14:m>
                          <a:r>
                            <a:rPr kumimoji="1" lang="ja-JP" altLang="en-US" dirty="0"/>
                            <a:t>）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99983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鋼鉄と鋼鉄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0.74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0.57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3626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ゴムとコンクリート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1.0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7119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金属と氷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956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ガラスとガラス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178744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 2">
                <a:extLst>
                  <a:ext uri="{FF2B5EF4-FFF2-40B4-BE49-F238E27FC236}">
                    <a16:creationId xmlns:a16="http://schemas.microsoft.com/office/drawing/2014/main" id="{4F5725C3-7E38-498D-8E57-77F471C1C2C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03177300"/>
                  </p:ext>
                </p:extLst>
              </p:nvPr>
            </p:nvGraphicFramePr>
            <p:xfrm>
              <a:off x="567542" y="1817794"/>
              <a:ext cx="8127999" cy="184912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2709333">
                      <a:extLst>
                        <a:ext uri="{9D8B030D-6E8A-4147-A177-3AD203B41FA5}">
                          <a16:colId xmlns:a16="http://schemas.microsoft.com/office/drawing/2014/main" val="1109839455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943734481"/>
                        </a:ext>
                      </a:extLst>
                    </a:gridCol>
                    <a:gridCol w="2709333">
                      <a:extLst>
                        <a:ext uri="{9D8B030D-6E8A-4147-A177-3AD203B41FA5}">
                          <a16:colId xmlns:a16="http://schemas.microsoft.com/office/drawing/2014/main" val="3996064333"/>
                        </a:ext>
                      </a:extLst>
                    </a:gridCol>
                  </a:tblGrid>
                  <a:tr h="36576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素材の組み合わせ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100450" t="-8333" r="-101126" b="-431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ja-JP"/>
                        </a:p>
                      </a:txBody>
                      <a:tcPr>
                        <a:blipFill>
                          <a:blip r:embed="rId2"/>
                          <a:stretch>
                            <a:fillRect l="-200000" t="-8333" r="-899" b="-43166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9998360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鋼鉄と鋼鉄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0.74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0.57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133626552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ゴムとコンクリート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1.0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6371195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金属と氷</a:t>
                          </a:r>
                          <a:endParaRPr kumimoji="1" lang="en-US" altLang="ja-JP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0.02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70395680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r>
                            <a:rPr kumimoji="1" lang="ja-JP" altLang="en-US" dirty="0"/>
                            <a:t>ガラスとガラス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0.94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kumimoji="1" lang="en-US" altLang="ja-JP" dirty="0"/>
                            <a:t>0.4</a:t>
                          </a:r>
                          <a:endParaRPr kumimoji="1" lang="ja-JP" altLang="en-US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85178744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6BEBAB8-41F1-47A0-BA92-30BCD686E33B}"/>
              </a:ext>
            </a:extLst>
          </p:cNvPr>
          <p:cNvSpPr txBox="1"/>
          <p:nvPr/>
        </p:nvSpPr>
        <p:spPr>
          <a:xfrm>
            <a:off x="567541" y="3951163"/>
            <a:ext cx="54168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他にも様々な組み合わせがあります。</a:t>
            </a:r>
            <a:endParaRPr lang="en-US" altLang="ja-JP" sz="2400" b="0" dirty="0"/>
          </a:p>
        </p:txBody>
      </p:sp>
    </p:spTree>
    <p:extLst>
      <p:ext uri="{BB962C8B-B14F-4D97-AF65-F5344CB8AC3E}">
        <p14:creationId xmlns:p14="http://schemas.microsoft.com/office/powerpoint/2010/main" val="22739152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 例題１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642109" cy="383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鋼鉄の板に</a:t>
                </a:r>
                <a:r>
                  <a:rPr lang="en-US" altLang="ja-JP" sz="2400" dirty="0"/>
                  <a:t>500g</a:t>
                </a:r>
                <a:r>
                  <a:rPr lang="ja-JP" altLang="en-US" sz="2400" dirty="0"/>
                  <a:t>の鋼鉄の重りを乗せました。</a:t>
                </a:r>
                <a:endParaRPr lang="en-US" altLang="ja-JP" sz="2400" dirty="0"/>
              </a:p>
              <a:p>
                <a:r>
                  <a:rPr lang="ja-JP" altLang="en-US" sz="2400" b="0" dirty="0"/>
                  <a:t>板を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</m:t>
                    </m:r>
                  </m:oMath>
                </a14:m>
                <a:r>
                  <a:rPr lang="ja-JP" altLang="en-US" sz="2400" b="0" dirty="0"/>
                  <a:t>傾けた場合の最大静止摩擦力を求めなさい。ただし、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30°=0.86</m:t>
                    </m:r>
                  </m:oMath>
                </a14:m>
                <a:r>
                  <a:rPr lang="ja-JP" altLang="en-US" sz="2400" b="0" dirty="0"/>
                  <a:t>、鋼鉄と鋼鉄の静止摩擦係数を</a:t>
                </a:r>
                <a:r>
                  <a:rPr lang="en-US" altLang="ja-JP" sz="2400" b="0" dirty="0"/>
                  <a:t>0.74</a:t>
                </a:r>
                <a:r>
                  <a:rPr lang="ja-JP" altLang="en-US" sz="2400" b="0" dirty="0"/>
                  <a:t>とする。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/>
                  <a:t>重りに働く垂直抗力は、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−9.8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r>
                              <a:rPr lang="en-US" altLang="ja-JP" sz="2400" i="1">
                                <a:latin typeface="Cambria Math" panose="02040503050406030204" pitchFamily="18" charset="0"/>
                              </a:rPr>
                              <m:t>/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30°=4.9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0.86=4.214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=0.74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4.214</m:t>
                        </m:r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𝟑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𝟏𝟏𝟖𝟑𝟔𝐍</m:t>
                    </m:r>
                  </m:oMath>
                </a14:m>
                <a:r>
                  <a:rPr lang="en-US" altLang="ja-JP" sz="2400" b="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642109" cy="3833165"/>
              </a:xfrm>
              <a:prstGeom prst="rect">
                <a:avLst/>
              </a:prstGeom>
              <a:blipFill>
                <a:blip r:embed="rId2"/>
                <a:stretch>
                  <a:fillRect l="-1058" t="-1274" r="-1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26480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7638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 例題２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7870681" cy="38331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例題１の重りを指でつつくと斜面を滑り始めた。</a:t>
                </a:r>
                <a:endParaRPr lang="en-US" altLang="ja-JP" sz="2400" dirty="0"/>
              </a:p>
              <a:p>
                <a:r>
                  <a:rPr lang="ja-JP" altLang="en-US" sz="2400" dirty="0"/>
                  <a:t>この時の運動摩擦力を求めなさい。ただし、</a:t>
                </a:r>
                <a:endParaRPr lang="en-US" altLang="ja-JP" sz="2400" dirty="0"/>
              </a:p>
              <a:p>
                <a:r>
                  <a:rPr lang="ja-JP" altLang="en-US" sz="2400" dirty="0"/>
                  <a:t>鋼鉄と鋼鉄の運動摩擦係数は</a:t>
                </a:r>
                <a:r>
                  <a:rPr lang="en-US" altLang="ja-JP" sz="2400" dirty="0"/>
                  <a:t>0.57</a:t>
                </a:r>
                <a:r>
                  <a:rPr lang="ja-JP" altLang="en-US" sz="2400" dirty="0"/>
                  <a:t>とする。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■解答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:r>
                  <a:rPr lang="ja-JP" altLang="en-US" sz="2400" b="0" dirty="0"/>
                  <a:t>重りに働く垂直抗力は、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=0.5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𝑘𝑔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−9.8</m:t>
                            </m:r>
                            <m: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  <m:sSup>
                              <m:sSupPr>
                                <m:ctrlP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altLang="ja-JP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d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30°=4.9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0.86=4.214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altLang="ja-JP" sz="2400" b="0" dirty="0"/>
                  <a:t> </a:t>
                </a:r>
              </a:p>
              <a:p>
                <a:endParaRPr lang="en-US" altLang="ja-JP" sz="2400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ja-JP" sz="2400" i="1">
                            <a:latin typeface="Cambria Math" panose="02040503050406030204" pitchFamily="18" charset="0"/>
                          </a:rPr>
                          <m:t>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m:rPr>
                        <m:sty m:val="p"/>
                      </m:rPr>
                      <a:rPr lang="en-US" altLang="ja-JP" sz="2400" b="0" i="0" smtClean="0"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lang="ja-JP" altLang="en-US" sz="2400" dirty="0"/>
                  <a:t>より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  <m:sub>
                        <m: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b>
                    </m:sSub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=0.57</m:t>
                    </m:r>
                    <m:d>
                      <m:dPr>
                        <m:ctrlPr>
                          <a:rPr lang="en-US" altLang="ja-JP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4.214</m:t>
                        </m:r>
                        <m:r>
                          <m:rPr>
                            <m:sty m:val="p"/>
                          </m:rPr>
                          <a:rPr lang="en-US" altLang="ja-JP" sz="2400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e>
                    </m:d>
                    <m:r>
                      <a:rPr lang="en-US" altLang="ja-JP" sz="2400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𝟒𝟎𝟏𝟗𝟖𝐍</m:t>
                    </m:r>
                  </m:oMath>
                </a14:m>
                <a:r>
                  <a:rPr lang="en-US" altLang="ja-JP" sz="2400" b="0" dirty="0"/>
                  <a:t> </a:t>
                </a:r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7870681" cy="3833165"/>
              </a:xfrm>
              <a:prstGeom prst="rect">
                <a:avLst/>
              </a:prstGeom>
              <a:blipFill>
                <a:blip r:embed="rId2"/>
                <a:stretch>
                  <a:fillRect l="-1162" t="-127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332482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3535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摩擦力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9761005" cy="378565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■問題１</a:t>
                </a:r>
                <a:endParaRPr lang="en-US" altLang="ja-JP" sz="2400" dirty="0"/>
              </a:p>
              <a:p>
                <a:r>
                  <a:rPr lang="ja-JP" altLang="en-US" sz="2400" dirty="0"/>
                  <a:t>ゴムで出来た</a:t>
                </a:r>
                <a:r>
                  <a:rPr lang="en-US" altLang="ja-JP" sz="2400" dirty="0"/>
                  <a:t>1kg</a:t>
                </a:r>
                <a:r>
                  <a:rPr lang="ja-JP" altLang="en-US" sz="2400" dirty="0"/>
                  <a:t>の置物をコンクリートブロックの上に置きました。</a:t>
                </a:r>
                <a:endParaRPr lang="en-US" altLang="ja-JP" sz="2400" dirty="0"/>
              </a:p>
              <a:p>
                <a:r>
                  <a:rPr lang="ja-JP" altLang="en-US" sz="2400" b="0" dirty="0"/>
                  <a:t>ブロックを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20°</m:t>
                    </m:r>
                  </m:oMath>
                </a14:m>
                <a:r>
                  <a:rPr lang="ja-JP" altLang="en-US" sz="2400" b="0" dirty="0"/>
                  <a:t>傾けた時の最大静止摩擦力を求めなさい。ただし、</a:t>
                </a:r>
                <a:endParaRPr lang="en-US" altLang="ja-JP" sz="2400" b="0" dirty="0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cos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20°=0.93</m:t>
                    </m:r>
                  </m:oMath>
                </a14:m>
                <a:r>
                  <a:rPr lang="ja-JP" altLang="en-US" sz="2400" b="0" dirty="0"/>
                  <a:t>、ゴムとコンクリートの静止摩擦係数を</a:t>
                </a:r>
                <a:r>
                  <a:rPr lang="en-US" altLang="ja-JP" sz="2400" b="0" dirty="0"/>
                  <a:t>1.0</a:t>
                </a:r>
                <a:r>
                  <a:rPr lang="ja-JP" altLang="en-US" sz="2400" b="0" dirty="0"/>
                  <a:t>とする。</a:t>
                </a:r>
                <a:endParaRPr lang="en-US" altLang="ja-JP" sz="2400" b="0" dirty="0"/>
              </a:p>
              <a:p>
                <a:endParaRPr lang="en-US" altLang="ja-JP" sz="2400" dirty="0"/>
              </a:p>
              <a:p>
                <a:endParaRPr lang="en-US" altLang="ja-JP" sz="2400" b="0" dirty="0"/>
              </a:p>
              <a:p>
                <a:r>
                  <a:rPr lang="ja-JP" altLang="en-US" sz="2400" dirty="0"/>
                  <a:t>■問題２</a:t>
                </a:r>
                <a:endParaRPr lang="en-US" altLang="ja-JP" sz="2400" dirty="0"/>
              </a:p>
              <a:p>
                <a:r>
                  <a:rPr lang="ja-JP" altLang="en-US" sz="2400" b="0" dirty="0"/>
                  <a:t>金属の板の上に</a:t>
                </a:r>
                <a:r>
                  <a:rPr lang="en-US" altLang="ja-JP" sz="2400"/>
                  <a:t>2kg</a:t>
                </a:r>
                <a:r>
                  <a:rPr lang="ja-JP" altLang="en-US" sz="2400" dirty="0"/>
                  <a:t>の</a:t>
                </a:r>
                <a:r>
                  <a:rPr lang="ja-JP" altLang="en-US" sz="2400" b="0" dirty="0"/>
                  <a:t>氷を置いて、板を</a:t>
                </a:r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10°</m:t>
                    </m:r>
                  </m:oMath>
                </a14:m>
                <a:r>
                  <a:rPr lang="ja-JP" altLang="en-US" sz="2400" b="0" dirty="0"/>
                  <a:t>傾けると氷が滑り始めた。</a:t>
                </a:r>
                <a:endParaRPr lang="en-US" altLang="ja-JP" sz="2400" b="0" dirty="0"/>
              </a:p>
              <a:p>
                <a:r>
                  <a:rPr lang="ja-JP" altLang="en-US" sz="2400" dirty="0"/>
                  <a:t>この時の氷の運動摩擦力を計算しなさい。ただし、</a:t>
                </a:r>
                <a:endParaRPr lang="en-US" altLang="ja-JP" sz="2400" dirty="0"/>
              </a:p>
              <a:p>
                <a14:m>
                  <m:oMath xmlns:m="http://schemas.openxmlformats.org/officeDocument/2006/math"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10°=0.98</m:t>
                    </m:r>
                  </m:oMath>
                </a14:m>
                <a:r>
                  <a:rPr lang="ja-JP" altLang="en-US" sz="2400" b="0" dirty="0"/>
                  <a:t>、金属と氷の運動摩擦係数を</a:t>
                </a:r>
                <a:r>
                  <a:rPr lang="en-US" altLang="ja-JP" sz="2400" b="0" dirty="0"/>
                  <a:t>0.022</a:t>
                </a:r>
                <a:r>
                  <a:rPr lang="ja-JP" altLang="en-US" sz="2400" b="0" dirty="0"/>
                  <a:t>とする。</a:t>
                </a:r>
                <a:endParaRPr lang="en-US" altLang="ja-JP" sz="2400" b="0" dirty="0"/>
              </a:p>
            </p:txBody>
          </p:sp>
        </mc:Choice>
        <mc:Fallback xmlns="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9761005" cy="3785652"/>
              </a:xfrm>
              <a:prstGeom prst="rect">
                <a:avLst/>
              </a:prstGeom>
              <a:blipFill>
                <a:blip r:embed="rId2"/>
                <a:stretch>
                  <a:fillRect l="-937" t="-1288" b="-273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18756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1623</TotalTime>
  <Words>780</Words>
  <Application>Microsoft Office PowerPoint</Application>
  <PresentationFormat>ワイド画面</PresentationFormat>
  <Paragraphs>132</Paragraphs>
  <Slides>15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20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173</cp:revision>
  <dcterms:created xsi:type="dcterms:W3CDTF">2024-08-27T02:15:54Z</dcterms:created>
  <dcterms:modified xsi:type="dcterms:W3CDTF">2025-10-31T00:31:34Z</dcterms:modified>
</cp:coreProperties>
</file>