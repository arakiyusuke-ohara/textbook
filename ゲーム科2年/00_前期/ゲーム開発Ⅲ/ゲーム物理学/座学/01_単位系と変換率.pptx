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単位系と変換率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698937" cy="378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メートル法は</a:t>
                </a:r>
                <a:r>
                  <a:rPr lang="en-US" altLang="ja-JP" sz="2400" dirty="0"/>
                  <a:t>1</a:t>
                </a:r>
                <a:r>
                  <a:rPr lang="ja-JP" altLang="en-US" sz="2400" dirty="0"/>
                  <a:t>桁ごとに接頭語が変わりました。</a:t>
                </a:r>
                <a:endParaRPr lang="en-US" altLang="ja-JP" sz="2400" dirty="0"/>
              </a:p>
              <a:p>
                <a:r>
                  <a:rPr kumimoji="1" lang="ja-JP" altLang="en-US" sz="2400" dirty="0">
                    <a:solidFill>
                      <a:schemeClr val="tx1"/>
                    </a:solidFill>
                  </a:rPr>
                  <a:t>ただし、ほかには違う基準で接頭語が変わるものもあります。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■例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時間</a:t>
                </a:r>
                <a:r>
                  <a:rPr lang="en-US" altLang="ja-JP" sz="2400" dirty="0"/>
                  <a:t>			</a:t>
                </a:r>
                <a:r>
                  <a:rPr lang="ja-JP" altLang="en-US" sz="2400" dirty="0"/>
                  <a:t>・・・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分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=60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	1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日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=24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時間</m:t>
                    </m:r>
                  </m:oMath>
                </a14:m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dirty="0"/>
                  <a:t>インチ</a:t>
                </a:r>
                <a:r>
                  <a:rPr lang="en-US" altLang="ja-JP" sz="2400" dirty="0"/>
                  <a:t>/</a:t>
                </a:r>
                <a:r>
                  <a:rPr lang="ja-JP" altLang="en-US" sz="2400" dirty="0"/>
                  <a:t>フィート</a:t>
                </a:r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メートル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=39.37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インチ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=3.281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フィート</m:t>
                    </m:r>
                  </m:oMath>
                </a14:m>
                <a:endParaRPr lang="en-US" altLang="ja-JP" sz="2400" dirty="0"/>
              </a:p>
              <a:p>
                <a:r>
                  <a:rPr kumimoji="1" lang="ja-JP" altLang="en-US" sz="2400" dirty="0">
                    <a:solidFill>
                      <a:schemeClr val="tx1"/>
                    </a:solidFill>
                  </a:rPr>
                  <a:t>マイル</a:t>
                </a:r>
                <a:r>
                  <a:rPr kumimoji="1" lang="en-US" altLang="ja-JP" sz="2400" dirty="0">
                    <a:solidFill>
                      <a:schemeClr val="tx1"/>
                    </a:solidFill>
                  </a:rPr>
                  <a:t>		</a:t>
                </a:r>
                <a:r>
                  <a:rPr kumimoji="1" lang="ja-JP" altLang="en-US" sz="2400" dirty="0">
                    <a:solidFill>
                      <a:schemeClr val="tx1"/>
                    </a:solidFill>
                  </a:rPr>
                  <a:t>・・・</a:t>
                </a:r>
                <a14:m>
                  <m:oMath xmlns:m="http://schemas.openxmlformats.org/officeDocument/2006/math">
                    <m:r>
                      <a:rPr kumimoji="1" lang="en-US" altLang="ja-JP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kumimoji="1" lang="ja-JP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キロメートル</m:t>
                    </m:r>
                    <m:r>
                      <a:rPr kumimoji="1" lang="en-US" altLang="ja-JP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=0.621</m:t>
                    </m:r>
                    <m:r>
                      <a:rPr kumimoji="1" lang="ja-JP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マイル</m:t>
                    </m:r>
                  </m:oMath>
                </a14:m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:r>
                  <a:rPr kumimoji="1" lang="ja-JP" altLang="en-US" sz="2400" dirty="0">
                    <a:solidFill>
                      <a:schemeClr val="tx1"/>
                    </a:solidFill>
                  </a:rPr>
                  <a:t>このように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位が上がる基準</a:t>
                </a:r>
                <a:r>
                  <a:rPr kumimoji="1" lang="ja-JP" altLang="en-US" sz="2400" dirty="0">
                    <a:solidFill>
                      <a:schemeClr val="tx1"/>
                    </a:solidFill>
                  </a:rPr>
                  <a:t>のことを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単位系</a:t>
                </a:r>
                <a:r>
                  <a:rPr kumimoji="1" lang="ja-JP" altLang="en-US" sz="2400" dirty="0">
                    <a:solidFill>
                      <a:schemeClr val="tx1"/>
                    </a:solidFill>
                  </a:rPr>
                  <a:t>と言います。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dirty="0"/>
                  <a:t>メートル法も１つの単位系です。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698937" cy="3785652"/>
              </a:xfrm>
              <a:prstGeom prst="rect">
                <a:avLst/>
              </a:prstGeom>
              <a:blipFill>
                <a:blip r:embed="rId2"/>
                <a:stretch>
                  <a:fillRect l="-943" t="-1288" b="-27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642FF4F9-3C81-4EF7-9953-1392705EDFBE}"/>
              </a:ext>
            </a:extLst>
          </p:cNvPr>
          <p:cNvSpPr/>
          <p:nvPr/>
        </p:nvSpPr>
        <p:spPr>
          <a:xfrm>
            <a:off x="236106" y="3289737"/>
            <a:ext cx="8849727" cy="149246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単位系と変換率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186857" cy="41554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>
                    <a:solidFill>
                      <a:schemeClr val="tx1"/>
                    </a:solidFill>
                  </a:rPr>
                  <a:t>単位系によって位の変化は様々ですが、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dirty="0"/>
                  <a:t>やはり変換の計算はどのような状況でも必要になります。</a:t>
                </a:r>
                <a:endParaRPr lang="en-US" altLang="ja-JP" sz="2400" dirty="0"/>
              </a:p>
              <a:p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dirty="0"/>
                  <a:t>その場合、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変換率</a:t>
                </a:r>
                <a:r>
                  <a:rPr lang="ja-JP" altLang="en-US" sz="2400" dirty="0"/>
                  <a:t>を使った単位変換を知っていれば、</a:t>
                </a:r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どのような単位系でも対応</a:t>
                </a:r>
                <a:r>
                  <a:rPr kumimoji="1" lang="ja-JP" altLang="en-US" sz="2400" dirty="0">
                    <a:solidFill>
                      <a:schemeClr val="tx1"/>
                    </a:solidFill>
                  </a:rPr>
                  <a:t>できます。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■変換率の単位変換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kumimoji="1" lang="en-US" altLang="ja-JP" sz="2400" dirty="0">
                    <a:solidFill>
                      <a:schemeClr val="tx1"/>
                    </a:solidFill>
                  </a:rPr>
                  <a:t>&lt;</a:t>
                </a:r>
                <a14:m>
                  <m:oMath xmlns:m="http://schemas.openxmlformats.org/officeDocument/2006/math">
                    <m:r>
                      <a:rPr kumimoji="1" lang="ja-JP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変換前</m:t>
                    </m:r>
                    <m:r>
                      <a:rPr kumimoji="1"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1…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1=&lt;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変換後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kumimoji="1"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ja-JP" altLang="en-US" sz="2400" dirty="0">
                    <a:solidFill>
                      <a:schemeClr val="tx1"/>
                    </a:solidFill>
                  </a:rPr>
                  <a:t>には、変換後の単位を目指す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分数</a:t>
                </a:r>
                <a:r>
                  <a:rPr kumimoji="1" lang="ja-JP" altLang="en-US" sz="2400" dirty="0">
                    <a:solidFill>
                      <a:schemeClr val="tx1"/>
                    </a:solidFill>
                  </a:rPr>
                  <a:t>をあてはめる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:r>
                  <a:rPr kumimoji="1" lang="ja-JP" altLang="en-US" sz="2400" dirty="0">
                    <a:solidFill>
                      <a:schemeClr val="tx1"/>
                    </a:solidFill>
                  </a:rPr>
                  <a:t>例題を見ていきます。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186857" cy="4155433"/>
              </a:xfrm>
              <a:prstGeom prst="rect">
                <a:avLst/>
              </a:prstGeom>
              <a:blipFill>
                <a:blip r:embed="rId2"/>
                <a:stretch>
                  <a:fillRect l="-1117" t="-1175" r="-223" b="-24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7915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単位系と変換率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510115" cy="33657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400" dirty="0">
                    <a:solidFill>
                      <a:schemeClr val="tx1"/>
                    </a:solidFill>
                  </a:rPr>
                  <a:t>3</a:t>
                </a:r>
                <a:r>
                  <a:rPr kumimoji="1" lang="ja-JP" altLang="en-US" sz="2400" dirty="0">
                    <a:solidFill>
                      <a:schemeClr val="tx1"/>
                    </a:solidFill>
                  </a:rPr>
                  <a:t>時間は何分か計算しなさい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時間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1=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？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分</m:t>
                    </m:r>
                  </m:oMath>
                </a14:m>
                <a:r>
                  <a:rPr kumimoji="1"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ja-JP" altLang="en-US" sz="2400" dirty="0">
                    <a:solidFill>
                      <a:schemeClr val="tx1"/>
                    </a:solidFill>
                  </a:rPr>
                  <a:t>に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時間を相殺</a:t>
                </a:r>
                <a:r>
                  <a:rPr kumimoji="1" lang="ja-JP" altLang="en-US" sz="2400" dirty="0">
                    <a:solidFill>
                      <a:schemeClr val="tx1"/>
                    </a:solidFill>
                  </a:rPr>
                  <a:t>し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分を残す</a:t>
                </a:r>
                <a:r>
                  <a:rPr kumimoji="1" lang="ja-JP" altLang="en-US" sz="2400" dirty="0">
                    <a:solidFill>
                      <a:schemeClr val="tx1"/>
                    </a:solidFill>
                  </a:rPr>
                  <a:t>分数を設定すると、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時間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分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時間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180</m:t>
                    </m:r>
                    <m:r>
                      <a:rPr lang="ja-JP" alt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分</m:t>
                    </m:r>
                  </m:oMath>
                </a14:m>
                <a:r>
                  <a:rPr kumimoji="1"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altLang="ja-JP" sz="2400" dirty="0"/>
              </a:p>
              <a:p>
                <a:r>
                  <a:rPr kumimoji="1" lang="ja-JP" altLang="en-US" sz="2400" dirty="0">
                    <a:solidFill>
                      <a:schemeClr val="tx1"/>
                    </a:solidFill>
                  </a:rPr>
                  <a:t>解答を詳しく見ていきます。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510115" cy="3365793"/>
              </a:xfrm>
              <a:prstGeom prst="rect">
                <a:avLst/>
              </a:prstGeom>
              <a:blipFill>
                <a:blip r:embed="rId2"/>
                <a:stretch>
                  <a:fillRect l="-1404" t="-1449" r="-562" b="-326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641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単位系と変換率 解説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033516" cy="22577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ja-JP" alt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時間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分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時間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180</m:t>
                    </m:r>
                    <m:r>
                      <a:rPr lang="ja-JP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分</m:t>
                    </m:r>
                  </m:oMath>
                </a14:m>
                <a:r>
                  <a:rPr kumimoji="1"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kumimoji="1" lang="ja-JP" altLang="en-US" sz="2400" dirty="0">
                    <a:solidFill>
                      <a:schemeClr val="tx1"/>
                    </a:solidFill>
                  </a:rPr>
                  <a:t>単位付きで掛け算の計算をする場合、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分子と分母に同じ単位がある場合</a:t>
                </a:r>
                <a:r>
                  <a:rPr lang="ja-JP" altLang="en-US" sz="2400" dirty="0"/>
                  <a:t>は、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単位を相殺</a:t>
                </a:r>
                <a:r>
                  <a:rPr lang="ja-JP" altLang="en-US" sz="2400" dirty="0"/>
                  <a:t>することができます。</a:t>
                </a:r>
                <a:endParaRPr lang="en-US" altLang="ja-JP" sz="2400" dirty="0"/>
              </a:p>
              <a:p>
                <a:r>
                  <a:rPr kumimoji="1" lang="ja-JP" altLang="en-US" sz="2400" dirty="0">
                    <a:solidFill>
                      <a:schemeClr val="tx1"/>
                    </a:solidFill>
                  </a:rPr>
                  <a:t>これにより「分」だけを残すことで単位変換を行います。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033516" cy="2257798"/>
              </a:xfrm>
              <a:prstGeom prst="rect">
                <a:avLst/>
              </a:prstGeom>
              <a:blipFill>
                <a:blip r:embed="rId2"/>
                <a:stretch>
                  <a:fillRect l="-911" b="-540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4562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単位系と変換率 解説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747634" cy="33657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ja-JP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時間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ja-JP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分</m:t>
                        </m:r>
                      </m:num>
                      <m:den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時間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180</m:t>
                    </m:r>
                    <m:r>
                      <a:rPr lang="ja-JP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分</m:t>
                    </m:r>
                  </m:oMath>
                </a14:m>
                <a:r>
                  <a:rPr kumimoji="1"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dirty="0"/>
                  <a:t>重要なのは、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分数を必ず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1</a:t>
                </a:r>
                <a:r>
                  <a:rPr lang="ja-JP" altLang="en-US" sz="2400" dirty="0"/>
                  <a:t>にすることです。</a:t>
                </a:r>
                <a:endParaRPr lang="en-US" altLang="ja-JP" sz="2400" dirty="0"/>
              </a:p>
              <a:p>
                <a:r>
                  <a:rPr kumimoji="1" lang="ja-JP" altLang="en-US" sz="2400" dirty="0">
                    <a:solidFill>
                      <a:schemeClr val="tx1"/>
                    </a:solidFill>
                  </a:rPr>
                  <a:t>分数は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分母と分子の大きさが等しければ</a:t>
                </a:r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1</a:t>
                </a:r>
                <a:r>
                  <a:rPr kumimoji="1" lang="ja-JP" altLang="en-US" sz="2400" dirty="0">
                    <a:solidFill>
                      <a:schemeClr val="tx1"/>
                    </a:solidFill>
                  </a:rPr>
                  <a:t>となります。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dirty="0"/>
                  <a:t>これらの性質を利用して単位変換を行います。</a:t>
                </a:r>
                <a:endParaRPr lang="en-US" altLang="ja-JP" sz="2400" dirty="0"/>
              </a:p>
              <a:p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dirty="0"/>
                  <a:t>この方法を知っておけば、</a:t>
                </a:r>
                <a:endParaRPr lang="en-US" altLang="ja-JP" sz="2400" dirty="0"/>
              </a:p>
              <a:p>
                <a:r>
                  <a:rPr kumimoji="1" lang="ja-JP" altLang="en-US" sz="2400" dirty="0">
                    <a:solidFill>
                      <a:schemeClr val="tx1"/>
                    </a:solidFill>
                  </a:rPr>
                  <a:t>どのような単位も変換することができます。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747634" cy="3365793"/>
              </a:xfrm>
              <a:prstGeom prst="rect">
                <a:avLst/>
              </a:prstGeom>
              <a:blipFill>
                <a:blip r:embed="rId2"/>
                <a:stretch>
                  <a:fillRect l="-1180" r="-315" b="-326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2501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単位系と変換率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956846" cy="37412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>
                    <a:solidFill>
                      <a:schemeClr val="tx1"/>
                    </a:solidFill>
                  </a:rPr>
                  <a:t>２週間は何秒ですか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週間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1=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？秒</m:t>
                    </m:r>
                  </m:oMath>
                </a14:m>
                <a:r>
                  <a:rPr kumimoji="1"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r>
                  <a:rPr kumimoji="1" lang="ja-JP" altLang="en-US" sz="2400" dirty="0">
                    <a:solidFill>
                      <a:schemeClr val="tx1"/>
                    </a:solidFill>
                  </a:rPr>
                  <a:t>一度に考えられない場合は何度も変換率を掛けて、徐々に変換していきます。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週間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日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週間</m:t>
                        </m:r>
                      </m:den>
                    </m:f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smtClean="0"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ja-JP" altLang="en-US" sz="2400" i="1" smtClean="0">
                            <a:latin typeface="Cambria Math" panose="02040503050406030204" pitchFamily="18" charset="0"/>
                          </a:rPr>
                          <m:t>時間</m:t>
                        </m:r>
                      </m:num>
                      <m:den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 smtClean="0">
                            <a:latin typeface="Cambria Math" panose="02040503050406030204" pitchFamily="18" charset="0"/>
                          </a:rPr>
                          <m:t>日</m:t>
                        </m:r>
                      </m:den>
                    </m:f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ja-JP" altLang="en-US" sz="2400" i="1" smtClean="0">
                            <a:latin typeface="Cambria Math" panose="02040503050406030204" pitchFamily="18" charset="0"/>
                          </a:rPr>
                          <m:t>分</m:t>
                        </m:r>
                      </m:num>
                      <m:den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 smtClean="0">
                            <a:latin typeface="Cambria Math" panose="02040503050406030204" pitchFamily="18" charset="0"/>
                          </a:rPr>
                          <m:t>時間</m:t>
                        </m:r>
                      </m:den>
                    </m:f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ja-JP" altLang="en-US" sz="2400" i="1" smtClean="0">
                            <a:latin typeface="Cambria Math" panose="02040503050406030204" pitchFamily="18" charset="0"/>
                          </a:rPr>
                          <m:t>秒</m:t>
                        </m:r>
                      </m:num>
                      <m:den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 smtClean="0">
                            <a:latin typeface="Cambria Math" panose="02040503050406030204" pitchFamily="18" charset="0"/>
                          </a:rPr>
                          <m:t>分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=1209600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kumimoji="1" lang="en-US" altLang="ja-JP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altLang="ja-JP" sz="2400" dirty="0"/>
              </a:p>
              <a:p>
                <a:r>
                  <a:rPr kumimoji="1" lang="ja-JP" altLang="en-US" sz="2400" dirty="0">
                    <a:solidFill>
                      <a:schemeClr val="tx1"/>
                    </a:solidFill>
                  </a:rPr>
                  <a:t>どの分数も</a:t>
                </a:r>
                <a:r>
                  <a:rPr kumimoji="1" lang="en-US" altLang="ja-JP" sz="2400" dirty="0">
                    <a:solidFill>
                      <a:schemeClr val="tx1"/>
                    </a:solidFill>
                  </a:rPr>
                  <a:t>1</a:t>
                </a:r>
                <a:r>
                  <a:rPr kumimoji="1" lang="ja-JP" altLang="en-US" sz="2400" dirty="0">
                    <a:solidFill>
                      <a:schemeClr val="tx1"/>
                    </a:solidFill>
                  </a:rPr>
                  <a:t>なので大きさを変えずに単位だけ変換することができます。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956846" cy="3741281"/>
              </a:xfrm>
              <a:prstGeom prst="rect">
                <a:avLst/>
              </a:prstGeom>
              <a:blipFill>
                <a:blip r:embed="rId2"/>
                <a:stretch>
                  <a:fillRect l="-835" t="-1305" b="-293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2367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単位系と変換率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451049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>
                    <a:solidFill>
                      <a:schemeClr val="tx1"/>
                    </a:solidFill>
                  </a:rPr>
                  <a:t>次の単位をカッコ内の単位に変換しなさい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:r>
                  <a:rPr kumimoji="1" lang="ja-JP" altLang="en-US" sz="2400" dirty="0">
                    <a:solidFill>
                      <a:schemeClr val="tx1"/>
                    </a:solidFill>
                  </a:rPr>
                  <a:t>① </a:t>
                </a:r>
                <a:r>
                  <a:rPr kumimoji="1" lang="en-US" altLang="ja-JP" sz="2400" dirty="0">
                    <a:solidFill>
                      <a:schemeClr val="tx1"/>
                    </a:solidFill>
                  </a:rPr>
                  <a:t>13</a:t>
                </a:r>
                <a:r>
                  <a:rPr kumimoji="1" lang="ja-JP" altLang="en-US" sz="2400" dirty="0">
                    <a:solidFill>
                      <a:schemeClr val="tx1"/>
                    </a:solidFill>
                  </a:rPr>
                  <a:t>時間（秒）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:r>
                  <a:rPr kumimoji="1" lang="ja-JP" altLang="en-US" sz="2400" dirty="0">
                    <a:solidFill>
                      <a:schemeClr val="tx1"/>
                    </a:solidFill>
                  </a:rPr>
                  <a:t>② </a:t>
                </a:r>
                <a:r>
                  <a:rPr kumimoji="1" lang="en-US" altLang="ja-JP" sz="2400" dirty="0">
                    <a:solidFill>
                      <a:schemeClr val="tx1"/>
                    </a:solidFill>
                  </a:rPr>
                  <a:t>2</a:t>
                </a:r>
                <a:r>
                  <a:rPr kumimoji="1" lang="ja-JP" altLang="en-US" sz="2400" dirty="0">
                    <a:solidFill>
                      <a:schemeClr val="tx1"/>
                    </a:solidFill>
                  </a:rPr>
                  <a:t>週間（分）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:r>
                  <a:rPr kumimoji="1" lang="ja-JP" altLang="en-US" sz="2400" dirty="0">
                    <a:solidFill>
                      <a:schemeClr val="tx1"/>
                    </a:solidFill>
                  </a:rPr>
                  <a:t>③ </a:t>
                </a:r>
                <a:r>
                  <a:rPr kumimoji="1" lang="en-US" altLang="ja-JP" sz="2400" dirty="0">
                    <a:solidFill>
                      <a:schemeClr val="tx1"/>
                    </a:solidFill>
                  </a:rPr>
                  <a:t>100</a:t>
                </a:r>
                <a:r>
                  <a:rPr kumimoji="1" lang="ja-JP" altLang="en-US" sz="2400" dirty="0">
                    <a:solidFill>
                      <a:schemeClr val="tx1"/>
                    </a:solidFill>
                  </a:rPr>
                  <a:t>マイル</a:t>
                </a:r>
                <a:r>
                  <a:rPr kumimoji="1" lang="en-US" altLang="ja-JP" sz="2400" dirty="0">
                    <a:solidFill>
                      <a:schemeClr val="tx1"/>
                    </a:solidFill>
                  </a:rPr>
                  <a:t>(</a:t>
                </a:r>
                <a:r>
                  <a:rPr kumimoji="1" lang="ja-JP" altLang="en-US" sz="2400" dirty="0">
                    <a:solidFill>
                      <a:schemeClr val="tx1"/>
                    </a:solidFill>
                  </a:rPr>
                  <a:t>メートル</a:t>
                </a:r>
                <a:r>
                  <a:rPr kumimoji="1" lang="en-US" altLang="ja-JP" sz="2400" dirty="0">
                    <a:solidFill>
                      <a:schemeClr val="tx1"/>
                    </a:solidFill>
                  </a:rPr>
                  <a:t>) 	</a:t>
                </a:r>
                <a:r>
                  <a:rPr kumimoji="1" lang="ja-JP" altLang="en-US" sz="2400" dirty="0">
                    <a:solidFill>
                      <a:schemeClr val="tx1"/>
                    </a:solidFill>
                  </a:rPr>
                  <a:t>ただし</a:t>
                </a:r>
                <a14:m>
                  <m:oMath xmlns:m="http://schemas.openxmlformats.org/officeDocument/2006/math">
                    <m:r>
                      <a:rPr kumimoji="1" lang="en-US" altLang="ja-JP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kumimoji="1" lang="ja-JP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マイル</m:t>
                    </m:r>
                    <m:r>
                      <a:rPr kumimoji="1" lang="en-US" altLang="ja-JP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=1.6</m:t>
                    </m:r>
                    <m:r>
                      <a:rPr kumimoji="1" lang="ja-JP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キロメートル</m:t>
                    </m:r>
                  </m:oMath>
                </a14:m>
                <a:r>
                  <a:rPr kumimoji="1" lang="ja-JP" altLang="en-US" sz="2400" dirty="0">
                    <a:solidFill>
                      <a:schemeClr val="tx1"/>
                    </a:solidFill>
                  </a:rPr>
                  <a:t>とする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451049" cy="2677656"/>
              </a:xfrm>
              <a:prstGeom prst="rect">
                <a:avLst/>
              </a:prstGeom>
              <a:blipFill>
                <a:blip r:embed="rId2"/>
                <a:stretch>
                  <a:fillRect l="-968" t="-1822" r="-65" b="-4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3386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459</Words>
  <Application>Microsoft Office PowerPoint</Application>
  <PresentationFormat>ワイド画面</PresentationFormat>
  <Paragraphs>65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23</cp:revision>
  <dcterms:created xsi:type="dcterms:W3CDTF">2024-08-27T02:15:54Z</dcterms:created>
  <dcterms:modified xsi:type="dcterms:W3CDTF">2024-11-20T02:29:55Z</dcterms:modified>
</cp:coreProperties>
</file>