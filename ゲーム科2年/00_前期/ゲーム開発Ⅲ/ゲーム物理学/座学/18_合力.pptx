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4" r:id="rId4"/>
    <p:sldId id="265" r:id="rId5"/>
    <p:sldId id="267" r:id="rId6"/>
    <p:sldId id="262" r:id="rId7"/>
    <p:sldId id="268" r:id="rId8"/>
    <p:sldId id="269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これまで以下の力について学習してきました。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・重さ</a:t>
            </a:r>
            <a:endParaRPr lang="en-US" altLang="ja-JP" sz="2400" dirty="0"/>
          </a:p>
          <a:p>
            <a:r>
              <a:rPr lang="ja-JP" altLang="en-US" sz="2400" dirty="0"/>
              <a:t>・垂直抗力</a:t>
            </a:r>
            <a:endParaRPr lang="en-US" altLang="ja-JP" sz="2400" dirty="0"/>
          </a:p>
          <a:p>
            <a:r>
              <a:rPr lang="ja-JP" altLang="en-US" sz="2400" dirty="0"/>
              <a:t>・静止摩擦力</a:t>
            </a:r>
            <a:endParaRPr lang="en-US" altLang="ja-JP" sz="2400" dirty="0"/>
          </a:p>
          <a:p>
            <a:r>
              <a:rPr lang="ja-JP" altLang="en-US" sz="2400" dirty="0"/>
              <a:t>・運動摩擦力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物体を動かすには、動かす力とこれらをすべて合計することにより、</a:t>
            </a:r>
            <a:endParaRPr lang="en-US" altLang="ja-JP" sz="2400" dirty="0"/>
          </a:p>
          <a:p>
            <a:r>
              <a:rPr lang="ja-JP" altLang="en-US" sz="2400" dirty="0"/>
              <a:t>最終的な物体が動く力を計算することができます。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このとき、合計された動く力のことを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合力（ごうりょく）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例えば、このように箱を押すとします。</a:t>
            </a:r>
            <a:endParaRPr lang="en-US" altLang="ja-JP" sz="2400" dirty="0"/>
          </a:p>
        </p:txBody>
      </p:sp>
      <p:pic>
        <p:nvPicPr>
          <p:cNvPr id="7" name="Picture 2" descr="押す人デフォルメイラスト｜無料イラスト・フリー素材なら「イラストAC」">
            <a:extLst>
              <a:ext uri="{FF2B5EF4-FFF2-40B4-BE49-F238E27FC236}">
                <a16:creationId xmlns:a16="http://schemas.microsoft.com/office/drawing/2014/main" id="{7B4D26E1-EC1B-481F-9B05-D64E6015E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723326" y="2892964"/>
            <a:ext cx="2900862" cy="221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6AA6489-9456-4212-9214-40DE9AAC0960}"/>
              </a:ext>
            </a:extLst>
          </p:cNvPr>
          <p:cNvSpPr/>
          <p:nvPr/>
        </p:nvSpPr>
        <p:spPr>
          <a:xfrm>
            <a:off x="3191434" y="4829976"/>
            <a:ext cx="5118847" cy="9840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728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この場合、箱には以下のような力が与えられます。</a:t>
            </a:r>
            <a:endParaRPr lang="en-US" altLang="ja-JP" sz="2400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F06D004C-863F-4C24-913D-03E56ABD465D}"/>
              </a:ext>
            </a:extLst>
          </p:cNvPr>
          <p:cNvGrpSpPr/>
          <p:nvPr/>
        </p:nvGrpSpPr>
        <p:grpSpPr>
          <a:xfrm>
            <a:off x="3191434" y="2094803"/>
            <a:ext cx="5118847" cy="3902584"/>
            <a:chOff x="4294094" y="2417533"/>
            <a:chExt cx="3239484" cy="2512821"/>
          </a:xfrm>
        </p:grpSpPr>
        <p:pic>
          <p:nvPicPr>
            <p:cNvPr id="9" name="Picture 2" descr="押す人デフォルメイラスト｜無料イラスト・フリー素材なら「イラストAC」">
              <a:extLst>
                <a:ext uri="{FF2B5EF4-FFF2-40B4-BE49-F238E27FC236}">
                  <a16:creationId xmlns:a16="http://schemas.microsoft.com/office/drawing/2014/main" id="{36EDE852-A892-452E-87CF-DCE2ECDA5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630704" y="2931457"/>
              <a:ext cx="1835823" cy="1425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545BD1E-44B3-41BC-A8E9-9C2FFFB09E3B}"/>
                </a:ext>
              </a:extLst>
            </p:cNvPr>
            <p:cNvSpPr/>
            <p:nvPr/>
          </p:nvSpPr>
          <p:spPr>
            <a:xfrm>
              <a:off x="4294094" y="4178673"/>
              <a:ext cx="3239484" cy="633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C053AD29-A9E9-432F-B197-86B2D9209990}"/>
                </a:ext>
              </a:extLst>
            </p:cNvPr>
            <p:cNvCxnSpPr>
              <a:cxnSpLocks/>
            </p:cNvCxnSpPr>
            <p:nvPr/>
          </p:nvCxnSpPr>
          <p:spPr>
            <a:xfrm>
              <a:off x="5334000" y="3720353"/>
              <a:ext cx="87854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FFDB24D-8055-4416-8EE0-68B7A876CE5A}"/>
                </a:ext>
              </a:extLst>
            </p:cNvPr>
            <p:cNvSpPr txBox="1"/>
            <p:nvPr/>
          </p:nvSpPr>
          <p:spPr>
            <a:xfrm>
              <a:off x="5466786" y="3480681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FF0000"/>
                  </a:solidFill>
                </a:rPr>
                <a:t>押す力</a:t>
              </a:r>
              <a:endParaRPr lang="en-US" altLang="ja-JP" sz="1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76B7FE50-AECD-4964-BF32-250F1416896F}"/>
                </a:ext>
              </a:extLst>
            </p:cNvPr>
            <p:cNvCxnSpPr>
              <a:cxnSpLocks/>
            </p:cNvCxnSpPr>
            <p:nvPr/>
          </p:nvCxnSpPr>
          <p:spPr>
            <a:xfrm>
              <a:off x="5773269" y="2417533"/>
              <a:ext cx="0" cy="72000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57E510C-366D-4561-BE26-05804E3F7C19}"/>
                </a:ext>
              </a:extLst>
            </p:cNvPr>
            <p:cNvSpPr txBox="1"/>
            <p:nvPr/>
          </p:nvSpPr>
          <p:spPr>
            <a:xfrm>
              <a:off x="5764304" y="2644809"/>
              <a:ext cx="376570" cy="217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7030A0"/>
                  </a:solidFill>
                </a:rPr>
                <a:t>重さ</a:t>
              </a:r>
              <a:endParaRPr lang="en-US" altLang="ja-JP" sz="1600" b="1" dirty="0">
                <a:solidFill>
                  <a:srgbClr val="7030A0"/>
                </a:solidFill>
              </a:endParaRPr>
            </a:p>
          </p:txBody>
        </p: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95C2BC4F-EB7D-4C35-BF86-2A3E98B66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4304" y="4210354"/>
              <a:ext cx="1" cy="7200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932DCF6-B0A6-4B34-B314-671A7249CF6B}"/>
                </a:ext>
              </a:extLst>
            </p:cNvPr>
            <p:cNvSpPr txBox="1"/>
            <p:nvPr/>
          </p:nvSpPr>
          <p:spPr>
            <a:xfrm>
              <a:off x="5764303" y="4463590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00B050"/>
                  </a:solidFill>
                </a:rPr>
                <a:t>垂直抗力</a:t>
              </a:r>
              <a:endParaRPr lang="en-US" altLang="ja-JP" sz="1600" b="1" dirty="0">
                <a:solidFill>
                  <a:srgbClr val="00B050"/>
                </a:solidFill>
              </a:endParaRPr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F99BC580-850D-4ED5-96CC-7F68D76A5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9339" y="4071929"/>
              <a:ext cx="453152" cy="23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13FE4404-033A-4047-A7F8-4CCF2BE2FC14}"/>
                </a:ext>
              </a:extLst>
            </p:cNvPr>
            <p:cNvSpPr txBox="1"/>
            <p:nvPr/>
          </p:nvSpPr>
          <p:spPr>
            <a:xfrm>
              <a:off x="6359339" y="3805181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0070C0"/>
                  </a:solidFill>
                </a:rPr>
                <a:t>摩擦力</a:t>
              </a:r>
              <a:endParaRPr lang="en-US" altLang="ja-JP" sz="1600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0043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箱はこれらすべての力の合力によって移動することになります。</a:t>
            </a:r>
            <a:endParaRPr lang="en-US" altLang="ja-JP" sz="2400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F06D004C-863F-4C24-913D-03E56ABD465D}"/>
              </a:ext>
            </a:extLst>
          </p:cNvPr>
          <p:cNvGrpSpPr/>
          <p:nvPr/>
        </p:nvGrpSpPr>
        <p:grpSpPr>
          <a:xfrm>
            <a:off x="3191434" y="2094804"/>
            <a:ext cx="5118847" cy="3902585"/>
            <a:chOff x="4294094" y="2417533"/>
            <a:chExt cx="3239484" cy="2512821"/>
          </a:xfrm>
        </p:grpSpPr>
        <p:pic>
          <p:nvPicPr>
            <p:cNvPr id="9" name="Picture 2" descr="押す人デフォルメイラスト｜無料イラスト・フリー素材なら「イラストAC」">
              <a:extLst>
                <a:ext uri="{FF2B5EF4-FFF2-40B4-BE49-F238E27FC236}">
                  <a16:creationId xmlns:a16="http://schemas.microsoft.com/office/drawing/2014/main" id="{36EDE852-A892-452E-87CF-DCE2ECDA5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630704" y="2931457"/>
              <a:ext cx="1835823" cy="1425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545BD1E-44B3-41BC-A8E9-9C2FFFB09E3B}"/>
                </a:ext>
              </a:extLst>
            </p:cNvPr>
            <p:cNvSpPr/>
            <p:nvPr/>
          </p:nvSpPr>
          <p:spPr>
            <a:xfrm>
              <a:off x="4294094" y="4178673"/>
              <a:ext cx="3239484" cy="633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C053AD29-A9E9-432F-B197-86B2D9209990}"/>
                </a:ext>
              </a:extLst>
            </p:cNvPr>
            <p:cNvCxnSpPr>
              <a:cxnSpLocks/>
            </p:cNvCxnSpPr>
            <p:nvPr/>
          </p:nvCxnSpPr>
          <p:spPr>
            <a:xfrm>
              <a:off x="5334000" y="3720353"/>
              <a:ext cx="87854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FFDB24D-8055-4416-8EE0-68B7A876CE5A}"/>
                </a:ext>
              </a:extLst>
            </p:cNvPr>
            <p:cNvSpPr txBox="1"/>
            <p:nvPr/>
          </p:nvSpPr>
          <p:spPr>
            <a:xfrm>
              <a:off x="5466786" y="3480681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FF0000"/>
                  </a:solidFill>
                </a:rPr>
                <a:t>押す力</a:t>
              </a:r>
              <a:endParaRPr lang="en-US" altLang="ja-JP" sz="1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76B7FE50-AECD-4964-BF32-250F1416896F}"/>
                </a:ext>
              </a:extLst>
            </p:cNvPr>
            <p:cNvCxnSpPr>
              <a:cxnSpLocks/>
            </p:cNvCxnSpPr>
            <p:nvPr/>
          </p:nvCxnSpPr>
          <p:spPr>
            <a:xfrm>
              <a:off x="5773269" y="2417533"/>
              <a:ext cx="0" cy="72000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57E510C-366D-4561-BE26-05804E3F7C19}"/>
                </a:ext>
              </a:extLst>
            </p:cNvPr>
            <p:cNvSpPr txBox="1"/>
            <p:nvPr/>
          </p:nvSpPr>
          <p:spPr>
            <a:xfrm>
              <a:off x="5764304" y="2644809"/>
              <a:ext cx="376570" cy="217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7030A0"/>
                  </a:solidFill>
                </a:rPr>
                <a:t>重さ</a:t>
              </a:r>
              <a:endParaRPr lang="en-US" altLang="ja-JP" sz="1600" b="1" dirty="0">
                <a:solidFill>
                  <a:srgbClr val="7030A0"/>
                </a:solidFill>
              </a:endParaRPr>
            </a:p>
          </p:txBody>
        </p: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95C2BC4F-EB7D-4C35-BF86-2A3E98B66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4304" y="4210354"/>
              <a:ext cx="1" cy="7200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932DCF6-B0A6-4B34-B314-671A7249CF6B}"/>
                </a:ext>
              </a:extLst>
            </p:cNvPr>
            <p:cNvSpPr txBox="1"/>
            <p:nvPr/>
          </p:nvSpPr>
          <p:spPr>
            <a:xfrm>
              <a:off x="5764303" y="4463590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00B050"/>
                  </a:solidFill>
                </a:rPr>
                <a:t>垂直抗力</a:t>
              </a:r>
              <a:endParaRPr lang="en-US" altLang="ja-JP" sz="1600" b="1" dirty="0">
                <a:solidFill>
                  <a:srgbClr val="00B050"/>
                </a:solidFill>
              </a:endParaRPr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F99BC580-850D-4ED5-96CC-7F68D76A5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9339" y="4071929"/>
              <a:ext cx="453152" cy="23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13FE4404-033A-4047-A7F8-4CCF2BE2FC14}"/>
                </a:ext>
              </a:extLst>
            </p:cNvPr>
            <p:cNvSpPr txBox="1"/>
            <p:nvPr/>
          </p:nvSpPr>
          <p:spPr>
            <a:xfrm>
              <a:off x="6359339" y="3805181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0070C0"/>
                  </a:solidFill>
                </a:rPr>
                <a:t>摩擦力</a:t>
              </a:r>
              <a:endParaRPr lang="en-US" altLang="ja-JP" sz="16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2" name="矢印: 右 1">
            <a:extLst>
              <a:ext uri="{FF2B5EF4-FFF2-40B4-BE49-F238E27FC236}">
                <a16:creationId xmlns:a16="http://schemas.microsoft.com/office/drawing/2014/main" id="{4558DFAE-4389-4FA5-BAC7-C05247B75B10}"/>
              </a:ext>
            </a:extLst>
          </p:cNvPr>
          <p:cNvSpPr/>
          <p:nvPr/>
        </p:nvSpPr>
        <p:spPr>
          <a:xfrm>
            <a:off x="6454816" y="2893289"/>
            <a:ext cx="1909482" cy="1217899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合力</a:t>
            </a:r>
          </a:p>
        </p:txBody>
      </p:sp>
    </p:spTree>
    <p:extLst>
      <p:ext uri="{BB962C8B-B14F-4D97-AF65-F5344CB8AC3E}">
        <p14:creationId xmlns:p14="http://schemas.microsoft.com/office/powerpoint/2010/main" val="338033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合力を計算するには</a:t>
            </a:r>
            <a:r>
              <a:rPr lang="ja-JP" altLang="en-US" sz="2400" b="1" dirty="0">
                <a:solidFill>
                  <a:srgbClr val="FF0000"/>
                </a:solidFill>
              </a:rPr>
              <a:t>自由物体図</a:t>
            </a:r>
            <a:r>
              <a:rPr lang="ja-JP" altLang="en-US" sz="2400" dirty="0"/>
              <a:t>を記述します。</a:t>
            </a:r>
            <a:endParaRPr lang="en-US" altLang="ja-JP" sz="2400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F06D004C-863F-4C24-913D-03E56ABD465D}"/>
              </a:ext>
            </a:extLst>
          </p:cNvPr>
          <p:cNvGrpSpPr/>
          <p:nvPr/>
        </p:nvGrpSpPr>
        <p:grpSpPr>
          <a:xfrm>
            <a:off x="4086286" y="2063233"/>
            <a:ext cx="3833178" cy="3884589"/>
            <a:chOff x="4860405" y="2397205"/>
            <a:chExt cx="2425843" cy="2501234"/>
          </a:xfrm>
        </p:grpSpPr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C053AD29-A9E9-432F-B197-86B2D9209990}"/>
                </a:ext>
              </a:extLst>
            </p:cNvPr>
            <p:cNvCxnSpPr>
              <a:cxnSpLocks/>
            </p:cNvCxnSpPr>
            <p:nvPr/>
          </p:nvCxnSpPr>
          <p:spPr>
            <a:xfrm>
              <a:off x="6319482" y="3647822"/>
              <a:ext cx="87854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FFDB24D-8055-4416-8EE0-68B7A876CE5A}"/>
                </a:ext>
              </a:extLst>
            </p:cNvPr>
            <p:cNvSpPr txBox="1"/>
            <p:nvPr/>
          </p:nvSpPr>
          <p:spPr>
            <a:xfrm>
              <a:off x="6486029" y="3381799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FF0000"/>
                  </a:solidFill>
                </a:rPr>
                <a:t>押す力</a:t>
              </a:r>
              <a:endParaRPr lang="en-US" altLang="ja-JP" sz="1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76B7FE50-AECD-4964-BF32-250F1416896F}"/>
                </a:ext>
              </a:extLst>
            </p:cNvPr>
            <p:cNvCxnSpPr>
              <a:cxnSpLocks/>
            </p:cNvCxnSpPr>
            <p:nvPr/>
          </p:nvCxnSpPr>
          <p:spPr>
            <a:xfrm>
              <a:off x="5818076" y="4178439"/>
              <a:ext cx="0" cy="72000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57E510C-366D-4561-BE26-05804E3F7C19}"/>
                </a:ext>
              </a:extLst>
            </p:cNvPr>
            <p:cNvSpPr txBox="1"/>
            <p:nvPr/>
          </p:nvSpPr>
          <p:spPr>
            <a:xfrm>
              <a:off x="5851412" y="4437035"/>
              <a:ext cx="376570" cy="217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7030A0"/>
                  </a:solidFill>
                </a:rPr>
                <a:t>重さ</a:t>
              </a:r>
              <a:endParaRPr lang="en-US" altLang="ja-JP" sz="1600" b="1" dirty="0">
                <a:solidFill>
                  <a:srgbClr val="7030A0"/>
                </a:solidFill>
              </a:endParaRPr>
            </a:p>
          </p:txBody>
        </p: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95C2BC4F-EB7D-4C35-BF86-2A3E98B66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8076" y="2397205"/>
              <a:ext cx="1" cy="7200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932DCF6-B0A6-4B34-B314-671A7249CF6B}"/>
                </a:ext>
              </a:extLst>
            </p:cNvPr>
            <p:cNvSpPr txBox="1"/>
            <p:nvPr/>
          </p:nvSpPr>
          <p:spPr>
            <a:xfrm>
              <a:off x="5818076" y="2678871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00B050"/>
                  </a:solidFill>
                </a:rPr>
                <a:t>垂直抗力</a:t>
              </a:r>
              <a:endParaRPr lang="en-US" altLang="ja-JP" sz="1600" b="1" dirty="0">
                <a:solidFill>
                  <a:srgbClr val="00B050"/>
                </a:solidFill>
              </a:endParaRPr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F99BC580-850D-4ED5-96CC-7F68D76A5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79035" y="3647822"/>
              <a:ext cx="453152" cy="23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13FE4404-033A-4047-A7F8-4CCF2BE2FC14}"/>
                </a:ext>
              </a:extLst>
            </p:cNvPr>
            <p:cNvSpPr txBox="1"/>
            <p:nvPr/>
          </p:nvSpPr>
          <p:spPr>
            <a:xfrm>
              <a:off x="4860405" y="3381799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 dirty="0">
                  <a:solidFill>
                    <a:srgbClr val="0070C0"/>
                  </a:solidFill>
                </a:rPr>
                <a:t>摩擦力</a:t>
              </a:r>
              <a:endParaRPr lang="en-US" altLang="ja-JP" sz="16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CFA6CEB-78B3-47C3-B5E6-90A23A7C63F8}"/>
              </a:ext>
            </a:extLst>
          </p:cNvPr>
          <p:cNvSpPr/>
          <p:nvPr/>
        </p:nvSpPr>
        <p:spPr>
          <a:xfrm>
            <a:off x="4812218" y="3181444"/>
            <a:ext cx="1579617" cy="16481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箱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84FDA51-8639-49C8-AA1F-AE178B31291C}"/>
              </a:ext>
            </a:extLst>
          </p:cNvPr>
          <p:cNvSpPr txBox="1"/>
          <p:nvPr/>
        </p:nvSpPr>
        <p:spPr>
          <a:xfrm>
            <a:off x="495531" y="4377604"/>
            <a:ext cx="41857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自由物体図は、力を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・物体の中心から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・力の強さと比例した長さで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記述した図です。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7561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ゲーム中の氷の床の上に</a:t>
                </a:r>
                <a:r>
                  <a:rPr lang="en-US" altLang="ja-JP" sz="2400" dirty="0"/>
                  <a:t>20kg</a:t>
                </a:r>
                <a:r>
                  <a:rPr lang="ja-JP" altLang="en-US" sz="2400" dirty="0"/>
                  <a:t>の金属の箱があり、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この箱にロープをつけて</a:t>
                </a:r>
                <a:r>
                  <a:rPr lang="en-US" altLang="ja-JP" sz="2400" dirty="0"/>
                  <a:t>100N</a:t>
                </a:r>
                <a:r>
                  <a:rPr lang="ja-JP" altLang="en-US" sz="2400" dirty="0"/>
                  <a:t>の力で引っ張ります。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のとき、箱に働く合力を求めなさい。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blipFill>
                <a:blip r:embed="rId2"/>
                <a:stretch>
                  <a:fillRect l="-1139" t="-4082" r="-228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04A4534-A9AA-4FD7-B617-F6C07872B3AC}"/>
              </a:ext>
            </a:extLst>
          </p:cNvPr>
          <p:cNvGrpSpPr/>
          <p:nvPr/>
        </p:nvGrpSpPr>
        <p:grpSpPr>
          <a:xfrm>
            <a:off x="567542" y="3572436"/>
            <a:ext cx="4894729" cy="1987043"/>
            <a:chOff x="567542" y="3572436"/>
            <a:chExt cx="4894729" cy="1987043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9969F263-444C-403B-A94E-2C8A9B1BB2AB}"/>
                </a:ext>
              </a:extLst>
            </p:cNvPr>
            <p:cNvSpPr/>
            <p:nvPr/>
          </p:nvSpPr>
          <p:spPr>
            <a:xfrm>
              <a:off x="567542" y="5486401"/>
              <a:ext cx="4894729" cy="730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5D248159-D1DA-49E7-984D-40C755EC6B3D}"/>
                </a:ext>
              </a:extLst>
            </p:cNvPr>
            <p:cNvSpPr/>
            <p:nvPr/>
          </p:nvSpPr>
          <p:spPr>
            <a:xfrm>
              <a:off x="2073612" y="4356848"/>
              <a:ext cx="1174376" cy="1129553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b="1" dirty="0"/>
                <a:t>20kg</a:t>
              </a:r>
              <a:endParaRPr kumimoji="1" lang="ja-JP" altLang="en-US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E875718C-F6A2-4FCA-9B38-2922A7FA5964}"/>
                    </a:ext>
                  </a:extLst>
                </p:cNvPr>
                <p:cNvSpPr txBox="1"/>
                <p:nvPr/>
              </p:nvSpPr>
              <p:spPr>
                <a:xfrm>
                  <a:off x="3403299" y="4614592"/>
                  <a:ext cx="7280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E875718C-F6A2-4FCA-9B38-2922A7FA5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3299" y="4614592"/>
                  <a:ext cx="728084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5077C820-506E-4C68-AD02-1D94E0B9FFE9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 flipV="1">
              <a:off x="3247988" y="3572436"/>
              <a:ext cx="1332832" cy="1349189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A00EC97-2962-46C1-9297-D5B87EF8F61D}"/>
                </a:ext>
              </a:extLst>
            </p:cNvPr>
            <p:cNvSpPr txBox="1"/>
            <p:nvPr/>
          </p:nvSpPr>
          <p:spPr>
            <a:xfrm>
              <a:off x="3297150" y="3762038"/>
              <a:ext cx="76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800" b="1" dirty="0"/>
                <a:t>100N</a:t>
              </a:r>
              <a:endParaRPr lang="ja-JP" altLang="en-US" b="1" dirty="0"/>
            </a:p>
          </p:txBody>
        </p: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7B09C6C-6D01-4872-BA3C-08158207807E}"/>
              </a:ext>
            </a:extLst>
          </p:cNvPr>
          <p:cNvSpPr txBox="1"/>
          <p:nvPr/>
        </p:nvSpPr>
        <p:spPr>
          <a:xfrm>
            <a:off x="5974688" y="2846764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■解答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まずは問題を元に自由物体図を作ります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1609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ゲーム中の氷の床の上に</a:t>
                </a:r>
                <a:r>
                  <a:rPr lang="en-US" altLang="ja-JP" sz="2400" dirty="0"/>
                  <a:t>20kg</a:t>
                </a:r>
                <a:r>
                  <a:rPr lang="ja-JP" altLang="en-US" sz="2400" dirty="0"/>
                  <a:t>の金属の箱があり、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この箱にロープをつけて</a:t>
                </a:r>
                <a:r>
                  <a:rPr lang="en-US" altLang="ja-JP" sz="2400" dirty="0"/>
                  <a:t>100N</a:t>
                </a:r>
                <a:r>
                  <a:rPr lang="ja-JP" altLang="en-US" sz="2400" dirty="0"/>
                  <a:t>の力で引っ張ります。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のとき、箱に働く合力を求めなさい。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blipFill>
                <a:blip r:embed="rId2"/>
                <a:stretch>
                  <a:fillRect l="-1139" t="-4082" r="-228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D248159-D1DA-49E7-984D-40C755EC6B3D}"/>
              </a:ext>
            </a:extLst>
          </p:cNvPr>
          <p:cNvSpPr/>
          <p:nvPr/>
        </p:nvSpPr>
        <p:spPr>
          <a:xfrm>
            <a:off x="2073612" y="4356848"/>
            <a:ext cx="1174376" cy="11295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20kg</a:t>
            </a:r>
            <a:endParaRPr kumimoji="1"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/>
              <p:nvPr/>
            </p:nvSpPr>
            <p:spPr>
              <a:xfrm>
                <a:off x="5974688" y="2846764"/>
                <a:ext cx="4178131" cy="2008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箱の重さは、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=−196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r>
                  <a:rPr lang="ja-JP" altLang="en-US" sz="2400" dirty="0"/>
                  <a:t>重さは必ず下向きなので、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196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688" y="2846764"/>
                <a:ext cx="4178131" cy="2008370"/>
              </a:xfrm>
              <a:prstGeom prst="rect">
                <a:avLst/>
              </a:prstGeom>
              <a:blipFill>
                <a:blip r:embed="rId3"/>
                <a:stretch>
                  <a:fillRect l="-2190" t="-2432" b="-33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2AE73B5-EBF3-47A8-BFAA-6C3D70578B76}"/>
              </a:ext>
            </a:extLst>
          </p:cNvPr>
          <p:cNvCxnSpPr>
            <a:cxnSpLocks/>
          </p:cNvCxnSpPr>
          <p:nvPr/>
        </p:nvCxnSpPr>
        <p:spPr>
          <a:xfrm>
            <a:off x="2605331" y="5486401"/>
            <a:ext cx="0" cy="111821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9C7478-8BE7-40E1-AC23-D3482AE8FC24}"/>
                  </a:ext>
                </a:extLst>
              </p:cNvPr>
              <p:cNvSpPr txBox="1"/>
              <p:nvPr/>
            </p:nvSpPr>
            <p:spPr>
              <a:xfrm>
                <a:off x="2660800" y="5860840"/>
                <a:ext cx="11743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altLang="ja-JP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1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9C7478-8BE7-40E1-AC23-D3482AE8F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800" y="5860840"/>
                <a:ext cx="1174376" cy="369332"/>
              </a:xfrm>
              <a:prstGeom prst="rect">
                <a:avLst/>
              </a:prstGeom>
              <a:blipFill>
                <a:blip r:embed="rId4"/>
                <a:stretch>
                  <a:fillRect l="-1554" r="-10881" b="-14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F0ACBCE-2D2F-433A-B104-99D2859E34E3}"/>
              </a:ext>
            </a:extLst>
          </p:cNvPr>
          <p:cNvSpPr txBox="1"/>
          <p:nvPr/>
        </p:nvSpPr>
        <p:spPr>
          <a:xfrm>
            <a:off x="5956169" y="5285140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力には向きもあるので、</a:t>
            </a:r>
            <a:endParaRPr lang="en-US" altLang="ja-JP" sz="2400" dirty="0"/>
          </a:p>
          <a:p>
            <a:r>
              <a:rPr lang="ja-JP" altLang="en-US" sz="2400" dirty="0"/>
              <a:t>必ず</a:t>
            </a:r>
            <a:r>
              <a:rPr lang="ja-JP" altLang="en-US" sz="2400" b="1" dirty="0">
                <a:solidFill>
                  <a:srgbClr val="FF0000"/>
                </a:solidFill>
              </a:rPr>
              <a:t>ベクトルで表記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4800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ゲーム中の氷の床の上に</a:t>
                </a:r>
                <a:r>
                  <a:rPr lang="en-US" altLang="ja-JP" sz="2400" dirty="0"/>
                  <a:t>20kg</a:t>
                </a:r>
                <a:r>
                  <a:rPr lang="ja-JP" altLang="en-US" sz="2400" dirty="0"/>
                  <a:t>の金属の箱があり、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この箱にロープをつけて</a:t>
                </a:r>
                <a:r>
                  <a:rPr lang="en-US" altLang="ja-JP" sz="2400" dirty="0"/>
                  <a:t>100N</a:t>
                </a:r>
                <a:r>
                  <a:rPr lang="ja-JP" altLang="en-US" sz="2400" dirty="0"/>
                  <a:t>の力で引っ張ります。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のとき、箱に働く合力を求めなさい。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blipFill>
                <a:blip r:embed="rId2"/>
                <a:stretch>
                  <a:fillRect l="-1139" t="-4082" r="-228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D248159-D1DA-49E7-984D-40C755EC6B3D}"/>
              </a:ext>
            </a:extLst>
          </p:cNvPr>
          <p:cNvSpPr/>
          <p:nvPr/>
        </p:nvSpPr>
        <p:spPr>
          <a:xfrm>
            <a:off x="2073612" y="4356848"/>
            <a:ext cx="1174376" cy="11295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20kg</a:t>
            </a:r>
            <a:endParaRPr kumimoji="1" lang="ja-JP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/>
              <p:nvPr/>
            </p:nvSpPr>
            <p:spPr>
              <a:xfrm>
                <a:off x="5974688" y="2846764"/>
                <a:ext cx="534152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ロープで引く力は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@60°</m:t>
                    </m:r>
                  </m:oMath>
                </a14:m>
                <a:r>
                  <a:rPr lang="ja-JP" altLang="en-US" sz="2400" dirty="0"/>
                  <a:t>なので、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60°,100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𝑁𝑠𝑖𝑛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60°]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50,86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688" y="2846764"/>
                <a:ext cx="5341527" cy="1938992"/>
              </a:xfrm>
              <a:prstGeom prst="rect">
                <a:avLst/>
              </a:prstGeom>
              <a:blipFill>
                <a:blip r:embed="rId3"/>
                <a:stretch>
                  <a:fillRect l="-1712" t="-2516" r="-9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2AE73B5-EBF3-47A8-BFAA-6C3D70578B76}"/>
              </a:ext>
            </a:extLst>
          </p:cNvPr>
          <p:cNvCxnSpPr>
            <a:cxnSpLocks/>
          </p:cNvCxnSpPr>
          <p:nvPr/>
        </p:nvCxnSpPr>
        <p:spPr>
          <a:xfrm>
            <a:off x="2605331" y="5486401"/>
            <a:ext cx="0" cy="111821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9C7478-8BE7-40E1-AC23-D3482AE8FC24}"/>
                  </a:ext>
                </a:extLst>
              </p:cNvPr>
              <p:cNvSpPr txBox="1"/>
              <p:nvPr/>
            </p:nvSpPr>
            <p:spPr>
              <a:xfrm>
                <a:off x="2660800" y="5860840"/>
                <a:ext cx="11743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altLang="ja-JP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1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9C7478-8BE7-40E1-AC23-D3482AE8F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800" y="5860840"/>
                <a:ext cx="1174376" cy="369332"/>
              </a:xfrm>
              <a:prstGeom prst="rect">
                <a:avLst/>
              </a:prstGeom>
              <a:blipFill>
                <a:blip r:embed="rId4"/>
                <a:stretch>
                  <a:fillRect l="-1554" r="-10881" b="-14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CA53EC50-58D3-40C5-8C2F-BABEE5FA8DD1}"/>
              </a:ext>
            </a:extLst>
          </p:cNvPr>
          <p:cNvCxnSpPr/>
          <p:nvPr/>
        </p:nvCxnSpPr>
        <p:spPr>
          <a:xfrm flipV="1">
            <a:off x="3247988" y="3466938"/>
            <a:ext cx="880259" cy="103094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FBF351D-41A1-44E3-83E6-35918AEF404E}"/>
                  </a:ext>
                </a:extLst>
              </p:cNvPr>
              <p:cNvSpPr txBox="1"/>
              <p:nvPr/>
            </p:nvSpPr>
            <p:spPr>
              <a:xfrm>
                <a:off x="1242010" y="407191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,86</m:t>
                      </m:r>
                      <m:r>
                        <a:rPr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sz="1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ja-JP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FBF351D-41A1-44E3-83E6-35918AEF4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10" y="4071911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16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ゲーム中の氷の床の上に</a:t>
                </a:r>
                <a:r>
                  <a:rPr lang="en-US" altLang="ja-JP" sz="2400" dirty="0"/>
                  <a:t>20kg</a:t>
                </a:r>
                <a:r>
                  <a:rPr lang="ja-JP" altLang="en-US" sz="2400" dirty="0"/>
                  <a:t>の金属の箱があり、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この箱にロープをつけて</a:t>
                </a:r>
                <a:r>
                  <a:rPr lang="en-US" altLang="ja-JP" sz="2400" dirty="0"/>
                  <a:t>100N</a:t>
                </a:r>
                <a:r>
                  <a:rPr lang="ja-JP" altLang="en-US" sz="2400" dirty="0"/>
                  <a:t>の力で引っ張ります。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のとき、箱に働く合力を求めなさい。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blipFill>
                <a:blip r:embed="rId2"/>
                <a:stretch>
                  <a:fillRect l="-1139" t="-4082" r="-228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D248159-D1DA-49E7-984D-40C755EC6B3D}"/>
              </a:ext>
            </a:extLst>
          </p:cNvPr>
          <p:cNvSpPr/>
          <p:nvPr/>
        </p:nvSpPr>
        <p:spPr>
          <a:xfrm>
            <a:off x="2073612" y="4356848"/>
            <a:ext cx="1174376" cy="11295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20kg</a:t>
            </a:r>
            <a:endParaRPr kumimoji="1" lang="ja-JP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/>
              <p:nvPr/>
            </p:nvSpPr>
            <p:spPr>
              <a:xfrm>
                <a:off x="5974688" y="2846764"/>
                <a:ext cx="6475940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箱にかかる鉛直の力は、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−196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86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=−110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地面からの垂直抗力は、</a:t>
                </a:r>
                <a:endParaRPr lang="en-US" altLang="ja-JP" sz="2400" dirty="0"/>
              </a:p>
              <a:p>
                <a:r>
                  <a:rPr lang="ja-JP" altLang="en-US" sz="2400" dirty="0"/>
                  <a:t>下向きの力に釣り合うので、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110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688" y="2846764"/>
                <a:ext cx="6475940" cy="2308324"/>
              </a:xfrm>
              <a:prstGeom prst="rect">
                <a:avLst/>
              </a:prstGeom>
              <a:blipFill>
                <a:blip r:embed="rId3"/>
                <a:stretch>
                  <a:fillRect l="-1412" t="-2111" b="-50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2AE73B5-EBF3-47A8-BFAA-6C3D70578B76}"/>
              </a:ext>
            </a:extLst>
          </p:cNvPr>
          <p:cNvCxnSpPr>
            <a:cxnSpLocks/>
          </p:cNvCxnSpPr>
          <p:nvPr/>
        </p:nvCxnSpPr>
        <p:spPr>
          <a:xfrm>
            <a:off x="2605331" y="5486401"/>
            <a:ext cx="0" cy="111821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9C7478-8BE7-40E1-AC23-D3482AE8FC24}"/>
                  </a:ext>
                </a:extLst>
              </p:cNvPr>
              <p:cNvSpPr txBox="1"/>
              <p:nvPr/>
            </p:nvSpPr>
            <p:spPr>
              <a:xfrm>
                <a:off x="2660800" y="5860840"/>
                <a:ext cx="11743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altLang="ja-JP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1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9C7478-8BE7-40E1-AC23-D3482AE8F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800" y="5860840"/>
                <a:ext cx="1174376" cy="369332"/>
              </a:xfrm>
              <a:prstGeom prst="rect">
                <a:avLst/>
              </a:prstGeom>
              <a:blipFill>
                <a:blip r:embed="rId4"/>
                <a:stretch>
                  <a:fillRect l="-1554" r="-10881" b="-14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CA53EC50-58D3-40C5-8C2F-BABEE5FA8DD1}"/>
              </a:ext>
            </a:extLst>
          </p:cNvPr>
          <p:cNvCxnSpPr/>
          <p:nvPr/>
        </p:nvCxnSpPr>
        <p:spPr>
          <a:xfrm flipV="1">
            <a:off x="3247988" y="3466938"/>
            <a:ext cx="880259" cy="103094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26530F0-EA8A-4C50-8CC5-5C124E0DF2CF}"/>
                  </a:ext>
                </a:extLst>
              </p:cNvPr>
              <p:cNvSpPr txBox="1"/>
              <p:nvPr/>
            </p:nvSpPr>
            <p:spPr>
              <a:xfrm>
                <a:off x="1242010" y="407191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,86</m:t>
                      </m:r>
                      <m:r>
                        <a:rPr lang="en-US" altLang="ja-JP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sz="1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ja-JP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26530F0-EA8A-4C50-8CC5-5C124E0DF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10" y="4071911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B65E137-FF19-45DC-B8AB-48CF040F4DA9}"/>
              </a:ext>
            </a:extLst>
          </p:cNvPr>
          <p:cNvCxnSpPr>
            <a:cxnSpLocks/>
          </p:cNvCxnSpPr>
          <p:nvPr/>
        </p:nvCxnSpPr>
        <p:spPr>
          <a:xfrm flipV="1">
            <a:off x="2605331" y="3466938"/>
            <a:ext cx="0" cy="88991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59F2E55-2B4C-4A9E-B022-0FA7810E8D75}"/>
                  </a:ext>
                </a:extLst>
              </p:cNvPr>
              <p:cNvSpPr txBox="1"/>
              <p:nvPr/>
            </p:nvSpPr>
            <p:spPr>
              <a:xfrm>
                <a:off x="1486424" y="3772688"/>
                <a:ext cx="11743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altLang="ja-JP" sz="1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a:rPr lang="en-US" altLang="ja-JP" sz="1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1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1800" dirty="0">
                    <a:solidFill>
                      <a:srgbClr val="00B05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59F2E55-2B4C-4A9E-B022-0FA7810E8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424" y="3772688"/>
                <a:ext cx="1174376" cy="369332"/>
              </a:xfrm>
              <a:prstGeom prst="rect">
                <a:avLst/>
              </a:prstGeom>
              <a:blipFill>
                <a:blip r:embed="rId6"/>
                <a:stretch>
                  <a:fillRect l="-2083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648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ゲーム中の氷の床の上に</a:t>
                </a:r>
                <a:r>
                  <a:rPr lang="en-US" altLang="ja-JP" sz="2400" dirty="0"/>
                  <a:t>20kg</a:t>
                </a:r>
                <a:r>
                  <a:rPr lang="ja-JP" altLang="en-US" sz="2400" dirty="0"/>
                  <a:t>の金属の箱があり、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この箱にロープをつけて</a:t>
                </a:r>
                <a:r>
                  <a:rPr lang="en-US" altLang="ja-JP" sz="2400" dirty="0"/>
                  <a:t>100N</a:t>
                </a:r>
                <a:r>
                  <a:rPr lang="ja-JP" altLang="en-US" sz="2400" dirty="0"/>
                  <a:t>の力で引っ張ります。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のとき、箱に働く合力を求めなさい。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blipFill>
                <a:blip r:embed="rId2"/>
                <a:stretch>
                  <a:fillRect l="-1139" t="-4082" r="-228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/>
              <p:nvPr/>
            </p:nvSpPr>
            <p:spPr>
              <a:xfrm>
                <a:off x="5974688" y="2846764"/>
                <a:ext cx="5703806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金属と氷の運動摩擦係数は</a:t>
                </a:r>
                <a:r>
                  <a:rPr lang="en-US" altLang="ja-JP" sz="2400" dirty="0"/>
                  <a:t>0.02</a:t>
                </a:r>
                <a:r>
                  <a:rPr lang="ja-JP" altLang="en-US" sz="2400" dirty="0"/>
                  <a:t>なので、</a:t>
                </a:r>
                <a:endParaRPr lang="en-US" altLang="ja-JP" sz="2400" dirty="0"/>
              </a:p>
              <a:p>
                <a:r>
                  <a:rPr lang="ja-JP" altLang="en-US" sz="2400" dirty="0"/>
                  <a:t>運動摩擦力は、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0.02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110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=2.2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ロープは右向きにひかれているので</a:t>
                </a:r>
                <a:endParaRPr lang="en-US" altLang="ja-JP" sz="2400" dirty="0"/>
              </a:p>
              <a:p>
                <a:r>
                  <a:rPr lang="ja-JP" altLang="en-US" sz="2400" dirty="0"/>
                  <a:t>摩擦力はその逆向きに加わる。よって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[−2.2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0]</m:t>
                    </m:r>
                  </m:oMath>
                </a14:m>
                <a:r>
                  <a:rPr lang="ja-JP" altLang="en-US" sz="2400" dirty="0"/>
                  <a:t>となる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688" y="2846764"/>
                <a:ext cx="5703806" cy="3046988"/>
              </a:xfrm>
              <a:prstGeom prst="rect">
                <a:avLst/>
              </a:prstGeom>
              <a:blipFill>
                <a:blip r:embed="rId3"/>
                <a:stretch>
                  <a:fillRect l="-1603" t="-1600" r="-748" b="-36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237FE65-DF0F-4B00-BD2C-AE243A07B440}"/>
              </a:ext>
            </a:extLst>
          </p:cNvPr>
          <p:cNvGrpSpPr/>
          <p:nvPr/>
        </p:nvGrpSpPr>
        <p:grpSpPr>
          <a:xfrm>
            <a:off x="825145" y="3466938"/>
            <a:ext cx="4079787" cy="3137673"/>
            <a:chOff x="825145" y="3466938"/>
            <a:chExt cx="4079787" cy="3137673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5D248159-D1DA-49E7-984D-40C755EC6B3D}"/>
                </a:ext>
              </a:extLst>
            </p:cNvPr>
            <p:cNvSpPr/>
            <p:nvPr/>
          </p:nvSpPr>
          <p:spPr>
            <a:xfrm>
              <a:off x="2073612" y="4356848"/>
              <a:ext cx="1174376" cy="1129553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b="1" dirty="0"/>
                <a:t>20kg</a:t>
              </a:r>
              <a:endParaRPr kumimoji="1" lang="ja-JP" altLang="en-US" b="1" dirty="0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E2AE73B5-EBF3-47A8-BFAA-6C3D70578B76}"/>
                </a:ext>
              </a:extLst>
            </p:cNvPr>
            <p:cNvCxnSpPr>
              <a:cxnSpLocks/>
            </p:cNvCxnSpPr>
            <p:nvPr/>
          </p:nvCxnSpPr>
          <p:spPr>
            <a:xfrm>
              <a:off x="2605331" y="5486401"/>
              <a:ext cx="0" cy="111821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5F9C7478-8BE7-40E1-AC23-D3482AE8FC24}"/>
                    </a:ext>
                  </a:extLst>
                </p:cNvPr>
                <p:cNvSpPr txBox="1"/>
                <p:nvPr/>
              </p:nvSpPr>
              <p:spPr>
                <a:xfrm>
                  <a:off x="2660800" y="5860840"/>
                  <a:ext cx="11743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[0, </m:t>
                      </m:r>
                      <m:r>
                        <a:rPr lang="en-US" altLang="ja-JP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196</m:t>
                      </m:r>
                      <m:r>
                        <a:rPr lang="en-US" altLang="ja-JP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altLang="ja-JP" sz="1800" dirty="0">
                      <a:solidFill>
                        <a:srgbClr val="7030A0"/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5F9C7478-8BE7-40E1-AC23-D3482AE8F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0800" y="5860840"/>
                  <a:ext cx="117437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554" r="-10881" b="-147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CA53EC50-58D3-40C5-8C2F-BABEE5FA8DD1}"/>
                </a:ext>
              </a:extLst>
            </p:cNvPr>
            <p:cNvCxnSpPr/>
            <p:nvPr/>
          </p:nvCxnSpPr>
          <p:spPr>
            <a:xfrm flipV="1">
              <a:off x="3247988" y="3466938"/>
              <a:ext cx="880259" cy="103094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E26530F0-EA8A-4C50-8CC5-5C124E0DF2CF}"/>
                    </a:ext>
                  </a:extLst>
                </p:cNvPr>
                <p:cNvSpPr txBox="1"/>
                <p:nvPr/>
              </p:nvSpPr>
              <p:spPr>
                <a:xfrm>
                  <a:off x="3636241" y="4128548"/>
                  <a:ext cx="126869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,86</m:t>
                        </m:r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sz="1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dirty="0">
                    <a:solidFill>
                      <a:srgbClr val="FFC000"/>
                    </a:solidFill>
                  </a:endParaRPr>
                </a:p>
              </p:txBody>
            </p:sp>
          </mc:Choice>
          <mc:Fallback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E26530F0-EA8A-4C50-8CC5-5C124E0DF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6241" y="4128548"/>
                  <a:ext cx="1268691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435" r="-2392" b="-147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8B65E137-FF19-45DC-B8AB-48CF040F4D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5331" y="3466938"/>
              <a:ext cx="0" cy="88991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A59F2E55-2B4C-4A9E-B022-0FA7810E8D75}"/>
                    </a:ext>
                  </a:extLst>
                </p:cNvPr>
                <p:cNvSpPr txBox="1"/>
                <p:nvPr/>
              </p:nvSpPr>
              <p:spPr>
                <a:xfrm>
                  <a:off x="1486424" y="3772688"/>
                  <a:ext cx="11743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18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[0, </m:t>
                      </m:r>
                      <m:r>
                        <a:rPr lang="en-US" altLang="ja-JP" sz="1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110</m:t>
                      </m:r>
                      <m:r>
                        <a:rPr lang="en-US" altLang="ja-JP" sz="18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sz="18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altLang="ja-JP" sz="1800" dirty="0">
                      <a:solidFill>
                        <a:srgbClr val="00B050"/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A59F2E55-2B4C-4A9E-B022-0FA7810E8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6424" y="3772688"/>
                  <a:ext cx="117437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083"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94B9AAC-5287-4FAF-8053-B1E8E393C1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7484" y="4921623"/>
              <a:ext cx="326128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0685C82F-52F8-4C79-B1EC-BF6E1AD00595}"/>
                    </a:ext>
                  </a:extLst>
                </p:cNvPr>
                <p:cNvSpPr txBox="1"/>
                <p:nvPr/>
              </p:nvSpPr>
              <p:spPr>
                <a:xfrm>
                  <a:off x="825145" y="5004722"/>
                  <a:ext cx="132255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[−2.2</m:t>
                        </m:r>
                        <m:r>
                          <a:rPr lang="en-US" altLang="ja-JP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 0]</m:t>
                        </m:r>
                      </m:oMath>
                    </m:oMathPara>
                  </a14:m>
                  <a:endParaRPr lang="ja-JP" alt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0685C82F-52F8-4C79-B1EC-BF6E1AD00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145" y="5004722"/>
                  <a:ext cx="1322557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02934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ゲーム中の氷の床の上に</a:t>
                </a:r>
                <a:r>
                  <a:rPr lang="en-US" altLang="ja-JP" sz="2400" dirty="0"/>
                  <a:t>20kg</a:t>
                </a:r>
                <a:r>
                  <a:rPr lang="ja-JP" altLang="en-US" sz="2400" dirty="0"/>
                  <a:t>の金属の箱があり、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この箱にロープをつけて</a:t>
                </a:r>
                <a:r>
                  <a:rPr lang="en-US" altLang="ja-JP" sz="2400" dirty="0"/>
                  <a:t>100N</a:t>
                </a:r>
                <a:r>
                  <a:rPr lang="ja-JP" altLang="en-US" sz="2400" dirty="0"/>
                  <a:t>の力で引っ張ります。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のとき、箱に働く合力を求めなさい。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026556" cy="1200329"/>
              </a:xfrm>
              <a:prstGeom prst="rect">
                <a:avLst/>
              </a:prstGeom>
              <a:blipFill>
                <a:blip r:embed="rId2"/>
                <a:stretch>
                  <a:fillRect l="-1139" t="-4082" r="-228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/>
              <p:nvPr/>
            </p:nvSpPr>
            <p:spPr>
              <a:xfrm>
                <a:off x="5974688" y="2846764"/>
                <a:ext cx="5832815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全ての力の合計が合力となる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0, −196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, 86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0, 110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−2.2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  <m:r>
                      <a:rPr lang="en-US" altLang="ja-JP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=[47.8</m:t>
                    </m:r>
                    <m:r>
                      <a:rPr lang="en-US" altLang="ja-JP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0]</m:t>
                    </m:r>
                  </m:oMath>
                </a14:m>
                <a:r>
                  <a:rPr lang="en-US" altLang="ja-JP" sz="1600" dirty="0">
                    <a:solidFill>
                      <a:srgbClr val="FF0000"/>
                    </a:solidFill>
                  </a:rPr>
                  <a:t> </a:t>
                </a:r>
                <a:endParaRPr lang="en-US" altLang="ja-JP" sz="16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7B09C6C-6D01-4872-BA3C-08158207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688" y="2846764"/>
                <a:ext cx="5832815" cy="1077218"/>
              </a:xfrm>
              <a:prstGeom prst="rect">
                <a:avLst/>
              </a:prstGeom>
              <a:blipFill>
                <a:blip r:embed="rId3"/>
                <a:stretch>
                  <a:fillRect l="-1567" t="-4520" b="-22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30B5ECF6-2B86-40E3-9842-82FC31DF63B5}"/>
              </a:ext>
            </a:extLst>
          </p:cNvPr>
          <p:cNvGrpSpPr/>
          <p:nvPr/>
        </p:nvGrpSpPr>
        <p:grpSpPr>
          <a:xfrm>
            <a:off x="825145" y="3466938"/>
            <a:ext cx="4223410" cy="3137673"/>
            <a:chOff x="825145" y="3466938"/>
            <a:chExt cx="4223410" cy="3137673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5D248159-D1DA-49E7-984D-40C755EC6B3D}"/>
                </a:ext>
              </a:extLst>
            </p:cNvPr>
            <p:cNvSpPr/>
            <p:nvPr/>
          </p:nvSpPr>
          <p:spPr>
            <a:xfrm>
              <a:off x="2073612" y="4356848"/>
              <a:ext cx="1174376" cy="1129553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b="1" dirty="0"/>
                <a:t>20kg</a:t>
              </a:r>
              <a:endParaRPr kumimoji="1" lang="ja-JP" altLang="en-US" b="1" dirty="0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E2AE73B5-EBF3-47A8-BFAA-6C3D70578B76}"/>
                </a:ext>
              </a:extLst>
            </p:cNvPr>
            <p:cNvCxnSpPr>
              <a:cxnSpLocks/>
            </p:cNvCxnSpPr>
            <p:nvPr/>
          </p:nvCxnSpPr>
          <p:spPr>
            <a:xfrm>
              <a:off x="2605331" y="5486401"/>
              <a:ext cx="0" cy="111821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5F9C7478-8BE7-40E1-AC23-D3482AE8FC24}"/>
                    </a:ext>
                  </a:extLst>
                </p:cNvPr>
                <p:cNvSpPr txBox="1"/>
                <p:nvPr/>
              </p:nvSpPr>
              <p:spPr>
                <a:xfrm>
                  <a:off x="2660800" y="5860840"/>
                  <a:ext cx="11743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[0, </m:t>
                      </m:r>
                      <m:r>
                        <a:rPr lang="en-US" altLang="ja-JP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196</m:t>
                      </m:r>
                      <m:r>
                        <a:rPr lang="en-US" altLang="ja-JP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altLang="ja-JP" sz="1800" dirty="0">
                      <a:solidFill>
                        <a:srgbClr val="7030A0"/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5F9C7478-8BE7-40E1-AC23-D3482AE8F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0800" y="5860840"/>
                  <a:ext cx="117437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554" r="-10881" b="-147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CA53EC50-58D3-40C5-8C2F-BABEE5FA8D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7988" y="3466938"/>
              <a:ext cx="880259" cy="103094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E26530F0-EA8A-4C50-8CC5-5C124E0DF2CF}"/>
                    </a:ext>
                  </a:extLst>
                </p:cNvPr>
                <p:cNvSpPr txBox="1"/>
                <p:nvPr/>
              </p:nvSpPr>
              <p:spPr>
                <a:xfrm>
                  <a:off x="3685234" y="4150190"/>
                  <a:ext cx="136332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,86</m:t>
                        </m:r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sz="1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dirty="0">
                    <a:solidFill>
                      <a:srgbClr val="FFC000"/>
                    </a:solidFill>
                  </a:endParaRPr>
                </a:p>
              </p:txBody>
            </p:sp>
          </mc:Choice>
          <mc:Fallback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E26530F0-EA8A-4C50-8CC5-5C124E0DF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234" y="4150190"/>
                  <a:ext cx="1363321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8B65E137-FF19-45DC-B8AB-48CF040F4D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5331" y="3466938"/>
              <a:ext cx="0" cy="88991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A59F2E55-2B4C-4A9E-B022-0FA7810E8D75}"/>
                    </a:ext>
                  </a:extLst>
                </p:cNvPr>
                <p:cNvSpPr txBox="1"/>
                <p:nvPr/>
              </p:nvSpPr>
              <p:spPr>
                <a:xfrm>
                  <a:off x="1486424" y="3772688"/>
                  <a:ext cx="11743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18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[0, </m:t>
                      </m:r>
                      <m:r>
                        <a:rPr lang="en-US" altLang="ja-JP" sz="1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110</m:t>
                      </m:r>
                      <m:r>
                        <a:rPr lang="en-US" altLang="ja-JP" sz="18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sz="18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altLang="ja-JP" sz="1800" dirty="0">
                      <a:solidFill>
                        <a:srgbClr val="00B050"/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A59F2E55-2B4C-4A9E-B022-0FA7810E8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6424" y="3772688"/>
                  <a:ext cx="117437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083"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94B9AAC-5287-4FAF-8053-B1E8E393C1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7484" y="4921623"/>
              <a:ext cx="326128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0685C82F-52F8-4C79-B1EC-BF6E1AD00595}"/>
                    </a:ext>
                  </a:extLst>
                </p:cNvPr>
                <p:cNvSpPr txBox="1"/>
                <p:nvPr/>
              </p:nvSpPr>
              <p:spPr>
                <a:xfrm>
                  <a:off x="825145" y="5004722"/>
                  <a:ext cx="132255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[−2.2</m:t>
                        </m:r>
                        <m:r>
                          <a:rPr lang="en-US" altLang="ja-JP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 0]</m:t>
                        </m:r>
                      </m:oMath>
                    </m:oMathPara>
                  </a14:m>
                  <a:endParaRPr lang="ja-JP" alt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0685C82F-52F8-4C79-B1EC-BF6E1AD00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145" y="5004722"/>
                  <a:ext cx="1322557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A56A348-F5D9-47BE-A50D-300AF878C024}"/>
              </a:ext>
            </a:extLst>
          </p:cNvPr>
          <p:cNvSpPr txBox="1"/>
          <p:nvPr/>
        </p:nvSpPr>
        <p:spPr>
          <a:xfrm>
            <a:off x="5974688" y="5260675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垂直抗力の計算には気を付けましょう。</a:t>
            </a:r>
            <a:endParaRPr lang="en-US" altLang="ja-JP" sz="2400" dirty="0"/>
          </a:p>
          <a:p>
            <a:r>
              <a:rPr lang="ja-JP" altLang="en-US" sz="2400" dirty="0"/>
              <a:t>（</a:t>
            </a:r>
            <a:r>
              <a:rPr lang="ja-JP" altLang="en-US" sz="2400" b="1" dirty="0">
                <a:solidFill>
                  <a:srgbClr val="FF0000"/>
                </a:solidFill>
              </a:rPr>
              <a:t>安易に重さの反対にしないこと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8215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合力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02655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ゲーム中の氷の床の上に</a:t>
                </a:r>
                <a:r>
                  <a:rPr lang="en-US" altLang="ja-JP" sz="2400" dirty="0"/>
                  <a:t>15kg</a:t>
                </a:r>
                <a:r>
                  <a:rPr lang="ja-JP" altLang="en-US" sz="2400" dirty="0"/>
                  <a:t>の金属の箱があり、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この箱にロープをつけて</a:t>
                </a:r>
                <a:r>
                  <a:rPr lang="en-US" altLang="ja-JP" sz="2400" dirty="0"/>
                  <a:t>80N</a:t>
                </a:r>
                <a:r>
                  <a:rPr lang="ja-JP" altLang="en-US" sz="2400" dirty="0"/>
                  <a:t>の力で引っ張ります。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のとき、箱に働く合力を求めなさい。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30°=0.5,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30°=0.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86</m:t>
                    </m:r>
                  </m:oMath>
                </a14:m>
                <a:r>
                  <a:rPr lang="ja-JP" altLang="en-US" sz="2400" dirty="0"/>
                  <a:t>で計算すること。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026556" cy="1569660"/>
              </a:xfrm>
              <a:prstGeom prst="rect">
                <a:avLst/>
              </a:prstGeom>
              <a:blipFill>
                <a:blip r:embed="rId2"/>
                <a:stretch>
                  <a:fillRect l="-1139" t="-3113" r="-228" b="-81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04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1742</TotalTime>
  <Words>831</Words>
  <Application>Microsoft Office PowerPoint</Application>
  <PresentationFormat>ワイド画面</PresentationFormat>
  <Paragraphs>123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183</cp:revision>
  <dcterms:created xsi:type="dcterms:W3CDTF">2024-08-27T02:15:54Z</dcterms:created>
  <dcterms:modified xsi:type="dcterms:W3CDTF">2025-10-31T01:26:55Z</dcterms:modified>
</cp:coreProperties>
</file>