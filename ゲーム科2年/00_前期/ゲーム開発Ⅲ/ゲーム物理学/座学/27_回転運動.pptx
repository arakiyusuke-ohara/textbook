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これまでの衝突は、すべて正面衝突を想定した衝突になります。</a:t>
            </a:r>
            <a:endParaRPr lang="en-US" altLang="ja-JP" sz="2400" dirty="0"/>
          </a:p>
          <a:p>
            <a:r>
              <a:rPr lang="ja-JP" altLang="en-US" sz="2400" dirty="0"/>
              <a:t>ですが、完全な正面衝突は現実ではあまり起きません。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ビリヤードの玉を打つ場面をイメージしましょう。</a:t>
            </a:r>
            <a:endParaRPr lang="en-US" altLang="ja-JP" sz="2400" dirty="0"/>
          </a:p>
          <a:p>
            <a:r>
              <a:rPr lang="ja-JP" altLang="en-US" sz="2400" dirty="0"/>
              <a:t>スティックの位置が少しずれると、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スピン</a:t>
            </a:r>
            <a:r>
              <a:rPr lang="ja-JP" altLang="en-US" sz="2400" dirty="0"/>
              <a:t>がかかり、玉の進む方向がずれていきます。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つまり正面衝突でない場合の衝突を計算するには、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回転運動</a:t>
            </a:r>
            <a:r>
              <a:rPr lang="ja-JP" altLang="en-US" sz="2400" dirty="0"/>
              <a:t>や</a:t>
            </a:r>
            <a:r>
              <a:rPr lang="ja-JP" altLang="en-US" sz="2400" b="1" dirty="0">
                <a:solidFill>
                  <a:srgbClr val="FF0000"/>
                </a:solidFill>
              </a:rPr>
              <a:t>回転力学</a:t>
            </a:r>
            <a:r>
              <a:rPr lang="ja-JP" altLang="en-US" sz="2400" dirty="0"/>
              <a:t>についての理解が必要になります。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まずは回転運動について学習します。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回転運動は</a:t>
            </a:r>
            <a:r>
              <a:rPr lang="ja-JP" altLang="en-US" sz="2400" b="1" dirty="0">
                <a:solidFill>
                  <a:srgbClr val="0070C0"/>
                </a:solidFill>
              </a:rPr>
              <a:t>ある座標を中心として回転する運動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中心から離れている距離が半径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F723BD31-DD8D-4648-B344-93D082E71940}"/>
              </a:ext>
            </a:extLst>
          </p:cNvPr>
          <p:cNvGrpSpPr/>
          <p:nvPr/>
        </p:nvGrpSpPr>
        <p:grpSpPr>
          <a:xfrm>
            <a:off x="567542" y="2766046"/>
            <a:ext cx="3600000" cy="3600000"/>
            <a:chOff x="593683" y="2766046"/>
            <a:chExt cx="3600000" cy="3600000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F797631E-052A-4F57-9831-CD402AADB218}"/>
                </a:ext>
              </a:extLst>
            </p:cNvPr>
            <p:cNvGrpSpPr/>
            <p:nvPr/>
          </p:nvGrpSpPr>
          <p:grpSpPr>
            <a:xfrm>
              <a:off x="593683" y="2766046"/>
              <a:ext cx="3600000" cy="3600000"/>
              <a:chOff x="2496639" y="3127933"/>
              <a:chExt cx="2160000" cy="2160000"/>
            </a:xfrm>
          </p:grpSpPr>
          <p:sp>
            <p:nvSpPr>
              <p:cNvPr id="2" name="楕円 1">
                <a:extLst>
                  <a:ext uri="{FF2B5EF4-FFF2-40B4-BE49-F238E27FC236}">
                    <a16:creationId xmlns:a16="http://schemas.microsoft.com/office/drawing/2014/main" id="{82E67F83-5FC8-451F-9BEB-64D75C6BF49D}"/>
                  </a:ext>
                </a:extLst>
              </p:cNvPr>
              <p:cNvSpPr/>
              <p:nvPr/>
            </p:nvSpPr>
            <p:spPr>
              <a:xfrm>
                <a:off x="3522639" y="4153933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CBE96378-0992-4F9E-A7CD-10BCCFE2F004}"/>
                  </a:ext>
                </a:extLst>
              </p:cNvPr>
              <p:cNvCxnSpPr>
                <a:cxnSpLocks/>
                <a:endCxn id="8" idx="2"/>
              </p:cNvCxnSpPr>
              <p:nvPr/>
            </p:nvCxnSpPr>
            <p:spPr>
              <a:xfrm>
                <a:off x="3630639" y="4207933"/>
                <a:ext cx="102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B97CCBA9-B9BF-42E7-B02B-9AAD94CEEBB5}"/>
                  </a:ext>
                </a:extLst>
              </p:cNvPr>
              <p:cNvSpPr/>
              <p:nvPr/>
            </p:nvSpPr>
            <p:spPr>
              <a:xfrm>
                <a:off x="2496639" y="3127933"/>
                <a:ext cx="2160000" cy="216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ysDash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80D2BF0E-51CE-4469-B4A1-FE58BADEC453}"/>
                  </a:ext>
                </a:extLst>
              </p:cNvPr>
              <p:cNvCxnSpPr>
                <a:cxnSpLocks/>
                <a:stCxn id="2" idx="7"/>
                <a:endCxn id="8" idx="0"/>
              </p:cNvCxnSpPr>
              <p:nvPr/>
            </p:nvCxnSpPr>
            <p:spPr>
              <a:xfrm flipV="1">
                <a:off x="3614823" y="3224248"/>
                <a:ext cx="407645" cy="94550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円弧 14">
              <a:extLst>
                <a:ext uri="{FF2B5EF4-FFF2-40B4-BE49-F238E27FC236}">
                  <a16:creationId xmlns:a16="http://schemas.microsoft.com/office/drawing/2014/main" id="{68848736-96ED-43C0-A7B5-600C0154464E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24790"/>
                <a:gd name="adj2" fmla="val 0"/>
              </a:avLst>
            </a:prstGeom>
            <a:ln w="1270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弧 13">
              <a:extLst>
                <a:ext uri="{FF2B5EF4-FFF2-40B4-BE49-F238E27FC236}">
                  <a16:creationId xmlns:a16="http://schemas.microsoft.com/office/drawing/2014/main" id="{C6D26FF2-7E13-4FEA-A154-BD77F5779EB5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17662870"/>
                <a:gd name="adj2" fmla="val 0"/>
              </a:avLst>
            </a:prstGeom>
            <a:ln w="38100">
              <a:prstDash val="solid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77079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この２つの長さから</a:t>
            </a:r>
            <a:r>
              <a:rPr lang="ja-JP" altLang="en-US" sz="2400" b="1" dirty="0">
                <a:solidFill>
                  <a:srgbClr val="00B050"/>
                </a:solidFill>
              </a:rPr>
              <a:t>内側の角度</a:t>
            </a:r>
            <a:r>
              <a:rPr lang="ja-JP" altLang="en-US" sz="2400" dirty="0"/>
              <a:t>を計算することができます。</a:t>
            </a:r>
            <a:endParaRPr lang="en-US" altLang="ja-JP" sz="2400" dirty="0"/>
          </a:p>
          <a:p>
            <a:r>
              <a:rPr lang="ja-JP" altLang="en-US" sz="2400" dirty="0"/>
              <a:t>この角度のことを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変位角</a:t>
            </a:r>
            <a:r>
              <a:rPr lang="ja-JP" altLang="en-US" sz="2400" dirty="0"/>
              <a:t>といいます。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C1C9D7A6-6860-4345-9C29-1300749DB343}"/>
              </a:ext>
            </a:extLst>
          </p:cNvPr>
          <p:cNvGrpSpPr/>
          <p:nvPr/>
        </p:nvGrpSpPr>
        <p:grpSpPr>
          <a:xfrm>
            <a:off x="567542" y="2766046"/>
            <a:ext cx="3659247" cy="3600000"/>
            <a:chOff x="567542" y="2766046"/>
            <a:chExt cx="3659247" cy="3600000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F723BD31-DD8D-4648-B344-93D082E71940}"/>
                </a:ext>
              </a:extLst>
            </p:cNvPr>
            <p:cNvGrpSpPr/>
            <p:nvPr/>
          </p:nvGrpSpPr>
          <p:grpSpPr>
            <a:xfrm>
              <a:off x="567542" y="2766046"/>
              <a:ext cx="3600000" cy="3600000"/>
              <a:chOff x="593683" y="2766046"/>
              <a:chExt cx="3600000" cy="360000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F797631E-052A-4F57-9831-CD402AADB218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2" name="楕円 1">
                  <a:extLst>
                    <a:ext uri="{FF2B5EF4-FFF2-40B4-BE49-F238E27FC236}">
                      <a16:creationId xmlns:a16="http://schemas.microsoft.com/office/drawing/2014/main" id="{82E67F83-5FC8-451F-9BEB-64D75C6BF49D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" name="直線コネクタ 4">
                  <a:extLst>
                    <a:ext uri="{FF2B5EF4-FFF2-40B4-BE49-F238E27FC236}">
                      <a16:creationId xmlns:a16="http://schemas.microsoft.com/office/drawing/2014/main" id="{CBE96378-0992-4F9E-A7CD-10BCCFE2F004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3630639" y="4207933"/>
                  <a:ext cx="1026000" cy="0"/>
                </a:xfrm>
                <a:prstGeom prst="line">
                  <a:avLst/>
                </a:prstGeom>
                <a:ln w="3810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円弧 7">
                  <a:extLst>
                    <a:ext uri="{FF2B5EF4-FFF2-40B4-BE49-F238E27FC236}">
                      <a16:creationId xmlns:a16="http://schemas.microsoft.com/office/drawing/2014/main" id="{B97CCBA9-B9BF-42E7-B02B-9AAD94CEEBB5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0" name="直線コネクタ 9">
                  <a:extLst>
                    <a:ext uri="{FF2B5EF4-FFF2-40B4-BE49-F238E27FC236}">
                      <a16:creationId xmlns:a16="http://schemas.microsoft.com/office/drawing/2014/main" id="{80D2BF0E-51CE-4469-B4A1-FE58BADEC453}"/>
                    </a:ext>
                  </a:extLst>
                </p:cNvPr>
                <p:cNvCxnSpPr>
                  <a:cxnSpLocks/>
                  <a:stCxn id="2" idx="7"/>
                  <a:endCxn id="8" idx="0"/>
                </p:cNvCxnSpPr>
                <p:nvPr/>
              </p:nvCxnSpPr>
              <p:spPr>
                <a:xfrm flipV="1">
                  <a:off x="3614823" y="3224248"/>
                  <a:ext cx="407645" cy="94550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68848736-96ED-43C0-A7B5-600C0154464E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円弧 13">
                <a:extLst>
                  <a:ext uri="{FF2B5EF4-FFF2-40B4-BE49-F238E27FC236}">
                    <a16:creationId xmlns:a16="http://schemas.microsoft.com/office/drawing/2014/main" id="{C6D26FF2-7E13-4FEA-A154-BD77F5779EB5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/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2821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/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385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/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190" r="-23810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4022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484FC0D-2E5D-43F8-96AC-46313AEAD9D0}"/>
              </a:ext>
            </a:extLst>
          </p:cNvPr>
          <p:cNvSpPr/>
          <p:nvPr/>
        </p:nvSpPr>
        <p:spPr>
          <a:xfrm>
            <a:off x="330200" y="1837267"/>
            <a:ext cx="5038656" cy="256585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変位角の定義です。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■変位角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・・・変位角（ラジアン）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・・・弧の長さ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回転運動は、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この変位角の増加量を基準に、これまでの運動の計算を当てはめていきます。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blipFill>
                <a:blip r:embed="rId2"/>
                <a:stretch>
                  <a:fillRect l="-835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394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9389AEA-5DBB-43A0-B71F-0CF19C552445}"/>
              </a:ext>
            </a:extLst>
          </p:cNvPr>
          <p:cNvSpPr/>
          <p:nvPr/>
        </p:nvSpPr>
        <p:spPr>
          <a:xfrm>
            <a:off x="287868" y="2527074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変位の定義の次は速度です。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回転運動も時間が経つにつれての移動になります。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つまり変位</a:t>
                </a:r>
                <a:r>
                  <a:rPr lang="en-US" altLang="ja-JP" sz="2400" dirty="0"/>
                  <a:t>÷</a:t>
                </a:r>
                <a:r>
                  <a:rPr lang="ja-JP" altLang="en-US" sz="2400" dirty="0"/>
                  <a:t>時間が速度です。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blipFill>
                <a:blip r:embed="rId2"/>
                <a:stretch>
                  <a:fillRect l="-1258" t="-1225" r="-336" b="-260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384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コマを回したところ、</a:t>
                </a:r>
                <a:r>
                  <a:rPr lang="en-US" altLang="ja-JP" sz="2400" dirty="0"/>
                  <a:t>5</a:t>
                </a:r>
                <a:r>
                  <a:rPr lang="ja-JP" altLang="en-US" sz="2400" dirty="0"/>
                  <a:t>秒間で</a:t>
                </a:r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このコマの平均角速度を求めなさい。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1.2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1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sty m:val="p"/>
                      </m:rP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𝒓𝒂𝒅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回転する速度</a:t>
                </a:r>
                <a:r>
                  <a:rPr lang="ja-JP" altLang="en-US" sz="2400" dirty="0"/>
                  <a:t>ということになります。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角度の単位はラジアンなので気を付けましょう。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blipFill>
                <a:blip r:embed="rId2"/>
                <a:stretch>
                  <a:fillRect l="-1047" t="-993" r="-209" b="-19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/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b="1" dirty="0">
                    <a:solidFill>
                      <a:srgbClr val="00B050"/>
                    </a:solidFill>
                  </a:rPr>
                  <a:t>MEMO</a:t>
                </a:r>
              </a:p>
              <a:p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360°</m:t>
                    </m:r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＝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ja-JP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dirty="0"/>
                  <a:t> </a:t>
                </a:r>
              </a:p>
              <a:p>
                <a:r>
                  <a:rPr lang="ja-JP" altLang="en-US" dirty="0"/>
                  <a:t>ゲーム数学「</a:t>
                </a:r>
                <a:r>
                  <a:rPr lang="en-US" altLang="ja-JP" dirty="0"/>
                  <a:t>09_</a:t>
                </a:r>
                <a:r>
                  <a:rPr lang="ja-JP" altLang="en-US" dirty="0"/>
                  <a:t>度とラジアン」より</a:t>
                </a:r>
                <a:endParaRPr lang="en-US" altLang="ja-JP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blipFill>
                <a:blip r:embed="rId3"/>
                <a:stretch>
                  <a:fillRect l="-1212" t="-3289" r="-758" b="-92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900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F212EB8-B5D8-42F9-8B99-A540641523E1}"/>
              </a:ext>
            </a:extLst>
          </p:cNvPr>
          <p:cNvSpPr/>
          <p:nvPr/>
        </p:nvSpPr>
        <p:spPr>
          <a:xfrm>
            <a:off x="321734" y="2543906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速度も時間により変動することがあります。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ルーレットを回すと徐々に回転が遅くなり、やがて止まりますよね。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加速度</a:t>
                </a:r>
                <a:r>
                  <a:rPr lang="ja-JP" altLang="en-US" sz="2400" dirty="0"/>
                  <a:t>の計算もこれまで学習したとおりに計算できます。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■平均角加速度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blipFill>
                <a:blip r:embed="rId2"/>
                <a:stretch>
                  <a:fillRect l="-940" t="-1240" b="-27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8188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ある走行中の車のタイヤは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秒間に</a:t>
                </a:r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回転、回転していました。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その後アクセル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から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足を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離すと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ja-JP" altLang="en-US" sz="2400" dirty="0"/>
                  <a:t>秒後に車は停止しました。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この間のタイヤの平均角加速度を求めなさい。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−12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</a:t>
                </a:r>
                <a:r>
                  <a:rPr lang="en-US" altLang="ja-JP" sz="2400" dirty="0">
                    <a:solidFill>
                      <a:schemeClr val="tx1"/>
                    </a:solidFill>
                  </a:rPr>
                  <a:t>1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ずつ遅くなってるということです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blipFill>
                <a:blip r:embed="rId2"/>
                <a:stretch>
                  <a:fillRect l="-1019" t="-977" b="-19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1272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73A64B9-BFFF-4CEE-98EF-86CF6E70A3DC}"/>
              </a:ext>
            </a:extLst>
          </p:cNvPr>
          <p:cNvSpPr/>
          <p:nvPr/>
        </p:nvSpPr>
        <p:spPr>
          <a:xfrm>
            <a:off x="321734" y="2192867"/>
            <a:ext cx="4470399" cy="452966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このように、回転運動に対しても、これまでの運動の計算が当てはまります。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つまり、以下の５つの式がそのまま使えるということです。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■回転運動を記述する式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式１：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dirty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式２：</a:t>
                </a: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式３：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式４：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式５：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m:rPr>
                        <m:sty m:val="p"/>
                      </m:rPr>
                      <a:rPr lang="en-US" altLang="ja-JP" sz="2400" b="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blipFill>
                <a:blip r:embed="rId2"/>
                <a:stretch>
                  <a:fillRect l="-835" t="-8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978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86341" cy="2377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ルーレットの各加速度は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86341" cy="2377702"/>
              </a:xfrm>
              <a:prstGeom prst="rect">
                <a:avLst/>
              </a:prstGeom>
              <a:blipFill>
                <a:blip r:embed="rId2"/>
                <a:stretch>
                  <a:fillRect l="-832" t="-2051" b="-48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=8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ja-JP" sz="18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n-US" altLang="ja-JP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=??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altLang="ja-JP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ja-JP" altLang="en-US" sz="1800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lang="en-US" altLang="ja-JP" sz="18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2415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ルーレットの各加速度は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式４：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)(3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 smtClean="0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</m:d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blipFill>
                <a:blip r:embed="rId2"/>
                <a:stretch>
                  <a:fillRect l="-832" t="-14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146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で回転させました。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とします。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後の角速度を求めなさい。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dirty="0"/>
                  <a:t>で回転を始めました。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 </m:t>
                    </m:r>
                  </m:oMath>
                </a14:m>
                <a:r>
                  <a:rPr lang="ja-JP" altLang="en-US" sz="2400" dirty="0"/>
                  <a:t>とします。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ルーレットが止まるまでの変位角を求めなさい。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blipFill>
                <a:blip r:embed="rId2"/>
                <a:stretch>
                  <a:fillRect l="-991" t="-1429" r="-132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0884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3084</TotalTime>
  <Words>879</Words>
  <Application>Microsoft Office PowerPoint</Application>
  <PresentationFormat>ワイド画面</PresentationFormat>
  <Paragraphs>130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293</cp:revision>
  <dcterms:created xsi:type="dcterms:W3CDTF">2024-08-27T02:15:54Z</dcterms:created>
  <dcterms:modified xsi:type="dcterms:W3CDTF">2025-11-04T06:01:27Z</dcterms:modified>
</cp:coreProperties>
</file>