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これまでの衝突は、すべて正面衝突を想定した衝突になります。</a:t>
            </a:r>
            <a:endParaRPr lang="en-US" altLang="ja-JP" sz="2400" dirty="0"/>
          </a:p>
          <a:p>
            <a:r>
              <a:rPr lang="ja-JP" altLang="en-US" sz="2400" dirty="0"/>
              <a:t>ですが、完全な正面衝突は現実ではあまり起きません。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ビリヤードの玉を打つ場面をイメージしましょう。</a:t>
            </a:r>
            <a:endParaRPr lang="en-US" altLang="ja-JP" sz="2400" dirty="0"/>
          </a:p>
          <a:p>
            <a:r>
              <a:rPr lang="ja-JP" altLang="en-US" sz="2400" dirty="0"/>
              <a:t>スティックの位置が少しずれると、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スピン</a:t>
            </a:r>
            <a:r>
              <a:rPr lang="ja-JP" altLang="en-US" sz="2400" dirty="0"/>
              <a:t>がかかり、玉の進む方向がずれていきます。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つまり正面衝突でない場合の衝突を計算するには、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回転運動</a:t>
            </a:r>
            <a:r>
              <a:rPr lang="ja-JP" altLang="en-US" sz="2400" dirty="0"/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回転力学</a:t>
            </a:r>
            <a:r>
              <a:rPr lang="ja-JP" altLang="en-US" sz="2400" dirty="0"/>
              <a:t>についての理解が必要になります。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まずは回転運動について学習します。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回転運動は</a:t>
            </a:r>
            <a:r>
              <a:rPr lang="ja-JP" altLang="en-US" sz="2400" b="1" dirty="0">
                <a:solidFill>
                  <a:srgbClr val="0070C0"/>
                </a:solidFill>
              </a:rPr>
              <a:t>ある座標を中心として回転する運動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中心から離れている距離が半径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723BD31-DD8D-4648-B344-93D082E71940}"/>
              </a:ext>
            </a:extLst>
          </p:cNvPr>
          <p:cNvGrpSpPr/>
          <p:nvPr/>
        </p:nvGrpSpPr>
        <p:grpSpPr>
          <a:xfrm>
            <a:off x="567542" y="2766046"/>
            <a:ext cx="3600000" cy="3600000"/>
            <a:chOff x="593683" y="2766046"/>
            <a:chExt cx="3600000" cy="3600000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797631E-052A-4F57-9831-CD402AADB218}"/>
                </a:ext>
              </a:extLst>
            </p:cNvPr>
            <p:cNvGrpSpPr/>
            <p:nvPr/>
          </p:nvGrpSpPr>
          <p:grpSpPr>
            <a:xfrm>
              <a:off x="593683" y="2766046"/>
              <a:ext cx="3600000" cy="3600000"/>
              <a:chOff x="2496639" y="3127933"/>
              <a:chExt cx="2160000" cy="2160000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2E67F83-5FC8-451F-9BEB-64D75C6BF49D}"/>
                  </a:ext>
                </a:extLst>
              </p:cNvPr>
              <p:cNvSpPr/>
              <p:nvPr/>
            </p:nvSpPr>
            <p:spPr>
              <a:xfrm>
                <a:off x="3522639" y="4153933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CBE96378-0992-4F9E-A7CD-10BCCFE2F004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3630639" y="4207933"/>
                <a:ext cx="10260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円弧 7">
                <a:extLst>
                  <a:ext uri="{FF2B5EF4-FFF2-40B4-BE49-F238E27FC236}">
                    <a16:creationId xmlns:a16="http://schemas.microsoft.com/office/drawing/2014/main" id="{B97CCBA9-B9BF-42E7-B02B-9AAD94CEEBB5}"/>
                  </a:ext>
                </a:extLst>
              </p:cNvPr>
              <p:cNvSpPr/>
              <p:nvPr/>
            </p:nvSpPr>
            <p:spPr>
              <a:xfrm>
                <a:off x="2496639" y="3127933"/>
                <a:ext cx="2160000" cy="216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ys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80D2BF0E-51CE-4469-B4A1-FE58BADEC453}"/>
                  </a:ext>
                </a:extLst>
              </p:cNvPr>
              <p:cNvCxnSpPr>
                <a:cxnSpLocks/>
                <a:stCxn id="2" idx="7"/>
                <a:endCxn id="8" idx="0"/>
              </p:cNvCxnSpPr>
              <p:nvPr/>
            </p:nvCxnSpPr>
            <p:spPr>
              <a:xfrm flipV="1">
                <a:off x="3614823" y="3224248"/>
                <a:ext cx="407645" cy="94550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円弧 14">
              <a:extLst>
                <a:ext uri="{FF2B5EF4-FFF2-40B4-BE49-F238E27FC236}">
                  <a16:creationId xmlns:a16="http://schemas.microsoft.com/office/drawing/2014/main" id="{68848736-96ED-43C0-A7B5-600C0154464E}"/>
                </a:ext>
              </a:extLst>
            </p:cNvPr>
            <p:cNvSpPr/>
            <p:nvPr/>
          </p:nvSpPr>
          <p:spPr>
            <a:xfrm>
              <a:off x="593683" y="2766046"/>
              <a:ext cx="3600000" cy="3600000"/>
            </a:xfrm>
            <a:prstGeom prst="arc">
              <a:avLst>
                <a:gd name="adj1" fmla="val 24790"/>
                <a:gd name="adj2" fmla="val 0"/>
              </a:avLst>
            </a:prstGeom>
            <a:ln w="1270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弧 13">
              <a:extLst>
                <a:ext uri="{FF2B5EF4-FFF2-40B4-BE49-F238E27FC236}">
                  <a16:creationId xmlns:a16="http://schemas.microsoft.com/office/drawing/2014/main" id="{C6D26FF2-7E13-4FEA-A154-BD77F5779EB5}"/>
                </a:ext>
              </a:extLst>
            </p:cNvPr>
            <p:cNvSpPr/>
            <p:nvPr/>
          </p:nvSpPr>
          <p:spPr>
            <a:xfrm>
              <a:off x="593683" y="2766046"/>
              <a:ext cx="3600000" cy="3600000"/>
            </a:xfrm>
            <a:prstGeom prst="arc">
              <a:avLst>
                <a:gd name="adj1" fmla="val 17662870"/>
                <a:gd name="adj2" fmla="val 0"/>
              </a:avLst>
            </a:prstGeom>
            <a:ln w="38100">
              <a:prstDash val="solid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707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この２つの長さから</a:t>
            </a:r>
            <a:r>
              <a:rPr lang="ja-JP" altLang="en-US" sz="2400" b="1" dirty="0">
                <a:solidFill>
                  <a:srgbClr val="00B050"/>
                </a:solidFill>
              </a:rPr>
              <a:t>内側の角度</a:t>
            </a:r>
            <a:r>
              <a:rPr lang="ja-JP" altLang="en-US" sz="2400" dirty="0"/>
              <a:t>を計算することができます。</a:t>
            </a:r>
            <a:endParaRPr lang="en-US" altLang="ja-JP" sz="2400" dirty="0"/>
          </a:p>
          <a:p>
            <a:r>
              <a:rPr lang="ja-JP" altLang="en-US" sz="2400" dirty="0"/>
              <a:t>この角度のことを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変位角</a:t>
            </a:r>
            <a:r>
              <a:rPr lang="ja-JP" altLang="en-US" sz="2400" dirty="0"/>
              <a:t>といいます。</a:t>
            </a:r>
            <a:endParaRPr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1C9D7A6-6860-4345-9C29-1300749DB343}"/>
              </a:ext>
            </a:extLst>
          </p:cNvPr>
          <p:cNvGrpSpPr/>
          <p:nvPr/>
        </p:nvGrpSpPr>
        <p:grpSpPr>
          <a:xfrm>
            <a:off x="567542" y="2766046"/>
            <a:ext cx="3659247" cy="3600000"/>
            <a:chOff x="567542" y="2766046"/>
            <a:chExt cx="3659247" cy="3600000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F723BD31-DD8D-4648-B344-93D082E71940}"/>
                </a:ext>
              </a:extLst>
            </p:cNvPr>
            <p:cNvGrpSpPr/>
            <p:nvPr/>
          </p:nvGrpSpPr>
          <p:grpSpPr>
            <a:xfrm>
              <a:off x="567542" y="2766046"/>
              <a:ext cx="3600000" cy="3600000"/>
              <a:chOff x="593683" y="2766046"/>
              <a:chExt cx="3600000" cy="360000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F797631E-052A-4F57-9831-CD402AADB218}"/>
                  </a:ext>
                </a:extLst>
              </p:cNvPr>
              <p:cNvGrpSpPr/>
              <p:nvPr/>
            </p:nvGrpSpPr>
            <p:grpSpPr>
              <a:xfrm>
                <a:off x="593683" y="2766046"/>
                <a:ext cx="3600000" cy="3600000"/>
                <a:chOff x="2496639" y="3127933"/>
                <a:chExt cx="2160000" cy="2160000"/>
              </a:xfrm>
            </p:grpSpPr>
            <p:sp>
              <p:nvSpPr>
                <p:cNvPr id="2" name="楕円 1">
                  <a:extLst>
                    <a:ext uri="{FF2B5EF4-FFF2-40B4-BE49-F238E27FC236}">
                      <a16:creationId xmlns:a16="http://schemas.microsoft.com/office/drawing/2014/main" id="{82E67F83-5FC8-451F-9BEB-64D75C6BF49D}"/>
                    </a:ext>
                  </a:extLst>
                </p:cNvPr>
                <p:cNvSpPr/>
                <p:nvPr/>
              </p:nvSpPr>
              <p:spPr>
                <a:xfrm>
                  <a:off x="3522639" y="4153933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" name="直線コネクタ 4">
                  <a:extLst>
                    <a:ext uri="{FF2B5EF4-FFF2-40B4-BE49-F238E27FC236}">
                      <a16:creationId xmlns:a16="http://schemas.microsoft.com/office/drawing/2014/main" id="{CBE96378-0992-4F9E-A7CD-10BCCFE2F004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3630639" y="4207933"/>
                  <a:ext cx="10260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円弧 7">
                  <a:extLst>
                    <a:ext uri="{FF2B5EF4-FFF2-40B4-BE49-F238E27FC236}">
                      <a16:creationId xmlns:a16="http://schemas.microsoft.com/office/drawing/2014/main" id="{B97CCBA9-B9BF-42E7-B02B-9AAD94CEEBB5}"/>
                    </a:ext>
                  </a:extLst>
                </p:cNvPr>
                <p:cNvSpPr/>
                <p:nvPr/>
              </p:nvSpPr>
              <p:spPr>
                <a:xfrm>
                  <a:off x="2496639" y="3127933"/>
                  <a:ext cx="2160000" cy="2160000"/>
                </a:xfrm>
                <a:prstGeom prst="arc">
                  <a:avLst>
                    <a:gd name="adj1" fmla="val 17662870"/>
                    <a:gd name="adj2" fmla="val 0"/>
                  </a:avLst>
                </a:prstGeom>
                <a:ln w="38100">
                  <a:prstDash val="sysDash"/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0" name="直線コネクタ 9">
                  <a:extLst>
                    <a:ext uri="{FF2B5EF4-FFF2-40B4-BE49-F238E27FC236}">
                      <a16:creationId xmlns:a16="http://schemas.microsoft.com/office/drawing/2014/main" id="{80D2BF0E-51CE-4469-B4A1-FE58BADEC453}"/>
                    </a:ext>
                  </a:extLst>
                </p:cNvPr>
                <p:cNvCxnSpPr>
                  <a:cxnSpLocks/>
                  <a:stCxn id="2" idx="7"/>
                  <a:endCxn id="8" idx="0"/>
                </p:cNvCxnSpPr>
                <p:nvPr/>
              </p:nvCxnSpPr>
              <p:spPr>
                <a:xfrm flipV="1">
                  <a:off x="3614823" y="3224248"/>
                  <a:ext cx="407645" cy="94550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円弧 14">
                <a:extLst>
                  <a:ext uri="{FF2B5EF4-FFF2-40B4-BE49-F238E27FC236}">
                    <a16:creationId xmlns:a16="http://schemas.microsoft.com/office/drawing/2014/main" id="{68848736-96ED-43C0-A7B5-600C0154464E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弧 13">
                <a:extLst>
                  <a:ext uri="{FF2B5EF4-FFF2-40B4-BE49-F238E27FC236}">
                    <a16:creationId xmlns:a16="http://schemas.microsoft.com/office/drawing/2014/main" id="{C6D26FF2-7E13-4FEA-A154-BD77F5779EB5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0260B612-FAED-45C2-A657-CD5FB32AADAF}"/>
                    </a:ext>
                  </a:extLst>
                </p:cNvPr>
                <p:cNvSpPr txBox="1"/>
                <p:nvPr/>
              </p:nvSpPr>
              <p:spPr>
                <a:xfrm>
                  <a:off x="3989673" y="3250548"/>
                  <a:ext cx="23711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0260B612-FAED-45C2-A657-CD5FB32AA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9673" y="3250548"/>
                  <a:ext cx="23711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2821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6FB6A180-5FD5-45CE-B03F-1918CB0536AC}"/>
                    </a:ext>
                  </a:extLst>
                </p:cNvPr>
                <p:cNvSpPr txBox="1"/>
                <p:nvPr/>
              </p:nvSpPr>
              <p:spPr>
                <a:xfrm>
                  <a:off x="3132749" y="4629687"/>
                  <a:ext cx="2407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6FB6A180-5FD5-45CE-B03F-1918CB053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749" y="4629687"/>
                  <a:ext cx="24077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3A42E06F-B3A7-427E-B012-9FDE3674ADEA}"/>
                    </a:ext>
                  </a:extLst>
                </p:cNvPr>
                <p:cNvSpPr txBox="1"/>
                <p:nvPr/>
              </p:nvSpPr>
              <p:spPr>
                <a:xfrm>
                  <a:off x="2601298" y="4160987"/>
                  <a:ext cx="2564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3A42E06F-B3A7-427E-B012-9FDE3674A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1298" y="4160987"/>
                  <a:ext cx="25648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190" r="-23810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402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484FC0D-2E5D-43F8-96AC-46313AEAD9D0}"/>
              </a:ext>
            </a:extLst>
          </p:cNvPr>
          <p:cNvSpPr/>
          <p:nvPr/>
        </p:nvSpPr>
        <p:spPr>
          <a:xfrm>
            <a:off x="330200" y="1837267"/>
            <a:ext cx="5038656" cy="256585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変位角の定義です。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■変位角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・・・変位角（ラジアン）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・・・弧の長さ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・・・半径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回転運動は、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この変位角の増加量を基準に、これまでの運動の計算を当てはめていきます。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blipFill>
                <a:blip r:embed="rId2"/>
                <a:stretch>
                  <a:fillRect l="-835" t="-1175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39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9389AEA-5DBB-43A0-B71F-0CF19C552445}"/>
              </a:ext>
            </a:extLst>
          </p:cNvPr>
          <p:cNvSpPr/>
          <p:nvPr/>
        </p:nvSpPr>
        <p:spPr>
          <a:xfrm>
            <a:off x="321734" y="2146074"/>
            <a:ext cx="4470399" cy="274765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995552" cy="3613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変位の定義の次は速度です。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回転運動による移動にも時間が伴います。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■平均角速度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・・・平均角速度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・・・変位角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995552" cy="3613040"/>
              </a:xfrm>
              <a:prstGeom prst="rect">
                <a:avLst/>
              </a:prstGeom>
              <a:blipFill>
                <a:blip r:embed="rId2"/>
                <a:stretch>
                  <a:fillRect l="-1524" t="-1351" r="-1220" b="-30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84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30275" cy="4918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コマを回したところ、</a:t>
                </a:r>
                <a:r>
                  <a:rPr lang="en-US" altLang="ja-JP" sz="2400" dirty="0"/>
                  <a:t>5</a:t>
                </a:r>
                <a:r>
                  <a:rPr lang="ja-JP" altLang="en-US" sz="2400" dirty="0"/>
                  <a:t>秒間で</a:t>
                </a:r>
                <a:r>
                  <a:rPr lang="en-US" altLang="ja-JP" sz="2400" dirty="0"/>
                  <a:t>3</a:t>
                </a:r>
                <a:r>
                  <a:rPr lang="ja-JP" altLang="en-US" sz="2400" dirty="0"/>
                  <a:t>回転した。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このコマの平均角速度を求めなさい。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回転はラジアン角で、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1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秒間に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𝒓𝒂𝒅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回転する速度</a:t>
                </a:r>
                <a:r>
                  <a:rPr lang="ja-JP" altLang="en-US" sz="2400" dirty="0"/>
                  <a:t>ということになります。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角度の単位はラジアンなので気を付けましょう。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30275" cy="4918013"/>
              </a:xfrm>
              <a:prstGeom prst="rect">
                <a:avLst/>
              </a:prstGeom>
              <a:blipFill>
                <a:blip r:embed="rId2"/>
                <a:stretch>
                  <a:fillRect l="-1047" t="-993" r="-209" b="-1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48F406-36BD-499B-8711-71C3176A2881}"/>
                  </a:ext>
                </a:extLst>
              </p:cNvPr>
              <p:cNvSpPr txBox="1"/>
              <p:nvPr/>
            </p:nvSpPr>
            <p:spPr>
              <a:xfrm>
                <a:off x="6731275" y="2684371"/>
                <a:ext cx="40190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360°</m:t>
                    </m:r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＝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r>
                  <a:rPr lang="ja-JP" altLang="en-US" dirty="0"/>
                  <a:t>ゲーム数学「</a:t>
                </a:r>
                <a:r>
                  <a:rPr lang="en-US" altLang="ja-JP" dirty="0"/>
                  <a:t>09_</a:t>
                </a:r>
                <a:r>
                  <a:rPr lang="ja-JP" altLang="en-US" dirty="0"/>
                  <a:t>度とラジアン」より</a:t>
                </a:r>
                <a:endParaRPr lang="en-US" altLang="ja-JP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48F406-36BD-499B-8711-71C3176A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275" y="2684371"/>
                <a:ext cx="4019049" cy="923330"/>
              </a:xfrm>
              <a:prstGeom prst="rect">
                <a:avLst/>
              </a:prstGeom>
              <a:blipFill>
                <a:blip r:embed="rId3"/>
                <a:stretch>
                  <a:fillRect l="-1212" t="-3289" r="-758"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00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F212EB8-B5D8-42F9-8B99-A540641523E1}"/>
              </a:ext>
            </a:extLst>
          </p:cNvPr>
          <p:cNvSpPr/>
          <p:nvPr/>
        </p:nvSpPr>
        <p:spPr>
          <a:xfrm>
            <a:off x="321734" y="2543906"/>
            <a:ext cx="4470399" cy="274765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3935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速度も時間により変動することがあります。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徐々に回転が速くなったり、遅くなったりすることは日常でもありますね。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加速度</a:t>
                </a:r>
                <a:r>
                  <a:rPr lang="ja-JP" altLang="en-US" sz="2400" dirty="0"/>
                  <a:t>の計算もこれまで学習したとおりに計算できます。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■平均角加速度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⊿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・・・平均角加速度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・・・角速度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3935436"/>
              </a:xfrm>
              <a:prstGeom prst="rect">
                <a:avLst/>
              </a:prstGeom>
              <a:blipFill>
                <a:blip r:embed="rId2"/>
                <a:stretch>
                  <a:fillRect l="-859" t="-1240" b="-27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18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72328" cy="4998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ある走行中の車のタイヤは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秒間に</a:t>
                </a:r>
                <a:r>
                  <a:rPr lang="en-US" altLang="ja-JP" sz="2400" dirty="0"/>
                  <a:t>6</a:t>
                </a:r>
                <a:r>
                  <a:rPr lang="ja-JP" altLang="en-US" sz="2400" dirty="0"/>
                  <a:t>回転、回転していました。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その後アクセル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から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足を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離すと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ja-JP" altLang="en-US" sz="2400" dirty="0"/>
                  <a:t>秒後に車は停止しました。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この間のタイヤの平均角加速度を求めなさい。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6</a:t>
                </a:r>
                <a:r>
                  <a:rPr lang="ja-JP" altLang="en-US" sz="2400" dirty="0"/>
                  <a:t>回転はラジアン角で、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つまり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1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秒間に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altLang="ja-JP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ずつ遅くなってるということです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72328" cy="4998163"/>
              </a:xfrm>
              <a:prstGeom prst="rect">
                <a:avLst/>
              </a:prstGeom>
              <a:blipFill>
                <a:blip r:embed="rId2"/>
                <a:stretch>
                  <a:fillRect l="-1019" t="-977" b="-19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27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73A64B9-BFFF-4CEE-98EF-86CF6E70A3DC}"/>
              </a:ext>
            </a:extLst>
          </p:cNvPr>
          <p:cNvSpPr/>
          <p:nvPr/>
        </p:nvSpPr>
        <p:spPr>
          <a:xfrm>
            <a:off x="321734" y="2192867"/>
            <a:ext cx="4470399" cy="452966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5733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このように、回転運動に対しても、これまでの運動の計算が当てはまります。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つまり、以下の５つの式がそのまま使えるということです。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■回転運動を記述する式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式１：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式２：</a:t>
                </a: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b="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式３：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式４：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式５：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400" b="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US" altLang="ja-JP" sz="2400" b="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5733429"/>
              </a:xfrm>
              <a:prstGeom prst="rect">
                <a:avLst/>
              </a:prstGeom>
              <a:blipFill>
                <a:blip r:embed="rId2"/>
                <a:stretch>
                  <a:fillRect l="-835" t="-8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97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86341" cy="2377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ゲーム中にあるルーレットを回転させました。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ルーレットの各加速度は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b="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sz="2400" dirty="0"/>
                  <a:t>徐々に減速するように設定しています。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ルーレットの初期速度を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で回転させたとき、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秒でどれだけ回転するか変位角を求めなさい。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86341" cy="2377702"/>
              </a:xfrm>
              <a:prstGeom prst="rect">
                <a:avLst/>
              </a:prstGeom>
              <a:blipFill>
                <a:blip r:embed="rId2"/>
                <a:stretch>
                  <a:fillRect l="-832" t="-2051" b="-48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79A3C0AE-2B32-4E53-9474-37BF267B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3409889"/>
                  </p:ext>
                </p:extLst>
              </p:nvPr>
            </p:nvGraphicFramePr>
            <p:xfrm>
              <a:off x="697383" y="359413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336824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53807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304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ja-JP" sz="1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altLang="ja-JP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=??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6193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263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  <m:r>
                                <a:rPr lang="en-US" altLang="ja-JP" sz="180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ja-JP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sz="1800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lang="en-US" altLang="ja-JP" sz="1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ja-JP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8638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79A3C0AE-2B32-4E53-9474-37BF267B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3409889"/>
                  </p:ext>
                </p:extLst>
              </p:nvPr>
            </p:nvGraphicFramePr>
            <p:xfrm>
              <a:off x="697383" y="3594131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3368241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9653807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7304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8197" r="-1006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6193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8197" r="-1006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8263839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72464" r="-100600" b="-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8638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241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86341" cy="3420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ゲーム中にあるルーレットを回転させました。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ルーレットの各加速度は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b="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sz="2400" dirty="0"/>
                  <a:t>徐々に減速するように設定しています。</a:t>
                </a:r>
                <a:endParaRPr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ルーレットの初期速度を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で回転させたとき、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en-US" altLang="ja-JP" sz="2400" dirty="0"/>
                  <a:t>3</a:t>
                </a:r>
                <a:r>
                  <a:rPr lang="ja-JP" altLang="en-US" sz="2400" dirty="0"/>
                  <a:t>秒でどれだけ回転するか変位角を求めなさい。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式４：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)(3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smtClean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</m:d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86341" cy="3420808"/>
              </a:xfrm>
              <a:prstGeom prst="rect">
                <a:avLst/>
              </a:prstGeom>
              <a:blipFill>
                <a:blip r:embed="rId2"/>
                <a:stretch>
                  <a:fillRect l="-832" t="-14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14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回転運動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2791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ルーレットを初期角速度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で回転させました。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角加速度は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とします。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後の角速度を求めなさい。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ルーレットが初期角速度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で回転を始めました。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角加速度は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² </m:t>
                    </m:r>
                  </m:oMath>
                </a14:m>
                <a:r>
                  <a:rPr lang="ja-JP" altLang="en-US" sz="2400" dirty="0"/>
                  <a:t>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ルーレットが止まるまでの変位角を求めなさい。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27911" cy="3416320"/>
              </a:xfrm>
              <a:prstGeom prst="rect">
                <a:avLst/>
              </a:prstGeom>
              <a:blipFill>
                <a:blip r:embed="rId2"/>
                <a:stretch>
                  <a:fillRect l="-991" t="-1429" r="-132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88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3080</TotalTime>
  <Words>870</Words>
  <Application>Microsoft Office PowerPoint</Application>
  <PresentationFormat>ワイド画面</PresentationFormat>
  <Paragraphs>129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291</cp:revision>
  <dcterms:created xsi:type="dcterms:W3CDTF">2024-08-27T02:15:54Z</dcterms:created>
  <dcterms:modified xsi:type="dcterms:W3CDTF">2025-11-04T02:57:16Z</dcterms:modified>
</cp:coreProperties>
</file>