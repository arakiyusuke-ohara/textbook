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2" r:id="rId4"/>
    <p:sldId id="264" r:id="rId5"/>
    <p:sldId id="265" r:id="rId6"/>
    <p:sldId id="266" r:id="rId7"/>
    <p:sldId id="267" r:id="rId8"/>
    <p:sldId id="268" r:id="rId9"/>
    <p:sldId id="269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4A7C8FE-5921-430A-A87C-B219D129111E}"/>
              </a:ext>
            </a:extLst>
          </p:cNvPr>
          <p:cNvSpPr/>
          <p:nvPr/>
        </p:nvSpPr>
        <p:spPr>
          <a:xfrm>
            <a:off x="349624" y="2232212"/>
            <a:ext cx="9260778" cy="142538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4286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物体が回転するには、回転させる力が必要です。</a:t>
            </a:r>
            <a:endParaRPr lang="en-US" altLang="ja-JP" sz="2400" dirty="0"/>
          </a:p>
          <a:p>
            <a:r>
              <a:rPr lang="ja-JP" altLang="en-US" sz="2400" dirty="0"/>
              <a:t>まずは、力による回転に必要な２つの言葉を覚えましょう。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■回転力学用語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回転モーメント・・・物体を回転させる力</a:t>
            </a:r>
            <a:r>
              <a:rPr lang="en-US" altLang="ja-JP" sz="2400" dirty="0"/>
              <a:t>	</a:t>
            </a:r>
            <a:r>
              <a:rPr lang="ja-JP" altLang="en-US" sz="2400" dirty="0"/>
              <a:t>（単位：</a:t>
            </a:r>
            <a:r>
              <a:rPr lang="en-US" altLang="ja-JP" sz="2400" dirty="0"/>
              <a:t>N*m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慣性モーメント・・・回転を止めようとする力（単位：</a:t>
            </a:r>
            <a:r>
              <a:rPr lang="en-US" altLang="ja-JP" sz="2400" dirty="0"/>
              <a:t>kg*m</a:t>
            </a:r>
            <a:r>
              <a:rPr lang="en-US" altLang="ja-JP" sz="2400" baseline="30000" dirty="0"/>
              <a:t>2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停止した物体は回転モーメントにより回転し始め、</a:t>
            </a:r>
            <a:endParaRPr lang="en-US" altLang="ja-JP" sz="2400" dirty="0"/>
          </a:p>
          <a:p>
            <a:r>
              <a:rPr lang="ja-JP" altLang="en-US" sz="2400" dirty="0"/>
              <a:t>回転中は慣性モーメントにより、徐々に止まろうとします。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4A7C8FE-5921-430A-A87C-B219D129111E}"/>
              </a:ext>
            </a:extLst>
          </p:cNvPr>
          <p:cNvSpPr/>
          <p:nvPr/>
        </p:nvSpPr>
        <p:spPr>
          <a:xfrm>
            <a:off x="403412" y="1828800"/>
            <a:ext cx="7135906" cy="29464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先に慣性モーメントの定義です。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■慣性モーメント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・・・慣性モーメント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・・・慣性半径係数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・・・質量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・質量が大きな物体ほど回転を止める力が大きくなります。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・回転の半径が大きいほど回転を止める力が大きくなります。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・慣性半径係数は回転する物体によってそれぞれ変わります。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4893647"/>
              </a:xfrm>
              <a:prstGeom prst="rect">
                <a:avLst/>
              </a:prstGeom>
              <a:blipFill>
                <a:blip r:embed="rId2"/>
                <a:stretch>
                  <a:fillRect l="-1039" t="-998" r="-139" b="-1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2325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34A7C8FE-5921-430A-A87C-B219D129111E}"/>
              </a:ext>
            </a:extLst>
          </p:cNvPr>
          <p:cNvSpPr/>
          <p:nvPr/>
        </p:nvSpPr>
        <p:spPr>
          <a:xfrm>
            <a:off x="403412" y="1828800"/>
            <a:ext cx="7135906" cy="257431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回転モーメントの定義です。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■回転モーメント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タウ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・・・回転モーメント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altLang="ja-JP" sz="2400" dirty="0"/>
                  <a:t>		</a:t>
                </a:r>
                <a:r>
                  <a:rPr lang="ja-JP" altLang="en-US" sz="2400" dirty="0"/>
                  <a:t>・・・慣性モーメント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		</a:t>
                </a:r>
                <a:r>
                  <a:rPr lang="ja-JP" altLang="en-US" sz="2400" dirty="0"/>
                  <a:t>・・・角加速度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・慣性モーメントが大きな物体を回転させるには大きな回転モーメントが必要</a:t>
                </a:r>
                <a:endParaRPr lang="en-US" altLang="ja-JP" sz="2400" dirty="0"/>
              </a:p>
              <a:p>
                <a:r>
                  <a:rPr lang="ja-JP" altLang="en-US" sz="2400" dirty="0"/>
                  <a:t>・角加速度を大きく回転させるには大きな回転モーメントが必要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56846" cy="4154984"/>
              </a:xfrm>
              <a:prstGeom prst="rect">
                <a:avLst/>
              </a:prstGeom>
              <a:blipFill>
                <a:blip r:embed="rId2"/>
                <a:stretch>
                  <a:fillRect l="-835" t="-1175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020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53026" cy="35716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停車した車に、別の車が衝突しました。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正面衝突ではないため、衝突時に</a:t>
                </a:r>
                <a:r>
                  <a:rPr lang="en-US" altLang="ja-JP" sz="2400" dirty="0"/>
                  <a:t>5000N*m</a:t>
                </a:r>
                <a:r>
                  <a:rPr lang="ja-JP" altLang="en-US" sz="2400" dirty="0"/>
                  <a:t>の回転モーメントが発生しました。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衝突された方の車の慣性モーメントが</a:t>
                </a:r>
                <a:r>
                  <a:rPr lang="en-US" altLang="ja-JP" sz="2400" dirty="0"/>
                  <a:t>10800kgm</a:t>
                </a:r>
                <a:r>
                  <a:rPr lang="en-US" altLang="ja-JP" sz="2400" baseline="30000" dirty="0"/>
                  <a:t>2</a:t>
                </a:r>
                <a:r>
                  <a:rPr lang="ja-JP" altLang="en-US" sz="2400" dirty="0"/>
                  <a:t>のとき、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回転時の角加速度を求めなさい。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5000=10800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5000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10800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0.463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  <m:r>
                      <a:rPr lang="ja-JP" altLang="en-US" sz="2400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53026" cy="3571619"/>
              </a:xfrm>
              <a:prstGeom prst="rect">
                <a:avLst/>
              </a:prstGeom>
              <a:blipFill>
                <a:blip r:embed="rId2"/>
                <a:stretch>
                  <a:fillRect l="-827" t="-136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D01EC9F-A458-41D2-BDD1-9ECEB76388E7}"/>
              </a:ext>
            </a:extLst>
          </p:cNvPr>
          <p:cNvGrpSpPr/>
          <p:nvPr/>
        </p:nvGrpSpPr>
        <p:grpSpPr>
          <a:xfrm>
            <a:off x="8830235" y="3429000"/>
            <a:ext cx="2139891" cy="2697612"/>
            <a:chOff x="9215718" y="3688976"/>
            <a:chExt cx="1628902" cy="2477977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89AA6FC3-4890-442C-8915-0317D616928E}"/>
                </a:ext>
              </a:extLst>
            </p:cNvPr>
            <p:cNvGrpSpPr/>
            <p:nvPr/>
          </p:nvGrpSpPr>
          <p:grpSpPr>
            <a:xfrm>
              <a:off x="9215718" y="3688976"/>
              <a:ext cx="1441602" cy="2477977"/>
              <a:chOff x="7879976" y="4101352"/>
              <a:chExt cx="1441602" cy="2477977"/>
            </a:xfrm>
          </p:grpSpPr>
          <p:sp>
            <p:nvSpPr>
              <p:cNvPr id="2" name="正方形/長方形 1">
                <a:extLst>
                  <a:ext uri="{FF2B5EF4-FFF2-40B4-BE49-F238E27FC236}">
                    <a16:creationId xmlns:a16="http://schemas.microsoft.com/office/drawing/2014/main" id="{C9D89A4C-CA4E-41B8-B63E-44A397DFE31E}"/>
                  </a:ext>
                </a:extLst>
              </p:cNvPr>
              <p:cNvSpPr/>
              <p:nvPr/>
            </p:nvSpPr>
            <p:spPr>
              <a:xfrm>
                <a:off x="7879976" y="4527176"/>
                <a:ext cx="1425389" cy="573742"/>
              </a:xfrm>
              <a:prstGeom prst="rect">
                <a:avLst/>
              </a:prstGeom>
              <a:noFill/>
              <a:ln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4C26FD56-F101-44BD-97EB-B837A1577F98}"/>
                  </a:ext>
                </a:extLst>
              </p:cNvPr>
              <p:cNvSpPr/>
              <p:nvPr/>
            </p:nvSpPr>
            <p:spPr>
              <a:xfrm rot="17795513">
                <a:off x="8220633" y="5579764"/>
                <a:ext cx="1425389" cy="573742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円弧 7">
                <a:extLst>
                  <a:ext uri="{FF2B5EF4-FFF2-40B4-BE49-F238E27FC236}">
                    <a16:creationId xmlns:a16="http://schemas.microsoft.com/office/drawing/2014/main" id="{BED2E5F6-0181-4981-A2F8-4596B27F1661}"/>
                  </a:ext>
                </a:extLst>
              </p:cNvPr>
              <p:cNvSpPr/>
              <p:nvPr/>
            </p:nvSpPr>
            <p:spPr>
              <a:xfrm>
                <a:off x="8487860" y="4329952"/>
                <a:ext cx="833718" cy="1114395"/>
              </a:xfrm>
              <a:prstGeom prst="arc">
                <a:avLst>
                  <a:gd name="adj1" fmla="val 16907680"/>
                  <a:gd name="adj2" fmla="val 2802899"/>
                </a:avLst>
              </a:prstGeom>
              <a:ln w="3810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38E35925-7597-4A09-A13D-74B757BD37B1}"/>
                  </a:ext>
                </a:extLst>
              </p:cNvPr>
              <p:cNvSpPr/>
              <p:nvPr/>
            </p:nvSpPr>
            <p:spPr>
              <a:xfrm rot="17202587">
                <a:off x="7879975" y="4527176"/>
                <a:ext cx="1425389" cy="573742"/>
              </a:xfrm>
              <a:prstGeom prst="rect">
                <a:avLst/>
              </a:prstGeom>
              <a:ln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" name="爆発: 8 pt 12">
              <a:extLst>
                <a:ext uri="{FF2B5EF4-FFF2-40B4-BE49-F238E27FC236}">
                  <a16:creationId xmlns:a16="http://schemas.microsoft.com/office/drawing/2014/main" id="{20D8C2BC-C4F5-4227-A9F1-7FA6CC8FF332}"/>
                </a:ext>
              </a:extLst>
            </p:cNvPr>
            <p:cNvSpPr/>
            <p:nvPr/>
          </p:nvSpPr>
          <p:spPr>
            <a:xfrm>
              <a:off x="10306738" y="4361330"/>
              <a:ext cx="537882" cy="654424"/>
            </a:xfrm>
            <a:prstGeom prst="irregularSeal1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74591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9A5B19D-F6B9-40C9-9D8C-CB81B143CBA0}"/>
              </a:ext>
            </a:extLst>
          </p:cNvPr>
          <p:cNvSpPr/>
          <p:nvPr/>
        </p:nvSpPr>
        <p:spPr>
          <a:xfrm>
            <a:off x="287867" y="2184400"/>
            <a:ext cx="7052733" cy="25992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6765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回転モーメントは回転させる力です。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力が発生するところには必ず運動エネルギーがあります。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■回転運動における運動エネルギー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𝐾𝐸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・・・回転運動における運動エネルギー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・・・慣性モーメント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ja-JP" sz="2400" i="1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・・・角速度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以前学習した運動エネルギーの定義も復習しましょう。</a:t>
                </a:r>
                <a:endParaRPr lang="en-US" altLang="ja-JP" sz="2400" dirty="0"/>
              </a:p>
              <a:p>
                <a:r>
                  <a:rPr lang="ja-JP" altLang="en-US" sz="2400" dirty="0"/>
                  <a:t>慣性モーメントは実質的に質量だということが分かります。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676537"/>
              </a:xfrm>
              <a:prstGeom prst="rect">
                <a:avLst/>
              </a:prstGeom>
              <a:blipFill>
                <a:blip r:embed="rId2"/>
                <a:stretch>
                  <a:fillRect l="-1076" t="-1043" r="-143" b="-20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50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A594F16-8225-4654-A2E1-EEAC0CA672E0}"/>
              </a:ext>
            </a:extLst>
          </p:cNvPr>
          <p:cNvSpPr/>
          <p:nvPr/>
        </p:nvSpPr>
        <p:spPr>
          <a:xfrm>
            <a:off x="287867" y="2184400"/>
            <a:ext cx="7052733" cy="25992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264622" cy="34459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また、エネルギーには保存の法則があります。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これは、これまでのエネルギー保存則に回転エネルギーが加わっても同じです。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■回転を含む力学的エネルギー保存の法則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𝑇𝑖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𝑇𝑓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・・・位置エネルギー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・・・直線運動エネルギー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・・・回転運動エネルギー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264622" cy="3445943"/>
              </a:xfrm>
              <a:prstGeom prst="rect">
                <a:avLst/>
              </a:prstGeom>
              <a:blipFill>
                <a:blip r:embed="rId2"/>
                <a:stretch>
                  <a:fillRect l="-812" t="-1416" b="-31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9528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09424" cy="51939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10m</a:t>
                </a:r>
                <a:r>
                  <a:rPr lang="ja-JP" altLang="en-US" sz="2400" dirty="0"/>
                  <a:t>の高さの丘の上からボールを転がした。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ボールの質量が</a:t>
                </a:r>
                <a:r>
                  <a:rPr lang="en-US" altLang="ja-JP" sz="2400" dirty="0"/>
                  <a:t>0.5kg</a:t>
                </a:r>
                <a:r>
                  <a:rPr lang="ja-JP" altLang="en-US" sz="2400" dirty="0"/>
                  <a:t>、慣性モーメントが</a:t>
                </a:r>
                <a:r>
                  <a:rPr lang="en-US" altLang="ja-JP" sz="2400" dirty="0"/>
                  <a:t>(2/5)mr</a:t>
                </a:r>
                <a:r>
                  <a:rPr lang="en-US" altLang="ja-JP" sz="2400" baseline="30000" dirty="0"/>
                  <a:t>2</a:t>
                </a:r>
                <a:r>
                  <a:rPr lang="ja-JP" altLang="en-US" sz="2400" dirty="0"/>
                  <a:t>のとき、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0m</a:t>
                </a:r>
                <a:r>
                  <a:rPr lang="ja-JP" altLang="en-US" sz="2400" dirty="0"/>
                  <a:t>地点のボールの速度を求めなさい。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𝑇𝑖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𝑅𝑖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𝑃𝐸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𝑇𝑓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𝐾𝐸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𝑅𝑓</m:t>
                        </m:r>
                      </m:sub>
                    </m:sSub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𝑚𝑔𝑦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𝑚𝑣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baseline="30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b="0" i="1" baseline="30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𝑚𝑔𝑦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𝑚𝑣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sz="2000" dirty="0"/>
                  <a:t>変位、質量、重力加速度を代入すると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(0.5)(−9.8)(10)+(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)(0.5)(0)</m:t>
                    </m:r>
                    <m:r>
                      <a:rPr lang="en-US" altLang="ja-JP" sz="2400" b="0" i="1" baseline="30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(0)2=(0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.5)(−9.8)(0)+(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)(0.5)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𝐼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000" dirty="0"/>
                  <a:t>慣性モーメントを代入すると</a:t>
                </a:r>
                <a:endParaRPr lang="en-US" altLang="ja-JP" sz="20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.1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次ページへ続く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09424" cy="5193986"/>
              </a:xfrm>
              <a:prstGeom prst="rect">
                <a:avLst/>
              </a:prstGeom>
              <a:blipFill>
                <a:blip r:embed="rId2"/>
                <a:stretch>
                  <a:fillRect l="-831" t="-939" b="-17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3258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372805" cy="56671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10m</a:t>
                </a:r>
                <a:r>
                  <a:rPr lang="ja-JP" altLang="en-US" sz="2400" dirty="0"/>
                  <a:t>の高さの丘の上からボールを転がした。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ボールの質量が</a:t>
                </a:r>
                <a:r>
                  <a:rPr lang="en-US" altLang="ja-JP" sz="2400" dirty="0"/>
                  <a:t>0.5kg</a:t>
                </a:r>
                <a:r>
                  <a:rPr lang="ja-JP" altLang="en-US" sz="2400" dirty="0"/>
                  <a:t>、慣性モーメントが</a:t>
                </a:r>
                <a:r>
                  <a:rPr lang="en-US" altLang="ja-JP" sz="2400" dirty="0"/>
                  <a:t>(2/5)mr</a:t>
                </a:r>
                <a:r>
                  <a:rPr lang="en-US" altLang="ja-JP" sz="2400" baseline="30000" dirty="0"/>
                  <a:t>2</a:t>
                </a:r>
                <a:r>
                  <a:rPr lang="ja-JP" altLang="en-US" sz="2400" dirty="0"/>
                  <a:t>のとき、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地上</a:t>
                </a:r>
                <a:r>
                  <a:rPr lang="en-US" altLang="ja-JP" sz="2400" dirty="0"/>
                  <a:t>0m</a:t>
                </a:r>
                <a:r>
                  <a:rPr lang="ja-JP" altLang="en-US" sz="2400" dirty="0"/>
                  <a:t>地点のボールの速度を求めなさい。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.1</m:t>
                    </m:r>
                    <m:r>
                      <a:rPr lang="en-US" altLang="ja-JP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ja-JP" altLang="en-US" sz="2400" dirty="0"/>
                  <a:t> より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が成り立つため、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.1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49=0.35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140=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140</m:t>
                        </m:r>
                      </m:e>
                    </m:ra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おおよそ</a:t>
                </a:r>
                <a:r>
                  <a:rPr lang="en-US" altLang="ja-JP" sz="2400" dirty="0"/>
                  <a:t>11.8m/</a:t>
                </a:r>
                <a:r>
                  <a:rPr lang="ja-JP" altLang="en-US" sz="2400" dirty="0"/>
                  <a:t>秒となります。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ちなみに回転運動がなければ</a:t>
                </a:r>
                <a:r>
                  <a:rPr lang="en-US" altLang="ja-JP" sz="2400" dirty="0"/>
                  <a:t>14m/</a:t>
                </a:r>
                <a:r>
                  <a:rPr lang="ja-JP" altLang="en-US" sz="2400" dirty="0"/>
                  <a:t>秒となり、</a:t>
                </a:r>
                <a:endParaRPr lang="en-US" altLang="ja-JP" sz="2400" dirty="0"/>
              </a:p>
              <a:p>
                <a:r>
                  <a:rPr lang="ja-JP" altLang="en-US" sz="2400" dirty="0"/>
                  <a:t>回転により速度が落ちていることが分かります。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372805" cy="5667129"/>
              </a:xfrm>
              <a:prstGeom prst="rect">
                <a:avLst/>
              </a:prstGeom>
              <a:blipFill>
                <a:blip r:embed="rId2"/>
                <a:stretch>
                  <a:fillRect l="-1092" t="-861" b="-16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0535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回転力学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37098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① 半径</a:t>
            </a:r>
            <a:r>
              <a:rPr lang="en-US" altLang="ja-JP" sz="2400" dirty="0"/>
              <a:t>0.3m</a:t>
            </a:r>
            <a:r>
              <a:rPr lang="ja-JP" altLang="en-US" sz="2400" dirty="0"/>
              <a:t>、質量</a:t>
            </a:r>
            <a:r>
              <a:rPr lang="en-US" altLang="ja-JP" sz="2400" dirty="0"/>
              <a:t>1.2kg</a:t>
            </a:r>
            <a:r>
              <a:rPr lang="ja-JP" altLang="en-US" sz="2400" dirty="0"/>
              <a:t>のルーレットを手で回しました。</a:t>
            </a:r>
            <a:endParaRPr lang="en-US" altLang="ja-JP" sz="2400" dirty="0"/>
          </a:p>
          <a:p>
            <a:r>
              <a:rPr lang="ja-JP" altLang="en-US" sz="2400" dirty="0"/>
              <a:t>　 ルーレットは角加速度</a:t>
            </a:r>
            <a:r>
              <a:rPr lang="en-US" altLang="ja-JP" sz="2400" dirty="0"/>
              <a:t>2.5rad/</a:t>
            </a:r>
            <a:r>
              <a:rPr lang="ja-JP" altLang="en-US" sz="2400" dirty="0"/>
              <a:t>秒</a:t>
            </a:r>
            <a:r>
              <a:rPr lang="ja-JP" altLang="en-US" sz="2400" baseline="30000" dirty="0"/>
              <a:t>２</a:t>
            </a:r>
            <a:r>
              <a:rPr lang="ja-JP" altLang="en-US" sz="2400" dirty="0"/>
              <a:t>で回転を始めました。</a:t>
            </a:r>
            <a:endParaRPr lang="en-US" altLang="ja-JP" sz="2400" dirty="0"/>
          </a:p>
          <a:p>
            <a:r>
              <a:rPr lang="ja-JP" altLang="en-US" sz="2400" dirty="0"/>
              <a:t>　 慣性半径係数が</a:t>
            </a:r>
            <a:r>
              <a:rPr lang="en-US" altLang="ja-JP" sz="2400" dirty="0"/>
              <a:t>0.5</a:t>
            </a:r>
            <a:r>
              <a:rPr lang="ja-JP" altLang="en-US" sz="2400" dirty="0"/>
              <a:t>の場合、手で与えた回転モーメントを求めなさい。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② 停車している車に別の車が衝突しました。</a:t>
            </a:r>
            <a:endParaRPr lang="en-US" altLang="ja-JP" sz="2400" dirty="0"/>
          </a:p>
          <a:p>
            <a:r>
              <a:rPr lang="ja-JP" altLang="en-US" sz="2400" dirty="0"/>
              <a:t>　 衝突された車は</a:t>
            </a:r>
            <a:r>
              <a:rPr lang="en-US" altLang="ja-JP" sz="2400" dirty="0"/>
              <a:t>3000N*m</a:t>
            </a:r>
            <a:r>
              <a:rPr lang="ja-JP" altLang="en-US" sz="2400" dirty="0"/>
              <a:t>の回転モーメントが加わり回転します。</a:t>
            </a:r>
            <a:endParaRPr lang="en-US" altLang="ja-JP" sz="2400" dirty="0"/>
          </a:p>
          <a:p>
            <a:r>
              <a:rPr lang="ja-JP" altLang="en-US" sz="2400" dirty="0"/>
              <a:t>　 衝突された車の慣性モーメントが</a:t>
            </a:r>
            <a:r>
              <a:rPr lang="en-US" altLang="ja-JP" sz="2400" dirty="0"/>
              <a:t>4000kgm</a:t>
            </a:r>
            <a:r>
              <a:rPr lang="en-US" altLang="ja-JP" sz="2400" baseline="30000" dirty="0"/>
              <a:t>2</a:t>
            </a:r>
            <a:r>
              <a:rPr lang="ja-JP" altLang="en-US" sz="2400" dirty="0"/>
              <a:t>の場合、</a:t>
            </a:r>
            <a:endParaRPr lang="en-US" altLang="ja-JP" sz="2400" dirty="0"/>
          </a:p>
          <a:p>
            <a:r>
              <a:rPr lang="ja-JP" altLang="en-US" sz="2400" dirty="0"/>
              <a:t>　 衝突時の角加速度を求めなさい。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③ 半径</a:t>
            </a:r>
            <a:r>
              <a:rPr lang="en-US" altLang="ja-JP" sz="2400" dirty="0"/>
              <a:t>0.1m</a:t>
            </a:r>
            <a:r>
              <a:rPr lang="ja-JP" altLang="en-US" sz="2400" dirty="0"/>
              <a:t>、質量が</a:t>
            </a:r>
            <a:r>
              <a:rPr lang="en-US" altLang="ja-JP" sz="2400" dirty="0"/>
              <a:t>2kg</a:t>
            </a:r>
            <a:r>
              <a:rPr lang="ja-JP" altLang="en-US" sz="2400" dirty="0"/>
              <a:t>のボールが高さ</a:t>
            </a:r>
            <a:r>
              <a:rPr lang="en-US" altLang="ja-JP" sz="2400" dirty="0"/>
              <a:t>5</a:t>
            </a:r>
            <a:r>
              <a:rPr lang="ja-JP" altLang="en-US" sz="2400" dirty="0"/>
              <a:t>ｍの丘から転がり落ちた。</a:t>
            </a:r>
            <a:endParaRPr lang="en-US" altLang="ja-JP" sz="2400" dirty="0"/>
          </a:p>
          <a:p>
            <a:r>
              <a:rPr lang="ja-JP" altLang="en-US" sz="2400" dirty="0"/>
              <a:t>　 地面（高さ</a:t>
            </a:r>
            <a:r>
              <a:rPr lang="en-US" altLang="ja-JP" sz="2400" dirty="0"/>
              <a:t>0</a:t>
            </a:r>
            <a:r>
              <a:rPr lang="ja-JP" altLang="en-US" sz="2400" dirty="0"/>
              <a:t>ｍ）に着いた時のボールの速度を求めなさい。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67613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3662</TotalTime>
  <Words>893</Words>
  <Application>Microsoft Office PowerPoint</Application>
  <PresentationFormat>ワイド画面</PresentationFormat>
  <Paragraphs>110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322</cp:revision>
  <dcterms:created xsi:type="dcterms:W3CDTF">2024-08-27T02:15:54Z</dcterms:created>
  <dcterms:modified xsi:type="dcterms:W3CDTF">2025-11-13T07:38:02Z</dcterms:modified>
</cp:coreProperties>
</file>