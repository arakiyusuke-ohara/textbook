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3" r:id="rId3"/>
    <p:sldId id="262" r:id="rId4"/>
    <p:sldId id="264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C4646"/>
    <a:srgbClr val="AD5B5B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2025/11/12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34A7C8FE-5921-430A-A87C-B219D129111E}"/>
              </a:ext>
            </a:extLst>
          </p:cNvPr>
          <p:cNvSpPr/>
          <p:nvPr/>
        </p:nvSpPr>
        <p:spPr>
          <a:xfrm>
            <a:off x="349624" y="2232212"/>
            <a:ext cx="8946776" cy="130884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回転力学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042860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物体が回転するには、回転させる力が必要です。</a:t>
            </a:r>
            <a:endParaRPr lang="en-US" altLang="ja-JP" sz="2400" dirty="0"/>
          </a:p>
          <a:p>
            <a:r>
              <a:rPr lang="ja-JP" altLang="en-US" sz="2400" dirty="0"/>
              <a:t>まずは、力による回転に必要な２つの言葉を覚えましょう。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■回転力学用語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回転モーメント・・・物体を回転させる力</a:t>
            </a:r>
            <a:r>
              <a:rPr lang="en-US" altLang="ja-JP" sz="2400" dirty="0"/>
              <a:t>	</a:t>
            </a:r>
            <a:r>
              <a:rPr lang="ja-JP" altLang="en-US" sz="2400" dirty="0"/>
              <a:t>（単位：</a:t>
            </a:r>
            <a:r>
              <a:rPr lang="en-US" altLang="ja-JP" sz="2400" dirty="0"/>
              <a:t>N*m</a:t>
            </a:r>
            <a:r>
              <a:rPr lang="ja-JP" altLang="en-US" sz="2400" dirty="0"/>
              <a:t>）</a:t>
            </a:r>
            <a:endParaRPr lang="en-US" altLang="ja-JP" sz="2400" dirty="0"/>
          </a:p>
          <a:p>
            <a:r>
              <a:rPr lang="ja-JP" altLang="en-US" sz="2400" dirty="0"/>
              <a:t>慣性モーメント・・・回転を止めようとする力（単位：</a:t>
            </a:r>
            <a:r>
              <a:rPr lang="en-US" altLang="ja-JP" sz="2400" dirty="0"/>
              <a:t>kg*m</a:t>
            </a:r>
            <a:r>
              <a:rPr lang="en-US" altLang="ja-JP" sz="2400" baseline="30000" dirty="0"/>
              <a:t>2</a:t>
            </a:r>
            <a:r>
              <a:rPr lang="ja-JP" altLang="en-US" sz="2400" dirty="0"/>
              <a:t>）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物体は回転モーメントにより回転し始め、</a:t>
            </a:r>
            <a:endParaRPr lang="en-US" altLang="ja-JP" sz="2400" dirty="0"/>
          </a:p>
          <a:p>
            <a:r>
              <a:rPr lang="ja-JP" altLang="en-US" sz="2400" dirty="0"/>
              <a:t>回転中は慣性モーメントにより、徐々に止まろうとします。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639033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34A7C8FE-5921-430A-A87C-B219D129111E}"/>
              </a:ext>
            </a:extLst>
          </p:cNvPr>
          <p:cNvSpPr/>
          <p:nvPr/>
        </p:nvSpPr>
        <p:spPr>
          <a:xfrm>
            <a:off x="403412" y="1828800"/>
            <a:ext cx="7135906" cy="25743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回転力学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802410" cy="4154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先に慣性モーメントの定義です。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■慣性モーメント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sSup>
                      <m:sSup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・・・慣性モーメント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・・・質量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・・・半径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・質量が大きな物体ほど回転を止める力が大きくなります。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・回転の半径が大きいほど回転を止める力が大きくなります。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802410" cy="4154984"/>
              </a:xfrm>
              <a:prstGeom prst="rect">
                <a:avLst/>
              </a:prstGeom>
              <a:blipFill>
                <a:blip r:embed="rId2"/>
                <a:stretch>
                  <a:fillRect l="-1039" t="-1175" r="-139" b="-24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2325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34A7C8FE-5921-430A-A87C-B219D129111E}"/>
              </a:ext>
            </a:extLst>
          </p:cNvPr>
          <p:cNvSpPr/>
          <p:nvPr/>
        </p:nvSpPr>
        <p:spPr>
          <a:xfrm>
            <a:off x="403412" y="1828800"/>
            <a:ext cx="7135906" cy="25743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回転力学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956846" cy="4154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回転モーメントの定義です。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■回転モーメント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400" i="1" dirty="0">
                        <a:latin typeface="Cambria Math" panose="02040503050406030204" pitchFamily="18" charset="0"/>
                      </a:rPr>
                      <m:t>τ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US" altLang="ja-JP" sz="2400" i="1" dirty="0"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400" i="1" dirty="0" smtClean="0">
                        <a:latin typeface="Cambria Math" panose="02040503050406030204" pitchFamily="18" charset="0"/>
                      </a:rPr>
                      <m:t>τ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タウ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・・・回転モーメント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altLang="ja-JP" sz="2400" dirty="0"/>
                  <a:t>		</a:t>
                </a:r>
                <a:r>
                  <a:rPr lang="ja-JP" altLang="en-US" sz="2400" dirty="0"/>
                  <a:t>・・・慣性モーメント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400" i="1" dirty="0" smtClean="0"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n-US" altLang="ja-JP" sz="2400" dirty="0"/>
                  <a:t>		</a:t>
                </a:r>
                <a:r>
                  <a:rPr lang="ja-JP" altLang="en-US" sz="2400" dirty="0"/>
                  <a:t>・・・角加速度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・慣性モーメントが大きな物体を回転させるには大きな回転モーメントが必要</a:t>
                </a:r>
                <a:endParaRPr lang="en-US" altLang="ja-JP" sz="2400" dirty="0"/>
              </a:p>
              <a:p>
                <a:r>
                  <a:rPr lang="ja-JP" altLang="en-US" sz="2400" dirty="0"/>
                  <a:t>・角加速度を大きく回転させるには大きな回転モーメントが必要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956846" cy="4154984"/>
              </a:xfrm>
              <a:prstGeom prst="rect">
                <a:avLst/>
              </a:prstGeom>
              <a:blipFill>
                <a:blip r:embed="rId2"/>
                <a:stretch>
                  <a:fillRect l="-835" t="-1175" b="-24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1020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回転力学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1053026" cy="35716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停車した車に、別の車が衝突しました。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正面衝突ではないため、衝突時に</a:t>
                </a:r>
                <a:r>
                  <a:rPr lang="en-US" altLang="ja-JP" sz="2400" dirty="0"/>
                  <a:t>5000N*m</a:t>
                </a:r>
                <a:r>
                  <a:rPr lang="ja-JP" altLang="en-US" sz="2400" dirty="0"/>
                  <a:t>の回転モーメントが発生しました。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衝突された方の車の慣性モーメントが</a:t>
                </a:r>
                <a:r>
                  <a:rPr lang="en-US" altLang="ja-JP" sz="2400" dirty="0"/>
                  <a:t>10800kgm</a:t>
                </a:r>
                <a:r>
                  <a:rPr lang="en-US" altLang="ja-JP" sz="2400" baseline="30000" dirty="0"/>
                  <a:t>2</a:t>
                </a:r>
                <a:r>
                  <a:rPr lang="ja-JP" altLang="en-US" sz="2400" dirty="0"/>
                  <a:t>のとき、</a:t>
                </a:r>
                <a:endParaRPr lang="en-US" altLang="ja-JP" sz="2400" dirty="0"/>
              </a:p>
              <a:p>
                <a:r>
                  <a:rPr lang="ja-JP" altLang="en-US" sz="2400" dirty="0"/>
                  <a:t>回転時の角加速度を求めなさい。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400" i="1" dirty="0" smtClean="0">
                        <a:latin typeface="Cambria Math" panose="02040503050406030204" pitchFamily="18" charset="0"/>
                      </a:rPr>
                      <m:t>τ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US" altLang="ja-JP" sz="2400" i="1" dirty="0"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より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5000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10800</m:t>
                    </m:r>
                    <m:r>
                      <m:rPr>
                        <m:sty m:val="p"/>
                      </m:rPr>
                      <a:rPr lang="en-US" altLang="ja-JP" sz="2400" i="1" dirty="0"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400" i="1" dirty="0">
                        <a:latin typeface="Cambria Math" panose="02040503050406030204" pitchFamily="18" charset="0"/>
                      </a:rPr>
                      <m:t>α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5000</m:t>
                        </m:r>
                      </m:num>
                      <m:den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10800</m:t>
                        </m:r>
                      </m:den>
                    </m:f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0.463</m:t>
                    </m:r>
                    <m:r>
                      <a:rPr lang="en-US" altLang="ja-JP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𝑟𝑎𝑑</m:t>
                    </m:r>
                    <m:r>
                      <a:rPr lang="en-US" altLang="ja-JP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秒</m:t>
                    </m:r>
                    <m:r>
                      <a:rPr lang="ja-JP" altLang="en-US" sz="2400" i="1" baseline="30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２</m:t>
                    </m:r>
                  </m:oMath>
                </a14:m>
                <a:r>
                  <a:rPr lang="en-US" altLang="ja-JP" sz="2400" dirty="0">
                    <a:solidFill>
                      <a:srgbClr val="FF0000"/>
                    </a:solidFill>
                  </a:rPr>
                  <a:t> 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1053026" cy="3571619"/>
              </a:xfrm>
              <a:prstGeom prst="rect">
                <a:avLst/>
              </a:prstGeom>
              <a:blipFill>
                <a:blip r:embed="rId2"/>
                <a:stretch>
                  <a:fillRect l="-827" t="-136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1D01EC9F-A458-41D2-BDD1-9ECEB76388E7}"/>
              </a:ext>
            </a:extLst>
          </p:cNvPr>
          <p:cNvGrpSpPr/>
          <p:nvPr/>
        </p:nvGrpSpPr>
        <p:grpSpPr>
          <a:xfrm>
            <a:off x="8830235" y="3429000"/>
            <a:ext cx="2139891" cy="2697612"/>
            <a:chOff x="9215718" y="3688976"/>
            <a:chExt cx="1628902" cy="2477977"/>
          </a:xfrm>
        </p:grpSpPr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89AA6FC3-4890-442C-8915-0317D616928E}"/>
                </a:ext>
              </a:extLst>
            </p:cNvPr>
            <p:cNvGrpSpPr/>
            <p:nvPr/>
          </p:nvGrpSpPr>
          <p:grpSpPr>
            <a:xfrm>
              <a:off x="9215718" y="3688976"/>
              <a:ext cx="1441602" cy="2477977"/>
              <a:chOff x="7879976" y="4101352"/>
              <a:chExt cx="1441602" cy="2477977"/>
            </a:xfrm>
          </p:grpSpPr>
          <p:sp>
            <p:nvSpPr>
              <p:cNvPr id="2" name="正方形/長方形 1">
                <a:extLst>
                  <a:ext uri="{FF2B5EF4-FFF2-40B4-BE49-F238E27FC236}">
                    <a16:creationId xmlns:a16="http://schemas.microsoft.com/office/drawing/2014/main" id="{C9D89A4C-CA4E-41B8-B63E-44A397DFE31E}"/>
                  </a:ext>
                </a:extLst>
              </p:cNvPr>
              <p:cNvSpPr/>
              <p:nvPr/>
            </p:nvSpPr>
            <p:spPr>
              <a:xfrm>
                <a:off x="7879976" y="4527176"/>
                <a:ext cx="1425389" cy="573742"/>
              </a:xfrm>
              <a:prstGeom prst="rect">
                <a:avLst/>
              </a:prstGeom>
              <a:noFill/>
              <a:ln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7" name="正方形/長方形 6">
                <a:extLst>
                  <a:ext uri="{FF2B5EF4-FFF2-40B4-BE49-F238E27FC236}">
                    <a16:creationId xmlns:a16="http://schemas.microsoft.com/office/drawing/2014/main" id="{4C26FD56-F101-44BD-97EB-B837A1577F98}"/>
                  </a:ext>
                </a:extLst>
              </p:cNvPr>
              <p:cNvSpPr/>
              <p:nvPr/>
            </p:nvSpPr>
            <p:spPr>
              <a:xfrm rot="17795513">
                <a:off x="8220633" y="5579764"/>
                <a:ext cx="1425389" cy="573742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" name="円弧 7">
                <a:extLst>
                  <a:ext uri="{FF2B5EF4-FFF2-40B4-BE49-F238E27FC236}">
                    <a16:creationId xmlns:a16="http://schemas.microsoft.com/office/drawing/2014/main" id="{BED2E5F6-0181-4981-A2F8-4596B27F1661}"/>
                  </a:ext>
                </a:extLst>
              </p:cNvPr>
              <p:cNvSpPr/>
              <p:nvPr/>
            </p:nvSpPr>
            <p:spPr>
              <a:xfrm>
                <a:off x="8487860" y="4329952"/>
                <a:ext cx="833718" cy="1114395"/>
              </a:xfrm>
              <a:prstGeom prst="arc">
                <a:avLst>
                  <a:gd name="adj1" fmla="val 16907680"/>
                  <a:gd name="adj2" fmla="val 2802899"/>
                </a:avLst>
              </a:prstGeom>
              <a:ln w="38100">
                <a:solidFill>
                  <a:srgbClr val="FF0000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1" name="正方形/長方形 10">
                <a:extLst>
                  <a:ext uri="{FF2B5EF4-FFF2-40B4-BE49-F238E27FC236}">
                    <a16:creationId xmlns:a16="http://schemas.microsoft.com/office/drawing/2014/main" id="{38E35925-7597-4A09-A13D-74B757BD37B1}"/>
                  </a:ext>
                </a:extLst>
              </p:cNvPr>
              <p:cNvSpPr/>
              <p:nvPr/>
            </p:nvSpPr>
            <p:spPr>
              <a:xfrm rot="17202587">
                <a:off x="7879975" y="4527176"/>
                <a:ext cx="1425389" cy="573742"/>
              </a:xfrm>
              <a:prstGeom prst="rect">
                <a:avLst/>
              </a:prstGeom>
              <a:ln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13" name="爆発: 8 pt 12">
              <a:extLst>
                <a:ext uri="{FF2B5EF4-FFF2-40B4-BE49-F238E27FC236}">
                  <a16:creationId xmlns:a16="http://schemas.microsoft.com/office/drawing/2014/main" id="{20D8C2BC-C4F5-4227-A9F1-7FA6CC8FF332}"/>
                </a:ext>
              </a:extLst>
            </p:cNvPr>
            <p:cNvSpPr/>
            <p:nvPr/>
          </p:nvSpPr>
          <p:spPr>
            <a:xfrm>
              <a:off x="10306738" y="4361330"/>
              <a:ext cx="537882" cy="654424"/>
            </a:xfrm>
            <a:prstGeom prst="irregularSeal1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74591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3551</TotalTime>
  <Words>301</Words>
  <Application>Microsoft Office PowerPoint</Application>
  <PresentationFormat>ワイド画面</PresentationFormat>
  <Paragraphs>44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9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312</cp:revision>
  <dcterms:created xsi:type="dcterms:W3CDTF">2024-08-27T02:15:54Z</dcterms:created>
  <dcterms:modified xsi:type="dcterms:W3CDTF">2025-11-12T05:58:00Z</dcterms:modified>
</cp:coreProperties>
</file>