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62" r:id="rId3"/>
    <p:sldId id="263" r:id="rId4"/>
    <p:sldId id="264" r:id="rId5"/>
    <p:sldId id="265" r:id="rId6"/>
    <p:sldId id="266" r:id="rId7"/>
    <p:sldId id="267" r:id="rId8"/>
    <p:sldId id="268" r:id="rId9"/>
    <p:sldId id="269" r:id="rId10"/>
    <p:sldId id="270" r:id="rId11"/>
    <p:sldId id="271" r:id="rId12"/>
    <p:sldId id="272" r:id="rId13"/>
    <p:sldId id="273"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4646"/>
    <a:srgbClr val="AD5B5B"/>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2025/10/31</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2025/10/31</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2025/10/31</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2025/10/31</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2025/10/31</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2025/10/31</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2025/10/31</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2025/10/31</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2025/10/31</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2025/10/31</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2025/10/31</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2025/10/31</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05403" cy="584775"/>
          </a:xfrm>
          <a:prstGeom prst="rect">
            <a:avLst/>
          </a:prstGeom>
          <a:noFill/>
        </p:spPr>
        <p:txBody>
          <a:bodyPr wrap="none" rtlCol="0">
            <a:spAutoFit/>
          </a:bodyPr>
          <a:lstStyle/>
          <a:p>
            <a:r>
              <a:rPr lang="ja-JP" altLang="en-US" sz="3200" b="1" u="sng" dirty="0"/>
              <a:t>衝突</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4154984"/>
          </a:xfrm>
          <a:prstGeom prst="rect">
            <a:avLst/>
          </a:prstGeom>
          <a:noFill/>
        </p:spPr>
        <p:txBody>
          <a:bodyPr wrap="none" rtlCol="0">
            <a:spAutoFit/>
          </a:bodyPr>
          <a:lstStyle/>
          <a:p>
            <a:r>
              <a:rPr lang="ja-JP" altLang="en-US" sz="2400" dirty="0"/>
              <a:t>前回の内容は、衝突された側の計算になります。</a:t>
            </a:r>
            <a:endParaRPr lang="en-US" altLang="ja-JP" sz="2400" dirty="0"/>
          </a:p>
          <a:p>
            <a:r>
              <a:rPr lang="ja-JP" altLang="en-US" sz="2400" dirty="0"/>
              <a:t>・例題：打たれたゴルフボール側の速度</a:t>
            </a:r>
            <a:endParaRPr lang="en-US" altLang="ja-JP" sz="2400" dirty="0"/>
          </a:p>
          <a:p>
            <a:r>
              <a:rPr lang="ja-JP" altLang="en-US" sz="2400" dirty="0"/>
              <a:t>・練習：蹴られたキャラクター側の速度</a:t>
            </a:r>
            <a:endParaRPr lang="en-US" altLang="ja-JP" sz="2400" dirty="0"/>
          </a:p>
          <a:p>
            <a:endParaRPr lang="en-US" altLang="ja-JP" sz="2400" dirty="0"/>
          </a:p>
          <a:p>
            <a:r>
              <a:rPr lang="ja-JP" altLang="en-US" sz="2400" dirty="0"/>
              <a:t>ニュートンの運動の第三法則では、</a:t>
            </a:r>
            <a:endParaRPr lang="en-US" altLang="ja-JP" sz="2400" dirty="0"/>
          </a:p>
          <a:p>
            <a:r>
              <a:rPr lang="ja-JP" altLang="en-US" sz="2400" dirty="0"/>
              <a:t>「</a:t>
            </a:r>
            <a:r>
              <a:rPr lang="ja-JP" altLang="en-US" sz="2400" b="1" dirty="0">
                <a:solidFill>
                  <a:srgbClr val="FF0000"/>
                </a:solidFill>
              </a:rPr>
              <a:t>いかなる力に対しても大きさが同じで向きが正反対の力が存在する</a:t>
            </a:r>
            <a:r>
              <a:rPr lang="ja-JP" altLang="en-US" sz="2400" dirty="0"/>
              <a:t>」</a:t>
            </a:r>
            <a:endParaRPr lang="en-US" altLang="ja-JP" sz="2400" dirty="0"/>
          </a:p>
          <a:p>
            <a:r>
              <a:rPr lang="ja-JP" altLang="en-US" sz="2400" dirty="0"/>
              <a:t>とありました。</a:t>
            </a:r>
            <a:endParaRPr lang="en-US" altLang="ja-JP" sz="2400" dirty="0"/>
          </a:p>
          <a:p>
            <a:endParaRPr lang="en-US" altLang="ja-JP" sz="2400" dirty="0"/>
          </a:p>
          <a:p>
            <a:r>
              <a:rPr lang="ja-JP" altLang="en-US" sz="2400" dirty="0"/>
              <a:t>つまり、ゴルフクラブ側や蹴ったキャラクターの足にも力が加わります。</a:t>
            </a:r>
            <a:endParaRPr lang="en-US" altLang="ja-JP" sz="2400" dirty="0"/>
          </a:p>
          <a:p>
            <a:endParaRPr lang="en-US" altLang="ja-JP" sz="2400" dirty="0"/>
          </a:p>
          <a:p>
            <a:r>
              <a:rPr lang="ja-JP" altLang="en-US" sz="2400" dirty="0"/>
              <a:t>今回は、衝突した側と衝突された側、両方に注目します。</a:t>
            </a:r>
            <a:endParaRPr lang="en-US" altLang="ja-JP" sz="2400" dirty="0"/>
          </a:p>
        </p:txBody>
      </p:sp>
    </p:spTree>
    <p:extLst>
      <p:ext uri="{BB962C8B-B14F-4D97-AF65-F5344CB8AC3E}">
        <p14:creationId xmlns:p14="http://schemas.microsoft.com/office/powerpoint/2010/main" val="1639033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05403" cy="584775"/>
          </a:xfrm>
          <a:prstGeom prst="rect">
            <a:avLst/>
          </a:prstGeom>
          <a:noFill/>
        </p:spPr>
        <p:txBody>
          <a:bodyPr wrap="none" rtlCol="0">
            <a:spAutoFit/>
          </a:bodyPr>
          <a:lstStyle/>
          <a:p>
            <a:r>
              <a:rPr lang="ja-JP" altLang="en-US" sz="3200" b="1" u="sng" dirty="0"/>
              <a:t>衝突</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234935" cy="4893647"/>
              </a:xfrm>
              <a:prstGeom prst="rect">
                <a:avLst/>
              </a:prstGeom>
              <a:noFill/>
            </p:spPr>
            <p:txBody>
              <a:bodyPr wrap="none" rtlCol="0">
                <a:spAutoFit/>
              </a:bodyPr>
              <a:lstStyle/>
              <a:p>
                <a:r>
                  <a:rPr lang="ja-JP" altLang="en-US" sz="2400" dirty="0"/>
                  <a:t>力積の定義は、</a:t>
                </a:r>
                <a:endParaRPr lang="en-US" altLang="ja-JP" sz="2400" dirty="0"/>
              </a:p>
              <a:p>
                <a14:m>
                  <m:oMath xmlns:m="http://schemas.openxmlformats.org/officeDocument/2006/math">
                    <m:r>
                      <a:rPr lang="en-US" altLang="ja-JP" sz="2400" b="0" i="1" smtClean="0">
                        <a:latin typeface="Cambria Math" panose="02040503050406030204" pitchFamily="18" charset="0"/>
                      </a:rPr>
                      <m:t>𝐹𝑡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𝑝</m:t>
                    </m:r>
                  </m:oMath>
                </a14:m>
                <a:r>
                  <a:rPr lang="en-US" altLang="ja-JP" sz="2400" dirty="0"/>
                  <a:t> </a:t>
                </a:r>
              </a:p>
              <a:p>
                <a:r>
                  <a:rPr lang="ja-JP" altLang="en-US" sz="2400" dirty="0"/>
                  <a:t>両辺を </a:t>
                </a:r>
                <a14:m>
                  <m:oMath xmlns:m="http://schemas.openxmlformats.org/officeDocument/2006/math">
                    <m:r>
                      <a:rPr lang="en-US" altLang="ja-JP" sz="2400" b="0" i="1" smtClean="0">
                        <a:latin typeface="Cambria Math" panose="02040503050406030204" pitchFamily="18" charset="0"/>
                      </a:rPr>
                      <m:t>𝑡</m:t>
                    </m:r>
                  </m:oMath>
                </a14:m>
                <a:r>
                  <a:rPr lang="en-US" altLang="ja-JP" sz="2400" dirty="0"/>
                  <a:t> </a:t>
                </a:r>
                <a:r>
                  <a:rPr lang="ja-JP" altLang="en-US" sz="2400" dirty="0"/>
                  <a:t>で割ると合力を求める式となります。</a:t>
                </a:r>
                <a:endParaRPr lang="en-US" altLang="ja-JP" sz="2400" dirty="0"/>
              </a:p>
              <a:p>
                <a14:m>
                  <m:oMath xmlns:m="http://schemas.openxmlformats.org/officeDocument/2006/math">
                    <m:r>
                      <a:rPr lang="en-US" altLang="ja-JP" sz="2400" b="0" i="1" smtClean="0">
                        <a:latin typeface="Cambria Math" panose="02040503050406030204" pitchFamily="18" charset="0"/>
                      </a:rPr>
                      <m:t>𝐹</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𝑝</m:t>
                    </m:r>
                    <m:r>
                      <a:rPr lang="en-US" altLang="ja-JP" sz="2400" i="1">
                        <a:latin typeface="Cambria Math" panose="02040503050406030204" pitchFamily="18" charset="0"/>
                      </a:rPr>
                      <m:t>÷</m:t>
                    </m:r>
                    <m:r>
                      <a:rPr lang="en-US" altLang="ja-JP" sz="2400" b="0" i="1" smtClean="0">
                        <a:latin typeface="Cambria Math" panose="02040503050406030204" pitchFamily="18" charset="0"/>
                      </a:rPr>
                      <m:t>𝑡</m:t>
                    </m:r>
                  </m:oMath>
                </a14:m>
                <a:r>
                  <a:rPr lang="en-US" altLang="ja-JP" sz="2400" dirty="0"/>
                  <a:t> </a:t>
                </a:r>
              </a:p>
              <a:p>
                <a:endParaRPr lang="en-US" altLang="ja-JP" sz="2400" dirty="0"/>
              </a:p>
              <a:p>
                <a:r>
                  <a:rPr lang="ja-JP" altLang="en-US" sz="2400" dirty="0"/>
                  <a:t>ニュートンの運動の第三法則より、作用する力を</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1</m:t>
                        </m:r>
                      </m:sub>
                    </m:sSub>
                  </m:oMath>
                </a14:m>
                <a:r>
                  <a:rPr lang="ja-JP" altLang="en-US" sz="2400" dirty="0"/>
                  <a:t>、反作用する力を</a:t>
                </a: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𝐹</m:t>
                        </m:r>
                      </m:e>
                      <m:sub>
                        <m:r>
                          <a:rPr lang="en-US" altLang="ja-JP" sz="2400" b="0" i="1" smtClean="0">
                            <a:latin typeface="Cambria Math" panose="02040503050406030204" pitchFamily="18" charset="0"/>
                          </a:rPr>
                          <m:t>2</m:t>
                        </m:r>
                      </m:sub>
                    </m:sSub>
                  </m:oMath>
                </a14:m>
                <a:r>
                  <a:rPr lang="ja-JP" altLang="en-US" sz="2400" dirty="0"/>
                  <a:t>とすると</a:t>
                </a:r>
                <a:endParaRPr lang="en-US" altLang="ja-JP" sz="2400" dirty="0"/>
              </a:p>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𝐹</m:t>
                        </m:r>
                      </m:e>
                      <m:sub>
                        <m:r>
                          <a:rPr lang="en-US" altLang="ja-JP" sz="2400" b="0" i="1" smtClean="0">
                            <a:latin typeface="Cambria Math" panose="02040503050406030204" pitchFamily="18" charset="0"/>
                          </a:rPr>
                          <m:t>1</m:t>
                        </m:r>
                      </m:sub>
                    </m:sSub>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𝐹</m:t>
                        </m:r>
                      </m:e>
                      <m:sub>
                        <m:r>
                          <a:rPr lang="en-US" altLang="ja-JP" sz="2400" b="0" i="1" smtClean="0">
                            <a:latin typeface="Cambria Math" panose="02040503050406030204" pitchFamily="18" charset="0"/>
                          </a:rPr>
                          <m:t>2</m:t>
                        </m:r>
                      </m:sub>
                    </m:sSub>
                  </m:oMath>
                </a14:m>
                <a:r>
                  <a:rPr lang="en-US" altLang="ja-JP" sz="2400" dirty="0"/>
                  <a:t> </a:t>
                </a:r>
              </a:p>
              <a:p>
                <a:r>
                  <a:rPr lang="ja-JP" altLang="en-US" sz="2400" dirty="0"/>
                  <a:t>これに先ほどの </a:t>
                </a:r>
                <a14:m>
                  <m:oMath xmlns:m="http://schemas.openxmlformats.org/officeDocument/2006/math">
                    <m:r>
                      <a:rPr lang="en-US" altLang="ja-JP" sz="2400" b="0" i="1" smtClean="0">
                        <a:latin typeface="Cambria Math" panose="02040503050406030204" pitchFamily="18" charset="0"/>
                      </a:rPr>
                      <m:t>𝐹</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𝑝</m:t>
                    </m:r>
                    <m:r>
                      <a:rPr lang="en-US" altLang="ja-JP" sz="2400" i="1">
                        <a:latin typeface="Cambria Math" panose="02040503050406030204" pitchFamily="18" charset="0"/>
                      </a:rPr>
                      <m:t>÷</m:t>
                    </m:r>
                    <m:r>
                      <a:rPr lang="en-US" altLang="ja-JP" sz="2400" b="0" i="1" smtClean="0">
                        <a:latin typeface="Cambria Math" panose="02040503050406030204" pitchFamily="18" charset="0"/>
                      </a:rPr>
                      <m:t>𝑡</m:t>
                    </m:r>
                  </m:oMath>
                </a14:m>
                <a:r>
                  <a:rPr lang="en-US" altLang="ja-JP" sz="2400" dirty="0"/>
                  <a:t> </a:t>
                </a:r>
                <a:r>
                  <a:rPr lang="ja-JP" altLang="en-US" sz="2400" dirty="0"/>
                  <a:t>を代入すると、</a:t>
                </a:r>
                <a:endParaRPr lang="en-US" altLang="ja-JP" sz="2400" dirty="0"/>
              </a:p>
              <a:p>
                <a14:m>
                  <m:oMath xmlns:m="http://schemas.openxmlformats.org/officeDocument/2006/math">
                    <m:sSub>
                      <m:sSubPr>
                        <m:ctrlPr>
                          <a:rPr lang="en-US" altLang="ja-JP" sz="2400" b="0" i="1" smtClean="0">
                            <a:latin typeface="Cambria Math" panose="02040503050406030204" pitchFamily="18" charset="0"/>
                          </a:rPr>
                        </m:ctrlPr>
                      </m:sSubPr>
                      <m:e>
                        <m:r>
                          <a:rPr lang="ja-JP" altLang="en-US" sz="2400" i="1">
                            <a:latin typeface="Cambria Math" panose="02040503050406030204" pitchFamily="18" charset="0"/>
                          </a:rPr>
                          <m:t>⊿</m:t>
                        </m:r>
                        <m:r>
                          <a:rPr lang="en-US" altLang="ja-JP" sz="2400" b="0" i="1" smtClean="0">
                            <a:latin typeface="Cambria Math" panose="02040503050406030204" pitchFamily="18" charset="0"/>
                          </a:rPr>
                          <m:t>𝑝</m:t>
                        </m:r>
                      </m:e>
                      <m:sub>
                        <m:r>
                          <a:rPr lang="en-US" altLang="ja-JP" sz="2400" b="0" i="1" smtClean="0">
                            <a:latin typeface="Cambria Math" panose="02040503050406030204" pitchFamily="18" charset="0"/>
                          </a:rPr>
                          <m:t>1</m:t>
                        </m:r>
                      </m:sub>
                    </m:sSub>
                    <m:r>
                      <a:rPr lang="en-US" altLang="ja-JP" sz="2400" i="1">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m:t>
                        </m:r>
                        <m:r>
                          <a:rPr lang="en-US" altLang="ja-JP" sz="2400" i="1">
                            <a:latin typeface="Cambria Math" panose="02040503050406030204" pitchFamily="18" charset="0"/>
                          </a:rPr>
                          <m:t>𝑝</m:t>
                        </m:r>
                      </m:e>
                      <m:sub>
                        <m:r>
                          <a:rPr lang="en-US" altLang="ja-JP" sz="2400" b="0" i="1" smtClean="0">
                            <a:latin typeface="Cambria Math" panose="02040503050406030204" pitchFamily="18" charset="0"/>
                          </a:rPr>
                          <m:t>2</m:t>
                        </m:r>
                      </m:sub>
                    </m:sSub>
                    <m:r>
                      <a:rPr lang="en-US" altLang="ja-JP" sz="2400" i="1">
                        <a:latin typeface="Cambria Math" panose="02040503050406030204" pitchFamily="18" charset="0"/>
                      </a:rPr>
                      <m:t>÷</m:t>
                    </m:r>
                    <m:r>
                      <a:rPr lang="en-US" altLang="ja-JP" sz="2400" i="1">
                        <a:latin typeface="Cambria Math" panose="02040503050406030204" pitchFamily="18" charset="0"/>
                      </a:rPr>
                      <m:t>𝑡</m:t>
                    </m:r>
                    <m:r>
                      <a:rPr lang="en-US" altLang="ja-JP" sz="2400" b="0" i="1" smtClean="0">
                        <a:latin typeface="Cambria Math" panose="02040503050406030204" pitchFamily="18" charset="0"/>
                      </a:rPr>
                      <m:t>)</m:t>
                    </m:r>
                  </m:oMath>
                </a14:m>
                <a:r>
                  <a:rPr lang="en-US" altLang="ja-JP" sz="2400" dirty="0"/>
                  <a:t> </a:t>
                </a:r>
              </a:p>
              <a:p>
                <a:endParaRPr lang="en-US" altLang="ja-JP" sz="2400" dirty="0"/>
              </a:p>
              <a:p>
                <a:r>
                  <a:rPr lang="ja-JP" altLang="en-US" sz="2400" dirty="0"/>
                  <a:t>つまり</a:t>
                </a:r>
                <a:endParaRPr lang="en-US" altLang="ja-JP" sz="2400" dirty="0"/>
              </a:p>
              <a:p>
                <a14:m>
                  <m:oMath xmlns:m="http://schemas.openxmlformats.org/officeDocument/2006/math">
                    <m:sSub>
                      <m:sSubPr>
                        <m:ctrlPr>
                          <a:rPr lang="en-US" altLang="ja-JP" sz="2400" b="0" i="1" smtClean="0">
                            <a:latin typeface="Cambria Math" panose="02040503050406030204" pitchFamily="18" charset="0"/>
                          </a:rPr>
                        </m:ctrlPr>
                      </m:sSubPr>
                      <m:e>
                        <m:r>
                          <a:rPr lang="ja-JP" altLang="en-US" sz="2400" i="1">
                            <a:latin typeface="Cambria Math" panose="02040503050406030204" pitchFamily="18" charset="0"/>
                          </a:rPr>
                          <m:t>⊿</m:t>
                        </m:r>
                        <m:r>
                          <a:rPr lang="en-US" altLang="ja-JP" sz="2400" b="0" i="1" smtClean="0">
                            <a:latin typeface="Cambria Math" panose="02040503050406030204" pitchFamily="18" charset="0"/>
                          </a:rPr>
                          <m:t>𝑝</m:t>
                        </m:r>
                      </m:e>
                      <m:sub>
                        <m:r>
                          <a:rPr lang="en-US" altLang="ja-JP" sz="2400" b="0" i="1" smtClean="0">
                            <a:latin typeface="Cambria Math" panose="02040503050406030204" pitchFamily="18" charset="0"/>
                          </a:rPr>
                          <m:t>1</m:t>
                        </m:r>
                      </m:sub>
                    </m:sSub>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m:t>
                        </m:r>
                        <m:r>
                          <a:rPr lang="en-US" altLang="ja-JP" sz="2400" i="1">
                            <a:latin typeface="Cambria Math" panose="02040503050406030204" pitchFamily="18" charset="0"/>
                          </a:rPr>
                          <m:t>𝑝</m:t>
                        </m:r>
                      </m:e>
                      <m:sub>
                        <m:r>
                          <a:rPr lang="en-US" altLang="ja-JP" sz="2400" b="0" i="1" smtClean="0">
                            <a:latin typeface="Cambria Math" panose="02040503050406030204" pitchFamily="18" charset="0"/>
                          </a:rPr>
                          <m:t>2</m:t>
                        </m:r>
                      </m:sub>
                    </m:sSub>
                  </m:oMath>
                </a14:m>
                <a:r>
                  <a:rPr lang="en-US" altLang="ja-JP" sz="2400" dirty="0"/>
                  <a:t> </a:t>
                </a:r>
              </a:p>
              <a:p>
                <a:r>
                  <a:rPr lang="ja-JP" altLang="en-US" sz="2400" dirty="0"/>
                  <a:t>となります。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1234935" cy="4893647"/>
              </a:xfrm>
              <a:prstGeom prst="rect">
                <a:avLst/>
              </a:prstGeom>
              <a:blipFill>
                <a:blip r:embed="rId2"/>
                <a:stretch>
                  <a:fillRect l="-814" t="-998" b="-19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089389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05403" cy="584775"/>
          </a:xfrm>
          <a:prstGeom prst="rect">
            <a:avLst/>
          </a:prstGeom>
          <a:noFill/>
        </p:spPr>
        <p:txBody>
          <a:bodyPr wrap="none" rtlCol="0">
            <a:spAutoFit/>
          </a:bodyPr>
          <a:lstStyle/>
          <a:p>
            <a:r>
              <a:rPr lang="ja-JP" altLang="en-US" sz="3200" b="1" u="sng" dirty="0"/>
              <a:t>衝突</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3850285"/>
              </a:xfrm>
              <a:prstGeom prst="rect">
                <a:avLst/>
              </a:prstGeom>
              <a:noFill/>
            </p:spPr>
            <p:txBody>
              <a:bodyPr wrap="none" rtlCol="0">
                <a:spAutoFit/>
              </a:bodyPr>
              <a:lstStyle/>
              <a:p>
                <a14:m>
                  <m:oMath xmlns:m="http://schemas.openxmlformats.org/officeDocument/2006/math">
                    <m:r>
                      <a:rPr lang="en-US" altLang="ja-JP" sz="2400" i="1" smtClean="0">
                        <a:latin typeface="Cambria Math" panose="02040503050406030204" pitchFamily="18" charset="0"/>
                      </a:rPr>
                      <m:t>𝑝</m:t>
                    </m:r>
                  </m:oMath>
                </a14:m>
                <a:r>
                  <a:rPr lang="ja-JP" altLang="en-US" sz="2400" dirty="0"/>
                  <a:t>は運動量なので質量</a:t>
                </a:r>
                <a:r>
                  <a:rPr lang="en-US" altLang="ja-JP" sz="2400" dirty="0"/>
                  <a:t>×</a:t>
                </a:r>
                <a:r>
                  <a:rPr lang="ja-JP" altLang="en-US" sz="2400" dirty="0"/>
                  <a:t>速度となります。したがって、</a:t>
                </a:r>
                <a:endParaRPr lang="en-US" altLang="ja-JP" sz="2400" dirty="0"/>
              </a:p>
              <a:p>
                <a14:m>
                  <m:oMath xmlns:m="http://schemas.openxmlformats.org/officeDocument/2006/math">
                    <m:sSub>
                      <m:sSubPr>
                        <m:ctrlPr>
                          <a:rPr lang="en-US" altLang="ja-JP" sz="2400" b="0" i="1" smtClean="0">
                            <a:latin typeface="Cambria Math" panose="02040503050406030204" pitchFamily="18" charset="0"/>
                          </a:rPr>
                        </m:ctrlPr>
                      </m:sSubPr>
                      <m:e>
                        <m:r>
                          <a:rPr lang="ja-JP" altLang="en-US" sz="2400" i="1">
                            <a:latin typeface="Cambria Math" panose="02040503050406030204" pitchFamily="18" charset="0"/>
                          </a:rPr>
                          <m:t>⊿</m:t>
                        </m:r>
                        <m:r>
                          <a:rPr lang="en-US" altLang="ja-JP" sz="2400" b="0" i="1" smtClean="0">
                            <a:latin typeface="Cambria Math" panose="02040503050406030204" pitchFamily="18" charset="0"/>
                          </a:rPr>
                          <m:t>𝑝</m:t>
                        </m:r>
                      </m:e>
                      <m:sub>
                        <m:r>
                          <a:rPr lang="en-US" altLang="ja-JP" sz="2400" b="0" i="1" smtClean="0">
                            <a:latin typeface="Cambria Math" panose="02040503050406030204" pitchFamily="18" charset="0"/>
                          </a:rPr>
                          <m:t>1</m:t>
                        </m:r>
                      </m:sub>
                    </m:sSub>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m:t>
                        </m:r>
                        <m:r>
                          <a:rPr lang="en-US" altLang="ja-JP" sz="2400" i="1">
                            <a:latin typeface="Cambria Math" panose="02040503050406030204" pitchFamily="18" charset="0"/>
                          </a:rPr>
                          <m:t>𝑝</m:t>
                        </m:r>
                      </m:e>
                      <m:sub>
                        <m:r>
                          <a:rPr lang="en-US" altLang="ja-JP" sz="2400" b="0" i="1" smtClean="0">
                            <a:latin typeface="Cambria Math" panose="02040503050406030204" pitchFamily="18" charset="0"/>
                          </a:rPr>
                          <m:t>2</m:t>
                        </m:r>
                      </m:sub>
                    </m:sSub>
                  </m:oMath>
                </a14:m>
                <a:r>
                  <a:rPr lang="en-US" altLang="ja-JP" sz="2400" dirty="0"/>
                  <a:t> </a:t>
                </a:r>
              </a:p>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𝑚</m:t>
                        </m:r>
                      </m:e>
                      <m:sub>
                        <m:r>
                          <a:rPr lang="en-US" altLang="ja-JP" sz="2400" b="0" i="1" smtClean="0">
                            <a:latin typeface="Cambria Math" panose="02040503050406030204" pitchFamily="18" charset="0"/>
                          </a:rPr>
                          <m:t>1</m:t>
                        </m:r>
                      </m:sub>
                    </m:sSub>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𝑣</m:t>
                        </m:r>
                      </m:e>
                      <m:sub>
                        <m:r>
                          <a:rPr lang="en-US" altLang="ja-JP" sz="2400" i="1">
                            <a:latin typeface="Cambria Math" panose="02040503050406030204" pitchFamily="18" charset="0"/>
                          </a:rPr>
                          <m:t>1</m:t>
                        </m:r>
                        <m:r>
                          <a:rPr lang="en-US" altLang="ja-JP" sz="2400" b="0" i="1" smtClean="0">
                            <a:latin typeface="Cambria Math" panose="02040503050406030204" pitchFamily="18" charset="0"/>
                          </a:rPr>
                          <m:t>𝑓</m:t>
                        </m:r>
                      </m:sub>
                    </m:sSub>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𝑚</m:t>
                        </m:r>
                      </m:e>
                      <m:sub>
                        <m:r>
                          <a:rPr lang="en-US" altLang="ja-JP" sz="2400" i="1">
                            <a:latin typeface="Cambria Math" panose="02040503050406030204" pitchFamily="18" charset="0"/>
                          </a:rPr>
                          <m:t>1</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1</m:t>
                        </m:r>
                        <m:r>
                          <a:rPr lang="en-US" altLang="ja-JP" sz="2400" b="0" i="1" smtClean="0">
                            <a:latin typeface="Cambria Math" panose="02040503050406030204" pitchFamily="18" charset="0"/>
                          </a:rPr>
                          <m:t>𝑖</m:t>
                        </m:r>
                      </m:sub>
                    </m:sSub>
                    <m:r>
                      <a:rPr lang="en-US" altLang="ja-JP" sz="2400" b="0" i="1" smtClean="0">
                        <a:latin typeface="Cambria Math" panose="02040503050406030204" pitchFamily="18" charset="0"/>
                      </a:rPr>
                      <m:t>=−</m:t>
                    </m:r>
                    <m:r>
                      <a:rPr lang="en-US" altLang="ja-JP" sz="240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𝑚</m:t>
                        </m:r>
                      </m:e>
                      <m:sub>
                        <m:r>
                          <a:rPr lang="en-US" altLang="ja-JP" sz="2400" b="0" i="1" smtClean="0">
                            <a:latin typeface="Cambria Math" panose="02040503050406030204" pitchFamily="18" charset="0"/>
                          </a:rPr>
                          <m:t>2</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b="0" i="1" smtClean="0">
                            <a:latin typeface="Cambria Math" panose="02040503050406030204" pitchFamily="18" charset="0"/>
                          </a:rPr>
                          <m:t>2</m:t>
                        </m:r>
                        <m:r>
                          <a:rPr lang="en-US" altLang="ja-JP" sz="2400" i="1">
                            <a:latin typeface="Cambria Math" panose="02040503050406030204" pitchFamily="18" charset="0"/>
                          </a:rPr>
                          <m:t>𝑓</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𝑚</m:t>
                        </m:r>
                      </m:e>
                      <m:sub>
                        <m:r>
                          <a:rPr lang="en-US" altLang="ja-JP" sz="2400" b="0" i="1" smtClean="0">
                            <a:latin typeface="Cambria Math" panose="02040503050406030204" pitchFamily="18" charset="0"/>
                          </a:rPr>
                          <m:t>2</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b="0" i="1" smtClean="0">
                            <a:latin typeface="Cambria Math" panose="02040503050406030204" pitchFamily="18" charset="0"/>
                          </a:rPr>
                          <m:t>2</m:t>
                        </m:r>
                        <m:r>
                          <a:rPr lang="en-US" altLang="ja-JP" sz="2400" i="1">
                            <a:latin typeface="Cambria Math" panose="02040503050406030204" pitchFamily="18" charset="0"/>
                          </a:rPr>
                          <m:t>𝑖</m:t>
                        </m:r>
                      </m:sub>
                    </m:sSub>
                    <m:r>
                      <a:rPr lang="en-US" altLang="ja-JP" sz="2400" b="0" i="1" smtClean="0">
                        <a:latin typeface="Cambria Math" panose="02040503050406030204" pitchFamily="18" charset="0"/>
                      </a:rPr>
                      <m:t>)</m:t>
                    </m:r>
                  </m:oMath>
                </a14:m>
                <a:r>
                  <a:rPr lang="en-US" altLang="ja-JP" sz="2400" dirty="0"/>
                  <a:t> </a:t>
                </a:r>
              </a:p>
              <a:p>
                <a:endParaRPr lang="en-US" altLang="ja-JP" sz="2400" dirty="0"/>
              </a:p>
              <a:p>
                <a:r>
                  <a:rPr lang="ja-JP" altLang="en-US" sz="2400" dirty="0"/>
                  <a:t>この式を変形すると、</a:t>
                </a:r>
                <a:endParaRPr lang="en-US" altLang="ja-JP" sz="2400" dirty="0"/>
              </a:p>
              <a:p>
                <a14:m>
                  <m:oMath xmlns:m="http://schemas.openxmlformats.org/officeDocument/2006/math">
                    <m:sSub>
                      <m:sSubPr>
                        <m:ctrlPr>
                          <a:rPr lang="en-US" altLang="ja-JP" sz="2400" b="1" i="1">
                            <a:solidFill>
                              <a:srgbClr val="FF0000"/>
                            </a:solidFill>
                            <a:latin typeface="Cambria Math" panose="02040503050406030204" pitchFamily="18" charset="0"/>
                          </a:rPr>
                        </m:ctrlPr>
                      </m:sSubPr>
                      <m:e>
                        <m:r>
                          <a:rPr lang="en-US" altLang="ja-JP" sz="2400" b="1" i="1">
                            <a:solidFill>
                              <a:srgbClr val="FF0000"/>
                            </a:solidFill>
                            <a:latin typeface="Cambria Math" panose="02040503050406030204" pitchFamily="18" charset="0"/>
                          </a:rPr>
                          <m:t>𝒎</m:t>
                        </m:r>
                      </m:e>
                      <m:sub>
                        <m:r>
                          <a:rPr lang="en-US" altLang="ja-JP" sz="2400" b="1" i="1">
                            <a:solidFill>
                              <a:srgbClr val="FF0000"/>
                            </a:solidFill>
                            <a:latin typeface="Cambria Math" panose="02040503050406030204" pitchFamily="18" charset="0"/>
                          </a:rPr>
                          <m:t>𝟏</m:t>
                        </m:r>
                      </m:sub>
                    </m:sSub>
                    <m:sSub>
                      <m:sSubPr>
                        <m:ctrlPr>
                          <a:rPr lang="en-US" altLang="ja-JP" sz="2400" b="1" i="1">
                            <a:solidFill>
                              <a:srgbClr val="FF0000"/>
                            </a:solidFill>
                            <a:latin typeface="Cambria Math" panose="02040503050406030204" pitchFamily="18" charset="0"/>
                          </a:rPr>
                        </m:ctrlPr>
                      </m:sSubPr>
                      <m:e>
                        <m:r>
                          <a:rPr lang="en-US" altLang="ja-JP" sz="2400" b="1" i="1">
                            <a:solidFill>
                              <a:srgbClr val="FF0000"/>
                            </a:solidFill>
                            <a:latin typeface="Cambria Math" panose="02040503050406030204" pitchFamily="18" charset="0"/>
                          </a:rPr>
                          <m:t>𝒗</m:t>
                        </m:r>
                      </m:e>
                      <m:sub>
                        <m:r>
                          <a:rPr lang="en-US" altLang="ja-JP" sz="2400" b="1" i="1">
                            <a:solidFill>
                              <a:srgbClr val="FF0000"/>
                            </a:solidFill>
                            <a:latin typeface="Cambria Math" panose="02040503050406030204" pitchFamily="18" charset="0"/>
                          </a:rPr>
                          <m:t>𝟏</m:t>
                        </m:r>
                        <m:r>
                          <a:rPr lang="en-US" altLang="ja-JP" sz="2400" b="1" i="1">
                            <a:solidFill>
                              <a:srgbClr val="FF0000"/>
                            </a:solidFill>
                            <a:latin typeface="Cambria Math" panose="02040503050406030204" pitchFamily="18" charset="0"/>
                          </a:rPr>
                          <m:t>𝒊</m:t>
                        </m:r>
                      </m:sub>
                    </m:sSub>
                    <m:r>
                      <a:rPr lang="en-US" altLang="ja-JP" sz="2400" b="1" i="1">
                        <a:solidFill>
                          <a:srgbClr val="FF0000"/>
                        </a:solidFill>
                        <a:latin typeface="Cambria Math" panose="02040503050406030204" pitchFamily="18" charset="0"/>
                      </a:rPr>
                      <m:t>+</m:t>
                    </m:r>
                    <m:sSub>
                      <m:sSubPr>
                        <m:ctrlPr>
                          <a:rPr lang="en-US" altLang="ja-JP" sz="2400" b="1" i="1">
                            <a:solidFill>
                              <a:srgbClr val="FF0000"/>
                            </a:solidFill>
                            <a:latin typeface="Cambria Math" panose="02040503050406030204" pitchFamily="18" charset="0"/>
                          </a:rPr>
                        </m:ctrlPr>
                      </m:sSubPr>
                      <m:e>
                        <m:r>
                          <a:rPr lang="en-US" altLang="ja-JP" sz="2400" b="1" i="1">
                            <a:solidFill>
                              <a:srgbClr val="FF0000"/>
                            </a:solidFill>
                            <a:latin typeface="Cambria Math" panose="02040503050406030204" pitchFamily="18" charset="0"/>
                          </a:rPr>
                          <m:t>𝒎</m:t>
                        </m:r>
                      </m:e>
                      <m:sub>
                        <m:r>
                          <a:rPr lang="en-US" altLang="ja-JP" sz="2400" b="1" i="1">
                            <a:solidFill>
                              <a:srgbClr val="FF0000"/>
                            </a:solidFill>
                            <a:latin typeface="Cambria Math" panose="02040503050406030204" pitchFamily="18" charset="0"/>
                          </a:rPr>
                          <m:t>𝟐</m:t>
                        </m:r>
                      </m:sub>
                    </m:sSub>
                    <m:sSub>
                      <m:sSubPr>
                        <m:ctrlPr>
                          <a:rPr lang="en-US" altLang="ja-JP" sz="2400" b="1" i="1">
                            <a:solidFill>
                              <a:srgbClr val="FF0000"/>
                            </a:solidFill>
                            <a:latin typeface="Cambria Math" panose="02040503050406030204" pitchFamily="18" charset="0"/>
                          </a:rPr>
                        </m:ctrlPr>
                      </m:sSubPr>
                      <m:e>
                        <m:r>
                          <a:rPr lang="en-US" altLang="ja-JP" sz="2400" b="1" i="1">
                            <a:solidFill>
                              <a:srgbClr val="FF0000"/>
                            </a:solidFill>
                            <a:latin typeface="Cambria Math" panose="02040503050406030204" pitchFamily="18" charset="0"/>
                          </a:rPr>
                          <m:t>𝒗</m:t>
                        </m:r>
                      </m:e>
                      <m:sub>
                        <m:r>
                          <a:rPr lang="en-US" altLang="ja-JP" sz="2400" b="1" i="1">
                            <a:solidFill>
                              <a:srgbClr val="FF0000"/>
                            </a:solidFill>
                            <a:latin typeface="Cambria Math" panose="02040503050406030204" pitchFamily="18" charset="0"/>
                          </a:rPr>
                          <m:t>𝟐</m:t>
                        </m:r>
                        <m:r>
                          <a:rPr lang="en-US" altLang="ja-JP" sz="2400" b="1" i="1">
                            <a:solidFill>
                              <a:srgbClr val="FF0000"/>
                            </a:solidFill>
                            <a:latin typeface="Cambria Math" panose="02040503050406030204" pitchFamily="18" charset="0"/>
                          </a:rPr>
                          <m:t>𝒊</m:t>
                        </m:r>
                      </m:sub>
                    </m:sSub>
                    <m:r>
                      <a:rPr lang="en-US" altLang="ja-JP" sz="2400" b="1" i="1" smtClean="0">
                        <a:solidFill>
                          <a:srgbClr val="FF0000"/>
                        </a:solidFill>
                        <a:latin typeface="Cambria Math" panose="02040503050406030204" pitchFamily="18" charset="0"/>
                      </a:rPr>
                      <m:t>=</m:t>
                    </m:r>
                    <m:sSub>
                      <m:sSubPr>
                        <m:ctrlPr>
                          <a:rPr lang="en-US" altLang="ja-JP" sz="2400" b="1" i="1">
                            <a:solidFill>
                              <a:srgbClr val="FF0000"/>
                            </a:solidFill>
                            <a:latin typeface="Cambria Math" panose="02040503050406030204" pitchFamily="18" charset="0"/>
                          </a:rPr>
                        </m:ctrlPr>
                      </m:sSubPr>
                      <m:e>
                        <m:r>
                          <a:rPr lang="en-US" altLang="ja-JP" sz="2400" b="1" i="1">
                            <a:solidFill>
                              <a:srgbClr val="FF0000"/>
                            </a:solidFill>
                            <a:latin typeface="Cambria Math" panose="02040503050406030204" pitchFamily="18" charset="0"/>
                          </a:rPr>
                          <m:t>𝒎</m:t>
                        </m:r>
                      </m:e>
                      <m:sub>
                        <m:r>
                          <a:rPr lang="en-US" altLang="ja-JP" sz="2400" b="1" i="1">
                            <a:solidFill>
                              <a:srgbClr val="FF0000"/>
                            </a:solidFill>
                            <a:latin typeface="Cambria Math" panose="02040503050406030204" pitchFamily="18" charset="0"/>
                          </a:rPr>
                          <m:t>𝟏</m:t>
                        </m:r>
                      </m:sub>
                    </m:sSub>
                    <m:sSub>
                      <m:sSubPr>
                        <m:ctrlPr>
                          <a:rPr lang="en-US" altLang="ja-JP" sz="2400" b="1" i="1">
                            <a:solidFill>
                              <a:srgbClr val="FF0000"/>
                            </a:solidFill>
                            <a:latin typeface="Cambria Math" panose="02040503050406030204" pitchFamily="18" charset="0"/>
                          </a:rPr>
                        </m:ctrlPr>
                      </m:sSubPr>
                      <m:e>
                        <m:r>
                          <a:rPr lang="en-US" altLang="ja-JP" sz="2400" b="1" i="1">
                            <a:solidFill>
                              <a:srgbClr val="FF0000"/>
                            </a:solidFill>
                            <a:latin typeface="Cambria Math" panose="02040503050406030204" pitchFamily="18" charset="0"/>
                          </a:rPr>
                          <m:t>𝒗</m:t>
                        </m:r>
                      </m:e>
                      <m:sub>
                        <m:r>
                          <a:rPr lang="en-US" altLang="ja-JP" sz="2400" b="1" i="1">
                            <a:solidFill>
                              <a:srgbClr val="FF0000"/>
                            </a:solidFill>
                            <a:latin typeface="Cambria Math" panose="02040503050406030204" pitchFamily="18" charset="0"/>
                          </a:rPr>
                          <m:t>𝟏</m:t>
                        </m:r>
                        <m:r>
                          <a:rPr lang="en-US" altLang="ja-JP" sz="2400" b="1" i="1">
                            <a:solidFill>
                              <a:srgbClr val="FF0000"/>
                            </a:solidFill>
                            <a:latin typeface="Cambria Math" panose="02040503050406030204" pitchFamily="18" charset="0"/>
                          </a:rPr>
                          <m:t>𝒇</m:t>
                        </m:r>
                      </m:sub>
                    </m:sSub>
                    <m:r>
                      <a:rPr lang="en-US" altLang="ja-JP" sz="2400" b="1" i="1">
                        <a:solidFill>
                          <a:srgbClr val="FF0000"/>
                        </a:solidFill>
                        <a:latin typeface="Cambria Math" panose="02040503050406030204" pitchFamily="18" charset="0"/>
                      </a:rPr>
                      <m:t>+</m:t>
                    </m:r>
                    <m:sSub>
                      <m:sSubPr>
                        <m:ctrlPr>
                          <a:rPr lang="en-US" altLang="ja-JP" sz="2400" b="1" i="1">
                            <a:solidFill>
                              <a:srgbClr val="FF0000"/>
                            </a:solidFill>
                            <a:latin typeface="Cambria Math" panose="02040503050406030204" pitchFamily="18" charset="0"/>
                          </a:rPr>
                        </m:ctrlPr>
                      </m:sSubPr>
                      <m:e>
                        <m:r>
                          <a:rPr lang="en-US" altLang="ja-JP" sz="2400" b="1" i="1">
                            <a:solidFill>
                              <a:srgbClr val="FF0000"/>
                            </a:solidFill>
                            <a:latin typeface="Cambria Math" panose="02040503050406030204" pitchFamily="18" charset="0"/>
                          </a:rPr>
                          <m:t>𝒎</m:t>
                        </m:r>
                      </m:e>
                      <m:sub>
                        <m:r>
                          <a:rPr lang="en-US" altLang="ja-JP" sz="2400" b="1" i="1">
                            <a:solidFill>
                              <a:srgbClr val="FF0000"/>
                            </a:solidFill>
                            <a:latin typeface="Cambria Math" panose="02040503050406030204" pitchFamily="18" charset="0"/>
                          </a:rPr>
                          <m:t>𝟐</m:t>
                        </m:r>
                      </m:sub>
                    </m:sSub>
                    <m:sSub>
                      <m:sSubPr>
                        <m:ctrlPr>
                          <a:rPr lang="en-US" altLang="ja-JP" sz="2400" b="1" i="1">
                            <a:solidFill>
                              <a:srgbClr val="FF0000"/>
                            </a:solidFill>
                            <a:latin typeface="Cambria Math" panose="02040503050406030204" pitchFamily="18" charset="0"/>
                          </a:rPr>
                        </m:ctrlPr>
                      </m:sSubPr>
                      <m:e>
                        <m:r>
                          <a:rPr lang="en-US" altLang="ja-JP" sz="2400" b="1" i="1">
                            <a:solidFill>
                              <a:srgbClr val="FF0000"/>
                            </a:solidFill>
                            <a:latin typeface="Cambria Math" panose="02040503050406030204" pitchFamily="18" charset="0"/>
                          </a:rPr>
                          <m:t>𝒗</m:t>
                        </m:r>
                      </m:e>
                      <m:sub>
                        <m:r>
                          <a:rPr lang="en-US" altLang="ja-JP" sz="2400" b="1" i="1">
                            <a:solidFill>
                              <a:srgbClr val="FF0000"/>
                            </a:solidFill>
                            <a:latin typeface="Cambria Math" panose="02040503050406030204" pitchFamily="18" charset="0"/>
                          </a:rPr>
                          <m:t>𝟐</m:t>
                        </m:r>
                        <m:r>
                          <a:rPr lang="en-US" altLang="ja-JP" sz="2400" b="1" i="1">
                            <a:solidFill>
                              <a:srgbClr val="FF0000"/>
                            </a:solidFill>
                            <a:latin typeface="Cambria Math" panose="02040503050406030204" pitchFamily="18" charset="0"/>
                          </a:rPr>
                          <m:t>𝒇</m:t>
                        </m:r>
                      </m:sub>
                    </m:sSub>
                  </m:oMath>
                </a14:m>
                <a:r>
                  <a:rPr lang="en-US" altLang="ja-JP" sz="2400" b="1" dirty="0">
                    <a:solidFill>
                      <a:srgbClr val="FF0000"/>
                    </a:solidFill>
                  </a:rPr>
                  <a:t> </a:t>
                </a:r>
              </a:p>
              <a:p>
                <a:endParaRPr lang="en-US" altLang="ja-JP" sz="2400" dirty="0"/>
              </a:p>
              <a:p>
                <a:r>
                  <a:rPr lang="ja-JP" altLang="en-US" sz="2400" dirty="0"/>
                  <a:t>このような計算式が成り立ちます。</a:t>
                </a:r>
                <a:endParaRPr lang="en-US" altLang="ja-JP" sz="2400" dirty="0"/>
              </a:p>
              <a:p>
                <a:r>
                  <a:rPr lang="ja-JP" altLang="en-US" sz="2400" dirty="0"/>
                  <a:t>この式は、</a:t>
                </a:r>
                <a:endParaRPr lang="en-US" altLang="ja-JP" sz="2400" dirty="0"/>
              </a:p>
              <a:p>
                <a:r>
                  <a:rPr lang="ja-JP" altLang="en-US" sz="2400" b="1" dirty="0">
                    <a:solidFill>
                      <a:srgbClr val="FF0000"/>
                    </a:solidFill>
                  </a:rPr>
                  <a:t>２つの物体の運動量の合計は衝突した後も変わらない</a:t>
                </a:r>
                <a:r>
                  <a:rPr lang="ja-JP" altLang="en-US" sz="2400" dirty="0"/>
                  <a:t>ことを表します。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033516" cy="3850285"/>
              </a:xfrm>
              <a:prstGeom prst="rect">
                <a:avLst/>
              </a:prstGeom>
              <a:blipFill>
                <a:blip r:embed="rId2"/>
                <a:stretch>
                  <a:fillRect l="-911" t="-1268" b="-269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540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953195C1-675F-46C1-BCC8-D79EAE0EB181}"/>
              </a:ext>
            </a:extLst>
          </p:cNvPr>
          <p:cNvSpPr/>
          <p:nvPr/>
        </p:nvSpPr>
        <p:spPr>
          <a:xfrm>
            <a:off x="364067" y="1794933"/>
            <a:ext cx="5122333" cy="380505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05403" cy="584775"/>
          </a:xfrm>
          <a:prstGeom prst="rect">
            <a:avLst/>
          </a:prstGeom>
          <a:noFill/>
        </p:spPr>
        <p:txBody>
          <a:bodyPr wrap="none" rtlCol="0">
            <a:spAutoFit/>
          </a:bodyPr>
          <a:lstStyle/>
          <a:p>
            <a:r>
              <a:rPr lang="ja-JP" altLang="en-US" sz="3200" b="1" u="sng" dirty="0"/>
              <a:t>衝突</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032421" cy="4982518"/>
              </a:xfrm>
              <a:prstGeom prst="rect">
                <a:avLst/>
              </a:prstGeom>
              <a:noFill/>
            </p:spPr>
            <p:txBody>
              <a:bodyPr wrap="none" rtlCol="0">
                <a:spAutoFit/>
              </a:bodyPr>
              <a:lstStyle/>
              <a:p>
                <a:r>
                  <a:rPr lang="ja-JP" altLang="en-US" sz="2400" dirty="0"/>
                  <a:t>このこと</a:t>
                </a:r>
                <a:r>
                  <a:rPr lang="ja-JP" altLang="en-US" sz="2400" b="1" dirty="0">
                    <a:solidFill>
                      <a:srgbClr val="FF0000"/>
                    </a:solidFill>
                  </a:rPr>
                  <a:t>運動量保存の法則</a:t>
                </a:r>
                <a:r>
                  <a:rPr lang="ja-JP" altLang="en-US" sz="2400" dirty="0"/>
                  <a:t>と言います。</a:t>
                </a:r>
                <a:endParaRPr lang="en-US" altLang="ja-JP" sz="2400" dirty="0"/>
              </a:p>
              <a:p>
                <a:endParaRPr lang="en-US" altLang="ja-JP" sz="2400" dirty="0"/>
              </a:p>
              <a:p>
                <a:r>
                  <a:rPr lang="ja-JP" altLang="en-US" sz="2400" b="1" dirty="0">
                    <a:solidFill>
                      <a:srgbClr val="FF0000"/>
                    </a:solidFill>
                  </a:rPr>
                  <a:t>■運動量保存の法則</a:t>
                </a:r>
                <a:endParaRPr lang="en-US" altLang="ja-JP" sz="2400" b="1" dirty="0">
                  <a:solidFill>
                    <a:srgbClr val="FF0000"/>
                  </a:solidFill>
                </a:endParaRPr>
              </a:p>
              <a:p>
                <a14:m>
                  <m:oMath xmlns:m="http://schemas.openxmlformats.org/officeDocument/2006/math">
                    <m:sSub>
                      <m:sSubPr>
                        <m:ctrlPr>
                          <a:rPr lang="en-US" altLang="ja-JP" sz="2400" i="1" smtClean="0">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1</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1</m:t>
                        </m:r>
                        <m:r>
                          <a:rPr lang="en-US" altLang="ja-JP" sz="2400" b="0" i="1">
                            <a:solidFill>
                              <a:schemeClr val="tx1"/>
                            </a:solidFill>
                            <a:latin typeface="Cambria Math" panose="02040503050406030204" pitchFamily="18" charset="0"/>
                          </a:rPr>
                          <m:t>𝑖</m:t>
                        </m:r>
                      </m:sub>
                    </m:sSub>
                    <m:r>
                      <a:rPr lang="en-US" altLang="ja-JP" sz="2400" b="0" i="1">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2</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𝑖</m:t>
                        </m:r>
                      </m:sub>
                    </m:sSub>
                    <m:r>
                      <a:rPr lang="en-US" altLang="ja-JP" sz="2400" b="0" i="1" smtClean="0">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1</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1</m:t>
                        </m:r>
                        <m:r>
                          <a:rPr lang="en-US" altLang="ja-JP" sz="2400" b="0" i="1">
                            <a:solidFill>
                              <a:schemeClr val="tx1"/>
                            </a:solidFill>
                            <a:latin typeface="Cambria Math" panose="02040503050406030204" pitchFamily="18" charset="0"/>
                          </a:rPr>
                          <m:t>𝑓</m:t>
                        </m:r>
                      </m:sub>
                    </m:sSub>
                    <m:r>
                      <a:rPr lang="en-US" altLang="ja-JP" sz="2400" b="0" i="1">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2</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𝑓</m:t>
                        </m:r>
                      </m:sub>
                    </m:sSub>
                  </m:oMath>
                </a14:m>
                <a:r>
                  <a:rPr lang="en-US" altLang="ja-JP" sz="2400" dirty="0">
                    <a:solidFill>
                      <a:schemeClr val="tx1"/>
                    </a:solidFill>
                  </a:rPr>
                  <a:t> </a:t>
                </a:r>
                <a:endParaRPr lang="en-US" altLang="ja-JP" sz="2400" dirty="0">
                  <a:solidFill>
                    <a:srgbClr val="FF0000"/>
                  </a:solidFill>
                </a:endParaRPr>
              </a:p>
              <a:p>
                <a:endParaRPr lang="en-US" altLang="ja-JP" sz="2400" dirty="0"/>
              </a:p>
              <a:p>
                <a14:m>
                  <m:oMath xmlns:m="http://schemas.openxmlformats.org/officeDocument/2006/math">
                    <m:sSub>
                      <m:sSubPr>
                        <m:ctrlPr>
                          <a:rPr lang="en-US" altLang="ja-JP" sz="2400" i="1" smtClean="0">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1</m:t>
                        </m:r>
                      </m:sub>
                    </m:sSub>
                  </m:oMath>
                </a14:m>
                <a:r>
                  <a:rPr lang="en-US" altLang="ja-JP" sz="2400" dirty="0"/>
                  <a:t>	</a:t>
                </a:r>
                <a:r>
                  <a:rPr lang="ja-JP" altLang="en-US" sz="2400" dirty="0"/>
                  <a:t>・・・物体１の質量</a:t>
                </a:r>
                <a:endParaRPr lang="en-US" altLang="ja-JP" sz="2400" dirty="0"/>
              </a:p>
              <a:p>
                <a14:m>
                  <m:oMath xmlns:m="http://schemas.openxmlformats.org/officeDocument/2006/math">
                    <m:sSub>
                      <m:sSubPr>
                        <m:ctrlPr>
                          <a:rPr lang="en-US" altLang="ja-JP" sz="2400" i="1" smtClean="0">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1</m:t>
                        </m:r>
                        <m:r>
                          <a:rPr lang="en-US" altLang="ja-JP" sz="2400" b="0" i="1">
                            <a:solidFill>
                              <a:schemeClr val="tx1"/>
                            </a:solidFill>
                            <a:latin typeface="Cambria Math" panose="02040503050406030204" pitchFamily="18" charset="0"/>
                          </a:rPr>
                          <m:t>𝑖</m:t>
                        </m:r>
                      </m:sub>
                    </m:sSub>
                  </m:oMath>
                </a14:m>
                <a:r>
                  <a:rPr lang="en-US" altLang="ja-JP" sz="2400" dirty="0"/>
                  <a:t>	</a:t>
                </a:r>
                <a:r>
                  <a:rPr lang="ja-JP" altLang="en-US" sz="2400" dirty="0"/>
                  <a:t>・・・物体１の初速度</a:t>
                </a:r>
                <a:endParaRPr lang="en-US" altLang="ja-JP" sz="2400" dirty="0"/>
              </a:p>
              <a:p>
                <a14:m>
                  <m:oMath xmlns:m="http://schemas.openxmlformats.org/officeDocument/2006/math">
                    <m:sSub>
                      <m:sSubPr>
                        <m:ctrlPr>
                          <a:rPr lang="en-US" altLang="ja-JP" sz="2400" i="1" smtClean="0">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1</m:t>
                        </m:r>
                        <m:r>
                          <a:rPr lang="en-US" altLang="ja-JP" sz="2400" b="0" i="1" smtClean="0">
                            <a:solidFill>
                              <a:schemeClr val="tx1"/>
                            </a:solidFill>
                            <a:latin typeface="Cambria Math" panose="02040503050406030204" pitchFamily="18" charset="0"/>
                          </a:rPr>
                          <m:t>𝑓</m:t>
                        </m:r>
                      </m:sub>
                    </m:sSub>
                  </m:oMath>
                </a14:m>
                <a:r>
                  <a:rPr lang="en-US" altLang="ja-JP" sz="2400" dirty="0"/>
                  <a:t>	</a:t>
                </a:r>
                <a:r>
                  <a:rPr lang="ja-JP" altLang="en-US" sz="2400" dirty="0"/>
                  <a:t>・・・物体１の最終速度</a:t>
                </a:r>
                <a:endParaRPr lang="en-US" altLang="ja-JP" sz="2400" dirty="0"/>
              </a:p>
              <a:p>
                <a14:m>
                  <m:oMath xmlns:m="http://schemas.openxmlformats.org/officeDocument/2006/math">
                    <m:sSub>
                      <m:sSubPr>
                        <m:ctrlPr>
                          <a:rPr lang="en-US" altLang="ja-JP" sz="2400" i="1" smtClean="0">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smtClean="0">
                            <a:solidFill>
                              <a:schemeClr val="tx1"/>
                            </a:solidFill>
                            <a:latin typeface="Cambria Math" panose="02040503050406030204" pitchFamily="18" charset="0"/>
                          </a:rPr>
                          <m:t>2</m:t>
                        </m:r>
                      </m:sub>
                    </m:sSub>
                  </m:oMath>
                </a14:m>
                <a:r>
                  <a:rPr lang="en-US" altLang="ja-JP" sz="2400" dirty="0"/>
                  <a:t>	</a:t>
                </a:r>
                <a:r>
                  <a:rPr lang="ja-JP" altLang="en-US" sz="2400" dirty="0"/>
                  <a:t>・・・物体２の質量</a:t>
                </a:r>
                <a:endParaRPr lang="en-US" altLang="ja-JP" sz="2400" dirty="0"/>
              </a:p>
              <a:p>
                <a14:m>
                  <m:oMath xmlns:m="http://schemas.openxmlformats.org/officeDocument/2006/math">
                    <m:sSub>
                      <m:sSubPr>
                        <m:ctrlPr>
                          <a:rPr lang="en-US" altLang="ja-JP" sz="2400" i="1" smtClean="0">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smtClean="0">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𝑖</m:t>
                        </m:r>
                      </m:sub>
                    </m:sSub>
                  </m:oMath>
                </a14:m>
                <a:r>
                  <a:rPr lang="en-US" altLang="ja-JP" sz="2400" dirty="0"/>
                  <a:t>	</a:t>
                </a:r>
                <a:r>
                  <a:rPr lang="ja-JP" altLang="en-US" sz="2400" dirty="0"/>
                  <a:t>・・・物体２の初速度</a:t>
                </a:r>
                <a:endParaRPr lang="en-US" altLang="ja-JP" sz="2400" dirty="0"/>
              </a:p>
              <a:p>
                <a14:m>
                  <m:oMath xmlns:m="http://schemas.openxmlformats.org/officeDocument/2006/math">
                    <m:sSub>
                      <m:sSubPr>
                        <m:ctrlPr>
                          <a:rPr lang="en-US" altLang="ja-JP" sz="2400" i="1" smtClean="0">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smtClean="0">
                            <a:solidFill>
                              <a:schemeClr val="tx1"/>
                            </a:solidFill>
                            <a:latin typeface="Cambria Math" panose="02040503050406030204" pitchFamily="18" charset="0"/>
                          </a:rPr>
                          <m:t>2</m:t>
                        </m:r>
                        <m:r>
                          <a:rPr lang="en-US" altLang="ja-JP" sz="2400" b="0" i="1" smtClean="0">
                            <a:solidFill>
                              <a:schemeClr val="tx1"/>
                            </a:solidFill>
                            <a:latin typeface="Cambria Math" panose="02040503050406030204" pitchFamily="18" charset="0"/>
                          </a:rPr>
                          <m:t>𝑓</m:t>
                        </m:r>
                      </m:sub>
                    </m:sSub>
                  </m:oMath>
                </a14:m>
                <a:r>
                  <a:rPr lang="en-US" altLang="ja-JP" sz="2400" dirty="0"/>
                  <a:t>	</a:t>
                </a:r>
                <a:r>
                  <a:rPr lang="ja-JP" altLang="en-US" sz="2400" dirty="0"/>
                  <a:t>・・・物体２の最終速度</a:t>
                </a:r>
                <a:endParaRPr lang="en-US" altLang="ja-JP" sz="2400" dirty="0"/>
              </a:p>
              <a:p>
                <a:endParaRPr lang="en-US" altLang="ja-JP" sz="2400" dirty="0"/>
              </a:p>
              <a:p>
                <a:r>
                  <a:rPr lang="en-US" altLang="ja-JP" sz="2400" dirty="0"/>
                  <a:t>※</a:t>
                </a:r>
                <a:r>
                  <a:rPr lang="ja-JP" altLang="en-US" sz="2400" dirty="0"/>
                  <a:t>ニュートンの揺りかごで有名なものです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6032421" cy="4982518"/>
              </a:xfrm>
              <a:prstGeom prst="rect">
                <a:avLst/>
              </a:prstGeom>
              <a:blipFill>
                <a:blip r:embed="rId2"/>
                <a:stretch>
                  <a:fillRect l="-1515" t="-979" r="-606" b="-183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21815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43161" cy="584775"/>
          </a:xfrm>
          <a:prstGeom prst="rect">
            <a:avLst/>
          </a:prstGeom>
          <a:noFill/>
        </p:spPr>
        <p:txBody>
          <a:bodyPr wrap="none" rtlCol="0">
            <a:spAutoFit/>
          </a:bodyPr>
          <a:lstStyle/>
          <a:p>
            <a:r>
              <a:rPr lang="ja-JP" altLang="en-US" sz="3200" b="1" u="sng" dirty="0"/>
              <a:t>衝突 例題</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288290"/>
              </a:xfrm>
              <a:prstGeom prst="rect">
                <a:avLst/>
              </a:prstGeom>
              <a:noFill/>
            </p:spPr>
            <p:txBody>
              <a:bodyPr wrap="none" rtlCol="0">
                <a:spAutoFit/>
              </a:bodyPr>
              <a:lstStyle/>
              <a:p>
                <a:r>
                  <a:rPr lang="ja-JP" altLang="en-US" sz="2400" dirty="0"/>
                  <a:t>ビリヤードゲームで手玉を突き、手玉を９番玉に衝突させました。</a:t>
                </a:r>
                <a:endParaRPr lang="en-US" altLang="ja-JP" sz="2400" dirty="0"/>
              </a:p>
              <a:p>
                <a:r>
                  <a:rPr lang="ja-JP" altLang="en-US" sz="2400" dirty="0"/>
                  <a:t>真正面から衝突したため、衝突後に手玉は停止しました。</a:t>
                </a:r>
                <a:endParaRPr lang="en-US" altLang="ja-JP" sz="2400" dirty="0"/>
              </a:p>
              <a:p>
                <a:r>
                  <a:rPr lang="ja-JP" altLang="en-US" sz="2400" dirty="0"/>
                  <a:t>以下の条件の時の９番玉の衝突後の速度を求めなさい。</a:t>
                </a:r>
                <a:endParaRPr lang="en-US" altLang="ja-JP" sz="2400" dirty="0"/>
              </a:p>
              <a:p>
                <a:r>
                  <a:rPr lang="ja-JP" altLang="en-US" sz="2400" dirty="0"/>
                  <a:t>手玉の質量：</a:t>
                </a:r>
                <a14:m>
                  <m:oMath xmlns:m="http://schemas.openxmlformats.org/officeDocument/2006/math">
                    <m:r>
                      <a:rPr lang="en-US" altLang="ja-JP" sz="2400" i="1" dirty="0" smtClean="0">
                        <a:latin typeface="Cambria Math" panose="02040503050406030204" pitchFamily="18" charset="0"/>
                      </a:rPr>
                      <m:t>0.45</m:t>
                    </m:r>
                    <m:r>
                      <a:rPr lang="en-US" altLang="ja-JP" sz="2400" i="1" dirty="0" smtClean="0">
                        <a:latin typeface="Cambria Math" panose="02040503050406030204" pitchFamily="18" charset="0"/>
                      </a:rPr>
                      <m:t>𝑘𝑔</m:t>
                    </m:r>
                  </m:oMath>
                </a14:m>
                <a:r>
                  <a:rPr lang="en-US" altLang="ja-JP" sz="2400" dirty="0"/>
                  <a:t>	</a:t>
                </a:r>
                <a:r>
                  <a:rPr lang="ja-JP" altLang="en-US" sz="2400" dirty="0"/>
                  <a:t>手玉の速度：</a:t>
                </a:r>
                <a14:m>
                  <m:oMath xmlns:m="http://schemas.openxmlformats.org/officeDocument/2006/math">
                    <m:r>
                      <a:rPr lang="en-US" altLang="ja-JP" sz="2400" i="1" dirty="0" smtClean="0">
                        <a:latin typeface="Cambria Math" panose="02040503050406030204" pitchFamily="18" charset="0"/>
                      </a:rPr>
                      <m:t>50</m:t>
                    </m:r>
                    <m:r>
                      <a:rPr lang="en-US" altLang="ja-JP" sz="2400" i="1" dirty="0" smtClean="0">
                        <a:latin typeface="Cambria Math" panose="02040503050406030204" pitchFamily="18" charset="0"/>
                      </a:rPr>
                      <m:t>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oMath>
                </a14:m>
                <a:endParaRPr lang="en-US" altLang="ja-JP" sz="2400" dirty="0"/>
              </a:p>
              <a:p>
                <a:r>
                  <a:rPr lang="ja-JP" altLang="en-US" sz="2400" dirty="0"/>
                  <a:t>９番玉の質量：</a:t>
                </a:r>
                <a14:m>
                  <m:oMath xmlns:m="http://schemas.openxmlformats.org/officeDocument/2006/math">
                    <m:r>
                      <a:rPr lang="en-US" altLang="ja-JP" sz="2400" i="1" dirty="0" smtClean="0">
                        <a:latin typeface="Cambria Math" panose="02040503050406030204" pitchFamily="18" charset="0"/>
                      </a:rPr>
                      <m:t>0.5</m:t>
                    </m:r>
                    <m:r>
                      <a:rPr lang="en-US" altLang="ja-JP" sz="2400" i="1" dirty="0" smtClean="0">
                        <a:latin typeface="Cambria Math" panose="02040503050406030204" pitchFamily="18" charset="0"/>
                      </a:rPr>
                      <m:t>𝑘𝑔</m:t>
                    </m:r>
                  </m:oMath>
                </a14:m>
                <a:r>
                  <a:rPr lang="en-US" altLang="ja-JP" sz="2400" dirty="0"/>
                  <a:t>	</a:t>
                </a:r>
                <a:r>
                  <a:rPr lang="ja-JP" altLang="en-US" sz="2400" dirty="0"/>
                  <a:t>９番玉は手玉が衝突するまで停止している</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14:m>
                  <m:oMath xmlns:m="http://schemas.openxmlformats.org/officeDocument/2006/math">
                    <m:sSub>
                      <m:sSubPr>
                        <m:ctrlPr>
                          <a:rPr lang="en-US" altLang="ja-JP" sz="2400" i="1" smtClean="0">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1</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1</m:t>
                        </m:r>
                        <m:r>
                          <a:rPr lang="en-US" altLang="ja-JP" sz="2400" b="0" i="1">
                            <a:solidFill>
                              <a:schemeClr val="tx1"/>
                            </a:solidFill>
                            <a:latin typeface="Cambria Math" panose="02040503050406030204" pitchFamily="18" charset="0"/>
                          </a:rPr>
                          <m:t>𝑖</m:t>
                        </m:r>
                      </m:sub>
                    </m:sSub>
                    <m:r>
                      <a:rPr lang="en-US" altLang="ja-JP" sz="2400" b="0" i="1">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2</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𝑖</m:t>
                        </m:r>
                      </m:sub>
                    </m:sSub>
                    <m:r>
                      <a:rPr lang="en-US" altLang="ja-JP" sz="2400" b="0" i="1" smtClean="0">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1</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1</m:t>
                        </m:r>
                        <m:r>
                          <a:rPr lang="en-US" altLang="ja-JP" sz="2400" b="0" i="1">
                            <a:solidFill>
                              <a:schemeClr val="tx1"/>
                            </a:solidFill>
                            <a:latin typeface="Cambria Math" panose="02040503050406030204" pitchFamily="18" charset="0"/>
                          </a:rPr>
                          <m:t>𝑓</m:t>
                        </m:r>
                      </m:sub>
                    </m:sSub>
                    <m:r>
                      <a:rPr lang="en-US" altLang="ja-JP" sz="2400" b="0" i="1">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2</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𝑓</m:t>
                        </m:r>
                      </m:sub>
                    </m:sSub>
                  </m:oMath>
                </a14:m>
                <a:r>
                  <a:rPr lang="en-US" altLang="ja-JP" sz="2400" dirty="0"/>
                  <a:t> </a:t>
                </a:r>
                <a:r>
                  <a:rPr lang="ja-JP" altLang="en-US" sz="2400" dirty="0"/>
                  <a:t>より</a:t>
                </a:r>
                <a:endParaRPr lang="en-US" altLang="ja-JP" sz="2400" dirty="0"/>
              </a:p>
              <a:p>
                <a14:m>
                  <m:oMath xmlns:m="http://schemas.openxmlformats.org/officeDocument/2006/math">
                    <m:r>
                      <a:rPr lang="en-US" altLang="ja-JP" sz="2400" b="0" i="0" smtClean="0">
                        <a:solidFill>
                          <a:schemeClr val="tx1"/>
                        </a:solidFill>
                        <a:latin typeface="Cambria Math" panose="02040503050406030204" pitchFamily="18" charset="0"/>
                      </a:rPr>
                      <m:t>(</m:t>
                    </m:r>
                    <m:r>
                      <a:rPr lang="en-US" altLang="ja-JP" sz="2400" i="1" smtClean="0">
                        <a:solidFill>
                          <a:schemeClr val="tx1"/>
                        </a:solidFill>
                        <a:latin typeface="Cambria Math" panose="02040503050406030204" pitchFamily="18" charset="0"/>
                      </a:rPr>
                      <m:t>0</m:t>
                    </m:r>
                    <m:r>
                      <a:rPr lang="en-US" altLang="ja-JP" sz="2400" b="0" i="1" smtClean="0">
                        <a:solidFill>
                          <a:schemeClr val="tx1"/>
                        </a:solidFill>
                        <a:latin typeface="Cambria Math" panose="02040503050406030204" pitchFamily="18" charset="0"/>
                      </a:rPr>
                      <m:t>.45</m:t>
                    </m:r>
                    <m:r>
                      <a:rPr lang="en-US" altLang="ja-JP" sz="2400" b="0" i="1" smtClean="0">
                        <a:solidFill>
                          <a:schemeClr val="tx1"/>
                        </a:solidFill>
                        <a:latin typeface="Cambria Math" panose="02040503050406030204" pitchFamily="18" charset="0"/>
                      </a:rPr>
                      <m:t>𝑘𝑔</m:t>
                    </m:r>
                    <m:r>
                      <a:rPr lang="en-US" altLang="ja-JP" sz="2400" b="0" i="1" smtClean="0">
                        <a:solidFill>
                          <a:schemeClr val="tx1"/>
                        </a:solidFill>
                        <a:latin typeface="Cambria Math" panose="02040503050406030204" pitchFamily="18" charset="0"/>
                      </a:rPr>
                      <m:t>)(50</m:t>
                    </m:r>
                    <m:r>
                      <a:rPr lang="en-US" altLang="ja-JP" sz="2400" b="0" i="1" smtClean="0">
                        <a:solidFill>
                          <a:schemeClr val="tx1"/>
                        </a:solidFill>
                        <a:latin typeface="Cambria Math" panose="02040503050406030204" pitchFamily="18" charset="0"/>
                      </a:rPr>
                      <m:t>𝑚</m:t>
                    </m:r>
                    <m:r>
                      <a:rPr lang="en-US" altLang="ja-JP" sz="2400" b="0" i="1" smtClean="0">
                        <a:solidFill>
                          <a:schemeClr val="tx1"/>
                        </a:solidFill>
                        <a:latin typeface="Cambria Math" panose="02040503050406030204" pitchFamily="18" charset="0"/>
                      </a:rPr>
                      <m:t>/</m:t>
                    </m:r>
                    <m:r>
                      <a:rPr lang="ja-JP" altLang="en-US" sz="2400" i="1">
                        <a:latin typeface="Cambria Math" panose="02040503050406030204" pitchFamily="18" charset="0"/>
                      </a:rPr>
                      <m:t>秒</m:t>
                    </m:r>
                    <m:r>
                      <a:rPr lang="en-US" altLang="ja-JP" sz="2400" b="0" i="1" smtClean="0">
                        <a:solidFill>
                          <a:schemeClr val="tx1"/>
                        </a:solidFill>
                        <a:latin typeface="Cambria Math" panose="02040503050406030204" pitchFamily="18" charset="0"/>
                      </a:rPr>
                      <m:t>)</m:t>
                    </m:r>
                    <m:r>
                      <a:rPr lang="en-US" altLang="ja-JP" sz="2400" b="0" i="1">
                        <a:solidFill>
                          <a:schemeClr val="tx1"/>
                        </a:solidFill>
                        <a:latin typeface="Cambria Math" panose="02040503050406030204" pitchFamily="18" charset="0"/>
                      </a:rPr>
                      <m:t>+</m:t>
                    </m:r>
                    <m:r>
                      <a:rPr lang="en-US" altLang="ja-JP" sz="240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0.5</m:t>
                    </m:r>
                    <m:r>
                      <a:rPr lang="en-US" altLang="ja-JP" sz="2400" b="0" i="1" smtClean="0">
                        <a:solidFill>
                          <a:schemeClr val="tx1"/>
                        </a:solidFill>
                        <a:latin typeface="Cambria Math" panose="02040503050406030204" pitchFamily="18" charset="0"/>
                      </a:rPr>
                      <m:t>𝑘𝑔</m:t>
                    </m:r>
                    <m:r>
                      <a:rPr lang="en-US" altLang="ja-JP" sz="2400" b="0" i="1" smtClean="0">
                        <a:solidFill>
                          <a:schemeClr val="tx1"/>
                        </a:solidFill>
                        <a:latin typeface="Cambria Math" panose="02040503050406030204" pitchFamily="18" charset="0"/>
                      </a:rPr>
                      <m:t>)(0)=(0.45</m:t>
                    </m:r>
                    <m:r>
                      <a:rPr lang="en-US" altLang="ja-JP" sz="2400" b="0" i="1" smtClean="0">
                        <a:solidFill>
                          <a:schemeClr val="tx1"/>
                        </a:solidFill>
                        <a:latin typeface="Cambria Math" panose="02040503050406030204" pitchFamily="18" charset="0"/>
                      </a:rPr>
                      <m:t>𝑘𝑔</m:t>
                    </m:r>
                    <m:r>
                      <a:rPr lang="en-US" altLang="ja-JP" sz="2400" b="0" i="1" smtClean="0">
                        <a:solidFill>
                          <a:schemeClr val="tx1"/>
                        </a:solidFill>
                        <a:latin typeface="Cambria Math" panose="02040503050406030204" pitchFamily="18" charset="0"/>
                      </a:rPr>
                      <m:t>)(0)+(0.5</m:t>
                    </m:r>
                    <m:r>
                      <a:rPr lang="en-US" altLang="ja-JP" sz="2400" b="0" i="1" smtClean="0">
                        <a:solidFill>
                          <a:schemeClr val="tx1"/>
                        </a:solidFill>
                        <a:latin typeface="Cambria Math" panose="02040503050406030204" pitchFamily="18" charset="0"/>
                      </a:rPr>
                      <m:t>𝑘𝑔</m:t>
                    </m:r>
                    <m:r>
                      <a:rPr lang="en-US" altLang="ja-JP" sz="2400" b="0" i="1" smtClean="0">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𝑓</m:t>
                        </m:r>
                      </m:sub>
                    </m:sSub>
                  </m:oMath>
                </a14:m>
                <a:r>
                  <a:rPr lang="en-US" altLang="ja-JP" sz="2400" dirty="0"/>
                  <a:t> </a:t>
                </a:r>
              </a:p>
              <a:p>
                <a14:m>
                  <m:oMath xmlns:m="http://schemas.openxmlformats.org/officeDocument/2006/math">
                    <m:r>
                      <a:rPr lang="en-US" altLang="ja-JP" sz="2400" i="1" smtClean="0">
                        <a:solidFill>
                          <a:schemeClr val="tx1"/>
                        </a:solidFill>
                        <a:latin typeface="Cambria Math" panose="02040503050406030204" pitchFamily="18" charset="0"/>
                      </a:rPr>
                      <m:t>2</m:t>
                    </m:r>
                    <m:r>
                      <a:rPr lang="en-US" altLang="ja-JP" sz="2400" b="0" i="1" smtClean="0">
                        <a:solidFill>
                          <a:schemeClr val="tx1"/>
                        </a:solidFill>
                        <a:latin typeface="Cambria Math" panose="02040503050406030204" pitchFamily="18" charset="0"/>
                      </a:rPr>
                      <m:t>2.5</m:t>
                    </m:r>
                    <m:r>
                      <a:rPr lang="en-US" altLang="ja-JP" sz="2400" b="0" i="1" smtClean="0">
                        <a:solidFill>
                          <a:schemeClr val="tx1"/>
                        </a:solidFill>
                        <a:latin typeface="Cambria Math" panose="02040503050406030204" pitchFamily="18" charset="0"/>
                      </a:rPr>
                      <m:t>𝑘𝑔𝑚</m:t>
                    </m:r>
                    <m:r>
                      <a:rPr lang="en-US" altLang="ja-JP" sz="2400" b="0" i="1" smtClean="0">
                        <a:solidFill>
                          <a:schemeClr val="tx1"/>
                        </a:solidFill>
                        <a:latin typeface="Cambria Math" panose="02040503050406030204" pitchFamily="18" charset="0"/>
                      </a:rPr>
                      <m:t>/</m:t>
                    </m:r>
                    <m:r>
                      <a:rPr lang="ja-JP" altLang="en-US" sz="2400" i="1" smtClean="0">
                        <a:latin typeface="Cambria Math" panose="02040503050406030204" pitchFamily="18" charset="0"/>
                      </a:rPr>
                      <m:t>秒</m:t>
                    </m:r>
                    <m:r>
                      <a:rPr lang="en-US" altLang="ja-JP" sz="2400" b="0" i="1" smtClean="0">
                        <a:solidFill>
                          <a:schemeClr val="tx1"/>
                        </a:solidFill>
                        <a:latin typeface="Cambria Math" panose="02040503050406030204" pitchFamily="18" charset="0"/>
                      </a:rPr>
                      <m:t> =(0.5</m:t>
                    </m:r>
                    <m:r>
                      <a:rPr lang="en-US" altLang="ja-JP" sz="2400" b="0" i="1" smtClean="0">
                        <a:solidFill>
                          <a:schemeClr val="tx1"/>
                        </a:solidFill>
                        <a:latin typeface="Cambria Math" panose="02040503050406030204" pitchFamily="18" charset="0"/>
                      </a:rPr>
                      <m:t>𝑘𝑔</m:t>
                    </m:r>
                    <m:r>
                      <a:rPr lang="en-US" altLang="ja-JP" sz="2400" b="0" i="1" smtClean="0">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𝑓</m:t>
                        </m:r>
                      </m:sub>
                    </m:sSub>
                  </m:oMath>
                </a14:m>
                <a:r>
                  <a:rPr lang="en-US" altLang="ja-JP" sz="2400" dirty="0"/>
                  <a:t> </a:t>
                </a:r>
              </a:p>
              <a:p>
                <a14:m>
                  <m:oMath xmlns:m="http://schemas.openxmlformats.org/officeDocument/2006/math">
                    <m:sSub>
                      <m:sSubPr>
                        <m:ctrlPr>
                          <a:rPr lang="en-US" altLang="ja-JP" sz="2400" i="1" smtClean="0">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𝑓</m:t>
                        </m:r>
                      </m:sub>
                    </m:sSub>
                    <m:r>
                      <a:rPr lang="en-US" altLang="ja-JP" sz="2400" b="0" i="1" smtClean="0">
                        <a:solidFill>
                          <a:schemeClr val="tx1"/>
                        </a:solidFill>
                        <a:latin typeface="Cambria Math" panose="02040503050406030204" pitchFamily="18" charset="0"/>
                      </a:rPr>
                      <m:t>=</m:t>
                    </m:r>
                    <m:r>
                      <a:rPr lang="en-US" altLang="ja-JP" sz="2400" b="1" i="1" smtClean="0">
                        <a:solidFill>
                          <a:srgbClr val="FF0000"/>
                        </a:solidFill>
                        <a:latin typeface="Cambria Math" panose="02040503050406030204" pitchFamily="18" charset="0"/>
                      </a:rPr>
                      <m:t>𝟒𝟓</m:t>
                    </m:r>
                    <m:r>
                      <a:rPr lang="en-US" altLang="ja-JP" sz="2400" b="1" i="1" smtClean="0">
                        <a:solidFill>
                          <a:srgbClr val="FF0000"/>
                        </a:solidFill>
                        <a:latin typeface="Cambria Math" panose="02040503050406030204" pitchFamily="18" charset="0"/>
                      </a:rPr>
                      <m:t>𝒎</m:t>
                    </m:r>
                    <m:r>
                      <a:rPr lang="en-US" altLang="ja-JP" sz="2400" b="1" i="1" smtClean="0">
                        <a:solidFill>
                          <a:srgbClr val="FF0000"/>
                        </a:solidFill>
                        <a:latin typeface="Cambria Math" panose="02040503050406030204" pitchFamily="18" charset="0"/>
                      </a:rPr>
                      <m:t>/</m:t>
                    </m:r>
                    <m:r>
                      <a:rPr lang="ja-JP" altLang="en-US" sz="2400" b="1" i="1">
                        <a:solidFill>
                          <a:srgbClr val="FF0000"/>
                        </a:solidFill>
                        <a:latin typeface="Cambria Math" panose="02040503050406030204" pitchFamily="18" charset="0"/>
                      </a:rPr>
                      <m:t>秒</m:t>
                    </m:r>
                  </m:oMath>
                </a14:m>
                <a:r>
                  <a:rPr lang="en-US" altLang="ja-JP" sz="2400" dirty="0"/>
                  <a:t> </a:t>
                </a:r>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725739" cy="4288290"/>
              </a:xfrm>
              <a:prstGeom prst="rect">
                <a:avLst/>
              </a:prstGeom>
              <a:blipFill>
                <a:blip r:embed="rId2"/>
                <a:stretch>
                  <a:fillRect l="-940" t="-1138" b="-42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355153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43161" cy="584775"/>
          </a:xfrm>
          <a:prstGeom prst="rect">
            <a:avLst/>
          </a:prstGeom>
          <a:noFill/>
        </p:spPr>
        <p:txBody>
          <a:bodyPr wrap="none" rtlCol="0">
            <a:spAutoFit/>
          </a:bodyPr>
          <a:lstStyle/>
          <a:p>
            <a:r>
              <a:rPr lang="ja-JP" altLang="en-US" sz="3200" b="1" u="sng" dirty="0"/>
              <a:t>衝突 例題</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863534" cy="5026954"/>
              </a:xfrm>
              <a:prstGeom prst="rect">
                <a:avLst/>
              </a:prstGeom>
              <a:noFill/>
            </p:spPr>
            <p:txBody>
              <a:bodyPr wrap="none" rtlCol="0">
                <a:spAutoFit/>
              </a:bodyPr>
              <a:lstStyle/>
              <a:p>
                <a:r>
                  <a:rPr lang="ja-JP" altLang="en-US" sz="2400" dirty="0"/>
                  <a:t>ビリヤードゲームで手玉を突き、手玉を９番玉に衝突させました。</a:t>
                </a:r>
                <a:endParaRPr lang="en-US" altLang="ja-JP" sz="2400" dirty="0"/>
              </a:p>
              <a:p>
                <a:r>
                  <a:rPr lang="ja-JP" altLang="en-US" sz="2400" dirty="0"/>
                  <a:t>真正面から衝突したため、衝突後に手玉は停止しました。</a:t>
                </a:r>
                <a:endParaRPr lang="en-US" altLang="ja-JP" sz="2400" dirty="0"/>
              </a:p>
              <a:p>
                <a:r>
                  <a:rPr lang="ja-JP" altLang="en-US" sz="2400" dirty="0"/>
                  <a:t>以下の条件の時の９番玉の衝突後の速度を求めなさい。（３</a:t>
                </a:r>
                <a:r>
                  <a:rPr lang="en-US" altLang="ja-JP" sz="2400" dirty="0"/>
                  <a:t>D</a:t>
                </a:r>
                <a:r>
                  <a:rPr lang="ja-JP" altLang="en-US" sz="2400" dirty="0"/>
                  <a:t>）</a:t>
                </a:r>
                <a:endParaRPr lang="en-US" altLang="ja-JP" sz="2400" dirty="0"/>
              </a:p>
              <a:p>
                <a:r>
                  <a:rPr lang="ja-JP" altLang="en-US" sz="2400" dirty="0"/>
                  <a:t>手玉の質量：</a:t>
                </a:r>
                <a14:m>
                  <m:oMath xmlns:m="http://schemas.openxmlformats.org/officeDocument/2006/math">
                    <m:r>
                      <a:rPr lang="en-US" altLang="ja-JP" sz="2400" i="1" dirty="0" smtClean="0">
                        <a:latin typeface="Cambria Math" panose="02040503050406030204" pitchFamily="18" charset="0"/>
                      </a:rPr>
                      <m:t>0.45</m:t>
                    </m:r>
                    <m:r>
                      <a:rPr lang="en-US" altLang="ja-JP" sz="2400" i="1" dirty="0" smtClean="0">
                        <a:latin typeface="Cambria Math" panose="02040503050406030204" pitchFamily="18" charset="0"/>
                      </a:rPr>
                      <m:t>𝑘𝑔</m:t>
                    </m:r>
                  </m:oMath>
                </a14:m>
                <a:r>
                  <a:rPr lang="en-US" altLang="ja-JP" sz="2400" dirty="0"/>
                  <a:t>	</a:t>
                </a:r>
                <a:r>
                  <a:rPr lang="ja-JP" altLang="en-US" sz="2400" dirty="0"/>
                  <a:t>手玉の速度：</a:t>
                </a:r>
                <a14:m>
                  <m:oMath xmlns:m="http://schemas.openxmlformats.org/officeDocument/2006/math">
                    <m:r>
                      <a:rPr lang="en-US" altLang="ja-JP" sz="2400" b="0" i="0" dirty="0" smtClean="0">
                        <a:latin typeface="Cambria Math" panose="02040503050406030204" pitchFamily="18" charset="0"/>
                      </a:rPr>
                      <m:t>[</m:t>
                    </m:r>
                    <m:r>
                      <a:rPr lang="en-US" altLang="ja-JP" sz="2400" i="1" dirty="0">
                        <a:latin typeface="Cambria Math" panose="02040503050406030204" pitchFamily="18" charset="0"/>
                      </a:rPr>
                      <m:t>50</m:t>
                    </m:r>
                    <m:r>
                      <a:rPr lang="en-US" altLang="ja-JP" sz="2400" b="0" i="0" dirty="0" smtClean="0">
                        <a:latin typeface="Cambria Math" panose="02040503050406030204" pitchFamily="18" charset="0"/>
                      </a:rPr>
                      <m:t>, 10, −30]</m:t>
                    </m:r>
                    <m:r>
                      <a:rPr lang="en-US" altLang="ja-JP" sz="2400" i="1" dirty="0" smtClean="0">
                        <a:latin typeface="Cambria Math" panose="02040503050406030204" pitchFamily="18" charset="0"/>
                      </a:rPr>
                      <m:t> </m:t>
                    </m:r>
                    <m:r>
                      <a:rPr lang="en-US" altLang="ja-JP" sz="2400" i="1" dirty="0" smtClean="0">
                        <a:latin typeface="Cambria Math" panose="02040503050406030204" pitchFamily="18" charset="0"/>
                      </a:rPr>
                      <m:t>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oMath>
                </a14:m>
                <a:endParaRPr lang="en-US" altLang="ja-JP" sz="2400" dirty="0"/>
              </a:p>
              <a:p>
                <a:r>
                  <a:rPr lang="ja-JP" altLang="en-US" sz="2400" dirty="0"/>
                  <a:t>９番玉の質量：</a:t>
                </a:r>
                <a14:m>
                  <m:oMath xmlns:m="http://schemas.openxmlformats.org/officeDocument/2006/math">
                    <m:r>
                      <a:rPr lang="en-US" altLang="ja-JP" sz="2400" i="1" dirty="0" smtClean="0">
                        <a:latin typeface="Cambria Math" panose="02040503050406030204" pitchFamily="18" charset="0"/>
                      </a:rPr>
                      <m:t>0.5</m:t>
                    </m:r>
                    <m:r>
                      <a:rPr lang="en-US" altLang="ja-JP" sz="2400" i="1" dirty="0" smtClean="0">
                        <a:latin typeface="Cambria Math" panose="02040503050406030204" pitchFamily="18" charset="0"/>
                      </a:rPr>
                      <m:t>𝑘𝑔</m:t>
                    </m:r>
                  </m:oMath>
                </a14:m>
                <a:r>
                  <a:rPr lang="en-US" altLang="ja-JP" sz="2400" dirty="0"/>
                  <a:t>	</a:t>
                </a:r>
                <a:r>
                  <a:rPr lang="ja-JP" altLang="en-US" sz="2400" dirty="0"/>
                  <a:t>９番玉は手玉が衝突するまで停止している</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14:m>
                  <m:oMath xmlns:m="http://schemas.openxmlformats.org/officeDocument/2006/math">
                    <m:sSub>
                      <m:sSubPr>
                        <m:ctrlPr>
                          <a:rPr lang="en-US" altLang="ja-JP" sz="2400" i="1" smtClean="0">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1</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1</m:t>
                        </m:r>
                        <m:r>
                          <a:rPr lang="en-US" altLang="ja-JP" sz="2400" b="0" i="1">
                            <a:solidFill>
                              <a:schemeClr val="tx1"/>
                            </a:solidFill>
                            <a:latin typeface="Cambria Math" panose="02040503050406030204" pitchFamily="18" charset="0"/>
                          </a:rPr>
                          <m:t>𝑖</m:t>
                        </m:r>
                      </m:sub>
                    </m:sSub>
                    <m:r>
                      <a:rPr lang="en-US" altLang="ja-JP" sz="2400" b="0" i="1">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2</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𝑖</m:t>
                        </m:r>
                      </m:sub>
                    </m:sSub>
                    <m:r>
                      <a:rPr lang="en-US" altLang="ja-JP" sz="2400" b="0" i="1" smtClean="0">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1</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1</m:t>
                        </m:r>
                        <m:r>
                          <a:rPr lang="en-US" altLang="ja-JP" sz="2400" b="0" i="1">
                            <a:solidFill>
                              <a:schemeClr val="tx1"/>
                            </a:solidFill>
                            <a:latin typeface="Cambria Math" panose="02040503050406030204" pitchFamily="18" charset="0"/>
                          </a:rPr>
                          <m:t>𝑓</m:t>
                        </m:r>
                      </m:sub>
                    </m:sSub>
                    <m:r>
                      <a:rPr lang="en-US" altLang="ja-JP" sz="2400" b="0" i="1">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2</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𝑓</m:t>
                        </m:r>
                      </m:sub>
                    </m:sSub>
                  </m:oMath>
                </a14:m>
                <a:r>
                  <a:rPr lang="en-US" altLang="ja-JP" sz="2400" dirty="0"/>
                  <a:t> </a:t>
                </a:r>
                <a:r>
                  <a:rPr lang="ja-JP" altLang="en-US" sz="2400" dirty="0"/>
                  <a:t>より</a:t>
                </a:r>
                <a:endParaRPr lang="en-US" altLang="ja-JP" sz="2400" dirty="0"/>
              </a:p>
              <a:p>
                <a14:m>
                  <m:oMath xmlns:m="http://schemas.openxmlformats.org/officeDocument/2006/math">
                    <m:r>
                      <a:rPr lang="en-US" altLang="ja-JP" sz="2400" b="0" i="0" smtClean="0">
                        <a:solidFill>
                          <a:schemeClr val="tx1"/>
                        </a:solidFill>
                        <a:latin typeface="Cambria Math" panose="02040503050406030204" pitchFamily="18" charset="0"/>
                      </a:rPr>
                      <m:t>(</m:t>
                    </m:r>
                    <m:r>
                      <a:rPr lang="en-US" altLang="ja-JP" sz="2400" i="1" smtClean="0">
                        <a:solidFill>
                          <a:schemeClr val="tx1"/>
                        </a:solidFill>
                        <a:latin typeface="Cambria Math" panose="02040503050406030204" pitchFamily="18" charset="0"/>
                      </a:rPr>
                      <m:t>0</m:t>
                    </m:r>
                    <m:r>
                      <a:rPr lang="en-US" altLang="ja-JP" sz="2400" b="0" i="1" smtClean="0">
                        <a:solidFill>
                          <a:schemeClr val="tx1"/>
                        </a:solidFill>
                        <a:latin typeface="Cambria Math" panose="02040503050406030204" pitchFamily="18" charset="0"/>
                      </a:rPr>
                      <m:t>.45</m:t>
                    </m:r>
                    <m:r>
                      <a:rPr lang="en-US" altLang="ja-JP" sz="2400" b="0" i="1" smtClean="0">
                        <a:solidFill>
                          <a:schemeClr val="tx1"/>
                        </a:solidFill>
                        <a:latin typeface="Cambria Math" panose="02040503050406030204" pitchFamily="18" charset="0"/>
                      </a:rPr>
                      <m:t>𝑘𝑔</m:t>
                    </m:r>
                    <m:r>
                      <a:rPr lang="en-US" altLang="ja-JP" sz="2400" b="0" i="1" smtClean="0">
                        <a:solidFill>
                          <a:schemeClr val="tx1"/>
                        </a:solidFill>
                        <a:latin typeface="Cambria Math" panose="02040503050406030204" pitchFamily="18" charset="0"/>
                      </a:rPr>
                      <m:t>)(</m:t>
                    </m:r>
                    <m:r>
                      <a:rPr lang="en-US" altLang="ja-JP" sz="2400" dirty="0">
                        <a:latin typeface="Cambria Math" panose="02040503050406030204" pitchFamily="18" charset="0"/>
                      </a:rPr>
                      <m:t>[</m:t>
                    </m:r>
                    <m:r>
                      <a:rPr lang="en-US" altLang="ja-JP" sz="2400" i="1" dirty="0">
                        <a:latin typeface="Cambria Math" panose="02040503050406030204" pitchFamily="18" charset="0"/>
                      </a:rPr>
                      <m:t>50</m:t>
                    </m:r>
                    <m:r>
                      <a:rPr lang="en-US" altLang="ja-JP" sz="2400" dirty="0">
                        <a:latin typeface="Cambria Math" panose="02040503050406030204" pitchFamily="18" charset="0"/>
                      </a:rPr>
                      <m:t>, 10, −30]</m:t>
                    </m:r>
                    <m:r>
                      <a:rPr lang="en-US" altLang="ja-JP" sz="2400" b="0" i="1" smtClean="0">
                        <a:solidFill>
                          <a:schemeClr val="tx1"/>
                        </a:solidFill>
                        <a:latin typeface="Cambria Math" panose="02040503050406030204" pitchFamily="18" charset="0"/>
                      </a:rPr>
                      <m:t>𝑚</m:t>
                    </m:r>
                    <m:r>
                      <a:rPr lang="en-US" altLang="ja-JP" sz="2400" b="0" i="1" smtClean="0">
                        <a:solidFill>
                          <a:schemeClr val="tx1"/>
                        </a:solidFill>
                        <a:latin typeface="Cambria Math" panose="02040503050406030204" pitchFamily="18" charset="0"/>
                      </a:rPr>
                      <m:t>/</m:t>
                    </m:r>
                    <m:r>
                      <a:rPr lang="ja-JP" altLang="en-US" sz="2400" i="1">
                        <a:latin typeface="Cambria Math" panose="02040503050406030204" pitchFamily="18" charset="0"/>
                      </a:rPr>
                      <m:t>秒</m:t>
                    </m:r>
                    <m:r>
                      <a:rPr lang="en-US" altLang="ja-JP" sz="2400" b="0" i="1" smtClean="0">
                        <a:solidFill>
                          <a:schemeClr val="tx1"/>
                        </a:solidFill>
                        <a:latin typeface="Cambria Math" panose="02040503050406030204" pitchFamily="18" charset="0"/>
                      </a:rPr>
                      <m:t>)</m:t>
                    </m:r>
                    <m:r>
                      <a:rPr lang="en-US" altLang="ja-JP" sz="2400" b="0" i="1">
                        <a:solidFill>
                          <a:schemeClr val="tx1"/>
                        </a:solidFill>
                        <a:latin typeface="Cambria Math" panose="02040503050406030204" pitchFamily="18" charset="0"/>
                      </a:rPr>
                      <m:t>+</m:t>
                    </m:r>
                    <m:r>
                      <a:rPr lang="en-US" altLang="ja-JP" sz="240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0.5</m:t>
                    </m:r>
                    <m:r>
                      <a:rPr lang="en-US" altLang="ja-JP" sz="2400" b="0" i="1" smtClean="0">
                        <a:solidFill>
                          <a:schemeClr val="tx1"/>
                        </a:solidFill>
                        <a:latin typeface="Cambria Math" panose="02040503050406030204" pitchFamily="18" charset="0"/>
                      </a:rPr>
                      <m:t>𝑘𝑔</m:t>
                    </m:r>
                    <m:r>
                      <a:rPr lang="en-US" altLang="ja-JP" sz="2400" b="0" i="1" smtClean="0">
                        <a:solidFill>
                          <a:schemeClr val="tx1"/>
                        </a:solidFill>
                        <a:latin typeface="Cambria Math" panose="02040503050406030204" pitchFamily="18" charset="0"/>
                      </a:rPr>
                      <m:t>)(0)=(0.45</m:t>
                    </m:r>
                    <m:r>
                      <a:rPr lang="en-US" altLang="ja-JP" sz="2400" b="0" i="1" smtClean="0">
                        <a:solidFill>
                          <a:schemeClr val="tx1"/>
                        </a:solidFill>
                        <a:latin typeface="Cambria Math" panose="02040503050406030204" pitchFamily="18" charset="0"/>
                      </a:rPr>
                      <m:t>𝑘𝑔</m:t>
                    </m:r>
                    <m:r>
                      <a:rPr lang="en-US" altLang="ja-JP" sz="2400" b="0" i="1" smtClean="0">
                        <a:solidFill>
                          <a:schemeClr val="tx1"/>
                        </a:solidFill>
                        <a:latin typeface="Cambria Math" panose="02040503050406030204" pitchFamily="18" charset="0"/>
                      </a:rPr>
                      <m:t>)(0)+(0.5</m:t>
                    </m:r>
                    <m:r>
                      <a:rPr lang="en-US" altLang="ja-JP" sz="2400" b="0" i="1" smtClean="0">
                        <a:solidFill>
                          <a:schemeClr val="tx1"/>
                        </a:solidFill>
                        <a:latin typeface="Cambria Math" panose="02040503050406030204" pitchFamily="18" charset="0"/>
                      </a:rPr>
                      <m:t>𝑘𝑔</m:t>
                    </m:r>
                    <m:r>
                      <a:rPr lang="en-US" altLang="ja-JP" sz="2400" b="0" i="1" smtClean="0">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𝑓</m:t>
                        </m:r>
                      </m:sub>
                    </m:sSub>
                  </m:oMath>
                </a14:m>
                <a:r>
                  <a:rPr lang="en-US" altLang="ja-JP" sz="2400" dirty="0"/>
                  <a:t> </a:t>
                </a:r>
              </a:p>
              <a:p>
                <a14:m>
                  <m:oMath xmlns:m="http://schemas.openxmlformats.org/officeDocument/2006/math">
                    <m:r>
                      <a:rPr lang="en-US" altLang="ja-JP" sz="2400" dirty="0">
                        <a:latin typeface="Cambria Math" panose="02040503050406030204" pitchFamily="18" charset="0"/>
                      </a:rPr>
                      <m:t>[</m:t>
                    </m:r>
                    <m:r>
                      <a:rPr lang="en-US" altLang="ja-JP" sz="2400" b="0" i="1" dirty="0" smtClean="0">
                        <a:latin typeface="Cambria Math" panose="02040503050406030204" pitchFamily="18" charset="0"/>
                      </a:rPr>
                      <m:t>22.5</m:t>
                    </m:r>
                    <m:r>
                      <a:rPr lang="en-US" altLang="ja-JP" sz="2400" dirty="0">
                        <a:latin typeface="Cambria Math" panose="02040503050406030204" pitchFamily="18" charset="0"/>
                      </a:rPr>
                      <m:t>, </m:t>
                    </m:r>
                    <m:r>
                      <a:rPr lang="en-US" altLang="ja-JP" sz="2400" b="0" i="0" dirty="0" smtClean="0">
                        <a:latin typeface="Cambria Math" panose="02040503050406030204" pitchFamily="18" charset="0"/>
                      </a:rPr>
                      <m:t>4.5</m:t>
                    </m:r>
                    <m:r>
                      <a:rPr lang="en-US" altLang="ja-JP" sz="2400" dirty="0">
                        <a:latin typeface="Cambria Math" panose="02040503050406030204" pitchFamily="18" charset="0"/>
                      </a:rPr>
                      <m:t>, −</m:t>
                    </m:r>
                    <m:r>
                      <a:rPr lang="en-US" altLang="ja-JP" sz="2400" b="0" i="0" dirty="0" smtClean="0">
                        <a:latin typeface="Cambria Math" panose="02040503050406030204" pitchFamily="18" charset="0"/>
                      </a:rPr>
                      <m:t>13.5</m:t>
                    </m:r>
                    <m:r>
                      <a:rPr lang="en-US" altLang="ja-JP" sz="2400" dirty="0">
                        <a:latin typeface="Cambria Math" panose="02040503050406030204" pitchFamily="18" charset="0"/>
                      </a:rPr>
                      <m:t>]</m:t>
                    </m:r>
                    <m:r>
                      <a:rPr lang="en-US" altLang="ja-JP" sz="2400" b="0" i="1" smtClean="0">
                        <a:solidFill>
                          <a:schemeClr val="tx1"/>
                        </a:solidFill>
                        <a:latin typeface="Cambria Math" panose="02040503050406030204" pitchFamily="18" charset="0"/>
                      </a:rPr>
                      <m:t>𝑘𝑔𝑚</m:t>
                    </m:r>
                    <m:r>
                      <a:rPr lang="en-US" altLang="ja-JP" sz="2400" b="0" i="1" smtClean="0">
                        <a:solidFill>
                          <a:schemeClr val="tx1"/>
                        </a:solidFill>
                        <a:latin typeface="Cambria Math" panose="02040503050406030204" pitchFamily="18" charset="0"/>
                      </a:rPr>
                      <m:t>/</m:t>
                    </m:r>
                    <m:r>
                      <a:rPr lang="ja-JP" altLang="en-US" sz="2400" i="1" smtClean="0">
                        <a:latin typeface="Cambria Math" panose="02040503050406030204" pitchFamily="18" charset="0"/>
                      </a:rPr>
                      <m:t>秒</m:t>
                    </m:r>
                    <m:r>
                      <a:rPr lang="en-US" altLang="ja-JP" sz="2400" b="0" i="1" smtClean="0">
                        <a:solidFill>
                          <a:schemeClr val="tx1"/>
                        </a:solidFill>
                        <a:latin typeface="Cambria Math" panose="02040503050406030204" pitchFamily="18" charset="0"/>
                      </a:rPr>
                      <m:t> =(0.5</m:t>
                    </m:r>
                    <m:r>
                      <a:rPr lang="en-US" altLang="ja-JP" sz="2400" b="0" i="1" smtClean="0">
                        <a:solidFill>
                          <a:schemeClr val="tx1"/>
                        </a:solidFill>
                        <a:latin typeface="Cambria Math" panose="02040503050406030204" pitchFamily="18" charset="0"/>
                      </a:rPr>
                      <m:t>𝑘𝑔</m:t>
                    </m:r>
                    <m:r>
                      <a:rPr lang="en-US" altLang="ja-JP" sz="2400" b="0" i="1" smtClean="0">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𝑓</m:t>
                        </m:r>
                      </m:sub>
                    </m:sSub>
                  </m:oMath>
                </a14:m>
                <a:r>
                  <a:rPr lang="en-US" altLang="ja-JP" sz="2400" dirty="0"/>
                  <a:t> </a:t>
                </a:r>
              </a:p>
              <a:p>
                <a14:m>
                  <m:oMath xmlns:m="http://schemas.openxmlformats.org/officeDocument/2006/math">
                    <m:sSub>
                      <m:sSubPr>
                        <m:ctrlPr>
                          <a:rPr lang="en-US" altLang="ja-JP" sz="2400" i="1" smtClean="0">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𝑓</m:t>
                        </m:r>
                      </m:sub>
                    </m:sSub>
                    <m:r>
                      <a:rPr lang="en-US" altLang="ja-JP" sz="2400" b="0" i="1" smtClean="0">
                        <a:solidFill>
                          <a:schemeClr val="tx1"/>
                        </a:solidFill>
                        <a:latin typeface="Cambria Math" panose="02040503050406030204" pitchFamily="18" charset="0"/>
                      </a:rPr>
                      <m:t>=</m:t>
                    </m:r>
                    <m:r>
                      <a:rPr lang="en-US" altLang="ja-JP" sz="2400" dirty="0" smtClean="0">
                        <a:solidFill>
                          <a:srgbClr val="FF0000"/>
                        </a:solidFill>
                        <a:latin typeface="Cambria Math" panose="02040503050406030204" pitchFamily="18" charset="0"/>
                      </a:rPr>
                      <m:t>[</m:t>
                    </m:r>
                    <m:r>
                      <a:rPr lang="en-US" altLang="ja-JP" sz="2400" b="0" i="1" dirty="0" smtClean="0">
                        <a:solidFill>
                          <a:srgbClr val="FF0000"/>
                        </a:solidFill>
                        <a:latin typeface="Cambria Math" panose="02040503050406030204" pitchFamily="18" charset="0"/>
                      </a:rPr>
                      <m:t>45</m:t>
                    </m:r>
                    <m:r>
                      <a:rPr lang="en-US" altLang="ja-JP" sz="2400" dirty="0">
                        <a:solidFill>
                          <a:srgbClr val="FF0000"/>
                        </a:solidFill>
                        <a:latin typeface="Cambria Math" panose="02040503050406030204" pitchFamily="18" charset="0"/>
                      </a:rPr>
                      <m:t>, </m:t>
                    </m:r>
                    <m:r>
                      <a:rPr lang="en-US" altLang="ja-JP" sz="2400" b="0" i="0" dirty="0" smtClean="0">
                        <a:solidFill>
                          <a:srgbClr val="FF0000"/>
                        </a:solidFill>
                        <a:latin typeface="Cambria Math" panose="02040503050406030204" pitchFamily="18" charset="0"/>
                      </a:rPr>
                      <m:t>9</m:t>
                    </m:r>
                    <m:r>
                      <a:rPr lang="en-US" altLang="ja-JP" sz="2400" dirty="0">
                        <a:solidFill>
                          <a:srgbClr val="FF0000"/>
                        </a:solidFill>
                        <a:latin typeface="Cambria Math" panose="02040503050406030204" pitchFamily="18" charset="0"/>
                      </a:rPr>
                      <m:t>, −</m:t>
                    </m:r>
                    <m:r>
                      <a:rPr lang="en-US" altLang="ja-JP" sz="2400" b="0" i="0" dirty="0" smtClean="0">
                        <a:solidFill>
                          <a:srgbClr val="FF0000"/>
                        </a:solidFill>
                        <a:latin typeface="Cambria Math" panose="02040503050406030204" pitchFamily="18" charset="0"/>
                      </a:rPr>
                      <m:t>27</m:t>
                    </m:r>
                    <m:r>
                      <a:rPr lang="en-US" altLang="ja-JP" sz="2400" dirty="0">
                        <a:solidFill>
                          <a:srgbClr val="FF0000"/>
                        </a:solidFill>
                        <a:latin typeface="Cambria Math" panose="02040503050406030204" pitchFamily="18" charset="0"/>
                      </a:rPr>
                      <m:t>]</m:t>
                    </m:r>
                    <m:r>
                      <a:rPr lang="en-US" altLang="ja-JP" sz="2400" b="1" i="1" smtClean="0">
                        <a:solidFill>
                          <a:srgbClr val="FF0000"/>
                        </a:solidFill>
                        <a:latin typeface="Cambria Math" panose="02040503050406030204" pitchFamily="18" charset="0"/>
                      </a:rPr>
                      <m:t>𝒎</m:t>
                    </m:r>
                    <m:r>
                      <a:rPr lang="en-US" altLang="ja-JP" sz="2400" b="1" i="1" smtClean="0">
                        <a:solidFill>
                          <a:srgbClr val="FF0000"/>
                        </a:solidFill>
                        <a:latin typeface="Cambria Math" panose="02040503050406030204" pitchFamily="18" charset="0"/>
                      </a:rPr>
                      <m:t>/</m:t>
                    </m:r>
                    <m:r>
                      <a:rPr lang="ja-JP" altLang="en-US" sz="2400" b="1" i="1">
                        <a:solidFill>
                          <a:srgbClr val="FF0000"/>
                        </a:solidFill>
                        <a:latin typeface="Cambria Math" panose="02040503050406030204" pitchFamily="18" charset="0"/>
                      </a:rPr>
                      <m:t>秒</m:t>
                    </m:r>
                  </m:oMath>
                </a14:m>
                <a:r>
                  <a:rPr lang="en-US" altLang="ja-JP" sz="2400" dirty="0"/>
                  <a:t> </a:t>
                </a:r>
              </a:p>
              <a:p>
                <a:endParaRPr lang="en-US" altLang="ja-JP" sz="2400" dirty="0"/>
              </a:p>
              <a:p>
                <a:r>
                  <a:rPr lang="en-US" altLang="ja-JP" sz="2400" dirty="0"/>
                  <a:t>※</a:t>
                </a:r>
                <a:r>
                  <a:rPr lang="ja-JP" altLang="en-US" sz="2400" dirty="0"/>
                  <a:t>３</a:t>
                </a:r>
                <a:r>
                  <a:rPr lang="en-US" altLang="ja-JP" sz="2400" dirty="0"/>
                  <a:t>D</a:t>
                </a:r>
                <a:r>
                  <a:rPr lang="ja-JP" altLang="en-US" sz="2400" dirty="0"/>
                  <a:t>でも計算は同じです</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863534" cy="5026954"/>
              </a:xfrm>
              <a:prstGeom prst="rect">
                <a:avLst/>
              </a:prstGeom>
              <a:blipFill>
                <a:blip r:embed="rId2"/>
                <a:stretch>
                  <a:fillRect l="-927" t="-971" b="-194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574117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05403" cy="584775"/>
          </a:xfrm>
          <a:prstGeom prst="rect">
            <a:avLst/>
          </a:prstGeom>
          <a:noFill/>
        </p:spPr>
        <p:txBody>
          <a:bodyPr wrap="none" rtlCol="0">
            <a:spAutoFit/>
          </a:bodyPr>
          <a:lstStyle/>
          <a:p>
            <a:r>
              <a:rPr lang="ja-JP" altLang="en-US" sz="3200" b="1" u="sng" dirty="0"/>
              <a:t>衝突</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2677656"/>
              </a:xfrm>
              <a:prstGeom prst="rect">
                <a:avLst/>
              </a:prstGeom>
              <a:noFill/>
            </p:spPr>
            <p:txBody>
              <a:bodyPr wrap="none" rtlCol="0">
                <a:spAutoFit/>
              </a:bodyPr>
              <a:lstStyle/>
              <a:p>
                <a:r>
                  <a:rPr lang="ja-JP" altLang="en-US" sz="2400" dirty="0"/>
                  <a:t>ビリヤードは運動量保存やエネルギー保存がそのまま反映されますが、</a:t>
                </a:r>
                <a:endParaRPr lang="en-US" altLang="ja-JP" sz="2400" dirty="0"/>
              </a:p>
              <a:p>
                <a:r>
                  <a:rPr lang="ja-JP" altLang="en-US" sz="2400" dirty="0"/>
                  <a:t>例えば、玉の素材が</a:t>
                </a:r>
                <a:r>
                  <a:rPr lang="ja-JP" altLang="en-US" sz="2400" b="1" dirty="0">
                    <a:solidFill>
                      <a:schemeClr val="accent4">
                        <a:lumMod val="50000"/>
                      </a:schemeClr>
                    </a:solidFill>
                  </a:rPr>
                  <a:t>粘土</a:t>
                </a:r>
                <a:r>
                  <a:rPr lang="ja-JP" altLang="en-US" sz="2400" dirty="0"/>
                  <a:t>だったらどうなるでしょう。</a:t>
                </a:r>
                <a:endParaRPr lang="en-US" altLang="ja-JP" sz="2400" dirty="0"/>
              </a:p>
              <a:p>
                <a:r>
                  <a:rPr lang="ja-JP" altLang="en-US" sz="2400" dirty="0"/>
                  <a:t>衝突しても、あまり跳ね返らず、速度もゆっくりになりそうです。</a:t>
                </a:r>
                <a:endParaRPr lang="en-US" altLang="ja-JP" sz="2400" dirty="0"/>
              </a:p>
              <a:p>
                <a:endParaRPr lang="en-US" altLang="ja-JP" sz="2400" dirty="0"/>
              </a:p>
              <a:p>
                <a:r>
                  <a:rPr lang="ja-JP" altLang="en-US" sz="2400" dirty="0"/>
                  <a:t>摩擦の時のように、衝突でのはねかえりには係数があります。</a:t>
                </a:r>
                <a:endParaRPr lang="en-US" altLang="ja-JP" sz="2400" dirty="0"/>
              </a:p>
              <a:p>
                <a:endParaRPr lang="en-US" altLang="ja-JP" sz="2400" dirty="0"/>
              </a:p>
              <a:p>
                <a:r>
                  <a:rPr lang="ja-JP" altLang="en-US" sz="2400" dirty="0"/>
                  <a:t>この</a:t>
                </a:r>
                <a:r>
                  <a:rPr lang="ja-JP" altLang="en-US" sz="2400" b="1" dirty="0">
                    <a:solidFill>
                      <a:srgbClr val="FF0000"/>
                    </a:solidFill>
                  </a:rPr>
                  <a:t>はねかえり係数</a:t>
                </a:r>
                <a14:m>
                  <m:oMath xmlns:m="http://schemas.openxmlformats.org/officeDocument/2006/math">
                    <m:r>
                      <a:rPr lang="ja-JP" altLang="en-US" sz="2400" b="1" i="1" dirty="0" smtClean="0">
                        <a:solidFill>
                          <a:srgbClr val="FF0000"/>
                        </a:solidFill>
                        <a:latin typeface="Cambria Math" panose="02040503050406030204" pitchFamily="18" charset="0"/>
                      </a:rPr>
                      <m:t>（</m:t>
                    </m:r>
                    <m:r>
                      <a:rPr lang="en-US" altLang="ja-JP" sz="2400" b="1" i="1" dirty="0" smtClean="0">
                        <a:solidFill>
                          <a:srgbClr val="FF0000"/>
                        </a:solidFill>
                        <a:latin typeface="Cambria Math" panose="02040503050406030204" pitchFamily="18" charset="0"/>
                      </a:rPr>
                      <m:t>𝒆</m:t>
                    </m:r>
                    <m:r>
                      <a:rPr lang="ja-JP" altLang="en-US" sz="2400" b="1" i="1" dirty="0" smtClean="0">
                        <a:solidFill>
                          <a:srgbClr val="FF0000"/>
                        </a:solidFill>
                        <a:latin typeface="Cambria Math" panose="02040503050406030204" pitchFamily="18" charset="0"/>
                      </a:rPr>
                      <m:t>）</m:t>
                    </m:r>
                  </m:oMath>
                </a14:m>
                <a:r>
                  <a:rPr lang="ja-JP" altLang="en-US" sz="2400" b="1" dirty="0">
                    <a:solidFill>
                      <a:srgbClr val="FF0000"/>
                    </a:solidFill>
                  </a:rPr>
                  <a:t>の大きさ</a:t>
                </a:r>
                <a:r>
                  <a:rPr lang="ja-JP" altLang="en-US" sz="2400" dirty="0"/>
                  <a:t>で、</a:t>
                </a:r>
                <a:r>
                  <a:rPr lang="ja-JP" altLang="en-US" sz="2400" b="1" dirty="0">
                    <a:solidFill>
                      <a:srgbClr val="FF0000"/>
                    </a:solidFill>
                  </a:rPr>
                  <a:t>衝突の種類が変わります。</a:t>
                </a:r>
                <a:endParaRPr lang="en-US" altLang="ja-JP" sz="2400" b="1" dirty="0">
                  <a:solidFill>
                    <a:srgbClr val="FF0000"/>
                  </a:solidFill>
                </a:endParaRPr>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341293" cy="2677656"/>
              </a:xfrm>
              <a:prstGeom prst="rect">
                <a:avLst/>
              </a:prstGeom>
              <a:blipFill>
                <a:blip r:embed="rId2"/>
                <a:stretch>
                  <a:fillRect l="-884" t="-1822" b="-478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5110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05403" cy="584775"/>
          </a:xfrm>
          <a:prstGeom prst="rect">
            <a:avLst/>
          </a:prstGeom>
          <a:noFill/>
        </p:spPr>
        <p:txBody>
          <a:bodyPr wrap="none" rtlCol="0">
            <a:spAutoFit/>
          </a:bodyPr>
          <a:lstStyle/>
          <a:p>
            <a:r>
              <a:rPr lang="ja-JP" altLang="en-US" sz="3200" b="1" u="sng" dirty="0"/>
              <a:t>衝突</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5632311"/>
              </a:xfrm>
              <a:prstGeom prst="rect">
                <a:avLst/>
              </a:prstGeom>
              <a:noFill/>
            </p:spPr>
            <p:txBody>
              <a:bodyPr wrap="none" rtlCol="0">
                <a:spAutoFit/>
              </a:bodyPr>
              <a:lstStyle/>
              <a:p>
                <a:r>
                  <a:rPr lang="ja-JP" altLang="en-US" sz="2400" dirty="0"/>
                  <a:t>以下に衝突の種類をまとめます。</a:t>
                </a:r>
                <a:endParaRPr lang="en-US" altLang="ja-JP" sz="2400" dirty="0"/>
              </a:p>
              <a:p>
                <a:endParaRPr lang="en-US" altLang="ja-JP" sz="2400" dirty="0"/>
              </a:p>
              <a:p>
                <a:r>
                  <a:rPr lang="ja-JP" altLang="en-US" sz="2400" b="1" dirty="0">
                    <a:solidFill>
                      <a:srgbClr val="FF0000"/>
                    </a:solidFill>
                  </a:rPr>
                  <a:t>■弾性衝突</a:t>
                </a:r>
                <a14:m>
                  <m:oMath xmlns:m="http://schemas.openxmlformats.org/officeDocument/2006/math">
                    <m:r>
                      <a:rPr lang="en-US" altLang="ja-JP" sz="2400" b="1" i="0" dirty="0" smtClean="0">
                        <a:solidFill>
                          <a:srgbClr val="FF0000"/>
                        </a:solidFill>
                        <a:latin typeface="Cambria Math" panose="02040503050406030204" pitchFamily="18" charset="0"/>
                      </a:rPr>
                      <m:t>(</m:t>
                    </m:r>
                    <m:r>
                      <a:rPr lang="en-US" altLang="ja-JP" sz="2400" b="1" i="1" dirty="0" smtClean="0">
                        <a:solidFill>
                          <a:srgbClr val="FF0000"/>
                        </a:solidFill>
                        <a:latin typeface="Cambria Math" panose="02040503050406030204" pitchFamily="18" charset="0"/>
                      </a:rPr>
                      <m:t>𝒆</m:t>
                    </m:r>
                    <m:r>
                      <a:rPr lang="en-US" altLang="ja-JP" sz="2400" b="1" i="1" dirty="0" smtClean="0">
                        <a:solidFill>
                          <a:srgbClr val="FF0000"/>
                        </a:solidFill>
                        <a:latin typeface="Cambria Math" panose="02040503050406030204" pitchFamily="18" charset="0"/>
                      </a:rPr>
                      <m:t>=</m:t>
                    </m:r>
                    <m:r>
                      <a:rPr lang="en-US" altLang="ja-JP" sz="2400" b="1" i="1" dirty="0" smtClean="0">
                        <a:solidFill>
                          <a:srgbClr val="FF0000"/>
                        </a:solidFill>
                        <a:latin typeface="Cambria Math" panose="02040503050406030204" pitchFamily="18" charset="0"/>
                      </a:rPr>
                      <m:t>𝟏</m:t>
                    </m:r>
                    <m:r>
                      <a:rPr lang="en-US" altLang="ja-JP" sz="2400" b="1" i="1" dirty="0" smtClean="0">
                        <a:solidFill>
                          <a:srgbClr val="FF0000"/>
                        </a:solidFill>
                        <a:latin typeface="Cambria Math" panose="02040503050406030204" pitchFamily="18" charset="0"/>
                      </a:rPr>
                      <m:t>)</m:t>
                    </m:r>
                  </m:oMath>
                </a14:m>
                <a:endParaRPr lang="en-US" altLang="ja-JP" sz="2400" b="1" dirty="0">
                  <a:solidFill>
                    <a:srgbClr val="FF0000"/>
                  </a:solidFill>
                </a:endParaRPr>
              </a:p>
              <a:p>
                <a:r>
                  <a:rPr lang="ja-JP" altLang="en-US" sz="2400" dirty="0"/>
                  <a:t>運動量保存、エネルギー保存がそのまま反映される衝突。</a:t>
                </a:r>
                <a:endParaRPr lang="en-US" altLang="ja-JP" sz="2400" dirty="0"/>
              </a:p>
              <a:p>
                <a:r>
                  <a:rPr lang="ja-JP" altLang="en-US" sz="2400" dirty="0"/>
                  <a:t>ビリヤードやニュートンの揺りかごが、ほぼ当てはまる。</a:t>
                </a:r>
                <a:endParaRPr lang="en-US" altLang="ja-JP" sz="2400" dirty="0"/>
              </a:p>
              <a:p>
                <a:endParaRPr lang="en-US" altLang="ja-JP" sz="2400" dirty="0"/>
              </a:p>
              <a:p>
                <a:r>
                  <a:rPr lang="ja-JP" altLang="en-US" sz="2400" b="1" dirty="0">
                    <a:solidFill>
                      <a:srgbClr val="FF0000"/>
                    </a:solidFill>
                  </a:rPr>
                  <a:t>■非弾性衝突</a:t>
                </a:r>
                <a14:m>
                  <m:oMath xmlns:m="http://schemas.openxmlformats.org/officeDocument/2006/math">
                    <m:r>
                      <a:rPr lang="en-US" altLang="ja-JP" sz="2400" b="1" i="0" dirty="0" smtClean="0">
                        <a:solidFill>
                          <a:srgbClr val="FF0000"/>
                        </a:solidFill>
                        <a:latin typeface="Cambria Math" panose="02040503050406030204" pitchFamily="18" charset="0"/>
                      </a:rPr>
                      <m:t>(</m:t>
                    </m:r>
                    <m:r>
                      <a:rPr lang="en-US" altLang="ja-JP" sz="2400" b="1" i="1" dirty="0" smtClean="0">
                        <a:solidFill>
                          <a:srgbClr val="FF0000"/>
                        </a:solidFill>
                        <a:latin typeface="Cambria Math" panose="02040503050406030204" pitchFamily="18" charset="0"/>
                      </a:rPr>
                      <m:t>𝒆</m:t>
                    </m:r>
                    <m:r>
                      <a:rPr lang="en-US" altLang="ja-JP" sz="2400" b="1" i="1" dirty="0">
                        <a:solidFill>
                          <a:srgbClr val="FF0000"/>
                        </a:solidFill>
                        <a:latin typeface="Cambria Math" panose="02040503050406030204" pitchFamily="18" charset="0"/>
                      </a:rPr>
                      <m:t>&gt;</m:t>
                    </m:r>
                    <m:r>
                      <a:rPr lang="en-US" altLang="ja-JP" sz="2400" b="1" i="1" dirty="0">
                        <a:solidFill>
                          <a:srgbClr val="FF0000"/>
                        </a:solidFill>
                        <a:latin typeface="Cambria Math" panose="02040503050406030204" pitchFamily="18" charset="0"/>
                      </a:rPr>
                      <m:t>𝟎</m:t>
                    </m:r>
                    <m:r>
                      <a:rPr lang="en-US" altLang="ja-JP" sz="2400" b="1" i="1" dirty="0">
                        <a:solidFill>
                          <a:srgbClr val="FF0000"/>
                        </a:solidFill>
                        <a:latin typeface="Cambria Math" panose="02040503050406030204" pitchFamily="18" charset="0"/>
                      </a:rPr>
                      <m:t> </m:t>
                    </m:r>
                    <m:r>
                      <a:rPr lang="en-US" altLang="ja-JP" sz="2400" b="1" i="1" dirty="0" smtClean="0">
                        <a:solidFill>
                          <a:srgbClr val="FF0000"/>
                        </a:solidFill>
                        <a:latin typeface="Cambria Math" panose="02040503050406030204" pitchFamily="18" charset="0"/>
                      </a:rPr>
                      <m:t>𝑨𝒏𝒅</m:t>
                    </m:r>
                    <m:r>
                      <a:rPr lang="en-US" altLang="ja-JP" sz="2400" b="1" i="1" dirty="0" smtClean="0">
                        <a:solidFill>
                          <a:srgbClr val="FF0000"/>
                        </a:solidFill>
                        <a:latin typeface="Cambria Math" panose="02040503050406030204" pitchFamily="18" charset="0"/>
                      </a:rPr>
                      <m:t> </m:t>
                    </m:r>
                    <m:r>
                      <a:rPr lang="en-US" altLang="ja-JP" sz="2400" b="1" i="1" dirty="0">
                        <a:solidFill>
                          <a:srgbClr val="FF0000"/>
                        </a:solidFill>
                        <a:latin typeface="Cambria Math" panose="02040503050406030204" pitchFamily="18" charset="0"/>
                      </a:rPr>
                      <m:t>𝒆</m:t>
                    </m:r>
                    <m:r>
                      <a:rPr lang="en-US" altLang="ja-JP" sz="2400" b="1" i="1" dirty="0" smtClean="0">
                        <a:solidFill>
                          <a:srgbClr val="FF0000"/>
                        </a:solidFill>
                        <a:latin typeface="Cambria Math" panose="02040503050406030204" pitchFamily="18" charset="0"/>
                      </a:rPr>
                      <m:t>&lt;</m:t>
                    </m:r>
                    <m:r>
                      <a:rPr lang="en-US" altLang="ja-JP" sz="2400" b="1" i="1" dirty="0" smtClean="0">
                        <a:solidFill>
                          <a:srgbClr val="FF0000"/>
                        </a:solidFill>
                        <a:latin typeface="Cambria Math" panose="02040503050406030204" pitchFamily="18" charset="0"/>
                      </a:rPr>
                      <m:t>𝟏</m:t>
                    </m:r>
                    <m:r>
                      <a:rPr lang="en-US" altLang="ja-JP" sz="2400" b="1" i="1" dirty="0" smtClean="0">
                        <a:solidFill>
                          <a:srgbClr val="FF0000"/>
                        </a:solidFill>
                        <a:latin typeface="Cambria Math" panose="02040503050406030204" pitchFamily="18" charset="0"/>
                      </a:rPr>
                      <m:t>)</m:t>
                    </m:r>
                  </m:oMath>
                </a14:m>
                <a:endParaRPr lang="en-US" altLang="ja-JP" sz="2400" b="1" dirty="0">
                  <a:solidFill>
                    <a:srgbClr val="FF0000"/>
                  </a:solidFill>
                </a:endParaRPr>
              </a:p>
              <a:p>
                <a:r>
                  <a:rPr lang="ja-JP" altLang="en-US" sz="2400" dirty="0"/>
                  <a:t>衝突後に何らかの影響で速度が変化する衝突。</a:t>
                </a:r>
                <a:endParaRPr lang="en-US" altLang="ja-JP" sz="2400" dirty="0"/>
              </a:p>
              <a:p>
                <a:r>
                  <a:rPr lang="ja-JP" altLang="en-US" sz="2400" dirty="0"/>
                  <a:t>スポンジや粘土など衝撃を吸収するものとの衝突。</a:t>
                </a:r>
                <a:endParaRPr lang="en-US" altLang="ja-JP" sz="2400" dirty="0"/>
              </a:p>
              <a:p>
                <a:endParaRPr lang="en-US" altLang="ja-JP" sz="2400" dirty="0"/>
              </a:p>
              <a:p>
                <a:r>
                  <a:rPr lang="ja-JP" altLang="en-US" sz="2400" b="1" dirty="0">
                    <a:solidFill>
                      <a:srgbClr val="FF0000"/>
                    </a:solidFill>
                  </a:rPr>
                  <a:t>■完全非弾性衝突</a:t>
                </a:r>
                <a14:m>
                  <m:oMath xmlns:m="http://schemas.openxmlformats.org/officeDocument/2006/math">
                    <m:r>
                      <a:rPr lang="en-US" altLang="ja-JP" sz="2400" b="1" i="0" dirty="0" smtClean="0">
                        <a:solidFill>
                          <a:srgbClr val="FF0000"/>
                        </a:solidFill>
                        <a:latin typeface="Cambria Math" panose="02040503050406030204" pitchFamily="18" charset="0"/>
                      </a:rPr>
                      <m:t>(</m:t>
                    </m:r>
                    <m:r>
                      <a:rPr lang="en-US" altLang="ja-JP" sz="2400" b="1" i="1" dirty="0" smtClean="0">
                        <a:solidFill>
                          <a:srgbClr val="FF0000"/>
                        </a:solidFill>
                        <a:latin typeface="Cambria Math" panose="02040503050406030204" pitchFamily="18" charset="0"/>
                      </a:rPr>
                      <m:t>𝒆</m:t>
                    </m:r>
                    <m:r>
                      <a:rPr lang="en-US" altLang="ja-JP" sz="2400" b="1" i="1" dirty="0" smtClean="0">
                        <a:solidFill>
                          <a:srgbClr val="FF0000"/>
                        </a:solidFill>
                        <a:latin typeface="Cambria Math" panose="02040503050406030204" pitchFamily="18" charset="0"/>
                      </a:rPr>
                      <m:t>=</m:t>
                    </m:r>
                    <m:r>
                      <a:rPr lang="en-US" altLang="ja-JP" sz="2400" b="1" i="1" dirty="0">
                        <a:solidFill>
                          <a:srgbClr val="FF0000"/>
                        </a:solidFill>
                        <a:latin typeface="Cambria Math" panose="02040503050406030204" pitchFamily="18" charset="0"/>
                      </a:rPr>
                      <m:t>𝟎</m:t>
                    </m:r>
                    <m:r>
                      <a:rPr lang="en-US" altLang="ja-JP" sz="2400" b="1" i="1" dirty="0" smtClean="0">
                        <a:solidFill>
                          <a:srgbClr val="FF0000"/>
                        </a:solidFill>
                        <a:latin typeface="Cambria Math" panose="02040503050406030204" pitchFamily="18" charset="0"/>
                      </a:rPr>
                      <m:t>)</m:t>
                    </m:r>
                  </m:oMath>
                </a14:m>
                <a:endParaRPr lang="en-US" altLang="ja-JP" sz="2400" b="1" dirty="0">
                  <a:solidFill>
                    <a:srgbClr val="FF0000"/>
                  </a:solidFill>
                </a:endParaRPr>
              </a:p>
              <a:p>
                <a:r>
                  <a:rPr lang="ja-JP" altLang="en-US" sz="2400" dirty="0"/>
                  <a:t>衝突した物体同士、両方共が衝突後に同じ速度になる衝突。</a:t>
                </a:r>
                <a:endParaRPr lang="en-US" altLang="ja-JP" sz="2400" dirty="0"/>
              </a:p>
              <a:p>
                <a:r>
                  <a:rPr lang="ja-JP" altLang="en-US" sz="2400" dirty="0"/>
                  <a:t>ラグビーのタックルなど、衝突後にくっついて一緒に動くこと。</a:t>
                </a:r>
                <a:endParaRPr lang="en-US" altLang="ja-JP" sz="2400" dirty="0"/>
              </a:p>
              <a:p>
                <a:endParaRPr lang="en-US" altLang="ja-JP" sz="2400" dirty="0"/>
              </a:p>
              <a:p>
                <a:r>
                  <a:rPr lang="en-US" altLang="ja-JP" sz="2400" dirty="0"/>
                  <a:t>※</a:t>
                </a:r>
                <a:r>
                  <a:rPr lang="ja-JP" altLang="en-US" sz="2400" dirty="0"/>
                  <a:t>先ほどの例題は弾性衝突の例題になります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110186" cy="5632311"/>
              </a:xfrm>
              <a:prstGeom prst="rect">
                <a:avLst/>
              </a:prstGeom>
              <a:blipFill>
                <a:blip r:embed="rId2"/>
                <a:stretch>
                  <a:fillRect l="-1003" t="-867" r="-67" b="-162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77469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9AABABB0-FA8F-4960-8607-367CB72F823F}"/>
              </a:ext>
            </a:extLst>
          </p:cNvPr>
          <p:cNvSpPr/>
          <p:nvPr/>
        </p:nvSpPr>
        <p:spPr>
          <a:xfrm>
            <a:off x="355600" y="1837267"/>
            <a:ext cx="5020733" cy="3419802"/>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05403" cy="584775"/>
          </a:xfrm>
          <a:prstGeom prst="rect">
            <a:avLst/>
          </a:prstGeom>
          <a:noFill/>
        </p:spPr>
        <p:txBody>
          <a:bodyPr wrap="none" rtlCol="0">
            <a:spAutoFit/>
          </a:bodyPr>
          <a:lstStyle/>
          <a:p>
            <a:r>
              <a:rPr lang="ja-JP" altLang="en-US" sz="3200" b="1" u="sng" dirty="0"/>
              <a:t>衝突</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032421" cy="4639603"/>
              </a:xfrm>
              <a:prstGeom prst="rect">
                <a:avLst/>
              </a:prstGeom>
              <a:noFill/>
            </p:spPr>
            <p:txBody>
              <a:bodyPr wrap="none" rtlCol="0">
                <a:spAutoFit/>
              </a:bodyPr>
              <a:lstStyle/>
              <a:p>
                <a:r>
                  <a:rPr lang="ja-JP" altLang="en-US" sz="2400" dirty="0"/>
                  <a:t>これまでを踏まえた衝突の定義です。</a:t>
                </a:r>
                <a:endParaRPr lang="en-US" altLang="ja-JP" sz="2400" dirty="0"/>
              </a:p>
              <a:p>
                <a:endParaRPr lang="en-US" altLang="ja-JP" sz="2400" dirty="0"/>
              </a:p>
              <a:p>
                <a:r>
                  <a:rPr lang="ja-JP" altLang="en-US" sz="2400" b="1" dirty="0">
                    <a:solidFill>
                      <a:srgbClr val="FF0000"/>
                    </a:solidFill>
                  </a:rPr>
                  <a:t>■一直線上の衝突（正面衝突）</a:t>
                </a:r>
                <a:endParaRPr lang="en-US" altLang="ja-JP" sz="2400" b="1" dirty="0">
                  <a:solidFill>
                    <a:srgbClr val="FF0000"/>
                  </a:solidFill>
                </a:endParaRPr>
              </a:p>
              <a:p>
                <a14:m>
                  <m:oMath xmlns:m="http://schemas.openxmlformats.org/officeDocument/2006/math">
                    <m:d>
                      <m:dPr>
                        <m:ctrlPr>
                          <a:rPr lang="en-US" altLang="ja-JP" sz="2400" b="0" i="1" smtClean="0">
                            <a:latin typeface="Cambria Math" panose="02040503050406030204" pitchFamily="18" charset="0"/>
                          </a:rPr>
                        </m:ctrlPr>
                      </m:dPr>
                      <m:e>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𝑣</m:t>
                            </m:r>
                          </m:e>
                          <m:sub>
                            <m:r>
                              <a:rPr lang="en-US" altLang="ja-JP" sz="2400" b="0" i="1" smtClean="0">
                                <a:latin typeface="Cambria Math" panose="02040503050406030204" pitchFamily="18" charset="0"/>
                              </a:rPr>
                              <m:t>1</m:t>
                            </m:r>
                            <m:r>
                              <a:rPr lang="en-US" altLang="ja-JP" sz="2400" b="0" i="1" smtClean="0">
                                <a:latin typeface="Cambria Math" panose="02040503050406030204" pitchFamily="18" charset="0"/>
                              </a:rPr>
                              <m:t>𝑓</m:t>
                            </m:r>
                          </m:sub>
                        </m:sSub>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b="0" i="1" smtClean="0">
                                <a:latin typeface="Cambria Math" panose="02040503050406030204" pitchFamily="18" charset="0"/>
                              </a:rPr>
                              <m:t>2</m:t>
                            </m:r>
                            <m:r>
                              <a:rPr lang="en-US" altLang="ja-JP" sz="2400" i="1">
                                <a:latin typeface="Cambria Math" panose="02040503050406030204" pitchFamily="18" charset="0"/>
                              </a:rPr>
                              <m:t>𝑓</m:t>
                            </m:r>
                          </m:sub>
                        </m:sSub>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𝑒</m:t>
                    </m:r>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1</m:t>
                        </m:r>
                        <m:r>
                          <a:rPr lang="en-US" altLang="ja-JP" sz="2400" b="0" i="1" smtClean="0">
                            <a:latin typeface="Cambria Math" panose="02040503050406030204" pitchFamily="18" charset="0"/>
                          </a:rPr>
                          <m:t>𝑖</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2</m:t>
                        </m:r>
                        <m:r>
                          <a:rPr lang="en-US" altLang="ja-JP" sz="2400" b="0" i="1" smtClean="0">
                            <a:latin typeface="Cambria Math" panose="02040503050406030204" pitchFamily="18" charset="0"/>
                          </a:rPr>
                          <m:t>𝑖</m:t>
                        </m:r>
                      </m:sub>
                    </m:sSub>
                    <m:r>
                      <a:rPr lang="en-US" altLang="ja-JP" sz="2400" b="0" i="1" smtClean="0">
                        <a:latin typeface="Cambria Math" panose="02040503050406030204" pitchFamily="18" charset="0"/>
                      </a:rPr>
                      <m:t>)</m:t>
                    </m:r>
                  </m:oMath>
                </a14:m>
                <a:r>
                  <a:rPr lang="en-US" altLang="ja-JP" sz="2400" dirty="0"/>
                  <a:t> </a:t>
                </a:r>
              </a:p>
              <a:p>
                <a:endParaRPr lang="en-US" altLang="ja-JP" sz="2400" dirty="0"/>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1</m:t>
                        </m:r>
                        <m:r>
                          <a:rPr lang="en-US" altLang="ja-JP" sz="2400" b="0" i="1" smtClean="0">
                            <a:latin typeface="Cambria Math" panose="02040503050406030204" pitchFamily="18" charset="0"/>
                          </a:rPr>
                          <m:t>𝑖</m:t>
                        </m:r>
                      </m:sub>
                    </m:sSub>
                  </m:oMath>
                </a14:m>
                <a:r>
                  <a:rPr lang="en-US" altLang="ja-JP" sz="2400" dirty="0"/>
                  <a:t>	</a:t>
                </a:r>
                <a:r>
                  <a:rPr lang="ja-JP" altLang="en-US" sz="2400" dirty="0"/>
                  <a:t>・・・物体１の初速度</a:t>
                </a:r>
                <a:endParaRPr lang="en-US" altLang="ja-JP" sz="2400" dirty="0"/>
              </a:p>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𝑣</m:t>
                        </m:r>
                      </m:e>
                      <m:sub>
                        <m:r>
                          <a:rPr lang="en-US" altLang="ja-JP" sz="2400" b="0" i="1" smtClean="0">
                            <a:latin typeface="Cambria Math" panose="02040503050406030204" pitchFamily="18" charset="0"/>
                          </a:rPr>
                          <m:t>1</m:t>
                        </m:r>
                        <m:r>
                          <a:rPr lang="en-US" altLang="ja-JP" sz="2400" b="0" i="1" smtClean="0">
                            <a:latin typeface="Cambria Math" panose="02040503050406030204" pitchFamily="18" charset="0"/>
                          </a:rPr>
                          <m:t>𝑓</m:t>
                        </m:r>
                      </m:sub>
                    </m:sSub>
                  </m:oMath>
                </a14:m>
                <a:r>
                  <a:rPr lang="en-US" altLang="ja-JP" sz="2400" dirty="0"/>
                  <a:t>	</a:t>
                </a:r>
                <a:r>
                  <a:rPr lang="ja-JP" altLang="en-US" sz="2400" dirty="0"/>
                  <a:t>・・・物体１の最終速度</a:t>
                </a:r>
                <a:endParaRPr lang="en-US" altLang="ja-JP" sz="2400" dirty="0"/>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b="0" i="1" smtClean="0">
                            <a:latin typeface="Cambria Math" panose="02040503050406030204" pitchFamily="18" charset="0"/>
                          </a:rPr>
                          <m:t>2</m:t>
                        </m:r>
                        <m:r>
                          <a:rPr lang="en-US" altLang="ja-JP" sz="2400" b="0" i="1" smtClean="0">
                            <a:latin typeface="Cambria Math" panose="02040503050406030204" pitchFamily="18" charset="0"/>
                          </a:rPr>
                          <m:t>𝑖</m:t>
                        </m:r>
                      </m:sub>
                    </m:sSub>
                  </m:oMath>
                </a14:m>
                <a:r>
                  <a:rPr lang="en-US" altLang="ja-JP" sz="2400" dirty="0"/>
                  <a:t>	</a:t>
                </a:r>
                <a:r>
                  <a:rPr lang="ja-JP" altLang="en-US" sz="2400" dirty="0"/>
                  <a:t>・・・物体２の初速度</a:t>
                </a:r>
                <a:endParaRPr lang="en-US" altLang="ja-JP" sz="2400" dirty="0"/>
              </a:p>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𝑣</m:t>
                        </m:r>
                      </m:e>
                      <m:sub>
                        <m:r>
                          <a:rPr lang="en-US" altLang="ja-JP" sz="2400" b="0" i="1" smtClean="0">
                            <a:latin typeface="Cambria Math" panose="02040503050406030204" pitchFamily="18" charset="0"/>
                          </a:rPr>
                          <m:t>2</m:t>
                        </m:r>
                        <m:r>
                          <a:rPr lang="en-US" altLang="ja-JP" sz="2400" b="0" i="1" smtClean="0">
                            <a:latin typeface="Cambria Math" panose="02040503050406030204" pitchFamily="18" charset="0"/>
                          </a:rPr>
                          <m:t>𝑓</m:t>
                        </m:r>
                      </m:sub>
                    </m:sSub>
                  </m:oMath>
                </a14:m>
                <a:r>
                  <a:rPr lang="en-US" altLang="ja-JP" sz="2400" dirty="0"/>
                  <a:t>	</a:t>
                </a:r>
                <a:r>
                  <a:rPr lang="ja-JP" altLang="en-US" sz="2400" dirty="0"/>
                  <a:t>・・・物体２の最終速度</a:t>
                </a:r>
                <a:endParaRPr lang="en-US" altLang="ja-JP" sz="2400" dirty="0"/>
              </a:p>
              <a:p>
                <a14:m>
                  <m:oMath xmlns:m="http://schemas.openxmlformats.org/officeDocument/2006/math">
                    <m:r>
                      <a:rPr lang="en-US" altLang="ja-JP" sz="2400" b="0" i="1" smtClean="0">
                        <a:latin typeface="Cambria Math" panose="02040503050406030204" pitchFamily="18" charset="0"/>
                      </a:rPr>
                      <m:t>𝑒</m:t>
                    </m:r>
                  </m:oMath>
                </a14:m>
                <a:r>
                  <a:rPr lang="en-US" altLang="ja-JP" sz="2400" dirty="0"/>
                  <a:t>	</a:t>
                </a:r>
                <a:r>
                  <a:rPr lang="ja-JP" altLang="en-US" sz="2400" dirty="0"/>
                  <a:t>・・・はねかえり係数</a:t>
                </a:r>
                <a:endParaRPr lang="en-US" altLang="ja-JP" sz="2400" dirty="0"/>
              </a:p>
              <a:p>
                <a:endParaRPr lang="en-US" altLang="ja-JP" sz="2400" dirty="0"/>
              </a:p>
              <a:p>
                <a:r>
                  <a:rPr lang="en-US" altLang="ja-JP" sz="2400" dirty="0"/>
                  <a:t>※</a:t>
                </a:r>
                <a:r>
                  <a:rPr lang="ja-JP" altLang="en-US" sz="2400" dirty="0"/>
                  <a:t>かすめるような衝突はまた違ってきます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6032421" cy="4639603"/>
              </a:xfrm>
              <a:prstGeom prst="rect">
                <a:avLst/>
              </a:prstGeom>
              <a:blipFill>
                <a:blip r:embed="rId2"/>
                <a:stretch>
                  <a:fillRect l="-1515" t="-1051" r="-606" b="-210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6602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43161" cy="584775"/>
          </a:xfrm>
          <a:prstGeom prst="rect">
            <a:avLst/>
          </a:prstGeom>
          <a:noFill/>
        </p:spPr>
        <p:txBody>
          <a:bodyPr wrap="none" rtlCol="0">
            <a:spAutoFit/>
          </a:bodyPr>
          <a:lstStyle/>
          <a:p>
            <a:r>
              <a:rPr lang="ja-JP" altLang="en-US" sz="3200" b="1" u="sng" dirty="0"/>
              <a:t>衝突 例題</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4642809"/>
              </a:xfrm>
              <a:prstGeom prst="rect">
                <a:avLst/>
              </a:prstGeom>
              <a:noFill/>
            </p:spPr>
            <p:txBody>
              <a:bodyPr wrap="none" rtlCol="0">
                <a:spAutoFit/>
              </a:bodyPr>
              <a:lstStyle/>
              <a:p>
                <a:r>
                  <a:rPr lang="ja-JP" altLang="en-US" sz="2400" dirty="0"/>
                  <a:t>以下の２つの鉛玉が衝突した後の、それぞれの速度を求めなさい。</a:t>
                </a:r>
                <a:endParaRPr lang="en-US" altLang="ja-JP" sz="2400" dirty="0"/>
              </a:p>
              <a:p>
                <a:r>
                  <a:rPr lang="ja-JP" altLang="en-US" sz="2400" dirty="0"/>
                  <a:t>ただし、鉛同士のはねかえり係数は</a:t>
                </a:r>
                <a:r>
                  <a:rPr lang="en-US" altLang="ja-JP" sz="2400" dirty="0"/>
                  <a:t>0.2</a:t>
                </a:r>
                <a:r>
                  <a:rPr lang="ja-JP" altLang="en-US" sz="2400" dirty="0"/>
                  <a:t>とする</a:t>
                </a:r>
                <a:endParaRPr lang="en-US" altLang="ja-JP" sz="2400" dirty="0"/>
              </a:p>
              <a:p>
                <a:r>
                  <a:rPr lang="ja-JP" altLang="en-US" sz="2400" dirty="0"/>
                  <a:t>■鉛玉</a:t>
                </a:r>
                <a:r>
                  <a:rPr lang="en-US" altLang="ja-JP" sz="2400" dirty="0"/>
                  <a:t>A</a:t>
                </a:r>
              </a:p>
              <a:p>
                <a:r>
                  <a:rPr lang="ja-JP" altLang="en-US" sz="2400" dirty="0"/>
                  <a:t>・質量：</a:t>
                </a:r>
                <a14:m>
                  <m:oMath xmlns:m="http://schemas.openxmlformats.org/officeDocument/2006/math">
                    <m:r>
                      <a:rPr lang="en-US" altLang="ja-JP" sz="2400" i="1" dirty="0" smtClean="0">
                        <a:latin typeface="Cambria Math" panose="02040503050406030204" pitchFamily="18" charset="0"/>
                      </a:rPr>
                      <m:t>500</m:t>
                    </m:r>
                    <m:r>
                      <a:rPr lang="en-US" altLang="ja-JP" sz="2400" i="1" dirty="0" smtClean="0">
                        <a:latin typeface="Cambria Math" panose="02040503050406030204" pitchFamily="18" charset="0"/>
                      </a:rPr>
                      <m:t>𝑔</m:t>
                    </m:r>
                  </m:oMath>
                </a14:m>
                <a:r>
                  <a:rPr lang="en-US" altLang="ja-JP" sz="2400" dirty="0"/>
                  <a:t>	</a:t>
                </a:r>
                <a:r>
                  <a:rPr lang="ja-JP" altLang="en-US" sz="2400" dirty="0"/>
                  <a:t>・速度</a:t>
                </a:r>
                <a14:m>
                  <m:oMath xmlns:m="http://schemas.openxmlformats.org/officeDocument/2006/math">
                    <m:r>
                      <a:rPr lang="en-US" altLang="ja-JP" sz="2400" i="1" dirty="0" smtClean="0">
                        <a:latin typeface="Cambria Math" panose="02040503050406030204" pitchFamily="18" charset="0"/>
                      </a:rPr>
                      <m:t>30</m:t>
                    </m:r>
                    <m:r>
                      <a:rPr lang="en-US" altLang="ja-JP" sz="2400" i="1" dirty="0" smtClean="0">
                        <a:latin typeface="Cambria Math" panose="02040503050406030204" pitchFamily="18" charset="0"/>
                      </a:rPr>
                      <m:t>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oMath>
                </a14:m>
                <a:endParaRPr lang="en-US" altLang="ja-JP" sz="2400" dirty="0"/>
              </a:p>
              <a:p>
                <a:r>
                  <a:rPr lang="ja-JP" altLang="en-US" sz="2400" dirty="0"/>
                  <a:t>■鉛玉</a:t>
                </a:r>
                <a:r>
                  <a:rPr lang="en-US" altLang="ja-JP" sz="2400" dirty="0"/>
                  <a:t>B</a:t>
                </a:r>
              </a:p>
              <a:p>
                <a:r>
                  <a:rPr lang="ja-JP" altLang="en-US" sz="2400" dirty="0"/>
                  <a:t>・質量：</a:t>
                </a:r>
                <a14:m>
                  <m:oMath xmlns:m="http://schemas.openxmlformats.org/officeDocument/2006/math">
                    <m:r>
                      <a:rPr lang="en-US" altLang="ja-JP" sz="2400" i="1" dirty="0" smtClean="0">
                        <a:latin typeface="Cambria Math" panose="02040503050406030204" pitchFamily="18" charset="0"/>
                      </a:rPr>
                      <m:t>800</m:t>
                    </m:r>
                    <m:r>
                      <a:rPr lang="en-US" altLang="ja-JP" sz="2400" i="1" dirty="0" smtClean="0">
                        <a:latin typeface="Cambria Math" panose="02040503050406030204" pitchFamily="18" charset="0"/>
                      </a:rPr>
                      <m:t>𝑔</m:t>
                    </m:r>
                  </m:oMath>
                </a14:m>
                <a:r>
                  <a:rPr lang="en-US" altLang="ja-JP" sz="2400" dirty="0"/>
                  <a:t>	</a:t>
                </a:r>
                <a:r>
                  <a:rPr lang="ja-JP" altLang="en-US" sz="2400" dirty="0"/>
                  <a:t>・速度</a:t>
                </a:r>
                <a14:m>
                  <m:oMath xmlns:m="http://schemas.openxmlformats.org/officeDocument/2006/math">
                    <m:r>
                      <a:rPr lang="en-US" altLang="ja-JP" sz="2400" i="1" dirty="0" smtClean="0">
                        <a:latin typeface="Cambria Math" panose="02040503050406030204" pitchFamily="18" charset="0"/>
                      </a:rPr>
                      <m:t>−40</m:t>
                    </m:r>
                    <m:r>
                      <a:rPr lang="en-US" altLang="ja-JP" sz="2400" i="1" dirty="0" smtClean="0">
                        <a:latin typeface="Cambria Math" panose="02040503050406030204" pitchFamily="18" charset="0"/>
                      </a:rPr>
                      <m:t>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oMath>
                </a14:m>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14:m>
                  <m:oMath xmlns:m="http://schemas.openxmlformats.org/officeDocument/2006/math">
                    <m:sSub>
                      <m:sSubPr>
                        <m:ctrlPr>
                          <a:rPr lang="en-US" altLang="ja-JP" sz="2400" i="1" smtClean="0">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1</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1</m:t>
                        </m:r>
                        <m:r>
                          <a:rPr lang="en-US" altLang="ja-JP" sz="2400" b="0" i="1">
                            <a:solidFill>
                              <a:schemeClr val="tx1"/>
                            </a:solidFill>
                            <a:latin typeface="Cambria Math" panose="02040503050406030204" pitchFamily="18" charset="0"/>
                          </a:rPr>
                          <m:t>𝑖</m:t>
                        </m:r>
                      </m:sub>
                    </m:sSub>
                    <m:r>
                      <a:rPr lang="en-US" altLang="ja-JP" sz="2400" b="0" i="1">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2</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𝑖</m:t>
                        </m:r>
                      </m:sub>
                    </m:sSub>
                    <m:r>
                      <a:rPr lang="en-US" altLang="ja-JP" sz="2400" b="0" i="1" smtClean="0">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1</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1</m:t>
                        </m:r>
                        <m:r>
                          <a:rPr lang="en-US" altLang="ja-JP" sz="2400" b="0" i="1">
                            <a:solidFill>
                              <a:schemeClr val="tx1"/>
                            </a:solidFill>
                            <a:latin typeface="Cambria Math" panose="02040503050406030204" pitchFamily="18" charset="0"/>
                          </a:rPr>
                          <m:t>𝑓</m:t>
                        </m:r>
                      </m:sub>
                    </m:sSub>
                    <m:r>
                      <a:rPr lang="en-US" altLang="ja-JP" sz="2400" b="0" i="1">
                        <a:solidFill>
                          <a:schemeClr val="tx1"/>
                        </a:solidFill>
                        <a:latin typeface="Cambria Math" panose="02040503050406030204" pitchFamily="18" charset="0"/>
                      </a:rPr>
                      <m:t>+</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𝑚</m:t>
                        </m:r>
                      </m:e>
                      <m:sub>
                        <m:r>
                          <a:rPr lang="en-US" altLang="ja-JP" sz="2400" b="0" i="1">
                            <a:solidFill>
                              <a:schemeClr val="tx1"/>
                            </a:solidFill>
                            <a:latin typeface="Cambria Math" panose="02040503050406030204" pitchFamily="18" charset="0"/>
                          </a:rPr>
                          <m:t>2</m:t>
                        </m:r>
                      </m:sub>
                    </m:sSub>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𝑓</m:t>
                        </m:r>
                      </m:sub>
                    </m:sSub>
                  </m:oMath>
                </a14:m>
                <a:r>
                  <a:rPr lang="en-US" altLang="ja-JP" sz="2400" i="1" dirty="0">
                    <a:solidFill>
                      <a:schemeClr val="tx1"/>
                    </a:solidFill>
                    <a:latin typeface="Cambria Math" panose="02040503050406030204" pitchFamily="18" charset="0"/>
                  </a:rPr>
                  <a:t> </a:t>
                </a:r>
                <a:r>
                  <a:rPr lang="ja-JP" altLang="en-US" sz="2400" dirty="0">
                    <a:solidFill>
                      <a:schemeClr val="tx1"/>
                    </a:solidFill>
                    <a:latin typeface="Cambria Math" panose="02040503050406030204" pitchFamily="18" charset="0"/>
                  </a:rPr>
                  <a:t>より、</a:t>
                </a:r>
                <a:endParaRPr lang="en-US" altLang="ja-JP" sz="2400" i="1" dirty="0">
                  <a:solidFill>
                    <a:schemeClr val="tx1"/>
                  </a:solidFill>
                  <a:latin typeface="Cambria Math" panose="02040503050406030204" pitchFamily="18" charset="0"/>
                </a:endParaRPr>
              </a:p>
              <a:p>
                <a14:m>
                  <m:oMath xmlns:m="http://schemas.openxmlformats.org/officeDocument/2006/math">
                    <m:r>
                      <a:rPr lang="en-US" altLang="ja-JP" sz="240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0.5)</m:t>
                    </m:r>
                    <m:r>
                      <a:rPr lang="en-US" altLang="ja-JP" sz="240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30)</m:t>
                    </m:r>
                    <m:r>
                      <a:rPr lang="en-US" altLang="ja-JP" sz="2400" b="0" i="1">
                        <a:solidFill>
                          <a:schemeClr val="tx1"/>
                        </a:solidFill>
                        <a:latin typeface="Cambria Math" panose="02040503050406030204" pitchFamily="18" charset="0"/>
                      </a:rPr>
                      <m:t>+</m:t>
                    </m:r>
                    <m:r>
                      <a:rPr lang="en-US" altLang="ja-JP" sz="240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0.8)</m:t>
                    </m:r>
                    <m:r>
                      <a:rPr lang="en-US" altLang="ja-JP" sz="240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−40)=</m:t>
                    </m:r>
                    <m:r>
                      <a:rPr lang="en-US" altLang="ja-JP" sz="240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0.5)</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1</m:t>
                        </m:r>
                        <m:r>
                          <a:rPr lang="en-US" altLang="ja-JP" sz="2400" b="0" i="1">
                            <a:solidFill>
                              <a:schemeClr val="tx1"/>
                            </a:solidFill>
                            <a:latin typeface="Cambria Math" panose="02040503050406030204" pitchFamily="18" charset="0"/>
                          </a:rPr>
                          <m:t>𝑓</m:t>
                        </m:r>
                      </m:sub>
                    </m:sSub>
                    <m:r>
                      <a:rPr lang="en-US" altLang="ja-JP" sz="2400" b="0" i="1">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(0.8)</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𝑓</m:t>
                        </m:r>
                      </m:sub>
                    </m:sSub>
                  </m:oMath>
                </a14:m>
                <a:r>
                  <a:rPr lang="en-US" altLang="ja-JP" sz="2400" dirty="0"/>
                  <a:t> </a:t>
                </a:r>
              </a:p>
              <a:p>
                <a14:m>
                  <m:oMath xmlns:m="http://schemas.openxmlformats.org/officeDocument/2006/math">
                    <m:r>
                      <a:rPr lang="en-US" altLang="ja-JP" sz="2400" b="0" i="1">
                        <a:latin typeface="Cambria Math" panose="02040503050406030204" pitchFamily="18" charset="0"/>
                      </a:rPr>
                      <m:t>15</m:t>
                    </m:r>
                    <m:r>
                      <a:rPr lang="en-US" altLang="ja-JP" sz="2400" b="0" i="1">
                        <a:solidFill>
                          <a:schemeClr val="tx1"/>
                        </a:solidFill>
                        <a:latin typeface="Cambria Math" panose="02040503050406030204" pitchFamily="18" charset="0"/>
                      </a:rPr>
                      <m:t>+</m:t>
                    </m:r>
                    <m:r>
                      <a:rPr lang="en-US" altLang="ja-JP" sz="240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−32)=0.5</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1</m:t>
                        </m:r>
                        <m:r>
                          <a:rPr lang="en-US" altLang="ja-JP" sz="2400" b="0" i="1">
                            <a:solidFill>
                              <a:schemeClr val="tx1"/>
                            </a:solidFill>
                            <a:latin typeface="Cambria Math" panose="02040503050406030204" pitchFamily="18" charset="0"/>
                          </a:rPr>
                          <m:t>𝑓</m:t>
                        </m:r>
                      </m:sub>
                    </m:sSub>
                    <m:r>
                      <a:rPr lang="en-US" altLang="ja-JP" sz="2400" b="0" i="1">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0.8</m:t>
                    </m:r>
                    <m:sSub>
                      <m:sSubPr>
                        <m:ctrlPr>
                          <a:rPr lang="en-US" altLang="ja-JP" sz="2400" i="1">
                            <a:solidFill>
                              <a:schemeClr val="tx1"/>
                            </a:solidFill>
                            <a:latin typeface="Cambria Math" panose="02040503050406030204" pitchFamily="18" charset="0"/>
                          </a:rPr>
                        </m:ctrlPr>
                      </m:sSubPr>
                      <m:e>
                        <m:r>
                          <a:rPr lang="en-US" altLang="ja-JP" sz="2400" b="0" i="1">
                            <a:solidFill>
                              <a:schemeClr val="tx1"/>
                            </a:solidFill>
                            <a:latin typeface="Cambria Math" panose="02040503050406030204" pitchFamily="18" charset="0"/>
                          </a:rPr>
                          <m:t>𝑣</m:t>
                        </m:r>
                      </m:e>
                      <m:sub>
                        <m:r>
                          <a:rPr lang="en-US" altLang="ja-JP" sz="2400" b="0" i="1">
                            <a:solidFill>
                              <a:schemeClr val="tx1"/>
                            </a:solidFill>
                            <a:latin typeface="Cambria Math" panose="02040503050406030204" pitchFamily="18" charset="0"/>
                          </a:rPr>
                          <m:t>2</m:t>
                        </m:r>
                        <m:r>
                          <a:rPr lang="en-US" altLang="ja-JP" sz="2400" b="0" i="1">
                            <a:solidFill>
                              <a:schemeClr val="tx1"/>
                            </a:solidFill>
                            <a:latin typeface="Cambria Math" panose="02040503050406030204" pitchFamily="18" charset="0"/>
                          </a:rPr>
                          <m:t>𝑓</m:t>
                        </m:r>
                      </m:sub>
                    </m:sSub>
                  </m:oMath>
                </a14:m>
                <a:r>
                  <a:rPr lang="en-US" altLang="ja-JP" sz="2400" dirty="0"/>
                  <a:t> </a:t>
                </a:r>
              </a:p>
              <a:p>
                <a14:m>
                  <m:oMath xmlns:m="http://schemas.openxmlformats.org/officeDocument/2006/math">
                    <m:r>
                      <a:rPr lang="en-US" altLang="ja-JP" sz="2400" i="1">
                        <a:latin typeface="Cambria Math" panose="02040503050406030204" pitchFamily="18" charset="0"/>
                      </a:rPr>
                      <m:t>0.5</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1</m:t>
                        </m:r>
                        <m:r>
                          <a:rPr lang="en-US" altLang="ja-JP" sz="2400" i="1">
                            <a:latin typeface="Cambria Math" panose="02040503050406030204" pitchFamily="18" charset="0"/>
                          </a:rPr>
                          <m:t>𝑓</m:t>
                        </m:r>
                      </m:sub>
                    </m:sSub>
                    <m:r>
                      <a:rPr lang="en-US" altLang="ja-JP" sz="2400" i="1">
                        <a:latin typeface="Cambria Math" panose="02040503050406030204" pitchFamily="18" charset="0"/>
                      </a:rPr>
                      <m:t>+0.8</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2</m:t>
                        </m:r>
                        <m:r>
                          <a:rPr lang="en-US" altLang="ja-JP" sz="2400" i="1">
                            <a:latin typeface="Cambria Math" panose="02040503050406030204" pitchFamily="18" charset="0"/>
                          </a:rPr>
                          <m:t>𝑓</m:t>
                        </m:r>
                      </m:sub>
                    </m:sSub>
                    <m:r>
                      <a:rPr lang="en-US" altLang="ja-JP" sz="2400" b="0" i="1" smtClean="0">
                        <a:solidFill>
                          <a:schemeClr val="tx1"/>
                        </a:solidFill>
                        <a:latin typeface="Cambria Math" panose="02040503050406030204" pitchFamily="18" charset="0"/>
                      </a:rPr>
                      <m:t>=</m:t>
                    </m:r>
                    <m:r>
                      <a:rPr lang="en-US" altLang="ja-JP" sz="2400" i="1">
                        <a:latin typeface="Cambria Math" panose="02040503050406030204" pitchFamily="18" charset="0"/>
                      </a:rPr>
                      <m:t>−17</m:t>
                    </m:r>
                  </m:oMath>
                </a14:m>
                <a:r>
                  <a:rPr lang="en-US" altLang="ja-JP" sz="2400" dirty="0"/>
                  <a:t>	</a:t>
                </a:r>
                <a:r>
                  <a:rPr lang="ja-JP" altLang="en-US" sz="2400" dirty="0"/>
                  <a:t>・・・①</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417963" cy="4642809"/>
              </a:xfrm>
              <a:prstGeom prst="rect">
                <a:avLst/>
              </a:prstGeom>
              <a:blipFill>
                <a:blip r:embed="rId2"/>
                <a:stretch>
                  <a:fillRect l="-971" t="-1051" r="-65" b="-170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28821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43161" cy="584775"/>
          </a:xfrm>
          <a:prstGeom prst="rect">
            <a:avLst/>
          </a:prstGeom>
          <a:noFill/>
        </p:spPr>
        <p:txBody>
          <a:bodyPr wrap="none" rtlCol="0">
            <a:spAutoFit/>
          </a:bodyPr>
          <a:lstStyle/>
          <a:p>
            <a:r>
              <a:rPr lang="ja-JP" altLang="en-US" sz="3200" b="1" u="sng" dirty="0"/>
              <a:t>衝突 例題</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4639603"/>
              </a:xfrm>
              <a:prstGeom prst="rect">
                <a:avLst/>
              </a:prstGeom>
              <a:noFill/>
            </p:spPr>
            <p:txBody>
              <a:bodyPr wrap="none" rtlCol="0">
                <a:spAutoFit/>
              </a:bodyPr>
              <a:lstStyle/>
              <a:p>
                <a:r>
                  <a:rPr lang="ja-JP" altLang="en-US" sz="2400" dirty="0"/>
                  <a:t>以下の２つの鉛玉が衝突した後の、それぞれの速度を求めなさい。</a:t>
                </a:r>
                <a:endParaRPr lang="en-US" altLang="ja-JP" sz="2400" dirty="0"/>
              </a:p>
              <a:p>
                <a:r>
                  <a:rPr lang="ja-JP" altLang="en-US" sz="2400" dirty="0"/>
                  <a:t>ただし、鉛同士のはねかえり係数は</a:t>
                </a:r>
                <a:r>
                  <a:rPr lang="en-US" altLang="ja-JP" sz="2400" dirty="0"/>
                  <a:t>0.2</a:t>
                </a:r>
                <a:r>
                  <a:rPr lang="ja-JP" altLang="en-US" sz="2400" dirty="0"/>
                  <a:t>とする</a:t>
                </a:r>
                <a:endParaRPr lang="en-US" altLang="ja-JP" sz="2400" dirty="0"/>
              </a:p>
              <a:p>
                <a:r>
                  <a:rPr lang="ja-JP" altLang="en-US" sz="2400" dirty="0"/>
                  <a:t>■鉛玉</a:t>
                </a:r>
                <a:r>
                  <a:rPr lang="en-US" altLang="ja-JP" sz="2400" dirty="0"/>
                  <a:t>A</a:t>
                </a:r>
              </a:p>
              <a:p>
                <a:r>
                  <a:rPr lang="ja-JP" altLang="en-US" sz="2400" dirty="0"/>
                  <a:t>・質量：</a:t>
                </a:r>
                <a14:m>
                  <m:oMath xmlns:m="http://schemas.openxmlformats.org/officeDocument/2006/math">
                    <m:r>
                      <a:rPr lang="en-US" altLang="ja-JP" sz="2400" i="1" dirty="0" smtClean="0">
                        <a:latin typeface="Cambria Math" panose="02040503050406030204" pitchFamily="18" charset="0"/>
                      </a:rPr>
                      <m:t>500</m:t>
                    </m:r>
                    <m:r>
                      <a:rPr lang="en-US" altLang="ja-JP" sz="2400" i="1" dirty="0" smtClean="0">
                        <a:latin typeface="Cambria Math" panose="02040503050406030204" pitchFamily="18" charset="0"/>
                      </a:rPr>
                      <m:t>𝑔</m:t>
                    </m:r>
                  </m:oMath>
                </a14:m>
                <a:r>
                  <a:rPr lang="en-US" altLang="ja-JP" sz="2400" dirty="0"/>
                  <a:t>	</a:t>
                </a:r>
                <a:r>
                  <a:rPr lang="ja-JP" altLang="en-US" sz="2400" dirty="0"/>
                  <a:t>・速度</a:t>
                </a:r>
                <a14:m>
                  <m:oMath xmlns:m="http://schemas.openxmlformats.org/officeDocument/2006/math">
                    <m:r>
                      <a:rPr lang="en-US" altLang="ja-JP" sz="2400" i="1" dirty="0" smtClean="0">
                        <a:latin typeface="Cambria Math" panose="02040503050406030204" pitchFamily="18" charset="0"/>
                      </a:rPr>
                      <m:t>30</m:t>
                    </m:r>
                    <m:r>
                      <a:rPr lang="en-US" altLang="ja-JP" sz="2400" i="1" dirty="0" smtClean="0">
                        <a:latin typeface="Cambria Math" panose="02040503050406030204" pitchFamily="18" charset="0"/>
                      </a:rPr>
                      <m:t>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oMath>
                </a14:m>
                <a:endParaRPr lang="en-US" altLang="ja-JP" sz="2400" dirty="0"/>
              </a:p>
              <a:p>
                <a:r>
                  <a:rPr lang="ja-JP" altLang="en-US" sz="2400" dirty="0"/>
                  <a:t>■鉛玉</a:t>
                </a:r>
                <a:r>
                  <a:rPr lang="en-US" altLang="ja-JP" sz="2400" dirty="0"/>
                  <a:t>B</a:t>
                </a:r>
              </a:p>
              <a:p>
                <a:r>
                  <a:rPr lang="ja-JP" altLang="en-US" sz="2400" dirty="0"/>
                  <a:t>・質量：</a:t>
                </a:r>
                <a14:m>
                  <m:oMath xmlns:m="http://schemas.openxmlformats.org/officeDocument/2006/math">
                    <m:r>
                      <a:rPr lang="en-US" altLang="ja-JP" sz="2400" i="1" dirty="0" smtClean="0">
                        <a:latin typeface="Cambria Math" panose="02040503050406030204" pitchFamily="18" charset="0"/>
                      </a:rPr>
                      <m:t>800</m:t>
                    </m:r>
                    <m:r>
                      <a:rPr lang="en-US" altLang="ja-JP" sz="2400" i="1" dirty="0" smtClean="0">
                        <a:latin typeface="Cambria Math" panose="02040503050406030204" pitchFamily="18" charset="0"/>
                      </a:rPr>
                      <m:t>𝑔</m:t>
                    </m:r>
                  </m:oMath>
                </a14:m>
                <a:r>
                  <a:rPr lang="en-US" altLang="ja-JP" sz="2400" dirty="0"/>
                  <a:t>	</a:t>
                </a:r>
                <a:r>
                  <a:rPr lang="ja-JP" altLang="en-US" sz="2400" dirty="0"/>
                  <a:t>・速度</a:t>
                </a:r>
                <a14:m>
                  <m:oMath xmlns:m="http://schemas.openxmlformats.org/officeDocument/2006/math">
                    <m:r>
                      <a:rPr lang="en-US" altLang="ja-JP" sz="2400" i="1" dirty="0" smtClean="0">
                        <a:latin typeface="Cambria Math" panose="02040503050406030204" pitchFamily="18" charset="0"/>
                      </a:rPr>
                      <m:t>−40</m:t>
                    </m:r>
                    <m:r>
                      <a:rPr lang="en-US" altLang="ja-JP" sz="2400" i="1" dirty="0" smtClean="0">
                        <a:latin typeface="Cambria Math" panose="02040503050406030204" pitchFamily="18" charset="0"/>
                      </a:rPr>
                      <m:t>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oMath>
                </a14:m>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14:m>
                  <m:oMath xmlns:m="http://schemas.openxmlformats.org/officeDocument/2006/math">
                    <m:d>
                      <m:dPr>
                        <m:ctrlPr>
                          <a:rPr lang="en-US" altLang="ja-JP" sz="2400" b="0" i="1" smtClean="0">
                            <a:latin typeface="Cambria Math" panose="02040503050406030204" pitchFamily="18" charset="0"/>
                          </a:rPr>
                        </m:ctrlPr>
                      </m:dPr>
                      <m:e>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𝑣</m:t>
                            </m:r>
                          </m:e>
                          <m:sub>
                            <m:r>
                              <a:rPr lang="en-US" altLang="ja-JP" sz="2400" b="0" i="1" smtClean="0">
                                <a:latin typeface="Cambria Math" panose="02040503050406030204" pitchFamily="18" charset="0"/>
                              </a:rPr>
                              <m:t>1</m:t>
                            </m:r>
                            <m:r>
                              <a:rPr lang="en-US" altLang="ja-JP" sz="2400" b="0" i="1" smtClean="0">
                                <a:latin typeface="Cambria Math" panose="02040503050406030204" pitchFamily="18" charset="0"/>
                              </a:rPr>
                              <m:t>𝑓</m:t>
                            </m:r>
                          </m:sub>
                        </m:sSub>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b="0" i="1" smtClean="0">
                                <a:latin typeface="Cambria Math" panose="02040503050406030204" pitchFamily="18" charset="0"/>
                              </a:rPr>
                              <m:t>2</m:t>
                            </m:r>
                            <m:r>
                              <a:rPr lang="en-US" altLang="ja-JP" sz="2400" i="1">
                                <a:latin typeface="Cambria Math" panose="02040503050406030204" pitchFamily="18" charset="0"/>
                              </a:rPr>
                              <m:t>𝑓</m:t>
                            </m:r>
                          </m:sub>
                        </m:sSub>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𝑒</m:t>
                    </m:r>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1</m:t>
                        </m:r>
                        <m:r>
                          <a:rPr lang="en-US" altLang="ja-JP" sz="2400" b="0" i="1" smtClean="0">
                            <a:latin typeface="Cambria Math" panose="02040503050406030204" pitchFamily="18" charset="0"/>
                          </a:rPr>
                          <m:t>𝑖</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2</m:t>
                        </m:r>
                        <m:r>
                          <a:rPr lang="en-US" altLang="ja-JP" sz="2400" b="0" i="1" smtClean="0">
                            <a:latin typeface="Cambria Math" panose="02040503050406030204" pitchFamily="18" charset="0"/>
                          </a:rPr>
                          <m:t>𝑖</m:t>
                        </m:r>
                      </m:sub>
                    </m:sSub>
                    <m:r>
                      <a:rPr lang="en-US" altLang="ja-JP" sz="2400" b="0" i="1" smtClean="0">
                        <a:latin typeface="Cambria Math" panose="02040503050406030204" pitchFamily="18" charset="0"/>
                      </a:rPr>
                      <m:t>)</m:t>
                    </m:r>
                  </m:oMath>
                </a14:m>
                <a:r>
                  <a:rPr lang="en-US" altLang="ja-JP" sz="2400" dirty="0"/>
                  <a:t> </a:t>
                </a:r>
                <a:r>
                  <a:rPr lang="ja-JP" altLang="en-US" sz="2400" dirty="0"/>
                  <a:t>より、</a:t>
                </a:r>
                <a:endParaRPr lang="en-US" altLang="ja-JP" sz="2400" dirty="0"/>
              </a:p>
              <a:p>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1</m:t>
                        </m:r>
                        <m:r>
                          <a:rPr lang="en-US" altLang="ja-JP" sz="2400" i="1">
                            <a:latin typeface="Cambria Math" panose="02040503050406030204" pitchFamily="18" charset="0"/>
                          </a:rPr>
                          <m:t>𝑓</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2</m:t>
                        </m:r>
                        <m:r>
                          <a:rPr lang="en-US" altLang="ja-JP" sz="2400" i="1">
                            <a:latin typeface="Cambria Math" panose="02040503050406030204" pitchFamily="18" charset="0"/>
                          </a:rPr>
                          <m:t>𝑓</m:t>
                        </m:r>
                      </m:sub>
                    </m:sSub>
                    <m:r>
                      <a:rPr lang="en-US" altLang="ja-JP" sz="2400" i="1">
                        <a:latin typeface="Cambria Math" panose="02040503050406030204" pitchFamily="18" charset="0"/>
                      </a:rPr>
                      <m:t> </m:t>
                    </m:r>
                    <m:r>
                      <a:rPr lang="en-US" altLang="ja-JP" sz="2400" b="0" i="1" smtClean="0">
                        <a:latin typeface="Cambria Math" panose="02040503050406030204" pitchFamily="18" charset="0"/>
                      </a:rPr>
                      <m:t>=−0.2(</m:t>
                    </m:r>
                    <m:r>
                      <a:rPr lang="en-US" altLang="ja-JP" sz="2400" i="1" smtClean="0">
                        <a:latin typeface="Cambria Math" panose="02040503050406030204" pitchFamily="18" charset="0"/>
                      </a:rPr>
                      <m:t>3</m:t>
                    </m:r>
                    <m:r>
                      <a:rPr lang="en-US" altLang="ja-JP" sz="2400" b="0" i="1" smtClean="0">
                        <a:latin typeface="Cambria Math" panose="02040503050406030204" pitchFamily="18" charset="0"/>
                      </a:rPr>
                      <m:t>0</m:t>
                    </m:r>
                    <m:r>
                      <a:rPr lang="en-US" altLang="ja-JP" sz="2400" i="1">
                        <a:latin typeface="Cambria Math" panose="02040503050406030204" pitchFamily="18" charset="0"/>
                      </a:rPr>
                      <m:t>−</m:t>
                    </m:r>
                    <m:r>
                      <a:rPr lang="en-US" altLang="ja-JP" sz="2400" i="1" smtClean="0">
                        <a:latin typeface="Cambria Math" panose="02040503050406030204" pitchFamily="18" charset="0"/>
                      </a:rPr>
                      <m:t>(</m:t>
                    </m:r>
                    <m:r>
                      <a:rPr lang="en-US" altLang="ja-JP" sz="2400" b="0" i="1" smtClean="0">
                        <a:latin typeface="Cambria Math" panose="02040503050406030204" pitchFamily="18" charset="0"/>
                      </a:rPr>
                      <m:t>−40))</m:t>
                    </m:r>
                  </m:oMath>
                </a14:m>
                <a:r>
                  <a:rPr lang="en-US" altLang="ja-JP" sz="2400" dirty="0"/>
                  <a:t> </a:t>
                </a:r>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1</m:t>
                        </m:r>
                        <m:r>
                          <a:rPr lang="en-US" altLang="ja-JP" sz="2400" i="1">
                            <a:latin typeface="Cambria Math" panose="02040503050406030204" pitchFamily="18" charset="0"/>
                          </a:rPr>
                          <m:t>𝑓</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2</m:t>
                        </m:r>
                        <m:r>
                          <a:rPr lang="en-US" altLang="ja-JP" sz="2400" i="1">
                            <a:latin typeface="Cambria Math" panose="02040503050406030204" pitchFamily="18" charset="0"/>
                          </a:rPr>
                          <m:t>𝑓</m:t>
                        </m:r>
                      </m:sub>
                    </m:sSub>
                    <m:r>
                      <a:rPr lang="en-US" altLang="ja-JP" sz="2400" i="1">
                        <a:latin typeface="Cambria Math" panose="02040503050406030204" pitchFamily="18" charset="0"/>
                      </a:rPr>
                      <m:t> </m:t>
                    </m:r>
                    <m:r>
                      <a:rPr lang="en-US" altLang="ja-JP" sz="2400" b="0" i="1" smtClean="0">
                        <a:latin typeface="Cambria Math" panose="02040503050406030204" pitchFamily="18" charset="0"/>
                      </a:rPr>
                      <m:t>=−14</m:t>
                    </m:r>
                  </m:oMath>
                </a14:m>
                <a:r>
                  <a:rPr lang="en-US" altLang="ja-JP" sz="2400" dirty="0"/>
                  <a:t> 	</a:t>
                </a:r>
                <a:r>
                  <a:rPr lang="ja-JP" altLang="en-US" sz="2400" dirty="0"/>
                  <a:t>・・・②</a:t>
                </a:r>
                <a:endParaRPr lang="en-US" altLang="ja-JP" sz="2400" dirty="0"/>
              </a:p>
              <a:p>
                <a:endParaRPr lang="en-US" altLang="ja-JP" sz="2400" b="1" dirty="0">
                  <a:solidFill>
                    <a:srgbClr val="FF0000"/>
                  </a:solidFill>
                </a:endParaRPr>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417963" cy="4639603"/>
              </a:xfrm>
              <a:prstGeom prst="rect">
                <a:avLst/>
              </a:prstGeom>
              <a:blipFill>
                <a:blip r:embed="rId2"/>
                <a:stretch>
                  <a:fillRect l="-971" t="-1051" r="-6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124592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43161" cy="584775"/>
          </a:xfrm>
          <a:prstGeom prst="rect">
            <a:avLst/>
          </a:prstGeom>
          <a:noFill/>
        </p:spPr>
        <p:txBody>
          <a:bodyPr wrap="none" rtlCol="0">
            <a:spAutoFit/>
          </a:bodyPr>
          <a:lstStyle/>
          <a:p>
            <a:r>
              <a:rPr lang="ja-JP" altLang="en-US" sz="3200" b="1" u="sng" dirty="0"/>
              <a:t>衝突 例題</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5017720"/>
              </a:xfrm>
              <a:prstGeom prst="rect">
                <a:avLst/>
              </a:prstGeom>
              <a:noFill/>
            </p:spPr>
            <p:txBody>
              <a:bodyPr wrap="none" rtlCol="0">
                <a:spAutoFit/>
              </a:bodyPr>
              <a:lstStyle/>
              <a:p>
                <a:r>
                  <a:rPr lang="ja-JP" altLang="en-US" sz="2400" dirty="0"/>
                  <a:t>以下の２つの鉛玉が衝突した後の、それぞれの速度を求めなさい。</a:t>
                </a:r>
                <a:endParaRPr lang="en-US" altLang="ja-JP" sz="2400" dirty="0"/>
              </a:p>
              <a:p>
                <a:r>
                  <a:rPr lang="ja-JP" altLang="en-US" sz="2400" dirty="0"/>
                  <a:t>ただし、鉛同士のはねかえり係数は</a:t>
                </a:r>
                <a:r>
                  <a:rPr lang="en-US" altLang="ja-JP" sz="2400" dirty="0"/>
                  <a:t>0.2</a:t>
                </a:r>
                <a:r>
                  <a:rPr lang="ja-JP" altLang="en-US" sz="2400" dirty="0"/>
                  <a:t>とする</a:t>
                </a:r>
                <a:endParaRPr lang="en-US" altLang="ja-JP" sz="2400" dirty="0"/>
              </a:p>
              <a:p>
                <a:r>
                  <a:rPr lang="ja-JP" altLang="en-US" sz="2400" dirty="0"/>
                  <a:t>■鉛玉</a:t>
                </a:r>
                <a:r>
                  <a:rPr lang="en-US" altLang="ja-JP" sz="2400" dirty="0"/>
                  <a:t>A</a:t>
                </a:r>
              </a:p>
              <a:p>
                <a:r>
                  <a:rPr lang="ja-JP" altLang="en-US" sz="2400" dirty="0"/>
                  <a:t>・質量：</a:t>
                </a:r>
                <a14:m>
                  <m:oMath xmlns:m="http://schemas.openxmlformats.org/officeDocument/2006/math">
                    <m:r>
                      <a:rPr lang="en-US" altLang="ja-JP" sz="2400" i="1" dirty="0" smtClean="0">
                        <a:latin typeface="Cambria Math" panose="02040503050406030204" pitchFamily="18" charset="0"/>
                      </a:rPr>
                      <m:t>500</m:t>
                    </m:r>
                    <m:r>
                      <a:rPr lang="en-US" altLang="ja-JP" sz="2400" i="1" dirty="0" smtClean="0">
                        <a:latin typeface="Cambria Math" panose="02040503050406030204" pitchFamily="18" charset="0"/>
                      </a:rPr>
                      <m:t>𝑔</m:t>
                    </m:r>
                  </m:oMath>
                </a14:m>
                <a:r>
                  <a:rPr lang="en-US" altLang="ja-JP" sz="2400" dirty="0"/>
                  <a:t>	</a:t>
                </a:r>
                <a:r>
                  <a:rPr lang="ja-JP" altLang="en-US" sz="2400" dirty="0"/>
                  <a:t>・速度</a:t>
                </a:r>
                <a14:m>
                  <m:oMath xmlns:m="http://schemas.openxmlformats.org/officeDocument/2006/math">
                    <m:r>
                      <a:rPr lang="en-US" altLang="ja-JP" sz="2400" i="1" dirty="0" smtClean="0">
                        <a:latin typeface="Cambria Math" panose="02040503050406030204" pitchFamily="18" charset="0"/>
                      </a:rPr>
                      <m:t>30</m:t>
                    </m:r>
                    <m:r>
                      <a:rPr lang="en-US" altLang="ja-JP" sz="2400" i="1" dirty="0" smtClean="0">
                        <a:latin typeface="Cambria Math" panose="02040503050406030204" pitchFamily="18" charset="0"/>
                      </a:rPr>
                      <m:t>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oMath>
                </a14:m>
                <a:endParaRPr lang="en-US" altLang="ja-JP" sz="2400" dirty="0"/>
              </a:p>
              <a:p>
                <a:r>
                  <a:rPr lang="ja-JP" altLang="en-US" sz="2400" dirty="0"/>
                  <a:t>■鉛玉</a:t>
                </a:r>
                <a:r>
                  <a:rPr lang="en-US" altLang="ja-JP" sz="2400" dirty="0"/>
                  <a:t>B</a:t>
                </a:r>
              </a:p>
              <a:p>
                <a:r>
                  <a:rPr lang="ja-JP" altLang="en-US" sz="2400" dirty="0"/>
                  <a:t>・質量：</a:t>
                </a:r>
                <a14:m>
                  <m:oMath xmlns:m="http://schemas.openxmlformats.org/officeDocument/2006/math">
                    <m:r>
                      <a:rPr lang="en-US" altLang="ja-JP" sz="2400" i="1" dirty="0" smtClean="0">
                        <a:latin typeface="Cambria Math" panose="02040503050406030204" pitchFamily="18" charset="0"/>
                      </a:rPr>
                      <m:t>800</m:t>
                    </m:r>
                    <m:r>
                      <a:rPr lang="en-US" altLang="ja-JP" sz="2400" i="1" dirty="0" smtClean="0">
                        <a:latin typeface="Cambria Math" panose="02040503050406030204" pitchFamily="18" charset="0"/>
                      </a:rPr>
                      <m:t>𝑔</m:t>
                    </m:r>
                  </m:oMath>
                </a14:m>
                <a:r>
                  <a:rPr lang="en-US" altLang="ja-JP" sz="2400" dirty="0"/>
                  <a:t>	</a:t>
                </a:r>
                <a:r>
                  <a:rPr lang="ja-JP" altLang="en-US" sz="2400" dirty="0"/>
                  <a:t>・速度</a:t>
                </a:r>
                <a14:m>
                  <m:oMath xmlns:m="http://schemas.openxmlformats.org/officeDocument/2006/math">
                    <m:r>
                      <a:rPr lang="en-US" altLang="ja-JP" sz="2400" i="1" dirty="0" smtClean="0">
                        <a:latin typeface="Cambria Math" panose="02040503050406030204" pitchFamily="18" charset="0"/>
                      </a:rPr>
                      <m:t>−40</m:t>
                    </m:r>
                    <m:r>
                      <a:rPr lang="en-US" altLang="ja-JP" sz="2400" i="1" dirty="0" smtClean="0">
                        <a:latin typeface="Cambria Math" panose="02040503050406030204" pitchFamily="18" charset="0"/>
                      </a:rPr>
                      <m:t>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oMath>
                </a14:m>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r>
                  <a:rPr lang="ja-JP" altLang="en-US" sz="2400" dirty="0"/>
                  <a:t>①</a:t>
                </a:r>
                <a:r>
                  <a:rPr lang="en-US" altLang="ja-JP" sz="2400" dirty="0"/>
                  <a:t>, </a:t>
                </a:r>
                <a:r>
                  <a:rPr lang="ja-JP" altLang="en-US" sz="2400" dirty="0"/>
                  <a:t>②の連立方程式を解くと、</a:t>
                </a:r>
                <a:endParaRPr lang="en-US" altLang="ja-JP" sz="2400" dirty="0"/>
              </a:p>
              <a:p>
                <a14:m>
                  <m:oMath xmlns:m="http://schemas.openxmlformats.org/officeDocument/2006/math">
                    <m:r>
                      <a:rPr lang="ja-JP" altLang="en-US" sz="2400" i="1" dirty="0">
                        <a:latin typeface="Cambria Math" panose="02040503050406030204" pitchFamily="18" charset="0"/>
                      </a:rPr>
                      <m:t>　</m:t>
                    </m:r>
                    <m:r>
                      <a:rPr lang="en-US" altLang="ja-JP" sz="2400" i="1" smtClean="0">
                        <a:latin typeface="Cambria Math" panose="02040503050406030204" pitchFamily="18" charset="0"/>
                      </a:rPr>
                      <m:t>0.5</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1</m:t>
                        </m:r>
                        <m:r>
                          <a:rPr lang="en-US" altLang="ja-JP" sz="2400" i="1">
                            <a:latin typeface="Cambria Math" panose="02040503050406030204" pitchFamily="18" charset="0"/>
                          </a:rPr>
                          <m:t>𝑓</m:t>
                        </m:r>
                      </m:sub>
                    </m:sSub>
                    <m:r>
                      <a:rPr lang="en-US" altLang="ja-JP" sz="2400" i="1">
                        <a:latin typeface="Cambria Math" panose="02040503050406030204" pitchFamily="18" charset="0"/>
                      </a:rPr>
                      <m:t>+0.8</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2</m:t>
                        </m:r>
                        <m:r>
                          <a:rPr lang="en-US" altLang="ja-JP" sz="2400" i="1">
                            <a:latin typeface="Cambria Math" panose="02040503050406030204" pitchFamily="18" charset="0"/>
                          </a:rPr>
                          <m:t>𝑓</m:t>
                        </m:r>
                      </m:sub>
                    </m:sSub>
                    <m:r>
                      <a:rPr lang="en-US" altLang="ja-JP" sz="2400" b="0" i="1" smtClean="0">
                        <a:solidFill>
                          <a:schemeClr val="tx1"/>
                        </a:solidFill>
                        <a:latin typeface="Cambria Math" panose="02040503050406030204" pitchFamily="18" charset="0"/>
                      </a:rPr>
                      <m:t>=</m:t>
                    </m:r>
                    <m:r>
                      <a:rPr lang="en-US" altLang="ja-JP" sz="2400" i="1">
                        <a:latin typeface="Cambria Math" panose="02040503050406030204" pitchFamily="18" charset="0"/>
                      </a:rPr>
                      <m:t>−17</m:t>
                    </m:r>
                  </m:oMath>
                </a14:m>
                <a:r>
                  <a:rPr lang="en-US" altLang="ja-JP" sz="2400" dirty="0"/>
                  <a:t> </a:t>
                </a:r>
              </a:p>
              <a:p>
                <a14:m>
                  <m:oMath xmlns:m="http://schemas.openxmlformats.org/officeDocument/2006/math">
                    <m:r>
                      <a:rPr lang="en-US" altLang="ja-JP" sz="2400" b="0" i="1" smtClean="0">
                        <a:latin typeface="Cambria Math" panose="02040503050406030204" pitchFamily="18" charset="0"/>
                      </a:rPr>
                      <m:t>−)0.5</m:t>
                    </m:r>
                    <m:sSub>
                      <m:sSubPr>
                        <m:ctrlPr>
                          <a:rPr lang="en-US" altLang="ja-JP" sz="2400" i="1" smtClean="0">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1</m:t>
                        </m:r>
                        <m:r>
                          <a:rPr lang="en-US" altLang="ja-JP" sz="2400" i="1">
                            <a:latin typeface="Cambria Math" panose="02040503050406030204" pitchFamily="18" charset="0"/>
                          </a:rPr>
                          <m:t>𝑓</m:t>
                        </m:r>
                      </m:sub>
                    </m:sSub>
                    <m:r>
                      <a:rPr lang="en-US" altLang="ja-JP" sz="2400" i="1">
                        <a:latin typeface="Cambria Math" panose="02040503050406030204" pitchFamily="18" charset="0"/>
                      </a:rPr>
                      <m:t>−</m:t>
                    </m:r>
                    <m:r>
                      <a:rPr lang="en-US" altLang="ja-JP" sz="2400" b="0" i="1" smtClean="0">
                        <a:latin typeface="Cambria Math" panose="02040503050406030204" pitchFamily="18" charset="0"/>
                      </a:rPr>
                      <m:t>0.5</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2</m:t>
                        </m:r>
                        <m:r>
                          <a:rPr lang="en-US" altLang="ja-JP" sz="2400" i="1">
                            <a:latin typeface="Cambria Math" panose="02040503050406030204" pitchFamily="18" charset="0"/>
                          </a:rPr>
                          <m:t>𝑓</m:t>
                        </m:r>
                      </m:sub>
                    </m:sSub>
                    <m:r>
                      <a:rPr lang="en-US" altLang="ja-JP" sz="2400" i="1">
                        <a:latin typeface="Cambria Math" panose="02040503050406030204" pitchFamily="18" charset="0"/>
                      </a:rPr>
                      <m:t> </m:t>
                    </m:r>
                    <m:r>
                      <a:rPr lang="en-US" altLang="ja-JP" sz="2400" b="0" i="1" smtClean="0">
                        <a:latin typeface="Cambria Math" panose="02040503050406030204" pitchFamily="18" charset="0"/>
                      </a:rPr>
                      <m:t>=−7</m:t>
                    </m:r>
                  </m:oMath>
                </a14:m>
                <a:r>
                  <a:rPr lang="en-US" altLang="ja-JP" sz="2400" dirty="0"/>
                  <a:t> </a:t>
                </a:r>
              </a:p>
              <a:p>
                <a:r>
                  <a:rPr lang="en-US" altLang="ja-JP" sz="2400" b="0" dirty="0"/>
                  <a:t>                  </a:t>
                </a:r>
                <a14:m>
                  <m:oMath xmlns:m="http://schemas.openxmlformats.org/officeDocument/2006/math">
                    <m:r>
                      <a:rPr lang="en-US" altLang="ja-JP" sz="2400" b="0" i="1" smtClean="0">
                        <a:latin typeface="Cambria Math" panose="02040503050406030204" pitchFamily="18" charset="0"/>
                      </a:rPr>
                      <m:t>1.3</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2</m:t>
                        </m:r>
                        <m:r>
                          <a:rPr lang="en-US" altLang="ja-JP" sz="2400" i="1">
                            <a:latin typeface="Cambria Math" panose="02040503050406030204" pitchFamily="18" charset="0"/>
                          </a:rPr>
                          <m:t>𝑓</m:t>
                        </m:r>
                      </m:sub>
                    </m:sSub>
                    <m:r>
                      <a:rPr lang="en-US" altLang="ja-JP" sz="2400" b="0" i="1" smtClean="0">
                        <a:solidFill>
                          <a:schemeClr val="tx1"/>
                        </a:solidFill>
                        <a:latin typeface="Cambria Math" panose="02040503050406030204" pitchFamily="18" charset="0"/>
                      </a:rPr>
                      <m:t>=</m:t>
                    </m:r>
                    <m:r>
                      <a:rPr lang="en-US" altLang="ja-JP" sz="2400" i="1">
                        <a:latin typeface="Cambria Math" panose="02040503050406030204" pitchFamily="18" charset="0"/>
                      </a:rPr>
                      <m:t>−</m:t>
                    </m:r>
                    <m:r>
                      <a:rPr lang="en-US" altLang="ja-JP" sz="2400" b="0" i="1" smtClean="0">
                        <a:latin typeface="Cambria Math" panose="02040503050406030204" pitchFamily="18" charset="0"/>
                      </a:rPr>
                      <m:t>10</m:t>
                    </m:r>
                  </m:oMath>
                </a14:m>
                <a:endParaRPr lang="en-US" altLang="ja-JP" sz="2400" b="0" dirty="0"/>
              </a:p>
              <a:p>
                <a:r>
                  <a:rPr lang="en-US" altLang="ja-JP" sz="2400" dirty="0"/>
                  <a:t>		 </a:t>
                </a: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2</m:t>
                        </m:r>
                        <m:r>
                          <a:rPr lang="en-US" altLang="ja-JP" sz="2400" i="1">
                            <a:latin typeface="Cambria Math" panose="02040503050406030204" pitchFamily="18" charset="0"/>
                          </a:rPr>
                          <m:t>𝑓</m:t>
                        </m:r>
                      </m:sub>
                    </m:sSub>
                    <m:r>
                      <a:rPr lang="en-US" altLang="ja-JP" sz="2400" b="0" i="1" smtClean="0">
                        <a:latin typeface="Cambria Math" panose="02040503050406030204" pitchFamily="18" charset="0"/>
                      </a:rPr>
                      <m:t>=−7.7</m:t>
                    </m:r>
                  </m:oMath>
                </a14:m>
                <a:r>
                  <a:rPr lang="en-US" altLang="ja-JP" sz="2400" dirty="0"/>
                  <a:t> </a:t>
                </a:r>
                <a:r>
                  <a:rPr lang="ja-JP" altLang="en-US" sz="2400" dirty="0"/>
                  <a:t>・・・鉛玉</a:t>
                </a:r>
                <a:r>
                  <a:rPr lang="en-US" altLang="ja-JP" sz="2400" dirty="0"/>
                  <a:t>B</a:t>
                </a:r>
                <a:r>
                  <a:rPr lang="ja-JP" altLang="en-US" sz="2400" dirty="0"/>
                  <a:t>の衝突後の速度</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417963" cy="5017720"/>
              </a:xfrm>
              <a:prstGeom prst="rect">
                <a:avLst/>
              </a:prstGeom>
              <a:blipFill>
                <a:blip r:embed="rId2"/>
                <a:stretch>
                  <a:fillRect l="-971" t="-972" r="-65" b="-206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67575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43161" cy="584775"/>
          </a:xfrm>
          <a:prstGeom prst="rect">
            <a:avLst/>
          </a:prstGeom>
          <a:noFill/>
        </p:spPr>
        <p:txBody>
          <a:bodyPr wrap="none" rtlCol="0">
            <a:spAutoFit/>
          </a:bodyPr>
          <a:lstStyle/>
          <a:p>
            <a:r>
              <a:rPr lang="ja-JP" altLang="en-US" sz="3200" b="1" u="sng" dirty="0"/>
              <a:t>衝突 例題</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4583562"/>
              </a:xfrm>
              <a:prstGeom prst="rect">
                <a:avLst/>
              </a:prstGeom>
              <a:noFill/>
            </p:spPr>
            <p:txBody>
              <a:bodyPr wrap="none" rtlCol="0">
                <a:spAutoFit/>
              </a:bodyPr>
              <a:lstStyle/>
              <a:p>
                <a:r>
                  <a:rPr lang="ja-JP" altLang="en-US" sz="2400" dirty="0"/>
                  <a:t>以下の２つの鉛玉が衝突した後の、それぞれの速度を求めなさい。</a:t>
                </a:r>
                <a:endParaRPr lang="en-US" altLang="ja-JP" sz="2400" dirty="0"/>
              </a:p>
              <a:p>
                <a:r>
                  <a:rPr lang="ja-JP" altLang="en-US" sz="2400" dirty="0"/>
                  <a:t>ただし、鉛同士のはねかえり係数は</a:t>
                </a:r>
                <a:r>
                  <a:rPr lang="en-US" altLang="ja-JP" sz="2400" dirty="0"/>
                  <a:t>0.2</a:t>
                </a:r>
                <a:r>
                  <a:rPr lang="ja-JP" altLang="en-US" sz="2400" dirty="0"/>
                  <a:t>とする</a:t>
                </a:r>
                <a:endParaRPr lang="en-US" altLang="ja-JP" sz="2400" dirty="0"/>
              </a:p>
              <a:p>
                <a:r>
                  <a:rPr lang="ja-JP" altLang="en-US" sz="2400" dirty="0"/>
                  <a:t>■鉛玉</a:t>
                </a:r>
                <a:r>
                  <a:rPr lang="en-US" altLang="ja-JP" sz="2400" dirty="0"/>
                  <a:t>A</a:t>
                </a:r>
              </a:p>
              <a:p>
                <a:r>
                  <a:rPr lang="ja-JP" altLang="en-US" sz="2400" dirty="0"/>
                  <a:t>・質量：</a:t>
                </a:r>
                <a14:m>
                  <m:oMath xmlns:m="http://schemas.openxmlformats.org/officeDocument/2006/math">
                    <m:r>
                      <a:rPr lang="en-US" altLang="ja-JP" sz="2400" i="1" dirty="0" smtClean="0">
                        <a:latin typeface="Cambria Math" panose="02040503050406030204" pitchFamily="18" charset="0"/>
                      </a:rPr>
                      <m:t>500</m:t>
                    </m:r>
                    <m:r>
                      <a:rPr lang="en-US" altLang="ja-JP" sz="2400" i="1" dirty="0" smtClean="0">
                        <a:latin typeface="Cambria Math" panose="02040503050406030204" pitchFamily="18" charset="0"/>
                      </a:rPr>
                      <m:t>𝑔</m:t>
                    </m:r>
                  </m:oMath>
                </a14:m>
                <a:r>
                  <a:rPr lang="en-US" altLang="ja-JP" sz="2400" dirty="0"/>
                  <a:t>	</a:t>
                </a:r>
                <a:r>
                  <a:rPr lang="ja-JP" altLang="en-US" sz="2400" dirty="0"/>
                  <a:t>・速度</a:t>
                </a:r>
                <a14:m>
                  <m:oMath xmlns:m="http://schemas.openxmlformats.org/officeDocument/2006/math">
                    <m:r>
                      <a:rPr lang="en-US" altLang="ja-JP" sz="2400" i="1" dirty="0" smtClean="0">
                        <a:latin typeface="Cambria Math" panose="02040503050406030204" pitchFamily="18" charset="0"/>
                      </a:rPr>
                      <m:t>30</m:t>
                    </m:r>
                    <m:r>
                      <a:rPr lang="en-US" altLang="ja-JP" sz="2400" i="1" dirty="0" smtClean="0">
                        <a:latin typeface="Cambria Math" panose="02040503050406030204" pitchFamily="18" charset="0"/>
                      </a:rPr>
                      <m:t>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oMath>
                </a14:m>
                <a:endParaRPr lang="en-US" altLang="ja-JP" sz="2400" dirty="0"/>
              </a:p>
              <a:p>
                <a:r>
                  <a:rPr lang="ja-JP" altLang="en-US" sz="2400" dirty="0"/>
                  <a:t>■鉛玉</a:t>
                </a:r>
                <a:r>
                  <a:rPr lang="en-US" altLang="ja-JP" sz="2400" dirty="0"/>
                  <a:t>B</a:t>
                </a:r>
              </a:p>
              <a:p>
                <a:r>
                  <a:rPr lang="ja-JP" altLang="en-US" sz="2400" dirty="0"/>
                  <a:t>・質量：</a:t>
                </a:r>
                <a14:m>
                  <m:oMath xmlns:m="http://schemas.openxmlformats.org/officeDocument/2006/math">
                    <m:r>
                      <a:rPr lang="en-US" altLang="ja-JP" sz="2400" i="1" dirty="0" smtClean="0">
                        <a:latin typeface="Cambria Math" panose="02040503050406030204" pitchFamily="18" charset="0"/>
                      </a:rPr>
                      <m:t>800</m:t>
                    </m:r>
                    <m:r>
                      <a:rPr lang="en-US" altLang="ja-JP" sz="2400" i="1" dirty="0" smtClean="0">
                        <a:latin typeface="Cambria Math" panose="02040503050406030204" pitchFamily="18" charset="0"/>
                      </a:rPr>
                      <m:t>𝑔</m:t>
                    </m:r>
                  </m:oMath>
                </a14:m>
                <a:r>
                  <a:rPr lang="en-US" altLang="ja-JP" sz="2400" dirty="0"/>
                  <a:t>	</a:t>
                </a:r>
                <a:r>
                  <a:rPr lang="ja-JP" altLang="en-US" sz="2400" dirty="0"/>
                  <a:t>・速度</a:t>
                </a:r>
                <a14:m>
                  <m:oMath xmlns:m="http://schemas.openxmlformats.org/officeDocument/2006/math">
                    <m:r>
                      <a:rPr lang="en-US" altLang="ja-JP" sz="2400" i="1" dirty="0" smtClean="0">
                        <a:latin typeface="Cambria Math" panose="02040503050406030204" pitchFamily="18" charset="0"/>
                      </a:rPr>
                      <m:t>−40</m:t>
                    </m:r>
                    <m:r>
                      <a:rPr lang="en-US" altLang="ja-JP" sz="2400" i="1" dirty="0" smtClean="0">
                        <a:latin typeface="Cambria Math" panose="02040503050406030204" pitchFamily="18" charset="0"/>
                      </a:rPr>
                      <m:t>𝑚</m:t>
                    </m:r>
                    <m:r>
                      <a:rPr lang="en-US" altLang="ja-JP" sz="2400" i="1" dirty="0" smtClean="0">
                        <a:latin typeface="Cambria Math" panose="02040503050406030204" pitchFamily="18" charset="0"/>
                      </a:rPr>
                      <m:t>/</m:t>
                    </m:r>
                    <m:r>
                      <a:rPr lang="ja-JP" altLang="en-US" sz="2400" i="1" dirty="0" smtClean="0">
                        <a:latin typeface="Cambria Math" panose="02040503050406030204" pitchFamily="18" charset="0"/>
                      </a:rPr>
                      <m:t>秒</m:t>
                    </m:r>
                  </m:oMath>
                </a14:m>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1</m:t>
                        </m:r>
                        <m:r>
                          <a:rPr lang="en-US" altLang="ja-JP" sz="2400" i="1">
                            <a:latin typeface="Cambria Math" panose="02040503050406030204" pitchFamily="18" charset="0"/>
                          </a:rPr>
                          <m:t>𝑓</m:t>
                        </m:r>
                      </m:sub>
                    </m:sSub>
                    <m:r>
                      <a:rPr lang="en-US" altLang="ja-JP" sz="2400" i="1">
                        <a:latin typeface="Cambria Math" panose="02040503050406030204" pitchFamily="18" charset="0"/>
                      </a:rPr>
                      <m:t>−</m:t>
                    </m:r>
                    <m:r>
                      <a:rPr lang="en-US" altLang="ja-JP" sz="2400" b="0" i="1" smtClean="0">
                        <a:latin typeface="Cambria Math" panose="02040503050406030204" pitchFamily="18" charset="0"/>
                      </a:rPr>
                      <m:t>(−7.7)</m:t>
                    </m:r>
                    <m:r>
                      <a:rPr lang="en-US" altLang="ja-JP" sz="2400" i="1">
                        <a:latin typeface="Cambria Math" panose="02040503050406030204" pitchFamily="18" charset="0"/>
                      </a:rPr>
                      <m:t> </m:t>
                    </m:r>
                    <m:r>
                      <a:rPr lang="en-US" altLang="ja-JP" sz="2400" b="0" i="1" smtClean="0">
                        <a:latin typeface="Cambria Math" panose="02040503050406030204" pitchFamily="18" charset="0"/>
                      </a:rPr>
                      <m:t>=−14</m:t>
                    </m:r>
                  </m:oMath>
                </a14:m>
                <a:r>
                  <a:rPr lang="en-US" altLang="ja-JP" sz="2400" b="1" dirty="0">
                    <a:solidFill>
                      <a:srgbClr val="FF0000"/>
                    </a:solidFill>
                  </a:rPr>
                  <a:t> </a:t>
                </a:r>
              </a:p>
              <a:p>
                <a14:m>
                  <m:oMath xmlns:m="http://schemas.openxmlformats.org/officeDocument/2006/math">
                    <m:sSub>
                      <m:sSubPr>
                        <m:ctrlPr>
                          <a:rPr lang="en-US" altLang="ja-JP" sz="2400" i="1" smtClean="0">
                            <a:latin typeface="Cambria Math" panose="02040503050406030204" pitchFamily="18" charset="0"/>
                          </a:rPr>
                        </m:ctrlPr>
                      </m:sSubPr>
                      <m:e>
                        <m:r>
                          <a:rPr lang="en-US" altLang="ja-JP" sz="2400" i="1">
                            <a:latin typeface="Cambria Math" panose="02040503050406030204" pitchFamily="18" charset="0"/>
                          </a:rPr>
                          <m:t>𝑣</m:t>
                        </m:r>
                      </m:e>
                      <m:sub>
                        <m:r>
                          <a:rPr lang="en-US" altLang="ja-JP" sz="2400" i="1">
                            <a:latin typeface="Cambria Math" panose="02040503050406030204" pitchFamily="18" charset="0"/>
                          </a:rPr>
                          <m:t>1</m:t>
                        </m:r>
                        <m:r>
                          <a:rPr lang="en-US" altLang="ja-JP" sz="2400" i="1">
                            <a:latin typeface="Cambria Math" panose="02040503050406030204" pitchFamily="18" charset="0"/>
                          </a:rPr>
                          <m:t>𝑓</m:t>
                        </m:r>
                      </m:sub>
                    </m:sSub>
                    <m:r>
                      <a:rPr lang="en-US" altLang="ja-JP" sz="2400" b="0" i="1" smtClean="0">
                        <a:latin typeface="Cambria Math" panose="02040503050406030204" pitchFamily="18" charset="0"/>
                      </a:rPr>
                      <m:t>=−21.7</m:t>
                    </m:r>
                  </m:oMath>
                </a14:m>
                <a:r>
                  <a:rPr lang="en-US" altLang="ja-JP" sz="2400" b="1" dirty="0">
                    <a:solidFill>
                      <a:srgbClr val="FF0000"/>
                    </a:solidFill>
                  </a:rPr>
                  <a:t> 	</a:t>
                </a:r>
                <a:r>
                  <a:rPr lang="ja-JP" altLang="en-US" sz="2400" dirty="0"/>
                  <a:t>・・・鉛玉</a:t>
                </a:r>
                <a:r>
                  <a:rPr lang="en-US" altLang="ja-JP" sz="2400" dirty="0"/>
                  <a:t>A</a:t>
                </a:r>
                <a:r>
                  <a:rPr lang="ja-JP" altLang="en-US" sz="2400" dirty="0"/>
                  <a:t>の衝突後の速度</a:t>
                </a:r>
                <a:endParaRPr lang="en-US" altLang="ja-JP" sz="2400" dirty="0"/>
              </a:p>
              <a:p>
                <a:endParaRPr lang="en-US" altLang="ja-JP" sz="2400" b="1" dirty="0">
                  <a:solidFill>
                    <a:srgbClr val="FF0000"/>
                  </a:solidFill>
                </a:endParaRPr>
              </a:p>
              <a:p>
                <a:r>
                  <a:rPr lang="ja-JP" altLang="en-US" sz="2400" b="1" dirty="0">
                    <a:solidFill>
                      <a:srgbClr val="FF0000"/>
                    </a:solidFill>
                  </a:rPr>
                  <a:t>鉛玉</a:t>
                </a:r>
                <a:r>
                  <a:rPr lang="en-US" altLang="ja-JP" sz="2400" b="1" dirty="0">
                    <a:solidFill>
                      <a:srgbClr val="FF0000"/>
                    </a:solidFill>
                  </a:rPr>
                  <a:t>A</a:t>
                </a:r>
                <a:r>
                  <a:rPr lang="ja-JP" altLang="en-US" sz="2400" b="1" dirty="0">
                    <a:solidFill>
                      <a:srgbClr val="FF0000"/>
                    </a:solidFill>
                  </a:rPr>
                  <a:t>の速度は</a:t>
                </a:r>
                <a14:m>
                  <m:oMath xmlns:m="http://schemas.openxmlformats.org/officeDocument/2006/math">
                    <m:r>
                      <a:rPr lang="en-US" altLang="ja-JP" sz="2400" b="1" i="1" smtClean="0">
                        <a:solidFill>
                          <a:srgbClr val="FF0000"/>
                        </a:solidFill>
                        <a:latin typeface="Cambria Math" panose="02040503050406030204" pitchFamily="18" charset="0"/>
                      </a:rPr>
                      <m:t>−</m:t>
                    </m:r>
                    <m:r>
                      <a:rPr lang="en-US" altLang="ja-JP" sz="2400" b="1" i="1" smtClean="0">
                        <a:solidFill>
                          <a:srgbClr val="FF0000"/>
                        </a:solidFill>
                        <a:latin typeface="Cambria Math" panose="02040503050406030204" pitchFamily="18" charset="0"/>
                      </a:rPr>
                      <m:t>𝟐𝟏</m:t>
                    </m:r>
                    <m:r>
                      <a:rPr lang="en-US" altLang="ja-JP" sz="2400" b="1" i="1" smtClean="0">
                        <a:solidFill>
                          <a:srgbClr val="FF0000"/>
                        </a:solidFill>
                        <a:latin typeface="Cambria Math" panose="02040503050406030204" pitchFamily="18" charset="0"/>
                      </a:rPr>
                      <m:t>.</m:t>
                    </m:r>
                    <m:r>
                      <a:rPr lang="en-US" altLang="ja-JP" sz="2400" b="1" i="1" smtClean="0">
                        <a:solidFill>
                          <a:srgbClr val="FF0000"/>
                        </a:solidFill>
                        <a:latin typeface="Cambria Math" panose="02040503050406030204" pitchFamily="18" charset="0"/>
                      </a:rPr>
                      <m:t>𝟕</m:t>
                    </m:r>
                    <m:r>
                      <a:rPr lang="en-US" altLang="ja-JP" sz="2400" b="1" i="1" smtClean="0">
                        <a:solidFill>
                          <a:srgbClr val="FF0000"/>
                        </a:solidFill>
                        <a:latin typeface="Cambria Math" panose="02040503050406030204" pitchFamily="18" charset="0"/>
                      </a:rPr>
                      <m:t>𝒎</m:t>
                    </m:r>
                    <m:r>
                      <a:rPr lang="en-US" altLang="ja-JP" sz="2400" b="1" i="1" smtClean="0">
                        <a:solidFill>
                          <a:srgbClr val="FF0000"/>
                        </a:solidFill>
                        <a:latin typeface="Cambria Math" panose="02040503050406030204" pitchFamily="18" charset="0"/>
                      </a:rPr>
                      <m:t>/</m:t>
                    </m:r>
                    <m:r>
                      <a:rPr lang="ja-JP" altLang="en-US" sz="2400" b="1" i="1">
                        <a:solidFill>
                          <a:srgbClr val="FF0000"/>
                        </a:solidFill>
                        <a:latin typeface="Cambria Math" panose="02040503050406030204" pitchFamily="18" charset="0"/>
                      </a:rPr>
                      <m:t>秒</m:t>
                    </m:r>
                  </m:oMath>
                </a14:m>
                <a:r>
                  <a:rPr lang="en-US" altLang="ja-JP" sz="2400" b="1" dirty="0">
                    <a:solidFill>
                      <a:srgbClr val="FF0000"/>
                    </a:solidFill>
                  </a:rPr>
                  <a:t>,</a:t>
                </a:r>
                <a:r>
                  <a:rPr lang="ja-JP" altLang="en-US" sz="2400" b="1" dirty="0">
                    <a:solidFill>
                      <a:srgbClr val="FF0000"/>
                    </a:solidFill>
                  </a:rPr>
                  <a:t>鉛玉</a:t>
                </a:r>
                <a:r>
                  <a:rPr lang="en-US" altLang="ja-JP" sz="2400" b="1" dirty="0">
                    <a:solidFill>
                      <a:srgbClr val="FF0000"/>
                    </a:solidFill>
                  </a:rPr>
                  <a:t>B</a:t>
                </a:r>
                <a:r>
                  <a:rPr lang="ja-JP" altLang="en-US" sz="2400" b="1" dirty="0">
                    <a:solidFill>
                      <a:srgbClr val="FF0000"/>
                    </a:solidFill>
                  </a:rPr>
                  <a:t>の速度は</a:t>
                </a:r>
                <a14:m>
                  <m:oMath xmlns:m="http://schemas.openxmlformats.org/officeDocument/2006/math">
                    <m:r>
                      <a:rPr lang="en-US" altLang="ja-JP" sz="2400" b="1" i="1">
                        <a:solidFill>
                          <a:srgbClr val="FF0000"/>
                        </a:solidFill>
                        <a:latin typeface="Cambria Math" panose="02040503050406030204" pitchFamily="18" charset="0"/>
                      </a:rPr>
                      <m:t>−</m:t>
                    </m:r>
                    <m:r>
                      <a:rPr lang="en-US" altLang="ja-JP" sz="2400" b="1" i="1" smtClean="0">
                        <a:solidFill>
                          <a:srgbClr val="FF0000"/>
                        </a:solidFill>
                        <a:latin typeface="Cambria Math" panose="02040503050406030204" pitchFamily="18" charset="0"/>
                      </a:rPr>
                      <m:t>𝟕</m:t>
                    </m:r>
                    <m:r>
                      <a:rPr lang="en-US" altLang="ja-JP" sz="2400" b="1" i="1">
                        <a:solidFill>
                          <a:srgbClr val="FF0000"/>
                        </a:solidFill>
                        <a:latin typeface="Cambria Math" panose="02040503050406030204" pitchFamily="18" charset="0"/>
                      </a:rPr>
                      <m:t>.</m:t>
                    </m:r>
                    <m:r>
                      <a:rPr lang="en-US" altLang="ja-JP" sz="2400" b="1" i="1">
                        <a:solidFill>
                          <a:srgbClr val="FF0000"/>
                        </a:solidFill>
                        <a:latin typeface="Cambria Math" panose="02040503050406030204" pitchFamily="18" charset="0"/>
                      </a:rPr>
                      <m:t>𝟕</m:t>
                    </m:r>
                    <m:r>
                      <a:rPr lang="en-US" altLang="ja-JP" sz="2400" b="1" i="1">
                        <a:solidFill>
                          <a:srgbClr val="FF0000"/>
                        </a:solidFill>
                        <a:latin typeface="Cambria Math" panose="02040503050406030204" pitchFamily="18" charset="0"/>
                      </a:rPr>
                      <m:t>𝒎</m:t>
                    </m:r>
                    <m:r>
                      <a:rPr lang="en-US" altLang="ja-JP" sz="2400" b="1" i="1">
                        <a:solidFill>
                          <a:srgbClr val="FF0000"/>
                        </a:solidFill>
                        <a:latin typeface="Cambria Math" panose="02040503050406030204" pitchFamily="18" charset="0"/>
                      </a:rPr>
                      <m:t>/</m:t>
                    </m:r>
                    <m:r>
                      <a:rPr lang="ja-JP" altLang="en-US" sz="2400" b="1" i="1">
                        <a:solidFill>
                          <a:srgbClr val="FF0000"/>
                        </a:solidFill>
                        <a:latin typeface="Cambria Math" panose="02040503050406030204" pitchFamily="18" charset="0"/>
                      </a:rPr>
                      <m:t>秒</m:t>
                    </m:r>
                  </m:oMath>
                </a14:m>
                <a:endParaRPr lang="en-US" altLang="ja-JP" sz="2400" b="1" dirty="0">
                  <a:solidFill>
                    <a:srgbClr val="FF0000"/>
                  </a:solidFill>
                </a:endParaRPr>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417963" cy="4583562"/>
              </a:xfrm>
              <a:prstGeom prst="rect">
                <a:avLst/>
              </a:prstGeom>
              <a:blipFill>
                <a:blip r:embed="rId2"/>
                <a:stretch>
                  <a:fillRect l="-971" t="-1065" r="-65" b="-226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01855164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2937</TotalTime>
  <Words>1377</Words>
  <Application>Microsoft Office PowerPoint</Application>
  <PresentationFormat>ワイド画面</PresentationFormat>
  <Paragraphs>166</Paragraphs>
  <Slides>13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279</cp:revision>
  <dcterms:created xsi:type="dcterms:W3CDTF">2024-08-27T02:15:54Z</dcterms:created>
  <dcterms:modified xsi:type="dcterms:W3CDTF">2025-10-31T02:01:52Z</dcterms:modified>
</cp:coreProperties>
</file>