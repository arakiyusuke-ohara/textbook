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263" r:id="rId4"/>
    <p:sldId id="264" r:id="rId5"/>
    <p:sldId id="265" r:id="rId6"/>
    <p:sldId id="266" r:id="rId7"/>
    <p:sldId id="267"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C4646"/>
    <a:srgbClr val="AD5B5B"/>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前回の内容は、衝突された側の計算になります。</a:t>
            </a:r>
            <a:endParaRPr lang="en-US" altLang="ja-JP" sz="2400" dirty="0"/>
          </a:p>
          <a:p>
            <a:r>
              <a:rPr lang="ja-JP" altLang="en-US" sz="2400" dirty="0"/>
              <a:t>・例題：打たれたゴルフボール側の速度</a:t>
            </a:r>
            <a:endParaRPr lang="en-US" altLang="ja-JP" sz="2400" dirty="0"/>
          </a:p>
          <a:p>
            <a:r>
              <a:rPr lang="ja-JP" altLang="en-US" sz="2400" dirty="0"/>
              <a:t>・練習：蹴られたキャラクター側の速度</a:t>
            </a:r>
            <a:endParaRPr lang="en-US" altLang="ja-JP" sz="2400" dirty="0"/>
          </a:p>
          <a:p>
            <a:endParaRPr lang="en-US" altLang="ja-JP" sz="2400" dirty="0"/>
          </a:p>
          <a:p>
            <a:r>
              <a:rPr lang="ja-JP" altLang="en-US" sz="2400" dirty="0"/>
              <a:t>ニュートンの運動の第三法則では、</a:t>
            </a:r>
            <a:endParaRPr lang="en-US" altLang="ja-JP" sz="2400" dirty="0"/>
          </a:p>
          <a:p>
            <a:r>
              <a:rPr lang="ja-JP" altLang="en-US" sz="2400" dirty="0"/>
              <a:t>「</a:t>
            </a:r>
            <a:r>
              <a:rPr lang="ja-JP" altLang="en-US" sz="2400" b="1" dirty="0">
                <a:solidFill>
                  <a:srgbClr val="FF0000"/>
                </a:solidFill>
              </a:rPr>
              <a:t>いかなる力に対しても大きさが同じで向きが正反対の力が存在する</a:t>
            </a:r>
            <a:r>
              <a:rPr lang="ja-JP" altLang="en-US" sz="2400" dirty="0"/>
              <a:t>」</a:t>
            </a:r>
            <a:endParaRPr lang="en-US" altLang="ja-JP" sz="2400" dirty="0"/>
          </a:p>
          <a:p>
            <a:r>
              <a:rPr lang="ja-JP" altLang="en-US" sz="2400" dirty="0"/>
              <a:t>とありました。</a:t>
            </a:r>
            <a:endParaRPr lang="en-US" altLang="ja-JP" sz="2400" dirty="0"/>
          </a:p>
          <a:p>
            <a:endParaRPr lang="en-US" altLang="ja-JP" sz="2400" dirty="0"/>
          </a:p>
          <a:p>
            <a:r>
              <a:rPr lang="ja-JP" altLang="en-US" sz="2400" dirty="0"/>
              <a:t>つまり、ゴルフクラブ側や蹴ったキャラクターの足にも力が加わります。</a:t>
            </a:r>
            <a:endParaRPr lang="en-US" altLang="ja-JP" sz="2400" dirty="0"/>
          </a:p>
          <a:p>
            <a:endParaRPr lang="en-US" altLang="ja-JP" sz="2400" dirty="0"/>
          </a:p>
          <a:p>
            <a:r>
              <a:rPr lang="ja-JP" altLang="en-US" sz="2400" dirty="0"/>
              <a:t>今回は、衝突した側と衝突された側、両方に注目します。</a:t>
            </a:r>
            <a:endParaRPr lang="en-US" altLang="ja-JP" sz="2400" dirty="0"/>
          </a:p>
        </p:txBody>
      </p:sp>
    </p:spTree>
    <p:extLst>
      <p:ext uri="{BB962C8B-B14F-4D97-AF65-F5344CB8AC3E}">
        <p14:creationId xmlns:p14="http://schemas.microsoft.com/office/powerpoint/2010/main" val="16390335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34935" cy="4893647"/>
              </a:xfrm>
              <a:prstGeom prst="rect">
                <a:avLst/>
              </a:prstGeom>
              <a:noFill/>
            </p:spPr>
            <p:txBody>
              <a:bodyPr wrap="none" rtlCol="0">
                <a:spAutoFit/>
              </a:bodyPr>
              <a:lstStyle/>
              <a:p>
                <a:r>
                  <a:rPr lang="ja-JP" altLang="en-US" sz="2400" dirty="0"/>
                  <a:t>力積の定義は、</a:t>
                </a:r>
                <a:endParaRPr lang="en-US" altLang="ja-JP" sz="2400" dirty="0"/>
              </a:p>
              <a:p>
                <a14:m>
                  <m:oMath xmlns:m="http://schemas.openxmlformats.org/officeDocument/2006/math">
                    <m:r>
                      <a:rPr lang="en-US" altLang="ja-JP" sz="2400" b="0" i="1" smtClean="0">
                        <a:latin typeface="Cambria Math" panose="02040503050406030204" pitchFamily="18" charset="0"/>
                      </a:rPr>
                      <m:t>𝐹𝑡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oMath>
                </a14:m>
                <a:r>
                  <a:rPr lang="en-US" altLang="ja-JP" sz="2400" dirty="0"/>
                  <a:t> </a:t>
                </a:r>
              </a:p>
              <a:p>
                <a:r>
                  <a:rPr lang="ja-JP" altLang="en-US" sz="2400" dirty="0"/>
                  <a:t>両辺を </a:t>
                </a:r>
                <a14:m>
                  <m:oMath xmlns:m="http://schemas.openxmlformats.org/officeDocument/2006/math">
                    <m:r>
                      <a:rPr lang="en-US" altLang="ja-JP" sz="2400" b="0" i="1" smtClean="0">
                        <a:latin typeface="Cambria Math" panose="02040503050406030204" pitchFamily="18" charset="0"/>
                      </a:rPr>
                      <m:t>𝑡</m:t>
                    </m:r>
                  </m:oMath>
                </a14:m>
                <a:r>
                  <a:rPr lang="en-US" altLang="ja-JP" sz="2400" dirty="0"/>
                  <a:t> </a:t>
                </a:r>
                <a:r>
                  <a:rPr lang="ja-JP" altLang="en-US" sz="2400" dirty="0"/>
                  <a:t>で割ると合力を求める式となります。</a:t>
                </a:r>
                <a:endParaRPr lang="en-US" altLang="ja-JP" sz="2400" dirty="0"/>
              </a:p>
              <a:p>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p>
              <a:p>
                <a:endParaRPr lang="en-US" altLang="ja-JP" sz="2400" dirty="0"/>
              </a:p>
              <a:p>
                <a:r>
                  <a:rPr lang="ja-JP" altLang="en-US" sz="2400" dirty="0"/>
                  <a:t>ニュートンの運動の第三法則より、作用する力を</a:t>
                </a:r>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oMath>
                </a14:m>
                <a:r>
                  <a:rPr lang="ja-JP" altLang="en-US" sz="2400" dirty="0"/>
                  <a:t>、反作用する力を</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ja-JP" altLang="en-US" sz="2400" dirty="0"/>
                  <a:t>とすると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これに先ほどの </a:t>
                </a:r>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r>
                  <a:rPr lang="ja-JP" altLang="en-US" sz="2400" dirty="0"/>
                  <a:t>を代入すると、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r>
                      <a:rPr lang="en-US" altLang="ja-JP" sz="2400" i="1">
                        <a:latin typeface="Cambria Math" panose="02040503050406030204" pitchFamily="18" charset="0"/>
                      </a:rPr>
                      <m:t>÷</m:t>
                    </m:r>
                    <m:r>
                      <a:rPr lang="en-US" altLang="ja-JP" sz="2400" i="1">
                        <a:latin typeface="Cambria Math" panose="02040503050406030204" pitchFamily="18" charset="0"/>
                      </a:rPr>
                      <m:t>𝑡</m:t>
                    </m:r>
                  </m:oMath>
                </a14:m>
                <a:r>
                  <a:rPr lang="en-US" altLang="ja-JP" sz="2400" dirty="0"/>
                  <a:t> </a:t>
                </a:r>
              </a:p>
              <a:p>
                <a:endParaRPr lang="en-US" altLang="ja-JP" sz="2400" dirty="0"/>
              </a:p>
              <a:p>
                <a:r>
                  <a:rPr lang="ja-JP" altLang="en-US" sz="2400" dirty="0"/>
                  <a:t>つまり</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となります。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1234935" cy="4893647"/>
              </a:xfrm>
              <a:prstGeom prst="rect">
                <a:avLst/>
              </a:prstGeom>
              <a:blipFill>
                <a:blip r:embed="rId2"/>
                <a:stretch>
                  <a:fillRect l="-814"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89389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3850285"/>
              </a:xfrm>
              <a:prstGeom prst="rect">
                <a:avLst/>
              </a:prstGeom>
              <a:noFill/>
            </p:spPr>
            <p:txBody>
              <a:bodyPr wrap="none" rtlCol="0">
                <a:spAutoFit/>
              </a:bodyPr>
              <a:lstStyle/>
              <a:p>
                <a14:m>
                  <m:oMath xmlns:m="http://schemas.openxmlformats.org/officeDocument/2006/math">
                    <m:r>
                      <a:rPr lang="en-US" altLang="ja-JP" sz="2400" i="1" smtClean="0">
                        <a:latin typeface="Cambria Math" panose="02040503050406030204" pitchFamily="18" charset="0"/>
                      </a:rPr>
                      <m:t>𝑝</m:t>
                    </m:r>
                  </m:oMath>
                </a14:m>
                <a:r>
                  <a:rPr lang="ja-JP" altLang="en-US" sz="2400" dirty="0"/>
                  <a:t>は運動量なので質量</a:t>
                </a:r>
                <a:r>
                  <a:rPr lang="en-US" altLang="ja-JP" sz="2400" dirty="0"/>
                  <a:t>×</a:t>
                </a:r>
                <a:r>
                  <a:rPr lang="ja-JP" altLang="en-US" sz="2400" dirty="0"/>
                  <a:t>速度となります。したがって、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𝑚</m:t>
                        </m:r>
                      </m:e>
                      <m:sub>
                        <m:r>
                          <a:rPr lang="en-US" altLang="ja-JP" sz="2400" b="0" i="1" smtClean="0">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i="1">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r>
                      <a:rPr lang="en-US" altLang="ja-JP" sz="240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p>
              <a:p>
                <a:endParaRPr lang="en-US" altLang="ja-JP" sz="2400" dirty="0"/>
              </a:p>
              <a:p>
                <a:r>
                  <a:rPr lang="ja-JP" altLang="en-US" sz="2400" dirty="0"/>
                  <a:t>この式を変形すると、</a:t>
                </a:r>
                <a:endParaRPr lang="en-US" altLang="ja-JP" sz="2400" dirty="0"/>
              </a:p>
              <a:p>
                <a14:m>
                  <m:oMath xmlns:m="http://schemas.openxmlformats.org/officeDocument/2006/math">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𝒊</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𝒊</m:t>
                        </m:r>
                      </m:sub>
                    </m:sSub>
                    <m:r>
                      <a:rPr lang="en-US" altLang="ja-JP" sz="2400" b="1" i="1" smtClean="0">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𝒇</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𝒇</m:t>
                        </m:r>
                      </m:sub>
                    </m:sSub>
                  </m:oMath>
                </a14:m>
                <a:r>
                  <a:rPr lang="en-US" altLang="ja-JP" sz="2400" b="1" dirty="0">
                    <a:solidFill>
                      <a:srgbClr val="FF0000"/>
                    </a:solidFill>
                  </a:rPr>
                  <a:t> </a:t>
                </a:r>
              </a:p>
              <a:p>
                <a:endParaRPr lang="en-US" altLang="ja-JP" sz="2400" dirty="0"/>
              </a:p>
              <a:p>
                <a:r>
                  <a:rPr lang="ja-JP" altLang="en-US" sz="2400" dirty="0"/>
                  <a:t>このような計算式が成り立ちます。</a:t>
                </a:r>
                <a:endParaRPr lang="en-US" altLang="ja-JP" sz="2400" dirty="0"/>
              </a:p>
              <a:p>
                <a:r>
                  <a:rPr lang="ja-JP" altLang="en-US" sz="2400" dirty="0"/>
                  <a:t>この式は、</a:t>
                </a:r>
                <a:endParaRPr lang="en-US" altLang="ja-JP" sz="2400" dirty="0"/>
              </a:p>
              <a:p>
                <a:r>
                  <a:rPr lang="ja-JP" altLang="en-US" sz="2400" b="1" dirty="0">
                    <a:solidFill>
                      <a:srgbClr val="FF0000"/>
                    </a:solidFill>
                  </a:rPr>
                  <a:t>２つの物体の運動量の合計は時間が経っても変わらない</a:t>
                </a:r>
                <a:r>
                  <a:rPr lang="ja-JP" altLang="en-US" sz="2400" dirty="0"/>
                  <a:t>ことを表します。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341293" cy="3850285"/>
              </a:xfrm>
              <a:prstGeom prst="rect">
                <a:avLst/>
              </a:prstGeom>
              <a:blipFill>
                <a:blip r:embed="rId2"/>
                <a:stretch>
                  <a:fillRect l="-884" t="-1268" b="-269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40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53195C1-675F-46C1-BCC8-D79EAE0EB181}"/>
              </a:ext>
            </a:extLst>
          </p:cNvPr>
          <p:cNvSpPr/>
          <p:nvPr/>
        </p:nvSpPr>
        <p:spPr>
          <a:xfrm>
            <a:off x="364067" y="1794933"/>
            <a:ext cx="5122333" cy="380505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982518"/>
              </a:xfrm>
              <a:prstGeom prst="rect">
                <a:avLst/>
              </a:prstGeom>
              <a:noFill/>
            </p:spPr>
            <p:txBody>
              <a:bodyPr wrap="none" rtlCol="0">
                <a:spAutoFit/>
              </a:bodyPr>
              <a:lstStyle/>
              <a:p>
                <a:r>
                  <a:rPr lang="ja-JP" altLang="en-US" sz="2400" dirty="0"/>
                  <a:t>このこと</a:t>
                </a:r>
                <a:r>
                  <a:rPr lang="ja-JP" altLang="en-US" sz="2400" b="1" dirty="0">
                    <a:solidFill>
                      <a:srgbClr val="FF0000"/>
                    </a:solidFill>
                  </a:rPr>
                  <a:t>運動量保存の法則</a:t>
                </a:r>
                <a:r>
                  <a:rPr lang="ja-JP" altLang="en-US" sz="2400" dirty="0"/>
                  <a:t>と言います。</a:t>
                </a:r>
                <a:endParaRPr lang="en-US" altLang="ja-JP" sz="2400" dirty="0"/>
              </a:p>
              <a:p>
                <a:endParaRPr lang="en-US" altLang="ja-JP" sz="2400" dirty="0"/>
              </a:p>
              <a:p>
                <a:r>
                  <a:rPr lang="ja-JP" altLang="en-US" sz="2400" b="1" dirty="0">
                    <a:solidFill>
                      <a:srgbClr val="FF0000"/>
                    </a:solidFill>
                  </a:rPr>
                  <a:t>■運動量保存の法則</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solidFill>
                      <a:schemeClr val="tx1"/>
                    </a:solidFill>
                  </a:rPr>
                  <a:t> </a:t>
                </a:r>
                <a:endParaRPr lang="en-US" altLang="ja-JP" sz="2400" dirty="0">
                  <a:solidFill>
                    <a:srgbClr val="FF0000"/>
                  </a:solidFill>
                </a:endParaRPr>
              </a:p>
              <a:p>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oMath>
                </a14:m>
                <a:r>
                  <a:rPr lang="en-US" altLang="ja-JP" sz="2400" dirty="0"/>
                  <a:t>	</a:t>
                </a:r>
                <a:r>
                  <a:rPr lang="ja-JP" altLang="en-US" sz="2400" dirty="0"/>
                  <a:t>・・・物体１の質量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・・・物体１の初速度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・・・物体１の最終速度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smtClean="0">
                            <a:solidFill>
                              <a:schemeClr val="tx1"/>
                            </a:solidFill>
                            <a:latin typeface="Cambria Math" panose="02040503050406030204" pitchFamily="18" charset="0"/>
                          </a:rPr>
                          <m:t>2</m:t>
                        </m:r>
                      </m:sub>
                    </m:sSub>
                  </m:oMath>
                </a14:m>
                <a:r>
                  <a:rPr lang="en-US" altLang="ja-JP" sz="2400" dirty="0"/>
                  <a:t>	</a:t>
                </a:r>
                <a:r>
                  <a:rPr lang="ja-JP" altLang="en-US" sz="2400" dirty="0"/>
                  <a:t>・・・物体２の質量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・・・物体２の初速度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・・・物体２の最終速度</a:t>
                </a:r>
                <a:endParaRPr lang="en-US" altLang="ja-JP" sz="2400" dirty="0"/>
              </a:p>
              <a:p>
                <a:endParaRPr lang="en-US" altLang="ja-JP" sz="2400" dirty="0"/>
              </a:p>
              <a:p>
                <a:r>
                  <a:rPr lang="en-US" altLang="ja-JP" sz="2400" dirty="0"/>
                  <a:t>※</a:t>
                </a:r>
                <a:r>
                  <a:rPr lang="ja-JP" altLang="en-US" sz="2400" dirty="0"/>
                  <a:t>ニュートンの揺りかごで有名なものです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032421" cy="4982518"/>
              </a:xfrm>
              <a:prstGeom prst="rect">
                <a:avLst/>
              </a:prstGeom>
              <a:blipFill>
                <a:blip r:embed="rId2"/>
                <a:stretch>
                  <a:fillRect l="-1515" t="-979" r="-606" b="-183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1815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288290"/>
              </a:xfrm>
              <a:prstGeom prst="rect">
                <a:avLst/>
              </a:prstGeom>
              <a:noFill/>
            </p:spPr>
            <p:txBody>
              <a:bodyPr wrap="none" rtlCol="0">
                <a:spAutoFit/>
              </a:bodyPr>
              <a:lstStyle/>
              <a:p>
                <a:r>
                  <a:rPr lang="ja-JP" altLang="en-US" sz="2400" dirty="0"/>
                  <a:t>ビリヤードゲームで手玉を突き、手玉と９番玉に衝突させました。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以下の条件の時の９番玉の速度を求めなさい。</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i="1" dirty="0" smtClean="0">
                        <a:latin typeface="Cambria Math" panose="02040503050406030204" pitchFamily="18" charset="0"/>
                      </a:rPr>
                      <m:t>50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)(50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2.5</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m:t>
                    </m:r>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𝟒𝟓</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25739" cy="4288290"/>
              </a:xfrm>
              <a:prstGeom prst="rect">
                <a:avLst/>
              </a:prstGeom>
              <a:blipFill>
                <a:blip r:embed="rId2"/>
                <a:stretch>
                  <a:fillRect l="-940" t="-1138" b="-4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5153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63534" cy="5026954"/>
              </a:xfrm>
              <a:prstGeom prst="rect">
                <a:avLst/>
              </a:prstGeom>
              <a:noFill/>
            </p:spPr>
            <p:txBody>
              <a:bodyPr wrap="none" rtlCol="0">
                <a:spAutoFit/>
              </a:bodyPr>
              <a:lstStyle/>
              <a:p>
                <a:r>
                  <a:rPr lang="ja-JP" altLang="en-US" sz="2400" dirty="0"/>
                  <a:t>ビリヤードゲームで手玉を突き、手玉と９番玉に衝突させました。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以下の条件の時の９番玉の速度を求めなさい。（３</a:t>
                </a:r>
                <a:r>
                  <a:rPr lang="en-US" altLang="ja-JP" sz="2400" dirty="0"/>
                  <a:t>D</a:t>
                </a:r>
                <a:r>
                  <a:rPr lang="ja-JP" altLang="en-US" sz="2400" dirty="0"/>
                  <a:t>）</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b="0" i="0" dirty="0" smtClean="0">
                        <a:latin typeface="Cambria Math" panose="02040503050406030204" pitchFamily="18" charset="0"/>
                      </a:rPr>
                      <m:t>[</m:t>
                    </m:r>
                    <m:r>
                      <a:rPr lang="en-US" altLang="ja-JP" sz="2400" i="1" dirty="0">
                        <a:latin typeface="Cambria Math" panose="02040503050406030204" pitchFamily="18" charset="0"/>
                      </a:rPr>
                      <m:t>50</m:t>
                    </m:r>
                    <m:r>
                      <a:rPr lang="en-US" altLang="ja-JP" sz="2400" b="0" i="0" dirty="0" smtClean="0">
                        <a:latin typeface="Cambria Math" panose="02040503050406030204" pitchFamily="18" charset="0"/>
                      </a:rPr>
                      <m:t>, 10, −30</m:t>
                    </m:r>
                    <m:r>
                      <a:rPr lang="en-US" altLang="ja-JP" sz="2400" b="0" i="0" dirty="0" smtClean="0">
                        <a:latin typeface="Cambria Math" panose="02040503050406030204" pitchFamily="18" charset="0"/>
                      </a:rPr>
                      <m:t>]</m:t>
                    </m:r>
                    <m:r>
                      <a:rPr lang="en-US" altLang="ja-JP" sz="2400" i="1" dirty="0" smtClean="0">
                        <a:latin typeface="Cambria Math" panose="02040503050406030204" pitchFamily="18" charset="0"/>
                      </a:rPr>
                      <m:t> </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r>
                      <a:rPr lang="en-US" altLang="ja-JP" sz="2400" dirty="0">
                        <a:latin typeface="Cambria Math" panose="02040503050406030204" pitchFamily="18" charset="0"/>
                      </a:rPr>
                      <m:t>[</m:t>
                    </m:r>
                    <m:r>
                      <a:rPr lang="en-US" altLang="ja-JP" sz="2400" i="1" dirty="0">
                        <a:latin typeface="Cambria Math" panose="02040503050406030204" pitchFamily="18" charset="0"/>
                      </a:rPr>
                      <m:t>50</m:t>
                    </m:r>
                    <m:r>
                      <a:rPr lang="en-US" altLang="ja-JP" sz="2400" dirty="0">
                        <a:latin typeface="Cambria Math" panose="02040503050406030204" pitchFamily="18" charset="0"/>
                      </a:rPr>
                      <m:t>, 10, −30]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dirty="0">
                        <a:latin typeface="Cambria Math" panose="02040503050406030204" pitchFamily="18" charset="0"/>
                      </a:rPr>
                      <m:t>[</m:t>
                    </m:r>
                    <m:r>
                      <a:rPr lang="en-US" altLang="ja-JP" sz="2400" b="0" i="1" dirty="0" smtClean="0">
                        <a:latin typeface="Cambria Math" panose="02040503050406030204" pitchFamily="18" charset="0"/>
                      </a:rPr>
                      <m:t>22.5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4.5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13.5</m:t>
                    </m:r>
                    <m:r>
                      <a:rPr lang="en-US" altLang="ja-JP" sz="2400" dirty="0">
                        <a:latin typeface="Cambria Math" panose="02040503050406030204" pitchFamily="18" charset="0"/>
                      </a:rPr>
                      <m:t>]</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m:t>
                    </m:r>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dirty="0" smtClean="0">
                        <a:solidFill>
                          <a:srgbClr val="FF0000"/>
                        </a:solidFill>
                        <a:latin typeface="Cambria Math" panose="02040503050406030204" pitchFamily="18" charset="0"/>
                      </a:rPr>
                      <m:t>[</m:t>
                    </m:r>
                    <m:r>
                      <a:rPr lang="en-US" altLang="ja-JP" sz="2400" b="0" i="1" dirty="0" smtClean="0">
                        <a:solidFill>
                          <a:srgbClr val="FF0000"/>
                        </a:solidFill>
                        <a:latin typeface="Cambria Math" panose="02040503050406030204" pitchFamily="18" charset="0"/>
                      </a:rPr>
                      <m:t>45</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9</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27</m:t>
                    </m:r>
                    <m:r>
                      <a:rPr lang="en-US" altLang="ja-JP" sz="2400" dirty="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a:p>
                <a:endParaRPr lang="en-US" altLang="ja-JP" sz="2400" dirty="0"/>
              </a:p>
              <a:p>
                <a:r>
                  <a:rPr lang="en-US" altLang="ja-JP" sz="2400" dirty="0"/>
                  <a:t>※</a:t>
                </a:r>
                <a:r>
                  <a:rPr lang="ja-JP" altLang="en-US" sz="2400" dirty="0"/>
                  <a:t>３</a:t>
                </a:r>
                <a:r>
                  <a:rPr lang="en-US" altLang="ja-JP" sz="2400" dirty="0"/>
                  <a:t>D</a:t>
                </a:r>
                <a:r>
                  <a:rPr lang="ja-JP" altLang="en-US" sz="2400" dirty="0"/>
                  <a:t>でも計算は同じです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863534" cy="5026954"/>
              </a:xfrm>
              <a:prstGeom prst="rect">
                <a:avLst/>
              </a:prstGeom>
              <a:blipFill>
                <a:blip r:embed="rId2"/>
                <a:stretch>
                  <a:fillRect l="-927" t="-971" b="-194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74117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1569660"/>
          </a:xfrm>
          <a:prstGeom prst="rect">
            <a:avLst/>
          </a:prstGeom>
          <a:noFill/>
        </p:spPr>
        <p:txBody>
          <a:bodyPr wrap="none" rtlCol="0">
            <a:spAutoFit/>
          </a:bodyPr>
          <a:lstStyle/>
          <a:p>
            <a:r>
              <a:rPr lang="ja-JP" altLang="en-US" sz="2400" dirty="0"/>
              <a:t>ビリヤードは運動量保存やエネルギー保存がそのまま反映されますが、</a:t>
            </a:r>
            <a:endParaRPr lang="en-US" altLang="ja-JP" sz="2400" dirty="0"/>
          </a:p>
          <a:p>
            <a:r>
              <a:rPr lang="ja-JP" altLang="en-US" sz="2400" dirty="0"/>
              <a:t>例えば、玉の素材が</a:t>
            </a:r>
            <a:r>
              <a:rPr lang="ja-JP" altLang="en-US" sz="2400" b="1" dirty="0">
                <a:solidFill>
                  <a:schemeClr val="accent4">
                    <a:lumMod val="50000"/>
                  </a:schemeClr>
                </a:solidFill>
              </a:rPr>
              <a:t>粘土</a:t>
            </a:r>
            <a:r>
              <a:rPr lang="ja-JP" altLang="en-US" sz="2400" dirty="0"/>
              <a:t>だったらどうなるでしょう。</a:t>
            </a:r>
            <a:endParaRPr lang="en-US" altLang="ja-JP" sz="2400" dirty="0"/>
          </a:p>
          <a:p>
            <a:endParaRPr lang="en-US" altLang="ja-JP" sz="2400" dirty="0"/>
          </a:p>
          <a:p>
            <a:r>
              <a:rPr lang="ja-JP" altLang="en-US" sz="2400"/>
              <a:t>衝突しても、あまり跳ね返らず、速度もゆっくりになりそうです。</a:t>
            </a:r>
            <a:endParaRPr lang="en-US" altLang="ja-JP" sz="2400" dirty="0"/>
          </a:p>
        </p:txBody>
      </p:sp>
    </p:spTree>
    <p:extLst>
      <p:ext uri="{BB962C8B-B14F-4D97-AF65-F5344CB8AC3E}">
        <p14:creationId xmlns:p14="http://schemas.microsoft.com/office/powerpoint/2010/main" val="37511027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2846</TotalTime>
  <Words>681</Words>
  <Application>Microsoft Office PowerPoint</Application>
  <PresentationFormat>ワイド画面</PresentationFormat>
  <Paragraphs>82</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情報北九州校 倉掛</cp:lastModifiedBy>
  <cp:revision>268</cp:revision>
  <dcterms:created xsi:type="dcterms:W3CDTF">2024-08-27T02:15:54Z</dcterms:created>
  <dcterms:modified xsi:type="dcterms:W3CDTF">2025-10-28T06:26:10Z</dcterms:modified>
</cp:coreProperties>
</file>