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61" r:id="rId2"/>
    <p:sldId id="262" r:id="rId3"/>
    <p:sldId id="263" r:id="rId4"/>
    <p:sldId id="264" r:id="rId5"/>
    <p:sldId id="265" r:id="rId6"/>
    <p:sldId id="266" r:id="rId7"/>
    <p:sldId id="267" r:id="rId8"/>
    <p:sldId id="268" r:id="rId9"/>
    <p:sldId id="269" r:id="rId10"/>
    <p:sldId id="270" r:id="rId11"/>
    <p:sldId id="271" r:id="rId12"/>
    <p:sldId id="272" r:id="rId13"/>
    <p:sldId id="273" r:id="rId14"/>
    <p:sldId id="275" r:id="rId15"/>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8C4646"/>
    <a:srgbClr val="AD5B5B"/>
    <a:srgbClr val="000000"/>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113" d="100"/>
          <a:sy n="113" d="100"/>
        </p:scale>
        <p:origin x="456"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A950417-98BD-4172-A454-C76A49B97717}"/>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9F83E9AE-84BC-4452-8901-A17B27CC419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B320892-0B52-41F1-BED3-1F36AE1E3B03}"/>
              </a:ext>
            </a:extLst>
          </p:cNvPr>
          <p:cNvSpPr>
            <a:spLocks noGrp="1"/>
          </p:cNvSpPr>
          <p:nvPr>
            <p:ph type="dt" sz="half" idx="10"/>
          </p:nvPr>
        </p:nvSpPr>
        <p:spPr/>
        <p:txBody>
          <a:bodyPr/>
          <a:lstStyle/>
          <a:p>
            <a:fld id="{E9CC885B-4903-4D54-9A93-00025F12DED9}" type="datetimeFigureOut">
              <a:rPr kumimoji="1" lang="ja-JP" altLang="en-US" smtClean="0"/>
              <a:t>2025/11/4</a:t>
            </a:fld>
            <a:endParaRPr kumimoji="1" lang="ja-JP" altLang="en-US"/>
          </a:p>
        </p:txBody>
      </p:sp>
      <p:sp>
        <p:nvSpPr>
          <p:cNvPr id="5" name="フッター プレースホルダー 4">
            <a:extLst>
              <a:ext uri="{FF2B5EF4-FFF2-40B4-BE49-F238E27FC236}">
                <a16:creationId xmlns:a16="http://schemas.microsoft.com/office/drawing/2014/main" id="{B4114070-C582-4B06-9805-0DFEFB583FE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E8014BC-198B-4E5B-89B4-FDBFD423BF5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7455607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42C298B-DDF7-4BBD-B08C-16E40ED109E3}"/>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284FECC-C823-4D42-8CAA-49FC9A8C5B3E}"/>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8B26879-4594-4C3F-BFFA-F4CB8674F4A9}"/>
              </a:ext>
            </a:extLst>
          </p:cNvPr>
          <p:cNvSpPr>
            <a:spLocks noGrp="1"/>
          </p:cNvSpPr>
          <p:nvPr>
            <p:ph type="dt" sz="half" idx="10"/>
          </p:nvPr>
        </p:nvSpPr>
        <p:spPr/>
        <p:txBody>
          <a:bodyPr/>
          <a:lstStyle/>
          <a:p>
            <a:fld id="{E9CC885B-4903-4D54-9A93-00025F12DED9}" type="datetimeFigureOut">
              <a:rPr kumimoji="1" lang="ja-JP" altLang="en-US" smtClean="0"/>
              <a:t>2025/11/4</a:t>
            </a:fld>
            <a:endParaRPr kumimoji="1" lang="ja-JP" altLang="en-US"/>
          </a:p>
        </p:txBody>
      </p:sp>
      <p:sp>
        <p:nvSpPr>
          <p:cNvPr id="5" name="フッター プレースホルダー 4">
            <a:extLst>
              <a:ext uri="{FF2B5EF4-FFF2-40B4-BE49-F238E27FC236}">
                <a16:creationId xmlns:a16="http://schemas.microsoft.com/office/drawing/2014/main" id="{F5FC6BE6-BB12-4008-B4BA-62D249C4990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26B8CAC6-4A91-4F74-9267-5C30714BF978}"/>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8024735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078AD04-3137-4B16-97B1-DC1252F678A1}"/>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9BF8FC57-7A4A-4196-89B9-B1A6197D422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5CB80319-F15F-4C62-95BA-15B326F988A2}"/>
              </a:ext>
            </a:extLst>
          </p:cNvPr>
          <p:cNvSpPr>
            <a:spLocks noGrp="1"/>
          </p:cNvSpPr>
          <p:nvPr>
            <p:ph type="dt" sz="half" idx="10"/>
          </p:nvPr>
        </p:nvSpPr>
        <p:spPr/>
        <p:txBody>
          <a:bodyPr/>
          <a:lstStyle/>
          <a:p>
            <a:fld id="{E9CC885B-4903-4D54-9A93-00025F12DED9}" type="datetimeFigureOut">
              <a:rPr kumimoji="1" lang="ja-JP" altLang="en-US" smtClean="0"/>
              <a:t>2025/11/4</a:t>
            </a:fld>
            <a:endParaRPr kumimoji="1" lang="ja-JP" altLang="en-US"/>
          </a:p>
        </p:txBody>
      </p:sp>
      <p:sp>
        <p:nvSpPr>
          <p:cNvPr id="5" name="フッター プレースホルダー 4">
            <a:extLst>
              <a:ext uri="{FF2B5EF4-FFF2-40B4-BE49-F238E27FC236}">
                <a16:creationId xmlns:a16="http://schemas.microsoft.com/office/drawing/2014/main" id="{C89F0141-2F76-4B73-AAE0-1EDFEEA42E37}"/>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1F3A285-8438-4738-B4CE-18FC566351C3}"/>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0814076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539AAF0-C896-4BE5-8FCC-343208524824}"/>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96C332E-2DEA-4D46-8FEF-31D60DD975BC}"/>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F9D3FC79-3A15-47E8-8DC1-B5A928FF7FF2}"/>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E6AC8BB6-CC26-4AE8-B477-9A47780715C5}"/>
              </a:ext>
            </a:extLst>
          </p:cNvPr>
          <p:cNvSpPr>
            <a:spLocks noGrp="1"/>
          </p:cNvSpPr>
          <p:nvPr>
            <p:ph type="dt" sz="half" idx="10"/>
          </p:nvPr>
        </p:nvSpPr>
        <p:spPr/>
        <p:txBody>
          <a:bodyPr/>
          <a:lstStyle/>
          <a:p>
            <a:fld id="{E9CC885B-4903-4D54-9A93-00025F12DED9}" type="datetimeFigureOut">
              <a:rPr kumimoji="1" lang="ja-JP" altLang="en-US" smtClean="0"/>
              <a:t>2025/11/4</a:t>
            </a:fld>
            <a:endParaRPr kumimoji="1" lang="ja-JP" altLang="en-US"/>
          </a:p>
        </p:txBody>
      </p:sp>
      <p:sp>
        <p:nvSpPr>
          <p:cNvPr id="6" name="フッター プレースホルダー 5">
            <a:extLst>
              <a:ext uri="{FF2B5EF4-FFF2-40B4-BE49-F238E27FC236}">
                <a16:creationId xmlns:a16="http://schemas.microsoft.com/office/drawing/2014/main" id="{0D813CBF-5D01-4CF4-BD63-C8FC321B2429}"/>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123F9A7-54F5-421C-9A71-CC8C4BC92376}"/>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20282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9A2E9A-2DDB-4057-9711-D792B04FFD0C}"/>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32E5496D-7437-4ADF-BF05-1B99ACC0910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48A11600-06C5-424A-B2EA-FFEF7E75EAA5}"/>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43408E51-ED83-4218-8378-F0B44E296EC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3D26C0C0-145F-4A52-BA72-D19A2971D5E1}"/>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F649033F-9C86-42B4-AB90-0FE47F39E39A}"/>
              </a:ext>
            </a:extLst>
          </p:cNvPr>
          <p:cNvSpPr>
            <a:spLocks noGrp="1"/>
          </p:cNvSpPr>
          <p:nvPr>
            <p:ph type="dt" sz="half" idx="10"/>
          </p:nvPr>
        </p:nvSpPr>
        <p:spPr/>
        <p:txBody>
          <a:bodyPr/>
          <a:lstStyle/>
          <a:p>
            <a:fld id="{E9CC885B-4903-4D54-9A93-00025F12DED9}" type="datetimeFigureOut">
              <a:rPr kumimoji="1" lang="ja-JP" altLang="en-US" smtClean="0"/>
              <a:t>2025/11/4</a:t>
            </a:fld>
            <a:endParaRPr kumimoji="1" lang="ja-JP" altLang="en-US"/>
          </a:p>
        </p:txBody>
      </p:sp>
      <p:sp>
        <p:nvSpPr>
          <p:cNvPr id="8" name="フッター プレースホルダー 7">
            <a:extLst>
              <a:ext uri="{FF2B5EF4-FFF2-40B4-BE49-F238E27FC236}">
                <a16:creationId xmlns:a16="http://schemas.microsoft.com/office/drawing/2014/main" id="{F73F9DE8-EAB7-4A80-BF64-725C6DF460D7}"/>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71D0069B-43F7-430A-8C9D-C2BA7B92ECD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2546531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CD48D3C-20F1-4E20-8FBC-734E9D946A78}"/>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B2E416B3-4C21-4278-9B88-62D41335DC9D}"/>
              </a:ext>
            </a:extLst>
          </p:cNvPr>
          <p:cNvSpPr>
            <a:spLocks noGrp="1"/>
          </p:cNvSpPr>
          <p:nvPr>
            <p:ph type="dt" sz="half" idx="10"/>
          </p:nvPr>
        </p:nvSpPr>
        <p:spPr/>
        <p:txBody>
          <a:bodyPr/>
          <a:lstStyle/>
          <a:p>
            <a:fld id="{E9CC885B-4903-4D54-9A93-00025F12DED9}" type="datetimeFigureOut">
              <a:rPr kumimoji="1" lang="ja-JP" altLang="en-US" smtClean="0"/>
              <a:t>2025/11/4</a:t>
            </a:fld>
            <a:endParaRPr kumimoji="1" lang="ja-JP" altLang="en-US"/>
          </a:p>
        </p:txBody>
      </p:sp>
      <p:sp>
        <p:nvSpPr>
          <p:cNvPr id="4" name="フッター プレースホルダー 3">
            <a:extLst>
              <a:ext uri="{FF2B5EF4-FFF2-40B4-BE49-F238E27FC236}">
                <a16:creationId xmlns:a16="http://schemas.microsoft.com/office/drawing/2014/main" id="{3EBA727E-E9E7-4EA2-B6ED-8CF036F2B5DA}"/>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8DC1C47C-5B0A-471B-BB77-77BE62B99175}"/>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53085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E55C2DD0-D598-4A5F-B542-7C6806B2F749}"/>
              </a:ext>
            </a:extLst>
          </p:cNvPr>
          <p:cNvSpPr>
            <a:spLocks noGrp="1"/>
          </p:cNvSpPr>
          <p:nvPr>
            <p:ph type="dt" sz="half" idx="10"/>
          </p:nvPr>
        </p:nvSpPr>
        <p:spPr/>
        <p:txBody>
          <a:bodyPr/>
          <a:lstStyle/>
          <a:p>
            <a:fld id="{E9CC885B-4903-4D54-9A93-00025F12DED9}" type="datetimeFigureOut">
              <a:rPr kumimoji="1" lang="ja-JP" altLang="en-US" smtClean="0"/>
              <a:t>2025/11/4</a:t>
            </a:fld>
            <a:endParaRPr kumimoji="1" lang="ja-JP" altLang="en-US"/>
          </a:p>
        </p:txBody>
      </p:sp>
      <p:sp>
        <p:nvSpPr>
          <p:cNvPr id="3" name="フッター プレースホルダー 2">
            <a:extLst>
              <a:ext uri="{FF2B5EF4-FFF2-40B4-BE49-F238E27FC236}">
                <a16:creationId xmlns:a16="http://schemas.microsoft.com/office/drawing/2014/main" id="{2260FD2A-DF3F-46FE-B2F8-14D9A2069736}"/>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52EF1C2C-6093-4ADD-9BFE-41DB125AD37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4204145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A35797B-0171-40BC-BCA2-0C1BA0D4C304}"/>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579CB0DB-618C-450C-BE67-5FD277B25D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42CC888D-BF8F-439D-9FC7-2DD4A8D750E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A4C2FA2E-4305-4946-8BDE-7AE113CDE687}"/>
              </a:ext>
            </a:extLst>
          </p:cNvPr>
          <p:cNvSpPr>
            <a:spLocks noGrp="1"/>
          </p:cNvSpPr>
          <p:nvPr>
            <p:ph type="dt" sz="half" idx="10"/>
          </p:nvPr>
        </p:nvSpPr>
        <p:spPr/>
        <p:txBody>
          <a:bodyPr/>
          <a:lstStyle/>
          <a:p>
            <a:fld id="{E9CC885B-4903-4D54-9A93-00025F12DED9}" type="datetimeFigureOut">
              <a:rPr kumimoji="1" lang="ja-JP" altLang="en-US" smtClean="0"/>
              <a:t>2025/11/4</a:t>
            </a:fld>
            <a:endParaRPr kumimoji="1" lang="ja-JP" altLang="en-US"/>
          </a:p>
        </p:txBody>
      </p:sp>
      <p:sp>
        <p:nvSpPr>
          <p:cNvPr id="6" name="フッター プレースホルダー 5">
            <a:extLst>
              <a:ext uri="{FF2B5EF4-FFF2-40B4-BE49-F238E27FC236}">
                <a16:creationId xmlns:a16="http://schemas.microsoft.com/office/drawing/2014/main" id="{BBA070CF-301C-4595-8007-2A2C19DFE06A}"/>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E3E21C8C-DA9E-4E6B-B45C-C2C4D38971B1}"/>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0669295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00F7326-6BA4-4DC0-9519-87D04747ED89}"/>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3A1C2397-9613-4B24-A7D0-9EEE44E01C8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05462283-8239-49BE-9D96-00B24831B7C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0F53455D-91B5-4938-AC24-CAFF77A6CD44}"/>
              </a:ext>
            </a:extLst>
          </p:cNvPr>
          <p:cNvSpPr>
            <a:spLocks noGrp="1"/>
          </p:cNvSpPr>
          <p:nvPr>
            <p:ph type="dt" sz="half" idx="10"/>
          </p:nvPr>
        </p:nvSpPr>
        <p:spPr/>
        <p:txBody>
          <a:bodyPr/>
          <a:lstStyle/>
          <a:p>
            <a:fld id="{E9CC885B-4903-4D54-9A93-00025F12DED9}" type="datetimeFigureOut">
              <a:rPr kumimoji="1" lang="ja-JP" altLang="en-US" smtClean="0"/>
              <a:t>2025/11/4</a:t>
            </a:fld>
            <a:endParaRPr kumimoji="1" lang="ja-JP" altLang="en-US"/>
          </a:p>
        </p:txBody>
      </p:sp>
      <p:sp>
        <p:nvSpPr>
          <p:cNvPr id="6" name="フッター プレースホルダー 5">
            <a:extLst>
              <a:ext uri="{FF2B5EF4-FFF2-40B4-BE49-F238E27FC236}">
                <a16:creationId xmlns:a16="http://schemas.microsoft.com/office/drawing/2014/main" id="{A7F23C7B-CEBC-48FC-81DC-98AFE68C2DE2}"/>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A7E65B5D-4A4C-4A6E-8AEB-3D88DC58273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1402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2AE957E-488D-43B9-8182-2A1DEEF0F7DD}"/>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0E67B1EC-AFC1-41D0-BBB1-9A2E85E1399D}"/>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31B76048-AF91-4C32-A054-6305C2928E9F}"/>
              </a:ext>
            </a:extLst>
          </p:cNvPr>
          <p:cNvSpPr>
            <a:spLocks noGrp="1"/>
          </p:cNvSpPr>
          <p:nvPr>
            <p:ph type="dt" sz="half" idx="10"/>
          </p:nvPr>
        </p:nvSpPr>
        <p:spPr/>
        <p:txBody>
          <a:bodyPr/>
          <a:lstStyle/>
          <a:p>
            <a:fld id="{E9CC885B-4903-4D54-9A93-00025F12DED9}" type="datetimeFigureOut">
              <a:rPr kumimoji="1" lang="ja-JP" altLang="en-US" smtClean="0"/>
              <a:t>2025/11/4</a:t>
            </a:fld>
            <a:endParaRPr kumimoji="1" lang="ja-JP" altLang="en-US"/>
          </a:p>
        </p:txBody>
      </p:sp>
      <p:sp>
        <p:nvSpPr>
          <p:cNvPr id="5" name="フッター プレースホルダー 4">
            <a:extLst>
              <a:ext uri="{FF2B5EF4-FFF2-40B4-BE49-F238E27FC236}">
                <a16:creationId xmlns:a16="http://schemas.microsoft.com/office/drawing/2014/main" id="{98C66A49-F960-4196-B16B-31B98B34013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3D7A86F7-B140-4439-A33B-63EA8498DCAB}"/>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48563190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B4FA5DEF-DC74-4F38-9DA0-1EE9752F5F36}"/>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23C9EE93-ED20-4B3B-93FB-5A088C436B26}"/>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370666-1A4C-42B1-8748-A0D1453943A4}"/>
              </a:ext>
            </a:extLst>
          </p:cNvPr>
          <p:cNvSpPr>
            <a:spLocks noGrp="1"/>
          </p:cNvSpPr>
          <p:nvPr>
            <p:ph type="dt" sz="half" idx="10"/>
          </p:nvPr>
        </p:nvSpPr>
        <p:spPr/>
        <p:txBody>
          <a:bodyPr/>
          <a:lstStyle/>
          <a:p>
            <a:fld id="{E9CC885B-4903-4D54-9A93-00025F12DED9}" type="datetimeFigureOut">
              <a:rPr kumimoji="1" lang="ja-JP" altLang="en-US" smtClean="0"/>
              <a:t>2025/11/4</a:t>
            </a:fld>
            <a:endParaRPr kumimoji="1" lang="ja-JP" altLang="en-US"/>
          </a:p>
        </p:txBody>
      </p:sp>
      <p:sp>
        <p:nvSpPr>
          <p:cNvPr id="5" name="フッター プレースホルダー 4">
            <a:extLst>
              <a:ext uri="{FF2B5EF4-FFF2-40B4-BE49-F238E27FC236}">
                <a16:creationId xmlns:a16="http://schemas.microsoft.com/office/drawing/2014/main" id="{E26EC7E2-E7E6-45F2-BF6D-CDF318CECC0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CDE4F59-4276-46E3-AE2A-D255BC7BB35C}"/>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428509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F527E70E-5441-439A-8EA3-0826A036FC7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2A7C9CE9-5A22-43DB-862A-3B24B2BF151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45D76C-CB70-434A-A116-22531EEB417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9CC885B-4903-4D54-9A93-00025F12DED9}" type="datetimeFigureOut">
              <a:rPr kumimoji="1" lang="ja-JP" altLang="en-US" smtClean="0"/>
              <a:t>2025/11/4</a:t>
            </a:fld>
            <a:endParaRPr kumimoji="1" lang="ja-JP" altLang="en-US"/>
          </a:p>
        </p:txBody>
      </p:sp>
      <p:sp>
        <p:nvSpPr>
          <p:cNvPr id="5" name="フッター プレースホルダー 4">
            <a:extLst>
              <a:ext uri="{FF2B5EF4-FFF2-40B4-BE49-F238E27FC236}">
                <a16:creationId xmlns:a16="http://schemas.microsoft.com/office/drawing/2014/main" id="{2505E6D4-441B-4864-8545-0FDE04F664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8FFD1810-F6DD-4BB4-8465-A3A3F3BF335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65178455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005403" cy="584775"/>
          </a:xfrm>
          <a:prstGeom prst="rect">
            <a:avLst/>
          </a:prstGeom>
          <a:noFill/>
        </p:spPr>
        <p:txBody>
          <a:bodyPr wrap="none" rtlCol="0">
            <a:spAutoFit/>
          </a:bodyPr>
          <a:lstStyle/>
          <a:p>
            <a:r>
              <a:rPr lang="ja-JP" altLang="en-US" sz="3200" b="1" u="sng" dirty="0"/>
              <a:t>衝突</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649069" cy="4154984"/>
          </a:xfrm>
          <a:prstGeom prst="rect">
            <a:avLst/>
          </a:prstGeom>
          <a:noFill/>
        </p:spPr>
        <p:txBody>
          <a:bodyPr wrap="none" rtlCol="0">
            <a:spAutoFit/>
          </a:bodyPr>
          <a:lstStyle/>
          <a:p>
            <a:r>
              <a:rPr lang="ja-JP" altLang="en-US" sz="2400" dirty="0"/>
              <a:t>前回の内容は、衝突された側の計算になります。</a:t>
            </a:r>
            <a:endParaRPr lang="en-US" altLang="ja-JP" sz="2400" dirty="0"/>
          </a:p>
          <a:p>
            <a:r>
              <a:rPr lang="ja-JP" altLang="en-US" sz="2400" dirty="0"/>
              <a:t>・例題：打たれたゴルフボール側の速度</a:t>
            </a:r>
            <a:endParaRPr lang="en-US" altLang="ja-JP" sz="2400" dirty="0"/>
          </a:p>
          <a:p>
            <a:r>
              <a:rPr lang="ja-JP" altLang="en-US" sz="2400" dirty="0"/>
              <a:t>・練習：蹴られたキャラクター側の速度</a:t>
            </a:r>
            <a:endParaRPr lang="en-US" altLang="ja-JP" sz="2400" dirty="0"/>
          </a:p>
          <a:p>
            <a:endParaRPr lang="en-US" altLang="ja-JP" sz="2400" dirty="0"/>
          </a:p>
          <a:p>
            <a:r>
              <a:rPr lang="ja-JP" altLang="en-US" sz="2400" dirty="0"/>
              <a:t>ニュートンの運動の第三法則では、</a:t>
            </a:r>
            <a:endParaRPr lang="en-US" altLang="ja-JP" sz="2400" dirty="0"/>
          </a:p>
          <a:p>
            <a:r>
              <a:rPr lang="ja-JP" altLang="en-US" sz="2400" dirty="0"/>
              <a:t>「</a:t>
            </a:r>
            <a:r>
              <a:rPr lang="ja-JP" altLang="en-US" sz="2400" b="1" dirty="0">
                <a:solidFill>
                  <a:srgbClr val="FF0000"/>
                </a:solidFill>
              </a:rPr>
              <a:t>いかなる力に対しても大きさが同じで向きが正反対の力が存在する</a:t>
            </a:r>
            <a:r>
              <a:rPr lang="ja-JP" altLang="en-US" sz="2400" dirty="0"/>
              <a:t>」</a:t>
            </a:r>
            <a:endParaRPr lang="en-US" altLang="ja-JP" sz="2400" dirty="0"/>
          </a:p>
          <a:p>
            <a:r>
              <a:rPr lang="ja-JP" altLang="en-US" sz="2400" dirty="0"/>
              <a:t>とありました。</a:t>
            </a:r>
            <a:endParaRPr lang="en-US" altLang="ja-JP" sz="2400" dirty="0"/>
          </a:p>
          <a:p>
            <a:endParaRPr lang="en-US" altLang="ja-JP" sz="2400" dirty="0"/>
          </a:p>
          <a:p>
            <a:r>
              <a:rPr lang="ja-JP" altLang="en-US" sz="2400" dirty="0"/>
              <a:t>つまり、ゴルフクラブ側や蹴ったキャラクターの足にも力が加わります。</a:t>
            </a:r>
            <a:endParaRPr lang="en-US" altLang="ja-JP" sz="2400" dirty="0"/>
          </a:p>
          <a:p>
            <a:endParaRPr lang="en-US" altLang="ja-JP" sz="2400" dirty="0"/>
          </a:p>
          <a:p>
            <a:r>
              <a:rPr lang="ja-JP" altLang="en-US" sz="2400" dirty="0"/>
              <a:t>今回は、衝突した側と衝突された側、両方に注目します。</a:t>
            </a:r>
            <a:endParaRPr lang="en-US" altLang="ja-JP" sz="2400" dirty="0"/>
          </a:p>
        </p:txBody>
      </p:sp>
    </p:spTree>
    <p:extLst>
      <p:ext uri="{BB962C8B-B14F-4D97-AF65-F5344CB8AC3E}">
        <p14:creationId xmlns:p14="http://schemas.microsoft.com/office/powerpoint/2010/main" val="163903353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005403" cy="584775"/>
          </a:xfrm>
          <a:prstGeom prst="rect">
            <a:avLst/>
          </a:prstGeom>
          <a:noFill/>
        </p:spPr>
        <p:txBody>
          <a:bodyPr wrap="none" rtlCol="0">
            <a:spAutoFit/>
          </a:bodyPr>
          <a:lstStyle/>
          <a:p>
            <a:r>
              <a:rPr lang="ja-JP" altLang="en-US" sz="3200" b="1" u="sng" dirty="0"/>
              <a:t>衝突</a:t>
            </a:r>
            <a:endParaRPr kumimoji="1" lang="en-US" altLang="ja-JP" sz="3200" b="1" u="sng" dirty="0"/>
          </a:p>
        </p:txBody>
      </p:sp>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1234935" cy="4893647"/>
              </a:xfrm>
              <a:prstGeom prst="rect">
                <a:avLst/>
              </a:prstGeom>
              <a:noFill/>
            </p:spPr>
            <p:txBody>
              <a:bodyPr wrap="none" rtlCol="0">
                <a:spAutoFit/>
              </a:bodyPr>
              <a:lstStyle/>
              <a:p>
                <a:r>
                  <a:rPr lang="ja-JP" altLang="en-US" sz="2400" dirty="0"/>
                  <a:t>力積の定義は、</a:t>
                </a:r>
                <a:endParaRPr lang="en-US" altLang="ja-JP" sz="2400" dirty="0"/>
              </a:p>
              <a:p>
                <a14:m>
                  <m:oMath xmlns:m="http://schemas.openxmlformats.org/officeDocument/2006/math">
                    <m:r>
                      <a:rPr lang="en-US" altLang="ja-JP" sz="2400" b="0" i="1" smtClean="0">
                        <a:latin typeface="Cambria Math" panose="02040503050406030204" pitchFamily="18" charset="0"/>
                      </a:rPr>
                      <m:t>𝐹𝑡</m:t>
                    </m:r>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𝑝</m:t>
                    </m:r>
                  </m:oMath>
                </a14:m>
                <a:r>
                  <a:rPr lang="en-US" altLang="ja-JP" sz="2400" dirty="0"/>
                  <a:t> </a:t>
                </a:r>
              </a:p>
              <a:p>
                <a:r>
                  <a:rPr lang="ja-JP" altLang="en-US" sz="2400" dirty="0"/>
                  <a:t>両辺を </a:t>
                </a:r>
                <a14:m>
                  <m:oMath xmlns:m="http://schemas.openxmlformats.org/officeDocument/2006/math">
                    <m:r>
                      <a:rPr lang="en-US" altLang="ja-JP" sz="2400" b="0" i="1" smtClean="0">
                        <a:latin typeface="Cambria Math" panose="02040503050406030204" pitchFamily="18" charset="0"/>
                      </a:rPr>
                      <m:t>𝑡</m:t>
                    </m:r>
                  </m:oMath>
                </a14:m>
                <a:r>
                  <a:rPr lang="en-US" altLang="ja-JP" sz="2400" dirty="0"/>
                  <a:t> </a:t>
                </a:r>
                <a:r>
                  <a:rPr lang="ja-JP" altLang="en-US" sz="2400" dirty="0"/>
                  <a:t>で割ると合力を求める式となります。</a:t>
                </a:r>
                <a:endParaRPr lang="en-US" altLang="ja-JP" sz="2400" dirty="0"/>
              </a:p>
              <a:p>
                <a14:m>
                  <m:oMath xmlns:m="http://schemas.openxmlformats.org/officeDocument/2006/math">
                    <m:r>
                      <a:rPr lang="en-US" altLang="ja-JP" sz="2400" b="0" i="1" smtClean="0">
                        <a:latin typeface="Cambria Math" panose="02040503050406030204" pitchFamily="18" charset="0"/>
                      </a:rPr>
                      <m:t>𝐹</m:t>
                    </m:r>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𝑝</m:t>
                    </m:r>
                    <m:r>
                      <a:rPr lang="en-US" altLang="ja-JP" sz="2400" i="1">
                        <a:latin typeface="Cambria Math" panose="02040503050406030204" pitchFamily="18" charset="0"/>
                      </a:rPr>
                      <m:t>÷</m:t>
                    </m:r>
                    <m:r>
                      <a:rPr lang="en-US" altLang="ja-JP" sz="2400" b="0" i="1" smtClean="0">
                        <a:latin typeface="Cambria Math" panose="02040503050406030204" pitchFamily="18" charset="0"/>
                      </a:rPr>
                      <m:t>𝑡</m:t>
                    </m:r>
                  </m:oMath>
                </a14:m>
                <a:r>
                  <a:rPr lang="en-US" altLang="ja-JP" sz="2400" dirty="0"/>
                  <a:t> </a:t>
                </a:r>
              </a:p>
              <a:p>
                <a:endParaRPr lang="en-US" altLang="ja-JP" sz="2400" dirty="0"/>
              </a:p>
              <a:p>
                <a:r>
                  <a:rPr lang="ja-JP" altLang="en-US" sz="2400" dirty="0"/>
                  <a:t>ニュートンの運動の第三法則より、作用する力を</a:t>
                </a:r>
                <a14:m>
                  <m:oMath xmlns:m="http://schemas.openxmlformats.org/officeDocument/2006/math">
                    <m:sSub>
                      <m:sSubPr>
                        <m:ctrlPr>
                          <a:rPr lang="en-US" altLang="ja-JP" sz="2400" b="0" i="1" smtClean="0">
                            <a:latin typeface="Cambria Math" panose="02040503050406030204" pitchFamily="18" charset="0"/>
                          </a:rPr>
                        </m:ctrlPr>
                      </m:sSubPr>
                      <m:e>
                        <m:r>
                          <a:rPr lang="en-US" altLang="ja-JP" sz="2400" b="0" i="1" smtClean="0">
                            <a:latin typeface="Cambria Math" panose="02040503050406030204" pitchFamily="18" charset="0"/>
                          </a:rPr>
                          <m:t>𝐹</m:t>
                        </m:r>
                      </m:e>
                      <m:sub>
                        <m:r>
                          <a:rPr lang="en-US" altLang="ja-JP" sz="2400" b="0" i="1" smtClean="0">
                            <a:latin typeface="Cambria Math" panose="02040503050406030204" pitchFamily="18" charset="0"/>
                          </a:rPr>
                          <m:t>1</m:t>
                        </m:r>
                      </m:sub>
                    </m:sSub>
                  </m:oMath>
                </a14:m>
                <a:r>
                  <a:rPr lang="ja-JP" altLang="en-US" sz="2400" dirty="0"/>
                  <a:t>、反作用する力を</a:t>
                </a:r>
                <a14:m>
                  <m:oMath xmlns:m="http://schemas.openxmlformats.org/officeDocument/2006/math">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𝐹</m:t>
                        </m:r>
                      </m:e>
                      <m:sub>
                        <m:r>
                          <a:rPr lang="en-US" altLang="ja-JP" sz="2400" b="0" i="1" smtClean="0">
                            <a:latin typeface="Cambria Math" panose="02040503050406030204" pitchFamily="18" charset="0"/>
                          </a:rPr>
                          <m:t>2</m:t>
                        </m:r>
                      </m:sub>
                    </m:sSub>
                  </m:oMath>
                </a14:m>
                <a:r>
                  <a:rPr lang="ja-JP" altLang="en-US" sz="2400" dirty="0"/>
                  <a:t>とすると</a:t>
                </a:r>
                <a:endParaRPr lang="en-US" altLang="ja-JP" sz="2400" dirty="0"/>
              </a:p>
              <a:p>
                <a14:m>
                  <m:oMath xmlns:m="http://schemas.openxmlformats.org/officeDocument/2006/math">
                    <m:sSub>
                      <m:sSubPr>
                        <m:ctrlPr>
                          <a:rPr lang="en-US" altLang="ja-JP" sz="2400" b="0" i="1" smtClean="0">
                            <a:latin typeface="Cambria Math" panose="02040503050406030204" pitchFamily="18" charset="0"/>
                          </a:rPr>
                        </m:ctrlPr>
                      </m:sSubPr>
                      <m:e>
                        <m:r>
                          <a:rPr lang="en-US" altLang="ja-JP" sz="2400" b="0" i="1" smtClean="0">
                            <a:latin typeface="Cambria Math" panose="02040503050406030204" pitchFamily="18" charset="0"/>
                          </a:rPr>
                          <m:t>𝐹</m:t>
                        </m:r>
                      </m:e>
                      <m:sub>
                        <m:r>
                          <a:rPr lang="en-US" altLang="ja-JP" sz="2400" b="0" i="1" smtClean="0">
                            <a:latin typeface="Cambria Math" panose="02040503050406030204" pitchFamily="18" charset="0"/>
                          </a:rPr>
                          <m:t>1</m:t>
                        </m:r>
                      </m:sub>
                    </m:sSub>
                    <m:r>
                      <a:rPr lang="en-US" altLang="ja-JP" sz="2400" b="0" i="1" smtClean="0">
                        <a:latin typeface="Cambria Math" panose="02040503050406030204" pitchFamily="18" charset="0"/>
                      </a:rPr>
                      <m:t>=−</m:t>
                    </m:r>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𝐹</m:t>
                        </m:r>
                      </m:e>
                      <m:sub>
                        <m:r>
                          <a:rPr lang="en-US" altLang="ja-JP" sz="2400" b="0" i="1" smtClean="0">
                            <a:latin typeface="Cambria Math" panose="02040503050406030204" pitchFamily="18" charset="0"/>
                          </a:rPr>
                          <m:t>2</m:t>
                        </m:r>
                      </m:sub>
                    </m:sSub>
                  </m:oMath>
                </a14:m>
                <a:r>
                  <a:rPr lang="en-US" altLang="ja-JP" sz="2400" dirty="0"/>
                  <a:t> </a:t>
                </a:r>
              </a:p>
              <a:p>
                <a:r>
                  <a:rPr lang="ja-JP" altLang="en-US" sz="2400" dirty="0"/>
                  <a:t>これに先ほどの </a:t>
                </a:r>
                <a14:m>
                  <m:oMath xmlns:m="http://schemas.openxmlformats.org/officeDocument/2006/math">
                    <m:r>
                      <a:rPr lang="en-US" altLang="ja-JP" sz="2400" b="0" i="1" smtClean="0">
                        <a:latin typeface="Cambria Math" panose="02040503050406030204" pitchFamily="18" charset="0"/>
                      </a:rPr>
                      <m:t>𝐹</m:t>
                    </m:r>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𝑝</m:t>
                    </m:r>
                    <m:r>
                      <a:rPr lang="en-US" altLang="ja-JP" sz="2400" i="1">
                        <a:latin typeface="Cambria Math" panose="02040503050406030204" pitchFamily="18" charset="0"/>
                      </a:rPr>
                      <m:t>÷</m:t>
                    </m:r>
                    <m:r>
                      <a:rPr lang="en-US" altLang="ja-JP" sz="2400" b="0" i="1" smtClean="0">
                        <a:latin typeface="Cambria Math" panose="02040503050406030204" pitchFamily="18" charset="0"/>
                      </a:rPr>
                      <m:t>𝑡</m:t>
                    </m:r>
                  </m:oMath>
                </a14:m>
                <a:r>
                  <a:rPr lang="en-US" altLang="ja-JP" sz="2400" dirty="0"/>
                  <a:t> </a:t>
                </a:r>
                <a:r>
                  <a:rPr lang="ja-JP" altLang="en-US" sz="2400" dirty="0"/>
                  <a:t>を代入すると、</a:t>
                </a:r>
                <a:endParaRPr lang="en-US" altLang="ja-JP" sz="2400" dirty="0"/>
              </a:p>
              <a:p>
                <a14:m>
                  <m:oMath xmlns:m="http://schemas.openxmlformats.org/officeDocument/2006/math">
                    <m:sSub>
                      <m:sSubPr>
                        <m:ctrlPr>
                          <a:rPr lang="en-US" altLang="ja-JP" sz="2400" b="0" i="1" smtClean="0">
                            <a:latin typeface="Cambria Math" panose="02040503050406030204" pitchFamily="18" charset="0"/>
                          </a:rPr>
                        </m:ctrlPr>
                      </m:sSubPr>
                      <m:e>
                        <m:r>
                          <a:rPr lang="ja-JP" altLang="en-US" sz="2400" i="1">
                            <a:latin typeface="Cambria Math" panose="02040503050406030204" pitchFamily="18" charset="0"/>
                          </a:rPr>
                          <m:t>⊿</m:t>
                        </m:r>
                        <m:r>
                          <a:rPr lang="en-US" altLang="ja-JP" sz="2400" b="0" i="1" smtClean="0">
                            <a:latin typeface="Cambria Math" panose="02040503050406030204" pitchFamily="18" charset="0"/>
                          </a:rPr>
                          <m:t>𝑝</m:t>
                        </m:r>
                      </m:e>
                      <m:sub>
                        <m:r>
                          <a:rPr lang="en-US" altLang="ja-JP" sz="2400" b="0" i="1" smtClean="0">
                            <a:latin typeface="Cambria Math" panose="02040503050406030204" pitchFamily="18" charset="0"/>
                          </a:rPr>
                          <m:t>1</m:t>
                        </m:r>
                      </m:sub>
                    </m:sSub>
                    <m:r>
                      <a:rPr lang="en-US" altLang="ja-JP" sz="2400" i="1">
                        <a:latin typeface="Cambria Math" panose="02040503050406030204" pitchFamily="18" charset="0"/>
                      </a:rPr>
                      <m:t>÷</m:t>
                    </m:r>
                    <m:r>
                      <a:rPr lang="en-US" altLang="ja-JP" sz="2400" b="0" i="1" smtClean="0">
                        <a:latin typeface="Cambria Math" panose="02040503050406030204" pitchFamily="18" charset="0"/>
                      </a:rPr>
                      <m:t>𝑡</m:t>
                    </m:r>
                    <m:r>
                      <a:rPr lang="en-US" altLang="ja-JP" sz="2400" b="0" i="1" smtClean="0">
                        <a:latin typeface="Cambria Math" panose="02040503050406030204" pitchFamily="18" charset="0"/>
                      </a:rPr>
                      <m:t>=−(</m:t>
                    </m:r>
                    <m:sSub>
                      <m:sSubPr>
                        <m:ctrlPr>
                          <a:rPr lang="en-US" altLang="ja-JP" sz="2400" i="1">
                            <a:latin typeface="Cambria Math" panose="02040503050406030204" pitchFamily="18" charset="0"/>
                          </a:rPr>
                        </m:ctrlPr>
                      </m:sSubPr>
                      <m:e>
                        <m:r>
                          <a:rPr lang="ja-JP" altLang="en-US" sz="2400" i="1">
                            <a:latin typeface="Cambria Math" panose="02040503050406030204" pitchFamily="18" charset="0"/>
                          </a:rPr>
                          <m:t>⊿</m:t>
                        </m:r>
                        <m:r>
                          <a:rPr lang="en-US" altLang="ja-JP" sz="2400" i="1">
                            <a:latin typeface="Cambria Math" panose="02040503050406030204" pitchFamily="18" charset="0"/>
                          </a:rPr>
                          <m:t>𝑝</m:t>
                        </m:r>
                      </m:e>
                      <m:sub>
                        <m:r>
                          <a:rPr lang="en-US" altLang="ja-JP" sz="2400" b="0" i="1" smtClean="0">
                            <a:latin typeface="Cambria Math" panose="02040503050406030204" pitchFamily="18" charset="0"/>
                          </a:rPr>
                          <m:t>2</m:t>
                        </m:r>
                      </m:sub>
                    </m:sSub>
                    <m:r>
                      <a:rPr lang="en-US" altLang="ja-JP" sz="2400" i="1">
                        <a:latin typeface="Cambria Math" panose="02040503050406030204" pitchFamily="18" charset="0"/>
                      </a:rPr>
                      <m:t>÷</m:t>
                    </m:r>
                    <m:r>
                      <a:rPr lang="en-US" altLang="ja-JP" sz="2400" i="1">
                        <a:latin typeface="Cambria Math" panose="02040503050406030204" pitchFamily="18" charset="0"/>
                      </a:rPr>
                      <m:t>𝑡</m:t>
                    </m:r>
                    <m:r>
                      <a:rPr lang="en-US" altLang="ja-JP" sz="2400" b="0" i="1" smtClean="0">
                        <a:latin typeface="Cambria Math" panose="02040503050406030204" pitchFamily="18" charset="0"/>
                      </a:rPr>
                      <m:t>)</m:t>
                    </m:r>
                  </m:oMath>
                </a14:m>
                <a:r>
                  <a:rPr lang="en-US" altLang="ja-JP" sz="2400" dirty="0"/>
                  <a:t> </a:t>
                </a:r>
              </a:p>
              <a:p>
                <a:endParaRPr lang="en-US" altLang="ja-JP" sz="2400" dirty="0"/>
              </a:p>
              <a:p>
                <a:r>
                  <a:rPr lang="ja-JP" altLang="en-US" sz="2400" dirty="0"/>
                  <a:t>つまり</a:t>
                </a:r>
                <a:endParaRPr lang="en-US" altLang="ja-JP" sz="2400" dirty="0"/>
              </a:p>
              <a:p>
                <a14:m>
                  <m:oMath xmlns:m="http://schemas.openxmlformats.org/officeDocument/2006/math">
                    <m:sSub>
                      <m:sSubPr>
                        <m:ctrlPr>
                          <a:rPr lang="en-US" altLang="ja-JP" sz="2400" b="0" i="1" smtClean="0">
                            <a:latin typeface="Cambria Math" panose="02040503050406030204" pitchFamily="18" charset="0"/>
                          </a:rPr>
                        </m:ctrlPr>
                      </m:sSubPr>
                      <m:e>
                        <m:r>
                          <a:rPr lang="ja-JP" altLang="en-US" sz="2400" i="1">
                            <a:latin typeface="Cambria Math" panose="02040503050406030204" pitchFamily="18" charset="0"/>
                          </a:rPr>
                          <m:t>⊿</m:t>
                        </m:r>
                        <m:r>
                          <a:rPr lang="en-US" altLang="ja-JP" sz="2400" b="0" i="1" smtClean="0">
                            <a:latin typeface="Cambria Math" panose="02040503050406030204" pitchFamily="18" charset="0"/>
                          </a:rPr>
                          <m:t>𝑝</m:t>
                        </m:r>
                      </m:e>
                      <m:sub>
                        <m:r>
                          <a:rPr lang="en-US" altLang="ja-JP" sz="2400" b="0" i="1" smtClean="0">
                            <a:latin typeface="Cambria Math" panose="02040503050406030204" pitchFamily="18" charset="0"/>
                          </a:rPr>
                          <m:t>1</m:t>
                        </m:r>
                      </m:sub>
                    </m:sSub>
                    <m:r>
                      <a:rPr lang="en-US" altLang="ja-JP" sz="2400" b="0" i="1" smtClean="0">
                        <a:latin typeface="Cambria Math" panose="02040503050406030204" pitchFamily="18" charset="0"/>
                      </a:rPr>
                      <m:t>=−</m:t>
                    </m:r>
                    <m:sSub>
                      <m:sSubPr>
                        <m:ctrlPr>
                          <a:rPr lang="en-US" altLang="ja-JP" sz="2400" i="1">
                            <a:latin typeface="Cambria Math" panose="02040503050406030204" pitchFamily="18" charset="0"/>
                          </a:rPr>
                        </m:ctrlPr>
                      </m:sSubPr>
                      <m:e>
                        <m:r>
                          <a:rPr lang="ja-JP" altLang="en-US" sz="2400" i="1">
                            <a:latin typeface="Cambria Math" panose="02040503050406030204" pitchFamily="18" charset="0"/>
                          </a:rPr>
                          <m:t>⊿</m:t>
                        </m:r>
                        <m:r>
                          <a:rPr lang="en-US" altLang="ja-JP" sz="2400" i="1">
                            <a:latin typeface="Cambria Math" panose="02040503050406030204" pitchFamily="18" charset="0"/>
                          </a:rPr>
                          <m:t>𝑝</m:t>
                        </m:r>
                      </m:e>
                      <m:sub>
                        <m:r>
                          <a:rPr lang="en-US" altLang="ja-JP" sz="2400" b="0" i="1" smtClean="0">
                            <a:latin typeface="Cambria Math" panose="02040503050406030204" pitchFamily="18" charset="0"/>
                          </a:rPr>
                          <m:t>2</m:t>
                        </m:r>
                      </m:sub>
                    </m:sSub>
                  </m:oMath>
                </a14:m>
                <a:r>
                  <a:rPr lang="en-US" altLang="ja-JP" sz="2400" dirty="0"/>
                  <a:t> </a:t>
                </a:r>
              </a:p>
              <a:p>
                <a:r>
                  <a:rPr lang="ja-JP" altLang="en-US" sz="2400" dirty="0"/>
                  <a:t>となります。</a:t>
                </a:r>
                <a:endParaRPr lang="en-US" altLang="ja-JP" sz="2400" dirty="0"/>
              </a:p>
            </p:txBody>
          </p:sp>
        </mc:Choice>
        <mc:Fallback xmlns="">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11234935" cy="4893647"/>
              </a:xfrm>
              <a:prstGeom prst="rect">
                <a:avLst/>
              </a:prstGeom>
              <a:blipFill>
                <a:blip r:embed="rId2"/>
                <a:stretch>
                  <a:fillRect l="-814" t="-998" b="-1995"/>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08938969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005403" cy="584775"/>
          </a:xfrm>
          <a:prstGeom prst="rect">
            <a:avLst/>
          </a:prstGeom>
          <a:noFill/>
        </p:spPr>
        <p:txBody>
          <a:bodyPr wrap="none" rtlCol="0">
            <a:spAutoFit/>
          </a:bodyPr>
          <a:lstStyle/>
          <a:p>
            <a:r>
              <a:rPr lang="ja-JP" altLang="en-US" sz="3200" b="1" u="sng" dirty="0"/>
              <a:t>衝突</a:t>
            </a:r>
            <a:endParaRPr kumimoji="1" lang="en-US" altLang="ja-JP" sz="3200" b="1" u="sng" dirty="0"/>
          </a:p>
        </p:txBody>
      </p:sp>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033516" cy="3850285"/>
              </a:xfrm>
              <a:prstGeom prst="rect">
                <a:avLst/>
              </a:prstGeom>
              <a:noFill/>
            </p:spPr>
            <p:txBody>
              <a:bodyPr wrap="none" rtlCol="0">
                <a:spAutoFit/>
              </a:bodyPr>
              <a:lstStyle/>
              <a:p>
                <a14:m>
                  <m:oMath xmlns:m="http://schemas.openxmlformats.org/officeDocument/2006/math">
                    <m:r>
                      <a:rPr lang="en-US" altLang="ja-JP" sz="2400" i="1" smtClean="0">
                        <a:latin typeface="Cambria Math" panose="02040503050406030204" pitchFamily="18" charset="0"/>
                      </a:rPr>
                      <m:t>𝑝</m:t>
                    </m:r>
                  </m:oMath>
                </a14:m>
                <a:r>
                  <a:rPr lang="ja-JP" altLang="en-US" sz="2400" dirty="0"/>
                  <a:t>は運動量なので質量</a:t>
                </a:r>
                <a:r>
                  <a:rPr lang="en-US" altLang="ja-JP" sz="2400" dirty="0"/>
                  <a:t>×</a:t>
                </a:r>
                <a:r>
                  <a:rPr lang="ja-JP" altLang="en-US" sz="2400" dirty="0"/>
                  <a:t>速度となります。したがって、</a:t>
                </a:r>
                <a:endParaRPr lang="en-US" altLang="ja-JP" sz="2400" dirty="0"/>
              </a:p>
              <a:p>
                <a14:m>
                  <m:oMath xmlns:m="http://schemas.openxmlformats.org/officeDocument/2006/math">
                    <m:sSub>
                      <m:sSubPr>
                        <m:ctrlPr>
                          <a:rPr lang="en-US" altLang="ja-JP" sz="2400" b="0" i="1" smtClean="0">
                            <a:latin typeface="Cambria Math" panose="02040503050406030204" pitchFamily="18" charset="0"/>
                          </a:rPr>
                        </m:ctrlPr>
                      </m:sSubPr>
                      <m:e>
                        <m:r>
                          <a:rPr lang="ja-JP" altLang="en-US" sz="2400" i="1">
                            <a:latin typeface="Cambria Math" panose="02040503050406030204" pitchFamily="18" charset="0"/>
                          </a:rPr>
                          <m:t>⊿</m:t>
                        </m:r>
                        <m:r>
                          <a:rPr lang="en-US" altLang="ja-JP" sz="2400" b="0" i="1" smtClean="0">
                            <a:latin typeface="Cambria Math" panose="02040503050406030204" pitchFamily="18" charset="0"/>
                          </a:rPr>
                          <m:t>𝑝</m:t>
                        </m:r>
                      </m:e>
                      <m:sub>
                        <m:r>
                          <a:rPr lang="en-US" altLang="ja-JP" sz="2400" b="0" i="1" smtClean="0">
                            <a:latin typeface="Cambria Math" panose="02040503050406030204" pitchFamily="18" charset="0"/>
                          </a:rPr>
                          <m:t>1</m:t>
                        </m:r>
                      </m:sub>
                    </m:sSub>
                    <m:r>
                      <a:rPr lang="en-US" altLang="ja-JP" sz="2400" b="0" i="1" smtClean="0">
                        <a:latin typeface="Cambria Math" panose="02040503050406030204" pitchFamily="18" charset="0"/>
                      </a:rPr>
                      <m:t>=−</m:t>
                    </m:r>
                    <m:sSub>
                      <m:sSubPr>
                        <m:ctrlPr>
                          <a:rPr lang="en-US" altLang="ja-JP" sz="2400" i="1">
                            <a:latin typeface="Cambria Math" panose="02040503050406030204" pitchFamily="18" charset="0"/>
                          </a:rPr>
                        </m:ctrlPr>
                      </m:sSubPr>
                      <m:e>
                        <m:r>
                          <a:rPr lang="ja-JP" altLang="en-US" sz="2400" i="1">
                            <a:latin typeface="Cambria Math" panose="02040503050406030204" pitchFamily="18" charset="0"/>
                          </a:rPr>
                          <m:t>⊿</m:t>
                        </m:r>
                        <m:r>
                          <a:rPr lang="en-US" altLang="ja-JP" sz="2400" i="1">
                            <a:latin typeface="Cambria Math" panose="02040503050406030204" pitchFamily="18" charset="0"/>
                          </a:rPr>
                          <m:t>𝑝</m:t>
                        </m:r>
                      </m:e>
                      <m:sub>
                        <m:r>
                          <a:rPr lang="en-US" altLang="ja-JP" sz="2400" b="0" i="1" smtClean="0">
                            <a:latin typeface="Cambria Math" panose="02040503050406030204" pitchFamily="18" charset="0"/>
                          </a:rPr>
                          <m:t>2</m:t>
                        </m:r>
                      </m:sub>
                    </m:sSub>
                  </m:oMath>
                </a14:m>
                <a:r>
                  <a:rPr lang="en-US" altLang="ja-JP" sz="2400" dirty="0"/>
                  <a:t> </a:t>
                </a:r>
              </a:p>
              <a:p>
                <a14:m>
                  <m:oMath xmlns:m="http://schemas.openxmlformats.org/officeDocument/2006/math">
                    <m:sSub>
                      <m:sSubPr>
                        <m:ctrlPr>
                          <a:rPr lang="en-US" altLang="ja-JP" sz="2400" b="0" i="1" smtClean="0">
                            <a:latin typeface="Cambria Math" panose="02040503050406030204" pitchFamily="18" charset="0"/>
                          </a:rPr>
                        </m:ctrlPr>
                      </m:sSubPr>
                      <m:e>
                        <m:r>
                          <a:rPr lang="en-US" altLang="ja-JP" sz="2400" b="0" i="1" smtClean="0">
                            <a:latin typeface="Cambria Math" panose="02040503050406030204" pitchFamily="18" charset="0"/>
                          </a:rPr>
                          <m:t>𝑚</m:t>
                        </m:r>
                      </m:e>
                      <m:sub>
                        <m:r>
                          <a:rPr lang="en-US" altLang="ja-JP" sz="2400" b="0" i="1" smtClean="0">
                            <a:latin typeface="Cambria Math" panose="02040503050406030204" pitchFamily="18" charset="0"/>
                          </a:rPr>
                          <m:t>1</m:t>
                        </m:r>
                      </m:sub>
                    </m:sSub>
                    <m:sSub>
                      <m:sSubPr>
                        <m:ctrlPr>
                          <a:rPr lang="en-US" altLang="ja-JP" sz="2400" i="1">
                            <a:latin typeface="Cambria Math" panose="02040503050406030204" pitchFamily="18" charset="0"/>
                          </a:rPr>
                        </m:ctrlPr>
                      </m:sSubPr>
                      <m:e>
                        <m:r>
                          <a:rPr lang="en-US" altLang="ja-JP" sz="2400" b="0" i="1" smtClean="0">
                            <a:latin typeface="Cambria Math" panose="02040503050406030204" pitchFamily="18" charset="0"/>
                          </a:rPr>
                          <m:t>𝑣</m:t>
                        </m:r>
                      </m:e>
                      <m:sub>
                        <m:r>
                          <a:rPr lang="en-US" altLang="ja-JP" sz="2400" i="1">
                            <a:latin typeface="Cambria Math" panose="02040503050406030204" pitchFamily="18" charset="0"/>
                          </a:rPr>
                          <m:t>1</m:t>
                        </m:r>
                        <m:r>
                          <a:rPr lang="en-US" altLang="ja-JP" sz="2400" b="0" i="1" smtClean="0">
                            <a:latin typeface="Cambria Math" panose="02040503050406030204" pitchFamily="18" charset="0"/>
                          </a:rPr>
                          <m:t>𝑓</m:t>
                        </m:r>
                      </m:sub>
                    </m:sSub>
                    <m:r>
                      <a:rPr lang="en-US" altLang="ja-JP" sz="2400" b="0" i="1" smtClean="0">
                        <a:latin typeface="Cambria Math" panose="02040503050406030204" pitchFamily="18" charset="0"/>
                      </a:rPr>
                      <m:t>−</m:t>
                    </m:r>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𝑚</m:t>
                        </m:r>
                      </m:e>
                      <m:sub>
                        <m:r>
                          <a:rPr lang="en-US" altLang="ja-JP" sz="2400" i="1">
                            <a:latin typeface="Cambria Math" panose="02040503050406030204" pitchFamily="18" charset="0"/>
                          </a:rPr>
                          <m:t>1</m:t>
                        </m:r>
                      </m:sub>
                    </m:sSub>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a:rPr lang="en-US" altLang="ja-JP" sz="2400" i="1">
                            <a:latin typeface="Cambria Math" panose="02040503050406030204" pitchFamily="18" charset="0"/>
                          </a:rPr>
                          <m:t>1</m:t>
                        </m:r>
                        <m:r>
                          <a:rPr lang="en-US" altLang="ja-JP" sz="2400" b="0" i="1" smtClean="0">
                            <a:latin typeface="Cambria Math" panose="02040503050406030204" pitchFamily="18" charset="0"/>
                          </a:rPr>
                          <m:t>𝑖</m:t>
                        </m:r>
                      </m:sub>
                    </m:sSub>
                    <m:r>
                      <a:rPr lang="en-US" altLang="ja-JP" sz="2400" b="0" i="1" smtClean="0">
                        <a:latin typeface="Cambria Math" panose="02040503050406030204" pitchFamily="18" charset="0"/>
                      </a:rPr>
                      <m:t>=−</m:t>
                    </m:r>
                    <m:r>
                      <a:rPr lang="en-US" altLang="ja-JP" sz="2400" i="1" smtClean="0">
                        <a:latin typeface="Cambria Math" panose="02040503050406030204" pitchFamily="18" charset="0"/>
                      </a:rPr>
                      <m:t>(</m:t>
                    </m:r>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𝑚</m:t>
                        </m:r>
                      </m:e>
                      <m:sub>
                        <m:r>
                          <a:rPr lang="en-US" altLang="ja-JP" sz="2400" b="0" i="1" smtClean="0">
                            <a:latin typeface="Cambria Math" panose="02040503050406030204" pitchFamily="18" charset="0"/>
                          </a:rPr>
                          <m:t>2</m:t>
                        </m:r>
                      </m:sub>
                    </m:sSub>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a:rPr lang="en-US" altLang="ja-JP" sz="2400" b="0" i="1" smtClean="0">
                            <a:latin typeface="Cambria Math" panose="02040503050406030204" pitchFamily="18" charset="0"/>
                          </a:rPr>
                          <m:t>2</m:t>
                        </m:r>
                        <m:r>
                          <a:rPr lang="en-US" altLang="ja-JP" sz="2400" i="1">
                            <a:latin typeface="Cambria Math" panose="02040503050406030204" pitchFamily="18" charset="0"/>
                          </a:rPr>
                          <m:t>𝑓</m:t>
                        </m:r>
                      </m:sub>
                    </m:sSub>
                    <m:r>
                      <a:rPr lang="en-US" altLang="ja-JP" sz="2400" i="1">
                        <a:latin typeface="Cambria Math" panose="02040503050406030204" pitchFamily="18" charset="0"/>
                      </a:rPr>
                      <m:t>−</m:t>
                    </m:r>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𝑚</m:t>
                        </m:r>
                      </m:e>
                      <m:sub>
                        <m:r>
                          <a:rPr lang="en-US" altLang="ja-JP" sz="2400" b="0" i="1" smtClean="0">
                            <a:latin typeface="Cambria Math" panose="02040503050406030204" pitchFamily="18" charset="0"/>
                          </a:rPr>
                          <m:t>2</m:t>
                        </m:r>
                      </m:sub>
                    </m:sSub>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a:rPr lang="en-US" altLang="ja-JP" sz="2400" b="0" i="1" smtClean="0">
                            <a:latin typeface="Cambria Math" panose="02040503050406030204" pitchFamily="18" charset="0"/>
                          </a:rPr>
                          <m:t>2</m:t>
                        </m:r>
                        <m:r>
                          <a:rPr lang="en-US" altLang="ja-JP" sz="2400" i="1">
                            <a:latin typeface="Cambria Math" panose="02040503050406030204" pitchFamily="18" charset="0"/>
                          </a:rPr>
                          <m:t>𝑖</m:t>
                        </m:r>
                      </m:sub>
                    </m:sSub>
                    <m:r>
                      <a:rPr lang="en-US" altLang="ja-JP" sz="2400" b="0" i="1" smtClean="0">
                        <a:latin typeface="Cambria Math" panose="02040503050406030204" pitchFamily="18" charset="0"/>
                      </a:rPr>
                      <m:t>)</m:t>
                    </m:r>
                  </m:oMath>
                </a14:m>
                <a:r>
                  <a:rPr lang="en-US" altLang="ja-JP" sz="2400" dirty="0"/>
                  <a:t> </a:t>
                </a:r>
              </a:p>
              <a:p>
                <a:endParaRPr lang="en-US" altLang="ja-JP" sz="2400" dirty="0"/>
              </a:p>
              <a:p>
                <a:r>
                  <a:rPr lang="ja-JP" altLang="en-US" sz="2400" dirty="0"/>
                  <a:t>この式を変形すると、</a:t>
                </a:r>
                <a:endParaRPr lang="en-US" altLang="ja-JP" sz="2400" dirty="0"/>
              </a:p>
              <a:p>
                <a14:m>
                  <m:oMath xmlns:m="http://schemas.openxmlformats.org/officeDocument/2006/math">
                    <m:sSub>
                      <m:sSubPr>
                        <m:ctrlPr>
                          <a:rPr lang="en-US" altLang="ja-JP" sz="2400" b="1" i="1">
                            <a:solidFill>
                              <a:srgbClr val="FF0000"/>
                            </a:solidFill>
                            <a:latin typeface="Cambria Math" panose="02040503050406030204" pitchFamily="18" charset="0"/>
                          </a:rPr>
                        </m:ctrlPr>
                      </m:sSubPr>
                      <m:e>
                        <m:r>
                          <a:rPr lang="en-US" altLang="ja-JP" sz="2400" b="1" i="1">
                            <a:solidFill>
                              <a:srgbClr val="FF0000"/>
                            </a:solidFill>
                            <a:latin typeface="Cambria Math" panose="02040503050406030204" pitchFamily="18" charset="0"/>
                          </a:rPr>
                          <m:t>𝒎</m:t>
                        </m:r>
                      </m:e>
                      <m:sub>
                        <m:r>
                          <a:rPr lang="en-US" altLang="ja-JP" sz="2400" b="1" i="1">
                            <a:solidFill>
                              <a:srgbClr val="FF0000"/>
                            </a:solidFill>
                            <a:latin typeface="Cambria Math" panose="02040503050406030204" pitchFamily="18" charset="0"/>
                          </a:rPr>
                          <m:t>𝟏</m:t>
                        </m:r>
                      </m:sub>
                    </m:sSub>
                    <m:sSub>
                      <m:sSubPr>
                        <m:ctrlPr>
                          <a:rPr lang="en-US" altLang="ja-JP" sz="2400" b="1" i="1">
                            <a:solidFill>
                              <a:srgbClr val="FF0000"/>
                            </a:solidFill>
                            <a:latin typeface="Cambria Math" panose="02040503050406030204" pitchFamily="18" charset="0"/>
                          </a:rPr>
                        </m:ctrlPr>
                      </m:sSubPr>
                      <m:e>
                        <m:r>
                          <a:rPr lang="en-US" altLang="ja-JP" sz="2400" b="1" i="1">
                            <a:solidFill>
                              <a:srgbClr val="FF0000"/>
                            </a:solidFill>
                            <a:latin typeface="Cambria Math" panose="02040503050406030204" pitchFamily="18" charset="0"/>
                          </a:rPr>
                          <m:t>𝒗</m:t>
                        </m:r>
                      </m:e>
                      <m:sub>
                        <m:r>
                          <a:rPr lang="en-US" altLang="ja-JP" sz="2400" b="1" i="1">
                            <a:solidFill>
                              <a:srgbClr val="FF0000"/>
                            </a:solidFill>
                            <a:latin typeface="Cambria Math" panose="02040503050406030204" pitchFamily="18" charset="0"/>
                          </a:rPr>
                          <m:t>𝟏</m:t>
                        </m:r>
                        <m:r>
                          <a:rPr lang="en-US" altLang="ja-JP" sz="2400" b="1" i="1">
                            <a:solidFill>
                              <a:srgbClr val="FF0000"/>
                            </a:solidFill>
                            <a:latin typeface="Cambria Math" panose="02040503050406030204" pitchFamily="18" charset="0"/>
                          </a:rPr>
                          <m:t>𝒊</m:t>
                        </m:r>
                      </m:sub>
                    </m:sSub>
                    <m:r>
                      <a:rPr lang="en-US" altLang="ja-JP" sz="2400" b="1" i="1">
                        <a:solidFill>
                          <a:srgbClr val="FF0000"/>
                        </a:solidFill>
                        <a:latin typeface="Cambria Math" panose="02040503050406030204" pitchFamily="18" charset="0"/>
                      </a:rPr>
                      <m:t>+</m:t>
                    </m:r>
                    <m:sSub>
                      <m:sSubPr>
                        <m:ctrlPr>
                          <a:rPr lang="en-US" altLang="ja-JP" sz="2400" b="1" i="1">
                            <a:solidFill>
                              <a:srgbClr val="FF0000"/>
                            </a:solidFill>
                            <a:latin typeface="Cambria Math" panose="02040503050406030204" pitchFamily="18" charset="0"/>
                          </a:rPr>
                        </m:ctrlPr>
                      </m:sSubPr>
                      <m:e>
                        <m:r>
                          <a:rPr lang="en-US" altLang="ja-JP" sz="2400" b="1" i="1">
                            <a:solidFill>
                              <a:srgbClr val="FF0000"/>
                            </a:solidFill>
                            <a:latin typeface="Cambria Math" panose="02040503050406030204" pitchFamily="18" charset="0"/>
                          </a:rPr>
                          <m:t>𝒎</m:t>
                        </m:r>
                      </m:e>
                      <m:sub>
                        <m:r>
                          <a:rPr lang="en-US" altLang="ja-JP" sz="2400" b="1" i="1">
                            <a:solidFill>
                              <a:srgbClr val="FF0000"/>
                            </a:solidFill>
                            <a:latin typeface="Cambria Math" panose="02040503050406030204" pitchFamily="18" charset="0"/>
                          </a:rPr>
                          <m:t>𝟐</m:t>
                        </m:r>
                      </m:sub>
                    </m:sSub>
                    <m:sSub>
                      <m:sSubPr>
                        <m:ctrlPr>
                          <a:rPr lang="en-US" altLang="ja-JP" sz="2400" b="1" i="1">
                            <a:solidFill>
                              <a:srgbClr val="FF0000"/>
                            </a:solidFill>
                            <a:latin typeface="Cambria Math" panose="02040503050406030204" pitchFamily="18" charset="0"/>
                          </a:rPr>
                        </m:ctrlPr>
                      </m:sSubPr>
                      <m:e>
                        <m:r>
                          <a:rPr lang="en-US" altLang="ja-JP" sz="2400" b="1" i="1">
                            <a:solidFill>
                              <a:srgbClr val="FF0000"/>
                            </a:solidFill>
                            <a:latin typeface="Cambria Math" panose="02040503050406030204" pitchFamily="18" charset="0"/>
                          </a:rPr>
                          <m:t>𝒗</m:t>
                        </m:r>
                      </m:e>
                      <m:sub>
                        <m:r>
                          <a:rPr lang="en-US" altLang="ja-JP" sz="2400" b="1" i="1">
                            <a:solidFill>
                              <a:srgbClr val="FF0000"/>
                            </a:solidFill>
                            <a:latin typeface="Cambria Math" panose="02040503050406030204" pitchFamily="18" charset="0"/>
                          </a:rPr>
                          <m:t>𝟐</m:t>
                        </m:r>
                        <m:r>
                          <a:rPr lang="en-US" altLang="ja-JP" sz="2400" b="1" i="1">
                            <a:solidFill>
                              <a:srgbClr val="FF0000"/>
                            </a:solidFill>
                            <a:latin typeface="Cambria Math" panose="02040503050406030204" pitchFamily="18" charset="0"/>
                          </a:rPr>
                          <m:t>𝒊</m:t>
                        </m:r>
                      </m:sub>
                    </m:sSub>
                    <m:r>
                      <a:rPr lang="en-US" altLang="ja-JP" sz="2400" b="1" i="1" smtClean="0">
                        <a:solidFill>
                          <a:srgbClr val="FF0000"/>
                        </a:solidFill>
                        <a:latin typeface="Cambria Math" panose="02040503050406030204" pitchFamily="18" charset="0"/>
                      </a:rPr>
                      <m:t>=</m:t>
                    </m:r>
                    <m:sSub>
                      <m:sSubPr>
                        <m:ctrlPr>
                          <a:rPr lang="en-US" altLang="ja-JP" sz="2400" b="1" i="1">
                            <a:solidFill>
                              <a:srgbClr val="FF0000"/>
                            </a:solidFill>
                            <a:latin typeface="Cambria Math" panose="02040503050406030204" pitchFamily="18" charset="0"/>
                          </a:rPr>
                        </m:ctrlPr>
                      </m:sSubPr>
                      <m:e>
                        <m:r>
                          <a:rPr lang="en-US" altLang="ja-JP" sz="2400" b="1" i="1">
                            <a:solidFill>
                              <a:srgbClr val="FF0000"/>
                            </a:solidFill>
                            <a:latin typeface="Cambria Math" panose="02040503050406030204" pitchFamily="18" charset="0"/>
                          </a:rPr>
                          <m:t>𝒎</m:t>
                        </m:r>
                      </m:e>
                      <m:sub>
                        <m:r>
                          <a:rPr lang="en-US" altLang="ja-JP" sz="2400" b="1" i="1">
                            <a:solidFill>
                              <a:srgbClr val="FF0000"/>
                            </a:solidFill>
                            <a:latin typeface="Cambria Math" panose="02040503050406030204" pitchFamily="18" charset="0"/>
                          </a:rPr>
                          <m:t>𝟏</m:t>
                        </m:r>
                      </m:sub>
                    </m:sSub>
                    <m:sSub>
                      <m:sSubPr>
                        <m:ctrlPr>
                          <a:rPr lang="en-US" altLang="ja-JP" sz="2400" b="1" i="1">
                            <a:solidFill>
                              <a:srgbClr val="FF0000"/>
                            </a:solidFill>
                            <a:latin typeface="Cambria Math" panose="02040503050406030204" pitchFamily="18" charset="0"/>
                          </a:rPr>
                        </m:ctrlPr>
                      </m:sSubPr>
                      <m:e>
                        <m:r>
                          <a:rPr lang="en-US" altLang="ja-JP" sz="2400" b="1" i="1">
                            <a:solidFill>
                              <a:srgbClr val="FF0000"/>
                            </a:solidFill>
                            <a:latin typeface="Cambria Math" panose="02040503050406030204" pitchFamily="18" charset="0"/>
                          </a:rPr>
                          <m:t>𝒗</m:t>
                        </m:r>
                      </m:e>
                      <m:sub>
                        <m:r>
                          <a:rPr lang="en-US" altLang="ja-JP" sz="2400" b="1" i="1">
                            <a:solidFill>
                              <a:srgbClr val="FF0000"/>
                            </a:solidFill>
                            <a:latin typeface="Cambria Math" panose="02040503050406030204" pitchFamily="18" charset="0"/>
                          </a:rPr>
                          <m:t>𝟏</m:t>
                        </m:r>
                        <m:r>
                          <a:rPr lang="en-US" altLang="ja-JP" sz="2400" b="1" i="1">
                            <a:solidFill>
                              <a:srgbClr val="FF0000"/>
                            </a:solidFill>
                            <a:latin typeface="Cambria Math" panose="02040503050406030204" pitchFamily="18" charset="0"/>
                          </a:rPr>
                          <m:t>𝒇</m:t>
                        </m:r>
                      </m:sub>
                    </m:sSub>
                    <m:r>
                      <a:rPr lang="en-US" altLang="ja-JP" sz="2400" b="1" i="1">
                        <a:solidFill>
                          <a:srgbClr val="FF0000"/>
                        </a:solidFill>
                        <a:latin typeface="Cambria Math" panose="02040503050406030204" pitchFamily="18" charset="0"/>
                      </a:rPr>
                      <m:t>+</m:t>
                    </m:r>
                    <m:sSub>
                      <m:sSubPr>
                        <m:ctrlPr>
                          <a:rPr lang="en-US" altLang="ja-JP" sz="2400" b="1" i="1">
                            <a:solidFill>
                              <a:srgbClr val="FF0000"/>
                            </a:solidFill>
                            <a:latin typeface="Cambria Math" panose="02040503050406030204" pitchFamily="18" charset="0"/>
                          </a:rPr>
                        </m:ctrlPr>
                      </m:sSubPr>
                      <m:e>
                        <m:r>
                          <a:rPr lang="en-US" altLang="ja-JP" sz="2400" b="1" i="1">
                            <a:solidFill>
                              <a:srgbClr val="FF0000"/>
                            </a:solidFill>
                            <a:latin typeface="Cambria Math" panose="02040503050406030204" pitchFamily="18" charset="0"/>
                          </a:rPr>
                          <m:t>𝒎</m:t>
                        </m:r>
                      </m:e>
                      <m:sub>
                        <m:r>
                          <a:rPr lang="en-US" altLang="ja-JP" sz="2400" b="1" i="1">
                            <a:solidFill>
                              <a:srgbClr val="FF0000"/>
                            </a:solidFill>
                            <a:latin typeface="Cambria Math" panose="02040503050406030204" pitchFamily="18" charset="0"/>
                          </a:rPr>
                          <m:t>𝟐</m:t>
                        </m:r>
                      </m:sub>
                    </m:sSub>
                    <m:sSub>
                      <m:sSubPr>
                        <m:ctrlPr>
                          <a:rPr lang="en-US" altLang="ja-JP" sz="2400" b="1" i="1">
                            <a:solidFill>
                              <a:srgbClr val="FF0000"/>
                            </a:solidFill>
                            <a:latin typeface="Cambria Math" panose="02040503050406030204" pitchFamily="18" charset="0"/>
                          </a:rPr>
                        </m:ctrlPr>
                      </m:sSubPr>
                      <m:e>
                        <m:r>
                          <a:rPr lang="en-US" altLang="ja-JP" sz="2400" b="1" i="1">
                            <a:solidFill>
                              <a:srgbClr val="FF0000"/>
                            </a:solidFill>
                            <a:latin typeface="Cambria Math" panose="02040503050406030204" pitchFamily="18" charset="0"/>
                          </a:rPr>
                          <m:t>𝒗</m:t>
                        </m:r>
                      </m:e>
                      <m:sub>
                        <m:r>
                          <a:rPr lang="en-US" altLang="ja-JP" sz="2400" b="1" i="1">
                            <a:solidFill>
                              <a:srgbClr val="FF0000"/>
                            </a:solidFill>
                            <a:latin typeface="Cambria Math" panose="02040503050406030204" pitchFamily="18" charset="0"/>
                          </a:rPr>
                          <m:t>𝟐</m:t>
                        </m:r>
                        <m:r>
                          <a:rPr lang="en-US" altLang="ja-JP" sz="2400" b="1" i="1">
                            <a:solidFill>
                              <a:srgbClr val="FF0000"/>
                            </a:solidFill>
                            <a:latin typeface="Cambria Math" panose="02040503050406030204" pitchFamily="18" charset="0"/>
                          </a:rPr>
                          <m:t>𝒇</m:t>
                        </m:r>
                      </m:sub>
                    </m:sSub>
                  </m:oMath>
                </a14:m>
                <a:r>
                  <a:rPr lang="en-US" altLang="ja-JP" sz="2400" b="1" dirty="0">
                    <a:solidFill>
                      <a:srgbClr val="FF0000"/>
                    </a:solidFill>
                  </a:rPr>
                  <a:t> </a:t>
                </a:r>
              </a:p>
              <a:p>
                <a:endParaRPr lang="en-US" altLang="ja-JP" sz="2400" dirty="0"/>
              </a:p>
              <a:p>
                <a:r>
                  <a:rPr lang="ja-JP" altLang="en-US" sz="2400" dirty="0"/>
                  <a:t>このような計算式が成り立ちます。</a:t>
                </a:r>
                <a:endParaRPr lang="en-US" altLang="ja-JP" sz="2400" dirty="0"/>
              </a:p>
              <a:p>
                <a:r>
                  <a:rPr lang="ja-JP" altLang="en-US" sz="2400" dirty="0"/>
                  <a:t>この式は、</a:t>
                </a:r>
                <a:endParaRPr lang="en-US" altLang="ja-JP" sz="2400" dirty="0"/>
              </a:p>
              <a:p>
                <a:r>
                  <a:rPr lang="ja-JP" altLang="en-US" sz="2400" b="1" dirty="0">
                    <a:solidFill>
                      <a:srgbClr val="FF0000"/>
                    </a:solidFill>
                  </a:rPr>
                  <a:t>２つの物体の運動量の合計は衝突した後も変わらない</a:t>
                </a:r>
                <a:r>
                  <a:rPr lang="ja-JP" altLang="en-US" sz="2400" dirty="0"/>
                  <a:t>ことを表します。</a:t>
                </a:r>
                <a:endParaRPr lang="en-US" altLang="ja-JP" sz="2400" dirty="0"/>
              </a:p>
            </p:txBody>
          </p:sp>
        </mc:Choice>
        <mc:Fallback xmlns="">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10033516" cy="3850285"/>
              </a:xfrm>
              <a:prstGeom prst="rect">
                <a:avLst/>
              </a:prstGeom>
              <a:blipFill>
                <a:blip r:embed="rId2"/>
                <a:stretch>
                  <a:fillRect l="-911" t="-1268" b="-2694"/>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554083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953195C1-675F-46C1-BCC8-D79EAE0EB181}"/>
              </a:ext>
            </a:extLst>
          </p:cNvPr>
          <p:cNvSpPr/>
          <p:nvPr/>
        </p:nvSpPr>
        <p:spPr>
          <a:xfrm>
            <a:off x="364067" y="1794933"/>
            <a:ext cx="5122333" cy="3805050"/>
          </a:xfrm>
          <a:prstGeom prst="round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005403" cy="584775"/>
          </a:xfrm>
          <a:prstGeom prst="rect">
            <a:avLst/>
          </a:prstGeom>
          <a:noFill/>
        </p:spPr>
        <p:txBody>
          <a:bodyPr wrap="none" rtlCol="0">
            <a:spAutoFit/>
          </a:bodyPr>
          <a:lstStyle/>
          <a:p>
            <a:r>
              <a:rPr lang="ja-JP" altLang="en-US" sz="3200" b="1" u="sng" dirty="0"/>
              <a:t>衝突</a:t>
            </a:r>
            <a:endParaRPr kumimoji="1" lang="en-US" altLang="ja-JP" sz="3200" b="1" u="sng" dirty="0"/>
          </a:p>
        </p:txBody>
      </p:sp>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6032421" cy="4982518"/>
              </a:xfrm>
              <a:prstGeom prst="rect">
                <a:avLst/>
              </a:prstGeom>
              <a:noFill/>
            </p:spPr>
            <p:txBody>
              <a:bodyPr wrap="none" rtlCol="0">
                <a:spAutoFit/>
              </a:bodyPr>
              <a:lstStyle/>
              <a:p>
                <a:r>
                  <a:rPr lang="ja-JP" altLang="en-US" sz="2400" dirty="0"/>
                  <a:t>このこと</a:t>
                </a:r>
                <a:r>
                  <a:rPr lang="ja-JP" altLang="en-US" sz="2400" b="1" dirty="0">
                    <a:solidFill>
                      <a:srgbClr val="FF0000"/>
                    </a:solidFill>
                  </a:rPr>
                  <a:t>運動量保存の法則</a:t>
                </a:r>
                <a:r>
                  <a:rPr lang="ja-JP" altLang="en-US" sz="2400" dirty="0"/>
                  <a:t>と言います。</a:t>
                </a:r>
                <a:endParaRPr lang="en-US" altLang="ja-JP" sz="2400" dirty="0"/>
              </a:p>
              <a:p>
                <a:endParaRPr lang="en-US" altLang="ja-JP" sz="2400" dirty="0"/>
              </a:p>
              <a:p>
                <a:r>
                  <a:rPr lang="ja-JP" altLang="en-US" sz="2400" b="1" dirty="0">
                    <a:solidFill>
                      <a:srgbClr val="FF0000"/>
                    </a:solidFill>
                  </a:rPr>
                  <a:t>■運動量保存の法則</a:t>
                </a:r>
                <a:endParaRPr lang="en-US" altLang="ja-JP" sz="2400" b="1" dirty="0">
                  <a:solidFill>
                    <a:srgbClr val="FF0000"/>
                  </a:solidFill>
                </a:endParaRPr>
              </a:p>
              <a:p>
                <a14:m>
                  <m:oMath xmlns:m="http://schemas.openxmlformats.org/officeDocument/2006/math">
                    <m:sSub>
                      <m:sSubPr>
                        <m:ctrlPr>
                          <a:rPr lang="en-US" altLang="ja-JP" sz="2400" i="1" smtClean="0">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𝑚</m:t>
                        </m:r>
                      </m:e>
                      <m:sub>
                        <m:r>
                          <a:rPr lang="en-US" altLang="ja-JP" sz="2400" b="0" i="1">
                            <a:solidFill>
                              <a:schemeClr val="tx1"/>
                            </a:solidFill>
                            <a:latin typeface="Cambria Math" panose="02040503050406030204" pitchFamily="18" charset="0"/>
                          </a:rPr>
                          <m:t>1</m:t>
                        </m:r>
                      </m:sub>
                    </m:sSub>
                    <m:sSub>
                      <m:sSubPr>
                        <m:ctrlPr>
                          <a:rPr lang="en-US" altLang="ja-JP" sz="2400" i="1">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𝑣</m:t>
                        </m:r>
                      </m:e>
                      <m:sub>
                        <m:r>
                          <a:rPr lang="en-US" altLang="ja-JP" sz="2400" b="0" i="1">
                            <a:solidFill>
                              <a:schemeClr val="tx1"/>
                            </a:solidFill>
                            <a:latin typeface="Cambria Math" panose="02040503050406030204" pitchFamily="18" charset="0"/>
                          </a:rPr>
                          <m:t>1</m:t>
                        </m:r>
                        <m:r>
                          <a:rPr lang="en-US" altLang="ja-JP" sz="2400" b="0" i="1">
                            <a:solidFill>
                              <a:schemeClr val="tx1"/>
                            </a:solidFill>
                            <a:latin typeface="Cambria Math" panose="02040503050406030204" pitchFamily="18" charset="0"/>
                          </a:rPr>
                          <m:t>𝑖</m:t>
                        </m:r>
                      </m:sub>
                    </m:sSub>
                    <m:r>
                      <a:rPr lang="en-US" altLang="ja-JP" sz="2400" b="0" i="1">
                        <a:solidFill>
                          <a:schemeClr val="tx1"/>
                        </a:solidFill>
                        <a:latin typeface="Cambria Math" panose="02040503050406030204" pitchFamily="18" charset="0"/>
                      </a:rPr>
                      <m:t>+</m:t>
                    </m:r>
                    <m:sSub>
                      <m:sSubPr>
                        <m:ctrlPr>
                          <a:rPr lang="en-US" altLang="ja-JP" sz="2400" i="1">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𝑚</m:t>
                        </m:r>
                      </m:e>
                      <m:sub>
                        <m:r>
                          <a:rPr lang="en-US" altLang="ja-JP" sz="2400" b="0" i="1">
                            <a:solidFill>
                              <a:schemeClr val="tx1"/>
                            </a:solidFill>
                            <a:latin typeface="Cambria Math" panose="02040503050406030204" pitchFamily="18" charset="0"/>
                          </a:rPr>
                          <m:t>2</m:t>
                        </m:r>
                      </m:sub>
                    </m:sSub>
                    <m:sSub>
                      <m:sSubPr>
                        <m:ctrlPr>
                          <a:rPr lang="en-US" altLang="ja-JP" sz="2400" i="1">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𝑣</m:t>
                        </m:r>
                      </m:e>
                      <m:sub>
                        <m:r>
                          <a:rPr lang="en-US" altLang="ja-JP" sz="2400" b="0" i="1">
                            <a:solidFill>
                              <a:schemeClr val="tx1"/>
                            </a:solidFill>
                            <a:latin typeface="Cambria Math" panose="02040503050406030204" pitchFamily="18" charset="0"/>
                          </a:rPr>
                          <m:t>2</m:t>
                        </m:r>
                        <m:r>
                          <a:rPr lang="en-US" altLang="ja-JP" sz="2400" b="0" i="1">
                            <a:solidFill>
                              <a:schemeClr val="tx1"/>
                            </a:solidFill>
                            <a:latin typeface="Cambria Math" panose="02040503050406030204" pitchFamily="18" charset="0"/>
                          </a:rPr>
                          <m:t>𝑖</m:t>
                        </m:r>
                      </m:sub>
                    </m:sSub>
                    <m:r>
                      <a:rPr lang="en-US" altLang="ja-JP" sz="2400" b="0" i="1" smtClean="0">
                        <a:solidFill>
                          <a:schemeClr val="tx1"/>
                        </a:solidFill>
                        <a:latin typeface="Cambria Math" panose="02040503050406030204" pitchFamily="18" charset="0"/>
                      </a:rPr>
                      <m:t>=</m:t>
                    </m:r>
                    <m:sSub>
                      <m:sSubPr>
                        <m:ctrlPr>
                          <a:rPr lang="en-US" altLang="ja-JP" sz="2400" i="1">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𝑚</m:t>
                        </m:r>
                      </m:e>
                      <m:sub>
                        <m:r>
                          <a:rPr lang="en-US" altLang="ja-JP" sz="2400" b="0" i="1">
                            <a:solidFill>
                              <a:schemeClr val="tx1"/>
                            </a:solidFill>
                            <a:latin typeface="Cambria Math" panose="02040503050406030204" pitchFamily="18" charset="0"/>
                          </a:rPr>
                          <m:t>1</m:t>
                        </m:r>
                      </m:sub>
                    </m:sSub>
                    <m:sSub>
                      <m:sSubPr>
                        <m:ctrlPr>
                          <a:rPr lang="en-US" altLang="ja-JP" sz="2400" i="1">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𝑣</m:t>
                        </m:r>
                      </m:e>
                      <m:sub>
                        <m:r>
                          <a:rPr lang="en-US" altLang="ja-JP" sz="2400" b="0" i="1">
                            <a:solidFill>
                              <a:schemeClr val="tx1"/>
                            </a:solidFill>
                            <a:latin typeface="Cambria Math" panose="02040503050406030204" pitchFamily="18" charset="0"/>
                          </a:rPr>
                          <m:t>1</m:t>
                        </m:r>
                        <m:r>
                          <a:rPr lang="en-US" altLang="ja-JP" sz="2400" b="0" i="1">
                            <a:solidFill>
                              <a:schemeClr val="tx1"/>
                            </a:solidFill>
                            <a:latin typeface="Cambria Math" panose="02040503050406030204" pitchFamily="18" charset="0"/>
                          </a:rPr>
                          <m:t>𝑓</m:t>
                        </m:r>
                      </m:sub>
                    </m:sSub>
                    <m:r>
                      <a:rPr lang="en-US" altLang="ja-JP" sz="2400" b="0" i="1">
                        <a:solidFill>
                          <a:schemeClr val="tx1"/>
                        </a:solidFill>
                        <a:latin typeface="Cambria Math" panose="02040503050406030204" pitchFamily="18" charset="0"/>
                      </a:rPr>
                      <m:t>+</m:t>
                    </m:r>
                    <m:sSub>
                      <m:sSubPr>
                        <m:ctrlPr>
                          <a:rPr lang="en-US" altLang="ja-JP" sz="2400" i="1">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𝑚</m:t>
                        </m:r>
                      </m:e>
                      <m:sub>
                        <m:r>
                          <a:rPr lang="en-US" altLang="ja-JP" sz="2400" b="0" i="1">
                            <a:solidFill>
                              <a:schemeClr val="tx1"/>
                            </a:solidFill>
                            <a:latin typeface="Cambria Math" panose="02040503050406030204" pitchFamily="18" charset="0"/>
                          </a:rPr>
                          <m:t>2</m:t>
                        </m:r>
                      </m:sub>
                    </m:sSub>
                    <m:sSub>
                      <m:sSubPr>
                        <m:ctrlPr>
                          <a:rPr lang="en-US" altLang="ja-JP" sz="2400" i="1">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𝑣</m:t>
                        </m:r>
                      </m:e>
                      <m:sub>
                        <m:r>
                          <a:rPr lang="en-US" altLang="ja-JP" sz="2400" b="0" i="1">
                            <a:solidFill>
                              <a:schemeClr val="tx1"/>
                            </a:solidFill>
                            <a:latin typeface="Cambria Math" panose="02040503050406030204" pitchFamily="18" charset="0"/>
                          </a:rPr>
                          <m:t>2</m:t>
                        </m:r>
                        <m:r>
                          <a:rPr lang="en-US" altLang="ja-JP" sz="2400" b="0" i="1">
                            <a:solidFill>
                              <a:schemeClr val="tx1"/>
                            </a:solidFill>
                            <a:latin typeface="Cambria Math" panose="02040503050406030204" pitchFamily="18" charset="0"/>
                          </a:rPr>
                          <m:t>𝑓</m:t>
                        </m:r>
                      </m:sub>
                    </m:sSub>
                  </m:oMath>
                </a14:m>
                <a:r>
                  <a:rPr lang="en-US" altLang="ja-JP" sz="2400" dirty="0">
                    <a:solidFill>
                      <a:schemeClr val="tx1"/>
                    </a:solidFill>
                  </a:rPr>
                  <a:t> </a:t>
                </a:r>
                <a:endParaRPr lang="en-US" altLang="ja-JP" sz="2400" dirty="0">
                  <a:solidFill>
                    <a:srgbClr val="FF0000"/>
                  </a:solidFill>
                </a:endParaRPr>
              </a:p>
              <a:p>
                <a:endParaRPr lang="en-US" altLang="ja-JP" sz="2400" dirty="0"/>
              </a:p>
              <a:p>
                <a14:m>
                  <m:oMath xmlns:m="http://schemas.openxmlformats.org/officeDocument/2006/math">
                    <m:sSub>
                      <m:sSubPr>
                        <m:ctrlPr>
                          <a:rPr lang="en-US" altLang="ja-JP" sz="2400" i="1" smtClean="0">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𝑚</m:t>
                        </m:r>
                      </m:e>
                      <m:sub>
                        <m:r>
                          <a:rPr lang="en-US" altLang="ja-JP" sz="2400" b="0" i="1">
                            <a:solidFill>
                              <a:schemeClr val="tx1"/>
                            </a:solidFill>
                            <a:latin typeface="Cambria Math" panose="02040503050406030204" pitchFamily="18" charset="0"/>
                          </a:rPr>
                          <m:t>1</m:t>
                        </m:r>
                      </m:sub>
                    </m:sSub>
                  </m:oMath>
                </a14:m>
                <a:r>
                  <a:rPr lang="en-US" altLang="ja-JP" sz="2400" dirty="0"/>
                  <a:t>	</a:t>
                </a:r>
                <a:r>
                  <a:rPr lang="ja-JP" altLang="en-US" sz="2400" dirty="0"/>
                  <a:t>・・・物体１の質量</a:t>
                </a:r>
                <a:endParaRPr lang="en-US" altLang="ja-JP" sz="2400" dirty="0"/>
              </a:p>
              <a:p>
                <a14:m>
                  <m:oMath xmlns:m="http://schemas.openxmlformats.org/officeDocument/2006/math">
                    <m:sSub>
                      <m:sSubPr>
                        <m:ctrlPr>
                          <a:rPr lang="en-US" altLang="ja-JP" sz="2400" i="1" smtClean="0">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𝑣</m:t>
                        </m:r>
                      </m:e>
                      <m:sub>
                        <m:r>
                          <a:rPr lang="en-US" altLang="ja-JP" sz="2400" b="0" i="1">
                            <a:solidFill>
                              <a:schemeClr val="tx1"/>
                            </a:solidFill>
                            <a:latin typeface="Cambria Math" panose="02040503050406030204" pitchFamily="18" charset="0"/>
                          </a:rPr>
                          <m:t>1</m:t>
                        </m:r>
                        <m:r>
                          <a:rPr lang="en-US" altLang="ja-JP" sz="2400" b="0" i="1">
                            <a:solidFill>
                              <a:schemeClr val="tx1"/>
                            </a:solidFill>
                            <a:latin typeface="Cambria Math" panose="02040503050406030204" pitchFamily="18" charset="0"/>
                          </a:rPr>
                          <m:t>𝑖</m:t>
                        </m:r>
                      </m:sub>
                    </m:sSub>
                  </m:oMath>
                </a14:m>
                <a:r>
                  <a:rPr lang="en-US" altLang="ja-JP" sz="2400" dirty="0"/>
                  <a:t>	</a:t>
                </a:r>
                <a:r>
                  <a:rPr lang="ja-JP" altLang="en-US" sz="2400" dirty="0"/>
                  <a:t>・・・物体１の初速度</a:t>
                </a:r>
                <a:endParaRPr lang="en-US" altLang="ja-JP" sz="2400" dirty="0"/>
              </a:p>
              <a:p>
                <a14:m>
                  <m:oMath xmlns:m="http://schemas.openxmlformats.org/officeDocument/2006/math">
                    <m:sSub>
                      <m:sSubPr>
                        <m:ctrlPr>
                          <a:rPr lang="en-US" altLang="ja-JP" sz="2400" i="1" smtClean="0">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𝑣</m:t>
                        </m:r>
                      </m:e>
                      <m:sub>
                        <m:r>
                          <a:rPr lang="en-US" altLang="ja-JP" sz="2400" b="0" i="1">
                            <a:solidFill>
                              <a:schemeClr val="tx1"/>
                            </a:solidFill>
                            <a:latin typeface="Cambria Math" panose="02040503050406030204" pitchFamily="18" charset="0"/>
                          </a:rPr>
                          <m:t>1</m:t>
                        </m:r>
                        <m:r>
                          <a:rPr lang="en-US" altLang="ja-JP" sz="2400" b="0" i="1" smtClean="0">
                            <a:solidFill>
                              <a:schemeClr val="tx1"/>
                            </a:solidFill>
                            <a:latin typeface="Cambria Math" panose="02040503050406030204" pitchFamily="18" charset="0"/>
                          </a:rPr>
                          <m:t>𝑓</m:t>
                        </m:r>
                      </m:sub>
                    </m:sSub>
                  </m:oMath>
                </a14:m>
                <a:r>
                  <a:rPr lang="en-US" altLang="ja-JP" sz="2400" dirty="0"/>
                  <a:t>	</a:t>
                </a:r>
                <a:r>
                  <a:rPr lang="ja-JP" altLang="en-US" sz="2400" dirty="0"/>
                  <a:t>・・・物体１の最終速度</a:t>
                </a:r>
                <a:endParaRPr lang="en-US" altLang="ja-JP" sz="2400" dirty="0"/>
              </a:p>
              <a:p>
                <a14:m>
                  <m:oMath xmlns:m="http://schemas.openxmlformats.org/officeDocument/2006/math">
                    <m:sSub>
                      <m:sSubPr>
                        <m:ctrlPr>
                          <a:rPr lang="en-US" altLang="ja-JP" sz="2400" i="1" smtClean="0">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𝑚</m:t>
                        </m:r>
                      </m:e>
                      <m:sub>
                        <m:r>
                          <a:rPr lang="en-US" altLang="ja-JP" sz="2400" b="0" i="1" smtClean="0">
                            <a:solidFill>
                              <a:schemeClr val="tx1"/>
                            </a:solidFill>
                            <a:latin typeface="Cambria Math" panose="02040503050406030204" pitchFamily="18" charset="0"/>
                          </a:rPr>
                          <m:t>2</m:t>
                        </m:r>
                      </m:sub>
                    </m:sSub>
                  </m:oMath>
                </a14:m>
                <a:r>
                  <a:rPr lang="en-US" altLang="ja-JP" sz="2400" dirty="0"/>
                  <a:t>	</a:t>
                </a:r>
                <a:r>
                  <a:rPr lang="ja-JP" altLang="en-US" sz="2400" dirty="0"/>
                  <a:t>・・・物体２の質量</a:t>
                </a:r>
                <a:endParaRPr lang="en-US" altLang="ja-JP" sz="2400" dirty="0"/>
              </a:p>
              <a:p>
                <a14:m>
                  <m:oMath xmlns:m="http://schemas.openxmlformats.org/officeDocument/2006/math">
                    <m:sSub>
                      <m:sSubPr>
                        <m:ctrlPr>
                          <a:rPr lang="en-US" altLang="ja-JP" sz="2400" i="1" smtClean="0">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𝑣</m:t>
                        </m:r>
                      </m:e>
                      <m:sub>
                        <m:r>
                          <a:rPr lang="en-US" altLang="ja-JP" sz="2400" b="0" i="1" smtClean="0">
                            <a:solidFill>
                              <a:schemeClr val="tx1"/>
                            </a:solidFill>
                            <a:latin typeface="Cambria Math" panose="02040503050406030204" pitchFamily="18" charset="0"/>
                          </a:rPr>
                          <m:t>2</m:t>
                        </m:r>
                        <m:r>
                          <a:rPr lang="en-US" altLang="ja-JP" sz="2400" b="0" i="1">
                            <a:solidFill>
                              <a:schemeClr val="tx1"/>
                            </a:solidFill>
                            <a:latin typeface="Cambria Math" panose="02040503050406030204" pitchFamily="18" charset="0"/>
                          </a:rPr>
                          <m:t>𝑖</m:t>
                        </m:r>
                      </m:sub>
                    </m:sSub>
                  </m:oMath>
                </a14:m>
                <a:r>
                  <a:rPr lang="en-US" altLang="ja-JP" sz="2400" dirty="0"/>
                  <a:t>	</a:t>
                </a:r>
                <a:r>
                  <a:rPr lang="ja-JP" altLang="en-US" sz="2400" dirty="0"/>
                  <a:t>・・・物体２の初速度</a:t>
                </a:r>
                <a:endParaRPr lang="en-US" altLang="ja-JP" sz="2400" dirty="0"/>
              </a:p>
              <a:p>
                <a14:m>
                  <m:oMath xmlns:m="http://schemas.openxmlformats.org/officeDocument/2006/math">
                    <m:sSub>
                      <m:sSubPr>
                        <m:ctrlPr>
                          <a:rPr lang="en-US" altLang="ja-JP" sz="2400" i="1" smtClean="0">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𝑣</m:t>
                        </m:r>
                      </m:e>
                      <m:sub>
                        <m:r>
                          <a:rPr lang="en-US" altLang="ja-JP" sz="2400" b="0" i="1" smtClean="0">
                            <a:solidFill>
                              <a:schemeClr val="tx1"/>
                            </a:solidFill>
                            <a:latin typeface="Cambria Math" panose="02040503050406030204" pitchFamily="18" charset="0"/>
                          </a:rPr>
                          <m:t>2</m:t>
                        </m:r>
                        <m:r>
                          <a:rPr lang="en-US" altLang="ja-JP" sz="2400" b="0" i="1" smtClean="0">
                            <a:solidFill>
                              <a:schemeClr val="tx1"/>
                            </a:solidFill>
                            <a:latin typeface="Cambria Math" panose="02040503050406030204" pitchFamily="18" charset="0"/>
                          </a:rPr>
                          <m:t>𝑓</m:t>
                        </m:r>
                      </m:sub>
                    </m:sSub>
                  </m:oMath>
                </a14:m>
                <a:r>
                  <a:rPr lang="en-US" altLang="ja-JP" sz="2400" dirty="0"/>
                  <a:t>	</a:t>
                </a:r>
                <a:r>
                  <a:rPr lang="ja-JP" altLang="en-US" sz="2400" dirty="0"/>
                  <a:t>・・・物体２の最終速度</a:t>
                </a:r>
                <a:endParaRPr lang="en-US" altLang="ja-JP" sz="2400" dirty="0"/>
              </a:p>
              <a:p>
                <a:endParaRPr lang="en-US" altLang="ja-JP" sz="2400" dirty="0"/>
              </a:p>
              <a:p>
                <a:r>
                  <a:rPr lang="en-US" altLang="ja-JP" sz="2400" dirty="0"/>
                  <a:t>※</a:t>
                </a:r>
                <a:r>
                  <a:rPr lang="ja-JP" altLang="en-US" sz="2400" dirty="0"/>
                  <a:t>ニュートンの揺りかごで有名なものです</a:t>
                </a:r>
                <a:endParaRPr lang="en-US" altLang="ja-JP" sz="2400" dirty="0"/>
              </a:p>
            </p:txBody>
          </p:sp>
        </mc:Choice>
        <mc:Fallback xmlns="">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6032421" cy="4982518"/>
              </a:xfrm>
              <a:prstGeom prst="rect">
                <a:avLst/>
              </a:prstGeom>
              <a:blipFill>
                <a:blip r:embed="rId2"/>
                <a:stretch>
                  <a:fillRect l="-1515" t="-979" r="-606" b="-1836"/>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242181545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943161" cy="584775"/>
          </a:xfrm>
          <a:prstGeom prst="rect">
            <a:avLst/>
          </a:prstGeom>
          <a:noFill/>
        </p:spPr>
        <p:txBody>
          <a:bodyPr wrap="none" rtlCol="0">
            <a:spAutoFit/>
          </a:bodyPr>
          <a:lstStyle/>
          <a:p>
            <a:r>
              <a:rPr lang="ja-JP" altLang="en-US" sz="3200" b="1" u="sng" dirty="0"/>
              <a:t>衝突 例題</a:t>
            </a:r>
            <a:endParaRPr kumimoji="1" lang="en-US" altLang="ja-JP" sz="3200" b="1" u="sng" dirty="0"/>
          </a:p>
        </p:txBody>
      </p:sp>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725739" cy="4288290"/>
              </a:xfrm>
              <a:prstGeom prst="rect">
                <a:avLst/>
              </a:prstGeom>
              <a:noFill/>
            </p:spPr>
            <p:txBody>
              <a:bodyPr wrap="none" rtlCol="0">
                <a:spAutoFit/>
              </a:bodyPr>
              <a:lstStyle/>
              <a:p>
                <a:r>
                  <a:rPr lang="ja-JP" altLang="en-US" sz="2400" dirty="0"/>
                  <a:t>ビリヤードゲームで手玉を突き、手玉を９番玉に衝突させました。</a:t>
                </a:r>
                <a:endParaRPr lang="en-US" altLang="ja-JP" sz="2400" dirty="0"/>
              </a:p>
              <a:p>
                <a:r>
                  <a:rPr lang="ja-JP" altLang="en-US" sz="2400" dirty="0"/>
                  <a:t>真正面から衝突したため、衝突後に手玉は停止しました。</a:t>
                </a:r>
                <a:endParaRPr lang="en-US" altLang="ja-JP" sz="2400" dirty="0"/>
              </a:p>
              <a:p>
                <a:r>
                  <a:rPr lang="ja-JP" altLang="en-US" sz="2400" dirty="0"/>
                  <a:t>以下の条件の時の９番玉の衝突後の速度を求めなさい。</a:t>
                </a:r>
                <a:endParaRPr lang="en-US" altLang="ja-JP" sz="2400" dirty="0"/>
              </a:p>
              <a:p>
                <a:r>
                  <a:rPr lang="ja-JP" altLang="en-US" sz="2400" dirty="0"/>
                  <a:t>手玉の質量：</a:t>
                </a:r>
                <a14:m>
                  <m:oMath xmlns:m="http://schemas.openxmlformats.org/officeDocument/2006/math">
                    <m:r>
                      <a:rPr lang="en-US" altLang="ja-JP" sz="2400" i="1" dirty="0" smtClean="0">
                        <a:latin typeface="Cambria Math" panose="02040503050406030204" pitchFamily="18" charset="0"/>
                      </a:rPr>
                      <m:t>0.45</m:t>
                    </m:r>
                    <m:r>
                      <a:rPr lang="en-US" altLang="ja-JP" sz="2400" i="1" dirty="0" smtClean="0">
                        <a:latin typeface="Cambria Math" panose="02040503050406030204" pitchFamily="18" charset="0"/>
                      </a:rPr>
                      <m:t>𝑘𝑔</m:t>
                    </m:r>
                  </m:oMath>
                </a14:m>
                <a:r>
                  <a:rPr lang="en-US" altLang="ja-JP" sz="2400" dirty="0"/>
                  <a:t>	</a:t>
                </a:r>
                <a:r>
                  <a:rPr lang="ja-JP" altLang="en-US" sz="2400" dirty="0"/>
                  <a:t>手玉の速度：</a:t>
                </a:r>
                <a14:m>
                  <m:oMath xmlns:m="http://schemas.openxmlformats.org/officeDocument/2006/math">
                    <m:r>
                      <a:rPr lang="en-US" altLang="ja-JP" sz="2400" i="1" dirty="0" smtClean="0">
                        <a:latin typeface="Cambria Math" panose="02040503050406030204" pitchFamily="18" charset="0"/>
                      </a:rPr>
                      <m:t>50</m:t>
                    </m:r>
                    <m:r>
                      <a:rPr lang="en-US" altLang="ja-JP" sz="2400" i="1" dirty="0" smtClean="0">
                        <a:latin typeface="Cambria Math" panose="02040503050406030204" pitchFamily="18" charset="0"/>
                      </a:rPr>
                      <m:t>𝑚</m:t>
                    </m:r>
                    <m:r>
                      <a:rPr lang="en-US" altLang="ja-JP" sz="2400" i="1" dirty="0" smtClean="0">
                        <a:latin typeface="Cambria Math" panose="02040503050406030204" pitchFamily="18" charset="0"/>
                      </a:rPr>
                      <m:t>/</m:t>
                    </m:r>
                    <m:r>
                      <a:rPr lang="ja-JP" altLang="en-US" sz="2400" i="1" dirty="0" smtClean="0">
                        <a:latin typeface="Cambria Math" panose="02040503050406030204" pitchFamily="18" charset="0"/>
                      </a:rPr>
                      <m:t>秒</m:t>
                    </m:r>
                  </m:oMath>
                </a14:m>
                <a:endParaRPr lang="en-US" altLang="ja-JP" sz="2400" dirty="0"/>
              </a:p>
              <a:p>
                <a:r>
                  <a:rPr lang="ja-JP" altLang="en-US" sz="2400" dirty="0"/>
                  <a:t>９番玉の質量：</a:t>
                </a:r>
                <a14:m>
                  <m:oMath xmlns:m="http://schemas.openxmlformats.org/officeDocument/2006/math">
                    <m:r>
                      <a:rPr lang="en-US" altLang="ja-JP" sz="2400" i="1" dirty="0" smtClean="0">
                        <a:latin typeface="Cambria Math" panose="02040503050406030204" pitchFamily="18" charset="0"/>
                      </a:rPr>
                      <m:t>0.5</m:t>
                    </m:r>
                    <m:r>
                      <a:rPr lang="en-US" altLang="ja-JP" sz="2400" i="1" dirty="0" smtClean="0">
                        <a:latin typeface="Cambria Math" panose="02040503050406030204" pitchFamily="18" charset="0"/>
                      </a:rPr>
                      <m:t>𝑘𝑔</m:t>
                    </m:r>
                  </m:oMath>
                </a14:m>
                <a:r>
                  <a:rPr lang="en-US" altLang="ja-JP" sz="2400" dirty="0"/>
                  <a:t>	</a:t>
                </a:r>
                <a:r>
                  <a:rPr lang="ja-JP" altLang="en-US" sz="2400" dirty="0"/>
                  <a:t>９番玉は手玉が衝突するまで停止している</a:t>
                </a:r>
                <a:endParaRPr lang="en-US" altLang="ja-JP" sz="2400" dirty="0"/>
              </a:p>
              <a:p>
                <a:endParaRPr lang="en-US" altLang="ja-JP" sz="2400" dirty="0"/>
              </a:p>
              <a:p>
                <a:r>
                  <a:rPr lang="ja-JP" altLang="en-US" sz="2400" b="1" dirty="0">
                    <a:solidFill>
                      <a:srgbClr val="FF0000"/>
                    </a:solidFill>
                  </a:rPr>
                  <a:t>■解答</a:t>
                </a:r>
                <a:endParaRPr lang="en-US" altLang="ja-JP" sz="2400" b="1" dirty="0">
                  <a:solidFill>
                    <a:srgbClr val="FF0000"/>
                  </a:solidFill>
                </a:endParaRPr>
              </a:p>
              <a:p>
                <a14:m>
                  <m:oMath xmlns:m="http://schemas.openxmlformats.org/officeDocument/2006/math">
                    <m:sSub>
                      <m:sSubPr>
                        <m:ctrlPr>
                          <a:rPr lang="en-US" altLang="ja-JP" sz="2400" i="1" smtClean="0">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𝑚</m:t>
                        </m:r>
                      </m:e>
                      <m:sub>
                        <m:r>
                          <a:rPr lang="en-US" altLang="ja-JP" sz="2400" b="0" i="1">
                            <a:solidFill>
                              <a:schemeClr val="tx1"/>
                            </a:solidFill>
                            <a:latin typeface="Cambria Math" panose="02040503050406030204" pitchFamily="18" charset="0"/>
                          </a:rPr>
                          <m:t>1</m:t>
                        </m:r>
                      </m:sub>
                    </m:sSub>
                    <m:sSub>
                      <m:sSubPr>
                        <m:ctrlPr>
                          <a:rPr lang="en-US" altLang="ja-JP" sz="2400" i="1">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𝑣</m:t>
                        </m:r>
                      </m:e>
                      <m:sub>
                        <m:r>
                          <a:rPr lang="en-US" altLang="ja-JP" sz="2400" b="0" i="1">
                            <a:solidFill>
                              <a:schemeClr val="tx1"/>
                            </a:solidFill>
                            <a:latin typeface="Cambria Math" panose="02040503050406030204" pitchFamily="18" charset="0"/>
                          </a:rPr>
                          <m:t>1</m:t>
                        </m:r>
                        <m:r>
                          <a:rPr lang="en-US" altLang="ja-JP" sz="2400" b="0" i="1">
                            <a:solidFill>
                              <a:schemeClr val="tx1"/>
                            </a:solidFill>
                            <a:latin typeface="Cambria Math" panose="02040503050406030204" pitchFamily="18" charset="0"/>
                          </a:rPr>
                          <m:t>𝑖</m:t>
                        </m:r>
                      </m:sub>
                    </m:sSub>
                    <m:r>
                      <a:rPr lang="en-US" altLang="ja-JP" sz="2400" b="0" i="1">
                        <a:solidFill>
                          <a:schemeClr val="tx1"/>
                        </a:solidFill>
                        <a:latin typeface="Cambria Math" panose="02040503050406030204" pitchFamily="18" charset="0"/>
                      </a:rPr>
                      <m:t>+</m:t>
                    </m:r>
                    <m:sSub>
                      <m:sSubPr>
                        <m:ctrlPr>
                          <a:rPr lang="en-US" altLang="ja-JP" sz="2400" i="1">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𝑚</m:t>
                        </m:r>
                      </m:e>
                      <m:sub>
                        <m:r>
                          <a:rPr lang="en-US" altLang="ja-JP" sz="2400" b="0" i="1">
                            <a:solidFill>
                              <a:schemeClr val="tx1"/>
                            </a:solidFill>
                            <a:latin typeface="Cambria Math" panose="02040503050406030204" pitchFamily="18" charset="0"/>
                          </a:rPr>
                          <m:t>2</m:t>
                        </m:r>
                      </m:sub>
                    </m:sSub>
                    <m:sSub>
                      <m:sSubPr>
                        <m:ctrlPr>
                          <a:rPr lang="en-US" altLang="ja-JP" sz="2400" i="1">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𝑣</m:t>
                        </m:r>
                      </m:e>
                      <m:sub>
                        <m:r>
                          <a:rPr lang="en-US" altLang="ja-JP" sz="2400" b="0" i="1">
                            <a:solidFill>
                              <a:schemeClr val="tx1"/>
                            </a:solidFill>
                            <a:latin typeface="Cambria Math" panose="02040503050406030204" pitchFamily="18" charset="0"/>
                          </a:rPr>
                          <m:t>2</m:t>
                        </m:r>
                        <m:r>
                          <a:rPr lang="en-US" altLang="ja-JP" sz="2400" b="0" i="1">
                            <a:solidFill>
                              <a:schemeClr val="tx1"/>
                            </a:solidFill>
                            <a:latin typeface="Cambria Math" panose="02040503050406030204" pitchFamily="18" charset="0"/>
                          </a:rPr>
                          <m:t>𝑖</m:t>
                        </m:r>
                      </m:sub>
                    </m:sSub>
                    <m:r>
                      <a:rPr lang="en-US" altLang="ja-JP" sz="2400" b="0" i="1" smtClean="0">
                        <a:solidFill>
                          <a:schemeClr val="tx1"/>
                        </a:solidFill>
                        <a:latin typeface="Cambria Math" panose="02040503050406030204" pitchFamily="18" charset="0"/>
                      </a:rPr>
                      <m:t>=</m:t>
                    </m:r>
                    <m:sSub>
                      <m:sSubPr>
                        <m:ctrlPr>
                          <a:rPr lang="en-US" altLang="ja-JP" sz="2400" i="1">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𝑚</m:t>
                        </m:r>
                      </m:e>
                      <m:sub>
                        <m:r>
                          <a:rPr lang="en-US" altLang="ja-JP" sz="2400" b="0" i="1">
                            <a:solidFill>
                              <a:schemeClr val="tx1"/>
                            </a:solidFill>
                            <a:latin typeface="Cambria Math" panose="02040503050406030204" pitchFamily="18" charset="0"/>
                          </a:rPr>
                          <m:t>1</m:t>
                        </m:r>
                      </m:sub>
                    </m:sSub>
                    <m:sSub>
                      <m:sSubPr>
                        <m:ctrlPr>
                          <a:rPr lang="en-US" altLang="ja-JP" sz="2400" i="1">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𝑣</m:t>
                        </m:r>
                      </m:e>
                      <m:sub>
                        <m:r>
                          <a:rPr lang="en-US" altLang="ja-JP" sz="2400" b="0" i="1">
                            <a:solidFill>
                              <a:schemeClr val="tx1"/>
                            </a:solidFill>
                            <a:latin typeface="Cambria Math" panose="02040503050406030204" pitchFamily="18" charset="0"/>
                          </a:rPr>
                          <m:t>1</m:t>
                        </m:r>
                        <m:r>
                          <a:rPr lang="en-US" altLang="ja-JP" sz="2400" b="0" i="1">
                            <a:solidFill>
                              <a:schemeClr val="tx1"/>
                            </a:solidFill>
                            <a:latin typeface="Cambria Math" panose="02040503050406030204" pitchFamily="18" charset="0"/>
                          </a:rPr>
                          <m:t>𝑓</m:t>
                        </m:r>
                      </m:sub>
                    </m:sSub>
                    <m:r>
                      <a:rPr lang="en-US" altLang="ja-JP" sz="2400" b="0" i="1">
                        <a:solidFill>
                          <a:schemeClr val="tx1"/>
                        </a:solidFill>
                        <a:latin typeface="Cambria Math" panose="02040503050406030204" pitchFamily="18" charset="0"/>
                      </a:rPr>
                      <m:t>+</m:t>
                    </m:r>
                    <m:sSub>
                      <m:sSubPr>
                        <m:ctrlPr>
                          <a:rPr lang="en-US" altLang="ja-JP" sz="2400" i="1">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𝑚</m:t>
                        </m:r>
                      </m:e>
                      <m:sub>
                        <m:r>
                          <a:rPr lang="en-US" altLang="ja-JP" sz="2400" b="0" i="1">
                            <a:solidFill>
                              <a:schemeClr val="tx1"/>
                            </a:solidFill>
                            <a:latin typeface="Cambria Math" panose="02040503050406030204" pitchFamily="18" charset="0"/>
                          </a:rPr>
                          <m:t>2</m:t>
                        </m:r>
                      </m:sub>
                    </m:sSub>
                    <m:sSub>
                      <m:sSubPr>
                        <m:ctrlPr>
                          <a:rPr lang="en-US" altLang="ja-JP" sz="2400" i="1">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𝑣</m:t>
                        </m:r>
                      </m:e>
                      <m:sub>
                        <m:r>
                          <a:rPr lang="en-US" altLang="ja-JP" sz="2400" b="0" i="1">
                            <a:solidFill>
                              <a:schemeClr val="tx1"/>
                            </a:solidFill>
                            <a:latin typeface="Cambria Math" panose="02040503050406030204" pitchFamily="18" charset="0"/>
                          </a:rPr>
                          <m:t>2</m:t>
                        </m:r>
                        <m:r>
                          <a:rPr lang="en-US" altLang="ja-JP" sz="2400" b="0" i="1">
                            <a:solidFill>
                              <a:schemeClr val="tx1"/>
                            </a:solidFill>
                            <a:latin typeface="Cambria Math" panose="02040503050406030204" pitchFamily="18" charset="0"/>
                          </a:rPr>
                          <m:t>𝑓</m:t>
                        </m:r>
                      </m:sub>
                    </m:sSub>
                  </m:oMath>
                </a14:m>
                <a:r>
                  <a:rPr lang="en-US" altLang="ja-JP" sz="2400" dirty="0"/>
                  <a:t> </a:t>
                </a:r>
                <a:r>
                  <a:rPr lang="ja-JP" altLang="en-US" sz="2400" dirty="0"/>
                  <a:t>より</a:t>
                </a:r>
                <a:endParaRPr lang="en-US" altLang="ja-JP" sz="2400" dirty="0"/>
              </a:p>
              <a:p>
                <a14:m>
                  <m:oMath xmlns:m="http://schemas.openxmlformats.org/officeDocument/2006/math">
                    <m:r>
                      <a:rPr lang="en-US" altLang="ja-JP" sz="2400" b="0" i="0" smtClean="0">
                        <a:solidFill>
                          <a:schemeClr val="tx1"/>
                        </a:solidFill>
                        <a:latin typeface="Cambria Math" panose="02040503050406030204" pitchFamily="18" charset="0"/>
                      </a:rPr>
                      <m:t>(</m:t>
                    </m:r>
                    <m:r>
                      <a:rPr lang="en-US" altLang="ja-JP" sz="2400" i="1" smtClean="0">
                        <a:solidFill>
                          <a:schemeClr val="tx1"/>
                        </a:solidFill>
                        <a:latin typeface="Cambria Math" panose="02040503050406030204" pitchFamily="18" charset="0"/>
                      </a:rPr>
                      <m:t>0</m:t>
                    </m:r>
                    <m:r>
                      <a:rPr lang="en-US" altLang="ja-JP" sz="2400" b="0" i="1" smtClean="0">
                        <a:solidFill>
                          <a:schemeClr val="tx1"/>
                        </a:solidFill>
                        <a:latin typeface="Cambria Math" panose="02040503050406030204" pitchFamily="18" charset="0"/>
                      </a:rPr>
                      <m:t>.45</m:t>
                    </m:r>
                    <m:r>
                      <a:rPr lang="en-US" altLang="ja-JP" sz="2400" b="0" i="1" smtClean="0">
                        <a:solidFill>
                          <a:schemeClr val="tx1"/>
                        </a:solidFill>
                        <a:latin typeface="Cambria Math" panose="02040503050406030204" pitchFamily="18" charset="0"/>
                      </a:rPr>
                      <m:t>𝑘𝑔</m:t>
                    </m:r>
                    <m:r>
                      <a:rPr lang="en-US" altLang="ja-JP" sz="2400" b="0" i="1" smtClean="0">
                        <a:solidFill>
                          <a:schemeClr val="tx1"/>
                        </a:solidFill>
                        <a:latin typeface="Cambria Math" panose="02040503050406030204" pitchFamily="18" charset="0"/>
                      </a:rPr>
                      <m:t>)(50</m:t>
                    </m:r>
                    <m:r>
                      <a:rPr lang="en-US" altLang="ja-JP" sz="2400" b="0" i="1" smtClean="0">
                        <a:solidFill>
                          <a:schemeClr val="tx1"/>
                        </a:solidFill>
                        <a:latin typeface="Cambria Math" panose="02040503050406030204" pitchFamily="18" charset="0"/>
                      </a:rPr>
                      <m:t>𝑚</m:t>
                    </m:r>
                    <m:r>
                      <a:rPr lang="en-US" altLang="ja-JP" sz="2400" b="0" i="1" smtClean="0">
                        <a:solidFill>
                          <a:schemeClr val="tx1"/>
                        </a:solidFill>
                        <a:latin typeface="Cambria Math" panose="02040503050406030204" pitchFamily="18" charset="0"/>
                      </a:rPr>
                      <m:t>/</m:t>
                    </m:r>
                    <m:r>
                      <a:rPr lang="ja-JP" altLang="en-US" sz="2400" i="1">
                        <a:latin typeface="Cambria Math" panose="02040503050406030204" pitchFamily="18" charset="0"/>
                      </a:rPr>
                      <m:t>秒</m:t>
                    </m:r>
                    <m:r>
                      <a:rPr lang="en-US" altLang="ja-JP" sz="2400" b="0" i="1" smtClean="0">
                        <a:solidFill>
                          <a:schemeClr val="tx1"/>
                        </a:solidFill>
                        <a:latin typeface="Cambria Math" panose="02040503050406030204" pitchFamily="18" charset="0"/>
                      </a:rPr>
                      <m:t>)</m:t>
                    </m:r>
                    <m:r>
                      <a:rPr lang="en-US" altLang="ja-JP" sz="2400" b="0" i="1">
                        <a:solidFill>
                          <a:schemeClr val="tx1"/>
                        </a:solidFill>
                        <a:latin typeface="Cambria Math" panose="02040503050406030204" pitchFamily="18" charset="0"/>
                      </a:rPr>
                      <m:t>+</m:t>
                    </m:r>
                    <m:r>
                      <a:rPr lang="en-US" altLang="ja-JP" sz="2400" i="1" smtClean="0">
                        <a:solidFill>
                          <a:schemeClr val="tx1"/>
                        </a:solidFill>
                        <a:latin typeface="Cambria Math" panose="02040503050406030204" pitchFamily="18" charset="0"/>
                      </a:rPr>
                      <m:t>(</m:t>
                    </m:r>
                    <m:r>
                      <a:rPr lang="en-US" altLang="ja-JP" sz="2400" b="0" i="1" smtClean="0">
                        <a:solidFill>
                          <a:schemeClr val="tx1"/>
                        </a:solidFill>
                        <a:latin typeface="Cambria Math" panose="02040503050406030204" pitchFamily="18" charset="0"/>
                      </a:rPr>
                      <m:t>0.5</m:t>
                    </m:r>
                    <m:r>
                      <a:rPr lang="en-US" altLang="ja-JP" sz="2400" b="0" i="1" smtClean="0">
                        <a:solidFill>
                          <a:schemeClr val="tx1"/>
                        </a:solidFill>
                        <a:latin typeface="Cambria Math" panose="02040503050406030204" pitchFamily="18" charset="0"/>
                      </a:rPr>
                      <m:t>𝑘𝑔</m:t>
                    </m:r>
                    <m:r>
                      <a:rPr lang="en-US" altLang="ja-JP" sz="2400" b="0" i="1" smtClean="0">
                        <a:solidFill>
                          <a:schemeClr val="tx1"/>
                        </a:solidFill>
                        <a:latin typeface="Cambria Math" panose="02040503050406030204" pitchFamily="18" charset="0"/>
                      </a:rPr>
                      <m:t>)(0)=(0.45</m:t>
                    </m:r>
                    <m:r>
                      <a:rPr lang="en-US" altLang="ja-JP" sz="2400" b="0" i="1" smtClean="0">
                        <a:solidFill>
                          <a:schemeClr val="tx1"/>
                        </a:solidFill>
                        <a:latin typeface="Cambria Math" panose="02040503050406030204" pitchFamily="18" charset="0"/>
                      </a:rPr>
                      <m:t>𝑘𝑔</m:t>
                    </m:r>
                    <m:r>
                      <a:rPr lang="en-US" altLang="ja-JP" sz="2400" b="0" i="1" smtClean="0">
                        <a:solidFill>
                          <a:schemeClr val="tx1"/>
                        </a:solidFill>
                        <a:latin typeface="Cambria Math" panose="02040503050406030204" pitchFamily="18" charset="0"/>
                      </a:rPr>
                      <m:t>)(0)+(0.5</m:t>
                    </m:r>
                    <m:r>
                      <a:rPr lang="en-US" altLang="ja-JP" sz="2400" b="0" i="1" smtClean="0">
                        <a:solidFill>
                          <a:schemeClr val="tx1"/>
                        </a:solidFill>
                        <a:latin typeface="Cambria Math" panose="02040503050406030204" pitchFamily="18" charset="0"/>
                      </a:rPr>
                      <m:t>𝑘𝑔</m:t>
                    </m:r>
                    <m:r>
                      <a:rPr lang="en-US" altLang="ja-JP" sz="2400" b="0" i="1" smtClean="0">
                        <a:solidFill>
                          <a:schemeClr val="tx1"/>
                        </a:solidFill>
                        <a:latin typeface="Cambria Math" panose="02040503050406030204" pitchFamily="18" charset="0"/>
                      </a:rPr>
                      <m:t>)</m:t>
                    </m:r>
                    <m:sSub>
                      <m:sSubPr>
                        <m:ctrlPr>
                          <a:rPr lang="en-US" altLang="ja-JP" sz="2400" i="1">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𝑣</m:t>
                        </m:r>
                      </m:e>
                      <m:sub>
                        <m:r>
                          <a:rPr lang="en-US" altLang="ja-JP" sz="2400" b="0" i="1">
                            <a:solidFill>
                              <a:schemeClr val="tx1"/>
                            </a:solidFill>
                            <a:latin typeface="Cambria Math" panose="02040503050406030204" pitchFamily="18" charset="0"/>
                          </a:rPr>
                          <m:t>2</m:t>
                        </m:r>
                        <m:r>
                          <a:rPr lang="en-US" altLang="ja-JP" sz="2400" b="0" i="1">
                            <a:solidFill>
                              <a:schemeClr val="tx1"/>
                            </a:solidFill>
                            <a:latin typeface="Cambria Math" panose="02040503050406030204" pitchFamily="18" charset="0"/>
                          </a:rPr>
                          <m:t>𝑓</m:t>
                        </m:r>
                      </m:sub>
                    </m:sSub>
                  </m:oMath>
                </a14:m>
                <a:r>
                  <a:rPr lang="en-US" altLang="ja-JP" sz="2400" dirty="0"/>
                  <a:t> </a:t>
                </a:r>
              </a:p>
              <a:p>
                <a14:m>
                  <m:oMath xmlns:m="http://schemas.openxmlformats.org/officeDocument/2006/math">
                    <m:r>
                      <a:rPr lang="en-US" altLang="ja-JP" sz="2400" i="1" smtClean="0">
                        <a:solidFill>
                          <a:schemeClr val="tx1"/>
                        </a:solidFill>
                        <a:latin typeface="Cambria Math" panose="02040503050406030204" pitchFamily="18" charset="0"/>
                      </a:rPr>
                      <m:t>2</m:t>
                    </m:r>
                    <m:r>
                      <a:rPr lang="en-US" altLang="ja-JP" sz="2400" b="0" i="1" smtClean="0">
                        <a:solidFill>
                          <a:schemeClr val="tx1"/>
                        </a:solidFill>
                        <a:latin typeface="Cambria Math" panose="02040503050406030204" pitchFamily="18" charset="0"/>
                      </a:rPr>
                      <m:t>2.5</m:t>
                    </m:r>
                    <m:r>
                      <a:rPr lang="en-US" altLang="ja-JP" sz="2400" b="0" i="1" smtClean="0">
                        <a:solidFill>
                          <a:schemeClr val="tx1"/>
                        </a:solidFill>
                        <a:latin typeface="Cambria Math" panose="02040503050406030204" pitchFamily="18" charset="0"/>
                      </a:rPr>
                      <m:t>𝑘𝑔𝑚</m:t>
                    </m:r>
                    <m:r>
                      <a:rPr lang="en-US" altLang="ja-JP" sz="2400" b="0" i="1" smtClean="0">
                        <a:solidFill>
                          <a:schemeClr val="tx1"/>
                        </a:solidFill>
                        <a:latin typeface="Cambria Math" panose="02040503050406030204" pitchFamily="18" charset="0"/>
                      </a:rPr>
                      <m:t>/</m:t>
                    </m:r>
                    <m:r>
                      <a:rPr lang="ja-JP" altLang="en-US" sz="2400" i="1" smtClean="0">
                        <a:latin typeface="Cambria Math" panose="02040503050406030204" pitchFamily="18" charset="0"/>
                      </a:rPr>
                      <m:t>秒</m:t>
                    </m:r>
                    <m:r>
                      <a:rPr lang="en-US" altLang="ja-JP" sz="2400" b="0" i="1" smtClean="0">
                        <a:solidFill>
                          <a:schemeClr val="tx1"/>
                        </a:solidFill>
                        <a:latin typeface="Cambria Math" panose="02040503050406030204" pitchFamily="18" charset="0"/>
                      </a:rPr>
                      <m:t> =(0.5</m:t>
                    </m:r>
                    <m:r>
                      <a:rPr lang="en-US" altLang="ja-JP" sz="2400" b="0" i="1" smtClean="0">
                        <a:solidFill>
                          <a:schemeClr val="tx1"/>
                        </a:solidFill>
                        <a:latin typeface="Cambria Math" panose="02040503050406030204" pitchFamily="18" charset="0"/>
                      </a:rPr>
                      <m:t>𝑘𝑔</m:t>
                    </m:r>
                    <m:r>
                      <a:rPr lang="en-US" altLang="ja-JP" sz="2400" b="0" i="1" smtClean="0">
                        <a:solidFill>
                          <a:schemeClr val="tx1"/>
                        </a:solidFill>
                        <a:latin typeface="Cambria Math" panose="02040503050406030204" pitchFamily="18" charset="0"/>
                      </a:rPr>
                      <m:t>)</m:t>
                    </m:r>
                    <m:sSub>
                      <m:sSubPr>
                        <m:ctrlPr>
                          <a:rPr lang="en-US" altLang="ja-JP" sz="2400" i="1">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𝑣</m:t>
                        </m:r>
                      </m:e>
                      <m:sub>
                        <m:r>
                          <a:rPr lang="en-US" altLang="ja-JP" sz="2400" b="0" i="1">
                            <a:solidFill>
                              <a:schemeClr val="tx1"/>
                            </a:solidFill>
                            <a:latin typeface="Cambria Math" panose="02040503050406030204" pitchFamily="18" charset="0"/>
                          </a:rPr>
                          <m:t>2</m:t>
                        </m:r>
                        <m:r>
                          <a:rPr lang="en-US" altLang="ja-JP" sz="2400" b="0" i="1">
                            <a:solidFill>
                              <a:schemeClr val="tx1"/>
                            </a:solidFill>
                            <a:latin typeface="Cambria Math" panose="02040503050406030204" pitchFamily="18" charset="0"/>
                          </a:rPr>
                          <m:t>𝑓</m:t>
                        </m:r>
                      </m:sub>
                    </m:sSub>
                  </m:oMath>
                </a14:m>
                <a:r>
                  <a:rPr lang="en-US" altLang="ja-JP" sz="2400" dirty="0"/>
                  <a:t> </a:t>
                </a:r>
              </a:p>
              <a:p>
                <a14:m>
                  <m:oMath xmlns:m="http://schemas.openxmlformats.org/officeDocument/2006/math">
                    <m:sSub>
                      <m:sSubPr>
                        <m:ctrlPr>
                          <a:rPr lang="en-US" altLang="ja-JP" sz="2400" i="1" smtClean="0">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𝑣</m:t>
                        </m:r>
                      </m:e>
                      <m:sub>
                        <m:r>
                          <a:rPr lang="en-US" altLang="ja-JP" sz="2400" b="0" i="1">
                            <a:solidFill>
                              <a:schemeClr val="tx1"/>
                            </a:solidFill>
                            <a:latin typeface="Cambria Math" panose="02040503050406030204" pitchFamily="18" charset="0"/>
                          </a:rPr>
                          <m:t>2</m:t>
                        </m:r>
                        <m:r>
                          <a:rPr lang="en-US" altLang="ja-JP" sz="2400" b="0" i="1">
                            <a:solidFill>
                              <a:schemeClr val="tx1"/>
                            </a:solidFill>
                            <a:latin typeface="Cambria Math" panose="02040503050406030204" pitchFamily="18" charset="0"/>
                          </a:rPr>
                          <m:t>𝑓</m:t>
                        </m:r>
                      </m:sub>
                    </m:sSub>
                    <m:r>
                      <a:rPr lang="en-US" altLang="ja-JP" sz="2400" b="0" i="1" smtClean="0">
                        <a:solidFill>
                          <a:schemeClr val="tx1"/>
                        </a:solidFill>
                        <a:latin typeface="Cambria Math" panose="02040503050406030204" pitchFamily="18" charset="0"/>
                      </a:rPr>
                      <m:t>=</m:t>
                    </m:r>
                    <m:r>
                      <a:rPr lang="en-US" altLang="ja-JP" sz="2400" b="1" i="1" smtClean="0">
                        <a:solidFill>
                          <a:srgbClr val="FF0000"/>
                        </a:solidFill>
                        <a:latin typeface="Cambria Math" panose="02040503050406030204" pitchFamily="18" charset="0"/>
                      </a:rPr>
                      <m:t>𝟒𝟓</m:t>
                    </m:r>
                    <m:r>
                      <a:rPr lang="en-US" altLang="ja-JP" sz="2400" b="1" i="1" smtClean="0">
                        <a:solidFill>
                          <a:srgbClr val="FF0000"/>
                        </a:solidFill>
                        <a:latin typeface="Cambria Math" panose="02040503050406030204" pitchFamily="18" charset="0"/>
                      </a:rPr>
                      <m:t>𝒎</m:t>
                    </m:r>
                    <m:r>
                      <a:rPr lang="en-US" altLang="ja-JP" sz="2400" b="1" i="1" smtClean="0">
                        <a:solidFill>
                          <a:srgbClr val="FF0000"/>
                        </a:solidFill>
                        <a:latin typeface="Cambria Math" panose="02040503050406030204" pitchFamily="18" charset="0"/>
                      </a:rPr>
                      <m:t>/</m:t>
                    </m:r>
                    <m:r>
                      <a:rPr lang="ja-JP" altLang="en-US" sz="2400" b="1" i="1">
                        <a:solidFill>
                          <a:srgbClr val="FF0000"/>
                        </a:solidFill>
                        <a:latin typeface="Cambria Math" panose="02040503050406030204" pitchFamily="18" charset="0"/>
                      </a:rPr>
                      <m:t>秒</m:t>
                    </m:r>
                  </m:oMath>
                </a14:m>
                <a:r>
                  <a:rPr lang="en-US" altLang="ja-JP" sz="2400" dirty="0"/>
                  <a:t> </a:t>
                </a:r>
              </a:p>
            </p:txBody>
          </p:sp>
        </mc:Choice>
        <mc:Fallback xmlns="">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9725739" cy="4288290"/>
              </a:xfrm>
              <a:prstGeom prst="rect">
                <a:avLst/>
              </a:prstGeom>
              <a:blipFill>
                <a:blip r:embed="rId2"/>
                <a:stretch>
                  <a:fillRect l="-940" t="-1138" b="-427"/>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3551535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943161" cy="584775"/>
          </a:xfrm>
          <a:prstGeom prst="rect">
            <a:avLst/>
          </a:prstGeom>
          <a:noFill/>
        </p:spPr>
        <p:txBody>
          <a:bodyPr wrap="none" rtlCol="0">
            <a:spAutoFit/>
          </a:bodyPr>
          <a:lstStyle/>
          <a:p>
            <a:r>
              <a:rPr lang="ja-JP" altLang="en-US" sz="3200" b="1" u="sng" dirty="0"/>
              <a:t>衝突 例題</a:t>
            </a:r>
            <a:endParaRPr kumimoji="1" lang="en-US" altLang="ja-JP" sz="3200" b="1" u="sng" dirty="0"/>
          </a:p>
        </p:txBody>
      </p:sp>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863534" cy="5026954"/>
              </a:xfrm>
              <a:prstGeom prst="rect">
                <a:avLst/>
              </a:prstGeom>
              <a:noFill/>
            </p:spPr>
            <p:txBody>
              <a:bodyPr wrap="none" rtlCol="0">
                <a:spAutoFit/>
              </a:bodyPr>
              <a:lstStyle/>
              <a:p>
                <a:r>
                  <a:rPr lang="ja-JP" altLang="en-US" sz="2400" dirty="0"/>
                  <a:t>ビリヤードゲームで手玉を突き、手玉を９番玉に衝突させました。</a:t>
                </a:r>
                <a:endParaRPr lang="en-US" altLang="ja-JP" sz="2400" dirty="0"/>
              </a:p>
              <a:p>
                <a:r>
                  <a:rPr lang="ja-JP" altLang="en-US" sz="2400" dirty="0"/>
                  <a:t>真正面から衝突したため、衝突後に手玉は停止しました。</a:t>
                </a:r>
                <a:endParaRPr lang="en-US" altLang="ja-JP" sz="2400" dirty="0"/>
              </a:p>
              <a:p>
                <a:r>
                  <a:rPr lang="ja-JP" altLang="en-US" sz="2400" dirty="0"/>
                  <a:t>以下の条件の時の９番玉の衝突後の速度を求めなさい。（３</a:t>
                </a:r>
                <a:r>
                  <a:rPr lang="en-US" altLang="ja-JP" sz="2400" dirty="0"/>
                  <a:t>D</a:t>
                </a:r>
                <a:r>
                  <a:rPr lang="ja-JP" altLang="en-US" sz="2400" dirty="0"/>
                  <a:t>）</a:t>
                </a:r>
                <a:endParaRPr lang="en-US" altLang="ja-JP" sz="2400" dirty="0"/>
              </a:p>
              <a:p>
                <a:r>
                  <a:rPr lang="ja-JP" altLang="en-US" sz="2400" dirty="0"/>
                  <a:t>手玉の質量：</a:t>
                </a:r>
                <a14:m>
                  <m:oMath xmlns:m="http://schemas.openxmlformats.org/officeDocument/2006/math">
                    <m:r>
                      <a:rPr lang="en-US" altLang="ja-JP" sz="2400" i="1" dirty="0" smtClean="0">
                        <a:latin typeface="Cambria Math" panose="02040503050406030204" pitchFamily="18" charset="0"/>
                      </a:rPr>
                      <m:t>0.45</m:t>
                    </m:r>
                    <m:r>
                      <a:rPr lang="en-US" altLang="ja-JP" sz="2400" i="1" dirty="0" smtClean="0">
                        <a:latin typeface="Cambria Math" panose="02040503050406030204" pitchFamily="18" charset="0"/>
                      </a:rPr>
                      <m:t>𝑘𝑔</m:t>
                    </m:r>
                  </m:oMath>
                </a14:m>
                <a:r>
                  <a:rPr lang="en-US" altLang="ja-JP" sz="2400" dirty="0"/>
                  <a:t>	</a:t>
                </a:r>
                <a:r>
                  <a:rPr lang="ja-JP" altLang="en-US" sz="2400" dirty="0"/>
                  <a:t>手玉の速度：</a:t>
                </a:r>
                <a14:m>
                  <m:oMath xmlns:m="http://schemas.openxmlformats.org/officeDocument/2006/math">
                    <m:r>
                      <a:rPr lang="en-US" altLang="ja-JP" sz="2400" b="0" i="0" dirty="0" smtClean="0">
                        <a:latin typeface="Cambria Math" panose="02040503050406030204" pitchFamily="18" charset="0"/>
                      </a:rPr>
                      <m:t>[</m:t>
                    </m:r>
                    <m:r>
                      <a:rPr lang="en-US" altLang="ja-JP" sz="2400" i="1" dirty="0">
                        <a:latin typeface="Cambria Math" panose="02040503050406030204" pitchFamily="18" charset="0"/>
                      </a:rPr>
                      <m:t>50</m:t>
                    </m:r>
                    <m:r>
                      <a:rPr lang="en-US" altLang="ja-JP" sz="2400" b="0" i="0" dirty="0" smtClean="0">
                        <a:latin typeface="Cambria Math" panose="02040503050406030204" pitchFamily="18" charset="0"/>
                      </a:rPr>
                      <m:t>, 10, −30]</m:t>
                    </m:r>
                    <m:r>
                      <a:rPr lang="en-US" altLang="ja-JP" sz="2400" i="1" dirty="0" smtClean="0">
                        <a:latin typeface="Cambria Math" panose="02040503050406030204" pitchFamily="18" charset="0"/>
                      </a:rPr>
                      <m:t> </m:t>
                    </m:r>
                    <m:r>
                      <a:rPr lang="en-US" altLang="ja-JP" sz="2400" i="1" dirty="0" smtClean="0">
                        <a:latin typeface="Cambria Math" panose="02040503050406030204" pitchFamily="18" charset="0"/>
                      </a:rPr>
                      <m:t>𝑚</m:t>
                    </m:r>
                    <m:r>
                      <a:rPr lang="en-US" altLang="ja-JP" sz="2400" i="1" dirty="0" smtClean="0">
                        <a:latin typeface="Cambria Math" panose="02040503050406030204" pitchFamily="18" charset="0"/>
                      </a:rPr>
                      <m:t>/</m:t>
                    </m:r>
                    <m:r>
                      <a:rPr lang="ja-JP" altLang="en-US" sz="2400" i="1" dirty="0" smtClean="0">
                        <a:latin typeface="Cambria Math" panose="02040503050406030204" pitchFamily="18" charset="0"/>
                      </a:rPr>
                      <m:t>秒</m:t>
                    </m:r>
                  </m:oMath>
                </a14:m>
                <a:endParaRPr lang="en-US" altLang="ja-JP" sz="2400" dirty="0"/>
              </a:p>
              <a:p>
                <a:r>
                  <a:rPr lang="ja-JP" altLang="en-US" sz="2400" dirty="0"/>
                  <a:t>９番玉の質量：</a:t>
                </a:r>
                <a14:m>
                  <m:oMath xmlns:m="http://schemas.openxmlformats.org/officeDocument/2006/math">
                    <m:r>
                      <a:rPr lang="en-US" altLang="ja-JP" sz="2400" i="1" dirty="0" smtClean="0">
                        <a:latin typeface="Cambria Math" panose="02040503050406030204" pitchFamily="18" charset="0"/>
                      </a:rPr>
                      <m:t>0.5</m:t>
                    </m:r>
                    <m:r>
                      <a:rPr lang="en-US" altLang="ja-JP" sz="2400" i="1" dirty="0" smtClean="0">
                        <a:latin typeface="Cambria Math" panose="02040503050406030204" pitchFamily="18" charset="0"/>
                      </a:rPr>
                      <m:t>𝑘𝑔</m:t>
                    </m:r>
                  </m:oMath>
                </a14:m>
                <a:r>
                  <a:rPr lang="en-US" altLang="ja-JP" sz="2400" dirty="0"/>
                  <a:t>	</a:t>
                </a:r>
                <a:r>
                  <a:rPr lang="ja-JP" altLang="en-US" sz="2400" dirty="0"/>
                  <a:t>９番玉は手玉が衝突するまで停止している</a:t>
                </a:r>
                <a:endParaRPr lang="en-US" altLang="ja-JP" sz="2400" dirty="0"/>
              </a:p>
              <a:p>
                <a:endParaRPr lang="en-US" altLang="ja-JP" sz="2400" dirty="0"/>
              </a:p>
              <a:p>
                <a:r>
                  <a:rPr lang="ja-JP" altLang="en-US" sz="2400" b="1" dirty="0">
                    <a:solidFill>
                      <a:srgbClr val="FF0000"/>
                    </a:solidFill>
                  </a:rPr>
                  <a:t>■解答</a:t>
                </a:r>
                <a:endParaRPr lang="en-US" altLang="ja-JP" sz="2400" b="1" dirty="0">
                  <a:solidFill>
                    <a:srgbClr val="FF0000"/>
                  </a:solidFill>
                </a:endParaRPr>
              </a:p>
              <a:p>
                <a14:m>
                  <m:oMath xmlns:m="http://schemas.openxmlformats.org/officeDocument/2006/math">
                    <m:sSub>
                      <m:sSubPr>
                        <m:ctrlPr>
                          <a:rPr lang="en-US" altLang="ja-JP" sz="2400" i="1" smtClean="0">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𝑚</m:t>
                        </m:r>
                      </m:e>
                      <m:sub>
                        <m:r>
                          <a:rPr lang="en-US" altLang="ja-JP" sz="2400" b="0" i="1">
                            <a:solidFill>
                              <a:schemeClr val="tx1"/>
                            </a:solidFill>
                            <a:latin typeface="Cambria Math" panose="02040503050406030204" pitchFamily="18" charset="0"/>
                          </a:rPr>
                          <m:t>1</m:t>
                        </m:r>
                      </m:sub>
                    </m:sSub>
                    <m:sSub>
                      <m:sSubPr>
                        <m:ctrlPr>
                          <a:rPr lang="en-US" altLang="ja-JP" sz="2400" i="1">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𝑣</m:t>
                        </m:r>
                      </m:e>
                      <m:sub>
                        <m:r>
                          <a:rPr lang="en-US" altLang="ja-JP" sz="2400" b="0" i="1">
                            <a:solidFill>
                              <a:schemeClr val="tx1"/>
                            </a:solidFill>
                            <a:latin typeface="Cambria Math" panose="02040503050406030204" pitchFamily="18" charset="0"/>
                          </a:rPr>
                          <m:t>1</m:t>
                        </m:r>
                        <m:r>
                          <a:rPr lang="en-US" altLang="ja-JP" sz="2400" b="0" i="1">
                            <a:solidFill>
                              <a:schemeClr val="tx1"/>
                            </a:solidFill>
                            <a:latin typeface="Cambria Math" panose="02040503050406030204" pitchFamily="18" charset="0"/>
                          </a:rPr>
                          <m:t>𝑖</m:t>
                        </m:r>
                      </m:sub>
                    </m:sSub>
                    <m:r>
                      <a:rPr lang="en-US" altLang="ja-JP" sz="2400" b="0" i="1">
                        <a:solidFill>
                          <a:schemeClr val="tx1"/>
                        </a:solidFill>
                        <a:latin typeface="Cambria Math" panose="02040503050406030204" pitchFamily="18" charset="0"/>
                      </a:rPr>
                      <m:t>+</m:t>
                    </m:r>
                    <m:sSub>
                      <m:sSubPr>
                        <m:ctrlPr>
                          <a:rPr lang="en-US" altLang="ja-JP" sz="2400" i="1">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𝑚</m:t>
                        </m:r>
                      </m:e>
                      <m:sub>
                        <m:r>
                          <a:rPr lang="en-US" altLang="ja-JP" sz="2400" b="0" i="1">
                            <a:solidFill>
                              <a:schemeClr val="tx1"/>
                            </a:solidFill>
                            <a:latin typeface="Cambria Math" panose="02040503050406030204" pitchFamily="18" charset="0"/>
                          </a:rPr>
                          <m:t>2</m:t>
                        </m:r>
                      </m:sub>
                    </m:sSub>
                    <m:sSub>
                      <m:sSubPr>
                        <m:ctrlPr>
                          <a:rPr lang="en-US" altLang="ja-JP" sz="2400" i="1">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𝑣</m:t>
                        </m:r>
                      </m:e>
                      <m:sub>
                        <m:r>
                          <a:rPr lang="en-US" altLang="ja-JP" sz="2400" b="0" i="1">
                            <a:solidFill>
                              <a:schemeClr val="tx1"/>
                            </a:solidFill>
                            <a:latin typeface="Cambria Math" panose="02040503050406030204" pitchFamily="18" charset="0"/>
                          </a:rPr>
                          <m:t>2</m:t>
                        </m:r>
                        <m:r>
                          <a:rPr lang="en-US" altLang="ja-JP" sz="2400" b="0" i="1">
                            <a:solidFill>
                              <a:schemeClr val="tx1"/>
                            </a:solidFill>
                            <a:latin typeface="Cambria Math" panose="02040503050406030204" pitchFamily="18" charset="0"/>
                          </a:rPr>
                          <m:t>𝑖</m:t>
                        </m:r>
                      </m:sub>
                    </m:sSub>
                    <m:r>
                      <a:rPr lang="en-US" altLang="ja-JP" sz="2400" b="0" i="1" smtClean="0">
                        <a:solidFill>
                          <a:schemeClr val="tx1"/>
                        </a:solidFill>
                        <a:latin typeface="Cambria Math" panose="02040503050406030204" pitchFamily="18" charset="0"/>
                      </a:rPr>
                      <m:t>=</m:t>
                    </m:r>
                    <m:sSub>
                      <m:sSubPr>
                        <m:ctrlPr>
                          <a:rPr lang="en-US" altLang="ja-JP" sz="2400" i="1">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𝑚</m:t>
                        </m:r>
                      </m:e>
                      <m:sub>
                        <m:r>
                          <a:rPr lang="en-US" altLang="ja-JP" sz="2400" b="0" i="1">
                            <a:solidFill>
                              <a:schemeClr val="tx1"/>
                            </a:solidFill>
                            <a:latin typeface="Cambria Math" panose="02040503050406030204" pitchFamily="18" charset="0"/>
                          </a:rPr>
                          <m:t>1</m:t>
                        </m:r>
                      </m:sub>
                    </m:sSub>
                    <m:sSub>
                      <m:sSubPr>
                        <m:ctrlPr>
                          <a:rPr lang="en-US" altLang="ja-JP" sz="2400" i="1">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𝑣</m:t>
                        </m:r>
                      </m:e>
                      <m:sub>
                        <m:r>
                          <a:rPr lang="en-US" altLang="ja-JP" sz="2400" b="0" i="1">
                            <a:solidFill>
                              <a:schemeClr val="tx1"/>
                            </a:solidFill>
                            <a:latin typeface="Cambria Math" panose="02040503050406030204" pitchFamily="18" charset="0"/>
                          </a:rPr>
                          <m:t>1</m:t>
                        </m:r>
                        <m:r>
                          <a:rPr lang="en-US" altLang="ja-JP" sz="2400" b="0" i="1">
                            <a:solidFill>
                              <a:schemeClr val="tx1"/>
                            </a:solidFill>
                            <a:latin typeface="Cambria Math" panose="02040503050406030204" pitchFamily="18" charset="0"/>
                          </a:rPr>
                          <m:t>𝑓</m:t>
                        </m:r>
                      </m:sub>
                    </m:sSub>
                    <m:r>
                      <a:rPr lang="en-US" altLang="ja-JP" sz="2400" b="0" i="1">
                        <a:solidFill>
                          <a:schemeClr val="tx1"/>
                        </a:solidFill>
                        <a:latin typeface="Cambria Math" panose="02040503050406030204" pitchFamily="18" charset="0"/>
                      </a:rPr>
                      <m:t>+</m:t>
                    </m:r>
                    <m:sSub>
                      <m:sSubPr>
                        <m:ctrlPr>
                          <a:rPr lang="en-US" altLang="ja-JP" sz="2400" i="1">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𝑚</m:t>
                        </m:r>
                      </m:e>
                      <m:sub>
                        <m:r>
                          <a:rPr lang="en-US" altLang="ja-JP" sz="2400" b="0" i="1">
                            <a:solidFill>
                              <a:schemeClr val="tx1"/>
                            </a:solidFill>
                            <a:latin typeface="Cambria Math" panose="02040503050406030204" pitchFamily="18" charset="0"/>
                          </a:rPr>
                          <m:t>2</m:t>
                        </m:r>
                      </m:sub>
                    </m:sSub>
                    <m:sSub>
                      <m:sSubPr>
                        <m:ctrlPr>
                          <a:rPr lang="en-US" altLang="ja-JP" sz="2400" i="1">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𝑣</m:t>
                        </m:r>
                      </m:e>
                      <m:sub>
                        <m:r>
                          <a:rPr lang="en-US" altLang="ja-JP" sz="2400" b="0" i="1">
                            <a:solidFill>
                              <a:schemeClr val="tx1"/>
                            </a:solidFill>
                            <a:latin typeface="Cambria Math" panose="02040503050406030204" pitchFamily="18" charset="0"/>
                          </a:rPr>
                          <m:t>2</m:t>
                        </m:r>
                        <m:r>
                          <a:rPr lang="en-US" altLang="ja-JP" sz="2400" b="0" i="1">
                            <a:solidFill>
                              <a:schemeClr val="tx1"/>
                            </a:solidFill>
                            <a:latin typeface="Cambria Math" panose="02040503050406030204" pitchFamily="18" charset="0"/>
                          </a:rPr>
                          <m:t>𝑓</m:t>
                        </m:r>
                      </m:sub>
                    </m:sSub>
                  </m:oMath>
                </a14:m>
                <a:r>
                  <a:rPr lang="en-US" altLang="ja-JP" sz="2400" dirty="0"/>
                  <a:t> </a:t>
                </a:r>
                <a:r>
                  <a:rPr lang="ja-JP" altLang="en-US" sz="2400" dirty="0"/>
                  <a:t>より</a:t>
                </a:r>
                <a:endParaRPr lang="en-US" altLang="ja-JP" sz="2400" dirty="0"/>
              </a:p>
              <a:p>
                <a14:m>
                  <m:oMath xmlns:m="http://schemas.openxmlformats.org/officeDocument/2006/math">
                    <m:r>
                      <a:rPr lang="en-US" altLang="ja-JP" sz="2400" b="0" i="0" smtClean="0">
                        <a:solidFill>
                          <a:schemeClr val="tx1"/>
                        </a:solidFill>
                        <a:latin typeface="Cambria Math" panose="02040503050406030204" pitchFamily="18" charset="0"/>
                      </a:rPr>
                      <m:t>(</m:t>
                    </m:r>
                    <m:r>
                      <a:rPr lang="en-US" altLang="ja-JP" sz="2400" i="1" smtClean="0">
                        <a:solidFill>
                          <a:schemeClr val="tx1"/>
                        </a:solidFill>
                        <a:latin typeface="Cambria Math" panose="02040503050406030204" pitchFamily="18" charset="0"/>
                      </a:rPr>
                      <m:t>0</m:t>
                    </m:r>
                    <m:r>
                      <a:rPr lang="en-US" altLang="ja-JP" sz="2400" b="0" i="1" smtClean="0">
                        <a:solidFill>
                          <a:schemeClr val="tx1"/>
                        </a:solidFill>
                        <a:latin typeface="Cambria Math" panose="02040503050406030204" pitchFamily="18" charset="0"/>
                      </a:rPr>
                      <m:t>.45</m:t>
                    </m:r>
                    <m:r>
                      <a:rPr lang="en-US" altLang="ja-JP" sz="2400" b="0" i="1" smtClean="0">
                        <a:solidFill>
                          <a:schemeClr val="tx1"/>
                        </a:solidFill>
                        <a:latin typeface="Cambria Math" panose="02040503050406030204" pitchFamily="18" charset="0"/>
                      </a:rPr>
                      <m:t>𝑘𝑔</m:t>
                    </m:r>
                    <m:r>
                      <a:rPr lang="en-US" altLang="ja-JP" sz="2400" b="0" i="1" smtClean="0">
                        <a:solidFill>
                          <a:schemeClr val="tx1"/>
                        </a:solidFill>
                        <a:latin typeface="Cambria Math" panose="02040503050406030204" pitchFamily="18" charset="0"/>
                      </a:rPr>
                      <m:t>)(</m:t>
                    </m:r>
                    <m:r>
                      <a:rPr lang="en-US" altLang="ja-JP" sz="2400" dirty="0">
                        <a:latin typeface="Cambria Math" panose="02040503050406030204" pitchFamily="18" charset="0"/>
                      </a:rPr>
                      <m:t>[</m:t>
                    </m:r>
                    <m:r>
                      <a:rPr lang="en-US" altLang="ja-JP" sz="2400" i="1" dirty="0">
                        <a:latin typeface="Cambria Math" panose="02040503050406030204" pitchFamily="18" charset="0"/>
                      </a:rPr>
                      <m:t>50</m:t>
                    </m:r>
                    <m:r>
                      <a:rPr lang="en-US" altLang="ja-JP" sz="2400" dirty="0">
                        <a:latin typeface="Cambria Math" panose="02040503050406030204" pitchFamily="18" charset="0"/>
                      </a:rPr>
                      <m:t>, 10, −30]</m:t>
                    </m:r>
                    <m:r>
                      <a:rPr lang="en-US" altLang="ja-JP" sz="2400" b="0" i="1" smtClean="0">
                        <a:solidFill>
                          <a:schemeClr val="tx1"/>
                        </a:solidFill>
                        <a:latin typeface="Cambria Math" panose="02040503050406030204" pitchFamily="18" charset="0"/>
                      </a:rPr>
                      <m:t>𝑚</m:t>
                    </m:r>
                    <m:r>
                      <a:rPr lang="en-US" altLang="ja-JP" sz="2400" b="0" i="1" smtClean="0">
                        <a:solidFill>
                          <a:schemeClr val="tx1"/>
                        </a:solidFill>
                        <a:latin typeface="Cambria Math" panose="02040503050406030204" pitchFamily="18" charset="0"/>
                      </a:rPr>
                      <m:t>/</m:t>
                    </m:r>
                    <m:r>
                      <a:rPr lang="ja-JP" altLang="en-US" sz="2400" i="1">
                        <a:latin typeface="Cambria Math" panose="02040503050406030204" pitchFamily="18" charset="0"/>
                      </a:rPr>
                      <m:t>秒</m:t>
                    </m:r>
                    <m:r>
                      <a:rPr lang="en-US" altLang="ja-JP" sz="2400" b="0" i="1" smtClean="0">
                        <a:solidFill>
                          <a:schemeClr val="tx1"/>
                        </a:solidFill>
                        <a:latin typeface="Cambria Math" panose="02040503050406030204" pitchFamily="18" charset="0"/>
                      </a:rPr>
                      <m:t>)</m:t>
                    </m:r>
                    <m:r>
                      <a:rPr lang="en-US" altLang="ja-JP" sz="2400" b="0" i="1">
                        <a:solidFill>
                          <a:schemeClr val="tx1"/>
                        </a:solidFill>
                        <a:latin typeface="Cambria Math" panose="02040503050406030204" pitchFamily="18" charset="0"/>
                      </a:rPr>
                      <m:t>+</m:t>
                    </m:r>
                    <m:r>
                      <a:rPr lang="en-US" altLang="ja-JP" sz="2400" i="1" smtClean="0">
                        <a:solidFill>
                          <a:schemeClr val="tx1"/>
                        </a:solidFill>
                        <a:latin typeface="Cambria Math" panose="02040503050406030204" pitchFamily="18" charset="0"/>
                      </a:rPr>
                      <m:t>(</m:t>
                    </m:r>
                    <m:r>
                      <a:rPr lang="en-US" altLang="ja-JP" sz="2400" b="0" i="1" smtClean="0">
                        <a:solidFill>
                          <a:schemeClr val="tx1"/>
                        </a:solidFill>
                        <a:latin typeface="Cambria Math" panose="02040503050406030204" pitchFamily="18" charset="0"/>
                      </a:rPr>
                      <m:t>0.5</m:t>
                    </m:r>
                    <m:r>
                      <a:rPr lang="en-US" altLang="ja-JP" sz="2400" b="0" i="1" smtClean="0">
                        <a:solidFill>
                          <a:schemeClr val="tx1"/>
                        </a:solidFill>
                        <a:latin typeface="Cambria Math" panose="02040503050406030204" pitchFamily="18" charset="0"/>
                      </a:rPr>
                      <m:t>𝑘𝑔</m:t>
                    </m:r>
                    <m:r>
                      <a:rPr lang="en-US" altLang="ja-JP" sz="2400" b="0" i="1" smtClean="0">
                        <a:solidFill>
                          <a:schemeClr val="tx1"/>
                        </a:solidFill>
                        <a:latin typeface="Cambria Math" panose="02040503050406030204" pitchFamily="18" charset="0"/>
                      </a:rPr>
                      <m:t>)(0)=(0.45</m:t>
                    </m:r>
                    <m:r>
                      <a:rPr lang="en-US" altLang="ja-JP" sz="2400" b="0" i="1" smtClean="0">
                        <a:solidFill>
                          <a:schemeClr val="tx1"/>
                        </a:solidFill>
                        <a:latin typeface="Cambria Math" panose="02040503050406030204" pitchFamily="18" charset="0"/>
                      </a:rPr>
                      <m:t>𝑘𝑔</m:t>
                    </m:r>
                    <m:r>
                      <a:rPr lang="en-US" altLang="ja-JP" sz="2400" b="0" i="1" smtClean="0">
                        <a:solidFill>
                          <a:schemeClr val="tx1"/>
                        </a:solidFill>
                        <a:latin typeface="Cambria Math" panose="02040503050406030204" pitchFamily="18" charset="0"/>
                      </a:rPr>
                      <m:t>)(0)+(0.5</m:t>
                    </m:r>
                    <m:r>
                      <a:rPr lang="en-US" altLang="ja-JP" sz="2400" b="0" i="1" smtClean="0">
                        <a:solidFill>
                          <a:schemeClr val="tx1"/>
                        </a:solidFill>
                        <a:latin typeface="Cambria Math" panose="02040503050406030204" pitchFamily="18" charset="0"/>
                      </a:rPr>
                      <m:t>𝑘𝑔</m:t>
                    </m:r>
                    <m:r>
                      <a:rPr lang="en-US" altLang="ja-JP" sz="2400" b="0" i="1" smtClean="0">
                        <a:solidFill>
                          <a:schemeClr val="tx1"/>
                        </a:solidFill>
                        <a:latin typeface="Cambria Math" panose="02040503050406030204" pitchFamily="18" charset="0"/>
                      </a:rPr>
                      <m:t>)</m:t>
                    </m:r>
                    <m:sSub>
                      <m:sSubPr>
                        <m:ctrlPr>
                          <a:rPr lang="en-US" altLang="ja-JP" sz="2400" i="1">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𝑣</m:t>
                        </m:r>
                      </m:e>
                      <m:sub>
                        <m:r>
                          <a:rPr lang="en-US" altLang="ja-JP" sz="2400" b="0" i="1">
                            <a:solidFill>
                              <a:schemeClr val="tx1"/>
                            </a:solidFill>
                            <a:latin typeface="Cambria Math" panose="02040503050406030204" pitchFamily="18" charset="0"/>
                          </a:rPr>
                          <m:t>2</m:t>
                        </m:r>
                        <m:r>
                          <a:rPr lang="en-US" altLang="ja-JP" sz="2400" b="0" i="1">
                            <a:solidFill>
                              <a:schemeClr val="tx1"/>
                            </a:solidFill>
                            <a:latin typeface="Cambria Math" panose="02040503050406030204" pitchFamily="18" charset="0"/>
                          </a:rPr>
                          <m:t>𝑓</m:t>
                        </m:r>
                      </m:sub>
                    </m:sSub>
                  </m:oMath>
                </a14:m>
                <a:r>
                  <a:rPr lang="en-US" altLang="ja-JP" sz="2400" dirty="0"/>
                  <a:t> </a:t>
                </a:r>
              </a:p>
              <a:p>
                <a14:m>
                  <m:oMath xmlns:m="http://schemas.openxmlformats.org/officeDocument/2006/math">
                    <m:r>
                      <a:rPr lang="en-US" altLang="ja-JP" sz="2400" dirty="0">
                        <a:latin typeface="Cambria Math" panose="02040503050406030204" pitchFamily="18" charset="0"/>
                      </a:rPr>
                      <m:t>[</m:t>
                    </m:r>
                    <m:r>
                      <a:rPr lang="en-US" altLang="ja-JP" sz="2400" b="0" i="1" dirty="0" smtClean="0">
                        <a:latin typeface="Cambria Math" panose="02040503050406030204" pitchFamily="18" charset="0"/>
                      </a:rPr>
                      <m:t>22.5</m:t>
                    </m:r>
                    <m:r>
                      <a:rPr lang="en-US" altLang="ja-JP" sz="2400" dirty="0">
                        <a:latin typeface="Cambria Math" panose="02040503050406030204" pitchFamily="18" charset="0"/>
                      </a:rPr>
                      <m:t>, </m:t>
                    </m:r>
                    <m:r>
                      <a:rPr lang="en-US" altLang="ja-JP" sz="2400" b="0" i="0" dirty="0" smtClean="0">
                        <a:latin typeface="Cambria Math" panose="02040503050406030204" pitchFamily="18" charset="0"/>
                      </a:rPr>
                      <m:t>4.5</m:t>
                    </m:r>
                    <m:r>
                      <a:rPr lang="en-US" altLang="ja-JP" sz="2400" dirty="0">
                        <a:latin typeface="Cambria Math" panose="02040503050406030204" pitchFamily="18" charset="0"/>
                      </a:rPr>
                      <m:t>, −</m:t>
                    </m:r>
                    <m:r>
                      <a:rPr lang="en-US" altLang="ja-JP" sz="2400" b="0" i="0" dirty="0" smtClean="0">
                        <a:latin typeface="Cambria Math" panose="02040503050406030204" pitchFamily="18" charset="0"/>
                      </a:rPr>
                      <m:t>13.5</m:t>
                    </m:r>
                    <m:r>
                      <a:rPr lang="en-US" altLang="ja-JP" sz="2400" dirty="0">
                        <a:latin typeface="Cambria Math" panose="02040503050406030204" pitchFamily="18" charset="0"/>
                      </a:rPr>
                      <m:t>]</m:t>
                    </m:r>
                    <m:r>
                      <a:rPr lang="en-US" altLang="ja-JP" sz="2400" b="0" i="1" smtClean="0">
                        <a:solidFill>
                          <a:schemeClr val="tx1"/>
                        </a:solidFill>
                        <a:latin typeface="Cambria Math" panose="02040503050406030204" pitchFamily="18" charset="0"/>
                      </a:rPr>
                      <m:t>𝑘𝑔𝑚</m:t>
                    </m:r>
                    <m:r>
                      <a:rPr lang="en-US" altLang="ja-JP" sz="2400" b="0" i="1" smtClean="0">
                        <a:solidFill>
                          <a:schemeClr val="tx1"/>
                        </a:solidFill>
                        <a:latin typeface="Cambria Math" panose="02040503050406030204" pitchFamily="18" charset="0"/>
                      </a:rPr>
                      <m:t>/</m:t>
                    </m:r>
                    <m:r>
                      <a:rPr lang="ja-JP" altLang="en-US" sz="2400" i="1" smtClean="0">
                        <a:latin typeface="Cambria Math" panose="02040503050406030204" pitchFamily="18" charset="0"/>
                      </a:rPr>
                      <m:t>秒</m:t>
                    </m:r>
                    <m:r>
                      <a:rPr lang="en-US" altLang="ja-JP" sz="2400" b="0" i="1" smtClean="0">
                        <a:solidFill>
                          <a:schemeClr val="tx1"/>
                        </a:solidFill>
                        <a:latin typeface="Cambria Math" panose="02040503050406030204" pitchFamily="18" charset="0"/>
                      </a:rPr>
                      <m:t> =(0.5</m:t>
                    </m:r>
                    <m:r>
                      <a:rPr lang="en-US" altLang="ja-JP" sz="2400" b="0" i="1" smtClean="0">
                        <a:solidFill>
                          <a:schemeClr val="tx1"/>
                        </a:solidFill>
                        <a:latin typeface="Cambria Math" panose="02040503050406030204" pitchFamily="18" charset="0"/>
                      </a:rPr>
                      <m:t>𝑘𝑔</m:t>
                    </m:r>
                    <m:r>
                      <a:rPr lang="en-US" altLang="ja-JP" sz="2400" b="0" i="1" smtClean="0">
                        <a:solidFill>
                          <a:schemeClr val="tx1"/>
                        </a:solidFill>
                        <a:latin typeface="Cambria Math" panose="02040503050406030204" pitchFamily="18" charset="0"/>
                      </a:rPr>
                      <m:t>)</m:t>
                    </m:r>
                    <m:sSub>
                      <m:sSubPr>
                        <m:ctrlPr>
                          <a:rPr lang="en-US" altLang="ja-JP" sz="2400" i="1">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𝑣</m:t>
                        </m:r>
                      </m:e>
                      <m:sub>
                        <m:r>
                          <a:rPr lang="en-US" altLang="ja-JP" sz="2400" b="0" i="1">
                            <a:solidFill>
                              <a:schemeClr val="tx1"/>
                            </a:solidFill>
                            <a:latin typeface="Cambria Math" panose="02040503050406030204" pitchFamily="18" charset="0"/>
                          </a:rPr>
                          <m:t>2</m:t>
                        </m:r>
                        <m:r>
                          <a:rPr lang="en-US" altLang="ja-JP" sz="2400" b="0" i="1">
                            <a:solidFill>
                              <a:schemeClr val="tx1"/>
                            </a:solidFill>
                            <a:latin typeface="Cambria Math" panose="02040503050406030204" pitchFamily="18" charset="0"/>
                          </a:rPr>
                          <m:t>𝑓</m:t>
                        </m:r>
                      </m:sub>
                    </m:sSub>
                  </m:oMath>
                </a14:m>
                <a:r>
                  <a:rPr lang="en-US" altLang="ja-JP" sz="2400" dirty="0"/>
                  <a:t> </a:t>
                </a:r>
              </a:p>
              <a:p>
                <a14:m>
                  <m:oMath xmlns:m="http://schemas.openxmlformats.org/officeDocument/2006/math">
                    <m:sSub>
                      <m:sSubPr>
                        <m:ctrlPr>
                          <a:rPr lang="en-US" altLang="ja-JP" sz="2400" i="1" smtClean="0">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𝑣</m:t>
                        </m:r>
                      </m:e>
                      <m:sub>
                        <m:r>
                          <a:rPr lang="en-US" altLang="ja-JP" sz="2400" b="0" i="1">
                            <a:solidFill>
                              <a:schemeClr val="tx1"/>
                            </a:solidFill>
                            <a:latin typeface="Cambria Math" panose="02040503050406030204" pitchFamily="18" charset="0"/>
                          </a:rPr>
                          <m:t>2</m:t>
                        </m:r>
                        <m:r>
                          <a:rPr lang="en-US" altLang="ja-JP" sz="2400" b="0" i="1">
                            <a:solidFill>
                              <a:schemeClr val="tx1"/>
                            </a:solidFill>
                            <a:latin typeface="Cambria Math" panose="02040503050406030204" pitchFamily="18" charset="0"/>
                          </a:rPr>
                          <m:t>𝑓</m:t>
                        </m:r>
                      </m:sub>
                    </m:sSub>
                    <m:r>
                      <a:rPr lang="en-US" altLang="ja-JP" sz="2400" b="0" i="1" smtClean="0">
                        <a:solidFill>
                          <a:schemeClr val="tx1"/>
                        </a:solidFill>
                        <a:latin typeface="Cambria Math" panose="02040503050406030204" pitchFamily="18" charset="0"/>
                      </a:rPr>
                      <m:t>=</m:t>
                    </m:r>
                    <m:r>
                      <a:rPr lang="en-US" altLang="ja-JP" sz="2400" dirty="0" smtClean="0">
                        <a:solidFill>
                          <a:srgbClr val="FF0000"/>
                        </a:solidFill>
                        <a:latin typeface="Cambria Math" panose="02040503050406030204" pitchFamily="18" charset="0"/>
                      </a:rPr>
                      <m:t>[</m:t>
                    </m:r>
                    <m:r>
                      <a:rPr lang="en-US" altLang="ja-JP" sz="2400" b="0" i="1" dirty="0" smtClean="0">
                        <a:solidFill>
                          <a:srgbClr val="FF0000"/>
                        </a:solidFill>
                        <a:latin typeface="Cambria Math" panose="02040503050406030204" pitchFamily="18" charset="0"/>
                      </a:rPr>
                      <m:t>45</m:t>
                    </m:r>
                    <m:r>
                      <a:rPr lang="en-US" altLang="ja-JP" sz="2400" dirty="0">
                        <a:solidFill>
                          <a:srgbClr val="FF0000"/>
                        </a:solidFill>
                        <a:latin typeface="Cambria Math" panose="02040503050406030204" pitchFamily="18" charset="0"/>
                      </a:rPr>
                      <m:t>, </m:t>
                    </m:r>
                    <m:r>
                      <a:rPr lang="en-US" altLang="ja-JP" sz="2400" b="0" i="0" dirty="0" smtClean="0">
                        <a:solidFill>
                          <a:srgbClr val="FF0000"/>
                        </a:solidFill>
                        <a:latin typeface="Cambria Math" panose="02040503050406030204" pitchFamily="18" charset="0"/>
                      </a:rPr>
                      <m:t>9</m:t>
                    </m:r>
                    <m:r>
                      <a:rPr lang="en-US" altLang="ja-JP" sz="2400" dirty="0">
                        <a:solidFill>
                          <a:srgbClr val="FF0000"/>
                        </a:solidFill>
                        <a:latin typeface="Cambria Math" panose="02040503050406030204" pitchFamily="18" charset="0"/>
                      </a:rPr>
                      <m:t>, −</m:t>
                    </m:r>
                    <m:r>
                      <a:rPr lang="en-US" altLang="ja-JP" sz="2400" b="0" i="0" dirty="0" smtClean="0">
                        <a:solidFill>
                          <a:srgbClr val="FF0000"/>
                        </a:solidFill>
                        <a:latin typeface="Cambria Math" panose="02040503050406030204" pitchFamily="18" charset="0"/>
                      </a:rPr>
                      <m:t>27</m:t>
                    </m:r>
                    <m:r>
                      <a:rPr lang="en-US" altLang="ja-JP" sz="2400" dirty="0">
                        <a:solidFill>
                          <a:srgbClr val="FF0000"/>
                        </a:solidFill>
                        <a:latin typeface="Cambria Math" panose="02040503050406030204" pitchFamily="18" charset="0"/>
                      </a:rPr>
                      <m:t>]</m:t>
                    </m:r>
                    <m:r>
                      <a:rPr lang="en-US" altLang="ja-JP" sz="2400" b="1" i="1" smtClean="0">
                        <a:solidFill>
                          <a:srgbClr val="FF0000"/>
                        </a:solidFill>
                        <a:latin typeface="Cambria Math" panose="02040503050406030204" pitchFamily="18" charset="0"/>
                      </a:rPr>
                      <m:t>𝒎</m:t>
                    </m:r>
                    <m:r>
                      <a:rPr lang="en-US" altLang="ja-JP" sz="2400" b="1" i="1" smtClean="0">
                        <a:solidFill>
                          <a:srgbClr val="FF0000"/>
                        </a:solidFill>
                        <a:latin typeface="Cambria Math" panose="02040503050406030204" pitchFamily="18" charset="0"/>
                      </a:rPr>
                      <m:t>/</m:t>
                    </m:r>
                    <m:r>
                      <a:rPr lang="ja-JP" altLang="en-US" sz="2400" b="1" i="1">
                        <a:solidFill>
                          <a:srgbClr val="FF0000"/>
                        </a:solidFill>
                        <a:latin typeface="Cambria Math" panose="02040503050406030204" pitchFamily="18" charset="0"/>
                      </a:rPr>
                      <m:t>秒</m:t>
                    </m:r>
                  </m:oMath>
                </a14:m>
                <a:r>
                  <a:rPr lang="en-US" altLang="ja-JP" sz="2400" dirty="0"/>
                  <a:t> </a:t>
                </a:r>
              </a:p>
              <a:p>
                <a:endParaRPr lang="en-US" altLang="ja-JP" sz="2400" dirty="0"/>
              </a:p>
              <a:p>
                <a:r>
                  <a:rPr lang="en-US" altLang="ja-JP" sz="2400" dirty="0"/>
                  <a:t>※</a:t>
                </a:r>
                <a:r>
                  <a:rPr lang="ja-JP" altLang="en-US" sz="2400" dirty="0"/>
                  <a:t>３</a:t>
                </a:r>
                <a:r>
                  <a:rPr lang="en-US" altLang="ja-JP" sz="2400" dirty="0"/>
                  <a:t>D</a:t>
                </a:r>
                <a:r>
                  <a:rPr lang="ja-JP" altLang="en-US" sz="2400" dirty="0"/>
                  <a:t>でも計算は同じです</a:t>
                </a:r>
                <a:endParaRPr lang="en-US" altLang="ja-JP" sz="2400" dirty="0"/>
              </a:p>
            </p:txBody>
          </p:sp>
        </mc:Choice>
        <mc:Fallback xmlns="">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9863534" cy="5026954"/>
              </a:xfrm>
              <a:prstGeom prst="rect">
                <a:avLst/>
              </a:prstGeom>
              <a:blipFill>
                <a:blip r:embed="rId2"/>
                <a:stretch>
                  <a:fillRect l="-927" t="-971" b="-1942"/>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57411782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005403" cy="584775"/>
          </a:xfrm>
          <a:prstGeom prst="rect">
            <a:avLst/>
          </a:prstGeom>
          <a:noFill/>
        </p:spPr>
        <p:txBody>
          <a:bodyPr wrap="none" rtlCol="0">
            <a:spAutoFit/>
          </a:bodyPr>
          <a:lstStyle/>
          <a:p>
            <a:r>
              <a:rPr lang="ja-JP" altLang="en-US" sz="3200" b="1" u="sng" dirty="0"/>
              <a:t>衝突</a:t>
            </a:r>
            <a:endParaRPr kumimoji="1" lang="en-US" altLang="ja-JP" sz="3200" b="1" u="sng" dirty="0"/>
          </a:p>
        </p:txBody>
      </p:sp>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341293" cy="2677656"/>
              </a:xfrm>
              <a:prstGeom prst="rect">
                <a:avLst/>
              </a:prstGeom>
              <a:noFill/>
            </p:spPr>
            <p:txBody>
              <a:bodyPr wrap="none" rtlCol="0">
                <a:spAutoFit/>
              </a:bodyPr>
              <a:lstStyle/>
              <a:p>
                <a:r>
                  <a:rPr lang="ja-JP" altLang="en-US" sz="2400" dirty="0"/>
                  <a:t>ビリヤードは運動量保存やエネルギー保存がそのまま反映されますが、</a:t>
                </a:r>
                <a:endParaRPr lang="en-US" altLang="ja-JP" sz="2400" dirty="0"/>
              </a:p>
              <a:p>
                <a:r>
                  <a:rPr lang="ja-JP" altLang="en-US" sz="2400" dirty="0"/>
                  <a:t>例えば、玉の素材が</a:t>
                </a:r>
                <a:r>
                  <a:rPr lang="ja-JP" altLang="en-US" sz="2400" b="1" dirty="0">
                    <a:solidFill>
                      <a:schemeClr val="accent4">
                        <a:lumMod val="50000"/>
                      </a:schemeClr>
                    </a:solidFill>
                  </a:rPr>
                  <a:t>粘土</a:t>
                </a:r>
                <a:r>
                  <a:rPr lang="ja-JP" altLang="en-US" sz="2400" dirty="0"/>
                  <a:t>だったらどうなるでしょう。</a:t>
                </a:r>
                <a:endParaRPr lang="en-US" altLang="ja-JP" sz="2400" dirty="0"/>
              </a:p>
              <a:p>
                <a:r>
                  <a:rPr lang="ja-JP" altLang="en-US" sz="2400" dirty="0"/>
                  <a:t>衝突しても、あまり跳ね返らず、速度もゆっくりになりそうです。</a:t>
                </a:r>
                <a:endParaRPr lang="en-US" altLang="ja-JP" sz="2400" dirty="0"/>
              </a:p>
              <a:p>
                <a:endParaRPr lang="en-US" altLang="ja-JP" sz="2400" dirty="0"/>
              </a:p>
              <a:p>
                <a:r>
                  <a:rPr lang="ja-JP" altLang="en-US" sz="2400" dirty="0"/>
                  <a:t>摩擦の時のように、衝突でのはねかえりには係数があります。</a:t>
                </a:r>
                <a:endParaRPr lang="en-US" altLang="ja-JP" sz="2400" dirty="0"/>
              </a:p>
              <a:p>
                <a:endParaRPr lang="en-US" altLang="ja-JP" sz="2400" dirty="0"/>
              </a:p>
              <a:p>
                <a:r>
                  <a:rPr lang="ja-JP" altLang="en-US" sz="2400" dirty="0"/>
                  <a:t>この</a:t>
                </a:r>
                <a:r>
                  <a:rPr lang="ja-JP" altLang="en-US" sz="2400" b="1" dirty="0">
                    <a:solidFill>
                      <a:srgbClr val="FF0000"/>
                    </a:solidFill>
                  </a:rPr>
                  <a:t>はねかえり係数</a:t>
                </a:r>
                <a14:m>
                  <m:oMath xmlns:m="http://schemas.openxmlformats.org/officeDocument/2006/math">
                    <m:r>
                      <a:rPr lang="ja-JP" altLang="en-US" sz="2400" b="1" i="1" dirty="0" smtClean="0">
                        <a:solidFill>
                          <a:srgbClr val="FF0000"/>
                        </a:solidFill>
                        <a:latin typeface="Cambria Math" panose="02040503050406030204" pitchFamily="18" charset="0"/>
                      </a:rPr>
                      <m:t>（</m:t>
                    </m:r>
                    <m:r>
                      <a:rPr lang="en-US" altLang="ja-JP" sz="2400" b="1" i="1" dirty="0" smtClean="0">
                        <a:solidFill>
                          <a:srgbClr val="FF0000"/>
                        </a:solidFill>
                        <a:latin typeface="Cambria Math" panose="02040503050406030204" pitchFamily="18" charset="0"/>
                      </a:rPr>
                      <m:t>𝒆</m:t>
                    </m:r>
                    <m:r>
                      <a:rPr lang="ja-JP" altLang="en-US" sz="2400" b="1" i="1" dirty="0" smtClean="0">
                        <a:solidFill>
                          <a:srgbClr val="FF0000"/>
                        </a:solidFill>
                        <a:latin typeface="Cambria Math" panose="02040503050406030204" pitchFamily="18" charset="0"/>
                      </a:rPr>
                      <m:t>）</m:t>
                    </m:r>
                  </m:oMath>
                </a14:m>
                <a:r>
                  <a:rPr lang="ja-JP" altLang="en-US" sz="2400" b="1" dirty="0">
                    <a:solidFill>
                      <a:srgbClr val="FF0000"/>
                    </a:solidFill>
                  </a:rPr>
                  <a:t>の大きさ</a:t>
                </a:r>
                <a:r>
                  <a:rPr lang="ja-JP" altLang="en-US" sz="2400" dirty="0"/>
                  <a:t>で、</a:t>
                </a:r>
                <a:r>
                  <a:rPr lang="ja-JP" altLang="en-US" sz="2400" b="1" dirty="0">
                    <a:solidFill>
                      <a:srgbClr val="FF0000"/>
                    </a:solidFill>
                  </a:rPr>
                  <a:t>衝突の種類が変わります。</a:t>
                </a:r>
                <a:endParaRPr lang="en-US" altLang="ja-JP" sz="2400" b="1" dirty="0">
                  <a:solidFill>
                    <a:srgbClr val="FF0000"/>
                  </a:solidFill>
                </a:endParaRPr>
              </a:p>
            </p:txBody>
          </p:sp>
        </mc:Choice>
        <mc:Fallback xmlns="">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10341293" cy="2677656"/>
              </a:xfrm>
              <a:prstGeom prst="rect">
                <a:avLst/>
              </a:prstGeom>
              <a:blipFill>
                <a:blip r:embed="rId2"/>
                <a:stretch>
                  <a:fillRect l="-884" t="-1822" b="-4784"/>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7511027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005403" cy="584775"/>
          </a:xfrm>
          <a:prstGeom prst="rect">
            <a:avLst/>
          </a:prstGeom>
          <a:noFill/>
        </p:spPr>
        <p:txBody>
          <a:bodyPr wrap="none" rtlCol="0">
            <a:spAutoFit/>
          </a:bodyPr>
          <a:lstStyle/>
          <a:p>
            <a:r>
              <a:rPr lang="ja-JP" altLang="en-US" sz="3200" b="1" u="sng" dirty="0"/>
              <a:t>衝突</a:t>
            </a:r>
            <a:endParaRPr kumimoji="1" lang="en-US" altLang="ja-JP" sz="3200" b="1" u="sng" dirty="0"/>
          </a:p>
        </p:txBody>
      </p:sp>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110186" cy="5632311"/>
              </a:xfrm>
              <a:prstGeom prst="rect">
                <a:avLst/>
              </a:prstGeom>
              <a:noFill/>
            </p:spPr>
            <p:txBody>
              <a:bodyPr wrap="none" rtlCol="0">
                <a:spAutoFit/>
              </a:bodyPr>
              <a:lstStyle/>
              <a:p>
                <a:r>
                  <a:rPr lang="ja-JP" altLang="en-US" sz="2400" dirty="0"/>
                  <a:t>以下に衝突の種類をまとめます。</a:t>
                </a:r>
                <a:endParaRPr lang="en-US" altLang="ja-JP" sz="2400" dirty="0"/>
              </a:p>
              <a:p>
                <a:endParaRPr lang="en-US" altLang="ja-JP" sz="2400" dirty="0"/>
              </a:p>
              <a:p>
                <a:r>
                  <a:rPr lang="ja-JP" altLang="en-US" sz="2400" b="1" dirty="0">
                    <a:solidFill>
                      <a:srgbClr val="FF0000"/>
                    </a:solidFill>
                  </a:rPr>
                  <a:t>■弾性衝突</a:t>
                </a:r>
                <a14:m>
                  <m:oMath xmlns:m="http://schemas.openxmlformats.org/officeDocument/2006/math">
                    <m:r>
                      <a:rPr lang="en-US" altLang="ja-JP" sz="2400" b="1" i="0" dirty="0" smtClean="0">
                        <a:solidFill>
                          <a:srgbClr val="FF0000"/>
                        </a:solidFill>
                        <a:latin typeface="Cambria Math" panose="02040503050406030204" pitchFamily="18" charset="0"/>
                      </a:rPr>
                      <m:t>(</m:t>
                    </m:r>
                    <m:r>
                      <a:rPr lang="en-US" altLang="ja-JP" sz="2400" b="1" i="1" dirty="0" smtClean="0">
                        <a:solidFill>
                          <a:srgbClr val="FF0000"/>
                        </a:solidFill>
                        <a:latin typeface="Cambria Math" panose="02040503050406030204" pitchFamily="18" charset="0"/>
                      </a:rPr>
                      <m:t>𝒆</m:t>
                    </m:r>
                    <m:r>
                      <a:rPr lang="en-US" altLang="ja-JP" sz="2400" b="1" i="1" dirty="0" smtClean="0">
                        <a:solidFill>
                          <a:srgbClr val="FF0000"/>
                        </a:solidFill>
                        <a:latin typeface="Cambria Math" panose="02040503050406030204" pitchFamily="18" charset="0"/>
                      </a:rPr>
                      <m:t>=</m:t>
                    </m:r>
                    <m:r>
                      <a:rPr lang="en-US" altLang="ja-JP" sz="2400" b="1" i="1" dirty="0" smtClean="0">
                        <a:solidFill>
                          <a:srgbClr val="FF0000"/>
                        </a:solidFill>
                        <a:latin typeface="Cambria Math" panose="02040503050406030204" pitchFamily="18" charset="0"/>
                      </a:rPr>
                      <m:t>𝟏</m:t>
                    </m:r>
                    <m:r>
                      <a:rPr lang="en-US" altLang="ja-JP" sz="2400" b="1" i="1" dirty="0" smtClean="0">
                        <a:solidFill>
                          <a:srgbClr val="FF0000"/>
                        </a:solidFill>
                        <a:latin typeface="Cambria Math" panose="02040503050406030204" pitchFamily="18" charset="0"/>
                      </a:rPr>
                      <m:t>)</m:t>
                    </m:r>
                  </m:oMath>
                </a14:m>
                <a:endParaRPr lang="en-US" altLang="ja-JP" sz="2400" b="1" dirty="0">
                  <a:solidFill>
                    <a:srgbClr val="FF0000"/>
                  </a:solidFill>
                </a:endParaRPr>
              </a:p>
              <a:p>
                <a:r>
                  <a:rPr lang="ja-JP" altLang="en-US" sz="2400" dirty="0"/>
                  <a:t>運動量保存、エネルギー保存がそのまま反映される衝突。</a:t>
                </a:r>
                <a:endParaRPr lang="en-US" altLang="ja-JP" sz="2400" dirty="0"/>
              </a:p>
              <a:p>
                <a:r>
                  <a:rPr lang="ja-JP" altLang="en-US" sz="2400" dirty="0"/>
                  <a:t>ビリヤードやニュートンの揺りかごが、ほぼ当てはまる。</a:t>
                </a:r>
                <a:endParaRPr lang="en-US" altLang="ja-JP" sz="2400" dirty="0"/>
              </a:p>
              <a:p>
                <a:endParaRPr lang="en-US" altLang="ja-JP" sz="2400" dirty="0"/>
              </a:p>
              <a:p>
                <a:r>
                  <a:rPr lang="ja-JP" altLang="en-US" sz="2400" b="1" dirty="0">
                    <a:solidFill>
                      <a:srgbClr val="FF0000"/>
                    </a:solidFill>
                  </a:rPr>
                  <a:t>■非弾性衝突</a:t>
                </a:r>
                <a14:m>
                  <m:oMath xmlns:m="http://schemas.openxmlformats.org/officeDocument/2006/math">
                    <m:r>
                      <a:rPr lang="en-US" altLang="ja-JP" sz="2400" b="1" i="0" dirty="0" smtClean="0">
                        <a:solidFill>
                          <a:srgbClr val="FF0000"/>
                        </a:solidFill>
                        <a:latin typeface="Cambria Math" panose="02040503050406030204" pitchFamily="18" charset="0"/>
                      </a:rPr>
                      <m:t>(</m:t>
                    </m:r>
                    <m:r>
                      <a:rPr lang="en-US" altLang="ja-JP" sz="2400" b="1" i="1" dirty="0" smtClean="0">
                        <a:solidFill>
                          <a:srgbClr val="FF0000"/>
                        </a:solidFill>
                        <a:latin typeface="Cambria Math" panose="02040503050406030204" pitchFamily="18" charset="0"/>
                      </a:rPr>
                      <m:t>𝒆</m:t>
                    </m:r>
                    <m:r>
                      <a:rPr lang="en-US" altLang="ja-JP" sz="2400" b="1" i="1" dirty="0">
                        <a:solidFill>
                          <a:srgbClr val="FF0000"/>
                        </a:solidFill>
                        <a:latin typeface="Cambria Math" panose="02040503050406030204" pitchFamily="18" charset="0"/>
                      </a:rPr>
                      <m:t>&gt;</m:t>
                    </m:r>
                    <m:r>
                      <a:rPr lang="en-US" altLang="ja-JP" sz="2400" b="1" i="1" dirty="0">
                        <a:solidFill>
                          <a:srgbClr val="FF0000"/>
                        </a:solidFill>
                        <a:latin typeface="Cambria Math" panose="02040503050406030204" pitchFamily="18" charset="0"/>
                      </a:rPr>
                      <m:t>𝟎</m:t>
                    </m:r>
                    <m:r>
                      <a:rPr lang="en-US" altLang="ja-JP" sz="2400" b="1" i="1" dirty="0">
                        <a:solidFill>
                          <a:srgbClr val="FF0000"/>
                        </a:solidFill>
                        <a:latin typeface="Cambria Math" panose="02040503050406030204" pitchFamily="18" charset="0"/>
                      </a:rPr>
                      <m:t> </m:t>
                    </m:r>
                    <m:r>
                      <a:rPr lang="en-US" altLang="ja-JP" sz="2400" b="1" i="1" dirty="0" smtClean="0">
                        <a:solidFill>
                          <a:srgbClr val="FF0000"/>
                        </a:solidFill>
                        <a:latin typeface="Cambria Math" panose="02040503050406030204" pitchFamily="18" charset="0"/>
                      </a:rPr>
                      <m:t>𝑨𝒏𝒅</m:t>
                    </m:r>
                    <m:r>
                      <a:rPr lang="en-US" altLang="ja-JP" sz="2400" b="1" i="1" dirty="0" smtClean="0">
                        <a:solidFill>
                          <a:srgbClr val="FF0000"/>
                        </a:solidFill>
                        <a:latin typeface="Cambria Math" panose="02040503050406030204" pitchFamily="18" charset="0"/>
                      </a:rPr>
                      <m:t> </m:t>
                    </m:r>
                    <m:r>
                      <a:rPr lang="en-US" altLang="ja-JP" sz="2400" b="1" i="1" dirty="0">
                        <a:solidFill>
                          <a:srgbClr val="FF0000"/>
                        </a:solidFill>
                        <a:latin typeface="Cambria Math" panose="02040503050406030204" pitchFamily="18" charset="0"/>
                      </a:rPr>
                      <m:t>𝒆</m:t>
                    </m:r>
                    <m:r>
                      <a:rPr lang="en-US" altLang="ja-JP" sz="2400" b="1" i="1" dirty="0" smtClean="0">
                        <a:solidFill>
                          <a:srgbClr val="FF0000"/>
                        </a:solidFill>
                        <a:latin typeface="Cambria Math" panose="02040503050406030204" pitchFamily="18" charset="0"/>
                      </a:rPr>
                      <m:t>&lt;</m:t>
                    </m:r>
                    <m:r>
                      <a:rPr lang="en-US" altLang="ja-JP" sz="2400" b="1" i="1" dirty="0" smtClean="0">
                        <a:solidFill>
                          <a:srgbClr val="FF0000"/>
                        </a:solidFill>
                        <a:latin typeface="Cambria Math" panose="02040503050406030204" pitchFamily="18" charset="0"/>
                      </a:rPr>
                      <m:t>𝟏</m:t>
                    </m:r>
                    <m:r>
                      <a:rPr lang="en-US" altLang="ja-JP" sz="2400" b="1" i="1" dirty="0" smtClean="0">
                        <a:solidFill>
                          <a:srgbClr val="FF0000"/>
                        </a:solidFill>
                        <a:latin typeface="Cambria Math" panose="02040503050406030204" pitchFamily="18" charset="0"/>
                      </a:rPr>
                      <m:t>)</m:t>
                    </m:r>
                  </m:oMath>
                </a14:m>
                <a:endParaRPr lang="en-US" altLang="ja-JP" sz="2400" b="1" dirty="0">
                  <a:solidFill>
                    <a:srgbClr val="FF0000"/>
                  </a:solidFill>
                </a:endParaRPr>
              </a:p>
              <a:p>
                <a:r>
                  <a:rPr lang="ja-JP" altLang="en-US" sz="2400" dirty="0"/>
                  <a:t>衝突後に何らかの影響で速度が変化する衝突。</a:t>
                </a:r>
                <a:endParaRPr lang="en-US" altLang="ja-JP" sz="2400" dirty="0"/>
              </a:p>
              <a:p>
                <a:r>
                  <a:rPr lang="ja-JP" altLang="en-US" sz="2400" dirty="0"/>
                  <a:t>スポンジや粘土など衝撃を吸収するものとの衝突。</a:t>
                </a:r>
                <a:endParaRPr lang="en-US" altLang="ja-JP" sz="2400" dirty="0"/>
              </a:p>
              <a:p>
                <a:endParaRPr lang="en-US" altLang="ja-JP" sz="2400" dirty="0"/>
              </a:p>
              <a:p>
                <a:r>
                  <a:rPr lang="ja-JP" altLang="en-US" sz="2400" b="1" dirty="0">
                    <a:solidFill>
                      <a:srgbClr val="FF0000"/>
                    </a:solidFill>
                  </a:rPr>
                  <a:t>■完全非弾性衝突</a:t>
                </a:r>
                <a14:m>
                  <m:oMath xmlns:m="http://schemas.openxmlformats.org/officeDocument/2006/math">
                    <m:r>
                      <a:rPr lang="en-US" altLang="ja-JP" sz="2400" b="1" i="0" dirty="0" smtClean="0">
                        <a:solidFill>
                          <a:srgbClr val="FF0000"/>
                        </a:solidFill>
                        <a:latin typeface="Cambria Math" panose="02040503050406030204" pitchFamily="18" charset="0"/>
                      </a:rPr>
                      <m:t>(</m:t>
                    </m:r>
                    <m:r>
                      <a:rPr lang="en-US" altLang="ja-JP" sz="2400" b="1" i="1" dirty="0" smtClean="0">
                        <a:solidFill>
                          <a:srgbClr val="FF0000"/>
                        </a:solidFill>
                        <a:latin typeface="Cambria Math" panose="02040503050406030204" pitchFamily="18" charset="0"/>
                      </a:rPr>
                      <m:t>𝒆</m:t>
                    </m:r>
                    <m:r>
                      <a:rPr lang="en-US" altLang="ja-JP" sz="2400" b="1" i="1" dirty="0" smtClean="0">
                        <a:solidFill>
                          <a:srgbClr val="FF0000"/>
                        </a:solidFill>
                        <a:latin typeface="Cambria Math" panose="02040503050406030204" pitchFamily="18" charset="0"/>
                      </a:rPr>
                      <m:t>=</m:t>
                    </m:r>
                    <m:r>
                      <a:rPr lang="en-US" altLang="ja-JP" sz="2400" b="1" i="1" dirty="0">
                        <a:solidFill>
                          <a:srgbClr val="FF0000"/>
                        </a:solidFill>
                        <a:latin typeface="Cambria Math" panose="02040503050406030204" pitchFamily="18" charset="0"/>
                      </a:rPr>
                      <m:t>𝟎</m:t>
                    </m:r>
                    <m:r>
                      <a:rPr lang="en-US" altLang="ja-JP" sz="2400" b="1" i="1" dirty="0" smtClean="0">
                        <a:solidFill>
                          <a:srgbClr val="FF0000"/>
                        </a:solidFill>
                        <a:latin typeface="Cambria Math" panose="02040503050406030204" pitchFamily="18" charset="0"/>
                      </a:rPr>
                      <m:t>)</m:t>
                    </m:r>
                  </m:oMath>
                </a14:m>
                <a:endParaRPr lang="en-US" altLang="ja-JP" sz="2400" b="1" dirty="0">
                  <a:solidFill>
                    <a:srgbClr val="FF0000"/>
                  </a:solidFill>
                </a:endParaRPr>
              </a:p>
              <a:p>
                <a:r>
                  <a:rPr lang="ja-JP" altLang="en-US" sz="2400" dirty="0"/>
                  <a:t>衝突した物体同士、両方共が衝突後に同じ速度になる衝突。</a:t>
                </a:r>
                <a:endParaRPr lang="en-US" altLang="ja-JP" sz="2400" dirty="0"/>
              </a:p>
              <a:p>
                <a:r>
                  <a:rPr lang="ja-JP" altLang="en-US" sz="2400" dirty="0"/>
                  <a:t>ラグビーのタックルなど、衝突後にくっついて一緒に動くこと。</a:t>
                </a:r>
                <a:endParaRPr lang="en-US" altLang="ja-JP" sz="2400" dirty="0"/>
              </a:p>
              <a:p>
                <a:endParaRPr lang="en-US" altLang="ja-JP" sz="2400" dirty="0"/>
              </a:p>
              <a:p>
                <a:r>
                  <a:rPr lang="en-US" altLang="ja-JP" sz="2400" dirty="0"/>
                  <a:t>※</a:t>
                </a:r>
                <a:r>
                  <a:rPr lang="ja-JP" altLang="en-US" sz="2400" dirty="0"/>
                  <a:t>先ほどの例題は弾性衝突の例題になります</a:t>
                </a:r>
                <a:endParaRPr lang="en-US" altLang="ja-JP" sz="2400" dirty="0"/>
              </a:p>
            </p:txBody>
          </p:sp>
        </mc:Choice>
        <mc:Fallback xmlns="">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9110186" cy="5632311"/>
              </a:xfrm>
              <a:prstGeom prst="rect">
                <a:avLst/>
              </a:prstGeom>
              <a:blipFill>
                <a:blip r:embed="rId2"/>
                <a:stretch>
                  <a:fillRect l="-1003" t="-867" r="-67" b="-1625"/>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297746906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9AABABB0-FA8F-4960-8607-367CB72F823F}"/>
              </a:ext>
            </a:extLst>
          </p:cNvPr>
          <p:cNvSpPr/>
          <p:nvPr/>
        </p:nvSpPr>
        <p:spPr>
          <a:xfrm>
            <a:off x="355600" y="1837267"/>
            <a:ext cx="5020733" cy="3419802"/>
          </a:xfrm>
          <a:prstGeom prst="round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005403" cy="584775"/>
          </a:xfrm>
          <a:prstGeom prst="rect">
            <a:avLst/>
          </a:prstGeom>
          <a:noFill/>
        </p:spPr>
        <p:txBody>
          <a:bodyPr wrap="none" rtlCol="0">
            <a:spAutoFit/>
          </a:bodyPr>
          <a:lstStyle/>
          <a:p>
            <a:r>
              <a:rPr lang="ja-JP" altLang="en-US" sz="3200" b="1" u="sng" dirty="0"/>
              <a:t>衝突</a:t>
            </a:r>
            <a:endParaRPr kumimoji="1" lang="en-US" altLang="ja-JP" sz="3200" b="1" u="sng" dirty="0"/>
          </a:p>
        </p:txBody>
      </p:sp>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6032421" cy="4639603"/>
              </a:xfrm>
              <a:prstGeom prst="rect">
                <a:avLst/>
              </a:prstGeom>
              <a:noFill/>
            </p:spPr>
            <p:txBody>
              <a:bodyPr wrap="none" rtlCol="0">
                <a:spAutoFit/>
              </a:bodyPr>
              <a:lstStyle/>
              <a:p>
                <a:r>
                  <a:rPr lang="ja-JP" altLang="en-US" sz="2400" dirty="0"/>
                  <a:t>これまでを踏まえた衝突の定義です。</a:t>
                </a:r>
                <a:endParaRPr lang="en-US" altLang="ja-JP" sz="2400" dirty="0"/>
              </a:p>
              <a:p>
                <a:endParaRPr lang="en-US" altLang="ja-JP" sz="2400" dirty="0"/>
              </a:p>
              <a:p>
                <a:r>
                  <a:rPr lang="ja-JP" altLang="en-US" sz="2400" b="1" dirty="0">
                    <a:solidFill>
                      <a:srgbClr val="FF0000"/>
                    </a:solidFill>
                  </a:rPr>
                  <a:t>■一直線上の衝突（正面衝突）</a:t>
                </a:r>
                <a:endParaRPr lang="en-US" altLang="ja-JP" sz="2400" b="1" dirty="0">
                  <a:solidFill>
                    <a:srgbClr val="FF0000"/>
                  </a:solidFill>
                </a:endParaRPr>
              </a:p>
              <a:p>
                <a14:m>
                  <m:oMath xmlns:m="http://schemas.openxmlformats.org/officeDocument/2006/math">
                    <m:d>
                      <m:dPr>
                        <m:ctrlPr>
                          <a:rPr lang="en-US" altLang="ja-JP" sz="2400" b="0" i="1" smtClean="0">
                            <a:latin typeface="Cambria Math" panose="02040503050406030204" pitchFamily="18" charset="0"/>
                          </a:rPr>
                        </m:ctrlPr>
                      </m:dPr>
                      <m:e>
                        <m:sSub>
                          <m:sSubPr>
                            <m:ctrlPr>
                              <a:rPr lang="en-US" altLang="ja-JP" sz="2400" b="0" i="1" smtClean="0">
                                <a:latin typeface="Cambria Math" panose="02040503050406030204" pitchFamily="18" charset="0"/>
                              </a:rPr>
                            </m:ctrlPr>
                          </m:sSubPr>
                          <m:e>
                            <m:r>
                              <a:rPr lang="en-US" altLang="ja-JP" sz="2400" b="0" i="1" smtClean="0">
                                <a:latin typeface="Cambria Math" panose="02040503050406030204" pitchFamily="18" charset="0"/>
                              </a:rPr>
                              <m:t>𝑣</m:t>
                            </m:r>
                          </m:e>
                          <m:sub>
                            <m:r>
                              <a:rPr lang="en-US" altLang="ja-JP" sz="2400" b="0" i="1" smtClean="0">
                                <a:latin typeface="Cambria Math" panose="02040503050406030204" pitchFamily="18" charset="0"/>
                              </a:rPr>
                              <m:t>1</m:t>
                            </m:r>
                            <m:r>
                              <a:rPr lang="en-US" altLang="ja-JP" sz="2400" b="0" i="1" smtClean="0">
                                <a:latin typeface="Cambria Math" panose="02040503050406030204" pitchFamily="18" charset="0"/>
                              </a:rPr>
                              <m:t>𝑓</m:t>
                            </m:r>
                          </m:sub>
                        </m:sSub>
                        <m:r>
                          <a:rPr lang="en-US" altLang="ja-JP" sz="2400" b="0" i="1" smtClean="0">
                            <a:latin typeface="Cambria Math" panose="02040503050406030204" pitchFamily="18" charset="0"/>
                          </a:rPr>
                          <m:t>−</m:t>
                        </m:r>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a:rPr lang="en-US" altLang="ja-JP" sz="2400" b="0" i="1" smtClean="0">
                                <a:latin typeface="Cambria Math" panose="02040503050406030204" pitchFamily="18" charset="0"/>
                              </a:rPr>
                              <m:t>2</m:t>
                            </m:r>
                            <m:r>
                              <a:rPr lang="en-US" altLang="ja-JP" sz="2400" i="1">
                                <a:latin typeface="Cambria Math" panose="02040503050406030204" pitchFamily="18" charset="0"/>
                              </a:rPr>
                              <m:t>𝑓</m:t>
                            </m:r>
                          </m:sub>
                        </m:sSub>
                      </m:e>
                    </m:d>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𝑒</m:t>
                    </m:r>
                    <m:r>
                      <a:rPr lang="en-US" altLang="ja-JP" sz="2400" b="0" i="1" smtClean="0">
                        <a:latin typeface="Cambria Math" panose="02040503050406030204" pitchFamily="18" charset="0"/>
                      </a:rPr>
                      <m:t>(</m:t>
                    </m:r>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a:rPr lang="en-US" altLang="ja-JP" sz="2400" i="1">
                            <a:latin typeface="Cambria Math" panose="02040503050406030204" pitchFamily="18" charset="0"/>
                          </a:rPr>
                          <m:t>1</m:t>
                        </m:r>
                        <m:r>
                          <a:rPr lang="en-US" altLang="ja-JP" sz="2400" b="0" i="1" smtClean="0">
                            <a:latin typeface="Cambria Math" panose="02040503050406030204" pitchFamily="18" charset="0"/>
                          </a:rPr>
                          <m:t>𝑖</m:t>
                        </m:r>
                      </m:sub>
                    </m:sSub>
                    <m:r>
                      <a:rPr lang="en-US" altLang="ja-JP" sz="2400" i="1">
                        <a:latin typeface="Cambria Math" panose="02040503050406030204" pitchFamily="18" charset="0"/>
                      </a:rPr>
                      <m:t>−</m:t>
                    </m:r>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a:rPr lang="en-US" altLang="ja-JP" sz="2400" i="1">
                            <a:latin typeface="Cambria Math" panose="02040503050406030204" pitchFamily="18" charset="0"/>
                          </a:rPr>
                          <m:t>2</m:t>
                        </m:r>
                        <m:r>
                          <a:rPr lang="en-US" altLang="ja-JP" sz="2400" b="0" i="1" smtClean="0">
                            <a:latin typeface="Cambria Math" panose="02040503050406030204" pitchFamily="18" charset="0"/>
                          </a:rPr>
                          <m:t>𝑖</m:t>
                        </m:r>
                      </m:sub>
                    </m:sSub>
                    <m:r>
                      <a:rPr lang="en-US" altLang="ja-JP" sz="2400" b="0" i="1" smtClean="0">
                        <a:latin typeface="Cambria Math" panose="02040503050406030204" pitchFamily="18" charset="0"/>
                      </a:rPr>
                      <m:t>)</m:t>
                    </m:r>
                  </m:oMath>
                </a14:m>
                <a:r>
                  <a:rPr lang="en-US" altLang="ja-JP" sz="2400" dirty="0"/>
                  <a:t> </a:t>
                </a:r>
              </a:p>
              <a:p>
                <a:endParaRPr lang="en-US" altLang="ja-JP" sz="2400" dirty="0"/>
              </a:p>
              <a:p>
                <a14:m>
                  <m:oMath xmlns:m="http://schemas.openxmlformats.org/officeDocument/2006/math">
                    <m:sSub>
                      <m:sSubPr>
                        <m:ctrlPr>
                          <a:rPr lang="en-US" altLang="ja-JP" sz="2400" i="1" smtClean="0">
                            <a:latin typeface="Cambria Math" panose="02040503050406030204" pitchFamily="18" charset="0"/>
                          </a:rPr>
                        </m:ctrlPr>
                      </m:sSubPr>
                      <m:e>
                        <m:r>
                          <a:rPr lang="en-US" altLang="ja-JP" sz="2400" i="1">
                            <a:latin typeface="Cambria Math" panose="02040503050406030204" pitchFamily="18" charset="0"/>
                          </a:rPr>
                          <m:t>𝑣</m:t>
                        </m:r>
                      </m:e>
                      <m:sub>
                        <m:r>
                          <a:rPr lang="en-US" altLang="ja-JP" sz="2400" i="1">
                            <a:latin typeface="Cambria Math" panose="02040503050406030204" pitchFamily="18" charset="0"/>
                          </a:rPr>
                          <m:t>1</m:t>
                        </m:r>
                        <m:r>
                          <a:rPr lang="en-US" altLang="ja-JP" sz="2400" b="0" i="1" smtClean="0">
                            <a:latin typeface="Cambria Math" panose="02040503050406030204" pitchFamily="18" charset="0"/>
                          </a:rPr>
                          <m:t>𝑖</m:t>
                        </m:r>
                      </m:sub>
                    </m:sSub>
                  </m:oMath>
                </a14:m>
                <a:r>
                  <a:rPr lang="en-US" altLang="ja-JP" sz="2400" dirty="0"/>
                  <a:t>	</a:t>
                </a:r>
                <a:r>
                  <a:rPr lang="ja-JP" altLang="en-US" sz="2400" dirty="0"/>
                  <a:t>・・・物体１の初速度</a:t>
                </a:r>
                <a:endParaRPr lang="en-US" altLang="ja-JP" sz="2400" dirty="0"/>
              </a:p>
              <a:p>
                <a14:m>
                  <m:oMath xmlns:m="http://schemas.openxmlformats.org/officeDocument/2006/math">
                    <m:sSub>
                      <m:sSubPr>
                        <m:ctrlPr>
                          <a:rPr lang="en-US" altLang="ja-JP" sz="2400" b="0" i="1" smtClean="0">
                            <a:latin typeface="Cambria Math" panose="02040503050406030204" pitchFamily="18" charset="0"/>
                          </a:rPr>
                        </m:ctrlPr>
                      </m:sSubPr>
                      <m:e>
                        <m:r>
                          <a:rPr lang="en-US" altLang="ja-JP" sz="2400" b="0" i="1" smtClean="0">
                            <a:latin typeface="Cambria Math" panose="02040503050406030204" pitchFamily="18" charset="0"/>
                          </a:rPr>
                          <m:t>𝑣</m:t>
                        </m:r>
                      </m:e>
                      <m:sub>
                        <m:r>
                          <a:rPr lang="en-US" altLang="ja-JP" sz="2400" b="0" i="1" smtClean="0">
                            <a:latin typeface="Cambria Math" panose="02040503050406030204" pitchFamily="18" charset="0"/>
                          </a:rPr>
                          <m:t>1</m:t>
                        </m:r>
                        <m:r>
                          <a:rPr lang="en-US" altLang="ja-JP" sz="2400" b="0" i="1" smtClean="0">
                            <a:latin typeface="Cambria Math" panose="02040503050406030204" pitchFamily="18" charset="0"/>
                          </a:rPr>
                          <m:t>𝑓</m:t>
                        </m:r>
                      </m:sub>
                    </m:sSub>
                  </m:oMath>
                </a14:m>
                <a:r>
                  <a:rPr lang="en-US" altLang="ja-JP" sz="2400" dirty="0"/>
                  <a:t>	</a:t>
                </a:r>
                <a:r>
                  <a:rPr lang="ja-JP" altLang="en-US" sz="2400" dirty="0"/>
                  <a:t>・・・物体１の最終速度</a:t>
                </a:r>
                <a:endParaRPr lang="en-US" altLang="ja-JP" sz="2400" dirty="0"/>
              </a:p>
              <a:p>
                <a14:m>
                  <m:oMath xmlns:m="http://schemas.openxmlformats.org/officeDocument/2006/math">
                    <m:sSub>
                      <m:sSubPr>
                        <m:ctrlPr>
                          <a:rPr lang="en-US" altLang="ja-JP" sz="2400" i="1" smtClean="0">
                            <a:latin typeface="Cambria Math" panose="02040503050406030204" pitchFamily="18" charset="0"/>
                          </a:rPr>
                        </m:ctrlPr>
                      </m:sSubPr>
                      <m:e>
                        <m:r>
                          <a:rPr lang="en-US" altLang="ja-JP" sz="2400" i="1">
                            <a:latin typeface="Cambria Math" panose="02040503050406030204" pitchFamily="18" charset="0"/>
                          </a:rPr>
                          <m:t>𝑣</m:t>
                        </m:r>
                      </m:e>
                      <m:sub>
                        <m:r>
                          <a:rPr lang="en-US" altLang="ja-JP" sz="2400" b="0" i="1" smtClean="0">
                            <a:latin typeface="Cambria Math" panose="02040503050406030204" pitchFamily="18" charset="0"/>
                          </a:rPr>
                          <m:t>2</m:t>
                        </m:r>
                        <m:r>
                          <a:rPr lang="en-US" altLang="ja-JP" sz="2400" b="0" i="1" smtClean="0">
                            <a:latin typeface="Cambria Math" panose="02040503050406030204" pitchFamily="18" charset="0"/>
                          </a:rPr>
                          <m:t>𝑖</m:t>
                        </m:r>
                      </m:sub>
                    </m:sSub>
                  </m:oMath>
                </a14:m>
                <a:r>
                  <a:rPr lang="en-US" altLang="ja-JP" sz="2400" dirty="0"/>
                  <a:t>	</a:t>
                </a:r>
                <a:r>
                  <a:rPr lang="ja-JP" altLang="en-US" sz="2400" dirty="0"/>
                  <a:t>・・・物体２の初速度</a:t>
                </a:r>
                <a:endParaRPr lang="en-US" altLang="ja-JP" sz="2400" dirty="0"/>
              </a:p>
              <a:p>
                <a14:m>
                  <m:oMath xmlns:m="http://schemas.openxmlformats.org/officeDocument/2006/math">
                    <m:sSub>
                      <m:sSubPr>
                        <m:ctrlPr>
                          <a:rPr lang="en-US" altLang="ja-JP" sz="2400" b="0" i="1" smtClean="0">
                            <a:latin typeface="Cambria Math" panose="02040503050406030204" pitchFamily="18" charset="0"/>
                          </a:rPr>
                        </m:ctrlPr>
                      </m:sSubPr>
                      <m:e>
                        <m:r>
                          <a:rPr lang="en-US" altLang="ja-JP" sz="2400" b="0" i="1" smtClean="0">
                            <a:latin typeface="Cambria Math" panose="02040503050406030204" pitchFamily="18" charset="0"/>
                          </a:rPr>
                          <m:t>𝑣</m:t>
                        </m:r>
                      </m:e>
                      <m:sub>
                        <m:r>
                          <a:rPr lang="en-US" altLang="ja-JP" sz="2400" b="0" i="1" smtClean="0">
                            <a:latin typeface="Cambria Math" panose="02040503050406030204" pitchFamily="18" charset="0"/>
                          </a:rPr>
                          <m:t>2</m:t>
                        </m:r>
                        <m:r>
                          <a:rPr lang="en-US" altLang="ja-JP" sz="2400" b="0" i="1" smtClean="0">
                            <a:latin typeface="Cambria Math" panose="02040503050406030204" pitchFamily="18" charset="0"/>
                          </a:rPr>
                          <m:t>𝑓</m:t>
                        </m:r>
                      </m:sub>
                    </m:sSub>
                  </m:oMath>
                </a14:m>
                <a:r>
                  <a:rPr lang="en-US" altLang="ja-JP" sz="2400" dirty="0"/>
                  <a:t>	</a:t>
                </a:r>
                <a:r>
                  <a:rPr lang="ja-JP" altLang="en-US" sz="2400" dirty="0"/>
                  <a:t>・・・物体２の最終速度</a:t>
                </a:r>
                <a:endParaRPr lang="en-US" altLang="ja-JP" sz="2400" dirty="0"/>
              </a:p>
              <a:p>
                <a14:m>
                  <m:oMath xmlns:m="http://schemas.openxmlformats.org/officeDocument/2006/math">
                    <m:r>
                      <a:rPr lang="en-US" altLang="ja-JP" sz="2400" b="0" i="1" smtClean="0">
                        <a:latin typeface="Cambria Math" panose="02040503050406030204" pitchFamily="18" charset="0"/>
                      </a:rPr>
                      <m:t>𝑒</m:t>
                    </m:r>
                  </m:oMath>
                </a14:m>
                <a:r>
                  <a:rPr lang="en-US" altLang="ja-JP" sz="2400" dirty="0"/>
                  <a:t>	</a:t>
                </a:r>
                <a:r>
                  <a:rPr lang="ja-JP" altLang="en-US" sz="2400" dirty="0"/>
                  <a:t>・・・はねかえり係数</a:t>
                </a:r>
                <a:endParaRPr lang="en-US" altLang="ja-JP" sz="2400" dirty="0"/>
              </a:p>
              <a:p>
                <a:endParaRPr lang="en-US" altLang="ja-JP" sz="2400" dirty="0"/>
              </a:p>
              <a:p>
                <a:r>
                  <a:rPr lang="en-US" altLang="ja-JP" sz="2400" dirty="0"/>
                  <a:t>※</a:t>
                </a:r>
                <a:r>
                  <a:rPr lang="ja-JP" altLang="en-US" sz="2400" dirty="0"/>
                  <a:t>かすめるような衝突はまた違ってきます</a:t>
                </a:r>
                <a:endParaRPr lang="en-US" altLang="ja-JP" sz="2400" dirty="0"/>
              </a:p>
            </p:txBody>
          </p:sp>
        </mc:Choice>
        <mc:Fallback xmlns="">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6032421" cy="4639603"/>
              </a:xfrm>
              <a:prstGeom prst="rect">
                <a:avLst/>
              </a:prstGeom>
              <a:blipFill>
                <a:blip r:embed="rId2"/>
                <a:stretch>
                  <a:fillRect l="-1515" t="-1051" r="-606" b="-2102"/>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266022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943161" cy="584775"/>
          </a:xfrm>
          <a:prstGeom prst="rect">
            <a:avLst/>
          </a:prstGeom>
          <a:noFill/>
        </p:spPr>
        <p:txBody>
          <a:bodyPr wrap="none" rtlCol="0">
            <a:spAutoFit/>
          </a:bodyPr>
          <a:lstStyle/>
          <a:p>
            <a:r>
              <a:rPr lang="ja-JP" altLang="en-US" sz="3200" b="1" u="sng" dirty="0"/>
              <a:t>衝突 例題</a:t>
            </a:r>
            <a:endParaRPr kumimoji="1" lang="en-US" altLang="ja-JP" sz="3200" b="1" u="sng" dirty="0"/>
          </a:p>
        </p:txBody>
      </p:sp>
      <mc:AlternateContent xmlns:mc="http://schemas.openxmlformats.org/markup-compatibility/2006">
        <mc:Choice xmlns:a14="http://schemas.microsoft.com/office/drawing/2010/main"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417963" cy="4642809"/>
              </a:xfrm>
              <a:prstGeom prst="rect">
                <a:avLst/>
              </a:prstGeom>
              <a:noFill/>
            </p:spPr>
            <p:txBody>
              <a:bodyPr wrap="none" rtlCol="0">
                <a:spAutoFit/>
              </a:bodyPr>
              <a:lstStyle/>
              <a:p>
                <a:r>
                  <a:rPr lang="ja-JP" altLang="en-US" sz="2400" dirty="0"/>
                  <a:t>以下の２つの鉛玉が衝突した後の、それぞれの速度を求めなさい。</a:t>
                </a:r>
                <a:endParaRPr lang="en-US" altLang="ja-JP" sz="2400" dirty="0"/>
              </a:p>
              <a:p>
                <a:r>
                  <a:rPr lang="ja-JP" altLang="en-US" sz="2400" dirty="0"/>
                  <a:t>ただし、衝突は正面衝突で、鉛同士のはねかえり係数は</a:t>
                </a:r>
                <a:r>
                  <a:rPr lang="en-US" altLang="ja-JP" sz="2400" dirty="0"/>
                  <a:t>0.2</a:t>
                </a:r>
                <a:r>
                  <a:rPr lang="ja-JP" altLang="en-US" sz="2400" dirty="0"/>
                  <a:t>とする</a:t>
                </a:r>
                <a:endParaRPr lang="en-US" altLang="ja-JP" sz="2400" dirty="0"/>
              </a:p>
              <a:p>
                <a:r>
                  <a:rPr lang="ja-JP" altLang="en-US" sz="2400" dirty="0"/>
                  <a:t>■鉛玉</a:t>
                </a:r>
                <a:r>
                  <a:rPr lang="en-US" altLang="ja-JP" sz="2400" dirty="0"/>
                  <a:t>A</a:t>
                </a:r>
              </a:p>
              <a:p>
                <a:r>
                  <a:rPr lang="ja-JP" altLang="en-US" sz="2400" dirty="0"/>
                  <a:t>・質量：</a:t>
                </a:r>
                <a14:m>
                  <m:oMath xmlns:m="http://schemas.openxmlformats.org/officeDocument/2006/math">
                    <m:r>
                      <a:rPr lang="en-US" altLang="ja-JP" sz="2400" i="1" dirty="0" smtClean="0">
                        <a:latin typeface="Cambria Math" panose="02040503050406030204" pitchFamily="18" charset="0"/>
                      </a:rPr>
                      <m:t>500</m:t>
                    </m:r>
                    <m:r>
                      <a:rPr lang="en-US" altLang="ja-JP" sz="2400" i="1" dirty="0" smtClean="0">
                        <a:latin typeface="Cambria Math" panose="02040503050406030204" pitchFamily="18" charset="0"/>
                      </a:rPr>
                      <m:t>𝑔</m:t>
                    </m:r>
                  </m:oMath>
                </a14:m>
                <a:r>
                  <a:rPr lang="en-US" altLang="ja-JP" sz="2400" dirty="0"/>
                  <a:t>	</a:t>
                </a:r>
                <a:r>
                  <a:rPr lang="ja-JP" altLang="en-US" sz="2400" dirty="0"/>
                  <a:t>・速度</a:t>
                </a:r>
                <a14:m>
                  <m:oMath xmlns:m="http://schemas.openxmlformats.org/officeDocument/2006/math">
                    <m:r>
                      <a:rPr lang="en-US" altLang="ja-JP" sz="2400" i="1" dirty="0" smtClean="0">
                        <a:latin typeface="Cambria Math" panose="02040503050406030204" pitchFamily="18" charset="0"/>
                      </a:rPr>
                      <m:t>30</m:t>
                    </m:r>
                    <m:r>
                      <a:rPr lang="en-US" altLang="ja-JP" sz="2400" i="1" dirty="0" smtClean="0">
                        <a:latin typeface="Cambria Math" panose="02040503050406030204" pitchFamily="18" charset="0"/>
                      </a:rPr>
                      <m:t>𝑚</m:t>
                    </m:r>
                    <m:r>
                      <a:rPr lang="en-US" altLang="ja-JP" sz="2400" i="1" dirty="0" smtClean="0">
                        <a:latin typeface="Cambria Math" panose="02040503050406030204" pitchFamily="18" charset="0"/>
                      </a:rPr>
                      <m:t>/</m:t>
                    </m:r>
                    <m:r>
                      <a:rPr lang="ja-JP" altLang="en-US" sz="2400" i="1" dirty="0" smtClean="0">
                        <a:latin typeface="Cambria Math" panose="02040503050406030204" pitchFamily="18" charset="0"/>
                      </a:rPr>
                      <m:t>秒</m:t>
                    </m:r>
                  </m:oMath>
                </a14:m>
                <a:endParaRPr lang="en-US" altLang="ja-JP" sz="2400" dirty="0"/>
              </a:p>
              <a:p>
                <a:r>
                  <a:rPr lang="ja-JP" altLang="en-US" sz="2400" dirty="0"/>
                  <a:t>■鉛玉</a:t>
                </a:r>
                <a:r>
                  <a:rPr lang="en-US" altLang="ja-JP" sz="2400" dirty="0"/>
                  <a:t>B</a:t>
                </a:r>
              </a:p>
              <a:p>
                <a:r>
                  <a:rPr lang="ja-JP" altLang="en-US" sz="2400" dirty="0"/>
                  <a:t>・質量：</a:t>
                </a:r>
                <a14:m>
                  <m:oMath xmlns:m="http://schemas.openxmlformats.org/officeDocument/2006/math">
                    <m:r>
                      <a:rPr lang="en-US" altLang="ja-JP" sz="2400" i="1" dirty="0" smtClean="0">
                        <a:latin typeface="Cambria Math" panose="02040503050406030204" pitchFamily="18" charset="0"/>
                      </a:rPr>
                      <m:t>800</m:t>
                    </m:r>
                    <m:r>
                      <a:rPr lang="en-US" altLang="ja-JP" sz="2400" i="1" dirty="0" smtClean="0">
                        <a:latin typeface="Cambria Math" panose="02040503050406030204" pitchFamily="18" charset="0"/>
                      </a:rPr>
                      <m:t>𝑔</m:t>
                    </m:r>
                  </m:oMath>
                </a14:m>
                <a:r>
                  <a:rPr lang="en-US" altLang="ja-JP" sz="2400" dirty="0"/>
                  <a:t>	</a:t>
                </a:r>
                <a:r>
                  <a:rPr lang="ja-JP" altLang="en-US" sz="2400" dirty="0"/>
                  <a:t>・速度</a:t>
                </a:r>
                <a14:m>
                  <m:oMath xmlns:m="http://schemas.openxmlformats.org/officeDocument/2006/math">
                    <m:r>
                      <a:rPr lang="en-US" altLang="ja-JP" sz="2400" i="1" dirty="0" smtClean="0">
                        <a:latin typeface="Cambria Math" panose="02040503050406030204" pitchFamily="18" charset="0"/>
                      </a:rPr>
                      <m:t>−40</m:t>
                    </m:r>
                    <m:r>
                      <a:rPr lang="en-US" altLang="ja-JP" sz="2400" i="1" dirty="0" smtClean="0">
                        <a:latin typeface="Cambria Math" panose="02040503050406030204" pitchFamily="18" charset="0"/>
                      </a:rPr>
                      <m:t>𝑚</m:t>
                    </m:r>
                    <m:r>
                      <a:rPr lang="en-US" altLang="ja-JP" sz="2400" i="1" dirty="0" smtClean="0">
                        <a:latin typeface="Cambria Math" panose="02040503050406030204" pitchFamily="18" charset="0"/>
                      </a:rPr>
                      <m:t>/</m:t>
                    </m:r>
                    <m:r>
                      <a:rPr lang="ja-JP" altLang="en-US" sz="2400" i="1" dirty="0" smtClean="0">
                        <a:latin typeface="Cambria Math" panose="02040503050406030204" pitchFamily="18" charset="0"/>
                      </a:rPr>
                      <m:t>秒</m:t>
                    </m:r>
                  </m:oMath>
                </a14:m>
                <a:endParaRPr lang="en-US" altLang="ja-JP" sz="2400" dirty="0"/>
              </a:p>
              <a:p>
                <a:endParaRPr lang="en-US" altLang="ja-JP" sz="2400" dirty="0"/>
              </a:p>
              <a:p>
                <a:r>
                  <a:rPr lang="ja-JP" altLang="en-US" sz="2400" b="1" dirty="0">
                    <a:solidFill>
                      <a:srgbClr val="FF0000"/>
                    </a:solidFill>
                  </a:rPr>
                  <a:t>■解答</a:t>
                </a:r>
                <a:endParaRPr lang="en-US" altLang="ja-JP" sz="2400" b="1" dirty="0">
                  <a:solidFill>
                    <a:srgbClr val="FF0000"/>
                  </a:solidFill>
                </a:endParaRPr>
              </a:p>
              <a:p>
                <a14:m>
                  <m:oMath xmlns:m="http://schemas.openxmlformats.org/officeDocument/2006/math">
                    <m:sSub>
                      <m:sSubPr>
                        <m:ctrlPr>
                          <a:rPr lang="en-US" altLang="ja-JP" sz="2400" i="1" smtClean="0">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𝑚</m:t>
                        </m:r>
                      </m:e>
                      <m:sub>
                        <m:r>
                          <a:rPr lang="en-US" altLang="ja-JP" sz="2400" b="0" i="1">
                            <a:solidFill>
                              <a:schemeClr val="tx1"/>
                            </a:solidFill>
                            <a:latin typeface="Cambria Math" panose="02040503050406030204" pitchFamily="18" charset="0"/>
                          </a:rPr>
                          <m:t>1</m:t>
                        </m:r>
                      </m:sub>
                    </m:sSub>
                    <m:sSub>
                      <m:sSubPr>
                        <m:ctrlPr>
                          <a:rPr lang="en-US" altLang="ja-JP" sz="2400" i="1">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𝑣</m:t>
                        </m:r>
                      </m:e>
                      <m:sub>
                        <m:r>
                          <a:rPr lang="en-US" altLang="ja-JP" sz="2400" b="0" i="1">
                            <a:solidFill>
                              <a:schemeClr val="tx1"/>
                            </a:solidFill>
                            <a:latin typeface="Cambria Math" panose="02040503050406030204" pitchFamily="18" charset="0"/>
                          </a:rPr>
                          <m:t>1</m:t>
                        </m:r>
                        <m:r>
                          <a:rPr lang="en-US" altLang="ja-JP" sz="2400" b="0" i="1">
                            <a:solidFill>
                              <a:schemeClr val="tx1"/>
                            </a:solidFill>
                            <a:latin typeface="Cambria Math" panose="02040503050406030204" pitchFamily="18" charset="0"/>
                          </a:rPr>
                          <m:t>𝑖</m:t>
                        </m:r>
                      </m:sub>
                    </m:sSub>
                    <m:r>
                      <a:rPr lang="en-US" altLang="ja-JP" sz="2400" b="0" i="1">
                        <a:solidFill>
                          <a:schemeClr val="tx1"/>
                        </a:solidFill>
                        <a:latin typeface="Cambria Math" panose="02040503050406030204" pitchFamily="18" charset="0"/>
                      </a:rPr>
                      <m:t>+</m:t>
                    </m:r>
                    <m:sSub>
                      <m:sSubPr>
                        <m:ctrlPr>
                          <a:rPr lang="en-US" altLang="ja-JP" sz="2400" i="1">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𝑚</m:t>
                        </m:r>
                      </m:e>
                      <m:sub>
                        <m:r>
                          <a:rPr lang="en-US" altLang="ja-JP" sz="2400" b="0" i="1">
                            <a:solidFill>
                              <a:schemeClr val="tx1"/>
                            </a:solidFill>
                            <a:latin typeface="Cambria Math" panose="02040503050406030204" pitchFamily="18" charset="0"/>
                          </a:rPr>
                          <m:t>2</m:t>
                        </m:r>
                      </m:sub>
                    </m:sSub>
                    <m:sSub>
                      <m:sSubPr>
                        <m:ctrlPr>
                          <a:rPr lang="en-US" altLang="ja-JP" sz="2400" i="1">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𝑣</m:t>
                        </m:r>
                      </m:e>
                      <m:sub>
                        <m:r>
                          <a:rPr lang="en-US" altLang="ja-JP" sz="2400" b="0" i="1">
                            <a:solidFill>
                              <a:schemeClr val="tx1"/>
                            </a:solidFill>
                            <a:latin typeface="Cambria Math" panose="02040503050406030204" pitchFamily="18" charset="0"/>
                          </a:rPr>
                          <m:t>2</m:t>
                        </m:r>
                        <m:r>
                          <a:rPr lang="en-US" altLang="ja-JP" sz="2400" b="0" i="1">
                            <a:solidFill>
                              <a:schemeClr val="tx1"/>
                            </a:solidFill>
                            <a:latin typeface="Cambria Math" panose="02040503050406030204" pitchFamily="18" charset="0"/>
                          </a:rPr>
                          <m:t>𝑖</m:t>
                        </m:r>
                      </m:sub>
                    </m:sSub>
                    <m:r>
                      <a:rPr lang="en-US" altLang="ja-JP" sz="2400" b="0" i="1" smtClean="0">
                        <a:solidFill>
                          <a:schemeClr val="tx1"/>
                        </a:solidFill>
                        <a:latin typeface="Cambria Math" panose="02040503050406030204" pitchFamily="18" charset="0"/>
                      </a:rPr>
                      <m:t>=</m:t>
                    </m:r>
                    <m:sSub>
                      <m:sSubPr>
                        <m:ctrlPr>
                          <a:rPr lang="en-US" altLang="ja-JP" sz="2400" i="1">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𝑚</m:t>
                        </m:r>
                      </m:e>
                      <m:sub>
                        <m:r>
                          <a:rPr lang="en-US" altLang="ja-JP" sz="2400" b="0" i="1">
                            <a:solidFill>
                              <a:schemeClr val="tx1"/>
                            </a:solidFill>
                            <a:latin typeface="Cambria Math" panose="02040503050406030204" pitchFamily="18" charset="0"/>
                          </a:rPr>
                          <m:t>1</m:t>
                        </m:r>
                      </m:sub>
                    </m:sSub>
                    <m:sSub>
                      <m:sSubPr>
                        <m:ctrlPr>
                          <a:rPr lang="en-US" altLang="ja-JP" sz="2400" i="1">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𝑣</m:t>
                        </m:r>
                      </m:e>
                      <m:sub>
                        <m:r>
                          <a:rPr lang="en-US" altLang="ja-JP" sz="2400" b="0" i="1">
                            <a:solidFill>
                              <a:schemeClr val="tx1"/>
                            </a:solidFill>
                            <a:latin typeface="Cambria Math" panose="02040503050406030204" pitchFamily="18" charset="0"/>
                          </a:rPr>
                          <m:t>1</m:t>
                        </m:r>
                        <m:r>
                          <a:rPr lang="en-US" altLang="ja-JP" sz="2400" b="0" i="1">
                            <a:solidFill>
                              <a:schemeClr val="tx1"/>
                            </a:solidFill>
                            <a:latin typeface="Cambria Math" panose="02040503050406030204" pitchFamily="18" charset="0"/>
                          </a:rPr>
                          <m:t>𝑓</m:t>
                        </m:r>
                      </m:sub>
                    </m:sSub>
                    <m:r>
                      <a:rPr lang="en-US" altLang="ja-JP" sz="2400" b="0" i="1">
                        <a:solidFill>
                          <a:schemeClr val="tx1"/>
                        </a:solidFill>
                        <a:latin typeface="Cambria Math" panose="02040503050406030204" pitchFamily="18" charset="0"/>
                      </a:rPr>
                      <m:t>+</m:t>
                    </m:r>
                    <m:sSub>
                      <m:sSubPr>
                        <m:ctrlPr>
                          <a:rPr lang="en-US" altLang="ja-JP" sz="2400" i="1">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𝑚</m:t>
                        </m:r>
                      </m:e>
                      <m:sub>
                        <m:r>
                          <a:rPr lang="en-US" altLang="ja-JP" sz="2400" b="0" i="1">
                            <a:solidFill>
                              <a:schemeClr val="tx1"/>
                            </a:solidFill>
                            <a:latin typeface="Cambria Math" panose="02040503050406030204" pitchFamily="18" charset="0"/>
                          </a:rPr>
                          <m:t>2</m:t>
                        </m:r>
                      </m:sub>
                    </m:sSub>
                    <m:sSub>
                      <m:sSubPr>
                        <m:ctrlPr>
                          <a:rPr lang="en-US" altLang="ja-JP" sz="2400" i="1">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𝑣</m:t>
                        </m:r>
                      </m:e>
                      <m:sub>
                        <m:r>
                          <a:rPr lang="en-US" altLang="ja-JP" sz="2400" b="0" i="1">
                            <a:solidFill>
                              <a:schemeClr val="tx1"/>
                            </a:solidFill>
                            <a:latin typeface="Cambria Math" panose="02040503050406030204" pitchFamily="18" charset="0"/>
                          </a:rPr>
                          <m:t>2</m:t>
                        </m:r>
                        <m:r>
                          <a:rPr lang="en-US" altLang="ja-JP" sz="2400" b="0" i="1">
                            <a:solidFill>
                              <a:schemeClr val="tx1"/>
                            </a:solidFill>
                            <a:latin typeface="Cambria Math" panose="02040503050406030204" pitchFamily="18" charset="0"/>
                          </a:rPr>
                          <m:t>𝑓</m:t>
                        </m:r>
                      </m:sub>
                    </m:sSub>
                  </m:oMath>
                </a14:m>
                <a:r>
                  <a:rPr lang="en-US" altLang="ja-JP" sz="2400" i="1" dirty="0">
                    <a:solidFill>
                      <a:schemeClr val="tx1"/>
                    </a:solidFill>
                    <a:latin typeface="Cambria Math" panose="02040503050406030204" pitchFamily="18" charset="0"/>
                  </a:rPr>
                  <a:t> </a:t>
                </a:r>
                <a:r>
                  <a:rPr lang="ja-JP" altLang="en-US" sz="2400" dirty="0">
                    <a:solidFill>
                      <a:schemeClr val="tx1"/>
                    </a:solidFill>
                    <a:latin typeface="Cambria Math" panose="02040503050406030204" pitchFamily="18" charset="0"/>
                  </a:rPr>
                  <a:t>より、</a:t>
                </a:r>
                <a:endParaRPr lang="en-US" altLang="ja-JP" sz="2400" i="1" dirty="0">
                  <a:solidFill>
                    <a:schemeClr val="tx1"/>
                  </a:solidFill>
                  <a:latin typeface="Cambria Math" panose="02040503050406030204" pitchFamily="18" charset="0"/>
                </a:endParaRPr>
              </a:p>
              <a:p>
                <a14:m>
                  <m:oMath xmlns:m="http://schemas.openxmlformats.org/officeDocument/2006/math">
                    <m:r>
                      <a:rPr lang="en-US" altLang="ja-JP" sz="2400" i="1" smtClean="0">
                        <a:solidFill>
                          <a:schemeClr val="tx1"/>
                        </a:solidFill>
                        <a:latin typeface="Cambria Math" panose="02040503050406030204" pitchFamily="18" charset="0"/>
                      </a:rPr>
                      <m:t>(</m:t>
                    </m:r>
                    <m:r>
                      <a:rPr lang="en-US" altLang="ja-JP" sz="2400" b="0" i="1" smtClean="0">
                        <a:solidFill>
                          <a:schemeClr val="tx1"/>
                        </a:solidFill>
                        <a:latin typeface="Cambria Math" panose="02040503050406030204" pitchFamily="18" charset="0"/>
                      </a:rPr>
                      <m:t>0.5)</m:t>
                    </m:r>
                    <m:r>
                      <a:rPr lang="en-US" altLang="ja-JP" sz="2400" i="1" smtClean="0">
                        <a:solidFill>
                          <a:schemeClr val="tx1"/>
                        </a:solidFill>
                        <a:latin typeface="Cambria Math" panose="02040503050406030204" pitchFamily="18" charset="0"/>
                      </a:rPr>
                      <m:t>(</m:t>
                    </m:r>
                    <m:r>
                      <a:rPr lang="en-US" altLang="ja-JP" sz="2400" b="0" i="1" smtClean="0">
                        <a:solidFill>
                          <a:schemeClr val="tx1"/>
                        </a:solidFill>
                        <a:latin typeface="Cambria Math" panose="02040503050406030204" pitchFamily="18" charset="0"/>
                      </a:rPr>
                      <m:t>30)</m:t>
                    </m:r>
                    <m:r>
                      <a:rPr lang="en-US" altLang="ja-JP" sz="2400" b="0" i="1">
                        <a:solidFill>
                          <a:schemeClr val="tx1"/>
                        </a:solidFill>
                        <a:latin typeface="Cambria Math" panose="02040503050406030204" pitchFamily="18" charset="0"/>
                      </a:rPr>
                      <m:t>+</m:t>
                    </m:r>
                    <m:r>
                      <a:rPr lang="en-US" altLang="ja-JP" sz="2400" i="1" smtClean="0">
                        <a:solidFill>
                          <a:schemeClr val="tx1"/>
                        </a:solidFill>
                        <a:latin typeface="Cambria Math" panose="02040503050406030204" pitchFamily="18" charset="0"/>
                      </a:rPr>
                      <m:t>(</m:t>
                    </m:r>
                    <m:r>
                      <a:rPr lang="en-US" altLang="ja-JP" sz="2400" b="0" i="1" smtClean="0">
                        <a:solidFill>
                          <a:schemeClr val="tx1"/>
                        </a:solidFill>
                        <a:latin typeface="Cambria Math" panose="02040503050406030204" pitchFamily="18" charset="0"/>
                      </a:rPr>
                      <m:t>0.8)</m:t>
                    </m:r>
                    <m:r>
                      <a:rPr lang="en-US" altLang="ja-JP" sz="2400" i="1" smtClean="0">
                        <a:solidFill>
                          <a:schemeClr val="tx1"/>
                        </a:solidFill>
                        <a:latin typeface="Cambria Math" panose="02040503050406030204" pitchFamily="18" charset="0"/>
                      </a:rPr>
                      <m:t>(</m:t>
                    </m:r>
                    <m:r>
                      <a:rPr lang="en-US" altLang="ja-JP" sz="2400" b="0" i="1" smtClean="0">
                        <a:solidFill>
                          <a:schemeClr val="tx1"/>
                        </a:solidFill>
                        <a:latin typeface="Cambria Math" panose="02040503050406030204" pitchFamily="18" charset="0"/>
                      </a:rPr>
                      <m:t>−40)=</m:t>
                    </m:r>
                    <m:r>
                      <a:rPr lang="en-US" altLang="ja-JP" sz="2400" i="1" smtClean="0">
                        <a:solidFill>
                          <a:schemeClr val="tx1"/>
                        </a:solidFill>
                        <a:latin typeface="Cambria Math" panose="02040503050406030204" pitchFamily="18" charset="0"/>
                      </a:rPr>
                      <m:t>(</m:t>
                    </m:r>
                    <m:r>
                      <a:rPr lang="en-US" altLang="ja-JP" sz="2400" b="0" i="1" smtClean="0">
                        <a:solidFill>
                          <a:schemeClr val="tx1"/>
                        </a:solidFill>
                        <a:latin typeface="Cambria Math" panose="02040503050406030204" pitchFamily="18" charset="0"/>
                      </a:rPr>
                      <m:t>0.5)</m:t>
                    </m:r>
                    <m:sSub>
                      <m:sSubPr>
                        <m:ctrlPr>
                          <a:rPr lang="en-US" altLang="ja-JP" sz="2400" i="1">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𝑣</m:t>
                        </m:r>
                      </m:e>
                      <m:sub>
                        <m:r>
                          <a:rPr lang="en-US" altLang="ja-JP" sz="2400" b="0" i="1">
                            <a:solidFill>
                              <a:schemeClr val="tx1"/>
                            </a:solidFill>
                            <a:latin typeface="Cambria Math" panose="02040503050406030204" pitchFamily="18" charset="0"/>
                          </a:rPr>
                          <m:t>1</m:t>
                        </m:r>
                        <m:r>
                          <a:rPr lang="en-US" altLang="ja-JP" sz="2400" b="0" i="1">
                            <a:solidFill>
                              <a:schemeClr val="tx1"/>
                            </a:solidFill>
                            <a:latin typeface="Cambria Math" panose="02040503050406030204" pitchFamily="18" charset="0"/>
                          </a:rPr>
                          <m:t>𝑓</m:t>
                        </m:r>
                      </m:sub>
                    </m:sSub>
                    <m:r>
                      <a:rPr lang="en-US" altLang="ja-JP" sz="2400" b="0" i="1">
                        <a:solidFill>
                          <a:schemeClr val="tx1"/>
                        </a:solidFill>
                        <a:latin typeface="Cambria Math" panose="02040503050406030204" pitchFamily="18" charset="0"/>
                      </a:rPr>
                      <m:t>+</m:t>
                    </m:r>
                    <m:r>
                      <a:rPr lang="en-US" altLang="ja-JP" sz="2400" b="0" i="1" smtClean="0">
                        <a:solidFill>
                          <a:schemeClr val="tx1"/>
                        </a:solidFill>
                        <a:latin typeface="Cambria Math" panose="02040503050406030204" pitchFamily="18" charset="0"/>
                      </a:rPr>
                      <m:t>(0.8)</m:t>
                    </m:r>
                    <m:sSub>
                      <m:sSubPr>
                        <m:ctrlPr>
                          <a:rPr lang="en-US" altLang="ja-JP" sz="2400" i="1">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𝑣</m:t>
                        </m:r>
                      </m:e>
                      <m:sub>
                        <m:r>
                          <a:rPr lang="en-US" altLang="ja-JP" sz="2400" b="0" i="1">
                            <a:solidFill>
                              <a:schemeClr val="tx1"/>
                            </a:solidFill>
                            <a:latin typeface="Cambria Math" panose="02040503050406030204" pitchFamily="18" charset="0"/>
                          </a:rPr>
                          <m:t>2</m:t>
                        </m:r>
                        <m:r>
                          <a:rPr lang="en-US" altLang="ja-JP" sz="2400" b="0" i="1">
                            <a:solidFill>
                              <a:schemeClr val="tx1"/>
                            </a:solidFill>
                            <a:latin typeface="Cambria Math" panose="02040503050406030204" pitchFamily="18" charset="0"/>
                          </a:rPr>
                          <m:t>𝑓</m:t>
                        </m:r>
                      </m:sub>
                    </m:sSub>
                  </m:oMath>
                </a14:m>
                <a:r>
                  <a:rPr lang="en-US" altLang="ja-JP" sz="2400" dirty="0"/>
                  <a:t> </a:t>
                </a:r>
              </a:p>
              <a:p>
                <a14:m>
                  <m:oMath xmlns:m="http://schemas.openxmlformats.org/officeDocument/2006/math">
                    <m:r>
                      <a:rPr lang="en-US" altLang="ja-JP" sz="2400" b="0" i="1">
                        <a:latin typeface="Cambria Math" panose="02040503050406030204" pitchFamily="18" charset="0"/>
                      </a:rPr>
                      <m:t>15</m:t>
                    </m:r>
                    <m:r>
                      <a:rPr lang="en-US" altLang="ja-JP" sz="2400" b="0" i="1">
                        <a:solidFill>
                          <a:schemeClr val="tx1"/>
                        </a:solidFill>
                        <a:latin typeface="Cambria Math" panose="02040503050406030204" pitchFamily="18" charset="0"/>
                      </a:rPr>
                      <m:t>+</m:t>
                    </m:r>
                    <m:r>
                      <a:rPr lang="en-US" altLang="ja-JP" sz="2400" i="1" smtClean="0">
                        <a:solidFill>
                          <a:schemeClr val="tx1"/>
                        </a:solidFill>
                        <a:latin typeface="Cambria Math" panose="02040503050406030204" pitchFamily="18" charset="0"/>
                      </a:rPr>
                      <m:t>(</m:t>
                    </m:r>
                    <m:r>
                      <a:rPr lang="en-US" altLang="ja-JP" sz="2400" b="0" i="1" smtClean="0">
                        <a:solidFill>
                          <a:schemeClr val="tx1"/>
                        </a:solidFill>
                        <a:latin typeface="Cambria Math" panose="02040503050406030204" pitchFamily="18" charset="0"/>
                      </a:rPr>
                      <m:t>−32)=0.5</m:t>
                    </m:r>
                    <m:sSub>
                      <m:sSubPr>
                        <m:ctrlPr>
                          <a:rPr lang="en-US" altLang="ja-JP" sz="2400" i="1">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𝑣</m:t>
                        </m:r>
                      </m:e>
                      <m:sub>
                        <m:r>
                          <a:rPr lang="en-US" altLang="ja-JP" sz="2400" b="0" i="1">
                            <a:solidFill>
                              <a:schemeClr val="tx1"/>
                            </a:solidFill>
                            <a:latin typeface="Cambria Math" panose="02040503050406030204" pitchFamily="18" charset="0"/>
                          </a:rPr>
                          <m:t>1</m:t>
                        </m:r>
                        <m:r>
                          <a:rPr lang="en-US" altLang="ja-JP" sz="2400" b="0" i="1">
                            <a:solidFill>
                              <a:schemeClr val="tx1"/>
                            </a:solidFill>
                            <a:latin typeface="Cambria Math" panose="02040503050406030204" pitchFamily="18" charset="0"/>
                          </a:rPr>
                          <m:t>𝑓</m:t>
                        </m:r>
                      </m:sub>
                    </m:sSub>
                    <m:r>
                      <a:rPr lang="en-US" altLang="ja-JP" sz="2400" b="0" i="1">
                        <a:solidFill>
                          <a:schemeClr val="tx1"/>
                        </a:solidFill>
                        <a:latin typeface="Cambria Math" panose="02040503050406030204" pitchFamily="18" charset="0"/>
                      </a:rPr>
                      <m:t>+</m:t>
                    </m:r>
                    <m:r>
                      <a:rPr lang="en-US" altLang="ja-JP" sz="2400" b="0" i="1" smtClean="0">
                        <a:solidFill>
                          <a:schemeClr val="tx1"/>
                        </a:solidFill>
                        <a:latin typeface="Cambria Math" panose="02040503050406030204" pitchFamily="18" charset="0"/>
                      </a:rPr>
                      <m:t>0.8</m:t>
                    </m:r>
                    <m:sSub>
                      <m:sSubPr>
                        <m:ctrlPr>
                          <a:rPr lang="en-US" altLang="ja-JP" sz="2400" i="1">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𝑣</m:t>
                        </m:r>
                      </m:e>
                      <m:sub>
                        <m:r>
                          <a:rPr lang="en-US" altLang="ja-JP" sz="2400" b="0" i="1">
                            <a:solidFill>
                              <a:schemeClr val="tx1"/>
                            </a:solidFill>
                            <a:latin typeface="Cambria Math" panose="02040503050406030204" pitchFamily="18" charset="0"/>
                          </a:rPr>
                          <m:t>2</m:t>
                        </m:r>
                        <m:r>
                          <a:rPr lang="en-US" altLang="ja-JP" sz="2400" b="0" i="1">
                            <a:solidFill>
                              <a:schemeClr val="tx1"/>
                            </a:solidFill>
                            <a:latin typeface="Cambria Math" panose="02040503050406030204" pitchFamily="18" charset="0"/>
                          </a:rPr>
                          <m:t>𝑓</m:t>
                        </m:r>
                      </m:sub>
                    </m:sSub>
                  </m:oMath>
                </a14:m>
                <a:r>
                  <a:rPr lang="en-US" altLang="ja-JP" sz="2400" dirty="0"/>
                  <a:t> </a:t>
                </a:r>
              </a:p>
              <a:p>
                <a14:m>
                  <m:oMath xmlns:m="http://schemas.openxmlformats.org/officeDocument/2006/math">
                    <m:r>
                      <a:rPr lang="en-US" altLang="ja-JP" sz="2400" i="1">
                        <a:latin typeface="Cambria Math" panose="02040503050406030204" pitchFamily="18" charset="0"/>
                      </a:rPr>
                      <m:t>0.5</m:t>
                    </m:r>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a:rPr lang="en-US" altLang="ja-JP" sz="2400" i="1">
                            <a:latin typeface="Cambria Math" panose="02040503050406030204" pitchFamily="18" charset="0"/>
                          </a:rPr>
                          <m:t>1</m:t>
                        </m:r>
                        <m:r>
                          <a:rPr lang="en-US" altLang="ja-JP" sz="2400" i="1">
                            <a:latin typeface="Cambria Math" panose="02040503050406030204" pitchFamily="18" charset="0"/>
                          </a:rPr>
                          <m:t>𝑓</m:t>
                        </m:r>
                      </m:sub>
                    </m:sSub>
                    <m:r>
                      <a:rPr lang="en-US" altLang="ja-JP" sz="2400" i="1">
                        <a:latin typeface="Cambria Math" panose="02040503050406030204" pitchFamily="18" charset="0"/>
                      </a:rPr>
                      <m:t>+0.8</m:t>
                    </m:r>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a:rPr lang="en-US" altLang="ja-JP" sz="2400" i="1">
                            <a:latin typeface="Cambria Math" panose="02040503050406030204" pitchFamily="18" charset="0"/>
                          </a:rPr>
                          <m:t>2</m:t>
                        </m:r>
                        <m:r>
                          <a:rPr lang="en-US" altLang="ja-JP" sz="2400" i="1">
                            <a:latin typeface="Cambria Math" panose="02040503050406030204" pitchFamily="18" charset="0"/>
                          </a:rPr>
                          <m:t>𝑓</m:t>
                        </m:r>
                      </m:sub>
                    </m:sSub>
                    <m:r>
                      <a:rPr lang="en-US" altLang="ja-JP" sz="2400" b="0" i="1" smtClean="0">
                        <a:solidFill>
                          <a:schemeClr val="tx1"/>
                        </a:solidFill>
                        <a:latin typeface="Cambria Math" panose="02040503050406030204" pitchFamily="18" charset="0"/>
                      </a:rPr>
                      <m:t>=</m:t>
                    </m:r>
                    <m:r>
                      <a:rPr lang="en-US" altLang="ja-JP" sz="2400" i="1">
                        <a:latin typeface="Cambria Math" panose="02040503050406030204" pitchFamily="18" charset="0"/>
                      </a:rPr>
                      <m:t>−17</m:t>
                    </m:r>
                  </m:oMath>
                </a14:m>
                <a:r>
                  <a:rPr lang="en-US" altLang="ja-JP" sz="2400" dirty="0"/>
                  <a:t>	</a:t>
                </a:r>
                <a:r>
                  <a:rPr lang="ja-JP" altLang="en-US" sz="2400" dirty="0"/>
                  <a:t>・・・①</a:t>
                </a:r>
                <a:endParaRPr lang="en-US" altLang="ja-JP" sz="2400" dirty="0"/>
              </a:p>
            </p:txBody>
          </p:sp>
        </mc:Choice>
        <mc:Fallback>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9417963" cy="4642809"/>
              </a:xfrm>
              <a:prstGeom prst="rect">
                <a:avLst/>
              </a:prstGeom>
              <a:blipFill>
                <a:blip r:embed="rId2"/>
                <a:stretch>
                  <a:fillRect l="-971" t="-1051" r="-65" b="-1708"/>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92882195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943161" cy="584775"/>
          </a:xfrm>
          <a:prstGeom prst="rect">
            <a:avLst/>
          </a:prstGeom>
          <a:noFill/>
        </p:spPr>
        <p:txBody>
          <a:bodyPr wrap="none" rtlCol="0">
            <a:spAutoFit/>
          </a:bodyPr>
          <a:lstStyle/>
          <a:p>
            <a:r>
              <a:rPr lang="ja-JP" altLang="en-US" sz="3200" b="1" u="sng" dirty="0"/>
              <a:t>衝突 例題</a:t>
            </a:r>
            <a:endParaRPr kumimoji="1" lang="en-US" altLang="ja-JP" sz="3200" b="1" u="sng" dirty="0"/>
          </a:p>
        </p:txBody>
      </p:sp>
      <mc:AlternateContent xmlns:mc="http://schemas.openxmlformats.org/markup-compatibility/2006">
        <mc:Choice xmlns:a14="http://schemas.microsoft.com/office/drawing/2010/main"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417963" cy="4639603"/>
              </a:xfrm>
              <a:prstGeom prst="rect">
                <a:avLst/>
              </a:prstGeom>
              <a:noFill/>
            </p:spPr>
            <p:txBody>
              <a:bodyPr wrap="none" rtlCol="0">
                <a:spAutoFit/>
              </a:bodyPr>
              <a:lstStyle/>
              <a:p>
                <a:r>
                  <a:rPr lang="ja-JP" altLang="en-US" sz="2400" dirty="0"/>
                  <a:t>以下の２つの鉛玉が衝突した後の、それぞれの速度を求めなさい。</a:t>
                </a:r>
                <a:endParaRPr lang="en-US" altLang="ja-JP" sz="2400" dirty="0"/>
              </a:p>
              <a:p>
                <a:r>
                  <a:rPr lang="ja-JP" altLang="en-US" sz="2400" dirty="0"/>
                  <a:t>ただし、衝突は正面衝突で、鉛同士のはねかえり係数は</a:t>
                </a:r>
                <a:r>
                  <a:rPr lang="en-US" altLang="ja-JP" sz="2400" dirty="0"/>
                  <a:t>0.2</a:t>
                </a:r>
                <a:r>
                  <a:rPr lang="ja-JP" altLang="en-US" sz="2400" dirty="0"/>
                  <a:t>とする</a:t>
                </a:r>
                <a:endParaRPr lang="en-US" altLang="ja-JP" sz="2400" dirty="0"/>
              </a:p>
              <a:p>
                <a:r>
                  <a:rPr lang="ja-JP" altLang="en-US" sz="2400" dirty="0"/>
                  <a:t>■鉛玉</a:t>
                </a:r>
                <a:r>
                  <a:rPr lang="en-US" altLang="ja-JP" sz="2400" dirty="0"/>
                  <a:t>A</a:t>
                </a:r>
              </a:p>
              <a:p>
                <a:r>
                  <a:rPr lang="ja-JP" altLang="en-US" sz="2400" dirty="0"/>
                  <a:t>・質量：</a:t>
                </a:r>
                <a14:m>
                  <m:oMath xmlns:m="http://schemas.openxmlformats.org/officeDocument/2006/math">
                    <m:r>
                      <a:rPr lang="en-US" altLang="ja-JP" sz="2400" i="1" dirty="0" smtClean="0">
                        <a:latin typeface="Cambria Math" panose="02040503050406030204" pitchFamily="18" charset="0"/>
                      </a:rPr>
                      <m:t>500</m:t>
                    </m:r>
                    <m:r>
                      <a:rPr lang="en-US" altLang="ja-JP" sz="2400" i="1" dirty="0" smtClean="0">
                        <a:latin typeface="Cambria Math" panose="02040503050406030204" pitchFamily="18" charset="0"/>
                      </a:rPr>
                      <m:t>𝑔</m:t>
                    </m:r>
                  </m:oMath>
                </a14:m>
                <a:r>
                  <a:rPr lang="en-US" altLang="ja-JP" sz="2400" dirty="0"/>
                  <a:t>	</a:t>
                </a:r>
                <a:r>
                  <a:rPr lang="ja-JP" altLang="en-US" sz="2400" dirty="0"/>
                  <a:t>・速度</a:t>
                </a:r>
                <a14:m>
                  <m:oMath xmlns:m="http://schemas.openxmlformats.org/officeDocument/2006/math">
                    <m:r>
                      <a:rPr lang="en-US" altLang="ja-JP" sz="2400" i="1" dirty="0" smtClean="0">
                        <a:latin typeface="Cambria Math" panose="02040503050406030204" pitchFamily="18" charset="0"/>
                      </a:rPr>
                      <m:t>30</m:t>
                    </m:r>
                    <m:r>
                      <a:rPr lang="en-US" altLang="ja-JP" sz="2400" i="1" dirty="0" smtClean="0">
                        <a:latin typeface="Cambria Math" panose="02040503050406030204" pitchFamily="18" charset="0"/>
                      </a:rPr>
                      <m:t>𝑚</m:t>
                    </m:r>
                    <m:r>
                      <a:rPr lang="en-US" altLang="ja-JP" sz="2400" i="1" dirty="0" smtClean="0">
                        <a:latin typeface="Cambria Math" panose="02040503050406030204" pitchFamily="18" charset="0"/>
                      </a:rPr>
                      <m:t>/</m:t>
                    </m:r>
                    <m:r>
                      <a:rPr lang="ja-JP" altLang="en-US" sz="2400" i="1" dirty="0" smtClean="0">
                        <a:latin typeface="Cambria Math" panose="02040503050406030204" pitchFamily="18" charset="0"/>
                      </a:rPr>
                      <m:t>秒</m:t>
                    </m:r>
                  </m:oMath>
                </a14:m>
                <a:endParaRPr lang="en-US" altLang="ja-JP" sz="2400" dirty="0"/>
              </a:p>
              <a:p>
                <a:r>
                  <a:rPr lang="ja-JP" altLang="en-US" sz="2400" dirty="0"/>
                  <a:t>■鉛玉</a:t>
                </a:r>
                <a:r>
                  <a:rPr lang="en-US" altLang="ja-JP" sz="2400" dirty="0"/>
                  <a:t>B</a:t>
                </a:r>
              </a:p>
              <a:p>
                <a:r>
                  <a:rPr lang="ja-JP" altLang="en-US" sz="2400" dirty="0"/>
                  <a:t>・質量：</a:t>
                </a:r>
                <a14:m>
                  <m:oMath xmlns:m="http://schemas.openxmlformats.org/officeDocument/2006/math">
                    <m:r>
                      <a:rPr lang="en-US" altLang="ja-JP" sz="2400" i="1" dirty="0" smtClean="0">
                        <a:latin typeface="Cambria Math" panose="02040503050406030204" pitchFamily="18" charset="0"/>
                      </a:rPr>
                      <m:t>800</m:t>
                    </m:r>
                    <m:r>
                      <a:rPr lang="en-US" altLang="ja-JP" sz="2400" i="1" dirty="0" smtClean="0">
                        <a:latin typeface="Cambria Math" panose="02040503050406030204" pitchFamily="18" charset="0"/>
                      </a:rPr>
                      <m:t>𝑔</m:t>
                    </m:r>
                  </m:oMath>
                </a14:m>
                <a:r>
                  <a:rPr lang="en-US" altLang="ja-JP" sz="2400" dirty="0"/>
                  <a:t>	</a:t>
                </a:r>
                <a:r>
                  <a:rPr lang="ja-JP" altLang="en-US" sz="2400" dirty="0"/>
                  <a:t>・速度</a:t>
                </a:r>
                <a14:m>
                  <m:oMath xmlns:m="http://schemas.openxmlformats.org/officeDocument/2006/math">
                    <m:r>
                      <a:rPr lang="en-US" altLang="ja-JP" sz="2400" i="1" dirty="0" smtClean="0">
                        <a:latin typeface="Cambria Math" panose="02040503050406030204" pitchFamily="18" charset="0"/>
                      </a:rPr>
                      <m:t>−40</m:t>
                    </m:r>
                    <m:r>
                      <a:rPr lang="en-US" altLang="ja-JP" sz="2400" i="1" dirty="0" smtClean="0">
                        <a:latin typeface="Cambria Math" panose="02040503050406030204" pitchFamily="18" charset="0"/>
                      </a:rPr>
                      <m:t>𝑚</m:t>
                    </m:r>
                    <m:r>
                      <a:rPr lang="en-US" altLang="ja-JP" sz="2400" i="1" dirty="0" smtClean="0">
                        <a:latin typeface="Cambria Math" panose="02040503050406030204" pitchFamily="18" charset="0"/>
                      </a:rPr>
                      <m:t>/</m:t>
                    </m:r>
                    <m:r>
                      <a:rPr lang="ja-JP" altLang="en-US" sz="2400" i="1" dirty="0" smtClean="0">
                        <a:latin typeface="Cambria Math" panose="02040503050406030204" pitchFamily="18" charset="0"/>
                      </a:rPr>
                      <m:t>秒</m:t>
                    </m:r>
                  </m:oMath>
                </a14:m>
                <a:endParaRPr lang="en-US" altLang="ja-JP" sz="2400" dirty="0"/>
              </a:p>
              <a:p>
                <a:endParaRPr lang="en-US" altLang="ja-JP" sz="2400" dirty="0"/>
              </a:p>
              <a:p>
                <a:r>
                  <a:rPr lang="ja-JP" altLang="en-US" sz="2400" b="1" dirty="0">
                    <a:solidFill>
                      <a:srgbClr val="FF0000"/>
                    </a:solidFill>
                  </a:rPr>
                  <a:t>■解答</a:t>
                </a:r>
                <a:endParaRPr lang="en-US" altLang="ja-JP" sz="2400" b="1" dirty="0">
                  <a:solidFill>
                    <a:srgbClr val="FF0000"/>
                  </a:solidFill>
                </a:endParaRPr>
              </a:p>
              <a:p>
                <a14:m>
                  <m:oMath xmlns:m="http://schemas.openxmlformats.org/officeDocument/2006/math">
                    <m:d>
                      <m:dPr>
                        <m:ctrlPr>
                          <a:rPr lang="en-US" altLang="ja-JP" sz="2400" b="0" i="1" smtClean="0">
                            <a:latin typeface="Cambria Math" panose="02040503050406030204" pitchFamily="18" charset="0"/>
                          </a:rPr>
                        </m:ctrlPr>
                      </m:dPr>
                      <m:e>
                        <m:sSub>
                          <m:sSubPr>
                            <m:ctrlPr>
                              <a:rPr lang="en-US" altLang="ja-JP" sz="2400" b="0" i="1" smtClean="0">
                                <a:latin typeface="Cambria Math" panose="02040503050406030204" pitchFamily="18" charset="0"/>
                              </a:rPr>
                            </m:ctrlPr>
                          </m:sSubPr>
                          <m:e>
                            <m:r>
                              <a:rPr lang="en-US" altLang="ja-JP" sz="2400" b="0" i="1" smtClean="0">
                                <a:latin typeface="Cambria Math" panose="02040503050406030204" pitchFamily="18" charset="0"/>
                              </a:rPr>
                              <m:t>𝑣</m:t>
                            </m:r>
                          </m:e>
                          <m:sub>
                            <m:r>
                              <a:rPr lang="en-US" altLang="ja-JP" sz="2400" b="0" i="1" smtClean="0">
                                <a:latin typeface="Cambria Math" panose="02040503050406030204" pitchFamily="18" charset="0"/>
                              </a:rPr>
                              <m:t>1</m:t>
                            </m:r>
                            <m:r>
                              <a:rPr lang="en-US" altLang="ja-JP" sz="2400" b="0" i="1" smtClean="0">
                                <a:latin typeface="Cambria Math" panose="02040503050406030204" pitchFamily="18" charset="0"/>
                              </a:rPr>
                              <m:t>𝑓</m:t>
                            </m:r>
                          </m:sub>
                        </m:sSub>
                        <m:r>
                          <a:rPr lang="en-US" altLang="ja-JP" sz="2400" b="0" i="1" smtClean="0">
                            <a:latin typeface="Cambria Math" panose="02040503050406030204" pitchFamily="18" charset="0"/>
                          </a:rPr>
                          <m:t>−</m:t>
                        </m:r>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a:rPr lang="en-US" altLang="ja-JP" sz="2400" b="0" i="1" smtClean="0">
                                <a:latin typeface="Cambria Math" panose="02040503050406030204" pitchFamily="18" charset="0"/>
                              </a:rPr>
                              <m:t>2</m:t>
                            </m:r>
                            <m:r>
                              <a:rPr lang="en-US" altLang="ja-JP" sz="2400" i="1">
                                <a:latin typeface="Cambria Math" panose="02040503050406030204" pitchFamily="18" charset="0"/>
                              </a:rPr>
                              <m:t>𝑓</m:t>
                            </m:r>
                          </m:sub>
                        </m:sSub>
                      </m:e>
                    </m:d>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𝑒</m:t>
                    </m:r>
                    <m:r>
                      <a:rPr lang="en-US" altLang="ja-JP" sz="2400" b="0" i="1" smtClean="0">
                        <a:latin typeface="Cambria Math" panose="02040503050406030204" pitchFamily="18" charset="0"/>
                      </a:rPr>
                      <m:t>(</m:t>
                    </m:r>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a:rPr lang="en-US" altLang="ja-JP" sz="2400" i="1">
                            <a:latin typeface="Cambria Math" panose="02040503050406030204" pitchFamily="18" charset="0"/>
                          </a:rPr>
                          <m:t>1</m:t>
                        </m:r>
                        <m:r>
                          <a:rPr lang="en-US" altLang="ja-JP" sz="2400" b="0" i="1" smtClean="0">
                            <a:latin typeface="Cambria Math" panose="02040503050406030204" pitchFamily="18" charset="0"/>
                          </a:rPr>
                          <m:t>𝑖</m:t>
                        </m:r>
                      </m:sub>
                    </m:sSub>
                    <m:r>
                      <a:rPr lang="en-US" altLang="ja-JP" sz="2400" i="1">
                        <a:latin typeface="Cambria Math" panose="02040503050406030204" pitchFamily="18" charset="0"/>
                      </a:rPr>
                      <m:t>−</m:t>
                    </m:r>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a:rPr lang="en-US" altLang="ja-JP" sz="2400" i="1">
                            <a:latin typeface="Cambria Math" panose="02040503050406030204" pitchFamily="18" charset="0"/>
                          </a:rPr>
                          <m:t>2</m:t>
                        </m:r>
                        <m:r>
                          <a:rPr lang="en-US" altLang="ja-JP" sz="2400" b="0" i="1" smtClean="0">
                            <a:latin typeface="Cambria Math" panose="02040503050406030204" pitchFamily="18" charset="0"/>
                          </a:rPr>
                          <m:t>𝑖</m:t>
                        </m:r>
                      </m:sub>
                    </m:sSub>
                    <m:r>
                      <a:rPr lang="en-US" altLang="ja-JP" sz="2400" b="0" i="1" smtClean="0">
                        <a:latin typeface="Cambria Math" panose="02040503050406030204" pitchFamily="18" charset="0"/>
                      </a:rPr>
                      <m:t>)</m:t>
                    </m:r>
                  </m:oMath>
                </a14:m>
                <a:r>
                  <a:rPr lang="en-US" altLang="ja-JP" sz="2400" dirty="0"/>
                  <a:t> </a:t>
                </a:r>
                <a:r>
                  <a:rPr lang="ja-JP" altLang="en-US" sz="2400" dirty="0"/>
                  <a:t>より、</a:t>
                </a:r>
                <a:endParaRPr lang="en-US" altLang="ja-JP" sz="2400" dirty="0"/>
              </a:p>
              <a:p>
                <a14:m>
                  <m:oMath xmlns:m="http://schemas.openxmlformats.org/officeDocument/2006/math">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a:rPr lang="en-US" altLang="ja-JP" sz="2400" i="1">
                            <a:latin typeface="Cambria Math" panose="02040503050406030204" pitchFamily="18" charset="0"/>
                          </a:rPr>
                          <m:t>1</m:t>
                        </m:r>
                        <m:r>
                          <a:rPr lang="en-US" altLang="ja-JP" sz="2400" i="1">
                            <a:latin typeface="Cambria Math" panose="02040503050406030204" pitchFamily="18" charset="0"/>
                          </a:rPr>
                          <m:t>𝑓</m:t>
                        </m:r>
                      </m:sub>
                    </m:sSub>
                    <m:r>
                      <a:rPr lang="en-US" altLang="ja-JP" sz="2400" i="1">
                        <a:latin typeface="Cambria Math" panose="02040503050406030204" pitchFamily="18" charset="0"/>
                      </a:rPr>
                      <m:t>−</m:t>
                    </m:r>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a:rPr lang="en-US" altLang="ja-JP" sz="2400" i="1">
                            <a:latin typeface="Cambria Math" panose="02040503050406030204" pitchFamily="18" charset="0"/>
                          </a:rPr>
                          <m:t>2</m:t>
                        </m:r>
                        <m:r>
                          <a:rPr lang="en-US" altLang="ja-JP" sz="2400" i="1">
                            <a:latin typeface="Cambria Math" panose="02040503050406030204" pitchFamily="18" charset="0"/>
                          </a:rPr>
                          <m:t>𝑓</m:t>
                        </m:r>
                      </m:sub>
                    </m:sSub>
                    <m:r>
                      <a:rPr lang="en-US" altLang="ja-JP" sz="2400" i="1">
                        <a:latin typeface="Cambria Math" panose="02040503050406030204" pitchFamily="18" charset="0"/>
                      </a:rPr>
                      <m:t> </m:t>
                    </m:r>
                    <m:r>
                      <a:rPr lang="en-US" altLang="ja-JP" sz="2400" b="0" i="1" smtClean="0">
                        <a:latin typeface="Cambria Math" panose="02040503050406030204" pitchFamily="18" charset="0"/>
                      </a:rPr>
                      <m:t>=−0.2(</m:t>
                    </m:r>
                    <m:r>
                      <a:rPr lang="en-US" altLang="ja-JP" sz="2400" i="1" smtClean="0">
                        <a:latin typeface="Cambria Math" panose="02040503050406030204" pitchFamily="18" charset="0"/>
                      </a:rPr>
                      <m:t>3</m:t>
                    </m:r>
                    <m:r>
                      <a:rPr lang="en-US" altLang="ja-JP" sz="2400" b="0" i="1" smtClean="0">
                        <a:latin typeface="Cambria Math" panose="02040503050406030204" pitchFamily="18" charset="0"/>
                      </a:rPr>
                      <m:t>0</m:t>
                    </m:r>
                    <m:r>
                      <a:rPr lang="en-US" altLang="ja-JP" sz="2400" i="1">
                        <a:latin typeface="Cambria Math" panose="02040503050406030204" pitchFamily="18" charset="0"/>
                      </a:rPr>
                      <m:t>−</m:t>
                    </m:r>
                    <m:r>
                      <a:rPr lang="en-US" altLang="ja-JP" sz="2400" i="1" smtClean="0">
                        <a:latin typeface="Cambria Math" panose="02040503050406030204" pitchFamily="18" charset="0"/>
                      </a:rPr>
                      <m:t>(</m:t>
                    </m:r>
                    <m:r>
                      <a:rPr lang="en-US" altLang="ja-JP" sz="2400" b="0" i="1" smtClean="0">
                        <a:latin typeface="Cambria Math" panose="02040503050406030204" pitchFamily="18" charset="0"/>
                      </a:rPr>
                      <m:t>−40))</m:t>
                    </m:r>
                  </m:oMath>
                </a14:m>
                <a:r>
                  <a:rPr lang="en-US" altLang="ja-JP" sz="2400" dirty="0"/>
                  <a:t> </a:t>
                </a:r>
              </a:p>
              <a:p>
                <a14:m>
                  <m:oMath xmlns:m="http://schemas.openxmlformats.org/officeDocument/2006/math">
                    <m:sSub>
                      <m:sSubPr>
                        <m:ctrlPr>
                          <a:rPr lang="en-US" altLang="ja-JP" sz="2400" i="1" smtClean="0">
                            <a:latin typeface="Cambria Math" panose="02040503050406030204" pitchFamily="18" charset="0"/>
                          </a:rPr>
                        </m:ctrlPr>
                      </m:sSubPr>
                      <m:e>
                        <m:r>
                          <a:rPr lang="en-US" altLang="ja-JP" sz="2400" i="1">
                            <a:latin typeface="Cambria Math" panose="02040503050406030204" pitchFamily="18" charset="0"/>
                          </a:rPr>
                          <m:t>𝑣</m:t>
                        </m:r>
                      </m:e>
                      <m:sub>
                        <m:r>
                          <a:rPr lang="en-US" altLang="ja-JP" sz="2400" i="1">
                            <a:latin typeface="Cambria Math" panose="02040503050406030204" pitchFamily="18" charset="0"/>
                          </a:rPr>
                          <m:t>1</m:t>
                        </m:r>
                        <m:r>
                          <a:rPr lang="en-US" altLang="ja-JP" sz="2400" i="1">
                            <a:latin typeface="Cambria Math" panose="02040503050406030204" pitchFamily="18" charset="0"/>
                          </a:rPr>
                          <m:t>𝑓</m:t>
                        </m:r>
                      </m:sub>
                    </m:sSub>
                    <m:r>
                      <a:rPr lang="en-US" altLang="ja-JP" sz="2400" i="1">
                        <a:latin typeface="Cambria Math" panose="02040503050406030204" pitchFamily="18" charset="0"/>
                      </a:rPr>
                      <m:t>−</m:t>
                    </m:r>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a:rPr lang="en-US" altLang="ja-JP" sz="2400" i="1">
                            <a:latin typeface="Cambria Math" panose="02040503050406030204" pitchFamily="18" charset="0"/>
                          </a:rPr>
                          <m:t>2</m:t>
                        </m:r>
                        <m:r>
                          <a:rPr lang="en-US" altLang="ja-JP" sz="2400" i="1">
                            <a:latin typeface="Cambria Math" panose="02040503050406030204" pitchFamily="18" charset="0"/>
                          </a:rPr>
                          <m:t>𝑓</m:t>
                        </m:r>
                      </m:sub>
                    </m:sSub>
                    <m:r>
                      <a:rPr lang="en-US" altLang="ja-JP" sz="2400" i="1">
                        <a:latin typeface="Cambria Math" panose="02040503050406030204" pitchFamily="18" charset="0"/>
                      </a:rPr>
                      <m:t> </m:t>
                    </m:r>
                    <m:r>
                      <a:rPr lang="en-US" altLang="ja-JP" sz="2400" b="0" i="1" smtClean="0">
                        <a:latin typeface="Cambria Math" panose="02040503050406030204" pitchFamily="18" charset="0"/>
                      </a:rPr>
                      <m:t>=−14</m:t>
                    </m:r>
                  </m:oMath>
                </a14:m>
                <a:r>
                  <a:rPr lang="en-US" altLang="ja-JP" sz="2400" dirty="0"/>
                  <a:t> 	</a:t>
                </a:r>
                <a:r>
                  <a:rPr lang="ja-JP" altLang="en-US" sz="2400" dirty="0"/>
                  <a:t>・・・②</a:t>
                </a:r>
                <a:endParaRPr lang="en-US" altLang="ja-JP" sz="2400" dirty="0"/>
              </a:p>
              <a:p>
                <a:endParaRPr lang="en-US" altLang="ja-JP" sz="2400" b="1" dirty="0">
                  <a:solidFill>
                    <a:srgbClr val="FF0000"/>
                  </a:solidFill>
                </a:endParaRPr>
              </a:p>
            </p:txBody>
          </p:sp>
        </mc:Choice>
        <mc:Fallback>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9417963" cy="4639603"/>
              </a:xfrm>
              <a:prstGeom prst="rect">
                <a:avLst/>
              </a:prstGeom>
              <a:blipFill>
                <a:blip r:embed="rId2"/>
                <a:stretch>
                  <a:fillRect l="-971" t="-1051" r="-65"/>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412459225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943161" cy="584775"/>
          </a:xfrm>
          <a:prstGeom prst="rect">
            <a:avLst/>
          </a:prstGeom>
          <a:noFill/>
        </p:spPr>
        <p:txBody>
          <a:bodyPr wrap="none" rtlCol="0">
            <a:spAutoFit/>
          </a:bodyPr>
          <a:lstStyle/>
          <a:p>
            <a:r>
              <a:rPr lang="ja-JP" altLang="en-US" sz="3200" b="1" u="sng" dirty="0"/>
              <a:t>衝突 例題</a:t>
            </a:r>
            <a:endParaRPr kumimoji="1" lang="en-US" altLang="ja-JP" sz="3200" b="1" u="sng" dirty="0"/>
          </a:p>
        </p:txBody>
      </p:sp>
      <mc:AlternateContent xmlns:mc="http://schemas.openxmlformats.org/markup-compatibility/2006">
        <mc:Choice xmlns:a14="http://schemas.microsoft.com/office/drawing/2010/main"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417963" cy="5017720"/>
              </a:xfrm>
              <a:prstGeom prst="rect">
                <a:avLst/>
              </a:prstGeom>
              <a:noFill/>
            </p:spPr>
            <p:txBody>
              <a:bodyPr wrap="none" rtlCol="0">
                <a:spAutoFit/>
              </a:bodyPr>
              <a:lstStyle/>
              <a:p>
                <a:r>
                  <a:rPr lang="ja-JP" altLang="en-US" sz="2400" dirty="0"/>
                  <a:t>以下の２つの鉛玉が衝突した後の、それぞれの速度を求めなさい。</a:t>
                </a:r>
                <a:endParaRPr lang="en-US" altLang="ja-JP" sz="2400" dirty="0"/>
              </a:p>
              <a:p>
                <a:r>
                  <a:rPr lang="ja-JP" altLang="en-US" sz="2400" dirty="0"/>
                  <a:t>ただし、衝突は正面衝突で、鉛同士のはねかえり係数は</a:t>
                </a:r>
                <a:r>
                  <a:rPr lang="en-US" altLang="ja-JP" sz="2400" dirty="0"/>
                  <a:t>0.2</a:t>
                </a:r>
                <a:r>
                  <a:rPr lang="ja-JP" altLang="en-US" sz="2400" dirty="0"/>
                  <a:t>とする</a:t>
                </a:r>
                <a:endParaRPr lang="en-US" altLang="ja-JP" sz="2400" dirty="0"/>
              </a:p>
              <a:p>
                <a:r>
                  <a:rPr lang="ja-JP" altLang="en-US" sz="2400" dirty="0"/>
                  <a:t>■鉛玉</a:t>
                </a:r>
                <a:r>
                  <a:rPr lang="en-US" altLang="ja-JP" sz="2400" dirty="0"/>
                  <a:t>A</a:t>
                </a:r>
              </a:p>
              <a:p>
                <a:r>
                  <a:rPr lang="ja-JP" altLang="en-US" sz="2400" dirty="0"/>
                  <a:t>・質量：</a:t>
                </a:r>
                <a14:m>
                  <m:oMath xmlns:m="http://schemas.openxmlformats.org/officeDocument/2006/math">
                    <m:r>
                      <a:rPr lang="en-US" altLang="ja-JP" sz="2400" i="1" dirty="0" smtClean="0">
                        <a:latin typeface="Cambria Math" panose="02040503050406030204" pitchFamily="18" charset="0"/>
                      </a:rPr>
                      <m:t>500</m:t>
                    </m:r>
                    <m:r>
                      <a:rPr lang="en-US" altLang="ja-JP" sz="2400" i="1" dirty="0" smtClean="0">
                        <a:latin typeface="Cambria Math" panose="02040503050406030204" pitchFamily="18" charset="0"/>
                      </a:rPr>
                      <m:t>𝑔</m:t>
                    </m:r>
                  </m:oMath>
                </a14:m>
                <a:r>
                  <a:rPr lang="en-US" altLang="ja-JP" sz="2400" dirty="0"/>
                  <a:t>	</a:t>
                </a:r>
                <a:r>
                  <a:rPr lang="ja-JP" altLang="en-US" sz="2400" dirty="0"/>
                  <a:t>・速度</a:t>
                </a:r>
                <a14:m>
                  <m:oMath xmlns:m="http://schemas.openxmlformats.org/officeDocument/2006/math">
                    <m:r>
                      <a:rPr lang="en-US" altLang="ja-JP" sz="2400" i="1" dirty="0" smtClean="0">
                        <a:latin typeface="Cambria Math" panose="02040503050406030204" pitchFamily="18" charset="0"/>
                      </a:rPr>
                      <m:t>30</m:t>
                    </m:r>
                    <m:r>
                      <a:rPr lang="en-US" altLang="ja-JP" sz="2400" i="1" dirty="0" smtClean="0">
                        <a:latin typeface="Cambria Math" panose="02040503050406030204" pitchFamily="18" charset="0"/>
                      </a:rPr>
                      <m:t>𝑚</m:t>
                    </m:r>
                    <m:r>
                      <a:rPr lang="en-US" altLang="ja-JP" sz="2400" i="1" dirty="0" smtClean="0">
                        <a:latin typeface="Cambria Math" panose="02040503050406030204" pitchFamily="18" charset="0"/>
                      </a:rPr>
                      <m:t>/</m:t>
                    </m:r>
                    <m:r>
                      <a:rPr lang="ja-JP" altLang="en-US" sz="2400" i="1" dirty="0" smtClean="0">
                        <a:latin typeface="Cambria Math" panose="02040503050406030204" pitchFamily="18" charset="0"/>
                      </a:rPr>
                      <m:t>秒</m:t>
                    </m:r>
                  </m:oMath>
                </a14:m>
                <a:endParaRPr lang="en-US" altLang="ja-JP" sz="2400" dirty="0"/>
              </a:p>
              <a:p>
                <a:r>
                  <a:rPr lang="ja-JP" altLang="en-US" sz="2400" dirty="0"/>
                  <a:t>■鉛玉</a:t>
                </a:r>
                <a:r>
                  <a:rPr lang="en-US" altLang="ja-JP" sz="2400" dirty="0"/>
                  <a:t>B</a:t>
                </a:r>
              </a:p>
              <a:p>
                <a:r>
                  <a:rPr lang="ja-JP" altLang="en-US" sz="2400" dirty="0"/>
                  <a:t>・質量：</a:t>
                </a:r>
                <a14:m>
                  <m:oMath xmlns:m="http://schemas.openxmlformats.org/officeDocument/2006/math">
                    <m:r>
                      <a:rPr lang="en-US" altLang="ja-JP" sz="2400" i="1" dirty="0" smtClean="0">
                        <a:latin typeface="Cambria Math" panose="02040503050406030204" pitchFamily="18" charset="0"/>
                      </a:rPr>
                      <m:t>800</m:t>
                    </m:r>
                    <m:r>
                      <a:rPr lang="en-US" altLang="ja-JP" sz="2400" i="1" dirty="0" smtClean="0">
                        <a:latin typeface="Cambria Math" panose="02040503050406030204" pitchFamily="18" charset="0"/>
                      </a:rPr>
                      <m:t>𝑔</m:t>
                    </m:r>
                  </m:oMath>
                </a14:m>
                <a:r>
                  <a:rPr lang="en-US" altLang="ja-JP" sz="2400" dirty="0"/>
                  <a:t>	</a:t>
                </a:r>
                <a:r>
                  <a:rPr lang="ja-JP" altLang="en-US" sz="2400" dirty="0"/>
                  <a:t>・速度</a:t>
                </a:r>
                <a14:m>
                  <m:oMath xmlns:m="http://schemas.openxmlformats.org/officeDocument/2006/math">
                    <m:r>
                      <a:rPr lang="en-US" altLang="ja-JP" sz="2400" i="1" dirty="0" smtClean="0">
                        <a:latin typeface="Cambria Math" panose="02040503050406030204" pitchFamily="18" charset="0"/>
                      </a:rPr>
                      <m:t>−40</m:t>
                    </m:r>
                    <m:r>
                      <a:rPr lang="en-US" altLang="ja-JP" sz="2400" i="1" dirty="0" smtClean="0">
                        <a:latin typeface="Cambria Math" panose="02040503050406030204" pitchFamily="18" charset="0"/>
                      </a:rPr>
                      <m:t>𝑚</m:t>
                    </m:r>
                    <m:r>
                      <a:rPr lang="en-US" altLang="ja-JP" sz="2400" i="1" dirty="0" smtClean="0">
                        <a:latin typeface="Cambria Math" panose="02040503050406030204" pitchFamily="18" charset="0"/>
                      </a:rPr>
                      <m:t>/</m:t>
                    </m:r>
                    <m:r>
                      <a:rPr lang="ja-JP" altLang="en-US" sz="2400" i="1" dirty="0" smtClean="0">
                        <a:latin typeface="Cambria Math" panose="02040503050406030204" pitchFamily="18" charset="0"/>
                      </a:rPr>
                      <m:t>秒</m:t>
                    </m:r>
                  </m:oMath>
                </a14:m>
                <a:endParaRPr lang="en-US" altLang="ja-JP" sz="2400" dirty="0"/>
              </a:p>
              <a:p>
                <a:endParaRPr lang="en-US" altLang="ja-JP" sz="2400" dirty="0"/>
              </a:p>
              <a:p>
                <a:r>
                  <a:rPr lang="ja-JP" altLang="en-US" sz="2400" b="1" dirty="0">
                    <a:solidFill>
                      <a:srgbClr val="FF0000"/>
                    </a:solidFill>
                  </a:rPr>
                  <a:t>■解答</a:t>
                </a:r>
                <a:endParaRPr lang="en-US" altLang="ja-JP" sz="2400" b="1" dirty="0">
                  <a:solidFill>
                    <a:srgbClr val="FF0000"/>
                  </a:solidFill>
                </a:endParaRPr>
              </a:p>
              <a:p>
                <a:r>
                  <a:rPr lang="ja-JP" altLang="en-US" sz="2400" dirty="0"/>
                  <a:t>①</a:t>
                </a:r>
                <a:r>
                  <a:rPr lang="en-US" altLang="ja-JP" sz="2400" dirty="0"/>
                  <a:t>, </a:t>
                </a:r>
                <a:r>
                  <a:rPr lang="ja-JP" altLang="en-US" sz="2400" dirty="0"/>
                  <a:t>②の連立方程式を解くと、</a:t>
                </a:r>
                <a:endParaRPr lang="en-US" altLang="ja-JP" sz="2400" dirty="0"/>
              </a:p>
              <a:p>
                <a14:m>
                  <m:oMath xmlns:m="http://schemas.openxmlformats.org/officeDocument/2006/math">
                    <m:r>
                      <a:rPr lang="ja-JP" altLang="en-US" sz="2400" i="1" dirty="0">
                        <a:latin typeface="Cambria Math" panose="02040503050406030204" pitchFamily="18" charset="0"/>
                      </a:rPr>
                      <m:t>　</m:t>
                    </m:r>
                    <m:r>
                      <a:rPr lang="en-US" altLang="ja-JP" sz="2400" i="1" smtClean="0">
                        <a:latin typeface="Cambria Math" panose="02040503050406030204" pitchFamily="18" charset="0"/>
                      </a:rPr>
                      <m:t>0.5</m:t>
                    </m:r>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a:rPr lang="en-US" altLang="ja-JP" sz="2400" i="1">
                            <a:latin typeface="Cambria Math" panose="02040503050406030204" pitchFamily="18" charset="0"/>
                          </a:rPr>
                          <m:t>1</m:t>
                        </m:r>
                        <m:r>
                          <a:rPr lang="en-US" altLang="ja-JP" sz="2400" i="1">
                            <a:latin typeface="Cambria Math" panose="02040503050406030204" pitchFamily="18" charset="0"/>
                          </a:rPr>
                          <m:t>𝑓</m:t>
                        </m:r>
                      </m:sub>
                    </m:sSub>
                    <m:r>
                      <a:rPr lang="en-US" altLang="ja-JP" sz="2400" i="1">
                        <a:latin typeface="Cambria Math" panose="02040503050406030204" pitchFamily="18" charset="0"/>
                      </a:rPr>
                      <m:t>+0.8</m:t>
                    </m:r>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a:rPr lang="en-US" altLang="ja-JP" sz="2400" i="1">
                            <a:latin typeface="Cambria Math" panose="02040503050406030204" pitchFamily="18" charset="0"/>
                          </a:rPr>
                          <m:t>2</m:t>
                        </m:r>
                        <m:r>
                          <a:rPr lang="en-US" altLang="ja-JP" sz="2400" i="1">
                            <a:latin typeface="Cambria Math" panose="02040503050406030204" pitchFamily="18" charset="0"/>
                          </a:rPr>
                          <m:t>𝑓</m:t>
                        </m:r>
                      </m:sub>
                    </m:sSub>
                    <m:r>
                      <a:rPr lang="en-US" altLang="ja-JP" sz="2400" b="0" i="1" smtClean="0">
                        <a:solidFill>
                          <a:schemeClr val="tx1"/>
                        </a:solidFill>
                        <a:latin typeface="Cambria Math" panose="02040503050406030204" pitchFamily="18" charset="0"/>
                      </a:rPr>
                      <m:t>=</m:t>
                    </m:r>
                    <m:r>
                      <a:rPr lang="en-US" altLang="ja-JP" sz="2400" i="1">
                        <a:latin typeface="Cambria Math" panose="02040503050406030204" pitchFamily="18" charset="0"/>
                      </a:rPr>
                      <m:t>−17</m:t>
                    </m:r>
                  </m:oMath>
                </a14:m>
                <a:r>
                  <a:rPr lang="en-US" altLang="ja-JP" sz="2400" dirty="0"/>
                  <a:t> </a:t>
                </a:r>
              </a:p>
              <a:p>
                <a14:m>
                  <m:oMath xmlns:m="http://schemas.openxmlformats.org/officeDocument/2006/math">
                    <m:r>
                      <a:rPr lang="en-US" altLang="ja-JP" sz="2400" b="0" i="1" smtClean="0">
                        <a:latin typeface="Cambria Math" panose="02040503050406030204" pitchFamily="18" charset="0"/>
                      </a:rPr>
                      <m:t>−)0.5</m:t>
                    </m:r>
                    <m:sSub>
                      <m:sSubPr>
                        <m:ctrlPr>
                          <a:rPr lang="en-US" altLang="ja-JP" sz="2400" i="1" smtClean="0">
                            <a:latin typeface="Cambria Math" panose="02040503050406030204" pitchFamily="18" charset="0"/>
                          </a:rPr>
                        </m:ctrlPr>
                      </m:sSubPr>
                      <m:e>
                        <m:r>
                          <a:rPr lang="en-US" altLang="ja-JP" sz="2400" i="1">
                            <a:latin typeface="Cambria Math" panose="02040503050406030204" pitchFamily="18" charset="0"/>
                          </a:rPr>
                          <m:t>𝑣</m:t>
                        </m:r>
                      </m:e>
                      <m:sub>
                        <m:r>
                          <a:rPr lang="en-US" altLang="ja-JP" sz="2400" i="1">
                            <a:latin typeface="Cambria Math" panose="02040503050406030204" pitchFamily="18" charset="0"/>
                          </a:rPr>
                          <m:t>1</m:t>
                        </m:r>
                        <m:r>
                          <a:rPr lang="en-US" altLang="ja-JP" sz="2400" i="1">
                            <a:latin typeface="Cambria Math" panose="02040503050406030204" pitchFamily="18" charset="0"/>
                          </a:rPr>
                          <m:t>𝑓</m:t>
                        </m:r>
                      </m:sub>
                    </m:sSub>
                    <m:r>
                      <a:rPr lang="en-US" altLang="ja-JP" sz="2400" i="1">
                        <a:latin typeface="Cambria Math" panose="02040503050406030204" pitchFamily="18" charset="0"/>
                      </a:rPr>
                      <m:t>−</m:t>
                    </m:r>
                    <m:r>
                      <a:rPr lang="en-US" altLang="ja-JP" sz="2400" b="0" i="1" smtClean="0">
                        <a:latin typeface="Cambria Math" panose="02040503050406030204" pitchFamily="18" charset="0"/>
                      </a:rPr>
                      <m:t>0.5</m:t>
                    </m:r>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a:rPr lang="en-US" altLang="ja-JP" sz="2400" i="1">
                            <a:latin typeface="Cambria Math" panose="02040503050406030204" pitchFamily="18" charset="0"/>
                          </a:rPr>
                          <m:t>2</m:t>
                        </m:r>
                        <m:r>
                          <a:rPr lang="en-US" altLang="ja-JP" sz="2400" i="1">
                            <a:latin typeface="Cambria Math" panose="02040503050406030204" pitchFamily="18" charset="0"/>
                          </a:rPr>
                          <m:t>𝑓</m:t>
                        </m:r>
                      </m:sub>
                    </m:sSub>
                    <m:r>
                      <a:rPr lang="en-US" altLang="ja-JP" sz="2400" i="1">
                        <a:latin typeface="Cambria Math" panose="02040503050406030204" pitchFamily="18" charset="0"/>
                      </a:rPr>
                      <m:t> </m:t>
                    </m:r>
                    <m:r>
                      <a:rPr lang="en-US" altLang="ja-JP" sz="2400" b="0" i="1" smtClean="0">
                        <a:latin typeface="Cambria Math" panose="02040503050406030204" pitchFamily="18" charset="0"/>
                      </a:rPr>
                      <m:t>=−7</m:t>
                    </m:r>
                  </m:oMath>
                </a14:m>
                <a:r>
                  <a:rPr lang="en-US" altLang="ja-JP" sz="2400" dirty="0"/>
                  <a:t> </a:t>
                </a:r>
              </a:p>
              <a:p>
                <a:r>
                  <a:rPr lang="en-US" altLang="ja-JP" sz="2400" b="0" dirty="0"/>
                  <a:t>                  </a:t>
                </a:r>
                <a14:m>
                  <m:oMath xmlns:m="http://schemas.openxmlformats.org/officeDocument/2006/math">
                    <m:r>
                      <a:rPr lang="en-US" altLang="ja-JP" sz="2400" b="0" i="1" smtClean="0">
                        <a:latin typeface="Cambria Math" panose="02040503050406030204" pitchFamily="18" charset="0"/>
                      </a:rPr>
                      <m:t>1.3</m:t>
                    </m:r>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a:rPr lang="en-US" altLang="ja-JP" sz="2400" i="1">
                            <a:latin typeface="Cambria Math" panose="02040503050406030204" pitchFamily="18" charset="0"/>
                          </a:rPr>
                          <m:t>2</m:t>
                        </m:r>
                        <m:r>
                          <a:rPr lang="en-US" altLang="ja-JP" sz="2400" i="1">
                            <a:latin typeface="Cambria Math" panose="02040503050406030204" pitchFamily="18" charset="0"/>
                          </a:rPr>
                          <m:t>𝑓</m:t>
                        </m:r>
                      </m:sub>
                    </m:sSub>
                    <m:r>
                      <a:rPr lang="en-US" altLang="ja-JP" sz="2400" b="0" i="1" smtClean="0">
                        <a:solidFill>
                          <a:schemeClr val="tx1"/>
                        </a:solidFill>
                        <a:latin typeface="Cambria Math" panose="02040503050406030204" pitchFamily="18" charset="0"/>
                      </a:rPr>
                      <m:t>=</m:t>
                    </m:r>
                    <m:r>
                      <a:rPr lang="en-US" altLang="ja-JP" sz="2400" i="1">
                        <a:latin typeface="Cambria Math" panose="02040503050406030204" pitchFamily="18" charset="0"/>
                      </a:rPr>
                      <m:t>−</m:t>
                    </m:r>
                    <m:r>
                      <a:rPr lang="en-US" altLang="ja-JP" sz="2400" b="0" i="1" smtClean="0">
                        <a:latin typeface="Cambria Math" panose="02040503050406030204" pitchFamily="18" charset="0"/>
                      </a:rPr>
                      <m:t>10</m:t>
                    </m:r>
                  </m:oMath>
                </a14:m>
                <a:endParaRPr lang="en-US" altLang="ja-JP" sz="2400" b="0" dirty="0"/>
              </a:p>
              <a:p>
                <a:r>
                  <a:rPr lang="en-US" altLang="ja-JP" sz="2400" dirty="0"/>
                  <a:t>		 </a:t>
                </a:r>
                <a14:m>
                  <m:oMath xmlns:m="http://schemas.openxmlformats.org/officeDocument/2006/math">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a:rPr lang="en-US" altLang="ja-JP" sz="2400" i="1">
                            <a:latin typeface="Cambria Math" panose="02040503050406030204" pitchFamily="18" charset="0"/>
                          </a:rPr>
                          <m:t>2</m:t>
                        </m:r>
                        <m:r>
                          <a:rPr lang="en-US" altLang="ja-JP" sz="2400" i="1">
                            <a:latin typeface="Cambria Math" panose="02040503050406030204" pitchFamily="18" charset="0"/>
                          </a:rPr>
                          <m:t>𝑓</m:t>
                        </m:r>
                      </m:sub>
                    </m:sSub>
                    <m:r>
                      <a:rPr lang="en-US" altLang="ja-JP" sz="2400" b="0" i="1" smtClean="0">
                        <a:latin typeface="Cambria Math" panose="02040503050406030204" pitchFamily="18" charset="0"/>
                      </a:rPr>
                      <m:t>=−7.7</m:t>
                    </m:r>
                  </m:oMath>
                </a14:m>
                <a:r>
                  <a:rPr lang="en-US" altLang="ja-JP" sz="2400" dirty="0"/>
                  <a:t> </a:t>
                </a:r>
                <a:r>
                  <a:rPr lang="ja-JP" altLang="en-US" sz="2400" dirty="0"/>
                  <a:t>・・・鉛玉</a:t>
                </a:r>
                <a:r>
                  <a:rPr lang="en-US" altLang="ja-JP" sz="2400" dirty="0"/>
                  <a:t>B</a:t>
                </a:r>
                <a:r>
                  <a:rPr lang="ja-JP" altLang="en-US" sz="2400" dirty="0"/>
                  <a:t>の衝突後の速度</a:t>
                </a:r>
                <a:endParaRPr lang="en-US" altLang="ja-JP" sz="2400" dirty="0"/>
              </a:p>
            </p:txBody>
          </p:sp>
        </mc:Choice>
        <mc:Fallback>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9417963" cy="5017720"/>
              </a:xfrm>
              <a:prstGeom prst="rect">
                <a:avLst/>
              </a:prstGeom>
              <a:blipFill>
                <a:blip r:embed="rId2"/>
                <a:stretch>
                  <a:fillRect l="-971" t="-972" r="-65" b="-2066"/>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26757524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943161" cy="584775"/>
          </a:xfrm>
          <a:prstGeom prst="rect">
            <a:avLst/>
          </a:prstGeom>
          <a:noFill/>
        </p:spPr>
        <p:txBody>
          <a:bodyPr wrap="none" rtlCol="0">
            <a:spAutoFit/>
          </a:bodyPr>
          <a:lstStyle/>
          <a:p>
            <a:r>
              <a:rPr lang="ja-JP" altLang="en-US" sz="3200" b="1" u="sng" dirty="0"/>
              <a:t>衝突 例題</a:t>
            </a:r>
            <a:endParaRPr kumimoji="1" lang="en-US" altLang="ja-JP" sz="3200" b="1" u="sng" dirty="0"/>
          </a:p>
        </p:txBody>
      </p:sp>
      <mc:AlternateContent xmlns:mc="http://schemas.openxmlformats.org/markup-compatibility/2006">
        <mc:Choice xmlns:a14="http://schemas.microsoft.com/office/drawing/2010/main"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417963" cy="4583562"/>
              </a:xfrm>
              <a:prstGeom prst="rect">
                <a:avLst/>
              </a:prstGeom>
              <a:noFill/>
            </p:spPr>
            <p:txBody>
              <a:bodyPr wrap="none" rtlCol="0">
                <a:spAutoFit/>
              </a:bodyPr>
              <a:lstStyle/>
              <a:p>
                <a:r>
                  <a:rPr lang="ja-JP" altLang="en-US" sz="2400" dirty="0"/>
                  <a:t>以下の２つの鉛玉が衝突した後の、それぞれの速度を求めなさい。</a:t>
                </a:r>
                <a:endParaRPr lang="en-US" altLang="ja-JP" sz="2400" dirty="0"/>
              </a:p>
              <a:p>
                <a:r>
                  <a:rPr lang="ja-JP" altLang="en-US" sz="2400" dirty="0"/>
                  <a:t>ただし、衝突は正面衝突で、鉛同士のはねかえり係数は</a:t>
                </a:r>
                <a:r>
                  <a:rPr lang="en-US" altLang="ja-JP" sz="2400" dirty="0"/>
                  <a:t>0.2</a:t>
                </a:r>
                <a:r>
                  <a:rPr lang="ja-JP" altLang="en-US" sz="2400" dirty="0"/>
                  <a:t>とする</a:t>
                </a:r>
                <a:endParaRPr lang="en-US" altLang="ja-JP" sz="2400" dirty="0"/>
              </a:p>
              <a:p>
                <a:r>
                  <a:rPr lang="ja-JP" altLang="en-US" sz="2400" dirty="0"/>
                  <a:t>■鉛玉</a:t>
                </a:r>
                <a:r>
                  <a:rPr lang="en-US" altLang="ja-JP" sz="2400" dirty="0"/>
                  <a:t>A</a:t>
                </a:r>
              </a:p>
              <a:p>
                <a:r>
                  <a:rPr lang="ja-JP" altLang="en-US" sz="2400" dirty="0"/>
                  <a:t>・質量：</a:t>
                </a:r>
                <a14:m>
                  <m:oMath xmlns:m="http://schemas.openxmlformats.org/officeDocument/2006/math">
                    <m:r>
                      <a:rPr lang="en-US" altLang="ja-JP" sz="2400" i="1" dirty="0" smtClean="0">
                        <a:latin typeface="Cambria Math" panose="02040503050406030204" pitchFamily="18" charset="0"/>
                      </a:rPr>
                      <m:t>500</m:t>
                    </m:r>
                    <m:r>
                      <a:rPr lang="en-US" altLang="ja-JP" sz="2400" i="1" dirty="0" smtClean="0">
                        <a:latin typeface="Cambria Math" panose="02040503050406030204" pitchFamily="18" charset="0"/>
                      </a:rPr>
                      <m:t>𝑔</m:t>
                    </m:r>
                  </m:oMath>
                </a14:m>
                <a:r>
                  <a:rPr lang="en-US" altLang="ja-JP" sz="2400" dirty="0"/>
                  <a:t>	</a:t>
                </a:r>
                <a:r>
                  <a:rPr lang="ja-JP" altLang="en-US" sz="2400" dirty="0"/>
                  <a:t>・速度</a:t>
                </a:r>
                <a14:m>
                  <m:oMath xmlns:m="http://schemas.openxmlformats.org/officeDocument/2006/math">
                    <m:r>
                      <a:rPr lang="en-US" altLang="ja-JP" sz="2400" i="1" dirty="0" smtClean="0">
                        <a:latin typeface="Cambria Math" panose="02040503050406030204" pitchFamily="18" charset="0"/>
                      </a:rPr>
                      <m:t>30</m:t>
                    </m:r>
                    <m:r>
                      <a:rPr lang="en-US" altLang="ja-JP" sz="2400" i="1" dirty="0" smtClean="0">
                        <a:latin typeface="Cambria Math" panose="02040503050406030204" pitchFamily="18" charset="0"/>
                      </a:rPr>
                      <m:t>𝑚</m:t>
                    </m:r>
                    <m:r>
                      <a:rPr lang="en-US" altLang="ja-JP" sz="2400" i="1" dirty="0" smtClean="0">
                        <a:latin typeface="Cambria Math" panose="02040503050406030204" pitchFamily="18" charset="0"/>
                      </a:rPr>
                      <m:t>/</m:t>
                    </m:r>
                    <m:r>
                      <a:rPr lang="ja-JP" altLang="en-US" sz="2400" i="1" dirty="0" smtClean="0">
                        <a:latin typeface="Cambria Math" panose="02040503050406030204" pitchFamily="18" charset="0"/>
                      </a:rPr>
                      <m:t>秒</m:t>
                    </m:r>
                  </m:oMath>
                </a14:m>
                <a:endParaRPr lang="en-US" altLang="ja-JP" sz="2400" dirty="0"/>
              </a:p>
              <a:p>
                <a:r>
                  <a:rPr lang="ja-JP" altLang="en-US" sz="2400" dirty="0"/>
                  <a:t>■鉛玉</a:t>
                </a:r>
                <a:r>
                  <a:rPr lang="en-US" altLang="ja-JP" sz="2400" dirty="0"/>
                  <a:t>B</a:t>
                </a:r>
              </a:p>
              <a:p>
                <a:r>
                  <a:rPr lang="ja-JP" altLang="en-US" sz="2400" dirty="0"/>
                  <a:t>・質量：</a:t>
                </a:r>
                <a14:m>
                  <m:oMath xmlns:m="http://schemas.openxmlformats.org/officeDocument/2006/math">
                    <m:r>
                      <a:rPr lang="en-US" altLang="ja-JP" sz="2400" i="1" dirty="0" smtClean="0">
                        <a:latin typeface="Cambria Math" panose="02040503050406030204" pitchFamily="18" charset="0"/>
                      </a:rPr>
                      <m:t>800</m:t>
                    </m:r>
                    <m:r>
                      <a:rPr lang="en-US" altLang="ja-JP" sz="2400" i="1" dirty="0" smtClean="0">
                        <a:latin typeface="Cambria Math" panose="02040503050406030204" pitchFamily="18" charset="0"/>
                      </a:rPr>
                      <m:t>𝑔</m:t>
                    </m:r>
                  </m:oMath>
                </a14:m>
                <a:r>
                  <a:rPr lang="en-US" altLang="ja-JP" sz="2400" dirty="0"/>
                  <a:t>	</a:t>
                </a:r>
                <a:r>
                  <a:rPr lang="ja-JP" altLang="en-US" sz="2400" dirty="0"/>
                  <a:t>・速度</a:t>
                </a:r>
                <a14:m>
                  <m:oMath xmlns:m="http://schemas.openxmlformats.org/officeDocument/2006/math">
                    <m:r>
                      <a:rPr lang="en-US" altLang="ja-JP" sz="2400" i="1" dirty="0" smtClean="0">
                        <a:latin typeface="Cambria Math" panose="02040503050406030204" pitchFamily="18" charset="0"/>
                      </a:rPr>
                      <m:t>−40</m:t>
                    </m:r>
                    <m:r>
                      <a:rPr lang="en-US" altLang="ja-JP" sz="2400" i="1" dirty="0" smtClean="0">
                        <a:latin typeface="Cambria Math" panose="02040503050406030204" pitchFamily="18" charset="0"/>
                      </a:rPr>
                      <m:t>𝑚</m:t>
                    </m:r>
                    <m:r>
                      <a:rPr lang="en-US" altLang="ja-JP" sz="2400" i="1" dirty="0" smtClean="0">
                        <a:latin typeface="Cambria Math" panose="02040503050406030204" pitchFamily="18" charset="0"/>
                      </a:rPr>
                      <m:t>/</m:t>
                    </m:r>
                    <m:r>
                      <a:rPr lang="ja-JP" altLang="en-US" sz="2400" i="1" dirty="0" smtClean="0">
                        <a:latin typeface="Cambria Math" panose="02040503050406030204" pitchFamily="18" charset="0"/>
                      </a:rPr>
                      <m:t>秒</m:t>
                    </m:r>
                  </m:oMath>
                </a14:m>
                <a:endParaRPr lang="en-US" altLang="ja-JP" sz="2400" dirty="0"/>
              </a:p>
              <a:p>
                <a:endParaRPr lang="en-US" altLang="ja-JP" sz="2400" dirty="0"/>
              </a:p>
              <a:p>
                <a:r>
                  <a:rPr lang="ja-JP" altLang="en-US" sz="2400" b="1" dirty="0">
                    <a:solidFill>
                      <a:srgbClr val="FF0000"/>
                    </a:solidFill>
                  </a:rPr>
                  <a:t>■解答</a:t>
                </a:r>
                <a:endParaRPr lang="en-US" altLang="ja-JP" sz="2400" b="1" dirty="0">
                  <a:solidFill>
                    <a:srgbClr val="FF0000"/>
                  </a:solidFill>
                </a:endParaRPr>
              </a:p>
              <a:p>
                <a14:m>
                  <m:oMath xmlns:m="http://schemas.openxmlformats.org/officeDocument/2006/math">
                    <m:sSub>
                      <m:sSubPr>
                        <m:ctrlPr>
                          <a:rPr lang="en-US" altLang="ja-JP" sz="2400" i="1" smtClean="0">
                            <a:latin typeface="Cambria Math" panose="02040503050406030204" pitchFamily="18" charset="0"/>
                          </a:rPr>
                        </m:ctrlPr>
                      </m:sSubPr>
                      <m:e>
                        <m:r>
                          <a:rPr lang="en-US" altLang="ja-JP" sz="2400" i="1">
                            <a:latin typeface="Cambria Math" panose="02040503050406030204" pitchFamily="18" charset="0"/>
                          </a:rPr>
                          <m:t>𝑣</m:t>
                        </m:r>
                      </m:e>
                      <m:sub>
                        <m:r>
                          <a:rPr lang="en-US" altLang="ja-JP" sz="2400" i="1">
                            <a:latin typeface="Cambria Math" panose="02040503050406030204" pitchFamily="18" charset="0"/>
                          </a:rPr>
                          <m:t>1</m:t>
                        </m:r>
                        <m:r>
                          <a:rPr lang="en-US" altLang="ja-JP" sz="2400" i="1">
                            <a:latin typeface="Cambria Math" panose="02040503050406030204" pitchFamily="18" charset="0"/>
                          </a:rPr>
                          <m:t>𝑓</m:t>
                        </m:r>
                      </m:sub>
                    </m:sSub>
                    <m:r>
                      <a:rPr lang="en-US" altLang="ja-JP" sz="2400" i="1">
                        <a:latin typeface="Cambria Math" panose="02040503050406030204" pitchFamily="18" charset="0"/>
                      </a:rPr>
                      <m:t>−</m:t>
                    </m:r>
                    <m:r>
                      <a:rPr lang="en-US" altLang="ja-JP" sz="2400" b="0" i="1" smtClean="0">
                        <a:latin typeface="Cambria Math" panose="02040503050406030204" pitchFamily="18" charset="0"/>
                      </a:rPr>
                      <m:t>(−7.7)</m:t>
                    </m:r>
                    <m:r>
                      <a:rPr lang="en-US" altLang="ja-JP" sz="2400" i="1">
                        <a:latin typeface="Cambria Math" panose="02040503050406030204" pitchFamily="18" charset="0"/>
                      </a:rPr>
                      <m:t> </m:t>
                    </m:r>
                    <m:r>
                      <a:rPr lang="en-US" altLang="ja-JP" sz="2400" b="0" i="1" smtClean="0">
                        <a:latin typeface="Cambria Math" panose="02040503050406030204" pitchFamily="18" charset="0"/>
                      </a:rPr>
                      <m:t>=−14</m:t>
                    </m:r>
                  </m:oMath>
                </a14:m>
                <a:r>
                  <a:rPr lang="en-US" altLang="ja-JP" sz="2400" b="1" dirty="0">
                    <a:solidFill>
                      <a:srgbClr val="FF0000"/>
                    </a:solidFill>
                  </a:rPr>
                  <a:t> </a:t>
                </a:r>
              </a:p>
              <a:p>
                <a14:m>
                  <m:oMath xmlns:m="http://schemas.openxmlformats.org/officeDocument/2006/math">
                    <m:sSub>
                      <m:sSubPr>
                        <m:ctrlPr>
                          <a:rPr lang="en-US" altLang="ja-JP" sz="2400" i="1" smtClean="0">
                            <a:latin typeface="Cambria Math" panose="02040503050406030204" pitchFamily="18" charset="0"/>
                          </a:rPr>
                        </m:ctrlPr>
                      </m:sSubPr>
                      <m:e>
                        <m:r>
                          <a:rPr lang="en-US" altLang="ja-JP" sz="2400" i="1">
                            <a:latin typeface="Cambria Math" panose="02040503050406030204" pitchFamily="18" charset="0"/>
                          </a:rPr>
                          <m:t>𝑣</m:t>
                        </m:r>
                      </m:e>
                      <m:sub>
                        <m:r>
                          <a:rPr lang="en-US" altLang="ja-JP" sz="2400" i="1">
                            <a:latin typeface="Cambria Math" panose="02040503050406030204" pitchFamily="18" charset="0"/>
                          </a:rPr>
                          <m:t>1</m:t>
                        </m:r>
                        <m:r>
                          <a:rPr lang="en-US" altLang="ja-JP" sz="2400" i="1">
                            <a:latin typeface="Cambria Math" panose="02040503050406030204" pitchFamily="18" charset="0"/>
                          </a:rPr>
                          <m:t>𝑓</m:t>
                        </m:r>
                      </m:sub>
                    </m:sSub>
                    <m:r>
                      <a:rPr lang="en-US" altLang="ja-JP" sz="2400" b="0" i="1" smtClean="0">
                        <a:latin typeface="Cambria Math" panose="02040503050406030204" pitchFamily="18" charset="0"/>
                      </a:rPr>
                      <m:t>=−21.7</m:t>
                    </m:r>
                  </m:oMath>
                </a14:m>
                <a:r>
                  <a:rPr lang="en-US" altLang="ja-JP" sz="2400" b="1" dirty="0">
                    <a:solidFill>
                      <a:srgbClr val="FF0000"/>
                    </a:solidFill>
                  </a:rPr>
                  <a:t> 	</a:t>
                </a:r>
                <a:r>
                  <a:rPr lang="ja-JP" altLang="en-US" sz="2400" dirty="0"/>
                  <a:t>・・・鉛玉</a:t>
                </a:r>
                <a:r>
                  <a:rPr lang="en-US" altLang="ja-JP" sz="2400" dirty="0"/>
                  <a:t>A</a:t>
                </a:r>
                <a:r>
                  <a:rPr lang="ja-JP" altLang="en-US" sz="2400" dirty="0"/>
                  <a:t>の衝突後の速度</a:t>
                </a:r>
                <a:endParaRPr lang="en-US" altLang="ja-JP" sz="2400" dirty="0"/>
              </a:p>
              <a:p>
                <a:endParaRPr lang="en-US" altLang="ja-JP" sz="2400" b="1" dirty="0">
                  <a:solidFill>
                    <a:srgbClr val="FF0000"/>
                  </a:solidFill>
                </a:endParaRPr>
              </a:p>
              <a:p>
                <a:r>
                  <a:rPr lang="ja-JP" altLang="en-US" sz="2400" b="1" dirty="0">
                    <a:solidFill>
                      <a:srgbClr val="FF0000"/>
                    </a:solidFill>
                  </a:rPr>
                  <a:t>鉛玉</a:t>
                </a:r>
                <a:r>
                  <a:rPr lang="en-US" altLang="ja-JP" sz="2400" b="1" dirty="0">
                    <a:solidFill>
                      <a:srgbClr val="FF0000"/>
                    </a:solidFill>
                  </a:rPr>
                  <a:t>A</a:t>
                </a:r>
                <a:r>
                  <a:rPr lang="ja-JP" altLang="en-US" sz="2400" b="1" dirty="0">
                    <a:solidFill>
                      <a:srgbClr val="FF0000"/>
                    </a:solidFill>
                  </a:rPr>
                  <a:t>の速度は</a:t>
                </a:r>
                <a14:m>
                  <m:oMath xmlns:m="http://schemas.openxmlformats.org/officeDocument/2006/math">
                    <m:r>
                      <a:rPr lang="en-US" altLang="ja-JP" sz="2400" b="1" i="1" smtClean="0">
                        <a:solidFill>
                          <a:srgbClr val="FF0000"/>
                        </a:solidFill>
                        <a:latin typeface="Cambria Math" panose="02040503050406030204" pitchFamily="18" charset="0"/>
                      </a:rPr>
                      <m:t>−</m:t>
                    </m:r>
                    <m:r>
                      <a:rPr lang="en-US" altLang="ja-JP" sz="2400" b="1" i="1" smtClean="0">
                        <a:solidFill>
                          <a:srgbClr val="FF0000"/>
                        </a:solidFill>
                        <a:latin typeface="Cambria Math" panose="02040503050406030204" pitchFamily="18" charset="0"/>
                      </a:rPr>
                      <m:t>𝟐𝟏</m:t>
                    </m:r>
                    <m:r>
                      <a:rPr lang="en-US" altLang="ja-JP" sz="2400" b="1" i="1" smtClean="0">
                        <a:solidFill>
                          <a:srgbClr val="FF0000"/>
                        </a:solidFill>
                        <a:latin typeface="Cambria Math" panose="02040503050406030204" pitchFamily="18" charset="0"/>
                      </a:rPr>
                      <m:t>.</m:t>
                    </m:r>
                    <m:r>
                      <a:rPr lang="en-US" altLang="ja-JP" sz="2400" b="1" i="1" smtClean="0">
                        <a:solidFill>
                          <a:srgbClr val="FF0000"/>
                        </a:solidFill>
                        <a:latin typeface="Cambria Math" panose="02040503050406030204" pitchFamily="18" charset="0"/>
                      </a:rPr>
                      <m:t>𝟕</m:t>
                    </m:r>
                    <m:r>
                      <a:rPr lang="en-US" altLang="ja-JP" sz="2400" b="1" i="1" smtClean="0">
                        <a:solidFill>
                          <a:srgbClr val="FF0000"/>
                        </a:solidFill>
                        <a:latin typeface="Cambria Math" panose="02040503050406030204" pitchFamily="18" charset="0"/>
                      </a:rPr>
                      <m:t>𝒎</m:t>
                    </m:r>
                    <m:r>
                      <a:rPr lang="en-US" altLang="ja-JP" sz="2400" b="1" i="1" smtClean="0">
                        <a:solidFill>
                          <a:srgbClr val="FF0000"/>
                        </a:solidFill>
                        <a:latin typeface="Cambria Math" panose="02040503050406030204" pitchFamily="18" charset="0"/>
                      </a:rPr>
                      <m:t>/</m:t>
                    </m:r>
                    <m:r>
                      <a:rPr lang="ja-JP" altLang="en-US" sz="2400" b="1" i="1">
                        <a:solidFill>
                          <a:srgbClr val="FF0000"/>
                        </a:solidFill>
                        <a:latin typeface="Cambria Math" panose="02040503050406030204" pitchFamily="18" charset="0"/>
                      </a:rPr>
                      <m:t>秒</m:t>
                    </m:r>
                  </m:oMath>
                </a14:m>
                <a:r>
                  <a:rPr lang="en-US" altLang="ja-JP" sz="2400" b="1" dirty="0">
                    <a:solidFill>
                      <a:srgbClr val="FF0000"/>
                    </a:solidFill>
                  </a:rPr>
                  <a:t>,</a:t>
                </a:r>
                <a:r>
                  <a:rPr lang="ja-JP" altLang="en-US" sz="2400" b="1" dirty="0">
                    <a:solidFill>
                      <a:srgbClr val="FF0000"/>
                    </a:solidFill>
                  </a:rPr>
                  <a:t>鉛玉</a:t>
                </a:r>
                <a:r>
                  <a:rPr lang="en-US" altLang="ja-JP" sz="2400" b="1" dirty="0">
                    <a:solidFill>
                      <a:srgbClr val="FF0000"/>
                    </a:solidFill>
                  </a:rPr>
                  <a:t>B</a:t>
                </a:r>
                <a:r>
                  <a:rPr lang="ja-JP" altLang="en-US" sz="2400" b="1" dirty="0">
                    <a:solidFill>
                      <a:srgbClr val="FF0000"/>
                    </a:solidFill>
                  </a:rPr>
                  <a:t>の速度は</a:t>
                </a:r>
                <a14:m>
                  <m:oMath xmlns:m="http://schemas.openxmlformats.org/officeDocument/2006/math">
                    <m:r>
                      <a:rPr lang="en-US" altLang="ja-JP" sz="2400" b="1" i="1">
                        <a:solidFill>
                          <a:srgbClr val="FF0000"/>
                        </a:solidFill>
                        <a:latin typeface="Cambria Math" panose="02040503050406030204" pitchFamily="18" charset="0"/>
                      </a:rPr>
                      <m:t>−</m:t>
                    </m:r>
                    <m:r>
                      <a:rPr lang="en-US" altLang="ja-JP" sz="2400" b="1" i="1" smtClean="0">
                        <a:solidFill>
                          <a:srgbClr val="FF0000"/>
                        </a:solidFill>
                        <a:latin typeface="Cambria Math" panose="02040503050406030204" pitchFamily="18" charset="0"/>
                      </a:rPr>
                      <m:t>𝟕</m:t>
                    </m:r>
                    <m:r>
                      <a:rPr lang="en-US" altLang="ja-JP" sz="2400" b="1" i="1">
                        <a:solidFill>
                          <a:srgbClr val="FF0000"/>
                        </a:solidFill>
                        <a:latin typeface="Cambria Math" panose="02040503050406030204" pitchFamily="18" charset="0"/>
                      </a:rPr>
                      <m:t>.</m:t>
                    </m:r>
                    <m:r>
                      <a:rPr lang="en-US" altLang="ja-JP" sz="2400" b="1" i="1">
                        <a:solidFill>
                          <a:srgbClr val="FF0000"/>
                        </a:solidFill>
                        <a:latin typeface="Cambria Math" panose="02040503050406030204" pitchFamily="18" charset="0"/>
                      </a:rPr>
                      <m:t>𝟕</m:t>
                    </m:r>
                    <m:r>
                      <a:rPr lang="en-US" altLang="ja-JP" sz="2400" b="1" i="1">
                        <a:solidFill>
                          <a:srgbClr val="FF0000"/>
                        </a:solidFill>
                        <a:latin typeface="Cambria Math" panose="02040503050406030204" pitchFamily="18" charset="0"/>
                      </a:rPr>
                      <m:t>𝒎</m:t>
                    </m:r>
                    <m:r>
                      <a:rPr lang="en-US" altLang="ja-JP" sz="2400" b="1" i="1">
                        <a:solidFill>
                          <a:srgbClr val="FF0000"/>
                        </a:solidFill>
                        <a:latin typeface="Cambria Math" panose="02040503050406030204" pitchFamily="18" charset="0"/>
                      </a:rPr>
                      <m:t>/</m:t>
                    </m:r>
                    <m:r>
                      <a:rPr lang="ja-JP" altLang="en-US" sz="2400" b="1" i="1">
                        <a:solidFill>
                          <a:srgbClr val="FF0000"/>
                        </a:solidFill>
                        <a:latin typeface="Cambria Math" panose="02040503050406030204" pitchFamily="18" charset="0"/>
                      </a:rPr>
                      <m:t>秒</m:t>
                    </m:r>
                  </m:oMath>
                </a14:m>
                <a:endParaRPr lang="en-US" altLang="ja-JP" sz="2400" b="1" dirty="0">
                  <a:solidFill>
                    <a:srgbClr val="FF0000"/>
                  </a:solidFill>
                </a:endParaRPr>
              </a:p>
            </p:txBody>
          </p:sp>
        </mc:Choice>
        <mc:Fallback>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9417963" cy="4583562"/>
              </a:xfrm>
              <a:prstGeom prst="rect">
                <a:avLst/>
              </a:prstGeom>
              <a:blipFill>
                <a:blip r:embed="rId2"/>
                <a:stretch>
                  <a:fillRect l="-971" t="-1065" r="-65" b="-2264"/>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01855164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943161" cy="584775"/>
          </a:xfrm>
          <a:prstGeom prst="rect">
            <a:avLst/>
          </a:prstGeom>
          <a:noFill/>
        </p:spPr>
        <p:txBody>
          <a:bodyPr wrap="none" rtlCol="0">
            <a:spAutoFit/>
          </a:bodyPr>
          <a:lstStyle/>
          <a:p>
            <a:r>
              <a:rPr lang="ja-JP" altLang="en-US" sz="3200" b="1" u="sng" dirty="0"/>
              <a:t>衝突 練習</a:t>
            </a:r>
            <a:endParaRPr kumimoji="1" lang="en-US" altLang="ja-JP" sz="3200" b="1" u="sng" dirty="0"/>
          </a:p>
        </p:txBody>
      </p:sp>
      <mc:AlternateContent xmlns:mc="http://schemas.openxmlformats.org/markup-compatibility/2006">
        <mc:Choice xmlns:a14="http://schemas.microsoft.com/office/drawing/2010/main"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1264622" cy="2308324"/>
              </a:xfrm>
              <a:prstGeom prst="rect">
                <a:avLst/>
              </a:prstGeom>
              <a:noFill/>
            </p:spPr>
            <p:txBody>
              <a:bodyPr wrap="none" rtlCol="0">
                <a:spAutoFit/>
              </a:bodyPr>
              <a:lstStyle/>
              <a:p>
                <a:r>
                  <a:rPr lang="ja-JP" altLang="en-US" sz="2400" dirty="0"/>
                  <a:t>ゲーム中の以下のオブジェクトが衝突した後の、それぞれの速度を求めなさい。</a:t>
                </a:r>
                <a:endParaRPr lang="en-US" altLang="ja-JP" sz="2400" dirty="0"/>
              </a:p>
              <a:p>
                <a:r>
                  <a:rPr lang="ja-JP" altLang="en-US" sz="2400" dirty="0"/>
                  <a:t>ただし、衝突は正面衝突で、はねかえり係数は</a:t>
                </a:r>
                <a:r>
                  <a:rPr lang="en-US" altLang="ja-JP" sz="2400" dirty="0"/>
                  <a:t>0.5</a:t>
                </a:r>
                <a:r>
                  <a:rPr lang="ja-JP" altLang="en-US" sz="2400" dirty="0"/>
                  <a:t>とする</a:t>
                </a:r>
                <a:endParaRPr lang="en-US" altLang="ja-JP" sz="2400" dirty="0"/>
              </a:p>
              <a:p>
                <a:r>
                  <a:rPr lang="ja-JP" altLang="en-US" sz="2400" dirty="0"/>
                  <a:t>■オブジェクト</a:t>
                </a:r>
                <a:r>
                  <a:rPr lang="en-US" altLang="ja-JP" sz="2400" dirty="0"/>
                  <a:t>A</a:t>
                </a:r>
              </a:p>
              <a:p>
                <a:r>
                  <a:rPr lang="ja-JP" altLang="en-US" sz="2400" dirty="0"/>
                  <a:t>・質量：</a:t>
                </a:r>
                <a14:m>
                  <m:oMath xmlns:m="http://schemas.openxmlformats.org/officeDocument/2006/math">
                    <m:r>
                      <a:rPr lang="en-US" altLang="ja-JP" sz="2400" b="0" i="1" dirty="0" smtClean="0">
                        <a:latin typeface="Cambria Math" panose="02040503050406030204" pitchFamily="18" charset="0"/>
                      </a:rPr>
                      <m:t>2</m:t>
                    </m:r>
                    <m:r>
                      <a:rPr lang="en-US" altLang="ja-JP" sz="2400" b="0" i="1" dirty="0" smtClean="0">
                        <a:latin typeface="Cambria Math" panose="02040503050406030204" pitchFamily="18" charset="0"/>
                      </a:rPr>
                      <m:t>𝑘𝑔</m:t>
                    </m:r>
                  </m:oMath>
                </a14:m>
                <a:r>
                  <a:rPr lang="en-US" altLang="ja-JP" sz="2400" dirty="0"/>
                  <a:t>	</a:t>
                </a:r>
                <a:r>
                  <a:rPr lang="ja-JP" altLang="en-US" sz="2400" dirty="0"/>
                  <a:t>・速度</a:t>
                </a:r>
                <a14:m>
                  <m:oMath xmlns:m="http://schemas.openxmlformats.org/officeDocument/2006/math">
                    <m:r>
                      <a:rPr lang="en-US" altLang="ja-JP" sz="2400" b="0" i="1" dirty="0" smtClean="0">
                        <a:latin typeface="Cambria Math" panose="02040503050406030204" pitchFamily="18" charset="0"/>
                      </a:rPr>
                      <m:t>6</m:t>
                    </m:r>
                    <m:r>
                      <a:rPr lang="en-US" altLang="ja-JP" sz="2400" i="1" dirty="0" smtClean="0">
                        <a:latin typeface="Cambria Math" panose="02040503050406030204" pitchFamily="18" charset="0"/>
                      </a:rPr>
                      <m:t>𝑚</m:t>
                    </m:r>
                    <m:r>
                      <a:rPr lang="en-US" altLang="ja-JP" sz="2400" i="1" dirty="0" smtClean="0">
                        <a:latin typeface="Cambria Math" panose="02040503050406030204" pitchFamily="18" charset="0"/>
                      </a:rPr>
                      <m:t>/</m:t>
                    </m:r>
                    <m:r>
                      <a:rPr lang="ja-JP" altLang="en-US" sz="2400" i="1" dirty="0" smtClean="0">
                        <a:latin typeface="Cambria Math" panose="02040503050406030204" pitchFamily="18" charset="0"/>
                      </a:rPr>
                      <m:t>秒</m:t>
                    </m:r>
                  </m:oMath>
                </a14:m>
                <a:endParaRPr lang="en-US" altLang="ja-JP" sz="2400" dirty="0"/>
              </a:p>
              <a:p>
                <a:r>
                  <a:rPr lang="ja-JP" altLang="en-US" sz="2400" dirty="0"/>
                  <a:t>■オブジェクト</a:t>
                </a:r>
                <a:r>
                  <a:rPr lang="en-US" altLang="ja-JP" sz="2400" dirty="0"/>
                  <a:t>B</a:t>
                </a:r>
              </a:p>
              <a:p>
                <a:r>
                  <a:rPr lang="ja-JP" altLang="en-US" sz="2400" dirty="0"/>
                  <a:t>・質量：</a:t>
                </a:r>
                <a14:m>
                  <m:oMath xmlns:m="http://schemas.openxmlformats.org/officeDocument/2006/math">
                    <m:r>
                      <a:rPr lang="en-US" altLang="ja-JP" sz="2400" b="0" i="1" dirty="0" smtClean="0">
                        <a:latin typeface="Cambria Math" panose="02040503050406030204" pitchFamily="18" charset="0"/>
                      </a:rPr>
                      <m:t>3</m:t>
                    </m:r>
                    <m:r>
                      <a:rPr lang="en-US" altLang="ja-JP" sz="2400" b="0" i="1" dirty="0" smtClean="0">
                        <a:latin typeface="Cambria Math" panose="02040503050406030204" pitchFamily="18" charset="0"/>
                      </a:rPr>
                      <m:t>𝑘𝑔</m:t>
                    </m:r>
                  </m:oMath>
                </a14:m>
                <a:r>
                  <a:rPr lang="en-US" altLang="ja-JP" sz="2400" dirty="0"/>
                  <a:t>	</a:t>
                </a:r>
                <a:r>
                  <a:rPr lang="ja-JP" altLang="en-US" sz="2400" dirty="0"/>
                  <a:t>・速度</a:t>
                </a:r>
                <a14:m>
                  <m:oMath xmlns:m="http://schemas.openxmlformats.org/officeDocument/2006/math">
                    <m:r>
                      <a:rPr lang="en-US" altLang="ja-JP" sz="2400" i="1" dirty="0" smtClean="0">
                        <a:latin typeface="Cambria Math" panose="02040503050406030204" pitchFamily="18" charset="0"/>
                      </a:rPr>
                      <m:t>−4</m:t>
                    </m:r>
                    <m:r>
                      <a:rPr lang="en-US" altLang="ja-JP" sz="2400" i="1" dirty="0" smtClean="0">
                        <a:latin typeface="Cambria Math" panose="02040503050406030204" pitchFamily="18" charset="0"/>
                      </a:rPr>
                      <m:t>𝑚</m:t>
                    </m:r>
                    <m:r>
                      <a:rPr lang="en-US" altLang="ja-JP" sz="2400" i="1" dirty="0" smtClean="0">
                        <a:latin typeface="Cambria Math" panose="02040503050406030204" pitchFamily="18" charset="0"/>
                      </a:rPr>
                      <m:t>/</m:t>
                    </m:r>
                    <m:r>
                      <a:rPr lang="ja-JP" altLang="en-US" sz="2400" i="1" dirty="0" smtClean="0">
                        <a:latin typeface="Cambria Math" panose="02040503050406030204" pitchFamily="18" charset="0"/>
                      </a:rPr>
                      <m:t>秒</m:t>
                    </m:r>
                  </m:oMath>
                </a14:m>
                <a:endParaRPr lang="en-US" altLang="ja-JP" sz="2400" dirty="0"/>
              </a:p>
            </p:txBody>
          </p:sp>
        </mc:Choice>
        <mc:Fallback>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11264622" cy="2308324"/>
              </a:xfrm>
              <a:prstGeom prst="rect">
                <a:avLst/>
              </a:prstGeom>
              <a:blipFill>
                <a:blip r:embed="rId2"/>
                <a:stretch>
                  <a:fillRect l="-812" t="-2116" b="-5291"/>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241628000"/>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2982</TotalTime>
  <Words>1465</Words>
  <Application>Microsoft Office PowerPoint</Application>
  <PresentationFormat>ワイド画面</PresentationFormat>
  <Paragraphs>173</Paragraphs>
  <Slides>14</Slides>
  <Notes>0</Notes>
  <HiddenSlides>0</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14</vt:i4>
      </vt:variant>
    </vt:vector>
  </HeadingPairs>
  <TitlesOfParts>
    <vt:vector size="19" baseType="lpstr">
      <vt:lpstr>游ゴシック</vt:lpstr>
      <vt:lpstr>游ゴシック Light</vt:lpstr>
      <vt:lpstr>Arial</vt:lpstr>
      <vt:lpstr>Cambria Math</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北九州校　ゲーム</dc:creator>
  <cp:lastModifiedBy>情報北九州校 倉掛</cp:lastModifiedBy>
  <cp:revision>280</cp:revision>
  <dcterms:created xsi:type="dcterms:W3CDTF">2024-08-27T02:15:54Z</dcterms:created>
  <dcterms:modified xsi:type="dcterms:W3CDTF">2025-11-04T01:11:55Z</dcterms:modified>
</cp:coreProperties>
</file>