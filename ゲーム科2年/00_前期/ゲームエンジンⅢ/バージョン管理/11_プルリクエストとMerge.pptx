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8" r:id="rId11"/>
    <p:sldId id="266" r:id="rId12"/>
    <p:sldId id="267" r:id="rId13"/>
    <p:sldId id="269" r:id="rId14"/>
    <p:sldId id="270" r:id="rId15"/>
    <p:sldId id="271" r:id="rId16"/>
    <p:sldId id="272"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85766" cy="830997"/>
          </a:xfrm>
          <a:prstGeom prst="rect">
            <a:avLst/>
          </a:prstGeom>
          <a:noFill/>
        </p:spPr>
        <p:txBody>
          <a:bodyPr wrap="none" rtlCol="0">
            <a:spAutoFit/>
          </a:bodyPr>
          <a:lstStyle/>
          <a:p>
            <a:r>
              <a:rPr lang="ja-JP" altLang="en-US" sz="2400" dirty="0"/>
              <a:t>前回作成した</a:t>
            </a:r>
            <a:r>
              <a:rPr lang="en-US" altLang="ja-JP" sz="2400" dirty="0"/>
              <a:t>Branch</a:t>
            </a:r>
            <a:r>
              <a:rPr lang="ja-JP" altLang="en-US" sz="2400" dirty="0"/>
              <a:t>で作業をして</a:t>
            </a:r>
            <a:r>
              <a:rPr lang="en-US" altLang="ja-JP" sz="2400" dirty="0"/>
              <a:t>master</a:t>
            </a:r>
            <a:r>
              <a:rPr lang="ja-JP" altLang="en-US" sz="2400" dirty="0"/>
              <a:t>に</a:t>
            </a:r>
            <a:r>
              <a:rPr lang="en-US" altLang="ja-JP" sz="2400" dirty="0"/>
              <a:t>Merge</a:t>
            </a:r>
            <a:r>
              <a:rPr lang="ja-JP" altLang="en-US" sz="2400" dirty="0"/>
              <a:t>させます。</a:t>
            </a:r>
            <a:endParaRPr lang="en-US" altLang="ja-JP" sz="2400" dirty="0"/>
          </a:p>
          <a:p>
            <a:r>
              <a:rPr lang="ja-JP" altLang="en-US" sz="2400" b="1" dirty="0">
                <a:solidFill>
                  <a:srgbClr val="FF0000"/>
                </a:solidFill>
              </a:rPr>
              <a:t>前回</a:t>
            </a:r>
            <a:r>
              <a:rPr lang="en-US" altLang="ja-JP" sz="2400" b="1" dirty="0">
                <a:solidFill>
                  <a:srgbClr val="FF0000"/>
                </a:solidFill>
              </a:rPr>
              <a:t>Branch</a:t>
            </a:r>
            <a:r>
              <a:rPr lang="ja-JP" altLang="en-US" sz="2400" b="1" dirty="0">
                <a:solidFill>
                  <a:srgbClr val="FF0000"/>
                </a:solidFill>
              </a:rPr>
              <a:t>を作った人が引き続き作業してください。</a:t>
            </a:r>
            <a:endParaRPr lang="en-US" altLang="ja-JP" sz="2400" b="1" dirty="0">
              <a:solidFill>
                <a:srgbClr val="FF0000"/>
              </a:solidFill>
            </a:endParaRPr>
          </a:p>
        </p:txBody>
      </p:sp>
    </p:spTree>
    <p:extLst>
      <p:ext uri="{BB962C8B-B14F-4D97-AF65-F5344CB8AC3E}">
        <p14:creationId xmlns:p14="http://schemas.microsoft.com/office/powerpoint/2010/main" val="1918227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830997"/>
          </a:xfrm>
          <a:prstGeom prst="rect">
            <a:avLst/>
          </a:prstGeom>
          <a:noFill/>
        </p:spPr>
        <p:txBody>
          <a:bodyPr wrap="none" rtlCol="0">
            <a:spAutoFit/>
          </a:bodyPr>
          <a:lstStyle/>
          <a:p>
            <a:r>
              <a:rPr lang="ja-JP" altLang="en-US" sz="2400" dirty="0"/>
              <a:t>まずは練習用のテキストを適当に書き換えましょう。</a:t>
            </a:r>
            <a:endParaRPr lang="en-US" altLang="ja-JP" sz="2400" dirty="0"/>
          </a:p>
          <a:p>
            <a:r>
              <a:rPr lang="ja-JP" altLang="en-US" sz="2400" dirty="0"/>
              <a:t>書き換えたら</a:t>
            </a:r>
            <a:r>
              <a:rPr lang="en-US" altLang="ja-JP" sz="2400" dirty="0"/>
              <a:t>Push</a:t>
            </a:r>
            <a:r>
              <a:rPr lang="ja-JP" altLang="en-US" sz="2400" dirty="0"/>
              <a:t>までしましょう。</a:t>
            </a:r>
            <a:endParaRPr lang="en-US" altLang="ja-JP" sz="2400" dirty="0"/>
          </a:p>
        </p:txBody>
      </p:sp>
      <p:pic>
        <p:nvPicPr>
          <p:cNvPr id="3" name="図 2">
            <a:extLst>
              <a:ext uri="{FF2B5EF4-FFF2-40B4-BE49-F238E27FC236}">
                <a16:creationId xmlns:a16="http://schemas.microsoft.com/office/drawing/2014/main" id="{5350FB18-26FF-479E-984A-111B3AEF987E}"/>
              </a:ext>
            </a:extLst>
          </p:cNvPr>
          <p:cNvPicPr>
            <a:picLocks noChangeAspect="1"/>
          </p:cNvPicPr>
          <p:nvPr/>
        </p:nvPicPr>
        <p:blipFill>
          <a:blip r:embed="rId2"/>
          <a:stretch>
            <a:fillRect/>
          </a:stretch>
        </p:blipFill>
        <p:spPr>
          <a:xfrm>
            <a:off x="567542" y="2187126"/>
            <a:ext cx="3382717" cy="2763171"/>
          </a:xfrm>
          <a:prstGeom prst="rect">
            <a:avLst/>
          </a:prstGeom>
        </p:spPr>
      </p:pic>
    </p:spTree>
    <p:extLst>
      <p:ext uri="{BB962C8B-B14F-4D97-AF65-F5344CB8AC3E}">
        <p14:creationId xmlns:p14="http://schemas.microsoft.com/office/powerpoint/2010/main" val="1657500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648521" cy="461665"/>
          </a:xfrm>
          <a:prstGeom prst="rect">
            <a:avLst/>
          </a:prstGeom>
          <a:noFill/>
        </p:spPr>
        <p:txBody>
          <a:bodyPr wrap="none" rtlCol="0">
            <a:spAutoFit/>
          </a:bodyPr>
          <a:lstStyle/>
          <a:p>
            <a:r>
              <a:rPr lang="en-US" altLang="ja-JP" sz="2400" dirty="0"/>
              <a:t>Bitbucket</a:t>
            </a:r>
            <a:r>
              <a:rPr lang="ja-JP" altLang="en-US" sz="2400" dirty="0"/>
              <a:t>の</a:t>
            </a:r>
            <a:r>
              <a:rPr lang="en-US" altLang="ja-JP" sz="2400" b="1" dirty="0">
                <a:solidFill>
                  <a:srgbClr val="FF0000"/>
                </a:solidFill>
              </a:rPr>
              <a:t>Commits</a:t>
            </a:r>
            <a:r>
              <a:rPr lang="ja-JP" altLang="en-US" sz="2400" b="1" dirty="0">
                <a:solidFill>
                  <a:srgbClr val="FF0000"/>
                </a:solidFill>
              </a:rPr>
              <a:t>ページ</a:t>
            </a:r>
            <a:r>
              <a:rPr lang="ja-JP" altLang="en-US" sz="2400" dirty="0"/>
              <a:t>を開いて現状を確認しましょう。</a:t>
            </a:r>
            <a:endParaRPr lang="en-US" altLang="ja-JP" sz="2400" dirty="0"/>
          </a:p>
        </p:txBody>
      </p:sp>
      <p:pic>
        <p:nvPicPr>
          <p:cNvPr id="8" name="図 7">
            <a:extLst>
              <a:ext uri="{FF2B5EF4-FFF2-40B4-BE49-F238E27FC236}">
                <a16:creationId xmlns:a16="http://schemas.microsoft.com/office/drawing/2014/main" id="{CC4B4145-5DA6-42CF-BB13-CC377C22199B}"/>
              </a:ext>
            </a:extLst>
          </p:cNvPr>
          <p:cNvPicPr>
            <a:picLocks noChangeAspect="1"/>
          </p:cNvPicPr>
          <p:nvPr/>
        </p:nvPicPr>
        <p:blipFill>
          <a:blip r:embed="rId2"/>
          <a:stretch>
            <a:fillRect/>
          </a:stretch>
        </p:blipFill>
        <p:spPr>
          <a:xfrm>
            <a:off x="567542" y="1817794"/>
            <a:ext cx="8848660" cy="3453453"/>
          </a:xfrm>
          <a:prstGeom prst="rect">
            <a:avLst/>
          </a:prstGeom>
        </p:spPr>
      </p:pic>
      <p:sp>
        <p:nvSpPr>
          <p:cNvPr id="9" name="テキスト ボックス 8">
            <a:extLst>
              <a:ext uri="{FF2B5EF4-FFF2-40B4-BE49-F238E27FC236}">
                <a16:creationId xmlns:a16="http://schemas.microsoft.com/office/drawing/2014/main" id="{57267F0E-3776-4958-9A0B-C74F1B8A5C78}"/>
              </a:ext>
            </a:extLst>
          </p:cNvPr>
          <p:cNvSpPr txBox="1"/>
          <p:nvPr/>
        </p:nvSpPr>
        <p:spPr>
          <a:xfrm>
            <a:off x="3819397" y="2572967"/>
            <a:ext cx="5724644" cy="461665"/>
          </a:xfrm>
          <a:prstGeom prst="rect">
            <a:avLst/>
          </a:prstGeom>
          <a:noFill/>
        </p:spPr>
        <p:txBody>
          <a:bodyPr wrap="square" rtlCol="0">
            <a:spAutoFit/>
          </a:bodyPr>
          <a:lstStyle/>
          <a:p>
            <a:r>
              <a:rPr lang="ja-JP" altLang="en-US" sz="2400" dirty="0"/>
              <a:t>ここを切り替えて各ブランチを確認する</a:t>
            </a:r>
            <a:endParaRPr lang="en-US" altLang="ja-JP" sz="2400" dirty="0"/>
          </a:p>
        </p:txBody>
      </p:sp>
      <p:sp>
        <p:nvSpPr>
          <p:cNvPr id="10" name="吹き出し: 四角形 9">
            <a:extLst>
              <a:ext uri="{FF2B5EF4-FFF2-40B4-BE49-F238E27FC236}">
                <a16:creationId xmlns:a16="http://schemas.microsoft.com/office/drawing/2014/main" id="{4A66CB6C-C990-438C-86AF-F192FD6EDF88}"/>
              </a:ext>
            </a:extLst>
          </p:cNvPr>
          <p:cNvSpPr/>
          <p:nvPr/>
        </p:nvSpPr>
        <p:spPr>
          <a:xfrm>
            <a:off x="3819397" y="2572967"/>
            <a:ext cx="5724644" cy="461665"/>
          </a:xfrm>
          <a:prstGeom prst="wedgeRectCallout">
            <a:avLst>
              <a:gd name="adj1" fmla="val -28467"/>
              <a:gd name="adj2" fmla="val 111472"/>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36702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78400" cy="2308324"/>
          </a:xfrm>
          <a:prstGeom prst="rect">
            <a:avLst/>
          </a:prstGeom>
          <a:noFill/>
        </p:spPr>
        <p:txBody>
          <a:bodyPr wrap="none" rtlCol="0">
            <a:spAutoFit/>
          </a:bodyPr>
          <a:lstStyle/>
          <a:p>
            <a:r>
              <a:rPr lang="ja-JP" altLang="en-US" sz="2400" dirty="0"/>
              <a:t>今回の編集を</a:t>
            </a:r>
            <a:r>
              <a:rPr lang="en-US" altLang="ja-JP" sz="2400" dirty="0"/>
              <a:t>master</a:t>
            </a:r>
            <a:r>
              <a:rPr lang="ja-JP" altLang="en-US" sz="2400" dirty="0"/>
              <a:t>に</a:t>
            </a:r>
            <a:r>
              <a:rPr lang="en-US" altLang="ja-JP" sz="2400" dirty="0"/>
              <a:t>Merge</a:t>
            </a:r>
            <a:r>
              <a:rPr lang="ja-JP" altLang="en-US" sz="2400" dirty="0"/>
              <a:t>させるには</a:t>
            </a:r>
            <a:r>
              <a:rPr lang="ja-JP" altLang="en-US" sz="2400" b="1" dirty="0">
                <a:solidFill>
                  <a:srgbClr val="FF0000"/>
                </a:solidFill>
              </a:rPr>
              <a:t>プルリクエスト</a:t>
            </a:r>
            <a:r>
              <a:rPr lang="ja-JP" altLang="en-US" sz="2400" dirty="0"/>
              <a:t>を作成します。</a:t>
            </a:r>
            <a:endParaRPr lang="en-US" altLang="ja-JP" sz="2400" dirty="0"/>
          </a:p>
          <a:p>
            <a:r>
              <a:rPr lang="ja-JP" altLang="en-US" sz="2400" dirty="0"/>
              <a:t>プルリクエストとは、</a:t>
            </a:r>
            <a:endParaRPr lang="en-US" altLang="ja-JP" sz="2400" dirty="0"/>
          </a:p>
          <a:p>
            <a:r>
              <a:rPr lang="ja-JP" altLang="en-US" sz="2400" b="1" dirty="0">
                <a:solidFill>
                  <a:srgbClr val="FF0000"/>
                </a:solidFill>
              </a:rPr>
              <a:t>「作業したブランチを別のブランチに合流させてください」</a:t>
            </a:r>
            <a:endParaRPr lang="en-US" altLang="ja-JP" sz="2400" b="1" dirty="0">
              <a:solidFill>
                <a:srgbClr val="FF0000"/>
              </a:solidFill>
            </a:endParaRPr>
          </a:p>
          <a:p>
            <a:r>
              <a:rPr lang="ja-JP" altLang="en-US" sz="2400" dirty="0"/>
              <a:t>とリクエストするものになります。</a:t>
            </a:r>
            <a:endParaRPr lang="en-US" altLang="ja-JP" sz="2400" dirty="0"/>
          </a:p>
          <a:p>
            <a:endParaRPr lang="en-US" altLang="ja-JP" sz="2400" dirty="0"/>
          </a:p>
          <a:p>
            <a:r>
              <a:rPr lang="ja-JP" altLang="en-US" sz="2400" b="1" dirty="0">
                <a:solidFill>
                  <a:srgbClr val="FF0000"/>
                </a:solidFill>
              </a:rPr>
              <a:t>■イメージ</a:t>
            </a:r>
            <a:endParaRPr lang="en-US" altLang="ja-JP" sz="2400" b="1" dirty="0">
              <a:solidFill>
                <a:srgbClr val="FF0000"/>
              </a:solidFill>
            </a:endParaRPr>
          </a:p>
        </p:txBody>
      </p:sp>
      <p:sp>
        <p:nvSpPr>
          <p:cNvPr id="2" name="楕円 1">
            <a:extLst>
              <a:ext uri="{FF2B5EF4-FFF2-40B4-BE49-F238E27FC236}">
                <a16:creationId xmlns:a16="http://schemas.microsoft.com/office/drawing/2014/main" id="{B8ED6CDC-23EC-41AE-ADFD-AECF9EEC296B}"/>
              </a:ext>
            </a:extLst>
          </p:cNvPr>
          <p:cNvSpPr/>
          <p:nvPr/>
        </p:nvSpPr>
        <p:spPr>
          <a:xfrm>
            <a:off x="915235" y="3664453"/>
            <a:ext cx="475129" cy="47961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98CBD56-13D8-41D7-9BCB-3100294CD202}"/>
              </a:ext>
            </a:extLst>
          </p:cNvPr>
          <p:cNvSpPr txBox="1"/>
          <p:nvPr/>
        </p:nvSpPr>
        <p:spPr>
          <a:xfrm>
            <a:off x="567542" y="4325311"/>
            <a:ext cx="1170513" cy="461665"/>
          </a:xfrm>
          <a:prstGeom prst="rect">
            <a:avLst/>
          </a:prstGeom>
          <a:noFill/>
        </p:spPr>
        <p:txBody>
          <a:bodyPr wrap="none" rtlCol="0">
            <a:spAutoFit/>
          </a:bodyPr>
          <a:lstStyle/>
          <a:p>
            <a:r>
              <a:rPr lang="en-US" altLang="ja-JP" sz="2400" dirty="0"/>
              <a:t>master</a:t>
            </a:r>
          </a:p>
        </p:txBody>
      </p:sp>
      <p:sp>
        <p:nvSpPr>
          <p:cNvPr id="12" name="楕円 11">
            <a:extLst>
              <a:ext uri="{FF2B5EF4-FFF2-40B4-BE49-F238E27FC236}">
                <a16:creationId xmlns:a16="http://schemas.microsoft.com/office/drawing/2014/main" id="{5EFDBC9C-5CBF-479F-BDBC-98B13DFFA567}"/>
              </a:ext>
            </a:extLst>
          </p:cNvPr>
          <p:cNvSpPr/>
          <p:nvPr/>
        </p:nvSpPr>
        <p:spPr>
          <a:xfrm>
            <a:off x="2012445" y="4971837"/>
            <a:ext cx="475129" cy="47961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85690306-B75D-4D25-804A-237D34DAE0B1}"/>
              </a:ext>
            </a:extLst>
          </p:cNvPr>
          <p:cNvSpPr txBox="1"/>
          <p:nvPr/>
        </p:nvSpPr>
        <p:spPr>
          <a:xfrm>
            <a:off x="1587808" y="5451449"/>
            <a:ext cx="1324402" cy="461665"/>
          </a:xfrm>
          <a:prstGeom prst="rect">
            <a:avLst/>
          </a:prstGeom>
          <a:noFill/>
        </p:spPr>
        <p:txBody>
          <a:bodyPr wrap="none" rtlCol="0">
            <a:spAutoFit/>
          </a:bodyPr>
          <a:lstStyle/>
          <a:p>
            <a:r>
              <a:rPr lang="en-US" altLang="ja-JP" sz="2400" dirty="0"/>
              <a:t>practice</a:t>
            </a:r>
          </a:p>
        </p:txBody>
      </p:sp>
      <p:cxnSp>
        <p:nvCxnSpPr>
          <p:cNvPr id="5" name="直線矢印コネクタ 4">
            <a:extLst>
              <a:ext uri="{FF2B5EF4-FFF2-40B4-BE49-F238E27FC236}">
                <a16:creationId xmlns:a16="http://schemas.microsoft.com/office/drawing/2014/main" id="{DC4C3D84-C95F-4A2C-8C62-A0F79CCBB656}"/>
              </a:ext>
            </a:extLst>
          </p:cNvPr>
          <p:cNvCxnSpPr>
            <a:stCxn id="2" idx="6"/>
          </p:cNvCxnSpPr>
          <p:nvPr/>
        </p:nvCxnSpPr>
        <p:spPr>
          <a:xfrm flipV="1">
            <a:off x="1390364" y="3902018"/>
            <a:ext cx="3603812" cy="22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1CB9C4C-EE89-4489-8892-A7EA4E2C1B3C}"/>
              </a:ext>
            </a:extLst>
          </p:cNvPr>
          <p:cNvCxnSpPr>
            <a:cxnSpLocks/>
            <a:stCxn id="12" idx="6"/>
          </p:cNvCxnSpPr>
          <p:nvPr/>
        </p:nvCxnSpPr>
        <p:spPr>
          <a:xfrm flipV="1">
            <a:off x="2487574" y="4079026"/>
            <a:ext cx="1672884" cy="11326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123B51B3-EFF1-459F-A57A-900DE3B9EF1B}"/>
              </a:ext>
            </a:extLst>
          </p:cNvPr>
          <p:cNvSpPr txBox="1"/>
          <p:nvPr/>
        </p:nvSpPr>
        <p:spPr>
          <a:xfrm>
            <a:off x="3410471" y="4461569"/>
            <a:ext cx="2723823" cy="646331"/>
          </a:xfrm>
          <a:prstGeom prst="rect">
            <a:avLst/>
          </a:prstGeom>
          <a:noFill/>
        </p:spPr>
        <p:txBody>
          <a:bodyPr wrap="none" rtlCol="0">
            <a:spAutoFit/>
          </a:bodyPr>
          <a:lstStyle/>
          <a:p>
            <a:r>
              <a:rPr lang="ja-JP" altLang="en-US" b="1" dirty="0">
                <a:solidFill>
                  <a:srgbClr val="FF0000"/>
                </a:solidFill>
              </a:rPr>
              <a:t>合流させてください！！</a:t>
            </a:r>
            <a:endParaRPr lang="en-US" altLang="ja-JP" b="1" dirty="0">
              <a:solidFill>
                <a:srgbClr val="FF0000"/>
              </a:solidFill>
            </a:endParaRPr>
          </a:p>
          <a:p>
            <a:r>
              <a:rPr lang="ja-JP" altLang="en-US" b="1" dirty="0">
                <a:solidFill>
                  <a:srgbClr val="FF0000"/>
                </a:solidFill>
              </a:rPr>
              <a:t>（プルリクエスト）</a:t>
            </a:r>
            <a:endParaRPr lang="en-US" altLang="ja-JP" b="1" dirty="0">
              <a:solidFill>
                <a:srgbClr val="FF0000"/>
              </a:solidFill>
            </a:endParaRPr>
          </a:p>
        </p:txBody>
      </p:sp>
    </p:spTree>
    <p:extLst>
      <p:ext uri="{BB962C8B-B14F-4D97-AF65-F5344CB8AC3E}">
        <p14:creationId xmlns:p14="http://schemas.microsoft.com/office/powerpoint/2010/main" val="39062583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96374" cy="830997"/>
          </a:xfrm>
          <a:prstGeom prst="rect">
            <a:avLst/>
          </a:prstGeom>
          <a:noFill/>
        </p:spPr>
        <p:txBody>
          <a:bodyPr wrap="none" rtlCol="0">
            <a:spAutoFit/>
          </a:bodyPr>
          <a:lstStyle/>
          <a:p>
            <a:r>
              <a:rPr lang="en-US" altLang="ja-JP" sz="2400" dirty="0" err="1"/>
              <a:t>BitBucket</a:t>
            </a:r>
            <a:r>
              <a:rPr lang="ja-JP" altLang="en-US" sz="2400" dirty="0"/>
              <a:t>の</a:t>
            </a:r>
            <a:r>
              <a:rPr lang="en-US" altLang="ja-JP" sz="2400" b="1" dirty="0">
                <a:solidFill>
                  <a:srgbClr val="FF0000"/>
                </a:solidFill>
              </a:rPr>
              <a:t>Pull requests</a:t>
            </a:r>
            <a:r>
              <a:rPr lang="ja-JP" altLang="en-US" sz="2400" b="1" dirty="0">
                <a:solidFill>
                  <a:srgbClr val="FF0000"/>
                </a:solidFill>
              </a:rPr>
              <a:t>ページ</a:t>
            </a:r>
            <a:r>
              <a:rPr lang="ja-JP" altLang="en-US" sz="2400" dirty="0"/>
              <a:t>を開きます。</a:t>
            </a:r>
            <a:endParaRPr lang="en-US" altLang="ja-JP" sz="2400" dirty="0"/>
          </a:p>
          <a:p>
            <a:r>
              <a:rPr lang="en-US" altLang="ja-JP" sz="2400" b="1" dirty="0">
                <a:solidFill>
                  <a:srgbClr val="FF0000"/>
                </a:solidFill>
              </a:rPr>
              <a:t>Create pull request </a:t>
            </a:r>
            <a:r>
              <a:rPr lang="ja-JP" altLang="en-US" sz="2400" dirty="0"/>
              <a:t>ボタンからプルリクエストを作成します。</a:t>
            </a:r>
            <a:endParaRPr lang="en-US" altLang="ja-JP" sz="2400" dirty="0"/>
          </a:p>
        </p:txBody>
      </p:sp>
      <p:pic>
        <p:nvPicPr>
          <p:cNvPr id="7" name="図 6">
            <a:extLst>
              <a:ext uri="{FF2B5EF4-FFF2-40B4-BE49-F238E27FC236}">
                <a16:creationId xmlns:a16="http://schemas.microsoft.com/office/drawing/2014/main" id="{6B4C7ABA-2CC4-4837-AD11-ADFA8C622355}"/>
              </a:ext>
            </a:extLst>
          </p:cNvPr>
          <p:cNvPicPr>
            <a:picLocks noChangeAspect="1"/>
          </p:cNvPicPr>
          <p:nvPr/>
        </p:nvPicPr>
        <p:blipFill>
          <a:blip r:embed="rId2"/>
          <a:stretch>
            <a:fillRect/>
          </a:stretch>
        </p:blipFill>
        <p:spPr>
          <a:xfrm>
            <a:off x="567542" y="2187126"/>
            <a:ext cx="10880387" cy="2173753"/>
          </a:xfrm>
          <a:prstGeom prst="rect">
            <a:avLst/>
          </a:prstGeom>
        </p:spPr>
      </p:pic>
      <p:sp>
        <p:nvSpPr>
          <p:cNvPr id="8" name="矢印: 右 7">
            <a:extLst>
              <a:ext uri="{FF2B5EF4-FFF2-40B4-BE49-F238E27FC236}">
                <a16:creationId xmlns:a16="http://schemas.microsoft.com/office/drawing/2014/main" id="{74214A99-C893-45DC-BC1B-DFE34255A085}"/>
              </a:ext>
            </a:extLst>
          </p:cNvPr>
          <p:cNvSpPr/>
          <p:nvPr/>
        </p:nvSpPr>
        <p:spPr>
          <a:xfrm rot="13224477">
            <a:off x="1434353" y="4199429"/>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矢印: 右 13">
            <a:extLst>
              <a:ext uri="{FF2B5EF4-FFF2-40B4-BE49-F238E27FC236}">
                <a16:creationId xmlns:a16="http://schemas.microsoft.com/office/drawing/2014/main" id="{6D84F600-5D77-4767-91D4-9CAD5D311784}"/>
              </a:ext>
            </a:extLst>
          </p:cNvPr>
          <p:cNvSpPr/>
          <p:nvPr/>
        </p:nvSpPr>
        <p:spPr>
          <a:xfrm rot="13224477">
            <a:off x="11196916" y="3112637"/>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99976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262432" cy="461665"/>
          </a:xfrm>
          <a:prstGeom prst="rect">
            <a:avLst/>
          </a:prstGeom>
          <a:noFill/>
        </p:spPr>
        <p:txBody>
          <a:bodyPr wrap="none" rtlCol="0">
            <a:spAutoFit/>
          </a:bodyPr>
          <a:lstStyle/>
          <a:p>
            <a:r>
              <a:rPr lang="ja-JP" altLang="en-US" sz="2400" dirty="0"/>
              <a:t>各項目を設定します。</a:t>
            </a:r>
            <a:endParaRPr lang="en-US" altLang="ja-JP" sz="2400" dirty="0"/>
          </a:p>
        </p:txBody>
      </p:sp>
      <p:pic>
        <p:nvPicPr>
          <p:cNvPr id="3" name="図 2">
            <a:extLst>
              <a:ext uri="{FF2B5EF4-FFF2-40B4-BE49-F238E27FC236}">
                <a16:creationId xmlns:a16="http://schemas.microsoft.com/office/drawing/2014/main" id="{343D98C8-3AFC-4FC8-B3D0-2A125CAC68D7}"/>
              </a:ext>
            </a:extLst>
          </p:cNvPr>
          <p:cNvPicPr>
            <a:picLocks noChangeAspect="1"/>
          </p:cNvPicPr>
          <p:nvPr/>
        </p:nvPicPr>
        <p:blipFill>
          <a:blip r:embed="rId2"/>
          <a:stretch>
            <a:fillRect/>
          </a:stretch>
        </p:blipFill>
        <p:spPr>
          <a:xfrm>
            <a:off x="567543" y="1817794"/>
            <a:ext cx="6846270" cy="4397057"/>
          </a:xfrm>
          <a:prstGeom prst="rect">
            <a:avLst/>
          </a:prstGeom>
        </p:spPr>
      </p:pic>
      <p:sp>
        <p:nvSpPr>
          <p:cNvPr id="9" name="テキスト ボックス 8">
            <a:extLst>
              <a:ext uri="{FF2B5EF4-FFF2-40B4-BE49-F238E27FC236}">
                <a16:creationId xmlns:a16="http://schemas.microsoft.com/office/drawing/2014/main" id="{665CE29F-B227-43C4-9721-A38119B19E33}"/>
              </a:ext>
            </a:extLst>
          </p:cNvPr>
          <p:cNvSpPr txBox="1"/>
          <p:nvPr/>
        </p:nvSpPr>
        <p:spPr>
          <a:xfrm>
            <a:off x="1374366" y="2372875"/>
            <a:ext cx="2050561" cy="307777"/>
          </a:xfrm>
          <a:prstGeom prst="rect">
            <a:avLst/>
          </a:prstGeom>
          <a:noFill/>
          <a:ln>
            <a:solidFill>
              <a:schemeClr val="tx1"/>
            </a:solidFill>
          </a:ln>
        </p:spPr>
        <p:txBody>
          <a:bodyPr wrap="none" rtlCol="0">
            <a:spAutoFit/>
          </a:bodyPr>
          <a:lstStyle/>
          <a:p>
            <a:r>
              <a:rPr lang="ja-JP" altLang="en-US" sz="1400" b="1" dirty="0">
                <a:solidFill>
                  <a:srgbClr val="FF0000"/>
                </a:solidFill>
              </a:rPr>
              <a:t>① </a:t>
            </a:r>
            <a:r>
              <a:rPr lang="en-US" altLang="ja-JP" sz="1400" b="1" dirty="0">
                <a:solidFill>
                  <a:srgbClr val="FF0000"/>
                </a:solidFill>
              </a:rPr>
              <a:t>Merge</a:t>
            </a:r>
            <a:r>
              <a:rPr lang="ja-JP" altLang="en-US" sz="1400" b="1" dirty="0">
                <a:solidFill>
                  <a:srgbClr val="FF0000"/>
                </a:solidFill>
              </a:rPr>
              <a:t>するブランチ</a:t>
            </a:r>
            <a:endParaRPr lang="en-US" altLang="ja-JP" sz="1400" b="1" dirty="0">
              <a:solidFill>
                <a:srgbClr val="FF0000"/>
              </a:solidFill>
            </a:endParaRPr>
          </a:p>
        </p:txBody>
      </p:sp>
      <p:sp>
        <p:nvSpPr>
          <p:cNvPr id="10" name="テキスト ボックス 9">
            <a:extLst>
              <a:ext uri="{FF2B5EF4-FFF2-40B4-BE49-F238E27FC236}">
                <a16:creationId xmlns:a16="http://schemas.microsoft.com/office/drawing/2014/main" id="{8ECAE994-2375-44E1-AA15-3A3425577ECA}"/>
              </a:ext>
            </a:extLst>
          </p:cNvPr>
          <p:cNvSpPr txBox="1"/>
          <p:nvPr/>
        </p:nvSpPr>
        <p:spPr>
          <a:xfrm>
            <a:off x="5076789" y="2380556"/>
            <a:ext cx="2050561" cy="307777"/>
          </a:xfrm>
          <a:prstGeom prst="rect">
            <a:avLst/>
          </a:prstGeom>
          <a:noFill/>
          <a:ln>
            <a:solidFill>
              <a:schemeClr val="tx1"/>
            </a:solidFill>
          </a:ln>
        </p:spPr>
        <p:txBody>
          <a:bodyPr wrap="none" rtlCol="0">
            <a:spAutoFit/>
          </a:bodyPr>
          <a:lstStyle/>
          <a:p>
            <a:r>
              <a:rPr lang="ja-JP" altLang="en-US" sz="1400" b="1" dirty="0">
                <a:solidFill>
                  <a:srgbClr val="FF0000"/>
                </a:solidFill>
              </a:rPr>
              <a:t>② </a:t>
            </a:r>
            <a:r>
              <a:rPr lang="en-US" altLang="ja-JP" sz="1400" b="1" dirty="0">
                <a:solidFill>
                  <a:srgbClr val="FF0000"/>
                </a:solidFill>
              </a:rPr>
              <a:t>Merge</a:t>
            </a:r>
            <a:r>
              <a:rPr lang="ja-JP" altLang="en-US" sz="1400" b="1" dirty="0">
                <a:solidFill>
                  <a:srgbClr val="FF0000"/>
                </a:solidFill>
              </a:rPr>
              <a:t>先のブランチ</a:t>
            </a:r>
            <a:endParaRPr lang="en-US" altLang="ja-JP" sz="1400" b="1" dirty="0">
              <a:solidFill>
                <a:srgbClr val="FF0000"/>
              </a:solidFill>
            </a:endParaRPr>
          </a:p>
        </p:txBody>
      </p:sp>
      <p:sp>
        <p:nvSpPr>
          <p:cNvPr id="11" name="テキスト ボックス 10">
            <a:extLst>
              <a:ext uri="{FF2B5EF4-FFF2-40B4-BE49-F238E27FC236}">
                <a16:creationId xmlns:a16="http://schemas.microsoft.com/office/drawing/2014/main" id="{A3A86470-7CDD-46E5-B86B-D443A9F979A2}"/>
              </a:ext>
            </a:extLst>
          </p:cNvPr>
          <p:cNvSpPr txBox="1"/>
          <p:nvPr/>
        </p:nvSpPr>
        <p:spPr>
          <a:xfrm>
            <a:off x="1643307" y="3235733"/>
            <a:ext cx="3108543" cy="307777"/>
          </a:xfrm>
          <a:prstGeom prst="rect">
            <a:avLst/>
          </a:prstGeom>
          <a:noFill/>
          <a:ln>
            <a:solidFill>
              <a:schemeClr val="tx1"/>
            </a:solidFill>
          </a:ln>
        </p:spPr>
        <p:txBody>
          <a:bodyPr wrap="square" rtlCol="0">
            <a:spAutoFit/>
          </a:bodyPr>
          <a:lstStyle/>
          <a:p>
            <a:r>
              <a:rPr lang="ja-JP" altLang="en-US" sz="1400" b="1" dirty="0">
                <a:solidFill>
                  <a:srgbClr val="FF0000"/>
                </a:solidFill>
              </a:rPr>
              <a:t>③ タイトルは作業内容を簡単に書く</a:t>
            </a:r>
            <a:endParaRPr lang="en-US" altLang="ja-JP" sz="1400" b="1" dirty="0">
              <a:solidFill>
                <a:srgbClr val="FF0000"/>
              </a:solidFill>
            </a:endParaRPr>
          </a:p>
        </p:txBody>
      </p:sp>
      <p:sp>
        <p:nvSpPr>
          <p:cNvPr id="12" name="テキスト ボックス 11">
            <a:extLst>
              <a:ext uri="{FF2B5EF4-FFF2-40B4-BE49-F238E27FC236}">
                <a16:creationId xmlns:a16="http://schemas.microsoft.com/office/drawing/2014/main" id="{F546FBC5-E11C-45CA-9562-A4458A52165F}"/>
              </a:ext>
            </a:extLst>
          </p:cNvPr>
          <p:cNvSpPr txBox="1"/>
          <p:nvPr/>
        </p:nvSpPr>
        <p:spPr>
          <a:xfrm>
            <a:off x="935143" y="4139974"/>
            <a:ext cx="3439633" cy="307777"/>
          </a:xfrm>
          <a:prstGeom prst="rect">
            <a:avLst/>
          </a:prstGeom>
          <a:noFill/>
          <a:ln>
            <a:solidFill>
              <a:schemeClr val="tx1"/>
            </a:solidFill>
          </a:ln>
        </p:spPr>
        <p:txBody>
          <a:bodyPr wrap="square" rtlCol="0">
            <a:spAutoFit/>
          </a:bodyPr>
          <a:lstStyle/>
          <a:p>
            <a:r>
              <a:rPr lang="ja-JP" altLang="en-US" sz="1400" b="1" dirty="0">
                <a:solidFill>
                  <a:srgbClr val="FF0000"/>
                </a:solidFill>
              </a:rPr>
              <a:t>④ 詳細な説明が必要な場合はここに書く</a:t>
            </a:r>
            <a:endParaRPr lang="en-US" altLang="ja-JP" sz="1400" b="1" dirty="0">
              <a:solidFill>
                <a:srgbClr val="FF0000"/>
              </a:solidFill>
            </a:endParaRPr>
          </a:p>
        </p:txBody>
      </p:sp>
      <p:sp>
        <p:nvSpPr>
          <p:cNvPr id="13" name="テキスト ボックス 12">
            <a:extLst>
              <a:ext uri="{FF2B5EF4-FFF2-40B4-BE49-F238E27FC236}">
                <a16:creationId xmlns:a16="http://schemas.microsoft.com/office/drawing/2014/main" id="{34A976A4-9818-40CC-BF09-F9C5107C7F4A}"/>
              </a:ext>
            </a:extLst>
          </p:cNvPr>
          <p:cNvSpPr txBox="1"/>
          <p:nvPr/>
        </p:nvSpPr>
        <p:spPr>
          <a:xfrm>
            <a:off x="1486774" y="5044215"/>
            <a:ext cx="4474755" cy="307777"/>
          </a:xfrm>
          <a:prstGeom prst="rect">
            <a:avLst/>
          </a:prstGeom>
          <a:noFill/>
          <a:ln>
            <a:solidFill>
              <a:schemeClr val="tx1"/>
            </a:solidFill>
          </a:ln>
        </p:spPr>
        <p:txBody>
          <a:bodyPr wrap="square" rtlCol="0">
            <a:spAutoFit/>
          </a:bodyPr>
          <a:lstStyle/>
          <a:p>
            <a:r>
              <a:rPr lang="ja-JP" altLang="en-US" sz="1400" b="1" dirty="0">
                <a:solidFill>
                  <a:srgbClr val="FF0000"/>
                </a:solidFill>
              </a:rPr>
              <a:t>⑤ チームメンバー全員をレビュワーとして追加する</a:t>
            </a:r>
            <a:endParaRPr lang="en-US" altLang="ja-JP" sz="1400" b="1" dirty="0">
              <a:solidFill>
                <a:srgbClr val="FF0000"/>
              </a:solidFill>
            </a:endParaRPr>
          </a:p>
        </p:txBody>
      </p:sp>
      <p:sp>
        <p:nvSpPr>
          <p:cNvPr id="15" name="テキスト ボックス 14">
            <a:extLst>
              <a:ext uri="{FF2B5EF4-FFF2-40B4-BE49-F238E27FC236}">
                <a16:creationId xmlns:a16="http://schemas.microsoft.com/office/drawing/2014/main" id="{2CE17182-43B0-4102-B649-F58BCAB7EA7A}"/>
              </a:ext>
            </a:extLst>
          </p:cNvPr>
          <p:cNvSpPr txBox="1"/>
          <p:nvPr/>
        </p:nvSpPr>
        <p:spPr>
          <a:xfrm>
            <a:off x="715809" y="5760865"/>
            <a:ext cx="4878167" cy="307777"/>
          </a:xfrm>
          <a:prstGeom prst="rect">
            <a:avLst/>
          </a:prstGeom>
          <a:noFill/>
          <a:ln>
            <a:solidFill>
              <a:schemeClr val="tx1"/>
            </a:solidFill>
          </a:ln>
        </p:spPr>
        <p:txBody>
          <a:bodyPr wrap="square" rtlCol="0">
            <a:spAutoFit/>
          </a:bodyPr>
          <a:lstStyle/>
          <a:p>
            <a:r>
              <a:rPr lang="ja-JP" altLang="en-US" sz="1400" b="1" dirty="0">
                <a:solidFill>
                  <a:srgbClr val="FF0000"/>
                </a:solidFill>
              </a:rPr>
              <a:t>⑥ </a:t>
            </a:r>
            <a:r>
              <a:rPr lang="en-US" altLang="ja-JP" sz="1400" b="1" dirty="0">
                <a:solidFill>
                  <a:srgbClr val="FF0000"/>
                </a:solidFill>
              </a:rPr>
              <a:t>Merge</a:t>
            </a:r>
            <a:r>
              <a:rPr lang="ja-JP" altLang="en-US" sz="1400" b="1" dirty="0">
                <a:solidFill>
                  <a:srgbClr val="FF0000"/>
                </a:solidFill>
              </a:rPr>
              <a:t>されたら</a:t>
            </a:r>
            <a:r>
              <a:rPr lang="en-US" altLang="ja-JP" sz="1400" b="1" dirty="0">
                <a:solidFill>
                  <a:srgbClr val="FF0000"/>
                </a:solidFill>
              </a:rPr>
              <a:t>Branch</a:t>
            </a:r>
            <a:r>
              <a:rPr lang="ja-JP" altLang="en-US" sz="1400" b="1" dirty="0">
                <a:solidFill>
                  <a:srgbClr val="FF0000"/>
                </a:solidFill>
              </a:rPr>
              <a:t>を消すかどうか（基本は</a:t>
            </a:r>
            <a:r>
              <a:rPr lang="en-US" altLang="ja-JP" sz="1400" b="1" dirty="0">
                <a:solidFill>
                  <a:srgbClr val="FF0000"/>
                </a:solidFill>
              </a:rPr>
              <a:t>OFF</a:t>
            </a:r>
            <a:r>
              <a:rPr lang="ja-JP" altLang="en-US" sz="1400" b="1" dirty="0">
                <a:solidFill>
                  <a:srgbClr val="FF0000"/>
                </a:solidFill>
              </a:rPr>
              <a:t>）</a:t>
            </a:r>
            <a:endParaRPr lang="en-US" altLang="ja-JP" sz="1400" b="1" dirty="0">
              <a:solidFill>
                <a:srgbClr val="FF0000"/>
              </a:solidFill>
            </a:endParaRPr>
          </a:p>
        </p:txBody>
      </p:sp>
    </p:spTree>
    <p:extLst>
      <p:ext uri="{BB962C8B-B14F-4D97-AF65-F5344CB8AC3E}">
        <p14:creationId xmlns:p14="http://schemas.microsoft.com/office/powerpoint/2010/main" val="127536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238426" cy="830997"/>
          </a:xfrm>
          <a:prstGeom prst="rect">
            <a:avLst/>
          </a:prstGeom>
          <a:noFill/>
        </p:spPr>
        <p:txBody>
          <a:bodyPr wrap="none" rtlCol="0">
            <a:spAutoFit/>
          </a:bodyPr>
          <a:lstStyle/>
          <a:p>
            <a:r>
              <a:rPr lang="ja-JP" altLang="en-US" sz="2400" dirty="0"/>
              <a:t>作成したプルリクエストは</a:t>
            </a:r>
            <a:r>
              <a:rPr lang="en-US" altLang="ja-JP" sz="2400" b="1" dirty="0">
                <a:solidFill>
                  <a:srgbClr val="FF0000"/>
                </a:solidFill>
              </a:rPr>
              <a:t>Pull requests</a:t>
            </a:r>
            <a:r>
              <a:rPr lang="ja-JP" altLang="en-US" sz="2400" b="1" dirty="0">
                <a:solidFill>
                  <a:srgbClr val="FF0000"/>
                </a:solidFill>
              </a:rPr>
              <a:t>ページ</a:t>
            </a:r>
            <a:r>
              <a:rPr lang="ja-JP" altLang="en-US" sz="2400" dirty="0"/>
              <a:t>で確認できます。</a:t>
            </a:r>
            <a:endParaRPr lang="en-US" altLang="ja-JP" sz="2400" dirty="0"/>
          </a:p>
          <a:p>
            <a:r>
              <a:rPr lang="ja-JP" altLang="en-US" sz="2400" dirty="0"/>
              <a:t>各メンバーは確認してみましょう。</a:t>
            </a:r>
            <a:endParaRPr lang="en-US" altLang="ja-JP" sz="2400" dirty="0"/>
          </a:p>
        </p:txBody>
      </p:sp>
      <p:pic>
        <p:nvPicPr>
          <p:cNvPr id="5" name="図 4">
            <a:extLst>
              <a:ext uri="{FF2B5EF4-FFF2-40B4-BE49-F238E27FC236}">
                <a16:creationId xmlns:a16="http://schemas.microsoft.com/office/drawing/2014/main" id="{F746F199-5D8E-4213-AC16-609212241057}"/>
              </a:ext>
            </a:extLst>
          </p:cNvPr>
          <p:cNvPicPr>
            <a:picLocks noChangeAspect="1"/>
          </p:cNvPicPr>
          <p:nvPr/>
        </p:nvPicPr>
        <p:blipFill>
          <a:blip r:embed="rId2"/>
          <a:stretch>
            <a:fillRect/>
          </a:stretch>
        </p:blipFill>
        <p:spPr>
          <a:xfrm>
            <a:off x="567542" y="2187126"/>
            <a:ext cx="10635286" cy="3657862"/>
          </a:xfrm>
          <a:prstGeom prst="rect">
            <a:avLst/>
          </a:prstGeom>
        </p:spPr>
      </p:pic>
      <p:sp>
        <p:nvSpPr>
          <p:cNvPr id="14" name="矢印: 右 13">
            <a:extLst>
              <a:ext uri="{FF2B5EF4-FFF2-40B4-BE49-F238E27FC236}">
                <a16:creationId xmlns:a16="http://schemas.microsoft.com/office/drawing/2014/main" id="{6BAA5A6F-A0D0-411A-8DB3-139E1F72BF03}"/>
              </a:ext>
            </a:extLst>
          </p:cNvPr>
          <p:cNvSpPr/>
          <p:nvPr/>
        </p:nvSpPr>
        <p:spPr>
          <a:xfrm rot="13224477">
            <a:off x="2214281" y="5122793"/>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96103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47568" cy="830997"/>
          </a:xfrm>
          <a:prstGeom prst="rect">
            <a:avLst/>
          </a:prstGeom>
          <a:noFill/>
        </p:spPr>
        <p:txBody>
          <a:bodyPr wrap="none" rtlCol="0">
            <a:spAutoFit/>
          </a:bodyPr>
          <a:lstStyle/>
          <a:p>
            <a:r>
              <a:rPr lang="en-US" altLang="ja-JP" sz="2400" dirty="0"/>
              <a:t>Files changed</a:t>
            </a:r>
            <a:r>
              <a:rPr lang="ja-JP" altLang="en-US" sz="2400" dirty="0"/>
              <a:t>の項目で、プルリクエストの修正内容が確認できます。</a:t>
            </a:r>
            <a:endParaRPr lang="en-US" altLang="ja-JP" sz="2400" dirty="0"/>
          </a:p>
          <a:p>
            <a:r>
              <a:rPr lang="ja-JP" altLang="en-US" sz="2400" dirty="0"/>
              <a:t>全員で確認してみましょう。</a:t>
            </a:r>
            <a:endParaRPr lang="en-US" altLang="ja-JP" sz="2400" dirty="0"/>
          </a:p>
        </p:txBody>
      </p:sp>
      <p:pic>
        <p:nvPicPr>
          <p:cNvPr id="3" name="図 2">
            <a:extLst>
              <a:ext uri="{FF2B5EF4-FFF2-40B4-BE49-F238E27FC236}">
                <a16:creationId xmlns:a16="http://schemas.microsoft.com/office/drawing/2014/main" id="{BEBF77AF-2004-458E-AA1B-926EE6817D78}"/>
              </a:ext>
            </a:extLst>
          </p:cNvPr>
          <p:cNvPicPr>
            <a:picLocks noChangeAspect="1"/>
          </p:cNvPicPr>
          <p:nvPr/>
        </p:nvPicPr>
        <p:blipFill>
          <a:blip r:embed="rId2"/>
          <a:stretch>
            <a:fillRect/>
          </a:stretch>
        </p:blipFill>
        <p:spPr>
          <a:xfrm>
            <a:off x="567542" y="2187127"/>
            <a:ext cx="6147023" cy="4239566"/>
          </a:xfrm>
          <a:prstGeom prst="rect">
            <a:avLst/>
          </a:prstGeom>
        </p:spPr>
      </p:pic>
      <p:sp>
        <p:nvSpPr>
          <p:cNvPr id="8" name="矢印: 右 7">
            <a:extLst>
              <a:ext uri="{FF2B5EF4-FFF2-40B4-BE49-F238E27FC236}">
                <a16:creationId xmlns:a16="http://schemas.microsoft.com/office/drawing/2014/main" id="{96475CFF-2EA0-41C7-94DD-BFEAD9178F85}"/>
              </a:ext>
            </a:extLst>
          </p:cNvPr>
          <p:cNvSpPr/>
          <p:nvPr/>
        </p:nvSpPr>
        <p:spPr>
          <a:xfrm rot="13224477">
            <a:off x="2140886" y="3948417"/>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74191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t>もしも問題がありそうであればコメントを送れます。</a:t>
            </a:r>
            <a:endParaRPr lang="en-US" altLang="ja-JP" sz="2400" dirty="0"/>
          </a:p>
          <a:p>
            <a:r>
              <a:rPr lang="ja-JP" altLang="en-US" sz="2400" dirty="0"/>
              <a:t>このように</a:t>
            </a:r>
            <a:r>
              <a:rPr lang="ja-JP" altLang="en-US" sz="2400" b="1" dirty="0">
                <a:solidFill>
                  <a:srgbClr val="FF0000"/>
                </a:solidFill>
              </a:rPr>
              <a:t>他のメンバーの作業をレビュー</a:t>
            </a:r>
            <a:r>
              <a:rPr lang="ja-JP" altLang="en-US" sz="2400" dirty="0"/>
              <a:t>することができます。</a:t>
            </a:r>
            <a:endParaRPr lang="en-US" altLang="ja-JP" sz="2400" dirty="0"/>
          </a:p>
        </p:txBody>
      </p:sp>
      <p:pic>
        <p:nvPicPr>
          <p:cNvPr id="5" name="図 4">
            <a:extLst>
              <a:ext uri="{FF2B5EF4-FFF2-40B4-BE49-F238E27FC236}">
                <a16:creationId xmlns:a16="http://schemas.microsoft.com/office/drawing/2014/main" id="{20D9C187-B6ED-4767-9EB4-08FA12451BD9}"/>
              </a:ext>
            </a:extLst>
          </p:cNvPr>
          <p:cNvPicPr>
            <a:picLocks noChangeAspect="1"/>
          </p:cNvPicPr>
          <p:nvPr/>
        </p:nvPicPr>
        <p:blipFill>
          <a:blip r:embed="rId2"/>
          <a:stretch>
            <a:fillRect/>
          </a:stretch>
        </p:blipFill>
        <p:spPr>
          <a:xfrm>
            <a:off x="567542" y="2187126"/>
            <a:ext cx="6839138" cy="4106098"/>
          </a:xfrm>
          <a:prstGeom prst="rect">
            <a:avLst/>
          </a:prstGeom>
        </p:spPr>
      </p:pic>
    </p:spTree>
    <p:extLst>
      <p:ext uri="{BB962C8B-B14F-4D97-AF65-F5344CB8AC3E}">
        <p14:creationId xmlns:p14="http://schemas.microsoft.com/office/powerpoint/2010/main" val="14347847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05073" cy="830997"/>
          </a:xfrm>
          <a:prstGeom prst="rect">
            <a:avLst/>
          </a:prstGeom>
          <a:noFill/>
        </p:spPr>
        <p:txBody>
          <a:bodyPr wrap="none" rtlCol="0">
            <a:spAutoFit/>
          </a:bodyPr>
          <a:lstStyle/>
          <a:p>
            <a:r>
              <a:rPr lang="ja-JP" altLang="en-US" sz="2400" dirty="0"/>
              <a:t>また特に問題ないと思うメンバーは</a:t>
            </a:r>
            <a:r>
              <a:rPr lang="en-US" altLang="ja-JP" sz="2400" b="1" dirty="0">
                <a:solidFill>
                  <a:srgbClr val="00B050"/>
                </a:solidFill>
              </a:rPr>
              <a:t>Approve</a:t>
            </a:r>
            <a:r>
              <a:rPr lang="ja-JP" altLang="en-US" sz="2400" b="1" dirty="0">
                <a:solidFill>
                  <a:srgbClr val="00B050"/>
                </a:solidFill>
              </a:rPr>
              <a:t>ボタン</a:t>
            </a:r>
            <a:r>
              <a:rPr lang="ja-JP" altLang="en-US" sz="2400" dirty="0"/>
              <a:t>から</a:t>
            </a:r>
            <a:r>
              <a:rPr lang="ja-JP" altLang="en-US" sz="2400" b="1" dirty="0">
                <a:solidFill>
                  <a:srgbClr val="00B050"/>
                </a:solidFill>
              </a:rPr>
              <a:t>承認</a:t>
            </a:r>
            <a:r>
              <a:rPr lang="ja-JP" altLang="en-US" sz="2400" dirty="0"/>
              <a:t>することができます。</a:t>
            </a:r>
            <a:endParaRPr lang="en-US" altLang="ja-JP" sz="2400" dirty="0"/>
          </a:p>
          <a:p>
            <a:r>
              <a:rPr lang="ja-JP" altLang="en-US" sz="2400" dirty="0"/>
              <a:t>「個人的には大丈夫と思う」という意思表示ができます。</a:t>
            </a:r>
            <a:endParaRPr lang="en-US" altLang="ja-JP" sz="2400" dirty="0"/>
          </a:p>
        </p:txBody>
      </p:sp>
      <p:pic>
        <p:nvPicPr>
          <p:cNvPr id="3" name="図 2">
            <a:extLst>
              <a:ext uri="{FF2B5EF4-FFF2-40B4-BE49-F238E27FC236}">
                <a16:creationId xmlns:a16="http://schemas.microsoft.com/office/drawing/2014/main" id="{04666345-52F4-42DA-8146-5F5F8FC93E90}"/>
              </a:ext>
            </a:extLst>
          </p:cNvPr>
          <p:cNvPicPr>
            <a:picLocks noChangeAspect="1"/>
          </p:cNvPicPr>
          <p:nvPr/>
        </p:nvPicPr>
        <p:blipFill>
          <a:blip r:embed="rId2"/>
          <a:stretch>
            <a:fillRect/>
          </a:stretch>
        </p:blipFill>
        <p:spPr>
          <a:xfrm>
            <a:off x="567542" y="2187126"/>
            <a:ext cx="10871423" cy="1115202"/>
          </a:xfrm>
          <a:prstGeom prst="rect">
            <a:avLst/>
          </a:prstGeom>
        </p:spPr>
      </p:pic>
      <p:sp>
        <p:nvSpPr>
          <p:cNvPr id="7" name="矢印: 右 6">
            <a:extLst>
              <a:ext uri="{FF2B5EF4-FFF2-40B4-BE49-F238E27FC236}">
                <a16:creationId xmlns:a16="http://schemas.microsoft.com/office/drawing/2014/main" id="{76E03B4C-F566-472A-9A65-1075E45C3376}"/>
              </a:ext>
            </a:extLst>
          </p:cNvPr>
          <p:cNvSpPr/>
          <p:nvPr/>
        </p:nvSpPr>
        <p:spPr>
          <a:xfrm rot="13224477">
            <a:off x="10110510" y="3108725"/>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1750EA2C-6067-4016-8C93-01DE7748212D}"/>
              </a:ext>
            </a:extLst>
          </p:cNvPr>
          <p:cNvSpPr txBox="1"/>
          <p:nvPr/>
        </p:nvSpPr>
        <p:spPr>
          <a:xfrm>
            <a:off x="567541" y="3442887"/>
            <a:ext cx="7263527" cy="461665"/>
          </a:xfrm>
          <a:prstGeom prst="rect">
            <a:avLst/>
          </a:prstGeom>
          <a:noFill/>
        </p:spPr>
        <p:txBody>
          <a:bodyPr wrap="none" rtlCol="0">
            <a:spAutoFit/>
          </a:bodyPr>
          <a:lstStyle/>
          <a:p>
            <a:r>
              <a:rPr lang="ja-JP" altLang="en-US" sz="2400" dirty="0"/>
              <a:t>問題ないと思ったらなるべく押してあげましょう。</a:t>
            </a:r>
            <a:endParaRPr lang="en-US" altLang="ja-JP" sz="2400" dirty="0"/>
          </a:p>
        </p:txBody>
      </p:sp>
    </p:spTree>
    <p:extLst>
      <p:ext uri="{BB962C8B-B14F-4D97-AF65-F5344CB8AC3E}">
        <p14:creationId xmlns:p14="http://schemas.microsoft.com/office/powerpoint/2010/main" val="23988725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プルリクエスト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3416320"/>
          </a:xfrm>
          <a:prstGeom prst="rect">
            <a:avLst/>
          </a:prstGeom>
          <a:noFill/>
        </p:spPr>
        <p:txBody>
          <a:bodyPr wrap="none" rtlCol="0">
            <a:spAutoFit/>
          </a:bodyPr>
          <a:lstStyle/>
          <a:p>
            <a:r>
              <a:rPr lang="ja-JP" altLang="en-US" sz="2400" dirty="0"/>
              <a:t>メンバー間で作業をレビューすることは非常に大事なことで、</a:t>
            </a:r>
            <a:endParaRPr lang="en-US" altLang="ja-JP" sz="2400" dirty="0"/>
          </a:p>
          <a:p>
            <a:r>
              <a:rPr lang="ja-JP" altLang="en-US" sz="2400" dirty="0"/>
              <a:t>チーム全体で様々な情報を共有することができます。</a:t>
            </a:r>
            <a:endParaRPr lang="en-US" altLang="ja-JP" sz="2400" dirty="0"/>
          </a:p>
          <a:p>
            <a:endParaRPr lang="en-US" altLang="ja-JP" sz="2400" dirty="0"/>
          </a:p>
          <a:p>
            <a:r>
              <a:rPr lang="ja-JP" altLang="en-US" sz="2400" b="1" dirty="0">
                <a:solidFill>
                  <a:srgbClr val="FF0000"/>
                </a:solidFill>
              </a:rPr>
              <a:t>■レビューのメリット</a:t>
            </a:r>
            <a:endParaRPr lang="en-US" altLang="ja-JP" sz="2400" b="1" dirty="0">
              <a:solidFill>
                <a:srgbClr val="FF0000"/>
              </a:solidFill>
            </a:endParaRPr>
          </a:p>
          <a:p>
            <a:r>
              <a:rPr lang="ja-JP" altLang="en-US" sz="2400" dirty="0"/>
              <a:t>・他の人のプログラムの組み方がわかる</a:t>
            </a:r>
            <a:endParaRPr lang="en-US" altLang="ja-JP" sz="2400" dirty="0"/>
          </a:p>
          <a:p>
            <a:r>
              <a:rPr lang="ja-JP" altLang="en-US" sz="2400" dirty="0"/>
              <a:t>・書き間違えなどを事前に発見できる</a:t>
            </a:r>
            <a:endParaRPr lang="en-US" altLang="ja-JP" sz="2400" dirty="0"/>
          </a:p>
          <a:p>
            <a:r>
              <a:rPr lang="ja-JP" altLang="en-US" sz="2400" dirty="0"/>
              <a:t>・より良い実装方法を知っている人がいるかもしれない</a:t>
            </a:r>
            <a:endParaRPr lang="en-US" altLang="ja-JP" sz="2400" dirty="0"/>
          </a:p>
          <a:p>
            <a:endParaRPr lang="en-US" altLang="ja-JP" sz="2400" dirty="0"/>
          </a:p>
          <a:p>
            <a:r>
              <a:rPr lang="ja-JP" altLang="en-US" sz="2400" b="1" dirty="0">
                <a:solidFill>
                  <a:srgbClr val="FF0000"/>
                </a:solidFill>
              </a:rPr>
              <a:t>結果的にチーム全体の開発力が上がります。</a:t>
            </a:r>
            <a:endParaRPr lang="en-US" altLang="ja-JP" sz="2400" b="1" dirty="0">
              <a:solidFill>
                <a:srgbClr val="FF0000"/>
              </a:solidFill>
            </a:endParaRPr>
          </a:p>
        </p:txBody>
      </p:sp>
    </p:spTree>
    <p:extLst>
      <p:ext uri="{BB962C8B-B14F-4D97-AF65-F5344CB8AC3E}">
        <p14:creationId xmlns:p14="http://schemas.microsoft.com/office/powerpoint/2010/main" val="29207239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30036" cy="830997"/>
          </a:xfrm>
          <a:prstGeom prst="rect">
            <a:avLst/>
          </a:prstGeom>
          <a:noFill/>
        </p:spPr>
        <p:txBody>
          <a:bodyPr wrap="none" rtlCol="0">
            <a:spAutoFit/>
          </a:bodyPr>
          <a:lstStyle/>
          <a:p>
            <a:r>
              <a:rPr lang="ja-JP" altLang="en-US" sz="2400" dirty="0"/>
              <a:t>レビューが終わり、問題なければ</a:t>
            </a:r>
            <a:r>
              <a:rPr lang="en-US" altLang="ja-JP" sz="2400" b="1" dirty="0">
                <a:solidFill>
                  <a:srgbClr val="FF0000"/>
                </a:solidFill>
              </a:rPr>
              <a:t>Merge</a:t>
            </a:r>
            <a:r>
              <a:rPr lang="ja-JP" altLang="en-US" sz="2400" dirty="0"/>
              <a:t>をします。</a:t>
            </a:r>
            <a:endParaRPr lang="en-US" altLang="ja-JP" sz="2400" dirty="0"/>
          </a:p>
          <a:p>
            <a:r>
              <a:rPr lang="en-US" altLang="ja-JP" sz="2400" b="1" dirty="0">
                <a:solidFill>
                  <a:srgbClr val="FF0000"/>
                </a:solidFill>
              </a:rPr>
              <a:t>Finish Review</a:t>
            </a:r>
            <a:r>
              <a:rPr lang="ja-JP" altLang="en-US" sz="2400" b="1" dirty="0">
                <a:solidFill>
                  <a:srgbClr val="FF0000"/>
                </a:solidFill>
              </a:rPr>
              <a:t>ボタン</a:t>
            </a:r>
            <a:r>
              <a:rPr lang="ja-JP" altLang="en-US" sz="2400" dirty="0"/>
              <a:t>を押すと</a:t>
            </a:r>
            <a:r>
              <a:rPr lang="en-US" altLang="ja-JP" sz="2400" b="1" dirty="0">
                <a:solidFill>
                  <a:srgbClr val="FF0000"/>
                </a:solidFill>
              </a:rPr>
              <a:t>Merge</a:t>
            </a:r>
            <a:r>
              <a:rPr lang="ja-JP" altLang="en-US" sz="2400" b="1" dirty="0">
                <a:solidFill>
                  <a:srgbClr val="FF0000"/>
                </a:solidFill>
              </a:rPr>
              <a:t>ボタン</a:t>
            </a:r>
            <a:r>
              <a:rPr lang="ja-JP" altLang="en-US" sz="2400" dirty="0"/>
              <a:t>に切り替わります。</a:t>
            </a:r>
            <a:endParaRPr lang="en-US" altLang="ja-JP" sz="2400" dirty="0"/>
          </a:p>
        </p:txBody>
      </p:sp>
      <p:pic>
        <p:nvPicPr>
          <p:cNvPr id="3" name="図 2">
            <a:extLst>
              <a:ext uri="{FF2B5EF4-FFF2-40B4-BE49-F238E27FC236}">
                <a16:creationId xmlns:a16="http://schemas.microsoft.com/office/drawing/2014/main" id="{B2F431C7-45AC-4E42-B2C5-3A14E2AD9EBB}"/>
              </a:ext>
            </a:extLst>
          </p:cNvPr>
          <p:cNvPicPr>
            <a:picLocks noChangeAspect="1"/>
          </p:cNvPicPr>
          <p:nvPr/>
        </p:nvPicPr>
        <p:blipFill>
          <a:blip r:embed="rId2"/>
          <a:stretch>
            <a:fillRect/>
          </a:stretch>
        </p:blipFill>
        <p:spPr>
          <a:xfrm>
            <a:off x="567542" y="2187126"/>
            <a:ext cx="8140114" cy="3899909"/>
          </a:xfrm>
          <a:prstGeom prst="rect">
            <a:avLst/>
          </a:prstGeom>
        </p:spPr>
      </p:pic>
      <p:sp>
        <p:nvSpPr>
          <p:cNvPr id="7" name="矢印: 右 6">
            <a:extLst>
              <a:ext uri="{FF2B5EF4-FFF2-40B4-BE49-F238E27FC236}">
                <a16:creationId xmlns:a16="http://schemas.microsoft.com/office/drawing/2014/main" id="{39527978-A41E-422B-8E52-8B90FE6167E7}"/>
              </a:ext>
            </a:extLst>
          </p:cNvPr>
          <p:cNvSpPr/>
          <p:nvPr/>
        </p:nvSpPr>
        <p:spPr>
          <a:xfrm rot="13224477">
            <a:off x="8335497" y="2890582"/>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7E8E752-7E82-4E68-AB4D-AC427EE70C65}"/>
              </a:ext>
            </a:extLst>
          </p:cNvPr>
          <p:cNvSpPr txBox="1"/>
          <p:nvPr/>
        </p:nvSpPr>
        <p:spPr>
          <a:xfrm>
            <a:off x="567542" y="6226735"/>
            <a:ext cx="6938118" cy="461665"/>
          </a:xfrm>
          <a:prstGeom prst="rect">
            <a:avLst/>
          </a:prstGeom>
          <a:noFill/>
        </p:spPr>
        <p:txBody>
          <a:bodyPr wrap="none" rtlCol="0">
            <a:spAutoFit/>
          </a:bodyPr>
          <a:lstStyle/>
          <a:p>
            <a:r>
              <a:rPr lang="ja-JP" altLang="en-US" sz="2400" dirty="0"/>
              <a:t>ボタンを押せば確認画面の後に</a:t>
            </a:r>
            <a:r>
              <a:rPr lang="en-US" altLang="ja-JP" sz="2400" dirty="0"/>
              <a:t>Merge</a:t>
            </a:r>
            <a:r>
              <a:rPr lang="ja-JP" altLang="en-US" sz="2400" dirty="0"/>
              <a:t>されます。</a:t>
            </a:r>
            <a:endParaRPr lang="en-US" altLang="ja-JP" sz="2400" dirty="0"/>
          </a:p>
        </p:txBody>
      </p:sp>
    </p:spTree>
    <p:extLst>
      <p:ext uri="{BB962C8B-B14F-4D97-AF65-F5344CB8AC3E}">
        <p14:creationId xmlns:p14="http://schemas.microsoft.com/office/powerpoint/2010/main" val="40982010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250977" cy="1200329"/>
          </a:xfrm>
          <a:prstGeom prst="rect">
            <a:avLst/>
          </a:prstGeom>
          <a:noFill/>
        </p:spPr>
        <p:txBody>
          <a:bodyPr wrap="none" rtlCol="0">
            <a:spAutoFit/>
          </a:bodyPr>
          <a:lstStyle/>
          <a:p>
            <a:r>
              <a:rPr lang="en-US" altLang="ja-JP" sz="2400" dirty="0"/>
              <a:t>master</a:t>
            </a:r>
            <a:r>
              <a:rPr lang="ja-JP" altLang="en-US" sz="2400" dirty="0"/>
              <a:t>ブランチに</a:t>
            </a:r>
            <a:r>
              <a:rPr lang="en-US" altLang="ja-JP" sz="2400" dirty="0"/>
              <a:t>Merge</a:t>
            </a:r>
            <a:r>
              <a:rPr lang="ja-JP" altLang="en-US" sz="2400" dirty="0"/>
              <a:t>されたかを確認します。</a:t>
            </a:r>
            <a:endParaRPr lang="en-US" altLang="ja-JP" sz="2400" dirty="0"/>
          </a:p>
          <a:p>
            <a:r>
              <a:rPr lang="ja-JP" altLang="en-US" sz="2400" dirty="0"/>
              <a:t>大元のフォルダを右クリックして、</a:t>
            </a:r>
            <a:endParaRPr lang="en-US" altLang="ja-JP" sz="2400" dirty="0"/>
          </a:p>
          <a:p>
            <a:r>
              <a:rPr lang="ja-JP" altLang="en-US" sz="2400" dirty="0"/>
              <a:t>「</a:t>
            </a:r>
            <a:r>
              <a:rPr lang="en-US" altLang="ja-JP" sz="2400" b="1" dirty="0" err="1">
                <a:solidFill>
                  <a:srgbClr val="FF0000"/>
                </a:solidFill>
              </a:rPr>
              <a:t>Tottoise</a:t>
            </a:r>
            <a:r>
              <a:rPr lang="en-US" altLang="ja-JP" sz="2400" b="1" dirty="0">
                <a:solidFill>
                  <a:srgbClr val="FF0000"/>
                </a:solidFill>
              </a:rPr>
              <a:t> Git</a:t>
            </a:r>
            <a:r>
              <a:rPr lang="ja-JP" altLang="en-US" sz="2400" b="1" dirty="0">
                <a:solidFill>
                  <a:srgbClr val="FF0000"/>
                </a:solidFill>
              </a:rPr>
              <a:t>　＞　</a:t>
            </a:r>
            <a:r>
              <a:rPr lang="en-US" altLang="ja-JP" sz="2400" b="1" dirty="0">
                <a:solidFill>
                  <a:srgbClr val="FF0000"/>
                </a:solidFill>
              </a:rPr>
              <a:t>Switch/Checkout</a:t>
            </a:r>
            <a:r>
              <a:rPr lang="ja-JP" altLang="en-US" sz="2400" dirty="0"/>
              <a:t>」を選択します。</a:t>
            </a:r>
            <a:endParaRPr lang="en-US" altLang="ja-JP" sz="2400" dirty="0"/>
          </a:p>
        </p:txBody>
      </p:sp>
      <p:pic>
        <p:nvPicPr>
          <p:cNvPr id="5" name="図 4">
            <a:extLst>
              <a:ext uri="{FF2B5EF4-FFF2-40B4-BE49-F238E27FC236}">
                <a16:creationId xmlns:a16="http://schemas.microsoft.com/office/drawing/2014/main" id="{2A412597-AAB3-4337-B2F2-BC6AF664E181}"/>
              </a:ext>
            </a:extLst>
          </p:cNvPr>
          <p:cNvPicPr>
            <a:picLocks noChangeAspect="1"/>
          </p:cNvPicPr>
          <p:nvPr/>
        </p:nvPicPr>
        <p:blipFill>
          <a:blip r:embed="rId2"/>
          <a:stretch>
            <a:fillRect/>
          </a:stretch>
        </p:blipFill>
        <p:spPr>
          <a:xfrm>
            <a:off x="567542" y="2556458"/>
            <a:ext cx="9723734" cy="3154060"/>
          </a:xfrm>
          <a:prstGeom prst="rect">
            <a:avLst/>
          </a:prstGeom>
        </p:spPr>
      </p:pic>
      <p:sp>
        <p:nvSpPr>
          <p:cNvPr id="9" name="矢印: 右 8">
            <a:extLst>
              <a:ext uri="{FF2B5EF4-FFF2-40B4-BE49-F238E27FC236}">
                <a16:creationId xmlns:a16="http://schemas.microsoft.com/office/drawing/2014/main" id="{54A649DF-0496-4192-92A3-74D7AEC7A97F}"/>
              </a:ext>
            </a:extLst>
          </p:cNvPr>
          <p:cNvSpPr/>
          <p:nvPr/>
        </p:nvSpPr>
        <p:spPr>
          <a:xfrm rot="13224477">
            <a:off x="8093449" y="5337946"/>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814647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249374" cy="461665"/>
          </a:xfrm>
          <a:prstGeom prst="rect">
            <a:avLst/>
          </a:prstGeom>
          <a:noFill/>
        </p:spPr>
        <p:txBody>
          <a:bodyPr wrap="none" rtlCol="0">
            <a:spAutoFit/>
          </a:bodyPr>
          <a:lstStyle/>
          <a:p>
            <a:r>
              <a:rPr lang="en-US" altLang="ja-JP" sz="2400" dirty="0"/>
              <a:t>master</a:t>
            </a:r>
            <a:r>
              <a:rPr lang="ja-JP" altLang="en-US" sz="2400" dirty="0"/>
              <a:t>ブランチを選択すると切り替えることができます。</a:t>
            </a:r>
            <a:endParaRPr lang="en-US" altLang="ja-JP" sz="2400" dirty="0"/>
          </a:p>
        </p:txBody>
      </p:sp>
      <p:pic>
        <p:nvPicPr>
          <p:cNvPr id="8" name="図 7">
            <a:extLst>
              <a:ext uri="{FF2B5EF4-FFF2-40B4-BE49-F238E27FC236}">
                <a16:creationId xmlns:a16="http://schemas.microsoft.com/office/drawing/2014/main" id="{2EC330A3-0EA3-4358-8571-86416654D0A4}"/>
              </a:ext>
            </a:extLst>
          </p:cNvPr>
          <p:cNvPicPr>
            <a:picLocks noChangeAspect="1"/>
          </p:cNvPicPr>
          <p:nvPr/>
        </p:nvPicPr>
        <p:blipFill>
          <a:blip r:embed="rId2"/>
          <a:stretch>
            <a:fillRect/>
          </a:stretch>
        </p:blipFill>
        <p:spPr>
          <a:xfrm>
            <a:off x="567542" y="1817793"/>
            <a:ext cx="6283848" cy="4134771"/>
          </a:xfrm>
          <a:prstGeom prst="rect">
            <a:avLst/>
          </a:prstGeom>
        </p:spPr>
      </p:pic>
      <p:sp>
        <p:nvSpPr>
          <p:cNvPr id="10" name="矢印: 右 9">
            <a:extLst>
              <a:ext uri="{FF2B5EF4-FFF2-40B4-BE49-F238E27FC236}">
                <a16:creationId xmlns:a16="http://schemas.microsoft.com/office/drawing/2014/main" id="{EBA3E000-B1BA-4A92-8554-4926C262142C}"/>
              </a:ext>
            </a:extLst>
          </p:cNvPr>
          <p:cNvSpPr/>
          <p:nvPr/>
        </p:nvSpPr>
        <p:spPr>
          <a:xfrm rot="13224477">
            <a:off x="2902884" y="2523029"/>
            <a:ext cx="502023" cy="32273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52855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59054" cy="584775"/>
          </a:xfrm>
          <a:prstGeom prst="rect">
            <a:avLst/>
          </a:prstGeom>
          <a:noFill/>
        </p:spPr>
        <p:txBody>
          <a:bodyPr wrap="none" rtlCol="0">
            <a:spAutoFit/>
          </a:bodyPr>
          <a:lstStyle/>
          <a:p>
            <a:r>
              <a:rPr kumimoji="1" lang="en-US" altLang="ja-JP" sz="3200" b="1" u="sng" dirty="0"/>
              <a:t>Merge</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38052" cy="461665"/>
          </a:xfrm>
          <a:prstGeom prst="rect">
            <a:avLst/>
          </a:prstGeom>
          <a:noFill/>
        </p:spPr>
        <p:txBody>
          <a:bodyPr wrap="none" rtlCol="0">
            <a:spAutoFit/>
          </a:bodyPr>
          <a:lstStyle/>
          <a:p>
            <a:r>
              <a:rPr lang="ja-JP" altLang="en-US" sz="2400" dirty="0"/>
              <a:t>最新を</a:t>
            </a:r>
            <a:r>
              <a:rPr lang="en-US" altLang="ja-JP" sz="2400" dirty="0"/>
              <a:t>Pull</a:t>
            </a:r>
            <a:r>
              <a:rPr lang="ja-JP" altLang="en-US" sz="2400" dirty="0"/>
              <a:t>してファイルが書き換わっているか確認しましょう。</a:t>
            </a:r>
            <a:endParaRPr lang="en-US" altLang="ja-JP" sz="2400" dirty="0"/>
          </a:p>
        </p:txBody>
      </p:sp>
      <p:pic>
        <p:nvPicPr>
          <p:cNvPr id="3" name="図 2">
            <a:extLst>
              <a:ext uri="{FF2B5EF4-FFF2-40B4-BE49-F238E27FC236}">
                <a16:creationId xmlns:a16="http://schemas.microsoft.com/office/drawing/2014/main" id="{C398A21B-385C-495D-864D-7D4AAA854D80}"/>
              </a:ext>
            </a:extLst>
          </p:cNvPr>
          <p:cNvPicPr>
            <a:picLocks noChangeAspect="1"/>
          </p:cNvPicPr>
          <p:nvPr/>
        </p:nvPicPr>
        <p:blipFill>
          <a:blip r:embed="rId2"/>
          <a:stretch>
            <a:fillRect/>
          </a:stretch>
        </p:blipFill>
        <p:spPr>
          <a:xfrm>
            <a:off x="567542" y="1817794"/>
            <a:ext cx="3276914" cy="2879712"/>
          </a:xfrm>
          <a:prstGeom prst="rect">
            <a:avLst/>
          </a:prstGeom>
        </p:spPr>
      </p:pic>
    </p:spTree>
    <p:extLst>
      <p:ext uri="{BB962C8B-B14F-4D97-AF65-F5344CB8AC3E}">
        <p14:creationId xmlns:p14="http://schemas.microsoft.com/office/powerpoint/2010/main" val="22409474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まとめ</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5262979"/>
          </a:xfrm>
          <a:prstGeom prst="rect">
            <a:avLst/>
          </a:prstGeom>
          <a:noFill/>
        </p:spPr>
        <p:txBody>
          <a:bodyPr wrap="none" rtlCol="0">
            <a:spAutoFit/>
          </a:bodyPr>
          <a:lstStyle/>
          <a:p>
            <a:r>
              <a:rPr lang="ja-JP" altLang="en-US" sz="2400" dirty="0"/>
              <a:t>最後にプルリクエストを使ったタスク作業の流れを簡潔にまとめます。</a:t>
            </a:r>
            <a:endParaRPr lang="en-US" altLang="ja-JP" sz="2400" dirty="0"/>
          </a:p>
          <a:p>
            <a:endParaRPr lang="en-US" altLang="ja-JP" sz="2400" dirty="0"/>
          </a:p>
          <a:p>
            <a:r>
              <a:rPr lang="ja-JP" altLang="en-US" sz="2400" b="1" dirty="0">
                <a:solidFill>
                  <a:srgbClr val="FF0000"/>
                </a:solidFill>
              </a:rPr>
              <a:t>■作業の流れ</a:t>
            </a:r>
            <a:endParaRPr lang="en-US" altLang="ja-JP" sz="2400" b="1" dirty="0">
              <a:solidFill>
                <a:srgbClr val="FF0000"/>
              </a:solidFill>
            </a:endParaRPr>
          </a:p>
          <a:p>
            <a:r>
              <a:rPr lang="ja-JP" altLang="en-US" sz="2400" dirty="0"/>
              <a:t>１．各メンバーに作業タスクを割り当てる</a:t>
            </a:r>
            <a:endParaRPr lang="en-US" altLang="ja-JP" sz="2400" dirty="0"/>
          </a:p>
          <a:p>
            <a:endParaRPr lang="en-US" altLang="ja-JP" sz="2400" dirty="0"/>
          </a:p>
          <a:p>
            <a:r>
              <a:rPr lang="ja-JP" altLang="en-US" sz="2400" dirty="0"/>
              <a:t>２．各メンバーは作業用のブランチを</a:t>
            </a:r>
            <a:r>
              <a:rPr lang="en-US" altLang="ja-JP" sz="2400" dirty="0"/>
              <a:t>master</a:t>
            </a:r>
            <a:r>
              <a:rPr lang="ja-JP" altLang="en-US" sz="2400" dirty="0"/>
              <a:t>から作成する</a:t>
            </a:r>
            <a:endParaRPr lang="en-US" altLang="ja-JP" sz="2400" dirty="0"/>
          </a:p>
          <a:p>
            <a:endParaRPr lang="en-US" altLang="ja-JP" sz="2400" dirty="0"/>
          </a:p>
          <a:p>
            <a:r>
              <a:rPr lang="ja-JP" altLang="en-US" sz="2400" dirty="0"/>
              <a:t>３．それぞれ実装作業をする</a:t>
            </a:r>
            <a:endParaRPr lang="en-US" altLang="ja-JP" sz="2400" dirty="0"/>
          </a:p>
          <a:p>
            <a:endParaRPr lang="en-US" altLang="ja-JP" sz="2400" dirty="0"/>
          </a:p>
          <a:p>
            <a:r>
              <a:rPr lang="ja-JP" altLang="en-US" sz="2400" dirty="0"/>
              <a:t>４．出来上がったらプルリクエストを作成する</a:t>
            </a:r>
            <a:endParaRPr lang="en-US" altLang="ja-JP" sz="2400" dirty="0"/>
          </a:p>
          <a:p>
            <a:endParaRPr lang="en-US" altLang="ja-JP" sz="2400" dirty="0"/>
          </a:p>
          <a:p>
            <a:r>
              <a:rPr lang="ja-JP" altLang="en-US" sz="2400" dirty="0"/>
              <a:t>５．</a:t>
            </a:r>
            <a:r>
              <a:rPr lang="ja-JP" altLang="en-US" sz="2400"/>
              <a:t>プルリクエストを各メンバーで確認</a:t>
            </a:r>
            <a:r>
              <a:rPr lang="ja-JP" altLang="en-US" sz="2400" dirty="0"/>
              <a:t>してレビューする</a:t>
            </a:r>
            <a:endParaRPr lang="en-US" altLang="ja-JP" sz="2400" dirty="0"/>
          </a:p>
          <a:p>
            <a:endParaRPr lang="en-US" altLang="ja-JP" sz="2400" dirty="0"/>
          </a:p>
          <a:p>
            <a:r>
              <a:rPr lang="ja-JP" altLang="en-US" sz="2400" dirty="0"/>
              <a:t>６．問題なければ</a:t>
            </a:r>
            <a:r>
              <a:rPr lang="en-US" altLang="ja-JP" sz="2400" dirty="0"/>
              <a:t>master</a:t>
            </a:r>
            <a:r>
              <a:rPr lang="ja-JP" altLang="en-US" sz="2400" dirty="0"/>
              <a:t>にマージする</a:t>
            </a:r>
            <a:endParaRPr lang="en-US" altLang="ja-JP" sz="2400" dirty="0"/>
          </a:p>
        </p:txBody>
      </p:sp>
    </p:spTree>
    <p:extLst>
      <p:ext uri="{BB962C8B-B14F-4D97-AF65-F5344CB8AC3E}">
        <p14:creationId xmlns:p14="http://schemas.microsoft.com/office/powerpoint/2010/main" val="195402718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855</TotalTime>
  <Words>530</Words>
  <Application>Microsoft Office PowerPoint</Application>
  <PresentationFormat>ワイド画面</PresentationFormat>
  <Paragraphs>81</Paragraphs>
  <Slides>16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81</cp:revision>
  <dcterms:created xsi:type="dcterms:W3CDTF">2024-08-27T02:15:54Z</dcterms:created>
  <dcterms:modified xsi:type="dcterms:W3CDTF">2025-01-17T03:36:54Z</dcterms:modified>
</cp:coreProperties>
</file>