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07" d="100"/>
          <a:sy n="107" d="100"/>
        </p:scale>
        <p:origin x="696"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950417-98BD-4172-A454-C76A49B97717}"/>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F83E9AE-84BC-4452-8901-A17B27CC41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B320892-0B52-41F1-BED3-1F36AE1E3B03}"/>
              </a:ext>
            </a:extLst>
          </p:cNvPr>
          <p:cNvSpPr>
            <a:spLocks noGrp="1"/>
          </p:cNvSpPr>
          <p:nvPr>
            <p:ph type="dt" sz="half" idx="10"/>
          </p:nvPr>
        </p:nvSpPr>
        <p:spPr/>
        <p:txBody>
          <a:bodyPr/>
          <a:lstStyle/>
          <a:p>
            <a:fld id="{E9CC885B-4903-4D54-9A93-00025F12DED9}" type="datetimeFigureOut">
              <a:rPr kumimoji="1" lang="ja-JP" altLang="en-US" smtClean="0"/>
              <a:t>2025/1/16</a:t>
            </a:fld>
            <a:endParaRPr kumimoji="1" lang="ja-JP" altLang="en-US"/>
          </a:p>
        </p:txBody>
      </p:sp>
      <p:sp>
        <p:nvSpPr>
          <p:cNvPr id="5" name="フッター プレースホルダー 4">
            <a:extLst>
              <a:ext uri="{FF2B5EF4-FFF2-40B4-BE49-F238E27FC236}">
                <a16:creationId xmlns:a16="http://schemas.microsoft.com/office/drawing/2014/main" id="{B4114070-C582-4B06-9805-0DFEFB583FE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E8014BC-198B-4E5B-89B4-FDBFD423BF5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745560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2C298B-DDF7-4BBD-B08C-16E40ED109E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84FECC-C823-4D42-8CAA-49FC9A8C5B3E}"/>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B26879-4594-4C3F-BFFA-F4CB8674F4A9}"/>
              </a:ext>
            </a:extLst>
          </p:cNvPr>
          <p:cNvSpPr>
            <a:spLocks noGrp="1"/>
          </p:cNvSpPr>
          <p:nvPr>
            <p:ph type="dt" sz="half" idx="10"/>
          </p:nvPr>
        </p:nvSpPr>
        <p:spPr/>
        <p:txBody>
          <a:bodyPr/>
          <a:lstStyle/>
          <a:p>
            <a:fld id="{E9CC885B-4903-4D54-9A93-00025F12DED9}" type="datetimeFigureOut">
              <a:rPr kumimoji="1" lang="ja-JP" altLang="en-US" smtClean="0"/>
              <a:t>2025/1/16</a:t>
            </a:fld>
            <a:endParaRPr kumimoji="1" lang="ja-JP" altLang="en-US"/>
          </a:p>
        </p:txBody>
      </p:sp>
      <p:sp>
        <p:nvSpPr>
          <p:cNvPr id="5" name="フッター プレースホルダー 4">
            <a:extLst>
              <a:ext uri="{FF2B5EF4-FFF2-40B4-BE49-F238E27FC236}">
                <a16:creationId xmlns:a16="http://schemas.microsoft.com/office/drawing/2014/main" id="{F5FC6BE6-BB12-4008-B4BA-62D249C4990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6B8CAC6-4A91-4F74-9267-5C30714BF978}"/>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802473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78AD04-3137-4B16-97B1-DC1252F678A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BF8FC57-7A4A-4196-89B9-B1A6197D422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CB80319-F15F-4C62-95BA-15B326F988A2}"/>
              </a:ext>
            </a:extLst>
          </p:cNvPr>
          <p:cNvSpPr>
            <a:spLocks noGrp="1"/>
          </p:cNvSpPr>
          <p:nvPr>
            <p:ph type="dt" sz="half" idx="10"/>
          </p:nvPr>
        </p:nvSpPr>
        <p:spPr/>
        <p:txBody>
          <a:bodyPr/>
          <a:lstStyle/>
          <a:p>
            <a:fld id="{E9CC885B-4903-4D54-9A93-00025F12DED9}" type="datetimeFigureOut">
              <a:rPr kumimoji="1" lang="ja-JP" altLang="en-US" smtClean="0"/>
              <a:t>2025/1/16</a:t>
            </a:fld>
            <a:endParaRPr kumimoji="1" lang="ja-JP" altLang="en-US"/>
          </a:p>
        </p:txBody>
      </p:sp>
      <p:sp>
        <p:nvSpPr>
          <p:cNvPr id="5" name="フッター プレースホルダー 4">
            <a:extLst>
              <a:ext uri="{FF2B5EF4-FFF2-40B4-BE49-F238E27FC236}">
                <a16:creationId xmlns:a16="http://schemas.microsoft.com/office/drawing/2014/main" id="{C89F0141-2F76-4B73-AAE0-1EDFEEA42E3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1F3A285-8438-4738-B4CE-18FC566351C3}"/>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081407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39AAF0-C896-4BE5-8FCC-34320852482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96C332E-2DEA-4D46-8FEF-31D60DD975BC}"/>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F9D3FC79-3A15-47E8-8DC1-B5A928FF7FF2}"/>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E6AC8BB6-CC26-4AE8-B477-9A47780715C5}"/>
              </a:ext>
            </a:extLst>
          </p:cNvPr>
          <p:cNvSpPr>
            <a:spLocks noGrp="1"/>
          </p:cNvSpPr>
          <p:nvPr>
            <p:ph type="dt" sz="half" idx="10"/>
          </p:nvPr>
        </p:nvSpPr>
        <p:spPr/>
        <p:txBody>
          <a:bodyPr/>
          <a:lstStyle/>
          <a:p>
            <a:fld id="{E9CC885B-4903-4D54-9A93-00025F12DED9}" type="datetimeFigureOut">
              <a:rPr kumimoji="1" lang="ja-JP" altLang="en-US" smtClean="0"/>
              <a:t>2025/1/16</a:t>
            </a:fld>
            <a:endParaRPr kumimoji="1" lang="ja-JP" altLang="en-US"/>
          </a:p>
        </p:txBody>
      </p:sp>
      <p:sp>
        <p:nvSpPr>
          <p:cNvPr id="6" name="フッター プレースホルダー 5">
            <a:extLst>
              <a:ext uri="{FF2B5EF4-FFF2-40B4-BE49-F238E27FC236}">
                <a16:creationId xmlns:a16="http://schemas.microsoft.com/office/drawing/2014/main" id="{0D813CBF-5D01-4CF4-BD63-C8FC321B242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123F9A7-54F5-421C-9A71-CC8C4BC92376}"/>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20282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A2E9A-2DDB-4057-9711-D792B04FFD0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2E5496D-7437-4ADF-BF05-1B99ACC091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8A11600-06C5-424A-B2EA-FFEF7E75EAA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3408E51-ED83-4218-8378-F0B44E296E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D26C0C0-145F-4A52-BA72-D19A2971D5E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649033F-9C86-42B4-AB90-0FE47F39E39A}"/>
              </a:ext>
            </a:extLst>
          </p:cNvPr>
          <p:cNvSpPr>
            <a:spLocks noGrp="1"/>
          </p:cNvSpPr>
          <p:nvPr>
            <p:ph type="dt" sz="half" idx="10"/>
          </p:nvPr>
        </p:nvSpPr>
        <p:spPr/>
        <p:txBody>
          <a:bodyPr/>
          <a:lstStyle/>
          <a:p>
            <a:fld id="{E9CC885B-4903-4D54-9A93-00025F12DED9}" type="datetimeFigureOut">
              <a:rPr kumimoji="1" lang="ja-JP" altLang="en-US" smtClean="0"/>
              <a:t>2025/1/16</a:t>
            </a:fld>
            <a:endParaRPr kumimoji="1" lang="ja-JP" altLang="en-US"/>
          </a:p>
        </p:txBody>
      </p:sp>
      <p:sp>
        <p:nvSpPr>
          <p:cNvPr id="8" name="フッター プレースホルダー 7">
            <a:extLst>
              <a:ext uri="{FF2B5EF4-FFF2-40B4-BE49-F238E27FC236}">
                <a16:creationId xmlns:a16="http://schemas.microsoft.com/office/drawing/2014/main" id="{F73F9DE8-EAB7-4A80-BF64-725C6DF460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1D0069B-43F7-430A-8C9D-C2BA7B92ECD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2546531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D48D3C-20F1-4E20-8FBC-734E9D946A7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2E416B3-4C21-4278-9B88-62D41335DC9D}"/>
              </a:ext>
            </a:extLst>
          </p:cNvPr>
          <p:cNvSpPr>
            <a:spLocks noGrp="1"/>
          </p:cNvSpPr>
          <p:nvPr>
            <p:ph type="dt" sz="half" idx="10"/>
          </p:nvPr>
        </p:nvSpPr>
        <p:spPr/>
        <p:txBody>
          <a:bodyPr/>
          <a:lstStyle/>
          <a:p>
            <a:fld id="{E9CC885B-4903-4D54-9A93-00025F12DED9}" type="datetimeFigureOut">
              <a:rPr kumimoji="1" lang="ja-JP" altLang="en-US" smtClean="0"/>
              <a:t>2025/1/16</a:t>
            </a:fld>
            <a:endParaRPr kumimoji="1" lang="ja-JP" altLang="en-US"/>
          </a:p>
        </p:txBody>
      </p:sp>
      <p:sp>
        <p:nvSpPr>
          <p:cNvPr id="4" name="フッター プレースホルダー 3">
            <a:extLst>
              <a:ext uri="{FF2B5EF4-FFF2-40B4-BE49-F238E27FC236}">
                <a16:creationId xmlns:a16="http://schemas.microsoft.com/office/drawing/2014/main" id="{3EBA727E-E9E7-4EA2-B6ED-8CF036F2B5D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DC1C47C-5B0A-471B-BB77-77BE62B99175}"/>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5308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55C2DD0-D598-4A5F-B542-7C6806B2F749}"/>
              </a:ext>
            </a:extLst>
          </p:cNvPr>
          <p:cNvSpPr>
            <a:spLocks noGrp="1"/>
          </p:cNvSpPr>
          <p:nvPr>
            <p:ph type="dt" sz="half" idx="10"/>
          </p:nvPr>
        </p:nvSpPr>
        <p:spPr/>
        <p:txBody>
          <a:bodyPr/>
          <a:lstStyle/>
          <a:p>
            <a:fld id="{E9CC885B-4903-4D54-9A93-00025F12DED9}" type="datetimeFigureOut">
              <a:rPr kumimoji="1" lang="ja-JP" altLang="en-US" smtClean="0"/>
              <a:t>2025/1/16</a:t>
            </a:fld>
            <a:endParaRPr kumimoji="1" lang="ja-JP" altLang="en-US"/>
          </a:p>
        </p:txBody>
      </p:sp>
      <p:sp>
        <p:nvSpPr>
          <p:cNvPr id="3" name="フッター プレースホルダー 2">
            <a:extLst>
              <a:ext uri="{FF2B5EF4-FFF2-40B4-BE49-F238E27FC236}">
                <a16:creationId xmlns:a16="http://schemas.microsoft.com/office/drawing/2014/main" id="{2260FD2A-DF3F-46FE-B2F8-14D9A2069736}"/>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2EF1C2C-6093-4ADD-9BFE-41DB125AD37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420414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35797B-0171-40BC-BCA2-0C1BA0D4C30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79CB0DB-618C-450C-BE67-5FD277B25D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42CC888D-BF8F-439D-9FC7-2DD4A8D750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4C2FA2E-4305-4946-8BDE-7AE113CDE687}"/>
              </a:ext>
            </a:extLst>
          </p:cNvPr>
          <p:cNvSpPr>
            <a:spLocks noGrp="1"/>
          </p:cNvSpPr>
          <p:nvPr>
            <p:ph type="dt" sz="half" idx="10"/>
          </p:nvPr>
        </p:nvSpPr>
        <p:spPr/>
        <p:txBody>
          <a:bodyPr/>
          <a:lstStyle/>
          <a:p>
            <a:fld id="{E9CC885B-4903-4D54-9A93-00025F12DED9}" type="datetimeFigureOut">
              <a:rPr kumimoji="1" lang="ja-JP" altLang="en-US" smtClean="0"/>
              <a:t>2025/1/16</a:t>
            </a:fld>
            <a:endParaRPr kumimoji="1" lang="ja-JP" altLang="en-US"/>
          </a:p>
        </p:txBody>
      </p:sp>
      <p:sp>
        <p:nvSpPr>
          <p:cNvPr id="6" name="フッター プレースホルダー 5">
            <a:extLst>
              <a:ext uri="{FF2B5EF4-FFF2-40B4-BE49-F238E27FC236}">
                <a16:creationId xmlns:a16="http://schemas.microsoft.com/office/drawing/2014/main" id="{BBA070CF-301C-4595-8007-2A2C19DFE0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3E21C8C-DA9E-4E6B-B45C-C2C4D38971B1}"/>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0669295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0F7326-6BA4-4DC0-9519-87D04747ED8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A1C2397-9613-4B24-A7D0-9EEE44E01C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5462283-8239-49BE-9D96-00B24831B7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F53455D-91B5-4938-AC24-CAFF77A6CD44}"/>
              </a:ext>
            </a:extLst>
          </p:cNvPr>
          <p:cNvSpPr>
            <a:spLocks noGrp="1"/>
          </p:cNvSpPr>
          <p:nvPr>
            <p:ph type="dt" sz="half" idx="10"/>
          </p:nvPr>
        </p:nvSpPr>
        <p:spPr/>
        <p:txBody>
          <a:bodyPr/>
          <a:lstStyle/>
          <a:p>
            <a:fld id="{E9CC885B-4903-4D54-9A93-00025F12DED9}" type="datetimeFigureOut">
              <a:rPr kumimoji="1" lang="ja-JP" altLang="en-US" smtClean="0"/>
              <a:t>2025/1/16</a:t>
            </a:fld>
            <a:endParaRPr kumimoji="1" lang="ja-JP" altLang="en-US"/>
          </a:p>
        </p:txBody>
      </p:sp>
      <p:sp>
        <p:nvSpPr>
          <p:cNvPr id="6" name="フッター プレースホルダー 5">
            <a:extLst>
              <a:ext uri="{FF2B5EF4-FFF2-40B4-BE49-F238E27FC236}">
                <a16:creationId xmlns:a16="http://schemas.microsoft.com/office/drawing/2014/main" id="{A7F23C7B-CEBC-48FC-81DC-98AFE68C2DE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7E65B5D-4A4C-4A6E-8AEB-3D88DC58273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140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AE957E-488D-43B9-8182-2A1DEEF0F7DD}"/>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E67B1EC-AFC1-41D0-BBB1-9A2E85E1399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1B76048-AF91-4C32-A054-6305C2928E9F}"/>
              </a:ext>
            </a:extLst>
          </p:cNvPr>
          <p:cNvSpPr>
            <a:spLocks noGrp="1"/>
          </p:cNvSpPr>
          <p:nvPr>
            <p:ph type="dt" sz="half" idx="10"/>
          </p:nvPr>
        </p:nvSpPr>
        <p:spPr/>
        <p:txBody>
          <a:bodyPr/>
          <a:lstStyle/>
          <a:p>
            <a:fld id="{E9CC885B-4903-4D54-9A93-00025F12DED9}" type="datetimeFigureOut">
              <a:rPr kumimoji="1" lang="ja-JP" altLang="en-US" smtClean="0"/>
              <a:t>2025/1/16</a:t>
            </a:fld>
            <a:endParaRPr kumimoji="1" lang="ja-JP" altLang="en-US"/>
          </a:p>
        </p:txBody>
      </p:sp>
      <p:sp>
        <p:nvSpPr>
          <p:cNvPr id="5" name="フッター プレースホルダー 4">
            <a:extLst>
              <a:ext uri="{FF2B5EF4-FFF2-40B4-BE49-F238E27FC236}">
                <a16:creationId xmlns:a16="http://schemas.microsoft.com/office/drawing/2014/main" id="{98C66A49-F960-4196-B16B-31B98B3401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D7A86F7-B140-4439-A33B-63EA8498DCAB}"/>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4856319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B4FA5DEF-DC74-4F38-9DA0-1EE9752F5F3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3C9EE93-ED20-4B3B-93FB-5A088C436B2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370666-1A4C-42B1-8748-A0D1453943A4}"/>
              </a:ext>
            </a:extLst>
          </p:cNvPr>
          <p:cNvSpPr>
            <a:spLocks noGrp="1"/>
          </p:cNvSpPr>
          <p:nvPr>
            <p:ph type="dt" sz="half" idx="10"/>
          </p:nvPr>
        </p:nvSpPr>
        <p:spPr/>
        <p:txBody>
          <a:bodyPr/>
          <a:lstStyle/>
          <a:p>
            <a:fld id="{E9CC885B-4903-4D54-9A93-00025F12DED9}" type="datetimeFigureOut">
              <a:rPr kumimoji="1" lang="ja-JP" altLang="en-US" smtClean="0"/>
              <a:t>2025/1/16</a:t>
            </a:fld>
            <a:endParaRPr kumimoji="1" lang="ja-JP" altLang="en-US"/>
          </a:p>
        </p:txBody>
      </p:sp>
      <p:sp>
        <p:nvSpPr>
          <p:cNvPr id="5" name="フッター プレースホルダー 4">
            <a:extLst>
              <a:ext uri="{FF2B5EF4-FFF2-40B4-BE49-F238E27FC236}">
                <a16:creationId xmlns:a16="http://schemas.microsoft.com/office/drawing/2014/main" id="{E26EC7E2-E7E6-45F2-BF6D-CDF318CEC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CDE4F59-4276-46E3-AE2A-D255BC7BB35C}"/>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428509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F527E70E-5441-439A-8EA3-0826A036FC7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A7C9CE9-5A22-43DB-862A-3B24B2BF15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45D76C-CB70-434A-A116-22531EEB417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CC885B-4903-4D54-9A93-00025F12DED9}" type="datetimeFigureOut">
              <a:rPr kumimoji="1" lang="ja-JP" altLang="en-US" smtClean="0"/>
              <a:t>2025/1/16</a:t>
            </a:fld>
            <a:endParaRPr kumimoji="1" lang="ja-JP" altLang="en-US"/>
          </a:p>
        </p:txBody>
      </p:sp>
      <p:sp>
        <p:nvSpPr>
          <p:cNvPr id="5" name="フッター プレースホルダー 4">
            <a:extLst>
              <a:ext uri="{FF2B5EF4-FFF2-40B4-BE49-F238E27FC236}">
                <a16:creationId xmlns:a16="http://schemas.microsoft.com/office/drawing/2014/main" id="{2505E6D4-441B-4864-8545-0FDE04F664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FFD1810-F6DD-4BB4-8465-A3A3F3BF33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6517845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hyperlink" Target="https://www.toptal.com/developers/gitignore" TargetMode="Externa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706464" cy="584775"/>
          </a:xfrm>
          <a:prstGeom prst="rect">
            <a:avLst/>
          </a:prstGeom>
          <a:noFill/>
        </p:spPr>
        <p:txBody>
          <a:bodyPr wrap="none" rtlCol="0">
            <a:spAutoFit/>
          </a:bodyPr>
          <a:lstStyle/>
          <a:p>
            <a:r>
              <a:rPr kumimoji="1" lang="en-US" altLang="ja-JP" sz="3200" b="1" u="sng" dirty="0"/>
              <a:t>.</a:t>
            </a:r>
            <a:r>
              <a:rPr kumimoji="1" lang="en-US" altLang="ja-JP" sz="3200" b="1" u="sng" dirty="0" err="1"/>
              <a:t>gitignore</a:t>
            </a:r>
            <a:r>
              <a:rPr kumimoji="1" lang="ja-JP" altLang="en-US" sz="3200" b="1" u="sng" dirty="0"/>
              <a:t>ファイル</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649069" cy="4524315"/>
          </a:xfrm>
          <a:prstGeom prst="rect">
            <a:avLst/>
          </a:prstGeom>
          <a:noFill/>
        </p:spPr>
        <p:txBody>
          <a:bodyPr wrap="none" rtlCol="0">
            <a:spAutoFit/>
          </a:bodyPr>
          <a:lstStyle/>
          <a:p>
            <a:r>
              <a:rPr lang="ja-JP" altLang="en-US" sz="2400" dirty="0"/>
              <a:t>バージョン管理では管理したいファイルとしたくないファイルがあります。</a:t>
            </a:r>
            <a:endParaRPr lang="en-US" altLang="ja-JP" sz="2400" dirty="0"/>
          </a:p>
          <a:p>
            <a:r>
              <a:rPr lang="ja-JP" altLang="en-US" sz="2400" dirty="0"/>
              <a:t>以下は例です。</a:t>
            </a:r>
            <a:endParaRPr lang="en-US" altLang="ja-JP" sz="2400" dirty="0"/>
          </a:p>
          <a:p>
            <a:endParaRPr lang="en-US" altLang="ja-JP" sz="2400" dirty="0"/>
          </a:p>
          <a:p>
            <a:r>
              <a:rPr lang="ja-JP" altLang="en-US" sz="2400" b="1" dirty="0">
                <a:solidFill>
                  <a:srgbClr val="FF0000"/>
                </a:solidFill>
              </a:rPr>
              <a:t>■管理したいファイル</a:t>
            </a:r>
            <a:endParaRPr lang="en-US" altLang="ja-JP" sz="2400" b="1" dirty="0">
              <a:solidFill>
                <a:srgbClr val="FF0000"/>
              </a:solidFill>
            </a:endParaRPr>
          </a:p>
          <a:p>
            <a:r>
              <a:rPr lang="ja-JP" altLang="en-US" sz="2400" dirty="0"/>
              <a:t>・ソースファイル（</a:t>
            </a:r>
            <a:r>
              <a:rPr lang="en-US" altLang="ja-JP" sz="2400" dirty="0"/>
              <a:t>.</a:t>
            </a:r>
            <a:r>
              <a:rPr lang="en-US" altLang="ja-JP" sz="2400" dirty="0" err="1"/>
              <a:t>cpp</a:t>
            </a:r>
            <a:r>
              <a:rPr lang="en-US" altLang="ja-JP" sz="2400" dirty="0"/>
              <a:t> .cs</a:t>
            </a:r>
            <a:r>
              <a:rPr lang="ja-JP" altLang="en-US" sz="2400" dirty="0"/>
              <a:t>など）</a:t>
            </a:r>
            <a:endParaRPr lang="en-US" altLang="ja-JP" sz="2400" dirty="0"/>
          </a:p>
          <a:p>
            <a:r>
              <a:rPr lang="ja-JP" altLang="en-US" sz="2400" dirty="0"/>
              <a:t>・素材ファイル（</a:t>
            </a:r>
            <a:r>
              <a:rPr lang="en-US" altLang="ja-JP" sz="2400" dirty="0"/>
              <a:t>.</a:t>
            </a:r>
            <a:r>
              <a:rPr lang="en-US" altLang="ja-JP" sz="2400" dirty="0" err="1"/>
              <a:t>png</a:t>
            </a:r>
            <a:r>
              <a:rPr lang="en-US" altLang="ja-JP" sz="2400" dirty="0"/>
              <a:t> .mp3</a:t>
            </a:r>
            <a:r>
              <a:rPr lang="ja-JP" altLang="en-US" sz="2400" dirty="0"/>
              <a:t>など）</a:t>
            </a:r>
            <a:endParaRPr lang="en-US" altLang="ja-JP" sz="2400" dirty="0"/>
          </a:p>
          <a:p>
            <a:r>
              <a:rPr lang="ja-JP" altLang="en-US" sz="2400" dirty="0"/>
              <a:t>・ゲームデータ（</a:t>
            </a:r>
            <a:r>
              <a:rPr lang="en-US" altLang="ja-JP" sz="2400" dirty="0"/>
              <a:t>.prefab .meta</a:t>
            </a:r>
            <a:r>
              <a:rPr lang="ja-JP" altLang="en-US" sz="2400" dirty="0"/>
              <a:t>など）</a:t>
            </a:r>
            <a:endParaRPr lang="en-US" altLang="ja-JP" sz="2400" dirty="0"/>
          </a:p>
          <a:p>
            <a:endParaRPr lang="en-US" altLang="ja-JP" sz="2400" dirty="0"/>
          </a:p>
          <a:p>
            <a:r>
              <a:rPr lang="ja-JP" altLang="en-US" sz="2400" b="1" dirty="0">
                <a:solidFill>
                  <a:srgbClr val="FF0000"/>
                </a:solidFill>
              </a:rPr>
              <a:t>■管理したくないファイル</a:t>
            </a:r>
            <a:endParaRPr lang="en-US" altLang="ja-JP" sz="2400" b="1" dirty="0">
              <a:solidFill>
                <a:srgbClr val="FF0000"/>
              </a:solidFill>
            </a:endParaRPr>
          </a:p>
          <a:p>
            <a:r>
              <a:rPr lang="ja-JP" altLang="en-US" sz="2400" dirty="0"/>
              <a:t>・</a:t>
            </a:r>
            <a:r>
              <a:rPr lang="en-US" altLang="ja-JP" sz="2400" dirty="0"/>
              <a:t>Visual Studio</a:t>
            </a:r>
            <a:r>
              <a:rPr lang="ja-JP" altLang="en-US" sz="2400" dirty="0"/>
              <a:t>の設定データ（自動入力設定 背景色など）</a:t>
            </a:r>
            <a:endParaRPr lang="en-US" altLang="ja-JP" sz="2400" dirty="0"/>
          </a:p>
          <a:p>
            <a:endParaRPr lang="en-US" altLang="ja-JP" sz="2400" dirty="0"/>
          </a:p>
          <a:p>
            <a:r>
              <a:rPr lang="ja-JP" altLang="en-US" sz="2400" b="1" dirty="0">
                <a:solidFill>
                  <a:srgbClr val="FF0000"/>
                </a:solidFill>
              </a:rPr>
              <a:t>個人で別々に所持しておきたいファイルは管理したくないです。</a:t>
            </a:r>
            <a:endParaRPr lang="en-US" altLang="ja-JP" sz="2400" b="1" dirty="0">
              <a:solidFill>
                <a:srgbClr val="FF0000"/>
              </a:solidFill>
            </a:endParaRPr>
          </a:p>
        </p:txBody>
      </p:sp>
    </p:spTree>
    <p:extLst>
      <p:ext uri="{BB962C8B-B14F-4D97-AF65-F5344CB8AC3E}">
        <p14:creationId xmlns:p14="http://schemas.microsoft.com/office/powerpoint/2010/main" val="4100289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706464" cy="584775"/>
          </a:xfrm>
          <a:prstGeom prst="rect">
            <a:avLst/>
          </a:prstGeom>
          <a:noFill/>
        </p:spPr>
        <p:txBody>
          <a:bodyPr wrap="none" rtlCol="0">
            <a:spAutoFit/>
          </a:bodyPr>
          <a:lstStyle/>
          <a:p>
            <a:r>
              <a:rPr kumimoji="1" lang="en-US" altLang="ja-JP" sz="3200" b="1" u="sng" dirty="0"/>
              <a:t>.</a:t>
            </a:r>
            <a:r>
              <a:rPr kumimoji="1" lang="en-US" altLang="ja-JP" sz="3200" b="1" u="sng" dirty="0" err="1"/>
              <a:t>gitignore</a:t>
            </a:r>
            <a:r>
              <a:rPr kumimoji="1" lang="ja-JP" altLang="en-US" sz="3200" b="1" u="sng" dirty="0"/>
              <a:t>ファイル</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936007" cy="1938992"/>
          </a:xfrm>
          <a:prstGeom prst="rect">
            <a:avLst/>
          </a:prstGeom>
          <a:noFill/>
        </p:spPr>
        <p:txBody>
          <a:bodyPr wrap="none" rtlCol="0">
            <a:spAutoFit/>
          </a:bodyPr>
          <a:lstStyle/>
          <a:p>
            <a:r>
              <a:rPr lang="en-US" altLang="ja-JP" sz="2400" dirty="0"/>
              <a:t>Git</a:t>
            </a:r>
            <a:r>
              <a:rPr lang="ja-JP" altLang="en-US" sz="2400" dirty="0"/>
              <a:t>側で管理したくないファイルを設定するには、「</a:t>
            </a:r>
            <a:r>
              <a:rPr lang="en-US" altLang="ja-JP" sz="2400" b="1" dirty="0">
                <a:solidFill>
                  <a:srgbClr val="FF0000"/>
                </a:solidFill>
              </a:rPr>
              <a:t>.</a:t>
            </a:r>
            <a:r>
              <a:rPr lang="en-US" altLang="ja-JP" sz="2400" b="1" dirty="0" err="1">
                <a:solidFill>
                  <a:srgbClr val="FF0000"/>
                </a:solidFill>
              </a:rPr>
              <a:t>gitignore</a:t>
            </a:r>
            <a:r>
              <a:rPr lang="ja-JP" altLang="en-US" sz="2400" dirty="0"/>
              <a:t>」を使います。</a:t>
            </a:r>
            <a:endParaRPr lang="en-US" altLang="ja-JP" sz="2400" dirty="0"/>
          </a:p>
          <a:p>
            <a:r>
              <a:rPr lang="ja-JP" altLang="en-US" sz="2400" dirty="0"/>
              <a:t>メモ帳で開いてみましょう。（おそらく何も書かれてないはず）</a:t>
            </a:r>
            <a:endParaRPr lang="en-US" altLang="ja-JP" sz="2400" dirty="0"/>
          </a:p>
          <a:p>
            <a:endParaRPr lang="en-US" altLang="ja-JP" sz="2400" dirty="0"/>
          </a:p>
          <a:p>
            <a:r>
              <a:rPr lang="en-US" altLang="ja-JP" sz="2400" dirty="0"/>
              <a:t>.</a:t>
            </a:r>
            <a:r>
              <a:rPr lang="en-US" altLang="ja-JP" sz="2400" dirty="0" err="1"/>
              <a:t>gitignore</a:t>
            </a:r>
            <a:r>
              <a:rPr lang="ja-JP" altLang="en-US" sz="2400" dirty="0"/>
              <a:t>ファイルがない場合は</a:t>
            </a:r>
            <a:endParaRPr lang="en-US" altLang="ja-JP" sz="2400" dirty="0"/>
          </a:p>
          <a:p>
            <a:r>
              <a:rPr lang="ja-JP" altLang="en-US" sz="2400" dirty="0"/>
              <a:t>「右クリック　＞　新規作成　＞　テキストドキュメント」で作りましょう。</a:t>
            </a:r>
            <a:endParaRPr lang="en-US" altLang="ja-JP" sz="2400" dirty="0"/>
          </a:p>
        </p:txBody>
      </p:sp>
      <p:pic>
        <p:nvPicPr>
          <p:cNvPr id="3" name="図 2">
            <a:extLst>
              <a:ext uri="{FF2B5EF4-FFF2-40B4-BE49-F238E27FC236}">
                <a16:creationId xmlns:a16="http://schemas.microsoft.com/office/drawing/2014/main" id="{E35CEBD8-3826-4483-B000-621DC1D17898}"/>
              </a:ext>
            </a:extLst>
          </p:cNvPr>
          <p:cNvPicPr>
            <a:picLocks noChangeAspect="1"/>
          </p:cNvPicPr>
          <p:nvPr/>
        </p:nvPicPr>
        <p:blipFill>
          <a:blip r:embed="rId2"/>
          <a:stretch>
            <a:fillRect/>
          </a:stretch>
        </p:blipFill>
        <p:spPr>
          <a:xfrm>
            <a:off x="567543" y="3295121"/>
            <a:ext cx="2534246" cy="3124079"/>
          </a:xfrm>
          <a:prstGeom prst="rect">
            <a:avLst/>
          </a:prstGeom>
        </p:spPr>
      </p:pic>
    </p:spTree>
    <p:extLst>
      <p:ext uri="{BB962C8B-B14F-4D97-AF65-F5344CB8AC3E}">
        <p14:creationId xmlns:p14="http://schemas.microsoft.com/office/powerpoint/2010/main" val="39750320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706464" cy="584775"/>
          </a:xfrm>
          <a:prstGeom prst="rect">
            <a:avLst/>
          </a:prstGeom>
          <a:noFill/>
        </p:spPr>
        <p:txBody>
          <a:bodyPr wrap="none" rtlCol="0">
            <a:spAutoFit/>
          </a:bodyPr>
          <a:lstStyle/>
          <a:p>
            <a:r>
              <a:rPr kumimoji="1" lang="en-US" altLang="ja-JP" sz="3200" b="1" u="sng" dirty="0"/>
              <a:t>.</a:t>
            </a:r>
            <a:r>
              <a:rPr kumimoji="1" lang="en-US" altLang="ja-JP" sz="3200" b="1" u="sng" dirty="0" err="1"/>
              <a:t>gitignore</a:t>
            </a:r>
            <a:r>
              <a:rPr kumimoji="1" lang="ja-JP" altLang="en-US" sz="3200" b="1" u="sng" dirty="0"/>
              <a:t>ファイル</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214382" cy="2308324"/>
          </a:xfrm>
          <a:prstGeom prst="rect">
            <a:avLst/>
          </a:prstGeom>
          <a:noFill/>
        </p:spPr>
        <p:txBody>
          <a:bodyPr wrap="none" rtlCol="0">
            <a:spAutoFit/>
          </a:bodyPr>
          <a:lstStyle/>
          <a:p>
            <a:r>
              <a:rPr lang="ja-JP" altLang="en-US" sz="2400" dirty="0"/>
              <a:t>このファイルに書かれているファイルは</a:t>
            </a:r>
            <a:r>
              <a:rPr lang="en-US" altLang="ja-JP" sz="2400" dirty="0"/>
              <a:t>Git</a:t>
            </a:r>
            <a:r>
              <a:rPr lang="ja-JP" altLang="en-US" sz="2400" dirty="0"/>
              <a:t>の管理外となります。</a:t>
            </a:r>
            <a:endParaRPr lang="en-US" altLang="ja-JP" sz="2400" dirty="0"/>
          </a:p>
          <a:p>
            <a:r>
              <a:rPr lang="ja-JP" altLang="en-US" sz="2400" dirty="0"/>
              <a:t>リーダーは「</a:t>
            </a:r>
            <a:r>
              <a:rPr lang="en-US" altLang="ja-JP" sz="2400" dirty="0"/>
              <a:t>*.txt</a:t>
            </a:r>
            <a:r>
              <a:rPr lang="ja-JP" altLang="en-US" sz="2400" dirty="0"/>
              <a:t>」と記載して保存し、</a:t>
            </a:r>
            <a:r>
              <a:rPr lang="en-US" altLang="ja-JP" sz="2400" dirty="0"/>
              <a:t>Push</a:t>
            </a:r>
            <a:r>
              <a:rPr lang="ja-JP" altLang="en-US" sz="2400" dirty="0"/>
              <a:t>しましょう。</a:t>
            </a:r>
            <a:endParaRPr lang="en-US" altLang="ja-JP" sz="2400" dirty="0"/>
          </a:p>
          <a:p>
            <a:endParaRPr lang="en-US" altLang="ja-JP" sz="2400" dirty="0"/>
          </a:p>
          <a:p>
            <a:r>
              <a:rPr lang="en-US" altLang="ja-JP" sz="2400" b="1" dirty="0">
                <a:solidFill>
                  <a:srgbClr val="FF0000"/>
                </a:solidFill>
              </a:rPr>
              <a:t>※Push</a:t>
            </a:r>
            <a:r>
              <a:rPr lang="ja-JP" altLang="en-US" sz="2400" b="1" dirty="0">
                <a:solidFill>
                  <a:srgbClr val="FF0000"/>
                </a:solidFill>
              </a:rPr>
              <a:t>までしないと反映されません。</a:t>
            </a:r>
            <a:endParaRPr lang="en-US" altLang="ja-JP" sz="2400" b="1" dirty="0">
              <a:solidFill>
                <a:srgbClr val="FF0000"/>
              </a:solidFill>
            </a:endParaRPr>
          </a:p>
          <a:p>
            <a:endParaRPr lang="en-US" altLang="ja-JP" sz="2400" b="1" dirty="0">
              <a:solidFill>
                <a:srgbClr val="FF0000"/>
              </a:solidFill>
            </a:endParaRPr>
          </a:p>
          <a:p>
            <a:r>
              <a:rPr lang="ja-JP" altLang="en-US" sz="2400" dirty="0"/>
              <a:t>他のメンバーは</a:t>
            </a:r>
            <a:r>
              <a:rPr lang="en-US" altLang="ja-JP" sz="2400" dirty="0"/>
              <a:t>Pull</a:t>
            </a:r>
            <a:r>
              <a:rPr lang="ja-JP" altLang="en-US" sz="2400" dirty="0"/>
              <a:t>して反映しましょう。</a:t>
            </a:r>
            <a:endParaRPr lang="en-US" altLang="ja-JP" sz="2400" dirty="0"/>
          </a:p>
        </p:txBody>
      </p:sp>
      <p:pic>
        <p:nvPicPr>
          <p:cNvPr id="5" name="図 4">
            <a:extLst>
              <a:ext uri="{FF2B5EF4-FFF2-40B4-BE49-F238E27FC236}">
                <a16:creationId xmlns:a16="http://schemas.microsoft.com/office/drawing/2014/main" id="{04E805B2-3ED3-4E12-992E-87FF3091821E}"/>
              </a:ext>
            </a:extLst>
          </p:cNvPr>
          <p:cNvPicPr>
            <a:picLocks noChangeAspect="1"/>
          </p:cNvPicPr>
          <p:nvPr/>
        </p:nvPicPr>
        <p:blipFill>
          <a:blip r:embed="rId2"/>
          <a:stretch>
            <a:fillRect/>
          </a:stretch>
        </p:blipFill>
        <p:spPr>
          <a:xfrm>
            <a:off x="567542" y="3664453"/>
            <a:ext cx="3975708" cy="2701593"/>
          </a:xfrm>
          <a:prstGeom prst="rect">
            <a:avLst/>
          </a:prstGeom>
        </p:spPr>
      </p:pic>
    </p:spTree>
    <p:extLst>
      <p:ext uri="{BB962C8B-B14F-4D97-AF65-F5344CB8AC3E}">
        <p14:creationId xmlns:p14="http://schemas.microsoft.com/office/powerpoint/2010/main" val="8515354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706464" cy="584775"/>
          </a:xfrm>
          <a:prstGeom prst="rect">
            <a:avLst/>
          </a:prstGeom>
          <a:noFill/>
        </p:spPr>
        <p:txBody>
          <a:bodyPr wrap="none" rtlCol="0">
            <a:spAutoFit/>
          </a:bodyPr>
          <a:lstStyle/>
          <a:p>
            <a:r>
              <a:rPr kumimoji="1" lang="en-US" altLang="ja-JP" sz="3200" b="1" u="sng" dirty="0"/>
              <a:t>.</a:t>
            </a:r>
            <a:r>
              <a:rPr kumimoji="1" lang="en-US" altLang="ja-JP" sz="3200" b="1" u="sng" dirty="0" err="1"/>
              <a:t>gitignore</a:t>
            </a:r>
            <a:r>
              <a:rPr kumimoji="1" lang="ja-JP" altLang="en-US" sz="3200" b="1" u="sng" dirty="0"/>
              <a:t>ファイル</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649069" cy="830997"/>
          </a:xfrm>
          <a:prstGeom prst="rect">
            <a:avLst/>
          </a:prstGeom>
          <a:noFill/>
        </p:spPr>
        <p:txBody>
          <a:bodyPr wrap="none" rtlCol="0">
            <a:spAutoFit/>
          </a:bodyPr>
          <a:lstStyle/>
          <a:p>
            <a:r>
              <a:rPr lang="ja-JP" altLang="en-US" sz="2400" dirty="0"/>
              <a:t>プロジェクト内にテキストファイルと</a:t>
            </a:r>
            <a:r>
              <a:rPr lang="en-US" altLang="ja-JP" sz="2400" dirty="0"/>
              <a:t>Word</a:t>
            </a:r>
            <a:r>
              <a:rPr lang="ja-JP" altLang="en-US" sz="2400" dirty="0"/>
              <a:t>ファイルを追加します。</a:t>
            </a:r>
            <a:endParaRPr lang="en-US" altLang="ja-JP" sz="2400" dirty="0"/>
          </a:p>
          <a:p>
            <a:r>
              <a:rPr lang="ja-JP" altLang="en-US" sz="2400" dirty="0"/>
              <a:t>追加したら大元のフォルダを右クリックしてコミット画面を出しましょう。</a:t>
            </a:r>
            <a:endParaRPr lang="en-US" altLang="ja-JP" sz="2400" dirty="0"/>
          </a:p>
        </p:txBody>
      </p:sp>
      <p:pic>
        <p:nvPicPr>
          <p:cNvPr id="3" name="図 2">
            <a:extLst>
              <a:ext uri="{FF2B5EF4-FFF2-40B4-BE49-F238E27FC236}">
                <a16:creationId xmlns:a16="http://schemas.microsoft.com/office/drawing/2014/main" id="{8DDF5F03-67F3-4ADA-8A03-7FA38EFC72FD}"/>
              </a:ext>
            </a:extLst>
          </p:cNvPr>
          <p:cNvPicPr>
            <a:picLocks noChangeAspect="1"/>
          </p:cNvPicPr>
          <p:nvPr/>
        </p:nvPicPr>
        <p:blipFill>
          <a:blip r:embed="rId2"/>
          <a:stretch>
            <a:fillRect/>
          </a:stretch>
        </p:blipFill>
        <p:spPr>
          <a:xfrm>
            <a:off x="567542" y="2187126"/>
            <a:ext cx="7913290" cy="3048262"/>
          </a:xfrm>
          <a:prstGeom prst="rect">
            <a:avLst/>
          </a:prstGeom>
        </p:spPr>
      </p:pic>
      <p:sp>
        <p:nvSpPr>
          <p:cNvPr id="7" name="テキスト ボックス 6">
            <a:extLst>
              <a:ext uri="{FF2B5EF4-FFF2-40B4-BE49-F238E27FC236}">
                <a16:creationId xmlns:a16="http://schemas.microsoft.com/office/drawing/2014/main" id="{AE42605D-C2FB-4878-829E-E2C6BBFD6C5E}"/>
              </a:ext>
            </a:extLst>
          </p:cNvPr>
          <p:cNvSpPr txBox="1"/>
          <p:nvPr/>
        </p:nvSpPr>
        <p:spPr>
          <a:xfrm>
            <a:off x="567541" y="5375088"/>
            <a:ext cx="5109091" cy="461665"/>
          </a:xfrm>
          <a:prstGeom prst="rect">
            <a:avLst/>
          </a:prstGeom>
          <a:noFill/>
        </p:spPr>
        <p:txBody>
          <a:bodyPr wrap="none" rtlCol="0">
            <a:spAutoFit/>
          </a:bodyPr>
          <a:lstStyle/>
          <a:p>
            <a:r>
              <a:rPr lang="en-US" altLang="ja-JP" sz="2400" b="1" dirty="0">
                <a:solidFill>
                  <a:srgbClr val="FF0000"/>
                </a:solidFill>
              </a:rPr>
              <a:t>※</a:t>
            </a:r>
            <a:r>
              <a:rPr lang="ja-JP" altLang="en-US" sz="2400" b="1" dirty="0">
                <a:solidFill>
                  <a:srgbClr val="FF0000"/>
                </a:solidFill>
              </a:rPr>
              <a:t>コミットはしないでください！！</a:t>
            </a:r>
            <a:endParaRPr lang="en-US" altLang="ja-JP" sz="2400" b="1" dirty="0">
              <a:solidFill>
                <a:srgbClr val="FF0000"/>
              </a:solidFill>
            </a:endParaRPr>
          </a:p>
        </p:txBody>
      </p:sp>
      <p:sp>
        <p:nvSpPr>
          <p:cNvPr id="8" name="正方形/長方形 7">
            <a:extLst>
              <a:ext uri="{FF2B5EF4-FFF2-40B4-BE49-F238E27FC236}">
                <a16:creationId xmlns:a16="http://schemas.microsoft.com/office/drawing/2014/main" id="{CB721BCD-07D5-4308-B91D-DFD578A93826}"/>
              </a:ext>
            </a:extLst>
          </p:cNvPr>
          <p:cNvSpPr/>
          <p:nvPr/>
        </p:nvSpPr>
        <p:spPr>
          <a:xfrm>
            <a:off x="645459" y="4087906"/>
            <a:ext cx="3137647" cy="959223"/>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91791157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706464" cy="584775"/>
          </a:xfrm>
          <a:prstGeom prst="rect">
            <a:avLst/>
          </a:prstGeom>
          <a:noFill/>
        </p:spPr>
        <p:txBody>
          <a:bodyPr wrap="none" rtlCol="0">
            <a:spAutoFit/>
          </a:bodyPr>
          <a:lstStyle/>
          <a:p>
            <a:r>
              <a:rPr kumimoji="1" lang="en-US" altLang="ja-JP" sz="3200" b="1" u="sng" dirty="0"/>
              <a:t>.</a:t>
            </a:r>
            <a:r>
              <a:rPr kumimoji="1" lang="en-US" altLang="ja-JP" sz="3200" b="1" u="sng" dirty="0" err="1"/>
              <a:t>gitignore</a:t>
            </a:r>
            <a:r>
              <a:rPr kumimoji="1" lang="ja-JP" altLang="en-US" sz="3200" b="1" u="sng" dirty="0"/>
              <a:t>ファイル</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1399274" cy="1200329"/>
          </a:xfrm>
          <a:prstGeom prst="rect">
            <a:avLst/>
          </a:prstGeom>
          <a:noFill/>
        </p:spPr>
        <p:txBody>
          <a:bodyPr wrap="none" rtlCol="0">
            <a:spAutoFit/>
          </a:bodyPr>
          <a:lstStyle/>
          <a:p>
            <a:r>
              <a:rPr lang="en-US" altLang="ja-JP" sz="2400" dirty="0"/>
              <a:t>Word</a:t>
            </a:r>
            <a:r>
              <a:rPr lang="ja-JP" altLang="en-US" sz="2400" dirty="0"/>
              <a:t>データは候補として表示されますが、</a:t>
            </a:r>
            <a:r>
              <a:rPr lang="ja-JP" altLang="en-US" sz="2400" b="1" dirty="0">
                <a:solidFill>
                  <a:srgbClr val="FF0000"/>
                </a:solidFill>
              </a:rPr>
              <a:t>テキストファイルは表示されません。</a:t>
            </a:r>
            <a:endParaRPr lang="en-US" altLang="ja-JP" sz="2400" b="1" dirty="0">
              <a:solidFill>
                <a:srgbClr val="FF0000"/>
              </a:solidFill>
            </a:endParaRPr>
          </a:p>
          <a:p>
            <a:r>
              <a:rPr lang="en-US" altLang="ja-JP" sz="2400" dirty="0"/>
              <a:t>.</a:t>
            </a:r>
            <a:r>
              <a:rPr lang="en-US" altLang="ja-JP" sz="2400" dirty="0" err="1"/>
              <a:t>gitignore</a:t>
            </a:r>
            <a:r>
              <a:rPr lang="ja-JP" altLang="en-US" sz="2400" dirty="0"/>
              <a:t>によって無視されています。</a:t>
            </a:r>
            <a:endParaRPr lang="en-US" altLang="ja-JP" sz="2400" dirty="0"/>
          </a:p>
          <a:p>
            <a:r>
              <a:rPr lang="ja-JP" altLang="en-US" sz="2400" dirty="0"/>
              <a:t>このように拡張子単位で</a:t>
            </a:r>
            <a:r>
              <a:rPr lang="en-US" altLang="ja-JP" sz="2400" dirty="0"/>
              <a:t>Git</a:t>
            </a:r>
            <a:r>
              <a:rPr lang="ja-JP" altLang="en-US" sz="2400" dirty="0"/>
              <a:t>から無視させることができます。</a:t>
            </a:r>
            <a:endParaRPr lang="en-US" altLang="ja-JP" sz="2400" dirty="0"/>
          </a:p>
        </p:txBody>
      </p:sp>
      <p:pic>
        <p:nvPicPr>
          <p:cNvPr id="5" name="図 4">
            <a:extLst>
              <a:ext uri="{FF2B5EF4-FFF2-40B4-BE49-F238E27FC236}">
                <a16:creationId xmlns:a16="http://schemas.microsoft.com/office/drawing/2014/main" id="{763EDA7B-A0DD-464E-9FCE-C1012A0834D0}"/>
              </a:ext>
            </a:extLst>
          </p:cNvPr>
          <p:cNvPicPr>
            <a:picLocks noChangeAspect="1"/>
          </p:cNvPicPr>
          <p:nvPr/>
        </p:nvPicPr>
        <p:blipFill>
          <a:blip r:embed="rId2"/>
          <a:stretch>
            <a:fillRect/>
          </a:stretch>
        </p:blipFill>
        <p:spPr>
          <a:xfrm>
            <a:off x="567542" y="2556458"/>
            <a:ext cx="4117478" cy="3909253"/>
          </a:xfrm>
          <a:prstGeom prst="rect">
            <a:avLst/>
          </a:prstGeom>
        </p:spPr>
      </p:pic>
      <p:sp>
        <p:nvSpPr>
          <p:cNvPr id="9" name="テキスト ボックス 8">
            <a:extLst>
              <a:ext uri="{FF2B5EF4-FFF2-40B4-BE49-F238E27FC236}">
                <a16:creationId xmlns:a16="http://schemas.microsoft.com/office/drawing/2014/main" id="{507ED977-0749-42FA-9826-5ABF42C1CEC1}"/>
              </a:ext>
            </a:extLst>
          </p:cNvPr>
          <p:cNvSpPr txBox="1"/>
          <p:nvPr/>
        </p:nvSpPr>
        <p:spPr>
          <a:xfrm>
            <a:off x="4798796" y="5372958"/>
            <a:ext cx="6083717" cy="1015663"/>
          </a:xfrm>
          <a:prstGeom prst="rect">
            <a:avLst/>
          </a:prstGeom>
          <a:noFill/>
        </p:spPr>
        <p:txBody>
          <a:bodyPr wrap="none" rtlCol="0">
            <a:spAutoFit/>
          </a:bodyPr>
          <a:lstStyle/>
          <a:p>
            <a:r>
              <a:rPr lang="en-US" altLang="ja-JP" sz="2000" b="1" dirty="0">
                <a:solidFill>
                  <a:srgbClr val="00B050"/>
                </a:solidFill>
              </a:rPr>
              <a:t>MEMO</a:t>
            </a:r>
          </a:p>
          <a:p>
            <a:r>
              <a:rPr lang="ja-JP" altLang="en-US" sz="2000" dirty="0"/>
              <a:t>他にもフォルダ単位で無視したり、</a:t>
            </a:r>
            <a:endParaRPr lang="en-US" altLang="ja-JP" sz="2000" dirty="0"/>
          </a:p>
          <a:p>
            <a:r>
              <a:rPr lang="ja-JP" altLang="en-US" sz="2000" dirty="0"/>
              <a:t>ファイル名を直接指定して無視したりもできます。</a:t>
            </a:r>
            <a:endParaRPr lang="en-US" altLang="ja-JP" sz="2000" dirty="0"/>
          </a:p>
        </p:txBody>
      </p:sp>
      <p:sp>
        <p:nvSpPr>
          <p:cNvPr id="10" name="正方形/長方形 9">
            <a:extLst>
              <a:ext uri="{FF2B5EF4-FFF2-40B4-BE49-F238E27FC236}">
                <a16:creationId xmlns:a16="http://schemas.microsoft.com/office/drawing/2014/main" id="{F9153E81-5234-4E6A-B8F9-84765F2C7E9C}"/>
              </a:ext>
            </a:extLst>
          </p:cNvPr>
          <p:cNvSpPr/>
          <p:nvPr/>
        </p:nvSpPr>
        <p:spPr>
          <a:xfrm>
            <a:off x="681318" y="4849906"/>
            <a:ext cx="3908611" cy="791665"/>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F0E75117-3613-4FE6-80AC-F6990C901929}"/>
              </a:ext>
            </a:extLst>
          </p:cNvPr>
          <p:cNvSpPr txBox="1"/>
          <p:nvPr/>
        </p:nvSpPr>
        <p:spPr>
          <a:xfrm>
            <a:off x="4798796" y="4441243"/>
            <a:ext cx="5655715" cy="707886"/>
          </a:xfrm>
          <a:prstGeom prst="rect">
            <a:avLst/>
          </a:prstGeom>
          <a:noFill/>
        </p:spPr>
        <p:txBody>
          <a:bodyPr wrap="none" rtlCol="0">
            <a:spAutoFit/>
          </a:bodyPr>
          <a:lstStyle/>
          <a:p>
            <a:r>
              <a:rPr lang="ja-JP" altLang="en-US" sz="2000" b="1" dirty="0">
                <a:solidFill>
                  <a:srgbClr val="FF0000"/>
                </a:solidFill>
              </a:rPr>
              <a:t>■注意</a:t>
            </a:r>
            <a:endParaRPr lang="en-US" altLang="ja-JP" sz="2000" b="1" dirty="0">
              <a:solidFill>
                <a:srgbClr val="FF0000"/>
              </a:solidFill>
            </a:endParaRPr>
          </a:p>
          <a:p>
            <a:r>
              <a:rPr lang="ja-JP" altLang="en-US" sz="2000" dirty="0"/>
              <a:t>既に</a:t>
            </a:r>
            <a:r>
              <a:rPr lang="en-US" altLang="ja-JP" sz="2000" dirty="0"/>
              <a:t>Push</a:t>
            </a:r>
            <a:r>
              <a:rPr lang="ja-JP" altLang="en-US" sz="2000" dirty="0"/>
              <a:t>されているファイルは無視されません</a:t>
            </a:r>
            <a:endParaRPr lang="en-US" altLang="ja-JP" sz="2000" dirty="0"/>
          </a:p>
        </p:txBody>
      </p:sp>
    </p:spTree>
    <p:extLst>
      <p:ext uri="{BB962C8B-B14F-4D97-AF65-F5344CB8AC3E}">
        <p14:creationId xmlns:p14="http://schemas.microsoft.com/office/powerpoint/2010/main" val="13810141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706464" cy="584775"/>
          </a:xfrm>
          <a:prstGeom prst="rect">
            <a:avLst/>
          </a:prstGeom>
          <a:noFill/>
        </p:spPr>
        <p:txBody>
          <a:bodyPr wrap="none" rtlCol="0">
            <a:spAutoFit/>
          </a:bodyPr>
          <a:lstStyle/>
          <a:p>
            <a:r>
              <a:rPr kumimoji="1" lang="en-US" altLang="ja-JP" sz="3200" b="1" u="sng" dirty="0"/>
              <a:t>.</a:t>
            </a:r>
            <a:r>
              <a:rPr kumimoji="1" lang="en-US" altLang="ja-JP" sz="3200" b="1" u="sng" dirty="0" err="1"/>
              <a:t>gitignore</a:t>
            </a:r>
            <a:r>
              <a:rPr kumimoji="1" lang="ja-JP" altLang="en-US" sz="3200" b="1" u="sng" dirty="0"/>
              <a:t>ファイル</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546203" cy="1938992"/>
          </a:xfrm>
          <a:prstGeom prst="rect">
            <a:avLst/>
          </a:prstGeom>
          <a:noFill/>
        </p:spPr>
        <p:txBody>
          <a:bodyPr wrap="none" rtlCol="0">
            <a:spAutoFit/>
          </a:bodyPr>
          <a:lstStyle/>
          <a:p>
            <a:r>
              <a:rPr lang="en-US" altLang="ja-JP" sz="2400" dirty="0"/>
              <a:t>.</a:t>
            </a:r>
            <a:r>
              <a:rPr lang="en-US" altLang="ja-JP" sz="2400" dirty="0" err="1"/>
              <a:t>gitignore</a:t>
            </a:r>
            <a:r>
              <a:rPr lang="ja-JP" altLang="en-US" sz="2400" dirty="0"/>
              <a:t>は生成ツールを使うと簡単に設定できます。</a:t>
            </a:r>
            <a:endParaRPr lang="en-US" altLang="ja-JP" sz="2400" dirty="0"/>
          </a:p>
          <a:p>
            <a:r>
              <a:rPr lang="ja-JP" altLang="en-US" sz="2400" dirty="0"/>
              <a:t>以下のリンクからアクセスできます。</a:t>
            </a:r>
            <a:endParaRPr lang="en-US" altLang="ja-JP" sz="2400" dirty="0"/>
          </a:p>
          <a:p>
            <a:endParaRPr lang="en-US" altLang="ja-JP" sz="2400" dirty="0"/>
          </a:p>
          <a:p>
            <a:r>
              <a:rPr lang="ja-JP" altLang="en-US" sz="2400" b="1" dirty="0">
                <a:solidFill>
                  <a:srgbClr val="FF0000"/>
                </a:solidFill>
              </a:rPr>
              <a:t>■</a:t>
            </a:r>
            <a:r>
              <a:rPr lang="en-US" altLang="ja-JP" sz="2400" b="1" dirty="0">
                <a:solidFill>
                  <a:srgbClr val="FF0000"/>
                </a:solidFill>
              </a:rPr>
              <a:t>.</a:t>
            </a:r>
            <a:r>
              <a:rPr lang="en-US" altLang="ja-JP" sz="2400" b="1" dirty="0" err="1">
                <a:solidFill>
                  <a:srgbClr val="FF0000"/>
                </a:solidFill>
              </a:rPr>
              <a:t>gitignore</a:t>
            </a:r>
            <a:r>
              <a:rPr lang="ja-JP" altLang="en-US" sz="2400" b="1" dirty="0">
                <a:solidFill>
                  <a:srgbClr val="FF0000"/>
                </a:solidFill>
              </a:rPr>
              <a:t>生成ツール</a:t>
            </a:r>
            <a:endParaRPr lang="en-US" altLang="ja-JP" sz="2400" b="1" dirty="0">
              <a:solidFill>
                <a:srgbClr val="FF0000"/>
              </a:solidFill>
            </a:endParaRPr>
          </a:p>
          <a:p>
            <a:r>
              <a:rPr lang="en-US" altLang="ja-JP" sz="2400" dirty="0">
                <a:hlinkClick r:id="rId2"/>
              </a:rPr>
              <a:t>gitignore.io - </a:t>
            </a:r>
            <a:r>
              <a:rPr lang="ja-JP" altLang="en-US" sz="2400" dirty="0">
                <a:hlinkClick r:id="rId2"/>
              </a:rPr>
              <a:t>プロジェクトに役立つ</a:t>
            </a:r>
            <a:r>
              <a:rPr lang="en-US" altLang="ja-JP" sz="2400" dirty="0">
                <a:hlinkClick r:id="rId2"/>
              </a:rPr>
              <a:t>.</a:t>
            </a:r>
            <a:r>
              <a:rPr lang="en-US" altLang="ja-JP" sz="2400" dirty="0" err="1">
                <a:hlinkClick r:id="rId2"/>
              </a:rPr>
              <a:t>gitignore</a:t>
            </a:r>
            <a:r>
              <a:rPr lang="ja-JP" altLang="en-US" sz="2400" dirty="0">
                <a:hlinkClick r:id="rId2"/>
              </a:rPr>
              <a:t>ファイルを作成しよう</a:t>
            </a:r>
            <a:endParaRPr lang="en-US" altLang="ja-JP" sz="2400" dirty="0"/>
          </a:p>
        </p:txBody>
      </p:sp>
    </p:spTree>
    <p:extLst>
      <p:ext uri="{BB962C8B-B14F-4D97-AF65-F5344CB8AC3E}">
        <p14:creationId xmlns:p14="http://schemas.microsoft.com/office/powerpoint/2010/main" val="27632964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706464" cy="584775"/>
          </a:xfrm>
          <a:prstGeom prst="rect">
            <a:avLst/>
          </a:prstGeom>
          <a:noFill/>
        </p:spPr>
        <p:txBody>
          <a:bodyPr wrap="none" rtlCol="0">
            <a:spAutoFit/>
          </a:bodyPr>
          <a:lstStyle/>
          <a:p>
            <a:r>
              <a:rPr kumimoji="1" lang="en-US" altLang="ja-JP" sz="3200" b="1" u="sng" dirty="0"/>
              <a:t>.</a:t>
            </a:r>
            <a:r>
              <a:rPr kumimoji="1" lang="en-US" altLang="ja-JP" sz="3200" b="1" u="sng" dirty="0" err="1"/>
              <a:t>gitignore</a:t>
            </a:r>
            <a:r>
              <a:rPr kumimoji="1" lang="ja-JP" altLang="en-US" sz="3200" b="1" u="sng" dirty="0"/>
              <a:t>ファイル</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494633" cy="461665"/>
          </a:xfrm>
          <a:prstGeom prst="rect">
            <a:avLst/>
          </a:prstGeom>
          <a:noFill/>
        </p:spPr>
        <p:txBody>
          <a:bodyPr wrap="none" rtlCol="0">
            <a:spAutoFit/>
          </a:bodyPr>
          <a:lstStyle/>
          <a:p>
            <a:r>
              <a:rPr lang="ja-JP" altLang="en-US" sz="2400" dirty="0"/>
              <a:t>プロジェクトで使用するツールや言語を追加していきます。</a:t>
            </a:r>
            <a:endParaRPr lang="en-US" altLang="ja-JP" sz="2400" dirty="0"/>
          </a:p>
        </p:txBody>
      </p:sp>
      <p:pic>
        <p:nvPicPr>
          <p:cNvPr id="3" name="図 2">
            <a:extLst>
              <a:ext uri="{FF2B5EF4-FFF2-40B4-BE49-F238E27FC236}">
                <a16:creationId xmlns:a16="http://schemas.microsoft.com/office/drawing/2014/main" id="{9CFA1867-19E2-4CA3-B5DC-93E7C93A6D1A}"/>
              </a:ext>
            </a:extLst>
          </p:cNvPr>
          <p:cNvPicPr>
            <a:picLocks noChangeAspect="1"/>
          </p:cNvPicPr>
          <p:nvPr/>
        </p:nvPicPr>
        <p:blipFill>
          <a:blip r:embed="rId2"/>
          <a:stretch>
            <a:fillRect/>
          </a:stretch>
        </p:blipFill>
        <p:spPr>
          <a:xfrm>
            <a:off x="567541" y="1817794"/>
            <a:ext cx="9494675" cy="3749288"/>
          </a:xfrm>
          <a:prstGeom prst="rect">
            <a:avLst/>
          </a:prstGeom>
        </p:spPr>
      </p:pic>
    </p:spTree>
    <p:extLst>
      <p:ext uri="{BB962C8B-B14F-4D97-AF65-F5344CB8AC3E}">
        <p14:creationId xmlns:p14="http://schemas.microsoft.com/office/powerpoint/2010/main" val="3124585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706464" cy="584775"/>
          </a:xfrm>
          <a:prstGeom prst="rect">
            <a:avLst/>
          </a:prstGeom>
          <a:noFill/>
        </p:spPr>
        <p:txBody>
          <a:bodyPr wrap="none" rtlCol="0">
            <a:spAutoFit/>
          </a:bodyPr>
          <a:lstStyle/>
          <a:p>
            <a:r>
              <a:rPr kumimoji="1" lang="en-US" altLang="ja-JP" sz="3200" b="1" u="sng" dirty="0"/>
              <a:t>.</a:t>
            </a:r>
            <a:r>
              <a:rPr kumimoji="1" lang="en-US" altLang="ja-JP" sz="3200" b="1" u="sng" dirty="0" err="1"/>
              <a:t>gitignore</a:t>
            </a:r>
            <a:r>
              <a:rPr kumimoji="1" lang="ja-JP" altLang="en-US" sz="3200" b="1" u="sng" dirty="0"/>
              <a:t>ファイル</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331401" cy="830997"/>
          </a:xfrm>
          <a:prstGeom prst="rect">
            <a:avLst/>
          </a:prstGeom>
          <a:noFill/>
        </p:spPr>
        <p:txBody>
          <a:bodyPr wrap="none" rtlCol="0">
            <a:spAutoFit/>
          </a:bodyPr>
          <a:lstStyle/>
          <a:p>
            <a:r>
              <a:rPr lang="ja-JP" altLang="en-US" sz="2400" dirty="0"/>
              <a:t>作成されたテキストをそのまま</a:t>
            </a:r>
            <a:r>
              <a:rPr lang="en-US" altLang="ja-JP" sz="2400" dirty="0"/>
              <a:t>.</a:t>
            </a:r>
            <a:r>
              <a:rPr lang="en-US" altLang="ja-JP" sz="2400" dirty="0" err="1"/>
              <a:t>gitignore</a:t>
            </a:r>
            <a:r>
              <a:rPr lang="ja-JP" altLang="en-US" sz="2400" dirty="0"/>
              <a:t>にコピペすれば</a:t>
            </a:r>
            <a:r>
              <a:rPr lang="en-US" altLang="ja-JP" sz="2400" dirty="0"/>
              <a:t>OK</a:t>
            </a:r>
            <a:r>
              <a:rPr lang="ja-JP" altLang="en-US" sz="2400" dirty="0"/>
              <a:t>です。</a:t>
            </a:r>
            <a:endParaRPr lang="en-US" altLang="ja-JP" sz="2400" dirty="0"/>
          </a:p>
          <a:p>
            <a:r>
              <a:rPr lang="ja-JP" altLang="en-US" sz="2400" dirty="0"/>
              <a:t>リーダーは</a:t>
            </a:r>
            <a:r>
              <a:rPr lang="en-US" altLang="ja-JP" sz="2400" dirty="0"/>
              <a:t>Push</a:t>
            </a:r>
            <a:r>
              <a:rPr lang="ja-JP" altLang="en-US" sz="2400" dirty="0"/>
              <a:t>しておきましょう。</a:t>
            </a:r>
            <a:endParaRPr lang="en-US" altLang="ja-JP" sz="2400" dirty="0"/>
          </a:p>
        </p:txBody>
      </p:sp>
      <p:pic>
        <p:nvPicPr>
          <p:cNvPr id="5" name="図 4">
            <a:extLst>
              <a:ext uri="{FF2B5EF4-FFF2-40B4-BE49-F238E27FC236}">
                <a16:creationId xmlns:a16="http://schemas.microsoft.com/office/drawing/2014/main" id="{5E6A2EAF-05D4-42FD-AAA3-8AC5F624FF95}"/>
              </a:ext>
            </a:extLst>
          </p:cNvPr>
          <p:cNvPicPr>
            <a:picLocks noChangeAspect="1"/>
          </p:cNvPicPr>
          <p:nvPr/>
        </p:nvPicPr>
        <p:blipFill>
          <a:blip r:embed="rId2"/>
          <a:stretch>
            <a:fillRect/>
          </a:stretch>
        </p:blipFill>
        <p:spPr>
          <a:xfrm>
            <a:off x="567542" y="2187126"/>
            <a:ext cx="4676811" cy="4415103"/>
          </a:xfrm>
          <a:prstGeom prst="rect">
            <a:avLst/>
          </a:prstGeom>
        </p:spPr>
      </p:pic>
    </p:spTree>
    <p:extLst>
      <p:ext uri="{BB962C8B-B14F-4D97-AF65-F5344CB8AC3E}">
        <p14:creationId xmlns:p14="http://schemas.microsoft.com/office/powerpoint/2010/main" val="4111069997"/>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587</TotalTime>
  <Words>374</Words>
  <Application>Microsoft Office PowerPoint</Application>
  <PresentationFormat>ワイド画面</PresentationFormat>
  <Paragraphs>50</Paragraphs>
  <Slides>8</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8</vt:i4>
      </vt:variant>
    </vt:vector>
  </HeadingPairs>
  <TitlesOfParts>
    <vt:vector size="12" baseType="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北九州校　ゲーム</dc:creator>
  <cp:lastModifiedBy>北九州校　ゲーム</cp:lastModifiedBy>
  <cp:revision>57</cp:revision>
  <dcterms:created xsi:type="dcterms:W3CDTF">2024-08-27T02:15:54Z</dcterms:created>
  <dcterms:modified xsi:type="dcterms:W3CDTF">2025-01-16T03:36:58Z</dcterms:modified>
</cp:coreProperties>
</file>