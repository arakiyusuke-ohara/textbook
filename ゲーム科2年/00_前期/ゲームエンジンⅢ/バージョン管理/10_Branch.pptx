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Branch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FF0000"/>
                </a:solidFill>
              </a:rPr>
              <a:t>Branch</a:t>
            </a:r>
            <a:r>
              <a:rPr lang="ja-JP" altLang="en-US" sz="2400" dirty="0"/>
              <a:t>という、</a:t>
            </a:r>
            <a:r>
              <a:rPr lang="ja-JP" altLang="en-US" sz="2400" b="1" dirty="0">
                <a:solidFill>
                  <a:srgbClr val="FF0000"/>
                </a:solidFill>
              </a:rPr>
              <a:t>バージョンを枝分かれさせる機能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r>
              <a:rPr lang="ja-JP" altLang="en-US" sz="2400" dirty="0"/>
              <a:t>使いこなすと、より</a:t>
            </a:r>
            <a:r>
              <a:rPr lang="ja-JP" altLang="en-US" sz="2400" b="1" dirty="0">
                <a:solidFill>
                  <a:srgbClr val="FF0000"/>
                </a:solidFill>
              </a:rPr>
              <a:t>安全</a:t>
            </a:r>
            <a:r>
              <a:rPr lang="ja-JP" altLang="en-US" sz="2400" dirty="0"/>
              <a:t>にプロジェクトを運用することができます。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182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Branch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0909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Branch</a:t>
            </a:r>
            <a:r>
              <a:rPr lang="ja-JP" altLang="en-US" sz="2400" dirty="0"/>
              <a:t>は現状のリポジトリの状態の</a:t>
            </a:r>
            <a:r>
              <a:rPr lang="ja-JP" altLang="en-US" sz="2400" b="1" dirty="0">
                <a:solidFill>
                  <a:srgbClr val="FF0000"/>
                </a:solidFill>
              </a:rPr>
              <a:t>コピーを作り枝分かれ</a:t>
            </a:r>
            <a:r>
              <a:rPr lang="ja-JP" altLang="en-US" sz="2400" dirty="0"/>
              <a:t>させます。</a:t>
            </a:r>
            <a:endParaRPr lang="en-US" altLang="ja-JP" sz="2400" dirty="0"/>
          </a:p>
          <a:p>
            <a:r>
              <a:rPr lang="ja-JP" altLang="en-US" sz="2400" dirty="0"/>
              <a:t>別れた部分で追加の作業を行います。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■イメージ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60EED2E0-BDB6-42F9-9526-7206D7F5710A}"/>
              </a:ext>
            </a:extLst>
          </p:cNvPr>
          <p:cNvSpPr/>
          <p:nvPr/>
        </p:nvSpPr>
        <p:spPr>
          <a:xfrm>
            <a:off x="1151973" y="3562880"/>
            <a:ext cx="582706" cy="5847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DCDB7BB-1CFA-4EDF-A6CC-7F990E3E6842}"/>
              </a:ext>
            </a:extLst>
          </p:cNvPr>
          <p:cNvSpPr txBox="1"/>
          <p:nvPr/>
        </p:nvSpPr>
        <p:spPr>
          <a:xfrm>
            <a:off x="325071" y="3059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Player</a:t>
            </a:r>
            <a:r>
              <a:rPr lang="ja-JP" altLang="en-US" dirty="0"/>
              <a:t>まで実装済み</a:t>
            </a:r>
            <a:endParaRPr lang="en-US" altLang="ja-JP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1B1C313-0B8A-4C26-A028-256131288CB6}"/>
              </a:ext>
            </a:extLst>
          </p:cNvPr>
          <p:cNvSpPr/>
          <p:nvPr/>
        </p:nvSpPr>
        <p:spPr>
          <a:xfrm>
            <a:off x="2561581" y="4769028"/>
            <a:ext cx="582706" cy="5847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AA5F4E2-F901-4651-94E1-A8E36E8886A8}"/>
              </a:ext>
            </a:extLst>
          </p:cNvPr>
          <p:cNvSpPr txBox="1"/>
          <p:nvPr/>
        </p:nvSpPr>
        <p:spPr>
          <a:xfrm>
            <a:off x="1443326" y="5487683"/>
            <a:ext cx="2885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Bullet</a:t>
            </a:r>
            <a:r>
              <a:rPr lang="ja-JP" altLang="en-US" dirty="0"/>
              <a:t>を作業するブランチ</a:t>
            </a:r>
            <a:endParaRPr lang="en-US" altLang="ja-JP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A16757AB-061D-4047-BB6E-3D746A8D682F}"/>
              </a:ext>
            </a:extLst>
          </p:cNvPr>
          <p:cNvCxnSpPr>
            <a:stCxn id="2" idx="5"/>
            <a:endCxn id="7" idx="1"/>
          </p:cNvCxnSpPr>
          <p:nvPr/>
        </p:nvCxnSpPr>
        <p:spPr>
          <a:xfrm>
            <a:off x="1649344" y="4062017"/>
            <a:ext cx="997572" cy="792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76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Branch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733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そして作業が終わった段階で元のリポジトリに</a:t>
            </a:r>
            <a:r>
              <a:rPr lang="en-US" altLang="ja-JP" sz="2400" b="1" dirty="0">
                <a:solidFill>
                  <a:srgbClr val="FF0000"/>
                </a:solidFill>
              </a:rPr>
              <a:t>Merge</a:t>
            </a:r>
            <a:r>
              <a:rPr lang="ja-JP" altLang="en-US" sz="2400" b="1" dirty="0">
                <a:solidFill>
                  <a:srgbClr val="FF0000"/>
                </a:solidFill>
              </a:rPr>
              <a:t>（合流）</a:t>
            </a:r>
            <a:r>
              <a:rPr lang="ja-JP" altLang="en-US" sz="2400" dirty="0"/>
              <a:t>させます。</a:t>
            </a:r>
            <a:endParaRPr lang="en-US" altLang="ja-JP" sz="2400" dirty="0"/>
          </a:p>
          <a:p>
            <a:r>
              <a:rPr lang="ja-JP" altLang="en-US" sz="2400" dirty="0"/>
              <a:t>これにより、タスクごとに部分分けした作業が可能になります。</a:t>
            </a:r>
            <a:endParaRPr lang="en-US" altLang="ja-JP" sz="2400" dirty="0"/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■イメージ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60EED2E0-BDB6-42F9-9526-7206D7F5710A}"/>
              </a:ext>
            </a:extLst>
          </p:cNvPr>
          <p:cNvSpPr/>
          <p:nvPr/>
        </p:nvSpPr>
        <p:spPr>
          <a:xfrm>
            <a:off x="1151973" y="3562880"/>
            <a:ext cx="582706" cy="5847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DCDB7BB-1CFA-4EDF-A6CC-7F990E3E6842}"/>
              </a:ext>
            </a:extLst>
          </p:cNvPr>
          <p:cNvSpPr txBox="1"/>
          <p:nvPr/>
        </p:nvSpPr>
        <p:spPr>
          <a:xfrm>
            <a:off x="325071" y="3059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Player</a:t>
            </a:r>
            <a:r>
              <a:rPr lang="ja-JP" altLang="en-US" dirty="0"/>
              <a:t>まで実装済み</a:t>
            </a:r>
            <a:endParaRPr lang="en-US" altLang="ja-JP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1B1C313-0B8A-4C26-A028-256131288CB6}"/>
              </a:ext>
            </a:extLst>
          </p:cNvPr>
          <p:cNvSpPr/>
          <p:nvPr/>
        </p:nvSpPr>
        <p:spPr>
          <a:xfrm>
            <a:off x="2561581" y="4769028"/>
            <a:ext cx="582706" cy="5847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A16757AB-061D-4047-BB6E-3D746A8D682F}"/>
              </a:ext>
            </a:extLst>
          </p:cNvPr>
          <p:cNvCxnSpPr>
            <a:stCxn id="2" idx="5"/>
            <a:endCxn id="7" idx="1"/>
          </p:cNvCxnSpPr>
          <p:nvPr/>
        </p:nvCxnSpPr>
        <p:spPr>
          <a:xfrm>
            <a:off x="1649344" y="4062017"/>
            <a:ext cx="997572" cy="792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F81CEE17-90E8-4473-9C22-5A2785D0FA94}"/>
              </a:ext>
            </a:extLst>
          </p:cNvPr>
          <p:cNvSpPr/>
          <p:nvPr/>
        </p:nvSpPr>
        <p:spPr>
          <a:xfrm>
            <a:off x="5439251" y="4769028"/>
            <a:ext cx="582706" cy="5847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E9BE92E-074E-4983-A050-EA75A0F30BD2}"/>
              </a:ext>
            </a:extLst>
          </p:cNvPr>
          <p:cNvSpPr txBox="1"/>
          <p:nvPr/>
        </p:nvSpPr>
        <p:spPr>
          <a:xfrm>
            <a:off x="4749405" y="5487683"/>
            <a:ext cx="1962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Bullet</a:t>
            </a:r>
            <a:r>
              <a:rPr lang="ja-JP" altLang="en-US" dirty="0"/>
              <a:t>を作業完了</a:t>
            </a:r>
            <a:endParaRPr lang="en-US" altLang="ja-JP" dirty="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61C9745-A52D-4844-88AA-14469D5EF4DC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3144287" y="5061416"/>
            <a:ext cx="22949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10308265-F70A-4350-8925-21195C9665F2}"/>
              </a:ext>
            </a:extLst>
          </p:cNvPr>
          <p:cNvSpPr/>
          <p:nvPr/>
        </p:nvSpPr>
        <p:spPr>
          <a:xfrm>
            <a:off x="7230044" y="3562880"/>
            <a:ext cx="582706" cy="58477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50BBBFE-1914-47A3-B503-741D4D95EEA8}"/>
              </a:ext>
            </a:extLst>
          </p:cNvPr>
          <p:cNvCxnSpPr>
            <a:cxnSpLocks/>
            <a:stCxn id="2" idx="6"/>
            <a:endCxn id="14" idx="2"/>
          </p:cNvCxnSpPr>
          <p:nvPr/>
        </p:nvCxnSpPr>
        <p:spPr>
          <a:xfrm>
            <a:off x="1734679" y="3855268"/>
            <a:ext cx="54953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23287B6-DAC9-4D23-AEE1-AE098273EEB5}"/>
              </a:ext>
            </a:extLst>
          </p:cNvPr>
          <p:cNvCxnSpPr>
            <a:cxnSpLocks/>
            <a:stCxn id="11" idx="6"/>
            <a:endCxn id="14" idx="3"/>
          </p:cNvCxnSpPr>
          <p:nvPr/>
        </p:nvCxnSpPr>
        <p:spPr>
          <a:xfrm flipV="1">
            <a:off x="6021957" y="4062017"/>
            <a:ext cx="1293422" cy="9993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BE18461-FE16-49C6-AC11-EF6DC8D81AA7}"/>
              </a:ext>
            </a:extLst>
          </p:cNvPr>
          <p:cNvSpPr txBox="1"/>
          <p:nvPr/>
        </p:nvSpPr>
        <p:spPr>
          <a:xfrm>
            <a:off x="6206774" y="3059668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Player</a:t>
            </a:r>
            <a:r>
              <a:rPr lang="ja-JP" altLang="en-US" dirty="0"/>
              <a:t>と</a:t>
            </a:r>
            <a:r>
              <a:rPr lang="en-US" altLang="ja-JP" dirty="0"/>
              <a:t>Bullet</a:t>
            </a:r>
            <a:r>
              <a:rPr lang="ja-JP" altLang="en-US" dirty="0"/>
              <a:t>実装済み</a:t>
            </a:r>
            <a:endParaRPr lang="en-US" altLang="ja-JP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62E2D1F-1399-4425-92B2-AD1E23971750}"/>
              </a:ext>
            </a:extLst>
          </p:cNvPr>
          <p:cNvSpPr txBox="1"/>
          <p:nvPr/>
        </p:nvSpPr>
        <p:spPr>
          <a:xfrm>
            <a:off x="1443326" y="5487683"/>
            <a:ext cx="2885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Bullet</a:t>
            </a:r>
            <a:r>
              <a:rPr lang="ja-JP" altLang="en-US" dirty="0"/>
              <a:t>を作業するブランチ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74385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Branch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ブランチを使った運用には以下のようなメリットがあります。</a:t>
            </a:r>
            <a:endParaRPr lang="en-US" altLang="ja-JP" sz="2400" dirty="0"/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■メリット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・作業前の状態が残る</a:t>
            </a:r>
            <a:endParaRPr lang="en-US" altLang="ja-JP" sz="2400" dirty="0"/>
          </a:p>
          <a:p>
            <a:r>
              <a:rPr lang="ja-JP" altLang="en-US" sz="2400" dirty="0"/>
              <a:t>　・バックアップ代わりになる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・実装を延期したり、中止したときの対応が簡単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Merge</a:t>
            </a:r>
            <a:r>
              <a:rPr lang="ja-JP" altLang="en-US" sz="2400" dirty="0"/>
              <a:t>しなければ大元には実装されない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・気軽に実験したり試したりできる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Merge</a:t>
            </a:r>
            <a:r>
              <a:rPr lang="ja-JP" altLang="en-US" sz="2400" dirty="0"/>
              <a:t>しなければ大元には実装されない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・よりタスクごとに明確に分けて作業できる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694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Branch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7212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誰かひとりが作業してください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en-US" altLang="ja-JP" sz="2400" dirty="0"/>
              <a:t>Branch</a:t>
            </a:r>
            <a:r>
              <a:rPr lang="ja-JP" altLang="en-US" sz="2400" dirty="0"/>
              <a:t>を作ります。</a:t>
            </a:r>
            <a:endParaRPr lang="en-US" altLang="ja-JP" sz="2400" dirty="0"/>
          </a:p>
          <a:p>
            <a:r>
              <a:rPr lang="ja-JP" altLang="en-US" sz="2400" dirty="0"/>
              <a:t>大元のフォルダを右クリックし、「</a:t>
            </a:r>
            <a:r>
              <a:rPr lang="en-US" altLang="ja-JP" sz="2400" b="1" dirty="0">
                <a:solidFill>
                  <a:srgbClr val="FF0000"/>
                </a:solidFill>
              </a:rPr>
              <a:t>Tortoise Git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Create Branch</a:t>
            </a:r>
            <a:r>
              <a:rPr lang="ja-JP" altLang="en-US" sz="2400" dirty="0"/>
              <a:t>」を</a:t>
            </a:r>
            <a:endParaRPr lang="en-US" altLang="ja-JP" sz="2400" dirty="0"/>
          </a:p>
          <a:p>
            <a:r>
              <a:rPr lang="ja-JP" altLang="en-US" sz="2400" dirty="0"/>
              <a:t>選択しましょう。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0AC4996-F319-48CB-821A-F3B01A4B5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1"/>
            <a:ext cx="6488106" cy="3213255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F8CC64E1-ACF0-4473-B225-0E5B22C42EDC}"/>
              </a:ext>
            </a:extLst>
          </p:cNvPr>
          <p:cNvSpPr/>
          <p:nvPr/>
        </p:nvSpPr>
        <p:spPr>
          <a:xfrm rot="13676965">
            <a:off x="5396752" y="5611907"/>
            <a:ext cx="349623" cy="24204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7546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Branch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04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Branch</a:t>
            </a:r>
            <a:r>
              <a:rPr lang="ja-JP" altLang="en-US" sz="2400" dirty="0"/>
              <a:t>名を入力して、</a:t>
            </a:r>
            <a:r>
              <a:rPr lang="en-US" altLang="ja-JP" sz="2400" dirty="0"/>
              <a:t>Switch to new branch </a:t>
            </a:r>
            <a:r>
              <a:rPr lang="ja-JP" altLang="en-US" sz="2400" dirty="0"/>
              <a:t>にチェックを入れましょう。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4904610-7160-4120-927A-07135F4B7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937666" cy="4548252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DCE2648B-1BE0-4046-8777-8BB6E12AAF25}"/>
              </a:ext>
            </a:extLst>
          </p:cNvPr>
          <p:cNvSpPr/>
          <p:nvPr/>
        </p:nvSpPr>
        <p:spPr>
          <a:xfrm rot="13676965">
            <a:off x="2617693" y="2366683"/>
            <a:ext cx="349623" cy="24204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5A9E2D8A-91EB-4C32-BCFA-743EF958C41A}"/>
              </a:ext>
            </a:extLst>
          </p:cNvPr>
          <p:cNvSpPr/>
          <p:nvPr/>
        </p:nvSpPr>
        <p:spPr>
          <a:xfrm rot="13676965">
            <a:off x="3935504" y="4840942"/>
            <a:ext cx="349623" cy="24204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711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Branch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見た目は変わりませんが、ブランチが作成され切り替わりました。</a:t>
            </a:r>
            <a:endParaRPr lang="en-US" altLang="ja-JP" sz="2400" dirty="0"/>
          </a:p>
          <a:p>
            <a:r>
              <a:rPr lang="ja-JP" altLang="en-US" sz="2400" dirty="0"/>
              <a:t>コミットの項目が変わっているので確認してみましょう。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3537C9F-8096-4676-9990-158C2BD2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281816" cy="184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72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Branch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116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Push</a:t>
            </a:r>
            <a:r>
              <a:rPr lang="ja-JP" altLang="en-US" sz="2400" dirty="0"/>
              <a:t>することにより</a:t>
            </a:r>
            <a:r>
              <a:rPr lang="en-US" altLang="ja-JP" sz="2400" dirty="0"/>
              <a:t>Branch</a:t>
            </a:r>
            <a:r>
              <a:rPr lang="ja-JP" altLang="en-US" sz="2400" dirty="0"/>
              <a:t>をリポジトリに保存することができます。</a:t>
            </a:r>
            <a:endParaRPr lang="en-US" altLang="ja-JP" sz="2400" dirty="0"/>
          </a:p>
          <a:p>
            <a:r>
              <a:rPr lang="en-US" altLang="ja-JP" sz="2400" dirty="0"/>
              <a:t>Push</a:t>
            </a:r>
            <a:r>
              <a:rPr lang="ja-JP" altLang="en-US" sz="2400" dirty="0"/>
              <a:t>して</a:t>
            </a:r>
            <a:r>
              <a:rPr lang="en-US" altLang="ja-JP" sz="2400" dirty="0"/>
              <a:t>Bitbucket</a:t>
            </a:r>
            <a:r>
              <a:rPr lang="ja-JP" altLang="en-US" sz="2400" dirty="0"/>
              <a:t>の</a:t>
            </a:r>
            <a:r>
              <a:rPr lang="en-US" altLang="ja-JP" sz="2400" dirty="0"/>
              <a:t>Branch</a:t>
            </a:r>
            <a:r>
              <a:rPr lang="ja-JP" altLang="en-US" sz="2400" dirty="0"/>
              <a:t>ページを確認しましょう。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F0489E9-9FE2-4AC1-88C2-90CF4F22D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7998506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14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287</Words>
  <Application>Microsoft Office PowerPoint</Application>
  <PresentationFormat>ワイド画面</PresentationFormat>
  <Paragraphs>47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72</cp:revision>
  <dcterms:created xsi:type="dcterms:W3CDTF">2024-08-27T02:15:54Z</dcterms:created>
  <dcterms:modified xsi:type="dcterms:W3CDTF">2025-01-17T03:30:04Z</dcterms:modified>
</cp:coreProperties>
</file>