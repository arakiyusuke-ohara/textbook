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5" d="100"/>
          <a:sy n="105" d="100"/>
        </p:scale>
        <p:origin x="7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cedil.cesa.or.jp/cedil_sessions/view/2936"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72902" cy="584775"/>
          </a:xfrm>
          <a:prstGeom prst="rect">
            <a:avLst/>
          </a:prstGeom>
          <a:noFill/>
        </p:spPr>
        <p:txBody>
          <a:bodyPr wrap="none" rtlCol="0">
            <a:spAutoFit/>
          </a:bodyPr>
          <a:lstStyle/>
          <a:p>
            <a:r>
              <a:rPr lang="en-US" altLang="ja-JP" sz="3200" b="1" u="sng" dirty="0"/>
              <a:t>HD</a:t>
            </a:r>
            <a:r>
              <a:rPr lang="ja-JP" altLang="en-US" sz="3200" b="1" u="sng" dirty="0"/>
              <a:t>ゲーム制作</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74920" cy="5262979"/>
          </a:xfrm>
          <a:prstGeom prst="rect">
            <a:avLst/>
          </a:prstGeom>
          <a:noFill/>
        </p:spPr>
        <p:txBody>
          <a:bodyPr wrap="none" rtlCol="0">
            <a:spAutoFit/>
          </a:bodyPr>
          <a:lstStyle/>
          <a:p>
            <a:r>
              <a:rPr lang="ja-JP" altLang="en-US" sz="2400" dirty="0"/>
              <a:t>これまで学習した</a:t>
            </a:r>
            <a:r>
              <a:rPr lang="en-US" altLang="ja-JP" sz="2400" dirty="0"/>
              <a:t>HDRP</a:t>
            </a:r>
            <a:r>
              <a:rPr lang="ja-JP" altLang="en-US" sz="2400" dirty="0"/>
              <a:t>技術を使ってゲームを作りましょう。</a:t>
            </a:r>
            <a:endParaRPr lang="en-US" altLang="ja-JP" sz="2400" dirty="0"/>
          </a:p>
          <a:p>
            <a:endParaRPr lang="en-US" altLang="ja-JP" sz="2400" dirty="0"/>
          </a:p>
          <a:p>
            <a:r>
              <a:rPr lang="ja-JP" altLang="en-US" sz="2400" b="1" dirty="0">
                <a:solidFill>
                  <a:srgbClr val="FF0000"/>
                </a:solidFill>
              </a:rPr>
              <a:t>■注意点</a:t>
            </a:r>
            <a:endParaRPr lang="en-US" altLang="ja-JP" sz="2400" b="1" dirty="0">
              <a:solidFill>
                <a:srgbClr val="FF0000"/>
              </a:solidFill>
            </a:endParaRPr>
          </a:p>
          <a:p>
            <a:r>
              <a:rPr lang="ja-JP" altLang="en-US" sz="2400" dirty="0"/>
              <a:t>・必ず</a:t>
            </a:r>
            <a:r>
              <a:rPr lang="en-US" altLang="ja-JP" sz="2400" dirty="0"/>
              <a:t>HD</a:t>
            </a:r>
            <a:r>
              <a:rPr lang="ja-JP" altLang="en-US" sz="2400" dirty="0"/>
              <a:t>要素（レイトレなど）が使われていること</a:t>
            </a:r>
            <a:endParaRPr lang="en-US" altLang="ja-JP" sz="2400" dirty="0"/>
          </a:p>
          <a:p>
            <a:r>
              <a:rPr lang="ja-JP" altLang="en-US" sz="2400" dirty="0"/>
              <a:t>・ゲーム自体は簡単なもので良い</a:t>
            </a:r>
            <a:endParaRPr lang="en-US" altLang="ja-JP" sz="2400" dirty="0"/>
          </a:p>
          <a:p>
            <a:r>
              <a:rPr lang="ja-JP" altLang="en-US" sz="2400" dirty="0"/>
              <a:t>・評価はゲームの面白さよりも</a:t>
            </a:r>
            <a:endParaRPr lang="en-US" altLang="ja-JP" sz="2400" dirty="0"/>
          </a:p>
          <a:p>
            <a:r>
              <a:rPr lang="ja-JP" altLang="en-US" sz="2400" dirty="0"/>
              <a:t>　</a:t>
            </a:r>
            <a:r>
              <a:rPr lang="en-US" altLang="ja-JP" sz="2400" dirty="0"/>
              <a:t>HD</a:t>
            </a:r>
            <a:r>
              <a:rPr lang="ja-JP" altLang="en-US" sz="2400" dirty="0"/>
              <a:t>要素が的確かつ丁寧に実装されているかが最重要視される</a:t>
            </a:r>
            <a:endParaRPr lang="en-US" altLang="ja-JP" sz="2400" dirty="0"/>
          </a:p>
          <a:p>
            <a:r>
              <a:rPr lang="ja-JP" altLang="en-US" sz="2400" dirty="0"/>
              <a:t>　（最低限、遊べるようにはしてください）</a:t>
            </a:r>
            <a:endParaRPr lang="en-US" altLang="ja-JP" sz="2400" dirty="0"/>
          </a:p>
          <a:p>
            <a:endParaRPr lang="en-US" altLang="ja-JP" sz="2400" b="1" dirty="0">
              <a:solidFill>
                <a:srgbClr val="FF0000"/>
              </a:solidFill>
            </a:endParaRPr>
          </a:p>
          <a:p>
            <a:r>
              <a:rPr lang="ja-JP" altLang="en-US" sz="2400" b="1" dirty="0">
                <a:solidFill>
                  <a:srgbClr val="FF0000"/>
                </a:solidFill>
              </a:rPr>
              <a:t>■提出物</a:t>
            </a:r>
            <a:endParaRPr lang="en-US" altLang="ja-JP" sz="2400" b="1" dirty="0">
              <a:solidFill>
                <a:srgbClr val="FF0000"/>
              </a:solidFill>
            </a:endParaRPr>
          </a:p>
          <a:p>
            <a:r>
              <a:rPr lang="ja-JP" altLang="en-US" sz="2400" dirty="0"/>
              <a:t>・実行ファイル</a:t>
            </a:r>
            <a:endParaRPr lang="en-US" altLang="ja-JP" sz="2400" dirty="0"/>
          </a:p>
          <a:p>
            <a:r>
              <a:rPr lang="ja-JP" altLang="en-US" sz="2400" dirty="0"/>
              <a:t>・プロジェクト</a:t>
            </a:r>
            <a:endParaRPr lang="en-US" altLang="ja-JP" sz="2400" dirty="0"/>
          </a:p>
          <a:p>
            <a:r>
              <a:rPr lang="ja-JP" altLang="en-US" sz="2400" dirty="0"/>
              <a:t>・説明シート（要サンプル確認）</a:t>
            </a:r>
            <a:endParaRPr lang="en-US" altLang="ja-JP" sz="2400" dirty="0"/>
          </a:p>
          <a:p>
            <a:r>
              <a:rPr lang="ja-JP" altLang="en-US" sz="2400" dirty="0"/>
              <a:t>これらを圧縮して</a:t>
            </a:r>
            <a:r>
              <a:rPr lang="en-US" altLang="ja-JP" sz="2400" dirty="0" err="1"/>
              <a:t>Gigafilie</a:t>
            </a:r>
            <a:r>
              <a:rPr lang="ja-JP" altLang="en-US" sz="2400" dirty="0"/>
              <a:t>便リンクを</a:t>
            </a:r>
            <a:r>
              <a:rPr lang="en-US" altLang="ja-JP" sz="2400" dirty="0"/>
              <a:t>Teams</a:t>
            </a:r>
            <a:r>
              <a:rPr lang="ja-JP" altLang="en-US" sz="2400" dirty="0"/>
              <a:t>課題で提出すること</a:t>
            </a:r>
            <a:endParaRPr lang="en-US" altLang="ja-JP" sz="2400" dirty="0"/>
          </a:p>
        </p:txBody>
      </p:sp>
    </p:spTree>
    <p:extLst>
      <p:ext uri="{BB962C8B-B14F-4D97-AF65-F5344CB8AC3E}">
        <p14:creationId xmlns:p14="http://schemas.microsoft.com/office/powerpoint/2010/main" val="347995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72902" cy="584775"/>
          </a:xfrm>
          <a:prstGeom prst="rect">
            <a:avLst/>
          </a:prstGeom>
          <a:noFill/>
        </p:spPr>
        <p:txBody>
          <a:bodyPr wrap="none" rtlCol="0">
            <a:spAutoFit/>
          </a:bodyPr>
          <a:lstStyle/>
          <a:p>
            <a:r>
              <a:rPr lang="en-US" altLang="ja-JP" sz="3200" b="1" u="sng" dirty="0"/>
              <a:t>HD</a:t>
            </a:r>
            <a:r>
              <a:rPr lang="ja-JP" altLang="en-US" sz="3200" b="1" u="sng" dirty="0"/>
              <a:t>ゲーム制作</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4893647"/>
          </a:xfrm>
          <a:prstGeom prst="rect">
            <a:avLst/>
          </a:prstGeom>
          <a:noFill/>
        </p:spPr>
        <p:txBody>
          <a:bodyPr wrap="none" rtlCol="0">
            <a:spAutoFit/>
          </a:bodyPr>
          <a:lstStyle/>
          <a:p>
            <a:r>
              <a:rPr lang="ja-JP" altLang="en-US" sz="2400" dirty="0"/>
              <a:t>以下は例となります。参考にしてください。</a:t>
            </a:r>
            <a:endParaRPr lang="en-US" altLang="ja-JP" sz="2400" dirty="0"/>
          </a:p>
          <a:p>
            <a:endParaRPr lang="en-US" altLang="ja-JP" sz="2400" dirty="0"/>
          </a:p>
          <a:p>
            <a:r>
              <a:rPr lang="ja-JP" altLang="en-US" sz="2400" b="1" dirty="0">
                <a:solidFill>
                  <a:srgbClr val="FF0000"/>
                </a:solidFill>
              </a:rPr>
              <a:t>■例</a:t>
            </a:r>
            <a:endParaRPr lang="en-US" altLang="ja-JP" sz="2400" b="1" dirty="0">
              <a:solidFill>
                <a:srgbClr val="FF0000"/>
              </a:solidFill>
            </a:endParaRPr>
          </a:p>
          <a:p>
            <a:r>
              <a:rPr lang="ja-JP" altLang="en-US" sz="2400" dirty="0"/>
              <a:t>・ボールやバンパー、盤面などにレイトレーシングを使った、</a:t>
            </a:r>
            <a:endParaRPr lang="en-US" altLang="ja-JP" sz="2400" dirty="0"/>
          </a:p>
          <a:p>
            <a:r>
              <a:rPr lang="ja-JP" altLang="en-US" sz="2400" dirty="0"/>
              <a:t>　ピンボールまたはブロック崩し</a:t>
            </a:r>
            <a:endParaRPr lang="en-US" altLang="ja-JP" sz="2400" dirty="0"/>
          </a:p>
          <a:p>
            <a:endParaRPr lang="en-US" altLang="ja-JP" sz="2400" dirty="0"/>
          </a:p>
          <a:p>
            <a:r>
              <a:rPr lang="ja-JP" altLang="en-US" sz="2400" dirty="0"/>
              <a:t>・</a:t>
            </a:r>
            <a:r>
              <a:rPr lang="en-US" altLang="ja-JP" sz="2400" dirty="0"/>
              <a:t>Fog</a:t>
            </a:r>
            <a:r>
              <a:rPr lang="ja-JP" altLang="en-US" sz="2400" dirty="0"/>
              <a:t>を使った探索ホラーゲーム</a:t>
            </a:r>
            <a:endParaRPr lang="en-US" altLang="ja-JP" sz="2400" dirty="0"/>
          </a:p>
          <a:p>
            <a:r>
              <a:rPr lang="ja-JP" altLang="en-US" sz="2400" dirty="0"/>
              <a:t>　・この場合、極力丁寧に</a:t>
            </a:r>
            <a:r>
              <a:rPr lang="en-US" altLang="ja-JP" sz="2400" dirty="0"/>
              <a:t>Fog</a:t>
            </a:r>
            <a:r>
              <a:rPr lang="ja-JP" altLang="en-US" sz="2400" dirty="0"/>
              <a:t>を実装すること。</a:t>
            </a:r>
            <a:endParaRPr lang="en-US" altLang="ja-JP" sz="2400" dirty="0"/>
          </a:p>
          <a:p>
            <a:r>
              <a:rPr lang="ja-JP" altLang="en-US" sz="2400" dirty="0"/>
              <a:t>　　（何も見えなくて遊べないようでは</a:t>
            </a:r>
            <a:r>
              <a:rPr lang="en-US" altLang="ja-JP" sz="2400" dirty="0"/>
              <a:t>×</a:t>
            </a:r>
            <a:r>
              <a:rPr lang="ja-JP" altLang="en-US" sz="2400" dirty="0"/>
              <a:t>）</a:t>
            </a:r>
            <a:endParaRPr lang="en-US" altLang="ja-JP" sz="2400" dirty="0"/>
          </a:p>
          <a:p>
            <a:endParaRPr lang="en-US" altLang="ja-JP" sz="2400" dirty="0"/>
          </a:p>
          <a:p>
            <a:r>
              <a:rPr lang="ja-JP" altLang="en-US" sz="2400" dirty="0"/>
              <a:t>・足跡や弾痕がきれいに表示される</a:t>
            </a:r>
            <a:r>
              <a:rPr lang="en-US" altLang="ja-JP" sz="2400" dirty="0"/>
              <a:t>FPS</a:t>
            </a:r>
            <a:r>
              <a:rPr lang="ja-JP" altLang="en-US" sz="2400" dirty="0"/>
              <a:t>や</a:t>
            </a:r>
            <a:r>
              <a:rPr lang="en-US" altLang="ja-JP" sz="2400" dirty="0"/>
              <a:t>TPS</a:t>
            </a:r>
          </a:p>
          <a:p>
            <a:endParaRPr lang="en-US" altLang="ja-JP" sz="2400" dirty="0"/>
          </a:p>
          <a:p>
            <a:r>
              <a:rPr lang="en-US" altLang="ja-JP" sz="2400" b="1" dirty="0">
                <a:solidFill>
                  <a:srgbClr val="FF0000"/>
                </a:solidFill>
              </a:rPr>
              <a:t>※</a:t>
            </a:r>
            <a:r>
              <a:rPr lang="ja-JP" altLang="en-US" sz="2400" b="1" dirty="0">
                <a:solidFill>
                  <a:srgbClr val="FF0000"/>
                </a:solidFill>
              </a:rPr>
              <a:t>悩む場合はそのまま採用してもらって結構です</a:t>
            </a:r>
            <a:endParaRPr lang="en-US" altLang="ja-JP" sz="2400" b="1" dirty="0">
              <a:solidFill>
                <a:srgbClr val="FF0000"/>
              </a:solidFill>
            </a:endParaRPr>
          </a:p>
        </p:txBody>
      </p:sp>
    </p:spTree>
    <p:extLst>
      <p:ext uri="{BB962C8B-B14F-4D97-AF65-F5344CB8AC3E}">
        <p14:creationId xmlns:p14="http://schemas.microsoft.com/office/powerpoint/2010/main" val="1097026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lang="ja-JP" altLang="en-US" sz="3200" b="1" u="sng" dirty="0"/>
              <a:t>さいごに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69807" cy="3170099"/>
          </a:xfrm>
          <a:prstGeom prst="rect">
            <a:avLst/>
          </a:prstGeom>
          <a:noFill/>
        </p:spPr>
        <p:txBody>
          <a:bodyPr wrap="none" rtlCol="0">
            <a:spAutoFit/>
          </a:bodyPr>
          <a:lstStyle/>
          <a:p>
            <a:r>
              <a:rPr lang="ja-JP" altLang="en-US" sz="2400" dirty="0"/>
              <a:t>今回学んだこと以外でも</a:t>
            </a:r>
            <a:r>
              <a:rPr lang="en-US" altLang="ja-JP" sz="2400" dirty="0"/>
              <a:t>HD</a:t>
            </a:r>
            <a:r>
              <a:rPr lang="ja-JP" altLang="en-US" sz="2400" dirty="0"/>
              <a:t>技術はたくさんあります。</a:t>
            </a:r>
            <a:endParaRPr lang="en-US" altLang="ja-JP" sz="2400" dirty="0"/>
          </a:p>
          <a:p>
            <a:r>
              <a:rPr lang="ja-JP" altLang="en-US" sz="2400" dirty="0"/>
              <a:t>以下のリンクは実際のゲームの制作事例になりますので、</a:t>
            </a:r>
            <a:endParaRPr lang="en-US" altLang="ja-JP" sz="2400" dirty="0"/>
          </a:p>
          <a:p>
            <a:r>
              <a:rPr lang="ja-JP" altLang="en-US" sz="2400" dirty="0"/>
              <a:t>これまで学んだことを踏まえながら、時間がある時に見てみましょう。</a:t>
            </a:r>
            <a:endParaRPr lang="en-US" altLang="ja-JP" sz="2400" dirty="0"/>
          </a:p>
          <a:p>
            <a:endParaRPr lang="en-US" altLang="ja-JP" sz="2400" dirty="0"/>
          </a:p>
          <a:p>
            <a:r>
              <a:rPr lang="ja-JP" altLang="en-US" sz="2400" dirty="0"/>
              <a:t>■リンク</a:t>
            </a:r>
            <a:endParaRPr lang="en-US" altLang="ja-JP" sz="2400" dirty="0"/>
          </a:p>
          <a:p>
            <a:r>
              <a:rPr lang="ja-JP" altLang="en-US" sz="2000" dirty="0">
                <a:hlinkClick r:id="rId2"/>
              </a:rPr>
              <a:t>「学園アイドルマスター」におけるモバイルの性能を限界まで引き出すレンダリングパイプライン</a:t>
            </a:r>
            <a:endParaRPr lang="en-US" altLang="ja-JP" sz="2000" dirty="0"/>
          </a:p>
          <a:p>
            <a:r>
              <a:rPr lang="en-US" altLang="ja-JP" sz="2000" b="1" dirty="0">
                <a:solidFill>
                  <a:srgbClr val="FF0000"/>
                </a:solidFill>
              </a:rPr>
              <a:t>※</a:t>
            </a:r>
            <a:r>
              <a:rPr lang="ja-JP" altLang="en-US" sz="2000" b="1" dirty="0">
                <a:solidFill>
                  <a:srgbClr val="FF0000"/>
                </a:solidFill>
              </a:rPr>
              <a:t>講演資料のダウンロードには</a:t>
            </a:r>
            <a:r>
              <a:rPr lang="en-US" altLang="ja-JP" sz="2000" b="1" dirty="0">
                <a:solidFill>
                  <a:srgbClr val="FF0000"/>
                </a:solidFill>
              </a:rPr>
              <a:t>CEDIL</a:t>
            </a:r>
            <a:r>
              <a:rPr lang="ja-JP" altLang="en-US" sz="2000" b="1" dirty="0">
                <a:solidFill>
                  <a:srgbClr val="FF0000"/>
                </a:solidFill>
              </a:rPr>
              <a:t>アカウントが必要です（無料）</a:t>
            </a:r>
            <a:endParaRPr lang="en-US" altLang="ja-JP" sz="2000" b="1" dirty="0">
              <a:solidFill>
                <a:srgbClr val="FF0000"/>
              </a:solidFill>
            </a:endParaRPr>
          </a:p>
          <a:p>
            <a:r>
              <a:rPr lang="en-US" altLang="ja-JP" sz="2000" dirty="0"/>
              <a:t>※</a:t>
            </a:r>
            <a:r>
              <a:rPr lang="ja-JP" altLang="en-US" sz="2000" dirty="0"/>
              <a:t>ちょっと難しいかもしれないですが見る価値はあります。</a:t>
            </a:r>
            <a:endParaRPr lang="en-US" altLang="ja-JP" sz="2000" dirty="0"/>
          </a:p>
          <a:p>
            <a:r>
              <a:rPr lang="ja-JP" altLang="en-US" sz="2000" dirty="0"/>
              <a:t>　今回学習したことがどのように使われているかがわかると思います。</a:t>
            </a:r>
            <a:endParaRPr lang="en-US" altLang="ja-JP" sz="2000" dirty="0"/>
          </a:p>
        </p:txBody>
      </p:sp>
    </p:spTree>
    <p:extLst>
      <p:ext uri="{BB962C8B-B14F-4D97-AF65-F5344CB8AC3E}">
        <p14:creationId xmlns:p14="http://schemas.microsoft.com/office/powerpoint/2010/main" val="264879819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810</TotalTime>
  <Words>292</Words>
  <Application>Microsoft Office PowerPoint</Application>
  <PresentationFormat>ワイド画面</PresentationFormat>
  <Paragraphs>39</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71</cp:revision>
  <dcterms:created xsi:type="dcterms:W3CDTF">2024-08-27T02:15:54Z</dcterms:created>
  <dcterms:modified xsi:type="dcterms:W3CDTF">2026-01-09T05:03:02Z</dcterms:modified>
</cp:coreProperties>
</file>