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70" r:id="rId11"/>
    <p:sldId id="271" r:id="rId12"/>
    <p:sldId id="265" r:id="rId13"/>
    <p:sldId id="266" r:id="rId14"/>
    <p:sldId id="267" r:id="rId15"/>
    <p:sldId id="268" r:id="rId16"/>
    <p:sldId id="269" r:id="rId17"/>
    <p:sldId id="272" r:id="rId18"/>
    <p:sldId id="273" r:id="rId19"/>
    <p:sldId id="274" r:id="rId2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2026/1/9</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mazon | 大型スチールボール、大型スチールボール、大型円形ボール(45mm=370g)に対応 1個 | 深溝玉軸受 | 産業・研究開発用品 通販">
            <a:extLst>
              <a:ext uri="{FF2B5EF4-FFF2-40B4-BE49-F238E27FC236}">
                <a16:creationId xmlns:a16="http://schemas.microsoft.com/office/drawing/2014/main" id="{0ABE8661-1D67-4FA6-A1B9-56945FD4E1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154" y="2382678"/>
            <a:ext cx="3826501" cy="3646699"/>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lang="ja-JP" altLang="en-US" sz="3200" b="1" u="sng" dirty="0"/>
              <a:t>レイトレーシング</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956846" cy="1569660"/>
          </a:xfrm>
          <a:prstGeom prst="rect">
            <a:avLst/>
          </a:prstGeom>
          <a:noFill/>
        </p:spPr>
        <p:txBody>
          <a:bodyPr wrap="none" rtlCol="0">
            <a:spAutoFit/>
          </a:bodyPr>
          <a:lstStyle/>
          <a:p>
            <a:r>
              <a:rPr kumimoji="1" lang="ja-JP" altLang="en-US" sz="2400" dirty="0"/>
              <a:t>マテリアルを使って金属感や光沢感を出すことはできますが、</a:t>
            </a:r>
            <a:endParaRPr kumimoji="1" lang="en-US" altLang="ja-JP" sz="2400" dirty="0"/>
          </a:p>
          <a:p>
            <a:r>
              <a:rPr lang="ja-JP" altLang="en-US" sz="2400" b="1" dirty="0">
                <a:solidFill>
                  <a:srgbClr val="FF0000"/>
                </a:solidFill>
              </a:rPr>
              <a:t>周りに配置されてあるオブジェクトを反射して映すことはありません。</a:t>
            </a:r>
            <a:endParaRPr lang="en-US" altLang="ja-JP" sz="2400" b="1" dirty="0">
              <a:solidFill>
                <a:srgbClr val="FF0000"/>
              </a:solidFill>
            </a:endParaRPr>
          </a:p>
          <a:p>
            <a:r>
              <a:rPr kumimoji="1" lang="ja-JP" altLang="en-US" sz="2400" dirty="0"/>
              <a:t>パチンコ玉のようなきれいな金属や水面、氷面をリアルに表現したい場合は、</a:t>
            </a:r>
            <a:endParaRPr kumimoji="1" lang="en-US" altLang="ja-JP" sz="2400" dirty="0"/>
          </a:p>
          <a:p>
            <a:r>
              <a:rPr lang="ja-JP" altLang="en-US" sz="2400" b="1" dirty="0">
                <a:solidFill>
                  <a:srgbClr val="FF0000"/>
                </a:solidFill>
              </a:rPr>
              <a:t>反射</a:t>
            </a:r>
            <a:r>
              <a:rPr lang="ja-JP" altLang="en-US" sz="2400" dirty="0"/>
              <a:t>は必須となります。</a:t>
            </a:r>
            <a:endParaRPr kumimoji="1" lang="en-US" altLang="ja-JP" sz="2400" dirty="0"/>
          </a:p>
        </p:txBody>
      </p:sp>
    </p:spTree>
    <p:extLst>
      <p:ext uri="{BB962C8B-B14F-4D97-AF65-F5344CB8AC3E}">
        <p14:creationId xmlns:p14="http://schemas.microsoft.com/office/powerpoint/2010/main" val="41002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lang="ja-JP" altLang="en-US" sz="3200" b="1" u="sng" dirty="0"/>
              <a:t>レイトレーシング</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649069" cy="1200329"/>
          </a:xfrm>
          <a:prstGeom prst="rect">
            <a:avLst/>
          </a:prstGeom>
          <a:noFill/>
        </p:spPr>
        <p:txBody>
          <a:bodyPr wrap="none" rtlCol="0">
            <a:spAutoFit/>
          </a:bodyPr>
          <a:lstStyle/>
          <a:p>
            <a:r>
              <a:rPr kumimoji="1" lang="ja-JP" altLang="en-US" sz="2400" dirty="0"/>
              <a:t>描画手法の一つに、</a:t>
            </a:r>
            <a:r>
              <a:rPr kumimoji="1" lang="ja-JP" altLang="en-US" sz="2400" b="1" dirty="0">
                <a:solidFill>
                  <a:srgbClr val="FF0000"/>
                </a:solidFill>
              </a:rPr>
              <a:t>レイトレーシング</a:t>
            </a:r>
            <a:r>
              <a:rPr kumimoji="1" lang="ja-JP" altLang="en-US" sz="2400" dirty="0"/>
              <a:t>というものがあります。</a:t>
            </a:r>
            <a:endParaRPr kumimoji="1" lang="en-US" altLang="ja-JP" sz="2400" dirty="0"/>
          </a:p>
          <a:p>
            <a:r>
              <a:rPr kumimoji="1" lang="ja-JP" altLang="en-US" sz="2400" dirty="0"/>
              <a:t>名前の通り、</a:t>
            </a:r>
            <a:r>
              <a:rPr kumimoji="1" lang="ja-JP" altLang="en-US" sz="2400" b="1" dirty="0">
                <a:solidFill>
                  <a:srgbClr val="FF0000"/>
                </a:solidFill>
              </a:rPr>
              <a:t>レイ（光線）</a:t>
            </a:r>
            <a:r>
              <a:rPr kumimoji="1" lang="ja-JP" altLang="en-US" sz="2400" dirty="0"/>
              <a:t>を</a:t>
            </a:r>
            <a:r>
              <a:rPr kumimoji="1" lang="ja-JP" altLang="en-US" sz="2400" b="1" dirty="0">
                <a:solidFill>
                  <a:srgbClr val="FF0000"/>
                </a:solidFill>
              </a:rPr>
              <a:t>トレーシング（たどる）</a:t>
            </a:r>
            <a:r>
              <a:rPr kumimoji="1" lang="ja-JP" altLang="en-US" sz="2400" dirty="0"/>
              <a:t>する手法になります。</a:t>
            </a:r>
            <a:endParaRPr kumimoji="1" lang="en-US" altLang="ja-JP" sz="2400" dirty="0"/>
          </a:p>
          <a:p>
            <a:r>
              <a:rPr kumimoji="1" lang="ja-JP" altLang="en-US" sz="2400" dirty="0"/>
              <a:t>下図で簡単に説明します。</a:t>
            </a:r>
            <a:endParaRPr kumimoji="1" lang="en-US" altLang="ja-JP" sz="2400" dirty="0"/>
          </a:p>
        </p:txBody>
      </p:sp>
      <p:grpSp>
        <p:nvGrpSpPr>
          <p:cNvPr id="11" name="グループ化 10">
            <a:extLst>
              <a:ext uri="{FF2B5EF4-FFF2-40B4-BE49-F238E27FC236}">
                <a16:creationId xmlns:a16="http://schemas.microsoft.com/office/drawing/2014/main" id="{5FB87BC1-5E39-4D6A-912F-37EEE6FCE1D9}"/>
              </a:ext>
            </a:extLst>
          </p:cNvPr>
          <p:cNvGrpSpPr/>
          <p:nvPr/>
        </p:nvGrpSpPr>
        <p:grpSpPr>
          <a:xfrm>
            <a:off x="977153" y="3715521"/>
            <a:ext cx="720000" cy="718588"/>
            <a:chOff x="995082" y="3711388"/>
            <a:chExt cx="720000" cy="718588"/>
          </a:xfrm>
        </p:grpSpPr>
        <p:cxnSp>
          <p:nvCxnSpPr>
            <p:cNvPr id="3" name="直線コネクタ 2">
              <a:extLst>
                <a:ext uri="{FF2B5EF4-FFF2-40B4-BE49-F238E27FC236}">
                  <a16:creationId xmlns:a16="http://schemas.microsoft.com/office/drawing/2014/main" id="{2E958AED-E636-4139-BCB6-17E74CE2F4B0}"/>
                </a:ext>
              </a:extLst>
            </p:cNvPr>
            <p:cNvCxnSpPr>
              <a:cxnSpLocks/>
            </p:cNvCxnSpPr>
            <p:nvPr/>
          </p:nvCxnSpPr>
          <p:spPr>
            <a:xfrm flipH="1">
              <a:off x="995082" y="3711388"/>
              <a:ext cx="720000" cy="36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58268E88-CE06-464E-9A02-2E9C133E1A0B}"/>
                </a:ext>
              </a:extLst>
            </p:cNvPr>
            <p:cNvCxnSpPr>
              <a:cxnSpLocks/>
            </p:cNvCxnSpPr>
            <p:nvPr/>
          </p:nvCxnSpPr>
          <p:spPr>
            <a:xfrm flipH="1" flipV="1">
              <a:off x="995082" y="4069976"/>
              <a:ext cx="720000" cy="36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楕円 9">
              <a:extLst>
                <a:ext uri="{FF2B5EF4-FFF2-40B4-BE49-F238E27FC236}">
                  <a16:creationId xmlns:a16="http://schemas.microsoft.com/office/drawing/2014/main" id="{EAF16889-51A4-470F-AD70-5B57DF5EB20C}"/>
                </a:ext>
              </a:extLst>
            </p:cNvPr>
            <p:cNvSpPr/>
            <p:nvPr/>
          </p:nvSpPr>
          <p:spPr>
            <a:xfrm>
              <a:off x="1390942" y="3827929"/>
              <a:ext cx="242048" cy="493059"/>
            </a:xfrm>
            <a:prstGeom prst="ellipse">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2" name="楕円 11">
            <a:extLst>
              <a:ext uri="{FF2B5EF4-FFF2-40B4-BE49-F238E27FC236}">
                <a16:creationId xmlns:a16="http://schemas.microsoft.com/office/drawing/2014/main" id="{E5BC8034-5B4F-4C0B-8C10-11658459FCDC}"/>
              </a:ext>
            </a:extLst>
          </p:cNvPr>
          <p:cNvSpPr/>
          <p:nvPr/>
        </p:nvSpPr>
        <p:spPr>
          <a:xfrm>
            <a:off x="6590753" y="3473124"/>
            <a:ext cx="1080000" cy="10800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C8E25D75-A330-4C07-8374-20199B1DFB2A}"/>
              </a:ext>
            </a:extLst>
          </p:cNvPr>
          <p:cNvSpPr/>
          <p:nvPr/>
        </p:nvSpPr>
        <p:spPr>
          <a:xfrm>
            <a:off x="663389" y="5082988"/>
            <a:ext cx="11035552" cy="484094"/>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4" name="二等辺三角形 13">
            <a:extLst>
              <a:ext uri="{FF2B5EF4-FFF2-40B4-BE49-F238E27FC236}">
                <a16:creationId xmlns:a16="http://schemas.microsoft.com/office/drawing/2014/main" id="{75BFDE3C-132D-4824-9D34-5FBD2CA6D13D}"/>
              </a:ext>
            </a:extLst>
          </p:cNvPr>
          <p:cNvSpPr/>
          <p:nvPr/>
        </p:nvSpPr>
        <p:spPr>
          <a:xfrm>
            <a:off x="4240305" y="4675203"/>
            <a:ext cx="457200" cy="407785"/>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15" name="スマイル 14">
            <a:extLst>
              <a:ext uri="{FF2B5EF4-FFF2-40B4-BE49-F238E27FC236}">
                <a16:creationId xmlns:a16="http://schemas.microsoft.com/office/drawing/2014/main" id="{246962DF-0148-47ED-A323-4B6EFF02438D}"/>
              </a:ext>
            </a:extLst>
          </p:cNvPr>
          <p:cNvSpPr/>
          <p:nvPr/>
        </p:nvSpPr>
        <p:spPr>
          <a:xfrm>
            <a:off x="9123494" y="4496862"/>
            <a:ext cx="582706" cy="586126"/>
          </a:xfrm>
          <a:prstGeom prst="smileyFac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56892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lang="ja-JP" altLang="en-US" sz="3200" b="1" u="sng" dirty="0"/>
              <a:t>レイトレーシング</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567043" cy="830997"/>
          </a:xfrm>
          <a:prstGeom prst="rect">
            <a:avLst/>
          </a:prstGeom>
          <a:noFill/>
        </p:spPr>
        <p:txBody>
          <a:bodyPr wrap="none" rtlCol="0">
            <a:spAutoFit/>
          </a:bodyPr>
          <a:lstStyle/>
          <a:p>
            <a:r>
              <a:rPr lang="ja-JP" altLang="en-US" sz="2400" dirty="0"/>
              <a:t>視点からレイを飛ばします。</a:t>
            </a:r>
            <a:endParaRPr lang="en-US" altLang="ja-JP" sz="2400" dirty="0"/>
          </a:p>
          <a:p>
            <a:r>
              <a:rPr lang="ja-JP" altLang="en-US" sz="2400" dirty="0"/>
              <a:t>レイが何も当たらなければ、背景</a:t>
            </a:r>
            <a:r>
              <a:rPr lang="en-US" altLang="ja-JP" sz="2400" dirty="0"/>
              <a:t>(Unity</a:t>
            </a:r>
            <a:r>
              <a:rPr lang="ja-JP" altLang="en-US" sz="2400" dirty="0"/>
              <a:t>だと</a:t>
            </a:r>
            <a:r>
              <a:rPr lang="en-US" altLang="ja-JP" sz="2400" dirty="0"/>
              <a:t>Skybox)</a:t>
            </a:r>
            <a:r>
              <a:rPr lang="ja-JP" altLang="en-US" sz="2400" dirty="0"/>
              <a:t>を表示します。</a:t>
            </a:r>
            <a:endParaRPr kumimoji="1" lang="en-US" altLang="ja-JP" sz="2400" dirty="0"/>
          </a:p>
        </p:txBody>
      </p:sp>
      <p:grpSp>
        <p:nvGrpSpPr>
          <p:cNvPr id="11" name="グループ化 10">
            <a:extLst>
              <a:ext uri="{FF2B5EF4-FFF2-40B4-BE49-F238E27FC236}">
                <a16:creationId xmlns:a16="http://schemas.microsoft.com/office/drawing/2014/main" id="{5FB87BC1-5E39-4D6A-912F-37EEE6FCE1D9}"/>
              </a:ext>
            </a:extLst>
          </p:cNvPr>
          <p:cNvGrpSpPr/>
          <p:nvPr/>
        </p:nvGrpSpPr>
        <p:grpSpPr>
          <a:xfrm>
            <a:off x="977153" y="3715521"/>
            <a:ext cx="720000" cy="718588"/>
            <a:chOff x="995082" y="3711388"/>
            <a:chExt cx="720000" cy="718588"/>
          </a:xfrm>
        </p:grpSpPr>
        <p:cxnSp>
          <p:nvCxnSpPr>
            <p:cNvPr id="3" name="直線コネクタ 2">
              <a:extLst>
                <a:ext uri="{FF2B5EF4-FFF2-40B4-BE49-F238E27FC236}">
                  <a16:creationId xmlns:a16="http://schemas.microsoft.com/office/drawing/2014/main" id="{2E958AED-E636-4139-BCB6-17E74CE2F4B0}"/>
                </a:ext>
              </a:extLst>
            </p:cNvPr>
            <p:cNvCxnSpPr>
              <a:cxnSpLocks/>
            </p:cNvCxnSpPr>
            <p:nvPr/>
          </p:nvCxnSpPr>
          <p:spPr>
            <a:xfrm flipH="1">
              <a:off x="995082" y="3711388"/>
              <a:ext cx="720000" cy="36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58268E88-CE06-464E-9A02-2E9C133E1A0B}"/>
                </a:ext>
              </a:extLst>
            </p:cNvPr>
            <p:cNvCxnSpPr>
              <a:cxnSpLocks/>
            </p:cNvCxnSpPr>
            <p:nvPr/>
          </p:nvCxnSpPr>
          <p:spPr>
            <a:xfrm flipH="1" flipV="1">
              <a:off x="995082" y="4069976"/>
              <a:ext cx="720000" cy="36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楕円 9">
              <a:extLst>
                <a:ext uri="{FF2B5EF4-FFF2-40B4-BE49-F238E27FC236}">
                  <a16:creationId xmlns:a16="http://schemas.microsoft.com/office/drawing/2014/main" id="{EAF16889-51A4-470F-AD70-5B57DF5EB20C}"/>
                </a:ext>
              </a:extLst>
            </p:cNvPr>
            <p:cNvSpPr/>
            <p:nvPr/>
          </p:nvSpPr>
          <p:spPr>
            <a:xfrm>
              <a:off x="1390942" y="3827929"/>
              <a:ext cx="242048" cy="493059"/>
            </a:xfrm>
            <a:prstGeom prst="ellipse">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2" name="楕円 11">
            <a:extLst>
              <a:ext uri="{FF2B5EF4-FFF2-40B4-BE49-F238E27FC236}">
                <a16:creationId xmlns:a16="http://schemas.microsoft.com/office/drawing/2014/main" id="{E5BC8034-5B4F-4C0B-8C10-11658459FCDC}"/>
              </a:ext>
            </a:extLst>
          </p:cNvPr>
          <p:cNvSpPr/>
          <p:nvPr/>
        </p:nvSpPr>
        <p:spPr>
          <a:xfrm>
            <a:off x="6590753" y="3473124"/>
            <a:ext cx="1080000" cy="10800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C8E25D75-A330-4C07-8374-20199B1DFB2A}"/>
              </a:ext>
            </a:extLst>
          </p:cNvPr>
          <p:cNvSpPr/>
          <p:nvPr/>
        </p:nvSpPr>
        <p:spPr>
          <a:xfrm>
            <a:off x="663389" y="5082988"/>
            <a:ext cx="11035552" cy="484094"/>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4" name="二等辺三角形 13">
            <a:extLst>
              <a:ext uri="{FF2B5EF4-FFF2-40B4-BE49-F238E27FC236}">
                <a16:creationId xmlns:a16="http://schemas.microsoft.com/office/drawing/2014/main" id="{75BFDE3C-132D-4824-9D34-5FBD2CA6D13D}"/>
              </a:ext>
            </a:extLst>
          </p:cNvPr>
          <p:cNvSpPr/>
          <p:nvPr/>
        </p:nvSpPr>
        <p:spPr>
          <a:xfrm>
            <a:off x="4240305" y="4675203"/>
            <a:ext cx="457200" cy="407785"/>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15" name="スマイル 14">
            <a:extLst>
              <a:ext uri="{FF2B5EF4-FFF2-40B4-BE49-F238E27FC236}">
                <a16:creationId xmlns:a16="http://schemas.microsoft.com/office/drawing/2014/main" id="{246962DF-0148-47ED-A323-4B6EFF02438D}"/>
              </a:ext>
            </a:extLst>
          </p:cNvPr>
          <p:cNvSpPr/>
          <p:nvPr/>
        </p:nvSpPr>
        <p:spPr>
          <a:xfrm>
            <a:off x="9123494" y="4496862"/>
            <a:ext cx="582706" cy="586126"/>
          </a:xfrm>
          <a:prstGeom prst="smileyFac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cxnSp>
        <p:nvCxnSpPr>
          <p:cNvPr id="5" name="直線矢印コネクタ 4">
            <a:extLst>
              <a:ext uri="{FF2B5EF4-FFF2-40B4-BE49-F238E27FC236}">
                <a16:creationId xmlns:a16="http://schemas.microsoft.com/office/drawing/2014/main" id="{EE79CBB3-44CC-42C2-83CD-ACFC8426EF66}"/>
              </a:ext>
            </a:extLst>
          </p:cNvPr>
          <p:cNvCxnSpPr>
            <a:stCxn id="10" idx="6"/>
          </p:cNvCxnSpPr>
          <p:nvPr/>
        </p:nvCxnSpPr>
        <p:spPr>
          <a:xfrm flipV="1">
            <a:off x="1615061" y="2420471"/>
            <a:ext cx="9196374" cy="1658121"/>
          </a:xfrm>
          <a:prstGeom prst="straightConnector1">
            <a:avLst/>
          </a:prstGeom>
          <a:ln w="57150">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80108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線矢印コネクタ 26">
            <a:extLst>
              <a:ext uri="{FF2B5EF4-FFF2-40B4-BE49-F238E27FC236}">
                <a16:creationId xmlns:a16="http://schemas.microsoft.com/office/drawing/2014/main" id="{AC418D1F-A8B5-44A8-AC26-809D876BEE1A}"/>
              </a:ext>
            </a:extLst>
          </p:cNvPr>
          <p:cNvCxnSpPr>
            <a:cxnSpLocks/>
            <a:endCxn id="13" idx="0"/>
          </p:cNvCxnSpPr>
          <p:nvPr/>
        </p:nvCxnSpPr>
        <p:spPr>
          <a:xfrm flipH="1">
            <a:off x="6181165" y="4201945"/>
            <a:ext cx="409588" cy="881043"/>
          </a:xfrm>
          <a:prstGeom prst="straightConnector1">
            <a:avLst/>
          </a:prstGeom>
          <a:ln w="57150">
            <a:tailEnd type="triangle"/>
          </a:ln>
        </p:spPr>
        <p:style>
          <a:lnRef idx="1">
            <a:schemeClr val="accent4"/>
          </a:lnRef>
          <a:fillRef idx="0">
            <a:schemeClr val="accent4"/>
          </a:fillRef>
          <a:effectRef idx="0">
            <a:schemeClr val="accent4"/>
          </a:effectRef>
          <a:fontRef idx="minor">
            <a:schemeClr val="tx1"/>
          </a:fontRef>
        </p:style>
      </p:cxnSp>
      <p:cxnSp>
        <p:nvCxnSpPr>
          <p:cNvPr id="16" name="直線矢印コネクタ 15">
            <a:extLst>
              <a:ext uri="{FF2B5EF4-FFF2-40B4-BE49-F238E27FC236}">
                <a16:creationId xmlns:a16="http://schemas.microsoft.com/office/drawing/2014/main" id="{860FB26B-CE62-4F44-AD7B-F886D4C8CD4B}"/>
              </a:ext>
            </a:extLst>
          </p:cNvPr>
          <p:cNvCxnSpPr>
            <a:cxnSpLocks/>
            <a:endCxn id="14" idx="5"/>
          </p:cNvCxnSpPr>
          <p:nvPr/>
        </p:nvCxnSpPr>
        <p:spPr>
          <a:xfrm flipH="1">
            <a:off x="4583205" y="4184331"/>
            <a:ext cx="2086538" cy="694765"/>
          </a:xfrm>
          <a:prstGeom prst="straightConnector1">
            <a:avLst/>
          </a:prstGeom>
          <a:ln w="57150">
            <a:tailEnd type="triangle"/>
          </a:ln>
        </p:spPr>
        <p:style>
          <a:lnRef idx="1">
            <a:schemeClr val="accent4"/>
          </a:lnRef>
          <a:fillRef idx="0">
            <a:schemeClr val="accent4"/>
          </a:fillRef>
          <a:effectRef idx="0">
            <a:schemeClr val="accent4"/>
          </a:effectRef>
          <a:fontRef idx="minor">
            <a:schemeClr val="tx1"/>
          </a:fontRef>
        </p:style>
      </p:cxn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lang="ja-JP" altLang="en-US" sz="3200" b="1" u="sng" dirty="0"/>
              <a:t>レイトレーシング</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417963" cy="1200329"/>
          </a:xfrm>
          <a:prstGeom prst="rect">
            <a:avLst/>
          </a:prstGeom>
          <a:noFill/>
        </p:spPr>
        <p:txBody>
          <a:bodyPr wrap="none" rtlCol="0">
            <a:spAutoFit/>
          </a:bodyPr>
          <a:lstStyle/>
          <a:p>
            <a:r>
              <a:rPr kumimoji="1" lang="ja-JP" altLang="en-US" sz="2400" dirty="0"/>
              <a:t>もしも何らかのポリゴンにヒットした場合、</a:t>
            </a:r>
            <a:endParaRPr kumimoji="1" lang="en-US" altLang="ja-JP" sz="2400" dirty="0"/>
          </a:p>
          <a:p>
            <a:r>
              <a:rPr kumimoji="1" lang="ja-JP" altLang="en-US" sz="2400" dirty="0"/>
              <a:t>レイを複数に</a:t>
            </a:r>
            <a:r>
              <a:rPr kumimoji="1" lang="ja-JP" altLang="en-US" sz="2400" b="1" dirty="0">
                <a:solidFill>
                  <a:srgbClr val="FF0000"/>
                </a:solidFill>
              </a:rPr>
              <a:t>分散</a:t>
            </a:r>
            <a:r>
              <a:rPr kumimoji="1" lang="ja-JP" altLang="en-US" sz="2400" dirty="0"/>
              <a:t>させます。分散方向は</a:t>
            </a:r>
            <a:r>
              <a:rPr kumimoji="1" lang="ja-JP" altLang="en-US" sz="2400" b="1" dirty="0">
                <a:solidFill>
                  <a:srgbClr val="FF0000"/>
                </a:solidFill>
              </a:rPr>
              <a:t>反射</a:t>
            </a:r>
            <a:r>
              <a:rPr kumimoji="1" lang="ja-JP" altLang="en-US" sz="2400" dirty="0"/>
              <a:t>や</a:t>
            </a:r>
            <a:r>
              <a:rPr kumimoji="1" lang="ja-JP" altLang="en-US" sz="2400" b="1" dirty="0">
                <a:solidFill>
                  <a:srgbClr val="FF0000"/>
                </a:solidFill>
              </a:rPr>
              <a:t>屈折</a:t>
            </a:r>
            <a:r>
              <a:rPr kumimoji="1" lang="ja-JP" altLang="en-US" sz="2400" dirty="0"/>
              <a:t>など様々です。</a:t>
            </a:r>
            <a:endParaRPr kumimoji="1" lang="en-US" altLang="ja-JP" sz="2400" dirty="0"/>
          </a:p>
          <a:p>
            <a:r>
              <a:rPr kumimoji="1" lang="ja-JP" altLang="en-US" sz="2400" dirty="0"/>
              <a:t>下図は鉄球に当たった際の例です。</a:t>
            </a:r>
            <a:endParaRPr kumimoji="1" lang="en-US" altLang="ja-JP" sz="2400" dirty="0"/>
          </a:p>
        </p:txBody>
      </p:sp>
      <p:grpSp>
        <p:nvGrpSpPr>
          <p:cNvPr id="11" name="グループ化 10">
            <a:extLst>
              <a:ext uri="{FF2B5EF4-FFF2-40B4-BE49-F238E27FC236}">
                <a16:creationId xmlns:a16="http://schemas.microsoft.com/office/drawing/2014/main" id="{5FB87BC1-5E39-4D6A-912F-37EEE6FCE1D9}"/>
              </a:ext>
            </a:extLst>
          </p:cNvPr>
          <p:cNvGrpSpPr/>
          <p:nvPr/>
        </p:nvGrpSpPr>
        <p:grpSpPr>
          <a:xfrm>
            <a:off x="977153" y="3715521"/>
            <a:ext cx="720000" cy="718588"/>
            <a:chOff x="995082" y="3711388"/>
            <a:chExt cx="720000" cy="718588"/>
          </a:xfrm>
        </p:grpSpPr>
        <p:cxnSp>
          <p:nvCxnSpPr>
            <p:cNvPr id="3" name="直線コネクタ 2">
              <a:extLst>
                <a:ext uri="{FF2B5EF4-FFF2-40B4-BE49-F238E27FC236}">
                  <a16:creationId xmlns:a16="http://schemas.microsoft.com/office/drawing/2014/main" id="{2E958AED-E636-4139-BCB6-17E74CE2F4B0}"/>
                </a:ext>
              </a:extLst>
            </p:cNvPr>
            <p:cNvCxnSpPr>
              <a:cxnSpLocks/>
            </p:cNvCxnSpPr>
            <p:nvPr/>
          </p:nvCxnSpPr>
          <p:spPr>
            <a:xfrm flipH="1">
              <a:off x="995082" y="3711388"/>
              <a:ext cx="720000" cy="36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58268E88-CE06-464E-9A02-2E9C133E1A0B}"/>
                </a:ext>
              </a:extLst>
            </p:cNvPr>
            <p:cNvCxnSpPr>
              <a:cxnSpLocks/>
            </p:cNvCxnSpPr>
            <p:nvPr/>
          </p:nvCxnSpPr>
          <p:spPr>
            <a:xfrm flipH="1" flipV="1">
              <a:off x="995082" y="4069976"/>
              <a:ext cx="720000" cy="36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楕円 9">
              <a:extLst>
                <a:ext uri="{FF2B5EF4-FFF2-40B4-BE49-F238E27FC236}">
                  <a16:creationId xmlns:a16="http://schemas.microsoft.com/office/drawing/2014/main" id="{EAF16889-51A4-470F-AD70-5B57DF5EB20C}"/>
                </a:ext>
              </a:extLst>
            </p:cNvPr>
            <p:cNvSpPr/>
            <p:nvPr/>
          </p:nvSpPr>
          <p:spPr>
            <a:xfrm>
              <a:off x="1390942" y="3827929"/>
              <a:ext cx="242048" cy="493059"/>
            </a:xfrm>
            <a:prstGeom prst="ellipse">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3" name="四角形: 角を丸くする 12">
            <a:extLst>
              <a:ext uri="{FF2B5EF4-FFF2-40B4-BE49-F238E27FC236}">
                <a16:creationId xmlns:a16="http://schemas.microsoft.com/office/drawing/2014/main" id="{C8E25D75-A330-4C07-8374-20199B1DFB2A}"/>
              </a:ext>
            </a:extLst>
          </p:cNvPr>
          <p:cNvSpPr/>
          <p:nvPr/>
        </p:nvSpPr>
        <p:spPr>
          <a:xfrm>
            <a:off x="663389" y="5082988"/>
            <a:ext cx="11035552" cy="484094"/>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4" name="二等辺三角形 13">
            <a:extLst>
              <a:ext uri="{FF2B5EF4-FFF2-40B4-BE49-F238E27FC236}">
                <a16:creationId xmlns:a16="http://schemas.microsoft.com/office/drawing/2014/main" id="{75BFDE3C-132D-4824-9D34-5FBD2CA6D13D}"/>
              </a:ext>
            </a:extLst>
          </p:cNvPr>
          <p:cNvSpPr/>
          <p:nvPr/>
        </p:nvSpPr>
        <p:spPr>
          <a:xfrm>
            <a:off x="4240305" y="4675203"/>
            <a:ext cx="457200" cy="407785"/>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15" name="スマイル 14">
            <a:extLst>
              <a:ext uri="{FF2B5EF4-FFF2-40B4-BE49-F238E27FC236}">
                <a16:creationId xmlns:a16="http://schemas.microsoft.com/office/drawing/2014/main" id="{246962DF-0148-47ED-A323-4B6EFF02438D}"/>
              </a:ext>
            </a:extLst>
          </p:cNvPr>
          <p:cNvSpPr/>
          <p:nvPr/>
        </p:nvSpPr>
        <p:spPr>
          <a:xfrm>
            <a:off x="9123494" y="4496862"/>
            <a:ext cx="582706" cy="586126"/>
          </a:xfrm>
          <a:prstGeom prst="smileyFac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cxnSp>
        <p:nvCxnSpPr>
          <p:cNvPr id="21" name="直線コネクタ 20">
            <a:extLst>
              <a:ext uri="{FF2B5EF4-FFF2-40B4-BE49-F238E27FC236}">
                <a16:creationId xmlns:a16="http://schemas.microsoft.com/office/drawing/2014/main" id="{9721F91E-65E2-4C5C-893A-9905417626D0}"/>
              </a:ext>
            </a:extLst>
          </p:cNvPr>
          <p:cNvCxnSpPr>
            <a:cxnSpLocks/>
            <a:stCxn id="10" idx="6"/>
          </p:cNvCxnSpPr>
          <p:nvPr/>
        </p:nvCxnSpPr>
        <p:spPr>
          <a:xfrm>
            <a:off x="1615061" y="4078592"/>
            <a:ext cx="5054682" cy="12335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sp>
        <p:nvSpPr>
          <p:cNvPr id="24" name="楕円 23">
            <a:extLst>
              <a:ext uri="{FF2B5EF4-FFF2-40B4-BE49-F238E27FC236}">
                <a16:creationId xmlns:a16="http://schemas.microsoft.com/office/drawing/2014/main" id="{A118DB76-A7F0-4140-86BB-E0790B765896}"/>
              </a:ext>
            </a:extLst>
          </p:cNvPr>
          <p:cNvSpPr/>
          <p:nvPr/>
        </p:nvSpPr>
        <p:spPr>
          <a:xfrm>
            <a:off x="6590753" y="3473124"/>
            <a:ext cx="1080000" cy="10800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cxnSp>
        <p:nvCxnSpPr>
          <p:cNvPr id="17" name="直線矢印コネクタ 16">
            <a:extLst>
              <a:ext uri="{FF2B5EF4-FFF2-40B4-BE49-F238E27FC236}">
                <a16:creationId xmlns:a16="http://schemas.microsoft.com/office/drawing/2014/main" id="{97F52868-E40A-4363-BDC9-0EED4EC6D618}"/>
              </a:ext>
            </a:extLst>
          </p:cNvPr>
          <p:cNvCxnSpPr>
            <a:cxnSpLocks/>
            <a:endCxn id="15" idx="2"/>
          </p:cNvCxnSpPr>
          <p:nvPr/>
        </p:nvCxnSpPr>
        <p:spPr>
          <a:xfrm>
            <a:off x="6590753" y="4218884"/>
            <a:ext cx="2532741" cy="571041"/>
          </a:xfrm>
          <a:prstGeom prst="straightConnector1">
            <a:avLst/>
          </a:prstGeom>
          <a:ln w="57150">
            <a:tailEnd type="triangle"/>
          </a:ln>
        </p:spPr>
        <p:style>
          <a:lnRef idx="1">
            <a:schemeClr val="accent4"/>
          </a:lnRef>
          <a:fillRef idx="0">
            <a:schemeClr val="accent4"/>
          </a:fillRef>
          <a:effectRef idx="0">
            <a:schemeClr val="accent4"/>
          </a:effectRef>
          <a:fontRef idx="minor">
            <a:schemeClr val="tx1"/>
          </a:fontRef>
        </p:style>
      </p:cxnSp>
      <p:cxnSp>
        <p:nvCxnSpPr>
          <p:cNvPr id="30" name="直線矢印コネクタ 29">
            <a:extLst>
              <a:ext uri="{FF2B5EF4-FFF2-40B4-BE49-F238E27FC236}">
                <a16:creationId xmlns:a16="http://schemas.microsoft.com/office/drawing/2014/main" id="{9DA0229E-31DE-4430-AE78-2897BE31A83C}"/>
              </a:ext>
            </a:extLst>
          </p:cNvPr>
          <p:cNvCxnSpPr>
            <a:cxnSpLocks/>
          </p:cNvCxnSpPr>
          <p:nvPr/>
        </p:nvCxnSpPr>
        <p:spPr>
          <a:xfrm flipH="1" flipV="1">
            <a:off x="5274069" y="3763299"/>
            <a:ext cx="1316684" cy="446778"/>
          </a:xfrm>
          <a:prstGeom prst="straightConnector1">
            <a:avLst/>
          </a:prstGeom>
          <a:ln w="57150">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3214873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直線矢印コネクタ 15">
            <a:extLst>
              <a:ext uri="{FF2B5EF4-FFF2-40B4-BE49-F238E27FC236}">
                <a16:creationId xmlns:a16="http://schemas.microsoft.com/office/drawing/2014/main" id="{860FB26B-CE62-4F44-AD7B-F886D4C8CD4B}"/>
              </a:ext>
            </a:extLst>
          </p:cNvPr>
          <p:cNvCxnSpPr>
            <a:cxnSpLocks/>
            <a:endCxn id="14" idx="5"/>
          </p:cNvCxnSpPr>
          <p:nvPr/>
        </p:nvCxnSpPr>
        <p:spPr>
          <a:xfrm flipH="1">
            <a:off x="4583205" y="4184331"/>
            <a:ext cx="2086538" cy="694765"/>
          </a:xfrm>
          <a:prstGeom prst="straightConnector1">
            <a:avLst/>
          </a:prstGeom>
          <a:ln w="57150">
            <a:tailEnd type="triangle"/>
          </a:ln>
        </p:spPr>
        <p:style>
          <a:lnRef idx="1">
            <a:schemeClr val="accent4"/>
          </a:lnRef>
          <a:fillRef idx="0">
            <a:schemeClr val="accent4"/>
          </a:fillRef>
          <a:effectRef idx="0">
            <a:schemeClr val="accent4"/>
          </a:effectRef>
          <a:fontRef idx="minor">
            <a:schemeClr val="tx1"/>
          </a:fontRef>
        </p:style>
      </p:cxn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lang="ja-JP" altLang="en-US" sz="3200" b="1" u="sng" dirty="0"/>
              <a:t>レイトレーシング</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647974" cy="1200329"/>
          </a:xfrm>
          <a:prstGeom prst="rect">
            <a:avLst/>
          </a:prstGeom>
          <a:noFill/>
        </p:spPr>
        <p:txBody>
          <a:bodyPr wrap="none" rtlCol="0">
            <a:spAutoFit/>
          </a:bodyPr>
          <a:lstStyle/>
          <a:p>
            <a:r>
              <a:rPr kumimoji="1" lang="ja-JP" altLang="en-US" sz="2400" dirty="0"/>
              <a:t>反射したレイが別のポリゴンに当たった場合、</a:t>
            </a:r>
            <a:endParaRPr kumimoji="1" lang="en-US" altLang="ja-JP" sz="2400" dirty="0"/>
          </a:p>
          <a:p>
            <a:r>
              <a:rPr kumimoji="1" lang="ja-JP" altLang="en-US" sz="2400" dirty="0"/>
              <a:t>それが鉄球に反射して映ることがわかります。</a:t>
            </a:r>
            <a:endParaRPr kumimoji="1" lang="en-US" altLang="ja-JP" sz="2400" dirty="0"/>
          </a:p>
          <a:p>
            <a:r>
              <a:rPr lang="ja-JP" altLang="en-US" sz="2400" dirty="0"/>
              <a:t>この場合、オレンジ色が鉄球に映るはずです。</a:t>
            </a:r>
            <a:endParaRPr kumimoji="1" lang="en-US" altLang="ja-JP" sz="2400" dirty="0"/>
          </a:p>
        </p:txBody>
      </p:sp>
      <p:grpSp>
        <p:nvGrpSpPr>
          <p:cNvPr id="11" name="グループ化 10">
            <a:extLst>
              <a:ext uri="{FF2B5EF4-FFF2-40B4-BE49-F238E27FC236}">
                <a16:creationId xmlns:a16="http://schemas.microsoft.com/office/drawing/2014/main" id="{5FB87BC1-5E39-4D6A-912F-37EEE6FCE1D9}"/>
              </a:ext>
            </a:extLst>
          </p:cNvPr>
          <p:cNvGrpSpPr/>
          <p:nvPr/>
        </p:nvGrpSpPr>
        <p:grpSpPr>
          <a:xfrm>
            <a:off x="977153" y="3715521"/>
            <a:ext cx="720000" cy="718588"/>
            <a:chOff x="995082" y="3711388"/>
            <a:chExt cx="720000" cy="718588"/>
          </a:xfrm>
        </p:grpSpPr>
        <p:cxnSp>
          <p:nvCxnSpPr>
            <p:cNvPr id="3" name="直線コネクタ 2">
              <a:extLst>
                <a:ext uri="{FF2B5EF4-FFF2-40B4-BE49-F238E27FC236}">
                  <a16:creationId xmlns:a16="http://schemas.microsoft.com/office/drawing/2014/main" id="{2E958AED-E636-4139-BCB6-17E74CE2F4B0}"/>
                </a:ext>
              </a:extLst>
            </p:cNvPr>
            <p:cNvCxnSpPr>
              <a:cxnSpLocks/>
            </p:cNvCxnSpPr>
            <p:nvPr/>
          </p:nvCxnSpPr>
          <p:spPr>
            <a:xfrm flipH="1">
              <a:off x="995082" y="3711388"/>
              <a:ext cx="720000" cy="36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58268E88-CE06-464E-9A02-2E9C133E1A0B}"/>
                </a:ext>
              </a:extLst>
            </p:cNvPr>
            <p:cNvCxnSpPr>
              <a:cxnSpLocks/>
            </p:cNvCxnSpPr>
            <p:nvPr/>
          </p:nvCxnSpPr>
          <p:spPr>
            <a:xfrm flipH="1" flipV="1">
              <a:off x="995082" y="4069976"/>
              <a:ext cx="720000" cy="36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楕円 9">
              <a:extLst>
                <a:ext uri="{FF2B5EF4-FFF2-40B4-BE49-F238E27FC236}">
                  <a16:creationId xmlns:a16="http://schemas.microsoft.com/office/drawing/2014/main" id="{EAF16889-51A4-470F-AD70-5B57DF5EB20C}"/>
                </a:ext>
              </a:extLst>
            </p:cNvPr>
            <p:cNvSpPr/>
            <p:nvPr/>
          </p:nvSpPr>
          <p:spPr>
            <a:xfrm>
              <a:off x="1390942" y="3827929"/>
              <a:ext cx="242048" cy="493059"/>
            </a:xfrm>
            <a:prstGeom prst="ellipse">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3" name="四角形: 角を丸くする 12">
            <a:extLst>
              <a:ext uri="{FF2B5EF4-FFF2-40B4-BE49-F238E27FC236}">
                <a16:creationId xmlns:a16="http://schemas.microsoft.com/office/drawing/2014/main" id="{C8E25D75-A330-4C07-8374-20199B1DFB2A}"/>
              </a:ext>
            </a:extLst>
          </p:cNvPr>
          <p:cNvSpPr/>
          <p:nvPr/>
        </p:nvSpPr>
        <p:spPr>
          <a:xfrm>
            <a:off x="663389" y="5082988"/>
            <a:ext cx="11035552" cy="484094"/>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4" name="二等辺三角形 13">
            <a:extLst>
              <a:ext uri="{FF2B5EF4-FFF2-40B4-BE49-F238E27FC236}">
                <a16:creationId xmlns:a16="http://schemas.microsoft.com/office/drawing/2014/main" id="{75BFDE3C-132D-4824-9D34-5FBD2CA6D13D}"/>
              </a:ext>
            </a:extLst>
          </p:cNvPr>
          <p:cNvSpPr/>
          <p:nvPr/>
        </p:nvSpPr>
        <p:spPr>
          <a:xfrm>
            <a:off x="4240305" y="4675203"/>
            <a:ext cx="457200" cy="407785"/>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15" name="スマイル 14">
            <a:extLst>
              <a:ext uri="{FF2B5EF4-FFF2-40B4-BE49-F238E27FC236}">
                <a16:creationId xmlns:a16="http://schemas.microsoft.com/office/drawing/2014/main" id="{246962DF-0148-47ED-A323-4B6EFF02438D}"/>
              </a:ext>
            </a:extLst>
          </p:cNvPr>
          <p:cNvSpPr/>
          <p:nvPr/>
        </p:nvSpPr>
        <p:spPr>
          <a:xfrm>
            <a:off x="9123494" y="4496862"/>
            <a:ext cx="582706" cy="586126"/>
          </a:xfrm>
          <a:prstGeom prst="smileyFac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cxnSp>
        <p:nvCxnSpPr>
          <p:cNvPr id="21" name="直線コネクタ 20">
            <a:extLst>
              <a:ext uri="{FF2B5EF4-FFF2-40B4-BE49-F238E27FC236}">
                <a16:creationId xmlns:a16="http://schemas.microsoft.com/office/drawing/2014/main" id="{9721F91E-65E2-4C5C-893A-9905417626D0}"/>
              </a:ext>
            </a:extLst>
          </p:cNvPr>
          <p:cNvCxnSpPr>
            <a:cxnSpLocks/>
            <a:stCxn id="10" idx="6"/>
          </p:cNvCxnSpPr>
          <p:nvPr/>
        </p:nvCxnSpPr>
        <p:spPr>
          <a:xfrm>
            <a:off x="1615061" y="4078592"/>
            <a:ext cx="5054682" cy="12335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sp>
        <p:nvSpPr>
          <p:cNvPr id="24" name="楕円 23">
            <a:extLst>
              <a:ext uri="{FF2B5EF4-FFF2-40B4-BE49-F238E27FC236}">
                <a16:creationId xmlns:a16="http://schemas.microsoft.com/office/drawing/2014/main" id="{A118DB76-A7F0-4140-86BB-E0790B765896}"/>
              </a:ext>
            </a:extLst>
          </p:cNvPr>
          <p:cNvSpPr/>
          <p:nvPr/>
        </p:nvSpPr>
        <p:spPr>
          <a:xfrm>
            <a:off x="6590753" y="3473124"/>
            <a:ext cx="1080000" cy="10800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D729B38C-F860-4E81-9CE9-C8D7F5A0991F}"/>
              </a:ext>
            </a:extLst>
          </p:cNvPr>
          <p:cNvSpPr txBox="1"/>
          <p:nvPr/>
        </p:nvSpPr>
        <p:spPr>
          <a:xfrm>
            <a:off x="663389" y="5866113"/>
            <a:ext cx="8802410" cy="461665"/>
          </a:xfrm>
          <a:prstGeom prst="rect">
            <a:avLst/>
          </a:prstGeom>
          <a:noFill/>
        </p:spPr>
        <p:txBody>
          <a:bodyPr wrap="none" rtlCol="0">
            <a:spAutoFit/>
          </a:bodyPr>
          <a:lstStyle/>
          <a:p>
            <a:r>
              <a:rPr kumimoji="1" lang="ja-JP" altLang="en-US" sz="2400" b="1" dirty="0">
                <a:solidFill>
                  <a:srgbClr val="FF0000"/>
                </a:solidFill>
              </a:rPr>
              <a:t>このようにレイをたどる手法をレイトレーシングと言います。</a:t>
            </a:r>
            <a:endParaRPr kumimoji="1" lang="en-US" altLang="ja-JP" sz="2400" b="1" dirty="0">
              <a:solidFill>
                <a:srgbClr val="FF0000"/>
              </a:solidFill>
            </a:endParaRPr>
          </a:p>
        </p:txBody>
      </p:sp>
    </p:spTree>
    <p:extLst>
      <p:ext uri="{BB962C8B-B14F-4D97-AF65-F5344CB8AC3E}">
        <p14:creationId xmlns:p14="http://schemas.microsoft.com/office/powerpoint/2010/main" val="2797515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直線矢印コネクタ 15">
            <a:extLst>
              <a:ext uri="{FF2B5EF4-FFF2-40B4-BE49-F238E27FC236}">
                <a16:creationId xmlns:a16="http://schemas.microsoft.com/office/drawing/2014/main" id="{860FB26B-CE62-4F44-AD7B-F886D4C8CD4B}"/>
              </a:ext>
            </a:extLst>
          </p:cNvPr>
          <p:cNvCxnSpPr>
            <a:cxnSpLocks/>
          </p:cNvCxnSpPr>
          <p:nvPr/>
        </p:nvCxnSpPr>
        <p:spPr>
          <a:xfrm flipV="1">
            <a:off x="1634921" y="2348753"/>
            <a:ext cx="2833984" cy="1725356"/>
          </a:xfrm>
          <a:prstGeom prst="straightConnector1">
            <a:avLst/>
          </a:prstGeom>
          <a:ln w="57150">
            <a:tailEnd type="triangle"/>
          </a:ln>
        </p:spPr>
        <p:style>
          <a:lnRef idx="1">
            <a:schemeClr val="accent4"/>
          </a:lnRef>
          <a:fillRef idx="0">
            <a:schemeClr val="accent4"/>
          </a:fillRef>
          <a:effectRef idx="0">
            <a:schemeClr val="accent4"/>
          </a:effectRef>
          <a:fontRef idx="minor">
            <a:schemeClr val="tx1"/>
          </a:fontRef>
        </p:style>
      </p:cxn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lang="ja-JP" altLang="en-US" sz="3200" b="1" u="sng" dirty="0"/>
              <a:t>レイトレーシング</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186857" cy="830997"/>
          </a:xfrm>
          <a:prstGeom prst="rect">
            <a:avLst/>
          </a:prstGeom>
          <a:noFill/>
        </p:spPr>
        <p:txBody>
          <a:bodyPr wrap="none" rtlCol="0">
            <a:spAutoFit/>
          </a:bodyPr>
          <a:lstStyle/>
          <a:p>
            <a:r>
              <a:rPr kumimoji="1" lang="ja-JP" altLang="en-US" sz="2400" dirty="0"/>
              <a:t>このレイを視点の位置から画面ピクセル数分とばします。</a:t>
            </a:r>
            <a:endParaRPr kumimoji="1" lang="en-US" altLang="ja-JP" sz="2400" dirty="0"/>
          </a:p>
          <a:p>
            <a:r>
              <a:rPr lang="en-US" altLang="ja-JP" sz="2400" dirty="0"/>
              <a:t>※FHD</a:t>
            </a:r>
            <a:r>
              <a:rPr lang="ja-JP" altLang="en-US" sz="2400" dirty="0"/>
              <a:t>の場合、</a:t>
            </a:r>
            <a:r>
              <a:rPr lang="en-US" altLang="ja-JP" sz="2400" dirty="0"/>
              <a:t>1920×1080</a:t>
            </a:r>
            <a:r>
              <a:rPr lang="ja-JP" altLang="en-US" sz="2400" dirty="0"/>
              <a:t>本</a:t>
            </a:r>
            <a:endParaRPr kumimoji="1" lang="en-US" altLang="ja-JP" sz="2400" dirty="0"/>
          </a:p>
        </p:txBody>
      </p:sp>
      <p:grpSp>
        <p:nvGrpSpPr>
          <p:cNvPr id="11" name="グループ化 10">
            <a:extLst>
              <a:ext uri="{FF2B5EF4-FFF2-40B4-BE49-F238E27FC236}">
                <a16:creationId xmlns:a16="http://schemas.microsoft.com/office/drawing/2014/main" id="{5FB87BC1-5E39-4D6A-912F-37EEE6FCE1D9}"/>
              </a:ext>
            </a:extLst>
          </p:cNvPr>
          <p:cNvGrpSpPr/>
          <p:nvPr/>
        </p:nvGrpSpPr>
        <p:grpSpPr>
          <a:xfrm>
            <a:off x="977153" y="3715521"/>
            <a:ext cx="720000" cy="718588"/>
            <a:chOff x="995082" y="3711388"/>
            <a:chExt cx="720000" cy="718588"/>
          </a:xfrm>
        </p:grpSpPr>
        <p:cxnSp>
          <p:nvCxnSpPr>
            <p:cNvPr id="3" name="直線コネクタ 2">
              <a:extLst>
                <a:ext uri="{FF2B5EF4-FFF2-40B4-BE49-F238E27FC236}">
                  <a16:creationId xmlns:a16="http://schemas.microsoft.com/office/drawing/2014/main" id="{2E958AED-E636-4139-BCB6-17E74CE2F4B0}"/>
                </a:ext>
              </a:extLst>
            </p:cNvPr>
            <p:cNvCxnSpPr>
              <a:cxnSpLocks/>
            </p:cNvCxnSpPr>
            <p:nvPr/>
          </p:nvCxnSpPr>
          <p:spPr>
            <a:xfrm flipH="1">
              <a:off x="995082" y="3711388"/>
              <a:ext cx="720000" cy="36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58268E88-CE06-464E-9A02-2E9C133E1A0B}"/>
                </a:ext>
              </a:extLst>
            </p:cNvPr>
            <p:cNvCxnSpPr>
              <a:cxnSpLocks/>
            </p:cNvCxnSpPr>
            <p:nvPr/>
          </p:nvCxnSpPr>
          <p:spPr>
            <a:xfrm flipH="1" flipV="1">
              <a:off x="995082" y="4069976"/>
              <a:ext cx="720000" cy="36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楕円 9">
              <a:extLst>
                <a:ext uri="{FF2B5EF4-FFF2-40B4-BE49-F238E27FC236}">
                  <a16:creationId xmlns:a16="http://schemas.microsoft.com/office/drawing/2014/main" id="{EAF16889-51A4-470F-AD70-5B57DF5EB20C}"/>
                </a:ext>
              </a:extLst>
            </p:cNvPr>
            <p:cNvSpPr/>
            <p:nvPr/>
          </p:nvSpPr>
          <p:spPr>
            <a:xfrm>
              <a:off x="1390942" y="3827929"/>
              <a:ext cx="242048" cy="493059"/>
            </a:xfrm>
            <a:prstGeom prst="ellipse">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3" name="四角形: 角を丸くする 12">
            <a:extLst>
              <a:ext uri="{FF2B5EF4-FFF2-40B4-BE49-F238E27FC236}">
                <a16:creationId xmlns:a16="http://schemas.microsoft.com/office/drawing/2014/main" id="{C8E25D75-A330-4C07-8374-20199B1DFB2A}"/>
              </a:ext>
            </a:extLst>
          </p:cNvPr>
          <p:cNvSpPr/>
          <p:nvPr/>
        </p:nvSpPr>
        <p:spPr>
          <a:xfrm>
            <a:off x="663389" y="5082988"/>
            <a:ext cx="11035552" cy="484094"/>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4" name="二等辺三角形 13">
            <a:extLst>
              <a:ext uri="{FF2B5EF4-FFF2-40B4-BE49-F238E27FC236}">
                <a16:creationId xmlns:a16="http://schemas.microsoft.com/office/drawing/2014/main" id="{75BFDE3C-132D-4824-9D34-5FBD2CA6D13D}"/>
              </a:ext>
            </a:extLst>
          </p:cNvPr>
          <p:cNvSpPr/>
          <p:nvPr/>
        </p:nvSpPr>
        <p:spPr>
          <a:xfrm>
            <a:off x="4240305" y="4675203"/>
            <a:ext cx="457200" cy="407785"/>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15" name="スマイル 14">
            <a:extLst>
              <a:ext uri="{FF2B5EF4-FFF2-40B4-BE49-F238E27FC236}">
                <a16:creationId xmlns:a16="http://schemas.microsoft.com/office/drawing/2014/main" id="{246962DF-0148-47ED-A323-4B6EFF02438D}"/>
              </a:ext>
            </a:extLst>
          </p:cNvPr>
          <p:cNvSpPr/>
          <p:nvPr/>
        </p:nvSpPr>
        <p:spPr>
          <a:xfrm>
            <a:off x="9123494" y="4496862"/>
            <a:ext cx="582706" cy="586126"/>
          </a:xfrm>
          <a:prstGeom prst="smileyFac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24" name="楕円 23">
            <a:extLst>
              <a:ext uri="{FF2B5EF4-FFF2-40B4-BE49-F238E27FC236}">
                <a16:creationId xmlns:a16="http://schemas.microsoft.com/office/drawing/2014/main" id="{A118DB76-A7F0-4140-86BB-E0790B765896}"/>
              </a:ext>
            </a:extLst>
          </p:cNvPr>
          <p:cNvSpPr/>
          <p:nvPr/>
        </p:nvSpPr>
        <p:spPr>
          <a:xfrm>
            <a:off x="6590753" y="3473124"/>
            <a:ext cx="1080000" cy="10800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cxnSp>
        <p:nvCxnSpPr>
          <p:cNvPr id="17" name="直線矢印コネクタ 16">
            <a:extLst>
              <a:ext uri="{FF2B5EF4-FFF2-40B4-BE49-F238E27FC236}">
                <a16:creationId xmlns:a16="http://schemas.microsoft.com/office/drawing/2014/main" id="{4F056798-E224-4D11-B7F6-79FF4D1C060B}"/>
              </a:ext>
            </a:extLst>
          </p:cNvPr>
          <p:cNvCxnSpPr>
            <a:cxnSpLocks/>
            <a:stCxn id="10" idx="6"/>
          </p:cNvCxnSpPr>
          <p:nvPr/>
        </p:nvCxnSpPr>
        <p:spPr>
          <a:xfrm flipV="1">
            <a:off x="1615061" y="2501154"/>
            <a:ext cx="3006244" cy="1577438"/>
          </a:xfrm>
          <a:prstGeom prst="straightConnector1">
            <a:avLst/>
          </a:prstGeom>
          <a:ln w="57150">
            <a:tailEnd type="triangle"/>
          </a:ln>
        </p:spPr>
        <p:style>
          <a:lnRef idx="1">
            <a:schemeClr val="accent4"/>
          </a:lnRef>
          <a:fillRef idx="0">
            <a:schemeClr val="accent4"/>
          </a:fillRef>
          <a:effectRef idx="0">
            <a:schemeClr val="accent4"/>
          </a:effectRef>
          <a:fontRef idx="minor">
            <a:schemeClr val="tx1"/>
          </a:fontRef>
        </p:style>
      </p:cxnSp>
      <p:cxnSp>
        <p:nvCxnSpPr>
          <p:cNvPr id="18" name="直線矢印コネクタ 17">
            <a:extLst>
              <a:ext uri="{FF2B5EF4-FFF2-40B4-BE49-F238E27FC236}">
                <a16:creationId xmlns:a16="http://schemas.microsoft.com/office/drawing/2014/main" id="{A1929699-D9A4-4B54-8820-DE6DBE1058FD}"/>
              </a:ext>
            </a:extLst>
          </p:cNvPr>
          <p:cNvCxnSpPr>
            <a:cxnSpLocks/>
            <a:stCxn id="10" idx="6"/>
          </p:cNvCxnSpPr>
          <p:nvPr/>
        </p:nvCxnSpPr>
        <p:spPr>
          <a:xfrm flipV="1">
            <a:off x="1615061" y="2692354"/>
            <a:ext cx="3151646" cy="1386238"/>
          </a:xfrm>
          <a:prstGeom prst="straightConnector1">
            <a:avLst/>
          </a:prstGeom>
          <a:ln w="57150">
            <a:tailEnd type="triangle"/>
          </a:ln>
        </p:spPr>
        <p:style>
          <a:lnRef idx="1">
            <a:schemeClr val="accent4"/>
          </a:lnRef>
          <a:fillRef idx="0">
            <a:schemeClr val="accent4"/>
          </a:fillRef>
          <a:effectRef idx="0">
            <a:schemeClr val="accent4"/>
          </a:effectRef>
          <a:fontRef idx="minor">
            <a:schemeClr val="tx1"/>
          </a:fontRef>
        </p:style>
      </p:cxnSp>
      <p:cxnSp>
        <p:nvCxnSpPr>
          <p:cNvPr id="20" name="直線矢印コネクタ 19">
            <a:extLst>
              <a:ext uri="{FF2B5EF4-FFF2-40B4-BE49-F238E27FC236}">
                <a16:creationId xmlns:a16="http://schemas.microsoft.com/office/drawing/2014/main" id="{D13D3C1B-80CC-4199-8FA3-2C360F67BF59}"/>
              </a:ext>
            </a:extLst>
          </p:cNvPr>
          <p:cNvCxnSpPr>
            <a:cxnSpLocks/>
          </p:cNvCxnSpPr>
          <p:nvPr/>
        </p:nvCxnSpPr>
        <p:spPr>
          <a:xfrm flipV="1">
            <a:off x="1615061" y="2935051"/>
            <a:ext cx="3216915" cy="1170261"/>
          </a:xfrm>
          <a:prstGeom prst="straightConnector1">
            <a:avLst/>
          </a:prstGeom>
          <a:ln w="57150">
            <a:tailEnd type="triangle"/>
          </a:ln>
        </p:spPr>
        <p:style>
          <a:lnRef idx="1">
            <a:schemeClr val="accent4"/>
          </a:lnRef>
          <a:fillRef idx="0">
            <a:schemeClr val="accent4"/>
          </a:fillRef>
          <a:effectRef idx="0">
            <a:schemeClr val="accent4"/>
          </a:effectRef>
          <a:fontRef idx="minor">
            <a:schemeClr val="tx1"/>
          </a:fontRef>
        </p:style>
      </p:cxnSp>
      <p:cxnSp>
        <p:nvCxnSpPr>
          <p:cNvPr id="22" name="直線矢印コネクタ 21">
            <a:extLst>
              <a:ext uri="{FF2B5EF4-FFF2-40B4-BE49-F238E27FC236}">
                <a16:creationId xmlns:a16="http://schemas.microsoft.com/office/drawing/2014/main" id="{9F6F069F-5A89-40BC-B150-2BEE3A5D88F9}"/>
              </a:ext>
            </a:extLst>
          </p:cNvPr>
          <p:cNvCxnSpPr>
            <a:cxnSpLocks/>
            <a:stCxn id="10" idx="6"/>
          </p:cNvCxnSpPr>
          <p:nvPr/>
        </p:nvCxnSpPr>
        <p:spPr>
          <a:xfrm flipV="1">
            <a:off x="1615061" y="3199895"/>
            <a:ext cx="3279668" cy="878697"/>
          </a:xfrm>
          <a:prstGeom prst="straightConnector1">
            <a:avLst/>
          </a:prstGeom>
          <a:ln w="57150">
            <a:tailEnd type="triangle"/>
          </a:ln>
        </p:spPr>
        <p:style>
          <a:lnRef idx="1">
            <a:schemeClr val="accent4"/>
          </a:lnRef>
          <a:fillRef idx="0">
            <a:schemeClr val="accent4"/>
          </a:fillRef>
          <a:effectRef idx="0">
            <a:schemeClr val="accent4"/>
          </a:effectRef>
          <a:fontRef idx="minor">
            <a:schemeClr val="tx1"/>
          </a:fontRef>
        </p:style>
      </p:cxnSp>
      <p:cxnSp>
        <p:nvCxnSpPr>
          <p:cNvPr id="25" name="直線矢印コネクタ 24">
            <a:extLst>
              <a:ext uri="{FF2B5EF4-FFF2-40B4-BE49-F238E27FC236}">
                <a16:creationId xmlns:a16="http://schemas.microsoft.com/office/drawing/2014/main" id="{F6490F64-4749-4492-B07C-552A9EF3980D}"/>
              </a:ext>
            </a:extLst>
          </p:cNvPr>
          <p:cNvCxnSpPr>
            <a:cxnSpLocks/>
            <a:stCxn id="10" idx="6"/>
          </p:cNvCxnSpPr>
          <p:nvPr/>
        </p:nvCxnSpPr>
        <p:spPr>
          <a:xfrm flipV="1">
            <a:off x="1615061" y="3421687"/>
            <a:ext cx="3353686" cy="656905"/>
          </a:xfrm>
          <a:prstGeom prst="straightConnector1">
            <a:avLst/>
          </a:prstGeom>
          <a:ln w="57150">
            <a:tailEnd type="triangle"/>
          </a:ln>
        </p:spPr>
        <p:style>
          <a:lnRef idx="1">
            <a:schemeClr val="accent4"/>
          </a:lnRef>
          <a:fillRef idx="0">
            <a:schemeClr val="accent4"/>
          </a:fillRef>
          <a:effectRef idx="0">
            <a:schemeClr val="accent4"/>
          </a:effectRef>
          <a:fontRef idx="minor">
            <a:schemeClr val="tx1"/>
          </a:fontRef>
        </p:style>
      </p:cxnSp>
      <p:grpSp>
        <p:nvGrpSpPr>
          <p:cNvPr id="38" name="グループ化 37">
            <a:extLst>
              <a:ext uri="{FF2B5EF4-FFF2-40B4-BE49-F238E27FC236}">
                <a16:creationId xmlns:a16="http://schemas.microsoft.com/office/drawing/2014/main" id="{EDC3F3D4-716C-46F7-B7FE-A8B706D026EB}"/>
              </a:ext>
            </a:extLst>
          </p:cNvPr>
          <p:cNvGrpSpPr/>
          <p:nvPr/>
        </p:nvGrpSpPr>
        <p:grpSpPr>
          <a:xfrm rot="1467915">
            <a:off x="1585781" y="3218633"/>
            <a:ext cx="3503954" cy="1604158"/>
            <a:chOff x="1409956" y="2485372"/>
            <a:chExt cx="3503954" cy="1604158"/>
          </a:xfrm>
        </p:grpSpPr>
        <p:cxnSp>
          <p:nvCxnSpPr>
            <p:cNvPr id="32" name="直線矢印コネクタ 31">
              <a:extLst>
                <a:ext uri="{FF2B5EF4-FFF2-40B4-BE49-F238E27FC236}">
                  <a16:creationId xmlns:a16="http://schemas.microsoft.com/office/drawing/2014/main" id="{31DD1D23-612C-477A-8B52-E176FC508F21}"/>
                </a:ext>
              </a:extLst>
            </p:cNvPr>
            <p:cNvCxnSpPr>
              <a:cxnSpLocks/>
            </p:cNvCxnSpPr>
            <p:nvPr/>
          </p:nvCxnSpPr>
          <p:spPr>
            <a:xfrm rot="20132085" flipV="1">
              <a:off x="1409956" y="2932213"/>
              <a:ext cx="3322688" cy="458676"/>
            </a:xfrm>
            <a:prstGeom prst="straightConnector1">
              <a:avLst/>
            </a:prstGeom>
            <a:ln w="57150">
              <a:tailEnd type="triangle"/>
            </a:ln>
          </p:spPr>
          <p:style>
            <a:lnRef idx="1">
              <a:schemeClr val="accent4"/>
            </a:lnRef>
            <a:fillRef idx="0">
              <a:schemeClr val="accent4"/>
            </a:fillRef>
            <a:effectRef idx="0">
              <a:schemeClr val="accent4"/>
            </a:effectRef>
            <a:fontRef idx="minor">
              <a:schemeClr val="tx1"/>
            </a:fontRef>
          </p:style>
        </p:cxnSp>
        <p:cxnSp>
          <p:nvCxnSpPr>
            <p:cNvPr id="33" name="直線矢印コネクタ 32">
              <a:extLst>
                <a:ext uri="{FF2B5EF4-FFF2-40B4-BE49-F238E27FC236}">
                  <a16:creationId xmlns:a16="http://schemas.microsoft.com/office/drawing/2014/main" id="{6D4D849C-91E5-4BE4-9A7F-84EB44D9C1E8}"/>
                </a:ext>
              </a:extLst>
            </p:cNvPr>
            <p:cNvCxnSpPr>
              <a:cxnSpLocks/>
            </p:cNvCxnSpPr>
            <p:nvPr/>
          </p:nvCxnSpPr>
          <p:spPr>
            <a:xfrm flipV="1">
              <a:off x="1634242" y="2485372"/>
              <a:ext cx="3006244" cy="1577438"/>
            </a:xfrm>
            <a:prstGeom prst="straightConnector1">
              <a:avLst/>
            </a:prstGeom>
            <a:ln w="57150">
              <a:tailEnd type="triangle"/>
            </a:ln>
          </p:spPr>
          <p:style>
            <a:lnRef idx="1">
              <a:schemeClr val="accent4"/>
            </a:lnRef>
            <a:fillRef idx="0">
              <a:schemeClr val="accent4"/>
            </a:fillRef>
            <a:effectRef idx="0">
              <a:schemeClr val="accent4"/>
            </a:effectRef>
            <a:fontRef idx="minor">
              <a:schemeClr val="tx1"/>
            </a:fontRef>
          </p:style>
        </p:cxnSp>
        <p:cxnSp>
          <p:nvCxnSpPr>
            <p:cNvPr id="34" name="直線矢印コネクタ 33">
              <a:extLst>
                <a:ext uri="{FF2B5EF4-FFF2-40B4-BE49-F238E27FC236}">
                  <a16:creationId xmlns:a16="http://schemas.microsoft.com/office/drawing/2014/main" id="{BFEEA9AF-1C1A-4EC8-870D-F6DD2FEACE25}"/>
                </a:ext>
              </a:extLst>
            </p:cNvPr>
            <p:cNvCxnSpPr>
              <a:cxnSpLocks/>
            </p:cNvCxnSpPr>
            <p:nvPr/>
          </p:nvCxnSpPr>
          <p:spPr>
            <a:xfrm flipV="1">
              <a:off x="1634242" y="2676572"/>
              <a:ext cx="3151646" cy="1386238"/>
            </a:xfrm>
            <a:prstGeom prst="straightConnector1">
              <a:avLst/>
            </a:prstGeom>
            <a:ln w="57150">
              <a:tailEnd type="triangle"/>
            </a:ln>
          </p:spPr>
          <p:style>
            <a:lnRef idx="1">
              <a:schemeClr val="accent4"/>
            </a:lnRef>
            <a:fillRef idx="0">
              <a:schemeClr val="accent4"/>
            </a:fillRef>
            <a:effectRef idx="0">
              <a:schemeClr val="accent4"/>
            </a:effectRef>
            <a:fontRef idx="minor">
              <a:schemeClr val="tx1"/>
            </a:fontRef>
          </p:style>
        </p:cxnSp>
        <p:cxnSp>
          <p:nvCxnSpPr>
            <p:cNvPr id="35" name="直線矢印コネクタ 34">
              <a:extLst>
                <a:ext uri="{FF2B5EF4-FFF2-40B4-BE49-F238E27FC236}">
                  <a16:creationId xmlns:a16="http://schemas.microsoft.com/office/drawing/2014/main" id="{A1214E06-0649-46C7-AB24-271D11574DAF}"/>
                </a:ext>
              </a:extLst>
            </p:cNvPr>
            <p:cNvCxnSpPr>
              <a:cxnSpLocks/>
            </p:cNvCxnSpPr>
            <p:nvPr/>
          </p:nvCxnSpPr>
          <p:spPr>
            <a:xfrm flipV="1">
              <a:off x="1634242" y="2919269"/>
              <a:ext cx="3216915" cy="1170261"/>
            </a:xfrm>
            <a:prstGeom prst="straightConnector1">
              <a:avLst/>
            </a:prstGeom>
            <a:ln w="57150">
              <a:tailEnd type="triangle"/>
            </a:ln>
          </p:spPr>
          <p:style>
            <a:lnRef idx="1">
              <a:schemeClr val="accent4"/>
            </a:lnRef>
            <a:fillRef idx="0">
              <a:schemeClr val="accent4"/>
            </a:fillRef>
            <a:effectRef idx="0">
              <a:schemeClr val="accent4"/>
            </a:effectRef>
            <a:fontRef idx="minor">
              <a:schemeClr val="tx1"/>
            </a:fontRef>
          </p:style>
        </p:cxnSp>
        <p:cxnSp>
          <p:nvCxnSpPr>
            <p:cNvPr id="36" name="直線矢印コネクタ 35">
              <a:extLst>
                <a:ext uri="{FF2B5EF4-FFF2-40B4-BE49-F238E27FC236}">
                  <a16:creationId xmlns:a16="http://schemas.microsoft.com/office/drawing/2014/main" id="{5DE5ECAB-CD00-4BA6-913B-08368E5FB9D8}"/>
                </a:ext>
              </a:extLst>
            </p:cNvPr>
            <p:cNvCxnSpPr>
              <a:cxnSpLocks/>
            </p:cNvCxnSpPr>
            <p:nvPr/>
          </p:nvCxnSpPr>
          <p:spPr>
            <a:xfrm flipV="1">
              <a:off x="1634242" y="3184113"/>
              <a:ext cx="3279668" cy="878697"/>
            </a:xfrm>
            <a:prstGeom prst="straightConnector1">
              <a:avLst/>
            </a:prstGeom>
            <a:ln w="57150">
              <a:tailEnd type="triangle"/>
            </a:ln>
          </p:spPr>
          <p:style>
            <a:lnRef idx="1">
              <a:schemeClr val="accent4"/>
            </a:lnRef>
            <a:fillRef idx="0">
              <a:schemeClr val="accent4"/>
            </a:fillRef>
            <a:effectRef idx="0">
              <a:schemeClr val="accent4"/>
            </a:effectRef>
            <a:fontRef idx="minor">
              <a:schemeClr val="tx1"/>
            </a:fontRef>
          </p:style>
        </p:cxnSp>
      </p:grpSp>
      <p:sp>
        <p:nvSpPr>
          <p:cNvPr id="40" name="テキスト ボックス 39">
            <a:extLst>
              <a:ext uri="{FF2B5EF4-FFF2-40B4-BE49-F238E27FC236}">
                <a16:creationId xmlns:a16="http://schemas.microsoft.com/office/drawing/2014/main" id="{7335F778-F3D4-4C1D-9F83-6B36660632D9}"/>
              </a:ext>
            </a:extLst>
          </p:cNvPr>
          <p:cNvSpPr txBox="1"/>
          <p:nvPr/>
        </p:nvSpPr>
        <p:spPr>
          <a:xfrm>
            <a:off x="567542" y="5728680"/>
            <a:ext cx="9725739" cy="830997"/>
          </a:xfrm>
          <a:prstGeom prst="rect">
            <a:avLst/>
          </a:prstGeom>
          <a:noFill/>
        </p:spPr>
        <p:txBody>
          <a:bodyPr wrap="none" rtlCol="0">
            <a:spAutoFit/>
          </a:bodyPr>
          <a:lstStyle/>
          <a:p>
            <a:r>
              <a:rPr kumimoji="1" lang="ja-JP" altLang="en-US" sz="2400" dirty="0"/>
              <a:t>生半可な端末では処理できません。</a:t>
            </a:r>
            <a:endParaRPr kumimoji="1" lang="en-US" altLang="ja-JP" sz="2400" dirty="0"/>
          </a:p>
          <a:p>
            <a:r>
              <a:rPr lang="ja-JP" altLang="en-US" sz="2400" dirty="0"/>
              <a:t>それでも最近はレイトレーシング対応スマホもあるようですが。。。</a:t>
            </a:r>
            <a:endParaRPr lang="en-US" altLang="ja-JP" sz="2400" dirty="0"/>
          </a:p>
        </p:txBody>
      </p:sp>
    </p:spTree>
    <p:extLst>
      <p:ext uri="{BB962C8B-B14F-4D97-AF65-F5344CB8AC3E}">
        <p14:creationId xmlns:p14="http://schemas.microsoft.com/office/powerpoint/2010/main" val="2399377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lang="ja-JP" altLang="en-US" sz="3200" b="1" u="sng" dirty="0"/>
              <a:t>レイトレーシング</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494633" cy="1200329"/>
          </a:xfrm>
          <a:prstGeom prst="rect">
            <a:avLst/>
          </a:prstGeom>
          <a:noFill/>
        </p:spPr>
        <p:txBody>
          <a:bodyPr wrap="none" rtlCol="0">
            <a:spAutoFit/>
          </a:bodyPr>
          <a:lstStyle/>
          <a:p>
            <a:r>
              <a:rPr kumimoji="1" lang="ja-JP" altLang="en-US" sz="2400" dirty="0"/>
              <a:t>非常にコストの高い処理にはなりますが、</a:t>
            </a:r>
            <a:endParaRPr kumimoji="1" lang="en-US" altLang="ja-JP" sz="2400" dirty="0"/>
          </a:p>
          <a:p>
            <a:r>
              <a:rPr lang="ja-JP" altLang="en-US" sz="2400" dirty="0"/>
              <a:t>現実とほとんど同じような描画結果を得ることができます。</a:t>
            </a:r>
            <a:endParaRPr lang="en-US" altLang="ja-JP" sz="2400" dirty="0"/>
          </a:p>
          <a:p>
            <a:r>
              <a:rPr kumimoji="1" lang="ja-JP" altLang="en-US" sz="2400" dirty="0"/>
              <a:t>実際に</a:t>
            </a:r>
            <a:r>
              <a:rPr kumimoji="1" lang="en-US" altLang="ja-JP" sz="2400" dirty="0"/>
              <a:t>Unity</a:t>
            </a:r>
            <a:r>
              <a:rPr kumimoji="1" lang="ja-JP" altLang="en-US" sz="2400" dirty="0"/>
              <a:t>で使ってみて体験しましょう。</a:t>
            </a:r>
            <a:endParaRPr kumimoji="1" lang="en-US" altLang="ja-JP" sz="2400" dirty="0"/>
          </a:p>
        </p:txBody>
      </p:sp>
      <p:pic>
        <p:nvPicPr>
          <p:cNvPr id="5" name="図 4">
            <a:extLst>
              <a:ext uri="{FF2B5EF4-FFF2-40B4-BE49-F238E27FC236}">
                <a16:creationId xmlns:a16="http://schemas.microsoft.com/office/drawing/2014/main" id="{0BB1679A-D3F0-46C3-9951-B4DA31E6F609}"/>
              </a:ext>
            </a:extLst>
          </p:cNvPr>
          <p:cNvPicPr>
            <a:picLocks noChangeAspect="1"/>
          </p:cNvPicPr>
          <p:nvPr/>
        </p:nvPicPr>
        <p:blipFill>
          <a:blip r:embed="rId2"/>
          <a:stretch>
            <a:fillRect/>
          </a:stretch>
        </p:blipFill>
        <p:spPr>
          <a:xfrm>
            <a:off x="567542" y="2556458"/>
            <a:ext cx="7315200" cy="3931920"/>
          </a:xfrm>
          <a:prstGeom prst="rect">
            <a:avLst/>
          </a:prstGeom>
        </p:spPr>
      </p:pic>
    </p:spTree>
    <p:extLst>
      <p:ext uri="{BB962C8B-B14F-4D97-AF65-F5344CB8AC3E}">
        <p14:creationId xmlns:p14="http://schemas.microsoft.com/office/powerpoint/2010/main" val="4244510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lang="ja-JP" altLang="en-US" sz="3200" b="1" u="sng" dirty="0"/>
              <a:t>レイトレーシング</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199407" cy="830997"/>
          </a:xfrm>
          <a:prstGeom prst="rect">
            <a:avLst/>
          </a:prstGeom>
          <a:noFill/>
        </p:spPr>
        <p:txBody>
          <a:bodyPr wrap="none" rtlCol="0">
            <a:spAutoFit/>
          </a:bodyPr>
          <a:lstStyle/>
          <a:p>
            <a:r>
              <a:rPr kumimoji="1" lang="en-US" altLang="ja-JP" sz="2400" dirty="0"/>
              <a:t>High Definition 3D </a:t>
            </a:r>
            <a:r>
              <a:rPr kumimoji="1" lang="ja-JP" altLang="en-US" sz="2400" dirty="0"/>
              <a:t>でプロジェクトを作成します。</a:t>
            </a:r>
            <a:endParaRPr kumimoji="1" lang="en-US" altLang="ja-JP" sz="2400" dirty="0"/>
          </a:p>
          <a:p>
            <a:r>
              <a:rPr lang="en-US" altLang="ja-JP" sz="2400" dirty="0"/>
              <a:t>※</a:t>
            </a:r>
            <a:r>
              <a:rPr lang="ja-JP" altLang="en-US" sz="2400" dirty="0"/>
              <a:t>不要パッケージ削除をお忘れなく</a:t>
            </a:r>
            <a:endParaRPr kumimoji="1" lang="en-US" altLang="ja-JP" sz="2400" dirty="0"/>
          </a:p>
        </p:txBody>
      </p:sp>
      <p:pic>
        <p:nvPicPr>
          <p:cNvPr id="3" name="図 2">
            <a:extLst>
              <a:ext uri="{FF2B5EF4-FFF2-40B4-BE49-F238E27FC236}">
                <a16:creationId xmlns:a16="http://schemas.microsoft.com/office/drawing/2014/main" id="{2219FFF8-221C-49E2-A5C4-88743AB58BDB}"/>
              </a:ext>
            </a:extLst>
          </p:cNvPr>
          <p:cNvPicPr>
            <a:picLocks noChangeAspect="1"/>
          </p:cNvPicPr>
          <p:nvPr/>
        </p:nvPicPr>
        <p:blipFill>
          <a:blip r:embed="rId2"/>
          <a:stretch>
            <a:fillRect/>
          </a:stretch>
        </p:blipFill>
        <p:spPr>
          <a:xfrm>
            <a:off x="567542" y="2187126"/>
            <a:ext cx="8074434" cy="4340008"/>
          </a:xfrm>
          <a:prstGeom prst="rect">
            <a:avLst/>
          </a:prstGeom>
        </p:spPr>
      </p:pic>
    </p:spTree>
    <p:extLst>
      <p:ext uri="{BB962C8B-B14F-4D97-AF65-F5344CB8AC3E}">
        <p14:creationId xmlns:p14="http://schemas.microsoft.com/office/powerpoint/2010/main" val="3375130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lang="ja-JP" altLang="en-US" sz="3200" b="1" u="sng" dirty="0"/>
              <a:t>レイトレーシング</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932527" cy="461665"/>
          </a:xfrm>
          <a:prstGeom prst="rect">
            <a:avLst/>
          </a:prstGeom>
          <a:noFill/>
        </p:spPr>
        <p:txBody>
          <a:bodyPr wrap="none" rtlCol="0">
            <a:spAutoFit/>
          </a:bodyPr>
          <a:lstStyle/>
          <a:p>
            <a:r>
              <a:rPr kumimoji="1" lang="en-US" altLang="ja-JP" sz="2400" dirty="0"/>
              <a:t>Project Settings</a:t>
            </a:r>
            <a:r>
              <a:rPr lang="ja-JP" altLang="en-US" sz="2400" dirty="0"/>
              <a:t> からレイトレーシング用の設定をします。（その１）</a:t>
            </a:r>
            <a:endParaRPr kumimoji="1" lang="en-US" altLang="ja-JP" sz="2400" dirty="0"/>
          </a:p>
        </p:txBody>
      </p:sp>
      <p:pic>
        <p:nvPicPr>
          <p:cNvPr id="3" name="図 2">
            <a:extLst>
              <a:ext uri="{FF2B5EF4-FFF2-40B4-BE49-F238E27FC236}">
                <a16:creationId xmlns:a16="http://schemas.microsoft.com/office/drawing/2014/main" id="{AB065BC2-8752-4163-9395-86FDF59288D1}"/>
              </a:ext>
            </a:extLst>
          </p:cNvPr>
          <p:cNvPicPr>
            <a:picLocks noChangeAspect="1"/>
          </p:cNvPicPr>
          <p:nvPr/>
        </p:nvPicPr>
        <p:blipFill>
          <a:blip r:embed="rId2"/>
          <a:stretch>
            <a:fillRect/>
          </a:stretch>
        </p:blipFill>
        <p:spPr>
          <a:xfrm>
            <a:off x="567542" y="1817794"/>
            <a:ext cx="6176699" cy="4726441"/>
          </a:xfrm>
          <a:prstGeom prst="rect">
            <a:avLst/>
          </a:prstGeom>
        </p:spPr>
      </p:pic>
      <p:sp>
        <p:nvSpPr>
          <p:cNvPr id="5" name="正方形/長方形 4">
            <a:extLst>
              <a:ext uri="{FF2B5EF4-FFF2-40B4-BE49-F238E27FC236}">
                <a16:creationId xmlns:a16="http://schemas.microsoft.com/office/drawing/2014/main" id="{B85E0E5E-5D5A-4217-AC55-CC7C57DF52E1}"/>
              </a:ext>
            </a:extLst>
          </p:cNvPr>
          <p:cNvSpPr/>
          <p:nvPr/>
        </p:nvSpPr>
        <p:spPr>
          <a:xfrm>
            <a:off x="1577788" y="4912659"/>
            <a:ext cx="5166453" cy="57374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矢印: 右 6">
            <a:extLst>
              <a:ext uri="{FF2B5EF4-FFF2-40B4-BE49-F238E27FC236}">
                <a16:creationId xmlns:a16="http://schemas.microsoft.com/office/drawing/2014/main" id="{165FA3C6-D3A5-4C45-9391-102C8D718508}"/>
              </a:ext>
            </a:extLst>
          </p:cNvPr>
          <p:cNvSpPr/>
          <p:nvPr/>
        </p:nvSpPr>
        <p:spPr>
          <a:xfrm rot="13634274">
            <a:off x="950507" y="4603652"/>
            <a:ext cx="482635" cy="40341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18521510-FDF9-4AA0-8935-EB52572463CF}"/>
              </a:ext>
            </a:extLst>
          </p:cNvPr>
          <p:cNvSpPr txBox="1"/>
          <p:nvPr/>
        </p:nvSpPr>
        <p:spPr>
          <a:xfrm>
            <a:off x="6874346" y="2833711"/>
            <a:ext cx="5314275" cy="2554545"/>
          </a:xfrm>
          <a:prstGeom prst="rect">
            <a:avLst/>
          </a:prstGeom>
          <a:noFill/>
        </p:spPr>
        <p:txBody>
          <a:bodyPr wrap="none" rtlCol="0">
            <a:spAutoFit/>
          </a:bodyPr>
          <a:lstStyle/>
          <a:p>
            <a:r>
              <a:rPr kumimoji="1" lang="ja-JP" altLang="en-US" sz="2000" b="1" dirty="0">
                <a:solidFill>
                  <a:srgbClr val="FF0000"/>
                </a:solidFill>
              </a:rPr>
              <a:t>■</a:t>
            </a:r>
            <a:r>
              <a:rPr kumimoji="1" lang="en-US" altLang="ja-JP" sz="2000" b="1" dirty="0">
                <a:solidFill>
                  <a:srgbClr val="FF0000"/>
                </a:solidFill>
              </a:rPr>
              <a:t>Supported Ray Tracing Mode</a:t>
            </a:r>
          </a:p>
          <a:p>
            <a:r>
              <a:rPr lang="ja-JP" altLang="en-US" sz="2000" dirty="0"/>
              <a:t>・</a:t>
            </a:r>
            <a:r>
              <a:rPr lang="en-US" altLang="ja-JP" sz="2000" dirty="0"/>
              <a:t>Performance</a:t>
            </a:r>
            <a:r>
              <a:rPr lang="ja-JP" altLang="en-US" sz="2000" dirty="0"/>
              <a:t>・・・低コスト、低品質</a:t>
            </a:r>
            <a:endParaRPr lang="en-US" altLang="ja-JP" sz="2000" dirty="0"/>
          </a:p>
          <a:p>
            <a:r>
              <a:rPr lang="ja-JP" altLang="en-US" sz="2000" dirty="0"/>
              <a:t>・</a:t>
            </a:r>
            <a:r>
              <a:rPr lang="en-US" altLang="ja-JP" sz="2000" dirty="0"/>
              <a:t>Quality</a:t>
            </a:r>
            <a:r>
              <a:rPr lang="ja-JP" altLang="en-US" sz="2000" dirty="0"/>
              <a:t>・・・高コスト、高品質</a:t>
            </a:r>
            <a:endParaRPr lang="en-US" altLang="ja-JP" sz="2000" dirty="0"/>
          </a:p>
          <a:p>
            <a:r>
              <a:rPr kumimoji="1" lang="ja-JP" altLang="en-US" sz="2000" dirty="0"/>
              <a:t>・</a:t>
            </a:r>
            <a:r>
              <a:rPr kumimoji="1" lang="en-US" altLang="ja-JP" sz="2000" dirty="0"/>
              <a:t>Both</a:t>
            </a:r>
            <a:r>
              <a:rPr kumimoji="1" lang="ja-JP" altLang="en-US" sz="2000" dirty="0"/>
              <a:t>・・・上２つを状況で切り替え</a:t>
            </a:r>
            <a:endParaRPr kumimoji="1" lang="en-US" altLang="ja-JP" sz="2000" dirty="0"/>
          </a:p>
          <a:p>
            <a:endParaRPr lang="en-US" altLang="ja-JP" sz="2000" dirty="0"/>
          </a:p>
          <a:p>
            <a:r>
              <a:rPr kumimoji="1" lang="ja-JP" altLang="en-US" sz="2000" b="1" dirty="0">
                <a:solidFill>
                  <a:srgbClr val="FF0000"/>
                </a:solidFill>
              </a:rPr>
              <a:t>■</a:t>
            </a:r>
            <a:r>
              <a:rPr kumimoji="1" lang="en-US" altLang="ja-JP" sz="2000" b="1" dirty="0">
                <a:solidFill>
                  <a:srgbClr val="FF0000"/>
                </a:solidFill>
              </a:rPr>
              <a:t>Visual Effects Ray Tracing</a:t>
            </a:r>
          </a:p>
          <a:p>
            <a:r>
              <a:rPr kumimoji="1" lang="ja-JP" altLang="en-US" sz="2000" dirty="0"/>
              <a:t>パーティクルシステムによるエフェクトも、</a:t>
            </a:r>
            <a:endParaRPr kumimoji="1" lang="en-US" altLang="ja-JP" sz="2000" dirty="0"/>
          </a:p>
          <a:p>
            <a:r>
              <a:rPr lang="ja-JP" altLang="en-US" sz="2000" dirty="0"/>
              <a:t>レイトレーシングの対象とするかどうか</a:t>
            </a:r>
            <a:endParaRPr kumimoji="1" lang="en-US" altLang="ja-JP" sz="2000" dirty="0"/>
          </a:p>
        </p:txBody>
      </p:sp>
    </p:spTree>
    <p:extLst>
      <p:ext uri="{BB962C8B-B14F-4D97-AF65-F5344CB8AC3E}">
        <p14:creationId xmlns:p14="http://schemas.microsoft.com/office/powerpoint/2010/main" val="322064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lang="ja-JP" altLang="en-US" sz="3200" b="1" u="sng" dirty="0"/>
              <a:t>レイトレーシング</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932527" cy="461665"/>
          </a:xfrm>
          <a:prstGeom prst="rect">
            <a:avLst/>
          </a:prstGeom>
          <a:noFill/>
        </p:spPr>
        <p:txBody>
          <a:bodyPr wrap="none" rtlCol="0">
            <a:spAutoFit/>
          </a:bodyPr>
          <a:lstStyle/>
          <a:p>
            <a:r>
              <a:rPr kumimoji="1" lang="en-US" altLang="ja-JP" sz="2400" dirty="0"/>
              <a:t>Project Settings</a:t>
            </a:r>
            <a:r>
              <a:rPr lang="ja-JP" altLang="en-US" sz="2400" dirty="0"/>
              <a:t> からレイトレーシング用の設定をします。（その２）</a:t>
            </a:r>
            <a:endParaRPr kumimoji="1" lang="en-US" altLang="ja-JP" sz="2400" dirty="0"/>
          </a:p>
        </p:txBody>
      </p:sp>
      <p:pic>
        <p:nvPicPr>
          <p:cNvPr id="12" name="図 11">
            <a:extLst>
              <a:ext uri="{FF2B5EF4-FFF2-40B4-BE49-F238E27FC236}">
                <a16:creationId xmlns:a16="http://schemas.microsoft.com/office/drawing/2014/main" id="{B85B5FC7-2465-4257-8C83-FB145B6376F4}"/>
              </a:ext>
            </a:extLst>
          </p:cNvPr>
          <p:cNvPicPr>
            <a:picLocks noChangeAspect="1"/>
          </p:cNvPicPr>
          <p:nvPr/>
        </p:nvPicPr>
        <p:blipFill>
          <a:blip r:embed="rId2"/>
          <a:stretch>
            <a:fillRect/>
          </a:stretch>
        </p:blipFill>
        <p:spPr>
          <a:xfrm>
            <a:off x="567542" y="1817794"/>
            <a:ext cx="6246992" cy="4780230"/>
          </a:xfrm>
          <a:prstGeom prst="rect">
            <a:avLst/>
          </a:prstGeom>
        </p:spPr>
      </p:pic>
      <p:sp>
        <p:nvSpPr>
          <p:cNvPr id="13" name="正方形/長方形 12">
            <a:extLst>
              <a:ext uri="{FF2B5EF4-FFF2-40B4-BE49-F238E27FC236}">
                <a16:creationId xmlns:a16="http://schemas.microsoft.com/office/drawing/2014/main" id="{EFEBFBAB-CB7F-4CB9-9249-C53F96A5D0A0}"/>
              </a:ext>
            </a:extLst>
          </p:cNvPr>
          <p:cNvSpPr/>
          <p:nvPr/>
        </p:nvSpPr>
        <p:spPr>
          <a:xfrm>
            <a:off x="1530632" y="4454922"/>
            <a:ext cx="5166453" cy="53841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矢印: 右 13">
            <a:extLst>
              <a:ext uri="{FF2B5EF4-FFF2-40B4-BE49-F238E27FC236}">
                <a16:creationId xmlns:a16="http://schemas.microsoft.com/office/drawing/2014/main" id="{78B391EB-271C-4B3E-97BE-0A437B4BB31F}"/>
              </a:ext>
            </a:extLst>
          </p:cNvPr>
          <p:cNvSpPr/>
          <p:nvPr/>
        </p:nvSpPr>
        <p:spPr>
          <a:xfrm rot="13634274">
            <a:off x="859933" y="4635142"/>
            <a:ext cx="482635" cy="40341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09DFA88E-B1DA-4BC4-B60B-67908E6A71DF}"/>
              </a:ext>
            </a:extLst>
          </p:cNvPr>
          <p:cNvSpPr txBox="1"/>
          <p:nvPr/>
        </p:nvSpPr>
        <p:spPr>
          <a:xfrm>
            <a:off x="7036310" y="3707120"/>
            <a:ext cx="3518912" cy="1938992"/>
          </a:xfrm>
          <a:prstGeom prst="rect">
            <a:avLst/>
          </a:prstGeom>
          <a:noFill/>
        </p:spPr>
        <p:txBody>
          <a:bodyPr wrap="none" rtlCol="0">
            <a:spAutoFit/>
          </a:bodyPr>
          <a:lstStyle/>
          <a:p>
            <a:r>
              <a:rPr lang="ja-JP" altLang="en-US" sz="2000" b="1" dirty="0">
                <a:solidFill>
                  <a:srgbClr val="FF0000"/>
                </a:solidFill>
              </a:rPr>
              <a:t>■</a:t>
            </a:r>
            <a:r>
              <a:rPr kumimoji="1" lang="en-US" altLang="ja-JP" sz="2000" b="1" dirty="0">
                <a:solidFill>
                  <a:srgbClr val="FF0000"/>
                </a:solidFill>
              </a:rPr>
              <a:t>Screen Space Reflection</a:t>
            </a:r>
          </a:p>
          <a:p>
            <a:r>
              <a:rPr lang="ja-JP" altLang="en-US" sz="2000" dirty="0"/>
              <a:t>空間内で反射を使うかどうか</a:t>
            </a:r>
            <a:endParaRPr lang="en-US" altLang="ja-JP" sz="2000" dirty="0"/>
          </a:p>
          <a:p>
            <a:endParaRPr kumimoji="1" lang="en-US" altLang="ja-JP" sz="2000" dirty="0"/>
          </a:p>
          <a:p>
            <a:r>
              <a:rPr kumimoji="1" lang="ja-JP" altLang="en-US" sz="2000" b="1" dirty="0">
                <a:solidFill>
                  <a:srgbClr val="FF0000"/>
                </a:solidFill>
              </a:rPr>
              <a:t>■</a:t>
            </a:r>
            <a:r>
              <a:rPr kumimoji="1" lang="en-US" altLang="ja-JP" sz="2000" b="1" dirty="0">
                <a:solidFill>
                  <a:srgbClr val="FF0000"/>
                </a:solidFill>
              </a:rPr>
              <a:t>Transparent</a:t>
            </a:r>
          </a:p>
          <a:p>
            <a:r>
              <a:rPr lang="ja-JP" altLang="en-US" sz="2000" dirty="0"/>
              <a:t>半透明も反射の対象にするか</a:t>
            </a:r>
            <a:endParaRPr lang="en-US" altLang="ja-JP" sz="2000" dirty="0"/>
          </a:p>
          <a:p>
            <a:r>
              <a:rPr kumimoji="1" lang="ja-JP" altLang="en-US" sz="2000" dirty="0"/>
              <a:t>（不要なら</a:t>
            </a:r>
            <a:r>
              <a:rPr kumimoji="1" lang="en-US" altLang="ja-JP" sz="2000" dirty="0"/>
              <a:t>OFF</a:t>
            </a:r>
            <a:r>
              <a:rPr kumimoji="1" lang="ja-JP" altLang="en-US" sz="2000" dirty="0"/>
              <a:t>）</a:t>
            </a:r>
            <a:endParaRPr kumimoji="1" lang="en-US" altLang="ja-JP" sz="2000" dirty="0"/>
          </a:p>
        </p:txBody>
      </p:sp>
    </p:spTree>
    <p:extLst>
      <p:ext uri="{BB962C8B-B14F-4D97-AF65-F5344CB8AC3E}">
        <p14:creationId xmlns:p14="http://schemas.microsoft.com/office/powerpoint/2010/main" val="3389136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lang="ja-JP" altLang="en-US" sz="3200" b="1" u="sng" dirty="0"/>
              <a:t>レイトレーシング</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932527" cy="461665"/>
          </a:xfrm>
          <a:prstGeom prst="rect">
            <a:avLst/>
          </a:prstGeom>
          <a:noFill/>
        </p:spPr>
        <p:txBody>
          <a:bodyPr wrap="none" rtlCol="0">
            <a:spAutoFit/>
          </a:bodyPr>
          <a:lstStyle/>
          <a:p>
            <a:r>
              <a:rPr kumimoji="1" lang="en-US" altLang="ja-JP" sz="2400" dirty="0"/>
              <a:t>Project Settings</a:t>
            </a:r>
            <a:r>
              <a:rPr lang="ja-JP" altLang="en-US" sz="2400" dirty="0"/>
              <a:t> からレイトレーシング用の設定をします。（その３）</a:t>
            </a:r>
            <a:endParaRPr kumimoji="1" lang="en-US" altLang="ja-JP" sz="2400" dirty="0"/>
          </a:p>
        </p:txBody>
      </p:sp>
      <p:sp>
        <p:nvSpPr>
          <p:cNvPr id="15" name="テキスト ボックス 14">
            <a:extLst>
              <a:ext uri="{FF2B5EF4-FFF2-40B4-BE49-F238E27FC236}">
                <a16:creationId xmlns:a16="http://schemas.microsoft.com/office/drawing/2014/main" id="{09DFA88E-B1DA-4BC4-B60B-67908E6A71DF}"/>
              </a:ext>
            </a:extLst>
          </p:cNvPr>
          <p:cNvSpPr txBox="1"/>
          <p:nvPr/>
        </p:nvSpPr>
        <p:spPr>
          <a:xfrm>
            <a:off x="6845720" y="4078784"/>
            <a:ext cx="3518912" cy="1015663"/>
          </a:xfrm>
          <a:prstGeom prst="rect">
            <a:avLst/>
          </a:prstGeom>
          <a:noFill/>
        </p:spPr>
        <p:txBody>
          <a:bodyPr wrap="none" rtlCol="0">
            <a:spAutoFit/>
          </a:bodyPr>
          <a:lstStyle/>
          <a:p>
            <a:r>
              <a:rPr kumimoji="1" lang="ja-JP" altLang="en-US" sz="2000" b="1" dirty="0">
                <a:solidFill>
                  <a:srgbClr val="FF0000"/>
                </a:solidFill>
              </a:rPr>
              <a:t>■</a:t>
            </a:r>
            <a:r>
              <a:rPr kumimoji="1" lang="en-US" altLang="ja-JP" sz="2000" b="1" dirty="0">
                <a:solidFill>
                  <a:srgbClr val="FF0000"/>
                </a:solidFill>
              </a:rPr>
              <a:t>Transparent</a:t>
            </a:r>
          </a:p>
          <a:p>
            <a:r>
              <a:rPr lang="ja-JP" altLang="en-US" sz="2000" dirty="0"/>
              <a:t>半透明も反射の対象にするか</a:t>
            </a:r>
            <a:endParaRPr lang="en-US" altLang="ja-JP" sz="2000" dirty="0"/>
          </a:p>
          <a:p>
            <a:r>
              <a:rPr kumimoji="1" lang="ja-JP" altLang="en-US" sz="2000" dirty="0"/>
              <a:t>（不要なら</a:t>
            </a:r>
            <a:r>
              <a:rPr kumimoji="1" lang="en-US" altLang="ja-JP" sz="2000" dirty="0"/>
              <a:t>OFF</a:t>
            </a:r>
            <a:r>
              <a:rPr kumimoji="1" lang="ja-JP" altLang="en-US" sz="2000" dirty="0"/>
              <a:t>）</a:t>
            </a:r>
            <a:endParaRPr kumimoji="1" lang="en-US" altLang="ja-JP" sz="2000" dirty="0"/>
          </a:p>
        </p:txBody>
      </p:sp>
      <p:pic>
        <p:nvPicPr>
          <p:cNvPr id="7" name="図 6">
            <a:extLst>
              <a:ext uri="{FF2B5EF4-FFF2-40B4-BE49-F238E27FC236}">
                <a16:creationId xmlns:a16="http://schemas.microsoft.com/office/drawing/2014/main" id="{A6B5A30E-AE86-4357-AF36-DF6C60C0C5E1}"/>
              </a:ext>
            </a:extLst>
          </p:cNvPr>
          <p:cNvPicPr>
            <a:picLocks noChangeAspect="1"/>
          </p:cNvPicPr>
          <p:nvPr/>
        </p:nvPicPr>
        <p:blipFill>
          <a:blip r:embed="rId2"/>
          <a:stretch>
            <a:fillRect/>
          </a:stretch>
        </p:blipFill>
        <p:spPr>
          <a:xfrm>
            <a:off x="567543" y="1817794"/>
            <a:ext cx="6065820" cy="4641596"/>
          </a:xfrm>
          <a:prstGeom prst="rect">
            <a:avLst/>
          </a:prstGeom>
        </p:spPr>
      </p:pic>
      <p:sp>
        <p:nvSpPr>
          <p:cNvPr id="16" name="矢印: 右 15">
            <a:extLst>
              <a:ext uri="{FF2B5EF4-FFF2-40B4-BE49-F238E27FC236}">
                <a16:creationId xmlns:a16="http://schemas.microsoft.com/office/drawing/2014/main" id="{D25A36D6-7492-4CC7-AD0A-19DF3D18E14A}"/>
              </a:ext>
            </a:extLst>
          </p:cNvPr>
          <p:cNvSpPr/>
          <p:nvPr/>
        </p:nvSpPr>
        <p:spPr>
          <a:xfrm rot="13634274">
            <a:off x="904256" y="3191293"/>
            <a:ext cx="482635" cy="40341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矢印: 右 16">
            <a:extLst>
              <a:ext uri="{FF2B5EF4-FFF2-40B4-BE49-F238E27FC236}">
                <a16:creationId xmlns:a16="http://schemas.microsoft.com/office/drawing/2014/main" id="{911C56FA-44C1-4B02-8CB8-B8BAADBD6E71}"/>
              </a:ext>
            </a:extLst>
          </p:cNvPr>
          <p:cNvSpPr/>
          <p:nvPr/>
        </p:nvSpPr>
        <p:spPr>
          <a:xfrm rot="13634274">
            <a:off x="2213103" y="3299046"/>
            <a:ext cx="482635" cy="40341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矢印: 右 17">
            <a:extLst>
              <a:ext uri="{FF2B5EF4-FFF2-40B4-BE49-F238E27FC236}">
                <a16:creationId xmlns:a16="http://schemas.microsoft.com/office/drawing/2014/main" id="{1384E550-DD3E-4BDB-8666-876B68F3F6EE}"/>
              </a:ext>
            </a:extLst>
          </p:cNvPr>
          <p:cNvSpPr/>
          <p:nvPr/>
        </p:nvSpPr>
        <p:spPr>
          <a:xfrm rot="13634274">
            <a:off x="3593668" y="4545141"/>
            <a:ext cx="482635" cy="40341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859118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lang="ja-JP" altLang="en-US" sz="3200" b="1" u="sng" dirty="0"/>
              <a:t>レイトレーシング</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4801314" cy="461665"/>
          </a:xfrm>
          <a:prstGeom prst="rect">
            <a:avLst/>
          </a:prstGeom>
          <a:noFill/>
        </p:spPr>
        <p:txBody>
          <a:bodyPr wrap="none" rtlCol="0">
            <a:spAutoFit/>
          </a:bodyPr>
          <a:lstStyle/>
          <a:p>
            <a:r>
              <a:rPr kumimoji="1" lang="ja-JP" altLang="en-US" sz="2400" dirty="0"/>
              <a:t>適当に床と球を配置しましょう。</a:t>
            </a:r>
            <a:endParaRPr kumimoji="1" lang="en-US" altLang="ja-JP" sz="2400" dirty="0"/>
          </a:p>
        </p:txBody>
      </p:sp>
      <p:pic>
        <p:nvPicPr>
          <p:cNvPr id="9" name="図 8">
            <a:extLst>
              <a:ext uri="{FF2B5EF4-FFF2-40B4-BE49-F238E27FC236}">
                <a16:creationId xmlns:a16="http://schemas.microsoft.com/office/drawing/2014/main" id="{AE190101-616F-4CAA-AD8E-4D5F279AB534}"/>
              </a:ext>
            </a:extLst>
          </p:cNvPr>
          <p:cNvPicPr>
            <a:picLocks noChangeAspect="1"/>
          </p:cNvPicPr>
          <p:nvPr/>
        </p:nvPicPr>
        <p:blipFill>
          <a:blip r:embed="rId2"/>
          <a:stretch>
            <a:fillRect/>
          </a:stretch>
        </p:blipFill>
        <p:spPr>
          <a:xfrm>
            <a:off x="567542" y="1817794"/>
            <a:ext cx="7724811" cy="4152086"/>
          </a:xfrm>
          <a:prstGeom prst="rect">
            <a:avLst/>
          </a:prstGeom>
        </p:spPr>
      </p:pic>
    </p:spTree>
    <p:extLst>
      <p:ext uri="{BB962C8B-B14F-4D97-AF65-F5344CB8AC3E}">
        <p14:creationId xmlns:p14="http://schemas.microsoft.com/office/powerpoint/2010/main" val="32318866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lang="ja-JP" altLang="en-US" sz="3200" b="1" u="sng" dirty="0"/>
              <a:t>レイトレーシング</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497565" cy="830997"/>
          </a:xfrm>
          <a:prstGeom prst="rect">
            <a:avLst/>
          </a:prstGeom>
          <a:noFill/>
        </p:spPr>
        <p:txBody>
          <a:bodyPr wrap="none" rtlCol="0">
            <a:spAutoFit/>
          </a:bodyPr>
          <a:lstStyle/>
          <a:p>
            <a:r>
              <a:rPr kumimoji="1" lang="ja-JP" altLang="en-US" sz="2400" dirty="0"/>
              <a:t>新規マテリアルを作成し、</a:t>
            </a:r>
            <a:endParaRPr kumimoji="1" lang="en-US" altLang="ja-JP" sz="2400" dirty="0"/>
          </a:p>
          <a:p>
            <a:r>
              <a:rPr kumimoji="1" lang="en-US" altLang="ja-JP" sz="2400" dirty="0"/>
              <a:t>Metallic</a:t>
            </a:r>
            <a:r>
              <a:rPr kumimoji="1" lang="ja-JP" altLang="en-US" sz="2400" dirty="0"/>
              <a:t>＝１、</a:t>
            </a:r>
            <a:r>
              <a:rPr kumimoji="1" lang="en-US" altLang="ja-JP" sz="2400" dirty="0"/>
              <a:t>Smoothness</a:t>
            </a:r>
            <a:r>
              <a:rPr kumimoji="1" lang="ja-JP" altLang="en-US" sz="2400" dirty="0"/>
              <a:t>＝</a:t>
            </a:r>
            <a:r>
              <a:rPr kumimoji="1" lang="en-US" altLang="ja-JP" sz="2400" dirty="0"/>
              <a:t>1</a:t>
            </a:r>
            <a:r>
              <a:rPr kumimoji="1" lang="ja-JP" altLang="en-US" sz="2400" dirty="0"/>
              <a:t>に設定しましょう。</a:t>
            </a:r>
          </a:p>
        </p:txBody>
      </p:sp>
      <p:pic>
        <p:nvPicPr>
          <p:cNvPr id="16" name="図 15">
            <a:extLst>
              <a:ext uri="{FF2B5EF4-FFF2-40B4-BE49-F238E27FC236}">
                <a16:creationId xmlns:a16="http://schemas.microsoft.com/office/drawing/2014/main" id="{8D74008F-1543-4BC6-90E8-2C518E3071AF}"/>
              </a:ext>
            </a:extLst>
          </p:cNvPr>
          <p:cNvPicPr>
            <a:picLocks noChangeAspect="1"/>
          </p:cNvPicPr>
          <p:nvPr/>
        </p:nvPicPr>
        <p:blipFill>
          <a:blip r:embed="rId2"/>
          <a:stretch>
            <a:fillRect/>
          </a:stretch>
        </p:blipFill>
        <p:spPr>
          <a:xfrm>
            <a:off x="567542" y="2187126"/>
            <a:ext cx="6688575" cy="3595109"/>
          </a:xfrm>
          <a:prstGeom prst="rect">
            <a:avLst/>
          </a:prstGeom>
        </p:spPr>
      </p:pic>
      <p:sp>
        <p:nvSpPr>
          <p:cNvPr id="17" name="テキスト ボックス 16">
            <a:extLst>
              <a:ext uri="{FF2B5EF4-FFF2-40B4-BE49-F238E27FC236}">
                <a16:creationId xmlns:a16="http://schemas.microsoft.com/office/drawing/2014/main" id="{BC793BE4-D821-41C4-A07B-7DD8C1475D99}"/>
              </a:ext>
            </a:extLst>
          </p:cNvPr>
          <p:cNvSpPr txBox="1"/>
          <p:nvPr/>
        </p:nvSpPr>
        <p:spPr>
          <a:xfrm>
            <a:off x="567541" y="5921935"/>
            <a:ext cx="7879080" cy="461665"/>
          </a:xfrm>
          <a:prstGeom prst="rect">
            <a:avLst/>
          </a:prstGeom>
          <a:noFill/>
        </p:spPr>
        <p:txBody>
          <a:bodyPr wrap="none" rtlCol="0">
            <a:spAutoFit/>
          </a:bodyPr>
          <a:lstStyle/>
          <a:p>
            <a:r>
              <a:rPr kumimoji="1" lang="en-US" altLang="ja-JP" sz="2400" dirty="0"/>
              <a:t>※</a:t>
            </a:r>
            <a:r>
              <a:rPr kumimoji="1" lang="ja-JP" altLang="en-US" sz="2400" dirty="0"/>
              <a:t>設定はしているので、ちょっとだけ反射しています。</a:t>
            </a:r>
          </a:p>
        </p:txBody>
      </p:sp>
    </p:spTree>
    <p:extLst>
      <p:ext uri="{BB962C8B-B14F-4D97-AF65-F5344CB8AC3E}">
        <p14:creationId xmlns:p14="http://schemas.microsoft.com/office/powerpoint/2010/main" val="26793221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lang="ja-JP" altLang="en-US" sz="3200" b="1" u="sng" dirty="0"/>
              <a:t>レイトレーシング</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717177" cy="830997"/>
          </a:xfrm>
          <a:prstGeom prst="rect">
            <a:avLst/>
          </a:prstGeom>
          <a:noFill/>
        </p:spPr>
        <p:txBody>
          <a:bodyPr wrap="none" rtlCol="0">
            <a:spAutoFit/>
          </a:bodyPr>
          <a:lstStyle/>
          <a:p>
            <a:r>
              <a:rPr kumimoji="1" lang="ja-JP" altLang="en-US" sz="2400" dirty="0"/>
              <a:t>反射のレイトレーシングは</a:t>
            </a:r>
            <a:r>
              <a:rPr kumimoji="1" lang="en-US" altLang="ja-JP" sz="2400" dirty="0"/>
              <a:t>Volume</a:t>
            </a:r>
            <a:r>
              <a:rPr kumimoji="1" lang="ja-JP" altLang="en-US" sz="2400" dirty="0"/>
              <a:t>から設定できます。</a:t>
            </a:r>
            <a:endParaRPr kumimoji="1" lang="en-US" altLang="ja-JP" sz="2400" dirty="0"/>
          </a:p>
          <a:p>
            <a:r>
              <a:rPr lang="ja-JP" altLang="en-US" sz="2400" dirty="0"/>
              <a:t>ヒエラルキーに </a:t>
            </a:r>
            <a:r>
              <a:rPr lang="en-US" altLang="ja-JP" sz="2400" b="1" dirty="0">
                <a:solidFill>
                  <a:srgbClr val="FF0000"/>
                </a:solidFill>
              </a:rPr>
              <a:t>Global Volume</a:t>
            </a:r>
            <a:r>
              <a:rPr lang="en-US" altLang="ja-JP" sz="2400" dirty="0"/>
              <a:t> </a:t>
            </a:r>
            <a:r>
              <a:rPr lang="ja-JP" altLang="en-US" sz="2400" dirty="0"/>
              <a:t>を追加しましょう。</a:t>
            </a:r>
            <a:endParaRPr kumimoji="1" lang="ja-JP" altLang="en-US" sz="2400" dirty="0"/>
          </a:p>
        </p:txBody>
      </p:sp>
      <p:pic>
        <p:nvPicPr>
          <p:cNvPr id="5" name="図 4">
            <a:extLst>
              <a:ext uri="{FF2B5EF4-FFF2-40B4-BE49-F238E27FC236}">
                <a16:creationId xmlns:a16="http://schemas.microsoft.com/office/drawing/2014/main" id="{05116CF5-B14F-4FF0-BB64-93A5E4065613}"/>
              </a:ext>
            </a:extLst>
          </p:cNvPr>
          <p:cNvPicPr>
            <a:picLocks noChangeAspect="1"/>
          </p:cNvPicPr>
          <p:nvPr/>
        </p:nvPicPr>
        <p:blipFill>
          <a:blip r:embed="rId2"/>
          <a:stretch>
            <a:fillRect/>
          </a:stretch>
        </p:blipFill>
        <p:spPr>
          <a:xfrm>
            <a:off x="567542" y="2187126"/>
            <a:ext cx="3914811" cy="4216344"/>
          </a:xfrm>
          <a:prstGeom prst="rect">
            <a:avLst/>
          </a:prstGeom>
        </p:spPr>
      </p:pic>
      <p:sp>
        <p:nvSpPr>
          <p:cNvPr id="8" name="矢印: 右 7">
            <a:extLst>
              <a:ext uri="{FF2B5EF4-FFF2-40B4-BE49-F238E27FC236}">
                <a16:creationId xmlns:a16="http://schemas.microsoft.com/office/drawing/2014/main" id="{464395D2-F9FE-4BC9-ACE7-3EC8277D3E84}"/>
              </a:ext>
            </a:extLst>
          </p:cNvPr>
          <p:cNvSpPr/>
          <p:nvPr/>
        </p:nvSpPr>
        <p:spPr>
          <a:xfrm rot="13634274">
            <a:off x="3586131" y="6100758"/>
            <a:ext cx="482635" cy="40341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8912BC26-8640-4963-AE3D-281C9B07541C}"/>
              </a:ext>
            </a:extLst>
          </p:cNvPr>
          <p:cNvSpPr txBox="1"/>
          <p:nvPr/>
        </p:nvSpPr>
        <p:spPr>
          <a:xfrm>
            <a:off x="4663082" y="3510468"/>
            <a:ext cx="6340197" cy="1569660"/>
          </a:xfrm>
          <a:prstGeom prst="rect">
            <a:avLst/>
          </a:prstGeom>
          <a:noFill/>
        </p:spPr>
        <p:txBody>
          <a:bodyPr wrap="none" rtlCol="0">
            <a:spAutoFit/>
          </a:bodyPr>
          <a:lstStyle/>
          <a:p>
            <a:r>
              <a:rPr lang="en-US" altLang="ja-JP" sz="2400" b="1" dirty="0">
                <a:solidFill>
                  <a:srgbClr val="00B050"/>
                </a:solidFill>
              </a:rPr>
              <a:t>MEMO</a:t>
            </a:r>
          </a:p>
          <a:p>
            <a:r>
              <a:rPr kumimoji="1" lang="en-US" altLang="ja-JP" sz="2400" dirty="0"/>
              <a:t>Volume</a:t>
            </a:r>
            <a:r>
              <a:rPr kumimoji="1" lang="ja-JP" altLang="en-US" sz="2400" dirty="0"/>
              <a:t>とは、</a:t>
            </a:r>
            <a:r>
              <a:rPr lang="ja-JP" altLang="en-US" sz="2400" dirty="0"/>
              <a:t>描画環境に関するものを</a:t>
            </a:r>
            <a:endParaRPr lang="en-US" altLang="ja-JP" sz="2400" dirty="0"/>
          </a:p>
          <a:p>
            <a:r>
              <a:rPr kumimoji="1" lang="ja-JP" altLang="en-US" sz="2400" dirty="0"/>
              <a:t>細かく設定するものになります。</a:t>
            </a:r>
            <a:endParaRPr kumimoji="1" lang="en-US" altLang="ja-JP" sz="2400" dirty="0"/>
          </a:p>
          <a:p>
            <a:r>
              <a:rPr lang="ja-JP" altLang="en-US" sz="2400" dirty="0"/>
              <a:t>空、影、ライトなど様々な設定ができます。</a:t>
            </a:r>
            <a:endParaRPr kumimoji="1" lang="ja-JP" altLang="en-US" sz="2400" dirty="0"/>
          </a:p>
        </p:txBody>
      </p:sp>
    </p:spTree>
    <p:extLst>
      <p:ext uri="{BB962C8B-B14F-4D97-AF65-F5344CB8AC3E}">
        <p14:creationId xmlns:p14="http://schemas.microsoft.com/office/powerpoint/2010/main" val="42093446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lang="ja-JP" altLang="en-US" sz="3200" b="1" u="sng" dirty="0"/>
              <a:t>レイトレーシング</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588389" cy="461665"/>
          </a:xfrm>
          <a:prstGeom prst="rect">
            <a:avLst/>
          </a:prstGeom>
          <a:noFill/>
        </p:spPr>
        <p:txBody>
          <a:bodyPr wrap="none" rtlCol="0">
            <a:spAutoFit/>
          </a:bodyPr>
          <a:lstStyle/>
          <a:p>
            <a:r>
              <a:rPr kumimoji="1" lang="en-US" altLang="ja-JP" sz="2400" dirty="0"/>
              <a:t>New</a:t>
            </a:r>
            <a:r>
              <a:rPr kumimoji="1" lang="ja-JP" altLang="en-US" sz="2400" dirty="0"/>
              <a:t>ボタンから</a:t>
            </a:r>
            <a:r>
              <a:rPr kumimoji="1" lang="en-US" altLang="ja-JP" sz="2400" dirty="0"/>
              <a:t>Volume</a:t>
            </a:r>
            <a:r>
              <a:rPr kumimoji="1" lang="ja-JP" altLang="en-US" sz="2400" dirty="0"/>
              <a:t>を追加します。</a:t>
            </a:r>
          </a:p>
        </p:txBody>
      </p:sp>
      <p:pic>
        <p:nvPicPr>
          <p:cNvPr id="3" name="図 2">
            <a:extLst>
              <a:ext uri="{FF2B5EF4-FFF2-40B4-BE49-F238E27FC236}">
                <a16:creationId xmlns:a16="http://schemas.microsoft.com/office/drawing/2014/main" id="{CB61295B-5236-499C-A358-A24FB0F6B06F}"/>
              </a:ext>
            </a:extLst>
          </p:cNvPr>
          <p:cNvPicPr>
            <a:picLocks noChangeAspect="1"/>
          </p:cNvPicPr>
          <p:nvPr/>
        </p:nvPicPr>
        <p:blipFill>
          <a:blip r:embed="rId2"/>
          <a:stretch>
            <a:fillRect/>
          </a:stretch>
        </p:blipFill>
        <p:spPr>
          <a:xfrm>
            <a:off x="567542" y="1817794"/>
            <a:ext cx="4667901" cy="3915321"/>
          </a:xfrm>
          <a:prstGeom prst="rect">
            <a:avLst/>
          </a:prstGeom>
        </p:spPr>
      </p:pic>
      <p:sp>
        <p:nvSpPr>
          <p:cNvPr id="9" name="矢印: 右 8">
            <a:extLst>
              <a:ext uri="{FF2B5EF4-FFF2-40B4-BE49-F238E27FC236}">
                <a16:creationId xmlns:a16="http://schemas.microsoft.com/office/drawing/2014/main" id="{DB2B41E4-320A-4E1F-9FD3-B1B90CCB0F88}"/>
              </a:ext>
            </a:extLst>
          </p:cNvPr>
          <p:cNvSpPr/>
          <p:nvPr/>
        </p:nvSpPr>
        <p:spPr>
          <a:xfrm rot="13634274">
            <a:off x="1362884" y="4773982"/>
            <a:ext cx="482635" cy="40341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676832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lang="ja-JP" altLang="en-US" sz="3200" b="1" u="sng" dirty="0"/>
              <a:t>レイトレーシング</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488495" cy="830997"/>
          </a:xfrm>
          <a:prstGeom prst="rect">
            <a:avLst/>
          </a:prstGeom>
          <a:noFill/>
        </p:spPr>
        <p:txBody>
          <a:bodyPr wrap="none" rtlCol="0">
            <a:spAutoFit/>
          </a:bodyPr>
          <a:lstStyle/>
          <a:p>
            <a:r>
              <a:rPr kumimoji="1" lang="en-US" altLang="ja-JP" sz="2400" dirty="0"/>
              <a:t>Add Override </a:t>
            </a:r>
            <a:r>
              <a:rPr kumimoji="1" lang="ja-JP" altLang="en-US" sz="2400" dirty="0"/>
              <a:t>から、</a:t>
            </a:r>
            <a:r>
              <a:rPr kumimoji="1" lang="en-US" altLang="ja-JP" sz="2400" b="1" dirty="0">
                <a:solidFill>
                  <a:srgbClr val="FF0000"/>
                </a:solidFill>
              </a:rPr>
              <a:t>Screen Space Reflection</a:t>
            </a:r>
            <a:r>
              <a:rPr kumimoji="1" lang="ja-JP" altLang="en-US" sz="2400" dirty="0"/>
              <a:t>を選択しましょう。</a:t>
            </a:r>
            <a:endParaRPr kumimoji="1" lang="en-US" altLang="ja-JP" sz="2400" dirty="0"/>
          </a:p>
          <a:p>
            <a:r>
              <a:rPr lang="ja-JP" altLang="en-US" sz="2400" dirty="0"/>
              <a:t>これが反射の設定になります。</a:t>
            </a:r>
            <a:endParaRPr kumimoji="1" lang="ja-JP" altLang="en-US" sz="2400" dirty="0"/>
          </a:p>
        </p:txBody>
      </p:sp>
      <p:pic>
        <p:nvPicPr>
          <p:cNvPr id="5" name="図 4">
            <a:extLst>
              <a:ext uri="{FF2B5EF4-FFF2-40B4-BE49-F238E27FC236}">
                <a16:creationId xmlns:a16="http://schemas.microsoft.com/office/drawing/2014/main" id="{8E41201D-5E29-445C-9254-4EA3E8B56F70}"/>
              </a:ext>
            </a:extLst>
          </p:cNvPr>
          <p:cNvPicPr>
            <a:picLocks noChangeAspect="1"/>
          </p:cNvPicPr>
          <p:nvPr/>
        </p:nvPicPr>
        <p:blipFill>
          <a:blip r:embed="rId2"/>
          <a:stretch>
            <a:fillRect/>
          </a:stretch>
        </p:blipFill>
        <p:spPr>
          <a:xfrm>
            <a:off x="567542" y="2187126"/>
            <a:ext cx="4706007" cy="3210373"/>
          </a:xfrm>
          <a:prstGeom prst="rect">
            <a:avLst/>
          </a:prstGeom>
        </p:spPr>
      </p:pic>
      <p:sp>
        <p:nvSpPr>
          <p:cNvPr id="8" name="矢印: 右 7">
            <a:extLst>
              <a:ext uri="{FF2B5EF4-FFF2-40B4-BE49-F238E27FC236}">
                <a16:creationId xmlns:a16="http://schemas.microsoft.com/office/drawing/2014/main" id="{DA778C59-E01B-41EE-B02A-426AAF0FB031}"/>
              </a:ext>
            </a:extLst>
          </p:cNvPr>
          <p:cNvSpPr/>
          <p:nvPr/>
        </p:nvSpPr>
        <p:spPr>
          <a:xfrm rot="13634274">
            <a:off x="3281331" y="4791910"/>
            <a:ext cx="482635" cy="40341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485FAD39-53D1-4E38-BE3C-32937A83C828}"/>
              </a:ext>
            </a:extLst>
          </p:cNvPr>
          <p:cNvSpPr txBox="1"/>
          <p:nvPr/>
        </p:nvSpPr>
        <p:spPr>
          <a:xfrm>
            <a:off x="567542" y="5537199"/>
            <a:ext cx="7891904" cy="1200329"/>
          </a:xfrm>
          <a:prstGeom prst="rect">
            <a:avLst/>
          </a:prstGeom>
          <a:noFill/>
        </p:spPr>
        <p:txBody>
          <a:bodyPr wrap="none" rtlCol="0">
            <a:spAutoFit/>
          </a:bodyPr>
          <a:lstStyle/>
          <a:p>
            <a:r>
              <a:rPr kumimoji="1" lang="en-US" altLang="ja-JP" sz="2400" b="1" dirty="0">
                <a:solidFill>
                  <a:srgbClr val="FF0000"/>
                </a:solidFill>
              </a:rPr>
              <a:t>※Screen Space Refraction</a:t>
            </a:r>
            <a:r>
              <a:rPr kumimoji="1" lang="ja-JP" altLang="en-US" sz="2400" b="1" dirty="0">
                <a:solidFill>
                  <a:srgbClr val="FF0000"/>
                </a:solidFill>
              </a:rPr>
              <a:t>と間違えないように！！！</a:t>
            </a:r>
            <a:endParaRPr kumimoji="1" lang="en-US" altLang="ja-JP" sz="2400" b="1" dirty="0">
              <a:solidFill>
                <a:srgbClr val="FF0000"/>
              </a:solidFill>
            </a:endParaRPr>
          </a:p>
          <a:p>
            <a:r>
              <a:rPr lang="en-US" altLang="ja-JP" sz="2400" b="1" dirty="0">
                <a:solidFill>
                  <a:srgbClr val="FF0000"/>
                </a:solidFill>
              </a:rPr>
              <a:t>Reflection</a:t>
            </a:r>
            <a:r>
              <a:rPr lang="ja-JP" altLang="en-US" sz="2400" b="1" dirty="0">
                <a:solidFill>
                  <a:srgbClr val="FF0000"/>
                </a:solidFill>
              </a:rPr>
              <a:t>・・・反射</a:t>
            </a:r>
            <a:endParaRPr kumimoji="1" lang="en-US" altLang="ja-JP" sz="2400" b="1" dirty="0">
              <a:solidFill>
                <a:srgbClr val="FF0000"/>
              </a:solidFill>
            </a:endParaRPr>
          </a:p>
          <a:p>
            <a:r>
              <a:rPr kumimoji="1" lang="en-US" altLang="ja-JP" sz="2400" b="1" dirty="0">
                <a:solidFill>
                  <a:srgbClr val="FF0000"/>
                </a:solidFill>
              </a:rPr>
              <a:t>Refraction</a:t>
            </a:r>
            <a:r>
              <a:rPr kumimoji="1" lang="ja-JP" altLang="en-US" sz="2400" b="1" dirty="0">
                <a:solidFill>
                  <a:srgbClr val="FF0000"/>
                </a:solidFill>
              </a:rPr>
              <a:t>・・・屈折</a:t>
            </a:r>
          </a:p>
        </p:txBody>
      </p:sp>
    </p:spTree>
    <p:extLst>
      <p:ext uri="{BB962C8B-B14F-4D97-AF65-F5344CB8AC3E}">
        <p14:creationId xmlns:p14="http://schemas.microsoft.com/office/powerpoint/2010/main" val="28990798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lang="ja-JP" altLang="en-US" sz="3200" b="1" u="sng" dirty="0"/>
              <a:t>レイトレーシング</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571303" cy="461665"/>
          </a:xfrm>
          <a:prstGeom prst="rect">
            <a:avLst/>
          </a:prstGeom>
          <a:noFill/>
        </p:spPr>
        <p:txBody>
          <a:bodyPr wrap="none" rtlCol="0">
            <a:spAutoFit/>
          </a:bodyPr>
          <a:lstStyle/>
          <a:p>
            <a:r>
              <a:rPr kumimoji="1" lang="ja-JP" altLang="en-US" sz="2400" dirty="0"/>
              <a:t>以下の３か所を設定すれば、最低限の実装完了です。</a:t>
            </a:r>
          </a:p>
        </p:txBody>
      </p:sp>
      <p:pic>
        <p:nvPicPr>
          <p:cNvPr id="3" name="図 2">
            <a:extLst>
              <a:ext uri="{FF2B5EF4-FFF2-40B4-BE49-F238E27FC236}">
                <a16:creationId xmlns:a16="http://schemas.microsoft.com/office/drawing/2014/main" id="{727751FB-9724-44C6-9491-5D2BE3CC5708}"/>
              </a:ext>
            </a:extLst>
          </p:cNvPr>
          <p:cNvPicPr>
            <a:picLocks noChangeAspect="1"/>
          </p:cNvPicPr>
          <p:nvPr/>
        </p:nvPicPr>
        <p:blipFill>
          <a:blip r:embed="rId2"/>
          <a:stretch>
            <a:fillRect/>
          </a:stretch>
        </p:blipFill>
        <p:spPr>
          <a:xfrm>
            <a:off x="567542" y="1817794"/>
            <a:ext cx="5283616" cy="4771265"/>
          </a:xfrm>
          <a:prstGeom prst="rect">
            <a:avLst/>
          </a:prstGeom>
        </p:spPr>
      </p:pic>
      <p:sp>
        <p:nvSpPr>
          <p:cNvPr id="9" name="テキスト ボックス 8">
            <a:extLst>
              <a:ext uri="{FF2B5EF4-FFF2-40B4-BE49-F238E27FC236}">
                <a16:creationId xmlns:a16="http://schemas.microsoft.com/office/drawing/2014/main" id="{DA6D7092-84AB-4A1E-915B-D621B8CEE7C8}"/>
              </a:ext>
            </a:extLst>
          </p:cNvPr>
          <p:cNvSpPr txBox="1"/>
          <p:nvPr/>
        </p:nvSpPr>
        <p:spPr>
          <a:xfrm>
            <a:off x="5851158" y="4838170"/>
            <a:ext cx="3775393" cy="1015663"/>
          </a:xfrm>
          <a:prstGeom prst="rect">
            <a:avLst/>
          </a:prstGeom>
          <a:noFill/>
        </p:spPr>
        <p:txBody>
          <a:bodyPr wrap="none" rtlCol="0">
            <a:spAutoFit/>
          </a:bodyPr>
          <a:lstStyle/>
          <a:p>
            <a:r>
              <a:rPr kumimoji="1" lang="ja-JP" altLang="en-US" sz="2000" b="1" dirty="0">
                <a:solidFill>
                  <a:srgbClr val="FF0000"/>
                </a:solidFill>
              </a:rPr>
              <a:t>■</a:t>
            </a:r>
            <a:r>
              <a:rPr kumimoji="1" lang="en-US" altLang="ja-JP" sz="2000" b="1" dirty="0">
                <a:solidFill>
                  <a:srgbClr val="FF0000"/>
                </a:solidFill>
              </a:rPr>
              <a:t>Sample Count</a:t>
            </a:r>
          </a:p>
          <a:p>
            <a:r>
              <a:rPr lang="ja-JP" altLang="en-US" sz="2000" dirty="0"/>
              <a:t>ヒット時に分散するレイの数。</a:t>
            </a:r>
            <a:endParaRPr lang="en-US" altLang="ja-JP" sz="2000" dirty="0"/>
          </a:p>
          <a:p>
            <a:r>
              <a:rPr lang="ja-JP" altLang="en-US" sz="2000" dirty="0"/>
              <a:t>一般的に</a:t>
            </a:r>
            <a:r>
              <a:rPr lang="en-US" altLang="ja-JP" sz="2000" dirty="0"/>
              <a:t>16</a:t>
            </a:r>
            <a:r>
              <a:rPr lang="ja-JP" altLang="en-US" sz="2000" dirty="0"/>
              <a:t>が基準。</a:t>
            </a:r>
            <a:endParaRPr kumimoji="1" lang="ja-JP" altLang="en-US" sz="2000" dirty="0"/>
          </a:p>
        </p:txBody>
      </p:sp>
    </p:spTree>
    <p:extLst>
      <p:ext uri="{BB962C8B-B14F-4D97-AF65-F5344CB8AC3E}">
        <p14:creationId xmlns:p14="http://schemas.microsoft.com/office/powerpoint/2010/main" val="16263627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lang="ja-JP" altLang="en-US" sz="3200" b="1" u="sng" dirty="0"/>
              <a:t>レイトレーシング</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033516" cy="461665"/>
          </a:xfrm>
          <a:prstGeom prst="rect">
            <a:avLst/>
          </a:prstGeom>
          <a:noFill/>
        </p:spPr>
        <p:txBody>
          <a:bodyPr wrap="none" rtlCol="0">
            <a:spAutoFit/>
          </a:bodyPr>
          <a:lstStyle/>
          <a:p>
            <a:r>
              <a:rPr kumimoji="1" lang="ja-JP" altLang="en-US" sz="2400" dirty="0"/>
              <a:t>他のオブジェクトを置いたり、球の形を変えたりして確認しましょう。</a:t>
            </a:r>
          </a:p>
        </p:txBody>
      </p:sp>
      <p:pic>
        <p:nvPicPr>
          <p:cNvPr id="5" name="図 4">
            <a:extLst>
              <a:ext uri="{FF2B5EF4-FFF2-40B4-BE49-F238E27FC236}">
                <a16:creationId xmlns:a16="http://schemas.microsoft.com/office/drawing/2014/main" id="{83ED579A-4724-40E4-AD27-BC683EAA7456}"/>
              </a:ext>
            </a:extLst>
          </p:cNvPr>
          <p:cNvPicPr>
            <a:picLocks noChangeAspect="1"/>
          </p:cNvPicPr>
          <p:nvPr/>
        </p:nvPicPr>
        <p:blipFill>
          <a:blip r:embed="rId2"/>
          <a:stretch>
            <a:fillRect/>
          </a:stretch>
        </p:blipFill>
        <p:spPr>
          <a:xfrm>
            <a:off x="567542" y="1817794"/>
            <a:ext cx="8845399" cy="4754402"/>
          </a:xfrm>
          <a:prstGeom prst="rect">
            <a:avLst/>
          </a:prstGeom>
        </p:spPr>
      </p:pic>
    </p:spTree>
    <p:extLst>
      <p:ext uri="{BB962C8B-B14F-4D97-AF65-F5344CB8AC3E}">
        <p14:creationId xmlns:p14="http://schemas.microsoft.com/office/powerpoint/2010/main" val="14640331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lang="ja-JP" altLang="en-US" sz="3200" b="1" u="sng" dirty="0"/>
              <a:t>レイトレーシング</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494633" cy="4524315"/>
          </a:xfrm>
          <a:prstGeom prst="rect">
            <a:avLst/>
          </a:prstGeom>
          <a:noFill/>
        </p:spPr>
        <p:txBody>
          <a:bodyPr wrap="none" rtlCol="0">
            <a:spAutoFit/>
          </a:bodyPr>
          <a:lstStyle/>
          <a:p>
            <a:r>
              <a:rPr kumimoji="1" lang="ja-JP" altLang="en-US" sz="2400" dirty="0"/>
              <a:t>反射面に黒い淵がでたり、若干ぼやけたりなど、</a:t>
            </a:r>
            <a:endParaRPr kumimoji="1" lang="en-US" altLang="ja-JP" sz="2400" dirty="0"/>
          </a:p>
          <a:p>
            <a:r>
              <a:rPr lang="ja-JP" altLang="en-US" sz="2400" dirty="0"/>
              <a:t>完璧には反射が映らないと思います。</a:t>
            </a:r>
            <a:endParaRPr lang="en-US" altLang="ja-JP" sz="2400" dirty="0"/>
          </a:p>
          <a:p>
            <a:r>
              <a:rPr kumimoji="1" lang="ja-JP" altLang="en-US" sz="2400" dirty="0"/>
              <a:t>とばしたレイには</a:t>
            </a:r>
            <a:r>
              <a:rPr kumimoji="1" lang="ja-JP" altLang="en-US" sz="2400" b="1" dirty="0">
                <a:solidFill>
                  <a:srgbClr val="FF0000"/>
                </a:solidFill>
              </a:rPr>
              <a:t>長さ上限</a:t>
            </a:r>
            <a:r>
              <a:rPr kumimoji="1" lang="ja-JP" altLang="en-US" sz="2400" dirty="0"/>
              <a:t>があることや、</a:t>
            </a:r>
            <a:endParaRPr kumimoji="1" lang="en-US" altLang="ja-JP" sz="2400" dirty="0"/>
          </a:p>
          <a:p>
            <a:r>
              <a:rPr kumimoji="1" lang="ja-JP" altLang="en-US" sz="2400" b="1" dirty="0">
                <a:solidFill>
                  <a:srgbClr val="FF0000"/>
                </a:solidFill>
              </a:rPr>
              <a:t>分散したレイの本数が少ないこと</a:t>
            </a:r>
            <a:r>
              <a:rPr kumimoji="1" lang="ja-JP" altLang="en-US" sz="2400" dirty="0"/>
              <a:t>から、</a:t>
            </a:r>
            <a:endParaRPr kumimoji="1" lang="en-US" altLang="ja-JP" sz="2400" dirty="0"/>
          </a:p>
          <a:p>
            <a:r>
              <a:rPr kumimoji="1" lang="ja-JP" altLang="en-US" sz="2400" b="1" dirty="0">
                <a:solidFill>
                  <a:srgbClr val="FF0000"/>
                </a:solidFill>
              </a:rPr>
              <a:t>完璧に反射されることはあまりありません。</a:t>
            </a:r>
            <a:endParaRPr kumimoji="1" lang="en-US" altLang="ja-JP" sz="2400" b="1" dirty="0">
              <a:solidFill>
                <a:srgbClr val="FF0000"/>
              </a:solidFill>
            </a:endParaRPr>
          </a:p>
          <a:p>
            <a:endParaRPr lang="en-US" altLang="ja-JP" sz="2400" dirty="0"/>
          </a:p>
          <a:p>
            <a:r>
              <a:rPr lang="ja-JP" altLang="en-US" sz="2400" dirty="0"/>
              <a:t>実際に市販のゲームでは、</a:t>
            </a:r>
            <a:endParaRPr lang="en-US" altLang="ja-JP" sz="2400" dirty="0"/>
          </a:p>
          <a:p>
            <a:r>
              <a:rPr kumimoji="1" lang="en-US" altLang="ja-JP" sz="2400" dirty="0"/>
              <a:t>Smoothness</a:t>
            </a:r>
            <a:r>
              <a:rPr kumimoji="1" lang="ja-JP" altLang="en-US" sz="2400" dirty="0"/>
              <a:t>を落として、ぼかして誤魔化したり、</a:t>
            </a:r>
            <a:endParaRPr kumimoji="1" lang="en-US" altLang="ja-JP" sz="2400" dirty="0"/>
          </a:p>
          <a:p>
            <a:r>
              <a:rPr kumimoji="1" lang="ja-JP" altLang="en-US" sz="2400" dirty="0"/>
              <a:t>シェーダーで見た目を補完したりなど、</a:t>
            </a:r>
            <a:endParaRPr kumimoji="1" lang="en-US" altLang="ja-JP" sz="2400" dirty="0"/>
          </a:p>
          <a:p>
            <a:r>
              <a:rPr lang="ja-JP" altLang="en-US" sz="2400" dirty="0"/>
              <a:t>他の手法も考慮に入れて、きれいに見せようと努力します。</a:t>
            </a:r>
            <a:endParaRPr lang="en-US" altLang="ja-JP" sz="2400" dirty="0"/>
          </a:p>
          <a:p>
            <a:endParaRPr kumimoji="1" lang="en-US" altLang="ja-JP" sz="2400" dirty="0"/>
          </a:p>
          <a:p>
            <a:r>
              <a:rPr lang="ja-JP" altLang="en-US" sz="2400" b="1" dirty="0">
                <a:solidFill>
                  <a:srgbClr val="FF0000"/>
                </a:solidFill>
              </a:rPr>
              <a:t>レイトレーシング＝万能とは思わないように</a:t>
            </a:r>
            <a:r>
              <a:rPr lang="ja-JP" altLang="en-US" sz="2400" dirty="0"/>
              <a:t>しましょう。</a:t>
            </a:r>
            <a:endParaRPr kumimoji="1" lang="en-US" altLang="ja-JP" sz="2400" dirty="0"/>
          </a:p>
        </p:txBody>
      </p:sp>
    </p:spTree>
    <p:extLst>
      <p:ext uri="{BB962C8B-B14F-4D97-AF65-F5344CB8AC3E}">
        <p14:creationId xmlns:p14="http://schemas.microsoft.com/office/powerpoint/2010/main" val="74307044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428</TotalTime>
  <Words>717</Words>
  <Application>Microsoft Office PowerPoint</Application>
  <PresentationFormat>ワイド画面</PresentationFormat>
  <Paragraphs>97</Paragraphs>
  <Slides>19</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19</vt:i4>
      </vt:variant>
    </vt:vector>
  </HeadingPairs>
  <TitlesOfParts>
    <vt:vector size="23"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北九州校　ゲーム</cp:lastModifiedBy>
  <cp:revision>46</cp:revision>
  <dcterms:created xsi:type="dcterms:W3CDTF">2024-08-27T02:15:54Z</dcterms:created>
  <dcterms:modified xsi:type="dcterms:W3CDTF">2026-01-09T04:17:26Z</dcterms:modified>
</cp:coreProperties>
</file>