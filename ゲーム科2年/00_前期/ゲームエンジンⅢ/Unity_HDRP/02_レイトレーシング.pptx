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1" r:id="rId12"/>
    <p:sldId id="265" r:id="rId13"/>
    <p:sldId id="266" r:id="rId14"/>
    <p:sldId id="267" r:id="rId15"/>
    <p:sldId id="268" r:id="rId16"/>
    <p:sldId id="269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mazon | 大型スチールボール、大型スチールボール、大型円形ボール(45mm=370g)に対応 1個 | 深溝玉軸受 | 産業・研究開発用品 通販">
            <a:extLst>
              <a:ext uri="{FF2B5EF4-FFF2-40B4-BE49-F238E27FC236}">
                <a16:creationId xmlns:a16="http://schemas.microsoft.com/office/drawing/2014/main" id="{0ABE8661-1D67-4FA6-A1B9-56945FD4E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154" y="2382678"/>
            <a:ext cx="3826501" cy="3646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マテリアルを使って金属感や光沢感を出すことはできますが、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配置されてあるオブジェクトを反射して映すことはありません。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パチンコ玉のようなきれいな金属や水面、氷面をリアルに表現したい場合は、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反射</a:t>
            </a:r>
            <a:r>
              <a:rPr lang="ja-JP" altLang="en-US" sz="2400" dirty="0"/>
              <a:t>は必須となります。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描画手法の一つに、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レイトレーシング</a:t>
            </a:r>
            <a:r>
              <a:rPr kumimoji="1" lang="ja-JP" altLang="en-US" sz="2400" dirty="0"/>
              <a:t>というものがあります。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名前の通り、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レイ（光線）</a:t>
            </a:r>
            <a:r>
              <a:rPr kumimoji="1" lang="ja-JP" altLang="en-US" sz="2400" dirty="0"/>
              <a:t>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トレーシング（たどる）</a:t>
            </a:r>
            <a:r>
              <a:rPr kumimoji="1" lang="ja-JP" altLang="en-US" sz="2400" dirty="0"/>
              <a:t>する手法になります。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下図で簡単に説明します。</a:t>
            </a:r>
            <a:endParaRPr kumimoji="1"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5FB87BC1-5E39-4D6A-912F-37EEE6FCE1D9}"/>
              </a:ext>
            </a:extLst>
          </p:cNvPr>
          <p:cNvGrpSpPr/>
          <p:nvPr/>
        </p:nvGrpSpPr>
        <p:grpSpPr>
          <a:xfrm>
            <a:off x="977153" y="3715521"/>
            <a:ext cx="720000" cy="718588"/>
            <a:chOff x="995082" y="3711388"/>
            <a:chExt cx="720000" cy="718588"/>
          </a:xfrm>
        </p:grpSpPr>
        <p:cxnSp>
          <p:nvCxnSpPr>
            <p:cNvPr id="3" name="直線コネクタ 2">
              <a:extLst>
                <a:ext uri="{FF2B5EF4-FFF2-40B4-BE49-F238E27FC236}">
                  <a16:creationId xmlns:a16="http://schemas.microsoft.com/office/drawing/2014/main" id="{2E958AED-E636-4139-BCB6-17E74CE2F4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5082" y="3711388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58268E88-CE06-464E-9A02-2E9C133E1A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5082" y="4069976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EAF16889-51A4-470F-AD70-5B57DF5EB20C}"/>
                </a:ext>
              </a:extLst>
            </p:cNvPr>
            <p:cNvSpPr/>
            <p:nvPr/>
          </p:nvSpPr>
          <p:spPr>
            <a:xfrm>
              <a:off x="1390942" y="3827929"/>
              <a:ext cx="242048" cy="49305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" name="楕円 11">
            <a:extLst>
              <a:ext uri="{FF2B5EF4-FFF2-40B4-BE49-F238E27FC236}">
                <a16:creationId xmlns:a16="http://schemas.microsoft.com/office/drawing/2014/main" id="{E5BC8034-5B4F-4C0B-8C10-11658459FCDC}"/>
              </a:ext>
            </a:extLst>
          </p:cNvPr>
          <p:cNvSpPr/>
          <p:nvPr/>
        </p:nvSpPr>
        <p:spPr>
          <a:xfrm>
            <a:off x="6590753" y="3473124"/>
            <a:ext cx="1080000" cy="1080000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8E25D75-A330-4C07-8374-20199B1DFB2A}"/>
              </a:ext>
            </a:extLst>
          </p:cNvPr>
          <p:cNvSpPr/>
          <p:nvPr/>
        </p:nvSpPr>
        <p:spPr>
          <a:xfrm>
            <a:off x="663389" y="5082988"/>
            <a:ext cx="11035552" cy="48409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二等辺三角形 13">
            <a:extLst>
              <a:ext uri="{FF2B5EF4-FFF2-40B4-BE49-F238E27FC236}">
                <a16:creationId xmlns:a16="http://schemas.microsoft.com/office/drawing/2014/main" id="{75BFDE3C-132D-4824-9D34-5FBD2CA6D13D}"/>
              </a:ext>
            </a:extLst>
          </p:cNvPr>
          <p:cNvSpPr/>
          <p:nvPr/>
        </p:nvSpPr>
        <p:spPr>
          <a:xfrm>
            <a:off x="4240305" y="4675203"/>
            <a:ext cx="457200" cy="407785"/>
          </a:xfrm>
          <a:prstGeom prst="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スマイル 14">
            <a:extLst>
              <a:ext uri="{FF2B5EF4-FFF2-40B4-BE49-F238E27FC236}">
                <a16:creationId xmlns:a16="http://schemas.microsoft.com/office/drawing/2014/main" id="{246962DF-0148-47ED-A323-4B6EFF02438D}"/>
              </a:ext>
            </a:extLst>
          </p:cNvPr>
          <p:cNvSpPr/>
          <p:nvPr/>
        </p:nvSpPr>
        <p:spPr>
          <a:xfrm>
            <a:off x="9123494" y="4496862"/>
            <a:ext cx="582706" cy="58612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6892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670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視点からレイを飛ばします。</a:t>
            </a:r>
            <a:endParaRPr lang="en-US" altLang="ja-JP" sz="2400" dirty="0"/>
          </a:p>
          <a:p>
            <a:r>
              <a:rPr lang="ja-JP" altLang="en-US" sz="2400" dirty="0"/>
              <a:t>レイが何も当たらなければ、背景</a:t>
            </a:r>
            <a:r>
              <a:rPr lang="en-US" altLang="ja-JP" sz="2400" dirty="0"/>
              <a:t>(Unity</a:t>
            </a:r>
            <a:r>
              <a:rPr lang="ja-JP" altLang="en-US" sz="2400" dirty="0"/>
              <a:t>だと</a:t>
            </a:r>
            <a:r>
              <a:rPr lang="en-US" altLang="ja-JP" sz="2400" dirty="0"/>
              <a:t>Skybox)</a:t>
            </a:r>
            <a:r>
              <a:rPr lang="ja-JP" altLang="en-US" sz="2400" dirty="0"/>
              <a:t>を表示します。</a:t>
            </a:r>
            <a:endParaRPr kumimoji="1"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5FB87BC1-5E39-4D6A-912F-37EEE6FCE1D9}"/>
              </a:ext>
            </a:extLst>
          </p:cNvPr>
          <p:cNvGrpSpPr/>
          <p:nvPr/>
        </p:nvGrpSpPr>
        <p:grpSpPr>
          <a:xfrm>
            <a:off x="977153" y="3715521"/>
            <a:ext cx="720000" cy="718588"/>
            <a:chOff x="995082" y="3711388"/>
            <a:chExt cx="720000" cy="718588"/>
          </a:xfrm>
        </p:grpSpPr>
        <p:cxnSp>
          <p:nvCxnSpPr>
            <p:cNvPr id="3" name="直線コネクタ 2">
              <a:extLst>
                <a:ext uri="{FF2B5EF4-FFF2-40B4-BE49-F238E27FC236}">
                  <a16:creationId xmlns:a16="http://schemas.microsoft.com/office/drawing/2014/main" id="{2E958AED-E636-4139-BCB6-17E74CE2F4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5082" y="3711388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58268E88-CE06-464E-9A02-2E9C133E1A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5082" y="4069976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EAF16889-51A4-470F-AD70-5B57DF5EB20C}"/>
                </a:ext>
              </a:extLst>
            </p:cNvPr>
            <p:cNvSpPr/>
            <p:nvPr/>
          </p:nvSpPr>
          <p:spPr>
            <a:xfrm>
              <a:off x="1390942" y="3827929"/>
              <a:ext cx="242048" cy="49305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" name="楕円 11">
            <a:extLst>
              <a:ext uri="{FF2B5EF4-FFF2-40B4-BE49-F238E27FC236}">
                <a16:creationId xmlns:a16="http://schemas.microsoft.com/office/drawing/2014/main" id="{E5BC8034-5B4F-4C0B-8C10-11658459FCDC}"/>
              </a:ext>
            </a:extLst>
          </p:cNvPr>
          <p:cNvSpPr/>
          <p:nvPr/>
        </p:nvSpPr>
        <p:spPr>
          <a:xfrm>
            <a:off x="6590753" y="3473124"/>
            <a:ext cx="1080000" cy="1080000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8E25D75-A330-4C07-8374-20199B1DFB2A}"/>
              </a:ext>
            </a:extLst>
          </p:cNvPr>
          <p:cNvSpPr/>
          <p:nvPr/>
        </p:nvSpPr>
        <p:spPr>
          <a:xfrm>
            <a:off x="663389" y="5082988"/>
            <a:ext cx="11035552" cy="48409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二等辺三角形 13">
            <a:extLst>
              <a:ext uri="{FF2B5EF4-FFF2-40B4-BE49-F238E27FC236}">
                <a16:creationId xmlns:a16="http://schemas.microsoft.com/office/drawing/2014/main" id="{75BFDE3C-132D-4824-9D34-5FBD2CA6D13D}"/>
              </a:ext>
            </a:extLst>
          </p:cNvPr>
          <p:cNvSpPr/>
          <p:nvPr/>
        </p:nvSpPr>
        <p:spPr>
          <a:xfrm>
            <a:off x="4240305" y="4675203"/>
            <a:ext cx="457200" cy="407785"/>
          </a:xfrm>
          <a:prstGeom prst="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スマイル 14">
            <a:extLst>
              <a:ext uri="{FF2B5EF4-FFF2-40B4-BE49-F238E27FC236}">
                <a16:creationId xmlns:a16="http://schemas.microsoft.com/office/drawing/2014/main" id="{246962DF-0148-47ED-A323-4B6EFF02438D}"/>
              </a:ext>
            </a:extLst>
          </p:cNvPr>
          <p:cNvSpPr/>
          <p:nvPr/>
        </p:nvSpPr>
        <p:spPr>
          <a:xfrm>
            <a:off x="9123494" y="4496862"/>
            <a:ext cx="582706" cy="58612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EE79CBB3-44CC-42C2-83CD-ACFC8426EF66}"/>
              </a:ext>
            </a:extLst>
          </p:cNvPr>
          <p:cNvCxnSpPr>
            <a:stCxn id="10" idx="6"/>
          </p:cNvCxnSpPr>
          <p:nvPr/>
        </p:nvCxnSpPr>
        <p:spPr>
          <a:xfrm flipV="1">
            <a:off x="1615061" y="2420471"/>
            <a:ext cx="9196374" cy="165812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108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C418D1F-A8B5-44A8-AC26-809D876BEE1A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181165" y="4201945"/>
            <a:ext cx="409588" cy="88104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860FB26B-CE62-4F44-AD7B-F886D4C8CD4B}"/>
              </a:ext>
            </a:extLst>
          </p:cNvPr>
          <p:cNvCxnSpPr>
            <a:cxnSpLocks/>
            <a:endCxn id="14" idx="5"/>
          </p:cNvCxnSpPr>
          <p:nvPr/>
        </p:nvCxnSpPr>
        <p:spPr>
          <a:xfrm flipH="1">
            <a:off x="4583205" y="4184331"/>
            <a:ext cx="2086538" cy="69476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もしも何らかのポリゴンにヒットした場合、</a:t>
            </a:r>
            <a:endParaRPr kumimoji="1" lang="en-US" altLang="ja-JP" sz="2400" dirty="0"/>
          </a:p>
          <a:p>
            <a:r>
              <a:rPr kumimoji="1" lang="ja-JP" altLang="en-US" sz="2400" dirty="0"/>
              <a:t>レイを複数分散させます。分散方向は反射や屈折など様々です。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下図は鉄球に当たった際の例です。</a:t>
            </a:r>
            <a:endParaRPr kumimoji="1"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5FB87BC1-5E39-4D6A-912F-37EEE6FCE1D9}"/>
              </a:ext>
            </a:extLst>
          </p:cNvPr>
          <p:cNvGrpSpPr/>
          <p:nvPr/>
        </p:nvGrpSpPr>
        <p:grpSpPr>
          <a:xfrm>
            <a:off x="977153" y="3715521"/>
            <a:ext cx="720000" cy="718588"/>
            <a:chOff x="995082" y="3711388"/>
            <a:chExt cx="720000" cy="718588"/>
          </a:xfrm>
        </p:grpSpPr>
        <p:cxnSp>
          <p:nvCxnSpPr>
            <p:cNvPr id="3" name="直線コネクタ 2">
              <a:extLst>
                <a:ext uri="{FF2B5EF4-FFF2-40B4-BE49-F238E27FC236}">
                  <a16:creationId xmlns:a16="http://schemas.microsoft.com/office/drawing/2014/main" id="{2E958AED-E636-4139-BCB6-17E74CE2F4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5082" y="3711388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58268E88-CE06-464E-9A02-2E9C133E1A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5082" y="4069976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EAF16889-51A4-470F-AD70-5B57DF5EB20C}"/>
                </a:ext>
              </a:extLst>
            </p:cNvPr>
            <p:cNvSpPr/>
            <p:nvPr/>
          </p:nvSpPr>
          <p:spPr>
            <a:xfrm>
              <a:off x="1390942" y="3827929"/>
              <a:ext cx="242048" cy="49305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8E25D75-A330-4C07-8374-20199B1DFB2A}"/>
              </a:ext>
            </a:extLst>
          </p:cNvPr>
          <p:cNvSpPr/>
          <p:nvPr/>
        </p:nvSpPr>
        <p:spPr>
          <a:xfrm>
            <a:off x="663389" y="5082988"/>
            <a:ext cx="11035552" cy="48409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二等辺三角形 13">
            <a:extLst>
              <a:ext uri="{FF2B5EF4-FFF2-40B4-BE49-F238E27FC236}">
                <a16:creationId xmlns:a16="http://schemas.microsoft.com/office/drawing/2014/main" id="{75BFDE3C-132D-4824-9D34-5FBD2CA6D13D}"/>
              </a:ext>
            </a:extLst>
          </p:cNvPr>
          <p:cNvSpPr/>
          <p:nvPr/>
        </p:nvSpPr>
        <p:spPr>
          <a:xfrm>
            <a:off x="4240305" y="4675203"/>
            <a:ext cx="457200" cy="407785"/>
          </a:xfrm>
          <a:prstGeom prst="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スマイル 14">
            <a:extLst>
              <a:ext uri="{FF2B5EF4-FFF2-40B4-BE49-F238E27FC236}">
                <a16:creationId xmlns:a16="http://schemas.microsoft.com/office/drawing/2014/main" id="{246962DF-0148-47ED-A323-4B6EFF02438D}"/>
              </a:ext>
            </a:extLst>
          </p:cNvPr>
          <p:cNvSpPr/>
          <p:nvPr/>
        </p:nvSpPr>
        <p:spPr>
          <a:xfrm>
            <a:off x="9123494" y="4496862"/>
            <a:ext cx="582706" cy="58612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9721F91E-65E2-4C5C-893A-9905417626D0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1615061" y="4078592"/>
            <a:ext cx="5054682" cy="12335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楕円 23">
            <a:extLst>
              <a:ext uri="{FF2B5EF4-FFF2-40B4-BE49-F238E27FC236}">
                <a16:creationId xmlns:a16="http://schemas.microsoft.com/office/drawing/2014/main" id="{A118DB76-A7F0-4140-86BB-E0790B765896}"/>
              </a:ext>
            </a:extLst>
          </p:cNvPr>
          <p:cNvSpPr/>
          <p:nvPr/>
        </p:nvSpPr>
        <p:spPr>
          <a:xfrm>
            <a:off x="6590753" y="3473124"/>
            <a:ext cx="1080000" cy="1080000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7F52868-E40A-4363-BDC9-0EED4EC6D618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6590753" y="4218884"/>
            <a:ext cx="2532741" cy="57104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9DA0229E-31DE-4430-AE78-2897BE31A83C}"/>
              </a:ext>
            </a:extLst>
          </p:cNvPr>
          <p:cNvCxnSpPr>
            <a:cxnSpLocks/>
          </p:cNvCxnSpPr>
          <p:nvPr/>
        </p:nvCxnSpPr>
        <p:spPr>
          <a:xfrm flipH="1" flipV="1">
            <a:off x="5274069" y="3763299"/>
            <a:ext cx="1316684" cy="44677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487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860FB26B-CE62-4F44-AD7B-F886D4C8CD4B}"/>
              </a:ext>
            </a:extLst>
          </p:cNvPr>
          <p:cNvCxnSpPr>
            <a:cxnSpLocks/>
            <a:endCxn id="14" idx="5"/>
          </p:cNvCxnSpPr>
          <p:nvPr/>
        </p:nvCxnSpPr>
        <p:spPr>
          <a:xfrm flipH="1">
            <a:off x="4583205" y="4184331"/>
            <a:ext cx="2086538" cy="69476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反射したレイが別のポリゴンに当たった場合、</a:t>
            </a:r>
            <a:endParaRPr kumimoji="1" lang="en-US" altLang="ja-JP" sz="2400" dirty="0"/>
          </a:p>
          <a:p>
            <a:r>
              <a:rPr kumimoji="1" lang="ja-JP" altLang="en-US" sz="2400" dirty="0"/>
              <a:t>それが鉄球に反射して映ることがわかります。</a:t>
            </a:r>
            <a:endParaRPr kumimoji="1" lang="en-US" altLang="ja-JP" sz="2400" dirty="0"/>
          </a:p>
          <a:p>
            <a:r>
              <a:rPr lang="ja-JP" altLang="en-US" sz="2400" dirty="0"/>
              <a:t>この場合、オレンジ色が鉄球に映るはずです。</a:t>
            </a:r>
            <a:endParaRPr kumimoji="1"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5FB87BC1-5E39-4D6A-912F-37EEE6FCE1D9}"/>
              </a:ext>
            </a:extLst>
          </p:cNvPr>
          <p:cNvGrpSpPr/>
          <p:nvPr/>
        </p:nvGrpSpPr>
        <p:grpSpPr>
          <a:xfrm>
            <a:off x="977153" y="3715521"/>
            <a:ext cx="720000" cy="718588"/>
            <a:chOff x="995082" y="3711388"/>
            <a:chExt cx="720000" cy="718588"/>
          </a:xfrm>
        </p:grpSpPr>
        <p:cxnSp>
          <p:nvCxnSpPr>
            <p:cNvPr id="3" name="直線コネクタ 2">
              <a:extLst>
                <a:ext uri="{FF2B5EF4-FFF2-40B4-BE49-F238E27FC236}">
                  <a16:creationId xmlns:a16="http://schemas.microsoft.com/office/drawing/2014/main" id="{2E958AED-E636-4139-BCB6-17E74CE2F4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5082" y="3711388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58268E88-CE06-464E-9A02-2E9C133E1A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5082" y="4069976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EAF16889-51A4-470F-AD70-5B57DF5EB20C}"/>
                </a:ext>
              </a:extLst>
            </p:cNvPr>
            <p:cNvSpPr/>
            <p:nvPr/>
          </p:nvSpPr>
          <p:spPr>
            <a:xfrm>
              <a:off x="1390942" y="3827929"/>
              <a:ext cx="242048" cy="49305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8E25D75-A330-4C07-8374-20199B1DFB2A}"/>
              </a:ext>
            </a:extLst>
          </p:cNvPr>
          <p:cNvSpPr/>
          <p:nvPr/>
        </p:nvSpPr>
        <p:spPr>
          <a:xfrm>
            <a:off x="663389" y="5082988"/>
            <a:ext cx="11035552" cy="48409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二等辺三角形 13">
            <a:extLst>
              <a:ext uri="{FF2B5EF4-FFF2-40B4-BE49-F238E27FC236}">
                <a16:creationId xmlns:a16="http://schemas.microsoft.com/office/drawing/2014/main" id="{75BFDE3C-132D-4824-9D34-5FBD2CA6D13D}"/>
              </a:ext>
            </a:extLst>
          </p:cNvPr>
          <p:cNvSpPr/>
          <p:nvPr/>
        </p:nvSpPr>
        <p:spPr>
          <a:xfrm>
            <a:off x="4240305" y="4675203"/>
            <a:ext cx="457200" cy="407785"/>
          </a:xfrm>
          <a:prstGeom prst="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スマイル 14">
            <a:extLst>
              <a:ext uri="{FF2B5EF4-FFF2-40B4-BE49-F238E27FC236}">
                <a16:creationId xmlns:a16="http://schemas.microsoft.com/office/drawing/2014/main" id="{246962DF-0148-47ED-A323-4B6EFF02438D}"/>
              </a:ext>
            </a:extLst>
          </p:cNvPr>
          <p:cNvSpPr/>
          <p:nvPr/>
        </p:nvSpPr>
        <p:spPr>
          <a:xfrm>
            <a:off x="9123494" y="4496862"/>
            <a:ext cx="582706" cy="58612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9721F91E-65E2-4C5C-893A-9905417626D0}"/>
              </a:ext>
            </a:extLst>
          </p:cNvPr>
          <p:cNvCxnSpPr>
            <a:cxnSpLocks/>
            <a:stCxn id="10" idx="6"/>
          </p:cNvCxnSpPr>
          <p:nvPr/>
        </p:nvCxnSpPr>
        <p:spPr>
          <a:xfrm>
            <a:off x="1615061" y="4078592"/>
            <a:ext cx="5054682" cy="12335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楕円 23">
            <a:extLst>
              <a:ext uri="{FF2B5EF4-FFF2-40B4-BE49-F238E27FC236}">
                <a16:creationId xmlns:a16="http://schemas.microsoft.com/office/drawing/2014/main" id="{A118DB76-A7F0-4140-86BB-E0790B765896}"/>
              </a:ext>
            </a:extLst>
          </p:cNvPr>
          <p:cNvSpPr/>
          <p:nvPr/>
        </p:nvSpPr>
        <p:spPr>
          <a:xfrm>
            <a:off x="6590753" y="3473124"/>
            <a:ext cx="1080000" cy="1080000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729B38C-F860-4E81-9CE9-C8D7F5A0991F}"/>
              </a:ext>
            </a:extLst>
          </p:cNvPr>
          <p:cNvSpPr txBox="1"/>
          <p:nvPr/>
        </p:nvSpPr>
        <p:spPr>
          <a:xfrm>
            <a:off x="663389" y="5866113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このようにレイをたどる手法をレイトレーシングと言います。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7515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860FB26B-CE62-4F44-AD7B-F886D4C8CD4B}"/>
              </a:ext>
            </a:extLst>
          </p:cNvPr>
          <p:cNvCxnSpPr>
            <a:cxnSpLocks/>
          </p:cNvCxnSpPr>
          <p:nvPr/>
        </p:nvCxnSpPr>
        <p:spPr>
          <a:xfrm flipV="1">
            <a:off x="1634921" y="2348753"/>
            <a:ext cx="2833984" cy="172535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このレイを視点の位置から画面ピクセル数分とばします。</a:t>
            </a:r>
            <a:endParaRPr kumimoji="1" lang="en-US" altLang="ja-JP" sz="2400" dirty="0"/>
          </a:p>
          <a:p>
            <a:r>
              <a:rPr lang="en-US" altLang="ja-JP" sz="2400" dirty="0"/>
              <a:t>※FHD</a:t>
            </a:r>
            <a:r>
              <a:rPr lang="ja-JP" altLang="en-US" sz="2400" dirty="0"/>
              <a:t>の場合、</a:t>
            </a:r>
            <a:r>
              <a:rPr lang="en-US" altLang="ja-JP" sz="2400" dirty="0"/>
              <a:t>1920×1080</a:t>
            </a:r>
            <a:r>
              <a:rPr lang="ja-JP" altLang="en-US" sz="2400" dirty="0"/>
              <a:t>本</a:t>
            </a:r>
            <a:endParaRPr kumimoji="1"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5FB87BC1-5E39-4D6A-912F-37EEE6FCE1D9}"/>
              </a:ext>
            </a:extLst>
          </p:cNvPr>
          <p:cNvGrpSpPr/>
          <p:nvPr/>
        </p:nvGrpSpPr>
        <p:grpSpPr>
          <a:xfrm>
            <a:off x="977153" y="3715521"/>
            <a:ext cx="720000" cy="718588"/>
            <a:chOff x="995082" y="3711388"/>
            <a:chExt cx="720000" cy="718588"/>
          </a:xfrm>
        </p:grpSpPr>
        <p:cxnSp>
          <p:nvCxnSpPr>
            <p:cNvPr id="3" name="直線コネクタ 2">
              <a:extLst>
                <a:ext uri="{FF2B5EF4-FFF2-40B4-BE49-F238E27FC236}">
                  <a16:creationId xmlns:a16="http://schemas.microsoft.com/office/drawing/2014/main" id="{2E958AED-E636-4139-BCB6-17E74CE2F4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5082" y="3711388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58268E88-CE06-464E-9A02-2E9C133E1A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5082" y="4069976"/>
              <a:ext cx="720000" cy="360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EAF16889-51A4-470F-AD70-5B57DF5EB20C}"/>
                </a:ext>
              </a:extLst>
            </p:cNvPr>
            <p:cNvSpPr/>
            <p:nvPr/>
          </p:nvSpPr>
          <p:spPr>
            <a:xfrm>
              <a:off x="1390942" y="3827929"/>
              <a:ext cx="242048" cy="49305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8E25D75-A330-4C07-8374-20199B1DFB2A}"/>
              </a:ext>
            </a:extLst>
          </p:cNvPr>
          <p:cNvSpPr/>
          <p:nvPr/>
        </p:nvSpPr>
        <p:spPr>
          <a:xfrm>
            <a:off x="663389" y="5082988"/>
            <a:ext cx="11035552" cy="484094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二等辺三角形 13">
            <a:extLst>
              <a:ext uri="{FF2B5EF4-FFF2-40B4-BE49-F238E27FC236}">
                <a16:creationId xmlns:a16="http://schemas.microsoft.com/office/drawing/2014/main" id="{75BFDE3C-132D-4824-9D34-5FBD2CA6D13D}"/>
              </a:ext>
            </a:extLst>
          </p:cNvPr>
          <p:cNvSpPr/>
          <p:nvPr/>
        </p:nvSpPr>
        <p:spPr>
          <a:xfrm>
            <a:off x="4240305" y="4675203"/>
            <a:ext cx="457200" cy="407785"/>
          </a:xfrm>
          <a:prstGeom prst="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スマイル 14">
            <a:extLst>
              <a:ext uri="{FF2B5EF4-FFF2-40B4-BE49-F238E27FC236}">
                <a16:creationId xmlns:a16="http://schemas.microsoft.com/office/drawing/2014/main" id="{246962DF-0148-47ED-A323-4B6EFF02438D}"/>
              </a:ext>
            </a:extLst>
          </p:cNvPr>
          <p:cNvSpPr/>
          <p:nvPr/>
        </p:nvSpPr>
        <p:spPr>
          <a:xfrm>
            <a:off x="9123494" y="4496862"/>
            <a:ext cx="582706" cy="586126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A118DB76-A7F0-4140-86BB-E0790B765896}"/>
              </a:ext>
            </a:extLst>
          </p:cNvPr>
          <p:cNvSpPr/>
          <p:nvPr/>
        </p:nvSpPr>
        <p:spPr>
          <a:xfrm>
            <a:off x="6590753" y="3473124"/>
            <a:ext cx="1080000" cy="1080000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4F056798-E224-4D11-B7F6-79FF4D1C060B}"/>
              </a:ext>
            </a:extLst>
          </p:cNvPr>
          <p:cNvCxnSpPr>
            <a:cxnSpLocks/>
            <a:stCxn id="10" idx="6"/>
          </p:cNvCxnSpPr>
          <p:nvPr/>
        </p:nvCxnSpPr>
        <p:spPr>
          <a:xfrm flipV="1">
            <a:off x="1615061" y="2501154"/>
            <a:ext cx="3006244" cy="157743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1929699-D9A4-4B54-8820-DE6DBE1058FD}"/>
              </a:ext>
            </a:extLst>
          </p:cNvPr>
          <p:cNvCxnSpPr>
            <a:cxnSpLocks/>
            <a:stCxn id="10" idx="6"/>
          </p:cNvCxnSpPr>
          <p:nvPr/>
        </p:nvCxnSpPr>
        <p:spPr>
          <a:xfrm flipV="1">
            <a:off x="1615061" y="2692354"/>
            <a:ext cx="3151646" cy="138623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D13D3C1B-80CC-4199-8FA3-2C360F67BF59}"/>
              </a:ext>
            </a:extLst>
          </p:cNvPr>
          <p:cNvCxnSpPr>
            <a:cxnSpLocks/>
          </p:cNvCxnSpPr>
          <p:nvPr/>
        </p:nvCxnSpPr>
        <p:spPr>
          <a:xfrm flipV="1">
            <a:off x="1615061" y="2935051"/>
            <a:ext cx="3216915" cy="117026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9F6F069F-5A89-40BC-B150-2BEE3A5D88F9}"/>
              </a:ext>
            </a:extLst>
          </p:cNvPr>
          <p:cNvCxnSpPr>
            <a:cxnSpLocks/>
            <a:stCxn id="10" idx="6"/>
          </p:cNvCxnSpPr>
          <p:nvPr/>
        </p:nvCxnSpPr>
        <p:spPr>
          <a:xfrm flipV="1">
            <a:off x="1615061" y="3199895"/>
            <a:ext cx="3279668" cy="87869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6490F64-4749-4492-B07C-552A9EF3980D}"/>
              </a:ext>
            </a:extLst>
          </p:cNvPr>
          <p:cNvCxnSpPr>
            <a:cxnSpLocks/>
            <a:stCxn id="10" idx="6"/>
          </p:cNvCxnSpPr>
          <p:nvPr/>
        </p:nvCxnSpPr>
        <p:spPr>
          <a:xfrm flipV="1">
            <a:off x="1615061" y="3421687"/>
            <a:ext cx="3353686" cy="65690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EDC3F3D4-716C-46F7-B7FE-A8B706D026EB}"/>
              </a:ext>
            </a:extLst>
          </p:cNvPr>
          <p:cNvGrpSpPr/>
          <p:nvPr/>
        </p:nvGrpSpPr>
        <p:grpSpPr>
          <a:xfrm rot="1467915">
            <a:off x="1585781" y="3218633"/>
            <a:ext cx="3503954" cy="1604158"/>
            <a:chOff x="1409956" y="2485372"/>
            <a:chExt cx="3503954" cy="1604158"/>
          </a:xfrm>
        </p:grpSpPr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31DD1D23-612C-477A-8B52-E176FC508F21}"/>
                </a:ext>
              </a:extLst>
            </p:cNvPr>
            <p:cNvCxnSpPr>
              <a:cxnSpLocks/>
            </p:cNvCxnSpPr>
            <p:nvPr/>
          </p:nvCxnSpPr>
          <p:spPr>
            <a:xfrm rot="20132085" flipV="1">
              <a:off x="1409956" y="2932213"/>
              <a:ext cx="3322688" cy="458676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6D4D849C-91E5-4BE4-9A7F-84EB44D9C1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4242" y="2485372"/>
              <a:ext cx="3006244" cy="157743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BFEEA9AF-1C1A-4EC8-870D-F6DD2FEAC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4242" y="2676572"/>
              <a:ext cx="3151646" cy="138623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A1214E06-0649-46C7-AB24-271D11574D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4242" y="2919269"/>
              <a:ext cx="3216915" cy="1170261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6" name="直線矢印コネクタ 35">
              <a:extLst>
                <a:ext uri="{FF2B5EF4-FFF2-40B4-BE49-F238E27FC236}">
                  <a16:creationId xmlns:a16="http://schemas.microsoft.com/office/drawing/2014/main" id="{5DE5ECAB-CD00-4BA6-913B-08368E5FB9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4242" y="3184113"/>
              <a:ext cx="3279668" cy="878697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335F778-F3D4-4C1D-9F83-6B36660632D9}"/>
              </a:ext>
            </a:extLst>
          </p:cNvPr>
          <p:cNvSpPr txBox="1"/>
          <p:nvPr/>
        </p:nvSpPr>
        <p:spPr>
          <a:xfrm>
            <a:off x="567542" y="5728680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生半可な端末では処理できません。</a:t>
            </a:r>
            <a:endParaRPr kumimoji="1" lang="en-US" altLang="ja-JP" sz="2400" dirty="0"/>
          </a:p>
          <a:p>
            <a:r>
              <a:rPr lang="ja-JP" altLang="en-US" sz="2400" dirty="0"/>
              <a:t>それでも最近はレイトレーシング対応スマホもあるようですが。。。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993779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非常にコストの高い処理にはなりますが、</a:t>
            </a:r>
            <a:endParaRPr kumimoji="1" lang="en-US" altLang="ja-JP" sz="2400" dirty="0"/>
          </a:p>
          <a:p>
            <a:r>
              <a:rPr lang="ja-JP" altLang="en-US" sz="2400" dirty="0"/>
              <a:t>現実とほとんど同じような描画結果を得ることができます。</a:t>
            </a:r>
            <a:endParaRPr lang="en-US" altLang="ja-JP" sz="2400" dirty="0"/>
          </a:p>
          <a:p>
            <a:r>
              <a:rPr kumimoji="1" lang="ja-JP" altLang="en-US" sz="2400" dirty="0"/>
              <a:t>実際に</a:t>
            </a:r>
            <a:r>
              <a:rPr kumimoji="1" lang="en-US" altLang="ja-JP" sz="2400" dirty="0"/>
              <a:t>Unity</a:t>
            </a:r>
            <a:r>
              <a:rPr kumimoji="1" lang="ja-JP" altLang="en-US" sz="2400" dirty="0"/>
              <a:t>で使ってみて体験しましょう。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BB1679A-D3F0-46C3-9951-B4DA31E6F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315200" cy="393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10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994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High Definition 3D </a:t>
            </a:r>
            <a:r>
              <a:rPr kumimoji="1" lang="ja-JP" altLang="en-US" sz="2400" dirty="0"/>
              <a:t>でプロジェクトを作成します。</a:t>
            </a:r>
            <a:endParaRPr kumimoji="1"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不要パッケージ削除をお忘れなく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219FFF8-221C-49E2-A5C4-88743AB5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74434" cy="434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130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32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Project Settings</a:t>
            </a:r>
            <a:r>
              <a:rPr lang="ja-JP" altLang="en-US" sz="2400" dirty="0"/>
              <a:t> からレイトレーシング用の設定をします。（その１）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B065BC2-8752-4163-9395-86FDF5928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176699" cy="472644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85E0E5E-5D5A-4217-AC55-CC7C57DF52E1}"/>
              </a:ext>
            </a:extLst>
          </p:cNvPr>
          <p:cNvSpPr/>
          <p:nvPr/>
        </p:nvSpPr>
        <p:spPr>
          <a:xfrm>
            <a:off x="1577788" y="4912659"/>
            <a:ext cx="5166453" cy="5737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165FA3C6-D3A5-4C45-9391-102C8D718508}"/>
              </a:ext>
            </a:extLst>
          </p:cNvPr>
          <p:cNvSpPr/>
          <p:nvPr/>
        </p:nvSpPr>
        <p:spPr>
          <a:xfrm rot="13634274">
            <a:off x="950507" y="4603652"/>
            <a:ext cx="482635" cy="4034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8521510-FDF9-4AA0-8935-EB52572463CF}"/>
              </a:ext>
            </a:extLst>
          </p:cNvPr>
          <p:cNvSpPr txBox="1"/>
          <p:nvPr/>
        </p:nvSpPr>
        <p:spPr>
          <a:xfrm>
            <a:off x="6874346" y="2833711"/>
            <a:ext cx="531427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Supported Ray Tracing Mode</a:t>
            </a:r>
          </a:p>
          <a:p>
            <a:r>
              <a:rPr lang="ja-JP" altLang="en-US" sz="2000" dirty="0"/>
              <a:t>・</a:t>
            </a:r>
            <a:r>
              <a:rPr lang="en-US" altLang="ja-JP" sz="2000" dirty="0"/>
              <a:t>Performance</a:t>
            </a:r>
            <a:r>
              <a:rPr lang="ja-JP" altLang="en-US" sz="2000" dirty="0"/>
              <a:t>・・・低コスト、低品質</a:t>
            </a:r>
            <a:endParaRPr lang="en-US" altLang="ja-JP" sz="2000" dirty="0"/>
          </a:p>
          <a:p>
            <a:r>
              <a:rPr lang="ja-JP" altLang="en-US" sz="2000" dirty="0"/>
              <a:t>・</a:t>
            </a:r>
            <a:r>
              <a:rPr lang="en-US" altLang="ja-JP" sz="2000" dirty="0"/>
              <a:t>Quality</a:t>
            </a:r>
            <a:r>
              <a:rPr lang="ja-JP" altLang="en-US" sz="2000" dirty="0"/>
              <a:t>・・・高コスト、高品質</a:t>
            </a:r>
            <a:endParaRPr lang="en-US" altLang="ja-JP" sz="2000" dirty="0"/>
          </a:p>
          <a:p>
            <a:r>
              <a:rPr kumimoji="1" lang="ja-JP" altLang="en-US" sz="2000" dirty="0"/>
              <a:t>・</a:t>
            </a:r>
            <a:r>
              <a:rPr kumimoji="1" lang="en-US" altLang="ja-JP" sz="2000" dirty="0"/>
              <a:t>Both</a:t>
            </a:r>
            <a:r>
              <a:rPr kumimoji="1" lang="ja-JP" altLang="en-US" sz="2000" dirty="0"/>
              <a:t>・・・上２つを状況で切り替え</a:t>
            </a:r>
            <a:endParaRPr kumimoji="1" lang="en-US" altLang="ja-JP" sz="2000" dirty="0"/>
          </a:p>
          <a:p>
            <a:endParaRPr lang="en-US" altLang="ja-JP" sz="2000" dirty="0"/>
          </a:p>
          <a:p>
            <a:r>
              <a:rPr kumimoji="1" lang="ja-JP" altLang="en-US" sz="20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Visual Effects Ray Tracing</a:t>
            </a:r>
          </a:p>
          <a:p>
            <a:r>
              <a:rPr kumimoji="1" lang="ja-JP" altLang="en-US" sz="2000" dirty="0"/>
              <a:t>パーティクルシステムによるエフェクトも、</a:t>
            </a:r>
            <a:endParaRPr kumimoji="1" lang="en-US" altLang="ja-JP" sz="2000" dirty="0"/>
          </a:p>
          <a:p>
            <a:r>
              <a:rPr lang="ja-JP" altLang="en-US" sz="2000" dirty="0"/>
              <a:t>レイトレーシングの対象とするかどうか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22064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32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Project Settings</a:t>
            </a:r>
            <a:r>
              <a:rPr lang="ja-JP" altLang="en-US" sz="2400" dirty="0"/>
              <a:t> からレイトレーシング用の設定をします。（その２）</a:t>
            </a:r>
            <a:endParaRPr kumimoji="1" lang="en-US" altLang="ja-JP" sz="2400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B85B5FC7-2465-4257-8C83-FB145B637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246992" cy="4780230"/>
          </a:xfrm>
          <a:prstGeom prst="rect">
            <a:avLst/>
          </a:pr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FEBFBAB-CB7F-4CB9-9249-C53F96A5D0A0}"/>
              </a:ext>
            </a:extLst>
          </p:cNvPr>
          <p:cNvSpPr/>
          <p:nvPr/>
        </p:nvSpPr>
        <p:spPr>
          <a:xfrm>
            <a:off x="1530632" y="4454922"/>
            <a:ext cx="5166453" cy="5384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78B391EB-271C-4B3E-97BE-0A437B4BB31F}"/>
              </a:ext>
            </a:extLst>
          </p:cNvPr>
          <p:cNvSpPr/>
          <p:nvPr/>
        </p:nvSpPr>
        <p:spPr>
          <a:xfrm rot="13634274">
            <a:off x="859933" y="4635142"/>
            <a:ext cx="482635" cy="4034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9DFA88E-B1DA-4BC4-B60B-67908E6A71DF}"/>
              </a:ext>
            </a:extLst>
          </p:cNvPr>
          <p:cNvSpPr txBox="1"/>
          <p:nvPr/>
        </p:nvSpPr>
        <p:spPr>
          <a:xfrm>
            <a:off x="7036310" y="3707120"/>
            <a:ext cx="351891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Screen Space Reflection</a:t>
            </a:r>
          </a:p>
          <a:p>
            <a:r>
              <a:rPr lang="ja-JP" altLang="en-US" sz="2000" dirty="0"/>
              <a:t>空間内で反射を使うかどうか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kumimoji="1" lang="ja-JP" altLang="en-US" sz="20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Transparent</a:t>
            </a:r>
          </a:p>
          <a:p>
            <a:r>
              <a:rPr lang="ja-JP" altLang="en-US" sz="2000" dirty="0"/>
              <a:t>半透明も反射の対象にするか</a:t>
            </a:r>
            <a:endParaRPr lang="en-US" altLang="ja-JP" sz="2000" dirty="0"/>
          </a:p>
          <a:p>
            <a:r>
              <a:rPr kumimoji="1" lang="ja-JP" altLang="en-US" sz="2000" dirty="0"/>
              <a:t>（不要なら</a:t>
            </a:r>
            <a:r>
              <a:rPr kumimoji="1" lang="en-US" altLang="ja-JP" sz="2000" dirty="0"/>
              <a:t>OFF</a:t>
            </a:r>
            <a:r>
              <a:rPr kumimoji="1" lang="ja-JP" altLang="en-US" sz="2000" dirty="0"/>
              <a:t>）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389136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32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Project Settings</a:t>
            </a:r>
            <a:r>
              <a:rPr lang="ja-JP" altLang="en-US" sz="2400" dirty="0"/>
              <a:t> からレイトレーシング用の設定をします。（その３）</a:t>
            </a:r>
            <a:endParaRPr kumimoji="1" lang="en-US" altLang="ja-JP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9DFA88E-B1DA-4BC4-B60B-67908E6A71DF}"/>
              </a:ext>
            </a:extLst>
          </p:cNvPr>
          <p:cNvSpPr txBox="1"/>
          <p:nvPr/>
        </p:nvSpPr>
        <p:spPr>
          <a:xfrm>
            <a:off x="6845720" y="4078784"/>
            <a:ext cx="35189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Transparent</a:t>
            </a:r>
          </a:p>
          <a:p>
            <a:r>
              <a:rPr lang="ja-JP" altLang="en-US" sz="2000" dirty="0"/>
              <a:t>半透明も反射の対象にするか</a:t>
            </a:r>
            <a:endParaRPr lang="en-US" altLang="ja-JP" sz="2000" dirty="0"/>
          </a:p>
          <a:p>
            <a:r>
              <a:rPr kumimoji="1" lang="ja-JP" altLang="en-US" sz="2000" dirty="0"/>
              <a:t>（不要なら</a:t>
            </a:r>
            <a:r>
              <a:rPr kumimoji="1" lang="en-US" altLang="ja-JP" sz="2000" dirty="0"/>
              <a:t>OFF</a:t>
            </a:r>
            <a:r>
              <a:rPr kumimoji="1" lang="ja-JP" altLang="en-US" sz="2000" dirty="0"/>
              <a:t>）</a:t>
            </a:r>
            <a:endParaRPr kumimoji="1" lang="en-US" altLang="ja-JP" sz="20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B5A30E-AE86-4357-AF36-DF6C60C0C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6065820" cy="4641596"/>
          </a:xfrm>
          <a:prstGeom prst="rect">
            <a:avLst/>
          </a:prstGeom>
        </p:spPr>
      </p:pic>
      <p:sp>
        <p:nvSpPr>
          <p:cNvPr id="16" name="矢印: 右 15">
            <a:extLst>
              <a:ext uri="{FF2B5EF4-FFF2-40B4-BE49-F238E27FC236}">
                <a16:creationId xmlns:a16="http://schemas.microsoft.com/office/drawing/2014/main" id="{D25A36D6-7492-4CC7-AD0A-19DF3D18E14A}"/>
              </a:ext>
            </a:extLst>
          </p:cNvPr>
          <p:cNvSpPr/>
          <p:nvPr/>
        </p:nvSpPr>
        <p:spPr>
          <a:xfrm rot="13634274">
            <a:off x="904256" y="3191293"/>
            <a:ext cx="482635" cy="4034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911C56FA-44C1-4B02-8CB8-B8BAADBD6E71}"/>
              </a:ext>
            </a:extLst>
          </p:cNvPr>
          <p:cNvSpPr/>
          <p:nvPr/>
        </p:nvSpPr>
        <p:spPr>
          <a:xfrm rot="13634274">
            <a:off x="2213103" y="3299046"/>
            <a:ext cx="482635" cy="4034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矢印: 右 17">
            <a:extLst>
              <a:ext uri="{FF2B5EF4-FFF2-40B4-BE49-F238E27FC236}">
                <a16:creationId xmlns:a16="http://schemas.microsoft.com/office/drawing/2014/main" id="{1384E550-DD3E-4BDB-8666-876B68F3F6EE}"/>
              </a:ext>
            </a:extLst>
          </p:cNvPr>
          <p:cNvSpPr/>
          <p:nvPr/>
        </p:nvSpPr>
        <p:spPr>
          <a:xfrm rot="13634274">
            <a:off x="3593668" y="4545141"/>
            <a:ext cx="482635" cy="4034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9118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適当に床と球を配置しましょう。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AE190101-616F-4CAA-AD8E-4D5F279AB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724811" cy="4152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6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49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新規マテリアルを作成し、</a:t>
            </a:r>
            <a:endParaRPr kumimoji="1" lang="en-US" altLang="ja-JP" sz="2400" dirty="0"/>
          </a:p>
          <a:p>
            <a:r>
              <a:rPr kumimoji="1" lang="en-US" altLang="ja-JP" sz="2400" dirty="0"/>
              <a:t>Metallic</a:t>
            </a:r>
            <a:r>
              <a:rPr kumimoji="1" lang="ja-JP" altLang="en-US" sz="2400" dirty="0"/>
              <a:t>＝１、</a:t>
            </a:r>
            <a:r>
              <a:rPr kumimoji="1" lang="en-US" altLang="ja-JP" sz="2400" dirty="0"/>
              <a:t>Smoothness</a:t>
            </a:r>
            <a:r>
              <a:rPr kumimoji="1" lang="ja-JP" altLang="en-US" sz="2400" dirty="0"/>
              <a:t>＝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に設定しましょう。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D74008F-1543-4BC6-90E8-2C518E30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688575" cy="3595109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C793BE4-D821-41C4-A07B-7DD8C1475D99}"/>
              </a:ext>
            </a:extLst>
          </p:cNvPr>
          <p:cNvSpPr txBox="1"/>
          <p:nvPr/>
        </p:nvSpPr>
        <p:spPr>
          <a:xfrm>
            <a:off x="567541" y="5921935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設定はしているので、ちょっとだけ反射しています。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2679322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171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反射のレイトレーシングは</a:t>
            </a:r>
            <a:r>
              <a:rPr kumimoji="1" lang="en-US" altLang="ja-JP" sz="2400" dirty="0"/>
              <a:t>Volume</a:t>
            </a:r>
            <a:r>
              <a:rPr kumimoji="1" lang="ja-JP" altLang="en-US" sz="2400" dirty="0"/>
              <a:t>から設定できます。</a:t>
            </a:r>
            <a:endParaRPr kumimoji="1" lang="en-US" altLang="ja-JP" sz="2400" dirty="0"/>
          </a:p>
          <a:p>
            <a:r>
              <a:rPr lang="ja-JP" altLang="en-US" sz="2400" dirty="0"/>
              <a:t>ヒエラルキーに </a:t>
            </a:r>
            <a:r>
              <a:rPr lang="en-US" altLang="ja-JP" sz="2400" b="1" dirty="0">
                <a:solidFill>
                  <a:srgbClr val="FF0000"/>
                </a:solidFill>
              </a:rPr>
              <a:t>Global Volume</a:t>
            </a:r>
            <a:r>
              <a:rPr lang="en-US" altLang="ja-JP" sz="2400" dirty="0"/>
              <a:t> </a:t>
            </a:r>
            <a:r>
              <a:rPr lang="ja-JP" altLang="en-US" sz="2400" dirty="0"/>
              <a:t>を追加しましょう。</a:t>
            </a:r>
            <a:endParaRPr kumimoji="1" lang="ja-JP" altLang="en-US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5116CF5-B14F-4FF0-BB64-93A5E4065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3914811" cy="4216344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464395D2-F9FE-4BC9-ACE7-3EC8277D3E84}"/>
              </a:ext>
            </a:extLst>
          </p:cNvPr>
          <p:cNvSpPr/>
          <p:nvPr/>
        </p:nvSpPr>
        <p:spPr>
          <a:xfrm rot="13634274">
            <a:off x="3586131" y="6100758"/>
            <a:ext cx="482635" cy="4034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912BC26-8640-4963-AE3D-281C9B07541C}"/>
              </a:ext>
            </a:extLst>
          </p:cNvPr>
          <p:cNvSpPr txBox="1"/>
          <p:nvPr/>
        </p:nvSpPr>
        <p:spPr>
          <a:xfrm>
            <a:off x="4663082" y="3510468"/>
            <a:ext cx="556274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kumimoji="1" lang="en-US" altLang="ja-JP" sz="2400" dirty="0"/>
              <a:t>Volume</a:t>
            </a:r>
            <a:r>
              <a:rPr kumimoji="1" lang="ja-JP" altLang="en-US" sz="2400" dirty="0"/>
              <a:t>とは、</a:t>
            </a:r>
            <a:r>
              <a:rPr lang="ja-JP" altLang="en-US" sz="2400" dirty="0"/>
              <a:t>描画環境に関するものを</a:t>
            </a:r>
            <a:endParaRPr lang="en-US" altLang="ja-JP" sz="2400" dirty="0"/>
          </a:p>
          <a:p>
            <a:r>
              <a:rPr kumimoji="1" lang="ja-JP" altLang="en-US" sz="2400" dirty="0"/>
              <a:t>細かく設定するものになります。</a:t>
            </a:r>
            <a:endParaRPr kumimoji="1" lang="en-US" altLang="ja-JP" sz="2400" dirty="0"/>
          </a:p>
          <a:p>
            <a:r>
              <a:rPr lang="ja-JP" altLang="en-US" sz="2400" dirty="0"/>
              <a:t>空、影、ライトなど。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09344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588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New</a:t>
            </a:r>
            <a:r>
              <a:rPr kumimoji="1" lang="ja-JP" altLang="en-US" sz="2400" dirty="0"/>
              <a:t>ボタンから</a:t>
            </a:r>
            <a:r>
              <a:rPr kumimoji="1" lang="en-US" altLang="ja-JP" sz="2400" dirty="0"/>
              <a:t>Volume</a:t>
            </a:r>
            <a:r>
              <a:rPr kumimoji="1" lang="ja-JP" altLang="en-US" sz="2400" dirty="0"/>
              <a:t>を追加します。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B61295B-5236-499C-A358-A24FB0F6B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667901" cy="3915321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DB2B41E4-320A-4E1F-9FD3-B1B90CCB0F88}"/>
              </a:ext>
            </a:extLst>
          </p:cNvPr>
          <p:cNvSpPr/>
          <p:nvPr/>
        </p:nvSpPr>
        <p:spPr>
          <a:xfrm rot="13634274">
            <a:off x="1362884" y="4773982"/>
            <a:ext cx="482635" cy="4034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7683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884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Add Override </a:t>
            </a:r>
            <a:r>
              <a:rPr kumimoji="1" lang="ja-JP" altLang="en-US" sz="2400" dirty="0"/>
              <a:t>から、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Screen Space Reflection</a:t>
            </a:r>
            <a:r>
              <a:rPr kumimoji="1" lang="ja-JP" altLang="en-US" sz="2400" dirty="0"/>
              <a:t>を選択しましょう。</a:t>
            </a:r>
            <a:endParaRPr kumimoji="1" lang="en-US" altLang="ja-JP" sz="2400" dirty="0"/>
          </a:p>
          <a:p>
            <a:r>
              <a:rPr lang="ja-JP" altLang="en-US" sz="2400" dirty="0"/>
              <a:t>これが反射の設定になります。</a:t>
            </a:r>
            <a:endParaRPr kumimoji="1" lang="ja-JP" altLang="en-US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1201D-5E29-445C-9254-4EA3E8B56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706007" cy="3210373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DA778C59-E01B-41EE-B02A-426AAF0FB031}"/>
              </a:ext>
            </a:extLst>
          </p:cNvPr>
          <p:cNvSpPr/>
          <p:nvPr/>
        </p:nvSpPr>
        <p:spPr>
          <a:xfrm rot="13634274">
            <a:off x="3281331" y="4791910"/>
            <a:ext cx="482635" cy="40341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85FAD39-53D1-4E38-BE3C-32937A83C828}"/>
              </a:ext>
            </a:extLst>
          </p:cNvPr>
          <p:cNvSpPr txBox="1"/>
          <p:nvPr/>
        </p:nvSpPr>
        <p:spPr>
          <a:xfrm>
            <a:off x="567542" y="5537199"/>
            <a:ext cx="78919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※Screen Space Refraction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と間違えないように！！！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Reflection</a:t>
            </a:r>
            <a:r>
              <a:rPr lang="ja-JP" altLang="en-US" sz="2400" b="1" dirty="0">
                <a:solidFill>
                  <a:srgbClr val="FF0000"/>
                </a:solidFill>
              </a:rPr>
              <a:t>・・・反射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Refraction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・・・屈折</a:t>
            </a:r>
          </a:p>
        </p:txBody>
      </p:sp>
    </p:spTree>
    <p:extLst>
      <p:ext uri="{BB962C8B-B14F-4D97-AF65-F5344CB8AC3E}">
        <p14:creationId xmlns:p14="http://schemas.microsoft.com/office/powerpoint/2010/main" val="28990798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以下の３か所を設定すれば、最低限の実装完了です。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27751FB-9724-44C6-9491-5D2BE3CC5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283616" cy="477126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A6D7092-84AB-4A1E-915B-D621B8CEE7C8}"/>
              </a:ext>
            </a:extLst>
          </p:cNvPr>
          <p:cNvSpPr txBox="1"/>
          <p:nvPr/>
        </p:nvSpPr>
        <p:spPr>
          <a:xfrm>
            <a:off x="5851158" y="4838170"/>
            <a:ext cx="37753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000" b="1" dirty="0">
                <a:solidFill>
                  <a:srgbClr val="FF0000"/>
                </a:solidFill>
              </a:rPr>
              <a:t>Sample Count</a:t>
            </a:r>
          </a:p>
          <a:p>
            <a:r>
              <a:rPr lang="ja-JP" altLang="en-US" sz="2000" dirty="0"/>
              <a:t>ヒット時に分散するレイの数。</a:t>
            </a:r>
            <a:endParaRPr lang="en-US" altLang="ja-JP" sz="2000" dirty="0"/>
          </a:p>
          <a:p>
            <a:r>
              <a:rPr lang="ja-JP" altLang="en-US" sz="2000" dirty="0"/>
              <a:t>一般的に</a:t>
            </a:r>
            <a:r>
              <a:rPr lang="en-US" altLang="ja-JP" sz="2000" dirty="0"/>
              <a:t>16</a:t>
            </a:r>
            <a:r>
              <a:rPr lang="ja-JP" altLang="en-US" sz="2000" dirty="0"/>
              <a:t>が基準。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6263627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他のオブジェクトを置いたり、球の形を変えたりして確認しましょう。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3ED579A-4724-40E4-AD27-BC683EAA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45399" cy="4754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033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レイトレーシング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反射面に黒い淵がでたり、若干ぼやけたりなど、</a:t>
            </a:r>
            <a:endParaRPr kumimoji="1" lang="en-US" altLang="ja-JP" sz="2400" dirty="0"/>
          </a:p>
          <a:p>
            <a:r>
              <a:rPr lang="ja-JP" altLang="en-US" sz="2400" dirty="0"/>
              <a:t>完璧には反射が映らないと思います。</a:t>
            </a:r>
            <a:endParaRPr lang="en-US" altLang="ja-JP" sz="2400" dirty="0"/>
          </a:p>
          <a:p>
            <a:r>
              <a:rPr kumimoji="1" lang="ja-JP" altLang="en-US" sz="2400" dirty="0"/>
              <a:t>とばしたレイには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長さ上限</a:t>
            </a:r>
            <a:r>
              <a:rPr kumimoji="1" lang="ja-JP" altLang="en-US" sz="2400" dirty="0"/>
              <a:t>があることや、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分散したレイの本数が少ないこと</a:t>
            </a:r>
            <a:r>
              <a:rPr kumimoji="1" lang="ja-JP" altLang="en-US" sz="2400" dirty="0"/>
              <a:t>から、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完璧に反射されることはあまりありません。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実際に市販のゲームでは、</a:t>
            </a:r>
            <a:endParaRPr lang="en-US" altLang="ja-JP" sz="2400" dirty="0"/>
          </a:p>
          <a:p>
            <a:r>
              <a:rPr kumimoji="1" lang="en-US" altLang="ja-JP" sz="2400" dirty="0"/>
              <a:t>Smoothness</a:t>
            </a:r>
            <a:r>
              <a:rPr kumimoji="1" lang="ja-JP" altLang="en-US" sz="2400" dirty="0"/>
              <a:t>を落として、ぼかして誤魔化したり、</a:t>
            </a:r>
            <a:endParaRPr kumimoji="1" lang="en-US" altLang="ja-JP" sz="2400" dirty="0"/>
          </a:p>
          <a:p>
            <a:r>
              <a:rPr kumimoji="1" lang="ja-JP" altLang="en-US" sz="2400" dirty="0"/>
              <a:t>テクスチャ合成で見た目を補完したりなど、</a:t>
            </a:r>
            <a:endParaRPr kumimoji="1" lang="en-US" altLang="ja-JP" sz="2400" dirty="0"/>
          </a:p>
          <a:p>
            <a:r>
              <a:rPr lang="ja-JP" altLang="en-US" sz="2400" dirty="0"/>
              <a:t>他の手法も考慮に入れて、きれいに見せようと努力します。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レイトレーシング＝万能とは思わないように</a:t>
            </a:r>
            <a:r>
              <a:rPr lang="ja-JP" altLang="en-US" sz="2400" dirty="0"/>
              <a:t>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43070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</TotalTime>
  <Words>709</Words>
  <Application>Microsoft Office PowerPoint</Application>
  <PresentationFormat>ワイド画面</PresentationFormat>
  <Paragraphs>97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45</cp:revision>
  <dcterms:created xsi:type="dcterms:W3CDTF">2024-08-27T02:15:54Z</dcterms:created>
  <dcterms:modified xsi:type="dcterms:W3CDTF">2026-01-07T07:41:21Z</dcterms:modified>
</cp:coreProperties>
</file>