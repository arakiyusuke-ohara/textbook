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2026/1/9</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90372" cy="4893647"/>
          </a:xfrm>
          <a:prstGeom prst="rect">
            <a:avLst/>
          </a:prstGeom>
          <a:noFill/>
        </p:spPr>
        <p:txBody>
          <a:bodyPr wrap="none" rtlCol="0">
            <a:spAutoFit/>
          </a:bodyPr>
          <a:lstStyle/>
          <a:p>
            <a:r>
              <a:rPr lang="ja-JP" altLang="en-US" sz="2400" dirty="0"/>
              <a:t>ゲームでは地形に模様をつけたい場合が多々あります。</a:t>
            </a:r>
            <a:endParaRPr lang="en-US" altLang="ja-JP" sz="2400" dirty="0"/>
          </a:p>
          <a:p>
            <a:endParaRPr lang="en-US" altLang="ja-JP" sz="2400" dirty="0"/>
          </a:p>
          <a:p>
            <a:r>
              <a:rPr lang="ja-JP" altLang="en-US" sz="2400" dirty="0"/>
              <a:t>・床、壁の汚れ</a:t>
            </a:r>
            <a:endParaRPr lang="en-US" altLang="ja-JP" sz="2400" dirty="0"/>
          </a:p>
          <a:p>
            <a:r>
              <a:rPr lang="ja-JP" altLang="en-US" sz="2400" dirty="0"/>
              <a:t>・銃弾が着弾した後の弾痕</a:t>
            </a:r>
            <a:endParaRPr lang="en-US" altLang="ja-JP" sz="2400" dirty="0"/>
          </a:p>
          <a:p>
            <a:r>
              <a:rPr lang="ja-JP" altLang="en-US" sz="2400" dirty="0"/>
              <a:t>・足跡</a:t>
            </a:r>
            <a:endParaRPr lang="en-US" altLang="ja-JP" sz="2400" dirty="0"/>
          </a:p>
          <a:p>
            <a:r>
              <a:rPr lang="ja-JP" altLang="en-US" sz="2400" dirty="0"/>
              <a:t>・水たまり</a:t>
            </a:r>
            <a:endParaRPr lang="en-US" altLang="ja-JP" sz="2400" dirty="0"/>
          </a:p>
          <a:p>
            <a:r>
              <a:rPr lang="ja-JP" altLang="en-US" sz="2400" dirty="0"/>
              <a:t>など</a:t>
            </a:r>
            <a:endParaRPr lang="en-US" altLang="ja-JP" sz="2400" dirty="0"/>
          </a:p>
          <a:p>
            <a:endParaRPr lang="en-US" altLang="ja-JP" sz="2400" dirty="0"/>
          </a:p>
          <a:p>
            <a:endParaRPr lang="en-US" altLang="ja-JP" sz="2400" dirty="0"/>
          </a:p>
          <a:p>
            <a:endParaRPr lang="en-US" altLang="ja-JP" sz="2400" dirty="0"/>
          </a:p>
          <a:p>
            <a:endParaRPr lang="en-US" altLang="ja-JP" sz="2400" dirty="0"/>
          </a:p>
          <a:p>
            <a:r>
              <a:rPr lang="ja-JP" altLang="en-US" sz="2400" dirty="0"/>
              <a:t>これらを細かくモデリングすることは、あまり効率よくありません。</a:t>
            </a:r>
            <a:endParaRPr lang="en-US" altLang="ja-JP" sz="2400" dirty="0"/>
          </a:p>
          <a:p>
            <a:r>
              <a:rPr lang="ja-JP" altLang="en-US" sz="2400" dirty="0"/>
              <a:t>また、弾痕などは動的な表示</a:t>
            </a:r>
            <a:r>
              <a:rPr lang="en-US" altLang="ja-JP" sz="2400" dirty="0"/>
              <a:t>/</a:t>
            </a:r>
            <a:r>
              <a:rPr lang="ja-JP" altLang="en-US" sz="2400" dirty="0"/>
              <a:t>非表示の切り替えが必要な場合も多いです。</a:t>
            </a:r>
            <a:endParaRPr lang="en-US" altLang="ja-JP" sz="2400" dirty="0"/>
          </a:p>
        </p:txBody>
      </p:sp>
      <p:pic>
        <p:nvPicPr>
          <p:cNvPr id="3" name="図 2">
            <a:extLst>
              <a:ext uri="{FF2B5EF4-FFF2-40B4-BE49-F238E27FC236}">
                <a16:creationId xmlns:a16="http://schemas.microsoft.com/office/drawing/2014/main" id="{12E4BC1A-5D54-406F-B831-08DCCBAC30CF}"/>
              </a:ext>
            </a:extLst>
          </p:cNvPr>
          <p:cNvPicPr>
            <a:picLocks noChangeAspect="1"/>
          </p:cNvPicPr>
          <p:nvPr/>
        </p:nvPicPr>
        <p:blipFill>
          <a:blip r:embed="rId2"/>
          <a:stretch>
            <a:fillRect/>
          </a:stretch>
        </p:blipFill>
        <p:spPr>
          <a:xfrm>
            <a:off x="6975786" y="1923983"/>
            <a:ext cx="3536788" cy="3010033"/>
          </a:xfrm>
          <a:prstGeom prst="rect">
            <a:avLst/>
          </a:prstGeom>
        </p:spPr>
      </p:pic>
    </p:spTree>
    <p:extLst>
      <p:ext uri="{BB962C8B-B14F-4D97-AF65-F5344CB8AC3E}">
        <p14:creationId xmlns:p14="http://schemas.microsoft.com/office/powerpoint/2010/main" val="3479953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830997"/>
          </a:xfrm>
          <a:prstGeom prst="rect">
            <a:avLst/>
          </a:prstGeom>
          <a:noFill/>
        </p:spPr>
        <p:txBody>
          <a:bodyPr wrap="none" rtlCol="0">
            <a:spAutoFit/>
          </a:bodyPr>
          <a:lstStyle/>
          <a:p>
            <a:r>
              <a:rPr lang="ja-JP" altLang="en-US" sz="2400" dirty="0"/>
              <a:t>模様をつける手法の１つに</a:t>
            </a:r>
            <a:r>
              <a:rPr lang="ja-JP" altLang="en-US" sz="2400" b="1" dirty="0">
                <a:solidFill>
                  <a:srgbClr val="FF0000"/>
                </a:solidFill>
              </a:rPr>
              <a:t>デカール</a:t>
            </a:r>
            <a:r>
              <a:rPr lang="ja-JP" altLang="en-US" sz="2400" dirty="0"/>
              <a:t>というものがあります。</a:t>
            </a:r>
            <a:endParaRPr lang="en-US" altLang="ja-JP" sz="2400" dirty="0"/>
          </a:p>
          <a:p>
            <a:r>
              <a:rPr lang="ja-JP" altLang="en-US" sz="2400" dirty="0"/>
              <a:t>テクスチャを既存のオブジェクトに貼るような手法です。</a:t>
            </a:r>
            <a:endParaRPr lang="en-US" altLang="ja-JP" sz="2400" dirty="0"/>
          </a:p>
        </p:txBody>
      </p:sp>
      <p:pic>
        <p:nvPicPr>
          <p:cNvPr id="5" name="図 4">
            <a:extLst>
              <a:ext uri="{FF2B5EF4-FFF2-40B4-BE49-F238E27FC236}">
                <a16:creationId xmlns:a16="http://schemas.microsoft.com/office/drawing/2014/main" id="{03FA04A5-AA99-4162-9374-2D53422E3C30}"/>
              </a:ext>
            </a:extLst>
          </p:cNvPr>
          <p:cNvPicPr>
            <a:picLocks noChangeAspect="1"/>
          </p:cNvPicPr>
          <p:nvPr/>
        </p:nvPicPr>
        <p:blipFill>
          <a:blip r:embed="rId2"/>
          <a:stretch>
            <a:fillRect/>
          </a:stretch>
        </p:blipFill>
        <p:spPr>
          <a:xfrm>
            <a:off x="567542" y="2456067"/>
            <a:ext cx="1855914" cy="1811133"/>
          </a:xfrm>
          <a:prstGeom prst="rect">
            <a:avLst/>
          </a:prstGeom>
        </p:spPr>
      </p:pic>
      <p:pic>
        <p:nvPicPr>
          <p:cNvPr id="8" name="図 7">
            <a:extLst>
              <a:ext uri="{FF2B5EF4-FFF2-40B4-BE49-F238E27FC236}">
                <a16:creationId xmlns:a16="http://schemas.microsoft.com/office/drawing/2014/main" id="{75B4CA72-1067-4333-B037-CB6188BDFB9A}"/>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3030076" y="2743916"/>
            <a:ext cx="1235432" cy="1235432"/>
          </a:xfrm>
          <a:prstGeom prst="rect">
            <a:avLst/>
          </a:prstGeom>
        </p:spPr>
      </p:pic>
      <p:sp>
        <p:nvSpPr>
          <p:cNvPr id="10" name="テキスト ボックス 9">
            <a:extLst>
              <a:ext uri="{FF2B5EF4-FFF2-40B4-BE49-F238E27FC236}">
                <a16:creationId xmlns:a16="http://schemas.microsoft.com/office/drawing/2014/main" id="{1A550224-79F0-4DFC-99B8-65ACD36D9316}"/>
              </a:ext>
            </a:extLst>
          </p:cNvPr>
          <p:cNvSpPr txBox="1"/>
          <p:nvPr/>
        </p:nvSpPr>
        <p:spPr>
          <a:xfrm>
            <a:off x="2537633" y="3130800"/>
            <a:ext cx="492443" cy="461665"/>
          </a:xfrm>
          <a:prstGeom prst="rect">
            <a:avLst/>
          </a:prstGeom>
          <a:noFill/>
        </p:spPr>
        <p:txBody>
          <a:bodyPr wrap="none" rtlCol="0">
            <a:spAutoFit/>
          </a:bodyPr>
          <a:lstStyle/>
          <a:p>
            <a:r>
              <a:rPr lang="ja-JP" altLang="en-US" sz="2400" dirty="0"/>
              <a:t>に</a:t>
            </a:r>
            <a:endParaRPr lang="en-US" altLang="ja-JP" sz="2400" dirty="0"/>
          </a:p>
        </p:txBody>
      </p:sp>
      <p:sp>
        <p:nvSpPr>
          <p:cNvPr id="11" name="テキスト ボックス 10">
            <a:extLst>
              <a:ext uri="{FF2B5EF4-FFF2-40B4-BE49-F238E27FC236}">
                <a16:creationId xmlns:a16="http://schemas.microsoft.com/office/drawing/2014/main" id="{FE5AC903-986E-45C9-997D-7FC69B9716C2}"/>
              </a:ext>
            </a:extLst>
          </p:cNvPr>
          <p:cNvSpPr txBox="1"/>
          <p:nvPr/>
        </p:nvSpPr>
        <p:spPr>
          <a:xfrm>
            <a:off x="4379685" y="3130799"/>
            <a:ext cx="1415772" cy="461665"/>
          </a:xfrm>
          <a:prstGeom prst="rect">
            <a:avLst/>
          </a:prstGeom>
          <a:noFill/>
        </p:spPr>
        <p:txBody>
          <a:bodyPr wrap="none" rtlCol="0">
            <a:spAutoFit/>
          </a:bodyPr>
          <a:lstStyle/>
          <a:p>
            <a:r>
              <a:rPr lang="ja-JP" altLang="en-US" sz="2400" dirty="0"/>
              <a:t>を貼って</a:t>
            </a:r>
            <a:endParaRPr lang="en-US" altLang="ja-JP" sz="2400" dirty="0"/>
          </a:p>
        </p:txBody>
      </p:sp>
      <p:sp>
        <p:nvSpPr>
          <p:cNvPr id="12" name="テキスト ボックス 11">
            <a:extLst>
              <a:ext uri="{FF2B5EF4-FFF2-40B4-BE49-F238E27FC236}">
                <a16:creationId xmlns:a16="http://schemas.microsoft.com/office/drawing/2014/main" id="{43AA472E-A83F-4983-AEC1-0F25D0FB3E62}"/>
              </a:ext>
            </a:extLst>
          </p:cNvPr>
          <p:cNvSpPr txBox="1"/>
          <p:nvPr/>
        </p:nvSpPr>
        <p:spPr>
          <a:xfrm>
            <a:off x="941501" y="4350000"/>
            <a:ext cx="1107996" cy="461665"/>
          </a:xfrm>
          <a:prstGeom prst="rect">
            <a:avLst/>
          </a:prstGeom>
          <a:noFill/>
        </p:spPr>
        <p:txBody>
          <a:bodyPr wrap="none" rtlCol="0">
            <a:spAutoFit/>
          </a:bodyPr>
          <a:lstStyle/>
          <a:p>
            <a:r>
              <a:rPr lang="ja-JP" altLang="en-US" sz="2400" dirty="0"/>
              <a:t>赤い床</a:t>
            </a:r>
            <a:endParaRPr lang="en-US" altLang="ja-JP" sz="2400" dirty="0"/>
          </a:p>
        </p:txBody>
      </p:sp>
      <p:sp>
        <p:nvSpPr>
          <p:cNvPr id="13" name="テキスト ボックス 12">
            <a:extLst>
              <a:ext uri="{FF2B5EF4-FFF2-40B4-BE49-F238E27FC236}">
                <a16:creationId xmlns:a16="http://schemas.microsoft.com/office/drawing/2014/main" id="{87249094-38E7-4026-BDD3-EF49D3927FBA}"/>
              </a:ext>
            </a:extLst>
          </p:cNvPr>
          <p:cNvSpPr txBox="1"/>
          <p:nvPr/>
        </p:nvSpPr>
        <p:spPr>
          <a:xfrm>
            <a:off x="2902357" y="4366232"/>
            <a:ext cx="1723549" cy="461665"/>
          </a:xfrm>
          <a:prstGeom prst="rect">
            <a:avLst/>
          </a:prstGeom>
          <a:noFill/>
        </p:spPr>
        <p:txBody>
          <a:bodyPr wrap="none" rtlCol="0">
            <a:spAutoFit/>
          </a:bodyPr>
          <a:lstStyle/>
          <a:p>
            <a:r>
              <a:rPr lang="ja-JP" altLang="en-US" sz="2400" dirty="0"/>
              <a:t>テクスチャ</a:t>
            </a:r>
            <a:endParaRPr lang="en-US" altLang="ja-JP" sz="2400" dirty="0"/>
          </a:p>
        </p:txBody>
      </p:sp>
      <p:pic>
        <p:nvPicPr>
          <p:cNvPr id="15" name="図 14">
            <a:extLst>
              <a:ext uri="{FF2B5EF4-FFF2-40B4-BE49-F238E27FC236}">
                <a16:creationId xmlns:a16="http://schemas.microsoft.com/office/drawing/2014/main" id="{20993400-5F1F-43D5-8BCB-E987D3DE9FFF}"/>
              </a:ext>
            </a:extLst>
          </p:cNvPr>
          <p:cNvPicPr>
            <a:picLocks noChangeAspect="1"/>
          </p:cNvPicPr>
          <p:nvPr/>
        </p:nvPicPr>
        <p:blipFill>
          <a:blip r:embed="rId4"/>
          <a:stretch>
            <a:fillRect/>
          </a:stretch>
        </p:blipFill>
        <p:spPr>
          <a:xfrm>
            <a:off x="5909634" y="2427489"/>
            <a:ext cx="1855914" cy="1838730"/>
          </a:xfrm>
          <a:prstGeom prst="rect">
            <a:avLst/>
          </a:prstGeom>
        </p:spPr>
      </p:pic>
      <p:sp>
        <p:nvSpPr>
          <p:cNvPr id="16" name="テキスト ボックス 15">
            <a:extLst>
              <a:ext uri="{FF2B5EF4-FFF2-40B4-BE49-F238E27FC236}">
                <a16:creationId xmlns:a16="http://schemas.microsoft.com/office/drawing/2014/main" id="{1760A837-001C-4AE8-8F06-48FF0BFC6938}"/>
              </a:ext>
            </a:extLst>
          </p:cNvPr>
          <p:cNvSpPr txBox="1"/>
          <p:nvPr/>
        </p:nvSpPr>
        <p:spPr>
          <a:xfrm>
            <a:off x="6096000" y="4366232"/>
            <a:ext cx="1415772" cy="461665"/>
          </a:xfrm>
          <a:prstGeom prst="rect">
            <a:avLst/>
          </a:prstGeom>
          <a:noFill/>
        </p:spPr>
        <p:txBody>
          <a:bodyPr wrap="none" rtlCol="0">
            <a:spAutoFit/>
          </a:bodyPr>
          <a:lstStyle/>
          <a:p>
            <a:r>
              <a:rPr lang="ja-JP" altLang="en-US" sz="2400" dirty="0"/>
              <a:t>こうする</a:t>
            </a:r>
            <a:endParaRPr lang="en-US" altLang="ja-JP" sz="2400" dirty="0"/>
          </a:p>
        </p:txBody>
      </p:sp>
      <p:sp>
        <p:nvSpPr>
          <p:cNvPr id="17" name="テキスト ボックス 16">
            <a:extLst>
              <a:ext uri="{FF2B5EF4-FFF2-40B4-BE49-F238E27FC236}">
                <a16:creationId xmlns:a16="http://schemas.microsoft.com/office/drawing/2014/main" id="{B385F9CD-004A-4D0F-9C05-5DD3F7763C12}"/>
              </a:ext>
            </a:extLst>
          </p:cNvPr>
          <p:cNvSpPr txBox="1"/>
          <p:nvPr/>
        </p:nvSpPr>
        <p:spPr>
          <a:xfrm>
            <a:off x="567541" y="5226072"/>
            <a:ext cx="4185761" cy="461665"/>
          </a:xfrm>
          <a:prstGeom prst="rect">
            <a:avLst/>
          </a:prstGeom>
          <a:noFill/>
        </p:spPr>
        <p:txBody>
          <a:bodyPr wrap="none" rtlCol="0">
            <a:spAutoFit/>
          </a:bodyPr>
          <a:lstStyle/>
          <a:p>
            <a:r>
              <a:rPr lang="ja-JP" altLang="en-US" sz="2400" dirty="0"/>
              <a:t>簡単に練習してみましょう。</a:t>
            </a:r>
            <a:endParaRPr lang="en-US" altLang="ja-JP" sz="2400" dirty="0"/>
          </a:p>
        </p:txBody>
      </p:sp>
    </p:spTree>
    <p:extLst>
      <p:ext uri="{BB962C8B-B14F-4D97-AF65-F5344CB8AC3E}">
        <p14:creationId xmlns:p14="http://schemas.microsoft.com/office/powerpoint/2010/main" val="2976949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21986" cy="461665"/>
          </a:xfrm>
          <a:prstGeom prst="rect">
            <a:avLst/>
          </a:prstGeom>
          <a:noFill/>
        </p:spPr>
        <p:txBody>
          <a:bodyPr wrap="none" rtlCol="0">
            <a:spAutoFit/>
          </a:bodyPr>
          <a:lstStyle/>
          <a:p>
            <a:r>
              <a:rPr lang="ja-JP" altLang="en-US" sz="2400" dirty="0"/>
              <a:t>新規</a:t>
            </a:r>
            <a:r>
              <a:rPr lang="en-US" altLang="ja-JP" sz="2400" dirty="0"/>
              <a:t>HD</a:t>
            </a:r>
            <a:r>
              <a:rPr lang="ja-JP" altLang="en-US" sz="2400" dirty="0"/>
              <a:t>プロジェクトを作成して、床を作りましょう。</a:t>
            </a:r>
            <a:endParaRPr lang="en-US" altLang="ja-JP" sz="2400" dirty="0"/>
          </a:p>
        </p:txBody>
      </p:sp>
      <p:pic>
        <p:nvPicPr>
          <p:cNvPr id="3" name="図 2">
            <a:extLst>
              <a:ext uri="{FF2B5EF4-FFF2-40B4-BE49-F238E27FC236}">
                <a16:creationId xmlns:a16="http://schemas.microsoft.com/office/drawing/2014/main" id="{9B74D18E-9B0C-4502-A625-B9D8038791CA}"/>
              </a:ext>
            </a:extLst>
          </p:cNvPr>
          <p:cNvPicPr>
            <a:picLocks noChangeAspect="1"/>
          </p:cNvPicPr>
          <p:nvPr/>
        </p:nvPicPr>
        <p:blipFill>
          <a:blip r:embed="rId2"/>
          <a:stretch>
            <a:fillRect/>
          </a:stretch>
        </p:blipFill>
        <p:spPr>
          <a:xfrm>
            <a:off x="567542" y="1817794"/>
            <a:ext cx="8461864" cy="4548252"/>
          </a:xfrm>
          <a:prstGeom prst="rect">
            <a:avLst/>
          </a:prstGeom>
        </p:spPr>
      </p:pic>
    </p:spTree>
    <p:extLst>
      <p:ext uri="{BB962C8B-B14F-4D97-AF65-F5344CB8AC3E}">
        <p14:creationId xmlns:p14="http://schemas.microsoft.com/office/powerpoint/2010/main" val="2685646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24614" cy="461665"/>
          </a:xfrm>
          <a:prstGeom prst="rect">
            <a:avLst/>
          </a:prstGeom>
          <a:noFill/>
        </p:spPr>
        <p:txBody>
          <a:bodyPr wrap="none" rtlCol="0">
            <a:spAutoFit/>
          </a:bodyPr>
          <a:lstStyle/>
          <a:p>
            <a:r>
              <a:rPr lang="en-US" altLang="ja-JP" sz="2400" dirty="0"/>
              <a:t>Textures</a:t>
            </a:r>
            <a:r>
              <a:rPr lang="ja-JP" altLang="en-US" sz="2400" dirty="0"/>
              <a:t>フォルダを作って、デカール用の素材を入れましょう。</a:t>
            </a:r>
            <a:endParaRPr lang="en-US" altLang="ja-JP" sz="2400" dirty="0"/>
          </a:p>
        </p:txBody>
      </p:sp>
      <p:pic>
        <p:nvPicPr>
          <p:cNvPr id="5" name="図 4">
            <a:extLst>
              <a:ext uri="{FF2B5EF4-FFF2-40B4-BE49-F238E27FC236}">
                <a16:creationId xmlns:a16="http://schemas.microsoft.com/office/drawing/2014/main" id="{D75FD7A5-3BEF-4C4D-B948-1DD896E8C3FA}"/>
              </a:ext>
            </a:extLst>
          </p:cNvPr>
          <p:cNvPicPr>
            <a:picLocks noChangeAspect="1"/>
          </p:cNvPicPr>
          <p:nvPr/>
        </p:nvPicPr>
        <p:blipFill>
          <a:blip r:embed="rId2"/>
          <a:stretch>
            <a:fillRect/>
          </a:stretch>
        </p:blipFill>
        <p:spPr>
          <a:xfrm>
            <a:off x="567542" y="1817794"/>
            <a:ext cx="9437548" cy="3516206"/>
          </a:xfrm>
          <a:prstGeom prst="rect">
            <a:avLst/>
          </a:prstGeom>
        </p:spPr>
      </p:pic>
    </p:spTree>
    <p:extLst>
      <p:ext uri="{BB962C8B-B14F-4D97-AF65-F5344CB8AC3E}">
        <p14:creationId xmlns:p14="http://schemas.microsoft.com/office/powerpoint/2010/main" val="1061658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98387" cy="830997"/>
          </a:xfrm>
          <a:prstGeom prst="rect">
            <a:avLst/>
          </a:prstGeom>
          <a:noFill/>
        </p:spPr>
        <p:txBody>
          <a:bodyPr wrap="none" rtlCol="0">
            <a:spAutoFit/>
          </a:bodyPr>
          <a:lstStyle/>
          <a:p>
            <a:r>
              <a:rPr lang="ja-JP" altLang="en-US" sz="2400" dirty="0"/>
              <a:t>デカール用のマテリアルを作ります。</a:t>
            </a:r>
            <a:endParaRPr lang="en-US" altLang="ja-JP" sz="2400" dirty="0"/>
          </a:p>
          <a:p>
            <a:r>
              <a:rPr lang="ja-JP" altLang="en-US" sz="2400" dirty="0"/>
              <a:t>新規マテリアルを作り、シェーダーを </a:t>
            </a:r>
            <a:r>
              <a:rPr lang="en-US" altLang="ja-JP" sz="2400" b="1" dirty="0">
                <a:solidFill>
                  <a:srgbClr val="FF0000"/>
                </a:solidFill>
              </a:rPr>
              <a:t>HDRP/Decal </a:t>
            </a:r>
            <a:r>
              <a:rPr lang="ja-JP" altLang="en-US" sz="2400" dirty="0"/>
              <a:t>に切り替えましょう。</a:t>
            </a:r>
            <a:endParaRPr lang="en-US" altLang="ja-JP" sz="2400" dirty="0"/>
          </a:p>
        </p:txBody>
      </p:sp>
      <p:pic>
        <p:nvPicPr>
          <p:cNvPr id="3" name="図 2">
            <a:extLst>
              <a:ext uri="{FF2B5EF4-FFF2-40B4-BE49-F238E27FC236}">
                <a16:creationId xmlns:a16="http://schemas.microsoft.com/office/drawing/2014/main" id="{499246E4-BA02-481E-849F-428CCB70A901}"/>
              </a:ext>
            </a:extLst>
          </p:cNvPr>
          <p:cNvPicPr>
            <a:picLocks noChangeAspect="1"/>
          </p:cNvPicPr>
          <p:nvPr/>
        </p:nvPicPr>
        <p:blipFill>
          <a:blip r:embed="rId2"/>
          <a:stretch>
            <a:fillRect/>
          </a:stretch>
        </p:blipFill>
        <p:spPr>
          <a:xfrm>
            <a:off x="567542" y="2187126"/>
            <a:ext cx="7278354" cy="2366945"/>
          </a:xfrm>
          <a:prstGeom prst="rect">
            <a:avLst/>
          </a:prstGeom>
        </p:spPr>
      </p:pic>
    </p:spTree>
    <p:extLst>
      <p:ext uri="{BB962C8B-B14F-4D97-AF65-F5344CB8AC3E}">
        <p14:creationId xmlns:p14="http://schemas.microsoft.com/office/powerpoint/2010/main" val="307253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152920" cy="830997"/>
          </a:xfrm>
          <a:prstGeom prst="rect">
            <a:avLst/>
          </a:prstGeom>
          <a:noFill/>
        </p:spPr>
        <p:txBody>
          <a:bodyPr wrap="none" rtlCol="0">
            <a:spAutoFit/>
          </a:bodyPr>
          <a:lstStyle/>
          <a:p>
            <a:r>
              <a:rPr lang="en-US" altLang="ja-JP" sz="2400" dirty="0"/>
              <a:t>Base Map</a:t>
            </a:r>
            <a:r>
              <a:rPr lang="ja-JP" altLang="en-US" sz="2400" dirty="0"/>
              <a:t>に模様になるテクスチャを設定します。</a:t>
            </a:r>
            <a:endParaRPr lang="en-US" altLang="ja-JP" sz="2400" dirty="0"/>
          </a:p>
          <a:p>
            <a:r>
              <a:rPr lang="ja-JP" altLang="en-US" sz="2400" dirty="0"/>
              <a:t>ここでは</a:t>
            </a:r>
            <a:r>
              <a:rPr lang="en-US" altLang="ja-JP" sz="2400" dirty="0"/>
              <a:t>Burst</a:t>
            </a:r>
            <a:r>
              <a:rPr lang="ja-JP" altLang="en-US" sz="2400" dirty="0"/>
              <a:t>を設定しておきましょう。</a:t>
            </a:r>
            <a:endParaRPr lang="en-US" altLang="ja-JP" sz="2400" dirty="0"/>
          </a:p>
        </p:txBody>
      </p:sp>
      <p:pic>
        <p:nvPicPr>
          <p:cNvPr id="5" name="図 4">
            <a:extLst>
              <a:ext uri="{FF2B5EF4-FFF2-40B4-BE49-F238E27FC236}">
                <a16:creationId xmlns:a16="http://schemas.microsoft.com/office/drawing/2014/main" id="{1C954BED-B5FA-4776-8925-18A7A4491776}"/>
              </a:ext>
            </a:extLst>
          </p:cNvPr>
          <p:cNvPicPr>
            <a:picLocks noChangeAspect="1"/>
          </p:cNvPicPr>
          <p:nvPr/>
        </p:nvPicPr>
        <p:blipFill>
          <a:blip r:embed="rId2"/>
          <a:stretch>
            <a:fillRect/>
          </a:stretch>
        </p:blipFill>
        <p:spPr>
          <a:xfrm>
            <a:off x="567541" y="2187125"/>
            <a:ext cx="7111921" cy="1407721"/>
          </a:xfrm>
          <a:prstGeom prst="rect">
            <a:avLst/>
          </a:prstGeom>
        </p:spPr>
      </p:pic>
      <p:sp>
        <p:nvSpPr>
          <p:cNvPr id="7" name="テキスト ボックス 6">
            <a:extLst>
              <a:ext uri="{FF2B5EF4-FFF2-40B4-BE49-F238E27FC236}">
                <a16:creationId xmlns:a16="http://schemas.microsoft.com/office/drawing/2014/main" id="{E29C4B61-879F-4786-8790-8EB8BB88D36A}"/>
              </a:ext>
            </a:extLst>
          </p:cNvPr>
          <p:cNvSpPr txBox="1"/>
          <p:nvPr/>
        </p:nvSpPr>
        <p:spPr>
          <a:xfrm>
            <a:off x="526542" y="3758668"/>
            <a:ext cx="7879080" cy="830997"/>
          </a:xfrm>
          <a:prstGeom prst="rect">
            <a:avLst/>
          </a:prstGeom>
          <a:noFill/>
        </p:spPr>
        <p:txBody>
          <a:bodyPr wrap="none" rtlCol="0">
            <a:spAutoFit/>
          </a:bodyPr>
          <a:lstStyle/>
          <a:p>
            <a:r>
              <a:rPr lang="en-US" altLang="ja-JP" sz="2400" b="1" dirty="0">
                <a:solidFill>
                  <a:srgbClr val="FF0000"/>
                </a:solidFill>
              </a:rPr>
              <a:t>※</a:t>
            </a:r>
            <a:r>
              <a:rPr lang="ja-JP" altLang="en-US" sz="2400" b="1" dirty="0">
                <a:solidFill>
                  <a:srgbClr val="FF0000"/>
                </a:solidFill>
              </a:rPr>
              <a:t>テクスチャを白色で作っていれば、</a:t>
            </a:r>
            <a:endParaRPr lang="en-US" altLang="ja-JP" sz="2400" b="1" dirty="0">
              <a:solidFill>
                <a:srgbClr val="FF0000"/>
              </a:solidFill>
            </a:endParaRPr>
          </a:p>
          <a:p>
            <a:r>
              <a:rPr lang="ja-JP" altLang="en-US" sz="2400" b="1" dirty="0">
                <a:solidFill>
                  <a:srgbClr val="FF0000"/>
                </a:solidFill>
              </a:rPr>
              <a:t>　右側のカラーパレットの色がそのまま反映されます。</a:t>
            </a:r>
            <a:endParaRPr lang="en-US" altLang="ja-JP" sz="2400" b="1" dirty="0">
              <a:solidFill>
                <a:srgbClr val="FF0000"/>
              </a:solidFill>
            </a:endParaRPr>
          </a:p>
        </p:txBody>
      </p:sp>
    </p:spTree>
    <p:extLst>
      <p:ext uri="{BB962C8B-B14F-4D97-AF65-F5344CB8AC3E}">
        <p14:creationId xmlns:p14="http://schemas.microsoft.com/office/powerpoint/2010/main" val="3993728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989688" cy="830997"/>
          </a:xfrm>
          <a:prstGeom prst="rect">
            <a:avLst/>
          </a:prstGeom>
          <a:noFill/>
        </p:spPr>
        <p:txBody>
          <a:bodyPr wrap="none" rtlCol="0">
            <a:spAutoFit/>
          </a:bodyPr>
          <a:lstStyle/>
          <a:p>
            <a:r>
              <a:rPr lang="ja-JP" altLang="en-US" sz="2400" dirty="0"/>
              <a:t>ヒエラルキーに </a:t>
            </a:r>
            <a:r>
              <a:rPr lang="en-US" altLang="ja-JP" sz="2400" b="1" dirty="0">
                <a:solidFill>
                  <a:srgbClr val="FF0000"/>
                </a:solidFill>
              </a:rPr>
              <a:t>HDRP Decal Projector</a:t>
            </a:r>
            <a:r>
              <a:rPr lang="en-US" altLang="ja-JP" sz="2400" dirty="0"/>
              <a:t> </a:t>
            </a:r>
            <a:r>
              <a:rPr lang="ja-JP" altLang="en-US" sz="2400" dirty="0"/>
              <a:t>を追加します。</a:t>
            </a:r>
            <a:endParaRPr lang="en-US" altLang="ja-JP" sz="2400" dirty="0"/>
          </a:p>
          <a:p>
            <a:r>
              <a:rPr lang="ja-JP" altLang="en-US" sz="2400" dirty="0"/>
              <a:t>模様を貼るためのオブジェクトになります。</a:t>
            </a:r>
            <a:endParaRPr lang="en-US" altLang="ja-JP" sz="2400" dirty="0"/>
          </a:p>
        </p:txBody>
      </p:sp>
      <p:pic>
        <p:nvPicPr>
          <p:cNvPr id="3" name="図 2">
            <a:extLst>
              <a:ext uri="{FF2B5EF4-FFF2-40B4-BE49-F238E27FC236}">
                <a16:creationId xmlns:a16="http://schemas.microsoft.com/office/drawing/2014/main" id="{DFE222B7-BA9B-4A53-9FF2-C587FB881B16}"/>
              </a:ext>
            </a:extLst>
          </p:cNvPr>
          <p:cNvPicPr>
            <a:picLocks noChangeAspect="1"/>
          </p:cNvPicPr>
          <p:nvPr/>
        </p:nvPicPr>
        <p:blipFill>
          <a:blip r:embed="rId2"/>
          <a:stretch>
            <a:fillRect/>
          </a:stretch>
        </p:blipFill>
        <p:spPr>
          <a:xfrm>
            <a:off x="567542" y="2187126"/>
            <a:ext cx="3750699" cy="4267462"/>
          </a:xfrm>
          <a:prstGeom prst="rect">
            <a:avLst/>
          </a:prstGeom>
        </p:spPr>
      </p:pic>
      <p:sp>
        <p:nvSpPr>
          <p:cNvPr id="8" name="矢印: 右 7">
            <a:extLst>
              <a:ext uri="{FF2B5EF4-FFF2-40B4-BE49-F238E27FC236}">
                <a16:creationId xmlns:a16="http://schemas.microsoft.com/office/drawing/2014/main" id="{8A13E582-F85A-4E57-9C02-6404F807DB25}"/>
              </a:ext>
            </a:extLst>
          </p:cNvPr>
          <p:cNvSpPr/>
          <p:nvPr/>
        </p:nvSpPr>
        <p:spPr>
          <a:xfrm rot="13189731">
            <a:off x="3983521" y="6256823"/>
            <a:ext cx="466703" cy="3039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4F30BD7B-98CE-491B-883D-B048F833612D}"/>
              </a:ext>
            </a:extLst>
          </p:cNvPr>
          <p:cNvSpPr txBox="1"/>
          <p:nvPr/>
        </p:nvSpPr>
        <p:spPr>
          <a:xfrm>
            <a:off x="4562386" y="5947133"/>
            <a:ext cx="7499169" cy="461665"/>
          </a:xfrm>
          <a:prstGeom prst="rect">
            <a:avLst/>
          </a:prstGeom>
          <a:noFill/>
        </p:spPr>
        <p:txBody>
          <a:bodyPr wrap="none" rtlCol="0">
            <a:spAutoFit/>
          </a:bodyPr>
          <a:lstStyle/>
          <a:p>
            <a:r>
              <a:rPr lang="ja-JP" altLang="en-US" sz="2400" dirty="0"/>
              <a:t>プロジェクターは（</a:t>
            </a:r>
            <a:r>
              <a:rPr lang="en-US" altLang="ja-JP" sz="2400" dirty="0"/>
              <a:t>0, 0, 0</a:t>
            </a:r>
            <a:r>
              <a:rPr lang="ja-JP" altLang="en-US" sz="2400" dirty="0"/>
              <a:t>）に配置しておきましょう</a:t>
            </a:r>
            <a:endParaRPr lang="en-US" altLang="ja-JP" sz="2400" dirty="0"/>
          </a:p>
        </p:txBody>
      </p:sp>
    </p:spTree>
    <p:extLst>
      <p:ext uri="{BB962C8B-B14F-4D97-AF65-F5344CB8AC3E}">
        <p14:creationId xmlns:p14="http://schemas.microsoft.com/office/powerpoint/2010/main" val="2645027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830997"/>
          </a:xfrm>
          <a:prstGeom prst="rect">
            <a:avLst/>
          </a:prstGeom>
          <a:noFill/>
        </p:spPr>
        <p:txBody>
          <a:bodyPr wrap="none" rtlCol="0">
            <a:spAutoFit/>
          </a:bodyPr>
          <a:lstStyle/>
          <a:p>
            <a:r>
              <a:rPr lang="ja-JP" altLang="en-US" sz="2400" dirty="0"/>
              <a:t>プロジェクターのインスペクターからマテリアルが設定できます。</a:t>
            </a:r>
            <a:endParaRPr lang="en-US" altLang="ja-JP" sz="2400" dirty="0"/>
          </a:p>
          <a:p>
            <a:r>
              <a:rPr lang="ja-JP" altLang="en-US" sz="2400" dirty="0"/>
              <a:t>先ほど作成したマテリアルを設定しましょう。</a:t>
            </a:r>
            <a:endParaRPr lang="en-US" altLang="ja-JP" sz="2400" dirty="0"/>
          </a:p>
        </p:txBody>
      </p:sp>
      <p:pic>
        <p:nvPicPr>
          <p:cNvPr id="5" name="図 4">
            <a:extLst>
              <a:ext uri="{FF2B5EF4-FFF2-40B4-BE49-F238E27FC236}">
                <a16:creationId xmlns:a16="http://schemas.microsoft.com/office/drawing/2014/main" id="{757AF35D-4988-4B28-9592-E8A6A8724891}"/>
              </a:ext>
            </a:extLst>
          </p:cNvPr>
          <p:cNvPicPr>
            <a:picLocks noChangeAspect="1"/>
          </p:cNvPicPr>
          <p:nvPr/>
        </p:nvPicPr>
        <p:blipFill>
          <a:blip r:embed="rId2"/>
          <a:stretch>
            <a:fillRect/>
          </a:stretch>
        </p:blipFill>
        <p:spPr>
          <a:xfrm>
            <a:off x="567542" y="2182644"/>
            <a:ext cx="3019846" cy="2715004"/>
          </a:xfrm>
          <a:prstGeom prst="rect">
            <a:avLst/>
          </a:prstGeom>
        </p:spPr>
      </p:pic>
      <p:sp>
        <p:nvSpPr>
          <p:cNvPr id="9" name="テキスト ボックス 8">
            <a:extLst>
              <a:ext uri="{FF2B5EF4-FFF2-40B4-BE49-F238E27FC236}">
                <a16:creationId xmlns:a16="http://schemas.microsoft.com/office/drawing/2014/main" id="{E447CE50-763D-4F6D-98EB-8DDE109AE7DE}"/>
              </a:ext>
            </a:extLst>
          </p:cNvPr>
          <p:cNvSpPr txBox="1"/>
          <p:nvPr/>
        </p:nvSpPr>
        <p:spPr>
          <a:xfrm>
            <a:off x="567541" y="5032866"/>
            <a:ext cx="5109091" cy="461665"/>
          </a:xfrm>
          <a:prstGeom prst="rect">
            <a:avLst/>
          </a:prstGeom>
          <a:noFill/>
        </p:spPr>
        <p:txBody>
          <a:bodyPr wrap="none" rtlCol="0">
            <a:spAutoFit/>
          </a:bodyPr>
          <a:lstStyle/>
          <a:p>
            <a:r>
              <a:rPr lang="ja-JP" altLang="en-US" sz="2400" dirty="0"/>
              <a:t>このように模様ができるはずです。</a:t>
            </a:r>
            <a:endParaRPr lang="en-US" altLang="ja-JP" sz="2400" dirty="0"/>
          </a:p>
        </p:txBody>
      </p:sp>
    </p:spTree>
    <p:extLst>
      <p:ext uri="{BB962C8B-B14F-4D97-AF65-F5344CB8AC3E}">
        <p14:creationId xmlns:p14="http://schemas.microsoft.com/office/powerpoint/2010/main" val="3291245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461665"/>
          </a:xfrm>
          <a:prstGeom prst="rect">
            <a:avLst/>
          </a:prstGeom>
          <a:noFill/>
        </p:spPr>
        <p:txBody>
          <a:bodyPr wrap="none" rtlCol="0">
            <a:spAutoFit/>
          </a:bodyPr>
          <a:lstStyle/>
          <a:p>
            <a:r>
              <a:rPr lang="ja-JP" altLang="en-US" sz="2400" dirty="0"/>
              <a:t>プロジェクターから模様について設定できます。</a:t>
            </a:r>
            <a:endParaRPr lang="en-US" altLang="ja-JP" sz="2400" dirty="0"/>
          </a:p>
        </p:txBody>
      </p:sp>
      <p:pic>
        <p:nvPicPr>
          <p:cNvPr id="3" name="図 2">
            <a:extLst>
              <a:ext uri="{FF2B5EF4-FFF2-40B4-BE49-F238E27FC236}">
                <a16:creationId xmlns:a16="http://schemas.microsoft.com/office/drawing/2014/main" id="{78A92C19-E89B-4531-A56B-38C12A7B42C8}"/>
              </a:ext>
            </a:extLst>
          </p:cNvPr>
          <p:cNvPicPr>
            <a:picLocks noChangeAspect="1"/>
          </p:cNvPicPr>
          <p:nvPr/>
        </p:nvPicPr>
        <p:blipFill>
          <a:blip r:embed="rId2"/>
          <a:stretch>
            <a:fillRect/>
          </a:stretch>
        </p:blipFill>
        <p:spPr>
          <a:xfrm>
            <a:off x="567542" y="1817794"/>
            <a:ext cx="5907914" cy="4548252"/>
          </a:xfrm>
          <a:prstGeom prst="rect">
            <a:avLst/>
          </a:prstGeom>
        </p:spPr>
      </p:pic>
      <p:sp>
        <p:nvSpPr>
          <p:cNvPr id="8" name="テキスト ボックス 7">
            <a:extLst>
              <a:ext uri="{FF2B5EF4-FFF2-40B4-BE49-F238E27FC236}">
                <a16:creationId xmlns:a16="http://schemas.microsoft.com/office/drawing/2014/main" id="{31F6D5A6-7B63-4C25-AFF1-32376AD49D2D}"/>
              </a:ext>
            </a:extLst>
          </p:cNvPr>
          <p:cNvSpPr txBox="1"/>
          <p:nvPr/>
        </p:nvSpPr>
        <p:spPr>
          <a:xfrm>
            <a:off x="6475456" y="2557645"/>
            <a:ext cx="2492990" cy="646331"/>
          </a:xfrm>
          <a:prstGeom prst="rect">
            <a:avLst/>
          </a:prstGeom>
          <a:noFill/>
        </p:spPr>
        <p:txBody>
          <a:bodyPr wrap="none" rtlCol="0">
            <a:spAutoFit/>
          </a:bodyPr>
          <a:lstStyle/>
          <a:p>
            <a:r>
              <a:rPr lang="ja-JP" altLang="en-US" b="1" dirty="0">
                <a:solidFill>
                  <a:srgbClr val="FF0000"/>
                </a:solidFill>
              </a:rPr>
              <a:t>■</a:t>
            </a:r>
            <a:r>
              <a:rPr lang="en-US" altLang="ja-JP" b="1" dirty="0">
                <a:solidFill>
                  <a:srgbClr val="FF0000"/>
                </a:solidFill>
              </a:rPr>
              <a:t>Size</a:t>
            </a:r>
          </a:p>
          <a:p>
            <a:r>
              <a:rPr lang="ja-JP" altLang="en-US" dirty="0"/>
              <a:t>デカールの範囲を設定</a:t>
            </a:r>
            <a:endParaRPr lang="en-US" altLang="ja-JP" dirty="0"/>
          </a:p>
        </p:txBody>
      </p:sp>
      <p:sp>
        <p:nvSpPr>
          <p:cNvPr id="10" name="テキスト ボックス 9">
            <a:extLst>
              <a:ext uri="{FF2B5EF4-FFF2-40B4-BE49-F238E27FC236}">
                <a16:creationId xmlns:a16="http://schemas.microsoft.com/office/drawing/2014/main" id="{A98C528E-72C1-4C40-8F79-335AA75B4140}"/>
              </a:ext>
            </a:extLst>
          </p:cNvPr>
          <p:cNvSpPr txBox="1"/>
          <p:nvPr/>
        </p:nvSpPr>
        <p:spPr>
          <a:xfrm>
            <a:off x="6475456" y="3203976"/>
            <a:ext cx="2262158" cy="646331"/>
          </a:xfrm>
          <a:prstGeom prst="rect">
            <a:avLst/>
          </a:prstGeom>
          <a:noFill/>
        </p:spPr>
        <p:txBody>
          <a:bodyPr wrap="none" rtlCol="0">
            <a:spAutoFit/>
          </a:bodyPr>
          <a:lstStyle/>
          <a:p>
            <a:r>
              <a:rPr lang="ja-JP" altLang="en-US" b="1" dirty="0">
                <a:solidFill>
                  <a:srgbClr val="FF0000"/>
                </a:solidFill>
              </a:rPr>
              <a:t>■</a:t>
            </a:r>
            <a:r>
              <a:rPr lang="en-US" altLang="ja-JP" b="1" dirty="0">
                <a:solidFill>
                  <a:srgbClr val="FF0000"/>
                </a:solidFill>
              </a:rPr>
              <a:t>Pivot</a:t>
            </a:r>
          </a:p>
          <a:p>
            <a:r>
              <a:rPr lang="ja-JP" altLang="en-US" dirty="0"/>
              <a:t>デカールの中心位置</a:t>
            </a:r>
            <a:endParaRPr lang="en-US" altLang="ja-JP" dirty="0"/>
          </a:p>
        </p:txBody>
      </p:sp>
      <p:sp>
        <p:nvSpPr>
          <p:cNvPr id="11" name="テキスト ボックス 10">
            <a:extLst>
              <a:ext uri="{FF2B5EF4-FFF2-40B4-BE49-F238E27FC236}">
                <a16:creationId xmlns:a16="http://schemas.microsoft.com/office/drawing/2014/main" id="{09F0A5C3-96E5-4C34-9D27-6101DF8D1C7D}"/>
              </a:ext>
            </a:extLst>
          </p:cNvPr>
          <p:cNvSpPr txBox="1"/>
          <p:nvPr/>
        </p:nvSpPr>
        <p:spPr>
          <a:xfrm>
            <a:off x="6475456" y="4517338"/>
            <a:ext cx="2492990" cy="646331"/>
          </a:xfrm>
          <a:prstGeom prst="rect">
            <a:avLst/>
          </a:prstGeom>
          <a:noFill/>
        </p:spPr>
        <p:txBody>
          <a:bodyPr wrap="none" rtlCol="0">
            <a:spAutoFit/>
          </a:bodyPr>
          <a:lstStyle/>
          <a:p>
            <a:r>
              <a:rPr lang="ja-JP" altLang="en-US" b="1" dirty="0">
                <a:solidFill>
                  <a:srgbClr val="FF0000"/>
                </a:solidFill>
              </a:rPr>
              <a:t>■</a:t>
            </a:r>
            <a:r>
              <a:rPr lang="en-US" altLang="ja-JP" b="1" dirty="0">
                <a:solidFill>
                  <a:srgbClr val="FF0000"/>
                </a:solidFill>
              </a:rPr>
              <a:t>Tilling</a:t>
            </a:r>
          </a:p>
          <a:p>
            <a:r>
              <a:rPr lang="ja-JP" altLang="en-US" dirty="0"/>
              <a:t>模様の繰り返し配置数</a:t>
            </a:r>
            <a:endParaRPr lang="en-US" altLang="ja-JP" dirty="0"/>
          </a:p>
        </p:txBody>
      </p:sp>
      <p:sp>
        <p:nvSpPr>
          <p:cNvPr id="12" name="テキスト ボックス 11">
            <a:extLst>
              <a:ext uri="{FF2B5EF4-FFF2-40B4-BE49-F238E27FC236}">
                <a16:creationId xmlns:a16="http://schemas.microsoft.com/office/drawing/2014/main" id="{C5647C5F-8DAB-4FAA-8029-7CCC9898A6CF}"/>
              </a:ext>
            </a:extLst>
          </p:cNvPr>
          <p:cNvSpPr txBox="1"/>
          <p:nvPr/>
        </p:nvSpPr>
        <p:spPr>
          <a:xfrm>
            <a:off x="6475456" y="5118526"/>
            <a:ext cx="2031325" cy="646331"/>
          </a:xfrm>
          <a:prstGeom prst="rect">
            <a:avLst/>
          </a:prstGeom>
          <a:noFill/>
        </p:spPr>
        <p:txBody>
          <a:bodyPr wrap="none" rtlCol="0">
            <a:spAutoFit/>
          </a:bodyPr>
          <a:lstStyle/>
          <a:p>
            <a:r>
              <a:rPr lang="ja-JP" altLang="en-US" b="1" dirty="0">
                <a:solidFill>
                  <a:srgbClr val="FF0000"/>
                </a:solidFill>
              </a:rPr>
              <a:t>■</a:t>
            </a:r>
            <a:r>
              <a:rPr lang="en-US" altLang="ja-JP" b="1" dirty="0">
                <a:solidFill>
                  <a:srgbClr val="FF0000"/>
                </a:solidFill>
              </a:rPr>
              <a:t>Fade Factor</a:t>
            </a:r>
          </a:p>
          <a:p>
            <a:r>
              <a:rPr lang="ja-JP" altLang="en-US" dirty="0"/>
              <a:t>デカールの透明度</a:t>
            </a:r>
            <a:endParaRPr lang="en-US" altLang="ja-JP" dirty="0"/>
          </a:p>
        </p:txBody>
      </p:sp>
      <p:sp>
        <p:nvSpPr>
          <p:cNvPr id="13" name="テキスト ボックス 12">
            <a:extLst>
              <a:ext uri="{FF2B5EF4-FFF2-40B4-BE49-F238E27FC236}">
                <a16:creationId xmlns:a16="http://schemas.microsoft.com/office/drawing/2014/main" id="{CD0C2172-1637-4DEB-B77F-C76EAE29178B}"/>
              </a:ext>
            </a:extLst>
          </p:cNvPr>
          <p:cNvSpPr txBox="1"/>
          <p:nvPr/>
        </p:nvSpPr>
        <p:spPr>
          <a:xfrm>
            <a:off x="567542" y="6397388"/>
            <a:ext cx="4493538" cy="461665"/>
          </a:xfrm>
          <a:prstGeom prst="rect">
            <a:avLst/>
          </a:prstGeom>
          <a:noFill/>
        </p:spPr>
        <p:txBody>
          <a:bodyPr wrap="none" rtlCol="0">
            <a:spAutoFit/>
          </a:bodyPr>
          <a:lstStyle/>
          <a:p>
            <a:r>
              <a:rPr lang="ja-JP" altLang="en-US" sz="2400" dirty="0"/>
              <a:t>いろいろいじってみましょう。</a:t>
            </a:r>
            <a:endParaRPr lang="en-US" altLang="ja-JP" sz="2400" dirty="0"/>
          </a:p>
        </p:txBody>
      </p:sp>
    </p:spTree>
    <p:extLst>
      <p:ext uri="{BB962C8B-B14F-4D97-AF65-F5344CB8AC3E}">
        <p14:creationId xmlns:p14="http://schemas.microsoft.com/office/powerpoint/2010/main" val="87822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977411" cy="1200329"/>
          </a:xfrm>
          <a:prstGeom prst="rect">
            <a:avLst/>
          </a:prstGeom>
          <a:noFill/>
        </p:spPr>
        <p:txBody>
          <a:bodyPr wrap="none" rtlCol="0">
            <a:spAutoFit/>
          </a:bodyPr>
          <a:lstStyle/>
          <a:p>
            <a:r>
              <a:rPr lang="ja-JP" altLang="en-US" sz="2400" dirty="0"/>
              <a:t>実はこれまでのことは</a:t>
            </a:r>
            <a:r>
              <a:rPr lang="en-US" altLang="ja-JP" sz="2400" dirty="0"/>
              <a:t>URP</a:t>
            </a:r>
            <a:r>
              <a:rPr lang="ja-JP" altLang="en-US" sz="2400" dirty="0"/>
              <a:t>でも実装可能です。</a:t>
            </a:r>
            <a:endParaRPr lang="en-US" altLang="ja-JP" sz="2400" dirty="0"/>
          </a:p>
          <a:p>
            <a:r>
              <a:rPr lang="en-US" altLang="ja-JP" sz="2400" dirty="0"/>
              <a:t>HDRP</a:t>
            </a:r>
            <a:r>
              <a:rPr lang="ja-JP" altLang="en-US" sz="2400" dirty="0"/>
              <a:t>ではここからさらに、質の高いデカールにすることができます。</a:t>
            </a:r>
            <a:endParaRPr lang="en-US" altLang="ja-JP" sz="2400" dirty="0"/>
          </a:p>
          <a:p>
            <a:r>
              <a:rPr lang="ja-JP" altLang="en-US" sz="2400" dirty="0"/>
              <a:t>マテリアルのインスペクターを見てみましょう。</a:t>
            </a:r>
            <a:endParaRPr lang="en-US" altLang="ja-JP" sz="2400" dirty="0"/>
          </a:p>
        </p:txBody>
      </p:sp>
      <p:pic>
        <p:nvPicPr>
          <p:cNvPr id="5" name="図 4">
            <a:extLst>
              <a:ext uri="{FF2B5EF4-FFF2-40B4-BE49-F238E27FC236}">
                <a16:creationId xmlns:a16="http://schemas.microsoft.com/office/drawing/2014/main" id="{CEBF8A68-D3C8-4216-B54A-76F89AE67966}"/>
              </a:ext>
            </a:extLst>
          </p:cNvPr>
          <p:cNvPicPr>
            <a:picLocks noChangeAspect="1"/>
          </p:cNvPicPr>
          <p:nvPr/>
        </p:nvPicPr>
        <p:blipFill>
          <a:blip r:embed="rId2"/>
          <a:stretch>
            <a:fillRect/>
          </a:stretch>
        </p:blipFill>
        <p:spPr>
          <a:xfrm>
            <a:off x="567542" y="2556458"/>
            <a:ext cx="3080359" cy="3809588"/>
          </a:xfrm>
          <a:prstGeom prst="rect">
            <a:avLst/>
          </a:prstGeom>
        </p:spPr>
      </p:pic>
    </p:spTree>
    <p:extLst>
      <p:ext uri="{BB962C8B-B14F-4D97-AF65-F5344CB8AC3E}">
        <p14:creationId xmlns:p14="http://schemas.microsoft.com/office/powerpoint/2010/main" val="2552332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935186" cy="830997"/>
          </a:xfrm>
          <a:prstGeom prst="rect">
            <a:avLst/>
          </a:prstGeom>
          <a:noFill/>
        </p:spPr>
        <p:txBody>
          <a:bodyPr wrap="none" rtlCol="0">
            <a:spAutoFit/>
          </a:bodyPr>
          <a:lstStyle/>
          <a:p>
            <a:r>
              <a:rPr lang="en-US" altLang="ja-JP" sz="2400" dirty="0"/>
              <a:t>HD</a:t>
            </a:r>
            <a:r>
              <a:rPr lang="ja-JP" altLang="en-US" sz="2400" dirty="0"/>
              <a:t>のデカールでは、</a:t>
            </a:r>
            <a:r>
              <a:rPr lang="en-US" altLang="ja-JP" sz="2400" dirty="0"/>
              <a:t>Normal Map</a:t>
            </a:r>
            <a:r>
              <a:rPr lang="ja-JP" altLang="en-US" sz="2400" dirty="0"/>
              <a:t>にも対応しています。</a:t>
            </a:r>
            <a:endParaRPr lang="en-US" altLang="ja-JP" sz="2400" dirty="0"/>
          </a:p>
          <a:p>
            <a:r>
              <a:rPr lang="ja-JP" altLang="en-US" sz="2400" dirty="0"/>
              <a:t>これで凹凸感を出すことができます。</a:t>
            </a:r>
            <a:endParaRPr lang="en-US" altLang="ja-JP" sz="2400" dirty="0"/>
          </a:p>
        </p:txBody>
      </p:sp>
      <p:pic>
        <p:nvPicPr>
          <p:cNvPr id="3" name="図 2">
            <a:extLst>
              <a:ext uri="{FF2B5EF4-FFF2-40B4-BE49-F238E27FC236}">
                <a16:creationId xmlns:a16="http://schemas.microsoft.com/office/drawing/2014/main" id="{EF0F8B6C-126C-4468-82A8-ACF7F3C13E56}"/>
              </a:ext>
            </a:extLst>
          </p:cNvPr>
          <p:cNvPicPr>
            <a:picLocks noChangeAspect="1"/>
          </p:cNvPicPr>
          <p:nvPr/>
        </p:nvPicPr>
        <p:blipFill>
          <a:blip r:embed="rId2"/>
          <a:stretch>
            <a:fillRect/>
          </a:stretch>
        </p:blipFill>
        <p:spPr>
          <a:xfrm>
            <a:off x="567542" y="3080124"/>
            <a:ext cx="2673325" cy="2228613"/>
          </a:xfrm>
          <a:prstGeom prst="rect">
            <a:avLst/>
          </a:prstGeom>
        </p:spPr>
      </p:pic>
      <p:pic>
        <p:nvPicPr>
          <p:cNvPr id="8" name="図 7">
            <a:extLst>
              <a:ext uri="{FF2B5EF4-FFF2-40B4-BE49-F238E27FC236}">
                <a16:creationId xmlns:a16="http://schemas.microsoft.com/office/drawing/2014/main" id="{829584ED-A491-4AB1-A5B8-522C752D65E9}"/>
              </a:ext>
            </a:extLst>
          </p:cNvPr>
          <p:cNvPicPr>
            <a:picLocks noChangeAspect="1"/>
          </p:cNvPicPr>
          <p:nvPr/>
        </p:nvPicPr>
        <p:blipFill>
          <a:blip r:embed="rId3"/>
          <a:stretch>
            <a:fillRect/>
          </a:stretch>
        </p:blipFill>
        <p:spPr>
          <a:xfrm>
            <a:off x="567542" y="2187126"/>
            <a:ext cx="5736658" cy="753298"/>
          </a:xfrm>
          <a:prstGeom prst="rect">
            <a:avLst/>
          </a:prstGeom>
        </p:spPr>
      </p:pic>
      <p:sp>
        <p:nvSpPr>
          <p:cNvPr id="9" name="テキスト ボックス 8">
            <a:extLst>
              <a:ext uri="{FF2B5EF4-FFF2-40B4-BE49-F238E27FC236}">
                <a16:creationId xmlns:a16="http://schemas.microsoft.com/office/drawing/2014/main" id="{9A6BBB62-FCFA-45F0-B374-99BD56A258CB}"/>
              </a:ext>
            </a:extLst>
          </p:cNvPr>
          <p:cNvSpPr txBox="1"/>
          <p:nvPr/>
        </p:nvSpPr>
        <p:spPr>
          <a:xfrm>
            <a:off x="567542" y="5448437"/>
            <a:ext cx="9938939" cy="461665"/>
          </a:xfrm>
          <a:prstGeom prst="rect">
            <a:avLst/>
          </a:prstGeom>
          <a:noFill/>
        </p:spPr>
        <p:txBody>
          <a:bodyPr wrap="none" rtlCol="0">
            <a:spAutoFit/>
          </a:bodyPr>
          <a:lstStyle/>
          <a:p>
            <a:r>
              <a:rPr lang="en-US" altLang="ja-JP" sz="2400" dirty="0"/>
              <a:t>※Normal Map</a:t>
            </a:r>
            <a:r>
              <a:rPr lang="ja-JP" altLang="en-US" sz="2400" dirty="0"/>
              <a:t>についてはシェーダーの授業を見直してみましょう。</a:t>
            </a:r>
            <a:endParaRPr lang="en-US" altLang="ja-JP" sz="2400" dirty="0"/>
          </a:p>
        </p:txBody>
      </p:sp>
    </p:spTree>
    <p:extLst>
      <p:ext uri="{BB962C8B-B14F-4D97-AF65-F5344CB8AC3E}">
        <p14:creationId xmlns:p14="http://schemas.microsoft.com/office/powerpoint/2010/main" val="959493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55958" cy="830997"/>
          </a:xfrm>
          <a:prstGeom prst="rect">
            <a:avLst/>
          </a:prstGeom>
          <a:noFill/>
        </p:spPr>
        <p:txBody>
          <a:bodyPr wrap="none" rtlCol="0">
            <a:spAutoFit/>
          </a:bodyPr>
          <a:lstStyle/>
          <a:p>
            <a:r>
              <a:rPr lang="en-US" altLang="ja-JP" sz="2400" b="1" dirty="0">
                <a:solidFill>
                  <a:srgbClr val="FF0000"/>
                </a:solidFill>
              </a:rPr>
              <a:t>Mask Map</a:t>
            </a:r>
            <a:r>
              <a:rPr lang="ja-JP" altLang="en-US" sz="2400" dirty="0"/>
              <a:t>を使えば、</a:t>
            </a:r>
            <a:r>
              <a:rPr lang="ja-JP" altLang="en-US" sz="2400" b="1" dirty="0">
                <a:solidFill>
                  <a:srgbClr val="FF0000"/>
                </a:solidFill>
              </a:rPr>
              <a:t>部分的にシェーダーパラメータを設定</a:t>
            </a:r>
            <a:r>
              <a:rPr lang="ja-JP" altLang="en-US" sz="2400" dirty="0"/>
              <a:t>できます。</a:t>
            </a:r>
            <a:endParaRPr lang="en-US" altLang="ja-JP" sz="2400" dirty="0"/>
          </a:p>
          <a:p>
            <a:r>
              <a:rPr lang="en-US" altLang="ja-JP" sz="2400" dirty="0" err="1"/>
              <a:t>BurstMask</a:t>
            </a:r>
            <a:r>
              <a:rPr lang="ja-JP" altLang="en-US" sz="2400" dirty="0"/>
              <a:t>を設定して確認してみましょう。</a:t>
            </a:r>
            <a:endParaRPr lang="en-US" altLang="ja-JP" sz="2400" dirty="0"/>
          </a:p>
        </p:txBody>
      </p:sp>
      <p:pic>
        <p:nvPicPr>
          <p:cNvPr id="5" name="図 4">
            <a:extLst>
              <a:ext uri="{FF2B5EF4-FFF2-40B4-BE49-F238E27FC236}">
                <a16:creationId xmlns:a16="http://schemas.microsoft.com/office/drawing/2014/main" id="{02816CF9-7360-4D12-A3C2-D4643B2A21D9}"/>
              </a:ext>
            </a:extLst>
          </p:cNvPr>
          <p:cNvPicPr>
            <a:picLocks noChangeAspect="1"/>
          </p:cNvPicPr>
          <p:nvPr/>
        </p:nvPicPr>
        <p:blipFill>
          <a:blip r:embed="rId2"/>
          <a:stretch>
            <a:fillRect/>
          </a:stretch>
        </p:blipFill>
        <p:spPr>
          <a:xfrm>
            <a:off x="567542" y="2187126"/>
            <a:ext cx="4620270" cy="1886213"/>
          </a:xfrm>
          <a:prstGeom prst="rect">
            <a:avLst/>
          </a:prstGeom>
        </p:spPr>
      </p:pic>
      <p:pic>
        <p:nvPicPr>
          <p:cNvPr id="10" name="図 9">
            <a:extLst>
              <a:ext uri="{FF2B5EF4-FFF2-40B4-BE49-F238E27FC236}">
                <a16:creationId xmlns:a16="http://schemas.microsoft.com/office/drawing/2014/main" id="{0DB10674-FDB6-412C-AFBF-A545ACD3C598}"/>
              </a:ext>
            </a:extLst>
          </p:cNvPr>
          <p:cNvPicPr>
            <a:picLocks noChangeAspect="1"/>
          </p:cNvPicPr>
          <p:nvPr/>
        </p:nvPicPr>
        <p:blipFill>
          <a:blip r:embed="rId3"/>
          <a:stretch>
            <a:fillRect/>
          </a:stretch>
        </p:blipFill>
        <p:spPr>
          <a:xfrm>
            <a:off x="567542" y="4222622"/>
            <a:ext cx="2673400" cy="2231966"/>
          </a:xfrm>
          <a:prstGeom prst="rect">
            <a:avLst/>
          </a:prstGeom>
        </p:spPr>
      </p:pic>
      <p:sp>
        <p:nvSpPr>
          <p:cNvPr id="7" name="テキスト ボックス 6">
            <a:extLst>
              <a:ext uri="{FF2B5EF4-FFF2-40B4-BE49-F238E27FC236}">
                <a16:creationId xmlns:a16="http://schemas.microsoft.com/office/drawing/2014/main" id="{485C1418-08A5-4C55-990F-6AD15EBA5938}"/>
              </a:ext>
            </a:extLst>
          </p:cNvPr>
          <p:cNvSpPr txBox="1"/>
          <p:nvPr/>
        </p:nvSpPr>
        <p:spPr>
          <a:xfrm>
            <a:off x="3240942" y="5254259"/>
            <a:ext cx="9018816" cy="1200329"/>
          </a:xfrm>
          <a:prstGeom prst="rect">
            <a:avLst/>
          </a:prstGeom>
          <a:noFill/>
        </p:spPr>
        <p:txBody>
          <a:bodyPr wrap="none" rtlCol="0">
            <a:spAutoFit/>
          </a:bodyPr>
          <a:lstStyle/>
          <a:p>
            <a:r>
              <a:rPr lang="ja-JP" altLang="en-US" sz="2400" dirty="0"/>
              <a:t>これまで四角で表示された違和感が消えます。</a:t>
            </a:r>
            <a:endParaRPr lang="en-US" altLang="ja-JP" sz="2400" dirty="0"/>
          </a:p>
          <a:p>
            <a:r>
              <a:rPr lang="en-US" altLang="ja-JP" sz="2400" dirty="0"/>
              <a:t>Smoothness</a:t>
            </a:r>
            <a:r>
              <a:rPr lang="ja-JP" altLang="en-US" sz="2400" dirty="0"/>
              <a:t>が一部分にだけ反映されるようになったからです。</a:t>
            </a:r>
            <a:endParaRPr lang="en-US" altLang="ja-JP" sz="2400" dirty="0"/>
          </a:p>
          <a:p>
            <a:r>
              <a:rPr lang="ja-JP" altLang="en-US" sz="2400" dirty="0"/>
              <a:t>（ほかにもテカリ方が変わったりしてます）</a:t>
            </a:r>
            <a:endParaRPr lang="en-US" altLang="ja-JP" sz="2400" dirty="0"/>
          </a:p>
        </p:txBody>
      </p:sp>
    </p:spTree>
    <p:extLst>
      <p:ext uri="{BB962C8B-B14F-4D97-AF65-F5344CB8AC3E}">
        <p14:creationId xmlns:p14="http://schemas.microsoft.com/office/powerpoint/2010/main" val="1350706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508279" cy="2308324"/>
          </a:xfrm>
          <a:prstGeom prst="rect">
            <a:avLst/>
          </a:prstGeom>
          <a:noFill/>
        </p:spPr>
        <p:txBody>
          <a:bodyPr wrap="none" rtlCol="0">
            <a:spAutoFit/>
          </a:bodyPr>
          <a:lstStyle/>
          <a:p>
            <a:r>
              <a:rPr lang="en-US" altLang="ja-JP" sz="2400" b="1" dirty="0">
                <a:solidFill>
                  <a:srgbClr val="FF0000"/>
                </a:solidFill>
              </a:rPr>
              <a:t>Mask Map</a:t>
            </a:r>
            <a:r>
              <a:rPr lang="ja-JP" altLang="en-US" sz="2400" dirty="0"/>
              <a:t>はテクスチャの</a:t>
            </a:r>
            <a:r>
              <a:rPr lang="en-US" altLang="ja-JP" sz="2400" dirty="0"/>
              <a:t>RGBA</a:t>
            </a:r>
            <a:r>
              <a:rPr lang="ja-JP" altLang="en-US" sz="2400" dirty="0"/>
              <a:t>の値を、それぞれ各パラメータに割り当てます。</a:t>
            </a:r>
            <a:endParaRPr lang="en-US" altLang="ja-JP" sz="2400" dirty="0"/>
          </a:p>
          <a:p>
            <a:endParaRPr lang="en-US" altLang="ja-JP" sz="2400" dirty="0"/>
          </a:p>
          <a:p>
            <a:r>
              <a:rPr lang="en-US" altLang="ja-JP" sz="2400" dirty="0"/>
              <a:t>R</a:t>
            </a:r>
            <a:r>
              <a:rPr lang="ja-JP" altLang="en-US" sz="2400" dirty="0"/>
              <a:t>・・・</a:t>
            </a:r>
            <a:r>
              <a:rPr lang="en-US" altLang="ja-JP" sz="2400" dirty="0"/>
              <a:t>Metal</a:t>
            </a:r>
          </a:p>
          <a:p>
            <a:r>
              <a:rPr lang="en-US" altLang="ja-JP" sz="2400" dirty="0"/>
              <a:t>G</a:t>
            </a:r>
            <a:r>
              <a:rPr lang="ja-JP" altLang="en-US" sz="2400" dirty="0"/>
              <a:t>・・・</a:t>
            </a:r>
            <a:r>
              <a:rPr lang="en-US" altLang="ja-JP" sz="2400" dirty="0"/>
              <a:t>AO</a:t>
            </a:r>
            <a:r>
              <a:rPr lang="ja-JP" altLang="en-US" sz="2400" dirty="0"/>
              <a:t>（アンビエントオクルージョン）</a:t>
            </a:r>
            <a:endParaRPr lang="en-US" altLang="ja-JP" sz="2400" dirty="0"/>
          </a:p>
          <a:p>
            <a:r>
              <a:rPr lang="en-US" altLang="ja-JP" sz="2400" dirty="0"/>
              <a:t>B</a:t>
            </a:r>
            <a:r>
              <a:rPr lang="ja-JP" altLang="en-US" sz="2400" dirty="0"/>
              <a:t>・・・影響度（他の</a:t>
            </a:r>
            <a:r>
              <a:rPr lang="en-US" altLang="ja-JP" sz="2400" dirty="0"/>
              <a:t>RGA</a:t>
            </a:r>
            <a:r>
              <a:rPr lang="ja-JP" altLang="en-US" sz="2400" dirty="0"/>
              <a:t>がどれだけ反映されるか）</a:t>
            </a:r>
            <a:endParaRPr lang="en-US" altLang="ja-JP" sz="2400" dirty="0"/>
          </a:p>
          <a:p>
            <a:r>
              <a:rPr lang="en-US" altLang="ja-JP" sz="2400" dirty="0"/>
              <a:t>A</a:t>
            </a:r>
            <a:r>
              <a:rPr lang="ja-JP" altLang="en-US" sz="2400" dirty="0"/>
              <a:t>・・・</a:t>
            </a:r>
            <a:r>
              <a:rPr lang="en-US" altLang="ja-JP" sz="2400" dirty="0"/>
              <a:t>Smoothness</a:t>
            </a:r>
          </a:p>
        </p:txBody>
      </p:sp>
      <p:pic>
        <p:nvPicPr>
          <p:cNvPr id="8" name="図 7">
            <a:extLst>
              <a:ext uri="{FF2B5EF4-FFF2-40B4-BE49-F238E27FC236}">
                <a16:creationId xmlns:a16="http://schemas.microsoft.com/office/drawing/2014/main" id="{53ADE16B-B92A-4434-BA8D-B2818561A7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3664453"/>
            <a:ext cx="2968405" cy="2968405"/>
          </a:xfrm>
          <a:prstGeom prst="rect">
            <a:avLst/>
          </a:prstGeom>
        </p:spPr>
      </p:pic>
      <p:sp>
        <p:nvSpPr>
          <p:cNvPr id="11" name="テキスト ボックス 10">
            <a:extLst>
              <a:ext uri="{FF2B5EF4-FFF2-40B4-BE49-F238E27FC236}">
                <a16:creationId xmlns:a16="http://schemas.microsoft.com/office/drawing/2014/main" id="{83AB8A32-3AEA-4680-9A07-80C3DE961DB1}"/>
              </a:ext>
            </a:extLst>
          </p:cNvPr>
          <p:cNvSpPr txBox="1"/>
          <p:nvPr/>
        </p:nvSpPr>
        <p:spPr>
          <a:xfrm>
            <a:off x="3839661" y="4363825"/>
            <a:ext cx="7571303" cy="1569660"/>
          </a:xfrm>
          <a:prstGeom prst="rect">
            <a:avLst/>
          </a:prstGeom>
          <a:noFill/>
        </p:spPr>
        <p:txBody>
          <a:bodyPr wrap="none" rtlCol="0">
            <a:spAutoFit/>
          </a:bodyPr>
          <a:lstStyle/>
          <a:p>
            <a:r>
              <a:rPr lang="en-US" altLang="ja-JP" sz="2400" b="1" dirty="0">
                <a:solidFill>
                  <a:srgbClr val="00B050"/>
                </a:solidFill>
              </a:rPr>
              <a:t>MEMO</a:t>
            </a:r>
          </a:p>
          <a:p>
            <a:r>
              <a:rPr lang="ja-JP" altLang="en-US" sz="2400" dirty="0"/>
              <a:t>左のテクスチャであれば、透明な部分は何もしない。</a:t>
            </a:r>
            <a:endParaRPr lang="en-US" altLang="ja-JP" sz="2400" dirty="0"/>
          </a:p>
          <a:p>
            <a:r>
              <a:rPr lang="ja-JP" altLang="en-US" sz="2400" dirty="0"/>
              <a:t>紫</a:t>
            </a:r>
            <a:r>
              <a:rPr lang="en-US" altLang="ja-JP" sz="2400" dirty="0"/>
              <a:t>(RBA</a:t>
            </a:r>
            <a:r>
              <a:rPr lang="ja-JP" altLang="en-US" sz="2400" dirty="0"/>
              <a:t>＝１</a:t>
            </a:r>
            <a:r>
              <a:rPr lang="en-US" altLang="ja-JP" sz="2400" dirty="0"/>
              <a:t>)</a:t>
            </a:r>
            <a:r>
              <a:rPr lang="ja-JP" altLang="en-US" sz="2400" dirty="0"/>
              <a:t>の部分は、</a:t>
            </a:r>
            <a:endParaRPr lang="en-US" altLang="ja-JP" sz="2400" dirty="0"/>
          </a:p>
          <a:p>
            <a:r>
              <a:rPr lang="en-US" altLang="ja-JP" sz="2400" dirty="0"/>
              <a:t>Metal,</a:t>
            </a:r>
            <a:r>
              <a:rPr lang="ja-JP" altLang="en-US" sz="2400" dirty="0"/>
              <a:t>影響度</a:t>
            </a:r>
            <a:r>
              <a:rPr lang="en-US" altLang="ja-JP" sz="2400" dirty="0"/>
              <a:t>,Smoothness</a:t>
            </a:r>
            <a:r>
              <a:rPr lang="ja-JP" altLang="en-US" sz="2400" dirty="0"/>
              <a:t>を最大で表示します。</a:t>
            </a:r>
            <a:endParaRPr lang="en-US" altLang="ja-JP" sz="2400" dirty="0"/>
          </a:p>
        </p:txBody>
      </p:sp>
    </p:spTree>
    <p:extLst>
      <p:ext uri="{BB962C8B-B14F-4D97-AF65-F5344CB8AC3E}">
        <p14:creationId xmlns:p14="http://schemas.microsoft.com/office/powerpoint/2010/main" val="4103846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56846" cy="1569660"/>
          </a:xfrm>
          <a:prstGeom prst="rect">
            <a:avLst/>
          </a:prstGeom>
          <a:noFill/>
        </p:spPr>
        <p:txBody>
          <a:bodyPr wrap="none" rtlCol="0">
            <a:spAutoFit/>
          </a:bodyPr>
          <a:lstStyle/>
          <a:p>
            <a:r>
              <a:rPr lang="ja-JP" altLang="en-US" sz="2400" dirty="0"/>
              <a:t>このようにテクスチャをただの画像として使うのではなく、</a:t>
            </a:r>
            <a:endParaRPr lang="en-US" altLang="ja-JP" sz="2400" dirty="0"/>
          </a:p>
          <a:p>
            <a:r>
              <a:rPr lang="ja-JP" altLang="en-US" sz="2400" b="1" dirty="0">
                <a:solidFill>
                  <a:srgbClr val="FF0000"/>
                </a:solidFill>
              </a:rPr>
              <a:t>シェーダーのパラメータ割り当て</a:t>
            </a:r>
            <a:r>
              <a:rPr lang="ja-JP" altLang="en-US" sz="2400" dirty="0"/>
              <a:t>に使うことがあります。</a:t>
            </a:r>
            <a:endParaRPr lang="en-US" altLang="ja-JP" sz="2400" dirty="0"/>
          </a:p>
          <a:p>
            <a:endParaRPr lang="en-US" altLang="ja-JP" sz="2400" dirty="0"/>
          </a:p>
          <a:p>
            <a:r>
              <a:rPr lang="ja-JP" altLang="en-US" sz="2400" dirty="0"/>
              <a:t>フォトリアル以外の場面でも使用されることが多いので知っておきましょう。</a:t>
            </a:r>
            <a:endParaRPr lang="en-US" altLang="ja-JP" sz="2400" dirty="0"/>
          </a:p>
        </p:txBody>
      </p:sp>
    </p:spTree>
    <p:extLst>
      <p:ext uri="{BB962C8B-B14F-4D97-AF65-F5344CB8AC3E}">
        <p14:creationId xmlns:p14="http://schemas.microsoft.com/office/powerpoint/2010/main" val="4127789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462534" cy="584775"/>
          </a:xfrm>
          <a:prstGeom prst="rect">
            <a:avLst/>
          </a:prstGeom>
          <a:noFill/>
        </p:spPr>
        <p:txBody>
          <a:bodyPr wrap="none" rtlCol="0">
            <a:spAutoFit/>
          </a:bodyPr>
          <a:lstStyle/>
          <a:p>
            <a:r>
              <a:rPr lang="en-US" altLang="ja-JP" sz="3200" b="1" u="sng" dirty="0"/>
              <a:t>HD</a:t>
            </a:r>
            <a:r>
              <a:rPr lang="ja-JP" altLang="en-US" sz="3200" b="1" u="sng" dirty="0"/>
              <a:t>デカール</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264622" cy="4154984"/>
          </a:xfrm>
          <a:prstGeom prst="rect">
            <a:avLst/>
          </a:prstGeom>
          <a:noFill/>
        </p:spPr>
        <p:txBody>
          <a:bodyPr wrap="none" rtlCol="0">
            <a:spAutoFit/>
          </a:bodyPr>
          <a:lstStyle/>
          <a:p>
            <a:r>
              <a:rPr lang="ja-JP" altLang="en-US" sz="2400" dirty="0"/>
              <a:t>デカールは気軽に模様をつけることができるので便利に思えますが、</a:t>
            </a:r>
            <a:endParaRPr lang="en-US" altLang="ja-JP" sz="2400" dirty="0"/>
          </a:p>
          <a:p>
            <a:r>
              <a:rPr lang="ja-JP" altLang="en-US" sz="2400" dirty="0"/>
              <a:t>実際には</a:t>
            </a:r>
            <a:r>
              <a:rPr lang="ja-JP" altLang="en-US" sz="2400" b="1" dirty="0">
                <a:solidFill>
                  <a:srgbClr val="FF0000"/>
                </a:solidFill>
              </a:rPr>
              <a:t>シェーダープログラムでテクスチャーを書きこむ処理</a:t>
            </a:r>
            <a:r>
              <a:rPr lang="ja-JP" altLang="en-US" sz="2400" dirty="0"/>
              <a:t>になります。</a:t>
            </a:r>
            <a:endParaRPr lang="en-US" altLang="ja-JP" sz="2400" dirty="0"/>
          </a:p>
          <a:p>
            <a:endParaRPr lang="en-US" altLang="ja-JP" sz="2400" dirty="0"/>
          </a:p>
          <a:p>
            <a:r>
              <a:rPr lang="ja-JP" altLang="en-US" sz="2400" dirty="0"/>
              <a:t>広い範囲に張り付けたり、プロジェクターを大量に用意したりすると、</a:t>
            </a:r>
            <a:endParaRPr lang="en-US" altLang="ja-JP" sz="2400" dirty="0"/>
          </a:p>
          <a:p>
            <a:r>
              <a:rPr lang="ja-JP" altLang="en-US" sz="2400" dirty="0"/>
              <a:t>その分負荷も大きくなるので、多用しないようにしましょう。</a:t>
            </a:r>
            <a:endParaRPr lang="en-US" altLang="ja-JP" sz="2400" dirty="0"/>
          </a:p>
          <a:p>
            <a:endParaRPr lang="en-US" altLang="ja-JP" sz="2400" dirty="0"/>
          </a:p>
          <a:p>
            <a:r>
              <a:rPr lang="en-US" altLang="ja-JP" sz="2400" b="1" dirty="0">
                <a:solidFill>
                  <a:srgbClr val="FF0000"/>
                </a:solidFill>
              </a:rPr>
              <a:t>※</a:t>
            </a:r>
            <a:r>
              <a:rPr lang="ja-JP" altLang="en-US" sz="2400" b="1" dirty="0">
                <a:solidFill>
                  <a:srgbClr val="FF0000"/>
                </a:solidFill>
              </a:rPr>
              <a:t>特にプロジェクターを増やす分には注意してください</a:t>
            </a:r>
            <a:endParaRPr lang="en-US" altLang="ja-JP" sz="2400" b="1" dirty="0">
              <a:solidFill>
                <a:srgbClr val="FF0000"/>
              </a:solidFill>
            </a:endParaRPr>
          </a:p>
          <a:p>
            <a:endParaRPr lang="en-US" altLang="ja-JP" sz="2400" b="1" dirty="0">
              <a:solidFill>
                <a:srgbClr val="FF0000"/>
              </a:solidFill>
            </a:endParaRPr>
          </a:p>
          <a:p>
            <a:r>
              <a:rPr lang="en-US" altLang="ja-JP" sz="2400" b="1" dirty="0">
                <a:solidFill>
                  <a:srgbClr val="00B050"/>
                </a:solidFill>
              </a:rPr>
              <a:t>MEMO</a:t>
            </a:r>
          </a:p>
          <a:p>
            <a:r>
              <a:rPr lang="ja-JP" altLang="en-US" sz="2400" dirty="0"/>
              <a:t>ゲーム中に発生する血だまりや弾痕も一定時間たつと消えるようになってます。</a:t>
            </a:r>
            <a:endParaRPr lang="en-US" altLang="ja-JP" sz="2400" dirty="0"/>
          </a:p>
          <a:p>
            <a:r>
              <a:rPr lang="ja-JP" altLang="en-US" sz="2400" dirty="0"/>
              <a:t>これはプロジェクターを放置して、大量に溜まらないようにするためです。</a:t>
            </a:r>
            <a:endParaRPr lang="en-US" altLang="ja-JP" sz="2400" dirty="0"/>
          </a:p>
        </p:txBody>
      </p:sp>
    </p:spTree>
    <p:extLst>
      <p:ext uri="{BB962C8B-B14F-4D97-AF65-F5344CB8AC3E}">
        <p14:creationId xmlns:p14="http://schemas.microsoft.com/office/powerpoint/2010/main" val="364679670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786</TotalTime>
  <Words>659</Words>
  <Application>Microsoft Office PowerPoint</Application>
  <PresentationFormat>ワイド画面</PresentationFormat>
  <Paragraphs>96</Paragraphs>
  <Slides>15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15</vt:i4>
      </vt:variant>
    </vt:vector>
  </HeadingPairs>
  <TitlesOfParts>
    <vt:vector size="19"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67</cp:revision>
  <dcterms:created xsi:type="dcterms:W3CDTF">2024-08-27T02:15:54Z</dcterms:created>
  <dcterms:modified xsi:type="dcterms:W3CDTF">2026-01-09T04:31:34Z</dcterms:modified>
</cp:coreProperties>
</file>