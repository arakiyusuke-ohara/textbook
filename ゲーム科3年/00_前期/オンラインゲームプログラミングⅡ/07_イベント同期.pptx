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弾丸やエネミーなど、</a:t>
            </a:r>
            <a:endParaRPr lang="en-US" altLang="ja-JP" sz="2400" dirty="0"/>
          </a:p>
          <a:p>
            <a:r>
              <a:rPr lang="ja-JP" altLang="en-US" sz="2400" dirty="0"/>
              <a:t>ゲームに直接干渉するオブジェクトは同期する必要がありますが、</a:t>
            </a:r>
            <a:endParaRPr lang="en-US" altLang="ja-JP" sz="2400" dirty="0"/>
          </a:p>
          <a:p>
            <a:r>
              <a:rPr lang="ja-JP" altLang="en-US" sz="2400" dirty="0"/>
              <a:t>オンラインゲームには完ぺきに同期しなくてもよいオブジェクトもあります。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・エフェクト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SE</a:t>
            </a:r>
            <a:r>
              <a:rPr lang="ja-JP" altLang="en-US" sz="2400" dirty="0"/>
              <a:t>再生</a:t>
            </a:r>
            <a:endParaRPr lang="en-US" altLang="ja-JP" sz="2400" dirty="0"/>
          </a:p>
          <a:p>
            <a:r>
              <a:rPr lang="ja-JP" altLang="en-US" sz="2400" dirty="0"/>
              <a:t>・カメラ演出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48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タイミングや位置を完ぺきに同期しなくてもよいもの</a:t>
            </a:r>
            <a:r>
              <a:rPr lang="ja-JP" altLang="en-US" sz="2400" dirty="0"/>
              <a:t>まで、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Spawn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で同期させると、処理コストの負担が大きくなります。</a:t>
            </a:r>
            <a:endParaRPr lang="en-US" altLang="ja-JP" sz="2400" dirty="0"/>
          </a:p>
          <a:p>
            <a:r>
              <a:rPr lang="ja-JP" altLang="en-US" sz="2400" dirty="0"/>
              <a:t>このような場合は</a:t>
            </a:r>
            <a:r>
              <a:rPr lang="en-US" altLang="ja-JP" sz="2400" b="1" dirty="0">
                <a:solidFill>
                  <a:srgbClr val="FF0000"/>
                </a:solidFill>
              </a:rPr>
              <a:t>RPC</a:t>
            </a:r>
            <a:r>
              <a:rPr lang="ja-JP" altLang="en-US" sz="2400" b="1" dirty="0">
                <a:solidFill>
                  <a:srgbClr val="FF0000"/>
                </a:solidFill>
              </a:rPr>
              <a:t>（イベント同期）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弾丸のヒットエフェクトで練習します。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5831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7048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Player.cs</a:t>
            </a:r>
            <a:r>
              <a:rPr lang="ja-JP" altLang="en-US" sz="2400" dirty="0"/>
              <a:t>を追記します。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6A9C9F3-24E8-4AF4-87ED-A297C91CD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088383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518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27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Bullet.cs</a:t>
            </a:r>
            <a:r>
              <a:rPr lang="ja-JP" altLang="en-US" sz="2400" dirty="0"/>
              <a:t>を開き、先ほどの関数を呼び出します。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6DEF86-4F4B-499C-B6D8-3803EFD39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866191" cy="4503631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66F3907-1AF7-4409-93E2-D58FB251A22F}"/>
              </a:ext>
            </a:extLst>
          </p:cNvPr>
          <p:cNvSpPr/>
          <p:nvPr/>
        </p:nvSpPr>
        <p:spPr>
          <a:xfrm>
            <a:off x="2980403" y="4521201"/>
            <a:ext cx="445333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6259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39491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イベント同期には</a:t>
            </a:r>
            <a:r>
              <a:rPr lang="en-US" altLang="ja-JP" sz="2400" dirty="0"/>
              <a:t>RPC</a:t>
            </a:r>
            <a:r>
              <a:rPr lang="ja-JP" altLang="en-US" sz="2400" dirty="0"/>
              <a:t>関数を使用します。</a:t>
            </a:r>
            <a:r>
              <a:rPr lang="en-US" altLang="ja-JP" sz="2400" dirty="0"/>
              <a:t>RPC</a:t>
            </a:r>
            <a:r>
              <a:rPr lang="ja-JP" altLang="en-US" sz="2400" dirty="0"/>
              <a:t>関数とは、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ネットワーク経由でクライアントやサーバーに関数を呼ばせる仕組み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A2C7D9-34F7-41C4-91DA-12AD56688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088383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9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ja-JP" altLang="en-US" sz="2400" dirty="0"/>
              <a:t>とは、</a:t>
            </a:r>
            <a:r>
              <a:rPr lang="en-US" altLang="ja-JP" sz="2400" dirty="0"/>
              <a:t>RPC</a:t>
            </a:r>
            <a:r>
              <a:rPr lang="ja-JP" altLang="en-US" sz="2400" dirty="0"/>
              <a:t>関数の呼び出し権限になります。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CD2F4E4-AA0E-4B2E-A1FB-62759BDFA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64011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78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それぞれ以下のような意味となります。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・・・サーバーが呼び出せる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・・・クライアントが呼び出せる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Proxies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・・・自分以外のクライアントが呼び出せる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All</a:t>
            </a:r>
            <a:r>
              <a:rPr lang="en-US" altLang="ja-JP" sz="2400" dirty="0"/>
              <a:t>			</a:t>
            </a:r>
            <a:r>
              <a:rPr lang="ja-JP" altLang="en-US" sz="2400" dirty="0"/>
              <a:t>・・・全員呼び出せる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の関数をクライアント側で呼び出しても、</a:t>
            </a:r>
            <a:endParaRPr lang="en-US" altLang="ja-JP" sz="2400" dirty="0"/>
          </a:p>
          <a:p>
            <a:r>
              <a:rPr lang="ja-JP" altLang="en-US" sz="2400" dirty="0"/>
              <a:t>何も起きません。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今回はサーバー側で当たり判定してヒットしたときのエフェクトなので、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56237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803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ja-JP" altLang="en-US" sz="2400" dirty="0"/>
              <a:t>とは、この関数を実行するターゲットになります。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D4074CA-2C27-42DE-BDDD-EC3170219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73538" cy="48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3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8024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それぞれ以下のような意味となります。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・・・サーバーが実行する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・・・自分自身だけ実行する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Proxies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・・・自分以外のクライアントが実行する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All</a:t>
            </a:r>
            <a:r>
              <a:rPr lang="en-US" altLang="ja-JP" sz="2400" dirty="0"/>
              <a:t>			</a:t>
            </a:r>
            <a:r>
              <a:rPr lang="ja-JP" altLang="en-US" sz="2400" dirty="0"/>
              <a:t>・・・全員実行する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All</a:t>
            </a:r>
            <a:r>
              <a:rPr lang="ja-JP" altLang="en-US" sz="2400" dirty="0"/>
              <a:t>なので、全員がエフェクトを発生させます。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サーバーはエフェクトを出さなくて良いので、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/>
              <a:t>.</a:t>
            </a:r>
            <a:r>
              <a:rPr lang="en-US" altLang="ja-JP" sz="2400" b="1" dirty="0">
                <a:solidFill>
                  <a:srgbClr val="7030A0"/>
                </a:solidFill>
              </a:rPr>
              <a:t> </a:t>
            </a:r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b="1" dirty="0">
                <a:solidFill>
                  <a:srgbClr val="7030A0"/>
                </a:solidFill>
              </a:rPr>
              <a:t> </a:t>
            </a:r>
            <a:r>
              <a:rPr lang="en-US" altLang="ja-JP" sz="2400" dirty="0"/>
              <a:t>|</a:t>
            </a:r>
            <a:r>
              <a:rPr lang="en-US" altLang="ja-JP" sz="2400" b="1" dirty="0">
                <a:solidFill>
                  <a:srgbClr val="7030A0"/>
                </a:solidFill>
              </a:rPr>
              <a:t> 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/>
              <a:t>.</a:t>
            </a:r>
            <a:r>
              <a:rPr lang="en-US" altLang="ja-JP" sz="2400" b="1" dirty="0">
                <a:solidFill>
                  <a:srgbClr val="7030A0"/>
                </a:solidFill>
              </a:rPr>
              <a:t> Proxies </a:t>
            </a:r>
            <a:r>
              <a:rPr lang="ja-JP" altLang="en-US" sz="2400" dirty="0"/>
              <a:t>でも良いです。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2861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621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で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All</a:t>
            </a:r>
            <a:r>
              <a:rPr lang="ja-JP" altLang="en-US" sz="2400" dirty="0"/>
              <a:t>の場合は、</a:t>
            </a:r>
            <a:endParaRPr lang="en-US" altLang="ja-JP" sz="2400" dirty="0"/>
          </a:p>
          <a:p>
            <a:r>
              <a:rPr lang="ja-JP" altLang="en-US" sz="2400" dirty="0"/>
              <a:t>以下のような流れになります。</a:t>
            </a:r>
            <a:endParaRPr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2A6F57A-A9B2-4028-BB6B-D56AC104F249}"/>
              </a:ext>
            </a:extLst>
          </p:cNvPr>
          <p:cNvSpPr/>
          <p:nvPr/>
        </p:nvSpPr>
        <p:spPr>
          <a:xfrm>
            <a:off x="708212" y="3426742"/>
            <a:ext cx="1398494" cy="88750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58508806-3477-4FBA-9FAE-2E6FC1750A8E}"/>
              </a:ext>
            </a:extLst>
          </p:cNvPr>
          <p:cNvSpPr/>
          <p:nvPr/>
        </p:nvSpPr>
        <p:spPr>
          <a:xfrm>
            <a:off x="2357718" y="2779058"/>
            <a:ext cx="2354943" cy="2185130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rgbClr val="0070C0"/>
                </a:solidFill>
              </a:rPr>
              <a:t>RPC_PlayEffect</a:t>
            </a:r>
            <a:r>
              <a:rPr kumimoji="1" lang="ja-JP" altLang="en-US" sz="1200" b="1" dirty="0"/>
              <a:t>呼出し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1C287D2-8C1E-4CBC-AC29-0FBF4D4825AA}"/>
              </a:ext>
            </a:extLst>
          </p:cNvPr>
          <p:cNvSpPr/>
          <p:nvPr/>
        </p:nvSpPr>
        <p:spPr>
          <a:xfrm>
            <a:off x="4831972" y="2335306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A</a:t>
            </a:r>
            <a:endParaRPr kumimoji="1" lang="ja-JP" altLang="en-US" b="1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C392E8CD-69FD-4579-B467-973E0B2FFE8F}"/>
              </a:ext>
            </a:extLst>
          </p:cNvPr>
          <p:cNvSpPr/>
          <p:nvPr/>
        </p:nvSpPr>
        <p:spPr>
          <a:xfrm>
            <a:off x="4831971" y="3426742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B</a:t>
            </a:r>
            <a:endParaRPr kumimoji="1" lang="ja-JP" altLang="en-US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0DF18AF-DA86-42CE-BA81-FE971FABD4D8}"/>
              </a:ext>
            </a:extLst>
          </p:cNvPr>
          <p:cNvSpPr txBox="1"/>
          <p:nvPr/>
        </p:nvSpPr>
        <p:spPr>
          <a:xfrm>
            <a:off x="6762151" y="2548225"/>
            <a:ext cx="3145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RPC_PlayEffect</a:t>
            </a:r>
            <a:r>
              <a:rPr lang="ja-JP" altLang="en-US" sz="2400" dirty="0"/>
              <a:t>実行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52F6C63-94B6-4A22-AEEF-279F24D83B97}"/>
              </a:ext>
            </a:extLst>
          </p:cNvPr>
          <p:cNvSpPr txBox="1"/>
          <p:nvPr/>
        </p:nvSpPr>
        <p:spPr>
          <a:xfrm>
            <a:off x="6762153" y="3639662"/>
            <a:ext cx="3145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RPC_PlayEffect</a:t>
            </a:r>
            <a:r>
              <a:rPr lang="ja-JP" altLang="en-US" sz="2400" dirty="0"/>
              <a:t>実行</a:t>
            </a:r>
            <a:endParaRPr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5DF58D-113C-4C47-8A48-57A8FCE8FAC8}"/>
              </a:ext>
            </a:extLst>
          </p:cNvPr>
          <p:cNvSpPr txBox="1"/>
          <p:nvPr/>
        </p:nvSpPr>
        <p:spPr>
          <a:xfrm>
            <a:off x="226102" y="4607894"/>
            <a:ext cx="33297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All</a:t>
            </a:r>
            <a:r>
              <a:rPr lang="ja-JP" altLang="en-US" dirty="0"/>
              <a:t>なのでサーバーでも</a:t>
            </a:r>
            <a:endParaRPr lang="en-US" altLang="ja-JP" dirty="0"/>
          </a:p>
          <a:p>
            <a:r>
              <a:rPr lang="en-US" altLang="ja-JP" b="1" dirty="0" err="1">
                <a:solidFill>
                  <a:srgbClr val="0070C0"/>
                </a:solidFill>
              </a:rPr>
              <a:t>RPC_PlayEffect</a:t>
            </a:r>
            <a:r>
              <a:rPr lang="ja-JP" altLang="en-US" dirty="0"/>
              <a:t>は実行する。</a:t>
            </a:r>
            <a:endParaRPr lang="en-US" altLang="ja-JP" dirty="0"/>
          </a:p>
          <a:p>
            <a:r>
              <a:rPr lang="ja-JP" altLang="en-US" dirty="0"/>
              <a:t>実は無駄だったり。。</a:t>
            </a:r>
            <a:endParaRPr lang="en-US" altLang="ja-JP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0EF38D9E-7EFC-4587-95A9-FDB5CE867C9E}"/>
              </a:ext>
            </a:extLst>
          </p:cNvPr>
          <p:cNvSpPr/>
          <p:nvPr/>
        </p:nvSpPr>
        <p:spPr>
          <a:xfrm>
            <a:off x="4831972" y="4643718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C</a:t>
            </a:r>
            <a:endParaRPr kumimoji="1" lang="ja-JP" altLang="en-US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AB42457-0921-4328-AD0E-3CAEB2050F1B}"/>
              </a:ext>
            </a:extLst>
          </p:cNvPr>
          <p:cNvSpPr txBox="1"/>
          <p:nvPr/>
        </p:nvSpPr>
        <p:spPr>
          <a:xfrm>
            <a:off x="6762152" y="4856638"/>
            <a:ext cx="3145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RPC_PlayEffect</a:t>
            </a:r>
            <a:r>
              <a:rPr lang="ja-JP" altLang="en-US" sz="2400" dirty="0"/>
              <a:t>実行</a:t>
            </a:r>
            <a:endParaRPr lang="en-US" altLang="ja-JP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FB4CD2B-51C9-4C6B-9D24-1E319000AC06}"/>
              </a:ext>
            </a:extLst>
          </p:cNvPr>
          <p:cNvSpPr txBox="1"/>
          <p:nvPr/>
        </p:nvSpPr>
        <p:spPr>
          <a:xfrm>
            <a:off x="567542" y="588183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サーバーで判定してから実行する処理によく使われます。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93034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43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ja-JP" altLang="en-US" sz="2400" dirty="0"/>
              <a:t>で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の場合は、</a:t>
            </a:r>
            <a:endParaRPr lang="en-US" altLang="ja-JP" sz="2400" dirty="0"/>
          </a:p>
          <a:p>
            <a:r>
              <a:rPr lang="ja-JP" altLang="en-US" sz="2400" dirty="0"/>
              <a:t>以下のような流れになります。</a:t>
            </a:r>
            <a:endParaRPr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2A6F57A-A9B2-4028-BB6B-D56AC104F249}"/>
              </a:ext>
            </a:extLst>
          </p:cNvPr>
          <p:cNvSpPr/>
          <p:nvPr/>
        </p:nvSpPr>
        <p:spPr>
          <a:xfrm>
            <a:off x="4965770" y="3450890"/>
            <a:ext cx="1398494" cy="88750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58508806-3477-4FBA-9FAE-2E6FC1750A8E}"/>
              </a:ext>
            </a:extLst>
          </p:cNvPr>
          <p:cNvSpPr/>
          <p:nvPr/>
        </p:nvSpPr>
        <p:spPr>
          <a:xfrm>
            <a:off x="2357718" y="2779058"/>
            <a:ext cx="2354943" cy="2185130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rgbClr val="0070C0"/>
                </a:solidFill>
              </a:rPr>
              <a:t>RPC_AttackRequest</a:t>
            </a:r>
            <a:r>
              <a:rPr kumimoji="1" lang="ja-JP" altLang="en-US" sz="1200" b="1" dirty="0"/>
              <a:t>呼出し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1C287D2-8C1E-4CBC-AC29-0FBF4D4825AA}"/>
              </a:ext>
            </a:extLst>
          </p:cNvPr>
          <p:cNvSpPr/>
          <p:nvPr/>
        </p:nvSpPr>
        <p:spPr>
          <a:xfrm>
            <a:off x="386475" y="3409065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A</a:t>
            </a:r>
            <a:endParaRPr kumimoji="1" lang="ja-JP" altLang="en-US" b="1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FB4CD2B-51C9-4C6B-9D24-1E319000AC06}"/>
              </a:ext>
            </a:extLst>
          </p:cNvPr>
          <p:cNvSpPr txBox="1"/>
          <p:nvPr/>
        </p:nvSpPr>
        <p:spPr>
          <a:xfrm>
            <a:off x="381608" y="5242711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クライアントの入力から他者にも反映させたい時に使います。</a:t>
            </a:r>
            <a:endParaRPr lang="en-US" altLang="ja-JP" sz="2400" dirty="0"/>
          </a:p>
          <a:p>
            <a:r>
              <a:rPr lang="ja-JP" altLang="en-US" sz="2400" dirty="0"/>
              <a:t>例：</a:t>
            </a:r>
            <a:r>
              <a:rPr lang="en-US" altLang="ja-JP" sz="2400" dirty="0"/>
              <a:t>RPG</a:t>
            </a:r>
            <a:r>
              <a:rPr lang="ja-JP" altLang="en-US" sz="2400" dirty="0"/>
              <a:t>のレイドバトルなど</a:t>
            </a:r>
            <a:endParaRPr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ADC94AF-FF68-454A-B5E4-D679C66497C5}"/>
              </a:ext>
            </a:extLst>
          </p:cNvPr>
          <p:cNvSpPr txBox="1"/>
          <p:nvPr/>
        </p:nvSpPr>
        <p:spPr>
          <a:xfrm>
            <a:off x="6502176" y="3640790"/>
            <a:ext cx="3810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RPC_AttackRequest</a:t>
            </a:r>
            <a:r>
              <a:rPr lang="ja-JP" altLang="en-US" sz="2400" dirty="0"/>
              <a:t>実行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676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 </a:t>
            </a:r>
            <a:r>
              <a:rPr lang="ja-JP" altLang="en-US" sz="3200" b="1" u="sng" dirty="0"/>
              <a:t>補足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44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RPC</a:t>
            </a:r>
            <a:r>
              <a:rPr lang="ja-JP" altLang="en-US" sz="2400" dirty="0"/>
              <a:t>関数はネットワーク経由で他の端末に関数を実行させる仕組みです。</a:t>
            </a:r>
            <a:endParaRPr lang="en-US" altLang="ja-JP" sz="2400" dirty="0"/>
          </a:p>
          <a:p>
            <a:r>
              <a:rPr lang="ja-JP" altLang="en-US" sz="2400" dirty="0"/>
              <a:t>よって、</a:t>
            </a:r>
            <a:r>
              <a:rPr lang="ja-JP" altLang="en-US" sz="2400" b="1" dirty="0">
                <a:solidFill>
                  <a:srgbClr val="FF0000"/>
                </a:solidFill>
              </a:rPr>
              <a:t>通信環境などで実行が遅れる端末も発生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タイミングがずれてもゲームに影響が出ないものだけに使用しましょう。</a:t>
            </a:r>
            <a:endParaRPr lang="en-US" altLang="ja-JP" sz="2400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EF25CD80-2A3F-4A51-A317-01C38FE2D519}"/>
              </a:ext>
            </a:extLst>
          </p:cNvPr>
          <p:cNvSpPr/>
          <p:nvPr/>
        </p:nvSpPr>
        <p:spPr>
          <a:xfrm>
            <a:off x="797859" y="4072200"/>
            <a:ext cx="1398494" cy="88750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60A36CA-A535-4181-822B-A5BA64D72445}"/>
              </a:ext>
            </a:extLst>
          </p:cNvPr>
          <p:cNvSpPr/>
          <p:nvPr/>
        </p:nvSpPr>
        <p:spPr>
          <a:xfrm>
            <a:off x="2447365" y="3424516"/>
            <a:ext cx="2354943" cy="2185130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rgbClr val="0070C0"/>
                </a:solidFill>
              </a:rPr>
              <a:t>RPC_PlayEffect</a:t>
            </a:r>
            <a:r>
              <a:rPr kumimoji="1" lang="ja-JP" altLang="en-US" sz="1200" b="1" dirty="0"/>
              <a:t>呼出し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5713B5A-8D02-4AA2-9E79-4DE49B9F9251}"/>
              </a:ext>
            </a:extLst>
          </p:cNvPr>
          <p:cNvSpPr/>
          <p:nvPr/>
        </p:nvSpPr>
        <p:spPr>
          <a:xfrm>
            <a:off x="4921619" y="2980764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A</a:t>
            </a:r>
          </a:p>
          <a:p>
            <a:pPr algn="ctr"/>
            <a:r>
              <a:rPr lang="ja-JP" altLang="en-US" b="1" dirty="0"/>
              <a:t>回線 最高</a:t>
            </a:r>
            <a:endParaRPr kumimoji="1" lang="ja-JP" altLang="en-US" b="1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9DF1175-4744-431D-97B9-6D7119B940D1}"/>
              </a:ext>
            </a:extLst>
          </p:cNvPr>
          <p:cNvSpPr/>
          <p:nvPr/>
        </p:nvSpPr>
        <p:spPr>
          <a:xfrm>
            <a:off x="4921618" y="4072200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B</a:t>
            </a:r>
          </a:p>
          <a:p>
            <a:pPr algn="ctr"/>
            <a:r>
              <a:rPr lang="ja-JP" altLang="en-US" b="1" dirty="0"/>
              <a:t>回線 普通</a:t>
            </a:r>
            <a:endParaRPr kumimoji="1" lang="ja-JP" altLang="en-US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19258B2-B697-413F-96CE-D1BD12CC0EC8}"/>
              </a:ext>
            </a:extLst>
          </p:cNvPr>
          <p:cNvSpPr txBox="1"/>
          <p:nvPr/>
        </p:nvSpPr>
        <p:spPr>
          <a:xfrm>
            <a:off x="7649609" y="4148862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それぞれで</a:t>
            </a:r>
            <a:endParaRPr lang="en-US" altLang="ja-JP" sz="2400" dirty="0"/>
          </a:p>
          <a:p>
            <a:r>
              <a:rPr lang="ja-JP" altLang="en-US" sz="2400" dirty="0"/>
              <a:t>実行タイミングは違う</a:t>
            </a:r>
            <a:endParaRPr lang="en-US" altLang="ja-JP" sz="2400" dirty="0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5B603F21-F1E7-448A-AA51-844C275F0799}"/>
              </a:ext>
            </a:extLst>
          </p:cNvPr>
          <p:cNvSpPr/>
          <p:nvPr/>
        </p:nvSpPr>
        <p:spPr>
          <a:xfrm>
            <a:off x="4921619" y="5289176"/>
            <a:ext cx="1810871" cy="88750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クライアント</a:t>
            </a:r>
            <a:r>
              <a:rPr kumimoji="1" lang="en-US" altLang="ja-JP" b="1" dirty="0"/>
              <a:t>C</a:t>
            </a:r>
          </a:p>
          <a:p>
            <a:pPr algn="ctr"/>
            <a:r>
              <a:rPr lang="ja-JP" altLang="en-US" b="1" dirty="0"/>
              <a:t>回線 悪い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900779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550</Words>
  <Application>Microsoft Office PowerPoint</Application>
  <PresentationFormat>ワイド画面</PresentationFormat>
  <Paragraphs>92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73</cp:revision>
  <dcterms:created xsi:type="dcterms:W3CDTF">2024-08-27T02:15:54Z</dcterms:created>
  <dcterms:modified xsi:type="dcterms:W3CDTF">2026-08-26T04:50:10Z</dcterms:modified>
</cp:coreProperties>
</file>