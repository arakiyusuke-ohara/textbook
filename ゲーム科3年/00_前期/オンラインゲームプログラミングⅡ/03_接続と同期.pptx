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1" r:id="rId16"/>
    <p:sldId id="270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2025/7/8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接続と通信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57239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キャラクターを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ネットワーク通信を使って動かします。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オンラインでゲームを動かすためには、まず</a:t>
            </a:r>
            <a:r>
              <a:rPr lang="ja-JP" altLang="en-US" sz="2400" b="1" dirty="0">
                <a:solidFill>
                  <a:srgbClr val="FF0000"/>
                </a:solidFill>
              </a:rPr>
              <a:t>サーバーに接続</a:t>
            </a:r>
            <a:r>
              <a:rPr lang="ja-JP" altLang="en-US" sz="2400" dirty="0"/>
              <a:t>しないといけません。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50D1F5C-BA3D-451B-B851-7D770FC6E8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236432"/>
            <a:ext cx="4654742" cy="2722725"/>
          </a:xfrm>
          <a:prstGeom prst="rect">
            <a:avLst/>
          </a:prstGeom>
        </p:spPr>
      </p:pic>
      <p:sp>
        <p:nvSpPr>
          <p:cNvPr id="9" name="矢印: 右 8">
            <a:extLst>
              <a:ext uri="{FF2B5EF4-FFF2-40B4-BE49-F238E27FC236}">
                <a16:creationId xmlns:a16="http://schemas.microsoft.com/office/drawing/2014/main" id="{99A3C408-BD5D-47E9-918E-DD745EA65A93}"/>
              </a:ext>
            </a:extLst>
          </p:cNvPr>
          <p:cNvSpPr/>
          <p:nvPr/>
        </p:nvSpPr>
        <p:spPr>
          <a:xfrm>
            <a:off x="5441576" y="3012141"/>
            <a:ext cx="1201271" cy="83099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/>
              <a:t>接続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A721ECF8-79EB-4288-8C33-C7EB54D043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0083" y="2236432"/>
            <a:ext cx="4479588" cy="3719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接続と通信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48153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PUN2</a:t>
            </a:r>
            <a:r>
              <a:rPr lang="ja-JP" altLang="en-US" sz="2400" dirty="0"/>
              <a:t>を使ってサーバーに接続する処理を書きます。</a:t>
            </a:r>
            <a:endParaRPr lang="en-US" altLang="ja-JP" sz="2400" dirty="0"/>
          </a:p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MyPUN.</a:t>
            </a:r>
            <a:r>
              <a:rPr lang="en-US" altLang="ja-JP" sz="2400" b="1" dirty="0" err="1">
                <a:solidFill>
                  <a:srgbClr val="FF0000"/>
                </a:solidFill>
              </a:rPr>
              <a:t>cs</a:t>
            </a:r>
            <a:r>
              <a:rPr lang="ja-JP" altLang="en-US" sz="2400" dirty="0"/>
              <a:t>を作成しましょう。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3121197-1BE2-4C65-A59F-BBB24789FA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2190577"/>
            <a:ext cx="5303317" cy="3609588"/>
          </a:xfrm>
          <a:prstGeom prst="rect">
            <a:avLst/>
          </a:prstGeom>
        </p:spPr>
      </p:pic>
      <p:sp>
        <p:nvSpPr>
          <p:cNvPr id="7" name="矢印: 右 6">
            <a:extLst>
              <a:ext uri="{FF2B5EF4-FFF2-40B4-BE49-F238E27FC236}">
                <a16:creationId xmlns:a16="http://schemas.microsoft.com/office/drawing/2014/main" id="{2375F73D-7CE2-4B7F-8419-B49C2F8BD232}"/>
              </a:ext>
            </a:extLst>
          </p:cNvPr>
          <p:cNvSpPr/>
          <p:nvPr/>
        </p:nvSpPr>
        <p:spPr>
          <a:xfrm rot="13469029">
            <a:off x="4439252" y="3986748"/>
            <a:ext cx="390558" cy="347118"/>
          </a:xfrm>
          <a:prstGeom prst="rightArrow">
            <a:avLst/>
          </a:prstGeom>
          <a:solidFill>
            <a:srgbClr val="FF000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41969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接続と通信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1379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MyPUN.</a:t>
            </a:r>
            <a:r>
              <a:rPr lang="en-US" altLang="ja-JP" sz="2400" b="1" dirty="0" err="1">
                <a:solidFill>
                  <a:srgbClr val="FF0000"/>
                </a:solidFill>
              </a:rPr>
              <a:t>cs</a:t>
            </a:r>
            <a:r>
              <a:rPr lang="ja-JP" altLang="en-US" sz="2400" dirty="0"/>
              <a:t>を書きます。（その１）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6AC4619F-EE53-4805-B399-7A3E434487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3" y="1817795"/>
            <a:ext cx="6639636" cy="454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37688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接続と通信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1379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MyPUN.</a:t>
            </a:r>
            <a:r>
              <a:rPr lang="en-US" altLang="ja-JP" sz="2400" b="1" dirty="0" err="1">
                <a:solidFill>
                  <a:srgbClr val="FF0000"/>
                </a:solidFill>
              </a:rPr>
              <a:t>cs</a:t>
            </a:r>
            <a:r>
              <a:rPr lang="ja-JP" altLang="en-US" sz="2400" dirty="0"/>
              <a:t>を書きます。（その２）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78AAD8C-2C58-4108-896B-32BE9AD3C2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11212082" cy="443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13968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742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接続と通信 解説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3212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PUN2</a:t>
            </a:r>
            <a:r>
              <a:rPr kumimoji="1" lang="ja-JP" altLang="en-US" sz="2400" dirty="0"/>
              <a:t>の機能を使うときは以下を</a:t>
            </a:r>
            <a:r>
              <a:rPr kumimoji="1" lang="en-US" altLang="ja-JP" sz="2400" b="1" dirty="0">
                <a:solidFill>
                  <a:srgbClr val="0070C0"/>
                </a:solidFill>
              </a:rPr>
              <a:t>using</a:t>
            </a:r>
            <a:r>
              <a:rPr kumimoji="1" lang="ja-JP" altLang="en-US" sz="2400" dirty="0"/>
              <a:t>しましょう。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70626AA-56F7-4E96-845D-0E75FD250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3"/>
            <a:ext cx="7129486" cy="2359759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5F66C1A-3876-40E4-8F95-096388FDA1DF}"/>
              </a:ext>
            </a:extLst>
          </p:cNvPr>
          <p:cNvSpPr/>
          <p:nvPr/>
        </p:nvSpPr>
        <p:spPr>
          <a:xfrm>
            <a:off x="567542" y="3092824"/>
            <a:ext cx="4865070" cy="98611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318258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742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接続と通信 解説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7893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PUN2</a:t>
            </a:r>
            <a:r>
              <a:rPr kumimoji="1" lang="ja-JP" altLang="en-US" sz="2400" dirty="0"/>
              <a:t>の機能を使うときは専用のクラスを継承します。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E4BA234F-3CCD-4FA0-B5BE-5064D54B71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10737404" cy="1436394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57C0CBC5-55A6-4D47-8414-F1CE5540A9FB}"/>
              </a:ext>
            </a:extLst>
          </p:cNvPr>
          <p:cNvSpPr/>
          <p:nvPr/>
        </p:nvSpPr>
        <p:spPr>
          <a:xfrm>
            <a:off x="5776036" y="2124636"/>
            <a:ext cx="4694740" cy="43030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419200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742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接続と通信 解説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23256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0070C0"/>
                </a:solidFill>
              </a:rPr>
              <a:t>ConnectUsingSettings</a:t>
            </a:r>
            <a:r>
              <a:rPr kumimoji="1" lang="ja-JP" altLang="en-US" sz="2400" b="1" dirty="0">
                <a:solidFill>
                  <a:srgbClr val="0070C0"/>
                </a:solidFill>
              </a:rPr>
              <a:t>関数</a:t>
            </a:r>
            <a:r>
              <a:rPr kumimoji="1" lang="ja-JP" altLang="en-US" sz="2400" dirty="0"/>
              <a:t>で設定ファイルに基づいてサーバーに接続します。</a:t>
            </a:r>
            <a:endParaRPr kumimoji="1" lang="en-US" altLang="ja-JP" sz="2400" dirty="0"/>
          </a:p>
          <a:p>
            <a:r>
              <a:rPr lang="ja-JP" altLang="en-US" sz="2400" dirty="0"/>
              <a:t>今回はゲーム開始後にすぐ接続するので</a:t>
            </a:r>
            <a:r>
              <a:rPr lang="en-US" altLang="ja-JP" sz="2400" b="1" dirty="0">
                <a:solidFill>
                  <a:srgbClr val="0070C0"/>
                </a:solidFill>
              </a:rPr>
              <a:t>Start</a:t>
            </a:r>
            <a:r>
              <a:rPr lang="ja-JP" altLang="en-US" sz="2400" b="1" dirty="0">
                <a:solidFill>
                  <a:srgbClr val="0070C0"/>
                </a:solidFill>
              </a:rPr>
              <a:t>関数</a:t>
            </a:r>
            <a:r>
              <a:rPr lang="ja-JP" altLang="en-US" sz="2400" dirty="0"/>
              <a:t>で呼んでいます。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79BC41F-A374-4B87-A807-9E9C19C844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7278372" cy="2851039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743E9E7-9B28-41C0-BC82-5813696E96D9}"/>
              </a:ext>
            </a:extLst>
          </p:cNvPr>
          <p:cNvSpPr/>
          <p:nvPr/>
        </p:nvSpPr>
        <p:spPr>
          <a:xfrm>
            <a:off x="1302646" y="3765178"/>
            <a:ext cx="6543267" cy="95025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265288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742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接続と通信 解説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95176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接続が完了したら</a:t>
            </a:r>
            <a:r>
              <a:rPr kumimoji="1" lang="en-US" altLang="ja-JP" sz="2400" b="1" dirty="0" err="1">
                <a:solidFill>
                  <a:srgbClr val="0070C0"/>
                </a:solidFill>
              </a:rPr>
              <a:t>OnConnectedToMaster</a:t>
            </a:r>
            <a:r>
              <a:rPr kumimoji="1" lang="ja-JP" altLang="en-US" sz="2400" b="1" dirty="0">
                <a:solidFill>
                  <a:srgbClr val="0070C0"/>
                </a:solidFill>
              </a:rPr>
              <a:t>関数</a:t>
            </a:r>
            <a:r>
              <a:rPr kumimoji="1" lang="ja-JP" altLang="en-US" sz="2400" dirty="0"/>
              <a:t>が自動で呼ばれます。</a:t>
            </a:r>
            <a:endParaRPr kumimoji="1" lang="en-US" altLang="ja-JP" sz="2400" dirty="0"/>
          </a:p>
          <a:p>
            <a:r>
              <a:rPr kumimoji="1" lang="ja-JP" altLang="en-US" sz="2400" dirty="0"/>
              <a:t>継承したクラスの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仮想関数</a:t>
            </a:r>
            <a:r>
              <a:rPr kumimoji="1" lang="ja-JP" altLang="en-US" sz="2400" dirty="0"/>
              <a:t>なので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override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すれば処理を自作できます。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BA1BE77-8B7A-447F-9492-E29D709452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10607778" cy="2411768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BE4B349-F17F-4C00-BD31-3921FBFE80B0}"/>
              </a:ext>
            </a:extLst>
          </p:cNvPr>
          <p:cNvSpPr/>
          <p:nvPr/>
        </p:nvSpPr>
        <p:spPr>
          <a:xfrm>
            <a:off x="684082" y="2303930"/>
            <a:ext cx="5411917" cy="86957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091139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742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接続と通信 解説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53470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PUN2</a:t>
            </a:r>
            <a:r>
              <a:rPr kumimoji="1" lang="ja-JP" altLang="en-US" sz="2400" dirty="0"/>
              <a:t>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ルーム</a:t>
            </a:r>
            <a:r>
              <a:rPr kumimoji="1" lang="ja-JP" altLang="en-US" sz="2400" dirty="0"/>
              <a:t>を作ることにより、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ルーム内のすべてのクライアントと情報を共有</a:t>
            </a:r>
            <a:r>
              <a:rPr lang="ja-JP" altLang="en-US" sz="2400" dirty="0"/>
              <a:t>します。</a:t>
            </a:r>
            <a:endParaRPr lang="en-US" altLang="ja-JP" sz="2400" dirty="0"/>
          </a:p>
          <a:p>
            <a:r>
              <a:rPr kumimoji="1" lang="ja-JP" altLang="en-US" sz="2400" dirty="0"/>
              <a:t>ルームは</a:t>
            </a:r>
            <a:r>
              <a:rPr kumimoji="1" lang="en-US" altLang="ja-JP" sz="2400" b="1" dirty="0" err="1">
                <a:solidFill>
                  <a:srgbClr val="0070C0"/>
                </a:solidFill>
              </a:rPr>
              <a:t>JoinOrCreateRoom</a:t>
            </a:r>
            <a:r>
              <a:rPr kumimoji="1" lang="ja-JP" altLang="en-US" sz="2400" b="1" dirty="0">
                <a:solidFill>
                  <a:srgbClr val="0070C0"/>
                </a:solidFill>
              </a:rPr>
              <a:t>関数</a:t>
            </a:r>
            <a:r>
              <a:rPr kumimoji="1" lang="ja-JP" altLang="en-US" sz="2400" dirty="0"/>
              <a:t>で作成、参加ができます。</a:t>
            </a:r>
            <a:endParaRPr kumimoji="1"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54D65FEE-15B0-4DA9-AA6C-4A6F7FEDEB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556458"/>
            <a:ext cx="10607778" cy="2411768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ACF6B3B-7E50-473F-8C8E-0F324C91EDDA}"/>
              </a:ext>
            </a:extLst>
          </p:cNvPr>
          <p:cNvSpPr/>
          <p:nvPr/>
        </p:nvSpPr>
        <p:spPr>
          <a:xfrm>
            <a:off x="1176690" y="3639671"/>
            <a:ext cx="9998629" cy="115644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67284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742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接続と通信 解説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12969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ルームへの参加が完了したら</a:t>
            </a:r>
            <a:r>
              <a:rPr kumimoji="1" lang="en-US" altLang="ja-JP" sz="2400" b="1" dirty="0" err="1">
                <a:solidFill>
                  <a:srgbClr val="0070C0"/>
                </a:solidFill>
              </a:rPr>
              <a:t>OnJoinedRoom</a:t>
            </a:r>
            <a:r>
              <a:rPr kumimoji="1" lang="ja-JP" altLang="en-US" sz="2400" b="1" dirty="0">
                <a:solidFill>
                  <a:srgbClr val="0070C0"/>
                </a:solidFill>
              </a:rPr>
              <a:t>関数</a:t>
            </a:r>
            <a:r>
              <a:rPr kumimoji="1" lang="ja-JP" altLang="en-US" sz="2400" dirty="0"/>
              <a:t>が自動で呼ばれます。</a:t>
            </a:r>
            <a:endParaRPr kumimoji="1" lang="en-US" altLang="ja-JP" sz="2400" dirty="0"/>
          </a:p>
          <a:p>
            <a:r>
              <a:rPr lang="ja-JP" altLang="en-US" sz="2400" dirty="0"/>
              <a:t>この関数も</a:t>
            </a:r>
            <a:r>
              <a:rPr lang="ja-JP" altLang="en-US" sz="2400" b="1" dirty="0">
                <a:solidFill>
                  <a:srgbClr val="FF0000"/>
                </a:solidFill>
              </a:rPr>
              <a:t>仮想関数</a:t>
            </a:r>
            <a:r>
              <a:rPr lang="ja-JP" altLang="en-US" sz="2400" dirty="0"/>
              <a:t>なので</a:t>
            </a:r>
            <a:r>
              <a:rPr lang="en-US" altLang="ja-JP" sz="2400" b="1" dirty="0">
                <a:solidFill>
                  <a:srgbClr val="0070C0"/>
                </a:solidFill>
              </a:rPr>
              <a:t>override</a:t>
            </a:r>
            <a:r>
              <a:rPr lang="ja-JP" altLang="en-US" sz="2400" dirty="0"/>
              <a:t>すれば処理を自作できます。</a:t>
            </a:r>
            <a:endParaRPr kumimoji="1" lang="en-US" altLang="ja-JP" sz="2400" dirty="0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70F9DE78-B6A7-4290-89B9-EE90B2D53F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4363059" cy="1743318"/>
          </a:xfrm>
          <a:prstGeom prst="rect">
            <a:avLst/>
          </a:prstGeom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BB3F0CCB-6CC6-4EEB-9FE9-E02EBD0F79FE}"/>
              </a:ext>
            </a:extLst>
          </p:cNvPr>
          <p:cNvSpPr/>
          <p:nvPr/>
        </p:nvSpPr>
        <p:spPr>
          <a:xfrm>
            <a:off x="567541" y="2227787"/>
            <a:ext cx="4363059" cy="83099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1A226ED3-7F0E-4F74-A7B6-2A23ABDD7B47}"/>
              </a:ext>
            </a:extLst>
          </p:cNvPr>
          <p:cNvSpPr txBox="1"/>
          <p:nvPr/>
        </p:nvSpPr>
        <p:spPr>
          <a:xfrm>
            <a:off x="567541" y="4110805"/>
            <a:ext cx="9725739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処理は後ほど書きます。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dirty="0"/>
              <a:t>ここまでが</a:t>
            </a:r>
            <a:r>
              <a:rPr lang="ja-JP" altLang="en-US" sz="2400" b="1" dirty="0">
                <a:solidFill>
                  <a:srgbClr val="FF0000"/>
                </a:solidFill>
              </a:rPr>
              <a:t>接続に必要な最低限のプログラム</a:t>
            </a:r>
            <a:r>
              <a:rPr lang="ja-JP" altLang="en-US" sz="2400" dirty="0"/>
              <a:t>となります。</a:t>
            </a:r>
            <a:endParaRPr lang="en-US" altLang="ja-JP" sz="2400" dirty="0"/>
          </a:p>
          <a:p>
            <a:r>
              <a:rPr kumimoji="1" lang="ja-JP" altLang="en-US" sz="2400" dirty="0"/>
              <a:t>続いて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キャラクターの情報をサーバーへ送信する機能</a:t>
            </a:r>
            <a:r>
              <a:rPr kumimoji="1" lang="ja-JP" altLang="en-US" sz="2400" dirty="0"/>
              <a:t>を実装します。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6485662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接続と通信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61352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「</a:t>
            </a:r>
            <a:r>
              <a:rPr lang="en-US" altLang="ja-JP" sz="2400" b="1" dirty="0" err="1">
                <a:solidFill>
                  <a:srgbClr val="FF0000"/>
                </a:solidFill>
              </a:rPr>
              <a:t>MyUnityChan</a:t>
            </a:r>
            <a:r>
              <a:rPr lang="en-US" altLang="ja-JP" sz="2400" b="1" dirty="0">
                <a:solidFill>
                  <a:srgbClr val="FF0000"/>
                </a:solidFill>
              </a:rPr>
              <a:t> &gt; Character &gt; </a:t>
            </a:r>
            <a:r>
              <a:rPr lang="en-US" altLang="ja-JP" sz="2400" b="1" dirty="0" err="1">
                <a:solidFill>
                  <a:srgbClr val="FF0000"/>
                </a:solidFill>
              </a:rPr>
              <a:t>UnityChan.prefab</a:t>
            </a:r>
            <a:r>
              <a:rPr lang="ja-JP" altLang="en-US" sz="2400" dirty="0"/>
              <a:t>」を開きます。</a:t>
            </a:r>
            <a:endParaRPr lang="en-US" altLang="ja-JP" sz="2400" dirty="0"/>
          </a:p>
          <a:p>
            <a:r>
              <a:rPr kumimoji="1" lang="ja-JP" altLang="en-US" sz="2400" dirty="0"/>
              <a:t>すでに移動操作などは、いつも通り実装されています。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EBC1D5C-7ADD-4377-B03A-8F53C0C584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6054468" cy="3648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5296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接続と通信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64797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まずは</a:t>
            </a:r>
            <a:r>
              <a:rPr lang="en-US" altLang="ja-JP" sz="2400" b="1" dirty="0" err="1">
                <a:solidFill>
                  <a:srgbClr val="FF0000"/>
                </a:solidFill>
              </a:rPr>
              <a:t>PhotonView.cs</a:t>
            </a:r>
            <a:r>
              <a:rPr lang="ja-JP" altLang="en-US" sz="2400" dirty="0"/>
              <a:t>を追加します。</a:t>
            </a:r>
            <a:endParaRPr lang="en-US" altLang="ja-JP" sz="2400" dirty="0"/>
          </a:p>
          <a:p>
            <a:r>
              <a:rPr kumimoji="1" lang="ja-JP" altLang="en-US" sz="2400" dirty="0"/>
              <a:t>通信の基本設定を行うスクリプトになります。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15F55DA-4218-42DC-BF81-4692775E0B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43577"/>
            <a:ext cx="4524411" cy="3652359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ACC0459-C30A-4E1C-AF00-65AE2374BD6E}"/>
              </a:ext>
            </a:extLst>
          </p:cNvPr>
          <p:cNvSpPr txBox="1"/>
          <p:nvPr/>
        </p:nvSpPr>
        <p:spPr>
          <a:xfrm>
            <a:off x="567542" y="5904381"/>
            <a:ext cx="48013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設定は特に変えなくて良いです。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663255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接続と通信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5702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続いて</a:t>
            </a:r>
            <a:r>
              <a:rPr lang="en-US" altLang="ja-JP" sz="2400" b="1" dirty="0" err="1">
                <a:solidFill>
                  <a:srgbClr val="FF0000"/>
                </a:solidFill>
              </a:rPr>
              <a:t>PhotonTransformView.cs</a:t>
            </a:r>
            <a:r>
              <a:rPr lang="ja-JP" altLang="en-US" sz="2400" dirty="0"/>
              <a:t>を追加します。</a:t>
            </a:r>
            <a:endParaRPr lang="en-US" altLang="ja-JP" sz="2400" dirty="0"/>
          </a:p>
          <a:p>
            <a:r>
              <a:rPr kumimoji="1" lang="ja-JP" altLang="en-US" sz="2400" dirty="0"/>
              <a:t>これはオブジェクトの</a:t>
            </a:r>
            <a:r>
              <a:rPr kumimoji="1" lang="en-US" altLang="ja-JP" sz="2400" dirty="0"/>
              <a:t>transform</a:t>
            </a:r>
            <a:r>
              <a:rPr kumimoji="1" lang="ja-JP" altLang="en-US" sz="2400" dirty="0"/>
              <a:t>を通信するスクリプトになります。</a:t>
            </a:r>
            <a:endParaRPr kumimoji="1" lang="en-US" altLang="ja-JP" sz="24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ACC0459-C30A-4E1C-AF00-65AE2374BD6E}"/>
              </a:ext>
            </a:extLst>
          </p:cNvPr>
          <p:cNvSpPr txBox="1"/>
          <p:nvPr/>
        </p:nvSpPr>
        <p:spPr>
          <a:xfrm>
            <a:off x="567542" y="4702735"/>
            <a:ext cx="106490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これで</a:t>
            </a:r>
            <a:r>
              <a:rPr lang="ja-JP" altLang="en-US" sz="2400" b="1" dirty="0">
                <a:solidFill>
                  <a:srgbClr val="FF0000"/>
                </a:solidFill>
              </a:rPr>
              <a:t>座標、回転、拡縮をルーム内のユーザーと共有</a:t>
            </a:r>
            <a:r>
              <a:rPr lang="ja-JP" altLang="en-US" sz="2400" dirty="0"/>
              <a:t>することができます。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674620D6-F9E3-4075-879F-9F9696C87F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5124510" cy="2375909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6B6B827-E612-4DEE-8135-627F2A60FD28}"/>
              </a:ext>
            </a:extLst>
          </p:cNvPr>
          <p:cNvSpPr txBox="1"/>
          <p:nvPr/>
        </p:nvSpPr>
        <p:spPr>
          <a:xfrm>
            <a:off x="3129797" y="2967335"/>
            <a:ext cx="5109091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共有するデータにチェックを入れる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267519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接続と通信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続いて</a:t>
            </a:r>
            <a:r>
              <a:rPr lang="en-US" altLang="ja-JP" sz="2400" b="1" dirty="0" err="1">
                <a:solidFill>
                  <a:srgbClr val="FF0000"/>
                </a:solidFill>
              </a:rPr>
              <a:t>PhotonAnimatorView.cs</a:t>
            </a:r>
            <a:r>
              <a:rPr lang="ja-JP" altLang="en-US" sz="2400" dirty="0"/>
              <a:t>を追加します。</a:t>
            </a:r>
            <a:endParaRPr lang="en-US" altLang="ja-JP" sz="2400" dirty="0"/>
          </a:p>
          <a:p>
            <a:r>
              <a:rPr kumimoji="1" lang="ja-JP" altLang="en-US" sz="2400" dirty="0"/>
              <a:t>これはアニメーションの情報を通信するスクリプトになります。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F0C9C64-44AE-426E-9C2A-78367132CB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5265158" cy="2384874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2D2B7AD1-2F87-42D7-A38E-FABD776F040A}"/>
              </a:ext>
            </a:extLst>
          </p:cNvPr>
          <p:cNvSpPr txBox="1"/>
          <p:nvPr/>
        </p:nvSpPr>
        <p:spPr>
          <a:xfrm>
            <a:off x="567542" y="4711700"/>
            <a:ext cx="11530721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Synchronize</a:t>
            </a:r>
            <a:r>
              <a:rPr lang="ja-JP" altLang="en-US" sz="2400" dirty="0"/>
              <a:t>の設定は</a:t>
            </a:r>
            <a:r>
              <a:rPr lang="ja-JP" altLang="en-US" sz="2400" b="1" dirty="0">
                <a:solidFill>
                  <a:srgbClr val="FF0000"/>
                </a:solidFill>
              </a:rPr>
              <a:t>どれだけ精密に同期するか（揃えるか）</a:t>
            </a:r>
            <a:r>
              <a:rPr lang="ja-JP" altLang="en-US" sz="2400" dirty="0"/>
              <a:t>を設定します。</a:t>
            </a:r>
            <a:endParaRPr lang="en-US" altLang="ja-JP" sz="2400" dirty="0"/>
          </a:p>
          <a:p>
            <a:r>
              <a:rPr kumimoji="1" lang="en-US" altLang="ja-JP" sz="2400" dirty="0"/>
              <a:t>Disabled</a:t>
            </a:r>
            <a:r>
              <a:rPr lang="ja-JP" altLang="en-US" sz="2400" dirty="0"/>
              <a:t>・・・同期しない。見た目をそろえる必要がない場合に使う</a:t>
            </a:r>
            <a:endParaRPr lang="en-US" altLang="ja-JP" sz="2400" dirty="0"/>
          </a:p>
          <a:p>
            <a:r>
              <a:rPr kumimoji="1" lang="en-US" altLang="ja-JP" sz="2400" dirty="0"/>
              <a:t>Discrete</a:t>
            </a:r>
            <a:r>
              <a:rPr kumimoji="1" lang="ja-JP" altLang="en-US" sz="2400" dirty="0"/>
              <a:t>・・・切り替わったら同期する。それほど精密にそろえなくていい場合。</a:t>
            </a:r>
            <a:endParaRPr kumimoji="1" lang="en-US" altLang="ja-JP" sz="2400" dirty="0"/>
          </a:p>
          <a:p>
            <a:r>
              <a:rPr lang="en-US" altLang="ja-JP" sz="2400" dirty="0"/>
              <a:t>Continuous</a:t>
            </a:r>
            <a:r>
              <a:rPr lang="ja-JP" altLang="en-US" sz="2400" dirty="0"/>
              <a:t>・・・連続で同期する。精密にそろえたい場合。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7569910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接続と通信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最後に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操作入力のあるスクリプトを非アクティブ</a:t>
            </a:r>
            <a:r>
              <a:rPr kumimoji="1" lang="ja-JP" altLang="en-US" sz="2400" dirty="0"/>
              <a:t>にしましょう。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61B71A3-3612-4077-97D7-BC016B92AF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7977500" cy="1866700"/>
          </a:xfrm>
          <a:prstGeom prst="rect">
            <a:avLst/>
          </a:prstGeom>
        </p:spPr>
      </p:pic>
      <p:sp>
        <p:nvSpPr>
          <p:cNvPr id="8" name="矢印: 右 7">
            <a:extLst>
              <a:ext uri="{FF2B5EF4-FFF2-40B4-BE49-F238E27FC236}">
                <a16:creationId xmlns:a16="http://schemas.microsoft.com/office/drawing/2014/main" id="{1A5C471C-2D88-4F0D-8DFA-EAE36DE99204}"/>
              </a:ext>
            </a:extLst>
          </p:cNvPr>
          <p:cNvSpPr/>
          <p:nvPr/>
        </p:nvSpPr>
        <p:spPr>
          <a:xfrm rot="13469029">
            <a:off x="1490518" y="2238631"/>
            <a:ext cx="390558" cy="347118"/>
          </a:xfrm>
          <a:prstGeom prst="rightArrow">
            <a:avLst/>
          </a:prstGeom>
          <a:solidFill>
            <a:srgbClr val="FF000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DA4D84BD-D5AB-4522-8BE8-305F09B3F68C}"/>
              </a:ext>
            </a:extLst>
          </p:cNvPr>
          <p:cNvSpPr txBox="1"/>
          <p:nvPr/>
        </p:nvSpPr>
        <p:spPr>
          <a:xfrm>
            <a:off x="567542" y="3824194"/>
            <a:ext cx="705513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これをしないと２</a:t>
            </a:r>
            <a:r>
              <a:rPr kumimoji="1" lang="en-US" altLang="ja-JP" sz="2400" dirty="0"/>
              <a:t>P</a:t>
            </a:r>
            <a:r>
              <a:rPr kumimoji="1" lang="ja-JP" altLang="en-US" sz="2400" dirty="0"/>
              <a:t>、３</a:t>
            </a:r>
            <a:r>
              <a:rPr kumimoji="1" lang="en-US" altLang="ja-JP" sz="2400" dirty="0"/>
              <a:t>P</a:t>
            </a:r>
            <a:r>
              <a:rPr kumimoji="1" lang="ja-JP" altLang="en-US" sz="2400" dirty="0"/>
              <a:t>が参加してきたときに、</a:t>
            </a:r>
            <a:endParaRPr kumimoji="1" lang="en-US" altLang="ja-JP" sz="2400" dirty="0"/>
          </a:p>
          <a:p>
            <a:r>
              <a:rPr lang="ja-JP" altLang="en-US" sz="2400" dirty="0"/>
              <a:t>全プレイヤーを操作できてしまいます。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991279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接続と通信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05728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ここまでを保存したら、</a:t>
            </a:r>
            <a:r>
              <a:rPr lang="en-US" altLang="ja-JP" sz="2400" b="1" dirty="0">
                <a:solidFill>
                  <a:srgbClr val="FF0000"/>
                </a:solidFill>
              </a:rPr>
              <a:t>Resources</a:t>
            </a:r>
            <a:r>
              <a:rPr lang="ja-JP" altLang="en-US" sz="2400" b="1" dirty="0">
                <a:solidFill>
                  <a:srgbClr val="FF0000"/>
                </a:solidFill>
              </a:rPr>
              <a:t>フォルダ</a:t>
            </a:r>
            <a:r>
              <a:rPr lang="ja-JP" altLang="en-US" sz="2400" dirty="0"/>
              <a:t>を作成しましょう。</a:t>
            </a:r>
            <a:endParaRPr lang="en-US" altLang="ja-JP" sz="2400" dirty="0"/>
          </a:p>
          <a:p>
            <a:r>
              <a:rPr kumimoji="1" lang="ja-JP" altLang="en-US" sz="2400" dirty="0"/>
              <a:t>その中に</a:t>
            </a:r>
            <a:r>
              <a:rPr kumimoji="1" lang="en-US" altLang="ja-JP" sz="2400" b="1" dirty="0">
                <a:solidFill>
                  <a:srgbClr val="0070C0"/>
                </a:solidFill>
              </a:rPr>
              <a:t>Prefab</a:t>
            </a:r>
            <a:r>
              <a:rPr kumimoji="1" lang="ja-JP" altLang="en-US" sz="2400" dirty="0"/>
              <a:t>を移動します。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A3293BB-75F6-4180-BAD9-8506C6809E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2187125"/>
            <a:ext cx="5465705" cy="4061111"/>
          </a:xfrm>
          <a:prstGeom prst="rect">
            <a:avLst/>
          </a:prstGeom>
        </p:spPr>
      </p:pic>
      <p:sp>
        <p:nvSpPr>
          <p:cNvPr id="8" name="矢印: 右 7">
            <a:extLst>
              <a:ext uri="{FF2B5EF4-FFF2-40B4-BE49-F238E27FC236}">
                <a16:creationId xmlns:a16="http://schemas.microsoft.com/office/drawing/2014/main" id="{A4162889-689D-4AB1-8E0F-3F1AB50F479F}"/>
              </a:ext>
            </a:extLst>
          </p:cNvPr>
          <p:cNvSpPr/>
          <p:nvPr/>
        </p:nvSpPr>
        <p:spPr>
          <a:xfrm rot="13469029">
            <a:off x="1751453" y="4963902"/>
            <a:ext cx="390558" cy="347118"/>
          </a:xfrm>
          <a:prstGeom prst="rightArrow">
            <a:avLst/>
          </a:prstGeom>
          <a:solidFill>
            <a:srgbClr val="FF000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矢印: 右 9">
            <a:extLst>
              <a:ext uri="{FF2B5EF4-FFF2-40B4-BE49-F238E27FC236}">
                <a16:creationId xmlns:a16="http://schemas.microsoft.com/office/drawing/2014/main" id="{D5411959-A388-4204-80BB-05F5B1F18EC1}"/>
              </a:ext>
            </a:extLst>
          </p:cNvPr>
          <p:cNvSpPr/>
          <p:nvPr/>
        </p:nvSpPr>
        <p:spPr>
          <a:xfrm rot="13469029">
            <a:off x="4900907" y="4304781"/>
            <a:ext cx="390558" cy="347118"/>
          </a:xfrm>
          <a:prstGeom prst="rightArrow">
            <a:avLst/>
          </a:prstGeom>
          <a:solidFill>
            <a:srgbClr val="FF000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767513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接続と通信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2052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0070C0"/>
                </a:solidFill>
              </a:rPr>
              <a:t>OnJoinedRoom</a:t>
            </a:r>
            <a:r>
              <a:rPr kumimoji="1" lang="ja-JP" altLang="en-US" sz="2400" b="1" dirty="0">
                <a:solidFill>
                  <a:srgbClr val="0070C0"/>
                </a:solidFill>
              </a:rPr>
              <a:t>関数</a:t>
            </a:r>
            <a:r>
              <a:rPr kumimoji="1" lang="ja-JP" altLang="en-US" sz="2400" dirty="0"/>
              <a:t>を実装します。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23DFF5E-1BE5-4940-9711-8345284529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10943140" cy="2246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84176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接続と通信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08453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データ通信が必要なオブジェクトは</a:t>
            </a:r>
            <a:endParaRPr kumimoji="1" lang="en-US" altLang="ja-JP" sz="2400" dirty="0"/>
          </a:p>
          <a:p>
            <a:r>
              <a:rPr kumimoji="1" lang="en-US" altLang="ja-JP" sz="2400" b="1" dirty="0" err="1">
                <a:solidFill>
                  <a:srgbClr val="00B050"/>
                </a:solidFill>
              </a:rPr>
              <a:t>PhotonNetwork</a:t>
            </a:r>
            <a:r>
              <a:rPr kumimoji="1" lang="ja-JP" altLang="en-US" sz="2400" b="1" dirty="0">
                <a:solidFill>
                  <a:srgbClr val="00B050"/>
                </a:solidFill>
              </a:rPr>
              <a:t>クラス</a:t>
            </a:r>
            <a:r>
              <a:rPr kumimoji="1" lang="ja-JP" altLang="en-US" sz="2400" dirty="0"/>
              <a:t>の</a:t>
            </a:r>
            <a:r>
              <a:rPr kumimoji="1" lang="en-US" altLang="ja-JP" sz="2400" b="1" dirty="0">
                <a:solidFill>
                  <a:srgbClr val="0070C0"/>
                </a:solidFill>
              </a:rPr>
              <a:t>Instantiate</a:t>
            </a:r>
            <a:r>
              <a:rPr kumimoji="1" lang="ja-JP" altLang="en-US" sz="2400" b="1" dirty="0">
                <a:solidFill>
                  <a:srgbClr val="0070C0"/>
                </a:solidFill>
              </a:rPr>
              <a:t>関数</a:t>
            </a:r>
            <a:r>
              <a:rPr kumimoji="1" lang="ja-JP" altLang="en-US" sz="2400" dirty="0"/>
              <a:t>を使って生成します。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23DFF5E-1BE5-4940-9711-8345284529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10943140" cy="2246457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3BD1050-19F5-446F-8D47-8B24CE6DB574}"/>
              </a:ext>
            </a:extLst>
          </p:cNvPr>
          <p:cNvSpPr txBox="1"/>
          <p:nvPr/>
        </p:nvSpPr>
        <p:spPr>
          <a:xfrm>
            <a:off x="567542" y="4573283"/>
            <a:ext cx="93169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Resources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フォルダ</a:t>
            </a:r>
            <a:r>
              <a:rPr kumimoji="1" lang="ja-JP" altLang="en-US" sz="2400" dirty="0"/>
              <a:t>にある「</a:t>
            </a:r>
            <a:r>
              <a:rPr kumimoji="1" lang="en-US" altLang="ja-JP" sz="2400" b="1" dirty="0" err="1">
                <a:solidFill>
                  <a:srgbClr val="0070C0"/>
                </a:solidFill>
              </a:rPr>
              <a:t>UnityChan.prefab</a:t>
            </a:r>
            <a:r>
              <a:rPr kumimoji="1" lang="ja-JP" altLang="en-US" sz="2400" dirty="0"/>
              <a:t>」を生成します。</a:t>
            </a:r>
            <a:endParaRPr kumimoji="1" lang="en-US" altLang="ja-JP" sz="2400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CD0C391F-A111-4FB3-977F-B3E05FA1462B}"/>
              </a:ext>
            </a:extLst>
          </p:cNvPr>
          <p:cNvSpPr/>
          <p:nvPr/>
        </p:nvSpPr>
        <p:spPr>
          <a:xfrm>
            <a:off x="2073612" y="2894855"/>
            <a:ext cx="9437070" cy="53414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923549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接続と通信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78372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入力操作のスクリプトを</a:t>
            </a:r>
            <a:r>
              <a:rPr kumimoji="1" lang="en-US" altLang="ja-JP" sz="2400" dirty="0"/>
              <a:t>OFF</a:t>
            </a:r>
            <a:r>
              <a:rPr kumimoji="1" lang="ja-JP" altLang="en-US" sz="2400" dirty="0"/>
              <a:t>にしているので、プログラムから</a:t>
            </a:r>
            <a:r>
              <a:rPr kumimoji="1" lang="en-US" altLang="ja-JP" sz="2400" dirty="0"/>
              <a:t>ON</a:t>
            </a:r>
            <a:r>
              <a:rPr kumimoji="1" lang="ja-JP" altLang="en-US" sz="2400" dirty="0"/>
              <a:t>にします。</a:t>
            </a:r>
            <a:endParaRPr kumimoji="1" lang="en-US" altLang="ja-JP" sz="2400" dirty="0"/>
          </a:p>
          <a:p>
            <a:r>
              <a:rPr lang="ja-JP" altLang="en-US" sz="2400" dirty="0"/>
              <a:t>これで</a:t>
            </a:r>
            <a:r>
              <a:rPr lang="ja-JP" altLang="en-US" sz="2400" b="1" dirty="0">
                <a:solidFill>
                  <a:srgbClr val="FF0000"/>
                </a:solidFill>
              </a:rPr>
              <a:t>自分で生成したキャラクターだけ操作できます。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4CBA927F-6484-475D-BA53-7EBB9F8AB4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10943140" cy="2246457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FD323B15-7CED-43C2-BF5E-5C35F94C8F3B}"/>
              </a:ext>
            </a:extLst>
          </p:cNvPr>
          <p:cNvSpPr/>
          <p:nvPr/>
        </p:nvSpPr>
        <p:spPr>
          <a:xfrm>
            <a:off x="2073612" y="3346214"/>
            <a:ext cx="5734647" cy="71479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157053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接続と通信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979014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実行すると以下の順番で処理が実行されます。</a:t>
            </a:r>
            <a:endParaRPr lang="en-US" altLang="ja-JP" sz="2400" dirty="0"/>
          </a:p>
          <a:p>
            <a:r>
              <a:rPr kumimoji="1" lang="ja-JP" altLang="en-US" sz="2400" dirty="0"/>
              <a:t>１．サーバーに接続</a:t>
            </a:r>
            <a:endParaRPr kumimoji="1" lang="en-US" altLang="ja-JP" sz="2400" dirty="0"/>
          </a:p>
          <a:p>
            <a:r>
              <a:rPr lang="ja-JP" altLang="en-US" sz="2400" dirty="0"/>
              <a:t>２．ルーム作成、参加</a:t>
            </a:r>
            <a:endParaRPr lang="en-US" altLang="ja-JP" sz="2400" dirty="0"/>
          </a:p>
          <a:p>
            <a:r>
              <a:rPr kumimoji="1" lang="ja-JP" altLang="en-US" sz="2400" dirty="0"/>
              <a:t>３．</a:t>
            </a:r>
            <a:r>
              <a:rPr kumimoji="1" lang="en-US" altLang="ja-JP" sz="2400" dirty="0" err="1"/>
              <a:t>UnityChan</a:t>
            </a:r>
            <a:r>
              <a:rPr kumimoji="1" lang="ja-JP" altLang="en-US" sz="2400" dirty="0"/>
              <a:t>生成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既にヒエラルキーにある</a:t>
            </a:r>
            <a:r>
              <a:rPr lang="en-US" altLang="ja-JP" sz="2400" dirty="0" err="1"/>
              <a:t>UnityChan</a:t>
            </a:r>
            <a:r>
              <a:rPr lang="ja-JP" altLang="en-US" sz="2400" dirty="0"/>
              <a:t>を削除して、</a:t>
            </a:r>
            <a:r>
              <a:rPr kumimoji="1" lang="ja-JP" altLang="en-US" sz="2400" dirty="0"/>
              <a:t>動作確認しましょう。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7046534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259</TotalTime>
  <Words>641</Words>
  <Application>Microsoft Office PowerPoint</Application>
  <PresentationFormat>ワイド画面</PresentationFormat>
  <Paragraphs>75</Paragraphs>
  <Slides>20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20</vt:i4>
      </vt:variant>
    </vt:vector>
  </HeadingPairs>
  <TitlesOfParts>
    <vt:vector size="24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情報北九州校 倉掛</cp:lastModifiedBy>
  <cp:revision>33</cp:revision>
  <dcterms:created xsi:type="dcterms:W3CDTF">2024-08-27T02:15:54Z</dcterms:created>
  <dcterms:modified xsi:type="dcterms:W3CDTF">2025-07-08T02:43:46Z</dcterms:modified>
</cp:coreProperties>
</file>