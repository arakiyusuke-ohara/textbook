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2026/8/28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2026/8/28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174267" cy="584775"/>
          </a:xfrm>
          <a:prstGeom prst="rect">
            <a:avLst/>
          </a:prstGeom>
          <a:noFill/>
        </p:spPr>
        <p:txBody>
          <a:bodyPr wrap="none" rtlCol="0">
            <a:spAutoFit/>
          </a:bodyPr>
          <a:lstStyle/>
          <a:p>
            <a:r>
              <a:rPr kumimoji="1" lang="en-US" altLang="ja-JP" sz="3200" b="1" u="sng" dirty="0"/>
              <a:t>Fusion</a:t>
            </a:r>
            <a:r>
              <a:rPr kumimoji="1" lang="ja-JP" altLang="en-US" sz="3200" b="1" u="sng" dirty="0"/>
              <a:t>の仕組み</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25501" cy="830997"/>
          </a:xfrm>
          <a:prstGeom prst="rect">
            <a:avLst/>
          </a:prstGeom>
          <a:noFill/>
        </p:spPr>
        <p:txBody>
          <a:bodyPr wrap="none" rtlCol="0">
            <a:spAutoFit/>
          </a:bodyPr>
          <a:lstStyle/>
          <a:p>
            <a:r>
              <a:rPr kumimoji="1" lang="en-US" altLang="ja-JP" sz="2400" dirty="0"/>
              <a:t>Photon Fusion </a:t>
            </a:r>
            <a:r>
              <a:rPr kumimoji="1" lang="ja-JP" altLang="en-US" sz="2400" dirty="0"/>
              <a:t>を使うには、ある程度のルールに則る必要があります。</a:t>
            </a:r>
            <a:endParaRPr kumimoji="1" lang="en-US" altLang="ja-JP" sz="2400" dirty="0"/>
          </a:p>
          <a:p>
            <a:r>
              <a:rPr lang="ja-JP" altLang="en-US" sz="2400" dirty="0"/>
              <a:t>まずは仕組みを簡単に知っておきましょう。</a:t>
            </a:r>
            <a:endParaRPr lang="en-US" altLang="ja-JP" sz="2400" dirty="0"/>
          </a:p>
        </p:txBody>
      </p:sp>
      <p:pic>
        <p:nvPicPr>
          <p:cNvPr id="3" name="図 2">
            <a:extLst>
              <a:ext uri="{FF2B5EF4-FFF2-40B4-BE49-F238E27FC236}">
                <a16:creationId xmlns:a16="http://schemas.microsoft.com/office/drawing/2014/main" id="{06FE4110-4CFE-45E8-ADF2-92E5645A40EC}"/>
              </a:ext>
            </a:extLst>
          </p:cNvPr>
          <p:cNvPicPr>
            <a:picLocks noChangeAspect="1"/>
          </p:cNvPicPr>
          <p:nvPr/>
        </p:nvPicPr>
        <p:blipFill>
          <a:blip r:embed="rId2"/>
          <a:stretch>
            <a:fillRect/>
          </a:stretch>
        </p:blipFill>
        <p:spPr>
          <a:xfrm>
            <a:off x="567542" y="2187126"/>
            <a:ext cx="6630325" cy="3620005"/>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753498" cy="584775"/>
          </a:xfrm>
          <a:prstGeom prst="rect">
            <a:avLst/>
          </a:prstGeom>
          <a:noFill/>
        </p:spPr>
        <p:txBody>
          <a:bodyPr wrap="none" rtlCol="0">
            <a:spAutoFit/>
          </a:bodyPr>
          <a:lstStyle/>
          <a:p>
            <a:r>
              <a:rPr kumimoji="1" lang="en-US" altLang="ja-JP" sz="3200" b="1" u="sng" dirty="0"/>
              <a:t>Fusion</a:t>
            </a:r>
            <a:r>
              <a:rPr kumimoji="1" lang="ja-JP" altLang="en-US" sz="3200" b="1" u="sng" dirty="0"/>
              <a:t>の仕組み 通信系クラス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16837" cy="3416320"/>
          </a:xfrm>
          <a:prstGeom prst="rect">
            <a:avLst/>
          </a:prstGeom>
          <a:noFill/>
        </p:spPr>
        <p:txBody>
          <a:bodyPr wrap="none" rtlCol="0">
            <a:spAutoFit/>
          </a:bodyPr>
          <a:lstStyle/>
          <a:p>
            <a:r>
              <a:rPr kumimoji="1" lang="ja-JP" altLang="en-US" sz="2400" dirty="0"/>
              <a:t>よく使うクラスたちです</a:t>
            </a:r>
            <a:endParaRPr kumimoji="1" lang="en-US" altLang="ja-JP" sz="2400" dirty="0"/>
          </a:p>
          <a:p>
            <a:endParaRPr lang="en-US" altLang="ja-JP" sz="2400" dirty="0"/>
          </a:p>
          <a:p>
            <a:r>
              <a:rPr lang="ja-JP" altLang="en-US" sz="2400" dirty="0"/>
              <a:t>・</a:t>
            </a:r>
            <a:r>
              <a:rPr lang="en-US" altLang="ja-JP" sz="2400" b="1" dirty="0" err="1">
                <a:solidFill>
                  <a:srgbClr val="00B050"/>
                </a:solidFill>
              </a:rPr>
              <a:t>NetworkRunner</a:t>
            </a:r>
            <a:endParaRPr lang="en-US" altLang="ja-JP" sz="2400" b="1" dirty="0">
              <a:solidFill>
                <a:srgbClr val="00B050"/>
              </a:solidFill>
            </a:endParaRPr>
          </a:p>
          <a:p>
            <a:r>
              <a:rPr lang="ja-JP" altLang="en-US" sz="2400" dirty="0"/>
              <a:t>　ネットワークシステムの根幹となるクラス</a:t>
            </a:r>
            <a:endParaRPr lang="en-US" altLang="ja-JP" sz="2400" dirty="0"/>
          </a:p>
          <a:p>
            <a:endParaRPr lang="en-US" altLang="ja-JP" sz="2400" dirty="0"/>
          </a:p>
          <a:p>
            <a:r>
              <a:rPr lang="ja-JP" altLang="en-US" sz="2400" dirty="0"/>
              <a:t>・</a:t>
            </a:r>
            <a:r>
              <a:rPr lang="en-US" altLang="ja-JP" sz="2400" b="1" dirty="0">
                <a:solidFill>
                  <a:srgbClr val="00B050"/>
                </a:solidFill>
              </a:rPr>
              <a:t>Authority</a:t>
            </a:r>
          </a:p>
          <a:p>
            <a:r>
              <a:rPr lang="ja-JP" altLang="en-US" sz="2400" dirty="0"/>
              <a:t>　クライアントもしくはサーバーが管理するクラス</a:t>
            </a:r>
            <a:endParaRPr lang="en-US" altLang="ja-JP" sz="2400" dirty="0"/>
          </a:p>
          <a:p>
            <a:r>
              <a:rPr lang="ja-JP" altLang="en-US" sz="2400" dirty="0"/>
              <a:t>　サーバー側は状態を管理する</a:t>
            </a:r>
            <a:r>
              <a:rPr lang="en-US" altLang="ja-JP" sz="2400" b="1" dirty="0" err="1">
                <a:solidFill>
                  <a:srgbClr val="00B050"/>
                </a:solidFill>
              </a:rPr>
              <a:t>StateAuthority</a:t>
            </a:r>
            <a:r>
              <a:rPr lang="ja-JP" altLang="en-US" sz="2400" dirty="0"/>
              <a:t>、</a:t>
            </a:r>
            <a:endParaRPr lang="en-US" altLang="ja-JP" sz="2400" dirty="0"/>
          </a:p>
          <a:p>
            <a:r>
              <a:rPr lang="ja-JP" altLang="en-US" sz="2400" dirty="0"/>
              <a:t>　クライアント側は入力を管理する</a:t>
            </a:r>
            <a:r>
              <a:rPr lang="en-US" altLang="ja-JP" sz="2400" b="1" dirty="0" err="1">
                <a:solidFill>
                  <a:srgbClr val="00B050"/>
                </a:solidFill>
              </a:rPr>
              <a:t>InputAuthority</a:t>
            </a:r>
            <a:r>
              <a:rPr lang="ja-JP" altLang="en-US" sz="2400" dirty="0"/>
              <a:t>がある。</a:t>
            </a:r>
            <a:endParaRPr lang="en-US" altLang="ja-JP" sz="2400" dirty="0"/>
          </a:p>
        </p:txBody>
      </p:sp>
    </p:spTree>
    <p:extLst>
      <p:ext uri="{BB962C8B-B14F-4D97-AF65-F5344CB8AC3E}">
        <p14:creationId xmlns:p14="http://schemas.microsoft.com/office/powerpoint/2010/main" val="8294082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2761" cy="584775"/>
          </a:xfrm>
          <a:prstGeom prst="rect">
            <a:avLst/>
          </a:prstGeom>
          <a:noFill/>
        </p:spPr>
        <p:txBody>
          <a:bodyPr wrap="none" rtlCol="0">
            <a:spAutoFit/>
          </a:bodyPr>
          <a:lstStyle/>
          <a:p>
            <a:r>
              <a:rPr kumimoji="1" lang="en-US" altLang="ja-JP" sz="3200" b="1" u="sng" dirty="0"/>
              <a:t>Fusion</a:t>
            </a:r>
            <a:r>
              <a:rPr kumimoji="1" lang="ja-JP" altLang="en-US" sz="3200" b="1" u="sng" dirty="0"/>
              <a:t>の仕組み 通信手法</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3046988"/>
          </a:xfrm>
          <a:prstGeom prst="rect">
            <a:avLst/>
          </a:prstGeom>
          <a:noFill/>
        </p:spPr>
        <p:txBody>
          <a:bodyPr wrap="none" rtlCol="0">
            <a:spAutoFit/>
          </a:bodyPr>
          <a:lstStyle/>
          <a:p>
            <a:r>
              <a:rPr kumimoji="1" lang="en-US" altLang="ja-JP" sz="2400" dirty="0"/>
              <a:t>Fusion</a:t>
            </a:r>
            <a:r>
              <a:rPr kumimoji="1" lang="ja-JP" altLang="en-US" sz="2400" dirty="0"/>
              <a:t>によるキャラクターの位置同期は、</a:t>
            </a:r>
            <a:endParaRPr kumimoji="1" lang="en-US" altLang="ja-JP" sz="2400" dirty="0"/>
          </a:p>
          <a:p>
            <a:endParaRPr kumimoji="1" lang="en-US" altLang="ja-JP" sz="2400" dirty="0"/>
          </a:p>
          <a:p>
            <a:r>
              <a:rPr lang="ja-JP" altLang="en-US" sz="2400" b="1" dirty="0">
                <a:solidFill>
                  <a:srgbClr val="FF0000"/>
                </a:solidFill>
              </a:rPr>
              <a:t>１．クライアントが入力をサーバーに送信</a:t>
            </a:r>
            <a:endParaRPr lang="en-US" altLang="ja-JP" sz="2400" b="1" dirty="0">
              <a:solidFill>
                <a:srgbClr val="FF0000"/>
              </a:solidFill>
            </a:endParaRPr>
          </a:p>
          <a:p>
            <a:r>
              <a:rPr lang="ja-JP" altLang="en-US" sz="2400" b="1" dirty="0">
                <a:solidFill>
                  <a:srgbClr val="FF0000"/>
                </a:solidFill>
              </a:rPr>
              <a:t>２．サーバーが受信した入力で移動、座標更新</a:t>
            </a:r>
            <a:endParaRPr lang="en-US" altLang="ja-JP" sz="2400" b="1" dirty="0">
              <a:solidFill>
                <a:srgbClr val="FF0000"/>
              </a:solidFill>
            </a:endParaRPr>
          </a:p>
          <a:p>
            <a:endParaRPr lang="en-US" altLang="ja-JP" sz="2400" dirty="0"/>
          </a:p>
          <a:p>
            <a:r>
              <a:rPr lang="ja-JP" altLang="en-US" sz="2400" dirty="0"/>
              <a:t>によって行われます。</a:t>
            </a:r>
            <a:endParaRPr lang="en-US" altLang="ja-JP" sz="2400" dirty="0"/>
          </a:p>
          <a:p>
            <a:endParaRPr lang="en-US" altLang="ja-JP" sz="2400" dirty="0"/>
          </a:p>
          <a:p>
            <a:r>
              <a:rPr lang="ja-JP" altLang="en-US" sz="2400" dirty="0"/>
              <a:t>それを前提にプログラムを組む必要があります。</a:t>
            </a:r>
            <a:endParaRPr lang="en-US" altLang="ja-JP" sz="2400" dirty="0"/>
          </a:p>
        </p:txBody>
      </p:sp>
      <p:sp>
        <p:nvSpPr>
          <p:cNvPr id="2" name="四角形: 角を丸くする 1">
            <a:extLst>
              <a:ext uri="{FF2B5EF4-FFF2-40B4-BE49-F238E27FC236}">
                <a16:creationId xmlns:a16="http://schemas.microsoft.com/office/drawing/2014/main" id="{AD3C3B91-9BDD-4E60-9B27-925EC554D778}"/>
              </a:ext>
            </a:extLst>
          </p:cNvPr>
          <p:cNvSpPr/>
          <p:nvPr/>
        </p:nvSpPr>
        <p:spPr>
          <a:xfrm>
            <a:off x="567542" y="4403116"/>
            <a:ext cx="2082800" cy="89746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b="1" dirty="0"/>
              <a:t>クライアント</a:t>
            </a:r>
            <a:endParaRPr kumimoji="1" lang="ja-JP" altLang="en-US" b="1" dirty="0"/>
          </a:p>
        </p:txBody>
      </p:sp>
      <p:sp>
        <p:nvSpPr>
          <p:cNvPr id="5" name="矢印: 右 4">
            <a:extLst>
              <a:ext uri="{FF2B5EF4-FFF2-40B4-BE49-F238E27FC236}">
                <a16:creationId xmlns:a16="http://schemas.microsoft.com/office/drawing/2014/main" id="{C8712ABB-D051-4F8A-B85C-532DBA0ABCFA}"/>
              </a:ext>
            </a:extLst>
          </p:cNvPr>
          <p:cNvSpPr/>
          <p:nvPr/>
        </p:nvSpPr>
        <p:spPr>
          <a:xfrm>
            <a:off x="2780197" y="4321054"/>
            <a:ext cx="2082800" cy="553104"/>
          </a:xfrm>
          <a:prstGeom prst="right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ジャンプ押した</a:t>
            </a:r>
          </a:p>
        </p:txBody>
      </p:sp>
      <p:sp>
        <p:nvSpPr>
          <p:cNvPr id="7" name="四角形: 角を丸くする 6">
            <a:extLst>
              <a:ext uri="{FF2B5EF4-FFF2-40B4-BE49-F238E27FC236}">
                <a16:creationId xmlns:a16="http://schemas.microsoft.com/office/drawing/2014/main" id="{D3BD7548-1A84-43B9-A8ED-66181FABA0C8}"/>
              </a:ext>
            </a:extLst>
          </p:cNvPr>
          <p:cNvSpPr/>
          <p:nvPr/>
        </p:nvSpPr>
        <p:spPr>
          <a:xfrm>
            <a:off x="4992852" y="4403117"/>
            <a:ext cx="2082800" cy="897466"/>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ja-JP" altLang="en-US" b="1" dirty="0"/>
              <a:t>サーバー</a:t>
            </a:r>
            <a:endParaRPr lang="en-US" altLang="ja-JP" b="1" dirty="0"/>
          </a:p>
        </p:txBody>
      </p:sp>
      <p:sp>
        <p:nvSpPr>
          <p:cNvPr id="8" name="テキスト ボックス 7">
            <a:extLst>
              <a:ext uri="{FF2B5EF4-FFF2-40B4-BE49-F238E27FC236}">
                <a16:creationId xmlns:a16="http://schemas.microsoft.com/office/drawing/2014/main" id="{438C6B44-1307-4BFD-872A-02BE581A7E3B}"/>
              </a:ext>
            </a:extLst>
          </p:cNvPr>
          <p:cNvSpPr txBox="1"/>
          <p:nvPr/>
        </p:nvSpPr>
        <p:spPr>
          <a:xfrm>
            <a:off x="567542" y="5612462"/>
            <a:ext cx="8393644" cy="461665"/>
          </a:xfrm>
          <a:prstGeom prst="rect">
            <a:avLst/>
          </a:prstGeom>
          <a:noFill/>
        </p:spPr>
        <p:txBody>
          <a:bodyPr wrap="none" rtlCol="0">
            <a:spAutoFit/>
          </a:bodyPr>
          <a:lstStyle/>
          <a:p>
            <a:r>
              <a:rPr kumimoji="1" lang="en-US" altLang="ja-JP" sz="2400" dirty="0" err="1"/>
              <a:t>DxLib</a:t>
            </a:r>
            <a:r>
              <a:rPr kumimoji="1" lang="ja-JP" altLang="en-US" sz="2400" dirty="0"/>
              <a:t>同様に、</a:t>
            </a:r>
            <a:r>
              <a:rPr kumimoji="1" lang="ja-JP" altLang="en-US" sz="2400" b="1" dirty="0">
                <a:solidFill>
                  <a:srgbClr val="FF0000"/>
                </a:solidFill>
              </a:rPr>
              <a:t>サーバーが管理する情報が絶対</a:t>
            </a:r>
            <a:r>
              <a:rPr kumimoji="1" lang="ja-JP" altLang="en-US" sz="2400" dirty="0"/>
              <a:t>となります。</a:t>
            </a:r>
            <a:endParaRPr lang="en-US" altLang="ja-JP" sz="2400" dirty="0"/>
          </a:p>
        </p:txBody>
      </p:sp>
      <p:sp>
        <p:nvSpPr>
          <p:cNvPr id="9" name="爆発: 8 pt 8">
            <a:extLst>
              <a:ext uri="{FF2B5EF4-FFF2-40B4-BE49-F238E27FC236}">
                <a16:creationId xmlns:a16="http://schemas.microsoft.com/office/drawing/2014/main" id="{0F26E683-BA80-46D6-84EC-59D72E3F163F}"/>
              </a:ext>
            </a:extLst>
          </p:cNvPr>
          <p:cNvSpPr/>
          <p:nvPr/>
        </p:nvSpPr>
        <p:spPr>
          <a:xfrm>
            <a:off x="5943599" y="4072955"/>
            <a:ext cx="2082799" cy="864984"/>
          </a:xfrm>
          <a:prstGeom prst="irregularSeal1">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ジャンプ</a:t>
            </a:r>
          </a:p>
        </p:txBody>
      </p:sp>
      <p:sp>
        <p:nvSpPr>
          <p:cNvPr id="10" name="矢印: 左 9">
            <a:extLst>
              <a:ext uri="{FF2B5EF4-FFF2-40B4-BE49-F238E27FC236}">
                <a16:creationId xmlns:a16="http://schemas.microsoft.com/office/drawing/2014/main" id="{85F113F7-B48D-428A-BAC3-13C735DF56A2}"/>
              </a:ext>
            </a:extLst>
          </p:cNvPr>
          <p:cNvSpPr/>
          <p:nvPr/>
        </p:nvSpPr>
        <p:spPr>
          <a:xfrm>
            <a:off x="2780197" y="4899107"/>
            <a:ext cx="2009730" cy="553104"/>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b="1" dirty="0"/>
              <a:t>位置だけ教える</a:t>
            </a:r>
          </a:p>
        </p:txBody>
      </p:sp>
    </p:spTree>
    <p:extLst>
      <p:ext uri="{BB962C8B-B14F-4D97-AF65-F5344CB8AC3E}">
        <p14:creationId xmlns:p14="http://schemas.microsoft.com/office/powerpoint/2010/main" val="41505350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753498" cy="584775"/>
          </a:xfrm>
          <a:prstGeom prst="rect">
            <a:avLst/>
          </a:prstGeom>
          <a:noFill/>
        </p:spPr>
        <p:txBody>
          <a:bodyPr wrap="none" rtlCol="0">
            <a:spAutoFit/>
          </a:bodyPr>
          <a:lstStyle/>
          <a:p>
            <a:r>
              <a:rPr kumimoji="1" lang="en-US" altLang="ja-JP" sz="3200" b="1" u="sng" dirty="0"/>
              <a:t>Fusion</a:t>
            </a:r>
            <a:r>
              <a:rPr kumimoji="1" lang="ja-JP" altLang="en-US" sz="3200" b="1" u="sng" dirty="0"/>
              <a:t>の仕組み デバッグ方法</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67043" cy="830997"/>
          </a:xfrm>
          <a:prstGeom prst="rect">
            <a:avLst/>
          </a:prstGeom>
          <a:noFill/>
        </p:spPr>
        <p:txBody>
          <a:bodyPr wrap="none" rtlCol="0">
            <a:spAutoFit/>
          </a:bodyPr>
          <a:lstStyle/>
          <a:p>
            <a:r>
              <a:rPr kumimoji="1" lang="ja-JP" altLang="en-US" sz="2400" b="1" dirty="0">
                <a:solidFill>
                  <a:srgbClr val="FF0000"/>
                </a:solidFill>
              </a:rPr>
              <a:t>サーバー</a:t>
            </a:r>
            <a:r>
              <a:rPr kumimoji="1" lang="en-US" altLang="ja-JP" sz="2400" b="1" dirty="0">
                <a:solidFill>
                  <a:srgbClr val="FF0000"/>
                </a:solidFill>
              </a:rPr>
              <a:t>/</a:t>
            </a:r>
            <a:r>
              <a:rPr kumimoji="1" lang="ja-JP" altLang="en-US" sz="2400" b="1" dirty="0">
                <a:solidFill>
                  <a:srgbClr val="FF0000"/>
                </a:solidFill>
              </a:rPr>
              <a:t>クライアントの使い分けは、ゲーム起動時に決定</a:t>
            </a:r>
            <a:r>
              <a:rPr kumimoji="1" lang="ja-JP" altLang="en-US" sz="2400" dirty="0"/>
              <a:t>します。</a:t>
            </a:r>
            <a:endParaRPr kumimoji="1" lang="en-US" altLang="ja-JP" sz="2400" dirty="0"/>
          </a:p>
          <a:p>
            <a:r>
              <a:rPr lang="ja-JP" altLang="en-US" sz="2400" dirty="0"/>
              <a:t>つまり、</a:t>
            </a:r>
            <a:r>
              <a:rPr lang="ja-JP" altLang="en-US" sz="2400" b="1" dirty="0">
                <a:solidFill>
                  <a:srgbClr val="FF0000"/>
                </a:solidFill>
              </a:rPr>
              <a:t>プロジェクトも</a:t>
            </a:r>
            <a:r>
              <a:rPr lang="en-US" altLang="ja-JP" sz="2400" b="1" dirty="0">
                <a:solidFill>
                  <a:srgbClr val="FF0000"/>
                </a:solidFill>
              </a:rPr>
              <a:t>Exe</a:t>
            </a:r>
            <a:r>
              <a:rPr lang="ja-JP" altLang="en-US" sz="2400" b="1" dirty="0">
                <a:solidFill>
                  <a:srgbClr val="FF0000"/>
                </a:solidFill>
              </a:rPr>
              <a:t>も１つ</a:t>
            </a:r>
            <a:r>
              <a:rPr lang="ja-JP" altLang="en-US" sz="2400" dirty="0"/>
              <a:t>だけです。</a:t>
            </a:r>
            <a:endParaRPr lang="en-US" altLang="ja-JP" sz="2400" dirty="0"/>
          </a:p>
        </p:txBody>
      </p:sp>
      <p:sp>
        <p:nvSpPr>
          <p:cNvPr id="11" name="四角形: 角を丸くする 10">
            <a:extLst>
              <a:ext uri="{FF2B5EF4-FFF2-40B4-BE49-F238E27FC236}">
                <a16:creationId xmlns:a16="http://schemas.microsoft.com/office/drawing/2014/main" id="{A9822193-400E-49E0-ACD6-21EFC95E4D15}"/>
              </a:ext>
            </a:extLst>
          </p:cNvPr>
          <p:cNvSpPr/>
          <p:nvPr/>
        </p:nvSpPr>
        <p:spPr>
          <a:xfrm>
            <a:off x="567542" y="2739389"/>
            <a:ext cx="2082800" cy="89746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b="1" dirty="0"/>
              <a:t>クライアント</a:t>
            </a:r>
            <a:endParaRPr kumimoji="1" lang="ja-JP" altLang="en-US" b="1" dirty="0"/>
          </a:p>
        </p:txBody>
      </p:sp>
      <p:sp>
        <p:nvSpPr>
          <p:cNvPr id="12" name="四角形: 角を丸くする 11">
            <a:extLst>
              <a:ext uri="{FF2B5EF4-FFF2-40B4-BE49-F238E27FC236}">
                <a16:creationId xmlns:a16="http://schemas.microsoft.com/office/drawing/2014/main" id="{BE7AD46F-2F9B-482C-A4B9-74BE0540FD51}"/>
              </a:ext>
            </a:extLst>
          </p:cNvPr>
          <p:cNvSpPr/>
          <p:nvPr/>
        </p:nvSpPr>
        <p:spPr>
          <a:xfrm>
            <a:off x="3053986" y="2739389"/>
            <a:ext cx="2082800" cy="897466"/>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ja-JP" altLang="en-US" b="1" dirty="0"/>
              <a:t>サーバー</a:t>
            </a:r>
            <a:endParaRPr lang="en-US" altLang="ja-JP" b="1" dirty="0"/>
          </a:p>
        </p:txBody>
      </p:sp>
      <p:sp>
        <p:nvSpPr>
          <p:cNvPr id="13" name="テキスト ボックス 12">
            <a:extLst>
              <a:ext uri="{FF2B5EF4-FFF2-40B4-BE49-F238E27FC236}">
                <a16:creationId xmlns:a16="http://schemas.microsoft.com/office/drawing/2014/main" id="{1535F47E-15F6-48A4-8570-C85C3E07DBD6}"/>
              </a:ext>
            </a:extLst>
          </p:cNvPr>
          <p:cNvSpPr txBox="1"/>
          <p:nvPr/>
        </p:nvSpPr>
        <p:spPr>
          <a:xfrm>
            <a:off x="2294741" y="3765812"/>
            <a:ext cx="1343638" cy="461665"/>
          </a:xfrm>
          <a:prstGeom prst="rect">
            <a:avLst/>
          </a:prstGeom>
          <a:noFill/>
        </p:spPr>
        <p:txBody>
          <a:bodyPr wrap="none" rtlCol="0">
            <a:spAutoFit/>
          </a:bodyPr>
          <a:lstStyle/>
          <a:p>
            <a:r>
              <a:rPr kumimoji="1" lang="ja-JP" altLang="en-US" sz="2400" b="1" dirty="0">
                <a:solidFill>
                  <a:srgbClr val="FF0000"/>
                </a:solidFill>
              </a:rPr>
              <a:t>同じ</a:t>
            </a:r>
            <a:r>
              <a:rPr kumimoji="1" lang="en-US" altLang="ja-JP" sz="2400" b="1" dirty="0">
                <a:solidFill>
                  <a:srgbClr val="FF0000"/>
                </a:solidFill>
              </a:rPr>
              <a:t>Exe</a:t>
            </a:r>
            <a:endParaRPr lang="en-US" altLang="ja-JP" sz="2400" dirty="0"/>
          </a:p>
        </p:txBody>
      </p:sp>
      <p:sp>
        <p:nvSpPr>
          <p:cNvPr id="14" name="テキスト ボックス 13">
            <a:extLst>
              <a:ext uri="{FF2B5EF4-FFF2-40B4-BE49-F238E27FC236}">
                <a16:creationId xmlns:a16="http://schemas.microsoft.com/office/drawing/2014/main" id="{BDB1C693-B355-4FFF-888F-024D88E9C0F6}"/>
              </a:ext>
            </a:extLst>
          </p:cNvPr>
          <p:cNvSpPr txBox="1"/>
          <p:nvPr/>
        </p:nvSpPr>
        <p:spPr>
          <a:xfrm>
            <a:off x="567542" y="4810575"/>
            <a:ext cx="10341293" cy="461665"/>
          </a:xfrm>
          <a:prstGeom prst="rect">
            <a:avLst/>
          </a:prstGeom>
          <a:noFill/>
        </p:spPr>
        <p:txBody>
          <a:bodyPr wrap="none" rtlCol="0">
            <a:spAutoFit/>
          </a:bodyPr>
          <a:lstStyle/>
          <a:p>
            <a:r>
              <a:rPr kumimoji="1" lang="en-US" altLang="ja-JP" sz="2400" dirty="0"/>
              <a:t>※</a:t>
            </a:r>
            <a:r>
              <a:rPr kumimoji="1" lang="ja-JP" altLang="en-US" sz="2400" dirty="0"/>
              <a:t>大規模なプロジェクトだと別々にプロジェクトを作ることがあります。</a:t>
            </a:r>
            <a:endParaRPr lang="en-US" altLang="ja-JP" sz="2400" dirty="0"/>
          </a:p>
        </p:txBody>
      </p:sp>
    </p:spTree>
    <p:extLst>
      <p:ext uri="{BB962C8B-B14F-4D97-AF65-F5344CB8AC3E}">
        <p14:creationId xmlns:p14="http://schemas.microsoft.com/office/powerpoint/2010/main" val="774978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2392" cy="584775"/>
          </a:xfrm>
          <a:prstGeom prst="rect">
            <a:avLst/>
          </a:prstGeom>
          <a:noFill/>
        </p:spPr>
        <p:txBody>
          <a:bodyPr wrap="none" rtlCol="0">
            <a:spAutoFit/>
          </a:bodyPr>
          <a:lstStyle/>
          <a:p>
            <a:r>
              <a:rPr kumimoji="1" lang="en-US" altLang="ja-JP" sz="3200" b="1" u="sng" dirty="0"/>
              <a:t>Fusion</a:t>
            </a:r>
            <a:r>
              <a:rPr kumimoji="1" lang="ja-JP" altLang="en-US" sz="3200" b="1" u="sng" dirty="0"/>
              <a:t>の</a:t>
            </a:r>
            <a:r>
              <a:rPr kumimoji="1" lang="ja-JP" altLang="en-US" sz="3200" b="1" u="sng"/>
              <a:t>仕組み まとめ</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05073" cy="3785652"/>
          </a:xfrm>
          <a:prstGeom prst="rect">
            <a:avLst/>
          </a:prstGeom>
          <a:noFill/>
        </p:spPr>
        <p:txBody>
          <a:bodyPr wrap="none" rtlCol="0">
            <a:spAutoFit/>
          </a:bodyPr>
          <a:lstStyle/>
          <a:p>
            <a:r>
              <a:rPr lang="ja-JP" altLang="en-US" sz="2400" dirty="0"/>
              <a:t>これらのことから、最低限以下のオブジェクトを作る必要があります。</a:t>
            </a:r>
            <a:endParaRPr lang="en-US" altLang="ja-JP" sz="2400" dirty="0"/>
          </a:p>
          <a:p>
            <a:endParaRPr lang="en-US" altLang="ja-JP" sz="2400" dirty="0"/>
          </a:p>
          <a:p>
            <a:r>
              <a:rPr lang="ja-JP" altLang="en-US" sz="2400" dirty="0"/>
              <a:t>・</a:t>
            </a:r>
            <a:r>
              <a:rPr lang="en-US" altLang="ja-JP" sz="2400" b="1" dirty="0" err="1">
                <a:solidFill>
                  <a:srgbClr val="00B050"/>
                </a:solidFill>
              </a:rPr>
              <a:t>NetworkManager</a:t>
            </a:r>
            <a:endParaRPr lang="en-US" altLang="ja-JP" sz="2400" b="1" dirty="0">
              <a:solidFill>
                <a:srgbClr val="00B050"/>
              </a:solidFill>
            </a:endParaRPr>
          </a:p>
          <a:p>
            <a:r>
              <a:rPr lang="ja-JP" altLang="en-US" sz="2400" dirty="0"/>
              <a:t>　</a:t>
            </a:r>
            <a:r>
              <a:rPr lang="en-US" altLang="ja-JP" sz="2400" dirty="0"/>
              <a:t>Fusion</a:t>
            </a:r>
            <a:r>
              <a:rPr lang="ja-JP" altLang="en-US" sz="2400" dirty="0"/>
              <a:t>の初期設定をしたり、</a:t>
            </a:r>
            <a:r>
              <a:rPr lang="en-US" altLang="ja-JP" sz="2400" b="1" dirty="0" err="1">
                <a:solidFill>
                  <a:srgbClr val="00B050"/>
                </a:solidFill>
              </a:rPr>
              <a:t>NetworkRunner</a:t>
            </a:r>
            <a:r>
              <a:rPr lang="ja-JP" altLang="en-US" sz="2400" dirty="0"/>
              <a:t>を使ってデータを管理したりする</a:t>
            </a:r>
            <a:endParaRPr lang="en-US" altLang="ja-JP" sz="2400" dirty="0"/>
          </a:p>
          <a:p>
            <a:endParaRPr lang="en-US" altLang="ja-JP" sz="2400" dirty="0"/>
          </a:p>
          <a:p>
            <a:r>
              <a:rPr lang="ja-JP" altLang="en-US" sz="2400" dirty="0"/>
              <a:t>・</a:t>
            </a:r>
            <a:r>
              <a:rPr lang="en-US" altLang="ja-JP" sz="2400" b="1" dirty="0">
                <a:solidFill>
                  <a:srgbClr val="00B050"/>
                </a:solidFill>
              </a:rPr>
              <a:t>Player</a:t>
            </a:r>
          </a:p>
          <a:p>
            <a:r>
              <a:rPr lang="ja-JP" altLang="en-US" sz="2400" dirty="0"/>
              <a:t>　サーバーが受信した入力に合わせて移動させる</a:t>
            </a:r>
            <a:endParaRPr lang="en-US" altLang="ja-JP" sz="2400" dirty="0"/>
          </a:p>
          <a:p>
            <a:r>
              <a:rPr lang="ja-JP" altLang="en-US" sz="2400" dirty="0"/>
              <a:t>　実際に操作するプレイヤー</a:t>
            </a:r>
            <a:endParaRPr lang="en-US" altLang="ja-JP" sz="2400" dirty="0"/>
          </a:p>
          <a:p>
            <a:endParaRPr lang="en-US" altLang="ja-JP" sz="2400" dirty="0"/>
          </a:p>
          <a:p>
            <a:r>
              <a:rPr lang="ja-JP" altLang="en-US" sz="2400" dirty="0"/>
              <a:t>次回から、実際に作っていきましょう。</a:t>
            </a:r>
            <a:endParaRPr lang="en-US" altLang="ja-JP" sz="2400" dirty="0"/>
          </a:p>
        </p:txBody>
      </p:sp>
    </p:spTree>
    <p:extLst>
      <p:ext uri="{BB962C8B-B14F-4D97-AF65-F5344CB8AC3E}">
        <p14:creationId xmlns:p14="http://schemas.microsoft.com/office/powerpoint/2010/main" val="158486654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290</TotalTime>
  <Words>263</Words>
  <Application>Microsoft Office PowerPoint</Application>
  <PresentationFormat>ワイド画面</PresentationFormat>
  <Paragraphs>46</Paragraphs>
  <Slides>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vt:i4>
      </vt:variant>
    </vt:vector>
  </HeadingPairs>
  <TitlesOfParts>
    <vt:vector size="9"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41</cp:revision>
  <dcterms:created xsi:type="dcterms:W3CDTF">2024-08-27T02:15:54Z</dcterms:created>
  <dcterms:modified xsi:type="dcterms:W3CDTF">2026-08-28T07:28:38Z</dcterms:modified>
</cp:coreProperties>
</file>