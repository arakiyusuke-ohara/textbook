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オンラインゲームで使用するキャラクターや弾丸などのオブジェクトは、</a:t>
            </a:r>
            <a:endParaRPr kumimoji="1" lang="en-US" altLang="ja-JP" sz="2400" dirty="0"/>
          </a:p>
          <a:p>
            <a:r>
              <a:rPr lang="ja-JP" altLang="en-US" sz="2400" dirty="0"/>
              <a:t>多くの場合、</a:t>
            </a:r>
            <a:r>
              <a:rPr lang="ja-JP" altLang="en-US" sz="2400" b="1" dirty="0">
                <a:solidFill>
                  <a:srgbClr val="FF0000"/>
                </a:solidFill>
              </a:rPr>
              <a:t>オフラインでも動作する</a:t>
            </a:r>
            <a:r>
              <a:rPr lang="ja-JP" altLang="en-US" sz="2400" dirty="0"/>
              <a:t>必要があります。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には</a:t>
            </a:r>
            <a:r>
              <a:rPr lang="en-US" altLang="ja-JP" sz="2400" b="1" dirty="0">
                <a:solidFill>
                  <a:srgbClr val="0070C0"/>
                </a:solidFill>
              </a:rPr>
              <a:t>Prefab</a:t>
            </a:r>
            <a:r>
              <a:rPr lang="ja-JP" altLang="en-US" sz="2400" dirty="0"/>
              <a:t>という概念があるので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・オンライン用の</a:t>
            </a:r>
            <a:r>
              <a:rPr lang="en-US" altLang="ja-JP" sz="2400" b="1" dirty="0">
                <a:solidFill>
                  <a:srgbClr val="FF0000"/>
                </a:solidFill>
              </a:rPr>
              <a:t>Prefab</a:t>
            </a: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・オフライン用の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Prefab </a:t>
            </a:r>
          </a:p>
          <a:p>
            <a:r>
              <a:rPr lang="ja-JP" altLang="en-US" sz="2400" dirty="0"/>
              <a:t>と分けて実装するとよさそうです。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Prefab</a:t>
            </a:r>
            <a:r>
              <a:rPr kumimoji="1" lang="ja-JP" altLang="en-US" sz="2400" dirty="0"/>
              <a:t>を分けることにより１つ問題が発生します。</a:t>
            </a:r>
            <a:endParaRPr kumimoji="1" lang="en-US" altLang="ja-JP" sz="2400" dirty="0"/>
          </a:p>
          <a:p>
            <a:r>
              <a:rPr lang="ja-JP" altLang="en-US" sz="2400" dirty="0"/>
              <a:t>それは、</a:t>
            </a:r>
            <a:r>
              <a:rPr lang="ja-JP" altLang="en-US" sz="2400" b="1" dirty="0">
                <a:solidFill>
                  <a:srgbClr val="FF0000"/>
                </a:solidFill>
              </a:rPr>
              <a:t>オンライン</a:t>
            </a:r>
            <a:r>
              <a:rPr lang="en-US" altLang="ja-JP" sz="2400" b="1" dirty="0">
                <a:solidFill>
                  <a:srgbClr val="FF0000"/>
                </a:solidFill>
              </a:rPr>
              <a:t>/</a:t>
            </a:r>
            <a:r>
              <a:rPr lang="ja-JP" altLang="en-US" sz="2400" b="1" dirty="0">
                <a:solidFill>
                  <a:srgbClr val="FF0000"/>
                </a:solidFill>
              </a:rPr>
              <a:t>オフライン共通の設定</a:t>
            </a:r>
            <a:r>
              <a:rPr lang="ja-JP" altLang="en-US" sz="2400" dirty="0"/>
              <a:t>がある場合、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分けてしまうと両方に手を入れなくてはいけなくなります。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直方体 1">
            <a:extLst>
              <a:ext uri="{FF2B5EF4-FFF2-40B4-BE49-F238E27FC236}">
                <a16:creationId xmlns:a16="http://schemas.microsoft.com/office/drawing/2014/main" id="{FB30CFC2-0D28-40E4-A502-BEA4B0574A70}"/>
              </a:ext>
            </a:extLst>
          </p:cNvPr>
          <p:cNvSpPr/>
          <p:nvPr/>
        </p:nvSpPr>
        <p:spPr>
          <a:xfrm>
            <a:off x="675955" y="2738717"/>
            <a:ext cx="1461247" cy="138056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E6C3B8-D81A-4297-9F02-73DD7F790BE1}"/>
              </a:ext>
            </a:extLst>
          </p:cNvPr>
          <p:cNvSpPr txBox="1"/>
          <p:nvPr/>
        </p:nvSpPr>
        <p:spPr>
          <a:xfrm>
            <a:off x="567542" y="420425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オンライン用</a:t>
            </a:r>
            <a:endParaRPr kumimoji="1" lang="en-US" altLang="ja-JP" dirty="0"/>
          </a:p>
        </p:txBody>
      </p:sp>
      <p:sp>
        <p:nvSpPr>
          <p:cNvPr id="7" name="直方体 6">
            <a:extLst>
              <a:ext uri="{FF2B5EF4-FFF2-40B4-BE49-F238E27FC236}">
                <a16:creationId xmlns:a16="http://schemas.microsoft.com/office/drawing/2014/main" id="{8CFD8409-509D-483C-ABEA-B99745B44FD1}"/>
              </a:ext>
            </a:extLst>
          </p:cNvPr>
          <p:cNvSpPr/>
          <p:nvPr/>
        </p:nvSpPr>
        <p:spPr>
          <a:xfrm>
            <a:off x="675955" y="4658554"/>
            <a:ext cx="1461247" cy="138056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3490910-F9EE-4C44-8015-FF96D7E34661}"/>
              </a:ext>
            </a:extLst>
          </p:cNvPr>
          <p:cNvSpPr txBox="1"/>
          <p:nvPr/>
        </p:nvSpPr>
        <p:spPr>
          <a:xfrm>
            <a:off x="567542" y="612408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オフライン用</a:t>
            </a:r>
            <a:endParaRPr kumimoji="1" lang="en-US" altLang="ja-JP" dirty="0"/>
          </a:p>
        </p:txBody>
      </p:sp>
      <p:sp>
        <p:nvSpPr>
          <p:cNvPr id="13" name="直方体 12">
            <a:extLst>
              <a:ext uri="{FF2B5EF4-FFF2-40B4-BE49-F238E27FC236}">
                <a16:creationId xmlns:a16="http://schemas.microsoft.com/office/drawing/2014/main" id="{0D66DE03-C62A-4852-9815-B4DC0DE5819A}"/>
              </a:ext>
            </a:extLst>
          </p:cNvPr>
          <p:cNvSpPr/>
          <p:nvPr/>
        </p:nvSpPr>
        <p:spPr>
          <a:xfrm>
            <a:off x="5266264" y="2738717"/>
            <a:ext cx="1461247" cy="1380565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A64B886-E5FB-4B9C-907F-87503B57FC0B}"/>
              </a:ext>
            </a:extLst>
          </p:cNvPr>
          <p:cNvSpPr txBox="1"/>
          <p:nvPr/>
        </p:nvSpPr>
        <p:spPr>
          <a:xfrm>
            <a:off x="5157851" y="420425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オンライン用</a:t>
            </a:r>
            <a:endParaRPr kumimoji="1" lang="en-US" altLang="ja-JP" dirty="0"/>
          </a:p>
        </p:txBody>
      </p:sp>
      <p:sp>
        <p:nvSpPr>
          <p:cNvPr id="15" name="直方体 14">
            <a:extLst>
              <a:ext uri="{FF2B5EF4-FFF2-40B4-BE49-F238E27FC236}">
                <a16:creationId xmlns:a16="http://schemas.microsoft.com/office/drawing/2014/main" id="{146EF063-0D77-4AE8-A77C-BDA6BC88579F}"/>
              </a:ext>
            </a:extLst>
          </p:cNvPr>
          <p:cNvSpPr/>
          <p:nvPr/>
        </p:nvSpPr>
        <p:spPr>
          <a:xfrm>
            <a:off x="5266264" y="4658554"/>
            <a:ext cx="1461247" cy="1380565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DAF708C-B191-4BDD-BFC1-2920FD9068DF}"/>
              </a:ext>
            </a:extLst>
          </p:cNvPr>
          <p:cNvSpPr txBox="1"/>
          <p:nvPr/>
        </p:nvSpPr>
        <p:spPr>
          <a:xfrm>
            <a:off x="5157851" y="612408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オフライン用</a:t>
            </a:r>
            <a:endParaRPr kumimoji="1" lang="en-US" altLang="ja-JP" dirty="0"/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F024817D-1FCF-4422-B57A-C843BADAA26F}"/>
              </a:ext>
            </a:extLst>
          </p:cNvPr>
          <p:cNvSpPr/>
          <p:nvPr/>
        </p:nvSpPr>
        <p:spPr>
          <a:xfrm>
            <a:off x="2451156" y="3131644"/>
            <a:ext cx="2501153" cy="58477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オレンジにする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33FC3857-F5E4-467A-A34D-8437D999A56B}"/>
              </a:ext>
            </a:extLst>
          </p:cNvPr>
          <p:cNvSpPr/>
          <p:nvPr/>
        </p:nvSpPr>
        <p:spPr>
          <a:xfrm>
            <a:off x="2451156" y="5056448"/>
            <a:ext cx="2501153" cy="58477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オレンジにする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4C4299D-9AD6-4FE6-AA46-1BE89456A7F0}"/>
              </a:ext>
            </a:extLst>
          </p:cNvPr>
          <p:cNvSpPr txBox="1"/>
          <p:nvPr/>
        </p:nvSpPr>
        <p:spPr>
          <a:xfrm>
            <a:off x="6923518" y="3486788"/>
            <a:ext cx="54168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ja-JP" altLang="en-US" sz="2400" dirty="0"/>
              <a:t>同じ作業を繰り返す仕組みにすると、</a:t>
            </a:r>
            <a:endParaRPr kumimoji="1" lang="en-US" altLang="ja-JP" sz="2400" dirty="0"/>
          </a:p>
          <a:p>
            <a:r>
              <a:rPr lang="ja-JP" altLang="en-US" sz="2400" dirty="0"/>
              <a:t>片方だけ忘れてた、</a:t>
            </a:r>
            <a:endParaRPr lang="en-US" altLang="ja-JP" sz="2400" dirty="0"/>
          </a:p>
          <a:p>
            <a:r>
              <a:rPr lang="ja-JP" altLang="en-US" sz="2400" dirty="0"/>
              <a:t>みたいなことが必ず発生します。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09907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855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Prefab</a:t>
            </a:r>
            <a:r>
              <a:rPr kumimoji="1" lang="ja-JP" altLang="en-US" sz="2400" dirty="0"/>
              <a:t>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Variant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（ヴァリアント）</a:t>
            </a:r>
            <a:r>
              <a:rPr kumimoji="1" lang="ja-JP" altLang="en-US" sz="2400" dirty="0"/>
              <a:t>という機能があり、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ベースとなる</a:t>
            </a:r>
            <a:r>
              <a:rPr lang="en-US" altLang="ja-JP" sz="2400" b="1" dirty="0">
                <a:solidFill>
                  <a:srgbClr val="FF0000"/>
                </a:solidFill>
              </a:rPr>
              <a:t>Prefab</a:t>
            </a:r>
            <a:r>
              <a:rPr lang="ja-JP" altLang="en-US" sz="2400" b="1" dirty="0">
                <a:solidFill>
                  <a:srgbClr val="FF0000"/>
                </a:solidFill>
              </a:rPr>
              <a:t>から派生する形</a:t>
            </a:r>
            <a:r>
              <a:rPr lang="ja-JP" altLang="en-US" sz="2400" dirty="0"/>
              <a:t>で作成することができます。</a:t>
            </a:r>
            <a:endParaRPr kumimoji="1" lang="en-US" altLang="ja-JP" sz="2400" dirty="0"/>
          </a:p>
        </p:txBody>
      </p:sp>
      <p:sp>
        <p:nvSpPr>
          <p:cNvPr id="19" name="直方体 18">
            <a:extLst>
              <a:ext uri="{FF2B5EF4-FFF2-40B4-BE49-F238E27FC236}">
                <a16:creationId xmlns:a16="http://schemas.microsoft.com/office/drawing/2014/main" id="{B399495D-09C4-41C7-A83F-CFD9C7F61B22}"/>
              </a:ext>
            </a:extLst>
          </p:cNvPr>
          <p:cNvSpPr/>
          <p:nvPr/>
        </p:nvSpPr>
        <p:spPr>
          <a:xfrm>
            <a:off x="4145296" y="2611342"/>
            <a:ext cx="1461247" cy="138056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FC56E78-4A8F-4298-B13C-08F31E9B1B4A}"/>
              </a:ext>
            </a:extLst>
          </p:cNvPr>
          <p:cNvSpPr txBox="1"/>
          <p:nvPr/>
        </p:nvSpPr>
        <p:spPr>
          <a:xfrm>
            <a:off x="4036883" y="407687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オンライン用</a:t>
            </a:r>
            <a:endParaRPr kumimoji="1" lang="en-US" altLang="ja-JP" dirty="0"/>
          </a:p>
        </p:txBody>
      </p:sp>
      <p:sp>
        <p:nvSpPr>
          <p:cNvPr id="21" name="直方体 20">
            <a:extLst>
              <a:ext uri="{FF2B5EF4-FFF2-40B4-BE49-F238E27FC236}">
                <a16:creationId xmlns:a16="http://schemas.microsoft.com/office/drawing/2014/main" id="{B6BF80B5-8AF6-4C5C-A842-28607F2DDE4D}"/>
              </a:ext>
            </a:extLst>
          </p:cNvPr>
          <p:cNvSpPr/>
          <p:nvPr/>
        </p:nvSpPr>
        <p:spPr>
          <a:xfrm>
            <a:off x="4145296" y="4531179"/>
            <a:ext cx="1461247" cy="138056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F959EA2-252C-45BC-B911-3FF44E89D089}"/>
              </a:ext>
            </a:extLst>
          </p:cNvPr>
          <p:cNvSpPr txBox="1"/>
          <p:nvPr/>
        </p:nvSpPr>
        <p:spPr>
          <a:xfrm>
            <a:off x="4036883" y="59967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オフライン用</a:t>
            </a:r>
            <a:endParaRPr kumimoji="1" lang="en-US" altLang="ja-JP" dirty="0"/>
          </a:p>
        </p:txBody>
      </p:sp>
      <p:sp>
        <p:nvSpPr>
          <p:cNvPr id="29" name="直方体 28">
            <a:extLst>
              <a:ext uri="{FF2B5EF4-FFF2-40B4-BE49-F238E27FC236}">
                <a16:creationId xmlns:a16="http://schemas.microsoft.com/office/drawing/2014/main" id="{CAC7B656-91B8-4DE5-BC9D-667372C877CA}"/>
              </a:ext>
            </a:extLst>
          </p:cNvPr>
          <p:cNvSpPr/>
          <p:nvPr/>
        </p:nvSpPr>
        <p:spPr>
          <a:xfrm>
            <a:off x="675955" y="3625346"/>
            <a:ext cx="1461247" cy="1380565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EE8AD3F-636F-439E-B04E-DCBFAFAE727F}"/>
              </a:ext>
            </a:extLst>
          </p:cNvPr>
          <p:cNvSpPr txBox="1"/>
          <p:nvPr/>
        </p:nvSpPr>
        <p:spPr>
          <a:xfrm>
            <a:off x="567542" y="5090881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ベース</a:t>
            </a:r>
            <a:r>
              <a:rPr kumimoji="1" lang="en-US" altLang="ja-JP" dirty="0"/>
              <a:t>Prefab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ABE15FA1-AE3F-4C9C-8AA9-714903B08031}"/>
              </a:ext>
            </a:extLst>
          </p:cNvPr>
          <p:cNvSpPr/>
          <p:nvPr/>
        </p:nvSpPr>
        <p:spPr>
          <a:xfrm rot="20157177">
            <a:off x="2332770" y="3235930"/>
            <a:ext cx="1725370" cy="539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派生</a:t>
            </a:r>
          </a:p>
        </p:txBody>
      </p:sp>
      <p:sp>
        <p:nvSpPr>
          <p:cNvPr id="31" name="矢印: 右 30">
            <a:extLst>
              <a:ext uri="{FF2B5EF4-FFF2-40B4-BE49-F238E27FC236}">
                <a16:creationId xmlns:a16="http://schemas.microsoft.com/office/drawing/2014/main" id="{633E9501-9F6C-4057-91C5-95A31B983846}"/>
              </a:ext>
            </a:extLst>
          </p:cNvPr>
          <p:cNvSpPr/>
          <p:nvPr/>
        </p:nvSpPr>
        <p:spPr>
          <a:xfrm rot="972120">
            <a:off x="2278564" y="4608858"/>
            <a:ext cx="1725370" cy="539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派生</a:t>
            </a:r>
          </a:p>
        </p:txBody>
      </p:sp>
    </p:spTree>
    <p:extLst>
      <p:ext uri="{BB962C8B-B14F-4D97-AF65-F5344CB8AC3E}">
        <p14:creationId xmlns:p14="http://schemas.microsoft.com/office/powerpoint/2010/main" val="258575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2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ヴァリアントを作った場合、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ベース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Prefab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を編集するだけで、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派生先の</a:t>
            </a:r>
            <a:r>
              <a:rPr lang="en-US" altLang="ja-JP" sz="2400" b="1" dirty="0">
                <a:solidFill>
                  <a:srgbClr val="FF0000"/>
                </a:solidFill>
              </a:rPr>
              <a:t>Prefab</a:t>
            </a:r>
            <a:r>
              <a:rPr lang="ja-JP" altLang="en-US" sz="2400" b="1" dirty="0">
                <a:solidFill>
                  <a:srgbClr val="FF0000"/>
                </a:solidFill>
              </a:rPr>
              <a:t>も自動で変更が入ります。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9" name="直方体 18">
            <a:extLst>
              <a:ext uri="{FF2B5EF4-FFF2-40B4-BE49-F238E27FC236}">
                <a16:creationId xmlns:a16="http://schemas.microsoft.com/office/drawing/2014/main" id="{B399495D-09C4-41C7-A83F-CFD9C7F61B22}"/>
              </a:ext>
            </a:extLst>
          </p:cNvPr>
          <p:cNvSpPr/>
          <p:nvPr/>
        </p:nvSpPr>
        <p:spPr>
          <a:xfrm>
            <a:off x="4145296" y="2611342"/>
            <a:ext cx="1461247" cy="1380565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FC56E78-4A8F-4298-B13C-08F31E9B1B4A}"/>
              </a:ext>
            </a:extLst>
          </p:cNvPr>
          <p:cNvSpPr txBox="1"/>
          <p:nvPr/>
        </p:nvSpPr>
        <p:spPr>
          <a:xfrm>
            <a:off x="4036883" y="407687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オンライン用</a:t>
            </a:r>
            <a:endParaRPr kumimoji="1" lang="en-US" altLang="ja-JP" dirty="0"/>
          </a:p>
        </p:txBody>
      </p:sp>
      <p:sp>
        <p:nvSpPr>
          <p:cNvPr id="21" name="直方体 20">
            <a:extLst>
              <a:ext uri="{FF2B5EF4-FFF2-40B4-BE49-F238E27FC236}">
                <a16:creationId xmlns:a16="http://schemas.microsoft.com/office/drawing/2014/main" id="{B6BF80B5-8AF6-4C5C-A842-28607F2DDE4D}"/>
              </a:ext>
            </a:extLst>
          </p:cNvPr>
          <p:cNvSpPr/>
          <p:nvPr/>
        </p:nvSpPr>
        <p:spPr>
          <a:xfrm>
            <a:off x="4145296" y="4531179"/>
            <a:ext cx="1461247" cy="1380565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F959EA2-252C-45BC-B911-3FF44E89D089}"/>
              </a:ext>
            </a:extLst>
          </p:cNvPr>
          <p:cNvSpPr txBox="1"/>
          <p:nvPr/>
        </p:nvSpPr>
        <p:spPr>
          <a:xfrm>
            <a:off x="4036883" y="59967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オフライン用</a:t>
            </a:r>
            <a:endParaRPr kumimoji="1" lang="en-US" altLang="ja-JP" dirty="0"/>
          </a:p>
        </p:txBody>
      </p:sp>
      <p:sp>
        <p:nvSpPr>
          <p:cNvPr id="29" name="直方体 28">
            <a:extLst>
              <a:ext uri="{FF2B5EF4-FFF2-40B4-BE49-F238E27FC236}">
                <a16:creationId xmlns:a16="http://schemas.microsoft.com/office/drawing/2014/main" id="{CAC7B656-91B8-4DE5-BC9D-667372C877CA}"/>
              </a:ext>
            </a:extLst>
          </p:cNvPr>
          <p:cNvSpPr/>
          <p:nvPr/>
        </p:nvSpPr>
        <p:spPr>
          <a:xfrm>
            <a:off x="675955" y="3625346"/>
            <a:ext cx="1461247" cy="1380565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EE8AD3F-636F-439E-B04E-DCBFAFAE727F}"/>
              </a:ext>
            </a:extLst>
          </p:cNvPr>
          <p:cNvSpPr txBox="1"/>
          <p:nvPr/>
        </p:nvSpPr>
        <p:spPr>
          <a:xfrm>
            <a:off x="567542" y="5090881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ベース</a:t>
            </a:r>
            <a:r>
              <a:rPr kumimoji="1" lang="en-US" altLang="ja-JP" dirty="0"/>
              <a:t>Prefab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46A0C50-3917-46F5-BF39-BB5380AB7700}"/>
              </a:ext>
            </a:extLst>
          </p:cNvPr>
          <p:cNvSpPr txBox="1"/>
          <p:nvPr/>
        </p:nvSpPr>
        <p:spPr>
          <a:xfrm>
            <a:off x="199989" y="6366046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ベースをオレンジにすれば</a:t>
            </a:r>
            <a:endParaRPr kumimoji="1"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03A1A8-D96D-4209-902E-8BD11C43647B}"/>
              </a:ext>
            </a:extLst>
          </p:cNvPr>
          <p:cNvSpPr txBox="1"/>
          <p:nvPr/>
        </p:nvSpPr>
        <p:spPr>
          <a:xfrm>
            <a:off x="3552480" y="6366046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自動で派生先がオレンジになる</a:t>
            </a:r>
            <a:endParaRPr kumimoji="1" lang="en-US" altLang="ja-JP" sz="1600" b="1" dirty="0">
              <a:solidFill>
                <a:srgbClr val="FF0000"/>
              </a:solidFill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1A3DCCC-AFE0-4F7E-9991-428F65D1FE59}"/>
              </a:ext>
            </a:extLst>
          </p:cNvPr>
          <p:cNvCxnSpPr>
            <a:stCxn id="29" idx="5"/>
            <a:endCxn id="19" idx="2"/>
          </p:cNvCxnSpPr>
          <p:nvPr/>
        </p:nvCxnSpPr>
        <p:spPr>
          <a:xfrm flipV="1">
            <a:off x="2137202" y="3474195"/>
            <a:ext cx="2008094" cy="668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41614A1-5589-4663-8A29-CFEDE44010A7}"/>
              </a:ext>
            </a:extLst>
          </p:cNvPr>
          <p:cNvCxnSpPr>
            <a:cxnSpLocks/>
            <a:stCxn id="29" idx="5"/>
            <a:endCxn id="21" idx="2"/>
          </p:cNvCxnSpPr>
          <p:nvPr/>
        </p:nvCxnSpPr>
        <p:spPr>
          <a:xfrm>
            <a:off x="2137202" y="4143058"/>
            <a:ext cx="2008094" cy="12509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067E778-6B64-4916-A04F-00EDD41D3AA3}"/>
              </a:ext>
            </a:extLst>
          </p:cNvPr>
          <p:cNvSpPr txBox="1"/>
          <p:nvPr/>
        </p:nvSpPr>
        <p:spPr>
          <a:xfrm>
            <a:off x="7273142" y="3661378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ja-JP" altLang="en-US" sz="2400" dirty="0"/>
              <a:t>考え方は</a:t>
            </a:r>
            <a:r>
              <a:rPr kumimoji="1" lang="en-US" altLang="ja-JP" sz="2400" dirty="0"/>
              <a:t>C</a:t>
            </a:r>
            <a:r>
              <a:rPr kumimoji="1" lang="ja-JP" altLang="en-US" sz="2400" dirty="0"/>
              <a:t>＋＋や</a:t>
            </a:r>
            <a:r>
              <a:rPr kumimoji="1" lang="en-US" altLang="ja-JP" sz="2400" dirty="0"/>
              <a:t>C</a:t>
            </a:r>
            <a:r>
              <a:rPr kumimoji="1" lang="ja-JP" altLang="en-US" sz="2400" dirty="0"/>
              <a:t>＃の</a:t>
            </a:r>
            <a:endParaRPr kumimoji="1" lang="en-US" altLang="ja-JP" sz="2400" dirty="0"/>
          </a:p>
          <a:p>
            <a:r>
              <a:rPr lang="ja-JP" altLang="en-US" sz="2400" dirty="0"/>
              <a:t>クラスの継承と同じです。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4325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375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70C0"/>
                </a:solidFill>
              </a:rPr>
              <a:t>ベース</a:t>
            </a:r>
            <a:r>
              <a:rPr lang="en-US" altLang="ja-JP" sz="2400" b="1" dirty="0">
                <a:solidFill>
                  <a:srgbClr val="0070C0"/>
                </a:solidFill>
              </a:rPr>
              <a:t>Prefab</a:t>
            </a:r>
            <a:r>
              <a:rPr lang="ja-JP" altLang="en-US" sz="2400" dirty="0"/>
              <a:t>から</a:t>
            </a:r>
            <a:r>
              <a:rPr lang="ja-JP" altLang="en-US" sz="2400" b="1" dirty="0">
                <a:solidFill>
                  <a:srgbClr val="0070C0"/>
                </a:solidFill>
              </a:rPr>
              <a:t>オフライン用の</a:t>
            </a:r>
            <a:r>
              <a:rPr lang="en-US" altLang="ja-JP" sz="2400" b="1" dirty="0">
                <a:solidFill>
                  <a:srgbClr val="0070C0"/>
                </a:solidFill>
              </a:rPr>
              <a:t>Prefab</a:t>
            </a:r>
            <a:r>
              <a:rPr lang="ja-JP" altLang="en-US" sz="2400" dirty="0"/>
              <a:t>を作成します。</a:t>
            </a:r>
            <a:endParaRPr lang="en-US" altLang="ja-JP" sz="2400" dirty="0"/>
          </a:p>
          <a:p>
            <a:r>
              <a:rPr kumimoji="1" lang="ja-JP" altLang="en-US" sz="2400" dirty="0"/>
              <a:t>まずは、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ベース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Prefab</a:t>
            </a:r>
            <a:r>
              <a:rPr kumimoji="1" lang="ja-JP" altLang="en-US" sz="2400" dirty="0"/>
              <a:t>をヒエラルキーに配置しましょう。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84FEA4-CEDA-4829-8BB6-935D92B27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2173832" cy="4178920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6A9FE09F-0489-41DF-9265-66F7ED811C40}"/>
              </a:ext>
            </a:extLst>
          </p:cNvPr>
          <p:cNvCxnSpPr>
            <a:cxnSpLocks/>
          </p:cNvCxnSpPr>
          <p:nvPr/>
        </p:nvCxnSpPr>
        <p:spPr>
          <a:xfrm flipH="1" flipV="1">
            <a:off x="1326776" y="3666565"/>
            <a:ext cx="502024" cy="18108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31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605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追加された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Prefab</a:t>
            </a:r>
            <a:r>
              <a:rPr kumimoji="1" lang="ja-JP" altLang="en-US" sz="2400" dirty="0"/>
              <a:t>をそのまま</a:t>
            </a:r>
            <a:r>
              <a:rPr kumimoji="1" lang="en-US" altLang="ja-JP" sz="2400" dirty="0"/>
              <a:t>Project</a:t>
            </a:r>
            <a:r>
              <a:rPr kumimoji="1" lang="ja-JP" altLang="en-US" sz="2400" dirty="0"/>
              <a:t>に戻します。</a:t>
            </a:r>
            <a:endParaRPr kumimoji="1" lang="en-US" altLang="ja-JP" sz="2400" dirty="0"/>
          </a:p>
          <a:p>
            <a:r>
              <a:rPr lang="ja-JP" altLang="en-US" sz="2400" dirty="0"/>
              <a:t>その際にヴァリアントを作るかどうか聞かれるので「</a:t>
            </a:r>
            <a:r>
              <a:rPr lang="en-US" altLang="ja-JP" sz="2400" b="1" dirty="0">
                <a:solidFill>
                  <a:srgbClr val="FF0000"/>
                </a:solidFill>
              </a:rPr>
              <a:t>Prefab Variant</a:t>
            </a:r>
            <a:r>
              <a:rPr lang="ja-JP" altLang="en-US" sz="2400" dirty="0"/>
              <a:t>」を</a:t>
            </a:r>
            <a:endParaRPr lang="en-US" altLang="ja-JP" sz="2400" dirty="0"/>
          </a:p>
          <a:p>
            <a:r>
              <a:rPr kumimoji="1" lang="ja-JP" altLang="en-US" sz="2400" dirty="0"/>
              <a:t>選びましょう。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CD93184-75F3-43FA-B4A8-884E0A74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338" y="2556458"/>
            <a:ext cx="3620005" cy="136226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EC2D806-A87C-4E7B-8B8B-44DF5E76A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556458"/>
            <a:ext cx="2029069" cy="3809588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11BFCFD-FA14-41BC-A555-36F3EEA81226}"/>
              </a:ext>
            </a:extLst>
          </p:cNvPr>
          <p:cNvCxnSpPr>
            <a:cxnSpLocks/>
          </p:cNvCxnSpPr>
          <p:nvPr/>
        </p:nvCxnSpPr>
        <p:spPr>
          <a:xfrm>
            <a:off x="1030941" y="3325906"/>
            <a:ext cx="1093694" cy="223221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15C8211-DE19-4CD4-8EBB-BA73A036E0F3}"/>
              </a:ext>
            </a:extLst>
          </p:cNvPr>
          <p:cNvSpPr/>
          <p:nvPr/>
        </p:nvSpPr>
        <p:spPr>
          <a:xfrm>
            <a:off x="5091953" y="3576918"/>
            <a:ext cx="905435" cy="341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ADC1F62-D734-49EA-A229-8DD6CD610D23}"/>
              </a:ext>
            </a:extLst>
          </p:cNvPr>
          <p:cNvSpPr txBox="1"/>
          <p:nvPr/>
        </p:nvSpPr>
        <p:spPr>
          <a:xfrm>
            <a:off x="2916903" y="4273576"/>
            <a:ext cx="9259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ファイル名は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Player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にしましょう</a:t>
            </a: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作り終わったらヒエラルキーの</a:t>
            </a:r>
            <a:r>
              <a:rPr lang="en-US" altLang="ja-JP" sz="2400" b="1" dirty="0" err="1">
                <a:solidFill>
                  <a:srgbClr val="FF0000"/>
                </a:solidFill>
              </a:rPr>
              <a:t>PlayerBase</a:t>
            </a:r>
            <a:r>
              <a:rPr lang="ja-JP" altLang="en-US" sz="2400" b="1" dirty="0">
                <a:solidFill>
                  <a:srgbClr val="FF0000"/>
                </a:solidFill>
              </a:rPr>
              <a:t>は削除しましょう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18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252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同じ方法で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PlayerBase</a:t>
            </a:r>
            <a:r>
              <a:rPr kumimoji="1" lang="ja-JP" altLang="en-US" sz="2400" dirty="0"/>
              <a:t>から「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OnlinePlayer</a:t>
            </a:r>
            <a:r>
              <a:rPr kumimoji="1" lang="ja-JP" altLang="en-US" sz="2400" dirty="0"/>
              <a:t>」を作りましょう。</a:t>
            </a:r>
            <a:endParaRPr kumimoji="1" lang="en-US" altLang="ja-JP" sz="2400" dirty="0"/>
          </a:p>
          <a:p>
            <a:r>
              <a:rPr lang="ja-JP" altLang="en-US" sz="2400" dirty="0"/>
              <a:t>保存先は</a:t>
            </a:r>
            <a:r>
              <a:rPr lang="en-US" altLang="ja-JP" sz="2400" dirty="0"/>
              <a:t>Resource</a:t>
            </a:r>
            <a:r>
              <a:rPr lang="ja-JP" altLang="en-US" sz="2400" dirty="0"/>
              <a:t>フォルダにしましょう。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FE69604-728D-42D8-AD0B-174B270A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894187" cy="383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41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66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PlayerBase</a:t>
            </a:r>
            <a:r>
              <a:rPr kumimoji="1" lang="ja-JP" altLang="en-US" sz="2400" dirty="0"/>
              <a:t>を開いて</a:t>
            </a:r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  <a:r>
              <a:rPr lang="ja-JP" altLang="en-US" sz="2400" b="1" dirty="0">
                <a:solidFill>
                  <a:srgbClr val="00B050"/>
                </a:solidFill>
              </a:rPr>
              <a:t>マテリアル</a:t>
            </a:r>
            <a:r>
              <a:rPr lang="ja-JP" altLang="en-US" sz="2400" dirty="0"/>
              <a:t>を適用しましょう。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8BFFB15-5F22-467B-B7A8-A9EEA5A94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8854364" cy="4293948"/>
          </a:xfrm>
          <a:prstGeom prst="rect">
            <a:avLst/>
          </a:prstGeom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7938744-9A87-4574-AC07-AA40ACDCBAFF}"/>
              </a:ext>
            </a:extLst>
          </p:cNvPr>
          <p:cNvCxnSpPr>
            <a:cxnSpLocks/>
          </p:cNvCxnSpPr>
          <p:nvPr/>
        </p:nvCxnSpPr>
        <p:spPr>
          <a:xfrm flipV="1">
            <a:off x="3675529" y="3325906"/>
            <a:ext cx="3209365" cy="222324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29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122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派生先の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Player,OnlinePlayer</a:t>
            </a:r>
            <a:r>
              <a:rPr kumimoji="1" lang="ja-JP" altLang="en-US" sz="2400" dirty="0"/>
              <a:t>ともにオレンジ色になっています。</a:t>
            </a:r>
            <a:endParaRPr kumimoji="1" lang="en-US" altLang="ja-JP" sz="2400" dirty="0"/>
          </a:p>
          <a:p>
            <a:r>
              <a:rPr lang="ja-JP" altLang="en-US" sz="2400" dirty="0"/>
              <a:t>他にも</a:t>
            </a:r>
            <a:r>
              <a:rPr lang="en-US" altLang="ja-JP" sz="2400" b="1" dirty="0">
                <a:solidFill>
                  <a:srgbClr val="00B050"/>
                </a:solidFill>
              </a:rPr>
              <a:t>Transform</a:t>
            </a:r>
            <a:r>
              <a:rPr lang="ja-JP" altLang="en-US" sz="2400" dirty="0"/>
              <a:t>や</a:t>
            </a:r>
            <a:r>
              <a:rPr lang="en-US" altLang="ja-JP" sz="2400" b="1" dirty="0">
                <a:solidFill>
                  <a:srgbClr val="00B050"/>
                </a:solidFill>
              </a:rPr>
              <a:t>Collider</a:t>
            </a:r>
            <a:r>
              <a:rPr lang="ja-JP" altLang="en-US" sz="2400" dirty="0"/>
              <a:t>の修正も、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ベース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Prefab</a:t>
            </a:r>
            <a:r>
              <a:rPr kumimoji="1" lang="ja-JP" altLang="en-US" sz="2400" dirty="0"/>
              <a:t>で共通化しています。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9444250-2B3A-4811-9F4D-712624BB1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839714" cy="281518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9E9DE25-6CA6-4F4E-9B91-534A0768F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628" y="2187124"/>
            <a:ext cx="4109252" cy="281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1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98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個別で設定したい場合は派生先の</a:t>
            </a:r>
            <a:r>
              <a:rPr kumimoji="1" lang="en-US" altLang="ja-JP" sz="2400" dirty="0"/>
              <a:t>Prefab</a:t>
            </a:r>
            <a:r>
              <a:rPr kumimoji="1" lang="ja-JP" altLang="en-US" sz="2400" dirty="0"/>
              <a:t>を設定します。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Player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40F0F9B-2F14-4A77-97AA-C74D6B70A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281493" cy="392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41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42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オフライン用のスクリプトである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Player.cs</a:t>
            </a:r>
            <a:r>
              <a:rPr kumimoji="1" lang="ja-JP" altLang="en-US" sz="2400" dirty="0"/>
              <a:t>を追加します。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08DA675-D01D-4127-9D22-D17F456E4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241296" cy="300521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AA4CCA-B23D-4E0D-B69D-F399F7509767}"/>
              </a:ext>
            </a:extLst>
          </p:cNvPr>
          <p:cNvSpPr/>
          <p:nvPr/>
        </p:nvSpPr>
        <p:spPr>
          <a:xfrm>
            <a:off x="567542" y="1981201"/>
            <a:ext cx="7079351" cy="11743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3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567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次に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OnlinePlayer</a:t>
            </a:r>
            <a:r>
              <a:rPr kumimoji="1" lang="ja-JP" altLang="en-US" sz="2400" dirty="0"/>
              <a:t>を開きます。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1CF4273-A50D-41E9-988C-CA5589E0C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590340" cy="456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97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68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PhotonView.cs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, 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PhotonTransformView.cs,OnlinePlayer.cs</a:t>
            </a:r>
            <a:r>
              <a:rPr kumimoji="1" lang="ja-JP" altLang="en-US" sz="2400" dirty="0"/>
              <a:t>を追加します。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このように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派生先の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Prefab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を編集すれば個別設定</a:t>
            </a:r>
            <a:r>
              <a:rPr kumimoji="1" lang="ja-JP" altLang="en-US" sz="2400" dirty="0"/>
              <a:t>が可能です。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82A491-4DB5-4716-A16F-0B259CA37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3362435" cy="417892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414CF3D-4F74-4D60-AA0C-0436149DEE1F}"/>
              </a:ext>
            </a:extLst>
          </p:cNvPr>
          <p:cNvSpPr/>
          <p:nvPr/>
        </p:nvSpPr>
        <p:spPr>
          <a:xfrm>
            <a:off x="567542" y="2187125"/>
            <a:ext cx="3362435" cy="33889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651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オンラインオブジェクト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共通、オフライン、オンラインで分けて設定することができるようになりました。</a:t>
            </a:r>
            <a:endParaRPr kumimoji="1" lang="en-US" altLang="ja-JP" sz="2400" dirty="0"/>
          </a:p>
          <a:p>
            <a:r>
              <a:rPr lang="ja-JP" altLang="en-US" sz="2400" dirty="0"/>
              <a:t>オンラインで必要なオブジェクトはこのように作成しましょう。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また</a:t>
            </a:r>
            <a:r>
              <a:rPr lang="en-US" altLang="ja-JP" sz="2400" dirty="0"/>
              <a:t>Prefab</a:t>
            </a:r>
            <a:r>
              <a:rPr lang="ja-JP" altLang="en-US" sz="2400" dirty="0"/>
              <a:t>を編集したり、プログラムを書くときは、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それぞれの役割が混在しないように</a:t>
            </a:r>
            <a:r>
              <a:rPr kumimoji="1" lang="ja-JP" altLang="en-US" sz="2400" dirty="0"/>
              <a:t>、きっちりと分けて作りましょう。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92942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461</Words>
  <Application>Microsoft Office PowerPoint</Application>
  <PresentationFormat>ワイド画面</PresentationFormat>
  <Paragraphs>74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43</cp:revision>
  <dcterms:created xsi:type="dcterms:W3CDTF">2024-08-27T02:15:54Z</dcterms:created>
  <dcterms:modified xsi:type="dcterms:W3CDTF">2025-01-23T03:35:05Z</dcterms:modified>
</cp:coreProperties>
</file>