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4" r:id="rId7"/>
    <p:sldId id="265" r:id="rId8"/>
    <p:sldId id="261" r:id="rId9"/>
    <p:sldId id="262" r:id="rId10"/>
    <p:sldId id="266" r:id="rId11"/>
    <p:sldId id="267" r:id="rId12"/>
    <p:sldId id="268" r:id="rId13"/>
    <p:sldId id="269" r:id="rId14"/>
    <p:sldId id="270" r:id="rId15"/>
    <p:sldId id="271" r:id="rId16"/>
    <p:sldId id="272" r:id="rId17"/>
    <p:sldId id="273" r:id="rId18"/>
    <p:sldId id="274" r:id="rId19"/>
    <p:sldId id="275" r:id="rId2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3" d="100"/>
          <a:sy n="113" d="100"/>
        </p:scale>
        <p:origin x="45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950417-98BD-4172-A454-C76A49B9771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F83E9AE-84BC-4452-8901-A17B27CC41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B320892-0B52-41F1-BED3-1F36AE1E3B03}"/>
              </a:ext>
            </a:extLst>
          </p:cNvPr>
          <p:cNvSpPr>
            <a:spLocks noGrp="1"/>
          </p:cNvSpPr>
          <p:nvPr>
            <p:ph type="dt" sz="half" idx="10"/>
          </p:nvPr>
        </p:nvSpPr>
        <p:spPr/>
        <p:txBody>
          <a:bodyPr/>
          <a:lstStyle/>
          <a:p>
            <a:fld id="{E9CC885B-4903-4D54-9A93-00025F12DED9}" type="datetimeFigureOut">
              <a:rPr kumimoji="1" lang="ja-JP" altLang="en-US" smtClean="0"/>
              <a:t>2026/3/26</a:t>
            </a:fld>
            <a:endParaRPr kumimoji="1" lang="ja-JP" altLang="en-US"/>
          </a:p>
        </p:txBody>
      </p:sp>
      <p:sp>
        <p:nvSpPr>
          <p:cNvPr id="5" name="フッター プレースホルダー 4">
            <a:extLst>
              <a:ext uri="{FF2B5EF4-FFF2-40B4-BE49-F238E27FC236}">
                <a16:creationId xmlns:a16="http://schemas.microsoft.com/office/drawing/2014/main" id="{B4114070-C582-4B06-9805-0DFEFB583FE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8014BC-198B-4E5B-89B4-FDBFD423BF5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745560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2C298B-DDF7-4BBD-B08C-16E40ED109E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84FECC-C823-4D42-8CAA-49FC9A8C5B3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8B26879-4594-4C3F-BFFA-F4CB8674F4A9}"/>
              </a:ext>
            </a:extLst>
          </p:cNvPr>
          <p:cNvSpPr>
            <a:spLocks noGrp="1"/>
          </p:cNvSpPr>
          <p:nvPr>
            <p:ph type="dt" sz="half" idx="10"/>
          </p:nvPr>
        </p:nvSpPr>
        <p:spPr/>
        <p:txBody>
          <a:bodyPr/>
          <a:lstStyle/>
          <a:p>
            <a:fld id="{E9CC885B-4903-4D54-9A93-00025F12DED9}" type="datetimeFigureOut">
              <a:rPr kumimoji="1" lang="ja-JP" altLang="en-US" smtClean="0"/>
              <a:t>2026/3/26</a:t>
            </a:fld>
            <a:endParaRPr kumimoji="1" lang="ja-JP" altLang="en-US"/>
          </a:p>
        </p:txBody>
      </p:sp>
      <p:sp>
        <p:nvSpPr>
          <p:cNvPr id="5" name="フッター プレースホルダー 4">
            <a:extLst>
              <a:ext uri="{FF2B5EF4-FFF2-40B4-BE49-F238E27FC236}">
                <a16:creationId xmlns:a16="http://schemas.microsoft.com/office/drawing/2014/main" id="{F5FC6BE6-BB12-4008-B4BA-62D249C499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B8CAC6-4A91-4F74-9267-5C30714BF978}"/>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802473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8AD04-3137-4B16-97B1-DC1252F678A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F8FC57-7A4A-4196-89B9-B1A6197D42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CB80319-F15F-4C62-95BA-15B326F988A2}"/>
              </a:ext>
            </a:extLst>
          </p:cNvPr>
          <p:cNvSpPr>
            <a:spLocks noGrp="1"/>
          </p:cNvSpPr>
          <p:nvPr>
            <p:ph type="dt" sz="half" idx="10"/>
          </p:nvPr>
        </p:nvSpPr>
        <p:spPr/>
        <p:txBody>
          <a:bodyPr/>
          <a:lstStyle/>
          <a:p>
            <a:fld id="{E9CC885B-4903-4D54-9A93-00025F12DED9}" type="datetimeFigureOut">
              <a:rPr kumimoji="1" lang="ja-JP" altLang="en-US" smtClean="0"/>
              <a:t>2026/3/26</a:t>
            </a:fld>
            <a:endParaRPr kumimoji="1" lang="ja-JP" altLang="en-US"/>
          </a:p>
        </p:txBody>
      </p:sp>
      <p:sp>
        <p:nvSpPr>
          <p:cNvPr id="5" name="フッター プレースホルダー 4">
            <a:extLst>
              <a:ext uri="{FF2B5EF4-FFF2-40B4-BE49-F238E27FC236}">
                <a16:creationId xmlns:a16="http://schemas.microsoft.com/office/drawing/2014/main" id="{C89F0141-2F76-4B73-AAE0-1EDFEEA42E3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1F3A285-8438-4738-B4CE-18FC566351C3}"/>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08140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39AAF0-C896-4BE5-8FCC-34320852482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96C332E-2DEA-4D46-8FEF-31D60DD975B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9D3FC79-3A15-47E8-8DC1-B5A928FF7FF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6AC8BB6-CC26-4AE8-B477-9A47780715C5}"/>
              </a:ext>
            </a:extLst>
          </p:cNvPr>
          <p:cNvSpPr>
            <a:spLocks noGrp="1"/>
          </p:cNvSpPr>
          <p:nvPr>
            <p:ph type="dt" sz="half" idx="10"/>
          </p:nvPr>
        </p:nvSpPr>
        <p:spPr/>
        <p:txBody>
          <a:bodyPr/>
          <a:lstStyle/>
          <a:p>
            <a:fld id="{E9CC885B-4903-4D54-9A93-00025F12DED9}" type="datetimeFigureOut">
              <a:rPr kumimoji="1" lang="ja-JP" altLang="en-US" smtClean="0"/>
              <a:t>2026/3/26</a:t>
            </a:fld>
            <a:endParaRPr kumimoji="1" lang="ja-JP" altLang="en-US"/>
          </a:p>
        </p:txBody>
      </p:sp>
      <p:sp>
        <p:nvSpPr>
          <p:cNvPr id="6" name="フッター プレースホルダー 5">
            <a:extLst>
              <a:ext uri="{FF2B5EF4-FFF2-40B4-BE49-F238E27FC236}">
                <a16:creationId xmlns:a16="http://schemas.microsoft.com/office/drawing/2014/main" id="{0D813CBF-5D01-4CF4-BD63-C8FC321B24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123F9A7-54F5-421C-9A71-CC8C4BC92376}"/>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2028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9A2E9A-2DDB-4057-9711-D792B04FFD0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2E5496D-7437-4ADF-BF05-1B99ACC091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8A11600-06C5-424A-B2EA-FFEF7E75EAA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3408E51-ED83-4218-8378-F0B44E296E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D26C0C0-145F-4A52-BA72-D19A2971D5E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49033F-9C86-42B4-AB90-0FE47F39E39A}"/>
              </a:ext>
            </a:extLst>
          </p:cNvPr>
          <p:cNvSpPr>
            <a:spLocks noGrp="1"/>
          </p:cNvSpPr>
          <p:nvPr>
            <p:ph type="dt" sz="half" idx="10"/>
          </p:nvPr>
        </p:nvSpPr>
        <p:spPr/>
        <p:txBody>
          <a:bodyPr/>
          <a:lstStyle/>
          <a:p>
            <a:fld id="{E9CC885B-4903-4D54-9A93-00025F12DED9}" type="datetimeFigureOut">
              <a:rPr kumimoji="1" lang="ja-JP" altLang="en-US" smtClean="0"/>
              <a:t>2026/3/26</a:t>
            </a:fld>
            <a:endParaRPr kumimoji="1" lang="ja-JP" altLang="en-US"/>
          </a:p>
        </p:txBody>
      </p:sp>
      <p:sp>
        <p:nvSpPr>
          <p:cNvPr id="8" name="フッター プレースホルダー 7">
            <a:extLst>
              <a:ext uri="{FF2B5EF4-FFF2-40B4-BE49-F238E27FC236}">
                <a16:creationId xmlns:a16="http://schemas.microsoft.com/office/drawing/2014/main" id="{F73F9DE8-EAB7-4A80-BF64-725C6DF460D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1D0069B-43F7-430A-8C9D-C2BA7B92ECD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254653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D48D3C-20F1-4E20-8FBC-734E9D946A7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2E416B3-4C21-4278-9B88-62D41335DC9D}"/>
              </a:ext>
            </a:extLst>
          </p:cNvPr>
          <p:cNvSpPr>
            <a:spLocks noGrp="1"/>
          </p:cNvSpPr>
          <p:nvPr>
            <p:ph type="dt" sz="half" idx="10"/>
          </p:nvPr>
        </p:nvSpPr>
        <p:spPr/>
        <p:txBody>
          <a:bodyPr/>
          <a:lstStyle/>
          <a:p>
            <a:fld id="{E9CC885B-4903-4D54-9A93-00025F12DED9}" type="datetimeFigureOut">
              <a:rPr kumimoji="1" lang="ja-JP" altLang="en-US" smtClean="0"/>
              <a:t>2026/3/26</a:t>
            </a:fld>
            <a:endParaRPr kumimoji="1" lang="ja-JP" altLang="en-US"/>
          </a:p>
        </p:txBody>
      </p:sp>
      <p:sp>
        <p:nvSpPr>
          <p:cNvPr id="4" name="フッター プレースホルダー 3">
            <a:extLst>
              <a:ext uri="{FF2B5EF4-FFF2-40B4-BE49-F238E27FC236}">
                <a16:creationId xmlns:a16="http://schemas.microsoft.com/office/drawing/2014/main" id="{3EBA727E-E9E7-4EA2-B6ED-8CF036F2B5D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DC1C47C-5B0A-471B-BB77-77BE62B99175}"/>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5308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55C2DD0-D598-4A5F-B542-7C6806B2F749}"/>
              </a:ext>
            </a:extLst>
          </p:cNvPr>
          <p:cNvSpPr>
            <a:spLocks noGrp="1"/>
          </p:cNvSpPr>
          <p:nvPr>
            <p:ph type="dt" sz="half" idx="10"/>
          </p:nvPr>
        </p:nvSpPr>
        <p:spPr/>
        <p:txBody>
          <a:bodyPr/>
          <a:lstStyle/>
          <a:p>
            <a:fld id="{E9CC885B-4903-4D54-9A93-00025F12DED9}" type="datetimeFigureOut">
              <a:rPr kumimoji="1" lang="ja-JP" altLang="en-US" smtClean="0"/>
              <a:t>2026/3/26</a:t>
            </a:fld>
            <a:endParaRPr kumimoji="1" lang="ja-JP" altLang="en-US"/>
          </a:p>
        </p:txBody>
      </p:sp>
      <p:sp>
        <p:nvSpPr>
          <p:cNvPr id="3" name="フッター プレースホルダー 2">
            <a:extLst>
              <a:ext uri="{FF2B5EF4-FFF2-40B4-BE49-F238E27FC236}">
                <a16:creationId xmlns:a16="http://schemas.microsoft.com/office/drawing/2014/main" id="{2260FD2A-DF3F-46FE-B2F8-14D9A206973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EF1C2C-6093-4ADD-9BFE-41DB125AD37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420414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35797B-0171-40BC-BCA2-0C1BA0D4C30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79CB0DB-618C-450C-BE67-5FD277B25D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2CC888D-BF8F-439D-9FC7-2DD4A8D75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C2FA2E-4305-4946-8BDE-7AE113CDE687}"/>
              </a:ext>
            </a:extLst>
          </p:cNvPr>
          <p:cNvSpPr>
            <a:spLocks noGrp="1"/>
          </p:cNvSpPr>
          <p:nvPr>
            <p:ph type="dt" sz="half" idx="10"/>
          </p:nvPr>
        </p:nvSpPr>
        <p:spPr/>
        <p:txBody>
          <a:bodyPr/>
          <a:lstStyle/>
          <a:p>
            <a:fld id="{E9CC885B-4903-4D54-9A93-00025F12DED9}" type="datetimeFigureOut">
              <a:rPr kumimoji="1" lang="ja-JP" altLang="en-US" smtClean="0"/>
              <a:t>2026/3/26</a:t>
            </a:fld>
            <a:endParaRPr kumimoji="1" lang="ja-JP" altLang="en-US"/>
          </a:p>
        </p:txBody>
      </p:sp>
      <p:sp>
        <p:nvSpPr>
          <p:cNvPr id="6" name="フッター プレースホルダー 5">
            <a:extLst>
              <a:ext uri="{FF2B5EF4-FFF2-40B4-BE49-F238E27FC236}">
                <a16:creationId xmlns:a16="http://schemas.microsoft.com/office/drawing/2014/main" id="{BBA070CF-301C-4595-8007-2A2C19DFE0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3E21C8C-DA9E-4E6B-B45C-C2C4D38971B1}"/>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066929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0F7326-6BA4-4DC0-9519-87D04747ED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A1C2397-9613-4B24-A7D0-9EEE44E01C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5462283-8239-49BE-9D96-00B24831B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F53455D-91B5-4938-AC24-CAFF77A6CD44}"/>
              </a:ext>
            </a:extLst>
          </p:cNvPr>
          <p:cNvSpPr>
            <a:spLocks noGrp="1"/>
          </p:cNvSpPr>
          <p:nvPr>
            <p:ph type="dt" sz="half" idx="10"/>
          </p:nvPr>
        </p:nvSpPr>
        <p:spPr/>
        <p:txBody>
          <a:bodyPr/>
          <a:lstStyle/>
          <a:p>
            <a:fld id="{E9CC885B-4903-4D54-9A93-00025F12DED9}" type="datetimeFigureOut">
              <a:rPr kumimoji="1" lang="ja-JP" altLang="en-US" smtClean="0"/>
              <a:t>2026/3/26</a:t>
            </a:fld>
            <a:endParaRPr kumimoji="1" lang="ja-JP" altLang="en-US"/>
          </a:p>
        </p:txBody>
      </p:sp>
      <p:sp>
        <p:nvSpPr>
          <p:cNvPr id="6" name="フッター プレースホルダー 5">
            <a:extLst>
              <a:ext uri="{FF2B5EF4-FFF2-40B4-BE49-F238E27FC236}">
                <a16:creationId xmlns:a16="http://schemas.microsoft.com/office/drawing/2014/main" id="{A7F23C7B-CEBC-48FC-81DC-98AFE68C2D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E65B5D-4A4C-4A6E-8AEB-3D88DC58273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14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AE957E-488D-43B9-8182-2A1DEEF0F7D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E67B1EC-AFC1-41D0-BBB1-9A2E85E139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1B76048-AF91-4C32-A054-6305C2928E9F}"/>
              </a:ext>
            </a:extLst>
          </p:cNvPr>
          <p:cNvSpPr>
            <a:spLocks noGrp="1"/>
          </p:cNvSpPr>
          <p:nvPr>
            <p:ph type="dt" sz="half" idx="10"/>
          </p:nvPr>
        </p:nvSpPr>
        <p:spPr/>
        <p:txBody>
          <a:bodyPr/>
          <a:lstStyle/>
          <a:p>
            <a:fld id="{E9CC885B-4903-4D54-9A93-00025F12DED9}" type="datetimeFigureOut">
              <a:rPr kumimoji="1" lang="ja-JP" altLang="en-US" smtClean="0"/>
              <a:t>2026/3/26</a:t>
            </a:fld>
            <a:endParaRPr kumimoji="1" lang="ja-JP" altLang="en-US"/>
          </a:p>
        </p:txBody>
      </p:sp>
      <p:sp>
        <p:nvSpPr>
          <p:cNvPr id="5" name="フッター プレースホルダー 4">
            <a:extLst>
              <a:ext uri="{FF2B5EF4-FFF2-40B4-BE49-F238E27FC236}">
                <a16:creationId xmlns:a16="http://schemas.microsoft.com/office/drawing/2014/main" id="{98C66A49-F960-4196-B16B-31B98B3401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7A86F7-B140-4439-A33B-63EA8498DCAB}"/>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48563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4FA5DEF-DC74-4F38-9DA0-1EE9752F5F3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3C9EE93-ED20-4B3B-93FB-5A088C436B2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370666-1A4C-42B1-8748-A0D1453943A4}"/>
              </a:ext>
            </a:extLst>
          </p:cNvPr>
          <p:cNvSpPr>
            <a:spLocks noGrp="1"/>
          </p:cNvSpPr>
          <p:nvPr>
            <p:ph type="dt" sz="half" idx="10"/>
          </p:nvPr>
        </p:nvSpPr>
        <p:spPr/>
        <p:txBody>
          <a:bodyPr/>
          <a:lstStyle/>
          <a:p>
            <a:fld id="{E9CC885B-4903-4D54-9A93-00025F12DED9}" type="datetimeFigureOut">
              <a:rPr kumimoji="1" lang="ja-JP" altLang="en-US" smtClean="0"/>
              <a:t>2026/3/26</a:t>
            </a:fld>
            <a:endParaRPr kumimoji="1" lang="ja-JP" altLang="en-US"/>
          </a:p>
        </p:txBody>
      </p:sp>
      <p:sp>
        <p:nvSpPr>
          <p:cNvPr id="5" name="フッター プレースホルダー 4">
            <a:extLst>
              <a:ext uri="{FF2B5EF4-FFF2-40B4-BE49-F238E27FC236}">
                <a16:creationId xmlns:a16="http://schemas.microsoft.com/office/drawing/2014/main" id="{E26EC7E2-E7E6-45F2-BF6D-CDF318CECC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DE4F59-4276-46E3-AE2A-D255BC7BB35C}"/>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42850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527E70E-5441-439A-8EA3-0826A036FC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7C9CE9-5A22-43DB-862A-3B24B2BF15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45D76C-CB70-434A-A116-22531EEB4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885B-4903-4D54-9A93-00025F12DED9}" type="datetimeFigureOut">
              <a:rPr kumimoji="1" lang="ja-JP" altLang="en-US" smtClean="0"/>
              <a:t>2026/3/26</a:t>
            </a:fld>
            <a:endParaRPr kumimoji="1" lang="ja-JP" altLang="en-US"/>
          </a:p>
        </p:txBody>
      </p:sp>
      <p:sp>
        <p:nvSpPr>
          <p:cNvPr id="5" name="フッター プレースホルダー 4">
            <a:extLst>
              <a:ext uri="{FF2B5EF4-FFF2-40B4-BE49-F238E27FC236}">
                <a16:creationId xmlns:a16="http://schemas.microsoft.com/office/drawing/2014/main" id="{2505E6D4-441B-4864-8545-0FDE04F664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FFD1810-F6DD-4BB4-8465-A3A3F3BF3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651784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571303" cy="830997"/>
          </a:xfrm>
          <a:prstGeom prst="rect">
            <a:avLst/>
          </a:prstGeom>
          <a:noFill/>
        </p:spPr>
        <p:txBody>
          <a:bodyPr wrap="none" rtlCol="0">
            <a:spAutoFit/>
          </a:bodyPr>
          <a:lstStyle/>
          <a:p>
            <a:r>
              <a:rPr kumimoji="1" lang="en-US" altLang="ja-JP" sz="2400" dirty="0"/>
              <a:t>UE</a:t>
            </a:r>
            <a:r>
              <a:rPr kumimoji="1" lang="ja-JP" altLang="en-US" sz="2400" dirty="0"/>
              <a:t>には</a:t>
            </a:r>
            <a:r>
              <a:rPr kumimoji="1" lang="ja-JP" altLang="en-US" sz="2400" b="1" dirty="0">
                <a:solidFill>
                  <a:srgbClr val="FF0000"/>
                </a:solidFill>
              </a:rPr>
              <a:t>ナイアガラエフェクトシステム</a:t>
            </a:r>
            <a:r>
              <a:rPr kumimoji="1" lang="ja-JP" altLang="en-US" sz="2400" dirty="0"/>
              <a:t>という、</a:t>
            </a:r>
            <a:endParaRPr kumimoji="1" lang="en-US" altLang="ja-JP" sz="2400" dirty="0"/>
          </a:p>
          <a:p>
            <a:r>
              <a:rPr lang="ja-JP" altLang="en-US" sz="2400" dirty="0"/>
              <a:t>エフェクト制作をサポートするシステムがあります。</a:t>
            </a:r>
            <a:endParaRPr kumimoji="1" lang="en-US" altLang="ja-JP" sz="2400" dirty="0"/>
          </a:p>
        </p:txBody>
      </p:sp>
      <p:pic>
        <p:nvPicPr>
          <p:cNvPr id="5" name="図 4">
            <a:extLst>
              <a:ext uri="{FF2B5EF4-FFF2-40B4-BE49-F238E27FC236}">
                <a16:creationId xmlns:a16="http://schemas.microsoft.com/office/drawing/2014/main" id="{40F1B870-A0CA-4398-8F0F-28A68DA5A28B}"/>
              </a:ext>
            </a:extLst>
          </p:cNvPr>
          <p:cNvPicPr>
            <a:picLocks noChangeAspect="1"/>
          </p:cNvPicPr>
          <p:nvPr/>
        </p:nvPicPr>
        <p:blipFill>
          <a:blip r:embed="rId2"/>
          <a:stretch>
            <a:fillRect/>
          </a:stretch>
        </p:blipFill>
        <p:spPr>
          <a:xfrm>
            <a:off x="567542" y="2187126"/>
            <a:ext cx="7778599" cy="4179122"/>
          </a:xfrm>
          <a:prstGeom prst="rect">
            <a:avLst/>
          </a:prstGeom>
        </p:spPr>
      </p:pic>
    </p:spTree>
    <p:extLst>
      <p:ext uri="{BB962C8B-B14F-4D97-AF65-F5344CB8AC3E}">
        <p14:creationId xmlns:p14="http://schemas.microsoft.com/office/powerpoint/2010/main" val="410028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955750" cy="830997"/>
          </a:xfrm>
          <a:prstGeom prst="rect">
            <a:avLst/>
          </a:prstGeom>
          <a:noFill/>
        </p:spPr>
        <p:txBody>
          <a:bodyPr wrap="none" rtlCol="0">
            <a:spAutoFit/>
          </a:bodyPr>
          <a:lstStyle/>
          <a:p>
            <a:r>
              <a:rPr kumimoji="1" lang="ja-JP" altLang="en-US" sz="2400" dirty="0"/>
              <a:t>以前の弾丸発射のプロジェクトを開きましょう。</a:t>
            </a:r>
            <a:endParaRPr kumimoji="1" lang="en-US" altLang="ja-JP" sz="2400" dirty="0"/>
          </a:p>
          <a:p>
            <a:r>
              <a:rPr lang="ja-JP" altLang="en-US" sz="2400" dirty="0"/>
              <a:t>弾丸のヒットエフェクトを作成します。</a:t>
            </a:r>
            <a:endParaRPr kumimoji="1" lang="en-US" altLang="ja-JP" sz="2400" dirty="0"/>
          </a:p>
        </p:txBody>
      </p:sp>
      <p:pic>
        <p:nvPicPr>
          <p:cNvPr id="3" name="図 2">
            <a:extLst>
              <a:ext uri="{FF2B5EF4-FFF2-40B4-BE49-F238E27FC236}">
                <a16:creationId xmlns:a16="http://schemas.microsoft.com/office/drawing/2014/main" id="{53948A2C-A4B9-4A20-9A9A-9BC4819ED2AF}"/>
              </a:ext>
            </a:extLst>
          </p:cNvPr>
          <p:cNvPicPr>
            <a:picLocks noChangeAspect="1"/>
          </p:cNvPicPr>
          <p:nvPr/>
        </p:nvPicPr>
        <p:blipFill>
          <a:blip r:embed="rId2"/>
          <a:stretch>
            <a:fillRect/>
          </a:stretch>
        </p:blipFill>
        <p:spPr>
          <a:xfrm>
            <a:off x="567542" y="2187126"/>
            <a:ext cx="6419123" cy="4178920"/>
          </a:xfrm>
          <a:prstGeom prst="rect">
            <a:avLst/>
          </a:prstGeom>
        </p:spPr>
      </p:pic>
    </p:spTree>
    <p:extLst>
      <p:ext uri="{BB962C8B-B14F-4D97-AF65-F5344CB8AC3E}">
        <p14:creationId xmlns:p14="http://schemas.microsoft.com/office/powerpoint/2010/main" val="42131980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725739" cy="461665"/>
          </a:xfrm>
          <a:prstGeom prst="rect">
            <a:avLst/>
          </a:prstGeom>
          <a:noFill/>
        </p:spPr>
        <p:txBody>
          <a:bodyPr wrap="none" rtlCol="0">
            <a:spAutoFit/>
          </a:bodyPr>
          <a:lstStyle/>
          <a:p>
            <a:r>
              <a:rPr kumimoji="1" lang="ja-JP" altLang="en-US" sz="2400" dirty="0"/>
              <a:t>ナイアガラもコンテンツブラウザを右クリックすると追加できます。</a:t>
            </a:r>
            <a:endParaRPr kumimoji="1" lang="en-US" altLang="ja-JP" sz="2400" dirty="0"/>
          </a:p>
        </p:txBody>
      </p:sp>
      <p:pic>
        <p:nvPicPr>
          <p:cNvPr id="5" name="図 4">
            <a:extLst>
              <a:ext uri="{FF2B5EF4-FFF2-40B4-BE49-F238E27FC236}">
                <a16:creationId xmlns:a16="http://schemas.microsoft.com/office/drawing/2014/main" id="{3FA6D0CF-8426-4303-9866-22A361E238E8}"/>
              </a:ext>
            </a:extLst>
          </p:cNvPr>
          <p:cNvPicPr>
            <a:picLocks noChangeAspect="1"/>
          </p:cNvPicPr>
          <p:nvPr/>
        </p:nvPicPr>
        <p:blipFill>
          <a:blip r:embed="rId2"/>
          <a:stretch>
            <a:fillRect/>
          </a:stretch>
        </p:blipFill>
        <p:spPr>
          <a:xfrm>
            <a:off x="567542" y="1817794"/>
            <a:ext cx="3094573" cy="4548252"/>
          </a:xfrm>
          <a:prstGeom prst="rect">
            <a:avLst/>
          </a:prstGeom>
        </p:spPr>
      </p:pic>
    </p:spTree>
    <p:extLst>
      <p:ext uri="{BB962C8B-B14F-4D97-AF65-F5344CB8AC3E}">
        <p14:creationId xmlns:p14="http://schemas.microsoft.com/office/powerpoint/2010/main" val="3232970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925294" cy="830997"/>
          </a:xfrm>
          <a:prstGeom prst="rect">
            <a:avLst/>
          </a:prstGeom>
          <a:noFill/>
        </p:spPr>
        <p:txBody>
          <a:bodyPr wrap="none" rtlCol="0">
            <a:spAutoFit/>
          </a:bodyPr>
          <a:lstStyle/>
          <a:p>
            <a:r>
              <a:rPr kumimoji="1" lang="ja-JP" altLang="en-US" sz="2400" dirty="0"/>
              <a:t>テンプレートがいくつもありますが、</a:t>
            </a:r>
            <a:endParaRPr kumimoji="1" lang="en-US" altLang="ja-JP" sz="2400" dirty="0"/>
          </a:p>
          <a:p>
            <a:r>
              <a:rPr lang="ja-JP" altLang="en-US" sz="2400" dirty="0"/>
              <a:t>今回は「</a:t>
            </a:r>
            <a:r>
              <a:rPr lang="en-US" altLang="ja-JP" sz="2400" b="1" dirty="0" err="1">
                <a:solidFill>
                  <a:srgbClr val="FF0000"/>
                </a:solidFill>
              </a:rPr>
              <a:t>SimpleSpriteBurst</a:t>
            </a:r>
            <a:r>
              <a:rPr lang="ja-JP" altLang="en-US" sz="2400" dirty="0"/>
              <a:t>」から制作します。</a:t>
            </a:r>
            <a:endParaRPr kumimoji="1" lang="en-US" altLang="ja-JP" sz="2400" dirty="0"/>
          </a:p>
        </p:txBody>
      </p:sp>
      <p:pic>
        <p:nvPicPr>
          <p:cNvPr id="3" name="図 2">
            <a:extLst>
              <a:ext uri="{FF2B5EF4-FFF2-40B4-BE49-F238E27FC236}">
                <a16:creationId xmlns:a16="http://schemas.microsoft.com/office/drawing/2014/main" id="{955184F1-19AC-4C94-822F-49B75BCD876D}"/>
              </a:ext>
            </a:extLst>
          </p:cNvPr>
          <p:cNvPicPr>
            <a:picLocks noChangeAspect="1"/>
          </p:cNvPicPr>
          <p:nvPr/>
        </p:nvPicPr>
        <p:blipFill>
          <a:blip r:embed="rId2"/>
          <a:stretch>
            <a:fillRect/>
          </a:stretch>
        </p:blipFill>
        <p:spPr>
          <a:xfrm>
            <a:off x="567542" y="2187126"/>
            <a:ext cx="7213823" cy="4055841"/>
          </a:xfrm>
          <a:prstGeom prst="rect">
            <a:avLst/>
          </a:prstGeom>
        </p:spPr>
      </p:pic>
    </p:spTree>
    <p:extLst>
      <p:ext uri="{BB962C8B-B14F-4D97-AF65-F5344CB8AC3E}">
        <p14:creationId xmlns:p14="http://schemas.microsoft.com/office/powerpoint/2010/main" val="22591410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494633" cy="3416320"/>
          </a:xfrm>
          <a:prstGeom prst="rect">
            <a:avLst/>
          </a:prstGeom>
          <a:noFill/>
        </p:spPr>
        <p:txBody>
          <a:bodyPr wrap="none" rtlCol="0">
            <a:spAutoFit/>
          </a:bodyPr>
          <a:lstStyle/>
          <a:p>
            <a:r>
              <a:rPr kumimoji="1" lang="ja-JP" altLang="en-US" sz="2400" dirty="0"/>
              <a:t>ナイアガラは主に以下の</a:t>
            </a:r>
            <a:r>
              <a:rPr lang="ja-JP" altLang="en-US" sz="2400" dirty="0"/>
              <a:t>２つの要素から構成されています。</a:t>
            </a:r>
            <a:endParaRPr lang="en-US" altLang="ja-JP" sz="2400" dirty="0"/>
          </a:p>
          <a:p>
            <a:endParaRPr kumimoji="1" lang="en-US" altLang="ja-JP" sz="2400" dirty="0"/>
          </a:p>
          <a:p>
            <a:r>
              <a:rPr lang="ja-JP" altLang="en-US" sz="2400" b="1" dirty="0">
                <a:solidFill>
                  <a:srgbClr val="FF0000"/>
                </a:solidFill>
              </a:rPr>
              <a:t>■エミッター</a:t>
            </a:r>
            <a:endParaRPr lang="en-US" altLang="ja-JP" sz="2400" b="1" dirty="0">
              <a:solidFill>
                <a:srgbClr val="FF0000"/>
              </a:solidFill>
            </a:endParaRPr>
          </a:p>
          <a:p>
            <a:r>
              <a:rPr kumimoji="1" lang="ja-JP" altLang="en-US" sz="2400" dirty="0"/>
              <a:t>エフェクトを発生させるもの。</a:t>
            </a:r>
            <a:endParaRPr kumimoji="1" lang="en-US" altLang="ja-JP" sz="2400" dirty="0"/>
          </a:p>
          <a:p>
            <a:endParaRPr lang="en-US" altLang="ja-JP" sz="2400" dirty="0"/>
          </a:p>
          <a:p>
            <a:r>
              <a:rPr kumimoji="1" lang="ja-JP" altLang="en-US" sz="2400" b="1" dirty="0">
                <a:solidFill>
                  <a:srgbClr val="FF0000"/>
                </a:solidFill>
              </a:rPr>
              <a:t>■パーティクル</a:t>
            </a:r>
            <a:endParaRPr kumimoji="1" lang="en-US" altLang="ja-JP" sz="2400" b="1" dirty="0">
              <a:solidFill>
                <a:srgbClr val="FF0000"/>
              </a:solidFill>
            </a:endParaRPr>
          </a:p>
          <a:p>
            <a:r>
              <a:rPr lang="ja-JP" altLang="en-US" sz="2400" dirty="0"/>
              <a:t>エフェクトで表示される１つ１つの粒子</a:t>
            </a:r>
            <a:endParaRPr lang="en-US" altLang="ja-JP" sz="2400" dirty="0"/>
          </a:p>
          <a:p>
            <a:endParaRPr kumimoji="1" lang="en-US" altLang="ja-JP" sz="2400" dirty="0"/>
          </a:p>
          <a:p>
            <a:r>
              <a:rPr lang="ja-JP" altLang="en-US" sz="2400" dirty="0"/>
              <a:t>これらを設定してエフェクトを作っていきます。</a:t>
            </a:r>
            <a:endParaRPr kumimoji="1" lang="en-US" altLang="ja-JP" sz="2400" dirty="0"/>
          </a:p>
        </p:txBody>
      </p:sp>
    </p:spTree>
    <p:extLst>
      <p:ext uri="{BB962C8B-B14F-4D97-AF65-F5344CB8AC3E}">
        <p14:creationId xmlns:p14="http://schemas.microsoft.com/office/powerpoint/2010/main" val="37153566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1416908" cy="830997"/>
          </a:xfrm>
          <a:prstGeom prst="rect">
            <a:avLst/>
          </a:prstGeom>
          <a:noFill/>
        </p:spPr>
        <p:txBody>
          <a:bodyPr wrap="none" rtlCol="0">
            <a:spAutoFit/>
          </a:bodyPr>
          <a:lstStyle/>
          <a:p>
            <a:r>
              <a:rPr kumimoji="1" lang="ja-JP" altLang="en-US" sz="2400" dirty="0"/>
              <a:t>まずは発生させる粒子の数を設定します。</a:t>
            </a:r>
            <a:endParaRPr kumimoji="1" lang="en-US" altLang="ja-JP" sz="2400" dirty="0"/>
          </a:p>
          <a:p>
            <a:r>
              <a:rPr lang="ja-JP" altLang="en-US" sz="2400" dirty="0"/>
              <a:t>「</a:t>
            </a:r>
            <a:r>
              <a:rPr lang="ja-JP" altLang="en-US" sz="2400" b="1" dirty="0">
                <a:solidFill>
                  <a:srgbClr val="FF0000"/>
                </a:solidFill>
              </a:rPr>
              <a:t>エミッタの更新</a:t>
            </a:r>
            <a:r>
              <a:rPr lang="ja-JP" altLang="en-US" sz="2400" dirty="0"/>
              <a:t>」にある「</a:t>
            </a:r>
            <a:r>
              <a:rPr lang="en-US" altLang="ja-JP" sz="2400" b="1" dirty="0">
                <a:solidFill>
                  <a:srgbClr val="FF0000"/>
                </a:solidFill>
              </a:rPr>
              <a:t>Spawn Burst Instantaneous</a:t>
            </a:r>
            <a:r>
              <a:rPr lang="ja-JP" altLang="en-US" sz="2400" dirty="0"/>
              <a:t>」を選択しましょう。</a:t>
            </a:r>
            <a:endParaRPr kumimoji="1" lang="en-US" altLang="ja-JP" sz="2400" dirty="0"/>
          </a:p>
        </p:txBody>
      </p:sp>
      <p:pic>
        <p:nvPicPr>
          <p:cNvPr id="3" name="図 2">
            <a:extLst>
              <a:ext uri="{FF2B5EF4-FFF2-40B4-BE49-F238E27FC236}">
                <a16:creationId xmlns:a16="http://schemas.microsoft.com/office/drawing/2014/main" id="{36A20B82-9EEA-42E5-9D2F-ECC7E7B5BDAD}"/>
              </a:ext>
            </a:extLst>
          </p:cNvPr>
          <p:cNvPicPr>
            <a:picLocks noChangeAspect="1"/>
          </p:cNvPicPr>
          <p:nvPr/>
        </p:nvPicPr>
        <p:blipFill>
          <a:blip r:embed="rId2"/>
          <a:stretch>
            <a:fillRect/>
          </a:stretch>
        </p:blipFill>
        <p:spPr>
          <a:xfrm>
            <a:off x="567542" y="2187126"/>
            <a:ext cx="2489423" cy="4496314"/>
          </a:xfrm>
          <a:prstGeom prst="rect">
            <a:avLst/>
          </a:prstGeom>
        </p:spPr>
      </p:pic>
    </p:spTree>
    <p:extLst>
      <p:ext uri="{BB962C8B-B14F-4D97-AF65-F5344CB8AC3E}">
        <p14:creationId xmlns:p14="http://schemas.microsoft.com/office/powerpoint/2010/main" val="25861794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736413" cy="461665"/>
          </a:xfrm>
          <a:prstGeom prst="rect">
            <a:avLst/>
          </a:prstGeom>
          <a:noFill/>
        </p:spPr>
        <p:txBody>
          <a:bodyPr wrap="none" rtlCol="0">
            <a:spAutoFit/>
          </a:bodyPr>
          <a:lstStyle/>
          <a:p>
            <a:r>
              <a:rPr kumimoji="1" lang="ja-JP" altLang="en-US" sz="2400" dirty="0"/>
              <a:t>詳細の「</a:t>
            </a:r>
            <a:r>
              <a:rPr kumimoji="1" lang="en-US" altLang="ja-JP" sz="2400" b="1" dirty="0">
                <a:solidFill>
                  <a:srgbClr val="FF0000"/>
                </a:solidFill>
              </a:rPr>
              <a:t>Spawn Count</a:t>
            </a:r>
            <a:r>
              <a:rPr kumimoji="1" lang="ja-JP" altLang="en-US" sz="2400" dirty="0"/>
              <a:t>」で粒子の数を設定できます。</a:t>
            </a:r>
            <a:endParaRPr kumimoji="1" lang="en-US" altLang="ja-JP" sz="2400" dirty="0"/>
          </a:p>
        </p:txBody>
      </p:sp>
      <p:pic>
        <p:nvPicPr>
          <p:cNvPr id="5" name="図 4">
            <a:extLst>
              <a:ext uri="{FF2B5EF4-FFF2-40B4-BE49-F238E27FC236}">
                <a16:creationId xmlns:a16="http://schemas.microsoft.com/office/drawing/2014/main" id="{5A03A9FD-4627-4D21-BA50-80D0CA1F6F0C}"/>
              </a:ext>
            </a:extLst>
          </p:cNvPr>
          <p:cNvPicPr>
            <a:picLocks noChangeAspect="1"/>
          </p:cNvPicPr>
          <p:nvPr/>
        </p:nvPicPr>
        <p:blipFill>
          <a:blip r:embed="rId2"/>
          <a:stretch>
            <a:fillRect/>
          </a:stretch>
        </p:blipFill>
        <p:spPr>
          <a:xfrm>
            <a:off x="567542" y="1817794"/>
            <a:ext cx="6014738" cy="4000300"/>
          </a:xfrm>
          <a:prstGeom prst="rect">
            <a:avLst/>
          </a:prstGeom>
        </p:spPr>
      </p:pic>
      <p:sp>
        <p:nvSpPr>
          <p:cNvPr id="7" name="テキスト ボックス 6">
            <a:extLst>
              <a:ext uri="{FF2B5EF4-FFF2-40B4-BE49-F238E27FC236}">
                <a16:creationId xmlns:a16="http://schemas.microsoft.com/office/drawing/2014/main" id="{31CCC1CE-9494-483E-AF30-7A3E3685F824}"/>
              </a:ext>
            </a:extLst>
          </p:cNvPr>
          <p:cNvSpPr txBox="1"/>
          <p:nvPr/>
        </p:nvSpPr>
        <p:spPr>
          <a:xfrm>
            <a:off x="567541" y="5957794"/>
            <a:ext cx="8186857" cy="461665"/>
          </a:xfrm>
          <a:prstGeom prst="rect">
            <a:avLst/>
          </a:prstGeom>
          <a:noFill/>
        </p:spPr>
        <p:txBody>
          <a:bodyPr wrap="none" rtlCol="0">
            <a:spAutoFit/>
          </a:bodyPr>
          <a:lstStyle/>
          <a:p>
            <a:r>
              <a:rPr kumimoji="1" lang="en-US" altLang="ja-JP" sz="2400" dirty="0"/>
              <a:t>※</a:t>
            </a:r>
            <a:r>
              <a:rPr lang="ja-JP" altLang="en-US" sz="2400" dirty="0"/>
              <a:t>全て同じ位置に出てるので見た目は変わりません。。。</a:t>
            </a:r>
            <a:endParaRPr kumimoji="1" lang="en-US" altLang="ja-JP" sz="2400" dirty="0"/>
          </a:p>
        </p:txBody>
      </p:sp>
    </p:spTree>
    <p:extLst>
      <p:ext uri="{BB962C8B-B14F-4D97-AF65-F5344CB8AC3E}">
        <p14:creationId xmlns:p14="http://schemas.microsoft.com/office/powerpoint/2010/main" val="31411973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434267" cy="830997"/>
          </a:xfrm>
          <a:prstGeom prst="rect">
            <a:avLst/>
          </a:prstGeom>
          <a:noFill/>
        </p:spPr>
        <p:txBody>
          <a:bodyPr wrap="none" rtlCol="0">
            <a:spAutoFit/>
          </a:bodyPr>
          <a:lstStyle/>
          <a:p>
            <a:r>
              <a:rPr kumimoji="1" lang="ja-JP" altLang="en-US" sz="2400" dirty="0"/>
              <a:t>エフェクトの形状を設定します。</a:t>
            </a:r>
            <a:endParaRPr kumimoji="1" lang="en-US" altLang="ja-JP" sz="2400" dirty="0"/>
          </a:p>
          <a:p>
            <a:r>
              <a:rPr lang="ja-JP" altLang="en-US" sz="2400" dirty="0"/>
              <a:t>「</a:t>
            </a:r>
            <a:r>
              <a:rPr lang="ja-JP" altLang="en-US" sz="2400" b="1" dirty="0">
                <a:solidFill>
                  <a:srgbClr val="FF0000"/>
                </a:solidFill>
              </a:rPr>
              <a:t>パーティクルのスポーン</a:t>
            </a:r>
            <a:r>
              <a:rPr lang="ja-JP" altLang="en-US" sz="2400" dirty="0"/>
              <a:t>」から「</a:t>
            </a:r>
            <a:r>
              <a:rPr lang="en-US" altLang="ja-JP" sz="2400" b="1" dirty="0">
                <a:solidFill>
                  <a:srgbClr val="FF0000"/>
                </a:solidFill>
              </a:rPr>
              <a:t>Shape Location</a:t>
            </a:r>
            <a:r>
              <a:rPr lang="ja-JP" altLang="en-US" sz="2400" dirty="0"/>
              <a:t>」を追加しましょう。</a:t>
            </a:r>
            <a:endParaRPr kumimoji="1" lang="en-US" altLang="ja-JP" sz="2400" dirty="0"/>
          </a:p>
        </p:txBody>
      </p:sp>
      <p:pic>
        <p:nvPicPr>
          <p:cNvPr id="3" name="図 2">
            <a:extLst>
              <a:ext uri="{FF2B5EF4-FFF2-40B4-BE49-F238E27FC236}">
                <a16:creationId xmlns:a16="http://schemas.microsoft.com/office/drawing/2014/main" id="{0C241560-587B-429B-BF46-A44F189DAB14}"/>
              </a:ext>
            </a:extLst>
          </p:cNvPr>
          <p:cNvPicPr>
            <a:picLocks noChangeAspect="1"/>
          </p:cNvPicPr>
          <p:nvPr/>
        </p:nvPicPr>
        <p:blipFill>
          <a:blip r:embed="rId2"/>
          <a:stretch>
            <a:fillRect/>
          </a:stretch>
        </p:blipFill>
        <p:spPr>
          <a:xfrm>
            <a:off x="567541" y="2187125"/>
            <a:ext cx="7491739" cy="3454445"/>
          </a:xfrm>
          <a:prstGeom prst="rect">
            <a:avLst/>
          </a:prstGeom>
        </p:spPr>
      </p:pic>
    </p:spTree>
    <p:extLst>
      <p:ext uri="{BB962C8B-B14F-4D97-AF65-F5344CB8AC3E}">
        <p14:creationId xmlns:p14="http://schemas.microsoft.com/office/powerpoint/2010/main" val="16061959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404865" cy="830997"/>
          </a:xfrm>
          <a:prstGeom prst="rect">
            <a:avLst/>
          </a:prstGeom>
          <a:noFill/>
        </p:spPr>
        <p:txBody>
          <a:bodyPr wrap="none" rtlCol="0">
            <a:spAutoFit/>
          </a:bodyPr>
          <a:lstStyle/>
          <a:p>
            <a:r>
              <a:rPr kumimoji="1" lang="ja-JP" altLang="en-US" sz="2400" dirty="0"/>
              <a:t>「</a:t>
            </a:r>
            <a:r>
              <a:rPr kumimoji="1" lang="en-US" altLang="ja-JP" sz="2400" b="1" dirty="0">
                <a:solidFill>
                  <a:srgbClr val="FF0000"/>
                </a:solidFill>
              </a:rPr>
              <a:t>Shape Primitive</a:t>
            </a:r>
            <a:r>
              <a:rPr kumimoji="1" lang="ja-JP" altLang="en-US" sz="2400" dirty="0"/>
              <a:t>」から発生位置の形状を選択できます。</a:t>
            </a:r>
            <a:endParaRPr kumimoji="1" lang="en-US" altLang="ja-JP" sz="2400" dirty="0"/>
          </a:p>
          <a:p>
            <a:r>
              <a:rPr lang="ja-JP" altLang="en-US" sz="2400" dirty="0"/>
              <a:t>色々切り替えて確認してみましょう。</a:t>
            </a:r>
            <a:endParaRPr kumimoji="1" lang="en-US" altLang="ja-JP" sz="2400" dirty="0"/>
          </a:p>
        </p:txBody>
      </p:sp>
      <p:pic>
        <p:nvPicPr>
          <p:cNvPr id="5" name="図 4">
            <a:extLst>
              <a:ext uri="{FF2B5EF4-FFF2-40B4-BE49-F238E27FC236}">
                <a16:creationId xmlns:a16="http://schemas.microsoft.com/office/drawing/2014/main" id="{9FCA370F-832C-467A-BB37-06698A07C38B}"/>
              </a:ext>
            </a:extLst>
          </p:cNvPr>
          <p:cNvPicPr>
            <a:picLocks noChangeAspect="1"/>
          </p:cNvPicPr>
          <p:nvPr/>
        </p:nvPicPr>
        <p:blipFill>
          <a:blip r:embed="rId2"/>
          <a:stretch>
            <a:fillRect/>
          </a:stretch>
        </p:blipFill>
        <p:spPr>
          <a:xfrm>
            <a:off x="567542" y="2187126"/>
            <a:ext cx="6056196" cy="3792333"/>
          </a:xfrm>
          <a:prstGeom prst="rect">
            <a:avLst/>
          </a:prstGeom>
        </p:spPr>
      </p:pic>
      <p:sp>
        <p:nvSpPr>
          <p:cNvPr id="7" name="矢印: 右 6">
            <a:extLst>
              <a:ext uri="{FF2B5EF4-FFF2-40B4-BE49-F238E27FC236}">
                <a16:creationId xmlns:a16="http://schemas.microsoft.com/office/drawing/2014/main" id="{276F7436-8293-46BC-91CA-A56351A0E615}"/>
              </a:ext>
            </a:extLst>
          </p:cNvPr>
          <p:cNvSpPr/>
          <p:nvPr/>
        </p:nvSpPr>
        <p:spPr>
          <a:xfrm rot="13377481">
            <a:off x="3032381" y="5316071"/>
            <a:ext cx="519953" cy="331694"/>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0984605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759403" cy="830997"/>
          </a:xfrm>
          <a:prstGeom prst="rect">
            <a:avLst/>
          </a:prstGeom>
          <a:noFill/>
        </p:spPr>
        <p:txBody>
          <a:bodyPr wrap="none" rtlCol="0">
            <a:spAutoFit/>
          </a:bodyPr>
          <a:lstStyle/>
          <a:p>
            <a:r>
              <a:rPr kumimoji="1" lang="ja-JP" altLang="en-US" sz="2400" dirty="0"/>
              <a:t>「</a:t>
            </a:r>
            <a:r>
              <a:rPr kumimoji="1" lang="ja-JP" altLang="en-US" sz="2400" b="1" dirty="0">
                <a:solidFill>
                  <a:srgbClr val="FF0000"/>
                </a:solidFill>
              </a:rPr>
              <a:t>パーティクルのスポーン</a:t>
            </a:r>
            <a:r>
              <a:rPr kumimoji="1" lang="ja-JP" altLang="en-US" sz="2400" dirty="0"/>
              <a:t>」に「</a:t>
            </a:r>
            <a:r>
              <a:rPr kumimoji="1" lang="en-US" altLang="ja-JP" sz="2400" b="1" dirty="0">
                <a:solidFill>
                  <a:srgbClr val="FF0000"/>
                </a:solidFill>
              </a:rPr>
              <a:t>Add Velocity</a:t>
            </a:r>
            <a:r>
              <a:rPr kumimoji="1" lang="ja-JP" altLang="en-US" sz="2400" dirty="0"/>
              <a:t>」を追加しましょう。</a:t>
            </a:r>
            <a:endParaRPr kumimoji="1" lang="en-US" altLang="ja-JP" sz="2400" dirty="0"/>
          </a:p>
          <a:p>
            <a:r>
              <a:rPr lang="ja-JP" altLang="en-US" sz="2400" dirty="0"/>
              <a:t>これで</a:t>
            </a:r>
            <a:r>
              <a:rPr lang="ja-JP" altLang="en-US" sz="2400" b="1" dirty="0">
                <a:solidFill>
                  <a:srgbClr val="FF0000"/>
                </a:solidFill>
              </a:rPr>
              <a:t>粒子に</a:t>
            </a:r>
            <a:r>
              <a:rPr lang="en-US" altLang="ja-JP" sz="2400" b="1" dirty="0">
                <a:solidFill>
                  <a:srgbClr val="FF0000"/>
                </a:solidFill>
              </a:rPr>
              <a:t>Velocity</a:t>
            </a:r>
            <a:r>
              <a:rPr lang="ja-JP" altLang="en-US" sz="2400" b="1" dirty="0">
                <a:solidFill>
                  <a:srgbClr val="FF0000"/>
                </a:solidFill>
              </a:rPr>
              <a:t>（移動ベクトル）を与えられます。</a:t>
            </a:r>
            <a:endParaRPr kumimoji="1" lang="en-US" altLang="ja-JP" sz="2400" b="1" dirty="0">
              <a:solidFill>
                <a:srgbClr val="FF0000"/>
              </a:solidFill>
            </a:endParaRPr>
          </a:p>
        </p:txBody>
      </p:sp>
      <p:pic>
        <p:nvPicPr>
          <p:cNvPr id="3" name="図 2">
            <a:extLst>
              <a:ext uri="{FF2B5EF4-FFF2-40B4-BE49-F238E27FC236}">
                <a16:creationId xmlns:a16="http://schemas.microsoft.com/office/drawing/2014/main" id="{017AAF50-21CD-47EF-A1C0-93C88EEAB151}"/>
              </a:ext>
            </a:extLst>
          </p:cNvPr>
          <p:cNvPicPr>
            <a:picLocks noChangeAspect="1"/>
          </p:cNvPicPr>
          <p:nvPr/>
        </p:nvPicPr>
        <p:blipFill>
          <a:blip r:embed="rId2"/>
          <a:stretch>
            <a:fillRect/>
          </a:stretch>
        </p:blipFill>
        <p:spPr>
          <a:xfrm>
            <a:off x="567542" y="2187126"/>
            <a:ext cx="8394738" cy="2985509"/>
          </a:xfrm>
          <a:prstGeom prst="rect">
            <a:avLst/>
          </a:prstGeom>
        </p:spPr>
      </p:pic>
    </p:spTree>
    <p:extLst>
      <p:ext uri="{BB962C8B-B14F-4D97-AF65-F5344CB8AC3E}">
        <p14:creationId xmlns:p14="http://schemas.microsoft.com/office/powerpoint/2010/main" val="39259627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784777" cy="830997"/>
          </a:xfrm>
          <a:prstGeom prst="rect">
            <a:avLst/>
          </a:prstGeom>
          <a:noFill/>
        </p:spPr>
        <p:txBody>
          <a:bodyPr wrap="none" rtlCol="0">
            <a:spAutoFit/>
          </a:bodyPr>
          <a:lstStyle/>
          <a:p>
            <a:r>
              <a:rPr kumimoji="1" lang="ja-JP" altLang="en-US" sz="2400" dirty="0"/>
              <a:t>「</a:t>
            </a:r>
            <a:r>
              <a:rPr kumimoji="1" lang="en-US" altLang="ja-JP" sz="2400" b="1" dirty="0">
                <a:solidFill>
                  <a:srgbClr val="FF0000"/>
                </a:solidFill>
              </a:rPr>
              <a:t>Velocity Mode</a:t>
            </a:r>
            <a:r>
              <a:rPr kumimoji="1" lang="ja-JP" altLang="en-US" sz="2400" dirty="0"/>
              <a:t>」から移動ベクトルの種類が設定できます。</a:t>
            </a:r>
            <a:endParaRPr kumimoji="1" lang="en-US" altLang="ja-JP" sz="2400" dirty="0"/>
          </a:p>
          <a:p>
            <a:r>
              <a:rPr kumimoji="1" lang="ja-JP" altLang="en-US" sz="2400" dirty="0"/>
              <a:t>切り替えて確認してみましょう。</a:t>
            </a:r>
            <a:endParaRPr kumimoji="1" lang="en-US" altLang="ja-JP" sz="2400" dirty="0"/>
          </a:p>
        </p:txBody>
      </p:sp>
      <p:pic>
        <p:nvPicPr>
          <p:cNvPr id="8" name="図 7">
            <a:extLst>
              <a:ext uri="{FF2B5EF4-FFF2-40B4-BE49-F238E27FC236}">
                <a16:creationId xmlns:a16="http://schemas.microsoft.com/office/drawing/2014/main" id="{636C01EC-E6FE-48D4-A64D-A4DB705ED414}"/>
              </a:ext>
            </a:extLst>
          </p:cNvPr>
          <p:cNvPicPr>
            <a:picLocks noChangeAspect="1"/>
          </p:cNvPicPr>
          <p:nvPr/>
        </p:nvPicPr>
        <p:blipFill>
          <a:blip r:embed="rId2"/>
          <a:stretch>
            <a:fillRect/>
          </a:stretch>
        </p:blipFill>
        <p:spPr>
          <a:xfrm>
            <a:off x="567542" y="2187126"/>
            <a:ext cx="6246061" cy="3335133"/>
          </a:xfrm>
          <a:prstGeom prst="rect">
            <a:avLst/>
          </a:prstGeom>
        </p:spPr>
      </p:pic>
    </p:spTree>
    <p:extLst>
      <p:ext uri="{BB962C8B-B14F-4D97-AF65-F5344CB8AC3E}">
        <p14:creationId xmlns:p14="http://schemas.microsoft.com/office/powerpoint/2010/main" val="14172807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012130" cy="830997"/>
          </a:xfrm>
          <a:prstGeom prst="rect">
            <a:avLst/>
          </a:prstGeom>
          <a:noFill/>
        </p:spPr>
        <p:txBody>
          <a:bodyPr wrap="none" rtlCol="0">
            <a:spAutoFit/>
          </a:bodyPr>
          <a:lstStyle/>
          <a:p>
            <a:r>
              <a:rPr kumimoji="1" lang="ja-JP" altLang="en-US" sz="2400" dirty="0"/>
              <a:t>「</a:t>
            </a:r>
            <a:r>
              <a:rPr kumimoji="1" lang="ja-JP" altLang="en-US" sz="2400" b="1" dirty="0">
                <a:solidFill>
                  <a:srgbClr val="FF0000"/>
                </a:solidFill>
              </a:rPr>
              <a:t>パーティクルのスポーン</a:t>
            </a:r>
            <a:r>
              <a:rPr kumimoji="1" lang="ja-JP" altLang="en-US" sz="2400" dirty="0"/>
              <a:t>」に「</a:t>
            </a:r>
            <a:r>
              <a:rPr kumimoji="1" lang="en-US" altLang="ja-JP" sz="2400" b="1" dirty="0">
                <a:solidFill>
                  <a:srgbClr val="FF0000"/>
                </a:solidFill>
              </a:rPr>
              <a:t>Color</a:t>
            </a:r>
            <a:r>
              <a:rPr kumimoji="1" lang="ja-JP" altLang="en-US" sz="2400" dirty="0"/>
              <a:t>」を追加すると、</a:t>
            </a:r>
            <a:endParaRPr kumimoji="1" lang="en-US" altLang="ja-JP" sz="2400" dirty="0"/>
          </a:p>
          <a:p>
            <a:r>
              <a:rPr lang="ja-JP" altLang="en-US" sz="2400" dirty="0"/>
              <a:t>粒子の色を設定できます。</a:t>
            </a:r>
            <a:endParaRPr kumimoji="1" lang="en-US" altLang="ja-JP" sz="2400" dirty="0"/>
          </a:p>
        </p:txBody>
      </p:sp>
      <p:pic>
        <p:nvPicPr>
          <p:cNvPr id="3" name="図 2">
            <a:extLst>
              <a:ext uri="{FF2B5EF4-FFF2-40B4-BE49-F238E27FC236}">
                <a16:creationId xmlns:a16="http://schemas.microsoft.com/office/drawing/2014/main" id="{A240788D-6FAE-4D28-91E4-773490BF2570}"/>
              </a:ext>
            </a:extLst>
          </p:cNvPr>
          <p:cNvPicPr>
            <a:picLocks noChangeAspect="1"/>
          </p:cNvPicPr>
          <p:nvPr/>
        </p:nvPicPr>
        <p:blipFill>
          <a:blip r:embed="rId2"/>
          <a:stretch>
            <a:fillRect/>
          </a:stretch>
        </p:blipFill>
        <p:spPr>
          <a:xfrm>
            <a:off x="567542" y="2187126"/>
            <a:ext cx="6229170" cy="2528310"/>
          </a:xfrm>
          <a:prstGeom prst="rect">
            <a:avLst/>
          </a:prstGeom>
        </p:spPr>
      </p:pic>
      <p:pic>
        <p:nvPicPr>
          <p:cNvPr id="7" name="図 6">
            <a:extLst>
              <a:ext uri="{FF2B5EF4-FFF2-40B4-BE49-F238E27FC236}">
                <a16:creationId xmlns:a16="http://schemas.microsoft.com/office/drawing/2014/main" id="{262D3972-46CE-4918-964D-9A57C3E5918C}"/>
              </a:ext>
            </a:extLst>
          </p:cNvPr>
          <p:cNvPicPr>
            <a:picLocks noChangeAspect="1"/>
          </p:cNvPicPr>
          <p:nvPr/>
        </p:nvPicPr>
        <p:blipFill>
          <a:blip r:embed="rId3"/>
          <a:stretch>
            <a:fillRect/>
          </a:stretch>
        </p:blipFill>
        <p:spPr>
          <a:xfrm>
            <a:off x="567542" y="4855136"/>
            <a:ext cx="4010585" cy="1800476"/>
          </a:xfrm>
          <a:prstGeom prst="rect">
            <a:avLst/>
          </a:prstGeom>
        </p:spPr>
      </p:pic>
      <p:sp>
        <p:nvSpPr>
          <p:cNvPr id="9" name="テキスト ボックス 8">
            <a:extLst>
              <a:ext uri="{FF2B5EF4-FFF2-40B4-BE49-F238E27FC236}">
                <a16:creationId xmlns:a16="http://schemas.microsoft.com/office/drawing/2014/main" id="{BCEA9D3A-E650-453D-913E-A94BB641FBAC}"/>
              </a:ext>
            </a:extLst>
          </p:cNvPr>
          <p:cNvSpPr txBox="1"/>
          <p:nvPr/>
        </p:nvSpPr>
        <p:spPr>
          <a:xfrm>
            <a:off x="4976484" y="5455283"/>
            <a:ext cx="6647974" cy="1200329"/>
          </a:xfrm>
          <a:prstGeom prst="rect">
            <a:avLst/>
          </a:prstGeom>
          <a:noFill/>
        </p:spPr>
        <p:txBody>
          <a:bodyPr wrap="none" rtlCol="0">
            <a:spAutoFit/>
          </a:bodyPr>
          <a:lstStyle/>
          <a:p>
            <a:r>
              <a:rPr kumimoji="1" lang="en-US" altLang="ja-JP" sz="2400" b="1" dirty="0">
                <a:solidFill>
                  <a:srgbClr val="00B050"/>
                </a:solidFill>
              </a:rPr>
              <a:t>MEMO</a:t>
            </a:r>
          </a:p>
          <a:p>
            <a:r>
              <a:rPr lang="ja-JP" altLang="en-US" sz="2400" dirty="0"/>
              <a:t>これらのように「パーティクルのスポーン」は</a:t>
            </a:r>
            <a:endParaRPr lang="en-US" altLang="ja-JP" sz="2400" dirty="0"/>
          </a:p>
          <a:p>
            <a:r>
              <a:rPr kumimoji="1" lang="ja-JP" altLang="en-US" sz="2400" dirty="0"/>
              <a:t>粒子発生時の設定を行います。</a:t>
            </a:r>
            <a:endParaRPr kumimoji="1" lang="en-US" altLang="ja-JP" sz="2400" dirty="0"/>
          </a:p>
        </p:txBody>
      </p:sp>
    </p:spTree>
    <p:extLst>
      <p:ext uri="{BB962C8B-B14F-4D97-AF65-F5344CB8AC3E}">
        <p14:creationId xmlns:p14="http://schemas.microsoft.com/office/powerpoint/2010/main" val="17854630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653331" cy="830997"/>
          </a:xfrm>
          <a:prstGeom prst="rect">
            <a:avLst/>
          </a:prstGeom>
          <a:noFill/>
        </p:spPr>
        <p:txBody>
          <a:bodyPr wrap="none" rtlCol="0">
            <a:spAutoFit/>
          </a:bodyPr>
          <a:lstStyle/>
          <a:p>
            <a:r>
              <a:rPr kumimoji="1" lang="ja-JP" altLang="en-US" sz="2400" dirty="0"/>
              <a:t>「</a:t>
            </a:r>
            <a:r>
              <a:rPr kumimoji="1" lang="ja-JP" altLang="en-US" sz="2400" b="1" dirty="0">
                <a:solidFill>
                  <a:srgbClr val="FF0000"/>
                </a:solidFill>
              </a:rPr>
              <a:t>パーティクルの更新</a:t>
            </a:r>
            <a:r>
              <a:rPr kumimoji="1" lang="ja-JP" altLang="en-US" sz="2400" dirty="0"/>
              <a:t>」に「</a:t>
            </a:r>
            <a:r>
              <a:rPr kumimoji="1" lang="en-US" altLang="ja-JP" sz="2400" b="1" dirty="0">
                <a:solidFill>
                  <a:srgbClr val="FF0000"/>
                </a:solidFill>
              </a:rPr>
              <a:t>Gravity Force</a:t>
            </a:r>
            <a:r>
              <a:rPr kumimoji="1" lang="ja-JP" altLang="en-US" sz="2400" dirty="0"/>
              <a:t>」を追加すると、</a:t>
            </a:r>
            <a:endParaRPr kumimoji="1" lang="en-US" altLang="ja-JP" sz="2400" dirty="0"/>
          </a:p>
          <a:p>
            <a:r>
              <a:rPr lang="ja-JP" altLang="en-US" sz="2400" dirty="0"/>
              <a:t>粒子に重力がかかります。</a:t>
            </a:r>
            <a:endParaRPr kumimoji="1" lang="en-US" altLang="ja-JP" sz="2400" dirty="0"/>
          </a:p>
        </p:txBody>
      </p:sp>
      <p:pic>
        <p:nvPicPr>
          <p:cNvPr id="5" name="図 4">
            <a:extLst>
              <a:ext uri="{FF2B5EF4-FFF2-40B4-BE49-F238E27FC236}">
                <a16:creationId xmlns:a16="http://schemas.microsoft.com/office/drawing/2014/main" id="{8C740B9E-6CF0-41ED-81CD-DC97B5393C62}"/>
              </a:ext>
            </a:extLst>
          </p:cNvPr>
          <p:cNvPicPr>
            <a:picLocks noChangeAspect="1"/>
          </p:cNvPicPr>
          <p:nvPr/>
        </p:nvPicPr>
        <p:blipFill>
          <a:blip r:embed="rId2"/>
          <a:stretch>
            <a:fillRect/>
          </a:stretch>
        </p:blipFill>
        <p:spPr>
          <a:xfrm>
            <a:off x="567542" y="2187127"/>
            <a:ext cx="6017241" cy="4294356"/>
          </a:xfrm>
          <a:prstGeom prst="rect">
            <a:avLst/>
          </a:prstGeom>
        </p:spPr>
      </p:pic>
    </p:spTree>
    <p:extLst>
      <p:ext uri="{BB962C8B-B14F-4D97-AF65-F5344CB8AC3E}">
        <p14:creationId xmlns:p14="http://schemas.microsoft.com/office/powerpoint/2010/main" val="11259789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186857" cy="4524315"/>
          </a:xfrm>
          <a:prstGeom prst="rect">
            <a:avLst/>
          </a:prstGeom>
          <a:noFill/>
        </p:spPr>
        <p:txBody>
          <a:bodyPr wrap="none" rtlCol="0">
            <a:spAutoFit/>
          </a:bodyPr>
          <a:lstStyle/>
          <a:p>
            <a:r>
              <a:rPr lang="ja-JP" altLang="en-US" sz="2400" dirty="0"/>
              <a:t>以下を調整するとエフェクトの再生時間を調整できます。</a:t>
            </a:r>
            <a:endParaRPr lang="en-US" altLang="ja-JP" sz="2400" dirty="0"/>
          </a:p>
          <a:p>
            <a:r>
              <a:rPr lang="ja-JP" altLang="en-US" sz="2400" dirty="0"/>
              <a:t>色々調節していい感じのエフェクトを作りましょう。</a:t>
            </a:r>
            <a:endParaRPr lang="en-US" altLang="ja-JP" sz="2400" dirty="0"/>
          </a:p>
          <a:p>
            <a:endParaRPr lang="en-US" altLang="ja-JP" sz="2400" dirty="0"/>
          </a:p>
          <a:p>
            <a:r>
              <a:rPr kumimoji="1" lang="ja-JP" altLang="en-US" sz="2400" b="1" dirty="0">
                <a:solidFill>
                  <a:srgbClr val="FF0000"/>
                </a:solidFill>
              </a:rPr>
              <a:t>■エミッタの更新</a:t>
            </a:r>
            <a:endParaRPr kumimoji="1" lang="en-US" altLang="ja-JP" sz="2400" b="1" dirty="0">
              <a:solidFill>
                <a:srgbClr val="FF0000"/>
              </a:solidFill>
            </a:endParaRPr>
          </a:p>
          <a:p>
            <a:r>
              <a:rPr kumimoji="1" lang="ja-JP" altLang="en-US" sz="2400" dirty="0"/>
              <a:t>・</a:t>
            </a:r>
            <a:r>
              <a:rPr kumimoji="1" lang="en-US" altLang="ja-JP" sz="2400" dirty="0"/>
              <a:t>Emitter State &gt; Loop Duration</a:t>
            </a:r>
          </a:p>
          <a:p>
            <a:r>
              <a:rPr lang="ja-JP" altLang="en-US" sz="2400" dirty="0"/>
              <a:t>　・エフェクトの再生時間の長さ</a:t>
            </a:r>
            <a:endParaRPr lang="en-US" altLang="ja-JP" sz="2400" dirty="0"/>
          </a:p>
          <a:p>
            <a:endParaRPr kumimoji="1" lang="en-US" altLang="ja-JP" sz="2400" dirty="0"/>
          </a:p>
          <a:p>
            <a:r>
              <a:rPr lang="ja-JP" altLang="en-US" sz="2400" b="1" dirty="0">
                <a:solidFill>
                  <a:srgbClr val="FF0000"/>
                </a:solidFill>
              </a:rPr>
              <a:t>■パーティクルのスポーン</a:t>
            </a:r>
            <a:endParaRPr lang="en-US" altLang="ja-JP" sz="2400" b="1" dirty="0">
              <a:solidFill>
                <a:srgbClr val="FF0000"/>
              </a:solidFill>
            </a:endParaRPr>
          </a:p>
          <a:p>
            <a:r>
              <a:rPr lang="ja-JP" altLang="en-US" sz="2400" dirty="0"/>
              <a:t>・</a:t>
            </a:r>
            <a:r>
              <a:rPr lang="en-US" altLang="ja-JP" sz="2400" dirty="0"/>
              <a:t>Initialize Particle &gt; </a:t>
            </a:r>
            <a:r>
              <a:rPr kumimoji="1" lang="en-US" altLang="ja-JP" sz="2400" dirty="0"/>
              <a:t>Life Time</a:t>
            </a:r>
            <a:endParaRPr lang="en-US" altLang="ja-JP" sz="2400" dirty="0"/>
          </a:p>
          <a:p>
            <a:r>
              <a:rPr kumimoji="1" lang="ja-JP" altLang="en-US" sz="2400" dirty="0"/>
              <a:t>　・粒子の寿命</a:t>
            </a:r>
            <a:endParaRPr kumimoji="1" lang="en-US" altLang="ja-JP" sz="2400" dirty="0"/>
          </a:p>
          <a:p>
            <a:endParaRPr lang="en-US" altLang="ja-JP" sz="2400" dirty="0"/>
          </a:p>
          <a:p>
            <a:r>
              <a:rPr kumimoji="1" lang="en-US" altLang="ja-JP" sz="2400" b="1" dirty="0">
                <a:solidFill>
                  <a:srgbClr val="FF0000"/>
                </a:solidFill>
              </a:rPr>
              <a:t>※</a:t>
            </a:r>
            <a:r>
              <a:rPr kumimoji="1" lang="ja-JP" altLang="en-US" sz="2400" b="1" dirty="0">
                <a:solidFill>
                  <a:srgbClr val="FF0000"/>
                </a:solidFill>
              </a:rPr>
              <a:t>完成したらコンパイルして保存しましょう</a:t>
            </a:r>
            <a:endParaRPr kumimoji="1" lang="en-US" altLang="ja-JP" sz="2400" b="1" dirty="0">
              <a:solidFill>
                <a:srgbClr val="FF0000"/>
              </a:solidFill>
            </a:endParaRPr>
          </a:p>
        </p:txBody>
      </p:sp>
    </p:spTree>
    <p:extLst>
      <p:ext uri="{BB962C8B-B14F-4D97-AF65-F5344CB8AC3E}">
        <p14:creationId xmlns:p14="http://schemas.microsoft.com/office/powerpoint/2010/main" val="23142184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263527" cy="830997"/>
          </a:xfrm>
          <a:prstGeom prst="rect">
            <a:avLst/>
          </a:prstGeom>
          <a:noFill/>
        </p:spPr>
        <p:txBody>
          <a:bodyPr wrap="none" rtlCol="0">
            <a:spAutoFit/>
          </a:bodyPr>
          <a:lstStyle/>
          <a:p>
            <a:r>
              <a:rPr kumimoji="1" lang="ja-JP" altLang="en-US" sz="2400" dirty="0"/>
              <a:t>弾丸がヒットしたときにエフェクトを表示します。</a:t>
            </a:r>
            <a:endParaRPr kumimoji="1" lang="en-US" altLang="ja-JP" sz="2400" dirty="0"/>
          </a:p>
          <a:p>
            <a:r>
              <a:rPr lang="en-US" altLang="ja-JP" sz="2400" b="1" dirty="0" err="1">
                <a:solidFill>
                  <a:srgbClr val="FF0000"/>
                </a:solidFill>
              </a:rPr>
              <a:t>NormalBullet.h</a:t>
            </a:r>
            <a:r>
              <a:rPr lang="ja-JP" altLang="en-US" sz="2400" dirty="0"/>
              <a:t>を書きます。</a:t>
            </a:r>
            <a:endParaRPr kumimoji="1" lang="en-US" altLang="ja-JP" sz="2400" dirty="0"/>
          </a:p>
        </p:txBody>
      </p:sp>
      <p:pic>
        <p:nvPicPr>
          <p:cNvPr id="3" name="図 2">
            <a:extLst>
              <a:ext uri="{FF2B5EF4-FFF2-40B4-BE49-F238E27FC236}">
                <a16:creationId xmlns:a16="http://schemas.microsoft.com/office/drawing/2014/main" id="{7FFECBE8-2B0C-43BE-84AC-706B44F1DB69}"/>
              </a:ext>
            </a:extLst>
          </p:cNvPr>
          <p:cNvPicPr>
            <a:picLocks noChangeAspect="1"/>
          </p:cNvPicPr>
          <p:nvPr/>
        </p:nvPicPr>
        <p:blipFill>
          <a:blip r:embed="rId2"/>
          <a:stretch>
            <a:fillRect/>
          </a:stretch>
        </p:blipFill>
        <p:spPr>
          <a:xfrm>
            <a:off x="567542" y="2187126"/>
            <a:ext cx="5029902" cy="1695687"/>
          </a:xfrm>
          <a:prstGeom prst="rect">
            <a:avLst/>
          </a:prstGeom>
        </p:spPr>
      </p:pic>
      <p:pic>
        <p:nvPicPr>
          <p:cNvPr id="7" name="図 6">
            <a:extLst>
              <a:ext uri="{FF2B5EF4-FFF2-40B4-BE49-F238E27FC236}">
                <a16:creationId xmlns:a16="http://schemas.microsoft.com/office/drawing/2014/main" id="{9587DA85-F705-4EFF-8A67-F6F6715AA228}"/>
              </a:ext>
            </a:extLst>
          </p:cNvPr>
          <p:cNvPicPr>
            <a:picLocks noChangeAspect="1"/>
          </p:cNvPicPr>
          <p:nvPr/>
        </p:nvPicPr>
        <p:blipFill>
          <a:blip r:embed="rId3"/>
          <a:stretch>
            <a:fillRect/>
          </a:stretch>
        </p:blipFill>
        <p:spPr>
          <a:xfrm>
            <a:off x="578573" y="4022513"/>
            <a:ext cx="2950664" cy="2503793"/>
          </a:xfrm>
          <a:prstGeom prst="rect">
            <a:avLst/>
          </a:prstGeom>
        </p:spPr>
      </p:pic>
      <p:sp>
        <p:nvSpPr>
          <p:cNvPr id="8" name="正方形/長方形 7">
            <a:extLst>
              <a:ext uri="{FF2B5EF4-FFF2-40B4-BE49-F238E27FC236}">
                <a16:creationId xmlns:a16="http://schemas.microsoft.com/office/drawing/2014/main" id="{3FF728B7-CD3F-47D1-B135-21674D10041C}"/>
              </a:ext>
            </a:extLst>
          </p:cNvPr>
          <p:cNvSpPr/>
          <p:nvPr/>
        </p:nvSpPr>
        <p:spPr>
          <a:xfrm>
            <a:off x="1524000" y="3209365"/>
            <a:ext cx="2904565" cy="29583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DFDEA610-15DB-4ED2-B864-9FC4800992C4}"/>
              </a:ext>
            </a:extLst>
          </p:cNvPr>
          <p:cNvSpPr/>
          <p:nvPr/>
        </p:nvSpPr>
        <p:spPr>
          <a:xfrm>
            <a:off x="1294740" y="5274409"/>
            <a:ext cx="2234497" cy="54368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8826641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4641014" cy="461665"/>
          </a:xfrm>
          <a:prstGeom prst="rect">
            <a:avLst/>
          </a:prstGeom>
          <a:noFill/>
        </p:spPr>
        <p:txBody>
          <a:bodyPr wrap="none" rtlCol="0">
            <a:spAutoFit/>
          </a:bodyPr>
          <a:lstStyle/>
          <a:p>
            <a:r>
              <a:rPr lang="en-US" altLang="ja-JP" sz="2400" b="1" dirty="0">
                <a:solidFill>
                  <a:srgbClr val="FF0000"/>
                </a:solidFill>
              </a:rPr>
              <a:t>NormalBullet.cpp</a:t>
            </a:r>
            <a:r>
              <a:rPr lang="ja-JP" altLang="en-US" sz="2400" dirty="0"/>
              <a:t>を書きます。</a:t>
            </a:r>
            <a:endParaRPr kumimoji="1" lang="en-US" altLang="ja-JP" sz="2400" dirty="0"/>
          </a:p>
        </p:txBody>
      </p:sp>
      <p:pic>
        <p:nvPicPr>
          <p:cNvPr id="5" name="図 4">
            <a:extLst>
              <a:ext uri="{FF2B5EF4-FFF2-40B4-BE49-F238E27FC236}">
                <a16:creationId xmlns:a16="http://schemas.microsoft.com/office/drawing/2014/main" id="{266C6D79-664A-4513-923F-E1F8B1B382D1}"/>
              </a:ext>
            </a:extLst>
          </p:cNvPr>
          <p:cNvPicPr>
            <a:picLocks noChangeAspect="1"/>
          </p:cNvPicPr>
          <p:nvPr/>
        </p:nvPicPr>
        <p:blipFill>
          <a:blip r:embed="rId2"/>
          <a:stretch>
            <a:fillRect/>
          </a:stretch>
        </p:blipFill>
        <p:spPr>
          <a:xfrm>
            <a:off x="549674" y="1822276"/>
            <a:ext cx="4620270" cy="847843"/>
          </a:xfrm>
          <a:prstGeom prst="rect">
            <a:avLst/>
          </a:prstGeom>
        </p:spPr>
      </p:pic>
      <p:sp>
        <p:nvSpPr>
          <p:cNvPr id="10" name="正方形/長方形 9">
            <a:extLst>
              <a:ext uri="{FF2B5EF4-FFF2-40B4-BE49-F238E27FC236}">
                <a16:creationId xmlns:a16="http://schemas.microsoft.com/office/drawing/2014/main" id="{E52F2C03-27A0-40D6-BC81-04BCFCF7B932}"/>
              </a:ext>
            </a:extLst>
          </p:cNvPr>
          <p:cNvSpPr/>
          <p:nvPr/>
        </p:nvSpPr>
        <p:spPr>
          <a:xfrm>
            <a:off x="1348528" y="2196353"/>
            <a:ext cx="3821416" cy="31376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2" name="図 11">
            <a:extLst>
              <a:ext uri="{FF2B5EF4-FFF2-40B4-BE49-F238E27FC236}">
                <a16:creationId xmlns:a16="http://schemas.microsoft.com/office/drawing/2014/main" id="{8A1BA09B-510A-4442-B524-D07F72A96B69}"/>
              </a:ext>
            </a:extLst>
          </p:cNvPr>
          <p:cNvPicPr>
            <a:picLocks noChangeAspect="1"/>
          </p:cNvPicPr>
          <p:nvPr/>
        </p:nvPicPr>
        <p:blipFill>
          <a:blip r:embed="rId3"/>
          <a:stretch>
            <a:fillRect/>
          </a:stretch>
        </p:blipFill>
        <p:spPr>
          <a:xfrm>
            <a:off x="567543" y="2884195"/>
            <a:ext cx="8549564" cy="3525889"/>
          </a:xfrm>
          <a:prstGeom prst="rect">
            <a:avLst/>
          </a:prstGeom>
        </p:spPr>
      </p:pic>
      <p:sp>
        <p:nvSpPr>
          <p:cNvPr id="13" name="正方形/長方形 12">
            <a:extLst>
              <a:ext uri="{FF2B5EF4-FFF2-40B4-BE49-F238E27FC236}">
                <a16:creationId xmlns:a16="http://schemas.microsoft.com/office/drawing/2014/main" id="{8B009787-7A4C-47A6-BC1B-AE9939E08518}"/>
              </a:ext>
            </a:extLst>
          </p:cNvPr>
          <p:cNvSpPr/>
          <p:nvPr/>
        </p:nvSpPr>
        <p:spPr>
          <a:xfrm>
            <a:off x="1841585" y="4414056"/>
            <a:ext cx="7275521" cy="111716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7937517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523213" cy="461665"/>
          </a:xfrm>
          <a:prstGeom prst="rect">
            <a:avLst/>
          </a:prstGeom>
          <a:noFill/>
        </p:spPr>
        <p:txBody>
          <a:bodyPr wrap="none" rtlCol="0">
            <a:spAutoFit/>
          </a:bodyPr>
          <a:lstStyle/>
          <a:p>
            <a:r>
              <a:rPr kumimoji="1" lang="en-US" altLang="ja-JP" sz="2400" b="1" dirty="0" err="1">
                <a:solidFill>
                  <a:srgbClr val="0070C0"/>
                </a:solidFill>
              </a:rPr>
              <a:t>BP_PlayerBullet</a:t>
            </a:r>
            <a:r>
              <a:rPr kumimoji="1" lang="ja-JP" altLang="en-US" sz="2400" dirty="0"/>
              <a:t>でヒットエフェクトを設定します。</a:t>
            </a:r>
            <a:endParaRPr kumimoji="1" lang="en-US" altLang="ja-JP" sz="2400" dirty="0"/>
          </a:p>
        </p:txBody>
      </p:sp>
      <p:pic>
        <p:nvPicPr>
          <p:cNvPr id="3" name="図 2">
            <a:extLst>
              <a:ext uri="{FF2B5EF4-FFF2-40B4-BE49-F238E27FC236}">
                <a16:creationId xmlns:a16="http://schemas.microsoft.com/office/drawing/2014/main" id="{DC3F79C2-CFC4-43E7-8DC0-097405EB01C8}"/>
              </a:ext>
            </a:extLst>
          </p:cNvPr>
          <p:cNvPicPr>
            <a:picLocks noChangeAspect="1"/>
          </p:cNvPicPr>
          <p:nvPr/>
        </p:nvPicPr>
        <p:blipFill>
          <a:blip r:embed="rId2"/>
          <a:stretch>
            <a:fillRect/>
          </a:stretch>
        </p:blipFill>
        <p:spPr>
          <a:xfrm>
            <a:off x="567542" y="1817793"/>
            <a:ext cx="7828702" cy="3345877"/>
          </a:xfrm>
          <a:prstGeom prst="rect">
            <a:avLst/>
          </a:prstGeom>
        </p:spPr>
      </p:pic>
    </p:spTree>
    <p:extLst>
      <p:ext uri="{BB962C8B-B14F-4D97-AF65-F5344CB8AC3E}">
        <p14:creationId xmlns:p14="http://schemas.microsoft.com/office/powerpoint/2010/main" val="34610684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3262432" cy="461665"/>
          </a:xfrm>
          <a:prstGeom prst="rect">
            <a:avLst/>
          </a:prstGeom>
          <a:noFill/>
        </p:spPr>
        <p:txBody>
          <a:bodyPr wrap="none" rtlCol="0">
            <a:spAutoFit/>
          </a:bodyPr>
          <a:lstStyle/>
          <a:p>
            <a:r>
              <a:rPr kumimoji="1" lang="ja-JP" altLang="en-US" sz="2400" dirty="0"/>
              <a:t>動作確認しましょう。</a:t>
            </a:r>
            <a:endParaRPr kumimoji="1" lang="en-US" altLang="ja-JP" sz="2400" dirty="0"/>
          </a:p>
        </p:txBody>
      </p:sp>
      <p:pic>
        <p:nvPicPr>
          <p:cNvPr id="5" name="図 4">
            <a:extLst>
              <a:ext uri="{FF2B5EF4-FFF2-40B4-BE49-F238E27FC236}">
                <a16:creationId xmlns:a16="http://schemas.microsoft.com/office/drawing/2014/main" id="{B9E8BDC1-5354-4714-8F0F-52A95295993F}"/>
              </a:ext>
            </a:extLst>
          </p:cNvPr>
          <p:cNvPicPr>
            <a:picLocks noChangeAspect="1"/>
          </p:cNvPicPr>
          <p:nvPr/>
        </p:nvPicPr>
        <p:blipFill>
          <a:blip r:embed="rId2"/>
          <a:stretch>
            <a:fillRect/>
          </a:stretch>
        </p:blipFill>
        <p:spPr>
          <a:xfrm>
            <a:off x="567542" y="1817794"/>
            <a:ext cx="8901956" cy="4358888"/>
          </a:xfrm>
          <a:prstGeom prst="rect">
            <a:avLst/>
          </a:prstGeom>
        </p:spPr>
      </p:pic>
    </p:spTree>
    <p:extLst>
      <p:ext uri="{BB962C8B-B14F-4D97-AF65-F5344CB8AC3E}">
        <p14:creationId xmlns:p14="http://schemas.microsoft.com/office/powerpoint/2010/main" val="8420724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186857" cy="830997"/>
          </a:xfrm>
          <a:prstGeom prst="rect">
            <a:avLst/>
          </a:prstGeom>
          <a:noFill/>
        </p:spPr>
        <p:txBody>
          <a:bodyPr wrap="none" rtlCol="0">
            <a:spAutoFit/>
          </a:bodyPr>
          <a:lstStyle/>
          <a:p>
            <a:r>
              <a:rPr kumimoji="1" lang="ja-JP" altLang="en-US" sz="2400" dirty="0"/>
              <a:t>ナイアガラエフェクトには様々な機能が他にもあります。</a:t>
            </a:r>
            <a:endParaRPr kumimoji="1" lang="en-US" altLang="ja-JP" sz="2400" dirty="0"/>
          </a:p>
          <a:p>
            <a:r>
              <a:rPr lang="ja-JP" altLang="en-US" sz="2400" dirty="0"/>
              <a:t>制作を通じて学習していきましょう。</a:t>
            </a:r>
            <a:endParaRPr kumimoji="1" lang="en-US" altLang="ja-JP" sz="2400" dirty="0"/>
          </a:p>
        </p:txBody>
      </p:sp>
      <p:pic>
        <p:nvPicPr>
          <p:cNvPr id="7" name="図 6">
            <a:extLst>
              <a:ext uri="{FF2B5EF4-FFF2-40B4-BE49-F238E27FC236}">
                <a16:creationId xmlns:a16="http://schemas.microsoft.com/office/drawing/2014/main" id="{5BF3A4D8-638D-4C0D-AB4E-6FEFB8D00EFE}"/>
              </a:ext>
            </a:extLst>
          </p:cNvPr>
          <p:cNvPicPr>
            <a:picLocks noChangeAspect="1"/>
          </p:cNvPicPr>
          <p:nvPr/>
        </p:nvPicPr>
        <p:blipFill>
          <a:blip r:embed="rId2"/>
          <a:stretch>
            <a:fillRect/>
          </a:stretch>
        </p:blipFill>
        <p:spPr>
          <a:xfrm>
            <a:off x="567542" y="2187126"/>
            <a:ext cx="7778599" cy="4179122"/>
          </a:xfrm>
          <a:prstGeom prst="rect">
            <a:avLst/>
          </a:prstGeom>
        </p:spPr>
      </p:pic>
    </p:spTree>
    <p:extLst>
      <p:ext uri="{BB962C8B-B14F-4D97-AF65-F5344CB8AC3E}">
        <p14:creationId xmlns:p14="http://schemas.microsoft.com/office/powerpoint/2010/main" val="1732048641"/>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1104</TotalTime>
  <Words>436</Words>
  <Application>Microsoft Office PowerPoint</Application>
  <PresentationFormat>ワイド画面</PresentationFormat>
  <Paragraphs>73</Paragraphs>
  <Slides>19</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19</vt:i4>
      </vt:variant>
    </vt:vector>
  </HeadingPairs>
  <TitlesOfParts>
    <vt:vector size="23" baseType="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北九州校　ゲーム</dc:creator>
  <cp:lastModifiedBy>荒木 優介</cp:lastModifiedBy>
  <cp:revision>105</cp:revision>
  <dcterms:created xsi:type="dcterms:W3CDTF">2024-08-27T02:15:54Z</dcterms:created>
  <dcterms:modified xsi:type="dcterms:W3CDTF">2026-03-26T03:04:56Z</dcterms:modified>
</cp:coreProperties>
</file>