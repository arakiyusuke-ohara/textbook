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データの送受信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接続することにより、</a:t>
            </a:r>
            <a:r>
              <a:rPr lang="ja-JP" altLang="en-US" sz="2400" b="1" dirty="0">
                <a:solidFill>
                  <a:srgbClr val="FF0000"/>
                </a:solidFill>
              </a:rPr>
              <a:t>データの送受信</a:t>
            </a:r>
            <a:r>
              <a:rPr lang="ja-JP" altLang="en-US" sz="2400" dirty="0"/>
              <a:t>が可能になります。</a:t>
            </a:r>
            <a:endParaRPr lang="en-US" altLang="ja-JP" sz="2400" dirty="0"/>
          </a:p>
          <a:p>
            <a:r>
              <a:rPr kumimoji="1" lang="ja-JP" altLang="en-US" sz="2400" dirty="0"/>
              <a:t>まずはクライアントからサーバーに文字を送信してみます。</a:t>
            </a:r>
            <a:endParaRPr kumimoji="1" lang="en-US" altLang="ja-JP" sz="2400" dirty="0"/>
          </a:p>
        </p:txBody>
      </p:sp>
      <p:sp>
        <p:nvSpPr>
          <p:cNvPr id="9" name="二等辺三角形 8">
            <a:extLst>
              <a:ext uri="{FF2B5EF4-FFF2-40B4-BE49-F238E27FC236}">
                <a16:creationId xmlns:a16="http://schemas.microsoft.com/office/drawing/2014/main" id="{03BC2195-854D-4C70-A7A0-644B2E11E634}"/>
              </a:ext>
            </a:extLst>
          </p:cNvPr>
          <p:cNvSpPr/>
          <p:nvPr/>
        </p:nvSpPr>
        <p:spPr>
          <a:xfrm>
            <a:off x="1060600" y="3811215"/>
            <a:ext cx="699247" cy="55581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9A2A245-EEE3-41D6-BC95-F187B4A4EAAC}"/>
              </a:ext>
            </a:extLst>
          </p:cNvPr>
          <p:cNvSpPr/>
          <p:nvPr/>
        </p:nvSpPr>
        <p:spPr>
          <a:xfrm>
            <a:off x="540646" y="2717521"/>
            <a:ext cx="1748118" cy="10936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922E58E-B548-4055-8D1C-A359B344FED3}"/>
              </a:ext>
            </a:extLst>
          </p:cNvPr>
          <p:cNvSpPr txBox="1"/>
          <p:nvPr/>
        </p:nvSpPr>
        <p:spPr>
          <a:xfrm>
            <a:off x="625393" y="307970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クライアント</a:t>
            </a: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ED7388C6-2694-4ECF-B3EC-5D2EE42A8B53}"/>
              </a:ext>
            </a:extLst>
          </p:cNvPr>
          <p:cNvGrpSpPr/>
          <p:nvPr/>
        </p:nvGrpSpPr>
        <p:grpSpPr>
          <a:xfrm>
            <a:off x="5512796" y="2410694"/>
            <a:ext cx="2232212" cy="3356854"/>
            <a:chOff x="6096000" y="2814407"/>
            <a:chExt cx="2232212" cy="3356854"/>
          </a:xfrm>
        </p:grpSpPr>
        <p:sp>
          <p:nvSpPr>
            <p:cNvPr id="13" name="直方体 12">
              <a:extLst>
                <a:ext uri="{FF2B5EF4-FFF2-40B4-BE49-F238E27FC236}">
                  <a16:creationId xmlns:a16="http://schemas.microsoft.com/office/drawing/2014/main" id="{F7EC8F4F-90D6-4D93-B911-C1E5F9C0C32E}"/>
                </a:ext>
              </a:extLst>
            </p:cNvPr>
            <p:cNvSpPr/>
            <p:nvPr/>
          </p:nvSpPr>
          <p:spPr>
            <a:xfrm>
              <a:off x="6096000" y="2814407"/>
              <a:ext cx="2232212" cy="3356854"/>
            </a:xfrm>
            <a:prstGeom prst="cub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FBCA075C-94C3-4F0A-AC6F-8E9C6A65BD8C}"/>
                </a:ext>
              </a:extLst>
            </p:cNvPr>
            <p:cNvSpPr txBox="1"/>
            <p:nvPr/>
          </p:nvSpPr>
          <p:spPr>
            <a:xfrm>
              <a:off x="6233236" y="3554934"/>
              <a:ext cx="1415772" cy="461665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kumimoji="1" lang="ja-JP" altLang="en-US" sz="2400" b="1" dirty="0">
                  <a:solidFill>
                    <a:schemeClr val="bg1"/>
                  </a:solidFill>
                </a:rPr>
                <a:t>サーバー</a:t>
              </a:r>
              <a:endParaRPr lang="en-US" altLang="ja-JP" sz="2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矢印: 右 14">
            <a:extLst>
              <a:ext uri="{FF2B5EF4-FFF2-40B4-BE49-F238E27FC236}">
                <a16:creationId xmlns:a16="http://schemas.microsoft.com/office/drawing/2014/main" id="{040C6878-DEBC-4F22-A0C7-26134E4AD747}"/>
              </a:ext>
            </a:extLst>
          </p:cNvPr>
          <p:cNvSpPr/>
          <p:nvPr/>
        </p:nvSpPr>
        <p:spPr>
          <a:xfrm>
            <a:off x="2573978" y="3063243"/>
            <a:ext cx="2845107" cy="7315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おはよう</a:t>
            </a:r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データの送受信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3799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7030A0"/>
                </a:solidFill>
              </a:rPr>
              <a:t>Client</a:t>
            </a:r>
            <a:r>
              <a:rPr lang="ja-JP" altLang="en-US" sz="2400" b="1" dirty="0">
                <a:solidFill>
                  <a:srgbClr val="7030A0"/>
                </a:solidFill>
              </a:rPr>
              <a:t>プロジェクト</a:t>
            </a:r>
            <a:r>
              <a:rPr lang="ja-JP" altLang="en-US" sz="2400" dirty="0"/>
              <a:t>を開きましょう。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FB8F080-F364-4BCB-B3DC-018BF4FB9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618791" cy="463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547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データの送受信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9723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送信</a:t>
            </a:r>
            <a:r>
              <a:rPr kumimoji="1" lang="en-US" altLang="ja-JP" sz="2400" dirty="0"/>
              <a:t>/</a:t>
            </a:r>
            <a:r>
              <a:rPr kumimoji="1" lang="ja-JP" altLang="en-US" sz="2400" dirty="0"/>
              <a:t>受信するデータは同じでなければいけません。</a:t>
            </a:r>
            <a:endParaRPr kumimoji="1" lang="en-US" altLang="ja-JP" sz="2400" dirty="0"/>
          </a:p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NetworkCommonParam.h</a:t>
            </a:r>
            <a:r>
              <a:rPr lang="ja-JP" altLang="en-US" sz="2400" dirty="0"/>
              <a:t>で送受信用のデータを用意します。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F671132-E53D-4471-B17E-1CF66C4E1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8002932" cy="299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799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データの送受信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176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B050"/>
                </a:solidFill>
              </a:rPr>
              <a:t>Client</a:t>
            </a:r>
            <a:r>
              <a:rPr kumimoji="1" lang="ja-JP" altLang="en-US" sz="2400" b="1" dirty="0">
                <a:solidFill>
                  <a:srgbClr val="00B050"/>
                </a:solidFill>
              </a:rPr>
              <a:t>クラス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(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Client.h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)</a:t>
            </a:r>
            <a:r>
              <a:rPr kumimoji="1" lang="ja-JP" altLang="en-US" sz="2400" dirty="0"/>
              <a:t>に送信用データのメンバ変数を追加しましょう。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AE81295-4D95-4CEF-8CCF-FAC9224B3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834520" cy="1611206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E373005-43C4-434C-B4FD-8A53F1DAA9F7}"/>
              </a:ext>
            </a:extLst>
          </p:cNvPr>
          <p:cNvSpPr/>
          <p:nvPr/>
        </p:nvSpPr>
        <p:spPr>
          <a:xfrm>
            <a:off x="2387599" y="2330027"/>
            <a:ext cx="3437468" cy="7349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74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データの送受信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コンストラクタで初期化、名前入力の対応をします。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（</a:t>
            </a:r>
            <a:r>
              <a:rPr lang="en-US" altLang="ja-JP" sz="2400" b="1" dirty="0">
                <a:solidFill>
                  <a:srgbClr val="FF0000"/>
                </a:solidFill>
              </a:rPr>
              <a:t>Client.cpp</a:t>
            </a:r>
            <a:r>
              <a:rPr lang="ja-JP" altLang="en-US" sz="2400" b="1" dirty="0">
                <a:solidFill>
                  <a:srgbClr val="FF0000"/>
                </a:solidFill>
              </a:rPr>
              <a:t>）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30D380A-C8D7-4B6A-9D45-51A8CED64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791744" cy="1924319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F65D9B07-E159-46C6-B122-10D612E3E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4429459"/>
            <a:ext cx="6908525" cy="2236683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A7A083A-13D8-4F13-A630-55BFF3956F9E}"/>
              </a:ext>
            </a:extLst>
          </p:cNvPr>
          <p:cNvSpPr/>
          <p:nvPr/>
        </p:nvSpPr>
        <p:spPr>
          <a:xfrm>
            <a:off x="1906055" y="3208867"/>
            <a:ext cx="1853145" cy="3132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C711D6E-0B20-43B6-8896-758EDF16FE0E}"/>
              </a:ext>
            </a:extLst>
          </p:cNvPr>
          <p:cNvSpPr/>
          <p:nvPr/>
        </p:nvSpPr>
        <p:spPr>
          <a:xfrm>
            <a:off x="2430988" y="4976553"/>
            <a:ext cx="5163612" cy="5775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2100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データの送受信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メッセージ入力対応後にサーバーに送信します。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（</a:t>
            </a:r>
            <a:r>
              <a:rPr lang="en-US" altLang="ja-JP" sz="2400" b="1" dirty="0">
                <a:solidFill>
                  <a:srgbClr val="FF0000"/>
                </a:solidFill>
              </a:rPr>
              <a:t>Client.cpp</a:t>
            </a:r>
            <a:r>
              <a:rPr lang="ja-JP" altLang="en-US" sz="2400" b="1" dirty="0">
                <a:solidFill>
                  <a:srgbClr val="FF0000"/>
                </a:solidFill>
              </a:rPr>
              <a:t>）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4001528-1C0E-4322-B877-A05E39C2A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306291"/>
            <a:ext cx="10473067" cy="3197042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6CAD91F-A484-489D-87EC-8FAF249F68E2}"/>
              </a:ext>
            </a:extLst>
          </p:cNvPr>
          <p:cNvSpPr/>
          <p:nvPr/>
        </p:nvSpPr>
        <p:spPr>
          <a:xfrm>
            <a:off x="3345389" y="3177093"/>
            <a:ext cx="7695220" cy="14287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2738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データの送受信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65333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データ送信には</a:t>
            </a:r>
            <a:r>
              <a:rPr lang="en-US" altLang="ja-JP" sz="2400" b="1" dirty="0" err="1">
                <a:solidFill>
                  <a:srgbClr val="0070C0"/>
                </a:solidFill>
              </a:rPr>
              <a:t>NetWorkSend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を使用します。</a:t>
            </a:r>
            <a:endParaRPr lang="en-US" altLang="ja-JP" sz="2400" dirty="0"/>
          </a:p>
          <a:p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kumimoji="1" lang="en-US" altLang="ja-JP" sz="2400" dirty="0">
                <a:solidFill>
                  <a:srgbClr val="0070C0"/>
                </a:solidFill>
              </a:rPr>
              <a:t>int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 </a:t>
            </a:r>
            <a:r>
              <a:rPr kumimoji="1" lang="en-US" altLang="ja-JP" sz="2400" dirty="0" err="1"/>
              <a:t>NetWorkSend</a:t>
            </a:r>
            <a:r>
              <a:rPr kumimoji="1" lang="en-US" altLang="ja-JP" sz="2400" dirty="0"/>
              <a:t>( </a:t>
            </a:r>
            <a:r>
              <a:rPr kumimoji="1" lang="en-US" altLang="ja-JP" sz="2400" dirty="0">
                <a:solidFill>
                  <a:srgbClr val="0070C0"/>
                </a:solidFill>
              </a:rPr>
              <a:t>int</a:t>
            </a:r>
            <a:r>
              <a:rPr kumimoji="1" lang="en-US" altLang="ja-JP" sz="2400" dirty="0"/>
              <a:t> </a:t>
            </a:r>
            <a:r>
              <a:rPr kumimoji="1" lang="en-US" altLang="ja-JP" sz="2400" dirty="0" err="1"/>
              <a:t>NetHandle</a:t>
            </a:r>
            <a:r>
              <a:rPr kumimoji="1" lang="en-US" altLang="ja-JP" sz="2400" dirty="0"/>
              <a:t>, </a:t>
            </a:r>
            <a:r>
              <a:rPr kumimoji="1" lang="en-US" altLang="ja-JP" sz="2400" dirty="0">
                <a:solidFill>
                  <a:srgbClr val="0070C0"/>
                </a:solidFill>
              </a:rPr>
              <a:t>void</a:t>
            </a:r>
            <a:r>
              <a:rPr kumimoji="1" lang="en-US" altLang="ja-JP" sz="2400" dirty="0"/>
              <a:t> *Buffer, </a:t>
            </a:r>
            <a:r>
              <a:rPr kumimoji="1" lang="en-US" altLang="ja-JP" sz="2400" dirty="0">
                <a:solidFill>
                  <a:srgbClr val="0070C0"/>
                </a:solidFill>
              </a:rPr>
              <a:t>int</a:t>
            </a:r>
            <a:r>
              <a:rPr kumimoji="1" lang="en-US" altLang="ja-JP" sz="2400" dirty="0"/>
              <a:t> Length ) ;</a:t>
            </a:r>
          </a:p>
          <a:p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kumimoji="1" lang="en-US" altLang="ja-JP" sz="2400" dirty="0" err="1"/>
              <a:t>NetHandle</a:t>
            </a:r>
            <a:r>
              <a:rPr kumimoji="1" lang="en-US" altLang="ja-JP" sz="2400" dirty="0"/>
              <a:t>	</a:t>
            </a:r>
            <a:r>
              <a:rPr kumimoji="1" lang="ja-JP" altLang="en-US" sz="2400" dirty="0"/>
              <a:t>・・・送信先ハンドル</a:t>
            </a:r>
            <a:endParaRPr kumimoji="1" lang="en-US" altLang="ja-JP" sz="2400" dirty="0"/>
          </a:p>
          <a:p>
            <a:r>
              <a:rPr kumimoji="1" lang="en-US" altLang="ja-JP" sz="2400" dirty="0"/>
              <a:t>Buffer		</a:t>
            </a:r>
            <a:r>
              <a:rPr kumimoji="1" lang="ja-JP" altLang="en-US" sz="2400" dirty="0"/>
              <a:t>・・・送信データ</a:t>
            </a:r>
            <a:endParaRPr kumimoji="1" lang="en-US" altLang="ja-JP" sz="2400" dirty="0"/>
          </a:p>
          <a:p>
            <a:r>
              <a:rPr kumimoji="1" lang="en-US" altLang="ja-JP" sz="2400" dirty="0"/>
              <a:t>Length	</a:t>
            </a:r>
            <a:r>
              <a:rPr kumimoji="1" lang="ja-JP" altLang="en-US" sz="2400" dirty="0"/>
              <a:t>・・・送信データの長さ</a:t>
            </a:r>
            <a:endParaRPr kumimoji="1" lang="en-US" altLang="ja-JP" sz="2400" dirty="0"/>
          </a:p>
          <a:p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接続中の端末に向けて第２引数のデータを送信します。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8466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データの送受信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944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つづいて</a:t>
            </a:r>
            <a:r>
              <a:rPr lang="en-US" altLang="ja-JP" sz="2400" b="1" dirty="0">
                <a:solidFill>
                  <a:srgbClr val="7030A0"/>
                </a:solidFill>
              </a:rPr>
              <a:t>Server</a:t>
            </a:r>
            <a:r>
              <a:rPr lang="ja-JP" altLang="en-US" sz="2400" b="1" dirty="0">
                <a:solidFill>
                  <a:srgbClr val="7030A0"/>
                </a:solidFill>
              </a:rPr>
              <a:t>プロジェクト</a:t>
            </a:r>
            <a:r>
              <a:rPr lang="ja-JP" altLang="en-US" sz="2400" dirty="0"/>
              <a:t>を開きましょう。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E8773F9-30EC-4F44-A601-6D2F998C1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407125" cy="451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932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データの送受信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724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NetworkCommonParam.h</a:t>
            </a:r>
            <a:r>
              <a:rPr lang="ja-JP" altLang="en-US" sz="2400" dirty="0"/>
              <a:t>に</a:t>
            </a:r>
            <a:r>
              <a:rPr lang="en-US" altLang="ja-JP" sz="2400" dirty="0"/>
              <a:t>Client</a:t>
            </a:r>
            <a:r>
              <a:rPr lang="ja-JP" altLang="en-US" sz="2400" dirty="0"/>
              <a:t>で追加したデータをコピーしましょう。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F671132-E53D-4471-B17E-1CF66C4E1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8002932" cy="299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401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データの送受信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574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B050"/>
                </a:solidFill>
              </a:rPr>
              <a:t>Server</a:t>
            </a:r>
            <a:r>
              <a:rPr kumimoji="1" lang="ja-JP" altLang="en-US" sz="2400" b="1" dirty="0">
                <a:solidFill>
                  <a:srgbClr val="00B050"/>
                </a:solidFill>
              </a:rPr>
              <a:t>クラス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(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Server.h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)</a:t>
            </a:r>
            <a:r>
              <a:rPr kumimoji="1" lang="ja-JP" altLang="en-US" sz="2400" dirty="0"/>
              <a:t>に受信したチャットデータ用のメンバ変数を追加します。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96AE614-71E3-49C3-A211-7B2F3F8FC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6625042" cy="172127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4D0C94B-8829-428D-A84D-4C88649CCEF2}"/>
              </a:ext>
            </a:extLst>
          </p:cNvPr>
          <p:cNvSpPr/>
          <p:nvPr/>
        </p:nvSpPr>
        <p:spPr>
          <a:xfrm>
            <a:off x="2531534" y="2345266"/>
            <a:ext cx="4661050" cy="618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9912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データの送受信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2897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0070C0"/>
                </a:solidFill>
              </a:rPr>
              <a:t>コンストラクタ</a:t>
            </a:r>
            <a:r>
              <a:rPr kumimoji="1" lang="ja-JP" altLang="en-US" sz="2400" dirty="0"/>
              <a:t>で初期化し、</a:t>
            </a:r>
            <a:r>
              <a:rPr kumimoji="1" lang="en-US" altLang="ja-JP" sz="2400" b="1" dirty="0">
                <a:solidFill>
                  <a:srgbClr val="0070C0"/>
                </a:solidFill>
              </a:rPr>
              <a:t>Draw</a:t>
            </a:r>
            <a:r>
              <a:rPr kumimoji="1" lang="ja-JP" altLang="en-US" sz="2400" b="1" dirty="0">
                <a:solidFill>
                  <a:srgbClr val="0070C0"/>
                </a:solidFill>
              </a:rPr>
              <a:t>関数</a:t>
            </a:r>
            <a:r>
              <a:rPr kumimoji="1" lang="ja-JP" altLang="en-US" sz="2400" dirty="0"/>
              <a:t>で内容を描画しましょう。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C6F0724-9E0B-42EA-A7B6-0F084C1FE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3467584" cy="1124107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6A6E07F4-2E20-4AFB-B4B0-01FAFA0A1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3426742"/>
            <a:ext cx="9211961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169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データの送受信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866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70C0"/>
                </a:solidFill>
              </a:rPr>
              <a:t>ReceiveData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に受信処理を追加します。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A8E5FAE-27F9-4750-A2E4-361B0B7EA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602275" cy="2000529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D37E74D-08AD-44F6-97D8-8B7FA0F6750F}"/>
              </a:ext>
            </a:extLst>
          </p:cNvPr>
          <p:cNvSpPr txBox="1"/>
          <p:nvPr/>
        </p:nvSpPr>
        <p:spPr>
          <a:xfrm>
            <a:off x="567541" y="3973911"/>
            <a:ext cx="66944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70C0"/>
                </a:solidFill>
              </a:rPr>
              <a:t>ReceiveData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は毎フレーム呼び出します。</a:t>
            </a:r>
            <a:endParaRPr lang="en-US" altLang="ja-JP" sz="2400" dirty="0"/>
          </a:p>
          <a:p>
            <a:r>
              <a:rPr kumimoji="1" lang="en-US" altLang="ja-JP" sz="2400" b="1" dirty="0">
                <a:solidFill>
                  <a:srgbClr val="0070C0"/>
                </a:solidFill>
              </a:rPr>
              <a:t>Update</a:t>
            </a:r>
            <a:r>
              <a:rPr kumimoji="1" lang="ja-JP" altLang="en-US" sz="2400" b="1" dirty="0">
                <a:solidFill>
                  <a:srgbClr val="0070C0"/>
                </a:solidFill>
              </a:rPr>
              <a:t>関数</a:t>
            </a:r>
            <a:r>
              <a:rPr kumimoji="1" lang="ja-JP" altLang="en-US" sz="2400" dirty="0"/>
              <a:t>を確認しましょう。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628627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データの送受信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61806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データ受信には</a:t>
            </a:r>
            <a:r>
              <a:rPr lang="en-US" altLang="ja-JP" sz="2400" b="1" dirty="0" err="1">
                <a:solidFill>
                  <a:srgbClr val="0070C0"/>
                </a:solidFill>
              </a:rPr>
              <a:t>NetWorkRecv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を使用します。</a:t>
            </a:r>
            <a:endParaRPr lang="en-US" altLang="ja-JP" sz="2400" dirty="0"/>
          </a:p>
          <a:p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kumimoji="1" lang="en-US" altLang="ja-JP" sz="2400" dirty="0">
                <a:solidFill>
                  <a:srgbClr val="0070C0"/>
                </a:solidFill>
              </a:rPr>
              <a:t>int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 </a:t>
            </a:r>
            <a:r>
              <a:rPr kumimoji="1" lang="en-US" altLang="ja-JP" sz="2400" dirty="0" err="1"/>
              <a:t>NetWorkRecv</a:t>
            </a:r>
            <a:r>
              <a:rPr kumimoji="1" lang="en-US" altLang="ja-JP" sz="2400" dirty="0"/>
              <a:t>( </a:t>
            </a:r>
            <a:r>
              <a:rPr kumimoji="1" lang="en-US" altLang="ja-JP" sz="2400" dirty="0">
                <a:solidFill>
                  <a:srgbClr val="0070C0"/>
                </a:solidFill>
              </a:rPr>
              <a:t>int</a:t>
            </a:r>
            <a:r>
              <a:rPr kumimoji="1" lang="en-US" altLang="ja-JP" sz="2400" dirty="0"/>
              <a:t> </a:t>
            </a:r>
            <a:r>
              <a:rPr kumimoji="1" lang="en-US" altLang="ja-JP" sz="2400" dirty="0" err="1"/>
              <a:t>NetHandle</a:t>
            </a:r>
            <a:r>
              <a:rPr kumimoji="1" lang="en-US" altLang="ja-JP" sz="2400" dirty="0"/>
              <a:t>, </a:t>
            </a:r>
            <a:r>
              <a:rPr kumimoji="1" lang="en-US" altLang="ja-JP" sz="2400" dirty="0">
                <a:solidFill>
                  <a:srgbClr val="0070C0"/>
                </a:solidFill>
              </a:rPr>
              <a:t>void</a:t>
            </a:r>
            <a:r>
              <a:rPr kumimoji="1" lang="en-US" altLang="ja-JP" sz="2400" dirty="0"/>
              <a:t> *Buffer, </a:t>
            </a:r>
            <a:r>
              <a:rPr kumimoji="1" lang="en-US" altLang="ja-JP" sz="2400" dirty="0">
                <a:solidFill>
                  <a:srgbClr val="0070C0"/>
                </a:solidFill>
              </a:rPr>
              <a:t>int</a:t>
            </a:r>
            <a:r>
              <a:rPr kumimoji="1" lang="en-US" altLang="ja-JP" sz="2400" dirty="0"/>
              <a:t> Length ) ;</a:t>
            </a:r>
          </a:p>
          <a:p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kumimoji="1" lang="en-US" altLang="ja-JP" sz="2400" dirty="0" err="1"/>
              <a:t>NetHandle</a:t>
            </a:r>
            <a:r>
              <a:rPr kumimoji="1" lang="en-US" altLang="ja-JP" sz="2400" dirty="0"/>
              <a:t>	</a:t>
            </a:r>
            <a:r>
              <a:rPr kumimoji="1" lang="ja-JP" altLang="en-US" sz="2400" dirty="0"/>
              <a:t>・・・受信先ハンドル</a:t>
            </a:r>
            <a:endParaRPr kumimoji="1" lang="en-US" altLang="ja-JP" sz="2400" dirty="0"/>
          </a:p>
          <a:p>
            <a:r>
              <a:rPr kumimoji="1" lang="en-US" altLang="ja-JP" sz="2400" dirty="0"/>
              <a:t>Buffer		</a:t>
            </a:r>
            <a:r>
              <a:rPr kumimoji="1" lang="ja-JP" altLang="en-US" sz="2400" dirty="0"/>
              <a:t>・・・受信データ</a:t>
            </a:r>
            <a:endParaRPr kumimoji="1" lang="en-US" altLang="ja-JP" sz="2400" dirty="0"/>
          </a:p>
          <a:p>
            <a:r>
              <a:rPr kumimoji="1" lang="en-US" altLang="ja-JP" sz="2400" dirty="0"/>
              <a:t>Length	</a:t>
            </a:r>
            <a:r>
              <a:rPr kumimoji="1" lang="ja-JP" altLang="en-US" sz="2400" dirty="0"/>
              <a:t>・・・受信データの長さ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en-US" altLang="ja-JP" sz="2400" dirty="0"/>
              <a:t>※</a:t>
            </a:r>
            <a:r>
              <a:rPr kumimoji="1" lang="ja-JP" altLang="en-US" sz="2400" dirty="0"/>
              <a:t>今回、受信データは</a:t>
            </a:r>
            <a:r>
              <a:rPr kumimoji="1" lang="en-US" altLang="ja-JP" sz="2400" b="1" dirty="0" err="1"/>
              <a:t>m_ChatData</a:t>
            </a:r>
            <a:r>
              <a:rPr kumimoji="1" lang="ja-JP" altLang="en-US" sz="2400" dirty="0"/>
              <a:t>に格納されます。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679938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データの送受信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クライアントとサーバー両方を実行し、</a:t>
            </a:r>
            <a:endParaRPr kumimoji="1" lang="en-US" altLang="ja-JP" sz="2400" dirty="0"/>
          </a:p>
          <a:p>
            <a:r>
              <a:rPr lang="ja-JP" altLang="en-US" sz="2400" dirty="0"/>
              <a:t>サーバーに向けてメッセージを送信してみましょう。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36CA206-CA1A-40A5-941F-B86630C35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5"/>
            <a:ext cx="3530492" cy="2623449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A4C20CF1-1D47-4CD8-8273-DE57237AA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273" y="2187124"/>
            <a:ext cx="2989143" cy="2623449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1AEC1E6-79C9-4B97-AF93-A16BEF0E4040}"/>
              </a:ext>
            </a:extLst>
          </p:cNvPr>
          <p:cNvSpPr txBox="1"/>
          <p:nvPr/>
        </p:nvSpPr>
        <p:spPr>
          <a:xfrm>
            <a:off x="1589455" y="5077585"/>
            <a:ext cx="10711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70C0"/>
                </a:solidFill>
              </a:rPr>
              <a:t>Client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71FA113-E436-4EB1-9197-67787C603F1D}"/>
              </a:ext>
            </a:extLst>
          </p:cNvPr>
          <p:cNvSpPr txBox="1"/>
          <p:nvPr/>
        </p:nvSpPr>
        <p:spPr>
          <a:xfrm>
            <a:off x="7739243" y="5077584"/>
            <a:ext cx="1154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B050"/>
                </a:solidFill>
              </a:rPr>
              <a:t>Server</a:t>
            </a:r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40DEC0B1-BBA1-4501-851E-154385FDC737}"/>
              </a:ext>
            </a:extLst>
          </p:cNvPr>
          <p:cNvSpPr/>
          <p:nvPr/>
        </p:nvSpPr>
        <p:spPr>
          <a:xfrm>
            <a:off x="4569366" y="3063243"/>
            <a:ext cx="1603575" cy="7315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AF6FE5D-ABB5-43B9-BD0F-6264748AFC32}"/>
              </a:ext>
            </a:extLst>
          </p:cNvPr>
          <p:cNvSpPr txBox="1"/>
          <p:nvPr/>
        </p:nvSpPr>
        <p:spPr>
          <a:xfrm>
            <a:off x="495824" y="5806260"/>
            <a:ext cx="72523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時間があれば別席の人の</a:t>
            </a:r>
            <a:r>
              <a:rPr lang="en-US" altLang="ja-JP" sz="2400" b="1" dirty="0">
                <a:solidFill>
                  <a:srgbClr val="FF0000"/>
                </a:solidFill>
              </a:rPr>
              <a:t>Server</a:t>
            </a:r>
            <a:r>
              <a:rPr lang="ja-JP" altLang="en-US" sz="2400" b="1" dirty="0">
                <a:solidFill>
                  <a:srgbClr val="FF0000"/>
                </a:solidFill>
              </a:rPr>
              <a:t>にも送ってみよう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6502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データの送受信 補足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一見、これでチャットの完成と思うかもしれませんが、</a:t>
            </a:r>
            <a:endParaRPr lang="en-US" altLang="ja-JP" sz="2400" dirty="0"/>
          </a:p>
          <a:p>
            <a:r>
              <a:rPr kumimoji="1" lang="ja-JP" altLang="en-US" sz="2400" dirty="0"/>
              <a:t>今回は</a:t>
            </a:r>
            <a:r>
              <a:rPr kumimoji="1" lang="en-US" altLang="ja-JP" sz="2400" b="1" dirty="0">
                <a:solidFill>
                  <a:srgbClr val="00B050"/>
                </a:solidFill>
              </a:rPr>
              <a:t>Server</a:t>
            </a:r>
            <a:r>
              <a:rPr kumimoji="1" lang="ja-JP" altLang="en-US" sz="2400" dirty="0"/>
              <a:t>に向かってデータを送っているだけです。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実際、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ゲームのプレイヤーはクライアントを操作</a:t>
            </a:r>
            <a:r>
              <a:rPr kumimoji="1" lang="ja-JP" altLang="en-US" sz="2400" dirty="0"/>
              <a:t>するので、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クライアント側にもメッセージを反映</a:t>
            </a:r>
            <a:r>
              <a:rPr lang="ja-JP" altLang="en-US" sz="2400" dirty="0"/>
              <a:t>させる必要があります。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kumimoji="1" lang="en-US" altLang="ja-JP" sz="2400" dirty="0"/>
              <a:t>※</a:t>
            </a:r>
            <a:r>
              <a:rPr kumimoji="1" lang="ja-JP" altLang="en-US" sz="2400" dirty="0"/>
              <a:t>詳細については次回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678360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427</Words>
  <Application>Microsoft Office PowerPoint</Application>
  <PresentationFormat>ワイド画面</PresentationFormat>
  <Paragraphs>65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情報北九州校 倉掛</cp:lastModifiedBy>
  <cp:revision>42</cp:revision>
  <dcterms:created xsi:type="dcterms:W3CDTF">2024-08-27T02:15:54Z</dcterms:created>
  <dcterms:modified xsi:type="dcterms:W3CDTF">2025-10-30T01:55:01Z</dcterms:modified>
</cp:coreProperties>
</file>