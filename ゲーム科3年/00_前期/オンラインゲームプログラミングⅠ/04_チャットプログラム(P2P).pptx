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データ通信は、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ユーザーに必要なデータが渡らないといけません。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ゲームでは</a:t>
            </a:r>
            <a:r>
              <a:rPr lang="ja-JP" altLang="en-US" sz="2400" b="1" dirty="0">
                <a:solidFill>
                  <a:srgbClr val="FF0000"/>
                </a:solidFill>
              </a:rPr>
              <a:t>ユーザーはクライアントを操作</a:t>
            </a:r>
            <a:r>
              <a:rPr lang="ja-JP" altLang="en-US" sz="2400" dirty="0"/>
              <a:t>しますので、</a:t>
            </a:r>
            <a:endParaRPr lang="en-US" altLang="ja-JP" sz="2400" dirty="0"/>
          </a:p>
          <a:p>
            <a:r>
              <a:rPr kumimoji="1" lang="ja-JP" altLang="en-US" sz="2400" dirty="0"/>
              <a:t>ゲームの情報をクライアントに伝えなくてはいけません。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「</a:t>
            </a:r>
            <a:r>
              <a:rPr kumimoji="1" lang="en-US" altLang="ja-JP" sz="2400" dirty="0"/>
              <a:t>00_</a:t>
            </a:r>
            <a:r>
              <a:rPr kumimoji="1" lang="ja-JP" altLang="en-US" sz="2400" dirty="0"/>
              <a:t>オンラインゲームの仕組み」を見直してみよう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12836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クライアント間でデータを通信、共有する方法は大きく分けて</a:t>
            </a:r>
            <a:r>
              <a:rPr kumimoji="1" lang="en-US" altLang="ja-JP" sz="2400" dirty="0"/>
              <a:t>2</a:t>
            </a:r>
            <a:r>
              <a:rPr kumimoji="1" lang="ja-JP" altLang="en-US" sz="2400" dirty="0"/>
              <a:t>種類あります。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・ピアツーピア方式（</a:t>
            </a:r>
            <a:r>
              <a:rPr lang="en-US" altLang="ja-JP" sz="2400" b="1" dirty="0">
                <a:solidFill>
                  <a:srgbClr val="FF0000"/>
                </a:solidFill>
              </a:rPr>
              <a:t>P2P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・クライアントサーバー方式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dirty="0"/>
              <a:t>実際のゲームではこれらの方式を軸に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様々な手法に派生</a:t>
            </a:r>
            <a:r>
              <a:rPr kumimoji="1" lang="ja-JP" altLang="en-US" sz="2400" dirty="0"/>
              <a:t>しています。</a:t>
            </a:r>
            <a:endParaRPr kumimoji="1" lang="en-US" altLang="ja-JP" sz="2400" dirty="0"/>
          </a:p>
          <a:p>
            <a:r>
              <a:rPr lang="ja-JP" altLang="en-US" sz="2400" dirty="0"/>
              <a:t>まずは軸となる方式を学びましょう。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52904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46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 </a:t>
            </a:r>
            <a:r>
              <a:rPr kumimoji="1" lang="en-US" altLang="ja-JP" sz="3200" b="1" u="sng" dirty="0"/>
              <a:t>P2P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564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P2P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方式</a:t>
            </a:r>
            <a:r>
              <a:rPr kumimoji="1" lang="ja-JP" altLang="en-US" sz="2400" dirty="0"/>
              <a:t>は単純に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お互いでデータを送りあう方式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kumimoji="1" lang="ja-JP" altLang="en-US" sz="2400" dirty="0"/>
              <a:t>サーバーという概念は無く、</a:t>
            </a:r>
            <a:r>
              <a:rPr lang="ja-JP" altLang="en-US" sz="2400" dirty="0"/>
              <a:t>お互いがデータを送信、受信します。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ローカル通信対戦や小規模な１</a:t>
            </a:r>
            <a:r>
              <a:rPr lang="en-US" altLang="ja-JP" sz="2400" b="1" dirty="0">
                <a:solidFill>
                  <a:srgbClr val="FF0000"/>
                </a:solidFill>
              </a:rPr>
              <a:t>VS</a:t>
            </a:r>
            <a:r>
              <a:rPr lang="ja-JP" altLang="en-US" sz="2400" b="1" dirty="0">
                <a:solidFill>
                  <a:srgbClr val="FF0000"/>
                </a:solidFill>
              </a:rPr>
              <a:t>１オンライン対戦ゲーム</a:t>
            </a:r>
            <a:r>
              <a:rPr lang="ja-JP" altLang="en-US" sz="2400" dirty="0"/>
              <a:t>で採用されます。</a:t>
            </a:r>
            <a:endParaRPr lang="en-US" altLang="ja-JP" sz="2400" dirty="0"/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F8AE2564-9C06-4CC7-BBA5-01BEBFA50536}"/>
              </a:ext>
            </a:extLst>
          </p:cNvPr>
          <p:cNvSpPr/>
          <p:nvPr/>
        </p:nvSpPr>
        <p:spPr>
          <a:xfrm>
            <a:off x="2351518" y="4610951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A6568F9-232A-4A7E-83DB-3FD8852BF368}"/>
              </a:ext>
            </a:extLst>
          </p:cNvPr>
          <p:cNvSpPr/>
          <p:nvPr/>
        </p:nvSpPr>
        <p:spPr>
          <a:xfrm>
            <a:off x="1831564" y="3517257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マイル 7">
            <a:extLst>
              <a:ext uri="{FF2B5EF4-FFF2-40B4-BE49-F238E27FC236}">
                <a16:creationId xmlns:a16="http://schemas.microsoft.com/office/drawing/2014/main" id="{B19C6A8D-2B38-4F13-B3C4-30CF59E67DB2}"/>
              </a:ext>
            </a:extLst>
          </p:cNvPr>
          <p:cNvSpPr/>
          <p:nvPr/>
        </p:nvSpPr>
        <p:spPr>
          <a:xfrm>
            <a:off x="2208082" y="3708910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スマイル 8">
            <a:extLst>
              <a:ext uri="{FF2B5EF4-FFF2-40B4-BE49-F238E27FC236}">
                <a16:creationId xmlns:a16="http://schemas.microsoft.com/office/drawing/2014/main" id="{D4382F14-BE54-462F-BACF-8F1B52492FE6}"/>
              </a:ext>
            </a:extLst>
          </p:cNvPr>
          <p:cNvSpPr/>
          <p:nvPr/>
        </p:nvSpPr>
        <p:spPr>
          <a:xfrm>
            <a:off x="2938706" y="3921278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D082CFF6-6A9A-43C3-A36D-897424BB5E8F}"/>
              </a:ext>
            </a:extLst>
          </p:cNvPr>
          <p:cNvSpPr/>
          <p:nvPr/>
        </p:nvSpPr>
        <p:spPr>
          <a:xfrm>
            <a:off x="6764919" y="4547826"/>
            <a:ext cx="699247" cy="55581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AC039B1-C514-4297-AD9D-0BFD75C854C8}"/>
              </a:ext>
            </a:extLst>
          </p:cNvPr>
          <p:cNvSpPr/>
          <p:nvPr/>
        </p:nvSpPr>
        <p:spPr>
          <a:xfrm>
            <a:off x="6244965" y="3454132"/>
            <a:ext cx="1748118" cy="10936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マイル 11">
            <a:extLst>
              <a:ext uri="{FF2B5EF4-FFF2-40B4-BE49-F238E27FC236}">
                <a16:creationId xmlns:a16="http://schemas.microsoft.com/office/drawing/2014/main" id="{B95B12D7-F5DD-4BE6-BE77-23016009DAD9}"/>
              </a:ext>
            </a:extLst>
          </p:cNvPr>
          <p:cNvSpPr/>
          <p:nvPr/>
        </p:nvSpPr>
        <p:spPr>
          <a:xfrm>
            <a:off x="6621483" y="3645785"/>
            <a:ext cx="251011" cy="236796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スマイル 12">
            <a:extLst>
              <a:ext uri="{FF2B5EF4-FFF2-40B4-BE49-F238E27FC236}">
                <a16:creationId xmlns:a16="http://schemas.microsoft.com/office/drawing/2014/main" id="{4714BF1B-58C7-4310-B86E-9D6B680101FC}"/>
              </a:ext>
            </a:extLst>
          </p:cNvPr>
          <p:cNvSpPr/>
          <p:nvPr/>
        </p:nvSpPr>
        <p:spPr>
          <a:xfrm>
            <a:off x="7352107" y="3858153"/>
            <a:ext cx="251011" cy="236796"/>
          </a:xfrm>
          <a:prstGeom prst="smileyFac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B72EFE6-D599-4453-8F92-5D71A56F3F8A}"/>
              </a:ext>
            </a:extLst>
          </p:cNvPr>
          <p:cNvSpPr txBox="1"/>
          <p:nvPr/>
        </p:nvSpPr>
        <p:spPr>
          <a:xfrm>
            <a:off x="1993255" y="3145970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4359DE7-3DE6-4779-9938-7BAB5AF4A392}"/>
              </a:ext>
            </a:extLst>
          </p:cNvPr>
          <p:cNvSpPr txBox="1"/>
          <p:nvPr/>
        </p:nvSpPr>
        <p:spPr>
          <a:xfrm>
            <a:off x="6406656" y="3145970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クライアント</a:t>
            </a:r>
            <a:endParaRPr lang="en-US" altLang="ja-JP" sz="1600" b="1" dirty="0"/>
          </a:p>
        </p:txBody>
      </p:sp>
      <p:sp>
        <p:nvSpPr>
          <p:cNvPr id="2" name="矢印: 左右 1">
            <a:extLst>
              <a:ext uri="{FF2B5EF4-FFF2-40B4-BE49-F238E27FC236}">
                <a16:creationId xmlns:a16="http://schemas.microsoft.com/office/drawing/2014/main" id="{F641EFCF-EF63-4B67-990C-78C3A95D0D12}"/>
              </a:ext>
            </a:extLst>
          </p:cNvPr>
          <p:cNvSpPr/>
          <p:nvPr/>
        </p:nvSpPr>
        <p:spPr>
          <a:xfrm>
            <a:off x="3765177" y="3748131"/>
            <a:ext cx="2260478" cy="58309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データ</a:t>
            </a:r>
          </a:p>
        </p:txBody>
      </p:sp>
    </p:spTree>
    <p:extLst>
      <p:ext uri="{BB962C8B-B14F-4D97-AF65-F5344CB8AC3E}">
        <p14:creationId xmlns:p14="http://schemas.microsoft.com/office/powerpoint/2010/main" val="1722213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46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 </a:t>
            </a:r>
            <a:r>
              <a:rPr kumimoji="1" lang="en-US" altLang="ja-JP" sz="3200" b="1" u="sng" dirty="0"/>
              <a:t>P2P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P2P</a:t>
            </a:r>
            <a:r>
              <a:rPr kumimoji="1" lang="ja-JP" altLang="en-US" sz="2400" dirty="0"/>
              <a:t>のメリットとデメリットです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P2P</a:t>
            </a:r>
            <a:r>
              <a:rPr lang="ja-JP" altLang="en-US" sz="2400" b="1" dirty="0">
                <a:solidFill>
                  <a:srgbClr val="FF0000"/>
                </a:solidFill>
              </a:rPr>
              <a:t>のメリット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・サーバーがいらない</a:t>
            </a:r>
            <a:endParaRPr lang="en-US" altLang="ja-JP" sz="2400" dirty="0"/>
          </a:p>
          <a:p>
            <a:r>
              <a:rPr lang="ja-JP" altLang="en-US" sz="2400" dirty="0"/>
              <a:t>　・制作、運営コスト</a:t>
            </a:r>
            <a:r>
              <a:rPr lang="en-US" altLang="ja-JP" sz="2400" dirty="0"/>
              <a:t>0</a:t>
            </a:r>
          </a:p>
          <a:p>
            <a:r>
              <a:rPr kumimoji="1" lang="ja-JP" altLang="en-US" sz="2400" dirty="0"/>
              <a:t>・サーバーを仲介しない</a:t>
            </a:r>
            <a:endParaRPr kumimoji="1" lang="en-US" altLang="ja-JP" sz="2400" dirty="0"/>
          </a:p>
          <a:p>
            <a:r>
              <a:rPr lang="ja-JP" altLang="en-US" sz="2400" dirty="0"/>
              <a:t>　・通信が速い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0070C0"/>
                </a:solidFill>
              </a:rPr>
              <a:t>■</a:t>
            </a:r>
            <a:r>
              <a:rPr lang="en-US" altLang="ja-JP" sz="2400" b="1" dirty="0">
                <a:solidFill>
                  <a:srgbClr val="0070C0"/>
                </a:solidFill>
              </a:rPr>
              <a:t>P2P</a:t>
            </a:r>
            <a:r>
              <a:rPr lang="ja-JP" altLang="en-US" sz="2400" b="1" dirty="0">
                <a:solidFill>
                  <a:srgbClr val="0070C0"/>
                </a:solidFill>
              </a:rPr>
              <a:t>のデメリット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r>
              <a:rPr lang="ja-JP" altLang="en-US" sz="2400" dirty="0"/>
              <a:t>・タイミングにラグが発生する</a:t>
            </a:r>
            <a:endParaRPr lang="en-US" altLang="ja-JP" sz="2400" dirty="0"/>
          </a:p>
          <a:p>
            <a:r>
              <a:rPr kumimoji="1" lang="ja-JP" altLang="en-US" sz="2400" dirty="0"/>
              <a:t>　・１Ｐと２Ｐで見た目が違うときがある（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同期ずれ</a:t>
            </a:r>
            <a:r>
              <a:rPr kumimoji="1" lang="ja-JP" altLang="en-US" sz="2400" dirty="0"/>
              <a:t>）</a:t>
            </a:r>
            <a:endParaRPr kumimoji="1" lang="en-US" altLang="ja-JP" sz="2400" dirty="0"/>
          </a:p>
          <a:p>
            <a:r>
              <a:rPr lang="ja-JP" altLang="en-US" sz="2400" dirty="0"/>
              <a:t>・チート、改造をリアルタイムで検知できない</a:t>
            </a:r>
            <a:endParaRPr lang="en-US" altLang="ja-JP" sz="2400" dirty="0"/>
          </a:p>
          <a:p>
            <a:r>
              <a:rPr kumimoji="1" lang="ja-JP" altLang="en-US" sz="2400" dirty="0"/>
              <a:t>・デメリットに対する対策をする必要がある</a:t>
            </a:r>
            <a:endParaRPr kumimoji="1" lang="en-US" altLang="ja-JP" sz="2400" dirty="0"/>
          </a:p>
          <a:p>
            <a:r>
              <a:rPr lang="ja-JP" altLang="en-US" sz="2400" dirty="0"/>
              <a:t>　・入力同期やロールバック方式など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00703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 クライアントサーバー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クライアントサーバー方式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サーバーを用意して通信する方式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サーバーには必ず正しいデータが格納</a:t>
            </a:r>
            <a:r>
              <a:rPr lang="ja-JP" altLang="en-US" sz="2400" dirty="0"/>
              <a:t>されており、</a:t>
            </a:r>
            <a:endParaRPr lang="en-US" altLang="ja-JP" sz="2400" dirty="0"/>
          </a:p>
          <a:p>
            <a:r>
              <a:rPr kumimoji="1" lang="ja-JP" altLang="en-US" sz="2400" dirty="0"/>
              <a:t>そのデータを各クライアントに送信します。</a:t>
            </a:r>
            <a:endParaRPr kumimoji="1" lang="en-US" altLang="ja-JP" sz="2400" dirty="0"/>
          </a:p>
          <a:p>
            <a:r>
              <a:rPr lang="ja-JP" altLang="en-US" sz="2400" dirty="0"/>
              <a:t>主に</a:t>
            </a:r>
            <a:r>
              <a:rPr lang="ja-JP" altLang="en-US" sz="2400" b="1" dirty="0">
                <a:solidFill>
                  <a:srgbClr val="FF0000"/>
                </a:solidFill>
              </a:rPr>
              <a:t>多人数参加型のゲーム</a:t>
            </a:r>
            <a:r>
              <a:rPr lang="ja-JP" altLang="en-US" sz="2400" dirty="0"/>
              <a:t>（</a:t>
            </a:r>
            <a:r>
              <a:rPr lang="en-US" altLang="ja-JP" sz="2400" dirty="0"/>
              <a:t>TPS</a:t>
            </a:r>
            <a:r>
              <a:rPr lang="ja-JP" altLang="en-US" sz="2400" dirty="0"/>
              <a:t>、</a:t>
            </a:r>
            <a:r>
              <a:rPr lang="en-US" altLang="ja-JP" sz="2400" dirty="0"/>
              <a:t>FPS</a:t>
            </a:r>
            <a:r>
              <a:rPr lang="ja-JP" altLang="en-US" sz="2400" dirty="0"/>
              <a:t>など）で採用されます。</a:t>
            </a:r>
            <a:endParaRPr kumimoji="1" lang="en-US" altLang="ja-JP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5D8C9E62-AC96-4FAB-B2F8-86F1EE6466E6}"/>
              </a:ext>
            </a:extLst>
          </p:cNvPr>
          <p:cNvGrpSpPr/>
          <p:nvPr/>
        </p:nvGrpSpPr>
        <p:grpSpPr>
          <a:xfrm>
            <a:off x="567542" y="2925789"/>
            <a:ext cx="6221038" cy="3531324"/>
            <a:chOff x="1013480" y="2641364"/>
            <a:chExt cx="6966918" cy="4063466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F8AE2564-9C06-4CC7-BBA5-01BEBFA50536}"/>
                </a:ext>
              </a:extLst>
            </p:cNvPr>
            <p:cNvSpPr/>
            <p:nvPr/>
          </p:nvSpPr>
          <p:spPr>
            <a:xfrm>
              <a:off x="1533434" y="4106345"/>
              <a:ext cx="699247" cy="55581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DA6568F9-232A-4A7E-83DB-3FD8852BF368}"/>
                </a:ext>
              </a:extLst>
            </p:cNvPr>
            <p:cNvSpPr/>
            <p:nvPr/>
          </p:nvSpPr>
          <p:spPr>
            <a:xfrm>
              <a:off x="1013480" y="3012651"/>
              <a:ext cx="1748118" cy="10936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スマイル 7">
              <a:extLst>
                <a:ext uri="{FF2B5EF4-FFF2-40B4-BE49-F238E27FC236}">
                  <a16:creationId xmlns:a16="http://schemas.microsoft.com/office/drawing/2014/main" id="{B19C6A8D-2B38-4F13-B3C4-30CF59E67DB2}"/>
                </a:ext>
              </a:extLst>
            </p:cNvPr>
            <p:cNvSpPr/>
            <p:nvPr/>
          </p:nvSpPr>
          <p:spPr>
            <a:xfrm>
              <a:off x="1389998" y="3204304"/>
              <a:ext cx="251011" cy="23679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スマイル 8">
              <a:extLst>
                <a:ext uri="{FF2B5EF4-FFF2-40B4-BE49-F238E27FC236}">
                  <a16:creationId xmlns:a16="http://schemas.microsoft.com/office/drawing/2014/main" id="{D4382F14-BE54-462F-BACF-8F1B52492FE6}"/>
                </a:ext>
              </a:extLst>
            </p:cNvPr>
            <p:cNvSpPr/>
            <p:nvPr/>
          </p:nvSpPr>
          <p:spPr>
            <a:xfrm>
              <a:off x="2120622" y="3416672"/>
              <a:ext cx="251011" cy="236796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二等辺三角形 9">
              <a:extLst>
                <a:ext uri="{FF2B5EF4-FFF2-40B4-BE49-F238E27FC236}">
                  <a16:creationId xmlns:a16="http://schemas.microsoft.com/office/drawing/2014/main" id="{D082CFF6-6A9A-43C3-A36D-897424BB5E8F}"/>
                </a:ext>
              </a:extLst>
            </p:cNvPr>
            <p:cNvSpPr/>
            <p:nvPr/>
          </p:nvSpPr>
          <p:spPr>
            <a:xfrm>
              <a:off x="1533434" y="6149018"/>
              <a:ext cx="699247" cy="55581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BAC039B1-C514-4297-AD9D-0BFD75C854C8}"/>
                </a:ext>
              </a:extLst>
            </p:cNvPr>
            <p:cNvSpPr/>
            <p:nvPr/>
          </p:nvSpPr>
          <p:spPr>
            <a:xfrm>
              <a:off x="1013480" y="5055324"/>
              <a:ext cx="1748118" cy="10936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スマイル 11">
              <a:extLst>
                <a:ext uri="{FF2B5EF4-FFF2-40B4-BE49-F238E27FC236}">
                  <a16:creationId xmlns:a16="http://schemas.microsoft.com/office/drawing/2014/main" id="{B95B12D7-F5DD-4BE6-BE77-23016009DAD9}"/>
                </a:ext>
              </a:extLst>
            </p:cNvPr>
            <p:cNvSpPr/>
            <p:nvPr/>
          </p:nvSpPr>
          <p:spPr>
            <a:xfrm>
              <a:off x="1389998" y="5246977"/>
              <a:ext cx="251011" cy="236796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スマイル 12">
              <a:extLst>
                <a:ext uri="{FF2B5EF4-FFF2-40B4-BE49-F238E27FC236}">
                  <a16:creationId xmlns:a16="http://schemas.microsoft.com/office/drawing/2014/main" id="{4714BF1B-58C7-4310-B86E-9D6B680101FC}"/>
                </a:ext>
              </a:extLst>
            </p:cNvPr>
            <p:cNvSpPr/>
            <p:nvPr/>
          </p:nvSpPr>
          <p:spPr>
            <a:xfrm>
              <a:off x="2120622" y="5459345"/>
              <a:ext cx="251011" cy="236796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EB72EFE6-D599-4453-8F92-5D71A56F3F8A}"/>
                </a:ext>
              </a:extLst>
            </p:cNvPr>
            <p:cNvSpPr txBox="1"/>
            <p:nvPr/>
          </p:nvSpPr>
          <p:spPr>
            <a:xfrm>
              <a:off x="1175171" y="2641364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b="1" dirty="0"/>
                <a:t>クライアント</a:t>
              </a:r>
              <a:endParaRPr lang="en-US" altLang="ja-JP" sz="1600" b="1" dirty="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04359DE7-3DE6-4779-9938-7BAB5AF4A392}"/>
                </a:ext>
              </a:extLst>
            </p:cNvPr>
            <p:cNvSpPr txBox="1"/>
            <p:nvPr/>
          </p:nvSpPr>
          <p:spPr>
            <a:xfrm>
              <a:off x="1175171" y="4747162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b="1" dirty="0"/>
                <a:t>クライアント</a:t>
              </a:r>
              <a:endParaRPr lang="en-US" altLang="ja-JP" sz="1600" b="1" dirty="0"/>
            </a:p>
          </p:txBody>
        </p:sp>
        <p:sp>
          <p:nvSpPr>
            <p:cNvPr id="2" name="矢印: 左右 1">
              <a:extLst>
                <a:ext uri="{FF2B5EF4-FFF2-40B4-BE49-F238E27FC236}">
                  <a16:creationId xmlns:a16="http://schemas.microsoft.com/office/drawing/2014/main" id="{F641EFCF-EF63-4B67-990C-78C3A95D0D12}"/>
                </a:ext>
              </a:extLst>
            </p:cNvPr>
            <p:cNvSpPr/>
            <p:nvPr/>
          </p:nvSpPr>
          <p:spPr>
            <a:xfrm>
              <a:off x="3124653" y="3303666"/>
              <a:ext cx="2260478" cy="58309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データ</a:t>
              </a: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ADE41BDB-C44D-45C2-A121-E43AD5B0D71A}"/>
                </a:ext>
              </a:extLst>
            </p:cNvPr>
            <p:cNvGrpSpPr/>
            <p:nvPr/>
          </p:nvGrpSpPr>
          <p:grpSpPr>
            <a:xfrm>
              <a:off x="5748186" y="3048937"/>
              <a:ext cx="2232212" cy="3356854"/>
              <a:chOff x="6096000" y="2814407"/>
              <a:chExt cx="2232212" cy="3356854"/>
            </a:xfrm>
          </p:grpSpPr>
          <p:sp>
            <p:nvSpPr>
              <p:cNvPr id="17" name="直方体 16">
                <a:extLst>
                  <a:ext uri="{FF2B5EF4-FFF2-40B4-BE49-F238E27FC236}">
                    <a16:creationId xmlns:a16="http://schemas.microsoft.com/office/drawing/2014/main" id="{40559FB0-468E-4B3A-BDF1-267BE3B6FA28}"/>
                  </a:ext>
                </a:extLst>
              </p:cNvPr>
              <p:cNvSpPr/>
              <p:nvPr/>
            </p:nvSpPr>
            <p:spPr>
              <a:xfrm>
                <a:off x="6096000" y="2814407"/>
                <a:ext cx="2232212" cy="3356854"/>
              </a:xfrm>
              <a:prstGeom prst="cub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187F7EC2-B2D3-4B82-9A15-EA633FC3D772}"/>
                  </a:ext>
                </a:extLst>
              </p:cNvPr>
              <p:cNvSpPr txBox="1"/>
              <p:nvPr/>
            </p:nvSpPr>
            <p:spPr>
              <a:xfrm>
                <a:off x="6233236" y="3554934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chemeClr val="bg1"/>
                    </a:solidFill>
                  </a:rPr>
                  <a:t>サーバー</a:t>
                </a:r>
                <a:endParaRPr lang="en-US" altLang="ja-JP" sz="2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9" name="矢印: 左右 18">
              <a:extLst>
                <a:ext uri="{FF2B5EF4-FFF2-40B4-BE49-F238E27FC236}">
                  <a16:creationId xmlns:a16="http://schemas.microsoft.com/office/drawing/2014/main" id="{978B7956-8FC5-4AF0-BF63-36FB18CFA193}"/>
                </a:ext>
              </a:extLst>
            </p:cNvPr>
            <p:cNvSpPr/>
            <p:nvPr/>
          </p:nvSpPr>
          <p:spPr>
            <a:xfrm>
              <a:off x="3124653" y="5310626"/>
              <a:ext cx="2260478" cy="58309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データ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2528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 クライアントサーバー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6547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クライアントサーバー方式のメリットとデメリットです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■メリット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</a:t>
            </a:r>
            <a:r>
              <a:rPr lang="ja-JP" altLang="en-US" sz="2400" dirty="0"/>
              <a:t>常に正しい情報がサーバーにある</a:t>
            </a:r>
            <a:endParaRPr kumimoji="1" lang="en-US" altLang="ja-JP" sz="2400" dirty="0"/>
          </a:p>
          <a:p>
            <a:r>
              <a:rPr lang="ja-JP" altLang="en-US" sz="2400" dirty="0"/>
              <a:t>　・同期ずれのリスクが低い</a:t>
            </a:r>
            <a:endParaRPr lang="en-US" altLang="ja-JP" sz="2400" dirty="0"/>
          </a:p>
          <a:p>
            <a:r>
              <a:rPr kumimoji="1" lang="ja-JP" altLang="en-US" sz="2400" dirty="0"/>
              <a:t>　・クライアント側のチートをサーバーで検知できる</a:t>
            </a:r>
            <a:endParaRPr kumimoji="1" lang="en-US" altLang="ja-JP" sz="2400" dirty="0"/>
          </a:p>
          <a:p>
            <a:r>
              <a:rPr lang="ja-JP" altLang="en-US" sz="2400" dirty="0"/>
              <a:t>　・データを集計することができる</a:t>
            </a:r>
            <a:endParaRPr lang="en-US" altLang="ja-JP" sz="2400" dirty="0"/>
          </a:p>
          <a:p>
            <a:r>
              <a:rPr kumimoji="1" lang="ja-JP" altLang="en-US" sz="2400" dirty="0"/>
              <a:t>　・複数クライアントの対応が簡単</a:t>
            </a:r>
            <a:endParaRPr kumimoji="1"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0070C0"/>
                </a:solidFill>
              </a:rPr>
              <a:t>■デメリット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r>
              <a:rPr lang="ja-JP" altLang="en-US" sz="2400" dirty="0"/>
              <a:t>・サーバー側の開発と、クライアント、サーバー間の連携が必要（</a:t>
            </a:r>
            <a:r>
              <a:rPr lang="en-US" altLang="ja-JP" sz="2400" b="1" dirty="0">
                <a:solidFill>
                  <a:srgbClr val="FF0000"/>
                </a:solidFill>
              </a:rPr>
              <a:t>API</a:t>
            </a:r>
            <a:r>
              <a:rPr lang="ja-JP" altLang="en-US" sz="2400" b="1" dirty="0">
                <a:solidFill>
                  <a:srgbClr val="FF0000"/>
                </a:solidFill>
              </a:rPr>
              <a:t>開発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lang="ja-JP" altLang="en-US" sz="2400" dirty="0"/>
              <a:t>・サーバーを経由するため通信が遅い（</a:t>
            </a:r>
            <a:r>
              <a:rPr lang="ja-JP" altLang="en-US" sz="2400" b="1" dirty="0">
                <a:solidFill>
                  <a:srgbClr val="FF0000"/>
                </a:solidFill>
              </a:rPr>
              <a:t>レイテンシ問題</a:t>
            </a:r>
            <a:r>
              <a:rPr lang="ja-JP" altLang="en-US" sz="2400" dirty="0"/>
              <a:t>）</a:t>
            </a:r>
            <a:endParaRPr lang="en-US" altLang="ja-JP" sz="2400" dirty="0"/>
          </a:p>
          <a:p>
            <a:r>
              <a:rPr lang="ja-JP" altLang="en-US" sz="2400" dirty="0"/>
              <a:t>・サーバーに問題が発生すると全クライアントが使用できなくなる</a:t>
            </a:r>
            <a:endParaRPr lang="en-US" altLang="ja-JP" sz="2400" dirty="0"/>
          </a:p>
          <a:p>
            <a:r>
              <a:rPr lang="ja-JP" altLang="en-US" sz="2400" dirty="0"/>
              <a:t>・デバッグが大変（クライアント側？サーバー側？）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93864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46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通信方式 </a:t>
            </a:r>
            <a:r>
              <a:rPr kumimoji="1" lang="en-US" altLang="ja-JP" sz="3200" b="1" u="sng" dirty="0"/>
              <a:t>P2P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今回紹介したのは基礎的な方式です。</a:t>
            </a:r>
            <a:endParaRPr lang="en-US" altLang="ja-JP" sz="2400" dirty="0"/>
          </a:p>
          <a:p>
            <a:r>
              <a:rPr lang="ja-JP" altLang="en-US" sz="2400" dirty="0"/>
              <a:t>もしも興味がありましたら、これらから派生した以下の方式についても</a:t>
            </a:r>
            <a:endParaRPr lang="en-US" altLang="ja-JP" sz="2400" dirty="0"/>
          </a:p>
          <a:p>
            <a:r>
              <a:rPr lang="ja-JP" altLang="en-US" sz="2400" dirty="0"/>
              <a:t>調べてみましょう。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・デディケートサーバー方式（</a:t>
            </a:r>
            <a:r>
              <a:rPr lang="en-US" altLang="ja-JP" sz="2400" dirty="0"/>
              <a:t>MMO</a:t>
            </a:r>
            <a:r>
              <a:rPr lang="ja-JP" altLang="en-US" sz="2400" dirty="0"/>
              <a:t>系）</a:t>
            </a:r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Listen</a:t>
            </a:r>
            <a:r>
              <a:rPr lang="ja-JP" altLang="en-US" sz="2400" dirty="0"/>
              <a:t>サーバー方式（モンハンなど少人数協力系）</a:t>
            </a:r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ほかにもいろいろあります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03993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463</Words>
  <Application>Microsoft Office PowerPoint</Application>
  <PresentationFormat>ワイド画面</PresentationFormat>
  <Paragraphs>69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50</cp:revision>
  <dcterms:created xsi:type="dcterms:W3CDTF">2024-08-27T02:15:54Z</dcterms:created>
  <dcterms:modified xsi:type="dcterms:W3CDTF">2025-10-08T01:25:04Z</dcterms:modified>
</cp:coreProperties>
</file>