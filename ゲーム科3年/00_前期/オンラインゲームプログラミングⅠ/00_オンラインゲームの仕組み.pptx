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オンラインゲームの仕組み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オンラインゲームでは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複数のプレイヤーが同時に遊びます。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この場合、全てのプレイヤーでゲームの状況が同じでないと、</a:t>
            </a:r>
            <a:endParaRPr lang="en-US" altLang="ja-JP" sz="2400" dirty="0"/>
          </a:p>
          <a:p>
            <a:r>
              <a:rPr kumimoji="1" lang="ja-JP" altLang="en-US" sz="2400" dirty="0"/>
              <a:t>ゲームとして成立しなくなります。</a:t>
            </a:r>
            <a:endParaRPr kumimoji="1" lang="en-US" altLang="ja-JP" sz="2400" dirty="0"/>
          </a:p>
        </p:txBody>
      </p:sp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6F7102BD-95C1-4791-B1BE-1BD883E718DB}"/>
              </a:ext>
            </a:extLst>
          </p:cNvPr>
          <p:cNvSpPr/>
          <p:nvPr/>
        </p:nvSpPr>
        <p:spPr>
          <a:xfrm>
            <a:off x="1087496" y="3650152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B187A90-073A-4804-B6FE-56AEA91F0029}"/>
              </a:ext>
            </a:extLst>
          </p:cNvPr>
          <p:cNvSpPr/>
          <p:nvPr/>
        </p:nvSpPr>
        <p:spPr>
          <a:xfrm>
            <a:off x="567542" y="2556458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D9D85C87-8BBF-426D-B035-E44AA95EBEBA}"/>
              </a:ext>
            </a:extLst>
          </p:cNvPr>
          <p:cNvSpPr/>
          <p:nvPr/>
        </p:nvSpPr>
        <p:spPr>
          <a:xfrm>
            <a:off x="944060" y="2748111"/>
            <a:ext cx="251011" cy="23679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278BA83A-1DD4-4865-9560-E7F07870CF49}"/>
              </a:ext>
            </a:extLst>
          </p:cNvPr>
          <p:cNvSpPr/>
          <p:nvPr/>
        </p:nvSpPr>
        <p:spPr>
          <a:xfrm>
            <a:off x="1186108" y="3268064"/>
            <a:ext cx="251011" cy="236796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スマイル 8">
            <a:extLst>
              <a:ext uri="{FF2B5EF4-FFF2-40B4-BE49-F238E27FC236}">
                <a16:creationId xmlns:a16="http://schemas.microsoft.com/office/drawing/2014/main" id="{51144E72-47FF-45A8-B3C9-6BC2D758B77F}"/>
              </a:ext>
            </a:extLst>
          </p:cNvPr>
          <p:cNvSpPr/>
          <p:nvPr/>
        </p:nvSpPr>
        <p:spPr>
          <a:xfrm>
            <a:off x="1674684" y="2960479"/>
            <a:ext cx="251011" cy="236796"/>
          </a:xfrm>
          <a:prstGeom prst="smileyFac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1BAD0D36-F5B0-433A-9E5F-4769EC98B0FB}"/>
              </a:ext>
            </a:extLst>
          </p:cNvPr>
          <p:cNvSpPr/>
          <p:nvPr/>
        </p:nvSpPr>
        <p:spPr>
          <a:xfrm>
            <a:off x="4027920" y="3650152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C9F9770-7653-4FD6-8570-46D5846C8D55}"/>
              </a:ext>
            </a:extLst>
          </p:cNvPr>
          <p:cNvSpPr/>
          <p:nvPr/>
        </p:nvSpPr>
        <p:spPr>
          <a:xfrm>
            <a:off x="3507966" y="2556458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マイル 11">
            <a:extLst>
              <a:ext uri="{FF2B5EF4-FFF2-40B4-BE49-F238E27FC236}">
                <a16:creationId xmlns:a16="http://schemas.microsoft.com/office/drawing/2014/main" id="{D970A676-AB9D-4986-A629-3923B04C7C77}"/>
              </a:ext>
            </a:extLst>
          </p:cNvPr>
          <p:cNvSpPr/>
          <p:nvPr/>
        </p:nvSpPr>
        <p:spPr>
          <a:xfrm>
            <a:off x="3884484" y="2748111"/>
            <a:ext cx="251011" cy="23679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6208B56F-E611-4950-A55C-8F13BB50D93D}"/>
              </a:ext>
            </a:extLst>
          </p:cNvPr>
          <p:cNvSpPr/>
          <p:nvPr/>
        </p:nvSpPr>
        <p:spPr>
          <a:xfrm>
            <a:off x="4126532" y="3268064"/>
            <a:ext cx="251011" cy="236796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スマイル 13">
            <a:extLst>
              <a:ext uri="{FF2B5EF4-FFF2-40B4-BE49-F238E27FC236}">
                <a16:creationId xmlns:a16="http://schemas.microsoft.com/office/drawing/2014/main" id="{FE0AABD0-3651-4A35-B982-536B857B6F4D}"/>
              </a:ext>
            </a:extLst>
          </p:cNvPr>
          <p:cNvSpPr/>
          <p:nvPr/>
        </p:nvSpPr>
        <p:spPr>
          <a:xfrm>
            <a:off x="4615108" y="2960479"/>
            <a:ext cx="251011" cy="236796"/>
          </a:xfrm>
          <a:prstGeom prst="smileyFac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二等辺三角形 14">
            <a:extLst>
              <a:ext uri="{FF2B5EF4-FFF2-40B4-BE49-F238E27FC236}">
                <a16:creationId xmlns:a16="http://schemas.microsoft.com/office/drawing/2014/main" id="{39EB0B6E-1F8E-49BB-AA9C-BE9E15727840}"/>
              </a:ext>
            </a:extLst>
          </p:cNvPr>
          <p:cNvSpPr/>
          <p:nvPr/>
        </p:nvSpPr>
        <p:spPr>
          <a:xfrm>
            <a:off x="6717331" y="3650152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08FADCD-320A-48C4-9598-62877C11F94D}"/>
              </a:ext>
            </a:extLst>
          </p:cNvPr>
          <p:cNvSpPr/>
          <p:nvPr/>
        </p:nvSpPr>
        <p:spPr>
          <a:xfrm>
            <a:off x="6197377" y="2556458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スマイル 16">
            <a:extLst>
              <a:ext uri="{FF2B5EF4-FFF2-40B4-BE49-F238E27FC236}">
                <a16:creationId xmlns:a16="http://schemas.microsoft.com/office/drawing/2014/main" id="{CC4CBB92-08FD-4D74-A54E-8928566F5494}"/>
              </a:ext>
            </a:extLst>
          </p:cNvPr>
          <p:cNvSpPr/>
          <p:nvPr/>
        </p:nvSpPr>
        <p:spPr>
          <a:xfrm>
            <a:off x="6573895" y="2748111"/>
            <a:ext cx="251011" cy="23679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スマイル 17">
            <a:extLst>
              <a:ext uri="{FF2B5EF4-FFF2-40B4-BE49-F238E27FC236}">
                <a16:creationId xmlns:a16="http://schemas.microsoft.com/office/drawing/2014/main" id="{4115AA0D-8D09-4161-80F0-7964D544C34B}"/>
              </a:ext>
            </a:extLst>
          </p:cNvPr>
          <p:cNvSpPr/>
          <p:nvPr/>
        </p:nvSpPr>
        <p:spPr>
          <a:xfrm>
            <a:off x="6815943" y="3268064"/>
            <a:ext cx="251011" cy="236796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スマイル 18">
            <a:extLst>
              <a:ext uri="{FF2B5EF4-FFF2-40B4-BE49-F238E27FC236}">
                <a16:creationId xmlns:a16="http://schemas.microsoft.com/office/drawing/2014/main" id="{E8A75013-A948-42DF-8CFE-5F9E483732B8}"/>
              </a:ext>
            </a:extLst>
          </p:cNvPr>
          <p:cNvSpPr/>
          <p:nvPr/>
        </p:nvSpPr>
        <p:spPr>
          <a:xfrm>
            <a:off x="7304519" y="2960479"/>
            <a:ext cx="251011" cy="236796"/>
          </a:xfrm>
          <a:prstGeom prst="smileyFac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二等辺三角形 19">
            <a:extLst>
              <a:ext uri="{FF2B5EF4-FFF2-40B4-BE49-F238E27FC236}">
                <a16:creationId xmlns:a16="http://schemas.microsoft.com/office/drawing/2014/main" id="{E1928687-6FC8-4175-9F39-624400F8F9E4}"/>
              </a:ext>
            </a:extLst>
          </p:cNvPr>
          <p:cNvSpPr/>
          <p:nvPr/>
        </p:nvSpPr>
        <p:spPr>
          <a:xfrm>
            <a:off x="9406742" y="3650152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2904FE0-E7FC-4BF2-9D60-005CF880FA03}"/>
              </a:ext>
            </a:extLst>
          </p:cNvPr>
          <p:cNvSpPr/>
          <p:nvPr/>
        </p:nvSpPr>
        <p:spPr>
          <a:xfrm>
            <a:off x="8886788" y="2556458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スマイル 21">
            <a:extLst>
              <a:ext uri="{FF2B5EF4-FFF2-40B4-BE49-F238E27FC236}">
                <a16:creationId xmlns:a16="http://schemas.microsoft.com/office/drawing/2014/main" id="{C284A038-A4DD-411E-A34D-FBFBBE1AE186}"/>
              </a:ext>
            </a:extLst>
          </p:cNvPr>
          <p:cNvSpPr/>
          <p:nvPr/>
        </p:nvSpPr>
        <p:spPr>
          <a:xfrm>
            <a:off x="9263306" y="2748111"/>
            <a:ext cx="251011" cy="23679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スマイル 22">
            <a:extLst>
              <a:ext uri="{FF2B5EF4-FFF2-40B4-BE49-F238E27FC236}">
                <a16:creationId xmlns:a16="http://schemas.microsoft.com/office/drawing/2014/main" id="{073F814B-5CE8-442F-9B12-CFE34322D375}"/>
              </a:ext>
            </a:extLst>
          </p:cNvPr>
          <p:cNvSpPr/>
          <p:nvPr/>
        </p:nvSpPr>
        <p:spPr>
          <a:xfrm>
            <a:off x="9505354" y="3268064"/>
            <a:ext cx="251011" cy="236796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スマイル 23">
            <a:extLst>
              <a:ext uri="{FF2B5EF4-FFF2-40B4-BE49-F238E27FC236}">
                <a16:creationId xmlns:a16="http://schemas.microsoft.com/office/drawing/2014/main" id="{C74316DE-77C8-498E-B63C-6432DBA8327C}"/>
              </a:ext>
            </a:extLst>
          </p:cNvPr>
          <p:cNvSpPr/>
          <p:nvPr/>
        </p:nvSpPr>
        <p:spPr>
          <a:xfrm>
            <a:off x="9993930" y="2960479"/>
            <a:ext cx="251011" cy="236796"/>
          </a:xfrm>
          <a:prstGeom prst="smileyFac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8F2ABAF-5246-49B6-9D53-05D69A8C6D5F}"/>
              </a:ext>
            </a:extLst>
          </p:cNvPr>
          <p:cNvSpPr txBox="1"/>
          <p:nvPr/>
        </p:nvSpPr>
        <p:spPr>
          <a:xfrm>
            <a:off x="384231" y="4351256"/>
            <a:ext cx="22317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さんのゲーム</a:t>
            </a:r>
            <a:endParaRPr kumimoji="1" lang="en-US" altLang="ja-JP" sz="24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D74FE29-87D1-45D2-A551-0718CD20CD07}"/>
              </a:ext>
            </a:extLst>
          </p:cNvPr>
          <p:cNvSpPr txBox="1"/>
          <p:nvPr/>
        </p:nvSpPr>
        <p:spPr>
          <a:xfrm>
            <a:off x="3342584" y="4351256"/>
            <a:ext cx="2239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</a:t>
            </a:r>
            <a:r>
              <a:rPr kumimoji="1" lang="ja-JP" altLang="en-US" sz="2400" dirty="0"/>
              <a:t>さんのゲーム</a:t>
            </a:r>
            <a:endParaRPr kumimoji="1" lang="en-US" altLang="ja-JP" sz="2400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19226F4-760D-4297-A38D-DA35FE839612}"/>
              </a:ext>
            </a:extLst>
          </p:cNvPr>
          <p:cNvSpPr txBox="1"/>
          <p:nvPr/>
        </p:nvSpPr>
        <p:spPr>
          <a:xfrm>
            <a:off x="5951103" y="4351256"/>
            <a:ext cx="22413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</a:t>
            </a:r>
            <a:r>
              <a:rPr kumimoji="1" lang="ja-JP" altLang="en-US" sz="2400" dirty="0"/>
              <a:t>さんのゲーム</a:t>
            </a:r>
            <a:endParaRPr kumimoji="1" lang="en-US" altLang="ja-JP" sz="2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A5E0AB3-95C5-4221-8EF1-D962C2CAD882}"/>
              </a:ext>
            </a:extLst>
          </p:cNvPr>
          <p:cNvSpPr txBox="1"/>
          <p:nvPr/>
        </p:nvSpPr>
        <p:spPr>
          <a:xfrm>
            <a:off x="8626087" y="4351255"/>
            <a:ext cx="2260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D</a:t>
            </a:r>
            <a:r>
              <a:rPr kumimoji="1" lang="ja-JP" altLang="en-US" sz="2400" dirty="0"/>
              <a:t>さんのゲーム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オンラインゲームの仕組み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全てのプレイヤーをそろえる方法として、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クライアント・サーバー</a:t>
            </a:r>
            <a:r>
              <a:rPr lang="ja-JP" altLang="en-US" sz="2400" dirty="0"/>
              <a:t>という方法があります。</a:t>
            </a:r>
            <a:endParaRPr lang="en-US" altLang="ja-JP" sz="2400" dirty="0"/>
          </a:p>
        </p:txBody>
      </p:sp>
      <p:sp>
        <p:nvSpPr>
          <p:cNvPr id="29" name="二等辺三角形 28">
            <a:extLst>
              <a:ext uri="{FF2B5EF4-FFF2-40B4-BE49-F238E27FC236}">
                <a16:creationId xmlns:a16="http://schemas.microsoft.com/office/drawing/2014/main" id="{887A241B-118B-4935-9232-6829F8AE53C2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1220601-FCF1-4D22-9320-B5ED8D2D957B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スマイル 30">
            <a:extLst>
              <a:ext uri="{FF2B5EF4-FFF2-40B4-BE49-F238E27FC236}">
                <a16:creationId xmlns:a16="http://schemas.microsoft.com/office/drawing/2014/main" id="{1E3FB69C-BE42-4B11-8AD1-16C61117C88C}"/>
              </a:ext>
            </a:extLst>
          </p:cNvPr>
          <p:cNvSpPr/>
          <p:nvPr/>
        </p:nvSpPr>
        <p:spPr>
          <a:xfrm>
            <a:off x="917164" y="2909174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スマイル 32">
            <a:extLst>
              <a:ext uri="{FF2B5EF4-FFF2-40B4-BE49-F238E27FC236}">
                <a16:creationId xmlns:a16="http://schemas.microsoft.com/office/drawing/2014/main" id="{5F2CBBDE-AECD-4BD4-AA3B-4F70209EDF4F}"/>
              </a:ext>
            </a:extLst>
          </p:cNvPr>
          <p:cNvSpPr/>
          <p:nvPr/>
        </p:nvSpPr>
        <p:spPr>
          <a:xfrm>
            <a:off x="1647788" y="3121542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二等辺三角形 33">
            <a:extLst>
              <a:ext uri="{FF2B5EF4-FFF2-40B4-BE49-F238E27FC236}">
                <a16:creationId xmlns:a16="http://schemas.microsoft.com/office/drawing/2014/main" id="{8B0323AB-28CF-46D4-883B-21EE8B7161F6}"/>
              </a:ext>
            </a:extLst>
          </p:cNvPr>
          <p:cNvSpPr/>
          <p:nvPr/>
        </p:nvSpPr>
        <p:spPr>
          <a:xfrm>
            <a:off x="1117154" y="5924677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466794E4-BDDB-4430-89F5-FDFE41380C3C}"/>
              </a:ext>
            </a:extLst>
          </p:cNvPr>
          <p:cNvSpPr/>
          <p:nvPr/>
        </p:nvSpPr>
        <p:spPr>
          <a:xfrm>
            <a:off x="597200" y="4830983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スマイル 35">
            <a:extLst>
              <a:ext uri="{FF2B5EF4-FFF2-40B4-BE49-F238E27FC236}">
                <a16:creationId xmlns:a16="http://schemas.microsoft.com/office/drawing/2014/main" id="{5214D6A3-FF33-4D1E-BAC0-4F6F69F0AF6B}"/>
              </a:ext>
            </a:extLst>
          </p:cNvPr>
          <p:cNvSpPr/>
          <p:nvPr/>
        </p:nvSpPr>
        <p:spPr>
          <a:xfrm>
            <a:off x="973718" y="5022636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スマイル 37">
            <a:extLst>
              <a:ext uri="{FF2B5EF4-FFF2-40B4-BE49-F238E27FC236}">
                <a16:creationId xmlns:a16="http://schemas.microsoft.com/office/drawing/2014/main" id="{25ABDDC3-70C0-47BC-93E1-2EBE1F46DD6C}"/>
              </a:ext>
            </a:extLst>
          </p:cNvPr>
          <p:cNvSpPr/>
          <p:nvPr/>
        </p:nvSpPr>
        <p:spPr>
          <a:xfrm>
            <a:off x="1704342" y="5235004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405805CD-5193-4826-850C-778BAC7FD672}"/>
              </a:ext>
            </a:extLst>
          </p:cNvPr>
          <p:cNvGrpSpPr/>
          <p:nvPr/>
        </p:nvGrpSpPr>
        <p:grpSpPr>
          <a:xfrm>
            <a:off x="5504329" y="2839165"/>
            <a:ext cx="2232212" cy="3356854"/>
            <a:chOff x="6096000" y="2814407"/>
            <a:chExt cx="2232212" cy="3356854"/>
          </a:xfrm>
        </p:grpSpPr>
        <p:sp>
          <p:nvSpPr>
            <p:cNvPr id="7" name="直方体 6">
              <a:extLst>
                <a:ext uri="{FF2B5EF4-FFF2-40B4-BE49-F238E27FC236}">
                  <a16:creationId xmlns:a16="http://schemas.microsoft.com/office/drawing/2014/main" id="{576EFC67-4B57-4AA1-A1B2-16A5B95DC8F1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FF49CC20-490A-4E11-894D-AA89C64D8729}"/>
                </a:ext>
              </a:extLst>
            </p:cNvPr>
            <p:cNvSpPr txBox="1"/>
            <p:nvPr/>
          </p:nvSpPr>
          <p:spPr>
            <a:xfrm>
              <a:off x="6233236" y="355493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5BD5928-F59B-4728-9FFB-8E85F24E7217}"/>
              </a:ext>
            </a:extLst>
          </p:cNvPr>
          <p:cNvSpPr txBox="1"/>
          <p:nvPr/>
        </p:nvSpPr>
        <p:spPr>
          <a:xfrm>
            <a:off x="702337" y="234623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30CF45F-C176-4E24-8F36-6F8C65619DE6}"/>
              </a:ext>
            </a:extLst>
          </p:cNvPr>
          <p:cNvSpPr txBox="1"/>
          <p:nvPr/>
        </p:nvSpPr>
        <p:spPr>
          <a:xfrm>
            <a:off x="758891" y="452282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</p:spTree>
    <p:extLst>
      <p:ext uri="{BB962C8B-B14F-4D97-AF65-F5344CB8AC3E}">
        <p14:creationId xmlns:p14="http://schemas.microsoft.com/office/powerpoint/2010/main" val="899082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オンラインゲームの仕組み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クライアントは入力操作などに合わせて</a:t>
            </a:r>
            <a:r>
              <a:rPr lang="ja-JP" altLang="en-US" sz="2400" b="1" dirty="0">
                <a:solidFill>
                  <a:srgbClr val="FF0000"/>
                </a:solidFill>
              </a:rPr>
              <a:t>サーバーに情報を送ります。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この時はまだ情報を送るだけで</a:t>
            </a:r>
            <a:r>
              <a:rPr lang="ja-JP" altLang="en-US" sz="2400" b="1" dirty="0">
                <a:solidFill>
                  <a:srgbClr val="FF0000"/>
                </a:solidFill>
              </a:rPr>
              <a:t>画面に変化は起きません。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9" name="二等辺三角形 28">
            <a:extLst>
              <a:ext uri="{FF2B5EF4-FFF2-40B4-BE49-F238E27FC236}">
                <a16:creationId xmlns:a16="http://schemas.microsoft.com/office/drawing/2014/main" id="{887A241B-118B-4935-9232-6829F8AE53C2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1220601-FCF1-4D22-9320-B5ED8D2D957B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スマイル 30">
            <a:extLst>
              <a:ext uri="{FF2B5EF4-FFF2-40B4-BE49-F238E27FC236}">
                <a16:creationId xmlns:a16="http://schemas.microsoft.com/office/drawing/2014/main" id="{1E3FB69C-BE42-4B11-8AD1-16C61117C88C}"/>
              </a:ext>
            </a:extLst>
          </p:cNvPr>
          <p:cNvSpPr/>
          <p:nvPr/>
        </p:nvSpPr>
        <p:spPr>
          <a:xfrm>
            <a:off x="917164" y="2909174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スマイル 32">
            <a:extLst>
              <a:ext uri="{FF2B5EF4-FFF2-40B4-BE49-F238E27FC236}">
                <a16:creationId xmlns:a16="http://schemas.microsoft.com/office/drawing/2014/main" id="{5F2CBBDE-AECD-4BD4-AA3B-4F70209EDF4F}"/>
              </a:ext>
            </a:extLst>
          </p:cNvPr>
          <p:cNvSpPr/>
          <p:nvPr/>
        </p:nvSpPr>
        <p:spPr>
          <a:xfrm>
            <a:off x="1647788" y="3121542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二等辺三角形 33">
            <a:extLst>
              <a:ext uri="{FF2B5EF4-FFF2-40B4-BE49-F238E27FC236}">
                <a16:creationId xmlns:a16="http://schemas.microsoft.com/office/drawing/2014/main" id="{8B0323AB-28CF-46D4-883B-21EE8B7161F6}"/>
              </a:ext>
            </a:extLst>
          </p:cNvPr>
          <p:cNvSpPr/>
          <p:nvPr/>
        </p:nvSpPr>
        <p:spPr>
          <a:xfrm>
            <a:off x="1117154" y="5924677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466794E4-BDDB-4430-89F5-FDFE41380C3C}"/>
              </a:ext>
            </a:extLst>
          </p:cNvPr>
          <p:cNvSpPr/>
          <p:nvPr/>
        </p:nvSpPr>
        <p:spPr>
          <a:xfrm>
            <a:off x="597200" y="4830983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スマイル 35">
            <a:extLst>
              <a:ext uri="{FF2B5EF4-FFF2-40B4-BE49-F238E27FC236}">
                <a16:creationId xmlns:a16="http://schemas.microsoft.com/office/drawing/2014/main" id="{5214D6A3-FF33-4D1E-BAC0-4F6F69F0AF6B}"/>
              </a:ext>
            </a:extLst>
          </p:cNvPr>
          <p:cNvSpPr/>
          <p:nvPr/>
        </p:nvSpPr>
        <p:spPr>
          <a:xfrm>
            <a:off x="973718" y="5022636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スマイル 37">
            <a:extLst>
              <a:ext uri="{FF2B5EF4-FFF2-40B4-BE49-F238E27FC236}">
                <a16:creationId xmlns:a16="http://schemas.microsoft.com/office/drawing/2014/main" id="{25ABDDC3-70C0-47BC-93E1-2EBE1F46DD6C}"/>
              </a:ext>
            </a:extLst>
          </p:cNvPr>
          <p:cNvSpPr/>
          <p:nvPr/>
        </p:nvSpPr>
        <p:spPr>
          <a:xfrm>
            <a:off x="1704342" y="5235004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405805CD-5193-4826-850C-778BAC7FD672}"/>
              </a:ext>
            </a:extLst>
          </p:cNvPr>
          <p:cNvGrpSpPr/>
          <p:nvPr/>
        </p:nvGrpSpPr>
        <p:grpSpPr>
          <a:xfrm>
            <a:off x="5504329" y="2839165"/>
            <a:ext cx="2232212" cy="3356854"/>
            <a:chOff x="6096000" y="2814407"/>
            <a:chExt cx="2232212" cy="3356854"/>
          </a:xfrm>
        </p:grpSpPr>
        <p:sp>
          <p:nvSpPr>
            <p:cNvPr id="7" name="直方体 6">
              <a:extLst>
                <a:ext uri="{FF2B5EF4-FFF2-40B4-BE49-F238E27FC236}">
                  <a16:creationId xmlns:a16="http://schemas.microsoft.com/office/drawing/2014/main" id="{576EFC67-4B57-4AA1-A1B2-16A5B95DC8F1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FF49CC20-490A-4E11-894D-AA89C64D8729}"/>
                </a:ext>
              </a:extLst>
            </p:cNvPr>
            <p:cNvSpPr txBox="1"/>
            <p:nvPr/>
          </p:nvSpPr>
          <p:spPr>
            <a:xfrm>
              <a:off x="6233236" y="355493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5BD5928-F59B-4728-9FFB-8E85F24E7217}"/>
              </a:ext>
            </a:extLst>
          </p:cNvPr>
          <p:cNvSpPr txBox="1"/>
          <p:nvPr/>
        </p:nvSpPr>
        <p:spPr>
          <a:xfrm>
            <a:off x="702337" y="234623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30CF45F-C176-4E24-8F36-6F8C65619DE6}"/>
              </a:ext>
            </a:extLst>
          </p:cNvPr>
          <p:cNvSpPr txBox="1"/>
          <p:nvPr/>
        </p:nvSpPr>
        <p:spPr>
          <a:xfrm>
            <a:off x="758891" y="452282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A4E52F5B-9EDB-455D-9E78-F3735305FE1B}"/>
              </a:ext>
            </a:extLst>
          </p:cNvPr>
          <p:cNvSpPr/>
          <p:nvPr/>
        </p:nvSpPr>
        <p:spPr>
          <a:xfrm>
            <a:off x="2465294" y="2909174"/>
            <a:ext cx="2982481" cy="8111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キャラを右に</a:t>
            </a:r>
            <a:r>
              <a:rPr kumimoji="1" lang="en-US" altLang="ja-JP" b="1" dirty="0"/>
              <a:t>20</a:t>
            </a:r>
            <a:r>
              <a:rPr kumimoji="1" lang="ja-JP" altLang="en-US" b="1" dirty="0"/>
              <a:t>移動</a:t>
            </a:r>
          </a:p>
        </p:txBody>
      </p:sp>
    </p:spTree>
    <p:extLst>
      <p:ext uri="{BB962C8B-B14F-4D97-AF65-F5344CB8AC3E}">
        <p14:creationId xmlns:p14="http://schemas.microsoft.com/office/powerpoint/2010/main" val="1464138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オンラインゲームの仕組み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サーバーには必要なクライアントの情報を管理</a:t>
            </a:r>
            <a:r>
              <a:rPr lang="ja-JP" altLang="en-US" sz="2400" dirty="0"/>
              <a:t>させます。</a:t>
            </a:r>
            <a:endParaRPr lang="en-US" altLang="ja-JP" sz="2400" dirty="0"/>
          </a:p>
          <a:p>
            <a:r>
              <a:rPr lang="ja-JP" altLang="en-US" sz="2400" dirty="0"/>
              <a:t>そして</a:t>
            </a:r>
            <a:r>
              <a:rPr lang="ja-JP" altLang="en-US" sz="2400" b="1" dirty="0">
                <a:solidFill>
                  <a:srgbClr val="FF0000"/>
                </a:solidFill>
              </a:rPr>
              <a:t>送られてきた情報を元に情報を更新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sp>
        <p:nvSpPr>
          <p:cNvPr id="29" name="二等辺三角形 28">
            <a:extLst>
              <a:ext uri="{FF2B5EF4-FFF2-40B4-BE49-F238E27FC236}">
                <a16:creationId xmlns:a16="http://schemas.microsoft.com/office/drawing/2014/main" id="{887A241B-118B-4935-9232-6829F8AE53C2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1220601-FCF1-4D22-9320-B5ED8D2D957B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スマイル 30">
            <a:extLst>
              <a:ext uri="{FF2B5EF4-FFF2-40B4-BE49-F238E27FC236}">
                <a16:creationId xmlns:a16="http://schemas.microsoft.com/office/drawing/2014/main" id="{1E3FB69C-BE42-4B11-8AD1-16C61117C88C}"/>
              </a:ext>
            </a:extLst>
          </p:cNvPr>
          <p:cNvSpPr/>
          <p:nvPr/>
        </p:nvSpPr>
        <p:spPr>
          <a:xfrm>
            <a:off x="917164" y="2909174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スマイル 32">
            <a:extLst>
              <a:ext uri="{FF2B5EF4-FFF2-40B4-BE49-F238E27FC236}">
                <a16:creationId xmlns:a16="http://schemas.microsoft.com/office/drawing/2014/main" id="{5F2CBBDE-AECD-4BD4-AA3B-4F70209EDF4F}"/>
              </a:ext>
            </a:extLst>
          </p:cNvPr>
          <p:cNvSpPr/>
          <p:nvPr/>
        </p:nvSpPr>
        <p:spPr>
          <a:xfrm>
            <a:off x="1647788" y="3121542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二等辺三角形 33">
            <a:extLst>
              <a:ext uri="{FF2B5EF4-FFF2-40B4-BE49-F238E27FC236}">
                <a16:creationId xmlns:a16="http://schemas.microsoft.com/office/drawing/2014/main" id="{8B0323AB-28CF-46D4-883B-21EE8B7161F6}"/>
              </a:ext>
            </a:extLst>
          </p:cNvPr>
          <p:cNvSpPr/>
          <p:nvPr/>
        </p:nvSpPr>
        <p:spPr>
          <a:xfrm>
            <a:off x="1117154" y="5924677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466794E4-BDDB-4430-89F5-FDFE41380C3C}"/>
              </a:ext>
            </a:extLst>
          </p:cNvPr>
          <p:cNvSpPr/>
          <p:nvPr/>
        </p:nvSpPr>
        <p:spPr>
          <a:xfrm>
            <a:off x="597200" y="4830983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スマイル 35">
            <a:extLst>
              <a:ext uri="{FF2B5EF4-FFF2-40B4-BE49-F238E27FC236}">
                <a16:creationId xmlns:a16="http://schemas.microsoft.com/office/drawing/2014/main" id="{5214D6A3-FF33-4D1E-BAC0-4F6F69F0AF6B}"/>
              </a:ext>
            </a:extLst>
          </p:cNvPr>
          <p:cNvSpPr/>
          <p:nvPr/>
        </p:nvSpPr>
        <p:spPr>
          <a:xfrm>
            <a:off x="973718" y="5022636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スマイル 37">
            <a:extLst>
              <a:ext uri="{FF2B5EF4-FFF2-40B4-BE49-F238E27FC236}">
                <a16:creationId xmlns:a16="http://schemas.microsoft.com/office/drawing/2014/main" id="{25ABDDC3-70C0-47BC-93E1-2EBE1F46DD6C}"/>
              </a:ext>
            </a:extLst>
          </p:cNvPr>
          <p:cNvSpPr/>
          <p:nvPr/>
        </p:nvSpPr>
        <p:spPr>
          <a:xfrm>
            <a:off x="1704342" y="5235004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405805CD-5193-4826-850C-778BAC7FD672}"/>
              </a:ext>
            </a:extLst>
          </p:cNvPr>
          <p:cNvGrpSpPr/>
          <p:nvPr/>
        </p:nvGrpSpPr>
        <p:grpSpPr>
          <a:xfrm>
            <a:off x="5504329" y="2839165"/>
            <a:ext cx="2232212" cy="3356854"/>
            <a:chOff x="6096000" y="2814407"/>
            <a:chExt cx="2232212" cy="3356854"/>
          </a:xfrm>
        </p:grpSpPr>
        <p:sp>
          <p:nvSpPr>
            <p:cNvPr id="7" name="直方体 6">
              <a:extLst>
                <a:ext uri="{FF2B5EF4-FFF2-40B4-BE49-F238E27FC236}">
                  <a16:creationId xmlns:a16="http://schemas.microsoft.com/office/drawing/2014/main" id="{576EFC67-4B57-4AA1-A1B2-16A5B95DC8F1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FF49CC20-490A-4E11-894D-AA89C64D8729}"/>
                </a:ext>
              </a:extLst>
            </p:cNvPr>
            <p:cNvSpPr txBox="1"/>
            <p:nvPr/>
          </p:nvSpPr>
          <p:spPr>
            <a:xfrm>
              <a:off x="6233236" y="3554934"/>
              <a:ext cx="142699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  <a:p>
              <a:r>
                <a:rPr lang="en-US" altLang="ja-JP" sz="1600" b="1" dirty="0">
                  <a:solidFill>
                    <a:schemeClr val="bg1"/>
                  </a:solidFill>
                </a:rPr>
                <a:t>1P</a:t>
              </a:r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(40, 30)</a:t>
              </a:r>
            </a:p>
            <a:p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2P(300, 120)</a:t>
              </a:r>
            </a:p>
            <a:p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      </a:t>
              </a:r>
              <a:r>
                <a:rPr lang="ja-JP" altLang="en-US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↓</a:t>
              </a:r>
              <a:endParaRPr lang="en-US" altLang="ja-JP" sz="1600" b="1" dirty="0">
                <a:solidFill>
                  <a:schemeClr val="bg1"/>
                </a:solidFill>
                <a:sym typeface="Wingdings" panose="05000000000000000000" pitchFamily="2" charset="2"/>
              </a:endParaRPr>
            </a:p>
            <a:p>
              <a:r>
                <a:rPr lang="en-US" altLang="ja-JP" sz="1600" b="1" dirty="0">
                  <a:solidFill>
                    <a:schemeClr val="bg1"/>
                  </a:solidFill>
                </a:rPr>
                <a:t>1P</a:t>
              </a:r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(</a:t>
              </a:r>
              <a:r>
                <a:rPr lang="en-US" altLang="ja-JP" sz="1600" b="1" dirty="0">
                  <a:solidFill>
                    <a:srgbClr val="FF0000"/>
                  </a:solidFill>
                  <a:sym typeface="Wingdings" panose="05000000000000000000" pitchFamily="2" charset="2"/>
                </a:rPr>
                <a:t>60</a:t>
              </a:r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, 30)</a:t>
              </a:r>
            </a:p>
            <a:p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2P(300, 120)</a:t>
              </a:r>
            </a:p>
          </p:txBody>
        </p:sp>
      </p:grp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5BD5928-F59B-4728-9FFB-8E85F24E7217}"/>
              </a:ext>
            </a:extLst>
          </p:cNvPr>
          <p:cNvSpPr txBox="1"/>
          <p:nvPr/>
        </p:nvSpPr>
        <p:spPr>
          <a:xfrm>
            <a:off x="702337" y="234623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30CF45F-C176-4E24-8F36-6F8C65619DE6}"/>
              </a:ext>
            </a:extLst>
          </p:cNvPr>
          <p:cNvSpPr txBox="1"/>
          <p:nvPr/>
        </p:nvSpPr>
        <p:spPr>
          <a:xfrm>
            <a:off x="758891" y="452282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A4E52F5B-9EDB-455D-9E78-F3735305FE1B}"/>
              </a:ext>
            </a:extLst>
          </p:cNvPr>
          <p:cNvSpPr/>
          <p:nvPr/>
        </p:nvSpPr>
        <p:spPr>
          <a:xfrm>
            <a:off x="2465294" y="2909174"/>
            <a:ext cx="2982481" cy="8111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キャラを右に</a:t>
            </a:r>
            <a:r>
              <a:rPr kumimoji="1" lang="en-US" altLang="ja-JP" b="1" dirty="0"/>
              <a:t>20</a:t>
            </a:r>
            <a:r>
              <a:rPr kumimoji="1" lang="ja-JP" altLang="en-US" b="1" dirty="0"/>
              <a:t>移動</a:t>
            </a:r>
          </a:p>
        </p:txBody>
      </p:sp>
    </p:spTree>
    <p:extLst>
      <p:ext uri="{BB962C8B-B14F-4D97-AF65-F5344CB8AC3E}">
        <p14:creationId xmlns:p14="http://schemas.microsoft.com/office/powerpoint/2010/main" val="3053394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オンラインゲームの仕組み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情報を更新したサーバーは</a:t>
            </a:r>
            <a:r>
              <a:rPr lang="ja-JP" altLang="en-US" sz="2400" b="1" dirty="0">
                <a:solidFill>
                  <a:srgbClr val="FF0000"/>
                </a:solidFill>
              </a:rPr>
              <a:t>すべてのクライアントに最新の情報を送ります。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そして</a:t>
            </a:r>
            <a:r>
              <a:rPr lang="ja-JP" altLang="en-US" sz="2400" b="1" dirty="0">
                <a:solidFill>
                  <a:srgbClr val="FF0000"/>
                </a:solidFill>
              </a:rPr>
              <a:t>送られてきた最新の情報を元に画面を更新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sp>
        <p:nvSpPr>
          <p:cNvPr id="29" name="二等辺三角形 28">
            <a:extLst>
              <a:ext uri="{FF2B5EF4-FFF2-40B4-BE49-F238E27FC236}">
                <a16:creationId xmlns:a16="http://schemas.microsoft.com/office/drawing/2014/main" id="{887A241B-118B-4935-9232-6829F8AE53C2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1220601-FCF1-4D22-9320-B5ED8D2D957B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スマイル 30">
            <a:extLst>
              <a:ext uri="{FF2B5EF4-FFF2-40B4-BE49-F238E27FC236}">
                <a16:creationId xmlns:a16="http://schemas.microsoft.com/office/drawing/2014/main" id="{1E3FB69C-BE42-4B11-8AD1-16C61117C88C}"/>
              </a:ext>
            </a:extLst>
          </p:cNvPr>
          <p:cNvSpPr/>
          <p:nvPr/>
        </p:nvSpPr>
        <p:spPr>
          <a:xfrm>
            <a:off x="1195070" y="2909174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スマイル 32">
            <a:extLst>
              <a:ext uri="{FF2B5EF4-FFF2-40B4-BE49-F238E27FC236}">
                <a16:creationId xmlns:a16="http://schemas.microsoft.com/office/drawing/2014/main" id="{5F2CBBDE-AECD-4BD4-AA3B-4F70209EDF4F}"/>
              </a:ext>
            </a:extLst>
          </p:cNvPr>
          <p:cNvSpPr/>
          <p:nvPr/>
        </p:nvSpPr>
        <p:spPr>
          <a:xfrm>
            <a:off x="1647788" y="3121542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二等辺三角形 33">
            <a:extLst>
              <a:ext uri="{FF2B5EF4-FFF2-40B4-BE49-F238E27FC236}">
                <a16:creationId xmlns:a16="http://schemas.microsoft.com/office/drawing/2014/main" id="{8B0323AB-28CF-46D4-883B-21EE8B7161F6}"/>
              </a:ext>
            </a:extLst>
          </p:cNvPr>
          <p:cNvSpPr/>
          <p:nvPr/>
        </p:nvSpPr>
        <p:spPr>
          <a:xfrm>
            <a:off x="1117154" y="5924677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466794E4-BDDB-4430-89F5-FDFE41380C3C}"/>
              </a:ext>
            </a:extLst>
          </p:cNvPr>
          <p:cNvSpPr/>
          <p:nvPr/>
        </p:nvSpPr>
        <p:spPr>
          <a:xfrm>
            <a:off x="597200" y="4830983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スマイル 35">
            <a:extLst>
              <a:ext uri="{FF2B5EF4-FFF2-40B4-BE49-F238E27FC236}">
                <a16:creationId xmlns:a16="http://schemas.microsoft.com/office/drawing/2014/main" id="{5214D6A3-FF33-4D1E-BAC0-4F6F69F0AF6B}"/>
              </a:ext>
            </a:extLst>
          </p:cNvPr>
          <p:cNvSpPr/>
          <p:nvPr/>
        </p:nvSpPr>
        <p:spPr>
          <a:xfrm>
            <a:off x="1197838" y="5022636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スマイル 37">
            <a:extLst>
              <a:ext uri="{FF2B5EF4-FFF2-40B4-BE49-F238E27FC236}">
                <a16:creationId xmlns:a16="http://schemas.microsoft.com/office/drawing/2014/main" id="{25ABDDC3-70C0-47BC-93E1-2EBE1F46DD6C}"/>
              </a:ext>
            </a:extLst>
          </p:cNvPr>
          <p:cNvSpPr/>
          <p:nvPr/>
        </p:nvSpPr>
        <p:spPr>
          <a:xfrm>
            <a:off x="1704342" y="5235004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405805CD-5193-4826-850C-778BAC7FD672}"/>
              </a:ext>
            </a:extLst>
          </p:cNvPr>
          <p:cNvGrpSpPr/>
          <p:nvPr/>
        </p:nvGrpSpPr>
        <p:grpSpPr>
          <a:xfrm>
            <a:off x="5504329" y="2839165"/>
            <a:ext cx="2232212" cy="3356854"/>
            <a:chOff x="6096000" y="2814407"/>
            <a:chExt cx="2232212" cy="3356854"/>
          </a:xfrm>
        </p:grpSpPr>
        <p:sp>
          <p:nvSpPr>
            <p:cNvPr id="7" name="直方体 6">
              <a:extLst>
                <a:ext uri="{FF2B5EF4-FFF2-40B4-BE49-F238E27FC236}">
                  <a16:creationId xmlns:a16="http://schemas.microsoft.com/office/drawing/2014/main" id="{576EFC67-4B57-4AA1-A1B2-16A5B95DC8F1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FF49CC20-490A-4E11-894D-AA89C64D8729}"/>
                </a:ext>
              </a:extLst>
            </p:cNvPr>
            <p:cNvSpPr txBox="1"/>
            <p:nvPr/>
          </p:nvSpPr>
          <p:spPr>
            <a:xfrm>
              <a:off x="6233236" y="3554934"/>
              <a:ext cx="1426994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  <a:p>
              <a:r>
                <a:rPr lang="en-US" altLang="ja-JP" sz="1600" b="1" dirty="0">
                  <a:solidFill>
                    <a:schemeClr val="bg1"/>
                  </a:solidFill>
                </a:rPr>
                <a:t>1P</a:t>
              </a:r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(60, 30)</a:t>
              </a:r>
            </a:p>
            <a:p>
              <a:r>
                <a:rPr lang="en-US" altLang="ja-JP" sz="1600" b="1" dirty="0">
                  <a:solidFill>
                    <a:schemeClr val="bg1"/>
                  </a:solidFill>
                  <a:sym typeface="Wingdings" panose="05000000000000000000" pitchFamily="2" charset="2"/>
                </a:rPr>
                <a:t>2P(300, 120)</a:t>
              </a:r>
            </a:p>
          </p:txBody>
        </p:sp>
      </p:grp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5BD5928-F59B-4728-9FFB-8E85F24E7217}"/>
              </a:ext>
            </a:extLst>
          </p:cNvPr>
          <p:cNvSpPr txBox="1"/>
          <p:nvPr/>
        </p:nvSpPr>
        <p:spPr>
          <a:xfrm>
            <a:off x="702337" y="234623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30CF45F-C176-4E24-8F36-6F8C65619DE6}"/>
              </a:ext>
            </a:extLst>
          </p:cNvPr>
          <p:cNvSpPr txBox="1"/>
          <p:nvPr/>
        </p:nvSpPr>
        <p:spPr>
          <a:xfrm>
            <a:off x="758891" y="452282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3" name="矢印: 左 2">
            <a:extLst>
              <a:ext uri="{FF2B5EF4-FFF2-40B4-BE49-F238E27FC236}">
                <a16:creationId xmlns:a16="http://schemas.microsoft.com/office/drawing/2014/main" id="{547EF5AA-E615-4D74-9DA2-F4615C475580}"/>
              </a:ext>
            </a:extLst>
          </p:cNvPr>
          <p:cNvSpPr/>
          <p:nvPr/>
        </p:nvSpPr>
        <p:spPr>
          <a:xfrm>
            <a:off x="2345318" y="2684788"/>
            <a:ext cx="2668106" cy="125880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600" b="1" dirty="0">
                <a:solidFill>
                  <a:schemeClr val="bg1"/>
                </a:solidFill>
              </a:rPr>
              <a:t>　　　</a:t>
            </a:r>
            <a:r>
              <a:rPr lang="en-US" altLang="ja-JP" sz="1600" b="1" dirty="0">
                <a:solidFill>
                  <a:schemeClr val="bg1"/>
                </a:solidFill>
              </a:rPr>
              <a:t>1P</a:t>
            </a:r>
            <a:r>
              <a:rPr lang="en-US" altLang="ja-JP" sz="1600" b="1" dirty="0">
                <a:solidFill>
                  <a:schemeClr val="bg1"/>
                </a:solidFill>
                <a:sym typeface="Wingdings" panose="05000000000000000000" pitchFamily="2" charset="2"/>
              </a:rPr>
              <a:t>(60, 30)</a:t>
            </a:r>
          </a:p>
          <a:p>
            <a:r>
              <a:rPr lang="ja-JP" alt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　　　</a:t>
            </a:r>
            <a:r>
              <a:rPr lang="en-US" altLang="ja-JP" sz="1600" b="1" dirty="0">
                <a:solidFill>
                  <a:schemeClr val="bg1"/>
                </a:solidFill>
                <a:sym typeface="Wingdings" panose="05000000000000000000" pitchFamily="2" charset="2"/>
              </a:rPr>
              <a:t>2P(300, 120)</a:t>
            </a:r>
          </a:p>
        </p:txBody>
      </p:sp>
      <p:sp>
        <p:nvSpPr>
          <p:cNvPr id="19" name="矢印: 左 18">
            <a:extLst>
              <a:ext uri="{FF2B5EF4-FFF2-40B4-BE49-F238E27FC236}">
                <a16:creationId xmlns:a16="http://schemas.microsoft.com/office/drawing/2014/main" id="{9CB2CDB7-3AC6-4AC5-AA69-6DE180B79CD5}"/>
              </a:ext>
            </a:extLst>
          </p:cNvPr>
          <p:cNvSpPr/>
          <p:nvPr/>
        </p:nvSpPr>
        <p:spPr>
          <a:xfrm>
            <a:off x="2446258" y="4692098"/>
            <a:ext cx="2668106" cy="125880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600" b="1" dirty="0">
                <a:solidFill>
                  <a:schemeClr val="bg1"/>
                </a:solidFill>
              </a:rPr>
              <a:t>　　　</a:t>
            </a:r>
            <a:r>
              <a:rPr lang="en-US" altLang="ja-JP" sz="1600" b="1" dirty="0">
                <a:solidFill>
                  <a:schemeClr val="bg1"/>
                </a:solidFill>
              </a:rPr>
              <a:t>1P</a:t>
            </a:r>
            <a:r>
              <a:rPr lang="en-US" altLang="ja-JP" sz="1600" b="1" dirty="0">
                <a:solidFill>
                  <a:schemeClr val="bg1"/>
                </a:solidFill>
                <a:sym typeface="Wingdings" panose="05000000000000000000" pitchFamily="2" charset="2"/>
              </a:rPr>
              <a:t>(60, 30)</a:t>
            </a:r>
          </a:p>
          <a:p>
            <a:r>
              <a:rPr lang="ja-JP" alt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　　　</a:t>
            </a:r>
            <a:r>
              <a:rPr lang="en-US" altLang="ja-JP" sz="1600" b="1" dirty="0">
                <a:solidFill>
                  <a:schemeClr val="bg1"/>
                </a:solidFill>
                <a:sym typeface="Wingdings" panose="05000000000000000000" pitchFamily="2" charset="2"/>
              </a:rPr>
              <a:t>2P(300, 120)</a:t>
            </a:r>
          </a:p>
        </p:txBody>
      </p:sp>
    </p:spTree>
    <p:extLst>
      <p:ext uri="{BB962C8B-B14F-4D97-AF65-F5344CB8AC3E}">
        <p14:creationId xmlns:p14="http://schemas.microsoft.com/office/powerpoint/2010/main" val="208813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オンラインゲームの仕組み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つまり、オンラインゲームを</a:t>
            </a:r>
            <a:r>
              <a:rPr lang="en-US" altLang="ja-JP" sz="2400" dirty="0" err="1"/>
              <a:t>DxLib</a:t>
            </a:r>
            <a:r>
              <a:rPr lang="ja-JP" altLang="en-US" sz="2400" dirty="0"/>
              <a:t>で作る場合は、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クライアントのプロジェクトとサーバーのプロジェクトで、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２つのプロジェクトを作る必要があります。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まずはクライアントプロジェクトから作っていきます。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48045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301</Words>
  <Application>Microsoft Office PowerPoint</Application>
  <PresentationFormat>ワイド画面</PresentationFormat>
  <Paragraphs>51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26</cp:revision>
  <dcterms:created xsi:type="dcterms:W3CDTF">2024-08-27T02:15:54Z</dcterms:created>
  <dcterms:modified xsi:type="dcterms:W3CDTF">2025-12-11T23:54:14Z</dcterms:modified>
</cp:coreProperties>
</file>