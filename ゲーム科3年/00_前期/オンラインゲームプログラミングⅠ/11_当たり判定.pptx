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2026/2/6</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2026/2/6</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1200329"/>
          </a:xfrm>
          <a:prstGeom prst="rect">
            <a:avLst/>
          </a:prstGeom>
          <a:noFill/>
        </p:spPr>
        <p:txBody>
          <a:bodyPr wrap="none" rtlCol="0">
            <a:spAutoFit/>
          </a:bodyPr>
          <a:lstStyle/>
          <a:p>
            <a:r>
              <a:rPr lang="ja-JP" altLang="en-US" sz="2400" dirty="0"/>
              <a:t>プレイヤー同士が衝突したら死亡させます。</a:t>
            </a:r>
            <a:endParaRPr lang="en-US" altLang="ja-JP" sz="2400" dirty="0"/>
          </a:p>
          <a:p>
            <a:r>
              <a:rPr lang="ja-JP" altLang="en-US" sz="2400" dirty="0"/>
              <a:t>オンラインゲームでは</a:t>
            </a:r>
            <a:r>
              <a:rPr lang="ja-JP" altLang="en-US" sz="2400" b="1" dirty="0">
                <a:solidFill>
                  <a:srgbClr val="FF0000"/>
                </a:solidFill>
              </a:rPr>
              <a:t>サーバー側に正しい座標がある</a:t>
            </a:r>
            <a:r>
              <a:rPr lang="ja-JP" altLang="en-US" sz="2400" dirty="0"/>
              <a:t>ため、</a:t>
            </a:r>
            <a:endParaRPr lang="en-US" altLang="ja-JP" sz="2400" dirty="0"/>
          </a:p>
          <a:p>
            <a:r>
              <a:rPr lang="ja-JP" altLang="en-US" sz="2400" dirty="0"/>
              <a:t>サーバー側で当たり判定をする必要があります。</a:t>
            </a:r>
            <a:endParaRPr lang="en-US" altLang="ja-JP" sz="2400" dirty="0"/>
          </a:p>
        </p:txBody>
      </p:sp>
      <p:sp>
        <p:nvSpPr>
          <p:cNvPr id="2" name="正方形/長方形 1">
            <a:extLst>
              <a:ext uri="{FF2B5EF4-FFF2-40B4-BE49-F238E27FC236}">
                <a16:creationId xmlns:a16="http://schemas.microsoft.com/office/drawing/2014/main" id="{655E350E-489F-47DF-91D0-6DC5862322B1}"/>
              </a:ext>
            </a:extLst>
          </p:cNvPr>
          <p:cNvSpPr/>
          <p:nvPr/>
        </p:nvSpPr>
        <p:spPr>
          <a:xfrm>
            <a:off x="567542" y="2907825"/>
            <a:ext cx="2345267" cy="3302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endParaRPr kumimoji="1" lang="en-US" altLang="ja-JP" b="1" dirty="0"/>
          </a:p>
          <a:p>
            <a:pPr algn="ctr"/>
            <a:r>
              <a:rPr kumimoji="1" lang="ja-JP" altLang="en-US" b="1" dirty="0"/>
              <a:t>サーバー</a:t>
            </a:r>
          </a:p>
        </p:txBody>
      </p:sp>
      <p:sp>
        <p:nvSpPr>
          <p:cNvPr id="5" name="正方形/長方形 4">
            <a:extLst>
              <a:ext uri="{FF2B5EF4-FFF2-40B4-BE49-F238E27FC236}">
                <a16:creationId xmlns:a16="http://schemas.microsoft.com/office/drawing/2014/main" id="{B75EF356-ED12-4236-98AD-3EEECFC062C6}"/>
              </a:ext>
            </a:extLst>
          </p:cNvPr>
          <p:cNvSpPr/>
          <p:nvPr/>
        </p:nvSpPr>
        <p:spPr>
          <a:xfrm>
            <a:off x="982133" y="3920067"/>
            <a:ext cx="1532467" cy="19219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ja-JP" altLang="en-US" b="1" dirty="0"/>
              <a:t>当たり判定</a:t>
            </a:r>
            <a:endParaRPr kumimoji="1" lang="en-US" altLang="ja-JP" b="1" dirty="0"/>
          </a:p>
        </p:txBody>
      </p:sp>
      <p:sp>
        <p:nvSpPr>
          <p:cNvPr id="7" name="矢印: 右 6">
            <a:extLst>
              <a:ext uri="{FF2B5EF4-FFF2-40B4-BE49-F238E27FC236}">
                <a16:creationId xmlns:a16="http://schemas.microsoft.com/office/drawing/2014/main" id="{D50FBDF7-B965-43A5-8B3D-5667B038C981}"/>
              </a:ext>
            </a:extLst>
          </p:cNvPr>
          <p:cNvSpPr/>
          <p:nvPr/>
        </p:nvSpPr>
        <p:spPr>
          <a:xfrm>
            <a:off x="2514598" y="4441243"/>
            <a:ext cx="4944809" cy="770466"/>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b="1" dirty="0"/>
              <a:t>当たったから死亡させて</a:t>
            </a:r>
          </a:p>
        </p:txBody>
      </p:sp>
      <p:sp>
        <p:nvSpPr>
          <p:cNvPr id="8" name="正方形/長方形 7">
            <a:extLst>
              <a:ext uri="{FF2B5EF4-FFF2-40B4-BE49-F238E27FC236}">
                <a16:creationId xmlns:a16="http://schemas.microsoft.com/office/drawing/2014/main" id="{87372DD6-37BE-4E50-A554-ECF361B5C498}"/>
              </a:ext>
            </a:extLst>
          </p:cNvPr>
          <p:cNvSpPr/>
          <p:nvPr/>
        </p:nvSpPr>
        <p:spPr>
          <a:xfrm>
            <a:off x="7459409" y="2907825"/>
            <a:ext cx="2345267" cy="330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en-US" altLang="ja-JP" b="1" dirty="0"/>
          </a:p>
          <a:p>
            <a:pPr algn="ctr"/>
            <a:r>
              <a:rPr kumimoji="1" lang="ja-JP" altLang="en-US" b="1" dirty="0"/>
              <a:t>クライアント</a:t>
            </a:r>
          </a:p>
        </p:txBody>
      </p:sp>
      <p:sp>
        <p:nvSpPr>
          <p:cNvPr id="9" name="正方形/長方形 8">
            <a:extLst>
              <a:ext uri="{FF2B5EF4-FFF2-40B4-BE49-F238E27FC236}">
                <a16:creationId xmlns:a16="http://schemas.microsoft.com/office/drawing/2014/main" id="{5F120097-395F-4FBE-BA39-CC3CFA90E785}"/>
              </a:ext>
            </a:extLst>
          </p:cNvPr>
          <p:cNvSpPr/>
          <p:nvPr/>
        </p:nvSpPr>
        <p:spPr>
          <a:xfrm>
            <a:off x="7865808" y="3920067"/>
            <a:ext cx="1532467" cy="19219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ja-JP" altLang="en-US" b="1" dirty="0"/>
              <a:t>プレイヤー死亡</a:t>
            </a:r>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3785652"/>
          </a:xfrm>
          <a:prstGeom prst="rect">
            <a:avLst/>
          </a:prstGeom>
          <a:noFill/>
        </p:spPr>
        <p:txBody>
          <a:bodyPr wrap="none" rtlCol="0">
            <a:spAutoFit/>
          </a:bodyPr>
          <a:lstStyle/>
          <a:p>
            <a:r>
              <a:rPr lang="ja-JP" altLang="en-US" sz="2400" dirty="0"/>
              <a:t>処理の流れは以下の通りです</a:t>
            </a:r>
            <a:endParaRPr lang="en-US" altLang="ja-JP" sz="2400" dirty="0"/>
          </a:p>
          <a:p>
            <a:endParaRPr lang="en-US" altLang="ja-JP" sz="2400" dirty="0"/>
          </a:p>
          <a:p>
            <a:r>
              <a:rPr lang="ja-JP" altLang="en-US" sz="2400" b="1" dirty="0">
                <a:solidFill>
                  <a:srgbClr val="00B050"/>
                </a:solidFill>
              </a:rPr>
              <a:t>１．当たり判定をチェック</a:t>
            </a:r>
            <a:endParaRPr lang="en-US" altLang="ja-JP" sz="2400" b="1" dirty="0">
              <a:solidFill>
                <a:srgbClr val="00B050"/>
              </a:solidFill>
            </a:endParaRPr>
          </a:p>
          <a:p>
            <a:endParaRPr lang="en-US" altLang="ja-JP" sz="2400" b="1" dirty="0">
              <a:solidFill>
                <a:srgbClr val="00B050"/>
              </a:solidFill>
            </a:endParaRPr>
          </a:p>
          <a:p>
            <a:r>
              <a:rPr lang="ja-JP" altLang="en-US" sz="2400" b="1" dirty="0">
                <a:solidFill>
                  <a:srgbClr val="00B050"/>
                </a:solidFill>
              </a:rPr>
              <a:t>２．当たっていたらクライアントへ死亡情報を送信</a:t>
            </a:r>
            <a:endParaRPr lang="en-US" altLang="ja-JP" sz="2400" b="1" dirty="0">
              <a:solidFill>
                <a:srgbClr val="00B050"/>
              </a:solidFill>
            </a:endParaRPr>
          </a:p>
          <a:p>
            <a:endParaRPr lang="en-US" altLang="ja-JP" sz="2400" dirty="0"/>
          </a:p>
          <a:p>
            <a:r>
              <a:rPr lang="ja-JP" altLang="en-US" sz="2400" b="1" dirty="0">
                <a:solidFill>
                  <a:srgbClr val="0070C0"/>
                </a:solidFill>
              </a:rPr>
              <a:t>３．死亡情報を受信したらプレイヤーを死亡させる</a:t>
            </a:r>
            <a:endParaRPr lang="en-US" altLang="ja-JP" sz="2400" b="1" dirty="0">
              <a:solidFill>
                <a:srgbClr val="0070C0"/>
              </a:solidFill>
            </a:endParaRPr>
          </a:p>
          <a:p>
            <a:endParaRPr lang="en-US" altLang="ja-JP" sz="2400" b="1" dirty="0">
              <a:solidFill>
                <a:srgbClr val="0070C0"/>
              </a:solidFill>
            </a:endParaRPr>
          </a:p>
          <a:p>
            <a:r>
              <a:rPr lang="ja-JP" altLang="en-US" sz="2400" b="1" dirty="0">
                <a:solidFill>
                  <a:srgbClr val="00B050"/>
                </a:solidFill>
              </a:rPr>
              <a:t>緑：サーバー側</a:t>
            </a:r>
            <a:endParaRPr lang="en-US" altLang="ja-JP" sz="2400" b="1" dirty="0">
              <a:solidFill>
                <a:srgbClr val="00B050"/>
              </a:solidFill>
            </a:endParaRPr>
          </a:p>
          <a:p>
            <a:r>
              <a:rPr lang="ja-JP" altLang="en-US" sz="2400" b="1" dirty="0">
                <a:solidFill>
                  <a:srgbClr val="0070C0"/>
                </a:solidFill>
              </a:rPr>
              <a:t>青：クライアント側</a:t>
            </a:r>
            <a:endParaRPr lang="en-US" altLang="ja-JP" sz="2400" b="1" dirty="0">
              <a:solidFill>
                <a:srgbClr val="0070C0"/>
              </a:solidFill>
            </a:endParaRPr>
          </a:p>
        </p:txBody>
      </p:sp>
    </p:spTree>
    <p:extLst>
      <p:ext uri="{BB962C8B-B14F-4D97-AF65-F5344CB8AC3E}">
        <p14:creationId xmlns:p14="http://schemas.microsoft.com/office/powerpoint/2010/main" val="3569943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021474" cy="461665"/>
          </a:xfrm>
          <a:prstGeom prst="rect">
            <a:avLst/>
          </a:prstGeom>
          <a:noFill/>
        </p:spPr>
        <p:txBody>
          <a:bodyPr wrap="none" rtlCol="0">
            <a:spAutoFit/>
          </a:bodyPr>
          <a:lstStyle/>
          <a:p>
            <a:r>
              <a:rPr lang="ja-JP" altLang="en-US" sz="2400" dirty="0"/>
              <a:t>サーバープロジェクトの</a:t>
            </a:r>
            <a:r>
              <a:rPr lang="en-US" altLang="ja-JP" sz="2400" b="1" dirty="0">
                <a:solidFill>
                  <a:srgbClr val="FF0000"/>
                </a:solidFill>
              </a:rPr>
              <a:t>Server.cpp</a:t>
            </a:r>
            <a:r>
              <a:rPr lang="ja-JP" altLang="en-US" sz="2400" dirty="0"/>
              <a:t>を開きます。</a:t>
            </a:r>
            <a:endParaRPr lang="en-US" altLang="ja-JP" sz="2400" dirty="0"/>
          </a:p>
        </p:txBody>
      </p:sp>
      <p:pic>
        <p:nvPicPr>
          <p:cNvPr id="3" name="図 2">
            <a:extLst>
              <a:ext uri="{FF2B5EF4-FFF2-40B4-BE49-F238E27FC236}">
                <a16:creationId xmlns:a16="http://schemas.microsoft.com/office/drawing/2014/main" id="{4F1D7F62-F812-4878-96A5-F039288B8A7B}"/>
              </a:ext>
            </a:extLst>
          </p:cNvPr>
          <p:cNvPicPr>
            <a:picLocks noChangeAspect="1"/>
          </p:cNvPicPr>
          <p:nvPr/>
        </p:nvPicPr>
        <p:blipFill>
          <a:blip r:embed="rId2"/>
          <a:stretch>
            <a:fillRect/>
          </a:stretch>
        </p:blipFill>
        <p:spPr>
          <a:xfrm>
            <a:off x="567542" y="1769226"/>
            <a:ext cx="8483325" cy="4559787"/>
          </a:xfrm>
          <a:prstGeom prst="rect">
            <a:avLst/>
          </a:prstGeom>
        </p:spPr>
      </p:pic>
    </p:spTree>
    <p:extLst>
      <p:ext uri="{BB962C8B-B14F-4D97-AF65-F5344CB8AC3E}">
        <p14:creationId xmlns:p14="http://schemas.microsoft.com/office/powerpoint/2010/main" val="2118467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461665"/>
          </a:xfrm>
          <a:prstGeom prst="rect">
            <a:avLst/>
          </a:prstGeom>
          <a:noFill/>
        </p:spPr>
        <p:txBody>
          <a:bodyPr wrap="none" rtlCol="0">
            <a:spAutoFit/>
          </a:bodyPr>
          <a:lstStyle/>
          <a:p>
            <a:r>
              <a:rPr lang="ja-JP" altLang="en-US" sz="2400" dirty="0"/>
              <a:t>座標を確定させる処理の後で当たり判定をします。</a:t>
            </a:r>
            <a:endParaRPr lang="en-US" altLang="ja-JP" sz="2400" dirty="0"/>
          </a:p>
        </p:txBody>
      </p:sp>
      <p:pic>
        <p:nvPicPr>
          <p:cNvPr id="5" name="図 4">
            <a:extLst>
              <a:ext uri="{FF2B5EF4-FFF2-40B4-BE49-F238E27FC236}">
                <a16:creationId xmlns:a16="http://schemas.microsoft.com/office/drawing/2014/main" id="{1F015B19-6910-42B5-86BC-508BEF512D8C}"/>
              </a:ext>
            </a:extLst>
          </p:cNvPr>
          <p:cNvPicPr>
            <a:picLocks noChangeAspect="1"/>
          </p:cNvPicPr>
          <p:nvPr/>
        </p:nvPicPr>
        <p:blipFill>
          <a:blip r:embed="rId2"/>
          <a:stretch>
            <a:fillRect/>
          </a:stretch>
        </p:blipFill>
        <p:spPr>
          <a:xfrm>
            <a:off x="567542" y="1769226"/>
            <a:ext cx="8915125" cy="3356023"/>
          </a:xfrm>
          <a:prstGeom prst="rect">
            <a:avLst/>
          </a:prstGeom>
        </p:spPr>
      </p:pic>
      <p:sp>
        <p:nvSpPr>
          <p:cNvPr id="7" name="正方形/長方形 6">
            <a:extLst>
              <a:ext uri="{FF2B5EF4-FFF2-40B4-BE49-F238E27FC236}">
                <a16:creationId xmlns:a16="http://schemas.microsoft.com/office/drawing/2014/main" id="{ADF4678D-DFAD-4C8D-8AB5-71905DCA73B3}"/>
              </a:ext>
            </a:extLst>
          </p:cNvPr>
          <p:cNvSpPr/>
          <p:nvPr/>
        </p:nvSpPr>
        <p:spPr>
          <a:xfrm>
            <a:off x="2302933" y="3770974"/>
            <a:ext cx="1574800" cy="6062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34694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363461" cy="461665"/>
          </a:xfrm>
          <a:prstGeom prst="rect">
            <a:avLst/>
          </a:prstGeom>
          <a:noFill/>
        </p:spPr>
        <p:txBody>
          <a:bodyPr wrap="none" rtlCol="0">
            <a:spAutoFit/>
          </a:bodyPr>
          <a:lstStyle/>
          <a:p>
            <a:r>
              <a:rPr lang="ja-JP" altLang="en-US" sz="2400" dirty="0"/>
              <a:t>衝突したオブジェクトは</a:t>
            </a:r>
            <a:r>
              <a:rPr lang="en-US" altLang="ja-JP" sz="2400" b="1" dirty="0" err="1">
                <a:solidFill>
                  <a:srgbClr val="0070C0"/>
                </a:solidFill>
              </a:rPr>
              <a:t>OverlapGameObject</a:t>
            </a:r>
            <a:r>
              <a:rPr lang="ja-JP" altLang="en-US" sz="2400" b="1" dirty="0">
                <a:solidFill>
                  <a:srgbClr val="0070C0"/>
                </a:solidFill>
              </a:rPr>
              <a:t>関数</a:t>
            </a:r>
            <a:r>
              <a:rPr lang="ja-JP" altLang="en-US" sz="2400" dirty="0"/>
              <a:t>が呼ばれます。</a:t>
            </a:r>
            <a:endParaRPr lang="en-US" altLang="ja-JP" sz="2400" dirty="0"/>
          </a:p>
        </p:txBody>
      </p:sp>
      <p:pic>
        <p:nvPicPr>
          <p:cNvPr id="9" name="図 8">
            <a:extLst>
              <a:ext uri="{FF2B5EF4-FFF2-40B4-BE49-F238E27FC236}">
                <a16:creationId xmlns:a16="http://schemas.microsoft.com/office/drawing/2014/main" id="{4A805EF9-5A33-4801-A54F-F62B12046570}"/>
              </a:ext>
            </a:extLst>
          </p:cNvPr>
          <p:cNvPicPr>
            <a:picLocks noChangeAspect="1"/>
          </p:cNvPicPr>
          <p:nvPr/>
        </p:nvPicPr>
        <p:blipFill>
          <a:blip r:embed="rId2"/>
          <a:stretch>
            <a:fillRect/>
          </a:stretch>
        </p:blipFill>
        <p:spPr>
          <a:xfrm>
            <a:off x="567542" y="1769226"/>
            <a:ext cx="5054325" cy="4803401"/>
          </a:xfrm>
          <a:prstGeom prst="rect">
            <a:avLst/>
          </a:prstGeom>
        </p:spPr>
      </p:pic>
    </p:spTree>
    <p:extLst>
      <p:ext uri="{BB962C8B-B14F-4D97-AF65-F5344CB8AC3E}">
        <p14:creationId xmlns:p14="http://schemas.microsoft.com/office/powerpoint/2010/main" val="88697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74240" cy="461665"/>
          </a:xfrm>
          <a:prstGeom prst="rect">
            <a:avLst/>
          </a:prstGeom>
          <a:noFill/>
        </p:spPr>
        <p:txBody>
          <a:bodyPr wrap="none" rtlCol="0">
            <a:spAutoFit/>
          </a:bodyPr>
          <a:lstStyle/>
          <a:p>
            <a:r>
              <a:rPr lang="ja-JP" altLang="en-US" sz="2400" dirty="0"/>
              <a:t>よって</a:t>
            </a:r>
            <a:r>
              <a:rPr lang="en-US" altLang="ja-JP" sz="2400" b="1" dirty="0">
                <a:solidFill>
                  <a:srgbClr val="00B050"/>
                </a:solidFill>
              </a:rPr>
              <a:t>Player</a:t>
            </a:r>
            <a:r>
              <a:rPr lang="ja-JP" altLang="en-US" sz="2400" b="1" dirty="0">
                <a:solidFill>
                  <a:srgbClr val="00B050"/>
                </a:solidFill>
              </a:rPr>
              <a:t>クラス</a:t>
            </a:r>
            <a:r>
              <a:rPr lang="ja-JP" altLang="en-US" sz="2400" dirty="0"/>
              <a:t>の</a:t>
            </a:r>
            <a:r>
              <a:rPr lang="en-US" altLang="ja-JP" sz="2400" b="1" dirty="0" err="1">
                <a:solidFill>
                  <a:srgbClr val="0070C0"/>
                </a:solidFill>
              </a:rPr>
              <a:t>OverlapGameObject</a:t>
            </a:r>
            <a:r>
              <a:rPr lang="ja-JP" altLang="en-US" sz="2400" b="1" dirty="0">
                <a:solidFill>
                  <a:srgbClr val="0070C0"/>
                </a:solidFill>
              </a:rPr>
              <a:t>関数</a:t>
            </a:r>
            <a:r>
              <a:rPr lang="ja-JP" altLang="en-US" sz="2400" dirty="0"/>
              <a:t>で通信します。（</a:t>
            </a:r>
            <a:r>
              <a:rPr lang="en-US" altLang="ja-JP" sz="2400" b="1" dirty="0">
                <a:solidFill>
                  <a:srgbClr val="FF0000"/>
                </a:solidFill>
              </a:rPr>
              <a:t>Player.cpp</a:t>
            </a:r>
            <a:r>
              <a:rPr lang="ja-JP" altLang="en-US" sz="2400" dirty="0"/>
              <a:t>）</a:t>
            </a:r>
            <a:endParaRPr lang="en-US" altLang="ja-JP" sz="2400" dirty="0"/>
          </a:p>
        </p:txBody>
      </p:sp>
      <p:pic>
        <p:nvPicPr>
          <p:cNvPr id="5" name="図 4">
            <a:extLst>
              <a:ext uri="{FF2B5EF4-FFF2-40B4-BE49-F238E27FC236}">
                <a16:creationId xmlns:a16="http://schemas.microsoft.com/office/drawing/2014/main" id="{6DE415C1-EFC0-4919-B9DE-F5A11C8240E4}"/>
              </a:ext>
            </a:extLst>
          </p:cNvPr>
          <p:cNvPicPr>
            <a:picLocks noChangeAspect="1"/>
          </p:cNvPicPr>
          <p:nvPr/>
        </p:nvPicPr>
        <p:blipFill>
          <a:blip r:embed="rId2"/>
          <a:stretch>
            <a:fillRect/>
          </a:stretch>
        </p:blipFill>
        <p:spPr>
          <a:xfrm>
            <a:off x="567541" y="1769226"/>
            <a:ext cx="8253825" cy="3742574"/>
          </a:xfrm>
          <a:prstGeom prst="rect">
            <a:avLst/>
          </a:prstGeom>
        </p:spPr>
      </p:pic>
      <p:sp>
        <p:nvSpPr>
          <p:cNvPr id="7" name="正方形/長方形 6">
            <a:extLst>
              <a:ext uri="{FF2B5EF4-FFF2-40B4-BE49-F238E27FC236}">
                <a16:creationId xmlns:a16="http://schemas.microsoft.com/office/drawing/2014/main" id="{F8A9E7EC-2C5C-4DFF-B873-2968A9E83248}"/>
              </a:ext>
            </a:extLst>
          </p:cNvPr>
          <p:cNvSpPr/>
          <p:nvPr/>
        </p:nvSpPr>
        <p:spPr>
          <a:xfrm>
            <a:off x="3119652" y="3991107"/>
            <a:ext cx="2036547" cy="6655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DCE1F2F-D090-414D-B9DA-D2AE3D9C0983}"/>
              </a:ext>
            </a:extLst>
          </p:cNvPr>
          <p:cNvSpPr txBox="1"/>
          <p:nvPr/>
        </p:nvSpPr>
        <p:spPr>
          <a:xfrm>
            <a:off x="567542" y="5511800"/>
            <a:ext cx="9693679" cy="830997"/>
          </a:xfrm>
          <a:prstGeom prst="rect">
            <a:avLst/>
          </a:prstGeom>
          <a:noFill/>
        </p:spPr>
        <p:txBody>
          <a:bodyPr wrap="none" rtlCol="0">
            <a:spAutoFit/>
          </a:bodyPr>
          <a:lstStyle/>
          <a:p>
            <a:r>
              <a:rPr lang="ja-JP" altLang="en-US" sz="2400" dirty="0"/>
              <a:t>このようにサーバー側にも</a:t>
            </a:r>
            <a:r>
              <a:rPr lang="en-US" altLang="ja-JP" sz="2400" dirty="0"/>
              <a:t>Player</a:t>
            </a:r>
            <a:r>
              <a:rPr lang="ja-JP" altLang="en-US" sz="2400" dirty="0"/>
              <a:t>などのオブジェクトクラスを作ると</a:t>
            </a:r>
            <a:endParaRPr lang="en-US" altLang="ja-JP" sz="2400" dirty="0"/>
          </a:p>
          <a:p>
            <a:r>
              <a:rPr lang="ja-JP" altLang="en-US" sz="2400" dirty="0"/>
              <a:t>処理しやすいです。</a:t>
            </a:r>
            <a:endParaRPr lang="en-US" altLang="ja-JP" sz="2400" dirty="0"/>
          </a:p>
        </p:txBody>
      </p:sp>
    </p:spTree>
    <p:extLst>
      <p:ext uri="{BB962C8B-B14F-4D97-AF65-F5344CB8AC3E}">
        <p14:creationId xmlns:p14="http://schemas.microsoft.com/office/powerpoint/2010/main" val="3923851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512540" cy="1200329"/>
          </a:xfrm>
          <a:prstGeom prst="rect">
            <a:avLst/>
          </a:prstGeom>
          <a:noFill/>
        </p:spPr>
        <p:txBody>
          <a:bodyPr wrap="none" rtlCol="0">
            <a:spAutoFit/>
          </a:bodyPr>
          <a:lstStyle/>
          <a:p>
            <a:r>
              <a:rPr lang="ja-JP" altLang="en-US" sz="2400" b="1" dirty="0">
                <a:solidFill>
                  <a:srgbClr val="0070C0"/>
                </a:solidFill>
              </a:rPr>
              <a:t>クライアントプロジェクト</a:t>
            </a:r>
            <a:r>
              <a:rPr lang="ja-JP" altLang="en-US" sz="2400" dirty="0"/>
              <a:t>の</a:t>
            </a:r>
            <a:r>
              <a:rPr lang="en-US" altLang="ja-JP" sz="2400" b="1" dirty="0">
                <a:solidFill>
                  <a:srgbClr val="FF0000"/>
                </a:solidFill>
              </a:rPr>
              <a:t>NetworkPlayScene.cpp</a:t>
            </a:r>
            <a:r>
              <a:rPr lang="ja-JP" altLang="en-US" sz="2400" dirty="0"/>
              <a:t>を開きます。</a:t>
            </a:r>
            <a:endParaRPr lang="en-US" altLang="ja-JP" sz="2400" dirty="0"/>
          </a:p>
          <a:p>
            <a:r>
              <a:rPr lang="ja-JP" altLang="en-US" sz="2400" dirty="0"/>
              <a:t>これまでと同様に受信処理を作っていますので、</a:t>
            </a:r>
            <a:endParaRPr lang="en-US" altLang="ja-JP" sz="2400" dirty="0"/>
          </a:p>
          <a:p>
            <a:r>
              <a:rPr lang="ja-JP" altLang="en-US" sz="2400" dirty="0"/>
              <a:t>死亡処理を呼び出しましょう。</a:t>
            </a:r>
            <a:endParaRPr lang="en-US" altLang="ja-JP" sz="2400" dirty="0"/>
          </a:p>
        </p:txBody>
      </p:sp>
      <p:pic>
        <p:nvPicPr>
          <p:cNvPr id="3" name="図 2">
            <a:extLst>
              <a:ext uri="{FF2B5EF4-FFF2-40B4-BE49-F238E27FC236}">
                <a16:creationId xmlns:a16="http://schemas.microsoft.com/office/drawing/2014/main" id="{F08DF65E-B52E-4225-A3C5-6255823EC348}"/>
              </a:ext>
            </a:extLst>
          </p:cNvPr>
          <p:cNvPicPr>
            <a:picLocks noChangeAspect="1"/>
          </p:cNvPicPr>
          <p:nvPr/>
        </p:nvPicPr>
        <p:blipFill>
          <a:blip r:embed="rId2"/>
          <a:stretch>
            <a:fillRect/>
          </a:stretch>
        </p:blipFill>
        <p:spPr>
          <a:xfrm>
            <a:off x="567542" y="2416757"/>
            <a:ext cx="10140384" cy="2646309"/>
          </a:xfrm>
          <a:prstGeom prst="rect">
            <a:avLst/>
          </a:prstGeom>
        </p:spPr>
      </p:pic>
      <p:sp>
        <p:nvSpPr>
          <p:cNvPr id="9" name="正方形/長方形 8">
            <a:extLst>
              <a:ext uri="{FF2B5EF4-FFF2-40B4-BE49-F238E27FC236}">
                <a16:creationId xmlns:a16="http://schemas.microsoft.com/office/drawing/2014/main" id="{164044AD-84C7-464B-9868-E26643B63D93}"/>
              </a:ext>
            </a:extLst>
          </p:cNvPr>
          <p:cNvSpPr/>
          <p:nvPr/>
        </p:nvSpPr>
        <p:spPr>
          <a:xfrm>
            <a:off x="2408452" y="3811501"/>
            <a:ext cx="6837148" cy="972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E00ECD4-98A4-4507-82DE-71800180674A}"/>
              </a:ext>
            </a:extLst>
          </p:cNvPr>
          <p:cNvSpPr txBox="1"/>
          <p:nvPr/>
        </p:nvSpPr>
        <p:spPr>
          <a:xfrm>
            <a:off x="567542" y="5227903"/>
            <a:ext cx="7571303" cy="461665"/>
          </a:xfrm>
          <a:prstGeom prst="rect">
            <a:avLst/>
          </a:prstGeom>
          <a:noFill/>
        </p:spPr>
        <p:txBody>
          <a:bodyPr wrap="none" rtlCol="0">
            <a:spAutoFit/>
          </a:bodyPr>
          <a:lstStyle/>
          <a:p>
            <a:r>
              <a:rPr lang="ja-JP" altLang="en-US" sz="2400" dirty="0"/>
              <a:t>動作確認してぶつかると死亡するか確認しましょう。</a:t>
            </a:r>
            <a:endParaRPr lang="en-US" altLang="ja-JP" sz="2400" dirty="0"/>
          </a:p>
        </p:txBody>
      </p:sp>
    </p:spTree>
    <p:extLst>
      <p:ext uri="{BB962C8B-B14F-4D97-AF65-F5344CB8AC3E}">
        <p14:creationId xmlns:p14="http://schemas.microsoft.com/office/powerpoint/2010/main" val="231118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72399" cy="2677656"/>
          </a:xfrm>
          <a:prstGeom prst="rect">
            <a:avLst/>
          </a:prstGeom>
          <a:noFill/>
        </p:spPr>
        <p:txBody>
          <a:bodyPr wrap="none" rtlCol="0">
            <a:spAutoFit/>
          </a:bodyPr>
          <a:lstStyle/>
          <a:p>
            <a:r>
              <a:rPr lang="ja-JP" altLang="en-US" sz="2400" dirty="0"/>
              <a:t>当たって消える位であれば簡単ですが、</a:t>
            </a:r>
            <a:endParaRPr lang="en-US" altLang="ja-JP" sz="2400" dirty="0"/>
          </a:p>
          <a:p>
            <a:r>
              <a:rPr lang="ja-JP" altLang="en-US" sz="2400" dirty="0"/>
              <a:t>当たった後に</a:t>
            </a:r>
            <a:r>
              <a:rPr lang="ja-JP" altLang="en-US" sz="2400" b="1" dirty="0">
                <a:solidFill>
                  <a:srgbClr val="FF0000"/>
                </a:solidFill>
              </a:rPr>
              <a:t>押し出したり、跳ね返したりする場合は問題が発生</a:t>
            </a:r>
            <a:r>
              <a:rPr lang="ja-JP" altLang="en-US" sz="2400" dirty="0"/>
              <a:t>します。</a:t>
            </a:r>
            <a:endParaRPr lang="en-US" altLang="ja-JP" sz="2400" dirty="0"/>
          </a:p>
          <a:p>
            <a:endParaRPr lang="en-US" altLang="ja-JP" sz="2400" dirty="0"/>
          </a:p>
          <a:p>
            <a:r>
              <a:rPr lang="ja-JP" altLang="en-US" sz="2400" b="1" dirty="0">
                <a:solidFill>
                  <a:srgbClr val="FF0000"/>
                </a:solidFill>
              </a:rPr>
              <a:t>オフライン</a:t>
            </a:r>
            <a:r>
              <a:rPr lang="ja-JP" altLang="en-US" sz="2400" dirty="0"/>
              <a:t>であれば、</a:t>
            </a:r>
            <a:r>
              <a:rPr lang="ja-JP" altLang="en-US" sz="2400" b="1" dirty="0">
                <a:solidFill>
                  <a:srgbClr val="FF0000"/>
                </a:solidFill>
              </a:rPr>
              <a:t>衝突と押し出しが１フレーム中に１回ずつ処理</a:t>
            </a:r>
            <a:r>
              <a:rPr lang="ja-JP" altLang="en-US" sz="2400" dirty="0"/>
              <a:t>されますが、</a:t>
            </a:r>
            <a:endParaRPr lang="en-US" altLang="ja-JP" sz="2400" dirty="0"/>
          </a:p>
          <a:p>
            <a:r>
              <a:rPr lang="ja-JP" altLang="en-US" sz="2400" dirty="0"/>
              <a:t>オンラインのクライアント</a:t>
            </a:r>
            <a:r>
              <a:rPr lang="en-US" altLang="ja-JP" sz="2400" dirty="0"/>
              <a:t>/</a:t>
            </a:r>
            <a:r>
              <a:rPr lang="ja-JP" altLang="en-US" sz="2400" dirty="0"/>
              <a:t>サーバー間の通信にはラグがあり、</a:t>
            </a:r>
            <a:endParaRPr lang="en-US" altLang="ja-JP" sz="2400" dirty="0"/>
          </a:p>
          <a:p>
            <a:r>
              <a:rPr lang="ja-JP" altLang="en-US" sz="2400" b="1" dirty="0">
                <a:solidFill>
                  <a:srgbClr val="FF0000"/>
                </a:solidFill>
              </a:rPr>
              <a:t>サーバーから座標が返ってくるまでは、</a:t>
            </a:r>
            <a:endParaRPr lang="en-US" altLang="ja-JP" sz="2400" b="1" dirty="0">
              <a:solidFill>
                <a:srgbClr val="FF0000"/>
              </a:solidFill>
            </a:endParaRPr>
          </a:p>
          <a:p>
            <a:r>
              <a:rPr lang="ja-JP" altLang="en-US" sz="2400" b="1" dirty="0">
                <a:solidFill>
                  <a:srgbClr val="FF0000"/>
                </a:solidFill>
              </a:rPr>
              <a:t>クライアント側の座標が押し出されないままになってしまうからです。</a:t>
            </a:r>
            <a:endParaRPr lang="en-US" altLang="ja-JP" sz="2400" b="1" dirty="0">
              <a:solidFill>
                <a:srgbClr val="FF0000"/>
              </a:solidFill>
            </a:endParaRPr>
          </a:p>
        </p:txBody>
      </p:sp>
      <p:sp>
        <p:nvSpPr>
          <p:cNvPr id="7" name="正方形/長方形 6">
            <a:extLst>
              <a:ext uri="{FF2B5EF4-FFF2-40B4-BE49-F238E27FC236}">
                <a16:creationId xmlns:a16="http://schemas.microsoft.com/office/drawing/2014/main" id="{FEFF9D2F-2292-4160-81CA-18AB7451A08E}"/>
              </a:ext>
            </a:extLst>
          </p:cNvPr>
          <p:cNvSpPr/>
          <p:nvPr/>
        </p:nvSpPr>
        <p:spPr>
          <a:xfrm>
            <a:off x="567542" y="4309533"/>
            <a:ext cx="1684591" cy="19764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en-US" altLang="ja-JP" b="1" dirty="0"/>
          </a:p>
          <a:p>
            <a:pPr algn="ctr"/>
            <a:r>
              <a:rPr kumimoji="1" lang="ja-JP" altLang="en-US" b="1" dirty="0"/>
              <a:t>クライアント</a:t>
            </a:r>
          </a:p>
        </p:txBody>
      </p:sp>
      <p:sp>
        <p:nvSpPr>
          <p:cNvPr id="8" name="矢印: 右 7">
            <a:extLst>
              <a:ext uri="{FF2B5EF4-FFF2-40B4-BE49-F238E27FC236}">
                <a16:creationId xmlns:a16="http://schemas.microsoft.com/office/drawing/2014/main" id="{A6520DA7-1B23-448C-BE87-E98C08B1D538}"/>
              </a:ext>
            </a:extLst>
          </p:cNvPr>
          <p:cNvSpPr/>
          <p:nvPr/>
        </p:nvSpPr>
        <p:spPr>
          <a:xfrm>
            <a:off x="2252133" y="4448758"/>
            <a:ext cx="4944809" cy="770466"/>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b="1" dirty="0"/>
              <a:t>動いている間座標をずっと送信</a:t>
            </a:r>
          </a:p>
        </p:txBody>
      </p:sp>
      <p:sp>
        <p:nvSpPr>
          <p:cNvPr id="11" name="正方形/長方形 10">
            <a:extLst>
              <a:ext uri="{FF2B5EF4-FFF2-40B4-BE49-F238E27FC236}">
                <a16:creationId xmlns:a16="http://schemas.microsoft.com/office/drawing/2014/main" id="{0BC5B660-8CD1-4030-80A2-B160C4881716}"/>
              </a:ext>
            </a:extLst>
          </p:cNvPr>
          <p:cNvSpPr/>
          <p:nvPr/>
        </p:nvSpPr>
        <p:spPr>
          <a:xfrm>
            <a:off x="7196942" y="4309533"/>
            <a:ext cx="1684591" cy="19764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endParaRPr kumimoji="1" lang="en-US" altLang="ja-JP" b="1" dirty="0"/>
          </a:p>
          <a:p>
            <a:pPr algn="ctr"/>
            <a:r>
              <a:rPr kumimoji="1" lang="ja-JP" altLang="en-US" b="1" dirty="0"/>
              <a:t>サーバー</a:t>
            </a:r>
          </a:p>
        </p:txBody>
      </p:sp>
      <p:sp>
        <p:nvSpPr>
          <p:cNvPr id="12" name="正方形/長方形 11">
            <a:extLst>
              <a:ext uri="{FF2B5EF4-FFF2-40B4-BE49-F238E27FC236}">
                <a16:creationId xmlns:a16="http://schemas.microsoft.com/office/drawing/2014/main" id="{BF929A1D-3CCD-4192-8F6E-058BECDF5FAC}"/>
              </a:ext>
            </a:extLst>
          </p:cNvPr>
          <p:cNvSpPr/>
          <p:nvPr/>
        </p:nvSpPr>
        <p:spPr>
          <a:xfrm>
            <a:off x="7340875" y="4912546"/>
            <a:ext cx="1439058" cy="123425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ja-JP" altLang="en-US" b="1" dirty="0"/>
              <a:t>当たり判定忙しすぎる</a:t>
            </a:r>
          </a:p>
        </p:txBody>
      </p:sp>
      <p:sp>
        <p:nvSpPr>
          <p:cNvPr id="2" name="矢印: 左 1">
            <a:extLst>
              <a:ext uri="{FF2B5EF4-FFF2-40B4-BE49-F238E27FC236}">
                <a16:creationId xmlns:a16="http://schemas.microsoft.com/office/drawing/2014/main" id="{1A7FCB7D-0859-47BB-8B7B-04C5F758E140}"/>
              </a:ext>
            </a:extLst>
          </p:cNvPr>
          <p:cNvSpPr/>
          <p:nvPr/>
        </p:nvSpPr>
        <p:spPr>
          <a:xfrm>
            <a:off x="2252133" y="5591969"/>
            <a:ext cx="4944809" cy="399449"/>
          </a:xfrm>
          <a:prstGeom prst="lef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ja-JP" altLang="en-US" sz="1400" b="1" dirty="0"/>
              <a:t>当たり判定ができ次第、結果の座標を送信</a:t>
            </a:r>
          </a:p>
        </p:txBody>
      </p:sp>
    </p:spTree>
    <p:extLst>
      <p:ext uri="{BB962C8B-B14F-4D97-AF65-F5344CB8AC3E}">
        <p14:creationId xmlns:p14="http://schemas.microsoft.com/office/powerpoint/2010/main" val="4150249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2554545"/>
          </a:xfrm>
          <a:prstGeom prst="rect">
            <a:avLst/>
          </a:prstGeom>
          <a:noFill/>
        </p:spPr>
        <p:txBody>
          <a:bodyPr wrap="none" rtlCol="0">
            <a:spAutoFit/>
          </a:bodyPr>
          <a:lstStyle/>
          <a:p>
            <a:r>
              <a:rPr kumimoji="1" lang="ja-JP" altLang="en-US" sz="3200" b="1" u="sng" dirty="0"/>
              <a:t>当たり判定</a:t>
            </a:r>
            <a:endParaRPr kumimoji="1" lang="en-US" altLang="ja-JP" sz="3200" b="1" u="sng" dirty="0"/>
          </a:p>
          <a:p>
            <a:endParaRPr lang="en-US" altLang="ja-JP" sz="3200" b="1" u="sng" dirty="0"/>
          </a:p>
          <a:p>
            <a:endParaRPr kumimoji="1" lang="en-US" altLang="ja-JP" sz="3200" b="1" u="sng" dirty="0"/>
          </a:p>
          <a:p>
            <a:endParaRPr lang="en-US" altLang="ja-JP" sz="3200" b="1" u="sng" dirty="0"/>
          </a:p>
          <a:p>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5262979"/>
          </a:xfrm>
          <a:prstGeom prst="rect">
            <a:avLst/>
          </a:prstGeom>
          <a:noFill/>
        </p:spPr>
        <p:txBody>
          <a:bodyPr wrap="none" rtlCol="0">
            <a:spAutoFit/>
          </a:bodyPr>
          <a:lstStyle/>
          <a:p>
            <a:r>
              <a:rPr lang="ja-JP" altLang="en-US" sz="2400" dirty="0"/>
              <a:t>この対策には明確な答えはありません。ゲーム次第になります。</a:t>
            </a:r>
            <a:endParaRPr lang="en-US" altLang="ja-JP" sz="2400" dirty="0"/>
          </a:p>
          <a:p>
            <a:r>
              <a:rPr lang="ja-JP" altLang="en-US" sz="2400" dirty="0"/>
              <a:t>授業では代表的なものを紹介だけします。</a:t>
            </a:r>
            <a:endParaRPr lang="en-US" altLang="ja-JP" sz="2400" dirty="0"/>
          </a:p>
          <a:p>
            <a:endParaRPr lang="en-US" altLang="ja-JP" sz="2400" dirty="0"/>
          </a:p>
          <a:p>
            <a:r>
              <a:rPr lang="ja-JP" altLang="en-US" sz="2400" b="1" dirty="0">
                <a:solidFill>
                  <a:srgbClr val="FF0000"/>
                </a:solidFill>
              </a:rPr>
              <a:t>■対策</a:t>
            </a:r>
            <a:endParaRPr lang="en-US" altLang="ja-JP" sz="2400" b="1" dirty="0">
              <a:solidFill>
                <a:srgbClr val="FF0000"/>
              </a:solidFill>
            </a:endParaRPr>
          </a:p>
          <a:p>
            <a:r>
              <a:rPr lang="ja-JP" altLang="en-US" sz="2400" b="1" dirty="0"/>
              <a:t>・クライアント側でも当たり判定をしてめり込まないようにする</a:t>
            </a:r>
            <a:endParaRPr lang="en-US" altLang="ja-JP" sz="2400" b="1" dirty="0"/>
          </a:p>
          <a:p>
            <a:r>
              <a:rPr lang="ja-JP" altLang="en-US" sz="2400" dirty="0"/>
              <a:t>　・それでもサーバー側と一致しないので違和感は残る</a:t>
            </a:r>
            <a:endParaRPr lang="en-US" altLang="ja-JP" sz="2400" dirty="0"/>
          </a:p>
          <a:p>
            <a:endParaRPr lang="en-US" altLang="ja-JP" sz="2400" dirty="0"/>
          </a:p>
          <a:p>
            <a:r>
              <a:rPr lang="ja-JP" altLang="en-US" sz="2400" b="1" dirty="0"/>
              <a:t>・通信データに番号を割り当て、番号ごとの座標で同期する</a:t>
            </a:r>
            <a:endParaRPr lang="en-US" altLang="ja-JP" sz="2400" b="1" dirty="0"/>
          </a:p>
          <a:p>
            <a:r>
              <a:rPr lang="ja-JP" altLang="en-US" sz="2400" dirty="0"/>
              <a:t>　・同期した座標のみ採用すると、とても画面がカクツク</a:t>
            </a:r>
            <a:endParaRPr lang="en-US" altLang="ja-JP" sz="2400" dirty="0"/>
          </a:p>
          <a:p>
            <a:endParaRPr lang="en-US" altLang="ja-JP" sz="2400" dirty="0"/>
          </a:p>
          <a:p>
            <a:r>
              <a:rPr lang="ja-JP" altLang="en-US" sz="2400" b="1" dirty="0"/>
              <a:t>・上</a:t>
            </a:r>
            <a:r>
              <a:rPr lang="en-US" altLang="ja-JP" sz="2400" b="1" dirty="0"/>
              <a:t>2</a:t>
            </a:r>
            <a:r>
              <a:rPr lang="ja-JP" altLang="en-US" sz="2400" b="1" dirty="0"/>
              <a:t>つの対策をした上で、座標を線形補完する</a:t>
            </a:r>
            <a:endParaRPr lang="en-US" altLang="ja-JP" sz="2400" b="1" dirty="0"/>
          </a:p>
          <a:p>
            <a:r>
              <a:rPr lang="ja-JP" altLang="en-US" sz="2400" dirty="0"/>
              <a:t>　・これで、かなり違和感はなくなる。ゲームエンジンも基本このやり方</a:t>
            </a:r>
            <a:endParaRPr lang="en-US" altLang="ja-JP" sz="2400" dirty="0"/>
          </a:p>
          <a:p>
            <a:endParaRPr lang="en-US" altLang="ja-JP" sz="2400" dirty="0"/>
          </a:p>
          <a:p>
            <a:r>
              <a:rPr lang="ja-JP" altLang="en-US" sz="2400" dirty="0"/>
              <a:t>市販のゲームでは、これをベースに対策を考えていきます。</a:t>
            </a:r>
            <a:endParaRPr lang="en-US" altLang="ja-JP" sz="2400" dirty="0"/>
          </a:p>
        </p:txBody>
      </p:sp>
    </p:spTree>
    <p:extLst>
      <p:ext uri="{BB962C8B-B14F-4D97-AF65-F5344CB8AC3E}">
        <p14:creationId xmlns:p14="http://schemas.microsoft.com/office/powerpoint/2010/main" val="273643353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1070</TotalTime>
  <Words>418</Words>
  <Application>Microsoft Office PowerPoint</Application>
  <PresentationFormat>ワイド画面</PresentationFormat>
  <Paragraphs>85</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90</cp:revision>
  <dcterms:created xsi:type="dcterms:W3CDTF">2024-08-27T02:15:54Z</dcterms:created>
  <dcterms:modified xsi:type="dcterms:W3CDTF">2026-02-06T07:45:13Z</dcterms:modified>
</cp:coreProperties>
</file>