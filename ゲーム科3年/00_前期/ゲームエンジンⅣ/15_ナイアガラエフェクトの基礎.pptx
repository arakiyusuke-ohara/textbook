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5" r:id="rId9"/>
    <p:sldId id="261" r:id="rId10"/>
    <p:sldId id="262"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en-US" altLang="ja-JP" sz="2400" dirty="0"/>
              <a:t>UE</a:t>
            </a:r>
            <a:r>
              <a:rPr kumimoji="1" lang="ja-JP" altLang="en-US" sz="2400" dirty="0"/>
              <a:t>には</a:t>
            </a:r>
            <a:r>
              <a:rPr kumimoji="1" lang="ja-JP" altLang="en-US" sz="2400" b="1" dirty="0">
                <a:solidFill>
                  <a:srgbClr val="FF0000"/>
                </a:solidFill>
              </a:rPr>
              <a:t>ナイアガラエフェクトシステム</a:t>
            </a:r>
            <a:r>
              <a:rPr kumimoji="1" lang="ja-JP" altLang="en-US" sz="2400" dirty="0"/>
              <a:t>という、</a:t>
            </a:r>
            <a:endParaRPr kumimoji="1" lang="en-US" altLang="ja-JP" sz="2400" dirty="0"/>
          </a:p>
          <a:p>
            <a:r>
              <a:rPr lang="ja-JP" altLang="en-US" sz="2400" dirty="0"/>
              <a:t>エフェクト制作をサポートするシステムがあります。</a:t>
            </a:r>
            <a:endParaRPr kumimoji="1" lang="en-US" altLang="ja-JP" sz="2400" dirty="0"/>
          </a:p>
        </p:txBody>
      </p:sp>
      <p:pic>
        <p:nvPicPr>
          <p:cNvPr id="5" name="図 4">
            <a:extLst>
              <a:ext uri="{FF2B5EF4-FFF2-40B4-BE49-F238E27FC236}">
                <a16:creationId xmlns:a16="http://schemas.microsoft.com/office/drawing/2014/main" id="{40F1B870-A0CA-4398-8F0F-28A68DA5A28B}"/>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830997"/>
          </a:xfrm>
          <a:prstGeom prst="rect">
            <a:avLst/>
          </a:prstGeom>
          <a:noFill/>
        </p:spPr>
        <p:txBody>
          <a:bodyPr wrap="none" rtlCol="0">
            <a:spAutoFit/>
          </a:bodyPr>
          <a:lstStyle/>
          <a:p>
            <a:r>
              <a:rPr kumimoji="1" lang="ja-JP" altLang="en-US" sz="2400" dirty="0"/>
              <a:t>以前の弾丸発射のプロジェクトを開きましょう。</a:t>
            </a:r>
            <a:endParaRPr kumimoji="1" lang="en-US" altLang="ja-JP" sz="2400" dirty="0"/>
          </a:p>
          <a:p>
            <a:r>
              <a:rPr lang="ja-JP" altLang="en-US" sz="2400" dirty="0"/>
              <a:t>弾丸のヒットエフェクトを作成します。</a:t>
            </a:r>
            <a:endParaRPr kumimoji="1" lang="en-US" altLang="ja-JP" sz="2400" dirty="0"/>
          </a:p>
        </p:txBody>
      </p:sp>
      <p:pic>
        <p:nvPicPr>
          <p:cNvPr id="3" name="図 2">
            <a:extLst>
              <a:ext uri="{FF2B5EF4-FFF2-40B4-BE49-F238E27FC236}">
                <a16:creationId xmlns:a16="http://schemas.microsoft.com/office/drawing/2014/main" id="{53948A2C-A4B9-4A20-9A9A-9BC4819ED2AF}"/>
              </a:ext>
            </a:extLst>
          </p:cNvPr>
          <p:cNvPicPr>
            <a:picLocks noChangeAspect="1"/>
          </p:cNvPicPr>
          <p:nvPr/>
        </p:nvPicPr>
        <p:blipFill>
          <a:blip r:embed="rId2"/>
          <a:stretch>
            <a:fillRect/>
          </a:stretch>
        </p:blipFill>
        <p:spPr>
          <a:xfrm>
            <a:off x="567542" y="2187126"/>
            <a:ext cx="6419123" cy="4178920"/>
          </a:xfrm>
          <a:prstGeom prst="rect">
            <a:avLst/>
          </a:prstGeom>
        </p:spPr>
      </p:pic>
    </p:spTree>
    <p:extLst>
      <p:ext uri="{BB962C8B-B14F-4D97-AF65-F5344CB8AC3E}">
        <p14:creationId xmlns:p14="http://schemas.microsoft.com/office/powerpoint/2010/main" val="4213198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kumimoji="1" lang="ja-JP" altLang="en-US" sz="2400" dirty="0"/>
              <a:t>ナイアガラもコンテンツブラウザを右クリックすると追加できます。</a:t>
            </a:r>
            <a:endParaRPr kumimoji="1" lang="en-US" altLang="ja-JP" sz="2400" dirty="0"/>
          </a:p>
        </p:txBody>
      </p:sp>
      <p:pic>
        <p:nvPicPr>
          <p:cNvPr id="5" name="図 4">
            <a:extLst>
              <a:ext uri="{FF2B5EF4-FFF2-40B4-BE49-F238E27FC236}">
                <a16:creationId xmlns:a16="http://schemas.microsoft.com/office/drawing/2014/main" id="{3FA6D0CF-8426-4303-9866-22A361E238E8}"/>
              </a:ext>
            </a:extLst>
          </p:cNvPr>
          <p:cNvPicPr>
            <a:picLocks noChangeAspect="1"/>
          </p:cNvPicPr>
          <p:nvPr/>
        </p:nvPicPr>
        <p:blipFill>
          <a:blip r:embed="rId2"/>
          <a:stretch>
            <a:fillRect/>
          </a:stretch>
        </p:blipFill>
        <p:spPr>
          <a:xfrm>
            <a:off x="567542" y="1817794"/>
            <a:ext cx="3094573" cy="4548252"/>
          </a:xfrm>
          <a:prstGeom prst="rect">
            <a:avLst/>
          </a:prstGeom>
        </p:spPr>
      </p:pic>
    </p:spTree>
    <p:extLst>
      <p:ext uri="{BB962C8B-B14F-4D97-AF65-F5344CB8AC3E}">
        <p14:creationId xmlns:p14="http://schemas.microsoft.com/office/powerpoint/2010/main" val="32329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25294" cy="830997"/>
          </a:xfrm>
          <a:prstGeom prst="rect">
            <a:avLst/>
          </a:prstGeom>
          <a:noFill/>
        </p:spPr>
        <p:txBody>
          <a:bodyPr wrap="none" rtlCol="0">
            <a:spAutoFit/>
          </a:bodyPr>
          <a:lstStyle/>
          <a:p>
            <a:r>
              <a:rPr kumimoji="1" lang="ja-JP" altLang="en-US" sz="2400" dirty="0"/>
              <a:t>テンプレートがいくつもありますが、</a:t>
            </a:r>
            <a:endParaRPr kumimoji="1" lang="en-US" altLang="ja-JP" sz="2400" dirty="0"/>
          </a:p>
          <a:p>
            <a:r>
              <a:rPr lang="ja-JP" altLang="en-US" sz="2400" dirty="0"/>
              <a:t>今回は「</a:t>
            </a:r>
            <a:r>
              <a:rPr lang="en-US" altLang="ja-JP" sz="2400" b="1" dirty="0" err="1">
                <a:solidFill>
                  <a:srgbClr val="FF0000"/>
                </a:solidFill>
              </a:rPr>
              <a:t>SimpleSpriteBurst</a:t>
            </a:r>
            <a:r>
              <a:rPr lang="ja-JP" altLang="en-US" sz="2400" dirty="0"/>
              <a:t>」から制作します。</a:t>
            </a:r>
            <a:endParaRPr kumimoji="1" lang="en-US" altLang="ja-JP" sz="2400" dirty="0"/>
          </a:p>
        </p:txBody>
      </p:sp>
      <p:pic>
        <p:nvPicPr>
          <p:cNvPr id="3" name="図 2">
            <a:extLst>
              <a:ext uri="{FF2B5EF4-FFF2-40B4-BE49-F238E27FC236}">
                <a16:creationId xmlns:a16="http://schemas.microsoft.com/office/drawing/2014/main" id="{955184F1-19AC-4C94-822F-49B75BCD876D}"/>
              </a:ext>
            </a:extLst>
          </p:cNvPr>
          <p:cNvPicPr>
            <a:picLocks noChangeAspect="1"/>
          </p:cNvPicPr>
          <p:nvPr/>
        </p:nvPicPr>
        <p:blipFill>
          <a:blip r:embed="rId2"/>
          <a:stretch>
            <a:fillRect/>
          </a:stretch>
        </p:blipFill>
        <p:spPr>
          <a:xfrm>
            <a:off x="567542" y="2187126"/>
            <a:ext cx="7213823" cy="4055841"/>
          </a:xfrm>
          <a:prstGeom prst="rect">
            <a:avLst/>
          </a:prstGeom>
        </p:spPr>
      </p:pic>
    </p:spTree>
    <p:extLst>
      <p:ext uri="{BB962C8B-B14F-4D97-AF65-F5344CB8AC3E}">
        <p14:creationId xmlns:p14="http://schemas.microsoft.com/office/powerpoint/2010/main" val="225914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3416320"/>
          </a:xfrm>
          <a:prstGeom prst="rect">
            <a:avLst/>
          </a:prstGeom>
          <a:noFill/>
        </p:spPr>
        <p:txBody>
          <a:bodyPr wrap="none" rtlCol="0">
            <a:spAutoFit/>
          </a:bodyPr>
          <a:lstStyle/>
          <a:p>
            <a:r>
              <a:rPr kumimoji="1" lang="ja-JP" altLang="en-US" sz="2400" dirty="0"/>
              <a:t>ナイアガラは主に以下の</a:t>
            </a:r>
            <a:r>
              <a:rPr lang="ja-JP" altLang="en-US" sz="2400" dirty="0"/>
              <a:t>２つの要素から構成されています。</a:t>
            </a:r>
            <a:endParaRPr lang="en-US" altLang="ja-JP" sz="2400" dirty="0"/>
          </a:p>
          <a:p>
            <a:endParaRPr kumimoji="1" lang="en-US" altLang="ja-JP" sz="2400" dirty="0"/>
          </a:p>
          <a:p>
            <a:r>
              <a:rPr lang="ja-JP" altLang="en-US" sz="2400" b="1" dirty="0">
                <a:solidFill>
                  <a:srgbClr val="FF0000"/>
                </a:solidFill>
              </a:rPr>
              <a:t>■エミッター</a:t>
            </a:r>
            <a:endParaRPr lang="en-US" altLang="ja-JP" sz="2400" b="1" dirty="0">
              <a:solidFill>
                <a:srgbClr val="FF0000"/>
              </a:solidFill>
            </a:endParaRPr>
          </a:p>
          <a:p>
            <a:r>
              <a:rPr kumimoji="1" lang="ja-JP" altLang="en-US" sz="2400" dirty="0"/>
              <a:t>エフェクトを発生させるもの。</a:t>
            </a:r>
            <a:endParaRPr kumimoji="1" lang="en-US" altLang="ja-JP" sz="2400" dirty="0"/>
          </a:p>
          <a:p>
            <a:endParaRPr lang="en-US" altLang="ja-JP" sz="2400" dirty="0"/>
          </a:p>
          <a:p>
            <a:r>
              <a:rPr kumimoji="1" lang="ja-JP" altLang="en-US" sz="2400" b="1" dirty="0">
                <a:solidFill>
                  <a:srgbClr val="FF0000"/>
                </a:solidFill>
              </a:rPr>
              <a:t>■パーティクル</a:t>
            </a:r>
            <a:endParaRPr kumimoji="1" lang="en-US" altLang="ja-JP" sz="2400" b="1" dirty="0">
              <a:solidFill>
                <a:srgbClr val="FF0000"/>
              </a:solidFill>
            </a:endParaRPr>
          </a:p>
          <a:p>
            <a:r>
              <a:rPr lang="ja-JP" altLang="en-US" sz="2400" dirty="0"/>
              <a:t>エフェクトで表示される１つ１つの粒子</a:t>
            </a:r>
            <a:endParaRPr lang="en-US" altLang="ja-JP" sz="2400" dirty="0"/>
          </a:p>
          <a:p>
            <a:endParaRPr kumimoji="1" lang="en-US" altLang="ja-JP" sz="2400" dirty="0"/>
          </a:p>
          <a:p>
            <a:r>
              <a:rPr lang="ja-JP" altLang="en-US" sz="2400" dirty="0"/>
              <a:t>これらを設定してエフェクトを作っていきます。</a:t>
            </a:r>
            <a:endParaRPr kumimoji="1" lang="en-US" altLang="ja-JP" sz="2400" dirty="0"/>
          </a:p>
        </p:txBody>
      </p:sp>
    </p:spTree>
    <p:extLst>
      <p:ext uri="{BB962C8B-B14F-4D97-AF65-F5344CB8AC3E}">
        <p14:creationId xmlns:p14="http://schemas.microsoft.com/office/powerpoint/2010/main" val="3715356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3416320"/>
          </a:xfrm>
          <a:prstGeom prst="rect">
            <a:avLst/>
          </a:prstGeom>
          <a:noFill/>
        </p:spPr>
        <p:txBody>
          <a:bodyPr wrap="none" rtlCol="0">
            <a:spAutoFit/>
          </a:bodyPr>
          <a:lstStyle/>
          <a:p>
            <a:r>
              <a:rPr kumimoji="1" lang="ja-JP" altLang="en-US" sz="2400" dirty="0"/>
              <a:t>ナイアガラは主に以下の</a:t>
            </a:r>
            <a:r>
              <a:rPr lang="ja-JP" altLang="en-US" sz="2400" dirty="0"/>
              <a:t>２つの要素から構成されています。</a:t>
            </a:r>
            <a:endParaRPr lang="en-US" altLang="ja-JP" sz="2400" dirty="0"/>
          </a:p>
          <a:p>
            <a:endParaRPr kumimoji="1" lang="en-US" altLang="ja-JP" sz="2400" dirty="0"/>
          </a:p>
          <a:p>
            <a:r>
              <a:rPr lang="ja-JP" altLang="en-US" sz="2400" b="1" dirty="0">
                <a:solidFill>
                  <a:srgbClr val="FF0000"/>
                </a:solidFill>
              </a:rPr>
              <a:t>■エミッター</a:t>
            </a:r>
            <a:endParaRPr lang="en-US" altLang="ja-JP" sz="2400" b="1" dirty="0">
              <a:solidFill>
                <a:srgbClr val="FF0000"/>
              </a:solidFill>
            </a:endParaRPr>
          </a:p>
          <a:p>
            <a:r>
              <a:rPr kumimoji="1" lang="ja-JP" altLang="en-US" sz="2400" dirty="0"/>
              <a:t>エフェクトを発生させるもの。</a:t>
            </a:r>
            <a:endParaRPr kumimoji="1" lang="en-US" altLang="ja-JP" sz="2400" dirty="0"/>
          </a:p>
          <a:p>
            <a:endParaRPr lang="en-US" altLang="ja-JP" sz="2400" dirty="0"/>
          </a:p>
          <a:p>
            <a:r>
              <a:rPr kumimoji="1" lang="ja-JP" altLang="en-US" sz="2400" b="1" dirty="0">
                <a:solidFill>
                  <a:srgbClr val="FF0000"/>
                </a:solidFill>
              </a:rPr>
              <a:t>■パーティクル</a:t>
            </a:r>
            <a:endParaRPr kumimoji="1" lang="en-US" altLang="ja-JP" sz="2400" b="1" dirty="0">
              <a:solidFill>
                <a:srgbClr val="FF0000"/>
              </a:solidFill>
            </a:endParaRPr>
          </a:p>
          <a:p>
            <a:r>
              <a:rPr lang="ja-JP" altLang="en-US" sz="2400" dirty="0"/>
              <a:t>エフェクトで表示される１つ１つの粒子</a:t>
            </a:r>
            <a:endParaRPr lang="en-US" altLang="ja-JP" sz="2400" dirty="0"/>
          </a:p>
          <a:p>
            <a:endParaRPr kumimoji="1" lang="en-US" altLang="ja-JP" sz="2400" dirty="0"/>
          </a:p>
          <a:p>
            <a:r>
              <a:rPr lang="ja-JP" altLang="en-US" sz="2400" dirty="0"/>
              <a:t>これらを設定してエフェクトを作っていきます。</a:t>
            </a:r>
            <a:endParaRPr kumimoji="1" lang="en-US" altLang="ja-JP" sz="2400" dirty="0"/>
          </a:p>
        </p:txBody>
      </p:sp>
    </p:spTree>
    <p:extLst>
      <p:ext uri="{BB962C8B-B14F-4D97-AF65-F5344CB8AC3E}">
        <p14:creationId xmlns:p14="http://schemas.microsoft.com/office/powerpoint/2010/main" val="284364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416908" cy="830997"/>
          </a:xfrm>
          <a:prstGeom prst="rect">
            <a:avLst/>
          </a:prstGeom>
          <a:noFill/>
        </p:spPr>
        <p:txBody>
          <a:bodyPr wrap="none" rtlCol="0">
            <a:spAutoFit/>
          </a:bodyPr>
          <a:lstStyle/>
          <a:p>
            <a:r>
              <a:rPr kumimoji="1" lang="ja-JP" altLang="en-US" sz="2400" dirty="0"/>
              <a:t>まずは発生させる粒子の数を設定します。</a:t>
            </a:r>
            <a:endParaRPr kumimoji="1" lang="en-US" altLang="ja-JP" sz="2400" dirty="0"/>
          </a:p>
          <a:p>
            <a:r>
              <a:rPr lang="ja-JP" altLang="en-US" sz="2400" dirty="0"/>
              <a:t>「</a:t>
            </a:r>
            <a:r>
              <a:rPr lang="ja-JP" altLang="en-US" sz="2400" b="1" dirty="0">
                <a:solidFill>
                  <a:srgbClr val="FF0000"/>
                </a:solidFill>
              </a:rPr>
              <a:t>エミッタの更新</a:t>
            </a:r>
            <a:r>
              <a:rPr lang="ja-JP" altLang="en-US" sz="2400" dirty="0"/>
              <a:t>」にある「</a:t>
            </a:r>
            <a:r>
              <a:rPr lang="en-US" altLang="ja-JP" sz="2400" b="1" dirty="0">
                <a:solidFill>
                  <a:srgbClr val="FF0000"/>
                </a:solidFill>
              </a:rPr>
              <a:t>Spawn Burst Instantaneous</a:t>
            </a:r>
            <a:r>
              <a:rPr lang="ja-JP" altLang="en-US" sz="2400" dirty="0"/>
              <a:t>」を選択しましょう。</a:t>
            </a:r>
            <a:endParaRPr kumimoji="1" lang="en-US" altLang="ja-JP" sz="2400" dirty="0"/>
          </a:p>
        </p:txBody>
      </p:sp>
      <p:pic>
        <p:nvPicPr>
          <p:cNvPr id="3" name="図 2">
            <a:extLst>
              <a:ext uri="{FF2B5EF4-FFF2-40B4-BE49-F238E27FC236}">
                <a16:creationId xmlns:a16="http://schemas.microsoft.com/office/drawing/2014/main" id="{36A20B82-9EEA-42E5-9D2F-ECC7E7B5BDAD}"/>
              </a:ext>
            </a:extLst>
          </p:cNvPr>
          <p:cNvPicPr>
            <a:picLocks noChangeAspect="1"/>
          </p:cNvPicPr>
          <p:nvPr/>
        </p:nvPicPr>
        <p:blipFill>
          <a:blip r:embed="rId2"/>
          <a:stretch>
            <a:fillRect/>
          </a:stretch>
        </p:blipFill>
        <p:spPr>
          <a:xfrm>
            <a:off x="567542" y="2187126"/>
            <a:ext cx="2489423" cy="4496314"/>
          </a:xfrm>
          <a:prstGeom prst="rect">
            <a:avLst/>
          </a:prstGeom>
        </p:spPr>
      </p:pic>
    </p:spTree>
    <p:extLst>
      <p:ext uri="{BB962C8B-B14F-4D97-AF65-F5344CB8AC3E}">
        <p14:creationId xmlns:p14="http://schemas.microsoft.com/office/powerpoint/2010/main" val="258617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36413" cy="461665"/>
          </a:xfrm>
          <a:prstGeom prst="rect">
            <a:avLst/>
          </a:prstGeom>
          <a:noFill/>
        </p:spPr>
        <p:txBody>
          <a:bodyPr wrap="none" rtlCol="0">
            <a:spAutoFit/>
          </a:bodyPr>
          <a:lstStyle/>
          <a:p>
            <a:r>
              <a:rPr kumimoji="1" lang="ja-JP" altLang="en-US" sz="2400" dirty="0"/>
              <a:t>詳細の「</a:t>
            </a:r>
            <a:r>
              <a:rPr kumimoji="1" lang="en-US" altLang="ja-JP" sz="2400" b="1" dirty="0">
                <a:solidFill>
                  <a:srgbClr val="FF0000"/>
                </a:solidFill>
              </a:rPr>
              <a:t>Spawn Count</a:t>
            </a:r>
            <a:r>
              <a:rPr kumimoji="1" lang="ja-JP" altLang="en-US" sz="2400" dirty="0"/>
              <a:t>」で粒子の数を設定できます。</a:t>
            </a:r>
            <a:endParaRPr kumimoji="1" lang="en-US" altLang="ja-JP" sz="2400" dirty="0"/>
          </a:p>
        </p:txBody>
      </p:sp>
      <p:pic>
        <p:nvPicPr>
          <p:cNvPr id="5" name="図 4">
            <a:extLst>
              <a:ext uri="{FF2B5EF4-FFF2-40B4-BE49-F238E27FC236}">
                <a16:creationId xmlns:a16="http://schemas.microsoft.com/office/drawing/2014/main" id="{5A03A9FD-4627-4D21-BA50-80D0CA1F6F0C}"/>
              </a:ext>
            </a:extLst>
          </p:cNvPr>
          <p:cNvPicPr>
            <a:picLocks noChangeAspect="1"/>
          </p:cNvPicPr>
          <p:nvPr/>
        </p:nvPicPr>
        <p:blipFill>
          <a:blip r:embed="rId2"/>
          <a:stretch>
            <a:fillRect/>
          </a:stretch>
        </p:blipFill>
        <p:spPr>
          <a:xfrm>
            <a:off x="567542" y="1817794"/>
            <a:ext cx="6014738" cy="4000300"/>
          </a:xfrm>
          <a:prstGeom prst="rect">
            <a:avLst/>
          </a:prstGeom>
        </p:spPr>
      </p:pic>
      <p:sp>
        <p:nvSpPr>
          <p:cNvPr id="7" name="テキスト ボックス 6">
            <a:extLst>
              <a:ext uri="{FF2B5EF4-FFF2-40B4-BE49-F238E27FC236}">
                <a16:creationId xmlns:a16="http://schemas.microsoft.com/office/drawing/2014/main" id="{31CCC1CE-9494-483E-AF30-7A3E3685F824}"/>
              </a:ext>
            </a:extLst>
          </p:cNvPr>
          <p:cNvSpPr txBox="1"/>
          <p:nvPr/>
        </p:nvSpPr>
        <p:spPr>
          <a:xfrm>
            <a:off x="567541" y="5957794"/>
            <a:ext cx="8186857" cy="461665"/>
          </a:xfrm>
          <a:prstGeom prst="rect">
            <a:avLst/>
          </a:prstGeom>
          <a:noFill/>
        </p:spPr>
        <p:txBody>
          <a:bodyPr wrap="none" rtlCol="0">
            <a:spAutoFit/>
          </a:bodyPr>
          <a:lstStyle/>
          <a:p>
            <a:r>
              <a:rPr kumimoji="1" lang="en-US" altLang="ja-JP" sz="2400" dirty="0"/>
              <a:t>※</a:t>
            </a:r>
            <a:r>
              <a:rPr lang="ja-JP" altLang="en-US" sz="2400" dirty="0"/>
              <a:t>全て同じ位置に出てるので見た目は変わりません。。。</a:t>
            </a:r>
            <a:endParaRPr kumimoji="1" lang="en-US" altLang="ja-JP" sz="2400" dirty="0"/>
          </a:p>
        </p:txBody>
      </p:sp>
    </p:spTree>
    <p:extLst>
      <p:ext uri="{BB962C8B-B14F-4D97-AF65-F5344CB8AC3E}">
        <p14:creationId xmlns:p14="http://schemas.microsoft.com/office/powerpoint/2010/main" val="3141197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34267" cy="830997"/>
          </a:xfrm>
          <a:prstGeom prst="rect">
            <a:avLst/>
          </a:prstGeom>
          <a:noFill/>
        </p:spPr>
        <p:txBody>
          <a:bodyPr wrap="none" rtlCol="0">
            <a:spAutoFit/>
          </a:bodyPr>
          <a:lstStyle/>
          <a:p>
            <a:r>
              <a:rPr kumimoji="1" lang="ja-JP" altLang="en-US" sz="2400" dirty="0"/>
              <a:t>エフェクトの形状を設定します。</a:t>
            </a:r>
            <a:endParaRPr kumimoji="1" lang="en-US" altLang="ja-JP" sz="2400" dirty="0"/>
          </a:p>
          <a:p>
            <a:r>
              <a:rPr lang="ja-JP" altLang="en-US" sz="2400" dirty="0"/>
              <a:t>「</a:t>
            </a:r>
            <a:r>
              <a:rPr lang="ja-JP" altLang="en-US" sz="2400" b="1" dirty="0">
                <a:solidFill>
                  <a:srgbClr val="FF0000"/>
                </a:solidFill>
              </a:rPr>
              <a:t>パーティクルのスポーン</a:t>
            </a:r>
            <a:r>
              <a:rPr lang="ja-JP" altLang="en-US" sz="2400" dirty="0"/>
              <a:t>」から「</a:t>
            </a:r>
            <a:r>
              <a:rPr lang="en-US" altLang="ja-JP" sz="2400" b="1" dirty="0">
                <a:solidFill>
                  <a:srgbClr val="FF0000"/>
                </a:solidFill>
              </a:rPr>
              <a:t>Shape </a:t>
            </a:r>
            <a:r>
              <a:rPr lang="en-US" altLang="ja-JP" sz="2400" b="1" dirty="0" err="1">
                <a:solidFill>
                  <a:srgbClr val="FF0000"/>
                </a:solidFill>
              </a:rPr>
              <a:t>Locaton</a:t>
            </a:r>
            <a:r>
              <a:rPr lang="ja-JP" altLang="en-US" sz="2400" dirty="0"/>
              <a:t>」を追加しましょう。</a:t>
            </a:r>
            <a:endParaRPr kumimoji="1" lang="en-US" altLang="ja-JP" sz="2400" dirty="0"/>
          </a:p>
        </p:txBody>
      </p:sp>
      <p:pic>
        <p:nvPicPr>
          <p:cNvPr id="3" name="図 2">
            <a:extLst>
              <a:ext uri="{FF2B5EF4-FFF2-40B4-BE49-F238E27FC236}">
                <a16:creationId xmlns:a16="http://schemas.microsoft.com/office/drawing/2014/main" id="{0C241560-587B-429B-BF46-A44F189DAB14}"/>
              </a:ext>
            </a:extLst>
          </p:cNvPr>
          <p:cNvPicPr>
            <a:picLocks noChangeAspect="1"/>
          </p:cNvPicPr>
          <p:nvPr/>
        </p:nvPicPr>
        <p:blipFill>
          <a:blip r:embed="rId2"/>
          <a:stretch>
            <a:fillRect/>
          </a:stretch>
        </p:blipFill>
        <p:spPr>
          <a:xfrm>
            <a:off x="567541" y="2187125"/>
            <a:ext cx="7491739" cy="3454445"/>
          </a:xfrm>
          <a:prstGeom prst="rect">
            <a:avLst/>
          </a:prstGeom>
        </p:spPr>
      </p:pic>
    </p:spTree>
    <p:extLst>
      <p:ext uri="{BB962C8B-B14F-4D97-AF65-F5344CB8AC3E}">
        <p14:creationId xmlns:p14="http://schemas.microsoft.com/office/powerpoint/2010/main" val="1606195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04865"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Shape Primitive</a:t>
            </a:r>
            <a:r>
              <a:rPr kumimoji="1" lang="ja-JP" altLang="en-US" sz="2400" dirty="0"/>
              <a:t>」から発生位置の形状を選択できます。</a:t>
            </a:r>
            <a:endParaRPr kumimoji="1" lang="en-US" altLang="ja-JP" sz="2400" dirty="0"/>
          </a:p>
          <a:p>
            <a:r>
              <a:rPr lang="ja-JP" altLang="en-US" sz="2400" dirty="0"/>
              <a:t>色々切り替えて確認してみましょう。</a:t>
            </a:r>
            <a:endParaRPr kumimoji="1" lang="en-US" altLang="ja-JP" sz="2400" dirty="0"/>
          </a:p>
        </p:txBody>
      </p:sp>
      <p:pic>
        <p:nvPicPr>
          <p:cNvPr id="5" name="図 4">
            <a:extLst>
              <a:ext uri="{FF2B5EF4-FFF2-40B4-BE49-F238E27FC236}">
                <a16:creationId xmlns:a16="http://schemas.microsoft.com/office/drawing/2014/main" id="{9FCA370F-832C-467A-BB37-06698A07C38B}"/>
              </a:ext>
            </a:extLst>
          </p:cNvPr>
          <p:cNvPicPr>
            <a:picLocks noChangeAspect="1"/>
          </p:cNvPicPr>
          <p:nvPr/>
        </p:nvPicPr>
        <p:blipFill>
          <a:blip r:embed="rId2"/>
          <a:stretch>
            <a:fillRect/>
          </a:stretch>
        </p:blipFill>
        <p:spPr>
          <a:xfrm>
            <a:off x="567542" y="2187126"/>
            <a:ext cx="6056196" cy="3792333"/>
          </a:xfrm>
          <a:prstGeom prst="rect">
            <a:avLst/>
          </a:prstGeom>
        </p:spPr>
      </p:pic>
      <p:sp>
        <p:nvSpPr>
          <p:cNvPr id="7" name="矢印: 右 6">
            <a:extLst>
              <a:ext uri="{FF2B5EF4-FFF2-40B4-BE49-F238E27FC236}">
                <a16:creationId xmlns:a16="http://schemas.microsoft.com/office/drawing/2014/main" id="{276F7436-8293-46BC-91CA-A56351A0E615}"/>
              </a:ext>
            </a:extLst>
          </p:cNvPr>
          <p:cNvSpPr/>
          <p:nvPr/>
        </p:nvSpPr>
        <p:spPr>
          <a:xfrm rot="13377481">
            <a:off x="3032381" y="5316071"/>
            <a:ext cx="519953" cy="33169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8460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59403"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Add Velocity</a:t>
            </a:r>
            <a:r>
              <a:rPr kumimoji="1" lang="ja-JP" altLang="en-US" sz="2400" dirty="0"/>
              <a:t>」を追加しましょう。</a:t>
            </a:r>
            <a:endParaRPr kumimoji="1" lang="en-US" altLang="ja-JP" sz="2400" dirty="0"/>
          </a:p>
          <a:p>
            <a:r>
              <a:rPr lang="ja-JP" altLang="en-US" sz="2400" dirty="0"/>
              <a:t>これで</a:t>
            </a:r>
            <a:r>
              <a:rPr lang="ja-JP" altLang="en-US" sz="2400" b="1" dirty="0">
                <a:solidFill>
                  <a:srgbClr val="FF0000"/>
                </a:solidFill>
              </a:rPr>
              <a:t>粒子に</a:t>
            </a:r>
            <a:r>
              <a:rPr lang="en-US" altLang="ja-JP" sz="2400" b="1" dirty="0">
                <a:solidFill>
                  <a:srgbClr val="FF0000"/>
                </a:solidFill>
              </a:rPr>
              <a:t>Velocity</a:t>
            </a:r>
            <a:r>
              <a:rPr lang="ja-JP" altLang="en-US" sz="2400" b="1" dirty="0">
                <a:solidFill>
                  <a:srgbClr val="FF0000"/>
                </a:solidFill>
              </a:rPr>
              <a:t>（移動ベクトル）を与えられます。</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017AAF50-21CD-47EF-A1C0-93C88EEAB151}"/>
              </a:ext>
            </a:extLst>
          </p:cNvPr>
          <p:cNvPicPr>
            <a:picLocks noChangeAspect="1"/>
          </p:cNvPicPr>
          <p:nvPr/>
        </p:nvPicPr>
        <p:blipFill>
          <a:blip r:embed="rId2"/>
          <a:stretch>
            <a:fillRect/>
          </a:stretch>
        </p:blipFill>
        <p:spPr>
          <a:xfrm>
            <a:off x="567542" y="2187126"/>
            <a:ext cx="8394738" cy="2985509"/>
          </a:xfrm>
          <a:prstGeom prst="rect">
            <a:avLst/>
          </a:prstGeom>
        </p:spPr>
      </p:pic>
    </p:spTree>
    <p:extLst>
      <p:ext uri="{BB962C8B-B14F-4D97-AF65-F5344CB8AC3E}">
        <p14:creationId xmlns:p14="http://schemas.microsoft.com/office/powerpoint/2010/main" val="3925962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784777"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Velocity Mode</a:t>
            </a:r>
            <a:r>
              <a:rPr kumimoji="1" lang="ja-JP" altLang="en-US" sz="2400" dirty="0"/>
              <a:t>」から移動ベクトルの種類が設定できます。</a:t>
            </a:r>
            <a:endParaRPr kumimoji="1" lang="en-US" altLang="ja-JP" sz="2400" dirty="0"/>
          </a:p>
          <a:p>
            <a:r>
              <a:rPr kumimoji="1" lang="ja-JP" altLang="en-US" sz="2400" dirty="0"/>
              <a:t>切り替えて確認してみましょう。</a:t>
            </a:r>
            <a:endParaRPr kumimoji="1" lang="en-US" altLang="ja-JP" sz="2400" dirty="0"/>
          </a:p>
        </p:txBody>
      </p:sp>
      <p:pic>
        <p:nvPicPr>
          <p:cNvPr id="8" name="図 7">
            <a:extLst>
              <a:ext uri="{FF2B5EF4-FFF2-40B4-BE49-F238E27FC236}">
                <a16:creationId xmlns:a16="http://schemas.microsoft.com/office/drawing/2014/main" id="{636C01EC-E6FE-48D4-A64D-A4DB705ED414}"/>
              </a:ext>
            </a:extLst>
          </p:cNvPr>
          <p:cNvPicPr>
            <a:picLocks noChangeAspect="1"/>
          </p:cNvPicPr>
          <p:nvPr/>
        </p:nvPicPr>
        <p:blipFill>
          <a:blip r:embed="rId2"/>
          <a:stretch>
            <a:fillRect/>
          </a:stretch>
        </p:blipFill>
        <p:spPr>
          <a:xfrm>
            <a:off x="567542" y="2187126"/>
            <a:ext cx="6246061" cy="3335133"/>
          </a:xfrm>
          <a:prstGeom prst="rect">
            <a:avLst/>
          </a:prstGeom>
        </p:spPr>
      </p:pic>
    </p:spTree>
    <p:extLst>
      <p:ext uri="{BB962C8B-B14F-4D97-AF65-F5344CB8AC3E}">
        <p14:creationId xmlns:p14="http://schemas.microsoft.com/office/powerpoint/2010/main" val="1417280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012130"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Color</a:t>
            </a:r>
            <a:r>
              <a:rPr kumimoji="1" lang="ja-JP" altLang="en-US" sz="2400" dirty="0"/>
              <a:t>」を追加すると、</a:t>
            </a:r>
            <a:endParaRPr kumimoji="1" lang="en-US" altLang="ja-JP" sz="2400" dirty="0"/>
          </a:p>
          <a:p>
            <a:r>
              <a:rPr lang="ja-JP" altLang="en-US" sz="2400" dirty="0"/>
              <a:t>粒子の色を設定できます。</a:t>
            </a:r>
            <a:endParaRPr kumimoji="1" lang="en-US" altLang="ja-JP" sz="2400" dirty="0"/>
          </a:p>
        </p:txBody>
      </p:sp>
      <p:pic>
        <p:nvPicPr>
          <p:cNvPr id="3" name="図 2">
            <a:extLst>
              <a:ext uri="{FF2B5EF4-FFF2-40B4-BE49-F238E27FC236}">
                <a16:creationId xmlns:a16="http://schemas.microsoft.com/office/drawing/2014/main" id="{A240788D-6FAE-4D28-91E4-773490BF2570}"/>
              </a:ext>
            </a:extLst>
          </p:cNvPr>
          <p:cNvPicPr>
            <a:picLocks noChangeAspect="1"/>
          </p:cNvPicPr>
          <p:nvPr/>
        </p:nvPicPr>
        <p:blipFill>
          <a:blip r:embed="rId2"/>
          <a:stretch>
            <a:fillRect/>
          </a:stretch>
        </p:blipFill>
        <p:spPr>
          <a:xfrm>
            <a:off x="567542" y="2187126"/>
            <a:ext cx="6229170" cy="2528310"/>
          </a:xfrm>
          <a:prstGeom prst="rect">
            <a:avLst/>
          </a:prstGeom>
        </p:spPr>
      </p:pic>
      <p:pic>
        <p:nvPicPr>
          <p:cNvPr id="7" name="図 6">
            <a:extLst>
              <a:ext uri="{FF2B5EF4-FFF2-40B4-BE49-F238E27FC236}">
                <a16:creationId xmlns:a16="http://schemas.microsoft.com/office/drawing/2014/main" id="{262D3972-46CE-4918-964D-9A57C3E5918C}"/>
              </a:ext>
            </a:extLst>
          </p:cNvPr>
          <p:cNvPicPr>
            <a:picLocks noChangeAspect="1"/>
          </p:cNvPicPr>
          <p:nvPr/>
        </p:nvPicPr>
        <p:blipFill>
          <a:blip r:embed="rId3"/>
          <a:stretch>
            <a:fillRect/>
          </a:stretch>
        </p:blipFill>
        <p:spPr>
          <a:xfrm>
            <a:off x="567542" y="4855136"/>
            <a:ext cx="4010585" cy="1800476"/>
          </a:xfrm>
          <a:prstGeom prst="rect">
            <a:avLst/>
          </a:prstGeom>
        </p:spPr>
      </p:pic>
      <p:sp>
        <p:nvSpPr>
          <p:cNvPr id="9" name="テキスト ボックス 8">
            <a:extLst>
              <a:ext uri="{FF2B5EF4-FFF2-40B4-BE49-F238E27FC236}">
                <a16:creationId xmlns:a16="http://schemas.microsoft.com/office/drawing/2014/main" id="{BCEA9D3A-E650-453D-913E-A94BB641FBAC}"/>
              </a:ext>
            </a:extLst>
          </p:cNvPr>
          <p:cNvSpPr txBox="1"/>
          <p:nvPr/>
        </p:nvSpPr>
        <p:spPr>
          <a:xfrm>
            <a:off x="4976484" y="5455283"/>
            <a:ext cx="6647974" cy="1200329"/>
          </a:xfrm>
          <a:prstGeom prst="rect">
            <a:avLst/>
          </a:prstGeom>
          <a:noFill/>
        </p:spPr>
        <p:txBody>
          <a:bodyPr wrap="none" rtlCol="0">
            <a:spAutoFit/>
          </a:bodyPr>
          <a:lstStyle/>
          <a:p>
            <a:r>
              <a:rPr kumimoji="1" lang="en-US" altLang="ja-JP" sz="2400" b="1" dirty="0">
                <a:solidFill>
                  <a:srgbClr val="00B050"/>
                </a:solidFill>
              </a:rPr>
              <a:t>MEMO</a:t>
            </a:r>
          </a:p>
          <a:p>
            <a:r>
              <a:rPr lang="ja-JP" altLang="en-US" sz="2400" dirty="0"/>
              <a:t>これらのように「パーティクルのスポーン」は</a:t>
            </a:r>
            <a:endParaRPr lang="en-US" altLang="ja-JP" sz="2400" dirty="0"/>
          </a:p>
          <a:p>
            <a:r>
              <a:rPr kumimoji="1" lang="ja-JP" altLang="en-US" sz="2400" dirty="0"/>
              <a:t>粒子発生時の設定を行います。</a:t>
            </a:r>
            <a:endParaRPr kumimoji="1" lang="en-US" altLang="ja-JP" sz="2400" dirty="0"/>
          </a:p>
        </p:txBody>
      </p:sp>
    </p:spTree>
    <p:extLst>
      <p:ext uri="{BB962C8B-B14F-4D97-AF65-F5344CB8AC3E}">
        <p14:creationId xmlns:p14="http://schemas.microsoft.com/office/powerpoint/2010/main" val="1785463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53331"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パーティクルの更新</a:t>
            </a:r>
            <a:r>
              <a:rPr kumimoji="1" lang="ja-JP" altLang="en-US" sz="2400" dirty="0"/>
              <a:t>」に「</a:t>
            </a:r>
            <a:r>
              <a:rPr kumimoji="1" lang="en-US" altLang="ja-JP" sz="2400" b="1" dirty="0">
                <a:solidFill>
                  <a:srgbClr val="FF0000"/>
                </a:solidFill>
              </a:rPr>
              <a:t>Gravity Force</a:t>
            </a:r>
            <a:r>
              <a:rPr kumimoji="1" lang="ja-JP" altLang="en-US" sz="2400" dirty="0"/>
              <a:t>」を追加すると、</a:t>
            </a:r>
            <a:endParaRPr kumimoji="1" lang="en-US" altLang="ja-JP" sz="2400" dirty="0"/>
          </a:p>
          <a:p>
            <a:r>
              <a:rPr lang="ja-JP" altLang="en-US" sz="2400" dirty="0"/>
              <a:t>粒子に重力がかかります。</a:t>
            </a:r>
            <a:endParaRPr kumimoji="1" lang="en-US" altLang="ja-JP" sz="2400" dirty="0"/>
          </a:p>
        </p:txBody>
      </p:sp>
      <p:pic>
        <p:nvPicPr>
          <p:cNvPr id="5" name="図 4">
            <a:extLst>
              <a:ext uri="{FF2B5EF4-FFF2-40B4-BE49-F238E27FC236}">
                <a16:creationId xmlns:a16="http://schemas.microsoft.com/office/drawing/2014/main" id="{8C740B9E-6CF0-41ED-81CD-DC97B5393C62}"/>
              </a:ext>
            </a:extLst>
          </p:cNvPr>
          <p:cNvPicPr>
            <a:picLocks noChangeAspect="1"/>
          </p:cNvPicPr>
          <p:nvPr/>
        </p:nvPicPr>
        <p:blipFill>
          <a:blip r:embed="rId2"/>
          <a:stretch>
            <a:fillRect/>
          </a:stretch>
        </p:blipFill>
        <p:spPr>
          <a:xfrm>
            <a:off x="567542" y="2187127"/>
            <a:ext cx="6017241" cy="4294356"/>
          </a:xfrm>
          <a:prstGeom prst="rect">
            <a:avLst/>
          </a:prstGeom>
        </p:spPr>
      </p:pic>
    </p:spTree>
    <p:extLst>
      <p:ext uri="{BB962C8B-B14F-4D97-AF65-F5344CB8AC3E}">
        <p14:creationId xmlns:p14="http://schemas.microsoft.com/office/powerpoint/2010/main" val="1125978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524315"/>
          </a:xfrm>
          <a:prstGeom prst="rect">
            <a:avLst/>
          </a:prstGeom>
          <a:noFill/>
        </p:spPr>
        <p:txBody>
          <a:bodyPr wrap="none" rtlCol="0">
            <a:spAutoFit/>
          </a:bodyPr>
          <a:lstStyle/>
          <a:p>
            <a:r>
              <a:rPr lang="ja-JP" altLang="en-US" sz="2400" dirty="0"/>
              <a:t>以下を調整するとエフェクトの再生時間を調整できます。</a:t>
            </a:r>
            <a:endParaRPr lang="en-US" altLang="ja-JP" sz="2400" dirty="0"/>
          </a:p>
          <a:p>
            <a:r>
              <a:rPr lang="ja-JP" altLang="en-US" sz="2400" dirty="0"/>
              <a:t>色々調節していい感じのエフェクトを作りましょう。</a:t>
            </a:r>
            <a:endParaRPr lang="en-US" altLang="ja-JP" sz="2400" dirty="0"/>
          </a:p>
          <a:p>
            <a:endParaRPr lang="en-US" altLang="ja-JP" sz="2400" dirty="0"/>
          </a:p>
          <a:p>
            <a:r>
              <a:rPr kumimoji="1" lang="ja-JP" altLang="en-US" sz="2400" dirty="0"/>
              <a:t>■エミッタの更新</a:t>
            </a:r>
            <a:endParaRPr kumimoji="1" lang="en-US" altLang="ja-JP" sz="2400" dirty="0"/>
          </a:p>
          <a:p>
            <a:r>
              <a:rPr kumimoji="1" lang="ja-JP" altLang="en-US" sz="2400" dirty="0"/>
              <a:t>・</a:t>
            </a:r>
            <a:r>
              <a:rPr kumimoji="1" lang="en-US" altLang="ja-JP" sz="2400" dirty="0"/>
              <a:t>Emitter State &gt; Loop Duration</a:t>
            </a:r>
          </a:p>
          <a:p>
            <a:r>
              <a:rPr lang="ja-JP" altLang="en-US" sz="2400" dirty="0"/>
              <a:t>　・エフェクトの再生時間の長さ</a:t>
            </a:r>
            <a:endParaRPr lang="en-US" altLang="ja-JP" sz="2400" dirty="0"/>
          </a:p>
          <a:p>
            <a:endParaRPr kumimoji="1" lang="en-US" altLang="ja-JP" sz="2400" dirty="0"/>
          </a:p>
          <a:p>
            <a:r>
              <a:rPr lang="ja-JP" altLang="en-US" sz="2400" dirty="0"/>
              <a:t>■パーティクルのスポーン</a:t>
            </a:r>
            <a:endParaRPr lang="en-US" altLang="ja-JP" sz="2400" dirty="0"/>
          </a:p>
          <a:p>
            <a:r>
              <a:rPr lang="ja-JP" altLang="en-US" sz="2400" dirty="0"/>
              <a:t>・</a:t>
            </a:r>
            <a:r>
              <a:rPr lang="en-US" altLang="ja-JP" sz="2400" dirty="0"/>
              <a:t>Initialize Particle &gt; </a:t>
            </a:r>
            <a:r>
              <a:rPr kumimoji="1" lang="en-US" altLang="ja-JP" sz="2400" dirty="0"/>
              <a:t>Life Time</a:t>
            </a:r>
            <a:endParaRPr lang="en-US" altLang="ja-JP" sz="2400" dirty="0"/>
          </a:p>
          <a:p>
            <a:r>
              <a:rPr kumimoji="1" lang="ja-JP" altLang="en-US" sz="2400" dirty="0"/>
              <a:t>　・粒子の寿命</a:t>
            </a:r>
            <a:endParaRPr kumimoji="1" lang="en-US" altLang="ja-JP" sz="2400" dirty="0"/>
          </a:p>
          <a:p>
            <a:endParaRPr lang="en-US" altLang="ja-JP" sz="2400" dirty="0"/>
          </a:p>
          <a:p>
            <a:r>
              <a:rPr kumimoji="1" lang="en-US" altLang="ja-JP" sz="2400" b="1" dirty="0">
                <a:solidFill>
                  <a:srgbClr val="FF0000"/>
                </a:solidFill>
              </a:rPr>
              <a:t>※</a:t>
            </a:r>
            <a:r>
              <a:rPr kumimoji="1" lang="ja-JP" altLang="en-US" sz="2400" b="1" dirty="0">
                <a:solidFill>
                  <a:srgbClr val="FF0000"/>
                </a:solidFill>
              </a:rPr>
              <a:t>完成したらコンパイルして保存しましょう</a:t>
            </a:r>
            <a:endParaRPr kumimoji="1" lang="en-US" altLang="ja-JP" sz="2400" b="1" dirty="0">
              <a:solidFill>
                <a:srgbClr val="FF0000"/>
              </a:solidFill>
            </a:endParaRPr>
          </a:p>
        </p:txBody>
      </p:sp>
    </p:spTree>
    <p:extLst>
      <p:ext uri="{BB962C8B-B14F-4D97-AF65-F5344CB8AC3E}">
        <p14:creationId xmlns:p14="http://schemas.microsoft.com/office/powerpoint/2010/main" val="2314218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kumimoji="1" lang="ja-JP" altLang="en-US" sz="2400" dirty="0"/>
              <a:t>弾丸がヒットしたときにエフェクトを表示します。</a:t>
            </a:r>
            <a:endParaRPr kumimoji="1" lang="en-US" altLang="ja-JP" sz="2400" dirty="0"/>
          </a:p>
          <a:p>
            <a:r>
              <a:rPr lang="en-US" altLang="ja-JP" sz="2400" b="1" dirty="0" err="1">
                <a:solidFill>
                  <a:srgbClr val="FF0000"/>
                </a:solidFill>
              </a:rPr>
              <a:t>NormalBullet.h</a:t>
            </a:r>
            <a:r>
              <a:rPr lang="ja-JP" altLang="en-US" sz="2400" dirty="0"/>
              <a:t>を書きます。</a:t>
            </a:r>
            <a:endParaRPr kumimoji="1" lang="en-US" altLang="ja-JP" sz="2400" dirty="0"/>
          </a:p>
        </p:txBody>
      </p:sp>
      <p:pic>
        <p:nvPicPr>
          <p:cNvPr id="3" name="図 2">
            <a:extLst>
              <a:ext uri="{FF2B5EF4-FFF2-40B4-BE49-F238E27FC236}">
                <a16:creationId xmlns:a16="http://schemas.microsoft.com/office/drawing/2014/main" id="{7FFECBE8-2B0C-43BE-84AC-706B44F1DB69}"/>
              </a:ext>
            </a:extLst>
          </p:cNvPr>
          <p:cNvPicPr>
            <a:picLocks noChangeAspect="1"/>
          </p:cNvPicPr>
          <p:nvPr/>
        </p:nvPicPr>
        <p:blipFill>
          <a:blip r:embed="rId2"/>
          <a:stretch>
            <a:fillRect/>
          </a:stretch>
        </p:blipFill>
        <p:spPr>
          <a:xfrm>
            <a:off x="567542" y="2187126"/>
            <a:ext cx="5029902" cy="1695687"/>
          </a:xfrm>
          <a:prstGeom prst="rect">
            <a:avLst/>
          </a:prstGeom>
        </p:spPr>
      </p:pic>
      <p:pic>
        <p:nvPicPr>
          <p:cNvPr id="7" name="図 6">
            <a:extLst>
              <a:ext uri="{FF2B5EF4-FFF2-40B4-BE49-F238E27FC236}">
                <a16:creationId xmlns:a16="http://schemas.microsoft.com/office/drawing/2014/main" id="{9587DA85-F705-4EFF-8A67-F6F6715AA228}"/>
              </a:ext>
            </a:extLst>
          </p:cNvPr>
          <p:cNvPicPr>
            <a:picLocks noChangeAspect="1"/>
          </p:cNvPicPr>
          <p:nvPr/>
        </p:nvPicPr>
        <p:blipFill>
          <a:blip r:embed="rId3"/>
          <a:stretch>
            <a:fillRect/>
          </a:stretch>
        </p:blipFill>
        <p:spPr>
          <a:xfrm>
            <a:off x="578573" y="4022513"/>
            <a:ext cx="2950664" cy="2503793"/>
          </a:xfrm>
          <a:prstGeom prst="rect">
            <a:avLst/>
          </a:prstGeom>
        </p:spPr>
      </p:pic>
      <p:sp>
        <p:nvSpPr>
          <p:cNvPr id="8" name="正方形/長方形 7">
            <a:extLst>
              <a:ext uri="{FF2B5EF4-FFF2-40B4-BE49-F238E27FC236}">
                <a16:creationId xmlns:a16="http://schemas.microsoft.com/office/drawing/2014/main" id="{3FF728B7-CD3F-47D1-B135-21674D10041C}"/>
              </a:ext>
            </a:extLst>
          </p:cNvPr>
          <p:cNvSpPr/>
          <p:nvPr/>
        </p:nvSpPr>
        <p:spPr>
          <a:xfrm>
            <a:off x="1524000" y="3209365"/>
            <a:ext cx="2904565" cy="2958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FDEA610-15DB-4ED2-B864-9FC4800992C4}"/>
              </a:ext>
            </a:extLst>
          </p:cNvPr>
          <p:cNvSpPr/>
          <p:nvPr/>
        </p:nvSpPr>
        <p:spPr>
          <a:xfrm>
            <a:off x="1294740" y="5274409"/>
            <a:ext cx="2234497" cy="5436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2664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641014" cy="461665"/>
          </a:xfrm>
          <a:prstGeom prst="rect">
            <a:avLst/>
          </a:prstGeom>
          <a:noFill/>
        </p:spPr>
        <p:txBody>
          <a:bodyPr wrap="none" rtlCol="0">
            <a:spAutoFit/>
          </a:bodyPr>
          <a:lstStyle/>
          <a:p>
            <a:r>
              <a:rPr lang="en-US" altLang="ja-JP" sz="2400" b="1" dirty="0">
                <a:solidFill>
                  <a:srgbClr val="FF0000"/>
                </a:solidFill>
              </a:rPr>
              <a:t>NormalBullet.cpp</a:t>
            </a:r>
            <a:r>
              <a:rPr lang="ja-JP" altLang="en-US" sz="2400" dirty="0"/>
              <a:t>を書きます。</a:t>
            </a:r>
            <a:endParaRPr kumimoji="1" lang="en-US" altLang="ja-JP" sz="2400" dirty="0"/>
          </a:p>
        </p:txBody>
      </p:sp>
      <p:pic>
        <p:nvPicPr>
          <p:cNvPr id="5" name="図 4">
            <a:extLst>
              <a:ext uri="{FF2B5EF4-FFF2-40B4-BE49-F238E27FC236}">
                <a16:creationId xmlns:a16="http://schemas.microsoft.com/office/drawing/2014/main" id="{266C6D79-664A-4513-923F-E1F8B1B382D1}"/>
              </a:ext>
            </a:extLst>
          </p:cNvPr>
          <p:cNvPicPr>
            <a:picLocks noChangeAspect="1"/>
          </p:cNvPicPr>
          <p:nvPr/>
        </p:nvPicPr>
        <p:blipFill>
          <a:blip r:embed="rId2"/>
          <a:stretch>
            <a:fillRect/>
          </a:stretch>
        </p:blipFill>
        <p:spPr>
          <a:xfrm>
            <a:off x="549674" y="1822276"/>
            <a:ext cx="4620270" cy="847843"/>
          </a:xfrm>
          <a:prstGeom prst="rect">
            <a:avLst/>
          </a:prstGeom>
        </p:spPr>
      </p:pic>
      <p:sp>
        <p:nvSpPr>
          <p:cNvPr id="10" name="正方形/長方形 9">
            <a:extLst>
              <a:ext uri="{FF2B5EF4-FFF2-40B4-BE49-F238E27FC236}">
                <a16:creationId xmlns:a16="http://schemas.microsoft.com/office/drawing/2014/main" id="{E52F2C03-27A0-40D6-BC81-04BCFCF7B932}"/>
              </a:ext>
            </a:extLst>
          </p:cNvPr>
          <p:cNvSpPr/>
          <p:nvPr/>
        </p:nvSpPr>
        <p:spPr>
          <a:xfrm>
            <a:off x="1348528" y="2196353"/>
            <a:ext cx="3821416" cy="3137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8A1BA09B-510A-4442-B524-D07F72A96B69}"/>
              </a:ext>
            </a:extLst>
          </p:cNvPr>
          <p:cNvPicPr>
            <a:picLocks noChangeAspect="1"/>
          </p:cNvPicPr>
          <p:nvPr/>
        </p:nvPicPr>
        <p:blipFill>
          <a:blip r:embed="rId3"/>
          <a:stretch>
            <a:fillRect/>
          </a:stretch>
        </p:blipFill>
        <p:spPr>
          <a:xfrm>
            <a:off x="567543" y="2884195"/>
            <a:ext cx="8549564" cy="3525889"/>
          </a:xfrm>
          <a:prstGeom prst="rect">
            <a:avLst/>
          </a:prstGeom>
        </p:spPr>
      </p:pic>
      <p:sp>
        <p:nvSpPr>
          <p:cNvPr id="13" name="正方形/長方形 12">
            <a:extLst>
              <a:ext uri="{FF2B5EF4-FFF2-40B4-BE49-F238E27FC236}">
                <a16:creationId xmlns:a16="http://schemas.microsoft.com/office/drawing/2014/main" id="{8B009787-7A4C-47A6-BC1B-AE9939E08518}"/>
              </a:ext>
            </a:extLst>
          </p:cNvPr>
          <p:cNvSpPr/>
          <p:nvPr/>
        </p:nvSpPr>
        <p:spPr>
          <a:xfrm>
            <a:off x="1841585" y="4414056"/>
            <a:ext cx="7275521" cy="1117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3751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23213" cy="461665"/>
          </a:xfrm>
          <a:prstGeom prst="rect">
            <a:avLst/>
          </a:prstGeom>
          <a:noFill/>
        </p:spPr>
        <p:txBody>
          <a:bodyPr wrap="none" rtlCol="0">
            <a:spAutoFit/>
          </a:bodyPr>
          <a:lstStyle/>
          <a:p>
            <a:r>
              <a:rPr kumimoji="1" lang="en-US" altLang="ja-JP" sz="2400" b="1" dirty="0" err="1">
                <a:solidFill>
                  <a:srgbClr val="0070C0"/>
                </a:solidFill>
              </a:rPr>
              <a:t>BP_PlayerBullet</a:t>
            </a:r>
            <a:r>
              <a:rPr kumimoji="1" lang="ja-JP" altLang="en-US" sz="2400" dirty="0"/>
              <a:t>でヒットエフェクトを設定します。</a:t>
            </a:r>
            <a:endParaRPr kumimoji="1" lang="en-US" altLang="ja-JP" sz="2400" dirty="0"/>
          </a:p>
        </p:txBody>
      </p:sp>
      <p:pic>
        <p:nvPicPr>
          <p:cNvPr id="3" name="図 2">
            <a:extLst>
              <a:ext uri="{FF2B5EF4-FFF2-40B4-BE49-F238E27FC236}">
                <a16:creationId xmlns:a16="http://schemas.microsoft.com/office/drawing/2014/main" id="{DC3F79C2-CFC4-43E7-8DC0-097405EB01C8}"/>
              </a:ext>
            </a:extLst>
          </p:cNvPr>
          <p:cNvPicPr>
            <a:picLocks noChangeAspect="1"/>
          </p:cNvPicPr>
          <p:nvPr/>
        </p:nvPicPr>
        <p:blipFill>
          <a:blip r:embed="rId2"/>
          <a:stretch>
            <a:fillRect/>
          </a:stretch>
        </p:blipFill>
        <p:spPr>
          <a:xfrm>
            <a:off x="567542" y="1817793"/>
            <a:ext cx="7828702" cy="3345877"/>
          </a:xfrm>
          <a:prstGeom prst="rect">
            <a:avLst/>
          </a:prstGeom>
        </p:spPr>
      </p:pic>
    </p:spTree>
    <p:extLst>
      <p:ext uri="{BB962C8B-B14F-4D97-AF65-F5344CB8AC3E}">
        <p14:creationId xmlns:p14="http://schemas.microsoft.com/office/powerpoint/2010/main" val="3461068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461665"/>
          </a:xfrm>
          <a:prstGeom prst="rect">
            <a:avLst/>
          </a:prstGeom>
          <a:noFill/>
        </p:spPr>
        <p:txBody>
          <a:bodyPr wrap="none" rtlCol="0">
            <a:spAutoFit/>
          </a:bodyPr>
          <a:lstStyle/>
          <a:p>
            <a:r>
              <a:rPr kumimoji="1" lang="ja-JP" altLang="en-US" sz="2400" dirty="0"/>
              <a:t>動作確認しましょう。</a:t>
            </a:r>
            <a:endParaRPr kumimoji="1" lang="en-US" altLang="ja-JP" sz="2400" dirty="0"/>
          </a:p>
        </p:txBody>
      </p:sp>
      <p:pic>
        <p:nvPicPr>
          <p:cNvPr id="5" name="図 4">
            <a:extLst>
              <a:ext uri="{FF2B5EF4-FFF2-40B4-BE49-F238E27FC236}">
                <a16:creationId xmlns:a16="http://schemas.microsoft.com/office/drawing/2014/main" id="{B9E8BDC1-5354-4714-8F0F-52A95295993F}"/>
              </a:ext>
            </a:extLst>
          </p:cNvPr>
          <p:cNvPicPr>
            <a:picLocks noChangeAspect="1"/>
          </p:cNvPicPr>
          <p:nvPr/>
        </p:nvPicPr>
        <p:blipFill>
          <a:blip r:embed="rId2"/>
          <a:stretch>
            <a:fillRect/>
          </a:stretch>
        </p:blipFill>
        <p:spPr>
          <a:xfrm>
            <a:off x="567542" y="1817794"/>
            <a:ext cx="8901956" cy="4358888"/>
          </a:xfrm>
          <a:prstGeom prst="rect">
            <a:avLst/>
          </a:prstGeom>
        </p:spPr>
      </p:pic>
    </p:spTree>
    <p:extLst>
      <p:ext uri="{BB962C8B-B14F-4D97-AF65-F5344CB8AC3E}">
        <p14:creationId xmlns:p14="http://schemas.microsoft.com/office/powerpoint/2010/main" val="842072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830997"/>
          </a:xfrm>
          <a:prstGeom prst="rect">
            <a:avLst/>
          </a:prstGeom>
          <a:noFill/>
        </p:spPr>
        <p:txBody>
          <a:bodyPr wrap="none" rtlCol="0">
            <a:spAutoFit/>
          </a:bodyPr>
          <a:lstStyle/>
          <a:p>
            <a:r>
              <a:rPr kumimoji="1" lang="ja-JP" altLang="en-US" sz="2400" dirty="0"/>
              <a:t>ナイアガラエフェクトには様々な機能が他にもあります。</a:t>
            </a:r>
            <a:endParaRPr kumimoji="1" lang="en-US" altLang="ja-JP" sz="2400" dirty="0"/>
          </a:p>
          <a:p>
            <a:r>
              <a:rPr lang="ja-JP" altLang="en-US" sz="2400" dirty="0"/>
              <a:t>制作を通じて学習していきましょう。</a:t>
            </a:r>
            <a:endParaRPr kumimoji="1" lang="en-US" altLang="ja-JP" sz="2400" dirty="0"/>
          </a:p>
        </p:txBody>
      </p:sp>
      <p:pic>
        <p:nvPicPr>
          <p:cNvPr id="7" name="図 6">
            <a:extLst>
              <a:ext uri="{FF2B5EF4-FFF2-40B4-BE49-F238E27FC236}">
                <a16:creationId xmlns:a16="http://schemas.microsoft.com/office/drawing/2014/main" id="{5BF3A4D8-638D-4C0D-AB4E-6FEFB8D00EFE}"/>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173204864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1084</TotalTime>
  <Words>478</Words>
  <Application>Microsoft Office PowerPoint</Application>
  <PresentationFormat>ワイド画面</PresentationFormat>
  <Paragraphs>83</Paragraphs>
  <Slides>20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102</cp:revision>
  <dcterms:created xsi:type="dcterms:W3CDTF">2024-08-27T02:15:54Z</dcterms:created>
  <dcterms:modified xsi:type="dcterms:W3CDTF">2025-02-17T03:33:28Z</dcterms:modified>
</cp:coreProperties>
</file>