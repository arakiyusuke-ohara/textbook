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2" r:id="rId3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アニメーション実装の練習をします。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2FFD16D-D6F0-42AC-B698-CFE599BD4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258646" cy="447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サードパーソンから新規プロジェクトを作成しましょう。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99EF12-5C39-44E6-8DA5-105A89369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36011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45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249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UE</a:t>
            </a:r>
            <a:r>
              <a:rPr lang="ja-JP" altLang="en-US" sz="2400" dirty="0"/>
              <a:t>ではアニメーション</a:t>
            </a:r>
            <a:r>
              <a:rPr lang="en-US" altLang="ja-JP" sz="2400" dirty="0"/>
              <a:t>BP</a:t>
            </a:r>
            <a:r>
              <a:rPr lang="ja-JP" altLang="en-US" sz="2400" dirty="0"/>
              <a:t>を使ってアニメーションを実装します。</a:t>
            </a:r>
            <a:endParaRPr lang="en-US" altLang="ja-JP" sz="2400" dirty="0"/>
          </a:p>
          <a:p>
            <a:r>
              <a:rPr kumimoji="1" lang="ja-JP" altLang="en-US" sz="2400" dirty="0"/>
              <a:t>コンテンツブラウザから作成しましょう。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A1C6B3-7997-466E-9A52-B2F10962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336152" cy="417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アニメーションさせるモデルの</a:t>
            </a:r>
            <a:r>
              <a:rPr lang="ja-JP" altLang="en-US" sz="2400" b="1" dirty="0">
                <a:solidFill>
                  <a:srgbClr val="FF0000"/>
                </a:solidFill>
              </a:rPr>
              <a:t>スケルトンデータ</a:t>
            </a:r>
            <a:r>
              <a:rPr lang="ja-JP" altLang="en-US" sz="2400" dirty="0"/>
              <a:t>を選択します。</a:t>
            </a:r>
            <a:endParaRPr lang="en-US" altLang="ja-JP" sz="2400" dirty="0"/>
          </a:p>
          <a:p>
            <a:r>
              <a:rPr kumimoji="1" lang="ja-JP" altLang="en-US" sz="2400" dirty="0"/>
              <a:t>今回は「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SK_Mannequin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6AC731-9490-48E1-84B9-1766F4414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3363520" cy="417892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BFE9533-2526-4C83-BF66-21A6A7002162}"/>
              </a:ext>
            </a:extLst>
          </p:cNvPr>
          <p:cNvSpPr txBox="1"/>
          <p:nvPr/>
        </p:nvSpPr>
        <p:spPr>
          <a:xfrm>
            <a:off x="4005143" y="5234636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en-US" altLang="ja-JP" sz="2400" dirty="0"/>
              <a:t>Blender</a:t>
            </a:r>
            <a:r>
              <a:rPr kumimoji="1" lang="ja-JP" altLang="en-US" sz="2400" dirty="0"/>
              <a:t>でモデルを作った場合は、</a:t>
            </a:r>
            <a:endParaRPr kumimoji="1" lang="en-US" altLang="ja-JP" sz="2400" dirty="0"/>
          </a:p>
          <a:p>
            <a:r>
              <a:rPr lang="ja-JP" altLang="en-US" sz="2400" dirty="0"/>
              <a:t>スケルトンデータはインポート時に自動で作成されます。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5774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ダブルクリックで編集画面が開きます。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49FB77-0C97-4C5A-866E-D8D98FE1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8105335" cy="435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9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まず必要になるのは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ステートマシン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ステートマシンとは、キャラクターの状態を管理するシステムになります。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3736572-FB71-4FFB-B724-F0C526D1B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664870" cy="27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53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グラフの空いているところを右クリックして、</a:t>
            </a:r>
            <a:endParaRPr kumimoji="1" lang="en-US" altLang="ja-JP" sz="2400" dirty="0"/>
          </a:p>
          <a:p>
            <a:r>
              <a:rPr lang="ja-JP" altLang="en-US" sz="2400" dirty="0"/>
              <a:t>ステートマシンを追加しましょう。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C13BDC3-1616-4F81-9E2B-82BA22094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0153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68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名前を「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Locomotion</a:t>
            </a:r>
            <a:r>
              <a:rPr kumimoji="1" lang="ja-JP" altLang="en-US" sz="2400" dirty="0"/>
              <a:t>」として、</a:t>
            </a:r>
            <a:r>
              <a:rPr kumimoji="1" lang="en-US" altLang="ja-JP" sz="2400" dirty="0"/>
              <a:t>Output Pose</a:t>
            </a:r>
            <a:r>
              <a:rPr kumimoji="1" lang="ja-JP" altLang="en-US" sz="2400" dirty="0"/>
              <a:t>に接続しましょう。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F4AB19-3527-4C2A-9D31-503B74F93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199248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16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Locomotion</a:t>
            </a:r>
            <a:r>
              <a:rPr kumimoji="1" lang="ja-JP" altLang="en-US" sz="2400" dirty="0"/>
              <a:t>をダブルクリックすると、</a:t>
            </a:r>
            <a:endParaRPr kumimoji="1" lang="en-US" altLang="ja-JP" sz="2400" dirty="0"/>
          </a:p>
          <a:p>
            <a:r>
              <a:rPr kumimoji="1" lang="ja-JP" altLang="en-US" sz="2400" dirty="0"/>
              <a:t>ステートマシンの編集画面に切り替わります。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F00E94-997F-4810-8962-A849CFC38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5528458" cy="369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6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空いている箇所を右クリックして、「ステートを追加」を選択します。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934F3E-036F-4DC0-BD03-EEE07435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560494" cy="315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09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70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名前を「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Idle</a:t>
            </a:r>
            <a:r>
              <a:rPr kumimoji="1" lang="ja-JP" altLang="en-US" sz="2400" dirty="0"/>
              <a:t>」として</a:t>
            </a:r>
            <a:r>
              <a:rPr kumimoji="1" lang="en-US" altLang="ja-JP" sz="2400" dirty="0"/>
              <a:t>Entry</a:t>
            </a:r>
            <a:r>
              <a:rPr kumimoji="1" lang="ja-JP" altLang="en-US" sz="2400" dirty="0"/>
              <a:t>と繋げましょう。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CA53477-8B36-47B9-8424-13D91BB4E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415206" cy="270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77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062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Idle</a:t>
            </a:r>
            <a:r>
              <a:rPr kumimoji="1" lang="ja-JP" altLang="en-US" sz="2400" dirty="0"/>
              <a:t>をダブルクリックすると、ポーズの設定画面が開きます。</a:t>
            </a:r>
            <a:endParaRPr kumimoji="1" lang="en-US" altLang="ja-JP" sz="2400" dirty="0"/>
          </a:p>
          <a:p>
            <a:r>
              <a:rPr lang="ja-JP" altLang="en-US" sz="2400" dirty="0"/>
              <a:t>ここでアニメーションを設定していきます。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4BD23A-E3FF-488A-8D8F-838F3E033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904976" cy="402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45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右下の</a:t>
            </a:r>
            <a:r>
              <a:rPr lang="ja-JP" altLang="en-US" sz="2400" dirty="0"/>
              <a:t>アセットブラウザに、アニメーションデータがあります。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MF_Idle</a:t>
            </a:r>
            <a:r>
              <a:rPr kumimoji="1" lang="ja-JP" altLang="en-US" sz="2400" dirty="0"/>
              <a:t>」をグラフにドラッグ＆ドロップしましょう。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578A11-6E18-4F69-9E86-37022FFA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13953" cy="4178920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8FFA6D8C-70B6-42A2-86BE-F2B64728A6D4}"/>
              </a:ext>
            </a:extLst>
          </p:cNvPr>
          <p:cNvCxnSpPr/>
          <p:nvPr/>
        </p:nvCxnSpPr>
        <p:spPr>
          <a:xfrm flipH="1" flipV="1">
            <a:off x="1443318" y="3594847"/>
            <a:ext cx="4285129" cy="10219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836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71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MF_Idle</a:t>
            </a:r>
            <a:r>
              <a:rPr lang="ja-JP" altLang="en-US" sz="2400" dirty="0"/>
              <a:t>を選択して、右上の詳細画面からループを</a:t>
            </a:r>
            <a:r>
              <a:rPr lang="en-US" altLang="ja-JP" sz="2400" dirty="0"/>
              <a:t>ON</a:t>
            </a:r>
            <a:r>
              <a:rPr lang="ja-JP" altLang="en-US" sz="2400" dirty="0"/>
              <a:t>にします。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BC74D70-4109-4560-8256-B5C0DE88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1185187" cy="404996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A1DA587-EF8C-48AA-9BED-1C5F44F429BD}"/>
              </a:ext>
            </a:extLst>
          </p:cNvPr>
          <p:cNvSpPr/>
          <p:nvPr/>
        </p:nvSpPr>
        <p:spPr>
          <a:xfrm>
            <a:off x="8399929" y="4473388"/>
            <a:ext cx="3224529" cy="277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00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57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MF_Idle</a:t>
            </a:r>
            <a:r>
              <a:rPr kumimoji="1" lang="ja-JP" altLang="en-US" sz="2400" dirty="0"/>
              <a:t>を</a:t>
            </a:r>
            <a:r>
              <a:rPr lang="en-US" altLang="ja-JP" sz="2400" dirty="0"/>
              <a:t>Output Animation Pose</a:t>
            </a:r>
            <a:r>
              <a:rPr lang="ja-JP" altLang="en-US" sz="2400" dirty="0"/>
              <a:t>につないでコンパイルしましょう。</a:t>
            </a:r>
            <a:endParaRPr lang="en-US" altLang="ja-JP" sz="2400" dirty="0"/>
          </a:p>
          <a:p>
            <a:r>
              <a:rPr kumimoji="1" lang="ja-JP" altLang="en-US" sz="2400" dirty="0"/>
              <a:t>プレビューでアニメーションが再生されれば成功です。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6D46E51-57A7-458F-8404-A9EBBEB16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626199" cy="4092424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04C894-BE1E-474F-A5F4-0FE1F21FCFC0}"/>
              </a:ext>
            </a:extLst>
          </p:cNvPr>
          <p:cNvSpPr/>
          <p:nvPr/>
        </p:nvSpPr>
        <p:spPr>
          <a:xfrm>
            <a:off x="1272989" y="2563906"/>
            <a:ext cx="663387" cy="2689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719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続いて走るアニメーションを実装します。</a:t>
            </a:r>
            <a:endParaRPr kumimoji="1" lang="en-US" altLang="ja-JP" sz="2400" dirty="0"/>
          </a:p>
          <a:p>
            <a:r>
              <a:rPr lang="ja-JP" altLang="en-US" sz="2400" dirty="0"/>
              <a:t>アニメーションが複数となるので、</a:t>
            </a:r>
            <a:r>
              <a:rPr lang="ja-JP" altLang="en-US" sz="2400" b="1" dirty="0">
                <a:solidFill>
                  <a:srgbClr val="FF0000"/>
                </a:solidFill>
              </a:rPr>
              <a:t>切り替える処理</a:t>
            </a:r>
            <a:r>
              <a:rPr lang="ja-JP" altLang="en-US" sz="2400" dirty="0"/>
              <a:t>が必要です。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243AE95-BA30-4252-B3D7-821178B60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664870" cy="27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24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アニメーションの切り替え処理は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イベントグラフ</a:t>
            </a:r>
            <a:r>
              <a:rPr kumimoji="1" lang="ja-JP" altLang="en-US" sz="2400" dirty="0"/>
              <a:t>に書きます。</a:t>
            </a:r>
            <a:endParaRPr kumimoji="1" lang="en-US" altLang="ja-JP" sz="2400" dirty="0"/>
          </a:p>
          <a:p>
            <a:r>
              <a:rPr lang="ja-JP" altLang="en-US" sz="2400" dirty="0"/>
              <a:t>左下にある「</a:t>
            </a:r>
            <a:r>
              <a:rPr lang="en-US" altLang="ja-JP" sz="2400" b="1" dirty="0">
                <a:solidFill>
                  <a:srgbClr val="FF0000"/>
                </a:solidFill>
              </a:rPr>
              <a:t>Event Graph</a:t>
            </a:r>
            <a:r>
              <a:rPr lang="ja-JP" altLang="en-US" sz="2400" dirty="0"/>
              <a:t>」をダブルクリックしましょう。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7FF4E83-E38B-4611-8E30-5568B32F3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53453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4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52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グラフの空いている箇所を右クリックして、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Event Blueprint Initialize Animation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932503-AE8D-491C-A736-D418AFC8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66871" cy="328134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9F6DABC-306E-4F58-9BFB-3A3381623CB2}"/>
              </a:ext>
            </a:extLst>
          </p:cNvPr>
          <p:cNvSpPr txBox="1"/>
          <p:nvPr/>
        </p:nvSpPr>
        <p:spPr>
          <a:xfrm>
            <a:off x="567542" y="5608171"/>
            <a:ext cx="4905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初期化処理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73582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処理に必要な変数を追加します。</a:t>
            </a:r>
            <a:endParaRPr lang="en-US" altLang="ja-JP" sz="2400" dirty="0"/>
          </a:p>
          <a:p>
            <a:r>
              <a:rPr kumimoji="1" lang="ja-JP" altLang="en-US" sz="2400" dirty="0"/>
              <a:t>左下の変数から２つの変数を追加しましょう。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DD80CD9-41EA-49F1-B7E9-5A4C4F86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8855181" cy="287793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55EBBF-1956-429B-A869-34E5138E7667}"/>
              </a:ext>
            </a:extLst>
          </p:cNvPr>
          <p:cNvSpPr txBox="1"/>
          <p:nvPr/>
        </p:nvSpPr>
        <p:spPr>
          <a:xfrm>
            <a:off x="567542" y="520475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普段のプログラミングの変数という認識で大丈夫です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0009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481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処理を書いていきます。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Get Owning Actor</a:t>
            </a:r>
            <a:r>
              <a:rPr kumimoji="1" lang="ja-JP" altLang="en-US" sz="2400" dirty="0"/>
              <a:t>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アニメーションがついている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Actor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を取得</a:t>
            </a:r>
            <a:r>
              <a:rPr kumimoji="1" lang="ja-JP" altLang="en-US" sz="2400" dirty="0"/>
              <a:t>して、</a:t>
            </a:r>
            <a:endParaRPr kumimoji="1" lang="en-US" altLang="ja-JP" sz="2400" dirty="0"/>
          </a:p>
          <a:p>
            <a:r>
              <a:rPr lang="en-US" altLang="ja-JP" sz="2400" dirty="0"/>
              <a:t>Character</a:t>
            </a:r>
            <a:r>
              <a:rPr lang="ja-JP" altLang="en-US" sz="2400" dirty="0"/>
              <a:t>クラスにキャストします。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CD7B23-5124-4CC7-8D2F-DFEE74335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519674" cy="344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59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3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キャストしたものを変数「</a:t>
            </a:r>
            <a:r>
              <a:rPr lang="en-US" altLang="ja-JP" sz="2400" dirty="0"/>
              <a:t>Character</a:t>
            </a:r>
            <a:r>
              <a:rPr lang="ja-JP" altLang="en-US" sz="2400" dirty="0"/>
              <a:t>」に代入します。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B4349D-F115-4AF2-97F9-9793DB0F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21944" cy="269019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587BFCB-087B-4115-A001-0521699BD447}"/>
              </a:ext>
            </a:extLst>
          </p:cNvPr>
          <p:cNvSpPr txBox="1"/>
          <p:nvPr/>
        </p:nvSpPr>
        <p:spPr>
          <a:xfrm>
            <a:off x="567542" y="4647692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変数はドラッグ＆ドロップで直接グラフに配置できます。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3374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セットの右側の青いピンをドラッグ＆ドロップして、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Get Character Movement</a:t>
            </a:r>
            <a:r>
              <a:rPr kumimoji="1" lang="ja-JP" altLang="en-US" sz="2400" dirty="0"/>
              <a:t>」を追加します。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BD87305-B1D4-448A-A33C-DDA596936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448495" cy="401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8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070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Movement</a:t>
            </a:r>
            <a:r>
              <a:rPr kumimoji="1" lang="ja-JP" altLang="en-US" sz="2400" dirty="0"/>
              <a:t>変数に代入しましょう。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7E7ED8E-0633-4C14-9CB6-F571C699B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97920" cy="315761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F843CF-4010-4214-80DB-ECF8FDC39345}"/>
              </a:ext>
            </a:extLst>
          </p:cNvPr>
          <p:cNvSpPr txBox="1"/>
          <p:nvPr/>
        </p:nvSpPr>
        <p:spPr>
          <a:xfrm>
            <a:off x="567542" y="5115112"/>
            <a:ext cx="106410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Character</a:t>
            </a:r>
            <a:r>
              <a:rPr kumimoji="1" lang="ja-JP" altLang="en-US" sz="2400" dirty="0"/>
              <a:t>と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Movement</a:t>
            </a:r>
            <a:r>
              <a:rPr kumimoji="1" lang="ja-JP" altLang="en-US" sz="2400" dirty="0"/>
              <a:t>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どこからでも参照できる</a:t>
            </a:r>
            <a:r>
              <a:rPr kumimoji="1" lang="ja-JP" altLang="en-US" sz="2400" dirty="0"/>
              <a:t>ようになります。</a:t>
            </a:r>
            <a:endParaRPr kumimoji="1" lang="en-US" altLang="ja-JP" sz="2400" dirty="0"/>
          </a:p>
          <a:p>
            <a:r>
              <a:rPr lang="ja-JP" altLang="en-US" sz="2400" dirty="0"/>
              <a:t>アニメーション切り替えでは、ほぼ必須の処理となります。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44138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更新処理を書いていきます。</a:t>
            </a:r>
            <a:r>
              <a:rPr kumimoji="1" lang="ja-JP" altLang="en-US" sz="2400" dirty="0"/>
              <a:t>まずは必要な変数を追加しましょう。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6261505-7405-43C0-BE42-4365142CE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926051" cy="305900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B68BB61-1527-45F3-93AD-7D8971CE2877}"/>
              </a:ext>
            </a:extLst>
          </p:cNvPr>
          <p:cNvSpPr/>
          <p:nvPr/>
        </p:nvSpPr>
        <p:spPr>
          <a:xfrm>
            <a:off x="806037" y="2528047"/>
            <a:ext cx="6545022" cy="690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055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157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dirty="0"/>
              <a:t>Character</a:t>
            </a:r>
            <a:r>
              <a:rPr lang="ja-JP" altLang="en-US" sz="2400" dirty="0"/>
              <a:t>が正しく格納できたかチェックします。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00B050"/>
                </a:solidFill>
              </a:rPr>
              <a:t>Character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変数</a:t>
            </a:r>
            <a:r>
              <a:rPr kumimoji="1" lang="ja-JP" altLang="en-US" sz="2400" dirty="0"/>
              <a:t>を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Get</a:t>
            </a:r>
            <a:r>
              <a:rPr kumimoji="1" lang="ja-JP" altLang="en-US" sz="2400" dirty="0"/>
              <a:t>で配置して、「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検証済みゲットに変換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57E303-6610-4228-989B-9038FE18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34" y="2187126"/>
            <a:ext cx="6075779" cy="430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2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86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Movement</a:t>
            </a:r>
            <a:r>
              <a:rPr kumimoji="1" lang="ja-JP" altLang="en-US" sz="2400" dirty="0"/>
              <a:t>から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移動速度</a:t>
            </a:r>
            <a:r>
              <a:rPr kumimoji="1" lang="ja-JP" altLang="en-US" sz="2400" dirty="0"/>
              <a:t>を計算します。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20CBF6-82BF-4FEA-9D7D-CDFD80EE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8074029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75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14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Speed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変数</a:t>
            </a:r>
            <a:r>
              <a:rPr kumimoji="1" lang="ja-JP" altLang="en-US" sz="2400" dirty="0"/>
              <a:t>に代入しましょう。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A8615D-9376-45BC-88EC-D800F755B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8749329" cy="42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8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875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そして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Speed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が一定数より大きければ移動している</a:t>
            </a:r>
            <a:r>
              <a:rPr kumimoji="1" lang="ja-JP" altLang="en-US" sz="2400" dirty="0"/>
              <a:t>と判定します。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60D2EE1-0546-4CCE-9318-BFAA0BF2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10691" cy="35819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18C2118-13E0-4547-9E17-35D23F17D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295" y="1817793"/>
            <a:ext cx="6239436" cy="358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74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7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判定結果を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IsMove</a:t>
            </a:r>
            <a:r>
              <a:rPr kumimoji="1" lang="ja-JP" altLang="en-US" sz="2400" dirty="0"/>
              <a:t>に代入しましょう。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35D2C9-13D4-4BBC-BDFD-177EF49F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499524" cy="288867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07D32AD-1A30-4C4B-A7AB-F37DF6CC748F}"/>
              </a:ext>
            </a:extLst>
          </p:cNvPr>
          <p:cNvSpPr txBox="1"/>
          <p:nvPr/>
        </p:nvSpPr>
        <p:spPr>
          <a:xfrm>
            <a:off x="567542" y="4852365"/>
            <a:ext cx="7346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IsMove</a:t>
            </a:r>
            <a:r>
              <a:rPr kumimoji="1" lang="ja-JP" altLang="en-US" sz="2400" dirty="0"/>
              <a:t>から</a:t>
            </a:r>
            <a:r>
              <a:rPr lang="en-US" altLang="ja-JP" sz="2400" b="1" dirty="0">
                <a:solidFill>
                  <a:srgbClr val="FF0000"/>
                </a:solidFill>
              </a:rPr>
              <a:t>Idle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FF0000"/>
                </a:solidFill>
              </a:rPr>
              <a:t>Run</a:t>
            </a:r>
            <a:r>
              <a:rPr lang="ja-JP" altLang="en-US" sz="2400" dirty="0"/>
              <a:t>を切り替えられます。</a:t>
            </a:r>
            <a:endParaRPr lang="en-US" altLang="ja-JP" sz="2400" dirty="0"/>
          </a:p>
          <a:p>
            <a:r>
              <a:rPr kumimoji="1" lang="ja-JP" altLang="en-US" sz="2400" dirty="0"/>
              <a:t>一度コンパイルしておきましょう。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20701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036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Locomotion</a:t>
            </a:r>
            <a:r>
              <a:rPr kumimoji="1" lang="ja-JP" altLang="en-US" sz="2400" dirty="0"/>
              <a:t>のアニメーショングラフに戻り、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Run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  <a:p>
            <a:r>
              <a:rPr lang="en-US" altLang="ja-JP" sz="2400" dirty="0"/>
              <a:t>Run</a:t>
            </a:r>
            <a:r>
              <a:rPr lang="ja-JP" altLang="en-US" sz="2400" dirty="0"/>
              <a:t>の中で「</a:t>
            </a:r>
            <a:r>
              <a:rPr lang="en-US" altLang="ja-JP" sz="2400" b="1" dirty="0" err="1">
                <a:solidFill>
                  <a:srgbClr val="FF0000"/>
                </a:solidFill>
              </a:rPr>
              <a:t>MF_Run_Fwd</a:t>
            </a:r>
            <a:r>
              <a:rPr lang="ja-JP" altLang="en-US" sz="2400" dirty="0"/>
              <a:t>」を追加して繋げます。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FFF4C1-EFE1-43B2-B023-F354DE5F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449325" cy="220058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ADA4718-D9EF-47A0-9AD2-670A3057B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574622"/>
            <a:ext cx="5239481" cy="213389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8AD72D3-E624-4784-A268-F09C7DDB29CF}"/>
              </a:ext>
            </a:extLst>
          </p:cNvPr>
          <p:cNvSpPr txBox="1"/>
          <p:nvPr/>
        </p:nvSpPr>
        <p:spPr>
          <a:xfrm>
            <a:off x="6096000" y="5877523"/>
            <a:ext cx="58224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dirty="0" err="1"/>
              <a:t>MF_Run_Fwd</a:t>
            </a:r>
            <a:r>
              <a:rPr lang="ja-JP" altLang="en-US" sz="2400" dirty="0"/>
              <a:t>も</a:t>
            </a:r>
            <a:r>
              <a:rPr lang="ja-JP" altLang="en-US" sz="2400" b="1" dirty="0">
                <a:solidFill>
                  <a:srgbClr val="FF0000"/>
                </a:solidFill>
              </a:rPr>
              <a:t>ループ設定</a:t>
            </a:r>
            <a:r>
              <a:rPr lang="ja-JP" altLang="en-US" sz="2400" dirty="0"/>
              <a:t>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14916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Idle</a:t>
            </a:r>
            <a:r>
              <a:rPr kumimoji="1" lang="ja-JP" altLang="en-US" sz="2400" dirty="0"/>
              <a:t>から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Run</a:t>
            </a:r>
            <a:r>
              <a:rPr kumimoji="1" lang="ja-JP" altLang="en-US" sz="2400" dirty="0"/>
              <a:t>に繋げましょう。</a:t>
            </a:r>
            <a:endParaRPr kumimoji="1" lang="en-US" altLang="ja-JP" sz="2400" dirty="0"/>
          </a:p>
          <a:p>
            <a:r>
              <a:rPr lang="ja-JP" altLang="en-US" sz="2400" dirty="0"/>
              <a:t>繋ぐと</a:t>
            </a:r>
            <a:r>
              <a:rPr lang="ja-JP" altLang="en-US" sz="2400" b="1" dirty="0">
                <a:solidFill>
                  <a:srgbClr val="FF0000"/>
                </a:solidFill>
              </a:rPr>
              <a:t>トランジションルール</a:t>
            </a:r>
            <a:r>
              <a:rPr lang="ja-JP" altLang="en-US" sz="2400" dirty="0"/>
              <a:t>が自動で付与されます。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切り替えるかどうかの条件を書く場所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C120B1-569F-4410-9D7A-3D8050D0E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676036" cy="3809588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6D55C59-387B-4EB3-9E7D-72AF998001AB}"/>
              </a:ext>
            </a:extLst>
          </p:cNvPr>
          <p:cNvSpPr/>
          <p:nvPr/>
        </p:nvSpPr>
        <p:spPr>
          <a:xfrm rot="7860251">
            <a:off x="4652682" y="3555231"/>
            <a:ext cx="502023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849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トランジションルールをダブルクリックして開きましょう。</a:t>
            </a:r>
            <a:endParaRPr kumimoji="1" lang="en-US" altLang="ja-JP" sz="2400" dirty="0"/>
          </a:p>
          <a:p>
            <a:r>
              <a:rPr lang="ja-JP" altLang="en-US" sz="2400" dirty="0"/>
              <a:t>先ほどの</a:t>
            </a:r>
            <a:r>
              <a:rPr lang="en-US" altLang="ja-JP" sz="2400" b="1" dirty="0" err="1">
                <a:solidFill>
                  <a:srgbClr val="FF0000"/>
                </a:solidFill>
              </a:rPr>
              <a:t>IsMove</a:t>
            </a:r>
            <a:r>
              <a:rPr lang="ja-JP" altLang="en-US" sz="2400" dirty="0"/>
              <a:t>をそのまま繋ぎましょう。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AFF023-12A8-4EDF-9D57-F980F5F63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928671" cy="39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70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63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Run</a:t>
            </a:r>
            <a:r>
              <a:rPr kumimoji="1" lang="ja-JP" altLang="en-US" sz="2400" dirty="0"/>
              <a:t>から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Idle</a:t>
            </a:r>
            <a:r>
              <a:rPr kumimoji="1" lang="ja-JP" altLang="en-US" sz="2400" dirty="0"/>
              <a:t>に戻るフローも作りましょう。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84F6CF-645F-47B6-92B8-B9BB51008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05901" cy="214342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9070D06-21A2-488A-8ABD-51B516516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100918"/>
            <a:ext cx="5830114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832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はスケルタルメッシュで設定します。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BP_ThirdPersonCharacter</a:t>
            </a:r>
            <a:r>
              <a:rPr lang="ja-JP" altLang="en-US" sz="2400" dirty="0"/>
              <a:t>を開いて設定しましょう。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6BA7F7F-70FB-4B41-AC7B-5FE68EF2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582164" cy="4448796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447B27FC-41E9-4508-B040-A3B55E04FBA6}"/>
              </a:ext>
            </a:extLst>
          </p:cNvPr>
          <p:cNvSpPr/>
          <p:nvPr/>
        </p:nvSpPr>
        <p:spPr>
          <a:xfrm rot="13240267">
            <a:off x="2917765" y="6371247"/>
            <a:ext cx="502023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73819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22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実行して</a:t>
            </a:r>
            <a:r>
              <a:rPr kumimoji="1" lang="en-US" altLang="ja-JP" sz="2400" dirty="0"/>
              <a:t>Idle</a:t>
            </a:r>
            <a:r>
              <a:rPr kumimoji="1" lang="ja-JP" altLang="en-US" sz="2400" dirty="0"/>
              <a:t>と</a:t>
            </a:r>
            <a:r>
              <a:rPr kumimoji="1" lang="en-US" altLang="ja-JP" sz="2400" dirty="0"/>
              <a:t>Run</a:t>
            </a:r>
            <a:r>
              <a:rPr kumimoji="1" lang="ja-JP" altLang="en-US" sz="2400" dirty="0"/>
              <a:t>が切り替わるか確認しましょう。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DD8874D-DB2A-49C8-A5D8-6A45F6BDB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804877" cy="443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18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221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の「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インスタンスをプレビュー</a:t>
            </a:r>
            <a:r>
              <a:rPr kumimoji="1" lang="ja-JP" altLang="en-US" sz="2400" dirty="0"/>
              <a:t>」を設定すると、</a:t>
            </a:r>
            <a:endParaRPr kumimoji="1" lang="en-US" altLang="ja-JP" sz="2400" dirty="0"/>
          </a:p>
          <a:p>
            <a:r>
              <a:rPr lang="ja-JP" altLang="en-US" sz="2400" dirty="0"/>
              <a:t>ゲーム実行中にデバッグできます。</a:t>
            </a:r>
            <a:endParaRPr lang="en-US" altLang="ja-JP" sz="2400" dirty="0"/>
          </a:p>
          <a:p>
            <a:r>
              <a:rPr kumimoji="1" lang="ja-JP" altLang="en-US" sz="2400" dirty="0"/>
              <a:t>アニメーションや処理の遷移がリアルタイムに見れて便利です。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94CDFE-4F5D-457D-AEE8-DBDEDE520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4534533" cy="117173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93A55DC-305A-4171-A669-772C5DC83C3E}"/>
              </a:ext>
            </a:extLst>
          </p:cNvPr>
          <p:cNvSpPr/>
          <p:nvPr/>
        </p:nvSpPr>
        <p:spPr>
          <a:xfrm rot="13240267">
            <a:off x="3697695" y="3448752"/>
            <a:ext cx="502023" cy="36755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D74CB07-3F8A-40B0-9EA6-BCCAACEF0661}"/>
              </a:ext>
            </a:extLst>
          </p:cNvPr>
          <p:cNvSpPr txBox="1"/>
          <p:nvPr/>
        </p:nvSpPr>
        <p:spPr>
          <a:xfrm>
            <a:off x="567542" y="386789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ゲーム実行中に設定してください。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67928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19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イベントグラフの処理は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C++</a:t>
            </a:r>
            <a:r>
              <a:rPr kumimoji="1" lang="ja-JP" altLang="en-US" sz="2400" dirty="0"/>
              <a:t>でも書くことができます。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複雑な処理が必要な場合は考えてみましょう。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28BF226-CE86-43DB-9E73-FD9215EC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90099"/>
            <a:ext cx="8101329" cy="425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15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130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授業で練習するのは基本の遷移までです。</a:t>
            </a:r>
            <a:endParaRPr lang="en-US" altLang="ja-JP" sz="2400" dirty="0"/>
          </a:p>
          <a:p>
            <a:r>
              <a:rPr lang="en-US" altLang="ja-JP" sz="2400" dirty="0"/>
              <a:t>UE</a:t>
            </a:r>
            <a:r>
              <a:rPr lang="ja-JP" altLang="en-US" sz="2400" dirty="0"/>
              <a:t>にはアニメーションに関する機能がまだたくさんあります。</a:t>
            </a:r>
            <a:endParaRPr lang="en-US" altLang="ja-JP" sz="2400" dirty="0"/>
          </a:p>
          <a:p>
            <a:r>
              <a:rPr lang="ja-JP" altLang="en-US" sz="2400" dirty="0"/>
              <a:t>残りは制作を通して学習していきましょう。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サードパーソンテンプレートにある「</a:t>
            </a:r>
            <a:r>
              <a:rPr lang="en-US" altLang="ja-JP" sz="2400" b="1" dirty="0" err="1">
                <a:solidFill>
                  <a:srgbClr val="0070C0"/>
                </a:solidFill>
              </a:rPr>
              <a:t>ABP_Manny</a:t>
            </a:r>
            <a:r>
              <a:rPr lang="ja-JP" altLang="en-US" sz="2400" dirty="0"/>
              <a:t>」など、</a:t>
            </a:r>
            <a:endParaRPr lang="en-US" altLang="ja-JP" sz="2400" dirty="0"/>
          </a:p>
          <a:p>
            <a:r>
              <a:rPr lang="ja-JP" altLang="en-US" sz="2400" dirty="0"/>
              <a:t>公式のサンプルなども参考になります。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0365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818</Words>
  <Application>Microsoft Office PowerPoint</Application>
  <PresentationFormat>ワイド画面</PresentationFormat>
  <Paragraphs>118</Paragraphs>
  <Slides>38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38</vt:i4>
      </vt:variant>
    </vt:vector>
  </HeadingPairs>
  <TitlesOfParts>
    <vt:vector size="4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94</cp:revision>
  <dcterms:created xsi:type="dcterms:W3CDTF">2024-08-27T02:15:54Z</dcterms:created>
  <dcterms:modified xsi:type="dcterms:W3CDTF">2025-02-13T05:55:45Z</dcterms:modified>
</cp:coreProperties>
</file>