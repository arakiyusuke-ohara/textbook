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32" r:id="rId1"/>
  </p:sldMasterIdLst>
  <p:sldIdLst>
    <p:sldId id="256" r:id="rId2"/>
    <p:sldId id="257" r:id="rId3"/>
    <p:sldId id="285" r:id="rId4"/>
    <p:sldId id="288" r:id="rId5"/>
    <p:sldId id="289" r:id="rId6"/>
    <p:sldId id="290" r:id="rId7"/>
    <p:sldId id="291" r:id="rId8"/>
    <p:sldId id="294" r:id="rId9"/>
    <p:sldId id="293" r:id="rId10"/>
    <p:sldId id="295" r:id="rId11"/>
    <p:sldId id="296" r:id="rId12"/>
    <p:sldId id="297" r:id="rId13"/>
    <p:sldId id="300" r:id="rId14"/>
    <p:sldId id="298" r:id="rId15"/>
    <p:sldId id="299" r:id="rId16"/>
    <p:sldId id="301" r:id="rId17"/>
    <p:sldId id="302" r:id="rId18"/>
    <p:sldId id="303" r:id="rId19"/>
    <p:sldId id="304" r:id="rId20"/>
    <p:sldId id="305" r:id="rId21"/>
    <p:sldId id="306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C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tableStyles" Target="tableStyle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097280" y="758952"/>
            <a:ext cx="10058400" cy="3566160"/>
          </a:xfrm>
        </p:spPr>
        <p:txBody>
          <a:bodyPr anchor="b">
            <a:normAutofit/>
          </a:bodyPr>
          <a:lstStyle>
            <a:lvl1pPr algn="l">
              <a:lnSpc>
                <a:spcPct val="85000"/>
              </a:lnSpc>
              <a:defRPr sz="8000" spc="-50" baseline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00051" y="4455621"/>
            <a:ext cx="10058400" cy="1143000"/>
          </a:xfrm>
        </p:spPr>
        <p:txBody>
          <a:bodyPr lIns="91440" rIns="91440">
            <a:normAutofit/>
          </a:bodyPr>
          <a:lstStyle>
            <a:lvl1pPr marL="0" indent="0" algn="l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 algn="ctr">
              <a:buNone/>
              <a:defRPr sz="2400"/>
            </a:lvl2pPr>
            <a:lvl3pPr marL="914400" indent="0" algn="ctr">
              <a:buNone/>
              <a:defRPr sz="2400"/>
            </a:lvl3pPr>
            <a:lvl4pPr marL="1371600" indent="0" algn="ctr">
              <a:buNone/>
              <a:defRPr sz="2000"/>
            </a:lvl4pPr>
            <a:lvl5pPr marL="1828800" indent="0" algn="ctr">
              <a:buNone/>
              <a:defRPr sz="2000"/>
            </a:lvl5pPr>
            <a:lvl6pPr marL="2286000" indent="0" algn="ctr">
              <a:buNone/>
              <a:defRPr sz="2000"/>
            </a:lvl6pPr>
            <a:lvl7pPr marL="2743200" indent="0" algn="ctr">
              <a:buNone/>
              <a:defRPr sz="2000"/>
            </a:lvl7pPr>
            <a:lvl8pPr marL="3200400" indent="0" algn="ctr">
              <a:buNone/>
              <a:defRPr sz="2000"/>
            </a:lvl8pPr>
            <a:lvl9pPr marL="3657600" indent="0" algn="ctr">
              <a:buNone/>
              <a:defRPr sz="2000"/>
            </a:lvl9pPr>
          </a:lstStyle>
          <a:p>
            <a:r>
              <a:rPr lang="ja-JP" altLang="en-US"/>
              <a:t>マスター サブタイトルの書式設定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9949251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40505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セクション見出し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758952"/>
            <a:ext cx="10058400" cy="3566160"/>
          </a:xfrm>
        </p:spPr>
        <p:txBody>
          <a:bodyPr anchor="b" anchorCtr="0">
            <a:normAutofit/>
          </a:bodyPr>
          <a:lstStyle>
            <a:lvl1pPr>
              <a:lnSpc>
                <a:spcPct val="85000"/>
              </a:lnSpc>
              <a:defRPr sz="8000" b="0">
                <a:solidFill>
                  <a:schemeClr val="tx1">
                    <a:lumMod val="85000"/>
                    <a:lumOff val="15000"/>
                  </a:schemeClr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4453128"/>
            <a:ext cx="10058400" cy="1143000"/>
          </a:xfrm>
        </p:spPr>
        <p:txBody>
          <a:bodyPr lIns="91440" rIns="91440" anchor="t" anchorCtr="0">
            <a:normAutofit/>
          </a:bodyPr>
          <a:lstStyle>
            <a:lvl1pPr marL="0" indent="0">
              <a:buNone/>
              <a:defRPr sz="2400" cap="all" spc="200" baseline="0">
                <a:solidFill>
                  <a:schemeClr val="tx2"/>
                </a:solidFill>
                <a:latin typeface="+mj-lt"/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9" name="Straight Connector 8"/>
          <p:cNvCxnSpPr/>
          <p:nvPr/>
        </p:nvCxnSpPr>
        <p:spPr>
          <a:xfrm>
            <a:off x="1207658" y="4343400"/>
            <a:ext cx="987552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3563954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7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097278" y="1845734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17920" y="1845735"/>
            <a:ext cx="4937760" cy="402336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19485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</p:spPr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09728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217920" y="1846052"/>
            <a:ext cx="4937760" cy="736282"/>
          </a:xfrm>
        </p:spPr>
        <p:txBody>
          <a:bodyPr lIns="91440" rIns="91440" anchor="ctr">
            <a:normAutofit/>
          </a:bodyPr>
          <a:lstStyle>
            <a:lvl1pPr marL="0" indent="0">
              <a:buNone/>
              <a:defRPr sz="2000" b="0" cap="all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217920" y="2582334"/>
            <a:ext cx="4937760" cy="33782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3327442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0230604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6" name="Rectangle 5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197505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16" y="0"/>
            <a:ext cx="4050791" cy="6858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4040071" y="0"/>
            <a:ext cx="64008" cy="6858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594359"/>
            <a:ext cx="3200400" cy="2286000"/>
          </a:xfrm>
        </p:spPr>
        <p:txBody>
          <a:bodyPr anchor="b">
            <a:norm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800600" y="731520"/>
            <a:ext cx="6492240" cy="5257800"/>
          </a:xfrm>
        </p:spPr>
        <p:txBody>
          <a:bodyPr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2926080"/>
            <a:ext cx="3200400" cy="3379124"/>
          </a:xfrm>
        </p:spPr>
        <p:txBody>
          <a:bodyPr lIns="91440" rIns="91440">
            <a:normAutofit/>
          </a:bodyPr>
          <a:lstStyle>
            <a:lvl1pPr marL="0" indent="0"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65512" y="6459785"/>
            <a:ext cx="2618510" cy="365125"/>
          </a:xfrm>
        </p:spPr>
        <p:txBody>
          <a:bodyPr/>
          <a:lstStyle>
            <a:lvl1pPr algn="l">
              <a:defRPr/>
            </a:lvl1pPr>
          </a:lstStyle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4800600" y="6459785"/>
            <a:ext cx="4648200" cy="365125"/>
          </a:xfrm>
        </p:spPr>
        <p:txBody>
          <a:bodyPr/>
          <a:lstStyle>
            <a:lvl1pPr algn="l">
              <a:defRPr>
                <a:solidFill>
                  <a:schemeClr val="tx2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0882021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/>
          <p:cNvSpPr/>
          <p:nvPr/>
        </p:nvSpPr>
        <p:spPr>
          <a:xfrm>
            <a:off x="0" y="4953000"/>
            <a:ext cx="12188825" cy="19050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491507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097280" y="5074920"/>
            <a:ext cx="10113645" cy="822960"/>
          </a:xfrm>
        </p:spPr>
        <p:txBody>
          <a:bodyPr lIns="91440" tIns="0" rIns="91440" bIns="0" anchor="b">
            <a:noAutofit/>
          </a:bodyPr>
          <a:lstStyle>
            <a:lvl1pPr>
              <a:defRPr sz="3600" b="0">
                <a:solidFill>
                  <a:srgbClr val="FFFFFF"/>
                </a:solidFill>
              </a:defRPr>
            </a:lvl1pPr>
          </a:lstStyle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5" y="0"/>
            <a:ext cx="12191985" cy="4915076"/>
          </a:xfrm>
          <a:solidFill>
            <a:schemeClr val="bg2">
              <a:lumMod val="90000"/>
            </a:schemeClr>
          </a:solidFill>
        </p:spPr>
        <p:txBody>
          <a:bodyPr lIns="457200" tIns="45720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ja-JP" altLang="en-US"/>
              <a:t>アイコンをクリックして図を追加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097280" y="5907024"/>
            <a:ext cx="10113264" cy="594360"/>
          </a:xfrm>
        </p:spPr>
        <p:txBody>
          <a:bodyPr lIns="91440" tIns="0" rIns="91440" bIns="0">
            <a:normAutofit/>
          </a:bodyPr>
          <a:lstStyle>
            <a:lvl1pPr marL="0" indent="0">
              <a:spcBef>
                <a:spcPts val="0"/>
              </a:spcBef>
              <a:spcAft>
                <a:spcPts val="600"/>
              </a:spcAft>
              <a:buNone/>
              <a:defRPr sz="1500">
                <a:solidFill>
                  <a:srgbClr val="FFFFFF"/>
                </a:solidFill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ja-JP" altLang="en-US"/>
              <a:t>マスター テキストの書式設定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871613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00044998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3175" y="6400800"/>
            <a:ext cx="12188825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8" name="Rectangle 7"/>
          <p:cNvSpPr/>
          <p:nvPr/>
        </p:nvSpPr>
        <p:spPr>
          <a:xfrm>
            <a:off x="15" y="6334316"/>
            <a:ext cx="12188825" cy="64008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412302"/>
            <a:ext cx="2628900" cy="5759898"/>
          </a:xfrm>
        </p:spPr>
        <p:txBody>
          <a:bodyPr vert="eaVert"/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412302"/>
            <a:ext cx="7734300" cy="5759898"/>
          </a:xfrm>
        </p:spPr>
        <p:txBody>
          <a:bodyPr vert="eaVert" lIns="45720" tIns="0" rIns="45720" bIns="0"/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9905992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/>
          <p:cNvSpPr/>
          <p:nvPr/>
        </p:nvSpPr>
        <p:spPr>
          <a:xfrm>
            <a:off x="1" y="6400800"/>
            <a:ext cx="12192000" cy="457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9" name="Rectangle 8"/>
          <p:cNvSpPr/>
          <p:nvPr/>
        </p:nvSpPr>
        <p:spPr>
          <a:xfrm>
            <a:off x="15" y="6334316"/>
            <a:ext cx="12191985" cy="6648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097280" y="286603"/>
            <a:ext cx="10058400" cy="1450757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/>
          <a:p>
            <a:r>
              <a:rPr lang="ja-JP" altLang="en-US"/>
              <a:t>マスター タイトルの書式設定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097280" y="1845734"/>
            <a:ext cx="10058400" cy="4023360"/>
          </a:xfrm>
          <a:prstGeom prst="rect">
            <a:avLst/>
          </a:prstGeom>
        </p:spPr>
        <p:txBody>
          <a:bodyPr vert="horz" lIns="0" tIns="45720" rIns="0" bIns="45720" rtlCol="0">
            <a:normAutofit/>
          </a:bodyPr>
          <a:lstStyle/>
          <a:p>
            <a:pPr lvl="0"/>
            <a:r>
              <a:rPr lang="ja-JP" altLang="en-US"/>
              <a:t>マスター テキストの書式設定</a:t>
            </a:r>
          </a:p>
          <a:p>
            <a:pPr lvl="1"/>
            <a:r>
              <a:rPr lang="ja-JP" altLang="en-US"/>
              <a:t>第 </a:t>
            </a:r>
            <a:r>
              <a:rPr lang="en-US" altLang="ja-JP"/>
              <a:t>2 </a:t>
            </a:r>
            <a:r>
              <a:rPr lang="ja-JP" altLang="en-US"/>
              <a:t>レベル</a:t>
            </a:r>
          </a:p>
          <a:p>
            <a:pPr lvl="2"/>
            <a:r>
              <a:rPr lang="ja-JP" altLang="en-US"/>
              <a:t>第 </a:t>
            </a:r>
            <a:r>
              <a:rPr lang="en-US" altLang="ja-JP"/>
              <a:t>3 </a:t>
            </a:r>
            <a:r>
              <a:rPr lang="ja-JP" altLang="en-US"/>
              <a:t>レベル</a:t>
            </a:r>
          </a:p>
          <a:p>
            <a:pPr lvl="3"/>
            <a:r>
              <a:rPr lang="ja-JP" altLang="en-US"/>
              <a:t>第 </a:t>
            </a:r>
            <a:r>
              <a:rPr lang="en-US" altLang="ja-JP"/>
              <a:t>4 </a:t>
            </a:r>
            <a:r>
              <a:rPr lang="ja-JP" altLang="en-US"/>
              <a:t>レベル</a:t>
            </a:r>
          </a:p>
          <a:p>
            <a:pPr lvl="4"/>
            <a:r>
              <a:rPr lang="ja-JP" altLang="en-US"/>
              <a:t>第 </a:t>
            </a:r>
            <a:r>
              <a:rPr lang="en-US" altLang="ja-JP"/>
              <a:t>5 </a:t>
            </a:r>
            <a:r>
              <a:rPr lang="ja-JP" altLang="en-US"/>
              <a:t>レベル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097280" y="6459785"/>
            <a:ext cx="2472271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rgbClr val="FFFFFF"/>
                </a:solidFill>
              </a:defRPr>
            </a:lvl1pPr>
          </a:lstStyle>
          <a:p>
            <a:fld id="{B666B9C9-A3AA-462B-AA08-59196B1B6C77}" type="datetimeFigureOut">
              <a:rPr kumimoji="1" lang="ja-JP" altLang="en-US" smtClean="0"/>
              <a:t>2026/8/25</a:t>
            </a:fld>
            <a:endParaRPr kumimoji="1" lang="ja-JP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686185" y="6459785"/>
            <a:ext cx="482280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 cap="all" baseline="0">
                <a:solidFill>
                  <a:srgbClr val="FFFFFF"/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900458" y="6459785"/>
            <a:ext cx="131202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rgbClr val="FFFFFF"/>
                </a:solidFill>
              </a:defRPr>
            </a:lvl1pPr>
          </a:lstStyle>
          <a:p>
            <a:fld id="{39E3FDA8-9ECC-406B-9419-1FF3A8E2ABC1}" type="slidenum">
              <a:rPr kumimoji="1" lang="ja-JP" altLang="en-US" smtClean="0"/>
              <a:t>‹#›</a:t>
            </a:fld>
            <a:endParaRPr kumimoji="1" lang="ja-JP" altLang="en-US"/>
          </a:p>
        </p:txBody>
      </p:sp>
      <p:cxnSp>
        <p:nvCxnSpPr>
          <p:cNvPr id="10" name="Straight Connector 9"/>
          <p:cNvCxnSpPr/>
          <p:nvPr/>
        </p:nvCxnSpPr>
        <p:spPr>
          <a:xfrm>
            <a:off x="1193532" y="1737845"/>
            <a:ext cx="9966960" cy="0"/>
          </a:xfrm>
          <a:prstGeom prst="line">
            <a:avLst/>
          </a:prstGeom>
          <a:ln w="63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0050647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kumimoji="1" sz="4800" kern="1200" spc="-50" baseline="0">
          <a:solidFill>
            <a:schemeClr val="tx1">
              <a:lumMod val="75000"/>
              <a:lumOff val="25000"/>
            </a:schemeClr>
          </a:solidFill>
          <a:latin typeface="+mj-lt"/>
          <a:ea typeface="+mj-ea"/>
          <a:cs typeface="+mj-cs"/>
        </a:defRPr>
      </a:lvl1pPr>
    </p:titleStyle>
    <p:bodyStyle>
      <a:lvl1pPr marL="91440" indent="-91440" algn="l" defTabSz="914400" rtl="0" eaLnBrk="1" latinLnBrk="0" hangingPunct="1">
        <a:lnSpc>
          <a:spcPct val="90000"/>
        </a:lnSpc>
        <a:spcBef>
          <a:spcPts val="1200"/>
        </a:spcBef>
        <a:spcAft>
          <a:spcPts val="200"/>
        </a:spcAft>
        <a:buClr>
          <a:schemeClr val="accent1"/>
        </a:buClr>
        <a:buSzPct val="100000"/>
        <a:buFont typeface="Calibri" panose="020F0502020204030204" pitchFamily="34" charset="0"/>
        <a:buChar char=" "/>
        <a:defRPr kumimoji="1" sz="20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38404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8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56692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74980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932688" indent="-18288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11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6pPr>
      <a:lvl7pPr marL="13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7pPr>
      <a:lvl8pPr marL="15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8pPr>
      <a:lvl9pPr marL="1700000" indent="-228600" algn="l" defTabSz="914400" rtl="0" eaLnBrk="1" latinLnBrk="0" hangingPunct="1">
        <a:lnSpc>
          <a:spcPct val="90000"/>
        </a:lnSpc>
        <a:spcBef>
          <a:spcPts val="200"/>
        </a:spcBef>
        <a:spcAft>
          <a:spcPts val="400"/>
        </a:spcAft>
        <a:buClr>
          <a:schemeClr val="accent1"/>
        </a:buClr>
        <a:buFont typeface="Calibri" pitchFamily="34" charset="0"/>
        <a:buChar char="◦"/>
        <a:defRPr kumimoji="1" sz="1400" kern="1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8A8240AD-0149-4A72-B81C-F4CCEF127EC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kumimoji="1" lang="ja-JP" altLang="en-US" sz="5400" dirty="0"/>
              <a:t>学生ゲーム展示会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5712600-17A1-4B1F-A99C-059848E7D31E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ja-JP" altLang="en-US" dirty="0"/>
              <a:t>北九州校ゲーム学科の一大イベントにしたい</a:t>
            </a:r>
            <a:endParaRPr kumimoji="1" lang="ja-JP" altLang="en-US" dirty="0"/>
          </a:p>
        </p:txBody>
      </p:sp>
    </p:spTree>
    <p:extLst>
      <p:ext uri="{BB962C8B-B14F-4D97-AF65-F5344CB8AC3E}">
        <p14:creationId xmlns:p14="http://schemas.microsoft.com/office/powerpoint/2010/main" val="11154953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48628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000" dirty="0"/>
              <a:t>はじめに</a:t>
            </a:r>
            <a:endParaRPr kumimoji="1" lang="en-US" altLang="ja-JP" sz="3600" dirty="0"/>
          </a:p>
          <a:p>
            <a:endParaRPr kumimoji="1" lang="en-US" altLang="ja-JP" dirty="0"/>
          </a:p>
          <a:p>
            <a:endParaRPr kumimoji="1" lang="en-US" altLang="ja-JP" sz="3200" b="1" dirty="0">
              <a:solidFill>
                <a:srgbClr val="FF0000"/>
              </a:solidFill>
            </a:endParaRPr>
          </a:p>
          <a:p>
            <a:r>
              <a:rPr kumimoji="1" lang="ja-JP" altLang="en-US" sz="4000" b="1" dirty="0"/>
              <a:t>・学生ゲーム展示会とは</a:t>
            </a:r>
            <a:endParaRPr kumimoji="1" lang="en-US" altLang="ja-JP" sz="4000" b="1" dirty="0"/>
          </a:p>
          <a:p>
            <a:endParaRPr kumimoji="1" lang="en-US" altLang="ja-JP" sz="4000" b="1" dirty="0"/>
          </a:p>
          <a:p>
            <a:r>
              <a:rPr kumimoji="1" lang="ja-JP" altLang="en-US" sz="4000" b="1" dirty="0"/>
              <a:t>・学生ゲーム展示会の狙い</a:t>
            </a:r>
            <a:endParaRPr kumimoji="1" lang="en-US" altLang="ja-JP" sz="4000" b="1" dirty="0"/>
          </a:p>
          <a:p>
            <a:endParaRPr kumimoji="1" lang="en-US" altLang="ja-JP" sz="4000" b="1" dirty="0"/>
          </a:p>
          <a:p>
            <a:r>
              <a:rPr kumimoji="1" lang="ja-JP" altLang="en-US" sz="4000" b="1" dirty="0"/>
              <a:t>・実施内容</a:t>
            </a:r>
          </a:p>
        </p:txBody>
      </p:sp>
    </p:spTree>
    <p:extLst>
      <p:ext uri="{BB962C8B-B14F-4D97-AF65-F5344CB8AC3E}">
        <p14:creationId xmlns:p14="http://schemas.microsoft.com/office/powerpoint/2010/main" val="26224596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2921169"/>
            <a:ext cx="100315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000" b="1" dirty="0">
                <a:solidFill>
                  <a:srgbClr val="FF0000"/>
                </a:solidFill>
              </a:rPr>
              <a:t>学生ゲーム展示会とは</a:t>
            </a:r>
            <a:endParaRPr kumimoji="1" lang="en-US" altLang="ja-JP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60051051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32932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学生ゲーム展示会とは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年に一度に実施される、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各学年の集大成となるゲーム作品を、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あらゆる学校関係者の方々や、企業の方々に</a:t>
            </a:r>
            <a:endParaRPr kumimoji="1" lang="en-US" altLang="ja-JP" sz="3200" b="1" dirty="0"/>
          </a:p>
          <a:p>
            <a:r>
              <a:rPr kumimoji="1" lang="ja-JP" altLang="en-US" sz="4800" b="1" dirty="0">
                <a:solidFill>
                  <a:srgbClr val="FF0000"/>
                </a:solidFill>
              </a:rPr>
              <a:t>楽しんでもらう</a:t>
            </a:r>
            <a:r>
              <a:rPr kumimoji="1" lang="ja-JP" altLang="en-US" sz="3200" b="1" dirty="0"/>
              <a:t>イベントです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281084345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477053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展示する作品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■１年生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/>
              <a:t>スーパーファミコンクオリティの進級作品</a:t>
            </a:r>
            <a:endParaRPr kumimoji="1" lang="en-US" altLang="ja-JP" sz="2400" b="1" dirty="0"/>
          </a:p>
          <a:p>
            <a:endParaRPr kumimoji="1" lang="en-US" altLang="ja-JP" sz="2400" b="1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■２年生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en-US" altLang="ja-JP" sz="2400" b="1" dirty="0"/>
              <a:t>Nintendo64</a:t>
            </a:r>
            <a:r>
              <a:rPr kumimoji="1" lang="ja-JP" altLang="en-US" sz="2400" b="1" dirty="0"/>
              <a:t>クオリティの就職作品</a:t>
            </a:r>
            <a:endParaRPr kumimoji="1" lang="en-US" altLang="ja-JP" sz="2400" b="1" dirty="0"/>
          </a:p>
          <a:p>
            <a:endParaRPr kumimoji="1" lang="en-US" altLang="ja-JP" sz="2400" b="1" dirty="0"/>
          </a:p>
          <a:p>
            <a:r>
              <a:rPr kumimoji="1" lang="ja-JP" altLang="en-US" sz="2400" b="1" dirty="0">
                <a:solidFill>
                  <a:srgbClr val="FF0000"/>
                </a:solidFill>
              </a:rPr>
              <a:t>■３年生</a:t>
            </a:r>
            <a:endParaRPr kumimoji="1" lang="en-US" altLang="ja-JP" sz="2400" b="1" dirty="0">
              <a:solidFill>
                <a:srgbClr val="FF0000"/>
              </a:solidFill>
            </a:endParaRPr>
          </a:p>
          <a:p>
            <a:r>
              <a:rPr kumimoji="1" lang="ja-JP" altLang="en-US" sz="2400" b="1" dirty="0"/>
              <a:t>近代ゲームクオリティの卒研作品</a:t>
            </a:r>
            <a:endParaRPr kumimoji="1" lang="en-US" altLang="ja-JP" sz="2400" b="1" dirty="0"/>
          </a:p>
          <a:p>
            <a:endParaRPr kumimoji="1" lang="en-US" altLang="ja-JP" sz="2400" b="1" dirty="0"/>
          </a:p>
          <a:p>
            <a:r>
              <a:rPr kumimoji="1" lang="en-US" altLang="ja-JP" sz="2400" b="1" dirty="0"/>
              <a:t>※</a:t>
            </a:r>
            <a:r>
              <a:rPr kumimoji="1" lang="ja-JP" altLang="en-US" sz="2400" b="1" dirty="0"/>
              <a:t>いずれも、教員の審査が通ったクオリティの高いものを展示します</a:t>
            </a:r>
            <a:endParaRPr kumimoji="1" lang="en-US" altLang="ja-JP" sz="2400" b="1" dirty="0"/>
          </a:p>
        </p:txBody>
      </p:sp>
    </p:spTree>
    <p:extLst>
      <p:ext uri="{BB962C8B-B14F-4D97-AF65-F5344CB8AC3E}">
        <p14:creationId xmlns:p14="http://schemas.microsoft.com/office/powerpoint/2010/main" val="688359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招待する方々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・ゲーム学科以外の学生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・教職員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・ゲーム学科学生の保護者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・ゲーム会社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2303216467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2921169"/>
            <a:ext cx="100315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000" b="1" dirty="0">
                <a:solidFill>
                  <a:srgbClr val="FF0000"/>
                </a:solidFill>
              </a:rPr>
              <a:t>学生ゲーム展示会の狙い</a:t>
            </a:r>
            <a:endParaRPr kumimoji="1" lang="en-US" altLang="ja-JP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44712900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304698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制作モチベーション向上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展示会があることにより、</a:t>
            </a:r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展示会を目標に学生が作品を作る</a:t>
            </a:r>
            <a:r>
              <a:rPr kumimoji="1" lang="ja-JP" altLang="en-US" sz="3200" b="1" dirty="0"/>
              <a:t>ことになります。</a:t>
            </a:r>
            <a:endParaRPr kumimoji="1" lang="en-US" altLang="ja-JP" sz="3200" b="1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学生にとっては大きな目標となります。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11749868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35394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作品の質の向上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多くの方に遊んでもらい、多くの意見をもらい、</a:t>
            </a:r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作品のブラッシュアップ</a:t>
            </a:r>
            <a:r>
              <a:rPr kumimoji="1" lang="ja-JP" altLang="en-US" sz="3200" b="1" dirty="0"/>
              <a:t>の参考とします。</a:t>
            </a:r>
            <a:endParaRPr kumimoji="1" lang="en-US" altLang="ja-JP" sz="3200" b="1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特に就職作品のブラッシュアップは、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業界就職に大きく影響する重要なものとなります。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3590504859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企業からスカウト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企業の方から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スカウト</a:t>
            </a:r>
            <a:r>
              <a:rPr kumimoji="1" lang="ja-JP" altLang="en-US" sz="3200" b="1" dirty="0"/>
              <a:t>がある可能性も十分あります。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実際に、筆記試験が免除されたり、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後日すぐに面接して採用、ということがあったりします。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37693383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楽しんでもらえるゲーム作り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展示会があることにより、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多くの方に遊んでもらうことを前提に作品を作ります。</a:t>
            </a:r>
            <a:endParaRPr kumimoji="1" lang="en-US" altLang="ja-JP" sz="3200" b="1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ゲーム制作で最も大事な、</a:t>
            </a:r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遊んでくれる方を満足させる</a:t>
            </a:r>
            <a:r>
              <a:rPr kumimoji="1" lang="ja-JP" altLang="en-US" sz="3200" b="1" dirty="0"/>
              <a:t>ことを意識した、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ゲーム制作をすることになります。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8473501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2921169"/>
            <a:ext cx="100315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000" b="1" dirty="0">
                <a:solidFill>
                  <a:srgbClr val="FF0000"/>
                </a:solidFill>
              </a:rPr>
              <a:t>実施内容</a:t>
            </a:r>
            <a:endParaRPr kumimoji="1" lang="en-US" altLang="ja-JP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345769857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日程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以下の二日間で実施します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・</a:t>
            </a:r>
            <a:r>
              <a:rPr kumimoji="1" lang="en-US" altLang="ja-JP" sz="3200" b="1" dirty="0"/>
              <a:t>2027</a:t>
            </a:r>
            <a:r>
              <a:rPr kumimoji="1" lang="ja-JP" altLang="en-US" sz="3200" b="1" dirty="0"/>
              <a:t>年</a:t>
            </a:r>
            <a:r>
              <a:rPr kumimoji="1" lang="en-US" altLang="ja-JP" sz="3200" b="1" dirty="0"/>
              <a:t>2</a:t>
            </a:r>
            <a:r>
              <a:rPr kumimoji="1" lang="ja-JP" altLang="en-US" sz="3200" b="1" dirty="0"/>
              <a:t>月</a:t>
            </a:r>
            <a:r>
              <a:rPr kumimoji="1" lang="en-US" altLang="ja-JP" sz="3200" b="1" dirty="0"/>
              <a:t>5</a:t>
            </a:r>
            <a:r>
              <a:rPr kumimoji="1" lang="ja-JP" altLang="en-US" sz="3200" b="1" dirty="0"/>
              <a:t>日（金）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・</a:t>
            </a:r>
            <a:r>
              <a:rPr kumimoji="1" lang="en-US" altLang="ja-JP" sz="3200" b="1" dirty="0"/>
              <a:t>2027</a:t>
            </a:r>
            <a:r>
              <a:rPr kumimoji="1" lang="ja-JP" altLang="en-US" sz="3200" b="1" dirty="0"/>
              <a:t>年</a:t>
            </a:r>
            <a:r>
              <a:rPr kumimoji="1" lang="en-US" altLang="ja-JP" sz="3200" b="1" dirty="0"/>
              <a:t>2</a:t>
            </a:r>
            <a:r>
              <a:rPr kumimoji="1" lang="ja-JP" altLang="en-US" sz="3200" b="1" dirty="0"/>
              <a:t>月</a:t>
            </a:r>
            <a:r>
              <a:rPr kumimoji="1" lang="en-US" altLang="ja-JP" sz="3200" b="1" dirty="0"/>
              <a:t>6</a:t>
            </a:r>
            <a:r>
              <a:rPr kumimoji="1" lang="ja-JP" altLang="en-US" sz="3200" b="1" dirty="0"/>
              <a:t>日（土）</a:t>
            </a:r>
            <a:endParaRPr kumimoji="1" lang="en-US" altLang="ja-JP" sz="3200" b="1" dirty="0"/>
          </a:p>
          <a:p>
            <a:endParaRPr kumimoji="1" lang="en-US" altLang="ja-JP" sz="3200" b="1" dirty="0"/>
          </a:p>
          <a:p>
            <a:r>
              <a:rPr kumimoji="1" lang="ja-JP" altLang="en-US" sz="2800" b="1" dirty="0">
                <a:solidFill>
                  <a:srgbClr val="FF0000"/>
                </a:solidFill>
              </a:rPr>
              <a:t>平日でも休日でも来られやすい</a:t>
            </a:r>
            <a:r>
              <a:rPr kumimoji="1" lang="ja-JP" altLang="en-US" sz="2800" b="1" dirty="0"/>
              <a:t>ように実施します。</a:t>
            </a:r>
            <a:endParaRPr kumimoji="1" lang="en-US" altLang="ja-JP" sz="2800" b="1" dirty="0"/>
          </a:p>
          <a:p>
            <a:r>
              <a:rPr kumimoji="1" lang="ja-JP" altLang="en-US" sz="2800" b="1" dirty="0"/>
              <a:t>また企業を少しでも多く呼ぶために、</a:t>
            </a:r>
            <a:endParaRPr kumimoji="1" lang="en-US" altLang="ja-JP" sz="2800" b="1" dirty="0"/>
          </a:p>
          <a:p>
            <a:r>
              <a:rPr kumimoji="1" lang="ja-JP" altLang="en-US" sz="2800" b="1" dirty="0">
                <a:solidFill>
                  <a:srgbClr val="FF0000"/>
                </a:solidFill>
              </a:rPr>
              <a:t>周辺のゲーム系専門学校の実施日に合わせて</a:t>
            </a:r>
            <a:r>
              <a:rPr kumimoji="1" lang="ja-JP" altLang="en-US" sz="2800" b="1" dirty="0"/>
              <a:t>実施します。</a:t>
            </a:r>
            <a:endParaRPr kumimoji="1" lang="en-US" altLang="ja-JP" sz="2800" b="1" dirty="0"/>
          </a:p>
        </p:txBody>
      </p:sp>
    </p:spTree>
    <p:extLst>
      <p:ext uri="{BB962C8B-B14F-4D97-AF65-F5344CB8AC3E}">
        <p14:creationId xmlns:p14="http://schemas.microsoft.com/office/powerpoint/2010/main" val="181967287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使用教室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■１６４教室</a:t>
            </a:r>
            <a:endParaRPr kumimoji="1" lang="en-US" altLang="ja-JP" sz="3200" b="1" dirty="0">
              <a:solidFill>
                <a:srgbClr val="FF0000"/>
              </a:solidFill>
            </a:endParaRPr>
          </a:p>
          <a:p>
            <a:r>
              <a:rPr kumimoji="1" lang="ja-JP" altLang="en-US" sz="3200" b="1" dirty="0"/>
              <a:t>１年生と３年生の作品を展示。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企業の目当てでない学生作品を展示する、</a:t>
            </a:r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遊んで楽しいスペース</a:t>
            </a:r>
            <a:r>
              <a:rPr kumimoji="1" lang="ja-JP" altLang="en-US" sz="3200" b="1" dirty="0"/>
              <a:t>にする。</a:t>
            </a:r>
            <a:endParaRPr kumimoji="1" lang="en-US" altLang="ja-JP" sz="3200" b="1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■１７４教室</a:t>
            </a:r>
            <a:endParaRPr kumimoji="1" lang="en-US" altLang="ja-JP" sz="3200" b="1" dirty="0">
              <a:solidFill>
                <a:srgbClr val="FF0000"/>
              </a:solidFill>
            </a:endParaRPr>
          </a:p>
          <a:p>
            <a:r>
              <a:rPr kumimoji="1" lang="ja-JP" altLang="en-US" sz="3200" b="1" dirty="0"/>
              <a:t>２年生の作品を展示。</a:t>
            </a:r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企業が採用目当てで見に来るスペース</a:t>
            </a:r>
            <a:r>
              <a:rPr kumimoji="1" lang="ja-JP" altLang="en-US" sz="3200" b="1" dirty="0"/>
              <a:t>にする。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19822619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50167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使用設備</a:t>
            </a:r>
            <a:endParaRPr kumimoji="1" lang="en-US" altLang="ja-JP" sz="3200" b="1" u="sng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■展示ブース</a:t>
            </a:r>
            <a:endParaRPr kumimoji="1" lang="en-US" altLang="ja-JP" sz="3200" b="1" dirty="0">
              <a:solidFill>
                <a:srgbClr val="FF0000"/>
              </a:solidFill>
            </a:endParaRPr>
          </a:p>
          <a:p>
            <a:r>
              <a:rPr kumimoji="1" lang="ja-JP" altLang="en-US" sz="3200" b="1" dirty="0"/>
              <a:t>普段、授業で使用している学生の座席を、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そのままブースとして使用します。</a:t>
            </a:r>
            <a:endParaRPr kumimoji="1" lang="en-US" altLang="ja-JP" sz="3200" b="1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・使用する設備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　・机と椅子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　・ゲーミング</a:t>
            </a:r>
            <a:r>
              <a:rPr kumimoji="1" lang="en-US" altLang="ja-JP" sz="3200" b="1" dirty="0"/>
              <a:t>PC</a:t>
            </a:r>
          </a:p>
          <a:p>
            <a:r>
              <a:rPr kumimoji="1" lang="ja-JP" altLang="en-US" sz="3200" b="1" dirty="0"/>
              <a:t>　・モニター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148068470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導線</a:t>
            </a:r>
            <a:endParaRPr kumimoji="1" lang="en-US" altLang="ja-JP" sz="3200" b="1" u="sng" dirty="0"/>
          </a:p>
          <a:p>
            <a:endParaRPr kumimoji="1" lang="en-US" altLang="ja-JP" sz="3200" b="1" u="sng" dirty="0"/>
          </a:p>
          <a:p>
            <a:endParaRPr kumimoji="1" lang="en-US" altLang="ja-JP" sz="3200" b="1" u="sng" dirty="0"/>
          </a:p>
        </p:txBody>
      </p:sp>
      <p:sp>
        <p:nvSpPr>
          <p:cNvPr id="2" name="四角形: 角を丸くする 1">
            <a:extLst>
              <a:ext uri="{FF2B5EF4-FFF2-40B4-BE49-F238E27FC236}">
                <a16:creationId xmlns:a16="http://schemas.microsoft.com/office/drawing/2014/main" id="{EBBF7B67-E86D-46B6-AD8D-DBAFBD6335BC}"/>
              </a:ext>
            </a:extLst>
          </p:cNvPr>
          <p:cNvSpPr/>
          <p:nvPr/>
        </p:nvSpPr>
        <p:spPr>
          <a:xfrm>
            <a:off x="4849881" y="1204603"/>
            <a:ext cx="941320" cy="3800410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3600" dirty="0"/>
              <a:t>受付</a:t>
            </a:r>
            <a:endParaRPr kumimoji="1" lang="en-US" altLang="ja-JP" sz="3600" dirty="0"/>
          </a:p>
        </p:txBody>
      </p:sp>
      <p:sp>
        <p:nvSpPr>
          <p:cNvPr id="4" name="四角形: 角を丸くする 3">
            <a:extLst>
              <a:ext uri="{FF2B5EF4-FFF2-40B4-BE49-F238E27FC236}">
                <a16:creationId xmlns:a16="http://schemas.microsoft.com/office/drawing/2014/main" id="{4F72EE0E-28FE-4427-98C0-52ADE224A491}"/>
              </a:ext>
            </a:extLst>
          </p:cNvPr>
          <p:cNvSpPr/>
          <p:nvPr/>
        </p:nvSpPr>
        <p:spPr>
          <a:xfrm>
            <a:off x="1575590" y="3194348"/>
            <a:ext cx="941320" cy="18106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3600" dirty="0"/>
              <a:t>入口</a:t>
            </a:r>
            <a:endParaRPr kumimoji="1" lang="en-US" altLang="ja-JP" sz="3600" dirty="0"/>
          </a:p>
        </p:txBody>
      </p:sp>
      <p:sp>
        <p:nvSpPr>
          <p:cNvPr id="3" name="矢印: 右 2">
            <a:extLst>
              <a:ext uri="{FF2B5EF4-FFF2-40B4-BE49-F238E27FC236}">
                <a16:creationId xmlns:a16="http://schemas.microsoft.com/office/drawing/2014/main" id="{7BD45FE1-5C17-46A4-AA57-39F13510A71E}"/>
              </a:ext>
            </a:extLst>
          </p:cNvPr>
          <p:cNvSpPr/>
          <p:nvPr/>
        </p:nvSpPr>
        <p:spPr>
          <a:xfrm>
            <a:off x="2872509" y="3702515"/>
            <a:ext cx="1727200" cy="79432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en-US" altLang="ja-JP" dirty="0"/>
              <a:t>6</a:t>
            </a:r>
            <a:r>
              <a:rPr kumimoji="1" lang="ja-JP" altLang="en-US" dirty="0"/>
              <a:t>階へ</a:t>
            </a:r>
          </a:p>
        </p:txBody>
      </p:sp>
      <p:sp>
        <p:nvSpPr>
          <p:cNvPr id="6" name="四角形: 角を丸くする 5">
            <a:extLst>
              <a:ext uri="{FF2B5EF4-FFF2-40B4-BE49-F238E27FC236}">
                <a16:creationId xmlns:a16="http://schemas.microsoft.com/office/drawing/2014/main" id="{3768169E-A9AF-454D-86F6-16E27381AC78}"/>
              </a:ext>
            </a:extLst>
          </p:cNvPr>
          <p:cNvSpPr/>
          <p:nvPr/>
        </p:nvSpPr>
        <p:spPr>
          <a:xfrm>
            <a:off x="8177879" y="1204602"/>
            <a:ext cx="941320" cy="18106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800" dirty="0"/>
              <a:t>就職作品</a:t>
            </a:r>
            <a:endParaRPr kumimoji="1" lang="en-US" altLang="ja-JP" sz="2800" dirty="0"/>
          </a:p>
        </p:txBody>
      </p:sp>
      <p:sp>
        <p:nvSpPr>
          <p:cNvPr id="7" name="矢印: 右 6">
            <a:extLst>
              <a:ext uri="{FF2B5EF4-FFF2-40B4-BE49-F238E27FC236}">
                <a16:creationId xmlns:a16="http://schemas.microsoft.com/office/drawing/2014/main" id="{50367746-330C-4193-A633-60A78A57A863}"/>
              </a:ext>
            </a:extLst>
          </p:cNvPr>
          <p:cNvSpPr/>
          <p:nvPr/>
        </p:nvSpPr>
        <p:spPr>
          <a:xfrm>
            <a:off x="6167121" y="1632466"/>
            <a:ext cx="1727200" cy="79432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７階へ</a:t>
            </a:r>
          </a:p>
        </p:txBody>
      </p:sp>
      <p:sp>
        <p:nvSpPr>
          <p:cNvPr id="8" name="矢印: 右 7">
            <a:extLst>
              <a:ext uri="{FF2B5EF4-FFF2-40B4-BE49-F238E27FC236}">
                <a16:creationId xmlns:a16="http://schemas.microsoft.com/office/drawing/2014/main" id="{D382B537-8A76-48F4-B3AD-1EDF3A6EE7E2}"/>
              </a:ext>
            </a:extLst>
          </p:cNvPr>
          <p:cNvSpPr/>
          <p:nvPr/>
        </p:nvSpPr>
        <p:spPr>
          <a:xfrm>
            <a:off x="6167121" y="3702514"/>
            <a:ext cx="1727200" cy="794327"/>
          </a:xfrm>
          <a:prstGeom prst="rightArrow">
            <a:avLst/>
          </a:prstGeom>
        </p:spPr>
        <p:style>
          <a:lnRef idx="1">
            <a:schemeClr val="accent5"/>
          </a:lnRef>
          <a:fillRef idx="3">
            <a:schemeClr val="accent5"/>
          </a:fillRef>
          <a:effectRef idx="2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kumimoji="1" lang="ja-JP" altLang="en-US" dirty="0"/>
              <a:t>そのまま</a:t>
            </a:r>
          </a:p>
        </p:txBody>
      </p:sp>
      <p:sp>
        <p:nvSpPr>
          <p:cNvPr id="9" name="四角形: 角を丸くする 8">
            <a:extLst>
              <a:ext uri="{FF2B5EF4-FFF2-40B4-BE49-F238E27FC236}">
                <a16:creationId xmlns:a16="http://schemas.microsoft.com/office/drawing/2014/main" id="{DC247087-20F0-46A2-9637-6A22E23DF542}"/>
              </a:ext>
            </a:extLst>
          </p:cNvPr>
          <p:cNvSpPr/>
          <p:nvPr/>
        </p:nvSpPr>
        <p:spPr>
          <a:xfrm>
            <a:off x="8177879" y="3194347"/>
            <a:ext cx="941320" cy="1810665"/>
          </a:xfrm>
          <a:prstGeom prst="roundRect">
            <a:avLst/>
          </a:prstGeom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vert="eaVert" rtlCol="0" anchor="ctr"/>
          <a:lstStyle/>
          <a:p>
            <a:pPr algn="ctr"/>
            <a:r>
              <a:rPr kumimoji="1" lang="ja-JP" altLang="en-US" sz="2800" dirty="0"/>
              <a:t>進級作品</a:t>
            </a:r>
            <a:endParaRPr kumimoji="1" lang="en-US" altLang="ja-JP" sz="2800" dirty="0"/>
          </a:p>
          <a:p>
            <a:pPr algn="ctr"/>
            <a:r>
              <a:rPr kumimoji="1" lang="ja-JP" altLang="en-US" sz="2800" dirty="0"/>
              <a:t>卒研作品</a:t>
            </a:r>
            <a:endParaRPr kumimoji="1" lang="en-US" altLang="ja-JP" sz="2800" dirty="0"/>
          </a:p>
        </p:txBody>
      </p:sp>
      <p:sp>
        <p:nvSpPr>
          <p:cNvPr id="10" name="テキスト ボックス 9">
            <a:extLst>
              <a:ext uri="{FF2B5EF4-FFF2-40B4-BE49-F238E27FC236}">
                <a16:creationId xmlns:a16="http://schemas.microsoft.com/office/drawing/2014/main" id="{42AF56B6-7854-4C4E-93CE-F4017735E117}"/>
              </a:ext>
            </a:extLst>
          </p:cNvPr>
          <p:cNvSpPr txBox="1"/>
          <p:nvPr/>
        </p:nvSpPr>
        <p:spPr>
          <a:xfrm>
            <a:off x="864187" y="5126358"/>
            <a:ext cx="236412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b="1" dirty="0"/>
              <a:t>学生とポスターで誘導</a:t>
            </a:r>
            <a:endParaRPr kumimoji="1" lang="en-US" altLang="ja-JP" b="1" dirty="0"/>
          </a:p>
        </p:txBody>
      </p:sp>
      <p:sp>
        <p:nvSpPr>
          <p:cNvPr id="11" name="テキスト ボックス 10">
            <a:extLst>
              <a:ext uri="{FF2B5EF4-FFF2-40B4-BE49-F238E27FC236}">
                <a16:creationId xmlns:a16="http://schemas.microsoft.com/office/drawing/2014/main" id="{F9292182-2826-480D-AB2F-9992A946C8E3}"/>
              </a:ext>
            </a:extLst>
          </p:cNvPr>
          <p:cNvSpPr txBox="1"/>
          <p:nvPr/>
        </p:nvSpPr>
        <p:spPr>
          <a:xfrm>
            <a:off x="4138478" y="5126358"/>
            <a:ext cx="3370686" cy="10772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1600" b="1" dirty="0"/>
              <a:t>学生が受付をする。</a:t>
            </a:r>
            <a:endParaRPr kumimoji="1" lang="en-US" altLang="ja-JP" sz="1600" b="1" dirty="0"/>
          </a:p>
          <a:p>
            <a:r>
              <a:rPr kumimoji="1" lang="ja-JP" altLang="en-US" sz="1600" b="1" dirty="0"/>
              <a:t>各教室について説明をして、</a:t>
            </a:r>
            <a:endParaRPr kumimoji="1" lang="en-US" altLang="ja-JP" sz="1600" b="1" dirty="0"/>
          </a:p>
          <a:p>
            <a:r>
              <a:rPr kumimoji="1" lang="ja-JP" altLang="en-US" sz="1600" b="1" dirty="0"/>
              <a:t>企業の方が採用目的で来た場合は</a:t>
            </a:r>
            <a:endParaRPr kumimoji="1" lang="en-US" altLang="ja-JP" sz="1600" b="1" dirty="0"/>
          </a:p>
          <a:p>
            <a:r>
              <a:rPr kumimoji="1" lang="ja-JP" altLang="en-US" sz="1600" b="1" dirty="0"/>
              <a:t>７階に誘導する。</a:t>
            </a:r>
            <a:endParaRPr kumimoji="1" lang="en-US" altLang="ja-JP" sz="1600" b="1" dirty="0"/>
          </a:p>
        </p:txBody>
      </p:sp>
    </p:spTree>
    <p:extLst>
      <p:ext uri="{BB962C8B-B14F-4D97-AF65-F5344CB8AC3E}">
        <p14:creationId xmlns:p14="http://schemas.microsoft.com/office/powerpoint/2010/main" val="1405866754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403187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展示スペース</a:t>
            </a:r>
            <a:endParaRPr kumimoji="1" lang="en-US" altLang="ja-JP" sz="3200" b="1" u="sng" dirty="0"/>
          </a:p>
          <a:p>
            <a:endParaRPr kumimoji="1" lang="en-US" altLang="ja-JP" sz="3200" b="1" u="sng" dirty="0"/>
          </a:p>
          <a:p>
            <a:r>
              <a:rPr kumimoji="1" lang="ja-JP" altLang="en-US" sz="3200" b="1" dirty="0"/>
              <a:t>普段の授業の座席をそのままブースにする。</a:t>
            </a:r>
            <a:endParaRPr kumimoji="1" lang="en-US" altLang="ja-JP" sz="3200" b="1" dirty="0"/>
          </a:p>
          <a:p>
            <a:endParaRPr kumimoji="1" lang="en-US" altLang="ja-JP" sz="3200" b="1" u="sng" dirty="0"/>
          </a:p>
          <a:p>
            <a:r>
              <a:rPr kumimoji="1" lang="ja-JP" altLang="en-US" sz="3200" b="1" dirty="0"/>
              <a:t>１年生と２年生は１人１台でスペースを与える。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３年生は規模が大きいため、複数台スペースを与える。</a:t>
            </a:r>
            <a:endParaRPr kumimoji="1" lang="en-US" altLang="ja-JP" sz="3200" b="1" dirty="0"/>
          </a:p>
          <a:p>
            <a:endParaRPr kumimoji="1" lang="en-US" altLang="ja-JP" sz="3200" b="1" dirty="0"/>
          </a:p>
          <a:p>
            <a:r>
              <a:rPr kumimoji="1" lang="ja-JP" altLang="en-US" sz="3200" b="1" dirty="0"/>
              <a:t>飾り付けに必要なものは</a:t>
            </a:r>
            <a:r>
              <a:rPr kumimoji="1" lang="ja-JP" altLang="en-US" sz="3200" b="1" dirty="0">
                <a:solidFill>
                  <a:srgbClr val="FF0000"/>
                </a:solidFill>
              </a:rPr>
              <a:t>学生自身で</a:t>
            </a:r>
            <a:r>
              <a:rPr kumimoji="1" lang="ja-JP" altLang="en-US" sz="3200" b="1" dirty="0"/>
              <a:t>用意させる。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649161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2921169"/>
            <a:ext cx="10031506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kumimoji="1" lang="ja-JP" altLang="en-US" sz="6000" b="1" dirty="0">
                <a:solidFill>
                  <a:srgbClr val="FF0000"/>
                </a:solidFill>
              </a:rPr>
              <a:t>その他 実現したいこと</a:t>
            </a:r>
            <a:endParaRPr kumimoji="1" lang="en-US" altLang="ja-JP" sz="6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19098103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高校生の参加</a:t>
            </a:r>
            <a:endParaRPr kumimoji="1" lang="en-US" altLang="ja-JP" sz="3200" b="1" u="sng" dirty="0"/>
          </a:p>
          <a:p>
            <a:endParaRPr kumimoji="1" lang="en-US" altLang="ja-JP" sz="3200" b="1" u="sng" dirty="0"/>
          </a:p>
          <a:p>
            <a:r>
              <a:rPr kumimoji="1" lang="ja-JP" altLang="en-US" sz="3200" b="1" dirty="0"/>
              <a:t>高校生にも参加してもらい、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入学者数増加の要因にしたいです。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30877992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206210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大型モニターの配置</a:t>
            </a:r>
            <a:endParaRPr kumimoji="1" lang="en-US" altLang="ja-JP" sz="3200" b="1" u="sng" dirty="0"/>
          </a:p>
          <a:p>
            <a:endParaRPr kumimoji="1" lang="en-US" altLang="ja-JP" sz="3200" b="1" u="sng" dirty="0"/>
          </a:p>
          <a:p>
            <a:r>
              <a:rPr kumimoji="1" lang="ja-JP" altLang="en-US" sz="3200" b="1" dirty="0"/>
              <a:t>受付に大型モニターを配置して、</a:t>
            </a:r>
            <a:endParaRPr kumimoji="1" lang="en-US" altLang="ja-JP" sz="3200" b="1" dirty="0"/>
          </a:p>
          <a:p>
            <a:r>
              <a:rPr kumimoji="1" lang="ja-JP" altLang="en-US" sz="3200" b="1" dirty="0"/>
              <a:t>展示作品の動画を常に流したいです。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4203715211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テキスト ボックス 4">
            <a:extLst>
              <a:ext uri="{FF2B5EF4-FFF2-40B4-BE49-F238E27FC236}">
                <a16:creationId xmlns:a16="http://schemas.microsoft.com/office/drawing/2014/main" id="{03603999-92BB-4304-9868-BEBCBC5D0A90}"/>
              </a:ext>
            </a:extLst>
          </p:cNvPr>
          <p:cNvSpPr txBox="1"/>
          <p:nvPr/>
        </p:nvSpPr>
        <p:spPr>
          <a:xfrm>
            <a:off x="1080247" y="654424"/>
            <a:ext cx="10031506" cy="255454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3200" b="1" u="sng" dirty="0"/>
              <a:t>大分校との合同実施</a:t>
            </a:r>
            <a:endParaRPr kumimoji="1" lang="en-US" altLang="ja-JP" sz="3200" b="1" u="sng" dirty="0"/>
          </a:p>
          <a:p>
            <a:endParaRPr kumimoji="1" lang="en-US" altLang="ja-JP" sz="3200" b="1" u="sng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大分までわざわざ来校する企業がほとんどありません。</a:t>
            </a:r>
            <a:endParaRPr kumimoji="1" lang="en-US" altLang="ja-JP" sz="3200" b="1" dirty="0">
              <a:solidFill>
                <a:srgbClr val="FF0000"/>
              </a:solidFill>
            </a:endParaRPr>
          </a:p>
          <a:p>
            <a:r>
              <a:rPr kumimoji="1" lang="ja-JP" altLang="en-US" sz="3200" b="1" dirty="0"/>
              <a:t>大分校や、他に希望する学校と合同実施し、</a:t>
            </a:r>
            <a:endParaRPr kumimoji="1" lang="en-US" altLang="ja-JP" sz="3200" b="1" dirty="0"/>
          </a:p>
          <a:p>
            <a:r>
              <a:rPr kumimoji="1" lang="ja-JP" altLang="en-US" sz="3200" b="1" dirty="0">
                <a:solidFill>
                  <a:srgbClr val="FF0000"/>
                </a:solidFill>
              </a:rPr>
              <a:t>大原全体の業界就職率向上</a:t>
            </a:r>
            <a:r>
              <a:rPr kumimoji="1" lang="ja-JP" altLang="en-US" sz="3200" b="1" dirty="0"/>
              <a:t>に貢献したいです。</a:t>
            </a:r>
            <a:endParaRPr kumimoji="1" lang="en-US" altLang="ja-JP" sz="3200" b="1" dirty="0"/>
          </a:p>
        </p:txBody>
      </p:sp>
    </p:spTree>
    <p:extLst>
      <p:ext uri="{BB962C8B-B14F-4D97-AF65-F5344CB8AC3E}">
        <p14:creationId xmlns:p14="http://schemas.microsoft.com/office/powerpoint/2010/main" val="2226110825"/>
      </p:ext>
    </p:extLst>
  </p:cSld>
  <p:clrMapOvr>
    <a:masterClrMapping/>
  </p:clrMapOvr>
</p:sld>
</file>

<file path=ppt/theme/theme1.xml><?xml version="1.0" encoding="utf-8"?>
<a:theme xmlns:a="http://schemas.openxmlformats.org/drawingml/2006/main" name="レトロスペクト">
  <a:themeElements>
    <a:clrScheme name="レトロスペクト">
      <a:dk1>
        <a:sysClr val="windowText" lastClr="000000"/>
      </a:dk1>
      <a:lt1>
        <a:sysClr val="window" lastClr="FFFFFF"/>
      </a:lt1>
      <a:dk2>
        <a:srgbClr val="455F51"/>
      </a:dk2>
      <a:lt2>
        <a:srgbClr val="E2DFCC"/>
      </a:lt2>
      <a:accent1>
        <a:srgbClr val="99CB38"/>
      </a:accent1>
      <a:accent2>
        <a:srgbClr val="63A537"/>
      </a:accent2>
      <a:accent3>
        <a:srgbClr val="37A76F"/>
      </a:accent3>
      <a:accent4>
        <a:srgbClr val="44C1A3"/>
      </a:accent4>
      <a:accent5>
        <a:srgbClr val="4EB3CF"/>
      </a:accent5>
      <a:accent6>
        <a:srgbClr val="51C3F9"/>
      </a:accent6>
      <a:hlink>
        <a:srgbClr val="6B9F25"/>
      </a:hlink>
      <a:folHlink>
        <a:srgbClr val="B26B02"/>
      </a:folHlink>
    </a:clrScheme>
    <a:fontScheme name="レトロスペクト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レトロスペクト">
      <a:fillStyleLst>
        <a:solidFill>
          <a:schemeClr val="phClr"/>
        </a:solidFill>
        <a:gradFill rotWithShape="1">
          <a:gsLst>
            <a:gs pos="0">
              <a:schemeClr val="phClr">
                <a:tint val="65000"/>
                <a:shade val="92000"/>
                <a:satMod val="130000"/>
              </a:schemeClr>
            </a:gs>
            <a:gs pos="45000">
              <a:schemeClr val="phClr">
                <a:tint val="60000"/>
                <a:shade val="99000"/>
                <a:satMod val="120000"/>
              </a:schemeClr>
            </a:gs>
            <a:gs pos="100000">
              <a:schemeClr val="phClr">
                <a:tint val="55000"/>
                <a:satMod val="140000"/>
              </a:schemeClr>
            </a:gs>
          </a:gsLst>
          <a:path path="circle">
            <a:fillToRect l="100000" t="100000" r="100000" b="100000"/>
          </a:path>
        </a:gradFill>
        <a:gradFill rotWithShape="1">
          <a:gsLst>
            <a:gs pos="0">
              <a:schemeClr val="phClr">
                <a:shade val="85000"/>
                <a:satMod val="130000"/>
              </a:schemeClr>
            </a:gs>
            <a:gs pos="34000">
              <a:schemeClr val="phClr">
                <a:shade val="87000"/>
                <a:satMod val="125000"/>
              </a:schemeClr>
            </a:gs>
            <a:gs pos="70000">
              <a:schemeClr val="phClr">
                <a:tint val="100000"/>
                <a:shade val="90000"/>
                <a:satMod val="130000"/>
              </a:schemeClr>
            </a:gs>
            <a:gs pos="100000">
              <a:schemeClr val="phClr">
                <a:tint val="100000"/>
                <a:shade val="100000"/>
                <a:satMod val="110000"/>
              </a:schemeClr>
            </a:gs>
          </a:gsLst>
          <a:path path="circle">
            <a:fillToRect l="100000" t="100000" r="100000" b="100000"/>
          </a:path>
        </a:gradFill>
      </a:fillStyleLst>
      <a:lnStyleLst>
        <a:ln w="12700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2700000" algn="br" rotWithShape="0">
              <a:srgbClr val="000000">
                <a:alpha val="60000"/>
              </a:srgbClr>
            </a:outerShdw>
          </a:effectLst>
        </a:effectStyle>
        <a:effectStyle>
          <a:effectLst>
            <a:outerShdw blurRad="44450" dist="25400" dir="2700000" algn="br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9800000"/>
            </a:lightRig>
          </a:scene3d>
          <a:sp3d prstMaterial="flat">
            <a:bevelT w="25400" h="31750"/>
          </a:sp3d>
        </a:effectStyle>
      </a:effectStyleLst>
      <a:bgFillStyleLst>
        <a:solidFill>
          <a:schemeClr val="phClr"/>
        </a:solidFill>
        <a:solidFill>
          <a:schemeClr val="phClr">
            <a:tint val="90000"/>
            <a:shade val="97000"/>
            <a:satMod val="130000"/>
          </a:schemeClr>
        </a:solidFill>
        <a:gradFill rotWithShape="1">
          <a:gsLst>
            <a:gs pos="0">
              <a:schemeClr val="phClr">
                <a:tint val="96000"/>
                <a:shade val="99000"/>
                <a:satMod val="140000"/>
              </a:schemeClr>
            </a:gs>
            <a:gs pos="65000">
              <a:schemeClr val="phClr">
                <a:tint val="100000"/>
                <a:shade val="80000"/>
                <a:satMod val="130000"/>
              </a:schemeClr>
            </a:gs>
            <a:gs pos="100000">
              <a:schemeClr val="phClr">
                <a:tint val="100000"/>
                <a:shade val="48000"/>
                <a:satMod val="120000"/>
              </a:schemeClr>
            </a:gs>
          </a:gsLst>
          <a:lin ang="162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Retrospect" id="{5F128B03-DCCA-4EEB-AB3B-CF2899314A46}" vid="{D26EA377-59BD-4C9C-9D94-EE8416EE4C79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Retrospect</Template>
  <TotalTime>261</TotalTime>
  <Words>637</Words>
  <Application>Microsoft Office PowerPoint</Application>
  <PresentationFormat>ワイド画面</PresentationFormat>
  <Paragraphs>128</Paragraphs>
  <Slides>21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2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21</vt:i4>
      </vt:variant>
    </vt:vector>
  </HeadingPairs>
  <TitlesOfParts>
    <vt:vector size="24" baseType="lpstr">
      <vt:lpstr>Calibri</vt:lpstr>
      <vt:lpstr>Calibri Light</vt:lpstr>
      <vt:lpstr>レトロスペクト</vt:lpstr>
      <vt:lpstr>学生ゲーム展示会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ゲームプログラマーの１日</dc:title>
  <dc:creator>荒木 優介</dc:creator>
  <cp:lastModifiedBy>荒木 優介</cp:lastModifiedBy>
  <cp:revision>30</cp:revision>
  <dcterms:created xsi:type="dcterms:W3CDTF">2024-12-06T01:32:32Z</dcterms:created>
  <dcterms:modified xsi:type="dcterms:W3CDTF">2026-08-25T02:49:17Z</dcterms:modified>
</cp:coreProperties>
</file>