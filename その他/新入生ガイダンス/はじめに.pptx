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3" r:id="rId7"/>
    <p:sldId id="262"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3" d="100"/>
          <a:sy n="113" d="100"/>
        </p:scale>
        <p:origin x="45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2026/3/17</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2026/3/17</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2026/3/17</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2026/3/17</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2026/3/17</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2026/3/17</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2026/3/17</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2026/3/17</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2026/3/17</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2026/3/17</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2026/3/17</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2026/3/17</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mailto:ktq&#23398;&#31821;&#30058;&#21495;@stu.o-hara.ac.jp" TargetMode="External"/><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www.microsoft.com/ja-jp/microsoft-365/onedrive/online-cloud-storage" TargetMode="Externa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latin typeface="HGS創英角ｺﾞｼｯｸUB" panose="020B0900000000000000" pitchFamily="50" charset="-128"/>
                <a:ea typeface="HGS創英角ｺﾞｼｯｸUB" panose="020B0900000000000000" pitchFamily="50" charset="-128"/>
              </a:rPr>
              <a:t>はじめに</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94633" cy="4893647"/>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ご入学おめでとうございます！！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ここから皆さんの</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ゲームクリエイター</a:t>
            </a:r>
            <a:r>
              <a:rPr lang="ja-JP" altLang="en-US" sz="2400" dirty="0">
                <a:latin typeface="HGS創英角ｺﾞｼｯｸUB" panose="020B0900000000000000" pitchFamily="50" charset="-128"/>
                <a:ea typeface="HGS創英角ｺﾞｼｯｸUB" panose="020B0900000000000000" pitchFamily="50" charset="-128"/>
              </a:rPr>
              <a:t>への道が始まります。</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ここでは、授業を受けるための準備をして、</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万全の状態で授業が始められるようにしましょう。</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■プログラム</a:t>
            </a:r>
            <a:endParaRPr lang="en-US" altLang="ja-JP" sz="2400" dirty="0">
              <a:solidFill>
                <a:srgbClr val="FF0000"/>
              </a:solidFill>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・アプリケーション紹介</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・データ保存場所作成</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a:t>
            </a:r>
            <a:r>
              <a:rPr lang="en-US" altLang="ja-JP" sz="2400" dirty="0">
                <a:latin typeface="HGS創英角ｺﾞｼｯｸUB" panose="020B0900000000000000" pitchFamily="50" charset="-128"/>
                <a:ea typeface="HGS創英角ｺﾞｼｯｸUB" panose="020B0900000000000000" pitchFamily="50" charset="-128"/>
              </a:rPr>
              <a:t>OneDrive</a:t>
            </a:r>
            <a:r>
              <a:rPr lang="ja-JP" altLang="en-US" sz="2400" dirty="0">
                <a:latin typeface="HGS創英角ｺﾞｼｯｸUB" panose="020B0900000000000000" pitchFamily="50" charset="-128"/>
                <a:ea typeface="HGS創英角ｺﾞｼｯｸUB" panose="020B0900000000000000" pitchFamily="50" charset="-128"/>
              </a:rPr>
              <a:t>とは</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a:t>
            </a:r>
            <a:r>
              <a:rPr lang="en-US" altLang="ja-JP" sz="2400" dirty="0">
                <a:latin typeface="HGS創英角ｺﾞｼｯｸUB" panose="020B0900000000000000" pitchFamily="50" charset="-128"/>
                <a:ea typeface="HGS創英角ｺﾞｼｯｸUB" panose="020B0900000000000000" pitchFamily="50" charset="-128"/>
              </a:rPr>
              <a:t>Teams</a:t>
            </a:r>
            <a:r>
              <a:rPr lang="ja-JP" altLang="en-US" sz="2400" dirty="0">
                <a:latin typeface="HGS創英角ｺﾞｼｯｸUB" panose="020B0900000000000000" pitchFamily="50" charset="-128"/>
                <a:ea typeface="HGS創英角ｺﾞｼｯｸUB" panose="020B0900000000000000" pitchFamily="50" charset="-128"/>
              </a:rPr>
              <a:t>とは</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・タイピング練習</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・さいごに</a:t>
            </a:r>
            <a:endParaRPr lang="en-US" altLang="ja-JP" sz="2400"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38792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304383" cy="584775"/>
          </a:xfrm>
          <a:prstGeom prst="rect">
            <a:avLst/>
          </a:prstGeom>
          <a:noFill/>
        </p:spPr>
        <p:txBody>
          <a:bodyPr wrap="none" rtlCol="0">
            <a:spAutoFit/>
          </a:bodyPr>
          <a:lstStyle/>
          <a:p>
            <a:r>
              <a:rPr kumimoji="1" lang="ja-JP" altLang="en-US" sz="3200" b="1" u="sng" dirty="0">
                <a:latin typeface="HGS創英角ｺﾞｼｯｸUB" panose="020B0900000000000000" pitchFamily="50" charset="-128"/>
                <a:ea typeface="HGS創英角ｺﾞｼｯｸUB" panose="020B0900000000000000" pitchFamily="50" charset="-128"/>
              </a:rPr>
              <a:t>アプリケーション紹介</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186857" cy="3785652"/>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まずは、授業で使用するアプリケーションを紹介します。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ここでは</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名前と開き方</a:t>
            </a:r>
            <a:r>
              <a:rPr lang="ja-JP" altLang="en-US" sz="2400" dirty="0">
                <a:latin typeface="HGS創英角ｺﾞｼｯｸUB" panose="020B0900000000000000" pitchFamily="50" charset="-128"/>
                <a:ea typeface="HGS創英角ｺﾞｼｯｸUB" panose="020B0900000000000000" pitchFamily="50" charset="-128"/>
              </a:rPr>
              <a:t>を覚えておきましょう。</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■紹介するアプリ</a:t>
            </a:r>
            <a:endParaRPr lang="en-US" altLang="ja-JP" sz="2400" dirty="0">
              <a:solidFill>
                <a:srgbClr val="FF0000"/>
              </a:solidFill>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・エクスプローラー</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a:t>
            </a:r>
            <a:r>
              <a:rPr lang="en-US" altLang="ja-JP" sz="2400" dirty="0">
                <a:latin typeface="HGS創英角ｺﾞｼｯｸUB" panose="020B0900000000000000" pitchFamily="50" charset="-128"/>
                <a:ea typeface="HGS創英角ｺﾞｼｯｸUB" panose="020B0900000000000000" pitchFamily="50" charset="-128"/>
              </a:rPr>
              <a:t>Visual Studio</a:t>
            </a:r>
          </a:p>
          <a:p>
            <a:r>
              <a:rPr lang="ja-JP" altLang="en-US" sz="2400" dirty="0">
                <a:latin typeface="HGS創英角ｺﾞｼｯｸUB" panose="020B0900000000000000" pitchFamily="50" charset="-128"/>
                <a:ea typeface="HGS創英角ｺﾞｼｯｸUB" panose="020B0900000000000000" pitchFamily="50" charset="-128"/>
              </a:rPr>
              <a:t>・</a:t>
            </a:r>
            <a:r>
              <a:rPr lang="en-US" altLang="ja-JP" sz="2400" dirty="0">
                <a:latin typeface="HGS創英角ｺﾞｼｯｸUB" panose="020B0900000000000000" pitchFamily="50" charset="-128"/>
                <a:ea typeface="HGS創英角ｺﾞｼｯｸUB" panose="020B0900000000000000" pitchFamily="50" charset="-128"/>
              </a:rPr>
              <a:t>Unity</a:t>
            </a:r>
          </a:p>
          <a:p>
            <a:r>
              <a:rPr lang="ja-JP" altLang="en-US" sz="2400" dirty="0">
                <a:latin typeface="HGS創英角ｺﾞｼｯｸUB" panose="020B0900000000000000" pitchFamily="50" charset="-128"/>
                <a:ea typeface="HGS創英角ｺﾞｼｯｸUB" panose="020B0900000000000000" pitchFamily="50" charset="-128"/>
              </a:rPr>
              <a:t>・</a:t>
            </a:r>
            <a:r>
              <a:rPr lang="en-US" altLang="ja-JP" sz="2400" dirty="0">
                <a:latin typeface="HGS創英角ｺﾞｼｯｸUB" panose="020B0900000000000000" pitchFamily="50" charset="-128"/>
                <a:ea typeface="HGS創英角ｺﾞｼｯｸUB" panose="020B0900000000000000" pitchFamily="50" charset="-128"/>
              </a:rPr>
              <a:t>Unreal Engine</a:t>
            </a:r>
          </a:p>
          <a:p>
            <a:endParaRPr lang="en-US" altLang="ja-JP" sz="2400" dirty="0">
              <a:latin typeface="HGS創英角ｺﾞｼｯｸUB" panose="020B0900000000000000" pitchFamily="50" charset="-128"/>
              <a:ea typeface="HGS創英角ｺﾞｼｯｸUB" panose="020B0900000000000000" pitchFamily="50" charset="-128"/>
            </a:endParaRPr>
          </a:p>
          <a:p>
            <a:r>
              <a:rPr lang="en-US" altLang="ja-JP" sz="2400" dirty="0">
                <a:latin typeface="HGS創英角ｺﾞｼｯｸUB" panose="020B0900000000000000" pitchFamily="50" charset="-128"/>
                <a:ea typeface="HGS創英角ｺﾞｼｯｸUB" panose="020B0900000000000000" pitchFamily="50" charset="-128"/>
              </a:rPr>
              <a:t>※</a:t>
            </a:r>
            <a:r>
              <a:rPr lang="ja-JP" altLang="en-US" sz="2400" dirty="0">
                <a:latin typeface="HGS創英角ｺﾞｼｯｸUB" panose="020B0900000000000000" pitchFamily="50" charset="-128"/>
                <a:ea typeface="HGS創英角ｺﾞｼｯｸUB" panose="020B0900000000000000" pitchFamily="50" charset="-128"/>
              </a:rPr>
              <a:t>ここで紹介するもの以外もたくさんあります</a:t>
            </a:r>
            <a:endParaRPr lang="en-US" altLang="ja-JP" sz="2400"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2213539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80440" cy="584775"/>
          </a:xfrm>
          <a:prstGeom prst="rect">
            <a:avLst/>
          </a:prstGeom>
          <a:noFill/>
        </p:spPr>
        <p:txBody>
          <a:bodyPr wrap="none" rtlCol="0">
            <a:spAutoFit/>
          </a:bodyPr>
          <a:lstStyle/>
          <a:p>
            <a:r>
              <a:rPr kumimoji="1" lang="ja-JP" altLang="en-US" sz="3200" b="1" u="sng" dirty="0">
                <a:latin typeface="HGS創英角ｺﾞｼｯｸUB" panose="020B0900000000000000" pitchFamily="50" charset="-128"/>
                <a:ea typeface="HGS創英角ｺﾞｼｯｸUB" panose="020B0900000000000000" pitchFamily="50" charset="-128"/>
              </a:rPr>
              <a:t>エクスプローラー</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110186" cy="830997"/>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ファイルやフォルダを開くのに使用する</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エクスプローラー</a:t>
            </a:r>
            <a:r>
              <a:rPr lang="ja-JP" altLang="en-US" sz="2400" dirty="0">
                <a:latin typeface="HGS創英角ｺﾞｼｯｸUB" panose="020B0900000000000000" pitchFamily="50" charset="-128"/>
                <a:ea typeface="HGS創英角ｺﾞｼｯｸUB" panose="020B0900000000000000" pitchFamily="50" charset="-128"/>
              </a:rPr>
              <a:t>です。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よく使いますので名前をしっかり憶えておきましょう。</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3" name="図 2">
            <a:extLst>
              <a:ext uri="{FF2B5EF4-FFF2-40B4-BE49-F238E27FC236}">
                <a16:creationId xmlns:a16="http://schemas.microsoft.com/office/drawing/2014/main" id="{CFFDD4DD-0022-4BBA-9F71-43CED52EAB1D}"/>
              </a:ext>
            </a:extLst>
          </p:cNvPr>
          <p:cNvPicPr>
            <a:picLocks noChangeAspect="1"/>
          </p:cNvPicPr>
          <p:nvPr/>
        </p:nvPicPr>
        <p:blipFill>
          <a:blip r:embed="rId2"/>
          <a:stretch>
            <a:fillRect/>
          </a:stretch>
        </p:blipFill>
        <p:spPr>
          <a:xfrm>
            <a:off x="567542" y="3035739"/>
            <a:ext cx="7087589" cy="3694660"/>
          </a:xfrm>
          <a:prstGeom prst="rect">
            <a:avLst/>
          </a:prstGeom>
        </p:spPr>
      </p:pic>
      <p:pic>
        <p:nvPicPr>
          <p:cNvPr id="7" name="図 6">
            <a:extLst>
              <a:ext uri="{FF2B5EF4-FFF2-40B4-BE49-F238E27FC236}">
                <a16:creationId xmlns:a16="http://schemas.microsoft.com/office/drawing/2014/main" id="{783EC6E2-5474-46DD-9DF7-9B029103AF33}"/>
              </a:ext>
            </a:extLst>
          </p:cNvPr>
          <p:cNvPicPr>
            <a:picLocks noChangeAspect="1"/>
          </p:cNvPicPr>
          <p:nvPr/>
        </p:nvPicPr>
        <p:blipFill>
          <a:blip r:embed="rId3"/>
          <a:stretch>
            <a:fillRect/>
          </a:stretch>
        </p:blipFill>
        <p:spPr>
          <a:xfrm>
            <a:off x="567542" y="2187126"/>
            <a:ext cx="7087589" cy="428685"/>
          </a:xfrm>
          <a:prstGeom prst="rect">
            <a:avLst/>
          </a:prstGeom>
        </p:spPr>
      </p:pic>
      <p:sp>
        <p:nvSpPr>
          <p:cNvPr id="8" name="矢印: 右 7">
            <a:extLst>
              <a:ext uri="{FF2B5EF4-FFF2-40B4-BE49-F238E27FC236}">
                <a16:creationId xmlns:a16="http://schemas.microsoft.com/office/drawing/2014/main" id="{CD888F63-25CE-4A24-BFD6-66FA822947AE}"/>
              </a:ext>
            </a:extLst>
          </p:cNvPr>
          <p:cNvSpPr/>
          <p:nvPr/>
        </p:nvSpPr>
        <p:spPr>
          <a:xfrm rot="13540434">
            <a:off x="4834769" y="2459453"/>
            <a:ext cx="575733" cy="455643"/>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80611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509020" cy="584775"/>
          </a:xfrm>
          <a:prstGeom prst="rect">
            <a:avLst/>
          </a:prstGeom>
          <a:noFill/>
        </p:spPr>
        <p:txBody>
          <a:bodyPr wrap="none" rtlCol="0">
            <a:spAutoFit/>
          </a:bodyPr>
          <a:lstStyle/>
          <a:p>
            <a:r>
              <a:rPr kumimoji="1" lang="en-US" altLang="ja-JP" sz="3200" b="1" u="sng" dirty="0">
                <a:latin typeface="HGS創英角ｺﾞｼｯｸUB" panose="020B0900000000000000" pitchFamily="50" charset="-128"/>
                <a:ea typeface="HGS創英角ｺﾞｼｯｸUB" panose="020B0900000000000000" pitchFamily="50" charset="-128"/>
              </a:rPr>
              <a:t>Visual Studio</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161482" cy="830997"/>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プログラムを書くために使用する</a:t>
            </a:r>
            <a:r>
              <a:rPr lang="en-US" altLang="ja-JP" sz="2400" dirty="0">
                <a:solidFill>
                  <a:srgbClr val="FF0000"/>
                </a:solidFill>
                <a:latin typeface="HGS創英角ｺﾞｼｯｸUB" panose="020B0900000000000000" pitchFamily="50" charset="-128"/>
                <a:ea typeface="HGS創英角ｺﾞｼｯｸUB" panose="020B0900000000000000" pitchFamily="50" charset="-128"/>
              </a:rPr>
              <a:t>Visual Studio</a:t>
            </a:r>
            <a:r>
              <a:rPr lang="ja-JP" altLang="en-US" sz="2400" dirty="0">
                <a:latin typeface="HGS創英角ｺﾞｼｯｸUB" panose="020B0900000000000000" pitchFamily="50" charset="-128"/>
                <a:ea typeface="HGS創英角ｺﾞｼｯｸUB" panose="020B0900000000000000" pitchFamily="50" charset="-128"/>
              </a:rPr>
              <a:t>です。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学校では無料版の </a:t>
            </a:r>
            <a:r>
              <a:rPr lang="en-US" altLang="ja-JP" sz="2400" dirty="0">
                <a:solidFill>
                  <a:srgbClr val="FF0000"/>
                </a:solidFill>
                <a:latin typeface="HGS創英角ｺﾞｼｯｸUB" panose="020B0900000000000000" pitchFamily="50" charset="-128"/>
                <a:ea typeface="HGS創英角ｺﾞｼｯｸUB" panose="020B0900000000000000" pitchFamily="50" charset="-128"/>
              </a:rPr>
              <a:t>Visual Studio Community 2022</a:t>
            </a:r>
            <a:r>
              <a:rPr lang="en-US" altLang="ja-JP" sz="2400" dirty="0">
                <a:latin typeface="HGS創英角ｺﾞｼｯｸUB" panose="020B0900000000000000" pitchFamily="50" charset="-128"/>
                <a:ea typeface="HGS創英角ｺﾞｼｯｸUB" panose="020B0900000000000000" pitchFamily="50" charset="-128"/>
              </a:rPr>
              <a:t> </a:t>
            </a:r>
            <a:r>
              <a:rPr lang="ja-JP" altLang="en-US" sz="2400" dirty="0">
                <a:latin typeface="HGS創英角ｺﾞｼｯｸUB" panose="020B0900000000000000" pitchFamily="50" charset="-128"/>
                <a:ea typeface="HGS創英角ｺﾞｼｯｸUB" panose="020B0900000000000000" pitchFamily="50" charset="-128"/>
              </a:rPr>
              <a:t>を使用します。</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12" name="図 11">
            <a:extLst>
              <a:ext uri="{FF2B5EF4-FFF2-40B4-BE49-F238E27FC236}">
                <a16:creationId xmlns:a16="http://schemas.microsoft.com/office/drawing/2014/main" id="{F108026A-3628-4CF4-9DCD-BDA31AA41F7E}"/>
              </a:ext>
            </a:extLst>
          </p:cNvPr>
          <p:cNvPicPr>
            <a:picLocks noChangeAspect="1"/>
          </p:cNvPicPr>
          <p:nvPr/>
        </p:nvPicPr>
        <p:blipFill>
          <a:blip r:embed="rId2"/>
          <a:stretch>
            <a:fillRect/>
          </a:stretch>
        </p:blipFill>
        <p:spPr>
          <a:xfrm>
            <a:off x="567542" y="2187126"/>
            <a:ext cx="4266925" cy="4485742"/>
          </a:xfrm>
          <a:prstGeom prst="rect">
            <a:avLst/>
          </a:prstGeom>
        </p:spPr>
      </p:pic>
      <p:sp>
        <p:nvSpPr>
          <p:cNvPr id="13" name="テキスト ボックス 12">
            <a:extLst>
              <a:ext uri="{FF2B5EF4-FFF2-40B4-BE49-F238E27FC236}">
                <a16:creationId xmlns:a16="http://schemas.microsoft.com/office/drawing/2014/main" id="{E2C4B6ED-4285-4C9E-865F-2EF314F5CE73}"/>
              </a:ext>
            </a:extLst>
          </p:cNvPr>
          <p:cNvSpPr txBox="1"/>
          <p:nvPr/>
        </p:nvSpPr>
        <p:spPr>
          <a:xfrm>
            <a:off x="1939141" y="6350903"/>
            <a:ext cx="5545108" cy="461665"/>
          </a:xfrm>
          <a:prstGeom prst="rect">
            <a:avLst/>
          </a:prstGeom>
          <a:solidFill>
            <a:schemeClr val="bg1"/>
          </a:solidFill>
          <a:ln>
            <a:solidFill>
              <a:schemeClr val="tx1"/>
            </a:solidFill>
          </a:ln>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検索ボックスに「</a:t>
            </a:r>
            <a:r>
              <a:rPr lang="en-US" altLang="ja-JP" sz="2400" dirty="0">
                <a:latin typeface="HGS創英角ｺﾞｼｯｸUB" panose="020B0900000000000000" pitchFamily="50" charset="-128"/>
                <a:ea typeface="HGS創英角ｺﾞｼｯｸUB" panose="020B0900000000000000" pitchFamily="50" charset="-128"/>
              </a:rPr>
              <a:t>visual studio</a:t>
            </a:r>
            <a:r>
              <a:rPr lang="ja-JP" altLang="en-US" sz="2400" dirty="0">
                <a:latin typeface="HGS創英角ｺﾞｼｯｸUB" panose="020B0900000000000000" pitchFamily="50" charset="-128"/>
                <a:ea typeface="HGS創英角ｺﾞｼｯｸUB" panose="020B0900000000000000" pitchFamily="50" charset="-128"/>
              </a:rPr>
              <a:t>」と入力</a:t>
            </a:r>
            <a:endParaRPr lang="en-US" altLang="ja-JP" sz="2400" dirty="0">
              <a:latin typeface="HGS創英角ｺﾞｼｯｸUB" panose="020B0900000000000000" pitchFamily="50" charset="-128"/>
              <a:ea typeface="HGS創英角ｺﾞｼｯｸUB" panose="020B0900000000000000" pitchFamily="50" charset="-128"/>
            </a:endParaRPr>
          </a:p>
        </p:txBody>
      </p:sp>
      <p:sp>
        <p:nvSpPr>
          <p:cNvPr id="14" name="矢印: 右 13">
            <a:extLst>
              <a:ext uri="{FF2B5EF4-FFF2-40B4-BE49-F238E27FC236}">
                <a16:creationId xmlns:a16="http://schemas.microsoft.com/office/drawing/2014/main" id="{4C8319EC-3E55-45C1-AC8C-D0AB8094A2FC}"/>
              </a:ext>
            </a:extLst>
          </p:cNvPr>
          <p:cNvSpPr/>
          <p:nvPr/>
        </p:nvSpPr>
        <p:spPr>
          <a:xfrm rot="13540434">
            <a:off x="1719035" y="3000646"/>
            <a:ext cx="575733" cy="455643"/>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669356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059906" cy="584775"/>
          </a:xfrm>
          <a:prstGeom prst="rect">
            <a:avLst/>
          </a:prstGeom>
          <a:noFill/>
        </p:spPr>
        <p:txBody>
          <a:bodyPr wrap="none" rtlCol="0">
            <a:spAutoFit/>
          </a:bodyPr>
          <a:lstStyle/>
          <a:p>
            <a:r>
              <a:rPr kumimoji="1" lang="en-US" altLang="ja-JP" sz="3200" b="1" u="sng" dirty="0">
                <a:latin typeface="HGS創英角ｺﾞｼｯｸUB" panose="020B0900000000000000" pitchFamily="50" charset="-128"/>
                <a:ea typeface="HGS創英角ｺﾞｼｯｸUB" panose="020B0900000000000000" pitchFamily="50" charset="-128"/>
              </a:rPr>
              <a:t>Unity</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94633" cy="830997"/>
          </a:xfrm>
          <a:prstGeom prst="rect">
            <a:avLst/>
          </a:prstGeom>
          <a:noFill/>
        </p:spPr>
        <p:txBody>
          <a:bodyPr wrap="none" rtlCol="0">
            <a:spAutoFit/>
          </a:bodyPr>
          <a:lstStyle/>
          <a:p>
            <a:r>
              <a:rPr lang="en-US" altLang="ja-JP" sz="2400" dirty="0">
                <a:solidFill>
                  <a:srgbClr val="FF0000"/>
                </a:solidFill>
                <a:latin typeface="HGS創英角ｺﾞｼｯｸUB" panose="020B0900000000000000" pitchFamily="50" charset="-128"/>
                <a:ea typeface="HGS創英角ｺﾞｼｯｸUB" panose="020B0900000000000000" pitchFamily="50" charset="-128"/>
              </a:rPr>
              <a:t>Unity</a:t>
            </a:r>
            <a:r>
              <a:rPr lang="ja-JP" altLang="en-US" sz="2400" dirty="0">
                <a:latin typeface="HGS創英角ｺﾞｼｯｸUB" panose="020B0900000000000000" pitchFamily="50" charset="-128"/>
                <a:ea typeface="HGS創英角ｺﾞｼｯｸUB" panose="020B0900000000000000" pitchFamily="50" charset="-128"/>
              </a:rPr>
              <a:t>というゲームエンジンです。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ゲーム業界でもよく使用されているアプリケーションです。</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3" name="図 2">
            <a:extLst>
              <a:ext uri="{FF2B5EF4-FFF2-40B4-BE49-F238E27FC236}">
                <a16:creationId xmlns:a16="http://schemas.microsoft.com/office/drawing/2014/main" id="{514CFE15-3142-4541-B84C-6A11CE8348CD}"/>
              </a:ext>
            </a:extLst>
          </p:cNvPr>
          <p:cNvPicPr>
            <a:picLocks noChangeAspect="1"/>
          </p:cNvPicPr>
          <p:nvPr/>
        </p:nvPicPr>
        <p:blipFill>
          <a:blip r:embed="rId2"/>
          <a:stretch>
            <a:fillRect/>
          </a:stretch>
        </p:blipFill>
        <p:spPr>
          <a:xfrm>
            <a:off x="567542" y="2187126"/>
            <a:ext cx="4148391" cy="4414124"/>
          </a:xfrm>
          <a:prstGeom prst="rect">
            <a:avLst/>
          </a:prstGeom>
        </p:spPr>
      </p:pic>
      <p:sp>
        <p:nvSpPr>
          <p:cNvPr id="9" name="テキスト ボックス 8">
            <a:extLst>
              <a:ext uri="{FF2B5EF4-FFF2-40B4-BE49-F238E27FC236}">
                <a16:creationId xmlns:a16="http://schemas.microsoft.com/office/drawing/2014/main" id="{CB09F402-90ED-4016-9E93-539967FDDEDE}"/>
              </a:ext>
            </a:extLst>
          </p:cNvPr>
          <p:cNvSpPr txBox="1"/>
          <p:nvPr/>
        </p:nvSpPr>
        <p:spPr>
          <a:xfrm>
            <a:off x="1862941" y="6215436"/>
            <a:ext cx="4530407" cy="461665"/>
          </a:xfrm>
          <a:prstGeom prst="rect">
            <a:avLst/>
          </a:prstGeom>
          <a:solidFill>
            <a:schemeClr val="bg1"/>
          </a:solidFill>
          <a:ln>
            <a:solidFill>
              <a:schemeClr val="tx1"/>
            </a:solidFill>
          </a:ln>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検索ボックスに「</a:t>
            </a:r>
            <a:r>
              <a:rPr lang="en-US" altLang="ja-JP" sz="2400" dirty="0">
                <a:latin typeface="HGS創英角ｺﾞｼｯｸUB" panose="020B0900000000000000" pitchFamily="50" charset="-128"/>
                <a:ea typeface="HGS創英角ｺﾞｼｯｸUB" panose="020B0900000000000000" pitchFamily="50" charset="-128"/>
              </a:rPr>
              <a:t>Unity</a:t>
            </a:r>
            <a:r>
              <a:rPr lang="ja-JP" altLang="en-US" sz="2400" dirty="0">
                <a:latin typeface="HGS創英角ｺﾞｼｯｸUB" panose="020B0900000000000000" pitchFamily="50" charset="-128"/>
                <a:ea typeface="HGS創英角ｺﾞｼｯｸUB" panose="020B0900000000000000" pitchFamily="50" charset="-128"/>
              </a:rPr>
              <a:t>」と入力</a:t>
            </a:r>
            <a:endParaRPr lang="en-US" altLang="ja-JP" sz="2400" dirty="0">
              <a:latin typeface="HGS創英角ｺﾞｼｯｸUB" panose="020B0900000000000000" pitchFamily="50" charset="-128"/>
              <a:ea typeface="HGS創英角ｺﾞｼｯｸUB" panose="020B0900000000000000" pitchFamily="50" charset="-128"/>
            </a:endParaRPr>
          </a:p>
        </p:txBody>
      </p:sp>
      <p:sp>
        <p:nvSpPr>
          <p:cNvPr id="10" name="矢印: 右 9">
            <a:extLst>
              <a:ext uri="{FF2B5EF4-FFF2-40B4-BE49-F238E27FC236}">
                <a16:creationId xmlns:a16="http://schemas.microsoft.com/office/drawing/2014/main" id="{17FDD9CD-980A-4443-933A-24D06291538E}"/>
              </a:ext>
            </a:extLst>
          </p:cNvPr>
          <p:cNvSpPr/>
          <p:nvPr/>
        </p:nvSpPr>
        <p:spPr>
          <a:xfrm rot="13540434">
            <a:off x="1339581" y="2836058"/>
            <a:ext cx="575733" cy="455643"/>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57CECB12-986A-4268-B863-2BDEC5B9DF3A}"/>
              </a:ext>
            </a:extLst>
          </p:cNvPr>
          <p:cNvSpPr txBox="1"/>
          <p:nvPr/>
        </p:nvSpPr>
        <p:spPr>
          <a:xfrm>
            <a:off x="5647542" y="3577838"/>
            <a:ext cx="5262979" cy="923330"/>
          </a:xfrm>
          <a:prstGeom prst="rect">
            <a:avLst/>
          </a:prstGeom>
          <a:noFill/>
        </p:spPr>
        <p:txBody>
          <a:bodyPr wrap="none" rtlCol="0">
            <a:spAutoFit/>
          </a:bodyPr>
          <a:lstStyle/>
          <a:p>
            <a:r>
              <a:rPr lang="en-US" altLang="ja-JP" dirty="0">
                <a:solidFill>
                  <a:srgbClr val="00B050"/>
                </a:solidFill>
                <a:latin typeface="HGS創英角ｺﾞｼｯｸUB" panose="020B0900000000000000" pitchFamily="50" charset="-128"/>
                <a:ea typeface="HGS創英角ｺﾞｼｯｸUB" panose="020B0900000000000000" pitchFamily="50" charset="-128"/>
              </a:rPr>
              <a:t>MEMO</a:t>
            </a:r>
          </a:p>
          <a:p>
            <a:r>
              <a:rPr lang="ja-JP" altLang="en-US" dirty="0">
                <a:latin typeface="HGS創英角ｺﾞｼｯｸUB" panose="020B0900000000000000" pitchFamily="50" charset="-128"/>
                <a:ea typeface="HGS創英角ｺﾞｼｯｸUB" panose="020B0900000000000000" pitchFamily="50" charset="-128"/>
              </a:rPr>
              <a:t>ゲームエンジンとは、</a:t>
            </a:r>
            <a:endParaRPr lang="en-US" altLang="ja-JP" dirty="0">
              <a:latin typeface="HGS創英角ｺﾞｼｯｸUB" panose="020B0900000000000000" pitchFamily="50" charset="-128"/>
              <a:ea typeface="HGS創英角ｺﾞｼｯｸUB" panose="020B0900000000000000" pitchFamily="50" charset="-128"/>
            </a:endParaRPr>
          </a:p>
          <a:p>
            <a:r>
              <a:rPr lang="ja-JP" altLang="en-US" dirty="0">
                <a:latin typeface="HGS創英角ｺﾞｼｯｸUB" panose="020B0900000000000000" pitchFamily="50" charset="-128"/>
                <a:ea typeface="HGS創英角ｺﾞｼｯｸUB" panose="020B0900000000000000" pitchFamily="50" charset="-128"/>
              </a:rPr>
              <a:t>ゲーム制作をがっつりサポートするアプリのこと</a:t>
            </a:r>
            <a:endParaRPr lang="en-US" altLang="ja-JP"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23820360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059906" cy="584775"/>
          </a:xfrm>
          <a:prstGeom prst="rect">
            <a:avLst/>
          </a:prstGeom>
          <a:noFill/>
        </p:spPr>
        <p:txBody>
          <a:bodyPr wrap="none" rtlCol="0">
            <a:spAutoFit/>
          </a:bodyPr>
          <a:lstStyle/>
          <a:p>
            <a:r>
              <a:rPr kumimoji="1" lang="en-US" altLang="ja-JP" sz="3200" b="1" u="sng" dirty="0">
                <a:latin typeface="HGS創英角ｺﾞｼｯｸUB" panose="020B0900000000000000" pitchFamily="50" charset="-128"/>
                <a:ea typeface="HGS創英角ｺﾞｼｯｸUB" panose="020B0900000000000000" pitchFamily="50" charset="-128"/>
              </a:rPr>
              <a:t>Unity</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915950" cy="830997"/>
          </a:xfrm>
          <a:prstGeom prst="rect">
            <a:avLst/>
          </a:prstGeom>
          <a:noFill/>
        </p:spPr>
        <p:txBody>
          <a:bodyPr wrap="none" rtlCol="0">
            <a:spAutoFit/>
          </a:bodyPr>
          <a:lstStyle/>
          <a:p>
            <a:r>
              <a:rPr lang="en-US" altLang="ja-JP" sz="2400" dirty="0">
                <a:latin typeface="HGS創英角ｺﾞｼｯｸUB" panose="020B0900000000000000" pitchFamily="50" charset="-128"/>
                <a:ea typeface="HGS創英角ｺﾞｼｯｸUB" panose="020B0900000000000000" pitchFamily="50" charset="-128"/>
              </a:rPr>
              <a:t>Unity</a:t>
            </a:r>
            <a:r>
              <a:rPr lang="ja-JP" altLang="en-US" sz="2400" dirty="0">
                <a:latin typeface="HGS創英角ｺﾞｼｯｸUB" panose="020B0900000000000000" pitchFamily="50" charset="-128"/>
                <a:ea typeface="HGS創英角ｺﾞｼｯｸUB" panose="020B0900000000000000" pitchFamily="50" charset="-128"/>
              </a:rPr>
              <a:t>を使うためには</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アカウント</a:t>
            </a:r>
            <a:r>
              <a:rPr lang="ja-JP" altLang="en-US" sz="2400" dirty="0">
                <a:latin typeface="HGS創英角ｺﾞｼｯｸUB" panose="020B0900000000000000" pitchFamily="50" charset="-128"/>
                <a:ea typeface="HGS創英角ｺﾞｼｯｸUB" panose="020B0900000000000000" pitchFamily="50" charset="-128"/>
              </a:rPr>
              <a:t>を作る必要があります。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今のうちに作っておきましょう。</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5" name="図 4">
            <a:extLst>
              <a:ext uri="{FF2B5EF4-FFF2-40B4-BE49-F238E27FC236}">
                <a16:creationId xmlns:a16="http://schemas.microsoft.com/office/drawing/2014/main" id="{F2C327E5-32A5-4DF5-B3CF-03CFFFA1853D}"/>
              </a:ext>
            </a:extLst>
          </p:cNvPr>
          <p:cNvPicPr>
            <a:picLocks noChangeAspect="1"/>
          </p:cNvPicPr>
          <p:nvPr/>
        </p:nvPicPr>
        <p:blipFill>
          <a:blip r:embed="rId2"/>
          <a:stretch>
            <a:fillRect/>
          </a:stretch>
        </p:blipFill>
        <p:spPr>
          <a:xfrm>
            <a:off x="567543" y="2187126"/>
            <a:ext cx="2995192" cy="4178920"/>
          </a:xfrm>
          <a:prstGeom prst="rect">
            <a:avLst/>
          </a:prstGeom>
        </p:spPr>
      </p:pic>
      <p:sp>
        <p:nvSpPr>
          <p:cNvPr id="12" name="テキスト ボックス 11">
            <a:extLst>
              <a:ext uri="{FF2B5EF4-FFF2-40B4-BE49-F238E27FC236}">
                <a16:creationId xmlns:a16="http://schemas.microsoft.com/office/drawing/2014/main" id="{8FF59D83-6D2C-42CD-A23B-F8E80DADBE56}"/>
              </a:ext>
            </a:extLst>
          </p:cNvPr>
          <p:cNvSpPr txBox="1"/>
          <p:nvPr/>
        </p:nvSpPr>
        <p:spPr>
          <a:xfrm>
            <a:off x="3708675" y="3235317"/>
            <a:ext cx="6647974" cy="1938992"/>
          </a:xfrm>
          <a:prstGeom prst="rect">
            <a:avLst/>
          </a:prstGeom>
          <a:noFill/>
        </p:spPr>
        <p:txBody>
          <a:bodyPr wrap="none" rtlCol="0">
            <a:spAutoFit/>
          </a:bodyPr>
          <a:lstStyle/>
          <a:p>
            <a:r>
              <a:rPr lang="en-US" altLang="ja-JP" sz="2400" dirty="0">
                <a:latin typeface="HGS創英角ｺﾞｼｯｸUB" panose="020B0900000000000000" pitchFamily="50" charset="-128"/>
                <a:ea typeface="HGS創英角ｺﾞｼｯｸUB" panose="020B0900000000000000" pitchFamily="50" charset="-128"/>
              </a:rPr>
              <a:t>E</a:t>
            </a:r>
            <a:r>
              <a:rPr lang="ja-JP" altLang="en-US" sz="2400" dirty="0">
                <a:latin typeface="HGS創英角ｺﾞｼｯｸUB" panose="020B0900000000000000" pitchFamily="50" charset="-128"/>
                <a:ea typeface="HGS創英角ｺﾞｼｯｸUB" panose="020B0900000000000000" pitchFamily="50" charset="-128"/>
              </a:rPr>
              <a:t>メールは自分が普段使うもので大丈夫です。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ない場合は学校のメールを使いましょう。</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a:t>
            </a:r>
            <a:r>
              <a:rPr lang="en-US" altLang="ja-JP" sz="2400" dirty="0" err="1">
                <a:latin typeface="HGS創英角ｺﾞｼｯｸUB" panose="020B0900000000000000" pitchFamily="50" charset="-128"/>
                <a:ea typeface="HGS創英角ｺﾞｼｯｸUB" panose="020B0900000000000000" pitchFamily="50" charset="-128"/>
                <a:hlinkClick r:id="rId3"/>
              </a:rPr>
              <a:t>ktq</a:t>
            </a:r>
            <a:r>
              <a:rPr lang="ja-JP" altLang="en-US" sz="2400" dirty="0">
                <a:latin typeface="HGS創英角ｺﾞｼｯｸUB" panose="020B0900000000000000" pitchFamily="50" charset="-128"/>
                <a:ea typeface="HGS創英角ｺﾞｼｯｸUB" panose="020B0900000000000000" pitchFamily="50" charset="-128"/>
                <a:hlinkClick r:id="rId3"/>
              </a:rPr>
              <a:t>学籍番号</a:t>
            </a:r>
            <a:r>
              <a:rPr lang="en-US" altLang="ja-JP" sz="2400" dirty="0">
                <a:latin typeface="HGS創英角ｺﾞｼｯｸUB" panose="020B0900000000000000" pitchFamily="50" charset="-128"/>
                <a:ea typeface="HGS創英角ｺﾞｼｯｸUB" panose="020B0900000000000000" pitchFamily="50" charset="-128"/>
                <a:hlinkClick r:id="rId3"/>
              </a:rPr>
              <a:t>@stu.o-hara.ac.jp</a:t>
            </a:r>
            <a:r>
              <a:rPr lang="ja-JP" altLang="en-US" sz="2400" dirty="0">
                <a:latin typeface="HGS創英角ｺﾞｼｯｸUB" panose="020B0900000000000000" pitchFamily="50" charset="-128"/>
                <a:ea typeface="HGS創英角ｺﾞｼｯｸUB" panose="020B0900000000000000" pitchFamily="50" charset="-128"/>
              </a:rPr>
              <a:t>」</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en-US" altLang="ja-JP" sz="2400" dirty="0">
                <a:latin typeface="HGS創英角ｺﾞｼｯｸUB" panose="020B0900000000000000" pitchFamily="50" charset="-128"/>
                <a:ea typeface="HGS創英角ｺﾞｼｯｸUB" panose="020B0900000000000000" pitchFamily="50" charset="-128"/>
              </a:rPr>
              <a:t>※</a:t>
            </a:r>
            <a:r>
              <a:rPr lang="ja-JP" altLang="en-US" sz="2400" dirty="0">
                <a:latin typeface="HGS創英角ｺﾞｼｯｸUB" panose="020B0900000000000000" pitchFamily="50" charset="-128"/>
                <a:ea typeface="HGS創英角ｺﾞｼｯｸUB" panose="020B0900000000000000" pitchFamily="50" charset="-128"/>
              </a:rPr>
              <a:t>すでに持っている場合はそれでも大丈夫です</a:t>
            </a:r>
            <a:endParaRPr lang="en-US" altLang="ja-JP" sz="2400"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3900560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629246" cy="584775"/>
          </a:xfrm>
          <a:prstGeom prst="rect">
            <a:avLst/>
          </a:prstGeom>
          <a:noFill/>
        </p:spPr>
        <p:txBody>
          <a:bodyPr wrap="none" rtlCol="0">
            <a:spAutoFit/>
          </a:bodyPr>
          <a:lstStyle/>
          <a:p>
            <a:r>
              <a:rPr kumimoji="1" lang="en-US" altLang="ja-JP" sz="3200" b="1" u="sng" dirty="0">
                <a:latin typeface="HGS創英角ｺﾞｼｯｸUB" panose="020B0900000000000000" pitchFamily="50" charset="-128"/>
                <a:ea typeface="HGS創英角ｺﾞｼｯｸUB" panose="020B0900000000000000" pitchFamily="50" charset="-128"/>
              </a:rPr>
              <a:t>Unreal Engine</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032421" cy="830997"/>
          </a:xfrm>
          <a:prstGeom prst="rect">
            <a:avLst/>
          </a:prstGeom>
          <a:noFill/>
        </p:spPr>
        <p:txBody>
          <a:bodyPr wrap="none" rtlCol="0">
            <a:spAutoFit/>
          </a:bodyPr>
          <a:lstStyle/>
          <a:p>
            <a:r>
              <a:rPr lang="en-US" altLang="ja-JP" sz="2400" dirty="0">
                <a:solidFill>
                  <a:srgbClr val="FF0000"/>
                </a:solidFill>
                <a:latin typeface="HGS創英角ｺﾞｼｯｸUB" panose="020B0900000000000000" pitchFamily="50" charset="-128"/>
                <a:ea typeface="HGS創英角ｺﾞｼｯｸUB" panose="020B0900000000000000" pitchFamily="50" charset="-128"/>
              </a:rPr>
              <a:t>Unreal Engine</a:t>
            </a:r>
            <a:r>
              <a:rPr lang="ja-JP" altLang="en-US" sz="2400" dirty="0">
                <a:latin typeface="HGS創英角ｺﾞｼｯｸUB" panose="020B0900000000000000" pitchFamily="50" charset="-128"/>
                <a:ea typeface="HGS創英角ｺﾞｼｯｸUB" panose="020B0900000000000000" pitchFamily="50" charset="-128"/>
              </a:rPr>
              <a:t>もゲームエンジンです。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主に家庭用ゲーム開発で使われています。</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5" name="図 4">
            <a:extLst>
              <a:ext uri="{FF2B5EF4-FFF2-40B4-BE49-F238E27FC236}">
                <a16:creationId xmlns:a16="http://schemas.microsoft.com/office/drawing/2014/main" id="{645F6ABD-29ED-4F6C-BDCF-1F878E5E7DD1}"/>
              </a:ext>
            </a:extLst>
          </p:cNvPr>
          <p:cNvPicPr>
            <a:picLocks noChangeAspect="1"/>
          </p:cNvPicPr>
          <p:nvPr/>
        </p:nvPicPr>
        <p:blipFill>
          <a:blip r:embed="rId2"/>
          <a:stretch>
            <a:fillRect/>
          </a:stretch>
        </p:blipFill>
        <p:spPr>
          <a:xfrm>
            <a:off x="567542" y="2187126"/>
            <a:ext cx="4131458" cy="4335121"/>
          </a:xfrm>
          <a:prstGeom prst="rect">
            <a:avLst/>
          </a:prstGeom>
        </p:spPr>
      </p:pic>
      <p:sp>
        <p:nvSpPr>
          <p:cNvPr id="12" name="テキスト ボックス 11">
            <a:extLst>
              <a:ext uri="{FF2B5EF4-FFF2-40B4-BE49-F238E27FC236}">
                <a16:creationId xmlns:a16="http://schemas.microsoft.com/office/drawing/2014/main" id="{2F8D198F-A0AE-46E1-A599-D3D86B55BCE1}"/>
              </a:ext>
            </a:extLst>
          </p:cNvPr>
          <p:cNvSpPr txBox="1"/>
          <p:nvPr/>
        </p:nvSpPr>
        <p:spPr>
          <a:xfrm>
            <a:off x="1888341" y="6200282"/>
            <a:ext cx="4445448" cy="461665"/>
          </a:xfrm>
          <a:prstGeom prst="rect">
            <a:avLst/>
          </a:prstGeom>
          <a:solidFill>
            <a:schemeClr val="bg1"/>
          </a:solidFill>
          <a:ln>
            <a:solidFill>
              <a:schemeClr val="tx1"/>
            </a:solidFill>
          </a:ln>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検索ボックスに「</a:t>
            </a:r>
            <a:r>
              <a:rPr lang="en-US" altLang="ja-JP" sz="2400" dirty="0">
                <a:latin typeface="HGS創英角ｺﾞｼｯｸUB" panose="020B0900000000000000" pitchFamily="50" charset="-128"/>
                <a:ea typeface="HGS創英角ｺﾞｼｯｸUB" panose="020B0900000000000000" pitchFamily="50" charset="-128"/>
              </a:rPr>
              <a:t>Epic</a:t>
            </a:r>
            <a:r>
              <a:rPr lang="ja-JP" altLang="en-US" sz="2400" dirty="0">
                <a:latin typeface="HGS創英角ｺﾞｼｯｸUB" panose="020B0900000000000000" pitchFamily="50" charset="-128"/>
                <a:ea typeface="HGS創英角ｺﾞｼｯｸUB" panose="020B0900000000000000" pitchFamily="50" charset="-128"/>
              </a:rPr>
              <a:t>」と入力</a:t>
            </a:r>
            <a:endParaRPr lang="en-US" altLang="ja-JP" sz="2400" dirty="0">
              <a:latin typeface="HGS創英角ｺﾞｼｯｸUB" panose="020B0900000000000000" pitchFamily="50" charset="-128"/>
              <a:ea typeface="HGS創英角ｺﾞｼｯｸUB" panose="020B0900000000000000" pitchFamily="50" charset="-128"/>
            </a:endParaRPr>
          </a:p>
        </p:txBody>
      </p:sp>
      <p:sp>
        <p:nvSpPr>
          <p:cNvPr id="13" name="矢印: 右 12">
            <a:extLst>
              <a:ext uri="{FF2B5EF4-FFF2-40B4-BE49-F238E27FC236}">
                <a16:creationId xmlns:a16="http://schemas.microsoft.com/office/drawing/2014/main" id="{0D1267D6-B96A-49AC-B1B7-2F31C8CD08A7}"/>
              </a:ext>
            </a:extLst>
          </p:cNvPr>
          <p:cNvSpPr/>
          <p:nvPr/>
        </p:nvSpPr>
        <p:spPr>
          <a:xfrm rot="13540434">
            <a:off x="1449647" y="2836058"/>
            <a:ext cx="575733" cy="455643"/>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378163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80440" cy="584775"/>
          </a:xfrm>
          <a:prstGeom prst="rect">
            <a:avLst/>
          </a:prstGeom>
          <a:noFill/>
        </p:spPr>
        <p:txBody>
          <a:bodyPr wrap="none" rtlCol="0">
            <a:spAutoFit/>
          </a:bodyPr>
          <a:lstStyle/>
          <a:p>
            <a:r>
              <a:rPr lang="ja-JP" altLang="en-US" sz="3200" b="1" u="sng" dirty="0">
                <a:latin typeface="HGS創英角ｺﾞｼｯｸUB" panose="020B0900000000000000" pitchFamily="50" charset="-128"/>
                <a:ea typeface="HGS創英角ｺﾞｼｯｸUB" panose="020B0900000000000000" pitchFamily="50" charset="-128"/>
              </a:rPr>
              <a:t>データの保存場所</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02410" cy="830997"/>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授業では大量のデータを保存します。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そのため整理整頓する場所を決めておかなくてはいけません。</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7" name="図 6">
            <a:extLst>
              <a:ext uri="{FF2B5EF4-FFF2-40B4-BE49-F238E27FC236}">
                <a16:creationId xmlns:a16="http://schemas.microsoft.com/office/drawing/2014/main" id="{DBF6CAE0-2E8A-4FB1-86FD-81B3B70FC96D}"/>
              </a:ext>
            </a:extLst>
          </p:cNvPr>
          <p:cNvPicPr>
            <a:picLocks noChangeAspect="1"/>
          </p:cNvPicPr>
          <p:nvPr/>
        </p:nvPicPr>
        <p:blipFill>
          <a:blip r:embed="rId2"/>
          <a:stretch>
            <a:fillRect/>
          </a:stretch>
        </p:blipFill>
        <p:spPr>
          <a:xfrm>
            <a:off x="567542" y="2187126"/>
            <a:ext cx="8131956" cy="4239074"/>
          </a:xfrm>
          <a:prstGeom prst="rect">
            <a:avLst/>
          </a:prstGeom>
        </p:spPr>
      </p:pic>
    </p:spTree>
    <p:extLst>
      <p:ext uri="{BB962C8B-B14F-4D97-AF65-F5344CB8AC3E}">
        <p14:creationId xmlns:p14="http://schemas.microsoft.com/office/powerpoint/2010/main" val="2255579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80440" cy="584775"/>
          </a:xfrm>
          <a:prstGeom prst="rect">
            <a:avLst/>
          </a:prstGeom>
          <a:noFill/>
        </p:spPr>
        <p:txBody>
          <a:bodyPr wrap="none" rtlCol="0">
            <a:spAutoFit/>
          </a:bodyPr>
          <a:lstStyle/>
          <a:p>
            <a:r>
              <a:rPr lang="ja-JP" altLang="en-US" sz="3200" b="1" u="sng" dirty="0">
                <a:latin typeface="HGS創英角ｺﾞｼｯｸUB" panose="020B0900000000000000" pitchFamily="50" charset="-128"/>
                <a:ea typeface="HGS創英角ｺﾞｼｯｸUB" panose="020B0900000000000000" pitchFamily="50" charset="-128"/>
              </a:rPr>
              <a:t>データの保存場所</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404317" cy="830997"/>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エクスプローラーの左下にある</a:t>
            </a:r>
            <a:r>
              <a:rPr lang="en-US" altLang="ja-JP" sz="2400" dirty="0">
                <a:latin typeface="HGS創英角ｺﾞｼｯｸUB" panose="020B0900000000000000" pitchFamily="50" charset="-128"/>
                <a:ea typeface="HGS創英角ｺﾞｼｯｸUB" panose="020B0900000000000000" pitchFamily="50" charset="-128"/>
              </a:rPr>
              <a:t>PC</a:t>
            </a:r>
            <a:r>
              <a:rPr lang="ja-JP" altLang="en-US" sz="2400" dirty="0">
                <a:latin typeface="HGS創英角ｺﾞｼｯｸUB" panose="020B0900000000000000" pitchFamily="50" charset="-128"/>
                <a:ea typeface="HGS創英角ｺﾞｼｯｸUB" panose="020B0900000000000000" pitchFamily="50" charset="-128"/>
              </a:rPr>
              <a:t>を選択し、</a:t>
            </a:r>
            <a:endParaRPr lang="en-US" altLang="ja-JP" sz="2400" dirty="0">
              <a:latin typeface="HGS創英角ｺﾞｼｯｸUB" panose="020B0900000000000000" pitchFamily="50" charset="-128"/>
              <a:ea typeface="HGS創英角ｺﾞｼｯｸUB" panose="020B0900000000000000" pitchFamily="50" charset="-128"/>
            </a:endParaRPr>
          </a:p>
          <a:p>
            <a:r>
              <a:rPr lang="en-US" altLang="ja-JP" sz="2400" dirty="0">
                <a:solidFill>
                  <a:srgbClr val="FF0000"/>
                </a:solidFill>
                <a:latin typeface="HGS創英角ｺﾞｼｯｸUB" panose="020B0900000000000000" pitchFamily="50" charset="-128"/>
                <a:ea typeface="HGS創英角ｺﾞｼｯｸUB" panose="020B0900000000000000" pitchFamily="50" charset="-128"/>
              </a:rPr>
              <a:t>C</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ドライブ（</a:t>
            </a:r>
            <a:r>
              <a:rPr lang="en-US" altLang="ja-JP" sz="2400" dirty="0">
                <a:solidFill>
                  <a:srgbClr val="FF0000"/>
                </a:solidFill>
                <a:latin typeface="HGS創英角ｺﾞｼｯｸUB" panose="020B0900000000000000" pitchFamily="50" charset="-128"/>
                <a:ea typeface="HGS創英角ｺﾞｼｯｸUB" panose="020B0900000000000000" pitchFamily="50" charset="-128"/>
              </a:rPr>
              <a:t>OS</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a:t>
            </a:r>
            <a:r>
              <a:rPr lang="en-US" altLang="ja-JP" sz="2400" dirty="0">
                <a:solidFill>
                  <a:srgbClr val="FF0000"/>
                </a:solidFill>
                <a:latin typeface="HGS創英角ｺﾞｼｯｸUB" panose="020B0900000000000000" pitchFamily="50" charset="-128"/>
                <a:ea typeface="HGS創英角ｺﾞｼｯｸUB" panose="020B0900000000000000" pitchFamily="50" charset="-128"/>
              </a:rPr>
              <a:t>C:</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a:t>
            </a:r>
            <a:r>
              <a:rPr lang="ja-JP" altLang="en-US" sz="2400" dirty="0">
                <a:latin typeface="HGS創英角ｺﾞｼｯｸUB" panose="020B0900000000000000" pitchFamily="50" charset="-128"/>
                <a:ea typeface="HGS創英角ｺﾞｼｯｸUB" panose="020B0900000000000000" pitchFamily="50" charset="-128"/>
              </a:rPr>
              <a:t>を開きましょう。</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3" name="図 2">
            <a:extLst>
              <a:ext uri="{FF2B5EF4-FFF2-40B4-BE49-F238E27FC236}">
                <a16:creationId xmlns:a16="http://schemas.microsoft.com/office/drawing/2014/main" id="{F5DEF478-85A2-463B-BDA6-98262ADCB5F6}"/>
              </a:ext>
            </a:extLst>
          </p:cNvPr>
          <p:cNvPicPr>
            <a:picLocks noChangeAspect="1"/>
          </p:cNvPicPr>
          <p:nvPr/>
        </p:nvPicPr>
        <p:blipFill>
          <a:blip r:embed="rId2"/>
          <a:stretch>
            <a:fillRect/>
          </a:stretch>
        </p:blipFill>
        <p:spPr>
          <a:xfrm>
            <a:off x="567542" y="2187126"/>
            <a:ext cx="5706258" cy="4296477"/>
          </a:xfrm>
          <a:prstGeom prst="rect">
            <a:avLst/>
          </a:prstGeom>
        </p:spPr>
      </p:pic>
      <p:sp>
        <p:nvSpPr>
          <p:cNvPr id="8" name="テキスト ボックス 7">
            <a:extLst>
              <a:ext uri="{FF2B5EF4-FFF2-40B4-BE49-F238E27FC236}">
                <a16:creationId xmlns:a16="http://schemas.microsoft.com/office/drawing/2014/main" id="{E94A1E8C-1896-4AEF-B100-57143995EE56}"/>
              </a:ext>
            </a:extLst>
          </p:cNvPr>
          <p:cNvSpPr txBox="1"/>
          <p:nvPr/>
        </p:nvSpPr>
        <p:spPr>
          <a:xfrm>
            <a:off x="6434942" y="5775717"/>
            <a:ext cx="5480988" cy="707886"/>
          </a:xfrm>
          <a:prstGeom prst="rect">
            <a:avLst/>
          </a:prstGeom>
          <a:noFill/>
        </p:spPr>
        <p:txBody>
          <a:bodyPr wrap="none" rtlCol="0">
            <a:spAutoFit/>
          </a:bodyPr>
          <a:lstStyle/>
          <a:p>
            <a:r>
              <a:rPr lang="ja-JP" altLang="en-US" sz="2000" dirty="0">
                <a:latin typeface="HGS創英角ｺﾞｼｯｸUB" panose="020B0900000000000000" pitchFamily="50" charset="-128"/>
                <a:ea typeface="HGS創英角ｺﾞｼｯｸUB" panose="020B0900000000000000" pitchFamily="50" charset="-128"/>
              </a:rPr>
              <a:t>今後</a:t>
            </a:r>
            <a:r>
              <a:rPr lang="en-US" altLang="ja-JP" sz="2000" dirty="0">
                <a:solidFill>
                  <a:srgbClr val="FF0000"/>
                </a:solidFill>
                <a:latin typeface="HGS創英角ｺﾞｼｯｸUB" panose="020B0900000000000000" pitchFamily="50" charset="-128"/>
                <a:ea typeface="HGS創英角ｺﾞｼｯｸUB" panose="020B0900000000000000" pitchFamily="50" charset="-128"/>
              </a:rPr>
              <a:t>C</a:t>
            </a:r>
            <a:r>
              <a:rPr lang="ja-JP" altLang="en-US" sz="2000" dirty="0">
                <a:solidFill>
                  <a:srgbClr val="FF0000"/>
                </a:solidFill>
                <a:latin typeface="HGS創英角ｺﾞｼｯｸUB" panose="020B0900000000000000" pitchFamily="50" charset="-128"/>
                <a:ea typeface="HGS創英角ｺﾞｼｯｸUB" panose="020B0900000000000000" pitchFamily="50" charset="-128"/>
              </a:rPr>
              <a:t>ドライブ</a:t>
            </a:r>
            <a:r>
              <a:rPr lang="ja-JP" altLang="en-US" sz="2000" dirty="0">
                <a:latin typeface="HGS創英角ｺﾞｼｯｸUB" panose="020B0900000000000000" pitchFamily="50" charset="-128"/>
                <a:ea typeface="HGS創英角ｺﾞｼｯｸUB" panose="020B0900000000000000" pitchFamily="50" charset="-128"/>
              </a:rPr>
              <a:t>と言われたらこれのことです。</a:t>
            </a:r>
            <a:endParaRPr lang="en-US" altLang="ja-JP" sz="2000" dirty="0">
              <a:latin typeface="HGS創英角ｺﾞｼｯｸUB" panose="020B0900000000000000" pitchFamily="50" charset="-128"/>
              <a:ea typeface="HGS創英角ｺﾞｼｯｸUB" panose="020B0900000000000000" pitchFamily="50" charset="-128"/>
            </a:endParaRPr>
          </a:p>
          <a:p>
            <a:r>
              <a:rPr lang="ja-JP" altLang="en-US" sz="2000" dirty="0">
                <a:latin typeface="HGS創英角ｺﾞｼｯｸUB" panose="020B0900000000000000" pitchFamily="50" charset="-128"/>
                <a:ea typeface="HGS創英角ｺﾞｼｯｸUB" panose="020B0900000000000000" pitchFamily="50" charset="-128"/>
              </a:rPr>
              <a:t>覚えておきましょう。</a:t>
            </a:r>
            <a:endParaRPr lang="en-US" altLang="ja-JP" sz="2000" dirty="0">
              <a:latin typeface="HGS創英角ｺﾞｼｯｸUB" panose="020B0900000000000000" pitchFamily="50" charset="-128"/>
              <a:ea typeface="HGS創英角ｺﾞｼｯｸUB" panose="020B0900000000000000" pitchFamily="50" charset="-128"/>
            </a:endParaRPr>
          </a:p>
        </p:txBody>
      </p:sp>
      <p:sp>
        <p:nvSpPr>
          <p:cNvPr id="9" name="矢印: 右 8">
            <a:extLst>
              <a:ext uri="{FF2B5EF4-FFF2-40B4-BE49-F238E27FC236}">
                <a16:creationId xmlns:a16="http://schemas.microsoft.com/office/drawing/2014/main" id="{89EA9633-B6D3-4210-8279-C3484C30A048}"/>
              </a:ext>
            </a:extLst>
          </p:cNvPr>
          <p:cNvSpPr/>
          <p:nvPr/>
        </p:nvSpPr>
        <p:spPr>
          <a:xfrm rot="13540434">
            <a:off x="1000913" y="6138223"/>
            <a:ext cx="575733" cy="455643"/>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右 9">
            <a:extLst>
              <a:ext uri="{FF2B5EF4-FFF2-40B4-BE49-F238E27FC236}">
                <a16:creationId xmlns:a16="http://schemas.microsoft.com/office/drawing/2014/main" id="{484D4297-D47A-4235-A3BE-69C98F288F9C}"/>
              </a:ext>
            </a:extLst>
          </p:cNvPr>
          <p:cNvSpPr/>
          <p:nvPr/>
        </p:nvSpPr>
        <p:spPr>
          <a:xfrm rot="13540434">
            <a:off x="2768684" y="3936725"/>
            <a:ext cx="575733" cy="455643"/>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6348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80440" cy="584775"/>
          </a:xfrm>
          <a:prstGeom prst="rect">
            <a:avLst/>
          </a:prstGeom>
          <a:noFill/>
        </p:spPr>
        <p:txBody>
          <a:bodyPr wrap="none" rtlCol="0">
            <a:spAutoFit/>
          </a:bodyPr>
          <a:lstStyle/>
          <a:p>
            <a:r>
              <a:rPr lang="ja-JP" altLang="en-US" sz="3200" b="1" u="sng" dirty="0">
                <a:latin typeface="HGS創英角ｺﾞｼｯｸUB" panose="020B0900000000000000" pitchFamily="50" charset="-128"/>
                <a:ea typeface="HGS創英角ｺﾞｼｯｸUB" panose="020B0900000000000000" pitchFamily="50" charset="-128"/>
              </a:rPr>
              <a:t>データの保存場所</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647974" cy="830997"/>
          </a:xfrm>
          <a:prstGeom prst="rect">
            <a:avLst/>
          </a:prstGeom>
          <a:noFill/>
        </p:spPr>
        <p:txBody>
          <a:bodyPr wrap="none" rtlCol="0">
            <a:spAutoFit/>
          </a:bodyPr>
          <a:lstStyle/>
          <a:p>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ユーザー </a:t>
            </a:r>
            <a:r>
              <a:rPr lang="en-US" altLang="ja-JP" sz="2400" dirty="0">
                <a:solidFill>
                  <a:srgbClr val="FF0000"/>
                </a:solidFill>
                <a:latin typeface="HGS創英角ｺﾞｼｯｸUB" panose="020B0900000000000000" pitchFamily="50" charset="-128"/>
                <a:ea typeface="HGS創英角ｺﾞｼｯｸUB" panose="020B0900000000000000" pitchFamily="50" charset="-128"/>
              </a:rPr>
              <a:t>&gt; student</a:t>
            </a:r>
            <a:r>
              <a:rPr lang="en-US" altLang="ja-JP" sz="2400" dirty="0">
                <a:latin typeface="HGS創英角ｺﾞｼｯｸUB" panose="020B0900000000000000" pitchFamily="50" charset="-128"/>
                <a:ea typeface="HGS創英角ｺﾞｼｯｸUB" panose="020B0900000000000000" pitchFamily="50" charset="-128"/>
              </a:rPr>
              <a:t> </a:t>
            </a:r>
            <a:r>
              <a:rPr lang="ja-JP" altLang="en-US" sz="2400" dirty="0">
                <a:latin typeface="HGS創英角ｺﾞｼｯｸUB" panose="020B0900000000000000" pitchFamily="50" charset="-128"/>
                <a:ea typeface="HGS創英角ｺﾞｼｯｸUB" panose="020B0900000000000000" pitchFamily="50" charset="-128"/>
              </a:rPr>
              <a:t>とフォルダを開きます。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ここが</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学生用の保存場所のトップ</a:t>
            </a:r>
            <a:r>
              <a:rPr lang="ja-JP" altLang="en-US" sz="2400" dirty="0">
                <a:latin typeface="HGS創英角ｺﾞｼｯｸUB" panose="020B0900000000000000" pitchFamily="50" charset="-128"/>
                <a:ea typeface="HGS創英角ｺﾞｼｯｸUB" panose="020B0900000000000000" pitchFamily="50" charset="-128"/>
              </a:rPr>
              <a:t>となります。</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5" name="図 4">
            <a:extLst>
              <a:ext uri="{FF2B5EF4-FFF2-40B4-BE49-F238E27FC236}">
                <a16:creationId xmlns:a16="http://schemas.microsoft.com/office/drawing/2014/main" id="{7458409E-2115-4162-BD37-4A69362F4BCF}"/>
              </a:ext>
            </a:extLst>
          </p:cNvPr>
          <p:cNvPicPr>
            <a:picLocks noChangeAspect="1"/>
          </p:cNvPicPr>
          <p:nvPr/>
        </p:nvPicPr>
        <p:blipFill>
          <a:blip r:embed="rId2"/>
          <a:stretch>
            <a:fillRect/>
          </a:stretch>
        </p:blipFill>
        <p:spPr>
          <a:xfrm>
            <a:off x="567541" y="2187125"/>
            <a:ext cx="6065711" cy="4357607"/>
          </a:xfrm>
          <a:prstGeom prst="rect">
            <a:avLst/>
          </a:prstGeom>
        </p:spPr>
      </p:pic>
    </p:spTree>
    <p:extLst>
      <p:ext uri="{BB962C8B-B14F-4D97-AF65-F5344CB8AC3E}">
        <p14:creationId xmlns:p14="http://schemas.microsoft.com/office/powerpoint/2010/main" val="40849386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80440" cy="584775"/>
          </a:xfrm>
          <a:prstGeom prst="rect">
            <a:avLst/>
          </a:prstGeom>
          <a:noFill/>
        </p:spPr>
        <p:txBody>
          <a:bodyPr wrap="none" rtlCol="0">
            <a:spAutoFit/>
          </a:bodyPr>
          <a:lstStyle/>
          <a:p>
            <a:r>
              <a:rPr lang="ja-JP" altLang="en-US" sz="3200" b="1" u="sng" dirty="0">
                <a:latin typeface="HGS創英角ｺﾞｼｯｸUB" panose="020B0900000000000000" pitchFamily="50" charset="-128"/>
                <a:ea typeface="HGS創英角ｺﾞｼｯｸUB" panose="020B0900000000000000" pitchFamily="50" charset="-128"/>
              </a:rPr>
              <a:t>データの保存場所</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417963" cy="830997"/>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この場所に</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自分の名前のフォルダを追加</a:t>
            </a:r>
            <a:r>
              <a:rPr lang="ja-JP" altLang="en-US" sz="2400" dirty="0">
                <a:latin typeface="HGS創英角ｺﾞｼｯｸUB" panose="020B0900000000000000" pitchFamily="50" charset="-128"/>
                <a:ea typeface="HGS創英角ｺﾞｼｯｸUB" panose="020B0900000000000000" pitchFamily="50" charset="-128"/>
              </a:rPr>
              <a:t>しましょう。</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このフォルダが、皆さんがデータを保存するフォルダとなります。</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3" name="図 2">
            <a:extLst>
              <a:ext uri="{FF2B5EF4-FFF2-40B4-BE49-F238E27FC236}">
                <a16:creationId xmlns:a16="http://schemas.microsoft.com/office/drawing/2014/main" id="{DF760994-1068-4D6F-91C7-497EC15298CF}"/>
              </a:ext>
            </a:extLst>
          </p:cNvPr>
          <p:cNvPicPr>
            <a:picLocks noChangeAspect="1"/>
          </p:cNvPicPr>
          <p:nvPr/>
        </p:nvPicPr>
        <p:blipFill>
          <a:blip r:embed="rId2"/>
          <a:stretch>
            <a:fillRect/>
          </a:stretch>
        </p:blipFill>
        <p:spPr>
          <a:xfrm>
            <a:off x="567542" y="2187126"/>
            <a:ext cx="5015006" cy="3454445"/>
          </a:xfrm>
          <a:prstGeom prst="rect">
            <a:avLst/>
          </a:prstGeom>
        </p:spPr>
      </p:pic>
      <p:sp>
        <p:nvSpPr>
          <p:cNvPr id="7" name="矢印: 右 6">
            <a:extLst>
              <a:ext uri="{FF2B5EF4-FFF2-40B4-BE49-F238E27FC236}">
                <a16:creationId xmlns:a16="http://schemas.microsoft.com/office/drawing/2014/main" id="{4F8E71F5-99E4-4501-880F-01DF7AF452BA}"/>
              </a:ext>
            </a:extLst>
          </p:cNvPr>
          <p:cNvSpPr/>
          <p:nvPr/>
        </p:nvSpPr>
        <p:spPr>
          <a:xfrm rot="8485814">
            <a:off x="939328" y="3192963"/>
            <a:ext cx="575733" cy="455643"/>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右 7">
            <a:extLst>
              <a:ext uri="{FF2B5EF4-FFF2-40B4-BE49-F238E27FC236}">
                <a16:creationId xmlns:a16="http://schemas.microsoft.com/office/drawing/2014/main" id="{7364B800-80F3-443E-8938-CD68992C6C98}"/>
              </a:ext>
            </a:extLst>
          </p:cNvPr>
          <p:cNvSpPr/>
          <p:nvPr/>
        </p:nvSpPr>
        <p:spPr>
          <a:xfrm rot="13578864">
            <a:off x="1379106" y="4594643"/>
            <a:ext cx="575733" cy="455643"/>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図 9">
            <a:extLst>
              <a:ext uri="{FF2B5EF4-FFF2-40B4-BE49-F238E27FC236}">
                <a16:creationId xmlns:a16="http://schemas.microsoft.com/office/drawing/2014/main" id="{757DEB6D-3D19-4160-993D-35BEC3F82552}"/>
              </a:ext>
            </a:extLst>
          </p:cNvPr>
          <p:cNvPicPr>
            <a:picLocks noChangeAspect="1"/>
          </p:cNvPicPr>
          <p:nvPr/>
        </p:nvPicPr>
        <p:blipFill>
          <a:blip r:embed="rId3"/>
          <a:stretch>
            <a:fillRect/>
          </a:stretch>
        </p:blipFill>
        <p:spPr>
          <a:xfrm>
            <a:off x="5993625" y="2187126"/>
            <a:ext cx="3138810" cy="3454445"/>
          </a:xfrm>
          <a:prstGeom prst="rect">
            <a:avLst/>
          </a:prstGeom>
        </p:spPr>
      </p:pic>
      <p:sp>
        <p:nvSpPr>
          <p:cNvPr id="11" name="テキスト ボックス 10">
            <a:extLst>
              <a:ext uri="{FF2B5EF4-FFF2-40B4-BE49-F238E27FC236}">
                <a16:creationId xmlns:a16="http://schemas.microsoft.com/office/drawing/2014/main" id="{4170CB50-05BC-438C-8FE3-686F17E2BAB7}"/>
              </a:ext>
            </a:extLst>
          </p:cNvPr>
          <p:cNvSpPr txBox="1"/>
          <p:nvPr/>
        </p:nvSpPr>
        <p:spPr>
          <a:xfrm>
            <a:off x="567542" y="5904381"/>
            <a:ext cx="10033516" cy="461665"/>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ショートカットもデスクトップに作っておきましょう。（実演します）</a:t>
            </a:r>
            <a:endParaRPr lang="en-US" altLang="ja-JP" sz="2400"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3784168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80440" cy="584775"/>
          </a:xfrm>
          <a:prstGeom prst="rect">
            <a:avLst/>
          </a:prstGeom>
          <a:noFill/>
        </p:spPr>
        <p:txBody>
          <a:bodyPr wrap="none" rtlCol="0">
            <a:spAutoFit/>
          </a:bodyPr>
          <a:lstStyle/>
          <a:p>
            <a:r>
              <a:rPr lang="ja-JP" altLang="en-US" sz="3200" b="1" u="sng" dirty="0">
                <a:latin typeface="HGS創英角ｺﾞｼｯｸUB" panose="020B0900000000000000" pitchFamily="50" charset="-128"/>
                <a:ea typeface="HGS創英角ｺﾞｼｯｸUB" panose="020B0900000000000000" pitchFamily="50" charset="-128"/>
              </a:rPr>
              <a:t>データの保存場所</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02410" cy="830997"/>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フォルダの中では、</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授業の科目ごとにフォルダ分け</a:t>
            </a:r>
            <a:r>
              <a:rPr lang="ja-JP" altLang="en-US" sz="2400" dirty="0">
                <a:latin typeface="HGS創英角ｺﾞｼｯｸUB" panose="020B0900000000000000" pitchFamily="50" charset="-128"/>
                <a:ea typeface="HGS創英角ｺﾞｼｯｸUB" panose="020B0900000000000000" pitchFamily="50" charset="-128"/>
              </a:rPr>
              <a:t>するときれいに整理できます。</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9" name="図 8">
            <a:extLst>
              <a:ext uri="{FF2B5EF4-FFF2-40B4-BE49-F238E27FC236}">
                <a16:creationId xmlns:a16="http://schemas.microsoft.com/office/drawing/2014/main" id="{19419B1D-B2FE-4A75-BAAD-979587F5444B}"/>
              </a:ext>
            </a:extLst>
          </p:cNvPr>
          <p:cNvPicPr>
            <a:picLocks noChangeAspect="1"/>
          </p:cNvPicPr>
          <p:nvPr/>
        </p:nvPicPr>
        <p:blipFill>
          <a:blip r:embed="rId2"/>
          <a:stretch>
            <a:fillRect/>
          </a:stretch>
        </p:blipFill>
        <p:spPr>
          <a:xfrm>
            <a:off x="567542" y="2187126"/>
            <a:ext cx="6789991" cy="3539527"/>
          </a:xfrm>
          <a:prstGeom prst="rect">
            <a:avLst/>
          </a:prstGeom>
        </p:spPr>
      </p:pic>
      <p:sp>
        <p:nvSpPr>
          <p:cNvPr id="12" name="テキスト ボックス 11">
            <a:extLst>
              <a:ext uri="{FF2B5EF4-FFF2-40B4-BE49-F238E27FC236}">
                <a16:creationId xmlns:a16="http://schemas.microsoft.com/office/drawing/2014/main" id="{871ED70E-C981-4457-8588-05BF0B505EFC}"/>
              </a:ext>
            </a:extLst>
          </p:cNvPr>
          <p:cNvSpPr txBox="1"/>
          <p:nvPr/>
        </p:nvSpPr>
        <p:spPr>
          <a:xfrm>
            <a:off x="567542" y="5866353"/>
            <a:ext cx="4801314" cy="461665"/>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常に整理整頓を心がけましょう。</a:t>
            </a:r>
            <a:endParaRPr lang="en-US" altLang="ja-JP" sz="2400"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18326887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933543" cy="584775"/>
          </a:xfrm>
          <a:prstGeom prst="rect">
            <a:avLst/>
          </a:prstGeom>
          <a:noFill/>
        </p:spPr>
        <p:txBody>
          <a:bodyPr wrap="none" rtlCol="0">
            <a:spAutoFit/>
          </a:bodyPr>
          <a:lstStyle/>
          <a:p>
            <a:r>
              <a:rPr lang="en-US" altLang="ja-JP" sz="3200" b="1" u="sng" dirty="0">
                <a:latin typeface="HGS創英角ｺﾞｼｯｸUB" panose="020B0900000000000000" pitchFamily="50" charset="-128"/>
                <a:ea typeface="HGS創英角ｺﾞｼｯｸUB" panose="020B0900000000000000" pitchFamily="50" charset="-128"/>
              </a:rPr>
              <a:t>One Drive</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329524" cy="3046988"/>
          </a:xfrm>
          <a:prstGeom prst="rect">
            <a:avLst/>
          </a:prstGeom>
          <a:noFill/>
        </p:spPr>
        <p:txBody>
          <a:bodyPr wrap="none" rtlCol="0">
            <a:spAutoFit/>
          </a:bodyPr>
          <a:lstStyle/>
          <a:p>
            <a:r>
              <a:rPr lang="en-US" altLang="ja-JP" sz="2400" dirty="0">
                <a:solidFill>
                  <a:srgbClr val="FF0000"/>
                </a:solidFill>
                <a:latin typeface="HGS創英角ｺﾞｼｯｸUB" panose="020B0900000000000000" pitchFamily="50" charset="-128"/>
                <a:ea typeface="HGS創英角ｺﾞｼｯｸUB" panose="020B0900000000000000" pitchFamily="50" charset="-128"/>
              </a:rPr>
              <a:t>One Drive</a:t>
            </a:r>
            <a:r>
              <a:rPr lang="ja-JP" altLang="en-US" sz="2400" dirty="0">
                <a:latin typeface="HGS創英角ｺﾞｼｯｸUB" panose="020B0900000000000000" pitchFamily="50" charset="-128"/>
                <a:ea typeface="HGS創英角ｺﾞｼｯｸUB" panose="020B0900000000000000" pitchFamily="50" charset="-128"/>
              </a:rPr>
              <a:t>とは、</a:t>
            </a:r>
            <a:endParaRPr lang="en-US" altLang="ja-JP" sz="2400" dirty="0">
              <a:latin typeface="HGS創英角ｺﾞｼｯｸUB" panose="020B0900000000000000" pitchFamily="50" charset="-128"/>
              <a:ea typeface="HGS創英角ｺﾞｼｯｸUB" panose="020B0900000000000000" pitchFamily="50" charset="-128"/>
            </a:endParaRPr>
          </a:p>
          <a:p>
            <a:r>
              <a:rPr lang="en-US" altLang="ja-JP" sz="2400" dirty="0">
                <a:latin typeface="HGS創英角ｺﾞｼｯｸUB" panose="020B0900000000000000" pitchFamily="50" charset="-128"/>
                <a:ea typeface="HGS創英角ｺﾞｼｯｸUB" panose="020B0900000000000000" pitchFamily="50" charset="-128"/>
              </a:rPr>
              <a:t>Micro Soft</a:t>
            </a:r>
            <a:r>
              <a:rPr lang="ja-JP" altLang="en-US" sz="2400" dirty="0">
                <a:latin typeface="HGS創英角ｺﾞｼｯｸUB" panose="020B0900000000000000" pitchFamily="50" charset="-128"/>
                <a:ea typeface="HGS創英角ｺﾞｼｯｸUB" panose="020B0900000000000000" pitchFamily="50" charset="-128"/>
              </a:rPr>
              <a:t>社が提供する</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クラウドストレージサービス</a:t>
            </a:r>
            <a:r>
              <a:rPr lang="ja-JP" altLang="en-US" sz="2400" dirty="0">
                <a:latin typeface="HGS創英角ｺﾞｼｯｸUB" panose="020B0900000000000000" pitchFamily="50" charset="-128"/>
                <a:ea typeface="HGS創英角ｺﾞｼｯｸUB" panose="020B0900000000000000" pitchFamily="50" charset="-128"/>
              </a:rPr>
              <a:t>です。</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これを使えば、</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学校とお家でファイルを共有</a:t>
            </a:r>
            <a:r>
              <a:rPr lang="ja-JP" altLang="en-US" sz="2400" dirty="0">
                <a:latin typeface="HGS創英角ｺﾞｼｯｸUB" panose="020B0900000000000000" pitchFamily="50" charset="-128"/>
                <a:ea typeface="HGS創英角ｺﾞｼｯｸUB" panose="020B0900000000000000" pitchFamily="50" charset="-128"/>
              </a:rPr>
              <a:t>することができます。</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学校でもらったデータを家でも見たい</a:t>
            </a:r>
            <a:r>
              <a:rPr lang="ja-JP" altLang="en-US" sz="2400" dirty="0">
                <a:latin typeface="HGS創英角ｺﾞｼｯｸUB" panose="020B0900000000000000" pitchFamily="50" charset="-128"/>
                <a:ea typeface="HGS創英角ｺﾞｼｯｸUB" panose="020B0900000000000000" pitchFamily="50" charset="-128"/>
              </a:rPr>
              <a:t>ときや、</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家でも課題やゲーム制作をしたい</a:t>
            </a:r>
            <a:r>
              <a:rPr lang="ja-JP" altLang="en-US" sz="2400" dirty="0">
                <a:latin typeface="HGS創英角ｺﾞｼｯｸUB" panose="020B0900000000000000" pitchFamily="50" charset="-128"/>
                <a:ea typeface="HGS創英角ｺﾞｼｯｸUB" panose="020B0900000000000000" pitchFamily="50" charset="-128"/>
              </a:rPr>
              <a:t>ときに使用します。</a:t>
            </a:r>
            <a:endParaRPr lang="en-US" altLang="ja-JP" sz="2400"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12682975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933543" cy="584775"/>
          </a:xfrm>
          <a:prstGeom prst="rect">
            <a:avLst/>
          </a:prstGeom>
          <a:noFill/>
        </p:spPr>
        <p:txBody>
          <a:bodyPr wrap="none" rtlCol="0">
            <a:spAutoFit/>
          </a:bodyPr>
          <a:lstStyle/>
          <a:p>
            <a:r>
              <a:rPr lang="en-US" altLang="ja-JP" sz="3200" b="1" u="sng" dirty="0">
                <a:latin typeface="HGS創英角ｺﾞｼｯｸUB" panose="020B0900000000000000" pitchFamily="50" charset="-128"/>
                <a:ea typeface="HGS創英角ｺﾞｼｯｸUB" panose="020B0900000000000000" pitchFamily="50" charset="-128"/>
              </a:rPr>
              <a:t>One Drive</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413428" cy="461665"/>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エクスプローラー左の雲のアイコンから</a:t>
            </a:r>
            <a:r>
              <a:rPr lang="en-US" altLang="ja-JP" sz="2400" dirty="0">
                <a:latin typeface="HGS創英角ｺﾞｼｯｸUB" panose="020B0900000000000000" pitchFamily="50" charset="-128"/>
                <a:ea typeface="HGS創英角ｺﾞｼｯｸUB" panose="020B0900000000000000" pitchFamily="50" charset="-128"/>
              </a:rPr>
              <a:t>One Drive</a:t>
            </a:r>
            <a:r>
              <a:rPr lang="ja-JP" altLang="en-US" sz="2400" dirty="0">
                <a:latin typeface="HGS創英角ｺﾞｼｯｸUB" panose="020B0900000000000000" pitchFamily="50" charset="-128"/>
                <a:ea typeface="HGS創英角ｺﾞｼｯｸUB" panose="020B0900000000000000" pitchFamily="50" charset="-128"/>
              </a:rPr>
              <a:t>にアクセスできます。</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3" name="図 2">
            <a:extLst>
              <a:ext uri="{FF2B5EF4-FFF2-40B4-BE49-F238E27FC236}">
                <a16:creationId xmlns:a16="http://schemas.microsoft.com/office/drawing/2014/main" id="{6B5A77D8-D9D5-4F47-8408-2A1393321124}"/>
              </a:ext>
            </a:extLst>
          </p:cNvPr>
          <p:cNvPicPr>
            <a:picLocks noChangeAspect="1"/>
          </p:cNvPicPr>
          <p:nvPr/>
        </p:nvPicPr>
        <p:blipFill>
          <a:blip r:embed="rId2"/>
          <a:stretch>
            <a:fillRect/>
          </a:stretch>
        </p:blipFill>
        <p:spPr>
          <a:xfrm>
            <a:off x="567541" y="1817794"/>
            <a:ext cx="3704787" cy="3567006"/>
          </a:xfrm>
          <a:prstGeom prst="rect">
            <a:avLst/>
          </a:prstGeom>
        </p:spPr>
      </p:pic>
      <p:sp>
        <p:nvSpPr>
          <p:cNvPr id="7" name="矢印: 右 6">
            <a:extLst>
              <a:ext uri="{FF2B5EF4-FFF2-40B4-BE49-F238E27FC236}">
                <a16:creationId xmlns:a16="http://schemas.microsoft.com/office/drawing/2014/main" id="{A90631C9-73A4-4A69-95B3-1F755801C917}"/>
              </a:ext>
            </a:extLst>
          </p:cNvPr>
          <p:cNvSpPr/>
          <p:nvPr/>
        </p:nvSpPr>
        <p:spPr>
          <a:xfrm rot="13578864">
            <a:off x="1725198" y="5156979"/>
            <a:ext cx="575733" cy="455643"/>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6B540112-23D4-4BF4-9F07-740A17AC35F6}"/>
              </a:ext>
            </a:extLst>
          </p:cNvPr>
          <p:cNvSpPr txBox="1"/>
          <p:nvPr/>
        </p:nvSpPr>
        <p:spPr>
          <a:xfrm>
            <a:off x="567541" y="5905838"/>
            <a:ext cx="8021748" cy="461665"/>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初回のみ</a:t>
            </a:r>
            <a:r>
              <a:rPr lang="en-US" altLang="ja-JP" sz="2400" dirty="0">
                <a:latin typeface="HGS創英角ｺﾞｼｯｸUB" panose="020B0900000000000000" pitchFamily="50" charset="-128"/>
                <a:ea typeface="HGS創英角ｺﾞｼｯｸUB" panose="020B0900000000000000" pitchFamily="50" charset="-128"/>
              </a:rPr>
              <a:t>Micro Soft</a:t>
            </a:r>
            <a:r>
              <a:rPr lang="ja-JP" altLang="en-US" sz="2400" dirty="0">
                <a:latin typeface="HGS創英角ｺﾞｼｯｸUB" panose="020B0900000000000000" pitchFamily="50" charset="-128"/>
                <a:ea typeface="HGS創英角ｺﾞｼｯｸUB" panose="020B0900000000000000" pitchFamily="50" charset="-128"/>
              </a:rPr>
              <a:t>アカウントのサインインが必要です。</a:t>
            </a:r>
            <a:endParaRPr lang="en-US" altLang="ja-JP" sz="2400"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7830331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933543" cy="584775"/>
          </a:xfrm>
          <a:prstGeom prst="rect">
            <a:avLst/>
          </a:prstGeom>
          <a:noFill/>
        </p:spPr>
        <p:txBody>
          <a:bodyPr wrap="none" rtlCol="0">
            <a:spAutoFit/>
          </a:bodyPr>
          <a:lstStyle/>
          <a:p>
            <a:r>
              <a:rPr lang="en-US" altLang="ja-JP" sz="3200" b="1" u="sng" dirty="0">
                <a:latin typeface="HGS創英角ｺﾞｼｯｸUB" panose="020B0900000000000000" pitchFamily="50" charset="-128"/>
                <a:ea typeface="HGS創英角ｺﾞｼｯｸUB" panose="020B0900000000000000" pitchFamily="50" charset="-128"/>
              </a:rPr>
              <a:t>One Drive</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566769" cy="830997"/>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家のパソコンでも同じアカウントでサインインすると、</a:t>
            </a:r>
            <a:endParaRPr lang="en-US" altLang="ja-JP" sz="2400" dirty="0">
              <a:latin typeface="HGS創英角ｺﾞｼｯｸUB" panose="020B0900000000000000" pitchFamily="50" charset="-128"/>
              <a:ea typeface="HGS創英角ｺﾞｼｯｸUB" panose="020B0900000000000000" pitchFamily="50" charset="-128"/>
            </a:endParaRPr>
          </a:p>
          <a:p>
            <a:r>
              <a:rPr lang="en-US" altLang="ja-JP" sz="2400" dirty="0">
                <a:latin typeface="HGS創英角ｺﾞｼｯｸUB" panose="020B0900000000000000" pitchFamily="50" charset="-128"/>
                <a:ea typeface="HGS創英角ｺﾞｼｯｸUB" panose="020B0900000000000000" pitchFamily="50" charset="-128"/>
              </a:rPr>
              <a:t>One</a:t>
            </a:r>
            <a:r>
              <a:rPr lang="ja-JP" altLang="en-US" sz="2400" dirty="0">
                <a:latin typeface="HGS創英角ｺﾞｼｯｸUB" panose="020B0900000000000000" pitchFamily="50" charset="-128"/>
                <a:ea typeface="HGS創英角ｺﾞｼｯｸUB" panose="020B0900000000000000" pitchFamily="50" charset="-128"/>
              </a:rPr>
              <a:t> </a:t>
            </a:r>
            <a:r>
              <a:rPr lang="en-US" altLang="ja-JP" sz="2400" dirty="0">
                <a:latin typeface="HGS創英角ｺﾞｼｯｸUB" panose="020B0900000000000000" pitchFamily="50" charset="-128"/>
                <a:ea typeface="HGS創英角ｺﾞｼｯｸUB" panose="020B0900000000000000" pitchFamily="50" charset="-128"/>
              </a:rPr>
              <a:t>Drive</a:t>
            </a:r>
            <a:r>
              <a:rPr lang="ja-JP" altLang="en-US" sz="2400" dirty="0">
                <a:latin typeface="HGS創英角ｺﾞｼｯｸUB" panose="020B0900000000000000" pitchFamily="50" charset="-128"/>
                <a:ea typeface="HGS創英角ｺﾞｼｯｸUB" panose="020B0900000000000000" pitchFamily="50" charset="-128"/>
              </a:rPr>
              <a:t>に保存されているファイルがすべて表示されます。</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5" name="図 4">
            <a:extLst>
              <a:ext uri="{FF2B5EF4-FFF2-40B4-BE49-F238E27FC236}">
                <a16:creationId xmlns:a16="http://schemas.microsoft.com/office/drawing/2014/main" id="{E2E6A994-B26A-4AFC-ACE0-FE12E7D390CB}"/>
              </a:ext>
            </a:extLst>
          </p:cNvPr>
          <p:cNvPicPr>
            <a:picLocks noChangeAspect="1"/>
          </p:cNvPicPr>
          <p:nvPr/>
        </p:nvPicPr>
        <p:blipFill>
          <a:blip r:embed="rId2"/>
          <a:stretch>
            <a:fillRect/>
          </a:stretch>
        </p:blipFill>
        <p:spPr>
          <a:xfrm>
            <a:off x="567542" y="2187126"/>
            <a:ext cx="6095725" cy="3177615"/>
          </a:xfrm>
          <a:prstGeom prst="rect">
            <a:avLst/>
          </a:prstGeom>
        </p:spPr>
      </p:pic>
      <p:sp>
        <p:nvSpPr>
          <p:cNvPr id="9" name="テキスト ボックス 8">
            <a:extLst>
              <a:ext uri="{FF2B5EF4-FFF2-40B4-BE49-F238E27FC236}">
                <a16:creationId xmlns:a16="http://schemas.microsoft.com/office/drawing/2014/main" id="{E4B72675-A8DD-4100-8B82-3870E8F87B83}"/>
              </a:ext>
            </a:extLst>
          </p:cNvPr>
          <p:cNvSpPr txBox="1"/>
          <p:nvPr/>
        </p:nvSpPr>
        <p:spPr>
          <a:xfrm>
            <a:off x="567541" y="5504441"/>
            <a:ext cx="4493538" cy="461665"/>
          </a:xfrm>
          <a:prstGeom prst="rect">
            <a:avLst/>
          </a:prstGeom>
          <a:noFill/>
        </p:spPr>
        <p:txBody>
          <a:bodyPr wrap="none" rtlCol="0">
            <a:spAutoFit/>
          </a:bodyPr>
          <a:lstStyle/>
          <a:p>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家でも学校でもこうなってる。</a:t>
            </a:r>
            <a:endParaRPr lang="en-US" altLang="ja-JP" sz="2400" dirty="0">
              <a:solidFill>
                <a:srgbClr val="FF0000"/>
              </a:solidFill>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4026306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933543" cy="584775"/>
          </a:xfrm>
          <a:prstGeom prst="rect">
            <a:avLst/>
          </a:prstGeom>
          <a:noFill/>
        </p:spPr>
        <p:txBody>
          <a:bodyPr wrap="none" rtlCol="0">
            <a:spAutoFit/>
          </a:bodyPr>
          <a:lstStyle/>
          <a:p>
            <a:r>
              <a:rPr lang="en-US" altLang="ja-JP" sz="3200" b="1" u="sng" dirty="0">
                <a:latin typeface="HGS創英角ｺﾞｼｯｸUB" panose="020B0900000000000000" pitchFamily="50" charset="-128"/>
                <a:ea typeface="HGS創英角ｺﾞｼｯｸUB" panose="020B0900000000000000" pitchFamily="50" charset="-128"/>
              </a:rPr>
              <a:t>One Drive</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403810" cy="1569660"/>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インターネットブラウザからでもファイルにアクセスできます。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特定のファイルをダウンロードすることもできます。</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リンク：</a:t>
            </a:r>
            <a:r>
              <a:rPr lang="ja-JP" altLang="en-US" sz="2400" dirty="0">
                <a:hlinkClick r:id="rId2"/>
              </a:rPr>
              <a:t>個人用ファイル共有とクラウド ストレージ </a:t>
            </a:r>
            <a:r>
              <a:rPr lang="en-US" altLang="ja-JP" sz="2400" dirty="0">
                <a:hlinkClick r:id="rId2"/>
              </a:rPr>
              <a:t>| Microsoft OneDrive</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3" name="図 2">
            <a:extLst>
              <a:ext uri="{FF2B5EF4-FFF2-40B4-BE49-F238E27FC236}">
                <a16:creationId xmlns:a16="http://schemas.microsoft.com/office/drawing/2014/main" id="{8F66FDB3-C737-4380-9B39-9045DD36F05B}"/>
              </a:ext>
            </a:extLst>
          </p:cNvPr>
          <p:cNvPicPr>
            <a:picLocks noChangeAspect="1"/>
          </p:cNvPicPr>
          <p:nvPr/>
        </p:nvPicPr>
        <p:blipFill>
          <a:blip r:embed="rId3"/>
          <a:stretch>
            <a:fillRect/>
          </a:stretch>
        </p:blipFill>
        <p:spPr>
          <a:xfrm>
            <a:off x="567542" y="2925789"/>
            <a:ext cx="6906192" cy="3712078"/>
          </a:xfrm>
          <a:prstGeom prst="rect">
            <a:avLst/>
          </a:prstGeom>
        </p:spPr>
      </p:pic>
    </p:spTree>
    <p:extLst>
      <p:ext uri="{BB962C8B-B14F-4D97-AF65-F5344CB8AC3E}">
        <p14:creationId xmlns:p14="http://schemas.microsoft.com/office/powerpoint/2010/main" val="485507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895344" cy="584775"/>
          </a:xfrm>
          <a:prstGeom prst="rect">
            <a:avLst/>
          </a:prstGeom>
          <a:noFill/>
        </p:spPr>
        <p:txBody>
          <a:bodyPr wrap="none" rtlCol="0">
            <a:spAutoFit/>
          </a:bodyPr>
          <a:lstStyle/>
          <a:p>
            <a:r>
              <a:rPr lang="en-US" altLang="ja-JP" sz="3200" b="1" u="sng" dirty="0">
                <a:latin typeface="HGS創英角ｺﾞｼｯｸUB" panose="020B0900000000000000" pitchFamily="50" charset="-128"/>
                <a:ea typeface="HGS創英角ｺﾞｼｯｸUB" panose="020B0900000000000000" pitchFamily="50" charset="-128"/>
              </a:rPr>
              <a:t>One Drive </a:t>
            </a:r>
            <a:r>
              <a:rPr lang="ja-JP" altLang="en-US" sz="3200" b="1" u="sng" dirty="0">
                <a:latin typeface="HGS創英角ｺﾞｼｯｸUB" panose="020B0900000000000000" pitchFamily="50" charset="-128"/>
                <a:ea typeface="HGS創英角ｺﾞｼｯｸUB" panose="020B0900000000000000" pitchFamily="50" charset="-128"/>
              </a:rPr>
              <a:t>注意</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033516" cy="4154984"/>
          </a:xfrm>
          <a:prstGeom prst="rect">
            <a:avLst/>
          </a:prstGeom>
          <a:noFill/>
        </p:spPr>
        <p:txBody>
          <a:bodyPr wrap="none" rtlCol="0">
            <a:spAutoFit/>
          </a:bodyPr>
          <a:lstStyle/>
          <a:p>
            <a:r>
              <a:rPr lang="en-US" altLang="ja-JP" sz="2400" dirty="0">
                <a:latin typeface="HGS創英角ｺﾞｼｯｸUB" panose="020B0900000000000000" pitchFamily="50" charset="-128"/>
                <a:ea typeface="HGS創英角ｺﾞｼｯｸUB" panose="020B0900000000000000" pitchFamily="50" charset="-128"/>
              </a:rPr>
              <a:t>One Drive</a:t>
            </a:r>
            <a:r>
              <a:rPr lang="ja-JP" altLang="en-US" sz="2400" dirty="0">
                <a:latin typeface="HGS創英角ｺﾞｼｯｸUB" panose="020B0900000000000000" pitchFamily="50" charset="-128"/>
                <a:ea typeface="HGS創英角ｺﾞｼｯｸUB" panose="020B0900000000000000" pitchFamily="50" charset="-128"/>
              </a:rPr>
              <a:t>は非常に便利ですが、</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ファイルをインターネット上に保存することとなります。</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漏洩してはいけない個人情報などは保存しないように、</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使用する際は注意しましょう。</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en-US" altLang="ja-JP" sz="2400" dirty="0">
                <a:solidFill>
                  <a:srgbClr val="00B050"/>
                </a:solidFill>
                <a:latin typeface="HGS創英角ｺﾞｼｯｸUB" panose="020B0900000000000000" pitchFamily="50" charset="-128"/>
                <a:ea typeface="HGS創英角ｺﾞｼｯｸUB" panose="020B0900000000000000" pitchFamily="50" charset="-128"/>
              </a:rPr>
              <a:t>MEMO</a:t>
            </a:r>
          </a:p>
          <a:p>
            <a:r>
              <a:rPr lang="ja-JP" altLang="en-US" sz="2400" dirty="0">
                <a:latin typeface="HGS創英角ｺﾞｼｯｸUB" panose="020B0900000000000000" pitchFamily="50" charset="-128"/>
                <a:ea typeface="HGS創英角ｺﾞｼｯｸUB" panose="020B0900000000000000" pitchFamily="50" charset="-128"/>
              </a:rPr>
              <a:t>クラウドストレージサービスとは、</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ある会社がデータ保存場所を用意して顧客に使用させるサービスです。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つまり</a:t>
            </a:r>
            <a:r>
              <a:rPr lang="en-US" altLang="ja-JP" sz="2400" dirty="0">
                <a:latin typeface="HGS創英角ｺﾞｼｯｸUB" panose="020B0900000000000000" pitchFamily="50" charset="-128"/>
                <a:ea typeface="HGS創英角ｺﾞｼｯｸUB" panose="020B0900000000000000" pitchFamily="50" charset="-128"/>
              </a:rPr>
              <a:t>One Drive</a:t>
            </a:r>
            <a:r>
              <a:rPr lang="ja-JP" altLang="en-US" sz="2400" dirty="0">
                <a:latin typeface="HGS創英角ｺﾞｼｯｸUB" panose="020B0900000000000000" pitchFamily="50" charset="-128"/>
                <a:ea typeface="HGS創英角ｺﾞｼｯｸUB" panose="020B0900000000000000" pitchFamily="50" charset="-128"/>
              </a:rPr>
              <a:t>に保存したファイルは</a:t>
            </a:r>
            <a:r>
              <a:rPr lang="en-US" altLang="ja-JP" sz="2400" dirty="0">
                <a:latin typeface="HGS創英角ｺﾞｼｯｸUB" panose="020B0900000000000000" pitchFamily="50" charset="-128"/>
                <a:ea typeface="HGS創英角ｺﾞｼｯｸUB" panose="020B0900000000000000" pitchFamily="50" charset="-128"/>
              </a:rPr>
              <a:t>Micro Soft</a:t>
            </a:r>
            <a:r>
              <a:rPr lang="ja-JP" altLang="en-US" sz="2400" dirty="0">
                <a:latin typeface="HGS創英角ｺﾞｼｯｸUB" panose="020B0900000000000000" pitchFamily="50" charset="-128"/>
                <a:ea typeface="HGS創英角ｺﾞｼｯｸUB" panose="020B0900000000000000" pitchFamily="50" charset="-128"/>
              </a:rPr>
              <a:t>社が所有する、</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サーバーという巨大なストレージ端末に保存されます。</a:t>
            </a:r>
            <a:endParaRPr lang="en-US" altLang="ja-JP" sz="2400"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10177923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895344" cy="584775"/>
          </a:xfrm>
          <a:prstGeom prst="rect">
            <a:avLst/>
          </a:prstGeom>
          <a:noFill/>
        </p:spPr>
        <p:txBody>
          <a:bodyPr wrap="none" rtlCol="0">
            <a:spAutoFit/>
          </a:bodyPr>
          <a:lstStyle/>
          <a:p>
            <a:r>
              <a:rPr lang="en-US" altLang="ja-JP" sz="3200" b="1" u="sng" dirty="0">
                <a:latin typeface="HGS創英角ｺﾞｼｯｸUB" panose="020B0900000000000000" pitchFamily="50" charset="-128"/>
                <a:ea typeface="HGS創英角ｺﾞｼｯｸUB" panose="020B0900000000000000" pitchFamily="50" charset="-128"/>
              </a:rPr>
              <a:t>One Drive </a:t>
            </a:r>
            <a:r>
              <a:rPr lang="ja-JP" altLang="en-US" sz="3200" b="1" u="sng" dirty="0">
                <a:latin typeface="HGS創英角ｺﾞｼｯｸUB" panose="020B0900000000000000" pitchFamily="50" charset="-128"/>
                <a:ea typeface="HGS創英角ｺﾞｼｯｸUB" panose="020B0900000000000000" pitchFamily="50" charset="-128"/>
              </a:rPr>
              <a:t>注意</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955750" cy="830997"/>
          </a:xfrm>
          <a:prstGeom prst="rect">
            <a:avLst/>
          </a:prstGeom>
          <a:noFill/>
        </p:spPr>
        <p:txBody>
          <a:bodyPr wrap="none" rtlCol="0">
            <a:spAutoFit/>
          </a:bodyPr>
          <a:lstStyle/>
          <a:p>
            <a:r>
              <a:rPr lang="en-US" altLang="ja-JP" sz="2400" dirty="0">
                <a:latin typeface="HGS創英角ｺﾞｼｯｸUB" panose="020B0900000000000000" pitchFamily="50" charset="-128"/>
                <a:ea typeface="HGS創英角ｺﾞｼｯｸUB" panose="020B0900000000000000" pitchFamily="50" charset="-128"/>
              </a:rPr>
              <a:t>One Drive</a:t>
            </a:r>
            <a:r>
              <a:rPr lang="ja-JP" altLang="en-US" sz="2400" dirty="0">
                <a:latin typeface="HGS創英角ｺﾞｼｯｸUB" panose="020B0900000000000000" pitchFamily="50" charset="-128"/>
                <a:ea typeface="HGS創英角ｺﾞｼｯｸUB" panose="020B0900000000000000" pitchFamily="50" charset="-128"/>
              </a:rPr>
              <a:t>に保存したデータを編集する際は、</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必ず別の場所にコピーしてから編集しましょう。</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3" name="図 2">
            <a:extLst>
              <a:ext uri="{FF2B5EF4-FFF2-40B4-BE49-F238E27FC236}">
                <a16:creationId xmlns:a16="http://schemas.microsoft.com/office/drawing/2014/main" id="{B90D9805-20EE-4D6B-B653-8C7EBBA4EA79}"/>
              </a:ext>
            </a:extLst>
          </p:cNvPr>
          <p:cNvPicPr>
            <a:picLocks noChangeAspect="1"/>
          </p:cNvPicPr>
          <p:nvPr/>
        </p:nvPicPr>
        <p:blipFill>
          <a:blip r:embed="rId2"/>
          <a:stretch>
            <a:fillRect/>
          </a:stretch>
        </p:blipFill>
        <p:spPr>
          <a:xfrm>
            <a:off x="567542" y="2187126"/>
            <a:ext cx="5757058" cy="2884538"/>
          </a:xfrm>
          <a:prstGeom prst="rect">
            <a:avLst/>
          </a:prstGeom>
        </p:spPr>
      </p:pic>
      <p:sp>
        <p:nvSpPr>
          <p:cNvPr id="5" name="矢印: 右 4">
            <a:extLst>
              <a:ext uri="{FF2B5EF4-FFF2-40B4-BE49-F238E27FC236}">
                <a16:creationId xmlns:a16="http://schemas.microsoft.com/office/drawing/2014/main" id="{454DACC1-F05D-4B41-8BA1-56CB5D9242E7}"/>
              </a:ext>
            </a:extLst>
          </p:cNvPr>
          <p:cNvSpPr/>
          <p:nvPr/>
        </p:nvSpPr>
        <p:spPr>
          <a:xfrm rot="10123919">
            <a:off x="1045735" y="3482497"/>
            <a:ext cx="1483787" cy="293797"/>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32899ED0-1DBE-4FBA-9787-D97C572362BA}"/>
              </a:ext>
            </a:extLst>
          </p:cNvPr>
          <p:cNvSpPr txBox="1"/>
          <p:nvPr/>
        </p:nvSpPr>
        <p:spPr>
          <a:xfrm>
            <a:off x="567542" y="5414705"/>
            <a:ext cx="8015336" cy="1200329"/>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これは、</a:t>
            </a:r>
            <a:r>
              <a:rPr lang="en-US" altLang="ja-JP" sz="2400" dirty="0">
                <a:latin typeface="HGS創英角ｺﾞｼｯｸUB" panose="020B0900000000000000" pitchFamily="50" charset="-128"/>
                <a:ea typeface="HGS創英角ｺﾞｼｯｸUB" panose="020B0900000000000000" pitchFamily="50" charset="-128"/>
              </a:rPr>
              <a:t>One Drive</a:t>
            </a:r>
            <a:r>
              <a:rPr lang="ja-JP" altLang="en-US" sz="2400" dirty="0">
                <a:latin typeface="HGS創英角ｺﾞｼｯｸUB" panose="020B0900000000000000" pitchFamily="50" charset="-128"/>
                <a:ea typeface="HGS創英角ｺﾞｼｯｸUB" panose="020B0900000000000000" pitchFamily="50" charset="-128"/>
              </a:rPr>
              <a:t>にあるファイルは</a:t>
            </a:r>
            <a:r>
              <a:rPr lang="en-US" altLang="ja-JP" sz="2400" dirty="0">
                <a:latin typeface="HGS創英角ｺﾞｼｯｸUB" panose="020B0900000000000000" pitchFamily="50" charset="-128"/>
                <a:ea typeface="HGS創英角ｺﾞｼｯｸUB" panose="020B0900000000000000" pitchFamily="50" charset="-128"/>
              </a:rPr>
              <a:t>PC</a:t>
            </a:r>
            <a:r>
              <a:rPr lang="ja-JP" altLang="en-US" sz="2400" dirty="0">
                <a:latin typeface="HGS創英角ｺﾞｼｯｸUB" panose="020B0900000000000000" pitchFamily="50" charset="-128"/>
                <a:ea typeface="HGS創英角ｺﾞｼｯｸUB" panose="020B0900000000000000" pitchFamily="50" charset="-128"/>
              </a:rPr>
              <a:t>内にはないため、</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直接書き換えると不具合が起きることがあるからです。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（特にプログラム系のファイル）</a:t>
            </a:r>
            <a:endParaRPr lang="en-US" altLang="ja-JP" sz="2400" dirty="0">
              <a:latin typeface="HGS創英角ｺﾞｼｯｸUB" panose="020B0900000000000000" pitchFamily="50" charset="-128"/>
              <a:ea typeface="HGS創英角ｺﾞｼｯｸUB" panose="020B0900000000000000" pitchFamily="50" charset="-128"/>
            </a:endParaRPr>
          </a:p>
        </p:txBody>
      </p:sp>
      <p:sp>
        <p:nvSpPr>
          <p:cNvPr id="8" name="矢印: 右 7">
            <a:extLst>
              <a:ext uri="{FF2B5EF4-FFF2-40B4-BE49-F238E27FC236}">
                <a16:creationId xmlns:a16="http://schemas.microsoft.com/office/drawing/2014/main" id="{B50A8978-DBF6-450A-B072-F18DE47B7107}"/>
              </a:ext>
            </a:extLst>
          </p:cNvPr>
          <p:cNvSpPr/>
          <p:nvPr/>
        </p:nvSpPr>
        <p:spPr>
          <a:xfrm rot="20888996">
            <a:off x="1130401" y="3841380"/>
            <a:ext cx="1483787" cy="293797"/>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9201B5A4-A5C0-49DE-91AE-98D8B08C57B1}"/>
              </a:ext>
            </a:extLst>
          </p:cNvPr>
          <p:cNvSpPr txBox="1"/>
          <p:nvPr/>
        </p:nvSpPr>
        <p:spPr>
          <a:xfrm>
            <a:off x="1787628" y="4148432"/>
            <a:ext cx="6647974" cy="830997"/>
          </a:xfrm>
          <a:prstGeom prst="rect">
            <a:avLst/>
          </a:prstGeom>
          <a:solidFill>
            <a:schemeClr val="bg1"/>
          </a:solidFill>
          <a:ln>
            <a:solidFill>
              <a:schemeClr val="tx1"/>
            </a:solidFill>
          </a:ln>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デスクトップなどにコピーしてから編集する。</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編集し終わったら</a:t>
            </a:r>
            <a:r>
              <a:rPr lang="en-US" altLang="ja-JP" sz="2400" dirty="0">
                <a:latin typeface="HGS創英角ｺﾞｼｯｸUB" panose="020B0900000000000000" pitchFamily="50" charset="-128"/>
                <a:ea typeface="HGS創英角ｺﾞｼｯｸUB" panose="020B0900000000000000" pitchFamily="50" charset="-128"/>
              </a:rPr>
              <a:t>One Drive</a:t>
            </a:r>
            <a:r>
              <a:rPr lang="ja-JP" altLang="en-US" sz="2400" dirty="0">
                <a:latin typeface="HGS創英角ｺﾞｼｯｸUB" panose="020B0900000000000000" pitchFamily="50" charset="-128"/>
                <a:ea typeface="HGS創英角ｺﾞｼｯｸUB" panose="020B0900000000000000" pitchFamily="50" charset="-128"/>
              </a:rPr>
              <a:t>に戻すこと。</a:t>
            </a:r>
            <a:endParaRPr lang="en-US" altLang="ja-JP" sz="2400"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30961159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348446" cy="584775"/>
          </a:xfrm>
          <a:prstGeom prst="rect">
            <a:avLst/>
          </a:prstGeom>
          <a:noFill/>
        </p:spPr>
        <p:txBody>
          <a:bodyPr wrap="none" rtlCol="0">
            <a:spAutoFit/>
          </a:bodyPr>
          <a:lstStyle/>
          <a:p>
            <a:r>
              <a:rPr lang="en-US" altLang="ja-JP" sz="3200" b="1" u="sng" dirty="0">
                <a:latin typeface="HGS創英角ｺﾞｼｯｸUB" panose="020B0900000000000000" pitchFamily="50" charset="-128"/>
                <a:ea typeface="HGS創英角ｺﾞｼｯｸUB" panose="020B0900000000000000" pitchFamily="50" charset="-128"/>
              </a:rPr>
              <a:t>Teams</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901248" cy="830997"/>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北九州校は</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大分校と一緒に授業</a:t>
            </a:r>
            <a:r>
              <a:rPr lang="ja-JP" altLang="en-US" sz="2400" dirty="0">
                <a:latin typeface="HGS創英角ｺﾞｼｯｸUB" panose="020B0900000000000000" pitchFamily="50" charset="-128"/>
                <a:ea typeface="HGS創英角ｺﾞｼｯｸUB" panose="020B0900000000000000" pitchFamily="50" charset="-128"/>
              </a:rPr>
              <a:t>を受けます。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２つの学校をつなぐために</a:t>
            </a:r>
            <a:r>
              <a:rPr lang="en-US" altLang="ja-JP" sz="2400" dirty="0">
                <a:solidFill>
                  <a:srgbClr val="FF0000"/>
                </a:solidFill>
                <a:latin typeface="HGS創英角ｺﾞｼｯｸUB" panose="020B0900000000000000" pitchFamily="50" charset="-128"/>
                <a:ea typeface="HGS創英角ｺﾞｼｯｸUB" panose="020B0900000000000000" pitchFamily="50" charset="-128"/>
              </a:rPr>
              <a:t>Teams</a:t>
            </a:r>
            <a:r>
              <a:rPr lang="ja-JP" altLang="en-US" sz="2400" dirty="0">
                <a:latin typeface="HGS創英角ｺﾞｼｯｸUB" panose="020B0900000000000000" pitchFamily="50" charset="-128"/>
                <a:ea typeface="HGS創英角ｺﾞｼｯｸUB" panose="020B0900000000000000" pitchFamily="50" charset="-128"/>
              </a:rPr>
              <a:t>を使用します。</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9" name="図 8">
            <a:extLst>
              <a:ext uri="{FF2B5EF4-FFF2-40B4-BE49-F238E27FC236}">
                <a16:creationId xmlns:a16="http://schemas.microsoft.com/office/drawing/2014/main" id="{2DEF003D-F243-4AA8-AFEC-A5DD5B8D1BFA}"/>
              </a:ext>
            </a:extLst>
          </p:cNvPr>
          <p:cNvPicPr>
            <a:picLocks noChangeAspect="1"/>
          </p:cNvPicPr>
          <p:nvPr/>
        </p:nvPicPr>
        <p:blipFill>
          <a:blip r:embed="rId2"/>
          <a:stretch>
            <a:fillRect/>
          </a:stretch>
        </p:blipFill>
        <p:spPr>
          <a:xfrm>
            <a:off x="567542" y="2187126"/>
            <a:ext cx="7316221" cy="390580"/>
          </a:xfrm>
          <a:prstGeom prst="rect">
            <a:avLst/>
          </a:prstGeom>
        </p:spPr>
      </p:pic>
      <p:sp>
        <p:nvSpPr>
          <p:cNvPr id="11" name="矢印: 右 10">
            <a:extLst>
              <a:ext uri="{FF2B5EF4-FFF2-40B4-BE49-F238E27FC236}">
                <a16:creationId xmlns:a16="http://schemas.microsoft.com/office/drawing/2014/main" id="{54F78AF4-F4C4-40E9-8071-8F77A0F4B57C}"/>
              </a:ext>
            </a:extLst>
          </p:cNvPr>
          <p:cNvSpPr/>
          <p:nvPr/>
        </p:nvSpPr>
        <p:spPr>
          <a:xfrm rot="13578864">
            <a:off x="5518264" y="2413779"/>
            <a:ext cx="575733" cy="455643"/>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306225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348446" cy="584775"/>
          </a:xfrm>
          <a:prstGeom prst="rect">
            <a:avLst/>
          </a:prstGeom>
          <a:noFill/>
        </p:spPr>
        <p:txBody>
          <a:bodyPr wrap="none" rtlCol="0">
            <a:spAutoFit/>
          </a:bodyPr>
          <a:lstStyle/>
          <a:p>
            <a:r>
              <a:rPr lang="en-US" altLang="ja-JP" sz="3200" b="1" u="sng" dirty="0">
                <a:latin typeface="HGS創英角ｺﾞｼｯｸUB" panose="020B0900000000000000" pitchFamily="50" charset="-128"/>
                <a:ea typeface="HGS創英角ｺﾞｼｯｸUB" panose="020B0900000000000000" pitchFamily="50" charset="-128"/>
              </a:rPr>
              <a:t>Teams</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981672" cy="1938992"/>
          </a:xfrm>
          <a:prstGeom prst="rect">
            <a:avLst/>
          </a:prstGeom>
          <a:noFill/>
        </p:spPr>
        <p:txBody>
          <a:bodyPr wrap="none" rtlCol="0">
            <a:spAutoFit/>
          </a:bodyPr>
          <a:lstStyle/>
          <a:p>
            <a:r>
              <a:rPr lang="en-US" altLang="ja-JP" sz="2400" dirty="0">
                <a:latin typeface="HGS創英角ｺﾞｼｯｸUB" panose="020B0900000000000000" pitchFamily="50" charset="-128"/>
                <a:ea typeface="HGS創英角ｺﾞｼｯｸUB" panose="020B0900000000000000" pitchFamily="50" charset="-128"/>
              </a:rPr>
              <a:t>Teams</a:t>
            </a:r>
            <a:r>
              <a:rPr lang="ja-JP" altLang="en-US" sz="2400" dirty="0">
                <a:latin typeface="HGS創英角ｺﾞｼｯｸUB" panose="020B0900000000000000" pitchFamily="50" charset="-128"/>
                <a:ea typeface="HGS創英角ｺﾞｼｯｸUB" panose="020B0900000000000000" pitchFamily="50" charset="-128"/>
              </a:rPr>
              <a:t>とはチームという単位でグループを作り、</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そのメンバーでやり取りをするツールです。</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１年生は、</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ゲーム１年</a:t>
            </a:r>
            <a:r>
              <a:rPr lang="en-US" altLang="ja-JP" sz="2400" dirty="0">
                <a:solidFill>
                  <a:srgbClr val="FF0000"/>
                </a:solidFill>
                <a:latin typeface="HGS創英角ｺﾞｼｯｸUB" panose="020B0900000000000000" pitchFamily="50" charset="-128"/>
                <a:ea typeface="HGS創英角ｺﾞｼｯｸUB" panose="020B0900000000000000" pitchFamily="50" charset="-128"/>
              </a:rPr>
              <a:t>_</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北九州＆大分</a:t>
            </a:r>
            <a:r>
              <a:rPr lang="ja-JP" altLang="en-US" sz="2400" dirty="0">
                <a:latin typeface="HGS創英角ｺﾞｼｯｸUB" panose="020B0900000000000000" pitchFamily="50" charset="-128"/>
                <a:ea typeface="HGS創英角ｺﾞｼｯｸUB" panose="020B0900000000000000" pitchFamily="50" charset="-128"/>
              </a:rPr>
              <a:t>」チームで授業を行います。</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3" name="図 2">
            <a:extLst>
              <a:ext uri="{FF2B5EF4-FFF2-40B4-BE49-F238E27FC236}">
                <a16:creationId xmlns:a16="http://schemas.microsoft.com/office/drawing/2014/main" id="{CDAEC0E3-FB1D-4CD1-B08F-88EC7CE93B10}"/>
              </a:ext>
            </a:extLst>
          </p:cNvPr>
          <p:cNvPicPr>
            <a:picLocks noChangeAspect="1"/>
          </p:cNvPicPr>
          <p:nvPr/>
        </p:nvPicPr>
        <p:blipFill>
          <a:blip r:embed="rId2"/>
          <a:stretch>
            <a:fillRect/>
          </a:stretch>
        </p:blipFill>
        <p:spPr>
          <a:xfrm>
            <a:off x="567542" y="3295120"/>
            <a:ext cx="5784506" cy="2419879"/>
          </a:xfrm>
          <a:prstGeom prst="rect">
            <a:avLst/>
          </a:prstGeom>
        </p:spPr>
      </p:pic>
    </p:spTree>
    <p:extLst>
      <p:ext uri="{BB962C8B-B14F-4D97-AF65-F5344CB8AC3E}">
        <p14:creationId xmlns:p14="http://schemas.microsoft.com/office/powerpoint/2010/main" val="38799238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348446" cy="584775"/>
          </a:xfrm>
          <a:prstGeom prst="rect">
            <a:avLst/>
          </a:prstGeom>
          <a:noFill/>
        </p:spPr>
        <p:txBody>
          <a:bodyPr wrap="none" rtlCol="0">
            <a:spAutoFit/>
          </a:bodyPr>
          <a:lstStyle/>
          <a:p>
            <a:r>
              <a:rPr lang="en-US" altLang="ja-JP" sz="3200" b="1" u="sng" dirty="0">
                <a:latin typeface="HGS創英角ｺﾞｼｯｸUB" panose="020B0900000000000000" pitchFamily="50" charset="-128"/>
                <a:ea typeface="HGS創英角ｺﾞｼｯｸUB" panose="020B0900000000000000" pitchFamily="50" charset="-128"/>
              </a:rPr>
              <a:t>Teams</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263527" cy="830997"/>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チームの中には授業ごとの</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チャネル</a:t>
            </a:r>
            <a:r>
              <a:rPr lang="ja-JP" altLang="en-US" sz="2400" dirty="0">
                <a:latin typeface="HGS創英角ｺﾞｼｯｸUB" panose="020B0900000000000000" pitchFamily="50" charset="-128"/>
                <a:ea typeface="HGS創英角ｺﾞｼｯｸUB" panose="020B0900000000000000" pitchFamily="50" charset="-128"/>
              </a:rPr>
              <a:t>があります。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授業に対応したチャネルで、授業が実施されます。</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5" name="図 4">
            <a:extLst>
              <a:ext uri="{FF2B5EF4-FFF2-40B4-BE49-F238E27FC236}">
                <a16:creationId xmlns:a16="http://schemas.microsoft.com/office/drawing/2014/main" id="{DEA7E1E6-8788-422A-B57B-F2AEFD6FC953}"/>
              </a:ext>
            </a:extLst>
          </p:cNvPr>
          <p:cNvPicPr>
            <a:picLocks noChangeAspect="1"/>
          </p:cNvPicPr>
          <p:nvPr/>
        </p:nvPicPr>
        <p:blipFill>
          <a:blip r:embed="rId2"/>
          <a:stretch>
            <a:fillRect/>
          </a:stretch>
        </p:blipFill>
        <p:spPr>
          <a:xfrm>
            <a:off x="567542" y="2187126"/>
            <a:ext cx="1948896" cy="4442274"/>
          </a:xfrm>
          <a:prstGeom prst="rect">
            <a:avLst/>
          </a:prstGeom>
        </p:spPr>
      </p:pic>
    </p:spTree>
    <p:extLst>
      <p:ext uri="{BB962C8B-B14F-4D97-AF65-F5344CB8AC3E}">
        <p14:creationId xmlns:p14="http://schemas.microsoft.com/office/powerpoint/2010/main" val="417192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348446" cy="584775"/>
          </a:xfrm>
          <a:prstGeom prst="rect">
            <a:avLst/>
          </a:prstGeom>
          <a:noFill/>
        </p:spPr>
        <p:txBody>
          <a:bodyPr wrap="none" rtlCol="0">
            <a:spAutoFit/>
          </a:bodyPr>
          <a:lstStyle/>
          <a:p>
            <a:r>
              <a:rPr lang="en-US" altLang="ja-JP" sz="3200" b="1" u="sng" dirty="0">
                <a:latin typeface="HGS創英角ｺﾞｼｯｸUB" panose="020B0900000000000000" pitchFamily="50" charset="-128"/>
                <a:ea typeface="HGS創英角ｺﾞｼｯｸUB" panose="020B0900000000000000" pitchFamily="50" charset="-128"/>
              </a:rPr>
              <a:t>Teams</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830997"/>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チャネルをクリックするとチャットが開きます。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チャット内にある参加ボタンから、授業に参加することができます。</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3" name="図 2">
            <a:extLst>
              <a:ext uri="{FF2B5EF4-FFF2-40B4-BE49-F238E27FC236}">
                <a16:creationId xmlns:a16="http://schemas.microsoft.com/office/drawing/2014/main" id="{EF00720E-4213-4C04-8ECA-F318D526F390}"/>
              </a:ext>
            </a:extLst>
          </p:cNvPr>
          <p:cNvPicPr>
            <a:picLocks noChangeAspect="1"/>
          </p:cNvPicPr>
          <p:nvPr/>
        </p:nvPicPr>
        <p:blipFill>
          <a:blip r:embed="rId2"/>
          <a:stretch>
            <a:fillRect/>
          </a:stretch>
        </p:blipFill>
        <p:spPr>
          <a:xfrm>
            <a:off x="567542" y="2187126"/>
            <a:ext cx="9897856" cy="2467319"/>
          </a:xfrm>
          <a:prstGeom prst="rect">
            <a:avLst/>
          </a:prstGeom>
        </p:spPr>
      </p:pic>
      <p:sp>
        <p:nvSpPr>
          <p:cNvPr id="7" name="矢印: 右 6">
            <a:extLst>
              <a:ext uri="{FF2B5EF4-FFF2-40B4-BE49-F238E27FC236}">
                <a16:creationId xmlns:a16="http://schemas.microsoft.com/office/drawing/2014/main" id="{E53BB745-359D-4A65-8B71-D3EF320ADD50}"/>
              </a:ext>
            </a:extLst>
          </p:cNvPr>
          <p:cNvSpPr/>
          <p:nvPr/>
        </p:nvSpPr>
        <p:spPr>
          <a:xfrm rot="13578864">
            <a:off x="9641837" y="4318779"/>
            <a:ext cx="575733" cy="455643"/>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6A5BECF9-223E-4A13-B18D-54CC3D2A5FD2}"/>
              </a:ext>
            </a:extLst>
          </p:cNvPr>
          <p:cNvSpPr txBox="1"/>
          <p:nvPr/>
        </p:nvSpPr>
        <p:spPr>
          <a:xfrm>
            <a:off x="567541" y="5144963"/>
            <a:ext cx="7263527" cy="461665"/>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授業開始５分前には参加ボタンが出現しています。</a:t>
            </a:r>
            <a:endParaRPr lang="en-US" altLang="ja-JP" sz="2400"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20275668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348446" cy="584775"/>
          </a:xfrm>
          <a:prstGeom prst="rect">
            <a:avLst/>
          </a:prstGeom>
          <a:noFill/>
        </p:spPr>
        <p:txBody>
          <a:bodyPr wrap="none" rtlCol="0">
            <a:spAutoFit/>
          </a:bodyPr>
          <a:lstStyle/>
          <a:p>
            <a:r>
              <a:rPr lang="en-US" altLang="ja-JP" sz="3200" b="1" u="sng" dirty="0">
                <a:latin typeface="HGS創英角ｺﾞｼｯｸUB" panose="020B0900000000000000" pitchFamily="50" charset="-128"/>
                <a:ea typeface="HGS創英角ｺﾞｼｯｸUB" panose="020B0900000000000000" pitchFamily="50" charset="-128"/>
              </a:rPr>
              <a:t>Teams</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186857" cy="3046988"/>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以下は</a:t>
            </a:r>
            <a:r>
              <a:rPr lang="en-US" altLang="ja-JP" sz="2400" dirty="0">
                <a:latin typeface="HGS創英角ｺﾞｼｯｸUB" panose="020B0900000000000000" pitchFamily="50" charset="-128"/>
                <a:ea typeface="HGS創英角ｺﾞｼｯｸUB" panose="020B0900000000000000" pitchFamily="50" charset="-128"/>
              </a:rPr>
              <a:t>Teams</a:t>
            </a:r>
            <a:r>
              <a:rPr lang="ja-JP" altLang="en-US" sz="2400" dirty="0">
                <a:latin typeface="HGS創英角ｺﾞｼｯｸUB" panose="020B0900000000000000" pitchFamily="50" charset="-128"/>
                <a:ea typeface="HGS創英角ｺﾞｼｯｸUB" panose="020B0900000000000000" pitchFamily="50" charset="-128"/>
              </a:rPr>
              <a:t>の授業の際のルールです。</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・話している人以外のマイクは</a:t>
            </a:r>
            <a:r>
              <a:rPr lang="en-US" altLang="ja-JP" sz="2400" dirty="0">
                <a:solidFill>
                  <a:srgbClr val="FF0000"/>
                </a:solidFill>
                <a:latin typeface="HGS創英角ｺﾞｼｯｸUB" panose="020B0900000000000000" pitchFamily="50" charset="-128"/>
                <a:ea typeface="HGS創英角ｺﾞｼｯｸUB" panose="020B0900000000000000" pitchFamily="50" charset="-128"/>
              </a:rPr>
              <a:t>OFF</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にすること</a:t>
            </a:r>
            <a:endParaRPr lang="en-US" altLang="ja-JP" sz="2400" dirty="0">
              <a:solidFill>
                <a:srgbClr val="FF0000"/>
              </a:solidFill>
              <a:latin typeface="HGS創英角ｺﾞｼｯｸUB" panose="020B0900000000000000" pitchFamily="50" charset="-128"/>
              <a:ea typeface="HGS創英角ｺﾞｼｯｸUB" panose="020B0900000000000000" pitchFamily="50" charset="-128"/>
            </a:endParaRPr>
          </a:p>
          <a:p>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・カメラは常に</a:t>
            </a:r>
            <a:r>
              <a:rPr lang="en-US" altLang="ja-JP" sz="2400" dirty="0">
                <a:solidFill>
                  <a:srgbClr val="FF0000"/>
                </a:solidFill>
                <a:latin typeface="HGS創英角ｺﾞｼｯｸUB" panose="020B0900000000000000" pitchFamily="50" charset="-128"/>
                <a:ea typeface="HGS創英角ｺﾞｼｯｸUB" panose="020B0900000000000000" pitchFamily="50" charset="-128"/>
              </a:rPr>
              <a:t>ON</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にすること</a:t>
            </a:r>
            <a:endParaRPr lang="en-US" altLang="ja-JP" sz="2400" dirty="0">
              <a:solidFill>
                <a:srgbClr val="FF0000"/>
              </a:solidFill>
              <a:latin typeface="HGS創英角ｺﾞｼｯｸUB" panose="020B0900000000000000" pitchFamily="50" charset="-128"/>
              <a:ea typeface="HGS創英角ｺﾞｼｯｸUB" panose="020B0900000000000000" pitchFamily="50" charset="-128"/>
            </a:endParaRPr>
          </a:p>
          <a:p>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・手を挙げるボタンやリアクションは自由に使用して良い</a:t>
            </a:r>
            <a:endParaRPr lang="en-US" altLang="ja-JP" sz="2400" dirty="0">
              <a:solidFill>
                <a:srgbClr val="FF0000"/>
              </a:solidFill>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多くの授業が</a:t>
            </a:r>
            <a:r>
              <a:rPr lang="en-US" altLang="ja-JP" sz="2400" dirty="0">
                <a:latin typeface="HGS創英角ｺﾞｼｯｸUB" panose="020B0900000000000000" pitchFamily="50" charset="-128"/>
                <a:ea typeface="HGS創英角ｺﾞｼｯｸUB" panose="020B0900000000000000" pitchFamily="50" charset="-128"/>
              </a:rPr>
              <a:t>Teams</a:t>
            </a:r>
            <a:r>
              <a:rPr lang="ja-JP" altLang="en-US" sz="2400" dirty="0">
                <a:latin typeface="HGS創英角ｺﾞｼｯｸUB" panose="020B0900000000000000" pitchFamily="50" charset="-128"/>
                <a:ea typeface="HGS創英角ｺﾞｼｯｸUB" panose="020B0900000000000000" pitchFamily="50" charset="-128"/>
              </a:rPr>
              <a:t>で実施されます。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徐々に慣れていきましょう。</a:t>
            </a:r>
            <a:endParaRPr lang="en-US" altLang="ja-JP" sz="2400"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25646440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68469" cy="584775"/>
          </a:xfrm>
          <a:prstGeom prst="rect">
            <a:avLst/>
          </a:prstGeom>
          <a:noFill/>
        </p:spPr>
        <p:txBody>
          <a:bodyPr wrap="none" rtlCol="0">
            <a:spAutoFit/>
          </a:bodyPr>
          <a:lstStyle/>
          <a:p>
            <a:r>
              <a:rPr lang="ja-JP" altLang="en-US" sz="3200" b="1" u="sng" dirty="0">
                <a:latin typeface="HGS創英角ｺﾞｼｯｸUB" panose="020B0900000000000000" pitchFamily="50" charset="-128"/>
                <a:ea typeface="HGS創英角ｺﾞｼｯｸUB" panose="020B0900000000000000" pitchFamily="50" charset="-128"/>
              </a:rPr>
              <a:t>タイピング練習</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417963" cy="2308324"/>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それでは残った時間はタイピング練習をしましょう。</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タイピングが速いほど授業に余裕が生まれ、習熟度も上がります。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ぜひ、お家でも練習してください。</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■タイピング練習ゲーム寿司打</a:t>
            </a:r>
            <a:endParaRPr lang="en-US" altLang="ja-JP" sz="2400" dirty="0">
              <a:solidFill>
                <a:srgbClr val="FF0000"/>
              </a:solidFill>
              <a:latin typeface="HGS創英角ｺﾞｼｯｸUB" panose="020B0900000000000000" pitchFamily="50" charset="-128"/>
              <a:ea typeface="HGS創英角ｺﾞｼｯｸUB" panose="020B0900000000000000" pitchFamily="50" charset="-128"/>
            </a:endParaRPr>
          </a:p>
          <a:p>
            <a:r>
              <a:rPr lang="en-US" altLang="ja-JP" sz="2400" dirty="0">
                <a:latin typeface="HGS創英角ｺﾞｼｯｸUB" panose="020B0900000000000000" pitchFamily="50" charset="-128"/>
                <a:ea typeface="HGS創英角ｺﾞｼｯｸUB" panose="020B0900000000000000" pitchFamily="50" charset="-128"/>
              </a:rPr>
              <a:t>https://sushida.net/</a:t>
            </a:r>
          </a:p>
        </p:txBody>
      </p:sp>
    </p:spTree>
    <p:extLst>
      <p:ext uri="{BB962C8B-B14F-4D97-AF65-F5344CB8AC3E}">
        <p14:creationId xmlns:p14="http://schemas.microsoft.com/office/powerpoint/2010/main" val="27926841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32553" cy="584775"/>
          </a:xfrm>
          <a:prstGeom prst="rect">
            <a:avLst/>
          </a:prstGeom>
          <a:noFill/>
        </p:spPr>
        <p:txBody>
          <a:bodyPr wrap="none" rtlCol="0">
            <a:spAutoFit/>
          </a:bodyPr>
          <a:lstStyle/>
          <a:p>
            <a:r>
              <a:rPr lang="ja-JP" altLang="en-US" sz="3200" b="1" u="sng" dirty="0">
                <a:latin typeface="HGS創英角ｺﾞｼｯｸUB" panose="020B0900000000000000" pitchFamily="50" charset="-128"/>
                <a:ea typeface="HGS創英角ｺﾞｼｯｸUB" panose="020B0900000000000000" pitchFamily="50" charset="-128"/>
              </a:rPr>
              <a:t>さいごに</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340197" cy="5632311"/>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明日の予定は以下の通りです。</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１限目</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　楽しい感じでグループワーク</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　みんなで１つのテーマについて議論しよう</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　</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２限目</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　大好きなものプレゼン選手権　資料作成</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３限目</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　大好きなものプレゼン選手権　発表会</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４限目</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　企業講演　㈱サイバーコネクトツー</a:t>
            </a:r>
            <a:endParaRPr lang="en-US" altLang="ja-JP" sz="2400"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6461734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32553" cy="584775"/>
          </a:xfrm>
          <a:prstGeom prst="rect">
            <a:avLst/>
          </a:prstGeom>
          <a:noFill/>
        </p:spPr>
        <p:txBody>
          <a:bodyPr wrap="none" rtlCol="0">
            <a:spAutoFit/>
          </a:bodyPr>
          <a:lstStyle/>
          <a:p>
            <a:r>
              <a:rPr lang="ja-JP" altLang="en-US" sz="3200" b="1" u="sng" dirty="0">
                <a:latin typeface="HGS創英角ｺﾞｼｯｸUB" panose="020B0900000000000000" pitchFamily="50" charset="-128"/>
                <a:ea typeface="HGS創英角ｺﾞｼｯｸUB" panose="020B0900000000000000" pitchFamily="50" charset="-128"/>
              </a:rPr>
              <a:t>さいごに</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49069" cy="3046988"/>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明日の</a:t>
            </a:r>
            <a:r>
              <a:rPr lang="en-US" altLang="ja-JP" sz="2400" dirty="0">
                <a:latin typeface="HGS創英角ｺﾞｼｯｸUB" panose="020B0900000000000000" pitchFamily="50" charset="-128"/>
                <a:ea typeface="HGS創英角ｺﾞｼｯｸUB" panose="020B0900000000000000" pitchFamily="50" charset="-128"/>
              </a:rPr>
              <a:t>15</a:t>
            </a:r>
            <a:r>
              <a:rPr lang="ja-JP" altLang="en-US" sz="2400" dirty="0">
                <a:latin typeface="HGS創英角ｺﾞｼｯｸUB" panose="020B0900000000000000" pitchFamily="50" charset="-128"/>
                <a:ea typeface="HGS創英角ｺﾞｼｯｸUB" panose="020B0900000000000000" pitchFamily="50" charset="-128"/>
              </a:rPr>
              <a:t>：</a:t>
            </a:r>
            <a:r>
              <a:rPr lang="en-US" altLang="ja-JP" sz="2400" dirty="0">
                <a:latin typeface="HGS創英角ｺﾞｼｯｸUB" panose="020B0900000000000000" pitchFamily="50" charset="-128"/>
                <a:ea typeface="HGS創英角ｺﾞｼｯｸUB" panose="020B0900000000000000" pitchFamily="50" charset="-128"/>
              </a:rPr>
              <a:t>30</a:t>
            </a:r>
            <a:r>
              <a:rPr lang="ja-JP" altLang="en-US" sz="2400" dirty="0">
                <a:latin typeface="HGS創英角ｺﾞｼｯｸUB" panose="020B0900000000000000" pitchFamily="50" charset="-128"/>
                <a:ea typeface="HGS創英角ｺﾞｼｯｸUB" panose="020B0900000000000000" pitchFamily="50" charset="-128"/>
              </a:rPr>
              <a:t>より、</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福岡のゲーム会社である㈱サイバーコネクトツー様の企業講演があります。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このように企業から直接講演をすることが今後も多くありますので、</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積極的に参加し、モチベーションとしましょう。</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また、企業講演に参加する前日には、</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企業のホームページなどで、どのような企業なのかを、</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必ず下調べしましょう。</a:t>
            </a:r>
            <a:endParaRPr lang="en-US" altLang="ja-JP" sz="2400"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304218311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409</TotalTime>
  <Words>1135</Words>
  <Application>Microsoft Office PowerPoint</Application>
  <PresentationFormat>ワイド画面</PresentationFormat>
  <Paragraphs>168</Paragraphs>
  <Slides>26</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26</vt:i4>
      </vt:variant>
    </vt:vector>
  </HeadingPairs>
  <TitlesOfParts>
    <vt:vector size="31" baseType="lpstr">
      <vt:lpstr>HGS創英角ｺﾞｼｯｸUB</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荒木 優介</cp:lastModifiedBy>
  <cp:revision>45</cp:revision>
  <dcterms:created xsi:type="dcterms:W3CDTF">2024-08-27T02:15:54Z</dcterms:created>
  <dcterms:modified xsi:type="dcterms:W3CDTF">2026-03-17T06:23:10Z</dcterms:modified>
</cp:coreProperties>
</file>