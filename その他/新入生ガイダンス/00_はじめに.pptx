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3" r:id="rId7"/>
    <p:sldId id="262"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1" r:id="rId25"/>
    <p:sldId id="284" r:id="rId26"/>
    <p:sldId id="285" r:id="rId27"/>
    <p:sldId id="286" r:id="rId28"/>
    <p:sldId id="287" r:id="rId29"/>
    <p:sldId id="288" r:id="rId30"/>
    <p:sldId id="283" r:id="rId31"/>
    <p:sldId id="282" r:id="rId32"/>
    <p:sldId id="280" r:id="rId33"/>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3" d="100"/>
          <a:sy n="113" d="100"/>
        </p:scale>
        <p:origin x="456"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A950417-98BD-4172-A454-C76A49B97717}"/>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9F83E9AE-84BC-4452-8901-A17B27CC419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B320892-0B52-41F1-BED3-1F36AE1E3B03}"/>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5" name="フッター プレースホルダー 4">
            <a:extLst>
              <a:ext uri="{FF2B5EF4-FFF2-40B4-BE49-F238E27FC236}">
                <a16:creationId xmlns:a16="http://schemas.microsoft.com/office/drawing/2014/main" id="{B4114070-C582-4B06-9805-0DFEFB583FE4}"/>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E8014BC-198B-4E5B-89B4-FDBFD423BF5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7455607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42C298B-DDF7-4BBD-B08C-16E40ED109E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284FECC-C823-4D42-8CAA-49FC9A8C5B3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B26879-4594-4C3F-BFFA-F4CB8674F4A9}"/>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5" name="フッター プレースホルダー 4">
            <a:extLst>
              <a:ext uri="{FF2B5EF4-FFF2-40B4-BE49-F238E27FC236}">
                <a16:creationId xmlns:a16="http://schemas.microsoft.com/office/drawing/2014/main" id="{F5FC6BE6-BB12-4008-B4BA-62D249C4990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6B8CAC6-4A91-4F74-9267-5C30714BF978}"/>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8024735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078AD04-3137-4B16-97B1-DC1252F678A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9BF8FC57-7A4A-4196-89B9-B1A6197D422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CB80319-F15F-4C62-95BA-15B326F988A2}"/>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5" name="フッター プレースホルダー 4">
            <a:extLst>
              <a:ext uri="{FF2B5EF4-FFF2-40B4-BE49-F238E27FC236}">
                <a16:creationId xmlns:a16="http://schemas.microsoft.com/office/drawing/2014/main" id="{C89F0141-2F76-4B73-AAE0-1EDFEEA42E3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11F3A285-8438-4738-B4CE-18FC566351C3}"/>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08140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39AAF0-C896-4BE5-8FCC-34320852482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96C332E-2DEA-4D46-8FEF-31D60DD975BC}"/>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F9D3FC79-3A15-47E8-8DC1-B5A928FF7FF2}"/>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E6AC8BB6-CC26-4AE8-B477-9A47780715C5}"/>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6" name="フッター プレースホルダー 5">
            <a:extLst>
              <a:ext uri="{FF2B5EF4-FFF2-40B4-BE49-F238E27FC236}">
                <a16:creationId xmlns:a16="http://schemas.microsoft.com/office/drawing/2014/main" id="{0D813CBF-5D01-4CF4-BD63-C8FC321B242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4123F9A7-54F5-421C-9A71-CC8C4BC92376}"/>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20282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9A2E9A-2DDB-4057-9711-D792B04FFD0C}"/>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32E5496D-7437-4ADF-BF05-1B99ACC0910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48A11600-06C5-424A-B2EA-FFEF7E75EAA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43408E51-ED83-4218-8378-F0B44E296EC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D26C0C0-145F-4A52-BA72-D19A2971D5E1}"/>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649033F-9C86-42B4-AB90-0FE47F39E39A}"/>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8" name="フッター プレースホルダー 7">
            <a:extLst>
              <a:ext uri="{FF2B5EF4-FFF2-40B4-BE49-F238E27FC236}">
                <a16:creationId xmlns:a16="http://schemas.microsoft.com/office/drawing/2014/main" id="{F73F9DE8-EAB7-4A80-BF64-725C6DF460D7}"/>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1D0069B-43F7-430A-8C9D-C2BA7B92ECD2}"/>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25465315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CD48D3C-20F1-4E20-8FBC-734E9D946A78}"/>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B2E416B3-4C21-4278-9B88-62D41335DC9D}"/>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4" name="フッター プレースホルダー 3">
            <a:extLst>
              <a:ext uri="{FF2B5EF4-FFF2-40B4-BE49-F238E27FC236}">
                <a16:creationId xmlns:a16="http://schemas.microsoft.com/office/drawing/2014/main" id="{3EBA727E-E9E7-4EA2-B6ED-8CF036F2B5D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8DC1C47C-5B0A-471B-BB77-77BE62B99175}"/>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53085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E55C2DD0-D598-4A5F-B542-7C6806B2F749}"/>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3" name="フッター プレースホルダー 2">
            <a:extLst>
              <a:ext uri="{FF2B5EF4-FFF2-40B4-BE49-F238E27FC236}">
                <a16:creationId xmlns:a16="http://schemas.microsoft.com/office/drawing/2014/main" id="{2260FD2A-DF3F-46FE-B2F8-14D9A2069736}"/>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2EF1C2C-6093-4ADD-9BFE-41DB125AD37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24204145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A35797B-0171-40BC-BCA2-0C1BA0D4C304}"/>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9CB0DB-618C-450C-BE67-5FD277B25D6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2CC888D-BF8F-439D-9FC7-2DD4A8D750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A4C2FA2E-4305-4946-8BDE-7AE113CDE687}"/>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6" name="フッター プレースホルダー 5">
            <a:extLst>
              <a:ext uri="{FF2B5EF4-FFF2-40B4-BE49-F238E27FC236}">
                <a16:creationId xmlns:a16="http://schemas.microsoft.com/office/drawing/2014/main" id="{BBA070CF-301C-4595-8007-2A2C19DFE0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3E21C8C-DA9E-4E6B-B45C-C2C4D38971B1}"/>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06692950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00F7326-6BA4-4DC0-9519-87D04747ED8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3A1C2397-9613-4B24-A7D0-9EEE44E01C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5462283-8239-49BE-9D96-00B24831B7C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F53455D-91B5-4938-AC24-CAFF77A6CD44}"/>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6" name="フッター プレースホルダー 5">
            <a:extLst>
              <a:ext uri="{FF2B5EF4-FFF2-40B4-BE49-F238E27FC236}">
                <a16:creationId xmlns:a16="http://schemas.microsoft.com/office/drawing/2014/main" id="{A7F23C7B-CEBC-48FC-81DC-98AFE68C2DE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7E65B5D-4A4C-4A6E-8AEB-3D88DC582730}"/>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3151402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AE957E-488D-43B9-8182-2A1DEEF0F7DD}"/>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0E67B1EC-AFC1-41D0-BBB1-9A2E85E1399D}"/>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1B76048-AF91-4C32-A054-6305C2928E9F}"/>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5" name="フッター プレースホルダー 4">
            <a:extLst>
              <a:ext uri="{FF2B5EF4-FFF2-40B4-BE49-F238E27FC236}">
                <a16:creationId xmlns:a16="http://schemas.microsoft.com/office/drawing/2014/main" id="{98C66A49-F960-4196-B16B-31B98B34013C}"/>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D7A86F7-B140-4439-A33B-63EA8498DCAB}"/>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4856319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4FA5DEF-DC74-4F38-9DA0-1EE9752F5F36}"/>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23C9EE93-ED20-4B3B-93FB-5A088C436B26}"/>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370666-1A4C-42B1-8748-A0D1453943A4}"/>
              </a:ext>
            </a:extLst>
          </p:cNvPr>
          <p:cNvSpPr>
            <a:spLocks noGrp="1"/>
          </p:cNvSpPr>
          <p:nvPr>
            <p:ph type="dt" sz="half" idx="10"/>
          </p:nvPr>
        </p:nvSpPr>
        <p:spPr/>
        <p:txBody>
          <a:bodyPr/>
          <a:lstStyle/>
          <a:p>
            <a:fld id="{E9CC885B-4903-4D54-9A93-00025F12DED9}" type="datetimeFigureOut">
              <a:rPr kumimoji="1" lang="ja-JP" altLang="en-US" smtClean="0"/>
              <a:t>2026/3/31</a:t>
            </a:fld>
            <a:endParaRPr kumimoji="1" lang="ja-JP" altLang="en-US"/>
          </a:p>
        </p:txBody>
      </p:sp>
      <p:sp>
        <p:nvSpPr>
          <p:cNvPr id="5" name="フッター プレースホルダー 4">
            <a:extLst>
              <a:ext uri="{FF2B5EF4-FFF2-40B4-BE49-F238E27FC236}">
                <a16:creationId xmlns:a16="http://schemas.microsoft.com/office/drawing/2014/main" id="{E26EC7E2-E7E6-45F2-BF6D-CDF318CECC0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CDE4F59-4276-46E3-AE2A-D255BC7BB35C}"/>
              </a:ext>
            </a:extLst>
          </p:cNvPr>
          <p:cNvSpPr>
            <a:spLocks noGrp="1"/>
          </p:cNvSpPr>
          <p:nvPr>
            <p:ph type="sldNum" sz="quarter" idx="12"/>
          </p:nvPr>
        </p:nvSpPr>
        <p:spPr/>
        <p:txBody>
          <a:body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16428509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F527E70E-5441-439A-8EA3-0826A036FC7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A7C9CE9-5A22-43DB-862A-3B24B2BF151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845D76C-CB70-434A-A116-22531EEB417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9CC885B-4903-4D54-9A93-00025F12DED9}" type="datetimeFigureOut">
              <a:rPr kumimoji="1" lang="ja-JP" altLang="en-US" smtClean="0"/>
              <a:t>2026/3/31</a:t>
            </a:fld>
            <a:endParaRPr kumimoji="1" lang="ja-JP" altLang="en-US"/>
          </a:p>
        </p:txBody>
      </p:sp>
      <p:sp>
        <p:nvSpPr>
          <p:cNvPr id="5" name="フッター プレースホルダー 4">
            <a:extLst>
              <a:ext uri="{FF2B5EF4-FFF2-40B4-BE49-F238E27FC236}">
                <a16:creationId xmlns:a16="http://schemas.microsoft.com/office/drawing/2014/main" id="{2505E6D4-441B-4864-8545-0FDE04F664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8FFD1810-F6DD-4BB4-8465-A3A3F3BF335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812AE58-48EE-4ADF-80EA-6426EE982FE8}" type="slidenum">
              <a:rPr kumimoji="1" lang="ja-JP" altLang="en-US" smtClean="0"/>
              <a:t>‹#›</a:t>
            </a:fld>
            <a:endParaRPr kumimoji="1" lang="ja-JP" altLang="en-US"/>
          </a:p>
        </p:txBody>
      </p:sp>
    </p:spTree>
    <p:extLst>
      <p:ext uri="{BB962C8B-B14F-4D97-AF65-F5344CB8AC3E}">
        <p14:creationId xmlns:p14="http://schemas.microsoft.com/office/powerpoint/2010/main" val="6517845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hyperlink" Target="mailto:ktq&#23398;&#31821;&#30058;&#21495;@stu.o-hara.ac.jp" TargetMode="External"/><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hyperlink" Target="https://www.microsoft.com/ja-jp/microsoft-365/onedrive/online-cloud-storage" TargetMode="Externa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26141" cy="584775"/>
          </a:xfrm>
          <a:prstGeom prst="rect">
            <a:avLst/>
          </a:prstGeom>
          <a:noFill/>
        </p:spPr>
        <p:txBody>
          <a:bodyPr wrap="none" rtlCol="0">
            <a:spAutoFit/>
          </a:bodyPr>
          <a:lstStyle/>
          <a:p>
            <a:r>
              <a:rPr kumimoji="1" lang="ja-JP" altLang="en-US" sz="3200" b="1" u="sng" dirty="0">
                <a:latin typeface="HGS創英角ｺﾞｼｯｸUB" panose="020B0900000000000000" pitchFamily="50" charset="-128"/>
                <a:ea typeface="HGS創英角ｺﾞｼｯｸUB" panose="020B0900000000000000" pitchFamily="50" charset="-128"/>
              </a:rPr>
              <a:t>はじめに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489364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ご入学おめでとうございます！！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ここから皆さんの</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ゲームクリエイター</a:t>
            </a:r>
            <a:r>
              <a:rPr lang="ja-JP" altLang="en-US" sz="2400" dirty="0">
                <a:latin typeface="HGS創英角ｺﾞｼｯｸUB" panose="020B0900000000000000" pitchFamily="50" charset="-128"/>
                <a:ea typeface="HGS創英角ｺﾞｼｯｸUB" panose="020B0900000000000000" pitchFamily="50" charset="-128"/>
              </a:rPr>
              <a:t>への道が始まります。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ここでは、授業を受けるための準備をして、</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万全の状態で授業が始められるようにしましょう。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■プログラム</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・アプリケーション紹介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・データ保存場所作成</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OneDrive</a:t>
            </a:r>
            <a:r>
              <a:rPr lang="ja-JP" altLang="en-US" sz="2400" dirty="0">
                <a:latin typeface="HGS創英角ｺﾞｼｯｸUB" panose="020B0900000000000000" pitchFamily="50" charset="-128"/>
                <a:ea typeface="HGS創英角ｺﾞｼｯｸUB" panose="020B0900000000000000" pitchFamily="50" charset="-128"/>
              </a:rPr>
              <a:t>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・さいごに</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・タイピング練習</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87928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304383" cy="584775"/>
          </a:xfrm>
          <a:prstGeom prst="rect">
            <a:avLst/>
          </a:prstGeom>
          <a:noFill/>
        </p:spPr>
        <p:txBody>
          <a:bodyPr wrap="none" rtlCol="0">
            <a:spAutoFit/>
          </a:bodyPr>
          <a:lstStyle/>
          <a:p>
            <a:r>
              <a:rPr kumimoji="1" lang="ja-JP" altLang="en-US" sz="3200" b="1" u="sng" dirty="0">
                <a:latin typeface="HGS創英角ｺﾞｼｯｸUB" panose="020B0900000000000000" pitchFamily="50" charset="-128"/>
                <a:ea typeface="HGS創英角ｺﾞｼｯｸUB" panose="020B0900000000000000" pitchFamily="50" charset="-128"/>
              </a:rPr>
              <a:t>アプリケーション紹介</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3785652"/>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まずは、授業で使用するアプリケーションを紹介します。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ここでは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名前と開き方</a:t>
            </a:r>
            <a:r>
              <a:rPr lang="ja-JP" altLang="en-US" sz="2400" dirty="0">
                <a:latin typeface="HGS創英角ｺﾞｼｯｸUB" panose="020B0900000000000000" pitchFamily="50" charset="-128"/>
                <a:ea typeface="HGS創英角ｺﾞｼｯｸUB" panose="020B0900000000000000" pitchFamily="50" charset="-128"/>
              </a:rPr>
              <a:t>を覚えておきましょう。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■紹介するアプリ</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・エクスプローラー</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Visual Studio</a:t>
            </a: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Unity</a:t>
            </a: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Unreal Engine</a:t>
            </a: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ここで紹介するもの以外もたくさんあります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213539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kumimoji="1" lang="ja-JP" altLang="en-US" sz="3200" b="1" u="sng" dirty="0">
                <a:latin typeface="HGS創英角ｺﾞｼｯｸUB" panose="020B0900000000000000" pitchFamily="50" charset="-128"/>
                <a:ea typeface="HGS創英角ｺﾞｼｯｸUB" panose="020B0900000000000000" pitchFamily="50" charset="-128"/>
              </a:rPr>
              <a:t>エクスプローラー</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10186"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ファイルやフォルダを開くのに使用する</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エクスプローラー</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よく使いますので名前をしっかり憶えておきましょう。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CFFDD4DD-0022-4BBA-9F71-43CED52EAB1D}"/>
              </a:ext>
            </a:extLst>
          </p:cNvPr>
          <p:cNvPicPr>
            <a:picLocks noChangeAspect="1"/>
          </p:cNvPicPr>
          <p:nvPr/>
        </p:nvPicPr>
        <p:blipFill>
          <a:blip r:embed="rId2"/>
          <a:stretch>
            <a:fillRect/>
          </a:stretch>
        </p:blipFill>
        <p:spPr>
          <a:xfrm>
            <a:off x="567542" y="3035739"/>
            <a:ext cx="7087589" cy="3694660"/>
          </a:xfrm>
          <a:prstGeom prst="rect">
            <a:avLst/>
          </a:prstGeom>
        </p:spPr>
      </p:pic>
      <p:pic>
        <p:nvPicPr>
          <p:cNvPr id="7" name="図 6">
            <a:extLst>
              <a:ext uri="{FF2B5EF4-FFF2-40B4-BE49-F238E27FC236}">
                <a16:creationId xmlns:a16="http://schemas.microsoft.com/office/drawing/2014/main" id="{783EC6E2-5474-46DD-9DF7-9B029103AF33}"/>
              </a:ext>
            </a:extLst>
          </p:cNvPr>
          <p:cNvPicPr>
            <a:picLocks noChangeAspect="1"/>
          </p:cNvPicPr>
          <p:nvPr/>
        </p:nvPicPr>
        <p:blipFill>
          <a:blip r:embed="rId3"/>
          <a:stretch>
            <a:fillRect/>
          </a:stretch>
        </p:blipFill>
        <p:spPr>
          <a:xfrm>
            <a:off x="567542" y="2187126"/>
            <a:ext cx="7087589" cy="428685"/>
          </a:xfrm>
          <a:prstGeom prst="rect">
            <a:avLst/>
          </a:prstGeom>
        </p:spPr>
      </p:pic>
      <p:sp>
        <p:nvSpPr>
          <p:cNvPr id="8" name="矢印: 右 7">
            <a:extLst>
              <a:ext uri="{FF2B5EF4-FFF2-40B4-BE49-F238E27FC236}">
                <a16:creationId xmlns:a16="http://schemas.microsoft.com/office/drawing/2014/main" id="{CD888F63-25CE-4A24-BFD6-66FA822947AE}"/>
              </a:ext>
            </a:extLst>
          </p:cNvPr>
          <p:cNvSpPr/>
          <p:nvPr/>
        </p:nvSpPr>
        <p:spPr>
          <a:xfrm rot="13540434">
            <a:off x="4834769" y="245945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06112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509020"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Visual Studio</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161482"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プログラムを書くために使用する</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Visual Studio</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学校では無料版の </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Visual Studio Community 2022</a:t>
            </a:r>
            <a:r>
              <a:rPr lang="en-US" altLang="ja-JP" sz="2400" dirty="0">
                <a:latin typeface="HGS創英角ｺﾞｼｯｸUB" panose="020B0900000000000000" pitchFamily="50" charset="-128"/>
                <a:ea typeface="HGS創英角ｺﾞｼｯｸUB" panose="020B0900000000000000" pitchFamily="50" charset="-128"/>
              </a:rPr>
              <a:t> </a:t>
            </a:r>
            <a:r>
              <a:rPr lang="ja-JP" altLang="en-US" sz="2400" dirty="0">
                <a:latin typeface="HGS創英角ｺﾞｼｯｸUB" panose="020B0900000000000000" pitchFamily="50" charset="-128"/>
                <a:ea typeface="HGS創英角ｺﾞｼｯｸUB" panose="020B0900000000000000" pitchFamily="50" charset="-128"/>
              </a:rPr>
              <a:t>を使用します。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12" name="図 11">
            <a:extLst>
              <a:ext uri="{FF2B5EF4-FFF2-40B4-BE49-F238E27FC236}">
                <a16:creationId xmlns:a16="http://schemas.microsoft.com/office/drawing/2014/main" id="{F108026A-3628-4CF4-9DCD-BDA31AA41F7E}"/>
              </a:ext>
            </a:extLst>
          </p:cNvPr>
          <p:cNvPicPr>
            <a:picLocks noChangeAspect="1"/>
          </p:cNvPicPr>
          <p:nvPr/>
        </p:nvPicPr>
        <p:blipFill>
          <a:blip r:embed="rId2"/>
          <a:stretch>
            <a:fillRect/>
          </a:stretch>
        </p:blipFill>
        <p:spPr>
          <a:xfrm>
            <a:off x="567542" y="2187126"/>
            <a:ext cx="4266925" cy="4485742"/>
          </a:xfrm>
          <a:prstGeom prst="rect">
            <a:avLst/>
          </a:prstGeom>
        </p:spPr>
      </p:pic>
      <p:sp>
        <p:nvSpPr>
          <p:cNvPr id="13" name="テキスト ボックス 12">
            <a:extLst>
              <a:ext uri="{FF2B5EF4-FFF2-40B4-BE49-F238E27FC236}">
                <a16:creationId xmlns:a16="http://schemas.microsoft.com/office/drawing/2014/main" id="{E2C4B6ED-4285-4C9E-865F-2EF314F5CE73}"/>
              </a:ext>
            </a:extLst>
          </p:cNvPr>
          <p:cNvSpPr txBox="1"/>
          <p:nvPr/>
        </p:nvSpPr>
        <p:spPr>
          <a:xfrm>
            <a:off x="1939141" y="6350903"/>
            <a:ext cx="5545108" cy="461665"/>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検索ボックスに「</a:t>
            </a:r>
            <a:r>
              <a:rPr lang="en-US" altLang="ja-JP" sz="2400" dirty="0">
                <a:latin typeface="HGS創英角ｺﾞｼｯｸUB" panose="020B0900000000000000" pitchFamily="50" charset="-128"/>
                <a:ea typeface="HGS創英角ｺﾞｼｯｸUB" panose="020B0900000000000000" pitchFamily="50" charset="-128"/>
              </a:rPr>
              <a:t>visual studio</a:t>
            </a:r>
            <a:r>
              <a:rPr lang="ja-JP" altLang="en-US" sz="2400" dirty="0">
                <a:latin typeface="HGS創英角ｺﾞｼｯｸUB" panose="020B0900000000000000" pitchFamily="50" charset="-128"/>
                <a:ea typeface="HGS創英角ｺﾞｼｯｸUB" panose="020B0900000000000000" pitchFamily="50" charset="-128"/>
              </a:rPr>
              <a:t>」と入力</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14" name="矢印: 右 13">
            <a:extLst>
              <a:ext uri="{FF2B5EF4-FFF2-40B4-BE49-F238E27FC236}">
                <a16:creationId xmlns:a16="http://schemas.microsoft.com/office/drawing/2014/main" id="{4C8319EC-3E55-45C1-AC8C-D0AB8094A2FC}"/>
              </a:ext>
            </a:extLst>
          </p:cNvPr>
          <p:cNvSpPr/>
          <p:nvPr/>
        </p:nvSpPr>
        <p:spPr>
          <a:xfrm rot="13540434">
            <a:off x="1719035" y="3000646"/>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6693569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59906"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Unity</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494633" cy="830997"/>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Unity</a:t>
            </a:r>
            <a:r>
              <a:rPr lang="ja-JP" altLang="en-US" sz="2400" dirty="0">
                <a:latin typeface="HGS創英角ｺﾞｼｯｸUB" panose="020B0900000000000000" pitchFamily="50" charset="-128"/>
                <a:ea typeface="HGS創英角ｺﾞｼｯｸUB" panose="020B0900000000000000" pitchFamily="50" charset="-128"/>
              </a:rPr>
              <a:t>というゲームエンジンです。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ゲーム業界でもよく使用されているアプリケーションです。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514CFE15-3142-4541-B84C-6A11CE8348CD}"/>
              </a:ext>
            </a:extLst>
          </p:cNvPr>
          <p:cNvPicPr>
            <a:picLocks noChangeAspect="1"/>
          </p:cNvPicPr>
          <p:nvPr/>
        </p:nvPicPr>
        <p:blipFill>
          <a:blip r:embed="rId2"/>
          <a:stretch>
            <a:fillRect/>
          </a:stretch>
        </p:blipFill>
        <p:spPr>
          <a:xfrm>
            <a:off x="567542" y="2187126"/>
            <a:ext cx="4148391" cy="4414124"/>
          </a:xfrm>
          <a:prstGeom prst="rect">
            <a:avLst/>
          </a:prstGeom>
        </p:spPr>
      </p:pic>
      <p:sp>
        <p:nvSpPr>
          <p:cNvPr id="9" name="テキスト ボックス 8">
            <a:extLst>
              <a:ext uri="{FF2B5EF4-FFF2-40B4-BE49-F238E27FC236}">
                <a16:creationId xmlns:a16="http://schemas.microsoft.com/office/drawing/2014/main" id="{CB09F402-90ED-4016-9E93-539967FDDEDE}"/>
              </a:ext>
            </a:extLst>
          </p:cNvPr>
          <p:cNvSpPr txBox="1"/>
          <p:nvPr/>
        </p:nvSpPr>
        <p:spPr>
          <a:xfrm>
            <a:off x="1862941" y="6215436"/>
            <a:ext cx="4530407" cy="461665"/>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検索ボックスに「</a:t>
            </a:r>
            <a:r>
              <a:rPr lang="en-US" altLang="ja-JP" sz="2400" dirty="0">
                <a:latin typeface="HGS創英角ｺﾞｼｯｸUB" panose="020B0900000000000000" pitchFamily="50" charset="-128"/>
                <a:ea typeface="HGS創英角ｺﾞｼｯｸUB" panose="020B0900000000000000" pitchFamily="50" charset="-128"/>
              </a:rPr>
              <a:t>Unity</a:t>
            </a:r>
            <a:r>
              <a:rPr lang="ja-JP" altLang="en-US" sz="2400" dirty="0">
                <a:latin typeface="HGS創英角ｺﾞｼｯｸUB" panose="020B0900000000000000" pitchFamily="50" charset="-128"/>
                <a:ea typeface="HGS創英角ｺﾞｼｯｸUB" panose="020B0900000000000000" pitchFamily="50" charset="-128"/>
              </a:rPr>
              <a:t>」と入力</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10" name="矢印: 右 9">
            <a:extLst>
              <a:ext uri="{FF2B5EF4-FFF2-40B4-BE49-F238E27FC236}">
                <a16:creationId xmlns:a16="http://schemas.microsoft.com/office/drawing/2014/main" id="{17FDD9CD-980A-4443-933A-24D06291538E}"/>
              </a:ext>
            </a:extLst>
          </p:cNvPr>
          <p:cNvSpPr/>
          <p:nvPr/>
        </p:nvSpPr>
        <p:spPr>
          <a:xfrm rot="13540434">
            <a:off x="1339581" y="2836058"/>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57CECB12-986A-4268-B863-2BDEC5B9DF3A}"/>
              </a:ext>
            </a:extLst>
          </p:cNvPr>
          <p:cNvSpPr txBox="1"/>
          <p:nvPr/>
        </p:nvSpPr>
        <p:spPr>
          <a:xfrm>
            <a:off x="5647542" y="3577838"/>
            <a:ext cx="5262979" cy="923330"/>
          </a:xfrm>
          <a:prstGeom prst="rect">
            <a:avLst/>
          </a:prstGeom>
          <a:noFill/>
        </p:spPr>
        <p:txBody>
          <a:bodyPr wrap="none" rtlCol="0">
            <a:spAutoFit/>
          </a:bodyPr>
          <a:lstStyle/>
          <a:p>
            <a:r>
              <a:rPr lang="en-US" altLang="ja-JP" dirty="0">
                <a:solidFill>
                  <a:srgbClr val="00B050"/>
                </a:solidFill>
                <a:latin typeface="HGS創英角ｺﾞｼｯｸUB" panose="020B0900000000000000" pitchFamily="50" charset="-128"/>
                <a:ea typeface="HGS創英角ｺﾞｼｯｸUB" panose="020B0900000000000000" pitchFamily="50" charset="-128"/>
              </a:rPr>
              <a:t>MEMO</a:t>
            </a:r>
          </a:p>
          <a:p>
            <a:r>
              <a:rPr lang="ja-JP" altLang="en-US" dirty="0">
                <a:latin typeface="HGS創英角ｺﾞｼｯｸUB" panose="020B0900000000000000" pitchFamily="50" charset="-128"/>
                <a:ea typeface="HGS創英角ｺﾞｼｯｸUB" panose="020B0900000000000000" pitchFamily="50" charset="-128"/>
              </a:rPr>
              <a:t>ゲームエンジンとは、</a:t>
            </a:r>
            <a:endParaRPr lang="en-US" altLang="ja-JP" dirty="0">
              <a:latin typeface="HGS創英角ｺﾞｼｯｸUB" panose="020B0900000000000000" pitchFamily="50" charset="-128"/>
              <a:ea typeface="HGS創英角ｺﾞｼｯｸUB" panose="020B0900000000000000" pitchFamily="50" charset="-128"/>
            </a:endParaRPr>
          </a:p>
          <a:p>
            <a:r>
              <a:rPr lang="ja-JP" altLang="en-US" dirty="0">
                <a:latin typeface="HGS創英角ｺﾞｼｯｸUB" panose="020B0900000000000000" pitchFamily="50" charset="-128"/>
                <a:ea typeface="HGS創英角ｺﾞｼｯｸUB" panose="020B0900000000000000" pitchFamily="50" charset="-128"/>
              </a:rPr>
              <a:t>ゲーム制作をがっつりサポートするアプリのこと</a:t>
            </a:r>
            <a:endParaRPr lang="en-US" altLang="ja-JP"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3820360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059906"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Unity</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15950" cy="830997"/>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Unity</a:t>
            </a:r>
            <a:r>
              <a:rPr lang="ja-JP" altLang="en-US" sz="2400" dirty="0">
                <a:latin typeface="HGS創英角ｺﾞｼｯｸUB" panose="020B0900000000000000" pitchFamily="50" charset="-128"/>
                <a:ea typeface="HGS創英角ｺﾞｼｯｸUB" panose="020B0900000000000000" pitchFamily="50" charset="-128"/>
              </a:rPr>
              <a:t>を使うためには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アカウント</a:t>
            </a:r>
            <a:r>
              <a:rPr lang="ja-JP" altLang="en-US" sz="2400" dirty="0">
                <a:latin typeface="HGS創英角ｺﾞｼｯｸUB" panose="020B0900000000000000" pitchFamily="50" charset="-128"/>
                <a:ea typeface="HGS創英角ｺﾞｼｯｸUB" panose="020B0900000000000000" pitchFamily="50" charset="-128"/>
              </a:rPr>
              <a:t>を作る必要があります。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今のうちに作っておきましょう。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F2C327E5-32A5-4DF5-B3CF-03CFFFA1853D}"/>
              </a:ext>
            </a:extLst>
          </p:cNvPr>
          <p:cNvPicPr>
            <a:picLocks noChangeAspect="1"/>
          </p:cNvPicPr>
          <p:nvPr/>
        </p:nvPicPr>
        <p:blipFill>
          <a:blip r:embed="rId2"/>
          <a:stretch>
            <a:fillRect/>
          </a:stretch>
        </p:blipFill>
        <p:spPr>
          <a:xfrm>
            <a:off x="567543" y="2187126"/>
            <a:ext cx="2995192" cy="4178920"/>
          </a:xfrm>
          <a:prstGeom prst="rect">
            <a:avLst/>
          </a:prstGeom>
        </p:spPr>
      </p:pic>
      <p:sp>
        <p:nvSpPr>
          <p:cNvPr id="12" name="テキスト ボックス 11">
            <a:extLst>
              <a:ext uri="{FF2B5EF4-FFF2-40B4-BE49-F238E27FC236}">
                <a16:creationId xmlns:a16="http://schemas.microsoft.com/office/drawing/2014/main" id="{8FF59D83-6D2C-42CD-A23B-F8E80DADBE56}"/>
              </a:ext>
            </a:extLst>
          </p:cNvPr>
          <p:cNvSpPr txBox="1"/>
          <p:nvPr/>
        </p:nvSpPr>
        <p:spPr>
          <a:xfrm>
            <a:off x="3708675" y="3235317"/>
            <a:ext cx="6647974" cy="2308324"/>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E</a:t>
            </a:r>
            <a:r>
              <a:rPr lang="ja-JP" altLang="en-US" sz="2400" dirty="0">
                <a:latin typeface="HGS創英角ｺﾞｼｯｸUB" panose="020B0900000000000000" pitchFamily="50" charset="-128"/>
                <a:ea typeface="HGS創英角ｺﾞｼｯｸUB" panose="020B0900000000000000" pitchFamily="50" charset="-128"/>
              </a:rPr>
              <a:t>メールは自分が普段使うもので大丈夫です。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ない場合は学校のメールを使いましょう。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err="1">
                <a:latin typeface="HGS創英角ｺﾞｼｯｸUB" panose="020B0900000000000000" pitchFamily="50" charset="-128"/>
                <a:ea typeface="HGS創英角ｺﾞｼｯｸUB" panose="020B0900000000000000" pitchFamily="50" charset="-128"/>
                <a:hlinkClick r:id="rId3"/>
              </a:rPr>
              <a:t>ktq</a:t>
            </a:r>
            <a:r>
              <a:rPr lang="ja-JP" altLang="en-US" sz="2400" dirty="0">
                <a:latin typeface="HGS創英角ｺﾞｼｯｸUB" panose="020B0900000000000000" pitchFamily="50" charset="-128"/>
                <a:ea typeface="HGS創英角ｺﾞｼｯｸUB" panose="020B0900000000000000" pitchFamily="50" charset="-128"/>
                <a:hlinkClick r:id="rId3"/>
              </a:rPr>
              <a:t>学籍番号</a:t>
            </a:r>
            <a:r>
              <a:rPr lang="en-US" altLang="ja-JP" sz="2400" dirty="0">
                <a:latin typeface="HGS創英角ｺﾞｼｯｸUB" panose="020B0900000000000000" pitchFamily="50" charset="-128"/>
                <a:ea typeface="HGS創英角ｺﾞｼｯｸUB" panose="020B0900000000000000" pitchFamily="50" charset="-128"/>
                <a:hlinkClick r:id="rId3"/>
              </a:rPr>
              <a:t>@stu.o-hara.ac.jp</a:t>
            </a:r>
            <a:r>
              <a:rPr lang="ja-JP" altLang="en-US" sz="2400" dirty="0">
                <a:latin typeface="HGS創英角ｺﾞｼｯｸUB" panose="020B0900000000000000" pitchFamily="50" charset="-128"/>
                <a:ea typeface="HGS創英角ｺﾞｼｯｸUB" panose="020B0900000000000000" pitchFamily="50" charset="-128"/>
              </a:rPr>
              <a:t>」</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すでに持っている場合はそれでも大丈夫です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学校メールは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卒業後削除</a:t>
            </a:r>
            <a:r>
              <a:rPr lang="ja-JP" altLang="en-US" sz="2400" dirty="0">
                <a:latin typeface="HGS創英角ｺﾞｼｯｸUB" panose="020B0900000000000000" pitchFamily="50" charset="-128"/>
                <a:ea typeface="HGS創英角ｺﾞｼｯｸUB" panose="020B0900000000000000" pitchFamily="50" charset="-128"/>
              </a:rPr>
              <a:t>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9005605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629246" cy="584775"/>
          </a:xfrm>
          <a:prstGeom prst="rect">
            <a:avLst/>
          </a:prstGeom>
          <a:noFill/>
        </p:spPr>
        <p:txBody>
          <a:bodyPr wrap="none" rtlCol="0">
            <a:spAutoFit/>
          </a:bodyPr>
          <a:lstStyle/>
          <a:p>
            <a:r>
              <a:rPr kumimoji="1" lang="en-US" altLang="ja-JP" sz="3200" b="1" u="sng" dirty="0">
                <a:latin typeface="HGS創英角ｺﾞｼｯｸUB" panose="020B0900000000000000" pitchFamily="50" charset="-128"/>
                <a:ea typeface="HGS創英角ｺﾞｼｯｸUB" panose="020B0900000000000000" pitchFamily="50" charset="-128"/>
              </a:rPr>
              <a:t>Unreal Engine</a:t>
            </a: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032421" cy="830997"/>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Unreal Engine</a:t>
            </a:r>
            <a:r>
              <a:rPr lang="ja-JP" altLang="en-US" sz="2400" dirty="0">
                <a:latin typeface="HGS創英角ｺﾞｼｯｸUB" panose="020B0900000000000000" pitchFamily="50" charset="-128"/>
                <a:ea typeface="HGS創英角ｺﾞｼｯｸUB" panose="020B0900000000000000" pitchFamily="50" charset="-128"/>
              </a:rPr>
              <a:t>もゲームエンジンです。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主に家庭用ゲーム開発で使われています。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645F6ABD-29ED-4F6C-BDCF-1F878E5E7DD1}"/>
              </a:ext>
            </a:extLst>
          </p:cNvPr>
          <p:cNvPicPr>
            <a:picLocks noChangeAspect="1"/>
          </p:cNvPicPr>
          <p:nvPr/>
        </p:nvPicPr>
        <p:blipFill>
          <a:blip r:embed="rId2"/>
          <a:stretch>
            <a:fillRect/>
          </a:stretch>
        </p:blipFill>
        <p:spPr>
          <a:xfrm>
            <a:off x="567542" y="2187126"/>
            <a:ext cx="4131458" cy="4335121"/>
          </a:xfrm>
          <a:prstGeom prst="rect">
            <a:avLst/>
          </a:prstGeom>
        </p:spPr>
      </p:pic>
      <p:sp>
        <p:nvSpPr>
          <p:cNvPr id="12" name="テキスト ボックス 11">
            <a:extLst>
              <a:ext uri="{FF2B5EF4-FFF2-40B4-BE49-F238E27FC236}">
                <a16:creationId xmlns:a16="http://schemas.microsoft.com/office/drawing/2014/main" id="{2F8D198F-A0AE-46E1-A599-D3D86B55BCE1}"/>
              </a:ext>
            </a:extLst>
          </p:cNvPr>
          <p:cNvSpPr txBox="1"/>
          <p:nvPr/>
        </p:nvSpPr>
        <p:spPr>
          <a:xfrm>
            <a:off x="1888341" y="6200282"/>
            <a:ext cx="4445448" cy="461665"/>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検索ボックスに「</a:t>
            </a:r>
            <a:r>
              <a:rPr lang="en-US" altLang="ja-JP" sz="2400" dirty="0">
                <a:latin typeface="HGS創英角ｺﾞｼｯｸUB" panose="020B0900000000000000" pitchFamily="50" charset="-128"/>
                <a:ea typeface="HGS創英角ｺﾞｼｯｸUB" panose="020B0900000000000000" pitchFamily="50" charset="-128"/>
              </a:rPr>
              <a:t>Epic</a:t>
            </a:r>
            <a:r>
              <a:rPr lang="ja-JP" altLang="en-US" sz="2400" dirty="0">
                <a:latin typeface="HGS創英角ｺﾞｼｯｸUB" panose="020B0900000000000000" pitchFamily="50" charset="-128"/>
                <a:ea typeface="HGS創英角ｺﾞｼｯｸUB" panose="020B0900000000000000" pitchFamily="50" charset="-128"/>
              </a:rPr>
              <a:t>」と入力</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13" name="矢印: 右 12">
            <a:extLst>
              <a:ext uri="{FF2B5EF4-FFF2-40B4-BE49-F238E27FC236}">
                <a16:creationId xmlns:a16="http://schemas.microsoft.com/office/drawing/2014/main" id="{0D1267D6-B96A-49AC-B1B7-2F31C8CD08A7}"/>
              </a:ext>
            </a:extLst>
          </p:cNvPr>
          <p:cNvSpPr/>
          <p:nvPr/>
        </p:nvSpPr>
        <p:spPr>
          <a:xfrm rot="13540434">
            <a:off x="1449647" y="2836058"/>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4E5C59F-9E4E-4C82-A12E-335DD1A451F7}"/>
              </a:ext>
            </a:extLst>
          </p:cNvPr>
          <p:cNvSpPr txBox="1"/>
          <p:nvPr/>
        </p:nvSpPr>
        <p:spPr>
          <a:xfrm>
            <a:off x="7590446" y="6200281"/>
            <a:ext cx="4185761" cy="461665"/>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授業は３年生になってから</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3781638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授業では大量のデータを保存します。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そのため整理整頓する場所を決めておかなくてはいけません。</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7" name="図 6">
            <a:extLst>
              <a:ext uri="{FF2B5EF4-FFF2-40B4-BE49-F238E27FC236}">
                <a16:creationId xmlns:a16="http://schemas.microsoft.com/office/drawing/2014/main" id="{DBF6CAE0-2E8A-4FB1-86FD-81B3B70FC96D}"/>
              </a:ext>
            </a:extLst>
          </p:cNvPr>
          <p:cNvPicPr>
            <a:picLocks noChangeAspect="1"/>
          </p:cNvPicPr>
          <p:nvPr/>
        </p:nvPicPr>
        <p:blipFill>
          <a:blip r:embed="rId2"/>
          <a:stretch>
            <a:fillRect/>
          </a:stretch>
        </p:blipFill>
        <p:spPr>
          <a:xfrm>
            <a:off x="567542" y="2187126"/>
            <a:ext cx="8131956" cy="4239074"/>
          </a:xfrm>
          <a:prstGeom prst="rect">
            <a:avLst/>
          </a:prstGeom>
        </p:spPr>
      </p:pic>
    </p:spTree>
    <p:extLst>
      <p:ext uri="{BB962C8B-B14F-4D97-AF65-F5344CB8AC3E}">
        <p14:creationId xmlns:p14="http://schemas.microsoft.com/office/powerpoint/2010/main" val="22555794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404317"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エクスプローラーの左下にある</a:t>
            </a:r>
            <a:r>
              <a:rPr lang="en-US" altLang="ja-JP" sz="2400" dirty="0">
                <a:latin typeface="HGS創英角ｺﾞｼｯｸUB" panose="020B0900000000000000" pitchFamily="50" charset="-128"/>
                <a:ea typeface="HGS創英角ｺﾞｼｯｸUB" panose="020B0900000000000000" pitchFamily="50" charset="-128"/>
              </a:rPr>
              <a:t>PC</a:t>
            </a:r>
            <a:r>
              <a:rPr lang="ja-JP" altLang="en-US" sz="2400" dirty="0">
                <a:latin typeface="HGS創英角ｺﾞｼｯｸUB" panose="020B0900000000000000" pitchFamily="50" charset="-128"/>
                <a:ea typeface="HGS創英角ｺﾞｼｯｸUB" panose="020B0900000000000000" pitchFamily="50" charset="-128"/>
              </a:rPr>
              <a:t>を選択し、</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C</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ドライブ（</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OS</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C:</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を開きましょう。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F5DEF478-85A2-463B-BDA6-98262ADCB5F6}"/>
              </a:ext>
            </a:extLst>
          </p:cNvPr>
          <p:cNvPicPr>
            <a:picLocks noChangeAspect="1"/>
          </p:cNvPicPr>
          <p:nvPr/>
        </p:nvPicPr>
        <p:blipFill>
          <a:blip r:embed="rId2"/>
          <a:stretch>
            <a:fillRect/>
          </a:stretch>
        </p:blipFill>
        <p:spPr>
          <a:xfrm>
            <a:off x="567542" y="2187126"/>
            <a:ext cx="5706258" cy="4296477"/>
          </a:xfrm>
          <a:prstGeom prst="rect">
            <a:avLst/>
          </a:prstGeom>
        </p:spPr>
      </p:pic>
      <p:sp>
        <p:nvSpPr>
          <p:cNvPr id="8" name="テキスト ボックス 7">
            <a:extLst>
              <a:ext uri="{FF2B5EF4-FFF2-40B4-BE49-F238E27FC236}">
                <a16:creationId xmlns:a16="http://schemas.microsoft.com/office/drawing/2014/main" id="{E94A1E8C-1896-4AEF-B100-57143995EE56}"/>
              </a:ext>
            </a:extLst>
          </p:cNvPr>
          <p:cNvSpPr txBox="1"/>
          <p:nvPr/>
        </p:nvSpPr>
        <p:spPr>
          <a:xfrm>
            <a:off x="6434942" y="5775717"/>
            <a:ext cx="5480988" cy="707886"/>
          </a:xfrm>
          <a:prstGeom prst="rect">
            <a:avLst/>
          </a:prstGeom>
          <a:noFill/>
        </p:spPr>
        <p:txBody>
          <a:bodyPr wrap="none" rtlCol="0">
            <a:spAutoFit/>
          </a:bodyPr>
          <a:lstStyle/>
          <a:p>
            <a:r>
              <a:rPr lang="ja-JP" altLang="en-US" sz="2000" dirty="0">
                <a:latin typeface="HGS創英角ｺﾞｼｯｸUB" panose="020B0900000000000000" pitchFamily="50" charset="-128"/>
                <a:ea typeface="HGS創英角ｺﾞｼｯｸUB" panose="020B0900000000000000" pitchFamily="50" charset="-128"/>
              </a:rPr>
              <a:t>今後</a:t>
            </a:r>
            <a:r>
              <a:rPr lang="en-US" altLang="ja-JP" sz="2000" dirty="0">
                <a:solidFill>
                  <a:srgbClr val="FF0000"/>
                </a:solidFill>
                <a:latin typeface="HGS創英角ｺﾞｼｯｸUB" panose="020B0900000000000000" pitchFamily="50" charset="-128"/>
                <a:ea typeface="HGS創英角ｺﾞｼｯｸUB" panose="020B0900000000000000" pitchFamily="50" charset="-128"/>
              </a:rPr>
              <a:t>C</a:t>
            </a:r>
            <a:r>
              <a:rPr lang="ja-JP" altLang="en-US" sz="2000" dirty="0">
                <a:solidFill>
                  <a:srgbClr val="FF0000"/>
                </a:solidFill>
                <a:latin typeface="HGS創英角ｺﾞｼｯｸUB" panose="020B0900000000000000" pitchFamily="50" charset="-128"/>
                <a:ea typeface="HGS創英角ｺﾞｼｯｸUB" panose="020B0900000000000000" pitchFamily="50" charset="-128"/>
              </a:rPr>
              <a:t>ドライブ</a:t>
            </a:r>
            <a:r>
              <a:rPr lang="ja-JP" altLang="en-US" sz="2000" dirty="0">
                <a:latin typeface="HGS創英角ｺﾞｼｯｸUB" panose="020B0900000000000000" pitchFamily="50" charset="-128"/>
                <a:ea typeface="HGS創英角ｺﾞｼｯｸUB" panose="020B0900000000000000" pitchFamily="50" charset="-128"/>
              </a:rPr>
              <a:t>と言われたらこれのことです。</a:t>
            </a:r>
            <a:endParaRPr lang="en-US" altLang="ja-JP" sz="2000" dirty="0">
              <a:latin typeface="HGS創英角ｺﾞｼｯｸUB" panose="020B0900000000000000" pitchFamily="50" charset="-128"/>
              <a:ea typeface="HGS創英角ｺﾞｼｯｸUB" panose="020B0900000000000000" pitchFamily="50" charset="-128"/>
            </a:endParaRPr>
          </a:p>
          <a:p>
            <a:r>
              <a:rPr lang="ja-JP" altLang="en-US" sz="2000" dirty="0">
                <a:latin typeface="HGS創英角ｺﾞｼｯｸUB" panose="020B0900000000000000" pitchFamily="50" charset="-128"/>
                <a:ea typeface="HGS創英角ｺﾞｼｯｸUB" panose="020B0900000000000000" pitchFamily="50" charset="-128"/>
              </a:rPr>
              <a:t>覚えておきましょう。</a:t>
            </a:r>
            <a:endParaRPr lang="en-US" altLang="ja-JP" sz="2000" dirty="0">
              <a:latin typeface="HGS創英角ｺﾞｼｯｸUB" panose="020B0900000000000000" pitchFamily="50" charset="-128"/>
              <a:ea typeface="HGS創英角ｺﾞｼｯｸUB" panose="020B0900000000000000" pitchFamily="50" charset="-128"/>
            </a:endParaRPr>
          </a:p>
        </p:txBody>
      </p:sp>
      <p:sp>
        <p:nvSpPr>
          <p:cNvPr id="9" name="矢印: 右 8">
            <a:extLst>
              <a:ext uri="{FF2B5EF4-FFF2-40B4-BE49-F238E27FC236}">
                <a16:creationId xmlns:a16="http://schemas.microsoft.com/office/drawing/2014/main" id="{89EA9633-B6D3-4210-8279-C3484C30A048}"/>
              </a:ext>
            </a:extLst>
          </p:cNvPr>
          <p:cNvSpPr/>
          <p:nvPr/>
        </p:nvSpPr>
        <p:spPr>
          <a:xfrm rot="13540434">
            <a:off x="1000913" y="613822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矢印: 右 9">
            <a:extLst>
              <a:ext uri="{FF2B5EF4-FFF2-40B4-BE49-F238E27FC236}">
                <a16:creationId xmlns:a16="http://schemas.microsoft.com/office/drawing/2014/main" id="{484D4297-D47A-4235-A3BE-69C98F288F9C}"/>
              </a:ext>
            </a:extLst>
          </p:cNvPr>
          <p:cNvSpPr/>
          <p:nvPr/>
        </p:nvSpPr>
        <p:spPr>
          <a:xfrm rot="13540434">
            <a:off x="2768684" y="3936725"/>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634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647974" cy="830997"/>
          </a:xfrm>
          <a:prstGeom prst="rect">
            <a:avLst/>
          </a:prstGeom>
          <a:noFill/>
        </p:spPr>
        <p:txBody>
          <a:bodyPr wrap="none" rtlCol="0">
            <a:spAutoFit/>
          </a:bodyPr>
          <a:lstStyle/>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ユーザー </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&gt; student</a:t>
            </a:r>
            <a:r>
              <a:rPr lang="en-US" altLang="ja-JP" sz="2400" dirty="0">
                <a:latin typeface="HGS創英角ｺﾞｼｯｸUB" panose="020B0900000000000000" pitchFamily="50" charset="-128"/>
                <a:ea typeface="HGS創英角ｺﾞｼｯｸUB" panose="020B0900000000000000" pitchFamily="50" charset="-128"/>
              </a:rPr>
              <a:t> </a:t>
            </a:r>
            <a:r>
              <a:rPr lang="ja-JP" altLang="en-US" sz="2400" dirty="0">
                <a:latin typeface="HGS創英角ｺﾞｼｯｸUB" panose="020B0900000000000000" pitchFamily="50" charset="-128"/>
                <a:ea typeface="HGS創英角ｺﾞｼｯｸUB" panose="020B0900000000000000" pitchFamily="50" charset="-128"/>
              </a:rPr>
              <a:t>とフォルダを開きます。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ここが</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学生用の保存場所のトップ</a:t>
            </a:r>
            <a:r>
              <a:rPr lang="ja-JP" altLang="en-US" sz="2400" dirty="0">
                <a:latin typeface="HGS創英角ｺﾞｼｯｸUB" panose="020B0900000000000000" pitchFamily="50" charset="-128"/>
                <a:ea typeface="HGS創英角ｺﾞｼｯｸUB" panose="020B0900000000000000" pitchFamily="50" charset="-128"/>
              </a:rPr>
              <a:t>となります。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7458409E-2115-4162-BD37-4A69362F4BCF}"/>
              </a:ext>
            </a:extLst>
          </p:cNvPr>
          <p:cNvPicPr>
            <a:picLocks noChangeAspect="1"/>
          </p:cNvPicPr>
          <p:nvPr/>
        </p:nvPicPr>
        <p:blipFill>
          <a:blip r:embed="rId2"/>
          <a:stretch>
            <a:fillRect/>
          </a:stretch>
        </p:blipFill>
        <p:spPr>
          <a:xfrm>
            <a:off x="567541" y="2187125"/>
            <a:ext cx="6065711" cy="4357607"/>
          </a:xfrm>
          <a:prstGeom prst="rect">
            <a:avLst/>
          </a:prstGeom>
        </p:spPr>
      </p:pic>
    </p:spTree>
    <p:extLst>
      <p:ext uri="{BB962C8B-B14F-4D97-AF65-F5344CB8AC3E}">
        <p14:creationId xmlns:p14="http://schemas.microsoft.com/office/powerpoint/2010/main" val="40849386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この場所に</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自分の名前のフォルダを追加</a:t>
            </a:r>
            <a:r>
              <a:rPr lang="ja-JP" altLang="en-US" sz="2400" dirty="0">
                <a:latin typeface="HGS創英角ｺﾞｼｯｸUB" panose="020B0900000000000000" pitchFamily="50" charset="-128"/>
                <a:ea typeface="HGS創英角ｺﾞｼｯｸUB" panose="020B0900000000000000" pitchFamily="50" charset="-128"/>
              </a:rPr>
              <a:t>しましょう。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このフォルダが、皆さんがデータを保存するフォルダとなります。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DF760994-1068-4D6F-91C7-497EC15298CF}"/>
              </a:ext>
            </a:extLst>
          </p:cNvPr>
          <p:cNvPicPr>
            <a:picLocks noChangeAspect="1"/>
          </p:cNvPicPr>
          <p:nvPr/>
        </p:nvPicPr>
        <p:blipFill>
          <a:blip r:embed="rId2"/>
          <a:stretch>
            <a:fillRect/>
          </a:stretch>
        </p:blipFill>
        <p:spPr>
          <a:xfrm>
            <a:off x="567542" y="2187126"/>
            <a:ext cx="5015006" cy="3454445"/>
          </a:xfrm>
          <a:prstGeom prst="rect">
            <a:avLst/>
          </a:prstGeom>
        </p:spPr>
      </p:pic>
      <p:sp>
        <p:nvSpPr>
          <p:cNvPr id="7" name="矢印: 右 6">
            <a:extLst>
              <a:ext uri="{FF2B5EF4-FFF2-40B4-BE49-F238E27FC236}">
                <a16:creationId xmlns:a16="http://schemas.microsoft.com/office/drawing/2014/main" id="{4F8E71F5-99E4-4501-880F-01DF7AF452BA}"/>
              </a:ext>
            </a:extLst>
          </p:cNvPr>
          <p:cNvSpPr/>
          <p:nvPr/>
        </p:nvSpPr>
        <p:spPr>
          <a:xfrm rot="8485814">
            <a:off x="939328" y="319296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矢印: 右 7">
            <a:extLst>
              <a:ext uri="{FF2B5EF4-FFF2-40B4-BE49-F238E27FC236}">
                <a16:creationId xmlns:a16="http://schemas.microsoft.com/office/drawing/2014/main" id="{7364B800-80F3-443E-8938-CD68992C6C98}"/>
              </a:ext>
            </a:extLst>
          </p:cNvPr>
          <p:cNvSpPr/>
          <p:nvPr/>
        </p:nvSpPr>
        <p:spPr>
          <a:xfrm rot="13578864">
            <a:off x="1379106" y="4594643"/>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 name="図 9">
            <a:extLst>
              <a:ext uri="{FF2B5EF4-FFF2-40B4-BE49-F238E27FC236}">
                <a16:creationId xmlns:a16="http://schemas.microsoft.com/office/drawing/2014/main" id="{757DEB6D-3D19-4160-993D-35BEC3F82552}"/>
              </a:ext>
            </a:extLst>
          </p:cNvPr>
          <p:cNvPicPr>
            <a:picLocks noChangeAspect="1"/>
          </p:cNvPicPr>
          <p:nvPr/>
        </p:nvPicPr>
        <p:blipFill>
          <a:blip r:embed="rId3"/>
          <a:stretch>
            <a:fillRect/>
          </a:stretch>
        </p:blipFill>
        <p:spPr>
          <a:xfrm>
            <a:off x="5993625" y="2187126"/>
            <a:ext cx="3138810" cy="3454445"/>
          </a:xfrm>
          <a:prstGeom prst="rect">
            <a:avLst/>
          </a:prstGeom>
        </p:spPr>
      </p:pic>
      <p:sp>
        <p:nvSpPr>
          <p:cNvPr id="11" name="テキスト ボックス 10">
            <a:extLst>
              <a:ext uri="{FF2B5EF4-FFF2-40B4-BE49-F238E27FC236}">
                <a16:creationId xmlns:a16="http://schemas.microsoft.com/office/drawing/2014/main" id="{4170CB50-05BC-438C-8FE3-686F17E2BAB7}"/>
              </a:ext>
            </a:extLst>
          </p:cNvPr>
          <p:cNvSpPr txBox="1"/>
          <p:nvPr/>
        </p:nvSpPr>
        <p:spPr>
          <a:xfrm>
            <a:off x="567542" y="5904381"/>
            <a:ext cx="10033516"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ショートカットもデスクトップに作っておきましょう。（実演します）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7841683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480440"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データの保存場所</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フォルダの中では、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授業の科目ごとにフォルダ分け</a:t>
            </a:r>
            <a:r>
              <a:rPr lang="ja-JP" altLang="en-US" sz="2400" dirty="0">
                <a:latin typeface="HGS創英角ｺﾞｼｯｸUB" panose="020B0900000000000000" pitchFamily="50" charset="-128"/>
                <a:ea typeface="HGS創英角ｺﾞｼｯｸUB" panose="020B0900000000000000" pitchFamily="50" charset="-128"/>
              </a:rPr>
              <a:t>するときれいに整理できます。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9" name="図 8">
            <a:extLst>
              <a:ext uri="{FF2B5EF4-FFF2-40B4-BE49-F238E27FC236}">
                <a16:creationId xmlns:a16="http://schemas.microsoft.com/office/drawing/2014/main" id="{19419B1D-B2FE-4A75-BAAD-979587F5444B}"/>
              </a:ext>
            </a:extLst>
          </p:cNvPr>
          <p:cNvPicPr>
            <a:picLocks noChangeAspect="1"/>
          </p:cNvPicPr>
          <p:nvPr/>
        </p:nvPicPr>
        <p:blipFill>
          <a:blip r:embed="rId2"/>
          <a:stretch>
            <a:fillRect/>
          </a:stretch>
        </p:blipFill>
        <p:spPr>
          <a:xfrm>
            <a:off x="567542" y="2187126"/>
            <a:ext cx="6789991" cy="3539527"/>
          </a:xfrm>
          <a:prstGeom prst="rect">
            <a:avLst/>
          </a:prstGeom>
        </p:spPr>
      </p:pic>
      <p:sp>
        <p:nvSpPr>
          <p:cNvPr id="12" name="テキスト ボックス 11">
            <a:extLst>
              <a:ext uri="{FF2B5EF4-FFF2-40B4-BE49-F238E27FC236}">
                <a16:creationId xmlns:a16="http://schemas.microsoft.com/office/drawing/2014/main" id="{871ED70E-C981-4457-8588-05BF0B505EFC}"/>
              </a:ext>
            </a:extLst>
          </p:cNvPr>
          <p:cNvSpPr txBox="1"/>
          <p:nvPr/>
        </p:nvSpPr>
        <p:spPr>
          <a:xfrm>
            <a:off x="567542" y="5866353"/>
            <a:ext cx="4801314"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常に整理整頓を心がけましょう。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8326887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329524" cy="3046988"/>
          </a:xfrm>
          <a:prstGeom prst="rect">
            <a:avLst/>
          </a:prstGeom>
          <a:noFill/>
        </p:spPr>
        <p:txBody>
          <a:bodyPr wrap="none" rtlCol="0">
            <a:spAutoFit/>
          </a:bodyPr>
          <a:lstStyle/>
          <a:p>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Micro Soft</a:t>
            </a:r>
            <a:r>
              <a:rPr lang="ja-JP" altLang="en-US" sz="2400" dirty="0">
                <a:latin typeface="HGS創英角ｺﾞｼｯｸUB" panose="020B0900000000000000" pitchFamily="50" charset="-128"/>
                <a:ea typeface="HGS創英角ｺﾞｼｯｸUB" panose="020B0900000000000000" pitchFamily="50" charset="-128"/>
              </a:rPr>
              <a:t>社が提供する</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クラウドストレージサービス</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これを使えば、</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学校とお家でファイルを共有</a:t>
            </a:r>
            <a:r>
              <a:rPr lang="ja-JP" altLang="en-US" sz="2400" dirty="0">
                <a:latin typeface="HGS創英角ｺﾞｼｯｸUB" panose="020B0900000000000000" pitchFamily="50" charset="-128"/>
                <a:ea typeface="HGS創英角ｺﾞｼｯｸUB" panose="020B0900000000000000" pitchFamily="50" charset="-128"/>
              </a:rPr>
              <a:t>することができます。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学校でもらったデータを家でも見たい</a:t>
            </a:r>
            <a:r>
              <a:rPr lang="ja-JP" altLang="en-US" sz="2400" dirty="0">
                <a:latin typeface="HGS創英角ｺﾞｼｯｸUB" panose="020B0900000000000000" pitchFamily="50" charset="-128"/>
                <a:ea typeface="HGS創英角ｺﾞｼｯｸUB" panose="020B0900000000000000" pitchFamily="50" charset="-128"/>
              </a:rPr>
              <a:t>ときや、</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家でも課題やゲーム制作をしたい</a:t>
            </a:r>
            <a:r>
              <a:rPr lang="ja-JP" altLang="en-US" sz="2400" dirty="0">
                <a:latin typeface="HGS創英角ｺﾞｼｯｸUB" panose="020B0900000000000000" pitchFamily="50" charset="-128"/>
                <a:ea typeface="HGS創英角ｺﾞｼｯｸUB" panose="020B0900000000000000" pitchFamily="50" charset="-128"/>
              </a:rPr>
              <a:t>ときに使用します。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2682975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13428"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エクスプローラー左の雲のアイコンから</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にアクセスできます。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6B5A77D8-D9D5-4F47-8408-2A1393321124}"/>
              </a:ext>
            </a:extLst>
          </p:cNvPr>
          <p:cNvPicPr>
            <a:picLocks noChangeAspect="1"/>
          </p:cNvPicPr>
          <p:nvPr/>
        </p:nvPicPr>
        <p:blipFill>
          <a:blip r:embed="rId2"/>
          <a:stretch>
            <a:fillRect/>
          </a:stretch>
        </p:blipFill>
        <p:spPr>
          <a:xfrm>
            <a:off x="567541" y="1817794"/>
            <a:ext cx="3704787" cy="3567006"/>
          </a:xfrm>
          <a:prstGeom prst="rect">
            <a:avLst/>
          </a:prstGeom>
        </p:spPr>
      </p:pic>
      <p:sp>
        <p:nvSpPr>
          <p:cNvPr id="7" name="矢印: 右 6">
            <a:extLst>
              <a:ext uri="{FF2B5EF4-FFF2-40B4-BE49-F238E27FC236}">
                <a16:creationId xmlns:a16="http://schemas.microsoft.com/office/drawing/2014/main" id="{A90631C9-73A4-4A69-95B3-1F755801C917}"/>
              </a:ext>
            </a:extLst>
          </p:cNvPr>
          <p:cNvSpPr/>
          <p:nvPr/>
        </p:nvSpPr>
        <p:spPr>
          <a:xfrm rot="13578864">
            <a:off x="1725198" y="5156979"/>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B540112-23D4-4BF4-9F07-740A17AC35F6}"/>
              </a:ext>
            </a:extLst>
          </p:cNvPr>
          <p:cNvSpPr txBox="1"/>
          <p:nvPr/>
        </p:nvSpPr>
        <p:spPr>
          <a:xfrm>
            <a:off x="567541" y="5905838"/>
            <a:ext cx="8021748"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初回のみ</a:t>
            </a:r>
            <a:r>
              <a:rPr lang="en-US" altLang="ja-JP" sz="2400" dirty="0">
                <a:latin typeface="HGS創英角ｺﾞｼｯｸUB" panose="020B0900000000000000" pitchFamily="50" charset="-128"/>
                <a:ea typeface="HGS創英角ｺﾞｼｯｸUB" panose="020B0900000000000000" pitchFamily="50" charset="-128"/>
              </a:rPr>
              <a:t>Micro Soft</a:t>
            </a:r>
            <a:r>
              <a:rPr lang="ja-JP" altLang="en-US" sz="2400" dirty="0">
                <a:latin typeface="HGS創英角ｺﾞｼｯｸUB" panose="020B0900000000000000" pitchFamily="50" charset="-128"/>
                <a:ea typeface="HGS創英角ｺﾞｼｯｸUB" panose="020B0900000000000000" pitchFamily="50" charset="-128"/>
              </a:rPr>
              <a:t>アカウントのサインインが必要です。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78303319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566769"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家のパソコンでも同じアカウントでサインインすると、</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One</a:t>
            </a:r>
            <a:r>
              <a:rPr lang="ja-JP" altLang="en-US" sz="2400" dirty="0">
                <a:latin typeface="HGS創英角ｺﾞｼｯｸUB" panose="020B0900000000000000" pitchFamily="50" charset="-128"/>
                <a:ea typeface="HGS創英角ｺﾞｼｯｸUB" panose="020B0900000000000000" pitchFamily="50" charset="-128"/>
              </a:rPr>
              <a:t> </a:t>
            </a:r>
            <a:r>
              <a:rPr lang="en-US" altLang="ja-JP" sz="2400" dirty="0">
                <a:latin typeface="HGS創英角ｺﾞｼｯｸUB" panose="020B0900000000000000" pitchFamily="50" charset="-128"/>
                <a:ea typeface="HGS創英角ｺﾞｼｯｸUB" panose="020B0900000000000000" pitchFamily="50" charset="-128"/>
              </a:rPr>
              <a:t>Drive</a:t>
            </a:r>
            <a:r>
              <a:rPr lang="ja-JP" altLang="en-US" sz="2400" dirty="0">
                <a:latin typeface="HGS創英角ｺﾞｼｯｸUB" panose="020B0900000000000000" pitchFamily="50" charset="-128"/>
                <a:ea typeface="HGS創英角ｺﾞｼｯｸUB" panose="020B0900000000000000" pitchFamily="50" charset="-128"/>
              </a:rPr>
              <a:t>に保存されているファイルがすべて表示されます。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E2E6A994-B26A-4AFC-ACE0-FE12E7D390CB}"/>
              </a:ext>
            </a:extLst>
          </p:cNvPr>
          <p:cNvPicPr>
            <a:picLocks noChangeAspect="1"/>
          </p:cNvPicPr>
          <p:nvPr/>
        </p:nvPicPr>
        <p:blipFill>
          <a:blip r:embed="rId2"/>
          <a:stretch>
            <a:fillRect/>
          </a:stretch>
        </p:blipFill>
        <p:spPr>
          <a:xfrm>
            <a:off x="567542" y="2187126"/>
            <a:ext cx="6095725" cy="3177615"/>
          </a:xfrm>
          <a:prstGeom prst="rect">
            <a:avLst/>
          </a:prstGeom>
        </p:spPr>
      </p:pic>
      <p:sp>
        <p:nvSpPr>
          <p:cNvPr id="9" name="テキスト ボックス 8">
            <a:extLst>
              <a:ext uri="{FF2B5EF4-FFF2-40B4-BE49-F238E27FC236}">
                <a16:creationId xmlns:a16="http://schemas.microsoft.com/office/drawing/2014/main" id="{E4B72675-A8DD-4100-8B82-3870E8F87B83}"/>
              </a:ext>
            </a:extLst>
          </p:cNvPr>
          <p:cNvSpPr txBox="1"/>
          <p:nvPr/>
        </p:nvSpPr>
        <p:spPr>
          <a:xfrm>
            <a:off x="567541" y="5504441"/>
            <a:ext cx="4493538" cy="461665"/>
          </a:xfrm>
          <a:prstGeom prst="rect">
            <a:avLst/>
          </a:prstGeom>
          <a:noFill/>
        </p:spPr>
        <p:txBody>
          <a:bodyPr wrap="none" rtlCol="0">
            <a:spAutoFit/>
          </a:bodyPr>
          <a:lstStyle/>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家でも学校でもこうなってる。</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40263062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933543"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403810" cy="1569660"/>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インターネットブラウザからでもファイルにアクセスできます。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特定のファイルをダウンロードすることもできます。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リンク：</a:t>
            </a:r>
            <a:r>
              <a:rPr lang="ja-JP" altLang="en-US" sz="2400" dirty="0">
                <a:hlinkClick r:id="rId2"/>
              </a:rPr>
              <a:t>個人用ファイル共有とクラウド ストレージ </a:t>
            </a:r>
            <a:r>
              <a:rPr lang="en-US" altLang="ja-JP" sz="2400" dirty="0">
                <a:hlinkClick r:id="rId2"/>
              </a:rPr>
              <a:t>| Microsoft OneDrive</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8F66FDB3-C737-4380-9B39-9045DD36F05B}"/>
              </a:ext>
            </a:extLst>
          </p:cNvPr>
          <p:cNvPicPr>
            <a:picLocks noChangeAspect="1"/>
          </p:cNvPicPr>
          <p:nvPr/>
        </p:nvPicPr>
        <p:blipFill>
          <a:blip r:embed="rId3"/>
          <a:stretch>
            <a:fillRect/>
          </a:stretch>
        </p:blipFill>
        <p:spPr>
          <a:xfrm>
            <a:off x="567542" y="2925789"/>
            <a:ext cx="6906192" cy="3712078"/>
          </a:xfrm>
          <a:prstGeom prst="rect">
            <a:avLst/>
          </a:prstGeom>
        </p:spPr>
      </p:pic>
    </p:spTree>
    <p:extLst>
      <p:ext uri="{BB962C8B-B14F-4D97-AF65-F5344CB8AC3E}">
        <p14:creationId xmlns:p14="http://schemas.microsoft.com/office/powerpoint/2010/main" val="4855077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895344"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 </a:t>
            </a:r>
            <a:r>
              <a:rPr lang="ja-JP" altLang="en-US" sz="3200" b="1" u="sng" dirty="0">
                <a:latin typeface="HGS創英角ｺﾞｼｯｸUB" panose="020B0900000000000000" pitchFamily="50" charset="-128"/>
                <a:ea typeface="HGS創英角ｺﾞｼｯｸUB" panose="020B0900000000000000" pitchFamily="50" charset="-128"/>
              </a:rPr>
              <a:t>注意</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0033516" cy="4154984"/>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は非常に便利ですが、</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ファイルをインターネット上に保存することとなります。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漏洩してはいけない個人情報などは保存しないように、</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使用する際は注意しましょう。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solidFill>
                  <a:srgbClr val="00B050"/>
                </a:solidFill>
                <a:latin typeface="HGS創英角ｺﾞｼｯｸUB" panose="020B0900000000000000" pitchFamily="50" charset="-128"/>
                <a:ea typeface="HGS創英角ｺﾞｼｯｸUB" panose="020B0900000000000000" pitchFamily="50" charset="-128"/>
              </a:rPr>
              <a:t>MEMO</a:t>
            </a:r>
          </a:p>
          <a:p>
            <a:r>
              <a:rPr lang="ja-JP" altLang="en-US" sz="2400" dirty="0">
                <a:latin typeface="HGS創英角ｺﾞｼｯｸUB" panose="020B0900000000000000" pitchFamily="50" charset="-128"/>
                <a:ea typeface="HGS創英角ｺﾞｼｯｸUB" panose="020B0900000000000000" pitchFamily="50" charset="-128"/>
              </a:rPr>
              <a:t>クラウドストレージサービスとは、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ある会社がデータ保存場所を用意して顧客に使用させるサービスです。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つまり</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に保存したファイルは</a:t>
            </a:r>
            <a:r>
              <a:rPr lang="en-US" altLang="ja-JP" sz="2400" dirty="0">
                <a:latin typeface="HGS創英角ｺﾞｼｯｸUB" panose="020B0900000000000000" pitchFamily="50" charset="-128"/>
                <a:ea typeface="HGS創英角ｺﾞｼｯｸUB" panose="020B0900000000000000" pitchFamily="50" charset="-128"/>
              </a:rPr>
              <a:t>Microsoft</a:t>
            </a:r>
            <a:r>
              <a:rPr lang="ja-JP" altLang="en-US" sz="2400" dirty="0">
                <a:latin typeface="HGS創英角ｺﾞｼｯｸUB" panose="020B0900000000000000" pitchFamily="50" charset="-128"/>
                <a:ea typeface="HGS創英角ｺﾞｼｯｸUB" panose="020B0900000000000000" pitchFamily="50" charset="-128"/>
              </a:rPr>
              <a:t>社が所有する、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サーバーという巨大なストレージ端末に保存されます。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0177923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895344"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One Drive </a:t>
            </a:r>
            <a:r>
              <a:rPr lang="ja-JP" altLang="en-US" sz="3200" b="1" u="sng" dirty="0">
                <a:latin typeface="HGS創英角ｺﾞｼｯｸUB" panose="020B0900000000000000" pitchFamily="50" charset="-128"/>
                <a:ea typeface="HGS創英角ｺﾞｼｯｸUB" panose="020B0900000000000000" pitchFamily="50" charset="-128"/>
              </a:rPr>
              <a:t>注意</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55750" cy="830997"/>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に保存したデータを編集する際は、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必ず別の場所にコピーしてから編集しましょう。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B90D9805-20EE-4D6B-B653-8C7EBBA4EA79}"/>
              </a:ext>
            </a:extLst>
          </p:cNvPr>
          <p:cNvPicPr>
            <a:picLocks noChangeAspect="1"/>
          </p:cNvPicPr>
          <p:nvPr/>
        </p:nvPicPr>
        <p:blipFill>
          <a:blip r:embed="rId2"/>
          <a:stretch>
            <a:fillRect/>
          </a:stretch>
        </p:blipFill>
        <p:spPr>
          <a:xfrm>
            <a:off x="567542" y="2187126"/>
            <a:ext cx="5757058" cy="2884538"/>
          </a:xfrm>
          <a:prstGeom prst="rect">
            <a:avLst/>
          </a:prstGeom>
        </p:spPr>
      </p:pic>
      <p:sp>
        <p:nvSpPr>
          <p:cNvPr id="5" name="矢印: 右 4">
            <a:extLst>
              <a:ext uri="{FF2B5EF4-FFF2-40B4-BE49-F238E27FC236}">
                <a16:creationId xmlns:a16="http://schemas.microsoft.com/office/drawing/2014/main" id="{454DACC1-F05D-4B41-8BA1-56CB5D9242E7}"/>
              </a:ext>
            </a:extLst>
          </p:cNvPr>
          <p:cNvSpPr/>
          <p:nvPr/>
        </p:nvSpPr>
        <p:spPr>
          <a:xfrm rot="10123919">
            <a:off x="1045735" y="3482497"/>
            <a:ext cx="1483787" cy="293797"/>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2899ED0-1DBE-4FBA-9787-D97C572362BA}"/>
              </a:ext>
            </a:extLst>
          </p:cNvPr>
          <p:cNvSpPr txBox="1"/>
          <p:nvPr/>
        </p:nvSpPr>
        <p:spPr>
          <a:xfrm>
            <a:off x="567542" y="5414705"/>
            <a:ext cx="8015336" cy="1200329"/>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これは、</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にあるファイルは</a:t>
            </a:r>
            <a:r>
              <a:rPr lang="en-US" altLang="ja-JP" sz="2400" dirty="0">
                <a:latin typeface="HGS創英角ｺﾞｼｯｸUB" panose="020B0900000000000000" pitchFamily="50" charset="-128"/>
                <a:ea typeface="HGS創英角ｺﾞｼｯｸUB" panose="020B0900000000000000" pitchFamily="50" charset="-128"/>
              </a:rPr>
              <a:t>PC</a:t>
            </a:r>
            <a:r>
              <a:rPr lang="ja-JP" altLang="en-US" sz="2400" dirty="0">
                <a:latin typeface="HGS創英角ｺﾞｼｯｸUB" panose="020B0900000000000000" pitchFamily="50" charset="-128"/>
                <a:ea typeface="HGS創英角ｺﾞｼｯｸUB" panose="020B0900000000000000" pitchFamily="50" charset="-128"/>
              </a:rPr>
              <a:t>内にはないため、</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直接書き換えると不具合が起きることがあるからです。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（特にプログラム系のファイル）</a:t>
            </a:r>
            <a:endParaRPr lang="en-US" altLang="ja-JP" sz="2400" dirty="0">
              <a:latin typeface="HGS創英角ｺﾞｼｯｸUB" panose="020B0900000000000000" pitchFamily="50" charset="-128"/>
              <a:ea typeface="HGS創英角ｺﾞｼｯｸUB" panose="020B0900000000000000" pitchFamily="50" charset="-128"/>
            </a:endParaRPr>
          </a:p>
        </p:txBody>
      </p:sp>
      <p:sp>
        <p:nvSpPr>
          <p:cNvPr id="8" name="矢印: 右 7">
            <a:extLst>
              <a:ext uri="{FF2B5EF4-FFF2-40B4-BE49-F238E27FC236}">
                <a16:creationId xmlns:a16="http://schemas.microsoft.com/office/drawing/2014/main" id="{B50A8978-DBF6-450A-B072-F18DE47B7107}"/>
              </a:ext>
            </a:extLst>
          </p:cNvPr>
          <p:cNvSpPr/>
          <p:nvPr/>
        </p:nvSpPr>
        <p:spPr>
          <a:xfrm rot="20888996">
            <a:off x="1130401" y="3841380"/>
            <a:ext cx="1483787" cy="293797"/>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9201B5A4-A5C0-49DE-91AE-98D8B08C57B1}"/>
              </a:ext>
            </a:extLst>
          </p:cNvPr>
          <p:cNvSpPr txBox="1"/>
          <p:nvPr/>
        </p:nvSpPr>
        <p:spPr>
          <a:xfrm>
            <a:off x="1787628" y="4148432"/>
            <a:ext cx="6647974" cy="830997"/>
          </a:xfrm>
          <a:prstGeom prst="rect">
            <a:avLst/>
          </a:prstGeom>
          <a:solidFill>
            <a:schemeClr val="bg1"/>
          </a:solidFill>
          <a:ln>
            <a:solidFill>
              <a:schemeClr val="tx1"/>
            </a:solidFill>
          </a:ln>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デスクトップなどにコピーしてから編集する。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編集し終わったら</a:t>
            </a:r>
            <a:r>
              <a:rPr lang="en-US" altLang="ja-JP" sz="2400" dirty="0">
                <a:latin typeface="HGS創英角ｺﾞｼｯｸUB" panose="020B0900000000000000" pitchFamily="50" charset="-128"/>
                <a:ea typeface="HGS創英角ｺﾞｼｯｸUB" panose="020B0900000000000000" pitchFamily="50" charset="-128"/>
              </a:rPr>
              <a:t>One Drive</a:t>
            </a:r>
            <a:r>
              <a:rPr lang="ja-JP" altLang="en-US" sz="2400" dirty="0">
                <a:latin typeface="HGS創英角ｺﾞｼｯｸUB" panose="020B0900000000000000" pitchFamily="50" charset="-128"/>
                <a:ea typeface="HGS創英角ｺﾞｼｯｸUB" panose="020B0900000000000000" pitchFamily="50" charset="-128"/>
              </a:rPr>
              <a:t>に戻すこと。</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0961159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901248"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北九州校は</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大分校と一緒に授業</a:t>
            </a:r>
            <a:r>
              <a:rPr lang="ja-JP" altLang="en-US" sz="2400" dirty="0">
                <a:latin typeface="HGS創英角ｺﾞｼｯｸUB" panose="020B0900000000000000" pitchFamily="50" charset="-128"/>
                <a:ea typeface="HGS創英角ｺﾞｼｯｸUB" panose="020B0900000000000000" pitchFamily="50" charset="-128"/>
              </a:rPr>
              <a:t>を受けます。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２つの学校をつなぐために</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を使用します。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9" name="図 8">
            <a:extLst>
              <a:ext uri="{FF2B5EF4-FFF2-40B4-BE49-F238E27FC236}">
                <a16:creationId xmlns:a16="http://schemas.microsoft.com/office/drawing/2014/main" id="{2DEF003D-F243-4AA8-AFEC-A5DD5B8D1BFA}"/>
              </a:ext>
            </a:extLst>
          </p:cNvPr>
          <p:cNvPicPr>
            <a:picLocks noChangeAspect="1"/>
          </p:cNvPicPr>
          <p:nvPr/>
        </p:nvPicPr>
        <p:blipFill>
          <a:blip r:embed="rId2"/>
          <a:stretch>
            <a:fillRect/>
          </a:stretch>
        </p:blipFill>
        <p:spPr>
          <a:xfrm>
            <a:off x="567542" y="2187126"/>
            <a:ext cx="7316221" cy="390580"/>
          </a:xfrm>
          <a:prstGeom prst="rect">
            <a:avLst/>
          </a:prstGeom>
        </p:spPr>
      </p:pic>
      <p:sp>
        <p:nvSpPr>
          <p:cNvPr id="11" name="矢印: 右 10">
            <a:extLst>
              <a:ext uri="{FF2B5EF4-FFF2-40B4-BE49-F238E27FC236}">
                <a16:creationId xmlns:a16="http://schemas.microsoft.com/office/drawing/2014/main" id="{54F78AF4-F4C4-40E9-8071-8F77A0F4B57C}"/>
              </a:ext>
            </a:extLst>
          </p:cNvPr>
          <p:cNvSpPr/>
          <p:nvPr/>
        </p:nvSpPr>
        <p:spPr>
          <a:xfrm rot="13578864">
            <a:off x="5518264" y="2413779"/>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306225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81672" cy="1938992"/>
          </a:xfrm>
          <a:prstGeom prst="rect">
            <a:avLst/>
          </a:prstGeom>
          <a:noFill/>
        </p:spPr>
        <p:txBody>
          <a:bodyPr wrap="none" rtlCol="0">
            <a:spAutoFit/>
          </a:bodyPr>
          <a:lstStyle/>
          <a:p>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とはチームという単位でグループを作り、</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そのメンバーでやり取りをするツールです。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１年生は、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ゲーム１年</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_</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北九州＆大分</a:t>
            </a:r>
            <a:r>
              <a:rPr lang="ja-JP" altLang="en-US" sz="2400" dirty="0">
                <a:latin typeface="HGS創英角ｺﾞｼｯｸUB" panose="020B0900000000000000" pitchFamily="50" charset="-128"/>
                <a:ea typeface="HGS創英角ｺﾞｼｯｸUB" panose="020B0900000000000000" pitchFamily="50" charset="-128"/>
              </a:rPr>
              <a:t>」チームで授業を行います。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CDAEC0E3-FB1D-4CD1-B08F-88EC7CE93B10}"/>
              </a:ext>
            </a:extLst>
          </p:cNvPr>
          <p:cNvPicPr>
            <a:picLocks noChangeAspect="1"/>
          </p:cNvPicPr>
          <p:nvPr/>
        </p:nvPicPr>
        <p:blipFill>
          <a:blip r:embed="rId2"/>
          <a:stretch>
            <a:fillRect/>
          </a:stretch>
        </p:blipFill>
        <p:spPr>
          <a:xfrm>
            <a:off x="567542" y="3295120"/>
            <a:ext cx="5784506" cy="2419879"/>
          </a:xfrm>
          <a:prstGeom prst="rect">
            <a:avLst/>
          </a:prstGeom>
        </p:spPr>
      </p:pic>
    </p:spTree>
    <p:extLst>
      <p:ext uri="{BB962C8B-B14F-4D97-AF65-F5344CB8AC3E}">
        <p14:creationId xmlns:p14="http://schemas.microsoft.com/office/powerpoint/2010/main" val="38799238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263527"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チームの中には授業ごとの</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チャネル</a:t>
            </a:r>
            <a:r>
              <a:rPr lang="ja-JP" altLang="en-US" sz="2400" dirty="0">
                <a:latin typeface="HGS創英角ｺﾞｼｯｸUB" panose="020B0900000000000000" pitchFamily="50" charset="-128"/>
                <a:ea typeface="HGS創英角ｺﾞｼｯｸUB" panose="020B0900000000000000" pitchFamily="50" charset="-128"/>
              </a:rPr>
              <a:t>があります。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授業に対応したチャネルで、授業が実施されます。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5" name="図 4">
            <a:extLst>
              <a:ext uri="{FF2B5EF4-FFF2-40B4-BE49-F238E27FC236}">
                <a16:creationId xmlns:a16="http://schemas.microsoft.com/office/drawing/2014/main" id="{DEA7E1E6-8788-422A-B57B-F2AEFD6FC953}"/>
              </a:ext>
            </a:extLst>
          </p:cNvPr>
          <p:cNvPicPr>
            <a:picLocks noChangeAspect="1"/>
          </p:cNvPicPr>
          <p:nvPr/>
        </p:nvPicPr>
        <p:blipFill>
          <a:blip r:embed="rId2"/>
          <a:stretch>
            <a:fillRect/>
          </a:stretch>
        </p:blipFill>
        <p:spPr>
          <a:xfrm>
            <a:off x="567542" y="2187126"/>
            <a:ext cx="1948896" cy="4442274"/>
          </a:xfrm>
          <a:prstGeom prst="rect">
            <a:avLst/>
          </a:prstGeom>
        </p:spPr>
      </p:pic>
    </p:spTree>
    <p:extLst>
      <p:ext uri="{BB962C8B-B14F-4D97-AF65-F5344CB8AC3E}">
        <p14:creationId xmlns:p14="http://schemas.microsoft.com/office/powerpoint/2010/main" val="417192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725739" cy="830997"/>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チャネルをクリックするとチャットが開きます。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チャット内にある参加ボタンから、授業に参加することができます。</a:t>
            </a:r>
            <a:endParaRPr lang="en-US" altLang="ja-JP" sz="2400" dirty="0">
              <a:latin typeface="HGS創英角ｺﾞｼｯｸUB" panose="020B0900000000000000" pitchFamily="50" charset="-128"/>
              <a:ea typeface="HGS創英角ｺﾞｼｯｸUB" panose="020B0900000000000000" pitchFamily="50" charset="-128"/>
            </a:endParaRPr>
          </a:p>
        </p:txBody>
      </p:sp>
      <p:pic>
        <p:nvPicPr>
          <p:cNvPr id="3" name="図 2">
            <a:extLst>
              <a:ext uri="{FF2B5EF4-FFF2-40B4-BE49-F238E27FC236}">
                <a16:creationId xmlns:a16="http://schemas.microsoft.com/office/drawing/2014/main" id="{EF00720E-4213-4C04-8ECA-F318D526F390}"/>
              </a:ext>
            </a:extLst>
          </p:cNvPr>
          <p:cNvPicPr>
            <a:picLocks noChangeAspect="1"/>
          </p:cNvPicPr>
          <p:nvPr/>
        </p:nvPicPr>
        <p:blipFill>
          <a:blip r:embed="rId2"/>
          <a:stretch>
            <a:fillRect/>
          </a:stretch>
        </p:blipFill>
        <p:spPr>
          <a:xfrm>
            <a:off x="567542" y="2187126"/>
            <a:ext cx="9897856" cy="2467319"/>
          </a:xfrm>
          <a:prstGeom prst="rect">
            <a:avLst/>
          </a:prstGeom>
        </p:spPr>
      </p:pic>
      <p:sp>
        <p:nvSpPr>
          <p:cNvPr id="7" name="矢印: 右 6">
            <a:extLst>
              <a:ext uri="{FF2B5EF4-FFF2-40B4-BE49-F238E27FC236}">
                <a16:creationId xmlns:a16="http://schemas.microsoft.com/office/drawing/2014/main" id="{E53BB745-359D-4A65-8B71-D3EF320ADD50}"/>
              </a:ext>
            </a:extLst>
          </p:cNvPr>
          <p:cNvSpPr/>
          <p:nvPr/>
        </p:nvSpPr>
        <p:spPr>
          <a:xfrm rot="13578864">
            <a:off x="9641837" y="4318779"/>
            <a:ext cx="575733" cy="455643"/>
          </a:xfrm>
          <a:prstGeom prst="rightArrow">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6A5BECF9-223E-4A13-B18D-54CC3D2A5FD2}"/>
              </a:ext>
            </a:extLst>
          </p:cNvPr>
          <p:cNvSpPr txBox="1"/>
          <p:nvPr/>
        </p:nvSpPr>
        <p:spPr>
          <a:xfrm>
            <a:off x="567541" y="5144963"/>
            <a:ext cx="7263527" cy="46166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授業開始５分前には参加ボタンが出現しています。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0275668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348446" cy="584775"/>
          </a:xfrm>
          <a:prstGeom prst="rect">
            <a:avLst/>
          </a:prstGeom>
          <a:noFill/>
        </p:spPr>
        <p:txBody>
          <a:bodyPr wrap="none" rtlCol="0">
            <a:spAutoFit/>
          </a:bodyPr>
          <a:lstStyle/>
          <a:p>
            <a:r>
              <a:rPr lang="en-US" altLang="ja-JP" sz="3200" b="1" u="sng" dirty="0">
                <a:latin typeface="HGS創英角ｺﾞｼｯｸUB" panose="020B0900000000000000" pitchFamily="50" charset="-128"/>
                <a:ea typeface="HGS創英角ｺﾞｼｯｸUB" panose="020B0900000000000000" pitchFamily="50" charset="-128"/>
              </a:rPr>
              <a:t>Teams</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3046988"/>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以下は</a:t>
            </a:r>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の授業の際のルールです。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・話している人以外のマイクは</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OFF</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にすること</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・カメラは常に</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ON</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にすること</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・手を挙げるボタンやリアクションは自由に使用して良い</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多くの授業が</a:t>
            </a:r>
            <a:r>
              <a:rPr lang="en-US" altLang="ja-JP" sz="2400" dirty="0">
                <a:latin typeface="HGS創英角ｺﾞｼｯｸUB" panose="020B0900000000000000" pitchFamily="50" charset="-128"/>
                <a:ea typeface="HGS創英角ｺﾞｼｯｸUB" panose="020B0900000000000000" pitchFamily="50" charset="-128"/>
              </a:rPr>
              <a:t>Teams</a:t>
            </a:r>
            <a:r>
              <a:rPr lang="ja-JP" altLang="en-US" sz="2400" dirty="0">
                <a:latin typeface="HGS創英角ｺﾞｼｯｸUB" panose="020B0900000000000000" pitchFamily="50" charset="-128"/>
                <a:ea typeface="HGS創英角ｺﾞｼｯｸUB" panose="020B0900000000000000" pitchFamily="50" charset="-128"/>
              </a:rPr>
              <a:t>で実施されます。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徐々に慣れていきましょう。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5646440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3255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さいごに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3416320"/>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３年間でゲーム会社に就職することは、非常に難易度が高いです。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以下のことを心がけて３年間過ごしましょう。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■心がけてほしいこと</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・休まない</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・友達を作る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・毎日残る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・イベントに参加する</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・就職活動時期</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64617341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656496"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休まないこと</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879080" cy="4524315"/>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専門学校の授業は、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短期間に一気にまとめて知識と技術を叩き込みます。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１日休むだけで、すぐに取り残されてしまいますので、</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学校は休まないようにしましょう。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■休む時の例</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・感染症</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・ひどい咳やくしゃみでうるさい</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など</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周りに迷惑がかかる場合は休むことを考慮しましょう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47340620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68469"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友達をつくろう</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230832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勉強も就活も一人でするよりは、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複数人で協力したほうが良い成果が出ます。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友達を作って、困ったときは相談しあえるようにしましょう。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もちろん教職員を頼ってもらっても</a:t>
            </a:r>
            <a:r>
              <a:rPr lang="en-US" altLang="ja-JP" sz="2400" dirty="0">
                <a:latin typeface="HGS創英角ｺﾞｼｯｸUB" panose="020B0900000000000000" pitchFamily="50" charset="-128"/>
                <a:ea typeface="HGS創英角ｺﾞｼｯｸUB" panose="020B0900000000000000" pitchFamily="50" charset="-128"/>
              </a:rPr>
              <a:t>OK</a:t>
            </a:r>
            <a:r>
              <a:rPr lang="ja-JP" altLang="en-US" sz="2400" dirty="0">
                <a:latin typeface="HGS創英角ｺﾞｼｯｸUB" panose="020B0900000000000000" pitchFamily="50" charset="-128"/>
                <a:ea typeface="HGS創英角ｺﾞｼｯｸUB" panose="020B0900000000000000" pitchFamily="50" charset="-128"/>
              </a:rPr>
              <a:t>です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47080474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244525"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毎日残ろう</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7959230" cy="230832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教室は</a:t>
            </a:r>
            <a:r>
              <a:rPr lang="en-US" altLang="ja-JP" sz="2400" dirty="0">
                <a:solidFill>
                  <a:srgbClr val="FF0000"/>
                </a:solidFill>
                <a:latin typeface="HGS創英角ｺﾞｼｯｸUB" panose="020B0900000000000000" pitchFamily="50" charset="-128"/>
                <a:ea typeface="HGS創英角ｺﾞｼｯｸUB" panose="020B0900000000000000" pitchFamily="50" charset="-128"/>
              </a:rPr>
              <a:t>17</a:t>
            </a:r>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時まで</a:t>
            </a:r>
            <a:r>
              <a:rPr lang="ja-JP" altLang="en-US" sz="2400" dirty="0">
                <a:latin typeface="HGS創英角ｺﾞｼｯｸUB" panose="020B0900000000000000" pitchFamily="50" charset="-128"/>
                <a:ea typeface="HGS創英角ｺﾞｼｯｸUB" panose="020B0900000000000000" pitchFamily="50" charset="-128"/>
              </a:rPr>
              <a:t>開放しています。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17</a:t>
            </a:r>
            <a:r>
              <a:rPr lang="ja-JP" altLang="en-US" sz="2400" dirty="0">
                <a:latin typeface="HGS創英角ｺﾞｼｯｸUB" panose="020B0900000000000000" pitchFamily="50" charset="-128"/>
                <a:ea typeface="HGS創英角ｺﾞｼｯｸUB" panose="020B0900000000000000" pitchFamily="50" charset="-128"/>
              </a:rPr>
              <a:t>時まで居残りして、勉強、ゲーム制作をしましょう。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アルバイトはそのあとからにしましょう。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たまにはゲームして遊ぶために残っても大丈夫です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8185348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430438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イベントに参加しよう</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186857" cy="415498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就職活動では、他の専門学生や大学生がライバルです。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特に学生作品を見ることができるイベントには参加して、</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ライバルの実力を把握しましょう。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■主なイベント</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・ゲーム制作展（</a:t>
            </a:r>
            <a:r>
              <a:rPr lang="en-US" altLang="ja-JP" sz="2400" dirty="0">
                <a:latin typeface="HGS創英角ｺﾞｼｯｸUB" panose="020B0900000000000000" pitchFamily="50" charset="-128"/>
                <a:ea typeface="HGS創英角ｺﾞｼｯｸUB" panose="020B0900000000000000" pitchFamily="50" charset="-128"/>
              </a:rPr>
              <a:t>2</a:t>
            </a:r>
            <a:r>
              <a:rPr lang="ja-JP" altLang="en-US" sz="2400" dirty="0">
                <a:latin typeface="HGS創英角ｺﾞｼｯｸUB" panose="020B0900000000000000" pitchFamily="50" charset="-128"/>
                <a:ea typeface="HGS創英角ｺﾞｼｯｸUB" panose="020B0900000000000000" pitchFamily="50" charset="-128"/>
              </a:rPr>
              <a:t>月ごろ、あるある</a:t>
            </a:r>
            <a:r>
              <a:rPr lang="en-US" altLang="ja-JP" sz="2400" dirty="0">
                <a:latin typeface="HGS創英角ｺﾞｼｯｸUB" panose="020B0900000000000000" pitchFamily="50" charset="-128"/>
                <a:ea typeface="HGS創英角ｺﾞｼｯｸUB" panose="020B0900000000000000" pitchFamily="50" charset="-128"/>
              </a:rPr>
              <a:t>City</a:t>
            </a:r>
            <a:r>
              <a:rPr lang="ja-JP" altLang="en-US" sz="2400" dirty="0">
                <a:latin typeface="HGS創英角ｺﾞｼｯｸUB" panose="020B0900000000000000" pitchFamily="50" charset="-128"/>
                <a:ea typeface="HGS創英角ｺﾞｼｯｸUB" panose="020B0900000000000000" pitchFamily="50" charset="-128"/>
              </a:rPr>
              <a:t>）</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・ゲーム展示会（</a:t>
            </a:r>
            <a:r>
              <a:rPr lang="en-US" altLang="ja-JP" sz="2400" dirty="0">
                <a:latin typeface="HGS創英角ｺﾞｼｯｸUB" panose="020B0900000000000000" pitchFamily="50" charset="-128"/>
                <a:ea typeface="HGS創英角ｺﾞｼｯｸUB" panose="020B0900000000000000" pitchFamily="50" charset="-128"/>
              </a:rPr>
              <a:t>1</a:t>
            </a:r>
            <a:r>
              <a:rPr lang="ja-JP" altLang="en-US" sz="2400" dirty="0">
                <a:latin typeface="HGS創英角ｺﾞｼｯｸUB" panose="020B0900000000000000" pitchFamily="50" charset="-128"/>
                <a:ea typeface="HGS創英角ｺﾞｼｯｸUB" panose="020B0900000000000000" pitchFamily="50" charset="-128"/>
              </a:rPr>
              <a:t>月ごろ、福岡校）</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CEDEC+KYUSHU</a:t>
            </a:r>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11</a:t>
            </a:r>
            <a:r>
              <a:rPr lang="ja-JP" altLang="en-US" sz="2400" dirty="0">
                <a:latin typeface="HGS創英角ｺﾞｼｯｸUB" panose="020B0900000000000000" pitchFamily="50" charset="-128"/>
                <a:ea typeface="HGS創英角ｺﾞｼｯｸUB" panose="020B0900000000000000" pitchFamily="50" charset="-128"/>
              </a:rPr>
              <a:t>月末、九州産業大学）</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a:t>
            </a:r>
            <a:r>
              <a:rPr lang="ja-JP" altLang="en-US" sz="2400" dirty="0">
                <a:latin typeface="HGS創英角ｺﾞｼｯｸUB" panose="020B0900000000000000" pitchFamily="50" charset="-128"/>
                <a:ea typeface="HGS創英角ｺﾞｼｯｸUB" panose="020B0900000000000000" pitchFamily="50" charset="-128"/>
              </a:rPr>
              <a:t>もちろんクラスメイトもライバルになります</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252305117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2656496"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就職活動時期</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8802410" cy="1569660"/>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就職活動は最速では２年生の秋にははじまります。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早い人は冬休み前に内定を取ることもあります。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残された時間は短いですので、毎日を大切に過ごしましょう。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174615125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3255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さいごに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6340197" cy="5262979"/>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明日の予定は以下の通りです。</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１限目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楽しい感じでグループワーク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みんなで１つのテーマについて議論しよう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２限目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大好きなものプレゼン選手権　資料作成</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３限目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大好きなものプレゼン選手権　発表会</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４限目</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　企業講演　㈱サイバーコネクトツー</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1449686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1832553"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さいごに</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11264622" cy="2677656"/>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明日の</a:t>
            </a:r>
            <a:r>
              <a:rPr lang="en-US" altLang="ja-JP" sz="2400" dirty="0">
                <a:latin typeface="HGS創英角ｺﾞｼｯｸUB" panose="020B0900000000000000" pitchFamily="50" charset="-128"/>
                <a:ea typeface="HGS創英角ｺﾞｼｯｸUB" panose="020B0900000000000000" pitchFamily="50" charset="-128"/>
              </a:rPr>
              <a:t>15</a:t>
            </a:r>
            <a:r>
              <a:rPr lang="ja-JP" altLang="en-US" sz="2400" dirty="0">
                <a:latin typeface="HGS創英角ｺﾞｼｯｸUB" panose="020B0900000000000000" pitchFamily="50" charset="-128"/>
                <a:ea typeface="HGS創英角ｺﾞｼｯｸUB" panose="020B0900000000000000" pitchFamily="50" charset="-128"/>
              </a:rPr>
              <a:t>：</a:t>
            </a:r>
            <a:r>
              <a:rPr lang="en-US" altLang="ja-JP" sz="2400" dirty="0">
                <a:latin typeface="HGS創英角ｺﾞｼｯｸUB" panose="020B0900000000000000" pitchFamily="50" charset="-128"/>
                <a:ea typeface="HGS創英角ｺﾞｼｯｸUB" panose="020B0900000000000000" pitchFamily="50" charset="-128"/>
              </a:rPr>
              <a:t>30</a:t>
            </a:r>
            <a:r>
              <a:rPr lang="ja-JP" altLang="en-US" sz="2400" dirty="0">
                <a:latin typeface="HGS創英角ｺﾞｼｯｸUB" panose="020B0900000000000000" pitchFamily="50" charset="-128"/>
                <a:ea typeface="HGS創英角ｺﾞｼｯｸUB" panose="020B0900000000000000" pitchFamily="50" charset="-128"/>
              </a:rPr>
              <a:t>より、</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福岡のゲーム会社である㈱サイバーコネクトツー様の企業講演があります。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このように企業から直接講演をすることが今後も多くありますので、</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積極的に参加し、モチベーションとしましょう。</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また、企業講演に参加する前日には、</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企業のホームページなどで、どのような企業なのかを、必ず下調べしましょう。</a:t>
            </a:r>
            <a:endParaRPr lang="en-US" altLang="ja-JP" sz="2400" dirty="0">
              <a:latin typeface="HGS創英角ｺﾞｼｯｸUB" panose="020B0900000000000000" pitchFamily="50" charset="-128"/>
              <a:ea typeface="HGS創英角ｺﾞｼｯｸUB" panose="020B0900000000000000" pitchFamily="50" charset="-128"/>
            </a:endParaRPr>
          </a:p>
        </p:txBody>
      </p:sp>
    </p:spTree>
    <p:extLst>
      <p:ext uri="{BB962C8B-B14F-4D97-AF65-F5344CB8AC3E}">
        <p14:creationId xmlns:p14="http://schemas.microsoft.com/office/powerpoint/2010/main" val="304218311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テキスト ボックス 3">
            <a:extLst>
              <a:ext uri="{FF2B5EF4-FFF2-40B4-BE49-F238E27FC236}">
                <a16:creationId xmlns:a16="http://schemas.microsoft.com/office/drawing/2014/main" id="{5A13BF46-B8C5-48AA-8308-C9ECFF431A18}"/>
              </a:ext>
            </a:extLst>
          </p:cNvPr>
          <p:cNvSpPr txBox="1"/>
          <p:nvPr/>
        </p:nvSpPr>
        <p:spPr>
          <a:xfrm>
            <a:off x="567542" y="491954"/>
            <a:ext cx="3068469" cy="584775"/>
          </a:xfrm>
          <a:prstGeom prst="rect">
            <a:avLst/>
          </a:prstGeom>
          <a:noFill/>
        </p:spPr>
        <p:txBody>
          <a:bodyPr wrap="none" rtlCol="0">
            <a:spAutoFit/>
          </a:bodyPr>
          <a:lstStyle/>
          <a:p>
            <a:r>
              <a:rPr lang="ja-JP" altLang="en-US" sz="3200" b="1" u="sng" dirty="0">
                <a:latin typeface="HGS創英角ｺﾞｼｯｸUB" panose="020B0900000000000000" pitchFamily="50" charset="-128"/>
                <a:ea typeface="HGS創英角ｺﾞｼｯｸUB" panose="020B0900000000000000" pitchFamily="50" charset="-128"/>
              </a:rPr>
              <a:t>タイピング練習</a:t>
            </a:r>
            <a:endParaRPr kumimoji="1" lang="en-US" altLang="ja-JP" sz="3200" b="1" u="sng" dirty="0">
              <a:latin typeface="HGS創英角ｺﾞｼｯｸUB" panose="020B0900000000000000" pitchFamily="50" charset="-128"/>
              <a:ea typeface="HGS創英角ｺﾞｼｯｸUB" panose="020B0900000000000000" pitchFamily="50" charset="-128"/>
            </a:endParaRPr>
          </a:p>
        </p:txBody>
      </p:sp>
      <p:sp>
        <p:nvSpPr>
          <p:cNvPr id="6" name="テキスト ボックス 5">
            <a:extLst>
              <a:ext uri="{FF2B5EF4-FFF2-40B4-BE49-F238E27FC236}">
                <a16:creationId xmlns:a16="http://schemas.microsoft.com/office/drawing/2014/main" id="{55830AD6-028B-4C4E-80BF-B70DFC1C3A46}"/>
              </a:ext>
            </a:extLst>
          </p:cNvPr>
          <p:cNvSpPr txBox="1"/>
          <p:nvPr/>
        </p:nvSpPr>
        <p:spPr>
          <a:xfrm>
            <a:off x="567542" y="1216429"/>
            <a:ext cx="9417963" cy="2308324"/>
          </a:xfrm>
          <a:prstGeom prst="rect">
            <a:avLst/>
          </a:prstGeom>
          <a:noFill/>
        </p:spPr>
        <p:txBody>
          <a:bodyPr wrap="none" rtlCol="0">
            <a:spAutoFit/>
          </a:bodyPr>
          <a:lstStyle/>
          <a:p>
            <a:r>
              <a:rPr lang="ja-JP" altLang="en-US" sz="2400" dirty="0">
                <a:latin typeface="HGS創英角ｺﾞｼｯｸUB" panose="020B0900000000000000" pitchFamily="50" charset="-128"/>
                <a:ea typeface="HGS創英角ｺﾞｼｯｸUB" panose="020B0900000000000000" pitchFamily="50" charset="-128"/>
              </a:rPr>
              <a:t>それでは残った時間はタイピング練習をしましょう。</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タイピングが速いほど授業に余裕が生まれ、習熟度も上がります。</a:t>
            </a:r>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latin typeface="HGS創英角ｺﾞｼｯｸUB" panose="020B0900000000000000" pitchFamily="50" charset="-128"/>
                <a:ea typeface="HGS創英角ｺﾞｼｯｸUB" panose="020B0900000000000000" pitchFamily="50" charset="-128"/>
              </a:rPr>
              <a:t>ぜひ、お家でも練習してください。</a:t>
            </a:r>
            <a:endParaRPr lang="en-US" altLang="ja-JP" sz="2400" dirty="0">
              <a:latin typeface="HGS創英角ｺﾞｼｯｸUB" panose="020B0900000000000000" pitchFamily="50" charset="-128"/>
              <a:ea typeface="HGS創英角ｺﾞｼｯｸUB" panose="020B0900000000000000" pitchFamily="50" charset="-128"/>
            </a:endParaRPr>
          </a:p>
          <a:p>
            <a:endParaRPr lang="en-US" altLang="ja-JP" sz="2400" dirty="0">
              <a:latin typeface="HGS創英角ｺﾞｼｯｸUB" panose="020B0900000000000000" pitchFamily="50" charset="-128"/>
              <a:ea typeface="HGS創英角ｺﾞｼｯｸUB" panose="020B0900000000000000" pitchFamily="50" charset="-128"/>
            </a:endParaRPr>
          </a:p>
          <a:p>
            <a:r>
              <a:rPr lang="ja-JP" altLang="en-US" sz="2400" dirty="0">
                <a:solidFill>
                  <a:srgbClr val="FF0000"/>
                </a:solidFill>
                <a:latin typeface="HGS創英角ｺﾞｼｯｸUB" panose="020B0900000000000000" pitchFamily="50" charset="-128"/>
                <a:ea typeface="HGS創英角ｺﾞｼｯｸUB" panose="020B0900000000000000" pitchFamily="50" charset="-128"/>
              </a:rPr>
              <a:t>■タイピング練習ゲーム寿司打</a:t>
            </a:r>
            <a:endParaRPr lang="en-US" altLang="ja-JP" sz="2400" dirty="0">
              <a:solidFill>
                <a:srgbClr val="FF0000"/>
              </a:solidFill>
              <a:latin typeface="HGS創英角ｺﾞｼｯｸUB" panose="020B0900000000000000" pitchFamily="50" charset="-128"/>
              <a:ea typeface="HGS創英角ｺﾞｼｯｸUB" panose="020B0900000000000000" pitchFamily="50" charset="-128"/>
            </a:endParaRPr>
          </a:p>
          <a:p>
            <a:r>
              <a:rPr lang="en-US" altLang="ja-JP" sz="2400" dirty="0">
                <a:latin typeface="HGS創英角ｺﾞｼｯｸUB" panose="020B0900000000000000" pitchFamily="50" charset="-128"/>
                <a:ea typeface="HGS創英角ｺﾞｼｯｸUB" panose="020B0900000000000000" pitchFamily="50" charset="-128"/>
              </a:rPr>
              <a:t>https://sushida.net/</a:t>
            </a:r>
          </a:p>
        </p:txBody>
      </p:sp>
    </p:spTree>
    <p:extLst>
      <p:ext uri="{BB962C8B-B14F-4D97-AF65-F5344CB8AC3E}">
        <p14:creationId xmlns:p14="http://schemas.microsoft.com/office/powerpoint/2010/main" val="2792684129"/>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433</TotalTime>
  <Words>1478</Words>
  <Application>Microsoft Office PowerPoint</Application>
  <PresentationFormat>ワイド画面</PresentationFormat>
  <Paragraphs>222</Paragraphs>
  <Slides>32</Slides>
  <Notes>0</Notes>
  <HiddenSlides>0</HiddenSlides>
  <MMClips>0</MMClips>
  <ScaleCrop>false</ScaleCrop>
  <HeadingPairs>
    <vt:vector size="6" baseType="variant">
      <vt:variant>
        <vt:lpstr>使用されているフォント</vt:lpstr>
      </vt:variant>
      <vt:variant>
        <vt:i4>4</vt:i4>
      </vt:variant>
      <vt:variant>
        <vt:lpstr>テーマ</vt:lpstr>
      </vt:variant>
      <vt:variant>
        <vt:i4>1</vt:i4>
      </vt:variant>
      <vt:variant>
        <vt:lpstr>スライド タイトル</vt:lpstr>
      </vt:variant>
      <vt:variant>
        <vt:i4>32</vt:i4>
      </vt:variant>
    </vt:vector>
  </HeadingPairs>
  <TitlesOfParts>
    <vt:vector size="37" baseType="lpstr">
      <vt:lpstr>HGS創英角ｺﾞｼｯｸUB</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北九州校　ゲーム</dc:creator>
  <cp:lastModifiedBy>荒木 優介</cp:lastModifiedBy>
  <cp:revision>56</cp:revision>
  <dcterms:created xsi:type="dcterms:W3CDTF">2024-08-27T02:15:54Z</dcterms:created>
  <dcterms:modified xsi:type="dcterms:W3CDTF">2026-03-31T04:20:46Z</dcterms:modified>
</cp:coreProperties>
</file>