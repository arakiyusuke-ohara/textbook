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3"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4" r:id="rId27"/>
    <p:sldId id="285" r:id="rId28"/>
    <p:sldId id="286" r:id="rId29"/>
    <p:sldId id="287" r:id="rId30"/>
    <p:sldId id="288" r:id="rId31"/>
    <p:sldId id="283" r:id="rId32"/>
    <p:sldId id="282"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2026/3/25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mailto:ktq&#23398;&#31821;&#30058;&#21495;@stu.o-hara.ac.jp" TargetMode="Externa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microsoft.com/ja-jp/microsoft-365/onedrive/online-cloud-storage"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はじめに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89364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ご入学おめでとうございます！！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ここから皆さんの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ゲームクリエイター</a:t>
            </a:r>
            <a:r>
              <a:rPr lang="ja-JP" altLang="en-US" sz="2400" dirty="0">
                <a:latin typeface="HGS創英角ｺﾞｼｯｸUB" panose="020B0900000000000000" pitchFamily="50" charset="-128"/>
                <a:ea typeface="HGS創英角ｺﾞｼｯｸUB" panose="020B0900000000000000" pitchFamily="50" charset="-128"/>
              </a:rPr>
              <a:t>への道が始まります。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ここでは、授業を受けるための準備をして、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万全の状態で授業が始められるようにしましょう。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■プログラム</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・アプリケーション紹介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・データ保存場所作成</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OneDrive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・タイピング練習</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・さいごに</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アプリケーション紹介</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785652"/>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まずは、授業で使用するアプリケーションを紹介します。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名前と開き方</a:t>
            </a:r>
            <a:r>
              <a:rPr lang="ja-JP" altLang="en-US" sz="2400" dirty="0">
                <a:latin typeface="HGS創英角ｺﾞｼｯｸUB" panose="020B0900000000000000" pitchFamily="50" charset="-128"/>
                <a:ea typeface="HGS創英角ｺﾞｼｯｸUB" panose="020B0900000000000000" pitchFamily="50" charset="-128"/>
              </a:rPr>
              <a:t>を覚えておきましょう。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■紹介するアプリ</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・エクスプローラー</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Visual Studio</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Unity</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Unreal Engine</a:t>
            </a: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ここで紹介するもの以外もたくさんあります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213539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エクスプローラー</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ファイルやフォルダを開くのに使用する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エクスプローラー</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よく使いますので名前をしっかり憶えておきましょう。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FFDD4DD-0022-4BBA-9F71-43CED52EAB1D}"/>
              </a:ext>
            </a:extLst>
          </p:cNvPr>
          <p:cNvPicPr>
            <a:picLocks noChangeAspect="1"/>
          </p:cNvPicPr>
          <p:nvPr/>
        </p:nvPicPr>
        <p:blipFill>
          <a:blip r:embed="rId2"/>
          <a:stretch>
            <a:fillRect/>
          </a:stretch>
        </p:blipFill>
        <p:spPr>
          <a:xfrm>
            <a:off x="567542" y="3035739"/>
            <a:ext cx="7087589" cy="3694660"/>
          </a:xfrm>
          <a:prstGeom prst="rect">
            <a:avLst/>
          </a:prstGeom>
        </p:spPr>
      </p:pic>
      <p:pic>
        <p:nvPicPr>
          <p:cNvPr id="7" name="図 6">
            <a:extLst>
              <a:ext uri="{FF2B5EF4-FFF2-40B4-BE49-F238E27FC236}">
                <a16:creationId xmlns:a16="http://schemas.microsoft.com/office/drawing/2014/main" id="{783EC6E2-5474-46DD-9DF7-9B029103AF33}"/>
              </a:ext>
            </a:extLst>
          </p:cNvPr>
          <p:cNvPicPr>
            <a:picLocks noChangeAspect="1"/>
          </p:cNvPicPr>
          <p:nvPr/>
        </p:nvPicPr>
        <p:blipFill>
          <a:blip r:embed="rId3"/>
          <a:stretch>
            <a:fillRect/>
          </a:stretch>
        </p:blipFill>
        <p:spPr>
          <a:xfrm>
            <a:off x="567542" y="2187126"/>
            <a:ext cx="7087589" cy="428685"/>
          </a:xfrm>
          <a:prstGeom prst="rect">
            <a:avLst/>
          </a:prstGeom>
        </p:spPr>
      </p:pic>
      <p:sp>
        <p:nvSpPr>
          <p:cNvPr id="8" name="矢印: 右 7">
            <a:extLst>
              <a:ext uri="{FF2B5EF4-FFF2-40B4-BE49-F238E27FC236}">
                <a16:creationId xmlns:a16="http://schemas.microsoft.com/office/drawing/2014/main" id="{CD888F63-25CE-4A24-BFD6-66FA822947AE}"/>
              </a:ext>
            </a:extLst>
          </p:cNvPr>
          <p:cNvSpPr/>
          <p:nvPr/>
        </p:nvSpPr>
        <p:spPr>
          <a:xfrm rot="13540434">
            <a:off x="4834769" y="245945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06112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09020"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Visual Studio</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61482"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プログラムを書くために使用する</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学校では無料版の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 Community 2022</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12" name="図 11">
            <a:extLst>
              <a:ext uri="{FF2B5EF4-FFF2-40B4-BE49-F238E27FC236}">
                <a16:creationId xmlns:a16="http://schemas.microsoft.com/office/drawing/2014/main" id="{F108026A-3628-4CF4-9DCD-BDA31AA41F7E}"/>
              </a:ext>
            </a:extLst>
          </p:cNvPr>
          <p:cNvPicPr>
            <a:picLocks noChangeAspect="1"/>
          </p:cNvPicPr>
          <p:nvPr/>
        </p:nvPicPr>
        <p:blipFill>
          <a:blip r:embed="rId2"/>
          <a:stretch>
            <a:fillRect/>
          </a:stretch>
        </p:blipFill>
        <p:spPr>
          <a:xfrm>
            <a:off x="567542" y="2187126"/>
            <a:ext cx="4266925" cy="4485742"/>
          </a:xfrm>
          <a:prstGeom prst="rect">
            <a:avLst/>
          </a:prstGeom>
        </p:spPr>
      </p:pic>
      <p:sp>
        <p:nvSpPr>
          <p:cNvPr id="13" name="テキスト ボックス 12">
            <a:extLst>
              <a:ext uri="{FF2B5EF4-FFF2-40B4-BE49-F238E27FC236}">
                <a16:creationId xmlns:a16="http://schemas.microsoft.com/office/drawing/2014/main" id="{E2C4B6ED-4285-4C9E-865F-2EF314F5CE73}"/>
              </a:ext>
            </a:extLst>
          </p:cNvPr>
          <p:cNvSpPr txBox="1"/>
          <p:nvPr/>
        </p:nvSpPr>
        <p:spPr>
          <a:xfrm>
            <a:off x="1939141" y="6350903"/>
            <a:ext cx="554510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4" name="矢印: 右 13">
            <a:extLst>
              <a:ext uri="{FF2B5EF4-FFF2-40B4-BE49-F238E27FC236}">
                <a16:creationId xmlns:a16="http://schemas.microsoft.com/office/drawing/2014/main" id="{4C8319EC-3E55-45C1-AC8C-D0AB8094A2FC}"/>
              </a:ext>
            </a:extLst>
          </p:cNvPr>
          <p:cNvSpPr/>
          <p:nvPr/>
        </p:nvSpPr>
        <p:spPr>
          <a:xfrm rot="13540434">
            <a:off x="1719035" y="3000646"/>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6935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というゲームエンジンです。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ゲーム業界でもよく使用されているアプリケーションです。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514CFE15-3142-4541-B84C-6A11CE8348CD}"/>
              </a:ext>
            </a:extLst>
          </p:cNvPr>
          <p:cNvPicPr>
            <a:picLocks noChangeAspect="1"/>
          </p:cNvPicPr>
          <p:nvPr/>
        </p:nvPicPr>
        <p:blipFill>
          <a:blip r:embed="rId2"/>
          <a:stretch>
            <a:fillRect/>
          </a:stretch>
        </p:blipFill>
        <p:spPr>
          <a:xfrm>
            <a:off x="567542" y="2187126"/>
            <a:ext cx="4148391" cy="4414124"/>
          </a:xfrm>
          <a:prstGeom prst="rect">
            <a:avLst/>
          </a:prstGeom>
        </p:spPr>
      </p:pic>
      <p:sp>
        <p:nvSpPr>
          <p:cNvPr id="9" name="テキスト ボックス 8">
            <a:extLst>
              <a:ext uri="{FF2B5EF4-FFF2-40B4-BE49-F238E27FC236}">
                <a16:creationId xmlns:a16="http://schemas.microsoft.com/office/drawing/2014/main" id="{CB09F402-90ED-4016-9E93-539967FDDEDE}"/>
              </a:ext>
            </a:extLst>
          </p:cNvPr>
          <p:cNvSpPr txBox="1"/>
          <p:nvPr/>
        </p:nvSpPr>
        <p:spPr>
          <a:xfrm>
            <a:off x="1862941" y="6215436"/>
            <a:ext cx="4530407"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0" name="矢印: 右 9">
            <a:extLst>
              <a:ext uri="{FF2B5EF4-FFF2-40B4-BE49-F238E27FC236}">
                <a16:creationId xmlns:a16="http://schemas.microsoft.com/office/drawing/2014/main" id="{17FDD9CD-980A-4443-933A-24D06291538E}"/>
              </a:ext>
            </a:extLst>
          </p:cNvPr>
          <p:cNvSpPr/>
          <p:nvPr/>
        </p:nvSpPr>
        <p:spPr>
          <a:xfrm rot="13540434">
            <a:off x="1339581"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7CECB12-986A-4268-B863-2BDEC5B9DF3A}"/>
              </a:ext>
            </a:extLst>
          </p:cNvPr>
          <p:cNvSpPr txBox="1"/>
          <p:nvPr/>
        </p:nvSpPr>
        <p:spPr>
          <a:xfrm>
            <a:off x="5647542" y="3577838"/>
            <a:ext cx="5262979" cy="923330"/>
          </a:xfrm>
          <a:prstGeom prst="rect">
            <a:avLst/>
          </a:prstGeom>
          <a:noFill/>
        </p:spPr>
        <p:txBody>
          <a:bodyPr wrap="none" rtlCol="0">
            <a:spAutoFit/>
          </a:bodyPr>
          <a:lstStyle/>
          <a:p>
            <a:r>
              <a:rPr lang="en-US" altLang="ja-JP"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dirty="0">
                <a:latin typeface="HGS創英角ｺﾞｼｯｸUB" panose="020B0900000000000000" pitchFamily="50" charset="-128"/>
                <a:ea typeface="HGS創英角ｺﾞｼｯｸUB" panose="020B0900000000000000" pitchFamily="50" charset="-128"/>
              </a:rPr>
              <a:t>ゲームエンジンとは、</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ゲーム制作をがっつりサポートするアプリのこと</a:t>
            </a:r>
            <a:endParaRPr lang="en-US" altLang="ja-JP"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38203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159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を使うためには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アカウント</a:t>
            </a:r>
            <a:r>
              <a:rPr lang="ja-JP" altLang="en-US" sz="2400" dirty="0">
                <a:latin typeface="HGS創英角ｺﾞｼｯｸUB" panose="020B0900000000000000" pitchFamily="50" charset="-128"/>
                <a:ea typeface="HGS創英角ｺﾞｼｯｸUB" panose="020B0900000000000000" pitchFamily="50" charset="-128"/>
              </a:rPr>
              <a:t>を作る必要があります。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今のうちに作っておきましょう。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F2C327E5-32A5-4DF5-B3CF-03CFFFA1853D}"/>
              </a:ext>
            </a:extLst>
          </p:cNvPr>
          <p:cNvPicPr>
            <a:picLocks noChangeAspect="1"/>
          </p:cNvPicPr>
          <p:nvPr/>
        </p:nvPicPr>
        <p:blipFill>
          <a:blip r:embed="rId2"/>
          <a:stretch>
            <a:fillRect/>
          </a:stretch>
        </p:blipFill>
        <p:spPr>
          <a:xfrm>
            <a:off x="567543" y="2187126"/>
            <a:ext cx="2995192" cy="4178920"/>
          </a:xfrm>
          <a:prstGeom prst="rect">
            <a:avLst/>
          </a:prstGeom>
        </p:spPr>
      </p:pic>
      <p:sp>
        <p:nvSpPr>
          <p:cNvPr id="12" name="テキスト ボックス 11">
            <a:extLst>
              <a:ext uri="{FF2B5EF4-FFF2-40B4-BE49-F238E27FC236}">
                <a16:creationId xmlns:a16="http://schemas.microsoft.com/office/drawing/2014/main" id="{8FF59D83-6D2C-42CD-A23B-F8E80DADBE56}"/>
              </a:ext>
            </a:extLst>
          </p:cNvPr>
          <p:cNvSpPr txBox="1"/>
          <p:nvPr/>
        </p:nvSpPr>
        <p:spPr>
          <a:xfrm>
            <a:off x="3708675" y="3235317"/>
            <a:ext cx="6647974" cy="1938992"/>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E</a:t>
            </a:r>
            <a:r>
              <a:rPr lang="ja-JP" altLang="en-US" sz="2400" dirty="0">
                <a:latin typeface="HGS創英角ｺﾞｼｯｸUB" panose="020B0900000000000000" pitchFamily="50" charset="-128"/>
                <a:ea typeface="HGS創英角ｺﾞｼｯｸUB" panose="020B0900000000000000" pitchFamily="50" charset="-128"/>
              </a:rPr>
              <a:t>メールは自分が普段使うもので大丈夫です。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ない場合は学校のメールを使いましょう。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err="1">
                <a:latin typeface="HGS創英角ｺﾞｼｯｸUB" panose="020B0900000000000000" pitchFamily="50" charset="-128"/>
                <a:ea typeface="HGS創英角ｺﾞｼｯｸUB" panose="020B0900000000000000" pitchFamily="50" charset="-128"/>
                <a:hlinkClick r:id="rId3"/>
              </a:rPr>
              <a:t>ktq</a:t>
            </a:r>
            <a:r>
              <a:rPr lang="ja-JP" altLang="en-US" sz="2400" dirty="0">
                <a:latin typeface="HGS創英角ｺﾞｼｯｸUB" panose="020B0900000000000000" pitchFamily="50" charset="-128"/>
                <a:ea typeface="HGS創英角ｺﾞｼｯｸUB" panose="020B0900000000000000" pitchFamily="50" charset="-128"/>
                <a:hlinkClick r:id="rId3"/>
              </a:rPr>
              <a:t>学籍番号</a:t>
            </a:r>
            <a:r>
              <a:rPr lang="en-US" altLang="ja-JP" sz="2400" dirty="0">
                <a:latin typeface="HGS創英角ｺﾞｼｯｸUB" panose="020B0900000000000000" pitchFamily="50" charset="-128"/>
                <a:ea typeface="HGS創英角ｺﾞｼｯｸUB" panose="020B0900000000000000" pitchFamily="50" charset="-128"/>
                <a:hlinkClick r:id="rId3"/>
              </a:rPr>
              <a:t>@stu.o-hara.ac.jp</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すでに持っている場合はそれでも大丈夫です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9005605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2924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Unreal Engine</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Unreal Engine</a:t>
            </a:r>
            <a:r>
              <a:rPr lang="ja-JP" altLang="en-US" sz="2400" dirty="0">
                <a:latin typeface="HGS創英角ｺﾞｼｯｸUB" panose="020B0900000000000000" pitchFamily="50" charset="-128"/>
                <a:ea typeface="HGS創英角ｺﾞｼｯｸUB" panose="020B0900000000000000" pitchFamily="50" charset="-128"/>
              </a:rPr>
              <a:t>もゲームエンジンです。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主に家庭用ゲーム開発で使われています。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645F6ABD-29ED-4F6C-BDCF-1F878E5E7DD1}"/>
              </a:ext>
            </a:extLst>
          </p:cNvPr>
          <p:cNvPicPr>
            <a:picLocks noChangeAspect="1"/>
          </p:cNvPicPr>
          <p:nvPr/>
        </p:nvPicPr>
        <p:blipFill>
          <a:blip r:embed="rId2"/>
          <a:stretch>
            <a:fillRect/>
          </a:stretch>
        </p:blipFill>
        <p:spPr>
          <a:xfrm>
            <a:off x="567542" y="2187126"/>
            <a:ext cx="4131458" cy="4335121"/>
          </a:xfrm>
          <a:prstGeom prst="rect">
            <a:avLst/>
          </a:prstGeom>
        </p:spPr>
      </p:pic>
      <p:sp>
        <p:nvSpPr>
          <p:cNvPr id="12" name="テキスト ボックス 11">
            <a:extLst>
              <a:ext uri="{FF2B5EF4-FFF2-40B4-BE49-F238E27FC236}">
                <a16:creationId xmlns:a16="http://schemas.microsoft.com/office/drawing/2014/main" id="{2F8D198F-A0AE-46E1-A599-D3D86B55BCE1}"/>
              </a:ext>
            </a:extLst>
          </p:cNvPr>
          <p:cNvSpPr txBox="1"/>
          <p:nvPr/>
        </p:nvSpPr>
        <p:spPr>
          <a:xfrm>
            <a:off x="1888341" y="6200282"/>
            <a:ext cx="444544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Epic</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3" name="矢印: 右 12">
            <a:extLst>
              <a:ext uri="{FF2B5EF4-FFF2-40B4-BE49-F238E27FC236}">
                <a16:creationId xmlns:a16="http://schemas.microsoft.com/office/drawing/2014/main" id="{0D1267D6-B96A-49AC-B1B7-2F31C8CD08A7}"/>
              </a:ext>
            </a:extLst>
          </p:cNvPr>
          <p:cNvSpPr/>
          <p:nvPr/>
        </p:nvSpPr>
        <p:spPr>
          <a:xfrm rot="13540434">
            <a:off x="1449647"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4E5C59F-9E4E-4C82-A12E-335DD1A451F7}"/>
              </a:ext>
            </a:extLst>
          </p:cNvPr>
          <p:cNvSpPr txBox="1"/>
          <p:nvPr/>
        </p:nvSpPr>
        <p:spPr>
          <a:xfrm>
            <a:off x="7590446" y="6200281"/>
            <a:ext cx="4185761" cy="461665"/>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授業は３年生になってから</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378163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授業では大量のデータを保存します。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そのため整理整頓する場所を決めておかなくてはいけません。</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7" name="図 6">
            <a:extLst>
              <a:ext uri="{FF2B5EF4-FFF2-40B4-BE49-F238E27FC236}">
                <a16:creationId xmlns:a16="http://schemas.microsoft.com/office/drawing/2014/main" id="{DBF6CAE0-2E8A-4FB1-86FD-81B3B70FC96D}"/>
              </a:ext>
            </a:extLst>
          </p:cNvPr>
          <p:cNvPicPr>
            <a:picLocks noChangeAspect="1"/>
          </p:cNvPicPr>
          <p:nvPr/>
        </p:nvPicPr>
        <p:blipFill>
          <a:blip r:embed="rId2"/>
          <a:stretch>
            <a:fillRect/>
          </a:stretch>
        </p:blipFill>
        <p:spPr>
          <a:xfrm>
            <a:off x="567542" y="2187126"/>
            <a:ext cx="8131956" cy="4239074"/>
          </a:xfrm>
          <a:prstGeom prst="rect">
            <a:avLst/>
          </a:prstGeom>
        </p:spPr>
      </p:pic>
    </p:spTree>
    <p:extLst>
      <p:ext uri="{BB962C8B-B14F-4D97-AF65-F5344CB8AC3E}">
        <p14:creationId xmlns:p14="http://schemas.microsoft.com/office/powerpoint/2010/main" val="22555794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0431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エクスプローラーの左下にある</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を選択し、</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ドライブ（</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OS</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を開きましょう。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F5DEF478-85A2-463B-BDA6-98262ADCB5F6}"/>
              </a:ext>
            </a:extLst>
          </p:cNvPr>
          <p:cNvPicPr>
            <a:picLocks noChangeAspect="1"/>
          </p:cNvPicPr>
          <p:nvPr/>
        </p:nvPicPr>
        <p:blipFill>
          <a:blip r:embed="rId2"/>
          <a:stretch>
            <a:fillRect/>
          </a:stretch>
        </p:blipFill>
        <p:spPr>
          <a:xfrm>
            <a:off x="567542" y="2187126"/>
            <a:ext cx="5706258" cy="4296477"/>
          </a:xfrm>
          <a:prstGeom prst="rect">
            <a:avLst/>
          </a:prstGeom>
        </p:spPr>
      </p:pic>
      <p:sp>
        <p:nvSpPr>
          <p:cNvPr id="8" name="テキスト ボックス 7">
            <a:extLst>
              <a:ext uri="{FF2B5EF4-FFF2-40B4-BE49-F238E27FC236}">
                <a16:creationId xmlns:a16="http://schemas.microsoft.com/office/drawing/2014/main" id="{E94A1E8C-1896-4AEF-B100-57143995EE56}"/>
              </a:ext>
            </a:extLst>
          </p:cNvPr>
          <p:cNvSpPr txBox="1"/>
          <p:nvPr/>
        </p:nvSpPr>
        <p:spPr>
          <a:xfrm>
            <a:off x="6434942" y="5775717"/>
            <a:ext cx="5480988" cy="707886"/>
          </a:xfrm>
          <a:prstGeom prst="rect">
            <a:avLst/>
          </a:prstGeom>
          <a:noFill/>
        </p:spPr>
        <p:txBody>
          <a:bodyPr wrap="none" rtlCol="0">
            <a:spAutoFit/>
          </a:bodyPr>
          <a:lstStyle/>
          <a:p>
            <a:r>
              <a:rPr lang="ja-JP" altLang="en-US" sz="2000" dirty="0">
                <a:latin typeface="HGS創英角ｺﾞｼｯｸUB" panose="020B0900000000000000" pitchFamily="50" charset="-128"/>
                <a:ea typeface="HGS創英角ｺﾞｼｯｸUB" panose="020B0900000000000000" pitchFamily="50" charset="-128"/>
              </a:rPr>
              <a:t>今後</a:t>
            </a:r>
            <a:r>
              <a:rPr lang="en-US" altLang="ja-JP" sz="20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000" dirty="0">
                <a:solidFill>
                  <a:srgbClr val="FF0000"/>
                </a:solidFill>
                <a:latin typeface="HGS創英角ｺﾞｼｯｸUB" panose="020B0900000000000000" pitchFamily="50" charset="-128"/>
                <a:ea typeface="HGS創英角ｺﾞｼｯｸUB" panose="020B0900000000000000" pitchFamily="50" charset="-128"/>
              </a:rPr>
              <a:t>ドライブ</a:t>
            </a:r>
            <a:r>
              <a:rPr lang="ja-JP" altLang="en-US" sz="2000" dirty="0">
                <a:latin typeface="HGS創英角ｺﾞｼｯｸUB" panose="020B0900000000000000" pitchFamily="50" charset="-128"/>
                <a:ea typeface="HGS創英角ｺﾞｼｯｸUB" panose="020B0900000000000000" pitchFamily="50" charset="-128"/>
              </a:rPr>
              <a:t>と言われたらこれのことです。</a:t>
            </a:r>
            <a:endParaRPr lang="en-US" altLang="ja-JP" sz="2000" dirty="0">
              <a:latin typeface="HGS創英角ｺﾞｼｯｸUB" panose="020B0900000000000000" pitchFamily="50" charset="-128"/>
              <a:ea typeface="HGS創英角ｺﾞｼｯｸUB" panose="020B0900000000000000" pitchFamily="50" charset="-128"/>
            </a:endParaRPr>
          </a:p>
          <a:p>
            <a:r>
              <a:rPr lang="ja-JP" altLang="en-US" sz="2000" dirty="0">
                <a:latin typeface="HGS創英角ｺﾞｼｯｸUB" panose="020B0900000000000000" pitchFamily="50" charset="-128"/>
                <a:ea typeface="HGS創英角ｺﾞｼｯｸUB" panose="020B0900000000000000" pitchFamily="50" charset="-128"/>
              </a:rPr>
              <a:t>覚えておきましょう。</a:t>
            </a:r>
            <a:endParaRPr lang="en-US" altLang="ja-JP" sz="2000" dirty="0">
              <a:latin typeface="HGS創英角ｺﾞｼｯｸUB" panose="020B0900000000000000" pitchFamily="50" charset="-128"/>
              <a:ea typeface="HGS創英角ｺﾞｼｯｸUB" panose="020B0900000000000000" pitchFamily="50" charset="-128"/>
            </a:endParaRPr>
          </a:p>
        </p:txBody>
      </p:sp>
      <p:sp>
        <p:nvSpPr>
          <p:cNvPr id="9" name="矢印: 右 8">
            <a:extLst>
              <a:ext uri="{FF2B5EF4-FFF2-40B4-BE49-F238E27FC236}">
                <a16:creationId xmlns:a16="http://schemas.microsoft.com/office/drawing/2014/main" id="{89EA9633-B6D3-4210-8279-C3484C30A048}"/>
              </a:ext>
            </a:extLst>
          </p:cNvPr>
          <p:cNvSpPr/>
          <p:nvPr/>
        </p:nvSpPr>
        <p:spPr>
          <a:xfrm rot="13540434">
            <a:off x="1000913" y="613822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右 9">
            <a:extLst>
              <a:ext uri="{FF2B5EF4-FFF2-40B4-BE49-F238E27FC236}">
                <a16:creationId xmlns:a16="http://schemas.microsoft.com/office/drawing/2014/main" id="{484D4297-D47A-4235-A3BE-69C98F288F9C}"/>
              </a:ext>
            </a:extLst>
          </p:cNvPr>
          <p:cNvSpPr/>
          <p:nvPr/>
        </p:nvSpPr>
        <p:spPr>
          <a:xfrm rot="13540434">
            <a:off x="2768684" y="3936725"/>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34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830997"/>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ユーザー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&gt; student</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とフォルダを開きます。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ここが</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学生用の保存場所のトップ</a:t>
            </a:r>
            <a:r>
              <a:rPr lang="ja-JP" altLang="en-US" sz="2400" dirty="0">
                <a:latin typeface="HGS創英角ｺﾞｼｯｸUB" panose="020B0900000000000000" pitchFamily="50" charset="-128"/>
                <a:ea typeface="HGS創英角ｺﾞｼｯｸUB" panose="020B0900000000000000" pitchFamily="50" charset="-128"/>
              </a:rPr>
              <a:t>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7458409E-2115-4162-BD37-4A69362F4BCF}"/>
              </a:ext>
            </a:extLst>
          </p:cNvPr>
          <p:cNvPicPr>
            <a:picLocks noChangeAspect="1"/>
          </p:cNvPicPr>
          <p:nvPr/>
        </p:nvPicPr>
        <p:blipFill>
          <a:blip r:embed="rId2"/>
          <a:stretch>
            <a:fillRect/>
          </a:stretch>
        </p:blipFill>
        <p:spPr>
          <a:xfrm>
            <a:off x="567541" y="2187125"/>
            <a:ext cx="6065711" cy="4357607"/>
          </a:xfrm>
          <a:prstGeom prst="rect">
            <a:avLst/>
          </a:prstGeom>
        </p:spPr>
      </p:pic>
    </p:spTree>
    <p:extLst>
      <p:ext uri="{BB962C8B-B14F-4D97-AF65-F5344CB8AC3E}">
        <p14:creationId xmlns:p14="http://schemas.microsoft.com/office/powerpoint/2010/main" val="4084938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この場所に</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自分の名前のフォルダを追加</a:t>
            </a:r>
            <a:r>
              <a:rPr lang="ja-JP" altLang="en-US" sz="2400" dirty="0">
                <a:latin typeface="HGS創英角ｺﾞｼｯｸUB" panose="020B0900000000000000" pitchFamily="50" charset="-128"/>
                <a:ea typeface="HGS創英角ｺﾞｼｯｸUB" panose="020B0900000000000000" pitchFamily="50" charset="-128"/>
              </a:rPr>
              <a:t>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このフォルダが、皆さんがデータを保存するフォルダとなります。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DF760994-1068-4D6F-91C7-497EC15298CF}"/>
              </a:ext>
            </a:extLst>
          </p:cNvPr>
          <p:cNvPicPr>
            <a:picLocks noChangeAspect="1"/>
          </p:cNvPicPr>
          <p:nvPr/>
        </p:nvPicPr>
        <p:blipFill>
          <a:blip r:embed="rId2"/>
          <a:stretch>
            <a:fillRect/>
          </a:stretch>
        </p:blipFill>
        <p:spPr>
          <a:xfrm>
            <a:off x="567542" y="2187126"/>
            <a:ext cx="5015006" cy="3454445"/>
          </a:xfrm>
          <a:prstGeom prst="rect">
            <a:avLst/>
          </a:prstGeom>
        </p:spPr>
      </p:pic>
      <p:sp>
        <p:nvSpPr>
          <p:cNvPr id="7" name="矢印: 右 6">
            <a:extLst>
              <a:ext uri="{FF2B5EF4-FFF2-40B4-BE49-F238E27FC236}">
                <a16:creationId xmlns:a16="http://schemas.microsoft.com/office/drawing/2014/main" id="{4F8E71F5-99E4-4501-880F-01DF7AF452BA}"/>
              </a:ext>
            </a:extLst>
          </p:cNvPr>
          <p:cNvSpPr/>
          <p:nvPr/>
        </p:nvSpPr>
        <p:spPr>
          <a:xfrm rot="8485814">
            <a:off x="939328" y="319296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右 7">
            <a:extLst>
              <a:ext uri="{FF2B5EF4-FFF2-40B4-BE49-F238E27FC236}">
                <a16:creationId xmlns:a16="http://schemas.microsoft.com/office/drawing/2014/main" id="{7364B800-80F3-443E-8938-CD68992C6C98}"/>
              </a:ext>
            </a:extLst>
          </p:cNvPr>
          <p:cNvSpPr/>
          <p:nvPr/>
        </p:nvSpPr>
        <p:spPr>
          <a:xfrm rot="13578864">
            <a:off x="1379106" y="459464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757DEB6D-3D19-4160-993D-35BEC3F82552}"/>
              </a:ext>
            </a:extLst>
          </p:cNvPr>
          <p:cNvPicPr>
            <a:picLocks noChangeAspect="1"/>
          </p:cNvPicPr>
          <p:nvPr/>
        </p:nvPicPr>
        <p:blipFill>
          <a:blip r:embed="rId3"/>
          <a:stretch>
            <a:fillRect/>
          </a:stretch>
        </p:blipFill>
        <p:spPr>
          <a:xfrm>
            <a:off x="5993625" y="2187126"/>
            <a:ext cx="3138810" cy="3454445"/>
          </a:xfrm>
          <a:prstGeom prst="rect">
            <a:avLst/>
          </a:prstGeom>
        </p:spPr>
      </p:pic>
      <p:sp>
        <p:nvSpPr>
          <p:cNvPr id="11" name="テキスト ボックス 10">
            <a:extLst>
              <a:ext uri="{FF2B5EF4-FFF2-40B4-BE49-F238E27FC236}">
                <a16:creationId xmlns:a16="http://schemas.microsoft.com/office/drawing/2014/main" id="{4170CB50-05BC-438C-8FE3-686F17E2BAB7}"/>
              </a:ext>
            </a:extLst>
          </p:cNvPr>
          <p:cNvSpPr txBox="1"/>
          <p:nvPr/>
        </p:nvSpPr>
        <p:spPr>
          <a:xfrm>
            <a:off x="567542" y="5904381"/>
            <a:ext cx="10033516"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ショートカットもデスクトップに作っておきましょう。（実演します）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784168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フォルダの中では、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授業の科目ごとにフォルダ分け</a:t>
            </a:r>
            <a:r>
              <a:rPr lang="ja-JP" altLang="en-US" sz="2400" dirty="0">
                <a:latin typeface="HGS創英角ｺﾞｼｯｸUB" panose="020B0900000000000000" pitchFamily="50" charset="-128"/>
                <a:ea typeface="HGS創英角ｺﾞｼｯｸUB" panose="020B0900000000000000" pitchFamily="50" charset="-128"/>
              </a:rPr>
              <a:t>するときれいに整理できます。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19419B1D-B2FE-4A75-BAAD-979587F5444B}"/>
              </a:ext>
            </a:extLst>
          </p:cNvPr>
          <p:cNvPicPr>
            <a:picLocks noChangeAspect="1"/>
          </p:cNvPicPr>
          <p:nvPr/>
        </p:nvPicPr>
        <p:blipFill>
          <a:blip r:embed="rId2"/>
          <a:stretch>
            <a:fillRect/>
          </a:stretch>
        </p:blipFill>
        <p:spPr>
          <a:xfrm>
            <a:off x="567542" y="2187126"/>
            <a:ext cx="6789991" cy="3539527"/>
          </a:xfrm>
          <a:prstGeom prst="rect">
            <a:avLst/>
          </a:prstGeom>
        </p:spPr>
      </p:pic>
      <p:sp>
        <p:nvSpPr>
          <p:cNvPr id="12" name="テキスト ボックス 11">
            <a:extLst>
              <a:ext uri="{FF2B5EF4-FFF2-40B4-BE49-F238E27FC236}">
                <a16:creationId xmlns:a16="http://schemas.microsoft.com/office/drawing/2014/main" id="{871ED70E-C981-4457-8588-05BF0B505EFC}"/>
              </a:ext>
            </a:extLst>
          </p:cNvPr>
          <p:cNvSpPr txBox="1"/>
          <p:nvPr/>
        </p:nvSpPr>
        <p:spPr>
          <a:xfrm>
            <a:off x="567542" y="5866353"/>
            <a:ext cx="4801314"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常に整理整頓を心がけましょう。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8326887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29524" cy="3046988"/>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社が提供する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クラウドストレージサービス</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これを使えば、</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学校とお家でファイルを共有</a:t>
            </a:r>
            <a:r>
              <a:rPr lang="ja-JP" altLang="en-US" sz="2400" dirty="0">
                <a:latin typeface="HGS創英角ｺﾞｼｯｸUB" panose="020B0900000000000000" pitchFamily="50" charset="-128"/>
                <a:ea typeface="HGS創英角ｺﾞｼｯｸUB" panose="020B0900000000000000" pitchFamily="50" charset="-128"/>
              </a:rPr>
              <a:t>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学校でもらったデータを家でも見たい</a:t>
            </a:r>
            <a:r>
              <a:rPr lang="ja-JP" altLang="en-US" sz="2400" dirty="0">
                <a:latin typeface="HGS創英角ｺﾞｼｯｸUB" panose="020B0900000000000000" pitchFamily="50" charset="-128"/>
                <a:ea typeface="HGS創英角ｺﾞｼｯｸUB" panose="020B0900000000000000" pitchFamily="50" charset="-128"/>
              </a:rPr>
              <a:t>ときや、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家でも課題やゲーム制作をしたい</a:t>
            </a:r>
            <a:r>
              <a:rPr lang="ja-JP" altLang="en-US" sz="2400" dirty="0">
                <a:latin typeface="HGS創英角ｺﾞｼｯｸUB" panose="020B0900000000000000" pitchFamily="50" charset="-128"/>
                <a:ea typeface="HGS創英角ｺﾞｼｯｸUB" panose="020B0900000000000000" pitchFamily="50" charset="-128"/>
              </a:rPr>
              <a:t>ときに使用します。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268297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342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エクスプローラー左の雲のアイコンから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6B5A77D8-D9D5-4F47-8408-2A1393321124}"/>
              </a:ext>
            </a:extLst>
          </p:cNvPr>
          <p:cNvPicPr>
            <a:picLocks noChangeAspect="1"/>
          </p:cNvPicPr>
          <p:nvPr/>
        </p:nvPicPr>
        <p:blipFill>
          <a:blip r:embed="rId2"/>
          <a:stretch>
            <a:fillRect/>
          </a:stretch>
        </p:blipFill>
        <p:spPr>
          <a:xfrm>
            <a:off x="567541" y="1817794"/>
            <a:ext cx="3704787" cy="3567006"/>
          </a:xfrm>
          <a:prstGeom prst="rect">
            <a:avLst/>
          </a:prstGeom>
        </p:spPr>
      </p:pic>
      <p:sp>
        <p:nvSpPr>
          <p:cNvPr id="7" name="矢印: 右 6">
            <a:extLst>
              <a:ext uri="{FF2B5EF4-FFF2-40B4-BE49-F238E27FC236}">
                <a16:creationId xmlns:a16="http://schemas.microsoft.com/office/drawing/2014/main" id="{A90631C9-73A4-4A69-95B3-1F755801C917}"/>
              </a:ext>
            </a:extLst>
          </p:cNvPr>
          <p:cNvSpPr/>
          <p:nvPr/>
        </p:nvSpPr>
        <p:spPr>
          <a:xfrm rot="13578864">
            <a:off x="1725198" y="51569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B540112-23D4-4BF4-9F07-740A17AC35F6}"/>
              </a:ext>
            </a:extLst>
          </p:cNvPr>
          <p:cNvSpPr txBox="1"/>
          <p:nvPr/>
        </p:nvSpPr>
        <p:spPr>
          <a:xfrm>
            <a:off x="567541" y="5905838"/>
            <a:ext cx="802174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初回のみ</a:t>
            </a:r>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アカウントのサインインが必要です。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7830331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56676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家のパソコンでも同じアカウントでサインインすると、</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One</a:t>
            </a:r>
            <a:r>
              <a:rPr lang="ja-JP" altLang="en-US" sz="2400" dirty="0">
                <a:latin typeface="HGS創英角ｺﾞｼｯｸUB" panose="020B0900000000000000" pitchFamily="50" charset="-128"/>
                <a:ea typeface="HGS創英角ｺﾞｼｯｸUB" panose="020B0900000000000000" pitchFamily="50" charset="-128"/>
              </a:rPr>
              <a:t> </a:t>
            </a:r>
            <a:r>
              <a:rPr lang="en-US" altLang="ja-JP" sz="2400" dirty="0">
                <a:latin typeface="HGS創英角ｺﾞｼｯｸUB" panose="020B0900000000000000" pitchFamily="50" charset="-128"/>
                <a:ea typeface="HGS創英角ｺﾞｼｯｸUB" panose="020B0900000000000000" pitchFamily="50" charset="-128"/>
              </a:rPr>
              <a:t>Drive</a:t>
            </a:r>
            <a:r>
              <a:rPr lang="ja-JP" altLang="en-US" sz="2400" dirty="0">
                <a:latin typeface="HGS創英角ｺﾞｼｯｸUB" panose="020B0900000000000000" pitchFamily="50" charset="-128"/>
                <a:ea typeface="HGS創英角ｺﾞｼｯｸUB" panose="020B0900000000000000" pitchFamily="50" charset="-128"/>
              </a:rPr>
              <a:t>に保存されているファイルがすべて表示されます。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E2E6A994-B26A-4AFC-ACE0-FE12E7D390CB}"/>
              </a:ext>
            </a:extLst>
          </p:cNvPr>
          <p:cNvPicPr>
            <a:picLocks noChangeAspect="1"/>
          </p:cNvPicPr>
          <p:nvPr/>
        </p:nvPicPr>
        <p:blipFill>
          <a:blip r:embed="rId2"/>
          <a:stretch>
            <a:fillRect/>
          </a:stretch>
        </p:blipFill>
        <p:spPr>
          <a:xfrm>
            <a:off x="567542" y="2187126"/>
            <a:ext cx="6095725" cy="3177615"/>
          </a:xfrm>
          <a:prstGeom prst="rect">
            <a:avLst/>
          </a:prstGeom>
        </p:spPr>
      </p:pic>
      <p:sp>
        <p:nvSpPr>
          <p:cNvPr id="9" name="テキスト ボックス 8">
            <a:extLst>
              <a:ext uri="{FF2B5EF4-FFF2-40B4-BE49-F238E27FC236}">
                <a16:creationId xmlns:a16="http://schemas.microsoft.com/office/drawing/2014/main" id="{E4B72675-A8DD-4100-8B82-3870E8F87B83}"/>
              </a:ext>
            </a:extLst>
          </p:cNvPr>
          <p:cNvSpPr txBox="1"/>
          <p:nvPr/>
        </p:nvSpPr>
        <p:spPr>
          <a:xfrm>
            <a:off x="567541" y="5504441"/>
            <a:ext cx="4493538" cy="461665"/>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家でも学校でもこうなってる。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026306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038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インターネットブラウザからでもファイルにアクセスできます。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特定のファイルをダウンロードすることもできます。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リンク：</a:t>
            </a:r>
            <a:r>
              <a:rPr lang="ja-JP" altLang="en-US" sz="2400" dirty="0">
                <a:hlinkClick r:id="rId2"/>
              </a:rPr>
              <a:t>個人用ファイル共有とクラウド ストレージ </a:t>
            </a:r>
            <a:r>
              <a:rPr lang="en-US" altLang="ja-JP" sz="2400" dirty="0">
                <a:hlinkClick r:id="rId2"/>
              </a:rPr>
              <a:t>| Microsoft OneDrive</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8F66FDB3-C737-4380-9B39-9045DD36F05B}"/>
              </a:ext>
            </a:extLst>
          </p:cNvPr>
          <p:cNvPicPr>
            <a:picLocks noChangeAspect="1"/>
          </p:cNvPicPr>
          <p:nvPr/>
        </p:nvPicPr>
        <p:blipFill>
          <a:blip r:embed="rId3"/>
          <a:stretch>
            <a:fillRect/>
          </a:stretch>
        </p:blipFill>
        <p:spPr>
          <a:xfrm>
            <a:off x="567542" y="2925789"/>
            <a:ext cx="6906192" cy="3712078"/>
          </a:xfrm>
          <a:prstGeom prst="rect">
            <a:avLst/>
          </a:prstGeom>
        </p:spPr>
      </p:pic>
    </p:spTree>
    <p:extLst>
      <p:ext uri="{BB962C8B-B14F-4D97-AF65-F5344CB8AC3E}">
        <p14:creationId xmlns:p14="http://schemas.microsoft.com/office/powerpoint/2010/main" val="485507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154984"/>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は非常に便利ですが、</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ファイルをインターネット上に保存することとなります。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漏洩してはいけない個人情報などは保存しないように、</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使用する際は注意しましょう。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sz="2400" dirty="0">
                <a:latin typeface="HGS創英角ｺﾞｼｯｸUB" panose="020B0900000000000000" pitchFamily="50" charset="-128"/>
                <a:ea typeface="HGS創英角ｺﾞｼｯｸUB" panose="020B0900000000000000" pitchFamily="50" charset="-128"/>
              </a:rPr>
              <a:t>クラウドストレージサービスとは、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ある会社がデータ保存場所を用意して顧客に使用させるサービスです。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つまり</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に保存したファイルは</a:t>
            </a:r>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社が所有する、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サーバーという巨大なストレージ端末に保存されます。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017792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に保存したデータを編集する際は、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必ず別の場所にコピーしてから編集しましょう。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B90D9805-20EE-4D6B-B653-8C7EBBA4EA79}"/>
              </a:ext>
            </a:extLst>
          </p:cNvPr>
          <p:cNvPicPr>
            <a:picLocks noChangeAspect="1"/>
          </p:cNvPicPr>
          <p:nvPr/>
        </p:nvPicPr>
        <p:blipFill>
          <a:blip r:embed="rId2"/>
          <a:stretch>
            <a:fillRect/>
          </a:stretch>
        </p:blipFill>
        <p:spPr>
          <a:xfrm>
            <a:off x="567542" y="2187126"/>
            <a:ext cx="5757058" cy="2884538"/>
          </a:xfrm>
          <a:prstGeom prst="rect">
            <a:avLst/>
          </a:prstGeom>
        </p:spPr>
      </p:pic>
      <p:sp>
        <p:nvSpPr>
          <p:cNvPr id="5" name="矢印: 右 4">
            <a:extLst>
              <a:ext uri="{FF2B5EF4-FFF2-40B4-BE49-F238E27FC236}">
                <a16:creationId xmlns:a16="http://schemas.microsoft.com/office/drawing/2014/main" id="{454DACC1-F05D-4B41-8BA1-56CB5D9242E7}"/>
              </a:ext>
            </a:extLst>
          </p:cNvPr>
          <p:cNvSpPr/>
          <p:nvPr/>
        </p:nvSpPr>
        <p:spPr>
          <a:xfrm rot="10123919">
            <a:off x="1045735" y="3482497"/>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2899ED0-1DBE-4FBA-9787-D97C572362BA}"/>
              </a:ext>
            </a:extLst>
          </p:cNvPr>
          <p:cNvSpPr txBox="1"/>
          <p:nvPr/>
        </p:nvSpPr>
        <p:spPr>
          <a:xfrm>
            <a:off x="567542" y="5414705"/>
            <a:ext cx="8015336" cy="120032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これは、</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にあるファイルは</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内にはないため、</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直接書き換えると不具合が起きることがあるからです。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（特にプログラム系のファイル）</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8" name="矢印: 右 7">
            <a:extLst>
              <a:ext uri="{FF2B5EF4-FFF2-40B4-BE49-F238E27FC236}">
                <a16:creationId xmlns:a16="http://schemas.microsoft.com/office/drawing/2014/main" id="{B50A8978-DBF6-450A-B072-F18DE47B7107}"/>
              </a:ext>
            </a:extLst>
          </p:cNvPr>
          <p:cNvSpPr/>
          <p:nvPr/>
        </p:nvSpPr>
        <p:spPr>
          <a:xfrm rot="20888996">
            <a:off x="1130401" y="3841380"/>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01B5A4-A5C0-49DE-91AE-98D8B08C57B1}"/>
              </a:ext>
            </a:extLst>
          </p:cNvPr>
          <p:cNvSpPr txBox="1"/>
          <p:nvPr/>
        </p:nvSpPr>
        <p:spPr>
          <a:xfrm>
            <a:off x="1787628" y="4148432"/>
            <a:ext cx="6647974" cy="830997"/>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デスクトップなどにコピーしてから編集する。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編集し終わったら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に戻すこと。</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961159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01248"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北九州校は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大分校と一緒に授業</a:t>
            </a:r>
            <a:r>
              <a:rPr lang="ja-JP" altLang="en-US" sz="2400" dirty="0">
                <a:latin typeface="HGS創英角ｺﾞｼｯｸUB" panose="020B0900000000000000" pitchFamily="50" charset="-128"/>
                <a:ea typeface="HGS創英角ｺﾞｼｯｸUB" panose="020B0900000000000000" pitchFamily="50" charset="-128"/>
              </a:rPr>
              <a:t>を受けます。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２つの学校をつなぐために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2DEF003D-F243-4AA8-AFEC-A5DD5B8D1BFA}"/>
              </a:ext>
            </a:extLst>
          </p:cNvPr>
          <p:cNvPicPr>
            <a:picLocks noChangeAspect="1"/>
          </p:cNvPicPr>
          <p:nvPr/>
        </p:nvPicPr>
        <p:blipFill>
          <a:blip r:embed="rId2"/>
          <a:stretch>
            <a:fillRect/>
          </a:stretch>
        </p:blipFill>
        <p:spPr>
          <a:xfrm>
            <a:off x="567542" y="2187126"/>
            <a:ext cx="7316221" cy="390580"/>
          </a:xfrm>
          <a:prstGeom prst="rect">
            <a:avLst/>
          </a:prstGeom>
        </p:spPr>
      </p:pic>
      <p:sp>
        <p:nvSpPr>
          <p:cNvPr id="11" name="矢印: 右 10">
            <a:extLst>
              <a:ext uri="{FF2B5EF4-FFF2-40B4-BE49-F238E27FC236}">
                <a16:creationId xmlns:a16="http://schemas.microsoft.com/office/drawing/2014/main" id="{54F78AF4-F4C4-40E9-8071-8F77A0F4B57C}"/>
              </a:ext>
            </a:extLst>
          </p:cNvPr>
          <p:cNvSpPr/>
          <p:nvPr/>
        </p:nvSpPr>
        <p:spPr>
          <a:xfrm rot="13578864">
            <a:off x="5518264" y="2413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30622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81672" cy="1938992"/>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とはチームという単位でグループを作り、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そのメンバーでやり取りをするツールです。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１年生は、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ゲーム１年</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_</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北九州＆大分</a:t>
            </a:r>
            <a:r>
              <a:rPr lang="ja-JP" altLang="en-US" sz="2400" dirty="0">
                <a:latin typeface="HGS創英角ｺﾞｼｯｸUB" panose="020B0900000000000000" pitchFamily="50" charset="-128"/>
                <a:ea typeface="HGS創英角ｺﾞｼｯｸUB" panose="020B0900000000000000" pitchFamily="50" charset="-128"/>
              </a:rPr>
              <a:t>」チームで授業を行います。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DAEC0E3-FB1D-4CD1-B08F-88EC7CE93B10}"/>
              </a:ext>
            </a:extLst>
          </p:cNvPr>
          <p:cNvPicPr>
            <a:picLocks noChangeAspect="1"/>
          </p:cNvPicPr>
          <p:nvPr/>
        </p:nvPicPr>
        <p:blipFill>
          <a:blip r:embed="rId2"/>
          <a:stretch>
            <a:fillRect/>
          </a:stretch>
        </p:blipFill>
        <p:spPr>
          <a:xfrm>
            <a:off x="567542" y="3295120"/>
            <a:ext cx="5784506" cy="2419879"/>
          </a:xfrm>
          <a:prstGeom prst="rect">
            <a:avLst/>
          </a:prstGeom>
        </p:spPr>
      </p:pic>
    </p:spTree>
    <p:extLst>
      <p:ext uri="{BB962C8B-B14F-4D97-AF65-F5344CB8AC3E}">
        <p14:creationId xmlns:p14="http://schemas.microsoft.com/office/powerpoint/2010/main" val="3879923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チームの中には授業ごとの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チャネル</a:t>
            </a:r>
            <a:r>
              <a:rPr lang="ja-JP" altLang="en-US" sz="2400" dirty="0">
                <a:latin typeface="HGS創英角ｺﾞｼｯｸUB" panose="020B0900000000000000" pitchFamily="50" charset="-128"/>
                <a:ea typeface="HGS創英角ｺﾞｼｯｸUB" panose="020B0900000000000000" pitchFamily="50" charset="-128"/>
              </a:rPr>
              <a:t>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授業に対応したチャネルで、授業が実施されます。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DEA7E1E6-8788-422A-B57B-F2AEFD6FC953}"/>
              </a:ext>
            </a:extLst>
          </p:cNvPr>
          <p:cNvPicPr>
            <a:picLocks noChangeAspect="1"/>
          </p:cNvPicPr>
          <p:nvPr/>
        </p:nvPicPr>
        <p:blipFill>
          <a:blip r:embed="rId2"/>
          <a:stretch>
            <a:fillRect/>
          </a:stretch>
        </p:blipFill>
        <p:spPr>
          <a:xfrm>
            <a:off x="567542" y="2187126"/>
            <a:ext cx="1948896" cy="4442274"/>
          </a:xfrm>
          <a:prstGeom prst="rect">
            <a:avLst/>
          </a:prstGeom>
        </p:spPr>
      </p:pic>
    </p:spTree>
    <p:extLst>
      <p:ext uri="{BB962C8B-B14F-4D97-AF65-F5344CB8AC3E}">
        <p14:creationId xmlns:p14="http://schemas.microsoft.com/office/powerpoint/2010/main" val="41719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チャネルをクリックするとチャットが開きます。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チャット内にある参加ボタンから、授業に参加することができます。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EF00720E-4213-4C04-8ECA-F318D526F390}"/>
              </a:ext>
            </a:extLst>
          </p:cNvPr>
          <p:cNvPicPr>
            <a:picLocks noChangeAspect="1"/>
          </p:cNvPicPr>
          <p:nvPr/>
        </p:nvPicPr>
        <p:blipFill>
          <a:blip r:embed="rId2"/>
          <a:stretch>
            <a:fillRect/>
          </a:stretch>
        </p:blipFill>
        <p:spPr>
          <a:xfrm>
            <a:off x="567542" y="2187126"/>
            <a:ext cx="9897856" cy="2467319"/>
          </a:xfrm>
          <a:prstGeom prst="rect">
            <a:avLst/>
          </a:prstGeom>
        </p:spPr>
      </p:pic>
      <p:sp>
        <p:nvSpPr>
          <p:cNvPr id="7" name="矢印: 右 6">
            <a:extLst>
              <a:ext uri="{FF2B5EF4-FFF2-40B4-BE49-F238E27FC236}">
                <a16:creationId xmlns:a16="http://schemas.microsoft.com/office/drawing/2014/main" id="{E53BB745-359D-4A65-8B71-D3EF320ADD50}"/>
              </a:ext>
            </a:extLst>
          </p:cNvPr>
          <p:cNvSpPr/>
          <p:nvPr/>
        </p:nvSpPr>
        <p:spPr>
          <a:xfrm rot="13578864">
            <a:off x="9641837" y="4318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A5BECF9-223E-4A13-B18D-54CC3D2A5FD2}"/>
              </a:ext>
            </a:extLst>
          </p:cNvPr>
          <p:cNvSpPr txBox="1"/>
          <p:nvPr/>
        </p:nvSpPr>
        <p:spPr>
          <a:xfrm>
            <a:off x="567541" y="5144963"/>
            <a:ext cx="7263527"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授業開始５分前には参加ボタンが出現しています。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027566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046988"/>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以下は</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の授業の際のルールです。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・話している人以外のマイクは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OFF</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・カメラは常に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・手を挙げるボタンやリアクションは自由に使用して良い</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多くの授業が</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で実施されます。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徐々に慣れていきましょう。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64644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タイピング練習</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それでは残った時間はタイピング練習をしましょう。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タイピングが速いほど授業に余裕が生まれ、習熟度も上がります。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ぜひ、お家でも練習してください。</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■タイピング練習ゲーム寿司打</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https://sushida.net/</a:t>
            </a:r>
          </a:p>
        </p:txBody>
      </p:sp>
    </p:spTree>
    <p:extLst>
      <p:ext uri="{BB962C8B-B14F-4D97-AF65-F5344CB8AC3E}">
        <p14:creationId xmlns:p14="http://schemas.microsoft.com/office/powerpoint/2010/main" val="2792684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341632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３年間でゲーム会社に就職することは、非常に難易度が高いです。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これからのことを心がけて、３年間過ごしましょう。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■心がけてほしいこと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・休まない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・毎日残る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・イベントに参加する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・就職活動時期</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6461734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休まないこと</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79080" cy="452431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専門学校の授業は、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短期間に一気にまとめて知識と技術を叩き込みます。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１日休むだけで、すぐに取り残されてしまいますので、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学校は休まないようにしましょう。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■休む時の例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・感染症</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・ひどい咳やくしゃみでうるさい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など</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周りに迷惑がかかる場合は休むことを考慮しましょう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734062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友達をつくろう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勉強も就活も一人で活動するよりは、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複数人で協力したほうが良い成果が出ます。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友達を作って、困ったときは相談しあえるようにしましょう。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もちろん教職員を頼ってもらっても</a:t>
            </a:r>
            <a:r>
              <a:rPr lang="en-US" altLang="ja-JP" sz="2400" dirty="0">
                <a:latin typeface="HGS創英角ｺﾞｼｯｸUB" panose="020B0900000000000000" pitchFamily="50" charset="-128"/>
                <a:ea typeface="HGS創英角ｺﾞｼｯｸUB" panose="020B0900000000000000" pitchFamily="50" charset="-128"/>
              </a:rPr>
              <a:t>OK</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470804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44525"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毎日残ろう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5923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教室は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17</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時まで</a:t>
            </a:r>
            <a:r>
              <a:rPr lang="ja-JP" altLang="en-US" sz="2400" dirty="0">
                <a:latin typeface="HGS創英角ｺﾞｼｯｸUB" panose="020B0900000000000000" pitchFamily="50" charset="-128"/>
                <a:ea typeface="HGS創英角ｺﾞｼｯｸUB" panose="020B0900000000000000" pitchFamily="50" charset="-128"/>
              </a:rPr>
              <a:t>開放しています。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17</a:t>
            </a:r>
            <a:r>
              <a:rPr lang="ja-JP" altLang="en-US" sz="2400" dirty="0">
                <a:latin typeface="HGS創英角ｺﾞｼｯｸUB" panose="020B0900000000000000" pitchFamily="50" charset="-128"/>
                <a:ea typeface="HGS創英角ｺﾞｼｯｸUB" panose="020B0900000000000000" pitchFamily="50" charset="-128"/>
              </a:rPr>
              <a:t>時まで居残りして、勉強、ゲーム制作をしましょう。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アルバイトはそのあとからにしましょう。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たまにはゲームして遊ぶために残っても大丈夫です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818534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イベントに参加しよう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15498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就職活動では、他の専門学生や大学生がライバルです。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特に学生作品を見ることができるイベントには参加して、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ライバルの実力を把握しましょう。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■主なイベント</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・ゲーム制作展（</a:t>
            </a:r>
            <a:r>
              <a:rPr lang="en-US" altLang="ja-JP" sz="2400" dirty="0">
                <a:latin typeface="HGS創英角ｺﾞｼｯｸUB" panose="020B0900000000000000" pitchFamily="50" charset="-128"/>
                <a:ea typeface="HGS創英角ｺﾞｼｯｸUB" panose="020B0900000000000000" pitchFamily="50" charset="-128"/>
              </a:rPr>
              <a:t>2</a:t>
            </a:r>
            <a:r>
              <a:rPr lang="ja-JP" altLang="en-US" sz="2400" dirty="0">
                <a:latin typeface="HGS創英角ｺﾞｼｯｸUB" panose="020B0900000000000000" pitchFamily="50" charset="-128"/>
                <a:ea typeface="HGS創英角ｺﾞｼｯｸUB" panose="020B0900000000000000" pitchFamily="50" charset="-128"/>
              </a:rPr>
              <a:t>月ごろ、あるある</a:t>
            </a:r>
            <a:r>
              <a:rPr lang="en-US" altLang="ja-JP" sz="2400" dirty="0">
                <a:latin typeface="HGS創英角ｺﾞｼｯｸUB" panose="020B0900000000000000" pitchFamily="50" charset="-128"/>
                <a:ea typeface="HGS創英角ｺﾞｼｯｸUB" panose="020B0900000000000000" pitchFamily="50" charset="-128"/>
              </a:rPr>
              <a:t>City</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・ゲーム展示会（</a:t>
            </a:r>
            <a:r>
              <a:rPr lang="en-US" altLang="ja-JP" sz="2400" dirty="0">
                <a:latin typeface="HGS創英角ｺﾞｼｯｸUB" panose="020B0900000000000000" pitchFamily="50" charset="-128"/>
                <a:ea typeface="HGS創英角ｺﾞｼｯｸUB" panose="020B0900000000000000" pitchFamily="50" charset="-128"/>
              </a:rPr>
              <a:t>1</a:t>
            </a:r>
            <a:r>
              <a:rPr lang="ja-JP" altLang="en-US" sz="2400" dirty="0">
                <a:latin typeface="HGS創英角ｺﾞｼｯｸUB" panose="020B0900000000000000" pitchFamily="50" charset="-128"/>
                <a:ea typeface="HGS創英角ｺﾞｼｯｸUB" panose="020B0900000000000000" pitchFamily="50" charset="-128"/>
              </a:rPr>
              <a:t>月ごろ、福岡校）</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CEDEC+KYUSHU</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11</a:t>
            </a:r>
            <a:r>
              <a:rPr lang="ja-JP" altLang="en-US" sz="2400" dirty="0">
                <a:latin typeface="HGS創英角ｺﾞｼｯｸUB" panose="020B0900000000000000" pitchFamily="50" charset="-128"/>
                <a:ea typeface="HGS創英角ｺﾞｼｯｸUB" panose="020B0900000000000000" pitchFamily="50" charset="-128"/>
              </a:rPr>
              <a:t>月末、九州産業大学）</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もちろんクラスメイトもライバルになります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23051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就職活動時期</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就職活動は最速では２年生の秋にははじまります。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早い人は冬休み前に内定を取ることもあります。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残された時間は短いですので、毎日を大切に過ごしましょう。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7461512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526297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明日の予定は以下の通りです。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楽しい感じでグループワーク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みんなで１つのテーマについて議論しよう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資料作成</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３限目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発表会</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４限目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企業講演　㈱サイバーコネクトツー</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1449686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2677656"/>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a:t>
            </a:r>
            <a:r>
              <a:rPr lang="en-US" altLang="ja-JP" sz="2400" dirty="0">
                <a:latin typeface="HGS創英角ｺﾞｼｯｸUB" panose="020B0900000000000000" pitchFamily="50" charset="-128"/>
                <a:ea typeface="HGS創英角ｺﾞｼｯｸUB" panose="020B0900000000000000" pitchFamily="50" charset="-128"/>
              </a:rPr>
              <a:t>15</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30</a:t>
            </a:r>
            <a:r>
              <a:rPr lang="ja-JP" altLang="en-US" sz="2400" dirty="0">
                <a:latin typeface="HGS創英角ｺﾞｼｯｸUB" panose="020B0900000000000000" pitchFamily="50" charset="-128"/>
                <a:ea typeface="HGS創英角ｺﾞｼｯｸUB" panose="020B0900000000000000" pitchFamily="50" charset="-128"/>
              </a:rPr>
              <a:t>より、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福岡のゲーム会社である㈱サイバーコネクトツー様の企業講演があります。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このように企業から直接講演をすることが今後も多くありますので、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積極的に参加し、モチベーションとしましょう。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また、企業講演に参加する前日には、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企業のホームページなどで、どのような企業なのかを、必ず下調べしましょう。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4218311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427</TotalTime>
  <Words>1474</Words>
  <Application>Microsoft Office PowerPoint</Application>
  <PresentationFormat>ワイド画面</PresentationFormat>
  <Paragraphs>221</Paragraphs>
  <Slides>32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32</vt:i4>
      </vt:variant>
    </vt:vector>
  </HeadingPairs>
  <TitlesOfParts>
    <vt:vector size="37" baseType="lpstr">
      <vt:lpstr>HGS創英角ｺﾞｼｯｸUB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50</cp:revision>
  <dcterms:created xsi:type="dcterms:W3CDTF">2024-08-27T02:15:54Z</dcterms:created>
  <dcterms:modified xsi:type="dcterms:W3CDTF">2026-03-25T07:40:59Z</dcterms:modified>
</cp:coreProperties>
</file>