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4" r:id="rId8"/>
    <p:sldId id="265" r:id="rId9"/>
    <p:sldId id="266" r:id="rId10"/>
    <p:sldId id="267" r:id="rId11"/>
    <p:sldId id="268" r:id="rId12"/>
    <p:sldId id="269" r:id="rId13"/>
    <p:sldId id="263" r:id="rId14"/>
    <p:sldId id="270" r:id="rId1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3" d="100"/>
          <a:sy n="113"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2026/9/17</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2026/9/17</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2026/9/17</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2026/9/17</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2026/9/17</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2026/9/17</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2026/9/17</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2026/9/17</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2026/9/17</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2026/9/17</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2026/9/17</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2026/9/17</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プログラム</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455340" cy="2308324"/>
          </a:xfrm>
          <a:prstGeom prst="rect">
            <a:avLst/>
          </a:prstGeom>
          <a:noFill/>
        </p:spPr>
        <p:txBody>
          <a:bodyPr wrap="none" rtlCol="0">
            <a:spAutoFit/>
          </a:bodyPr>
          <a:lstStyle/>
          <a:p>
            <a:pPr marL="342900" indent="-342900">
              <a:buFont typeface="Arial" panose="020B0604020202020204" pitchFamily="34" charset="0"/>
              <a:buChar char="•"/>
            </a:pPr>
            <a:r>
              <a:rPr kumimoji="1" lang="ja-JP" altLang="en-US" sz="2400" dirty="0"/>
              <a:t>キャリアデザインとは</a:t>
            </a:r>
            <a:endParaRPr kumimoji="1" lang="en-US" altLang="ja-JP" sz="2400" dirty="0"/>
          </a:p>
          <a:p>
            <a:pPr marL="342900" indent="-342900">
              <a:buFont typeface="Arial" panose="020B0604020202020204" pitchFamily="34" charset="0"/>
              <a:buChar char="•"/>
            </a:pPr>
            <a:r>
              <a:rPr lang="ja-JP" altLang="en-US" sz="2400" dirty="0"/>
              <a:t>卒業後の選択肢について</a:t>
            </a:r>
            <a:endParaRPr kumimoji="1" lang="en-US" altLang="ja-JP" sz="2400" dirty="0"/>
          </a:p>
          <a:p>
            <a:pPr marL="342900" indent="-342900">
              <a:buFont typeface="Arial" panose="020B0604020202020204" pitchFamily="34" charset="0"/>
              <a:buChar char="•"/>
            </a:pPr>
            <a:r>
              <a:rPr lang="ja-JP" altLang="en-US" sz="2400" dirty="0"/>
              <a:t>進路、就職の際の注意点</a:t>
            </a:r>
            <a:endParaRPr lang="en-US" altLang="ja-JP" sz="2400" dirty="0"/>
          </a:p>
          <a:p>
            <a:pPr marL="342900" indent="-342900">
              <a:buFont typeface="Arial" panose="020B0604020202020204" pitchFamily="34" charset="0"/>
              <a:buChar char="•"/>
            </a:pPr>
            <a:r>
              <a:rPr kumimoji="1" lang="ja-JP" altLang="en-US" sz="2400" dirty="0"/>
              <a:t>専門学校卒と大学卒の違いについて</a:t>
            </a:r>
            <a:endParaRPr kumimoji="1" lang="en-US" altLang="ja-JP" sz="2400" dirty="0"/>
          </a:p>
          <a:p>
            <a:pPr marL="342900" indent="-342900">
              <a:buFont typeface="Arial" panose="020B0604020202020204" pitchFamily="34" charset="0"/>
              <a:buChar char="•"/>
            </a:pPr>
            <a:r>
              <a:rPr lang="ja-JP" altLang="en-US" sz="2400" dirty="0"/>
              <a:t>大学編入について</a:t>
            </a:r>
            <a:endParaRPr lang="en-US" altLang="ja-JP" sz="2400" dirty="0"/>
          </a:p>
          <a:p>
            <a:pPr marL="342900" indent="-342900">
              <a:buFont typeface="Arial" panose="020B0604020202020204" pitchFamily="34" charset="0"/>
              <a:buChar char="•"/>
            </a:pPr>
            <a:r>
              <a:rPr lang="ja-JP" altLang="en-US" sz="2400" dirty="0"/>
              <a:t>アンケート</a:t>
            </a:r>
            <a:endParaRPr lang="en-US" altLang="ja-JP" sz="2400" dirty="0"/>
          </a:p>
        </p:txBody>
      </p:sp>
    </p:spTree>
    <p:extLst>
      <p:ext uri="{BB962C8B-B14F-4D97-AF65-F5344CB8AC3E}">
        <p14:creationId xmlns:p14="http://schemas.microsoft.com/office/powerpoint/2010/main" val="38792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キャリアデザインとは</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33516" cy="3785652"/>
          </a:xfrm>
          <a:prstGeom prst="rect">
            <a:avLst/>
          </a:prstGeom>
          <a:noFill/>
        </p:spPr>
        <p:txBody>
          <a:bodyPr wrap="none" rtlCol="0">
            <a:spAutoFit/>
          </a:bodyPr>
          <a:lstStyle/>
          <a:p>
            <a:r>
              <a:rPr lang="ja-JP" altLang="en-US" sz="2400" b="1" dirty="0">
                <a:solidFill>
                  <a:srgbClr val="FF0000"/>
                </a:solidFill>
              </a:rPr>
              <a:t>キャリアデザイン</a:t>
            </a:r>
            <a:r>
              <a:rPr lang="ja-JP" altLang="en-US" sz="2400" dirty="0"/>
              <a:t>とは、</a:t>
            </a:r>
            <a:endParaRPr lang="en-US" altLang="ja-JP" sz="2400" dirty="0"/>
          </a:p>
          <a:p>
            <a:r>
              <a:rPr lang="ja-JP" altLang="en-US" sz="2400" b="1" dirty="0">
                <a:solidFill>
                  <a:srgbClr val="FF0000"/>
                </a:solidFill>
              </a:rPr>
              <a:t>社会人としてどのような経験を積み重ねるか</a:t>
            </a:r>
            <a:r>
              <a:rPr lang="ja-JP" altLang="en-US" sz="2400" dirty="0"/>
              <a:t>を考えることです。</a:t>
            </a:r>
            <a:endParaRPr lang="en-US" altLang="ja-JP" sz="2400" dirty="0"/>
          </a:p>
          <a:p>
            <a:endParaRPr lang="en-US" altLang="ja-JP" sz="2400" dirty="0"/>
          </a:p>
          <a:p>
            <a:r>
              <a:rPr lang="ja-JP" altLang="en-US" sz="2400" dirty="0"/>
              <a:t>みなさんは学校を卒業した後のことをどれほど考えているでしょうか？</a:t>
            </a:r>
            <a:endParaRPr lang="en-US" altLang="ja-JP" sz="2400" dirty="0"/>
          </a:p>
          <a:p>
            <a:endParaRPr lang="en-US" altLang="ja-JP" sz="2400" dirty="0"/>
          </a:p>
          <a:p>
            <a:r>
              <a:rPr lang="ja-JP" altLang="en-US" sz="2400" dirty="0"/>
              <a:t>・ゲーム会社に就職したい</a:t>
            </a:r>
            <a:endParaRPr lang="en-US" altLang="ja-JP" sz="2400" dirty="0"/>
          </a:p>
          <a:p>
            <a:r>
              <a:rPr lang="ja-JP" altLang="en-US" sz="2400" dirty="0"/>
              <a:t>・一般職で働いてゲーム作りは趣味で</a:t>
            </a:r>
            <a:endParaRPr lang="en-US" altLang="ja-JP" sz="2400" dirty="0"/>
          </a:p>
          <a:p>
            <a:r>
              <a:rPr lang="ja-JP" altLang="en-US" sz="2400" dirty="0"/>
              <a:t>・大学に編入したい</a:t>
            </a:r>
            <a:endParaRPr lang="en-US" altLang="ja-JP" sz="2400" dirty="0"/>
          </a:p>
          <a:p>
            <a:endParaRPr lang="en-US" altLang="ja-JP" sz="2400" dirty="0"/>
          </a:p>
          <a:p>
            <a:r>
              <a:rPr lang="ja-JP" altLang="en-US" sz="2400" dirty="0"/>
              <a:t>色々な考え方や選択肢が存在します。</a:t>
            </a:r>
            <a:endParaRPr lang="en-US" altLang="ja-JP" sz="2400" dirty="0"/>
          </a:p>
        </p:txBody>
      </p:sp>
    </p:spTree>
    <p:extLst>
      <p:ext uri="{BB962C8B-B14F-4D97-AF65-F5344CB8AC3E}">
        <p14:creationId xmlns:p14="http://schemas.microsoft.com/office/powerpoint/2010/main" val="1717571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キャリアデザインとは</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2308324"/>
          </a:xfrm>
          <a:prstGeom prst="rect">
            <a:avLst/>
          </a:prstGeom>
          <a:noFill/>
        </p:spPr>
        <p:txBody>
          <a:bodyPr wrap="none" rtlCol="0">
            <a:spAutoFit/>
          </a:bodyPr>
          <a:lstStyle/>
          <a:p>
            <a:r>
              <a:rPr lang="ja-JP" altLang="en-US" sz="2400" dirty="0"/>
              <a:t>・ゲーム会社に就職したい</a:t>
            </a:r>
            <a:endParaRPr lang="en-US" altLang="ja-JP" sz="2400" dirty="0"/>
          </a:p>
          <a:p>
            <a:r>
              <a:rPr lang="ja-JP" altLang="en-US" sz="2400" dirty="0"/>
              <a:t>・一般職で働いてゲーム作りは趣味で</a:t>
            </a:r>
            <a:endParaRPr lang="en-US" altLang="ja-JP" sz="2400" dirty="0"/>
          </a:p>
          <a:p>
            <a:r>
              <a:rPr lang="ja-JP" altLang="en-US" sz="2400" dirty="0"/>
              <a:t>・大学に編入したい</a:t>
            </a:r>
            <a:endParaRPr lang="en-US" altLang="ja-JP" sz="2400" dirty="0"/>
          </a:p>
          <a:p>
            <a:endParaRPr lang="en-US" altLang="ja-JP" sz="2400" dirty="0"/>
          </a:p>
          <a:p>
            <a:r>
              <a:rPr lang="ja-JP" altLang="en-US" sz="2400" dirty="0"/>
              <a:t>これだけではキャリアデザインとしてはとても</a:t>
            </a:r>
            <a:r>
              <a:rPr lang="ja-JP" altLang="en-US" sz="2400" b="1" dirty="0">
                <a:solidFill>
                  <a:srgbClr val="0070C0"/>
                </a:solidFill>
              </a:rPr>
              <a:t>薄い</a:t>
            </a:r>
            <a:r>
              <a:rPr lang="ja-JP" altLang="en-US" sz="2400" dirty="0"/>
              <a:t>です。</a:t>
            </a:r>
            <a:endParaRPr lang="en-US" altLang="ja-JP" sz="2400" dirty="0"/>
          </a:p>
          <a:p>
            <a:r>
              <a:rPr lang="ja-JP" altLang="en-US" sz="2400" dirty="0"/>
              <a:t>では、どういったものかを見てみましょう。</a:t>
            </a:r>
            <a:endParaRPr lang="en-US" altLang="ja-JP" sz="2400" dirty="0"/>
          </a:p>
        </p:txBody>
      </p:sp>
    </p:spTree>
    <p:extLst>
      <p:ext uri="{BB962C8B-B14F-4D97-AF65-F5344CB8AC3E}">
        <p14:creationId xmlns:p14="http://schemas.microsoft.com/office/powerpoint/2010/main" val="895340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キャリアデザインとは</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660564" cy="3046988"/>
          </a:xfrm>
          <a:prstGeom prst="rect">
            <a:avLst/>
          </a:prstGeom>
          <a:noFill/>
        </p:spPr>
        <p:txBody>
          <a:bodyPr wrap="none" rtlCol="0">
            <a:spAutoFit/>
          </a:bodyPr>
          <a:lstStyle/>
          <a:p>
            <a:r>
              <a:rPr lang="en-US" altLang="ja-JP" sz="2400" dirty="0"/>
              <a:t>【</a:t>
            </a:r>
            <a:r>
              <a:rPr lang="ja-JP" altLang="en-US" sz="2400" dirty="0"/>
              <a:t>専門卒でのキャリア例</a:t>
            </a:r>
            <a:r>
              <a:rPr lang="en-US" altLang="ja-JP" sz="2400" dirty="0"/>
              <a:t>】 </a:t>
            </a:r>
          </a:p>
          <a:p>
            <a:r>
              <a:rPr lang="en-US" altLang="ja-JP" sz="2400" b="1" dirty="0">
                <a:solidFill>
                  <a:srgbClr val="00B050"/>
                </a:solidFill>
              </a:rPr>
              <a:t>● A</a:t>
            </a:r>
            <a:r>
              <a:rPr lang="ja-JP" altLang="en-US" sz="2400" b="1" dirty="0">
                <a:solidFill>
                  <a:srgbClr val="00B050"/>
                </a:solidFill>
              </a:rPr>
              <a:t>さん（専門卒）</a:t>
            </a:r>
            <a:endParaRPr lang="en-US" altLang="ja-JP" sz="2400" b="1" dirty="0">
              <a:solidFill>
                <a:srgbClr val="00B050"/>
              </a:solidFill>
            </a:endParaRPr>
          </a:p>
          <a:p>
            <a:r>
              <a:rPr lang="ja-JP" altLang="en-US" sz="2400" dirty="0"/>
              <a:t>専門学校で簿記の学習を通じて高い会計知識と</a:t>
            </a:r>
            <a:r>
              <a:rPr lang="en-US" altLang="ja-JP" sz="2400" dirty="0"/>
              <a:t>PC</a:t>
            </a:r>
            <a:r>
              <a:rPr lang="ja-JP" altLang="en-US" sz="2400" dirty="0"/>
              <a:t>実習を通じて</a:t>
            </a:r>
            <a:endParaRPr lang="en-US" altLang="ja-JP" sz="2400" dirty="0"/>
          </a:p>
          <a:p>
            <a:r>
              <a:rPr lang="en-US" altLang="ja-JP" sz="2400" dirty="0"/>
              <a:t>Excel</a:t>
            </a:r>
            <a:r>
              <a:rPr lang="ja-JP" altLang="en-US" sz="2400" dirty="0"/>
              <a:t>、</a:t>
            </a:r>
            <a:r>
              <a:rPr lang="en-US" altLang="ja-JP" sz="2400" dirty="0"/>
              <a:t>Word</a:t>
            </a:r>
            <a:r>
              <a:rPr lang="ja-JP" altLang="en-US" sz="2400" dirty="0"/>
              <a:t>等の操作技術を 修得した。 </a:t>
            </a:r>
            <a:endParaRPr lang="en-US" altLang="ja-JP" sz="2400" dirty="0"/>
          </a:p>
          <a:p>
            <a:r>
              <a:rPr lang="ja-JP" altLang="en-US" sz="2400" dirty="0"/>
              <a:t>卒業後は中堅の製造業に経理職として入社。</a:t>
            </a:r>
            <a:endParaRPr lang="en-US" altLang="ja-JP" sz="2400" dirty="0"/>
          </a:p>
          <a:p>
            <a:r>
              <a:rPr lang="ja-JP" altLang="en-US" sz="2400" b="1" dirty="0">
                <a:solidFill>
                  <a:srgbClr val="FF0000"/>
                </a:solidFill>
              </a:rPr>
              <a:t>経理部門の即戦力として活躍</a:t>
            </a:r>
            <a:r>
              <a:rPr lang="ja-JP" altLang="en-US" sz="2400" dirty="0"/>
              <a:t>し、</a:t>
            </a:r>
            <a:endParaRPr lang="en-US" altLang="ja-JP" sz="2400" dirty="0"/>
          </a:p>
          <a:p>
            <a:r>
              <a:rPr lang="ja-JP" altLang="en-US" sz="2400" b="1" dirty="0">
                <a:solidFill>
                  <a:srgbClr val="FF0000"/>
                </a:solidFill>
              </a:rPr>
              <a:t>月次決算や原価計 算などの実務の経験を重ねることで着実に専門性を高めている。</a:t>
            </a:r>
            <a:endParaRPr lang="en-US" altLang="ja-JP" sz="2400" b="1" dirty="0">
              <a:solidFill>
                <a:srgbClr val="FF0000"/>
              </a:solidFill>
            </a:endParaRPr>
          </a:p>
          <a:p>
            <a:r>
              <a:rPr lang="ja-JP" altLang="en-US" sz="2400" dirty="0"/>
              <a:t>将来は</a:t>
            </a:r>
            <a:r>
              <a:rPr lang="ja-JP" altLang="en-US" sz="2400" b="1" dirty="0">
                <a:solidFill>
                  <a:srgbClr val="FF0000"/>
                </a:solidFill>
              </a:rPr>
              <a:t>経理のプロ</a:t>
            </a:r>
            <a:r>
              <a:rPr lang="ja-JP" altLang="en-US" sz="2400" dirty="0"/>
              <a:t>として、より </a:t>
            </a:r>
            <a:r>
              <a:rPr lang="ja-JP" altLang="en-US" sz="2400" b="1" dirty="0">
                <a:solidFill>
                  <a:srgbClr val="FF0000"/>
                </a:solidFill>
              </a:rPr>
              <a:t>高度な会計分野にも関わる</a:t>
            </a:r>
            <a:r>
              <a:rPr lang="ja-JP" altLang="en-US" sz="2400" dirty="0"/>
              <a:t>ことを目指している。</a:t>
            </a:r>
            <a:endParaRPr lang="en-US" altLang="ja-JP" sz="2400" dirty="0"/>
          </a:p>
        </p:txBody>
      </p:sp>
    </p:spTree>
    <p:extLst>
      <p:ext uri="{BB962C8B-B14F-4D97-AF65-F5344CB8AC3E}">
        <p14:creationId xmlns:p14="http://schemas.microsoft.com/office/powerpoint/2010/main" val="2978944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キャリアデザインとは</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458586" cy="3416320"/>
          </a:xfrm>
          <a:prstGeom prst="rect">
            <a:avLst/>
          </a:prstGeom>
          <a:noFill/>
        </p:spPr>
        <p:txBody>
          <a:bodyPr wrap="none" rtlCol="0">
            <a:spAutoFit/>
          </a:bodyPr>
          <a:lstStyle/>
          <a:p>
            <a:r>
              <a:rPr lang="en-US" altLang="ja-JP" sz="2400" dirty="0"/>
              <a:t>【</a:t>
            </a:r>
            <a:r>
              <a:rPr lang="ja-JP" altLang="en-US" sz="2400" dirty="0"/>
              <a:t>大学併修コース卒でのキャリア例</a:t>
            </a:r>
            <a:r>
              <a:rPr lang="en-US" altLang="ja-JP" sz="2400" dirty="0"/>
              <a:t>】 </a:t>
            </a:r>
          </a:p>
          <a:p>
            <a:r>
              <a:rPr lang="en-US" altLang="ja-JP" sz="2400" b="1" dirty="0">
                <a:solidFill>
                  <a:srgbClr val="00B050"/>
                </a:solidFill>
              </a:rPr>
              <a:t>● B</a:t>
            </a:r>
            <a:r>
              <a:rPr lang="ja-JP" altLang="en-US" sz="2400" b="1" dirty="0">
                <a:solidFill>
                  <a:srgbClr val="00B050"/>
                </a:solidFill>
              </a:rPr>
              <a:t>さん（大学併修）</a:t>
            </a:r>
            <a:endParaRPr lang="en-US" altLang="ja-JP" sz="2400" b="1" dirty="0">
              <a:solidFill>
                <a:srgbClr val="00B050"/>
              </a:solidFill>
            </a:endParaRPr>
          </a:p>
          <a:p>
            <a:r>
              <a:rPr lang="ja-JP" altLang="en-US" sz="2400" dirty="0"/>
              <a:t> </a:t>
            </a:r>
            <a:r>
              <a:rPr lang="en-US" altLang="ja-JP" sz="2400" dirty="0"/>
              <a:t>A</a:t>
            </a:r>
            <a:r>
              <a:rPr lang="ja-JP" altLang="en-US" sz="2400" dirty="0"/>
              <a:t>さんと同じく専門学校で簿記と</a:t>
            </a:r>
            <a:r>
              <a:rPr lang="en-US" altLang="ja-JP" sz="2400" dirty="0"/>
              <a:t>PC</a:t>
            </a:r>
            <a:r>
              <a:rPr lang="ja-JP" altLang="en-US" sz="2400" dirty="0"/>
              <a:t>スキルを身につけ、</a:t>
            </a:r>
            <a:endParaRPr lang="en-US" altLang="ja-JP" sz="2400" dirty="0"/>
          </a:p>
          <a:p>
            <a:r>
              <a:rPr lang="ja-JP" altLang="en-US" sz="2400" dirty="0"/>
              <a:t>その後は大学併修コースに進学し経営学を学んだ。</a:t>
            </a:r>
            <a:endParaRPr lang="en-US" altLang="ja-JP" sz="2400" dirty="0"/>
          </a:p>
          <a:p>
            <a:r>
              <a:rPr lang="ja-JP" altLang="en-US" sz="2400" dirty="0"/>
              <a:t>卒業後は大学卒として大手食品メーカーの総合職として入社。</a:t>
            </a:r>
            <a:endParaRPr lang="en-US" altLang="ja-JP" sz="2400" dirty="0"/>
          </a:p>
          <a:p>
            <a:r>
              <a:rPr lang="ja-JP" altLang="en-US" sz="2400" dirty="0"/>
              <a:t>営業部門に配属され、チームでの 提案営業や取引先への販売戦略提案を担当。</a:t>
            </a:r>
            <a:endParaRPr lang="en-US" altLang="ja-JP" sz="2400" dirty="0"/>
          </a:p>
          <a:p>
            <a:r>
              <a:rPr lang="ja-JP" altLang="en-US" sz="2400" dirty="0"/>
              <a:t>専門学校で学んだ簿記、</a:t>
            </a:r>
            <a:r>
              <a:rPr lang="en-US" altLang="ja-JP" sz="2400" dirty="0"/>
              <a:t>PC</a:t>
            </a:r>
            <a:r>
              <a:rPr lang="ja-JP" altLang="en-US" sz="2400" dirty="0"/>
              <a:t>操作に加え、大学で学 んだ経営学の深い知識を武器に</a:t>
            </a:r>
            <a:endParaRPr lang="en-US" altLang="ja-JP" sz="2400" dirty="0"/>
          </a:p>
          <a:p>
            <a:r>
              <a:rPr lang="en-US" altLang="ja-JP" sz="2400" b="1" dirty="0">
                <a:solidFill>
                  <a:srgbClr val="FF0000"/>
                </a:solidFill>
              </a:rPr>
              <a:t>3</a:t>
            </a:r>
            <a:r>
              <a:rPr lang="ja-JP" altLang="en-US" sz="2400" b="1" dirty="0">
                <a:solidFill>
                  <a:srgbClr val="FF0000"/>
                </a:solidFill>
              </a:rPr>
              <a:t>年目には社内プロジェクトに参画</a:t>
            </a:r>
            <a:r>
              <a:rPr lang="ja-JP" altLang="en-US" sz="2400" dirty="0"/>
              <a:t>し、</a:t>
            </a:r>
            <a:r>
              <a:rPr lang="ja-JP" altLang="en-US" sz="2400" b="1" dirty="0">
                <a:solidFill>
                  <a:srgbClr val="FF0000"/>
                </a:solidFill>
              </a:rPr>
              <a:t>業務フローの見直し</a:t>
            </a:r>
            <a:r>
              <a:rPr lang="ja-JP" altLang="en-US" sz="2400" dirty="0"/>
              <a:t>を提案。</a:t>
            </a:r>
            <a:endParaRPr lang="en-US" altLang="ja-JP" sz="2400" dirty="0"/>
          </a:p>
          <a:p>
            <a:r>
              <a:rPr lang="ja-JP" altLang="en-US" sz="2400" dirty="0"/>
              <a:t>その成果が認められ、現在は</a:t>
            </a:r>
            <a:r>
              <a:rPr lang="ja-JP" altLang="en-US" sz="2400" b="1" dirty="0">
                <a:solidFill>
                  <a:srgbClr val="FF0000"/>
                </a:solidFill>
              </a:rPr>
              <a:t>管理職候補</a:t>
            </a:r>
            <a:r>
              <a:rPr lang="ja-JP" altLang="en-US" sz="2400" dirty="0"/>
              <a:t>として育成プログラムに参加中。</a:t>
            </a:r>
            <a:endParaRPr lang="en-US" altLang="ja-JP" sz="2400" dirty="0"/>
          </a:p>
        </p:txBody>
      </p:sp>
    </p:spTree>
    <p:extLst>
      <p:ext uri="{BB962C8B-B14F-4D97-AF65-F5344CB8AC3E}">
        <p14:creationId xmlns:p14="http://schemas.microsoft.com/office/powerpoint/2010/main" val="2581627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キャリアデザインとは</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33516" cy="3785652"/>
          </a:xfrm>
          <a:prstGeom prst="rect">
            <a:avLst/>
          </a:prstGeom>
          <a:noFill/>
        </p:spPr>
        <p:txBody>
          <a:bodyPr wrap="none" rtlCol="0">
            <a:spAutoFit/>
          </a:bodyPr>
          <a:lstStyle/>
          <a:p>
            <a:r>
              <a:rPr lang="ja-JP" altLang="en-US" sz="2400" dirty="0"/>
              <a:t>このように、キャリアデザインとは、</a:t>
            </a:r>
            <a:endParaRPr lang="en-US" altLang="ja-JP" sz="2400" dirty="0"/>
          </a:p>
          <a:p>
            <a:endParaRPr lang="en-US" altLang="ja-JP" sz="2400" dirty="0"/>
          </a:p>
          <a:p>
            <a:r>
              <a:rPr lang="ja-JP" altLang="en-US" sz="2400" b="1" dirty="0">
                <a:solidFill>
                  <a:srgbClr val="FF0000"/>
                </a:solidFill>
              </a:rPr>
              <a:t>・どのように働き</a:t>
            </a:r>
            <a:endParaRPr lang="en-US" altLang="ja-JP" sz="2400" b="1" dirty="0">
              <a:solidFill>
                <a:srgbClr val="FF0000"/>
              </a:solidFill>
            </a:endParaRPr>
          </a:p>
          <a:p>
            <a:r>
              <a:rPr lang="ja-JP" altLang="en-US" sz="2400" b="1" dirty="0">
                <a:solidFill>
                  <a:srgbClr val="FF0000"/>
                </a:solidFill>
              </a:rPr>
              <a:t>・どのように活躍し</a:t>
            </a:r>
            <a:endParaRPr lang="en-US" altLang="ja-JP" sz="2400" b="1" dirty="0">
              <a:solidFill>
                <a:srgbClr val="FF0000"/>
              </a:solidFill>
            </a:endParaRPr>
          </a:p>
          <a:p>
            <a:r>
              <a:rPr lang="ja-JP" altLang="en-US" sz="2400" b="1" dirty="0">
                <a:solidFill>
                  <a:srgbClr val="FF0000"/>
                </a:solidFill>
              </a:rPr>
              <a:t>・どのような立場を目指すか</a:t>
            </a:r>
            <a:endParaRPr lang="en-US" altLang="ja-JP" sz="2400" b="1" dirty="0">
              <a:solidFill>
                <a:srgbClr val="FF0000"/>
              </a:solidFill>
            </a:endParaRPr>
          </a:p>
          <a:p>
            <a:endParaRPr lang="en-US" altLang="ja-JP" sz="2400" dirty="0"/>
          </a:p>
          <a:p>
            <a:r>
              <a:rPr lang="ja-JP" altLang="en-US" sz="2400" dirty="0"/>
              <a:t>これらについて考え、</a:t>
            </a:r>
            <a:r>
              <a:rPr lang="ja-JP" altLang="en-US" sz="2400" b="1" dirty="0">
                <a:solidFill>
                  <a:srgbClr val="FF0000"/>
                </a:solidFill>
              </a:rPr>
              <a:t>目標</a:t>
            </a:r>
            <a:r>
              <a:rPr lang="ja-JP" altLang="en-US" sz="2400" dirty="0"/>
              <a:t>とすることになります。</a:t>
            </a:r>
            <a:endParaRPr lang="en-US" altLang="ja-JP" sz="2400" dirty="0"/>
          </a:p>
          <a:p>
            <a:endParaRPr lang="en-US" altLang="ja-JP" sz="2400" dirty="0"/>
          </a:p>
          <a:p>
            <a:r>
              <a:rPr lang="ja-JP" altLang="en-US" sz="2400" dirty="0"/>
              <a:t>後に紹介する選択肢も含めて、</a:t>
            </a:r>
            <a:endParaRPr lang="en-US" altLang="ja-JP" sz="2400" dirty="0"/>
          </a:p>
          <a:p>
            <a:r>
              <a:rPr lang="ja-JP" altLang="en-US" sz="2400" dirty="0"/>
              <a:t>これから一緒に考えながら、有意義な専門学校生活を過ごしましょう。</a:t>
            </a:r>
            <a:endParaRPr lang="en-US" altLang="ja-JP" sz="2400" dirty="0"/>
          </a:p>
        </p:txBody>
      </p:sp>
    </p:spTree>
    <p:extLst>
      <p:ext uri="{BB962C8B-B14F-4D97-AF65-F5344CB8AC3E}">
        <p14:creationId xmlns:p14="http://schemas.microsoft.com/office/powerpoint/2010/main" val="3326742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卒業後の選択肢</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417963" cy="4154984"/>
          </a:xfrm>
          <a:prstGeom prst="rect">
            <a:avLst/>
          </a:prstGeom>
          <a:noFill/>
        </p:spPr>
        <p:txBody>
          <a:bodyPr wrap="none" rtlCol="0">
            <a:spAutoFit/>
          </a:bodyPr>
          <a:lstStyle/>
          <a:p>
            <a:r>
              <a:rPr lang="ja-JP" altLang="en-US" sz="2400" dirty="0"/>
              <a:t>ゲームクリエイター科を卒業した</a:t>
            </a:r>
            <a:r>
              <a:rPr lang="ja-JP" altLang="en-US" sz="2400"/>
              <a:t>後の進路について</a:t>
            </a:r>
            <a:r>
              <a:rPr lang="ja-JP" altLang="en-US" sz="2400" dirty="0"/>
              <a:t>考えましょう</a:t>
            </a:r>
            <a:endParaRPr lang="en-US" altLang="ja-JP" sz="2400" dirty="0"/>
          </a:p>
          <a:p>
            <a:endParaRPr lang="en-US" altLang="ja-JP" sz="2400" dirty="0"/>
          </a:p>
          <a:p>
            <a:r>
              <a:rPr lang="ja-JP" altLang="en-US" sz="2400" b="1" dirty="0">
                <a:solidFill>
                  <a:srgbClr val="FF0000"/>
                </a:solidFill>
              </a:rPr>
              <a:t>■考えられる選択肢</a:t>
            </a:r>
            <a:endParaRPr lang="en-US" altLang="ja-JP" sz="2400" b="1" dirty="0">
              <a:solidFill>
                <a:srgbClr val="FF0000"/>
              </a:solidFill>
            </a:endParaRPr>
          </a:p>
          <a:p>
            <a:r>
              <a:rPr lang="ja-JP" altLang="en-US" sz="2400" dirty="0"/>
              <a:t>・ゲーム会社に就職</a:t>
            </a:r>
            <a:endParaRPr lang="en-US" altLang="ja-JP" sz="2400" dirty="0"/>
          </a:p>
          <a:p>
            <a:r>
              <a:rPr lang="ja-JP" altLang="en-US" sz="2400" dirty="0"/>
              <a:t>・ゲーム会社以外の会社に就職</a:t>
            </a:r>
            <a:endParaRPr lang="en-US" altLang="ja-JP" sz="2400" dirty="0"/>
          </a:p>
          <a:p>
            <a:r>
              <a:rPr lang="ja-JP" altLang="en-US" sz="2400" dirty="0"/>
              <a:t>・大学編入</a:t>
            </a:r>
            <a:endParaRPr lang="en-US" altLang="ja-JP" sz="2400" dirty="0"/>
          </a:p>
          <a:p>
            <a:r>
              <a:rPr lang="ja-JP" altLang="en-US" sz="2400" dirty="0"/>
              <a:t>・別の学校に入学</a:t>
            </a:r>
            <a:endParaRPr lang="en-US" altLang="ja-JP" sz="2400" dirty="0"/>
          </a:p>
          <a:p>
            <a:r>
              <a:rPr lang="ja-JP" altLang="en-US" sz="2400" dirty="0"/>
              <a:t>・フリーター</a:t>
            </a:r>
            <a:endParaRPr lang="en-US" altLang="ja-JP" sz="2400" dirty="0"/>
          </a:p>
          <a:p>
            <a:r>
              <a:rPr lang="ja-JP" altLang="en-US" sz="2400" dirty="0"/>
              <a:t>・その他</a:t>
            </a:r>
            <a:endParaRPr lang="en-US" altLang="ja-JP" sz="2400" dirty="0"/>
          </a:p>
          <a:p>
            <a:endParaRPr lang="en-US" altLang="ja-JP" sz="2400" dirty="0"/>
          </a:p>
          <a:p>
            <a:r>
              <a:rPr lang="ja-JP" altLang="en-US" sz="2400" dirty="0"/>
              <a:t>それぞれ、どのような将来があるか見ていきましょう。</a:t>
            </a:r>
            <a:endParaRPr lang="en-US" altLang="ja-JP" sz="2400" dirty="0"/>
          </a:p>
        </p:txBody>
      </p:sp>
    </p:spTree>
    <p:extLst>
      <p:ext uri="{BB962C8B-B14F-4D97-AF65-F5344CB8AC3E}">
        <p14:creationId xmlns:p14="http://schemas.microsoft.com/office/powerpoint/2010/main" val="35706392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卒業後の選択肢</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110186" cy="4154984"/>
          </a:xfrm>
          <a:prstGeom prst="rect">
            <a:avLst/>
          </a:prstGeom>
          <a:noFill/>
        </p:spPr>
        <p:txBody>
          <a:bodyPr wrap="none" rtlCol="0">
            <a:spAutoFit/>
          </a:bodyPr>
          <a:lstStyle/>
          <a:p>
            <a:r>
              <a:rPr lang="ja-JP" altLang="en-US" sz="2400" dirty="0"/>
              <a:t>ゲーム会社に就職した場合にもいろいろな選択肢があります。</a:t>
            </a:r>
            <a:endParaRPr lang="en-US" altLang="ja-JP" sz="2400" dirty="0"/>
          </a:p>
          <a:p>
            <a:endParaRPr lang="en-US" altLang="ja-JP" sz="2400" dirty="0"/>
          </a:p>
          <a:p>
            <a:r>
              <a:rPr lang="ja-JP" altLang="en-US" sz="2400" b="1" dirty="0"/>
              <a:t>・リードプログラマーを目指す</a:t>
            </a:r>
            <a:endParaRPr lang="en-US" altLang="ja-JP" sz="2400" b="1" dirty="0"/>
          </a:p>
          <a:p>
            <a:r>
              <a:rPr lang="ja-JP" altLang="en-US" sz="2400" b="1" dirty="0"/>
              <a:t>・プランナーに転職しディレクターやプロデューサーを目指す</a:t>
            </a:r>
            <a:endParaRPr lang="en-US" altLang="ja-JP" sz="2400" b="1" dirty="0"/>
          </a:p>
          <a:p>
            <a:r>
              <a:rPr lang="ja-JP" altLang="en-US" sz="2400" b="1" dirty="0"/>
              <a:t>・独立してゲーム会社を起業する</a:t>
            </a:r>
            <a:endParaRPr lang="en-US" altLang="ja-JP" sz="2400" b="1" dirty="0"/>
          </a:p>
          <a:p>
            <a:r>
              <a:rPr lang="ja-JP" altLang="en-US" sz="2400" b="1" dirty="0"/>
              <a:t>・独立してインディーゲームクリエイターになる</a:t>
            </a:r>
            <a:endParaRPr lang="en-US" altLang="ja-JP" sz="2400" b="1" dirty="0"/>
          </a:p>
          <a:p>
            <a:r>
              <a:rPr lang="ja-JP" altLang="en-US" sz="2400" b="1" dirty="0"/>
              <a:t>・大手企業への転職を目指す</a:t>
            </a:r>
            <a:endParaRPr lang="en-US" altLang="ja-JP" sz="2400" b="1" dirty="0"/>
          </a:p>
          <a:p>
            <a:r>
              <a:rPr lang="ja-JP" altLang="en-US" sz="2400" b="1" dirty="0"/>
              <a:t>・専門学校の先生を目指す</a:t>
            </a:r>
            <a:endParaRPr lang="en-US" altLang="ja-JP" sz="2400" b="1" dirty="0"/>
          </a:p>
          <a:p>
            <a:endParaRPr lang="en-US" altLang="ja-JP" sz="2400" dirty="0"/>
          </a:p>
          <a:p>
            <a:r>
              <a:rPr lang="ja-JP" altLang="en-US" sz="2400" dirty="0"/>
              <a:t>自分の好きなこと、得意なことによって目指すものは様々です。</a:t>
            </a:r>
            <a:endParaRPr lang="en-US" altLang="ja-JP" sz="2400" dirty="0"/>
          </a:p>
          <a:p>
            <a:r>
              <a:rPr lang="ja-JP" altLang="en-US" sz="2400" dirty="0"/>
              <a:t>自分はどのようになりたいか、今日から考えましょう。</a:t>
            </a:r>
            <a:endParaRPr lang="en-US" altLang="ja-JP" sz="2400" dirty="0"/>
          </a:p>
        </p:txBody>
      </p:sp>
    </p:spTree>
    <p:extLst>
      <p:ext uri="{BB962C8B-B14F-4D97-AF65-F5344CB8AC3E}">
        <p14:creationId xmlns:p14="http://schemas.microsoft.com/office/powerpoint/2010/main" val="1887534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卒業後の選択肢</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2677656"/>
          </a:xfrm>
          <a:prstGeom prst="rect">
            <a:avLst/>
          </a:prstGeom>
          <a:noFill/>
        </p:spPr>
        <p:txBody>
          <a:bodyPr wrap="none" rtlCol="0">
            <a:spAutoFit/>
          </a:bodyPr>
          <a:lstStyle/>
          <a:p>
            <a:r>
              <a:rPr lang="ja-JP" altLang="en-US" sz="2400" dirty="0"/>
              <a:t>ゲーム会社以外の会社に就職する場合は、考え方が変わります</a:t>
            </a:r>
            <a:endParaRPr lang="en-US" altLang="ja-JP" sz="2400" dirty="0"/>
          </a:p>
          <a:p>
            <a:endParaRPr lang="en-US" altLang="ja-JP" sz="2400" dirty="0"/>
          </a:p>
          <a:p>
            <a:r>
              <a:rPr lang="ja-JP" altLang="en-US" sz="2400" b="1" dirty="0"/>
              <a:t>・どこの会社に就職するか（場所的な意味で）</a:t>
            </a:r>
            <a:endParaRPr lang="en-US" altLang="ja-JP" sz="2400" b="1" dirty="0"/>
          </a:p>
          <a:p>
            <a:r>
              <a:rPr lang="ja-JP" altLang="en-US" sz="2400" b="1" dirty="0"/>
              <a:t>・何の会社に就職するか</a:t>
            </a:r>
            <a:endParaRPr lang="en-US" altLang="ja-JP" sz="2400" b="1" dirty="0"/>
          </a:p>
          <a:p>
            <a:r>
              <a:rPr lang="ja-JP" altLang="en-US" sz="2400" b="1" dirty="0"/>
              <a:t>・何の仕事をするのか</a:t>
            </a:r>
            <a:endParaRPr lang="en-US" altLang="ja-JP" sz="2400" b="1" dirty="0"/>
          </a:p>
          <a:p>
            <a:endParaRPr lang="en-US" altLang="ja-JP" sz="2400" dirty="0"/>
          </a:p>
          <a:p>
            <a:r>
              <a:rPr lang="ja-JP" altLang="en-US" sz="2400" dirty="0"/>
              <a:t>範囲が広いので、よく考える必要があります。</a:t>
            </a:r>
            <a:endParaRPr lang="en-US" altLang="ja-JP" sz="2400" dirty="0"/>
          </a:p>
        </p:txBody>
      </p:sp>
    </p:spTree>
    <p:extLst>
      <p:ext uri="{BB962C8B-B14F-4D97-AF65-F5344CB8AC3E}">
        <p14:creationId xmlns:p14="http://schemas.microsoft.com/office/powerpoint/2010/main" val="2360477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卒業後の選択肢</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417963" cy="2308324"/>
          </a:xfrm>
          <a:prstGeom prst="rect">
            <a:avLst/>
          </a:prstGeom>
          <a:noFill/>
        </p:spPr>
        <p:txBody>
          <a:bodyPr wrap="none" rtlCol="0">
            <a:spAutoFit/>
          </a:bodyPr>
          <a:lstStyle/>
          <a:p>
            <a:r>
              <a:rPr lang="ja-JP" altLang="en-US" sz="2400" dirty="0"/>
              <a:t>就職することだけが選択肢ではありません</a:t>
            </a:r>
            <a:endParaRPr lang="en-US" altLang="ja-JP" sz="2400" dirty="0"/>
          </a:p>
          <a:p>
            <a:endParaRPr lang="en-US" altLang="ja-JP" sz="2400" dirty="0"/>
          </a:p>
          <a:p>
            <a:r>
              <a:rPr lang="ja-JP" altLang="en-US" sz="2400" b="1" dirty="0"/>
              <a:t>・違う大学や専門学校に入学する</a:t>
            </a:r>
            <a:endParaRPr lang="en-US" altLang="ja-JP" sz="2400" b="1" dirty="0"/>
          </a:p>
          <a:p>
            <a:r>
              <a:rPr lang="ja-JP" altLang="en-US" sz="2400" b="1"/>
              <a:t>・</a:t>
            </a:r>
            <a:r>
              <a:rPr lang="ja-JP" altLang="en-US" sz="2400" b="1" dirty="0"/>
              <a:t>卒業して大学に編入</a:t>
            </a:r>
            <a:endParaRPr lang="en-US" altLang="ja-JP" sz="2400" b="1" dirty="0"/>
          </a:p>
          <a:p>
            <a:endParaRPr lang="en-US" altLang="ja-JP" sz="2400" dirty="0"/>
          </a:p>
          <a:p>
            <a:r>
              <a:rPr lang="ja-JP" altLang="en-US" sz="2400" dirty="0"/>
              <a:t>目指すものや、やりたいことが変わることは当たり前のことです。</a:t>
            </a:r>
            <a:endParaRPr lang="en-US" altLang="ja-JP" sz="2400" dirty="0"/>
          </a:p>
        </p:txBody>
      </p:sp>
    </p:spTree>
    <p:extLst>
      <p:ext uri="{BB962C8B-B14F-4D97-AF65-F5344CB8AC3E}">
        <p14:creationId xmlns:p14="http://schemas.microsoft.com/office/powerpoint/2010/main" val="3304034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進路、就職の注意点</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572399" cy="4154984"/>
          </a:xfrm>
          <a:prstGeom prst="rect">
            <a:avLst/>
          </a:prstGeom>
          <a:noFill/>
        </p:spPr>
        <p:txBody>
          <a:bodyPr wrap="none" rtlCol="0">
            <a:spAutoFit/>
          </a:bodyPr>
          <a:lstStyle/>
          <a:p>
            <a:r>
              <a:rPr lang="ja-JP" altLang="en-US" sz="2400" dirty="0"/>
              <a:t>進路や就職については、絶対に一人で勝手に進めてはいけません。</a:t>
            </a:r>
            <a:endParaRPr lang="en-US" altLang="ja-JP" sz="2400" dirty="0"/>
          </a:p>
          <a:p>
            <a:endParaRPr lang="en-US" altLang="ja-JP" sz="2400" dirty="0"/>
          </a:p>
          <a:p>
            <a:r>
              <a:rPr lang="ja-JP" altLang="en-US" sz="2400" dirty="0"/>
              <a:t>専門学生の生活には少なくとも、</a:t>
            </a:r>
            <a:endParaRPr lang="en-US" altLang="ja-JP" sz="2400" dirty="0"/>
          </a:p>
          <a:p>
            <a:r>
              <a:rPr lang="ja-JP" altLang="en-US" sz="2400" b="1" dirty="0">
                <a:solidFill>
                  <a:srgbClr val="FF0000"/>
                </a:solidFill>
              </a:rPr>
              <a:t>・面倒を見てくれている保護者の方々</a:t>
            </a:r>
            <a:endParaRPr lang="en-US" altLang="ja-JP" sz="2400" b="1" dirty="0">
              <a:solidFill>
                <a:srgbClr val="FF0000"/>
              </a:solidFill>
            </a:endParaRPr>
          </a:p>
          <a:p>
            <a:r>
              <a:rPr lang="ja-JP" altLang="en-US" sz="2400" b="1" dirty="0">
                <a:solidFill>
                  <a:srgbClr val="FF0000"/>
                </a:solidFill>
              </a:rPr>
              <a:t>・夢の実現をサポートする先生たち</a:t>
            </a:r>
            <a:endParaRPr lang="en-US" altLang="ja-JP" sz="2400" b="1" dirty="0">
              <a:solidFill>
                <a:srgbClr val="FF0000"/>
              </a:solidFill>
            </a:endParaRPr>
          </a:p>
          <a:p>
            <a:r>
              <a:rPr lang="ja-JP" altLang="en-US" sz="2400" dirty="0"/>
              <a:t>が関わっています。</a:t>
            </a:r>
            <a:endParaRPr lang="en-US" altLang="ja-JP" sz="2400" dirty="0"/>
          </a:p>
          <a:p>
            <a:endParaRPr lang="en-US" altLang="ja-JP" sz="2400" dirty="0"/>
          </a:p>
          <a:p>
            <a:r>
              <a:rPr lang="ja-JP" altLang="en-US" sz="2400" dirty="0"/>
              <a:t>その人たちが</a:t>
            </a:r>
            <a:r>
              <a:rPr lang="ja-JP" altLang="en-US" sz="2400" b="1" dirty="0">
                <a:solidFill>
                  <a:srgbClr val="FF0000"/>
                </a:solidFill>
              </a:rPr>
              <a:t>納得して了承できる進路</a:t>
            </a:r>
            <a:r>
              <a:rPr lang="ja-JP" altLang="en-US" sz="2400" dirty="0"/>
              <a:t>を考えないと、</a:t>
            </a:r>
            <a:endParaRPr lang="en-US" altLang="ja-JP" sz="2400" dirty="0"/>
          </a:p>
          <a:p>
            <a:r>
              <a:rPr lang="ja-JP" altLang="en-US" sz="2400" dirty="0"/>
              <a:t>専門学校に通う意味がなくなります。</a:t>
            </a:r>
            <a:endParaRPr lang="en-US" altLang="ja-JP" sz="2400" dirty="0"/>
          </a:p>
          <a:p>
            <a:endParaRPr lang="en-US" altLang="ja-JP" sz="2400" dirty="0"/>
          </a:p>
          <a:p>
            <a:r>
              <a:rPr lang="ja-JP" altLang="en-US" sz="2400" dirty="0"/>
              <a:t>キャリアデザインを考える際は、</a:t>
            </a:r>
            <a:r>
              <a:rPr lang="ja-JP" altLang="en-US" sz="2400" b="1" dirty="0">
                <a:solidFill>
                  <a:srgbClr val="FF0000"/>
                </a:solidFill>
              </a:rPr>
              <a:t>必ず保護者の方と先生に考えを共有</a:t>
            </a:r>
            <a:r>
              <a:rPr lang="ja-JP" altLang="en-US" sz="2400" dirty="0"/>
              <a:t>しましょう。</a:t>
            </a:r>
            <a:endParaRPr lang="en-US" altLang="ja-JP" sz="2400" dirty="0"/>
          </a:p>
        </p:txBody>
      </p:sp>
    </p:spTree>
    <p:extLst>
      <p:ext uri="{BB962C8B-B14F-4D97-AF65-F5344CB8AC3E}">
        <p14:creationId xmlns:p14="http://schemas.microsoft.com/office/powerpoint/2010/main" val="1895347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大学編入について</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33516" cy="2308324"/>
          </a:xfrm>
          <a:prstGeom prst="rect">
            <a:avLst/>
          </a:prstGeom>
          <a:noFill/>
        </p:spPr>
        <p:txBody>
          <a:bodyPr wrap="none" rtlCol="0">
            <a:spAutoFit/>
          </a:bodyPr>
          <a:lstStyle/>
          <a:p>
            <a:r>
              <a:rPr lang="ja-JP" altLang="en-US" sz="2400" dirty="0"/>
              <a:t>ここからは大学編入について紹介します。</a:t>
            </a:r>
            <a:endParaRPr lang="en-US" altLang="ja-JP" sz="2400" dirty="0"/>
          </a:p>
          <a:p>
            <a:r>
              <a:rPr lang="ja-JP" altLang="en-US" sz="2400" dirty="0"/>
              <a:t>大学編入の最大のメリットは、大学卒の称号が得られることです。</a:t>
            </a:r>
            <a:endParaRPr lang="en-US" altLang="ja-JP" sz="2400" dirty="0"/>
          </a:p>
          <a:p>
            <a:endParaRPr lang="en-US" altLang="ja-JP" sz="2400" dirty="0"/>
          </a:p>
          <a:p>
            <a:r>
              <a:rPr lang="ja-JP" altLang="en-US" sz="2400" b="1" dirty="0">
                <a:solidFill>
                  <a:srgbClr val="FF0000"/>
                </a:solidFill>
              </a:rPr>
              <a:t>■大学卒のメリット</a:t>
            </a:r>
            <a:endParaRPr lang="en-US" altLang="ja-JP" sz="2400" b="1" dirty="0">
              <a:solidFill>
                <a:srgbClr val="FF0000"/>
              </a:solidFill>
            </a:endParaRPr>
          </a:p>
          <a:p>
            <a:r>
              <a:rPr lang="ja-JP" altLang="en-US" sz="2400" dirty="0"/>
              <a:t>・大学卒のみ募集する企業に挑戦できる（ゲーム会社に該当はなし）</a:t>
            </a:r>
            <a:endParaRPr lang="en-US" altLang="ja-JP" sz="2400" dirty="0"/>
          </a:p>
          <a:p>
            <a:r>
              <a:rPr lang="ja-JP" altLang="en-US" sz="2400" dirty="0"/>
              <a:t>・入社後は大学卒としての待遇を受けられる</a:t>
            </a:r>
            <a:endParaRPr lang="en-US" altLang="ja-JP" sz="2400" dirty="0"/>
          </a:p>
        </p:txBody>
      </p:sp>
    </p:spTree>
    <p:extLst>
      <p:ext uri="{BB962C8B-B14F-4D97-AF65-F5344CB8AC3E}">
        <p14:creationId xmlns:p14="http://schemas.microsoft.com/office/powerpoint/2010/main" val="3995623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大学編入について</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647974" cy="461665"/>
          </a:xfrm>
          <a:prstGeom prst="rect">
            <a:avLst/>
          </a:prstGeom>
          <a:noFill/>
        </p:spPr>
        <p:txBody>
          <a:bodyPr wrap="none" rtlCol="0">
            <a:spAutoFit/>
          </a:bodyPr>
          <a:lstStyle/>
          <a:p>
            <a:r>
              <a:rPr lang="ja-JP" altLang="en-US" sz="2400" dirty="0"/>
              <a:t>専門学校生と大学生には違いが多くあります。</a:t>
            </a:r>
            <a:endParaRPr lang="en-US" altLang="ja-JP" sz="2400" dirty="0"/>
          </a:p>
        </p:txBody>
      </p:sp>
      <p:pic>
        <p:nvPicPr>
          <p:cNvPr id="3" name="図 2">
            <a:extLst>
              <a:ext uri="{FF2B5EF4-FFF2-40B4-BE49-F238E27FC236}">
                <a16:creationId xmlns:a16="http://schemas.microsoft.com/office/drawing/2014/main" id="{E371AA9C-0396-40D6-AC50-098863D9A55E}"/>
              </a:ext>
            </a:extLst>
          </p:cNvPr>
          <p:cNvPicPr>
            <a:picLocks noChangeAspect="1"/>
          </p:cNvPicPr>
          <p:nvPr/>
        </p:nvPicPr>
        <p:blipFill>
          <a:blip r:embed="rId2"/>
          <a:stretch>
            <a:fillRect/>
          </a:stretch>
        </p:blipFill>
        <p:spPr>
          <a:xfrm>
            <a:off x="213233" y="1678094"/>
            <a:ext cx="5201450" cy="4848922"/>
          </a:xfrm>
          <a:prstGeom prst="rect">
            <a:avLst/>
          </a:prstGeom>
        </p:spPr>
      </p:pic>
      <p:sp>
        <p:nvSpPr>
          <p:cNvPr id="7" name="テキスト ボックス 6">
            <a:extLst>
              <a:ext uri="{FF2B5EF4-FFF2-40B4-BE49-F238E27FC236}">
                <a16:creationId xmlns:a16="http://schemas.microsoft.com/office/drawing/2014/main" id="{76C47D6D-8F50-4A6B-BD8C-8BF9D5FDB822}"/>
              </a:ext>
            </a:extLst>
          </p:cNvPr>
          <p:cNvSpPr txBox="1"/>
          <p:nvPr/>
        </p:nvSpPr>
        <p:spPr>
          <a:xfrm>
            <a:off x="5972469" y="5326687"/>
            <a:ext cx="4801314" cy="1200329"/>
          </a:xfrm>
          <a:prstGeom prst="rect">
            <a:avLst/>
          </a:prstGeom>
          <a:noFill/>
        </p:spPr>
        <p:txBody>
          <a:bodyPr wrap="none" rtlCol="0">
            <a:spAutoFit/>
          </a:bodyPr>
          <a:lstStyle/>
          <a:p>
            <a:r>
              <a:rPr lang="en-US" altLang="ja-JP" sz="2400" b="1" dirty="0">
                <a:solidFill>
                  <a:srgbClr val="00B050"/>
                </a:solidFill>
              </a:rPr>
              <a:t>MEMO</a:t>
            </a:r>
          </a:p>
          <a:p>
            <a:r>
              <a:rPr lang="ja-JP" altLang="en-US" sz="2400" dirty="0"/>
              <a:t>ゲーム会社はちょっと特殊なので</a:t>
            </a:r>
            <a:endParaRPr lang="en-US" altLang="ja-JP" sz="2400" dirty="0"/>
          </a:p>
          <a:p>
            <a:r>
              <a:rPr lang="ja-JP" altLang="en-US" sz="2400" dirty="0"/>
              <a:t>当てはまらない部分も多いです。</a:t>
            </a:r>
            <a:endParaRPr lang="en-US" altLang="ja-JP" sz="2400" dirty="0"/>
          </a:p>
        </p:txBody>
      </p:sp>
    </p:spTree>
    <p:extLst>
      <p:ext uri="{BB962C8B-B14F-4D97-AF65-F5344CB8AC3E}">
        <p14:creationId xmlns:p14="http://schemas.microsoft.com/office/powerpoint/2010/main" val="34885128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大学編入について</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461665"/>
          </a:xfrm>
          <a:prstGeom prst="rect">
            <a:avLst/>
          </a:prstGeom>
          <a:noFill/>
        </p:spPr>
        <p:txBody>
          <a:bodyPr wrap="none" rtlCol="0">
            <a:spAutoFit/>
          </a:bodyPr>
          <a:lstStyle/>
          <a:p>
            <a:r>
              <a:rPr lang="ja-JP" altLang="en-US" sz="2400" dirty="0"/>
              <a:t>実際に大学編入した学生のインタビューを見てみましょう。</a:t>
            </a:r>
            <a:endParaRPr lang="en-US" altLang="ja-JP" sz="2400" dirty="0"/>
          </a:p>
        </p:txBody>
      </p:sp>
    </p:spTree>
    <p:extLst>
      <p:ext uri="{BB962C8B-B14F-4D97-AF65-F5344CB8AC3E}">
        <p14:creationId xmlns:p14="http://schemas.microsoft.com/office/powerpoint/2010/main" val="315640830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318</TotalTime>
  <Words>888</Words>
  <Application>Microsoft Office PowerPoint</Application>
  <PresentationFormat>ワイド画面</PresentationFormat>
  <Paragraphs>120</Paragraphs>
  <Slides>14</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14</vt:i4>
      </vt:variant>
    </vt:vector>
  </HeadingPairs>
  <TitlesOfParts>
    <vt:vector size="18"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34</cp:revision>
  <dcterms:created xsi:type="dcterms:W3CDTF">2024-08-27T02:15:54Z</dcterms:created>
  <dcterms:modified xsi:type="dcterms:W3CDTF">2026-09-17T00:36:50Z</dcterms:modified>
</cp:coreProperties>
</file>