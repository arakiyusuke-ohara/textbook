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64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2026/6/24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9492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2026/6/24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050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2026/6/24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395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2026/6/24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1948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2026/6/24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3274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2026/6/24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306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2026/6/24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9750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66B9C9-A3AA-462B-AA08-59196B1B6C77}" type="datetimeFigureOut">
              <a:rPr kumimoji="1" lang="ja-JP" altLang="en-US" smtClean="0"/>
              <a:t>2026/6/24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8820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2026/6/24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161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2026/6/24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0449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2026/6/24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0599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66B9C9-A3AA-462B-AA08-59196B1B6C77}" type="datetimeFigureOut">
              <a:rPr kumimoji="1" lang="ja-JP" altLang="en-US" smtClean="0"/>
              <a:t>2026/6/24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0506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kumimoji="1"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kumimoji="1"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8240AD-0149-4A72-B81C-F4CCEF127E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5400" dirty="0"/>
              <a:t>ゲーム数学について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5712600-17A1-4B1F-A99C-059848E7D3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/>
              <a:t>ゲーム制作と数学の深い関係とは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15495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3DC0CC0B-2F83-436F-B887-5ABA95BB4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ゲーム数学３大要素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984B9D21-4D92-4C73-A331-BAC6CD54B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ja-JP" altLang="en-US" sz="2800" dirty="0"/>
              <a:t>ゲーム数学に必要な要素</a:t>
            </a:r>
            <a:endParaRPr lang="en-US" altLang="ja-JP" sz="2800" dirty="0"/>
          </a:p>
          <a:p>
            <a:r>
              <a:rPr lang="ja-JP" altLang="en-US" sz="2800" dirty="0"/>
              <a:t>・幾何学</a:t>
            </a:r>
            <a:endParaRPr lang="en-US" altLang="ja-JP" sz="2800" dirty="0"/>
          </a:p>
          <a:p>
            <a:r>
              <a:rPr lang="ja-JP" altLang="en-US" sz="2800" dirty="0"/>
              <a:t>・物理学</a:t>
            </a:r>
            <a:endParaRPr lang="en-US" altLang="ja-JP" sz="2800" dirty="0"/>
          </a:p>
          <a:p>
            <a:r>
              <a:rPr lang="ja-JP" altLang="en-US" sz="2800" dirty="0"/>
              <a:t>・行列</a:t>
            </a:r>
            <a:endParaRPr lang="en-US" altLang="ja-JP" sz="2800" dirty="0"/>
          </a:p>
          <a:p>
            <a:endParaRPr lang="en-US" altLang="ja-JP" sz="2800" dirty="0"/>
          </a:p>
          <a:p>
            <a:r>
              <a:rPr lang="ja-JP" altLang="en-US" sz="2800" dirty="0"/>
              <a:t>知ってたら良いくらいのもの</a:t>
            </a:r>
            <a:endParaRPr lang="en-US" altLang="ja-JP" sz="2800" dirty="0"/>
          </a:p>
          <a:p>
            <a:r>
              <a:rPr lang="ja-JP" altLang="en-US" sz="2800" dirty="0"/>
              <a:t>・確率</a:t>
            </a:r>
            <a:endParaRPr lang="en-US" altLang="ja-JP" sz="2800" dirty="0"/>
          </a:p>
          <a:p>
            <a:r>
              <a:rPr lang="ja-JP" altLang="en-US" sz="2800" dirty="0"/>
              <a:t>・統計学</a:t>
            </a:r>
            <a:endParaRPr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3363756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3DC0CC0B-2F83-436F-B887-5ABA95BB4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幾何学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984B9D21-4D92-4C73-A331-BAC6CD54B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sz="2800" dirty="0"/>
              <a:t>ゲームには</a:t>
            </a:r>
            <a:r>
              <a:rPr lang="ja-JP" altLang="en-US" sz="2800" b="1" dirty="0">
                <a:solidFill>
                  <a:srgbClr val="FF0000"/>
                </a:solidFill>
              </a:rPr>
              <a:t>当たり判定</a:t>
            </a:r>
            <a:r>
              <a:rPr lang="ja-JP" altLang="en-US" sz="2800" dirty="0"/>
              <a:t>という、</a:t>
            </a:r>
            <a:endParaRPr lang="en-US" altLang="ja-JP" sz="2800" dirty="0"/>
          </a:p>
          <a:p>
            <a:r>
              <a:rPr lang="ja-JP" altLang="en-US" sz="2800" b="1" dirty="0">
                <a:solidFill>
                  <a:srgbClr val="FF0000"/>
                </a:solidFill>
              </a:rPr>
              <a:t>物体同士が衝突しているかどうかを判定</a:t>
            </a:r>
            <a:r>
              <a:rPr lang="ja-JP" altLang="en-US" sz="2800" dirty="0"/>
              <a:t>する必要があります。</a:t>
            </a:r>
            <a:endParaRPr lang="en-US" altLang="ja-JP" sz="2800" dirty="0"/>
          </a:p>
          <a:p>
            <a:r>
              <a:rPr lang="ja-JP" altLang="en-US" sz="2800" b="1" dirty="0">
                <a:solidFill>
                  <a:srgbClr val="FF0000"/>
                </a:solidFill>
              </a:rPr>
              <a:t>図形を数学的に理解</a:t>
            </a:r>
            <a:r>
              <a:rPr lang="ja-JP" altLang="en-US" sz="2800" dirty="0"/>
              <a:t>しないと、この判定ができません。</a:t>
            </a:r>
            <a:endParaRPr lang="en-US" altLang="ja-JP" sz="2800" dirty="0"/>
          </a:p>
          <a:p>
            <a:endParaRPr lang="en-US" altLang="ja-JP" sz="2800" dirty="0"/>
          </a:p>
          <a:p>
            <a:r>
              <a:rPr lang="ja-JP" altLang="en-US" sz="2800" dirty="0"/>
              <a:t>　　　　　←ブロックに当たってるから上に乗れる</a:t>
            </a:r>
            <a:endParaRPr lang="en-US" altLang="ja-JP" sz="2800" dirty="0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8CECF874-79CC-4154-B6CE-4DA148BA2B5A}"/>
              </a:ext>
            </a:extLst>
          </p:cNvPr>
          <p:cNvGrpSpPr/>
          <p:nvPr/>
        </p:nvGrpSpPr>
        <p:grpSpPr>
          <a:xfrm>
            <a:off x="1097280" y="3857414"/>
            <a:ext cx="1138518" cy="2142565"/>
            <a:chOff x="1097280" y="3263152"/>
            <a:chExt cx="1138518" cy="2142565"/>
          </a:xfrm>
        </p:grpSpPr>
        <p:sp>
          <p:nvSpPr>
            <p:cNvPr id="4" name="四角形: 角度付き 3">
              <a:extLst>
                <a:ext uri="{FF2B5EF4-FFF2-40B4-BE49-F238E27FC236}">
                  <a16:creationId xmlns:a16="http://schemas.microsoft.com/office/drawing/2014/main" id="{CAA71489-59B2-49D3-A9E4-E25496CA90E0}"/>
                </a:ext>
              </a:extLst>
            </p:cNvPr>
            <p:cNvSpPr/>
            <p:nvPr/>
          </p:nvSpPr>
          <p:spPr>
            <a:xfrm>
              <a:off x="1097280" y="4276164"/>
              <a:ext cx="1138518" cy="1129553"/>
            </a:xfrm>
            <a:prstGeom prst="bevel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スマイル 4">
              <a:extLst>
                <a:ext uri="{FF2B5EF4-FFF2-40B4-BE49-F238E27FC236}">
                  <a16:creationId xmlns:a16="http://schemas.microsoft.com/office/drawing/2014/main" id="{181C93FC-3BF3-401C-9344-7B67289AE481}"/>
                </a:ext>
              </a:extLst>
            </p:cNvPr>
            <p:cNvSpPr/>
            <p:nvPr/>
          </p:nvSpPr>
          <p:spPr>
            <a:xfrm>
              <a:off x="1146586" y="3263152"/>
              <a:ext cx="1039906" cy="1013012"/>
            </a:xfrm>
            <a:prstGeom prst="smileyFac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2615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3DC0CC0B-2F83-436F-B887-5ABA95BB4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物理学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984B9D21-4D92-4C73-A331-BAC6CD54B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sz="2800" dirty="0"/>
              <a:t>ゲームでは</a:t>
            </a:r>
            <a:r>
              <a:rPr lang="ja-JP" altLang="en-US" sz="2800" b="1" dirty="0">
                <a:solidFill>
                  <a:srgbClr val="FF0000"/>
                </a:solidFill>
              </a:rPr>
              <a:t>物を投げたり、発射したり</a:t>
            </a:r>
            <a:r>
              <a:rPr lang="ja-JP" altLang="en-US" sz="2800" dirty="0"/>
              <a:t>することも多いです。</a:t>
            </a:r>
            <a:endParaRPr lang="en-US" altLang="ja-JP" sz="2800" dirty="0"/>
          </a:p>
          <a:p>
            <a:r>
              <a:rPr lang="ja-JP" altLang="en-US" sz="2800" dirty="0"/>
              <a:t>宙に放り出されたものは</a:t>
            </a:r>
            <a:r>
              <a:rPr lang="ja-JP" altLang="en-US" sz="2800" b="1" dirty="0">
                <a:solidFill>
                  <a:srgbClr val="FF0000"/>
                </a:solidFill>
              </a:rPr>
              <a:t>抵抗や重力</a:t>
            </a:r>
            <a:r>
              <a:rPr lang="ja-JP" altLang="en-US" sz="2800" dirty="0"/>
              <a:t>に従って移動します。</a:t>
            </a:r>
            <a:endParaRPr lang="en-US" altLang="ja-JP" sz="2800" dirty="0"/>
          </a:p>
          <a:p>
            <a:r>
              <a:rPr lang="ja-JP" altLang="en-US" sz="2800" dirty="0"/>
              <a:t>これらを計算するためにも物理学の知識が必要です。</a:t>
            </a:r>
            <a:endParaRPr lang="en-US" altLang="ja-JP" sz="2800" dirty="0"/>
          </a:p>
        </p:txBody>
      </p:sp>
      <p:sp>
        <p:nvSpPr>
          <p:cNvPr id="10" name="矢印: 下カーブ 9">
            <a:extLst>
              <a:ext uri="{FF2B5EF4-FFF2-40B4-BE49-F238E27FC236}">
                <a16:creationId xmlns:a16="http://schemas.microsoft.com/office/drawing/2014/main" id="{C8423E2C-2B48-4F49-BDC6-2D9E5D547D4B}"/>
              </a:ext>
            </a:extLst>
          </p:cNvPr>
          <p:cNvSpPr/>
          <p:nvPr/>
        </p:nvSpPr>
        <p:spPr>
          <a:xfrm>
            <a:off x="2689412" y="3693459"/>
            <a:ext cx="6364941" cy="1667435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828B917C-E5F6-41AE-8344-6F8DAD0FC2D5}"/>
              </a:ext>
            </a:extLst>
          </p:cNvPr>
          <p:cNvSpPr/>
          <p:nvPr/>
        </p:nvSpPr>
        <p:spPr>
          <a:xfrm>
            <a:off x="8328212" y="5414982"/>
            <a:ext cx="726141" cy="70821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8745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3DC0CC0B-2F83-436F-B887-5ABA95BB4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行列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コンテンツ プレースホルダー 6">
                <a:extLst>
                  <a:ext uri="{FF2B5EF4-FFF2-40B4-BE49-F238E27FC236}">
                    <a16:creationId xmlns:a16="http://schemas.microsoft.com/office/drawing/2014/main" id="{984B9D21-4D92-4C73-A331-BAC6CD54B8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sz="2800" dirty="0"/>
                  <a:t>３</a:t>
                </a:r>
                <a:r>
                  <a:rPr lang="en-US" altLang="ja-JP" sz="2800" dirty="0"/>
                  <a:t>D</a:t>
                </a:r>
                <a:r>
                  <a:rPr lang="ja-JP" altLang="en-US" sz="2800" dirty="0"/>
                  <a:t>のゲームでは</a:t>
                </a:r>
                <a:r>
                  <a:rPr lang="ja-JP" altLang="en-US" sz="2800" b="1" dirty="0">
                    <a:solidFill>
                      <a:srgbClr val="FF0000"/>
                    </a:solidFill>
                  </a:rPr>
                  <a:t>立体的な移動、回転、拡縮</a:t>
                </a:r>
                <a:r>
                  <a:rPr lang="ja-JP" altLang="en-US" sz="2800" dirty="0"/>
                  <a:t>が必要です。</a:t>
                </a:r>
                <a:endParaRPr lang="en-US" altLang="ja-JP" sz="2800" dirty="0"/>
              </a:p>
              <a:p>
                <a:r>
                  <a:rPr lang="ja-JP" altLang="en-US" sz="2800" dirty="0"/>
                  <a:t>それらを計算するためには</a:t>
                </a:r>
                <a:r>
                  <a:rPr lang="ja-JP" altLang="en-US" sz="2800" b="1" dirty="0">
                    <a:solidFill>
                      <a:srgbClr val="FF0000"/>
                    </a:solidFill>
                  </a:rPr>
                  <a:t>行列</a:t>
                </a:r>
                <a:r>
                  <a:rPr lang="ja-JP" altLang="en-US" sz="2800" dirty="0"/>
                  <a:t>の知識が必要です。</a:t>
                </a:r>
                <a:endParaRPr lang="en-US" altLang="ja-JP" sz="2800" dirty="0"/>
              </a:p>
              <a:p>
                <a:endParaRPr lang="en-US" altLang="ja-JP" sz="2800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ja-JP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8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ja-JP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ja-JP" sz="2800" dirty="0"/>
              </a:p>
            </p:txBody>
          </p:sp>
        </mc:Choice>
        <mc:Fallback xmlns="">
          <p:sp>
            <p:nvSpPr>
              <p:cNvPr id="7" name="コンテンツ プレースホルダー 6">
                <a:extLst>
                  <a:ext uri="{FF2B5EF4-FFF2-40B4-BE49-F238E27FC236}">
                    <a16:creationId xmlns:a16="http://schemas.microsoft.com/office/drawing/2014/main" id="{984B9D21-4D92-4C73-A331-BAC6CD54B8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30" t="-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7883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3DC0CC0B-2F83-436F-B887-5ABA95BB4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入社試験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984B9D21-4D92-4C73-A331-BAC6CD54B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sz="2800" dirty="0"/>
              <a:t>大手ゲーム会社は入社試験に筆記テストがあります。</a:t>
            </a:r>
            <a:endParaRPr lang="en-US" altLang="ja-JP" sz="2800" dirty="0"/>
          </a:p>
          <a:p>
            <a:r>
              <a:rPr lang="ja-JP" altLang="en-US" sz="2800" dirty="0"/>
              <a:t>これまで紹介したものに関する問題が必ず出題されます。</a:t>
            </a:r>
            <a:endParaRPr lang="en-US" altLang="ja-JP" sz="2800" dirty="0"/>
          </a:p>
          <a:p>
            <a:endParaRPr lang="en-US" altLang="ja-JP" sz="2800" dirty="0"/>
          </a:p>
          <a:p>
            <a:r>
              <a:rPr lang="ja-JP" altLang="en-US" sz="2800" dirty="0"/>
              <a:t>■筆記試験のある会社</a:t>
            </a:r>
            <a:endParaRPr lang="en-US" altLang="ja-JP" sz="2800" dirty="0"/>
          </a:p>
          <a:p>
            <a:r>
              <a:rPr lang="ja-JP" altLang="en-US" sz="2800" dirty="0"/>
              <a:t>・任天堂</a:t>
            </a:r>
            <a:endParaRPr lang="en-US" altLang="ja-JP" sz="2800" dirty="0"/>
          </a:p>
          <a:p>
            <a:r>
              <a:rPr lang="ja-JP" altLang="en-US" sz="2800" dirty="0"/>
              <a:t>・セガ</a:t>
            </a:r>
            <a:endParaRPr lang="en-US" altLang="ja-JP" sz="2800" dirty="0"/>
          </a:p>
          <a:p>
            <a:r>
              <a:rPr lang="ja-JP" altLang="en-US" sz="2800" dirty="0"/>
              <a:t>・カプコン　など</a:t>
            </a:r>
            <a:endParaRPr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1141444141"/>
      </p:ext>
    </p:extLst>
  </p:cSld>
  <p:clrMapOvr>
    <a:masterClrMapping/>
  </p:clrMapOvr>
</p:sld>
</file>

<file path=ppt/theme/theme1.xml><?xml version="1.0" encoding="utf-8"?>
<a:theme xmlns:a="http://schemas.openxmlformats.org/drawingml/2006/main" name="レトロスペクト">
  <a:themeElements>
    <a:clrScheme name="レトロスペクト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レトロスペク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レトロスペク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188</TotalTime>
  <Words>208</Words>
  <Application>Microsoft Office PowerPoint</Application>
  <PresentationFormat>ワイド画面</PresentationFormat>
  <Paragraphs>34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Calibri</vt:lpstr>
      <vt:lpstr>Calibri Light</vt:lpstr>
      <vt:lpstr>Cambria Math</vt:lpstr>
      <vt:lpstr>レトロスペクト</vt:lpstr>
      <vt:lpstr>ゲーム数学について</vt:lpstr>
      <vt:lpstr>ゲーム数学３大要素</vt:lpstr>
      <vt:lpstr>幾何学</vt:lpstr>
      <vt:lpstr>物理学</vt:lpstr>
      <vt:lpstr>行列</vt:lpstr>
      <vt:lpstr>入社試験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ゲームプログラマーの１日</dc:title>
  <dc:creator>荒木 優介</dc:creator>
  <cp:lastModifiedBy>荒木 優介</cp:lastModifiedBy>
  <cp:revision>29</cp:revision>
  <dcterms:created xsi:type="dcterms:W3CDTF">2024-12-06T01:32:32Z</dcterms:created>
  <dcterms:modified xsi:type="dcterms:W3CDTF">2026-06-24T07:21:13Z</dcterms:modified>
</cp:coreProperties>
</file>