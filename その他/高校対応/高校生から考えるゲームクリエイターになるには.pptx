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85" r:id="rId4"/>
    <p:sldId id="258" r:id="rId5"/>
    <p:sldId id="259" r:id="rId6"/>
    <p:sldId id="260" r:id="rId7"/>
    <p:sldId id="261" r:id="rId8"/>
    <p:sldId id="262" r:id="rId9"/>
    <p:sldId id="286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87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5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9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4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75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8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6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44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59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240AD-0149-4A72-B81C-F4CCEF127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ゲームクリエイターに必要なもの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712600-17A1-4B1F-A99C-059848E7D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高校生から考えるクリエイターになるためには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54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dirty="0"/>
              <a:t>必要なものは以下の３つ</a:t>
            </a:r>
            <a:endParaRPr kumimoji="1" lang="en-US" altLang="ja-JP" sz="3600" dirty="0"/>
          </a:p>
          <a:p>
            <a:endParaRPr kumimoji="1" lang="en-US" altLang="ja-JP" dirty="0"/>
          </a:p>
          <a:p>
            <a:endParaRPr kumimoji="1" lang="en-US" altLang="ja-JP" sz="3200" b="1" dirty="0">
              <a:solidFill>
                <a:srgbClr val="FF0000"/>
              </a:solidFill>
            </a:endParaRPr>
          </a:p>
          <a:p>
            <a:r>
              <a:rPr kumimoji="1" lang="ja-JP" altLang="en-US" sz="4000" b="1" dirty="0">
                <a:solidFill>
                  <a:srgbClr val="FF0000"/>
                </a:solidFill>
              </a:rPr>
              <a:t>・新しい技術を学び続ける力</a:t>
            </a:r>
            <a:endParaRPr kumimoji="1" lang="en-US" altLang="ja-JP" sz="4000" b="1" dirty="0">
              <a:solidFill>
                <a:srgbClr val="FF0000"/>
              </a:solidFill>
            </a:endParaRPr>
          </a:p>
          <a:p>
            <a:endParaRPr kumimoji="1" lang="en-US" altLang="ja-JP" sz="4000" b="1" dirty="0">
              <a:solidFill>
                <a:srgbClr val="FF0000"/>
              </a:solidFill>
            </a:endParaRPr>
          </a:p>
          <a:p>
            <a:r>
              <a:rPr kumimoji="1" lang="ja-JP" altLang="en-US" sz="4000" b="1" dirty="0">
                <a:solidFill>
                  <a:srgbClr val="FF0000"/>
                </a:solidFill>
              </a:rPr>
              <a:t>・自分の考えを表現する力</a:t>
            </a:r>
            <a:endParaRPr kumimoji="1" lang="en-US" altLang="ja-JP" sz="4000" b="1" dirty="0">
              <a:solidFill>
                <a:srgbClr val="FF0000"/>
              </a:solidFill>
            </a:endParaRPr>
          </a:p>
          <a:p>
            <a:endParaRPr kumimoji="1" lang="en-US" altLang="ja-JP" sz="4000" b="1" dirty="0">
              <a:solidFill>
                <a:srgbClr val="FF0000"/>
              </a:solidFill>
            </a:endParaRPr>
          </a:p>
          <a:p>
            <a:r>
              <a:rPr kumimoji="1" lang="ja-JP" altLang="en-US" sz="4000" b="1" dirty="0">
                <a:solidFill>
                  <a:srgbClr val="FF0000"/>
                </a:solidFill>
              </a:rPr>
              <a:t>・論理的に物事を考える力</a:t>
            </a:r>
          </a:p>
        </p:txBody>
      </p:sp>
    </p:spTree>
    <p:extLst>
      <p:ext uri="{BB962C8B-B14F-4D97-AF65-F5344CB8AC3E}">
        <p14:creationId xmlns:p14="http://schemas.microsoft.com/office/powerpoint/2010/main" val="2622459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2921169"/>
            <a:ext cx="100315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>
                <a:solidFill>
                  <a:srgbClr val="FF0000"/>
                </a:solidFill>
              </a:rPr>
              <a:t>新しい技術を学び続ける力</a:t>
            </a:r>
            <a:endParaRPr kumimoji="1" lang="en-US" altLang="ja-JP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51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2598004"/>
            <a:ext cx="1003150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ゲーム業界が他業界と比べて特に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劣っている</a:t>
            </a:r>
            <a:r>
              <a:rPr kumimoji="1" lang="ja-JP" altLang="en-US" sz="2400" b="1" dirty="0"/>
              <a:t>こと、それは。。。</a:t>
            </a:r>
            <a:endParaRPr kumimoji="1" lang="en-US" altLang="ja-JP" sz="2400" b="1" dirty="0"/>
          </a:p>
          <a:p>
            <a:endParaRPr kumimoji="1" lang="en-US" altLang="ja-JP" sz="2400" b="1" dirty="0"/>
          </a:p>
          <a:p>
            <a:r>
              <a:rPr kumimoji="1" lang="ja-JP" altLang="en-US" sz="5400" b="1" dirty="0">
                <a:solidFill>
                  <a:srgbClr val="FF0000"/>
                </a:solidFill>
              </a:rPr>
              <a:t>ゲーム開発のノウハウが薄い</a:t>
            </a:r>
          </a:p>
        </p:txBody>
      </p:sp>
    </p:spTree>
    <p:extLst>
      <p:ext uri="{BB962C8B-B14F-4D97-AF65-F5344CB8AC3E}">
        <p14:creationId xmlns:p14="http://schemas.microsoft.com/office/powerpoint/2010/main" val="2375350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582615"/>
            <a:ext cx="1003150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そもそもノウハウとは</a:t>
            </a:r>
            <a:endParaRPr kumimoji="1" lang="en-US" altLang="ja-JP" sz="2400" b="1" dirty="0"/>
          </a:p>
          <a:p>
            <a:endParaRPr kumimoji="1" lang="en-US" altLang="ja-JP" sz="2400" b="1" dirty="0"/>
          </a:p>
          <a:p>
            <a:r>
              <a:rPr kumimoji="1" lang="ja-JP" altLang="en-US" sz="2400" b="1" dirty="0"/>
              <a:t>これまでの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経験</a:t>
            </a:r>
            <a:r>
              <a:rPr kumimoji="1" lang="ja-JP" altLang="en-US" sz="2400" b="1" dirty="0"/>
              <a:t>や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記録</a:t>
            </a:r>
            <a:r>
              <a:rPr kumimoji="1" lang="ja-JP" altLang="en-US" sz="2400" b="1" dirty="0"/>
              <a:t>を積み重ねて、</a:t>
            </a:r>
            <a:endParaRPr kumimoji="1" lang="en-US" altLang="ja-JP" sz="2400" b="1" dirty="0"/>
          </a:p>
          <a:p>
            <a:r>
              <a:rPr kumimoji="1" lang="ja-JP" altLang="en-US" sz="2400" b="1" dirty="0"/>
              <a:t>作業の進め方、物の作り方をまとめたもの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262156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028617"/>
            <a:ext cx="1003150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ゲーム開発の知識や技術は、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とてつもない速度</a:t>
            </a:r>
            <a:r>
              <a:rPr kumimoji="1" lang="ja-JP" altLang="en-US" sz="2400" b="1" dirty="0"/>
              <a:t>で進歩していきます</a:t>
            </a:r>
            <a:endParaRPr kumimoji="1" lang="en-US" altLang="ja-JP" sz="2400" b="1" dirty="0"/>
          </a:p>
          <a:p>
            <a:endParaRPr kumimoji="1" lang="en-US" altLang="ja-JP" sz="2400" b="1" dirty="0"/>
          </a:p>
          <a:p>
            <a:r>
              <a:rPr kumimoji="1" lang="ja-JP" altLang="en-US" sz="2400" b="1" dirty="0">
                <a:solidFill>
                  <a:srgbClr val="00B050"/>
                </a:solidFill>
              </a:rPr>
              <a:t>参考：任天堂ゲーム機の歴史</a:t>
            </a:r>
            <a:endParaRPr kumimoji="1" lang="en-US" altLang="ja-JP" sz="2400" b="1" dirty="0">
              <a:solidFill>
                <a:srgbClr val="00B050"/>
              </a:solidFill>
            </a:endParaRPr>
          </a:p>
          <a:p>
            <a:r>
              <a:rPr kumimoji="1" lang="en-US" altLang="ja-JP" sz="2400" b="1" dirty="0"/>
              <a:t>FC </a:t>
            </a:r>
            <a:r>
              <a:rPr kumimoji="1" lang="ja-JP" altLang="en-US" sz="2400" b="1" dirty="0"/>
              <a:t>→ </a:t>
            </a:r>
            <a:r>
              <a:rPr kumimoji="1" lang="en-US" altLang="ja-JP" sz="2400" b="1" dirty="0"/>
              <a:t>SFC </a:t>
            </a:r>
            <a:r>
              <a:rPr kumimoji="1" lang="ja-JP" altLang="en-US" sz="2400" b="1" dirty="0"/>
              <a:t>→ </a:t>
            </a:r>
            <a:r>
              <a:rPr kumimoji="1" lang="en-US" altLang="ja-JP" sz="2400" b="1" dirty="0"/>
              <a:t>N64 </a:t>
            </a:r>
            <a:r>
              <a:rPr kumimoji="1" lang="ja-JP" altLang="en-US" sz="2400" b="1" dirty="0"/>
              <a:t>→ </a:t>
            </a:r>
            <a:r>
              <a:rPr kumimoji="1" lang="en-US" altLang="ja-JP" sz="2400" b="1" dirty="0"/>
              <a:t>GC </a:t>
            </a:r>
            <a:r>
              <a:rPr kumimoji="1" lang="ja-JP" altLang="en-US" sz="2400" b="1" dirty="0"/>
              <a:t>→ </a:t>
            </a:r>
            <a:r>
              <a:rPr kumimoji="1" lang="en-US" altLang="ja-JP" sz="2400" b="1" dirty="0"/>
              <a:t>Wii </a:t>
            </a:r>
            <a:r>
              <a:rPr kumimoji="1" lang="ja-JP" altLang="en-US" sz="2400" b="1" dirty="0"/>
              <a:t>→ </a:t>
            </a:r>
            <a:r>
              <a:rPr kumimoji="1" lang="en-US" altLang="ja-JP" sz="2400" b="1" dirty="0" err="1"/>
              <a:t>WiiU</a:t>
            </a:r>
            <a:r>
              <a:rPr kumimoji="1" lang="en-US" altLang="ja-JP" sz="2400" b="1" dirty="0"/>
              <a:t> </a:t>
            </a:r>
            <a:r>
              <a:rPr kumimoji="1" lang="ja-JP" altLang="en-US" sz="2400" b="1" dirty="0"/>
              <a:t>→ </a:t>
            </a:r>
            <a:r>
              <a:rPr kumimoji="1" lang="en-US" altLang="ja-JP" sz="2400" b="1" dirty="0"/>
              <a:t>Switch </a:t>
            </a:r>
            <a:r>
              <a:rPr kumimoji="1" lang="ja-JP" altLang="en-US" sz="2400" b="1" dirty="0"/>
              <a:t>→ </a:t>
            </a:r>
            <a:r>
              <a:rPr kumimoji="1" lang="en-US" altLang="ja-JP" sz="2400" b="1" dirty="0"/>
              <a:t>Switch2</a:t>
            </a:r>
          </a:p>
          <a:p>
            <a:endParaRPr kumimoji="1" lang="en-US" altLang="ja-JP" sz="2400" b="1" dirty="0"/>
          </a:p>
          <a:p>
            <a:r>
              <a:rPr kumimoji="1" lang="ja-JP" altLang="en-US" sz="2400" b="1" dirty="0"/>
              <a:t>この間わずか</a:t>
            </a:r>
            <a:r>
              <a:rPr kumimoji="1" lang="en-US" altLang="ja-JP" sz="2400" b="1" dirty="0"/>
              <a:t>42</a:t>
            </a:r>
            <a:r>
              <a:rPr kumimoji="1" lang="ja-JP" altLang="en-US" sz="2400" b="1" dirty="0"/>
              <a:t>年。</a:t>
            </a:r>
            <a:r>
              <a:rPr kumimoji="1" lang="en-US" altLang="ja-JP" sz="2400" b="1" dirty="0"/>
              <a:t>7</a:t>
            </a:r>
            <a:r>
              <a:rPr kumimoji="1" lang="ja-JP" altLang="en-US" sz="2400" b="1" dirty="0"/>
              <a:t>世代も進化している。</a:t>
            </a:r>
            <a:endParaRPr kumimoji="1" lang="en-US" altLang="ja-JP" sz="2400" b="1" dirty="0"/>
          </a:p>
          <a:p>
            <a:r>
              <a:rPr kumimoji="1" lang="ja-JP" altLang="en-US" sz="2400" b="1" dirty="0"/>
              <a:t>ゲームボーイ系も含めるとさらに多い。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3842039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644170"/>
            <a:ext cx="100315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ゲーム機が変われば、</a:t>
            </a:r>
            <a:r>
              <a:rPr kumimoji="1" lang="ja-JP" altLang="en-US" sz="3600" b="1" dirty="0">
                <a:solidFill>
                  <a:srgbClr val="FF0000"/>
                </a:solidFill>
              </a:rPr>
              <a:t>ゲームの作り方も変わります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kumimoji="1" lang="en-US" altLang="ja-JP" sz="2400" b="1" dirty="0"/>
          </a:p>
          <a:p>
            <a:r>
              <a:rPr kumimoji="1" lang="ja-JP" altLang="en-US" sz="2400" b="1" dirty="0"/>
              <a:t>その都度、</a:t>
            </a:r>
            <a:r>
              <a:rPr kumimoji="1" lang="ja-JP" altLang="en-US" sz="3600" b="1" dirty="0">
                <a:solidFill>
                  <a:srgbClr val="FF0000"/>
                </a:solidFill>
              </a:rPr>
              <a:t>新しい技術</a:t>
            </a:r>
            <a:r>
              <a:rPr kumimoji="1" lang="ja-JP" altLang="en-US" sz="2400" b="1" dirty="0"/>
              <a:t>を学ばなければいけません</a:t>
            </a:r>
            <a:endParaRPr kumimoji="1" lang="en-US" altLang="ja-JP" sz="2400" b="1" dirty="0"/>
          </a:p>
          <a:p>
            <a:r>
              <a:rPr kumimoji="1" lang="ja-JP" altLang="en-US" b="1" dirty="0">
                <a:solidFill>
                  <a:schemeClr val="bg1">
                    <a:lumMod val="65000"/>
                  </a:schemeClr>
                </a:solidFill>
              </a:rPr>
              <a:t>だからノウハウが薄いんですね。。</a:t>
            </a:r>
            <a:endParaRPr kumimoji="1" lang="en-US" altLang="ja-JP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52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3334CCE-A32B-4C5F-910D-B824FE7862CF}"/>
              </a:ext>
            </a:extLst>
          </p:cNvPr>
          <p:cNvGrpSpPr/>
          <p:nvPr/>
        </p:nvGrpSpPr>
        <p:grpSpPr>
          <a:xfrm>
            <a:off x="1080247" y="1055593"/>
            <a:ext cx="10031506" cy="4746815"/>
            <a:chOff x="1080247" y="1286425"/>
            <a:chExt cx="10031506" cy="4746815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3B2DFE69-09E6-449A-B4FD-1121833A8D8A}"/>
                </a:ext>
              </a:extLst>
            </p:cNvPr>
            <p:cNvSpPr txBox="1"/>
            <p:nvPr/>
          </p:nvSpPr>
          <p:spPr>
            <a:xfrm>
              <a:off x="1080247" y="1286425"/>
              <a:ext cx="10031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 dirty="0"/>
                <a:t>昨今では、制作手法そのものが変わりつつあります</a:t>
              </a:r>
              <a:endParaRPr kumimoji="1" lang="en-US" altLang="ja-JP" sz="2400" b="1" dirty="0"/>
            </a:p>
          </p:txBody>
        </p:sp>
        <p:pic>
          <p:nvPicPr>
            <p:cNvPr id="1026" name="Picture 2" descr="Unity]Unityのロゴについて | nobushiueshi">
              <a:extLst>
                <a:ext uri="{FF2B5EF4-FFF2-40B4-BE49-F238E27FC236}">
                  <a16:creationId xmlns:a16="http://schemas.microsoft.com/office/drawing/2014/main" id="{B51033F8-DECB-4D17-B483-C75CF01A9F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3197" y="2433258"/>
              <a:ext cx="4125784" cy="2193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Unreal Engine のブランディング ガイドラインおよび商標の使用について">
              <a:extLst>
                <a:ext uri="{FF2B5EF4-FFF2-40B4-BE49-F238E27FC236}">
                  <a16:creationId xmlns:a16="http://schemas.microsoft.com/office/drawing/2014/main" id="{8401C201-ED45-4C76-96F4-5A876F1BC4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0873" y="1869843"/>
              <a:ext cx="2807853" cy="3399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5583E07-4519-4653-9C54-921F60ECAD55}"/>
                </a:ext>
              </a:extLst>
            </p:cNvPr>
            <p:cNvSpPr txBox="1"/>
            <p:nvPr/>
          </p:nvSpPr>
          <p:spPr>
            <a:xfrm>
              <a:off x="1080247" y="5571575"/>
              <a:ext cx="10031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 dirty="0">
                  <a:solidFill>
                    <a:srgbClr val="FF0000"/>
                  </a:solidFill>
                </a:rPr>
                <a:t>最新の技術を学び続けることが大事です</a:t>
              </a:r>
              <a:endParaRPr kumimoji="1" lang="en-US" altLang="ja-JP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948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930196" y="2903902"/>
            <a:ext cx="8331608" cy="10501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kumimoji="1" lang="ja-JP" altLang="en-US" sz="6000" b="1" dirty="0">
                <a:solidFill>
                  <a:srgbClr val="FF0000"/>
                </a:solidFill>
              </a:rPr>
              <a:t>自分の考えを表現する力</a:t>
            </a:r>
            <a:endParaRPr kumimoji="1" lang="en-US" altLang="ja-JP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572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767281"/>
            <a:ext cx="10031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b="1" dirty="0"/>
              <a:t>突然ですが</a:t>
            </a:r>
            <a:endParaRPr kumimoji="1" lang="en-US" altLang="ja-JP" sz="6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420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921169"/>
            <a:ext cx="100315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/>
              <a:t>好きな料理はなんですか？</a:t>
            </a:r>
            <a:endParaRPr kumimoji="1" lang="en-US" altLang="ja-JP" sz="48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75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3044280"/>
            <a:ext cx="10031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b="1" dirty="0"/>
              <a:t>その料理の作り方を知ってますか？</a:t>
            </a:r>
            <a:endParaRPr kumimoji="1" lang="en-US" altLang="ja-JP" sz="3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976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3044280"/>
            <a:ext cx="10031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b="1" dirty="0"/>
              <a:t>その料理は作れそうですか？</a:t>
            </a:r>
            <a:endParaRPr kumimoji="1" lang="en-US" altLang="ja-JP" sz="3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366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490282"/>
            <a:ext cx="10031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料理には、</a:t>
            </a:r>
            <a:endParaRPr kumimoji="1" lang="en-US" altLang="ja-JP" sz="3600" b="1" dirty="0"/>
          </a:p>
          <a:p>
            <a:r>
              <a:rPr kumimoji="1" lang="ja-JP" altLang="en-US" sz="4400" b="1" dirty="0">
                <a:solidFill>
                  <a:srgbClr val="FF33CC"/>
                </a:solidFill>
              </a:rPr>
              <a:t>甘味</a:t>
            </a:r>
            <a:r>
              <a:rPr kumimoji="1" lang="ja-JP" altLang="en-US" sz="3600" b="1" dirty="0"/>
              <a:t>、</a:t>
            </a:r>
            <a:r>
              <a:rPr kumimoji="1" lang="ja-JP" altLang="en-US" sz="4400" b="1" dirty="0">
                <a:solidFill>
                  <a:srgbClr val="FF0000"/>
                </a:solidFill>
              </a:rPr>
              <a:t>辛味</a:t>
            </a:r>
            <a:r>
              <a:rPr kumimoji="1" lang="ja-JP" altLang="en-US" sz="3600" b="1" dirty="0"/>
              <a:t>、など味に明確な定義があります</a:t>
            </a:r>
            <a:endParaRPr kumimoji="1" lang="en-US" altLang="ja-JP" sz="3600" b="1" dirty="0"/>
          </a:p>
        </p:txBody>
      </p:sp>
    </p:spTree>
    <p:extLst>
      <p:ext uri="{BB962C8B-B14F-4D97-AF65-F5344CB8AC3E}">
        <p14:creationId xmlns:p14="http://schemas.microsoft.com/office/powerpoint/2010/main" val="2046422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490282"/>
            <a:ext cx="1003150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定義が明確なのでレシピを真似すれば</a:t>
            </a:r>
            <a:endParaRPr kumimoji="1" lang="en-US" altLang="ja-JP" sz="3600" b="1" dirty="0"/>
          </a:p>
          <a:p>
            <a:r>
              <a:rPr kumimoji="1" lang="ja-JP" altLang="en-US" sz="4000" b="1" dirty="0"/>
              <a:t>同じ味が概ね</a:t>
            </a:r>
            <a:r>
              <a:rPr kumimoji="1" lang="ja-JP" altLang="en-US" sz="4000" b="1" dirty="0">
                <a:solidFill>
                  <a:srgbClr val="FF0000"/>
                </a:solidFill>
              </a:rPr>
              <a:t>再現</a:t>
            </a:r>
            <a:r>
              <a:rPr kumimoji="1" lang="ja-JP" altLang="en-US" sz="4000" b="1" dirty="0"/>
              <a:t>できます</a:t>
            </a:r>
            <a:endParaRPr kumimoji="1" lang="en-US" altLang="ja-JP" sz="3600" b="1" dirty="0"/>
          </a:p>
          <a:p>
            <a:r>
              <a:rPr kumimoji="1" lang="ja-JP" altLang="en-US" sz="3600" b="1" dirty="0"/>
              <a:t>これがノウハウですね</a:t>
            </a:r>
            <a:endParaRPr kumimoji="1" lang="en-US" altLang="ja-JP" sz="3600" b="1" dirty="0"/>
          </a:p>
        </p:txBody>
      </p:sp>
    </p:spTree>
    <p:extLst>
      <p:ext uri="{BB962C8B-B14F-4D97-AF65-F5344CB8AC3E}">
        <p14:creationId xmlns:p14="http://schemas.microsoft.com/office/powerpoint/2010/main" val="2007248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967335"/>
            <a:ext cx="10031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b="1" dirty="0"/>
              <a:t>では面白いゲームとは何でしょう？</a:t>
            </a:r>
            <a:endParaRPr kumimoji="1"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4293464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490282"/>
            <a:ext cx="100315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ゲームの面白さに定義はありません。つまり、</a:t>
            </a:r>
            <a:endParaRPr kumimoji="1" lang="en-US" altLang="ja-JP" sz="2800" b="1" dirty="0"/>
          </a:p>
          <a:p>
            <a:r>
              <a:rPr kumimoji="1" lang="ja-JP" altLang="en-US" sz="4400" b="1" dirty="0">
                <a:solidFill>
                  <a:srgbClr val="FF0000"/>
                </a:solidFill>
              </a:rPr>
              <a:t>自分が面白いと思うことを</a:t>
            </a:r>
            <a:endParaRPr kumimoji="1" lang="en-US" altLang="ja-JP" sz="4400" b="1" dirty="0">
              <a:solidFill>
                <a:srgbClr val="FF0000"/>
              </a:solidFill>
            </a:endParaRPr>
          </a:p>
          <a:p>
            <a:r>
              <a:rPr kumimoji="1" lang="ja-JP" altLang="en-US" sz="4400" b="1" dirty="0">
                <a:solidFill>
                  <a:srgbClr val="FF0000"/>
                </a:solidFill>
              </a:rPr>
              <a:t>取り入れなければいけません</a:t>
            </a:r>
            <a:endParaRPr kumimoji="1" lang="en-US" altLang="ja-JP" sz="4400" b="1" dirty="0">
              <a:solidFill>
                <a:srgbClr val="FF0000"/>
              </a:solidFill>
            </a:endParaRPr>
          </a:p>
          <a:p>
            <a:endParaRPr kumimoji="1" lang="en-US" altLang="ja-JP" sz="4400" b="1" dirty="0">
              <a:solidFill>
                <a:srgbClr val="FF0000"/>
              </a:solidFill>
            </a:endParaRPr>
          </a:p>
          <a:p>
            <a:r>
              <a:rPr kumimoji="1" lang="ja-JP" altLang="en-US" sz="2800" b="1" dirty="0"/>
              <a:t>自分の考えや意見をしっかりと持ち、</a:t>
            </a:r>
            <a:endParaRPr kumimoji="1" lang="en-US" altLang="ja-JP" sz="2800" b="1" dirty="0"/>
          </a:p>
          <a:p>
            <a:r>
              <a:rPr kumimoji="1" lang="ja-JP" altLang="en-US" sz="2800" b="1" dirty="0"/>
              <a:t>それを他者に説明したり表現する力はとても大事です。</a:t>
            </a:r>
            <a:endParaRPr kumimoji="1" lang="en-US" altLang="ja-JP" sz="2800" b="1" dirty="0"/>
          </a:p>
        </p:txBody>
      </p:sp>
    </p:spTree>
    <p:extLst>
      <p:ext uri="{BB962C8B-B14F-4D97-AF65-F5344CB8AC3E}">
        <p14:creationId xmlns:p14="http://schemas.microsoft.com/office/powerpoint/2010/main" val="256345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930196" y="2903902"/>
            <a:ext cx="8331608" cy="10501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kumimoji="1" lang="ja-JP" altLang="en-US" sz="6000" b="1" dirty="0">
                <a:solidFill>
                  <a:srgbClr val="FF0000"/>
                </a:solidFill>
              </a:rPr>
              <a:t>論理的に物事を考える力</a:t>
            </a:r>
            <a:endParaRPr kumimoji="1" lang="en-US" altLang="ja-JP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907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151728"/>
            <a:ext cx="100315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ノウハウが薄ければ、明確な正解もないゲーム開発です</a:t>
            </a:r>
            <a:endParaRPr kumimoji="1" lang="en-US" altLang="ja-JP" sz="2800" b="1" dirty="0"/>
          </a:p>
          <a:p>
            <a:r>
              <a:rPr kumimoji="1" lang="ja-JP" altLang="en-US" sz="2800" b="1" dirty="0"/>
              <a:t>作っていると</a:t>
            </a:r>
            <a:r>
              <a:rPr kumimoji="1" lang="ja-JP" altLang="en-US" sz="4400" b="1" dirty="0">
                <a:solidFill>
                  <a:srgbClr val="0070C0"/>
                </a:solidFill>
              </a:rPr>
              <a:t>失敗</a:t>
            </a:r>
            <a:r>
              <a:rPr kumimoji="1" lang="ja-JP" altLang="en-US" sz="2800" b="1" dirty="0"/>
              <a:t>ばかりします</a:t>
            </a:r>
            <a:endParaRPr kumimoji="1" lang="en-US" altLang="ja-JP" sz="2800" b="1" dirty="0"/>
          </a:p>
          <a:p>
            <a:endParaRPr kumimoji="1" lang="en-US" altLang="ja-JP" sz="2800" b="1" dirty="0"/>
          </a:p>
          <a:p>
            <a:r>
              <a:rPr kumimoji="1" lang="ja-JP" altLang="en-US" b="1" dirty="0">
                <a:solidFill>
                  <a:schemeClr val="bg1">
                    <a:lumMod val="85000"/>
                  </a:schemeClr>
                </a:solidFill>
              </a:rPr>
              <a:t>・おもしろくない</a:t>
            </a:r>
            <a:endParaRPr kumimoji="1" lang="en-US" altLang="ja-JP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kumimoji="1" lang="ja-JP" altLang="en-US" b="1" dirty="0">
                <a:solidFill>
                  <a:schemeClr val="bg1">
                    <a:lumMod val="85000"/>
                  </a:schemeClr>
                </a:solidFill>
              </a:rPr>
              <a:t>・バグがでた</a:t>
            </a:r>
            <a:endParaRPr kumimoji="1" lang="en-US" altLang="ja-JP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kumimoji="1" lang="ja-JP" altLang="en-US" b="1" dirty="0">
                <a:solidFill>
                  <a:schemeClr val="bg1">
                    <a:lumMod val="85000"/>
                  </a:schemeClr>
                </a:solidFill>
              </a:rPr>
              <a:t>・チームの連携が取れない　などなど。。。</a:t>
            </a:r>
            <a:endParaRPr kumimoji="1" lang="en-US" altLang="ja-JP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040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497976"/>
            <a:ext cx="1003150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>
                <a:solidFill>
                  <a:srgbClr val="0070C0"/>
                </a:solidFill>
              </a:rPr>
              <a:t>失敗</a:t>
            </a:r>
            <a:r>
              <a:rPr kumimoji="1" lang="ja-JP" altLang="en-US" sz="3200" b="1" dirty="0"/>
              <a:t>には必ず</a:t>
            </a:r>
            <a:r>
              <a:rPr kumimoji="1" lang="ja-JP" altLang="en-US" sz="11500" b="1" dirty="0">
                <a:solidFill>
                  <a:srgbClr val="FF0000"/>
                </a:solidFill>
              </a:rPr>
              <a:t>原因</a:t>
            </a:r>
            <a:r>
              <a:rPr kumimoji="1" lang="ja-JP" altLang="en-US" sz="3200" b="1" dirty="0"/>
              <a:t>があります</a:t>
            </a:r>
            <a:endParaRPr kumimoji="1" lang="en-US" altLang="ja-JP" sz="4400" b="1" dirty="0"/>
          </a:p>
        </p:txBody>
      </p:sp>
    </p:spTree>
    <p:extLst>
      <p:ext uri="{BB962C8B-B14F-4D97-AF65-F5344CB8AC3E}">
        <p14:creationId xmlns:p14="http://schemas.microsoft.com/office/powerpoint/2010/main" val="3805612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721114"/>
            <a:ext cx="1003150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原因を追究するため</a:t>
            </a:r>
            <a:r>
              <a:rPr kumimoji="1" lang="ja-JP" altLang="en-US" sz="5400" b="1" dirty="0">
                <a:solidFill>
                  <a:srgbClr val="FF0000"/>
                </a:solidFill>
              </a:rPr>
              <a:t>失敗を分解</a:t>
            </a:r>
            <a:r>
              <a:rPr kumimoji="1" lang="ja-JP" altLang="en-US" sz="3200" b="1" dirty="0"/>
              <a:t>します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たとえば。。。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3416993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1905506"/>
            <a:ext cx="100315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失敗：数学のテストの点が悪かった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→放物線の問題が特に解けなかった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　→</a:t>
            </a:r>
            <a:r>
              <a:rPr kumimoji="1" lang="en-US" altLang="ja-JP" sz="3200" b="1" dirty="0"/>
              <a:t>2</a:t>
            </a:r>
            <a:r>
              <a:rPr kumimoji="1" lang="ja-JP" altLang="en-US" sz="3200" b="1" dirty="0"/>
              <a:t>次関数についての理解が足らなかった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　　→この時の授業は休みがちだった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　　　→体調をよく崩していた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　　　　→特に夜更かしが多かった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2539659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1905506"/>
            <a:ext cx="100315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失敗：数学のテストの点が悪かった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→放物線の問題が特に解けなかった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　→</a:t>
            </a:r>
            <a:r>
              <a:rPr kumimoji="1" lang="en-US" altLang="ja-JP" sz="3200" b="1" dirty="0"/>
              <a:t>2</a:t>
            </a:r>
            <a:r>
              <a:rPr kumimoji="1" lang="ja-JP" altLang="en-US" sz="3200" b="1" dirty="0"/>
              <a:t>次関数についての理解が足らなかった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　　→この時の授業は休みがちだった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　　　→体調をよく崩していた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　　　　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→特に夜更かしが多かった　原因！！</a:t>
            </a:r>
            <a:endParaRPr kumimoji="1" lang="en-US" altLang="ja-JP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629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151728"/>
            <a:ext cx="100315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原因：夜更かしが多かった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対策：早く寝て体調を回復する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　　　休んでた部分のノートを友達に見せてもらう</a:t>
            </a:r>
            <a:endParaRPr kumimoji="1" lang="en-US" altLang="ja-JP" sz="3200" b="1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これで良い方向にことが進むはず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1747643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1859340"/>
            <a:ext cx="100315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このように</a:t>
            </a:r>
            <a:r>
              <a:rPr kumimoji="1" lang="ja-JP" altLang="en-US" sz="4000" b="1" dirty="0">
                <a:solidFill>
                  <a:srgbClr val="FF0000"/>
                </a:solidFill>
              </a:rPr>
              <a:t>事象（失敗など）</a:t>
            </a:r>
            <a:r>
              <a:rPr kumimoji="1" lang="ja-JP" altLang="en-US" sz="3200" b="1" dirty="0"/>
              <a:t>に対して、</a:t>
            </a:r>
            <a:endParaRPr kumimoji="1" lang="en-US" altLang="ja-JP" sz="3200" b="1" dirty="0"/>
          </a:p>
          <a:p>
            <a:r>
              <a:rPr kumimoji="1" lang="ja-JP" altLang="en-US" sz="4000" b="1" dirty="0">
                <a:solidFill>
                  <a:srgbClr val="0070C0"/>
                </a:solidFill>
              </a:rPr>
              <a:t>事の流れ（論理）</a:t>
            </a:r>
            <a:r>
              <a:rPr kumimoji="1" lang="ja-JP" altLang="en-US" sz="3200" b="1" dirty="0"/>
              <a:t>を明確にして考えることを</a:t>
            </a:r>
            <a:endParaRPr kumimoji="1" lang="en-US" altLang="ja-JP" sz="3200" b="1" dirty="0"/>
          </a:p>
          <a:p>
            <a:r>
              <a:rPr kumimoji="1" lang="ja-JP" altLang="en-US" sz="5400" b="1" dirty="0">
                <a:solidFill>
                  <a:srgbClr val="00B050"/>
                </a:solidFill>
              </a:rPr>
              <a:t>論理的思考</a:t>
            </a:r>
            <a:r>
              <a:rPr kumimoji="1" lang="ja-JP" altLang="en-US" sz="3200" b="1" dirty="0"/>
              <a:t>と言います。</a:t>
            </a:r>
            <a:endParaRPr kumimoji="1" lang="en-US" altLang="ja-JP" sz="3200" b="1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ゲーム業界以外でも重宝されるみたいですよ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775573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767281"/>
            <a:ext cx="10031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b="1" dirty="0"/>
              <a:t>さいごに</a:t>
            </a:r>
            <a:endParaRPr kumimoji="1" lang="en-US" altLang="ja-JP" sz="6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616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dirty="0"/>
              <a:t>これら３つのものですが</a:t>
            </a:r>
            <a:endParaRPr kumimoji="1" lang="en-US" altLang="ja-JP" sz="3600" dirty="0"/>
          </a:p>
          <a:p>
            <a:endParaRPr kumimoji="1" lang="en-US" altLang="ja-JP" dirty="0"/>
          </a:p>
          <a:p>
            <a:endParaRPr kumimoji="1" lang="en-US" altLang="ja-JP" sz="3200" b="1" dirty="0">
              <a:solidFill>
                <a:srgbClr val="FF0000"/>
              </a:solidFill>
            </a:endParaRPr>
          </a:p>
          <a:p>
            <a:r>
              <a:rPr kumimoji="1" lang="ja-JP" altLang="en-US" sz="4000" b="1" dirty="0">
                <a:solidFill>
                  <a:srgbClr val="FF0000"/>
                </a:solidFill>
              </a:rPr>
              <a:t>・新しい技術を学び続ける力</a:t>
            </a:r>
            <a:endParaRPr kumimoji="1" lang="en-US" altLang="ja-JP" sz="4000" b="1" dirty="0">
              <a:solidFill>
                <a:srgbClr val="FF0000"/>
              </a:solidFill>
            </a:endParaRPr>
          </a:p>
          <a:p>
            <a:endParaRPr kumimoji="1" lang="en-US" altLang="ja-JP" sz="4000" b="1" dirty="0">
              <a:solidFill>
                <a:srgbClr val="FF0000"/>
              </a:solidFill>
            </a:endParaRPr>
          </a:p>
          <a:p>
            <a:r>
              <a:rPr kumimoji="1" lang="ja-JP" altLang="en-US" sz="4000" b="1" dirty="0">
                <a:solidFill>
                  <a:srgbClr val="FF0000"/>
                </a:solidFill>
              </a:rPr>
              <a:t>・自分の考えを表現する力</a:t>
            </a:r>
            <a:endParaRPr kumimoji="1" lang="en-US" altLang="ja-JP" sz="4000" b="1" dirty="0">
              <a:solidFill>
                <a:srgbClr val="FF0000"/>
              </a:solidFill>
            </a:endParaRPr>
          </a:p>
          <a:p>
            <a:endParaRPr kumimoji="1" lang="en-US" altLang="ja-JP" sz="4000" b="1" dirty="0">
              <a:solidFill>
                <a:srgbClr val="FF0000"/>
              </a:solidFill>
            </a:endParaRPr>
          </a:p>
          <a:p>
            <a:r>
              <a:rPr kumimoji="1" lang="ja-JP" altLang="en-US" sz="4000" b="1" dirty="0">
                <a:solidFill>
                  <a:srgbClr val="FF0000"/>
                </a:solidFill>
              </a:rPr>
              <a:t>・論理的に物事を考える力</a:t>
            </a:r>
          </a:p>
        </p:txBody>
      </p:sp>
    </p:spTree>
    <p:extLst>
      <p:ext uri="{BB962C8B-B14F-4D97-AF65-F5344CB8AC3E}">
        <p14:creationId xmlns:p14="http://schemas.microsoft.com/office/powerpoint/2010/main" val="1038704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921169"/>
            <a:ext cx="100315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/>
              <a:t>完璧にできる人はいません！</a:t>
            </a:r>
            <a:endParaRPr kumimoji="1" lang="en-US" altLang="ja-JP" sz="48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090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2DFE69-09E6-449A-B4FD-1121833A8D8A}"/>
              </a:ext>
            </a:extLst>
          </p:cNvPr>
          <p:cNvSpPr txBox="1"/>
          <p:nvPr/>
        </p:nvSpPr>
        <p:spPr>
          <a:xfrm>
            <a:off x="1080247" y="2736503"/>
            <a:ext cx="100315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b="1" dirty="0"/>
              <a:t>これらは意識して磨いていくものです</a:t>
            </a:r>
            <a:endParaRPr kumimoji="1" lang="en-US" altLang="ja-JP" sz="4000" b="1" dirty="0"/>
          </a:p>
          <a:p>
            <a:pPr algn="ctr"/>
            <a:r>
              <a:rPr kumimoji="1" lang="ja-JP" altLang="en-US" sz="4400" b="1" dirty="0">
                <a:solidFill>
                  <a:srgbClr val="FF0000"/>
                </a:solidFill>
              </a:rPr>
              <a:t>普段からの意識づけから頑張りましょう！</a:t>
            </a:r>
            <a:endParaRPr kumimoji="1" lang="en-US" altLang="ja-JP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410379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151</TotalTime>
  <Words>628</Words>
  <Application>Microsoft Office PowerPoint</Application>
  <PresentationFormat>ワイド画面</PresentationFormat>
  <Paragraphs>92</Paragraphs>
  <Slides>29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2" baseType="lpstr">
      <vt:lpstr>Calibri</vt:lpstr>
      <vt:lpstr>Calibri Light</vt:lpstr>
      <vt:lpstr>レトロスペクト</vt:lpstr>
      <vt:lpstr>ゲームクリエイターに必要なもの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ゲームプログラマーの１日</dc:title>
  <dc:creator>荒木 優介</dc:creator>
  <cp:lastModifiedBy>北九州校　ゲーム</cp:lastModifiedBy>
  <cp:revision>19</cp:revision>
  <dcterms:created xsi:type="dcterms:W3CDTF">2024-12-06T01:32:32Z</dcterms:created>
  <dcterms:modified xsi:type="dcterms:W3CDTF">2026-05-31T00:16:44Z</dcterms:modified>
</cp:coreProperties>
</file>