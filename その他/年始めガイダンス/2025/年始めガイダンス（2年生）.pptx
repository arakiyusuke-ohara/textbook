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3" d="100"/>
          <a:sy n="103" d="100"/>
        </p:scale>
        <p:origin x="138"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2025/1/6</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2025/1/6</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2025/1/6</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2025/1/6</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2025/1/6</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2025/1/6</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2025/1/6</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2025/1/6</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2025/1/6</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2025/1/6</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2025/1/6</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2025/1/6</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005403" cy="584775"/>
          </a:xfrm>
          <a:prstGeom prst="rect">
            <a:avLst/>
          </a:prstGeom>
          <a:noFill/>
        </p:spPr>
        <p:txBody>
          <a:bodyPr wrap="none" rtlCol="0">
            <a:spAutoFit/>
          </a:bodyPr>
          <a:lstStyle/>
          <a:p>
            <a:r>
              <a:rPr kumimoji="1" lang="ja-JP" altLang="en-US" sz="3200" b="1" u="sng" dirty="0"/>
              <a:t>目次</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2993127" cy="1938992"/>
          </a:xfrm>
          <a:prstGeom prst="rect">
            <a:avLst/>
          </a:prstGeom>
          <a:noFill/>
        </p:spPr>
        <p:txBody>
          <a:bodyPr wrap="none" rtlCol="0">
            <a:spAutoFit/>
          </a:bodyPr>
          <a:lstStyle/>
          <a:p>
            <a:pPr marL="342900" indent="-342900">
              <a:buFont typeface="Arial" panose="020B0604020202020204" pitchFamily="34" charset="0"/>
              <a:buChar char="•"/>
            </a:pPr>
            <a:r>
              <a:rPr kumimoji="1" lang="ja-JP" altLang="en-US" sz="2400" dirty="0"/>
              <a:t>一年の流れ</a:t>
            </a:r>
            <a:endParaRPr kumimoji="1" lang="en-US" altLang="ja-JP" sz="2400" dirty="0"/>
          </a:p>
          <a:p>
            <a:pPr marL="342900" indent="-342900">
              <a:buFont typeface="Arial" panose="020B0604020202020204" pitchFamily="34" charset="0"/>
              <a:buChar char="•"/>
            </a:pPr>
            <a:r>
              <a:rPr lang="ja-JP" altLang="en-US" sz="2400" dirty="0"/>
              <a:t>重要なポイント</a:t>
            </a:r>
            <a:endParaRPr lang="en-US" altLang="ja-JP" sz="2400" dirty="0"/>
          </a:p>
          <a:p>
            <a:pPr marL="342900" indent="-342900">
              <a:buFont typeface="Arial" panose="020B0604020202020204" pitchFamily="34" charset="0"/>
              <a:buChar char="•"/>
            </a:pPr>
            <a:r>
              <a:rPr lang="ja-JP" altLang="en-US" sz="2400" dirty="0"/>
              <a:t>就職活動について</a:t>
            </a:r>
            <a:endParaRPr lang="en-US" altLang="ja-JP" sz="2400" dirty="0"/>
          </a:p>
          <a:p>
            <a:pPr marL="342900" indent="-342900">
              <a:buFont typeface="Arial" panose="020B0604020202020204" pitchFamily="34" charset="0"/>
              <a:buChar char="•"/>
            </a:pPr>
            <a:r>
              <a:rPr lang="ja-JP" altLang="en-US" sz="2400" dirty="0"/>
              <a:t>どう過ごすのか</a:t>
            </a:r>
            <a:endParaRPr lang="en-US" altLang="ja-JP" sz="2400" dirty="0"/>
          </a:p>
          <a:p>
            <a:pPr marL="342900" indent="-342900">
              <a:buFont typeface="Arial" panose="020B0604020202020204" pitchFamily="34" charset="0"/>
              <a:buChar char="•"/>
            </a:pPr>
            <a:r>
              <a:rPr kumimoji="1" lang="ja-JP" altLang="en-US" sz="2400" dirty="0"/>
              <a:t>まとめ</a:t>
            </a:r>
            <a:endParaRPr kumimoji="1" lang="en-US" altLang="ja-JP" sz="2400" dirty="0"/>
          </a:p>
        </p:txBody>
      </p:sp>
    </p:spTree>
    <p:extLst>
      <p:ext uri="{BB962C8B-B14F-4D97-AF65-F5344CB8AC3E}">
        <p14:creationId xmlns:p14="http://schemas.microsoft.com/office/powerpoint/2010/main" val="38792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236510" cy="584775"/>
          </a:xfrm>
          <a:prstGeom prst="rect">
            <a:avLst/>
          </a:prstGeom>
          <a:noFill/>
        </p:spPr>
        <p:txBody>
          <a:bodyPr wrap="none" rtlCol="0">
            <a:spAutoFit/>
          </a:bodyPr>
          <a:lstStyle/>
          <a:p>
            <a:r>
              <a:rPr lang="ja-JP" altLang="en-US" sz="3200" b="1" u="sng" dirty="0"/>
              <a:t>一</a:t>
            </a:r>
            <a:r>
              <a:rPr kumimoji="1" lang="ja-JP" altLang="en-US" sz="3200" b="1" u="sng" dirty="0"/>
              <a:t>年の流れ</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493538" cy="461665"/>
          </a:xfrm>
          <a:prstGeom prst="rect">
            <a:avLst/>
          </a:prstGeom>
          <a:noFill/>
        </p:spPr>
        <p:txBody>
          <a:bodyPr wrap="none" rtlCol="0">
            <a:spAutoFit/>
          </a:bodyPr>
          <a:lstStyle/>
          <a:p>
            <a:r>
              <a:rPr kumimoji="1" lang="ja-JP" altLang="en-US" sz="2400" dirty="0"/>
              <a:t>一年の流れは以下の通りです。</a:t>
            </a:r>
            <a:endParaRPr kumimoji="1" lang="en-US" altLang="ja-JP" sz="2400" dirty="0"/>
          </a:p>
        </p:txBody>
      </p:sp>
      <p:sp>
        <p:nvSpPr>
          <p:cNvPr id="5" name="正方形/長方形 4">
            <a:extLst>
              <a:ext uri="{FF2B5EF4-FFF2-40B4-BE49-F238E27FC236}">
                <a16:creationId xmlns:a16="http://schemas.microsoft.com/office/drawing/2014/main" id="{D6C4EE82-F0FC-4B59-95C2-47448528EC8E}"/>
              </a:ext>
            </a:extLst>
          </p:cNvPr>
          <p:cNvSpPr/>
          <p:nvPr/>
        </p:nvSpPr>
        <p:spPr>
          <a:xfrm>
            <a:off x="567543" y="1817794"/>
            <a:ext cx="3397968" cy="1884784"/>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kumimoji="1" lang="en-US" altLang="ja-JP" b="1" dirty="0"/>
              <a:t>1</a:t>
            </a:r>
            <a:r>
              <a:rPr kumimoji="1" lang="ja-JP" altLang="en-US" b="1" dirty="0"/>
              <a:t>～</a:t>
            </a:r>
            <a:r>
              <a:rPr kumimoji="1" lang="en-US" altLang="ja-JP" b="1" dirty="0"/>
              <a:t>3</a:t>
            </a:r>
            <a:r>
              <a:rPr kumimoji="1" lang="ja-JP" altLang="en-US" b="1" dirty="0"/>
              <a:t>月</a:t>
            </a:r>
            <a:endParaRPr kumimoji="1" lang="en-US" altLang="ja-JP" b="1" dirty="0"/>
          </a:p>
          <a:p>
            <a:pPr algn="ctr"/>
            <a:r>
              <a:rPr lang="ja-JP" altLang="en-US" b="1" dirty="0"/>
              <a:t>ゲーム制作</a:t>
            </a:r>
            <a:endParaRPr lang="en-US" altLang="ja-JP" b="1" dirty="0"/>
          </a:p>
          <a:p>
            <a:pPr algn="ctr"/>
            <a:endParaRPr kumimoji="1" lang="en-US" altLang="ja-JP" b="1" dirty="0"/>
          </a:p>
          <a:p>
            <a:pPr algn="ctr"/>
            <a:r>
              <a:rPr lang="en-US" altLang="ja-JP" b="1" dirty="0" err="1"/>
              <a:t>DxLib</a:t>
            </a:r>
            <a:r>
              <a:rPr lang="en-US" altLang="ja-JP" b="1" dirty="0"/>
              <a:t>/Unity</a:t>
            </a:r>
          </a:p>
          <a:p>
            <a:pPr algn="ctr"/>
            <a:r>
              <a:rPr kumimoji="1" lang="ja-JP" altLang="en-US" b="1" dirty="0"/>
              <a:t>共にポートフォリオに載せる</a:t>
            </a:r>
          </a:p>
        </p:txBody>
      </p:sp>
      <p:sp>
        <p:nvSpPr>
          <p:cNvPr id="7" name="正方形/長方形 6">
            <a:extLst>
              <a:ext uri="{FF2B5EF4-FFF2-40B4-BE49-F238E27FC236}">
                <a16:creationId xmlns:a16="http://schemas.microsoft.com/office/drawing/2014/main" id="{9714ECF6-9106-4B05-8490-F3CE87848419}"/>
              </a:ext>
            </a:extLst>
          </p:cNvPr>
          <p:cNvSpPr/>
          <p:nvPr/>
        </p:nvSpPr>
        <p:spPr>
          <a:xfrm>
            <a:off x="3965511" y="1817794"/>
            <a:ext cx="3974841" cy="188478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en-US" altLang="ja-JP" b="1" dirty="0"/>
              <a:t>4</a:t>
            </a:r>
            <a:r>
              <a:rPr kumimoji="1" lang="ja-JP" altLang="en-US" b="1" dirty="0"/>
              <a:t>～</a:t>
            </a:r>
            <a:r>
              <a:rPr kumimoji="1" lang="en-US" altLang="ja-JP" b="1" dirty="0"/>
              <a:t>7</a:t>
            </a:r>
            <a:r>
              <a:rPr kumimoji="1" lang="ja-JP" altLang="en-US" b="1" dirty="0"/>
              <a:t>月</a:t>
            </a:r>
            <a:endParaRPr kumimoji="1" lang="en-US" altLang="ja-JP" b="1" dirty="0"/>
          </a:p>
          <a:p>
            <a:pPr algn="ctr"/>
            <a:r>
              <a:rPr lang="en-US" altLang="ja-JP" b="1" dirty="0"/>
              <a:t>3D</a:t>
            </a:r>
            <a:r>
              <a:rPr lang="ja-JP" altLang="en-US" b="1" dirty="0"/>
              <a:t>の勉強・プログラムスキル強化</a:t>
            </a:r>
            <a:endParaRPr lang="en-US" altLang="ja-JP" b="1" dirty="0"/>
          </a:p>
          <a:p>
            <a:pPr algn="ctr"/>
            <a:endParaRPr lang="en-US" altLang="ja-JP" b="1" dirty="0"/>
          </a:p>
          <a:p>
            <a:pPr algn="ctr"/>
            <a:r>
              <a:rPr lang="ja-JP" altLang="en-US" b="1" dirty="0"/>
              <a:t>就職作品に向けて勉強</a:t>
            </a:r>
            <a:endParaRPr lang="en-US" altLang="ja-JP" b="1" dirty="0"/>
          </a:p>
          <a:p>
            <a:pPr algn="ctr"/>
            <a:endParaRPr lang="en-US" altLang="ja-JP" b="1" dirty="0"/>
          </a:p>
        </p:txBody>
      </p:sp>
      <p:sp>
        <p:nvSpPr>
          <p:cNvPr id="8" name="正方形/長方形 7">
            <a:extLst>
              <a:ext uri="{FF2B5EF4-FFF2-40B4-BE49-F238E27FC236}">
                <a16:creationId xmlns:a16="http://schemas.microsoft.com/office/drawing/2014/main" id="{A343AC30-3730-4556-B53D-71E3FCCAE563}"/>
              </a:ext>
            </a:extLst>
          </p:cNvPr>
          <p:cNvSpPr/>
          <p:nvPr/>
        </p:nvSpPr>
        <p:spPr>
          <a:xfrm>
            <a:off x="7940352" y="1817794"/>
            <a:ext cx="3974841" cy="1884784"/>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kumimoji="1" lang="ja-JP" altLang="en-US" b="1" dirty="0"/>
              <a:t>～</a:t>
            </a:r>
            <a:r>
              <a:rPr kumimoji="1" lang="en-US" altLang="ja-JP" b="1" dirty="0"/>
              <a:t>12</a:t>
            </a:r>
            <a:r>
              <a:rPr kumimoji="1" lang="ja-JP" altLang="en-US" b="1" dirty="0"/>
              <a:t>月</a:t>
            </a:r>
            <a:endParaRPr kumimoji="1" lang="en-US" altLang="ja-JP" b="1" dirty="0"/>
          </a:p>
          <a:p>
            <a:pPr algn="ctr"/>
            <a:r>
              <a:rPr lang="ja-JP" altLang="en-US" b="1" dirty="0"/>
              <a:t>就職作品制作</a:t>
            </a:r>
            <a:endParaRPr lang="en-US" altLang="ja-JP" b="1" dirty="0"/>
          </a:p>
          <a:p>
            <a:pPr algn="ctr"/>
            <a:endParaRPr lang="en-US" altLang="ja-JP" b="1" dirty="0"/>
          </a:p>
          <a:p>
            <a:pPr algn="ctr"/>
            <a:r>
              <a:rPr lang="ja-JP" altLang="en-US" b="1" dirty="0"/>
              <a:t>就活のメインとなる作品制作</a:t>
            </a:r>
            <a:endParaRPr lang="en-US" altLang="ja-JP" b="1" dirty="0"/>
          </a:p>
          <a:p>
            <a:pPr algn="ctr"/>
            <a:r>
              <a:rPr lang="ja-JP" altLang="en-US" b="1" dirty="0">
                <a:solidFill>
                  <a:srgbClr val="FF0000"/>
                </a:solidFill>
              </a:rPr>
              <a:t>今後の人生を分ける期間</a:t>
            </a:r>
            <a:endParaRPr lang="en-US" altLang="ja-JP" b="1" dirty="0">
              <a:solidFill>
                <a:srgbClr val="FF0000"/>
              </a:solidFill>
            </a:endParaRPr>
          </a:p>
        </p:txBody>
      </p:sp>
    </p:spTree>
    <p:extLst>
      <p:ext uri="{BB962C8B-B14F-4D97-AF65-F5344CB8AC3E}">
        <p14:creationId xmlns:p14="http://schemas.microsoft.com/office/powerpoint/2010/main" val="3752593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461752" cy="584775"/>
          </a:xfrm>
          <a:prstGeom prst="rect">
            <a:avLst/>
          </a:prstGeom>
          <a:noFill/>
        </p:spPr>
        <p:txBody>
          <a:bodyPr wrap="none" rtlCol="0">
            <a:spAutoFit/>
          </a:bodyPr>
          <a:lstStyle/>
          <a:p>
            <a:r>
              <a:rPr lang="ja-JP" altLang="en-US" sz="3200" b="1" u="sng" dirty="0"/>
              <a:t>重要なポイント </a:t>
            </a:r>
            <a:r>
              <a:rPr lang="en-US" altLang="ja-JP" sz="3200" b="1" u="sng" dirty="0"/>
              <a:t>1</a:t>
            </a:r>
            <a:r>
              <a:rPr lang="ja-JP" altLang="en-US" sz="3200" b="1" u="sng" dirty="0"/>
              <a:t>年生の作品</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1938992"/>
          </a:xfrm>
          <a:prstGeom prst="rect">
            <a:avLst/>
          </a:prstGeom>
          <a:noFill/>
        </p:spPr>
        <p:txBody>
          <a:bodyPr wrap="none" rtlCol="0">
            <a:spAutoFit/>
          </a:bodyPr>
          <a:lstStyle/>
          <a:p>
            <a:r>
              <a:rPr kumimoji="1" lang="ja-JP" altLang="en-US" sz="2400" dirty="0"/>
              <a:t>まずは</a:t>
            </a:r>
            <a:r>
              <a:rPr lang="en-US" altLang="ja-JP" sz="2400" dirty="0"/>
              <a:t>3</a:t>
            </a:r>
            <a:r>
              <a:rPr lang="ja-JP" altLang="en-US" sz="2400" dirty="0"/>
              <a:t>月までのゲーム制作を頑張りましょう。</a:t>
            </a:r>
            <a:endParaRPr lang="en-US" altLang="ja-JP" sz="2400" dirty="0"/>
          </a:p>
          <a:p>
            <a:r>
              <a:rPr kumimoji="1" lang="ja-JP" altLang="en-US" sz="2400" dirty="0"/>
              <a:t>就活のポートフォリオに載せる作品は多いほど評価されます。</a:t>
            </a:r>
            <a:endParaRPr kumimoji="1" lang="en-US" altLang="ja-JP" sz="2400" dirty="0"/>
          </a:p>
          <a:p>
            <a:endParaRPr kumimoji="1" lang="en-US" altLang="ja-JP" sz="2400" dirty="0"/>
          </a:p>
          <a:p>
            <a:r>
              <a:rPr lang="ja-JP" altLang="en-US" sz="2400" dirty="0"/>
              <a:t>多いほど良いといっても完成させないと載せられません。</a:t>
            </a:r>
            <a:endParaRPr lang="en-US" altLang="ja-JP" sz="2400" dirty="0"/>
          </a:p>
          <a:p>
            <a:r>
              <a:rPr kumimoji="1" lang="ja-JP" altLang="en-US" sz="2400" dirty="0"/>
              <a:t>きちんと計画的に作業して必ず完成させましょう。</a:t>
            </a:r>
            <a:endParaRPr kumimoji="1" lang="en-US" altLang="ja-JP" sz="2400" dirty="0"/>
          </a:p>
        </p:txBody>
      </p:sp>
    </p:spTree>
    <p:extLst>
      <p:ext uri="{BB962C8B-B14F-4D97-AF65-F5344CB8AC3E}">
        <p14:creationId xmlns:p14="http://schemas.microsoft.com/office/powerpoint/2010/main" val="1443911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867586" cy="584775"/>
          </a:xfrm>
          <a:prstGeom prst="rect">
            <a:avLst/>
          </a:prstGeom>
          <a:noFill/>
        </p:spPr>
        <p:txBody>
          <a:bodyPr wrap="none" rtlCol="0">
            <a:spAutoFit/>
          </a:bodyPr>
          <a:lstStyle/>
          <a:p>
            <a:r>
              <a:rPr lang="ja-JP" altLang="en-US" sz="3200" b="1" u="sng" dirty="0"/>
              <a:t>重要なポイント 就活作品制作前まで</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65815" cy="5262979"/>
          </a:xfrm>
          <a:prstGeom prst="rect">
            <a:avLst/>
          </a:prstGeom>
          <a:noFill/>
        </p:spPr>
        <p:txBody>
          <a:bodyPr wrap="none" rtlCol="0">
            <a:spAutoFit/>
          </a:bodyPr>
          <a:lstStyle/>
          <a:p>
            <a:r>
              <a:rPr kumimoji="1" lang="en-US" altLang="ja-JP" sz="2400" dirty="0"/>
              <a:t>2</a:t>
            </a:r>
            <a:r>
              <a:rPr kumimoji="1" lang="ja-JP" altLang="en-US" sz="2400" dirty="0"/>
              <a:t>年生になると</a:t>
            </a:r>
            <a:r>
              <a:rPr kumimoji="1" lang="en-US" altLang="ja-JP" sz="2400" b="1" dirty="0">
                <a:solidFill>
                  <a:srgbClr val="FF0000"/>
                </a:solidFill>
              </a:rPr>
              <a:t>3D</a:t>
            </a:r>
            <a:r>
              <a:rPr kumimoji="1" lang="ja-JP" altLang="en-US" sz="2400" b="1" dirty="0">
                <a:solidFill>
                  <a:srgbClr val="FF0000"/>
                </a:solidFill>
              </a:rPr>
              <a:t>ゲーム制作</a:t>
            </a:r>
            <a:r>
              <a:rPr kumimoji="1" lang="ja-JP" altLang="en-US" sz="2400" dirty="0"/>
              <a:t>の授業が始まります。</a:t>
            </a:r>
            <a:endParaRPr kumimoji="1" lang="en-US" altLang="ja-JP" sz="2400" dirty="0"/>
          </a:p>
          <a:p>
            <a:r>
              <a:rPr lang="ja-JP" altLang="en-US" sz="2400" dirty="0"/>
              <a:t>それに合わせて</a:t>
            </a:r>
            <a:r>
              <a:rPr lang="en-US" altLang="ja-JP" sz="2400" dirty="0"/>
              <a:t>C++</a:t>
            </a:r>
            <a:r>
              <a:rPr lang="ja-JP" altLang="en-US" sz="2400" dirty="0"/>
              <a:t>でより高度なプログラミングスキルを学びます。</a:t>
            </a:r>
            <a:endParaRPr lang="en-US" altLang="ja-JP" sz="2400" dirty="0"/>
          </a:p>
          <a:p>
            <a:endParaRPr lang="en-US" altLang="ja-JP" sz="2400" dirty="0"/>
          </a:p>
          <a:p>
            <a:r>
              <a:rPr lang="ja-JP" altLang="en-US" sz="2400" dirty="0"/>
              <a:t>就職作品制作までには以下のようになっておかなければいけません。</a:t>
            </a:r>
            <a:endParaRPr lang="en-US" altLang="ja-JP" sz="2400" dirty="0"/>
          </a:p>
          <a:p>
            <a:endParaRPr lang="en-US" altLang="ja-JP" sz="2400" dirty="0"/>
          </a:p>
          <a:p>
            <a:r>
              <a:rPr lang="ja-JP" altLang="en-US" sz="2400" dirty="0"/>
              <a:t>・</a:t>
            </a:r>
            <a:r>
              <a:rPr lang="en-US" altLang="ja-JP" sz="2400" dirty="0"/>
              <a:t>C++</a:t>
            </a:r>
            <a:r>
              <a:rPr lang="ja-JP" altLang="en-US" sz="2400" dirty="0"/>
              <a:t>を使ったゲーム制作の基本を知っておく</a:t>
            </a:r>
            <a:endParaRPr lang="en-US" altLang="ja-JP" sz="2400" dirty="0"/>
          </a:p>
          <a:p>
            <a:r>
              <a:rPr lang="ja-JP" altLang="en-US" sz="2400" dirty="0"/>
              <a:t>　・弾丸、敵などをどのように管理していくか</a:t>
            </a:r>
            <a:endParaRPr lang="en-US" altLang="ja-JP" sz="2400" dirty="0"/>
          </a:p>
          <a:p>
            <a:r>
              <a:rPr lang="ja-JP" altLang="en-US" sz="2400" dirty="0"/>
              <a:t>　・シーンはどのように切り替えていくか</a:t>
            </a:r>
            <a:endParaRPr lang="en-US" altLang="ja-JP" sz="2400" dirty="0"/>
          </a:p>
          <a:p>
            <a:r>
              <a:rPr lang="ja-JP" altLang="en-US" sz="2400" dirty="0"/>
              <a:t>　・</a:t>
            </a:r>
            <a:r>
              <a:rPr lang="en-US" altLang="ja-JP" sz="2400" dirty="0"/>
              <a:t>HP</a:t>
            </a:r>
            <a:r>
              <a:rPr lang="ja-JP" altLang="en-US" sz="2400" dirty="0"/>
              <a:t>などパラメータはどう設定するのか</a:t>
            </a:r>
            <a:endParaRPr lang="en-US" altLang="ja-JP" sz="2400" dirty="0"/>
          </a:p>
          <a:p>
            <a:r>
              <a:rPr lang="ja-JP" altLang="en-US" sz="2400" dirty="0"/>
              <a:t>　・ゲームに必要な数学は完璧</a:t>
            </a:r>
            <a:endParaRPr lang="en-US" altLang="ja-JP" sz="2400" dirty="0"/>
          </a:p>
          <a:p>
            <a:endParaRPr lang="en-US" altLang="ja-JP" sz="2400" dirty="0"/>
          </a:p>
          <a:p>
            <a:r>
              <a:rPr lang="ja-JP" altLang="en-US" sz="2400" dirty="0"/>
              <a:t>・</a:t>
            </a:r>
            <a:r>
              <a:rPr lang="en-US" altLang="ja-JP" sz="2400" dirty="0"/>
              <a:t>Unity</a:t>
            </a:r>
            <a:r>
              <a:rPr lang="ja-JP" altLang="en-US" sz="2400" dirty="0"/>
              <a:t>は</a:t>
            </a:r>
            <a:r>
              <a:rPr lang="en-US" altLang="ja-JP" sz="2400" dirty="0"/>
              <a:t>C++</a:t>
            </a:r>
            <a:r>
              <a:rPr lang="ja-JP" altLang="en-US" sz="2400" dirty="0"/>
              <a:t>で学んだ知識も使ってより本格的に作れるようになる</a:t>
            </a:r>
            <a:endParaRPr lang="en-US" altLang="ja-JP" sz="2400" dirty="0"/>
          </a:p>
          <a:p>
            <a:endParaRPr lang="en-US" altLang="ja-JP" sz="2400" dirty="0"/>
          </a:p>
          <a:p>
            <a:r>
              <a:rPr lang="en-US" altLang="ja-JP" sz="2400" b="1" dirty="0">
                <a:solidFill>
                  <a:srgbClr val="FF0000"/>
                </a:solidFill>
              </a:rPr>
              <a:t>※</a:t>
            </a:r>
            <a:r>
              <a:rPr lang="ja-JP" altLang="en-US" sz="2400" b="1" dirty="0">
                <a:solidFill>
                  <a:srgbClr val="FF0000"/>
                </a:solidFill>
              </a:rPr>
              <a:t>上記は授業で可能な限りフォローします</a:t>
            </a:r>
            <a:endParaRPr lang="en-US" altLang="ja-JP" sz="2400" b="1" dirty="0">
              <a:solidFill>
                <a:srgbClr val="FF0000"/>
              </a:solidFill>
            </a:endParaRPr>
          </a:p>
        </p:txBody>
      </p:sp>
    </p:spTree>
    <p:extLst>
      <p:ext uri="{BB962C8B-B14F-4D97-AF65-F5344CB8AC3E}">
        <p14:creationId xmlns:p14="http://schemas.microsoft.com/office/powerpoint/2010/main" val="1907549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636479" cy="584775"/>
          </a:xfrm>
          <a:prstGeom prst="rect">
            <a:avLst/>
          </a:prstGeom>
          <a:noFill/>
        </p:spPr>
        <p:txBody>
          <a:bodyPr wrap="none" rtlCol="0">
            <a:spAutoFit/>
          </a:bodyPr>
          <a:lstStyle/>
          <a:p>
            <a:r>
              <a:rPr lang="ja-JP" altLang="en-US" sz="3200" b="1" u="sng" dirty="0"/>
              <a:t>重要なポイント 就活作品制作</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1938992"/>
          </a:xfrm>
          <a:prstGeom prst="rect">
            <a:avLst/>
          </a:prstGeom>
          <a:noFill/>
        </p:spPr>
        <p:txBody>
          <a:bodyPr wrap="none" rtlCol="0">
            <a:spAutoFit/>
          </a:bodyPr>
          <a:lstStyle/>
          <a:p>
            <a:r>
              <a:rPr kumimoji="1" lang="en-US" altLang="ja-JP" sz="2400" dirty="0"/>
              <a:t>2</a:t>
            </a:r>
            <a:r>
              <a:rPr kumimoji="1" lang="ja-JP" altLang="en-US" sz="2400" dirty="0"/>
              <a:t>年生のメインは就活作品の制作です。</a:t>
            </a:r>
            <a:endParaRPr kumimoji="1" lang="en-US" altLang="ja-JP" sz="2400" dirty="0"/>
          </a:p>
          <a:p>
            <a:r>
              <a:rPr lang="ja-JP" altLang="en-US" sz="2400" dirty="0"/>
              <a:t>つまり</a:t>
            </a:r>
            <a:r>
              <a:rPr lang="ja-JP" altLang="en-US" sz="2400" b="1" dirty="0">
                <a:solidFill>
                  <a:srgbClr val="FF0000"/>
                </a:solidFill>
              </a:rPr>
              <a:t>ポートフォリオに大々的に載せるゲームを制作します。</a:t>
            </a:r>
            <a:endParaRPr lang="en-US" altLang="ja-JP" sz="2400" b="1" dirty="0">
              <a:solidFill>
                <a:srgbClr val="FF0000"/>
              </a:solidFill>
            </a:endParaRPr>
          </a:p>
          <a:p>
            <a:endParaRPr lang="en-US" altLang="ja-JP" sz="2400" b="1" dirty="0">
              <a:solidFill>
                <a:srgbClr val="FF0000"/>
              </a:solidFill>
            </a:endParaRPr>
          </a:p>
          <a:p>
            <a:r>
              <a:rPr lang="ja-JP" altLang="en-US" sz="2400" b="1" dirty="0">
                <a:solidFill>
                  <a:srgbClr val="FF0000"/>
                </a:solidFill>
              </a:rPr>
              <a:t>今後の就職活動を左右する作品</a:t>
            </a:r>
            <a:r>
              <a:rPr lang="ja-JP" altLang="en-US" sz="2400" dirty="0"/>
              <a:t>になりますので、</a:t>
            </a:r>
            <a:endParaRPr lang="en-US" altLang="ja-JP" sz="2400" dirty="0"/>
          </a:p>
          <a:p>
            <a:r>
              <a:rPr lang="ja-JP" altLang="en-US" sz="2400" b="1" dirty="0">
                <a:solidFill>
                  <a:srgbClr val="FF0000"/>
                </a:solidFill>
              </a:rPr>
              <a:t>できることから準備</a:t>
            </a:r>
            <a:r>
              <a:rPr lang="ja-JP" altLang="en-US" sz="2400" dirty="0"/>
              <a:t>は進めておきましょう。</a:t>
            </a:r>
            <a:endParaRPr lang="en-US" altLang="ja-JP" sz="2400" dirty="0"/>
          </a:p>
        </p:txBody>
      </p:sp>
    </p:spTree>
    <p:extLst>
      <p:ext uri="{BB962C8B-B14F-4D97-AF65-F5344CB8AC3E}">
        <p14:creationId xmlns:p14="http://schemas.microsoft.com/office/powerpoint/2010/main" val="83792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就職活動について</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3416320"/>
          </a:xfrm>
          <a:prstGeom prst="rect">
            <a:avLst/>
          </a:prstGeom>
          <a:noFill/>
        </p:spPr>
        <p:txBody>
          <a:bodyPr wrap="none" rtlCol="0">
            <a:spAutoFit/>
          </a:bodyPr>
          <a:lstStyle/>
          <a:p>
            <a:r>
              <a:rPr lang="ja-JP" altLang="en-US" sz="2400" dirty="0"/>
              <a:t>ゲーム業界への就職活動は、ほかの業界と比べて少し特殊です。</a:t>
            </a:r>
            <a:endParaRPr lang="en-US" altLang="ja-JP" sz="2400" dirty="0"/>
          </a:p>
          <a:p>
            <a:endParaRPr lang="en-US" altLang="ja-JP" sz="2400" dirty="0"/>
          </a:p>
          <a:p>
            <a:r>
              <a:rPr lang="ja-JP" altLang="en-US" sz="2400" b="1" dirty="0">
                <a:solidFill>
                  <a:srgbClr val="FF0000"/>
                </a:solidFill>
              </a:rPr>
              <a:t>■特殊なところ</a:t>
            </a:r>
            <a:endParaRPr lang="en-US" altLang="ja-JP" sz="2400" b="1" dirty="0">
              <a:solidFill>
                <a:srgbClr val="FF0000"/>
              </a:solidFill>
            </a:endParaRPr>
          </a:p>
          <a:p>
            <a:pPr marL="342900" indent="-342900">
              <a:buFont typeface="Arial" panose="020B0604020202020204" pitchFamily="34" charset="0"/>
              <a:buChar char="•"/>
            </a:pPr>
            <a:r>
              <a:rPr lang="ja-JP" altLang="en-US" sz="2400" dirty="0"/>
              <a:t>作品が必須なこと</a:t>
            </a:r>
            <a:endParaRPr lang="en-US" altLang="ja-JP" sz="2400" dirty="0"/>
          </a:p>
          <a:p>
            <a:pPr marL="342900" indent="-342900">
              <a:buFont typeface="Arial" panose="020B0604020202020204" pitchFamily="34" charset="0"/>
              <a:buChar char="•"/>
            </a:pPr>
            <a:r>
              <a:rPr lang="ja-JP" altLang="en-US" sz="2400" dirty="0"/>
              <a:t>募集時期にムラがあること</a:t>
            </a:r>
            <a:endParaRPr lang="en-US" altLang="ja-JP" sz="2400" dirty="0"/>
          </a:p>
          <a:p>
            <a:pPr marL="342900" indent="-342900">
              <a:buFont typeface="Arial" panose="020B0604020202020204" pitchFamily="34" charset="0"/>
              <a:buChar char="•"/>
            </a:pPr>
            <a:r>
              <a:rPr lang="ja-JP" altLang="en-US" sz="2400" dirty="0"/>
              <a:t>ほとんどが県外になること</a:t>
            </a:r>
            <a:endParaRPr lang="en-US" altLang="ja-JP" sz="2400" dirty="0"/>
          </a:p>
          <a:p>
            <a:pPr marL="342900" indent="-342900">
              <a:buFont typeface="Arial" panose="020B0604020202020204" pitchFamily="34" charset="0"/>
              <a:buChar char="•"/>
            </a:pPr>
            <a:endParaRPr lang="en-US" altLang="ja-JP" sz="2400" dirty="0"/>
          </a:p>
          <a:p>
            <a:r>
              <a:rPr lang="ja-JP" altLang="en-US" sz="2400" dirty="0"/>
              <a:t>改めて認識しておきましょう。</a:t>
            </a:r>
            <a:endParaRPr lang="en-US" altLang="ja-JP" sz="2400" dirty="0"/>
          </a:p>
          <a:p>
            <a:r>
              <a:rPr lang="ja-JP" altLang="en-US" sz="2400" dirty="0"/>
              <a:t>とくに</a:t>
            </a:r>
            <a:r>
              <a:rPr lang="ja-JP" altLang="en-US" sz="2400" b="1" dirty="0">
                <a:solidFill>
                  <a:srgbClr val="FF0000"/>
                </a:solidFill>
              </a:rPr>
              <a:t>県外就職についてはご家庭でしっかり話をつけておきましょう。</a:t>
            </a:r>
            <a:endParaRPr lang="en-US" altLang="ja-JP" sz="2400" b="1" dirty="0">
              <a:solidFill>
                <a:srgbClr val="FF0000"/>
              </a:solidFill>
            </a:endParaRPr>
          </a:p>
        </p:txBody>
      </p:sp>
    </p:spTree>
    <p:extLst>
      <p:ext uri="{BB962C8B-B14F-4D97-AF65-F5344CB8AC3E}">
        <p14:creationId xmlns:p14="http://schemas.microsoft.com/office/powerpoint/2010/main" val="4014935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就職活動について</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40882" cy="4524315"/>
          </a:xfrm>
          <a:prstGeom prst="rect">
            <a:avLst/>
          </a:prstGeom>
          <a:noFill/>
        </p:spPr>
        <p:txBody>
          <a:bodyPr wrap="none" rtlCol="0">
            <a:spAutoFit/>
          </a:bodyPr>
          <a:lstStyle/>
          <a:p>
            <a:r>
              <a:rPr lang="ja-JP" altLang="en-US" sz="2400" dirty="0"/>
              <a:t>特に募集時期には特殊な流れがあります。</a:t>
            </a:r>
            <a:endParaRPr lang="en-US" altLang="ja-JP" sz="2400" dirty="0"/>
          </a:p>
          <a:p>
            <a:r>
              <a:rPr lang="ja-JP" altLang="en-US" sz="2400" b="1" dirty="0">
                <a:solidFill>
                  <a:srgbClr val="FF0000"/>
                </a:solidFill>
              </a:rPr>
              <a:t>挑戦したい企業に合わせて作品を作らなければいけません。</a:t>
            </a:r>
            <a:endParaRPr lang="en-US" altLang="ja-JP" sz="2400" b="1" dirty="0">
              <a:solidFill>
                <a:srgbClr val="FF0000"/>
              </a:solidFill>
            </a:endParaRPr>
          </a:p>
          <a:p>
            <a:endParaRPr lang="en-US" altLang="ja-JP" sz="2400" dirty="0"/>
          </a:p>
          <a:p>
            <a:r>
              <a:rPr lang="ja-JP" altLang="en-US" sz="2400" b="1" dirty="0">
                <a:solidFill>
                  <a:srgbClr val="FF0000"/>
                </a:solidFill>
              </a:rPr>
              <a:t>■募集時期</a:t>
            </a:r>
            <a:endParaRPr lang="en-US" altLang="ja-JP" sz="2400" b="1" dirty="0">
              <a:solidFill>
                <a:srgbClr val="FF0000"/>
              </a:solidFill>
            </a:endParaRPr>
          </a:p>
          <a:p>
            <a:pPr marL="342900" indent="-342900">
              <a:buFont typeface="Arial" panose="020B0604020202020204" pitchFamily="34" charset="0"/>
              <a:buChar char="•"/>
            </a:pPr>
            <a:r>
              <a:rPr lang="ja-JP" altLang="en-US" sz="2400" dirty="0"/>
              <a:t>大手ゲーム会社（任天堂・バンナム・ゲームフリークなど）</a:t>
            </a:r>
            <a:endParaRPr lang="en-US" altLang="ja-JP" sz="2400" dirty="0"/>
          </a:p>
          <a:p>
            <a:pPr marL="800100" lvl="1" indent="-342900">
              <a:buFont typeface="Arial" panose="020B0604020202020204" pitchFamily="34" charset="0"/>
              <a:buChar char="•"/>
            </a:pPr>
            <a:r>
              <a:rPr lang="en-US" altLang="ja-JP" sz="2400" dirty="0"/>
              <a:t>12</a:t>
            </a:r>
            <a:r>
              <a:rPr lang="ja-JP" altLang="en-US" sz="2400" dirty="0"/>
              <a:t>月～</a:t>
            </a:r>
            <a:r>
              <a:rPr lang="en-US" altLang="ja-JP" sz="2400" dirty="0"/>
              <a:t>1</a:t>
            </a:r>
            <a:r>
              <a:rPr lang="ja-JP" altLang="en-US" sz="2400" dirty="0"/>
              <a:t>月</a:t>
            </a:r>
            <a:endParaRPr lang="en-US" altLang="ja-JP" sz="2400" dirty="0"/>
          </a:p>
          <a:p>
            <a:pPr marL="800100" lvl="1" indent="-342900">
              <a:buFont typeface="Arial" panose="020B0604020202020204" pitchFamily="34" charset="0"/>
              <a:buChar char="•"/>
            </a:pPr>
            <a:endParaRPr lang="en-US" altLang="ja-JP" sz="2400" dirty="0"/>
          </a:p>
          <a:p>
            <a:pPr marL="342900" indent="-342900">
              <a:buFont typeface="Arial" panose="020B0604020202020204" pitchFamily="34" charset="0"/>
              <a:buChar char="•"/>
            </a:pPr>
            <a:r>
              <a:rPr lang="ja-JP" altLang="en-US" sz="2400" dirty="0"/>
              <a:t>中小企業</a:t>
            </a:r>
            <a:endParaRPr lang="en-US" altLang="ja-JP" sz="2400" dirty="0"/>
          </a:p>
          <a:p>
            <a:pPr marL="800100" lvl="1" indent="-342900">
              <a:buFont typeface="Arial" panose="020B0604020202020204" pitchFamily="34" charset="0"/>
              <a:buChar char="•"/>
            </a:pPr>
            <a:r>
              <a:rPr lang="en-US" altLang="ja-JP" sz="2400" dirty="0"/>
              <a:t>1</a:t>
            </a:r>
            <a:r>
              <a:rPr lang="ja-JP" altLang="en-US" sz="2400" dirty="0"/>
              <a:t>月からぼちぼち増えだす</a:t>
            </a:r>
            <a:endParaRPr lang="en-US" altLang="ja-JP" sz="2400" dirty="0"/>
          </a:p>
          <a:p>
            <a:pPr marL="800100" lvl="1" indent="-342900">
              <a:buFont typeface="Arial" panose="020B0604020202020204" pitchFamily="34" charset="0"/>
              <a:buChar char="•"/>
            </a:pPr>
            <a:r>
              <a:rPr lang="en-US" altLang="ja-JP" sz="2400" dirty="0"/>
              <a:t>9</a:t>
            </a:r>
            <a:r>
              <a:rPr lang="ja-JP" altLang="en-US" sz="2400" dirty="0"/>
              <a:t>月ごろがピーク</a:t>
            </a:r>
            <a:endParaRPr lang="en-US" altLang="ja-JP" sz="2400" dirty="0"/>
          </a:p>
          <a:p>
            <a:endParaRPr lang="en-US" altLang="ja-JP" sz="2400" dirty="0"/>
          </a:p>
          <a:p>
            <a:r>
              <a:rPr lang="ja-JP" altLang="en-US" sz="2400" dirty="0"/>
              <a:t>年内には就活は始まります。心がけておきましょう。</a:t>
            </a:r>
            <a:endParaRPr lang="en-US" altLang="ja-JP" sz="2400" dirty="0"/>
          </a:p>
        </p:txBody>
      </p:sp>
    </p:spTree>
    <p:extLst>
      <p:ext uri="{BB962C8B-B14F-4D97-AF65-F5344CB8AC3E}">
        <p14:creationId xmlns:p14="http://schemas.microsoft.com/office/powerpoint/2010/main" val="1256368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646878" cy="584775"/>
          </a:xfrm>
          <a:prstGeom prst="rect">
            <a:avLst/>
          </a:prstGeom>
          <a:noFill/>
        </p:spPr>
        <p:txBody>
          <a:bodyPr wrap="none" rtlCol="0">
            <a:spAutoFit/>
          </a:bodyPr>
          <a:lstStyle/>
          <a:p>
            <a:r>
              <a:rPr lang="ja-JP" altLang="en-US" sz="3200" b="1" u="sng" dirty="0"/>
              <a:t>どう過ごすか</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4893647"/>
          </a:xfrm>
          <a:prstGeom prst="rect">
            <a:avLst/>
          </a:prstGeom>
          <a:noFill/>
        </p:spPr>
        <p:txBody>
          <a:bodyPr wrap="none" rtlCol="0">
            <a:spAutoFit/>
          </a:bodyPr>
          <a:lstStyle/>
          <a:p>
            <a:r>
              <a:rPr lang="ja-JP" altLang="en-US" sz="2400" dirty="0"/>
              <a:t>今年</a:t>
            </a:r>
            <a:r>
              <a:rPr lang="en-US" altLang="ja-JP" sz="2400" dirty="0"/>
              <a:t>1</a:t>
            </a:r>
            <a:r>
              <a:rPr lang="ja-JP" altLang="en-US" sz="2400" dirty="0"/>
              <a:t>年だけでも以下のことを頑張りましょう。</a:t>
            </a:r>
            <a:endParaRPr lang="en-US" altLang="ja-JP" sz="2400" dirty="0"/>
          </a:p>
          <a:p>
            <a:endParaRPr lang="en-US" altLang="ja-JP" sz="2400" dirty="0"/>
          </a:p>
          <a:p>
            <a:r>
              <a:rPr lang="ja-JP" altLang="en-US" sz="2400" b="1" dirty="0">
                <a:solidFill>
                  <a:srgbClr val="FF0000"/>
                </a:solidFill>
              </a:rPr>
              <a:t>■とにかく頑張ること</a:t>
            </a:r>
            <a:endParaRPr lang="en-US" altLang="ja-JP" sz="2400" b="1" dirty="0">
              <a:solidFill>
                <a:srgbClr val="FF0000"/>
              </a:solidFill>
            </a:endParaRPr>
          </a:p>
          <a:p>
            <a:r>
              <a:rPr lang="ja-JP" altLang="en-US" sz="2400" dirty="0"/>
              <a:t>・去年の内容で理解していないところを正す</a:t>
            </a:r>
            <a:endParaRPr lang="en-US" altLang="ja-JP" sz="2400" dirty="0"/>
          </a:p>
          <a:p>
            <a:r>
              <a:rPr lang="ja-JP" altLang="en-US" sz="2400" dirty="0"/>
              <a:t>　・可能な限りフォローします</a:t>
            </a:r>
            <a:endParaRPr lang="en-US" altLang="ja-JP" sz="2400" dirty="0"/>
          </a:p>
          <a:p>
            <a:endParaRPr lang="en-US" altLang="ja-JP" sz="2400" dirty="0"/>
          </a:p>
          <a:p>
            <a:r>
              <a:rPr lang="ja-JP" altLang="en-US" sz="2400" dirty="0"/>
              <a:t>・ゲーム制作課題は必ず完成させる</a:t>
            </a:r>
            <a:endParaRPr lang="en-US" altLang="ja-JP" sz="2400" dirty="0"/>
          </a:p>
          <a:p>
            <a:endParaRPr lang="en-US" altLang="ja-JP" sz="2400" dirty="0"/>
          </a:p>
          <a:p>
            <a:r>
              <a:rPr lang="ja-JP" altLang="en-US" sz="2400" dirty="0"/>
              <a:t>そのため以下のことも頭に入れておきましょう。</a:t>
            </a:r>
            <a:endParaRPr lang="en-US" altLang="ja-JP" sz="2400" dirty="0"/>
          </a:p>
          <a:p>
            <a:r>
              <a:rPr lang="ja-JP" altLang="en-US" sz="2400" dirty="0"/>
              <a:t>・毎日残って勉強や作業する</a:t>
            </a:r>
            <a:endParaRPr lang="en-US" altLang="ja-JP" sz="2400" dirty="0"/>
          </a:p>
          <a:p>
            <a:r>
              <a:rPr lang="ja-JP" altLang="en-US" sz="2400" dirty="0"/>
              <a:t>・休日も何かしらの勉強や作業をする</a:t>
            </a:r>
            <a:endParaRPr lang="en-US" altLang="ja-JP" sz="2400" dirty="0"/>
          </a:p>
          <a:p>
            <a:endParaRPr lang="en-US" altLang="ja-JP" sz="2400" dirty="0"/>
          </a:p>
          <a:p>
            <a:r>
              <a:rPr lang="ja-JP" altLang="en-US" sz="2400" dirty="0"/>
              <a:t>強制ではありませんが、</a:t>
            </a:r>
            <a:r>
              <a:rPr lang="ja-JP" altLang="en-US" sz="2400" b="1" dirty="0">
                <a:solidFill>
                  <a:srgbClr val="FF0000"/>
                </a:solidFill>
              </a:rPr>
              <a:t>業界就職を目指すなら必須</a:t>
            </a:r>
            <a:r>
              <a:rPr lang="ja-JP" altLang="en-US" sz="2400" dirty="0"/>
              <a:t>になると思います。</a:t>
            </a:r>
            <a:endParaRPr lang="en-US" altLang="ja-JP" sz="2400" dirty="0"/>
          </a:p>
        </p:txBody>
      </p:sp>
    </p:spTree>
    <p:extLst>
      <p:ext uri="{BB962C8B-B14F-4D97-AF65-F5344CB8AC3E}">
        <p14:creationId xmlns:p14="http://schemas.microsoft.com/office/powerpoint/2010/main" val="1898370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lang="ja-JP" altLang="en-US" sz="3200" b="1" u="sng" dirty="0"/>
              <a:t>まとめ</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572399" cy="1200329"/>
          </a:xfrm>
          <a:prstGeom prst="rect">
            <a:avLst/>
          </a:prstGeom>
          <a:noFill/>
        </p:spPr>
        <p:txBody>
          <a:bodyPr wrap="none" rtlCol="0">
            <a:spAutoFit/>
          </a:bodyPr>
          <a:lstStyle/>
          <a:p>
            <a:r>
              <a:rPr lang="ja-JP" altLang="en-US" sz="2400" dirty="0"/>
              <a:t>堅い話ばかりでしたが、</a:t>
            </a:r>
            <a:endParaRPr lang="en-US" altLang="ja-JP" sz="2400" dirty="0"/>
          </a:p>
          <a:p>
            <a:r>
              <a:rPr lang="ja-JP" altLang="en-US" sz="2400" dirty="0"/>
              <a:t>自分の作りたいゲームを一人で作るのはこれが最後の機会になるかもしれません。</a:t>
            </a:r>
            <a:endParaRPr lang="en-US" altLang="ja-JP" sz="2400" dirty="0"/>
          </a:p>
          <a:p>
            <a:r>
              <a:rPr lang="ja-JP" altLang="en-US" sz="2400" dirty="0"/>
              <a:t>悔いのないように、楽しみながら制作に励みましょう。</a:t>
            </a:r>
            <a:endParaRPr lang="en-US" altLang="ja-JP" sz="2400" dirty="0"/>
          </a:p>
        </p:txBody>
      </p:sp>
    </p:spTree>
    <p:extLst>
      <p:ext uri="{BB962C8B-B14F-4D97-AF65-F5344CB8AC3E}">
        <p14:creationId xmlns:p14="http://schemas.microsoft.com/office/powerpoint/2010/main" val="243545868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TotalTime>
  <Words>570</Words>
  <Application>Microsoft Office PowerPoint</Application>
  <PresentationFormat>ワイド画面</PresentationFormat>
  <Paragraphs>90</Paragraphs>
  <Slides>9</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9</vt:i4>
      </vt:variant>
    </vt:vector>
  </HeadingPairs>
  <TitlesOfParts>
    <vt:vector size="13"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20</cp:revision>
  <dcterms:created xsi:type="dcterms:W3CDTF">2024-08-27T02:15:54Z</dcterms:created>
  <dcterms:modified xsi:type="dcterms:W3CDTF">2025-01-06T01:51:51Z</dcterms:modified>
</cp:coreProperties>
</file>